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harts/colors1.xml" ContentType="application/vnd.ms-office.chartcolorstyle+xml"/>
  <Override PartName="/ppt/charts/style1.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51" r:id="rId8"/>
    <p:sldId id="342" r:id="rId9"/>
    <p:sldId id="343" r:id="rId10"/>
    <p:sldId id="344" r:id="rId11"/>
    <p:sldId id="302" r:id="rId12"/>
    <p:sldId id="303" r:id="rId13"/>
    <p:sldId id="340" r:id="rId14"/>
    <p:sldId id="356" r:id="rId15"/>
    <p:sldId id="357" r:id="rId16"/>
    <p:sldId id="345" r:id="rId17"/>
    <p:sldId id="346" r:id="rId18"/>
    <p:sldId id="347" r:id="rId19"/>
    <p:sldId id="311" r:id="rId20"/>
    <p:sldId id="312" r:id="rId21"/>
    <p:sldId id="333" r:id="rId22"/>
    <p:sldId id="306" r:id="rId23"/>
    <p:sldId id="307" r:id="rId24"/>
  </p:sldIdLst>
  <p:sldSz cx="12192000" cy="6858000"/>
  <p:notesSz cx="6858000" cy="9144000"/>
  <p:embeddedFontLst>
    <p:embeddedFont>
      <p:font typeface="Verdana" pitchFamily="34" charset="0"/>
      <p:regular r:id="rId26"/>
      <p:bold r:id="rId27"/>
      <p:italic r:id="rId28"/>
      <p:boldItalic r:id="rId29"/>
    </p:embeddedFont>
    <p:embeddedFont>
      <p:font typeface="Calibri" pitchFamily="34" charset="0"/>
      <p:regular r:id="rId30"/>
      <p:bold r:id="rId31"/>
      <p:italic r:id="rId32"/>
      <p:boldItalic r:id="rId33"/>
    </p:embeddedFont>
    <p:embeddedFont>
      <p:font typeface="Century Gothic" pitchFamily="34" charset="0"/>
      <p:regular r:id="rId34"/>
      <p:bold r:id="rId35"/>
      <p:italic r:id="rId36"/>
      <p:boldItalic r:id="rId37"/>
    </p:embeddedFont>
    <p:embeddedFont>
      <p:font typeface="Cambria Math" pitchFamily="18" charset="0"/>
      <p:regular r:id="rId38"/>
    </p:embeddedFont>
    <p:embeddedFont>
      <p:font typeface="Cambria" pitchFamily="18" charset="0"/>
      <p:regular r:id="rId39"/>
      <p:bold r:id="rId40"/>
      <p:italic r:id="rId41"/>
      <p:boldItalic r:id="rId42"/>
    </p:embeddedFont>
    <p:embeddedFont>
      <p:font typeface="Arial Black" pitchFamily="34" charset="0"/>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25"/>
    <p:restoredTop sz="94722"/>
  </p:normalViewPr>
  <p:slideViewPr>
    <p:cSldViewPr snapToGrid="0">
      <p:cViewPr varScale="1">
        <p:scale>
          <a:sx n="80" d="100"/>
          <a:sy n="80" d="100"/>
        </p:scale>
        <p:origin x="-53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Chart%20in%20Microsoft%20Word"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r>
              <a:rPr lang="en-US" b="1" dirty="0"/>
              <a:t>Difference in Global Average Temperature</a:t>
            </a:r>
          </a:p>
        </c:rich>
      </c:tx>
      <c:layout/>
      <c:overlay val="0"/>
      <c:spPr>
        <a:noFill/>
        <a:ln>
          <a:noFill/>
        </a:ln>
        <a:effectLst/>
      </c:spPr>
    </c:title>
    <c:autoTitleDeleted val="0"/>
    <c:plotArea>
      <c:layout/>
      <c:barChart>
        <c:barDir val="col"/>
        <c:grouping val="stacked"/>
        <c:varyColors val="0"/>
        <c:ser>
          <c:idx val="1"/>
          <c:order val="0"/>
          <c:tx>
            <c:strRef>
              <c:f>'[Chart in Microsoft Word]Sheet1'!$C$1</c:f>
              <c:strCache>
                <c:ptCount val="1"/>
                <c:pt idx="0">
                  <c:v>Series 2</c:v>
                </c:pt>
              </c:strCache>
            </c:strRef>
          </c:tx>
          <c:spPr>
            <a:solidFill>
              <a:schemeClr val="accent1">
                <a:lumMod val="75000"/>
              </a:schemeClr>
            </a:solidFill>
            <a:ln>
              <a:solidFill>
                <a:schemeClr val="bg1"/>
              </a:solidFill>
            </a:ln>
            <a:effectLst/>
          </c:spPr>
          <c:invertIfNegative val="0"/>
          <c:cat>
            <c:numRef>
              <c:f>'[Chart in Microsoft Word]Sheet1'!$A$2:$A$142</c:f>
              <c:numCache>
                <c:formatCode>General</c:formatCode>
                <c:ptCount val="141"/>
                <c:pt idx="0">
                  <c:v>1880</c:v>
                </c:pt>
                <c:pt idx="1">
                  <c:v>1881</c:v>
                </c:pt>
                <c:pt idx="2">
                  <c:v>1882</c:v>
                </c:pt>
                <c:pt idx="3">
                  <c:v>1883</c:v>
                </c:pt>
                <c:pt idx="4">
                  <c:v>1884</c:v>
                </c:pt>
                <c:pt idx="5">
                  <c:v>1885</c:v>
                </c:pt>
                <c:pt idx="6">
                  <c:v>1886</c:v>
                </c:pt>
                <c:pt idx="7">
                  <c:v>1887</c:v>
                </c:pt>
                <c:pt idx="8">
                  <c:v>1888</c:v>
                </c:pt>
                <c:pt idx="9">
                  <c:v>1889</c:v>
                </c:pt>
                <c:pt idx="10">
                  <c:v>1890</c:v>
                </c:pt>
                <c:pt idx="11">
                  <c:v>1891</c:v>
                </c:pt>
                <c:pt idx="12">
                  <c:v>1892</c:v>
                </c:pt>
                <c:pt idx="13">
                  <c:v>1893</c:v>
                </c:pt>
                <c:pt idx="14">
                  <c:v>1894</c:v>
                </c:pt>
                <c:pt idx="15">
                  <c:v>1895</c:v>
                </c:pt>
                <c:pt idx="16">
                  <c:v>1896</c:v>
                </c:pt>
                <c:pt idx="17">
                  <c:v>1897</c:v>
                </c:pt>
                <c:pt idx="18">
                  <c:v>1898</c:v>
                </c:pt>
                <c:pt idx="19">
                  <c:v>1899</c:v>
                </c:pt>
                <c:pt idx="20">
                  <c:v>1900</c:v>
                </c:pt>
                <c:pt idx="21">
                  <c:v>1901</c:v>
                </c:pt>
                <c:pt idx="22">
                  <c:v>1902</c:v>
                </c:pt>
                <c:pt idx="23">
                  <c:v>1903</c:v>
                </c:pt>
                <c:pt idx="24">
                  <c:v>1904</c:v>
                </c:pt>
                <c:pt idx="25">
                  <c:v>1905</c:v>
                </c:pt>
                <c:pt idx="26">
                  <c:v>1906</c:v>
                </c:pt>
                <c:pt idx="27">
                  <c:v>1907</c:v>
                </c:pt>
                <c:pt idx="28">
                  <c:v>1908</c:v>
                </c:pt>
                <c:pt idx="29">
                  <c:v>1909</c:v>
                </c:pt>
                <c:pt idx="30">
                  <c:v>1910</c:v>
                </c:pt>
                <c:pt idx="31">
                  <c:v>1911</c:v>
                </c:pt>
                <c:pt idx="32">
                  <c:v>1912</c:v>
                </c:pt>
                <c:pt idx="33">
                  <c:v>1913</c:v>
                </c:pt>
                <c:pt idx="34">
                  <c:v>1914</c:v>
                </c:pt>
                <c:pt idx="35">
                  <c:v>1915</c:v>
                </c:pt>
                <c:pt idx="36">
                  <c:v>1916</c:v>
                </c:pt>
                <c:pt idx="37">
                  <c:v>1917</c:v>
                </c:pt>
                <c:pt idx="38">
                  <c:v>1918</c:v>
                </c:pt>
                <c:pt idx="39">
                  <c:v>1919</c:v>
                </c:pt>
                <c:pt idx="40">
                  <c:v>1920</c:v>
                </c:pt>
                <c:pt idx="41">
                  <c:v>1921</c:v>
                </c:pt>
                <c:pt idx="42">
                  <c:v>1922</c:v>
                </c:pt>
                <c:pt idx="43">
                  <c:v>1923</c:v>
                </c:pt>
                <c:pt idx="44">
                  <c:v>1924</c:v>
                </c:pt>
                <c:pt idx="45">
                  <c:v>1925</c:v>
                </c:pt>
                <c:pt idx="46">
                  <c:v>1926</c:v>
                </c:pt>
                <c:pt idx="47">
                  <c:v>1927</c:v>
                </c:pt>
                <c:pt idx="48">
                  <c:v>1928</c:v>
                </c:pt>
                <c:pt idx="49">
                  <c:v>1929</c:v>
                </c:pt>
                <c:pt idx="50">
                  <c:v>1930</c:v>
                </c:pt>
                <c:pt idx="51">
                  <c:v>1931</c:v>
                </c:pt>
                <c:pt idx="52">
                  <c:v>1932</c:v>
                </c:pt>
                <c:pt idx="53">
                  <c:v>1933</c:v>
                </c:pt>
                <c:pt idx="54">
                  <c:v>1934</c:v>
                </c:pt>
                <c:pt idx="55">
                  <c:v>1935</c:v>
                </c:pt>
                <c:pt idx="56">
                  <c:v>1936</c:v>
                </c:pt>
                <c:pt idx="57">
                  <c:v>1937</c:v>
                </c:pt>
                <c:pt idx="58">
                  <c:v>1938</c:v>
                </c:pt>
                <c:pt idx="59">
                  <c:v>1939</c:v>
                </c:pt>
                <c:pt idx="60">
                  <c:v>1940</c:v>
                </c:pt>
                <c:pt idx="61">
                  <c:v>1941</c:v>
                </c:pt>
                <c:pt idx="62">
                  <c:v>1942</c:v>
                </c:pt>
                <c:pt idx="63">
                  <c:v>1943</c:v>
                </c:pt>
                <c:pt idx="64">
                  <c:v>1944</c:v>
                </c:pt>
                <c:pt idx="65">
                  <c:v>1945</c:v>
                </c:pt>
                <c:pt idx="66">
                  <c:v>1946</c:v>
                </c:pt>
                <c:pt idx="67">
                  <c:v>1947</c:v>
                </c:pt>
                <c:pt idx="68">
                  <c:v>1948</c:v>
                </c:pt>
                <c:pt idx="69">
                  <c:v>1949</c:v>
                </c:pt>
                <c:pt idx="70">
                  <c:v>1950</c:v>
                </c:pt>
                <c:pt idx="71">
                  <c:v>1951</c:v>
                </c:pt>
                <c:pt idx="72">
                  <c:v>1952</c:v>
                </c:pt>
                <c:pt idx="73">
                  <c:v>1953</c:v>
                </c:pt>
                <c:pt idx="74">
                  <c:v>1954</c:v>
                </c:pt>
                <c:pt idx="75">
                  <c:v>1955</c:v>
                </c:pt>
                <c:pt idx="76">
                  <c:v>1956</c:v>
                </c:pt>
                <c:pt idx="77">
                  <c:v>1957</c:v>
                </c:pt>
                <c:pt idx="78">
                  <c:v>1958</c:v>
                </c:pt>
                <c:pt idx="79">
                  <c:v>1959</c:v>
                </c:pt>
                <c:pt idx="80">
                  <c:v>1960</c:v>
                </c:pt>
                <c:pt idx="81">
                  <c:v>1961</c:v>
                </c:pt>
                <c:pt idx="82">
                  <c:v>1962</c:v>
                </c:pt>
                <c:pt idx="83">
                  <c:v>1963</c:v>
                </c:pt>
                <c:pt idx="84">
                  <c:v>1964</c:v>
                </c:pt>
                <c:pt idx="85">
                  <c:v>1965</c:v>
                </c:pt>
                <c:pt idx="86">
                  <c:v>1966</c:v>
                </c:pt>
                <c:pt idx="87">
                  <c:v>1967</c:v>
                </c:pt>
                <c:pt idx="88">
                  <c:v>1968</c:v>
                </c:pt>
                <c:pt idx="89">
                  <c:v>1969</c:v>
                </c:pt>
                <c:pt idx="90">
                  <c:v>1970</c:v>
                </c:pt>
                <c:pt idx="91">
                  <c:v>1971</c:v>
                </c:pt>
                <c:pt idx="92">
                  <c:v>1972</c:v>
                </c:pt>
                <c:pt idx="93">
                  <c:v>1973</c:v>
                </c:pt>
                <c:pt idx="94">
                  <c:v>1974</c:v>
                </c:pt>
                <c:pt idx="95">
                  <c:v>1975</c:v>
                </c:pt>
                <c:pt idx="96">
                  <c:v>1976</c:v>
                </c:pt>
                <c:pt idx="97">
                  <c:v>1977</c:v>
                </c:pt>
                <c:pt idx="98">
                  <c:v>1978</c:v>
                </c:pt>
                <c:pt idx="99">
                  <c:v>1979</c:v>
                </c:pt>
                <c:pt idx="100">
                  <c:v>1980</c:v>
                </c:pt>
                <c:pt idx="101">
                  <c:v>1981</c:v>
                </c:pt>
                <c:pt idx="102">
                  <c:v>1982</c:v>
                </c:pt>
                <c:pt idx="103">
                  <c:v>1983</c:v>
                </c:pt>
                <c:pt idx="104">
                  <c:v>1984</c:v>
                </c:pt>
                <c:pt idx="105">
                  <c:v>1985</c:v>
                </c:pt>
                <c:pt idx="106">
                  <c:v>1986</c:v>
                </c:pt>
                <c:pt idx="107">
                  <c:v>1987</c:v>
                </c:pt>
                <c:pt idx="108">
                  <c:v>1988</c:v>
                </c:pt>
                <c:pt idx="109">
                  <c:v>1989</c:v>
                </c:pt>
                <c:pt idx="110">
                  <c:v>1990</c:v>
                </c:pt>
                <c:pt idx="111">
                  <c:v>1991</c:v>
                </c:pt>
                <c:pt idx="112">
                  <c:v>1992</c:v>
                </c:pt>
                <c:pt idx="113">
                  <c:v>1993</c:v>
                </c:pt>
                <c:pt idx="114">
                  <c:v>1994</c:v>
                </c:pt>
                <c:pt idx="115">
                  <c:v>1995</c:v>
                </c:pt>
                <c:pt idx="116">
                  <c:v>1996</c:v>
                </c:pt>
                <c:pt idx="117">
                  <c:v>1997</c:v>
                </c:pt>
                <c:pt idx="118">
                  <c:v>1998</c:v>
                </c:pt>
                <c:pt idx="119">
                  <c:v>1999</c:v>
                </c:pt>
                <c:pt idx="120">
                  <c:v>2000</c:v>
                </c:pt>
                <c:pt idx="121">
                  <c:v>2001</c:v>
                </c:pt>
                <c:pt idx="122">
                  <c:v>2002</c:v>
                </c:pt>
                <c:pt idx="123">
                  <c:v>2003</c:v>
                </c:pt>
                <c:pt idx="124">
                  <c:v>2004</c:v>
                </c:pt>
                <c:pt idx="125">
                  <c:v>2005</c:v>
                </c:pt>
                <c:pt idx="126">
                  <c:v>2006</c:v>
                </c:pt>
                <c:pt idx="127">
                  <c:v>2007</c:v>
                </c:pt>
                <c:pt idx="128">
                  <c:v>2008</c:v>
                </c:pt>
                <c:pt idx="129">
                  <c:v>2009</c:v>
                </c:pt>
                <c:pt idx="130">
                  <c:v>2010</c:v>
                </c:pt>
                <c:pt idx="131">
                  <c:v>2011</c:v>
                </c:pt>
                <c:pt idx="132">
                  <c:v>2012</c:v>
                </c:pt>
                <c:pt idx="133">
                  <c:v>2013</c:v>
                </c:pt>
                <c:pt idx="134">
                  <c:v>2014</c:v>
                </c:pt>
                <c:pt idx="135">
                  <c:v>2015</c:v>
                </c:pt>
                <c:pt idx="136">
                  <c:v>2016</c:v>
                </c:pt>
                <c:pt idx="137">
                  <c:v>2017</c:v>
                </c:pt>
                <c:pt idx="138">
                  <c:v>2018</c:v>
                </c:pt>
                <c:pt idx="139">
                  <c:v>2019</c:v>
                </c:pt>
                <c:pt idx="140">
                  <c:v>2020</c:v>
                </c:pt>
              </c:numCache>
            </c:numRef>
          </c:cat>
          <c:val>
            <c:numRef>
              <c:f>'[Chart in Microsoft Word]Sheet1'!$C$2:$C$142</c:f>
              <c:numCache>
                <c:formatCode>General</c:formatCode>
                <c:ptCount val="141"/>
                <c:pt idx="0">
                  <c:v>-0.15</c:v>
                </c:pt>
                <c:pt idx="1">
                  <c:v>-7.0000000000000007E-2</c:v>
                </c:pt>
                <c:pt idx="2">
                  <c:v>-0.1</c:v>
                </c:pt>
                <c:pt idx="3">
                  <c:v>-0.16</c:v>
                </c:pt>
                <c:pt idx="4">
                  <c:v>-0.27</c:v>
                </c:pt>
                <c:pt idx="5">
                  <c:v>-0.32</c:v>
                </c:pt>
                <c:pt idx="6">
                  <c:v>-0.3</c:v>
                </c:pt>
                <c:pt idx="7">
                  <c:v>-0.35</c:v>
                </c:pt>
                <c:pt idx="8">
                  <c:v>-0.16</c:v>
                </c:pt>
                <c:pt idx="9">
                  <c:v>-0.1</c:v>
                </c:pt>
                <c:pt idx="10">
                  <c:v>-0.34</c:v>
                </c:pt>
                <c:pt idx="11">
                  <c:v>-0.22</c:v>
                </c:pt>
                <c:pt idx="12">
                  <c:v>-0.27</c:v>
                </c:pt>
                <c:pt idx="13">
                  <c:v>-0.31</c:v>
                </c:pt>
                <c:pt idx="14">
                  <c:v>-0.3</c:v>
                </c:pt>
                <c:pt idx="15">
                  <c:v>-0.22</c:v>
                </c:pt>
                <c:pt idx="16">
                  <c:v>-0.1</c:v>
                </c:pt>
                <c:pt idx="17">
                  <c:v>-0.1</c:v>
                </c:pt>
                <c:pt idx="18">
                  <c:v>-0.26</c:v>
                </c:pt>
                <c:pt idx="19">
                  <c:v>-0.17</c:v>
                </c:pt>
                <c:pt idx="20">
                  <c:v>-7.0000000000000007E-2</c:v>
                </c:pt>
                <c:pt idx="21">
                  <c:v>-0.15</c:v>
                </c:pt>
                <c:pt idx="22">
                  <c:v>-0.27</c:v>
                </c:pt>
                <c:pt idx="23">
                  <c:v>-0.36</c:v>
                </c:pt>
                <c:pt idx="24">
                  <c:v>-0.46</c:v>
                </c:pt>
                <c:pt idx="25">
                  <c:v>-0.25</c:v>
                </c:pt>
                <c:pt idx="26">
                  <c:v>-0.21</c:v>
                </c:pt>
                <c:pt idx="27">
                  <c:v>-0.37</c:v>
                </c:pt>
                <c:pt idx="28">
                  <c:v>-0.42</c:v>
                </c:pt>
                <c:pt idx="29">
                  <c:v>-0.47</c:v>
                </c:pt>
                <c:pt idx="30">
                  <c:v>-0.43</c:v>
                </c:pt>
                <c:pt idx="31">
                  <c:v>-0.43</c:v>
                </c:pt>
                <c:pt idx="32">
                  <c:v>-0.35</c:v>
                </c:pt>
                <c:pt idx="33">
                  <c:v>-0.33</c:v>
                </c:pt>
                <c:pt idx="34">
                  <c:v>-0.14000000000000001</c:v>
                </c:pt>
                <c:pt idx="35">
                  <c:v>-0.13</c:v>
                </c:pt>
                <c:pt idx="36">
                  <c:v>-0.35</c:v>
                </c:pt>
                <c:pt idx="37">
                  <c:v>-0.45</c:v>
                </c:pt>
                <c:pt idx="38">
                  <c:v>-0.28000000000000003</c:v>
                </c:pt>
                <c:pt idx="39">
                  <c:v>-0.27</c:v>
                </c:pt>
                <c:pt idx="40">
                  <c:v>-0.26</c:v>
                </c:pt>
                <c:pt idx="41">
                  <c:v>-0.18</c:v>
                </c:pt>
                <c:pt idx="42">
                  <c:v>-0.28000000000000003</c:v>
                </c:pt>
                <c:pt idx="43">
                  <c:v>-0.26</c:v>
                </c:pt>
                <c:pt idx="44">
                  <c:v>-0.26</c:v>
                </c:pt>
                <c:pt idx="45">
                  <c:v>-0.21</c:v>
                </c:pt>
                <c:pt idx="46">
                  <c:v>-0.1</c:v>
                </c:pt>
                <c:pt idx="47">
                  <c:v>-0.21</c:v>
                </c:pt>
                <c:pt idx="48">
                  <c:v>-0.19</c:v>
                </c:pt>
                <c:pt idx="49">
                  <c:v>-0.35</c:v>
                </c:pt>
                <c:pt idx="50">
                  <c:v>-0.15</c:v>
                </c:pt>
                <c:pt idx="51">
                  <c:v>-0.09</c:v>
                </c:pt>
                <c:pt idx="52">
                  <c:v>-0.16</c:v>
                </c:pt>
                <c:pt idx="53">
                  <c:v>-0.28000000000000003</c:v>
                </c:pt>
                <c:pt idx="54">
                  <c:v>-0.12</c:v>
                </c:pt>
                <c:pt idx="55">
                  <c:v>-0.2</c:v>
                </c:pt>
                <c:pt idx="56">
                  <c:v>-0.15</c:v>
                </c:pt>
                <c:pt idx="57">
                  <c:v>-0.03</c:v>
                </c:pt>
                <c:pt idx="58">
                  <c:v>0</c:v>
                </c:pt>
                <c:pt idx="59">
                  <c:v>-0.02</c:v>
                </c:pt>
                <c:pt idx="60">
                  <c:v>0</c:v>
                </c:pt>
                <c:pt idx="61">
                  <c:v>0</c:v>
                </c:pt>
                <c:pt idx="62">
                  <c:v>0</c:v>
                </c:pt>
                <c:pt idx="63">
                  <c:v>0</c:v>
                </c:pt>
                <c:pt idx="64">
                  <c:v>0</c:v>
                </c:pt>
                <c:pt idx="65">
                  <c:v>0</c:v>
                </c:pt>
                <c:pt idx="66">
                  <c:v>-7.0000000000000007E-2</c:v>
                </c:pt>
                <c:pt idx="67">
                  <c:v>-0.03</c:v>
                </c:pt>
                <c:pt idx="68">
                  <c:v>-0.11</c:v>
                </c:pt>
                <c:pt idx="69">
                  <c:v>-0.11</c:v>
                </c:pt>
                <c:pt idx="70">
                  <c:v>-0.17</c:v>
                </c:pt>
                <c:pt idx="71">
                  <c:v>-7.0000000000000007E-2</c:v>
                </c:pt>
                <c:pt idx="72">
                  <c:v>0</c:v>
                </c:pt>
                <c:pt idx="73">
                  <c:v>0</c:v>
                </c:pt>
                <c:pt idx="74">
                  <c:v>-0.13</c:v>
                </c:pt>
                <c:pt idx="75">
                  <c:v>-0.14000000000000001</c:v>
                </c:pt>
                <c:pt idx="76">
                  <c:v>-0.19</c:v>
                </c:pt>
                <c:pt idx="77">
                  <c:v>0</c:v>
                </c:pt>
                <c:pt idx="78">
                  <c:v>0</c:v>
                </c:pt>
                <c:pt idx="79">
                  <c:v>0</c:v>
                </c:pt>
                <c:pt idx="80">
                  <c:v>-0.02</c:v>
                </c:pt>
                <c:pt idx="81">
                  <c:v>0</c:v>
                </c:pt>
                <c:pt idx="82">
                  <c:v>0</c:v>
                </c:pt>
                <c:pt idx="83">
                  <c:v>0</c:v>
                </c:pt>
                <c:pt idx="84">
                  <c:v>-0.2</c:v>
                </c:pt>
                <c:pt idx="85">
                  <c:v>-0.11</c:v>
                </c:pt>
                <c:pt idx="86">
                  <c:v>-0.06</c:v>
                </c:pt>
                <c:pt idx="87">
                  <c:v>-0.02</c:v>
                </c:pt>
                <c:pt idx="88">
                  <c:v>-0.08</c:v>
                </c:pt>
                <c:pt idx="89">
                  <c:v>0</c:v>
                </c:pt>
                <c:pt idx="90">
                  <c:v>0</c:v>
                </c:pt>
                <c:pt idx="91">
                  <c:v>-0.08</c:v>
                </c:pt>
                <c:pt idx="92">
                  <c:v>0</c:v>
                </c:pt>
                <c:pt idx="93">
                  <c:v>0</c:v>
                </c:pt>
                <c:pt idx="94">
                  <c:v>-7.0000000000000007E-2</c:v>
                </c:pt>
                <c:pt idx="95">
                  <c:v>-0.01</c:v>
                </c:pt>
                <c:pt idx="96">
                  <c:v>-0.1</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numCache>
            </c:numRef>
          </c:val>
          <c:extLst xmlns:c16r2="http://schemas.microsoft.com/office/drawing/2015/06/chart">
            <c:ext xmlns:c16="http://schemas.microsoft.com/office/drawing/2014/chart" uri="{C3380CC4-5D6E-409C-BE32-E72D297353CC}">
              <c16:uniqueId val="{00000000-E71D-2345-8434-54202ADAD8CF}"/>
            </c:ext>
          </c:extLst>
        </c:ser>
        <c:ser>
          <c:idx val="2"/>
          <c:order val="1"/>
          <c:tx>
            <c:strRef>
              <c:f>'[Chart in Microsoft Word]Sheet1'!$D$1</c:f>
              <c:strCache>
                <c:ptCount val="1"/>
                <c:pt idx="0">
                  <c:v>Series 3</c:v>
                </c:pt>
              </c:strCache>
            </c:strRef>
          </c:tx>
          <c:spPr>
            <a:solidFill>
              <a:srgbClr val="C00000"/>
            </a:solidFill>
            <a:ln w="0">
              <a:solidFill>
                <a:schemeClr val="bg1"/>
              </a:solidFill>
            </a:ln>
            <a:effectLst/>
          </c:spPr>
          <c:invertIfNegative val="0"/>
          <c:cat>
            <c:numRef>
              <c:f>'[Chart in Microsoft Word]Sheet1'!$A$2:$A$142</c:f>
              <c:numCache>
                <c:formatCode>General</c:formatCode>
                <c:ptCount val="141"/>
                <c:pt idx="0">
                  <c:v>1880</c:v>
                </c:pt>
                <c:pt idx="1">
                  <c:v>1881</c:v>
                </c:pt>
                <c:pt idx="2">
                  <c:v>1882</c:v>
                </c:pt>
                <c:pt idx="3">
                  <c:v>1883</c:v>
                </c:pt>
                <c:pt idx="4">
                  <c:v>1884</c:v>
                </c:pt>
                <c:pt idx="5">
                  <c:v>1885</c:v>
                </c:pt>
                <c:pt idx="6">
                  <c:v>1886</c:v>
                </c:pt>
                <c:pt idx="7">
                  <c:v>1887</c:v>
                </c:pt>
                <c:pt idx="8">
                  <c:v>1888</c:v>
                </c:pt>
                <c:pt idx="9">
                  <c:v>1889</c:v>
                </c:pt>
                <c:pt idx="10">
                  <c:v>1890</c:v>
                </c:pt>
                <c:pt idx="11">
                  <c:v>1891</c:v>
                </c:pt>
                <c:pt idx="12">
                  <c:v>1892</c:v>
                </c:pt>
                <c:pt idx="13">
                  <c:v>1893</c:v>
                </c:pt>
                <c:pt idx="14">
                  <c:v>1894</c:v>
                </c:pt>
                <c:pt idx="15">
                  <c:v>1895</c:v>
                </c:pt>
                <c:pt idx="16">
                  <c:v>1896</c:v>
                </c:pt>
                <c:pt idx="17">
                  <c:v>1897</c:v>
                </c:pt>
                <c:pt idx="18">
                  <c:v>1898</c:v>
                </c:pt>
                <c:pt idx="19">
                  <c:v>1899</c:v>
                </c:pt>
                <c:pt idx="20">
                  <c:v>1900</c:v>
                </c:pt>
                <c:pt idx="21">
                  <c:v>1901</c:v>
                </c:pt>
                <c:pt idx="22">
                  <c:v>1902</c:v>
                </c:pt>
                <c:pt idx="23">
                  <c:v>1903</c:v>
                </c:pt>
                <c:pt idx="24">
                  <c:v>1904</c:v>
                </c:pt>
                <c:pt idx="25">
                  <c:v>1905</c:v>
                </c:pt>
                <c:pt idx="26">
                  <c:v>1906</c:v>
                </c:pt>
                <c:pt idx="27">
                  <c:v>1907</c:v>
                </c:pt>
                <c:pt idx="28">
                  <c:v>1908</c:v>
                </c:pt>
                <c:pt idx="29">
                  <c:v>1909</c:v>
                </c:pt>
                <c:pt idx="30">
                  <c:v>1910</c:v>
                </c:pt>
                <c:pt idx="31">
                  <c:v>1911</c:v>
                </c:pt>
                <c:pt idx="32">
                  <c:v>1912</c:v>
                </c:pt>
                <c:pt idx="33">
                  <c:v>1913</c:v>
                </c:pt>
                <c:pt idx="34">
                  <c:v>1914</c:v>
                </c:pt>
                <c:pt idx="35">
                  <c:v>1915</c:v>
                </c:pt>
                <c:pt idx="36">
                  <c:v>1916</c:v>
                </c:pt>
                <c:pt idx="37">
                  <c:v>1917</c:v>
                </c:pt>
                <c:pt idx="38">
                  <c:v>1918</c:v>
                </c:pt>
                <c:pt idx="39">
                  <c:v>1919</c:v>
                </c:pt>
                <c:pt idx="40">
                  <c:v>1920</c:v>
                </c:pt>
                <c:pt idx="41">
                  <c:v>1921</c:v>
                </c:pt>
                <c:pt idx="42">
                  <c:v>1922</c:v>
                </c:pt>
                <c:pt idx="43">
                  <c:v>1923</c:v>
                </c:pt>
                <c:pt idx="44">
                  <c:v>1924</c:v>
                </c:pt>
                <c:pt idx="45">
                  <c:v>1925</c:v>
                </c:pt>
                <c:pt idx="46">
                  <c:v>1926</c:v>
                </c:pt>
                <c:pt idx="47">
                  <c:v>1927</c:v>
                </c:pt>
                <c:pt idx="48">
                  <c:v>1928</c:v>
                </c:pt>
                <c:pt idx="49">
                  <c:v>1929</c:v>
                </c:pt>
                <c:pt idx="50">
                  <c:v>1930</c:v>
                </c:pt>
                <c:pt idx="51">
                  <c:v>1931</c:v>
                </c:pt>
                <c:pt idx="52">
                  <c:v>1932</c:v>
                </c:pt>
                <c:pt idx="53">
                  <c:v>1933</c:v>
                </c:pt>
                <c:pt idx="54">
                  <c:v>1934</c:v>
                </c:pt>
                <c:pt idx="55">
                  <c:v>1935</c:v>
                </c:pt>
                <c:pt idx="56">
                  <c:v>1936</c:v>
                </c:pt>
                <c:pt idx="57">
                  <c:v>1937</c:v>
                </c:pt>
                <c:pt idx="58">
                  <c:v>1938</c:v>
                </c:pt>
                <c:pt idx="59">
                  <c:v>1939</c:v>
                </c:pt>
                <c:pt idx="60">
                  <c:v>1940</c:v>
                </c:pt>
                <c:pt idx="61">
                  <c:v>1941</c:v>
                </c:pt>
                <c:pt idx="62">
                  <c:v>1942</c:v>
                </c:pt>
                <c:pt idx="63">
                  <c:v>1943</c:v>
                </c:pt>
                <c:pt idx="64">
                  <c:v>1944</c:v>
                </c:pt>
                <c:pt idx="65">
                  <c:v>1945</c:v>
                </c:pt>
                <c:pt idx="66">
                  <c:v>1946</c:v>
                </c:pt>
                <c:pt idx="67">
                  <c:v>1947</c:v>
                </c:pt>
                <c:pt idx="68">
                  <c:v>1948</c:v>
                </c:pt>
                <c:pt idx="69">
                  <c:v>1949</c:v>
                </c:pt>
                <c:pt idx="70">
                  <c:v>1950</c:v>
                </c:pt>
                <c:pt idx="71">
                  <c:v>1951</c:v>
                </c:pt>
                <c:pt idx="72">
                  <c:v>1952</c:v>
                </c:pt>
                <c:pt idx="73">
                  <c:v>1953</c:v>
                </c:pt>
                <c:pt idx="74">
                  <c:v>1954</c:v>
                </c:pt>
                <c:pt idx="75">
                  <c:v>1955</c:v>
                </c:pt>
                <c:pt idx="76">
                  <c:v>1956</c:v>
                </c:pt>
                <c:pt idx="77">
                  <c:v>1957</c:v>
                </c:pt>
                <c:pt idx="78">
                  <c:v>1958</c:v>
                </c:pt>
                <c:pt idx="79">
                  <c:v>1959</c:v>
                </c:pt>
                <c:pt idx="80">
                  <c:v>1960</c:v>
                </c:pt>
                <c:pt idx="81">
                  <c:v>1961</c:v>
                </c:pt>
                <c:pt idx="82">
                  <c:v>1962</c:v>
                </c:pt>
                <c:pt idx="83">
                  <c:v>1963</c:v>
                </c:pt>
                <c:pt idx="84">
                  <c:v>1964</c:v>
                </c:pt>
                <c:pt idx="85">
                  <c:v>1965</c:v>
                </c:pt>
                <c:pt idx="86">
                  <c:v>1966</c:v>
                </c:pt>
                <c:pt idx="87">
                  <c:v>1967</c:v>
                </c:pt>
                <c:pt idx="88">
                  <c:v>1968</c:v>
                </c:pt>
                <c:pt idx="89">
                  <c:v>1969</c:v>
                </c:pt>
                <c:pt idx="90">
                  <c:v>1970</c:v>
                </c:pt>
                <c:pt idx="91">
                  <c:v>1971</c:v>
                </c:pt>
                <c:pt idx="92">
                  <c:v>1972</c:v>
                </c:pt>
                <c:pt idx="93">
                  <c:v>1973</c:v>
                </c:pt>
                <c:pt idx="94">
                  <c:v>1974</c:v>
                </c:pt>
                <c:pt idx="95">
                  <c:v>1975</c:v>
                </c:pt>
                <c:pt idx="96">
                  <c:v>1976</c:v>
                </c:pt>
                <c:pt idx="97">
                  <c:v>1977</c:v>
                </c:pt>
                <c:pt idx="98">
                  <c:v>1978</c:v>
                </c:pt>
                <c:pt idx="99">
                  <c:v>1979</c:v>
                </c:pt>
                <c:pt idx="100">
                  <c:v>1980</c:v>
                </c:pt>
                <c:pt idx="101">
                  <c:v>1981</c:v>
                </c:pt>
                <c:pt idx="102">
                  <c:v>1982</c:v>
                </c:pt>
                <c:pt idx="103">
                  <c:v>1983</c:v>
                </c:pt>
                <c:pt idx="104">
                  <c:v>1984</c:v>
                </c:pt>
                <c:pt idx="105">
                  <c:v>1985</c:v>
                </c:pt>
                <c:pt idx="106">
                  <c:v>1986</c:v>
                </c:pt>
                <c:pt idx="107">
                  <c:v>1987</c:v>
                </c:pt>
                <c:pt idx="108">
                  <c:v>1988</c:v>
                </c:pt>
                <c:pt idx="109">
                  <c:v>1989</c:v>
                </c:pt>
                <c:pt idx="110">
                  <c:v>1990</c:v>
                </c:pt>
                <c:pt idx="111">
                  <c:v>1991</c:v>
                </c:pt>
                <c:pt idx="112">
                  <c:v>1992</c:v>
                </c:pt>
                <c:pt idx="113">
                  <c:v>1993</c:v>
                </c:pt>
                <c:pt idx="114">
                  <c:v>1994</c:v>
                </c:pt>
                <c:pt idx="115">
                  <c:v>1995</c:v>
                </c:pt>
                <c:pt idx="116">
                  <c:v>1996</c:v>
                </c:pt>
                <c:pt idx="117">
                  <c:v>1997</c:v>
                </c:pt>
                <c:pt idx="118">
                  <c:v>1998</c:v>
                </c:pt>
                <c:pt idx="119">
                  <c:v>1999</c:v>
                </c:pt>
                <c:pt idx="120">
                  <c:v>2000</c:v>
                </c:pt>
                <c:pt idx="121">
                  <c:v>2001</c:v>
                </c:pt>
                <c:pt idx="122">
                  <c:v>2002</c:v>
                </c:pt>
                <c:pt idx="123">
                  <c:v>2003</c:v>
                </c:pt>
                <c:pt idx="124">
                  <c:v>2004</c:v>
                </c:pt>
                <c:pt idx="125">
                  <c:v>2005</c:v>
                </c:pt>
                <c:pt idx="126">
                  <c:v>2006</c:v>
                </c:pt>
                <c:pt idx="127">
                  <c:v>2007</c:v>
                </c:pt>
                <c:pt idx="128">
                  <c:v>2008</c:v>
                </c:pt>
                <c:pt idx="129">
                  <c:v>2009</c:v>
                </c:pt>
                <c:pt idx="130">
                  <c:v>2010</c:v>
                </c:pt>
                <c:pt idx="131">
                  <c:v>2011</c:v>
                </c:pt>
                <c:pt idx="132">
                  <c:v>2012</c:v>
                </c:pt>
                <c:pt idx="133">
                  <c:v>2013</c:v>
                </c:pt>
                <c:pt idx="134">
                  <c:v>2014</c:v>
                </c:pt>
                <c:pt idx="135">
                  <c:v>2015</c:v>
                </c:pt>
                <c:pt idx="136">
                  <c:v>2016</c:v>
                </c:pt>
                <c:pt idx="137">
                  <c:v>2017</c:v>
                </c:pt>
                <c:pt idx="138">
                  <c:v>2018</c:v>
                </c:pt>
                <c:pt idx="139">
                  <c:v>2019</c:v>
                </c:pt>
                <c:pt idx="140">
                  <c:v>2020</c:v>
                </c:pt>
              </c:numCache>
            </c:numRef>
          </c:cat>
          <c:val>
            <c:numRef>
              <c:f>'[Chart in Microsoft Word]Sheet1'!$D$2:$D$142</c:f>
              <c:numCache>
                <c:formatCode>General</c:formatCode>
                <c:ptCount val="1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0.13</c:v>
                </c:pt>
                <c:pt idx="61">
                  <c:v>0.19</c:v>
                </c:pt>
                <c:pt idx="62">
                  <c:v>7.0000000000000007E-2</c:v>
                </c:pt>
                <c:pt idx="63">
                  <c:v>0.09</c:v>
                </c:pt>
                <c:pt idx="64">
                  <c:v>0.2</c:v>
                </c:pt>
                <c:pt idx="65">
                  <c:v>0.09</c:v>
                </c:pt>
                <c:pt idx="66">
                  <c:v>0</c:v>
                </c:pt>
                <c:pt idx="67">
                  <c:v>0</c:v>
                </c:pt>
                <c:pt idx="68">
                  <c:v>0</c:v>
                </c:pt>
                <c:pt idx="69">
                  <c:v>0</c:v>
                </c:pt>
                <c:pt idx="70">
                  <c:v>0</c:v>
                </c:pt>
                <c:pt idx="71">
                  <c:v>0</c:v>
                </c:pt>
                <c:pt idx="72">
                  <c:v>0.01</c:v>
                </c:pt>
                <c:pt idx="73">
                  <c:v>0.08</c:v>
                </c:pt>
                <c:pt idx="74">
                  <c:v>0</c:v>
                </c:pt>
                <c:pt idx="75">
                  <c:v>0</c:v>
                </c:pt>
                <c:pt idx="76">
                  <c:v>0</c:v>
                </c:pt>
                <c:pt idx="77">
                  <c:v>0.05</c:v>
                </c:pt>
                <c:pt idx="78">
                  <c:v>0.06</c:v>
                </c:pt>
                <c:pt idx="79">
                  <c:v>0.03</c:v>
                </c:pt>
                <c:pt idx="80">
                  <c:v>0</c:v>
                </c:pt>
                <c:pt idx="81">
                  <c:v>0.06</c:v>
                </c:pt>
                <c:pt idx="82">
                  <c:v>0.03</c:v>
                </c:pt>
                <c:pt idx="83">
                  <c:v>0.05</c:v>
                </c:pt>
                <c:pt idx="84">
                  <c:v>0</c:v>
                </c:pt>
                <c:pt idx="85">
                  <c:v>0</c:v>
                </c:pt>
                <c:pt idx="86">
                  <c:v>0</c:v>
                </c:pt>
                <c:pt idx="87">
                  <c:v>0</c:v>
                </c:pt>
                <c:pt idx="88">
                  <c:v>0</c:v>
                </c:pt>
                <c:pt idx="89">
                  <c:v>0.05</c:v>
                </c:pt>
                <c:pt idx="90">
                  <c:v>0.03</c:v>
                </c:pt>
                <c:pt idx="91">
                  <c:v>0</c:v>
                </c:pt>
                <c:pt idx="92">
                  <c:v>0.01</c:v>
                </c:pt>
                <c:pt idx="93">
                  <c:v>0.16</c:v>
                </c:pt>
                <c:pt idx="94">
                  <c:v>0</c:v>
                </c:pt>
                <c:pt idx="95">
                  <c:v>0</c:v>
                </c:pt>
                <c:pt idx="96">
                  <c:v>0</c:v>
                </c:pt>
                <c:pt idx="97">
                  <c:v>0.18</c:v>
                </c:pt>
                <c:pt idx="98">
                  <c:v>7.0000000000000007E-2</c:v>
                </c:pt>
                <c:pt idx="99">
                  <c:v>0.16</c:v>
                </c:pt>
                <c:pt idx="100">
                  <c:v>0.26</c:v>
                </c:pt>
                <c:pt idx="101">
                  <c:v>0.32</c:v>
                </c:pt>
                <c:pt idx="102">
                  <c:v>0.14000000000000001</c:v>
                </c:pt>
                <c:pt idx="103">
                  <c:v>0.31</c:v>
                </c:pt>
                <c:pt idx="104">
                  <c:v>0.16</c:v>
                </c:pt>
                <c:pt idx="105">
                  <c:v>0.12</c:v>
                </c:pt>
                <c:pt idx="106">
                  <c:v>0.18</c:v>
                </c:pt>
                <c:pt idx="107">
                  <c:v>0.32</c:v>
                </c:pt>
                <c:pt idx="108">
                  <c:v>0.39</c:v>
                </c:pt>
                <c:pt idx="109">
                  <c:v>0.27</c:v>
                </c:pt>
                <c:pt idx="110">
                  <c:v>0.45</c:v>
                </c:pt>
                <c:pt idx="111">
                  <c:v>0.4</c:v>
                </c:pt>
                <c:pt idx="112">
                  <c:v>0.22</c:v>
                </c:pt>
                <c:pt idx="113">
                  <c:v>0.23</c:v>
                </c:pt>
                <c:pt idx="114">
                  <c:v>0.31</c:v>
                </c:pt>
                <c:pt idx="115">
                  <c:v>0.44</c:v>
                </c:pt>
                <c:pt idx="116">
                  <c:v>0.33</c:v>
                </c:pt>
                <c:pt idx="117">
                  <c:v>0.46</c:v>
                </c:pt>
                <c:pt idx="118">
                  <c:v>0.61</c:v>
                </c:pt>
                <c:pt idx="119">
                  <c:v>0.38</c:v>
                </c:pt>
                <c:pt idx="120">
                  <c:v>0.39</c:v>
                </c:pt>
                <c:pt idx="121">
                  <c:v>0.54</c:v>
                </c:pt>
                <c:pt idx="122">
                  <c:v>0.63</c:v>
                </c:pt>
                <c:pt idx="123">
                  <c:v>0.62</c:v>
                </c:pt>
                <c:pt idx="124">
                  <c:v>0.54</c:v>
                </c:pt>
                <c:pt idx="125">
                  <c:v>0.68</c:v>
                </c:pt>
                <c:pt idx="126">
                  <c:v>0.64</c:v>
                </c:pt>
                <c:pt idx="127">
                  <c:v>0.67</c:v>
                </c:pt>
                <c:pt idx="128">
                  <c:v>0.54</c:v>
                </c:pt>
                <c:pt idx="129">
                  <c:v>0.66</c:v>
                </c:pt>
                <c:pt idx="130">
                  <c:v>0.72</c:v>
                </c:pt>
                <c:pt idx="131">
                  <c:v>0.61</c:v>
                </c:pt>
                <c:pt idx="132">
                  <c:v>0.64</c:v>
                </c:pt>
                <c:pt idx="133">
                  <c:v>0.68</c:v>
                </c:pt>
                <c:pt idx="134">
                  <c:v>0.75</c:v>
                </c:pt>
                <c:pt idx="135">
                  <c:v>0.9</c:v>
                </c:pt>
                <c:pt idx="136">
                  <c:v>1.02</c:v>
                </c:pt>
                <c:pt idx="137">
                  <c:v>0.92</c:v>
                </c:pt>
                <c:pt idx="138">
                  <c:v>0.85</c:v>
                </c:pt>
                <c:pt idx="139">
                  <c:v>0.98</c:v>
                </c:pt>
                <c:pt idx="140">
                  <c:v>1.02</c:v>
                </c:pt>
              </c:numCache>
            </c:numRef>
          </c:val>
          <c:extLst xmlns:c16r2="http://schemas.microsoft.com/office/drawing/2015/06/chart">
            <c:ext xmlns:c16="http://schemas.microsoft.com/office/drawing/2014/chart" uri="{C3380CC4-5D6E-409C-BE32-E72D297353CC}">
              <c16:uniqueId val="{00000001-E71D-2345-8434-54202ADAD8CF}"/>
            </c:ext>
          </c:extLst>
        </c:ser>
        <c:dLbls>
          <c:showLegendKey val="0"/>
          <c:showVal val="0"/>
          <c:showCatName val="0"/>
          <c:showSerName val="0"/>
          <c:showPercent val="0"/>
          <c:showBubbleSize val="0"/>
        </c:dLbls>
        <c:gapWidth val="1"/>
        <c:overlap val="100"/>
        <c:axId val="154387968"/>
        <c:axId val="154389504"/>
      </c:barChart>
      <c:catAx>
        <c:axId val="154387968"/>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54389504"/>
        <c:crosses val="autoZero"/>
        <c:auto val="1"/>
        <c:lblAlgn val="ctr"/>
        <c:lblOffset val="100"/>
        <c:tickLblSkip val="20"/>
        <c:noMultiLvlLbl val="0"/>
      </c:catAx>
      <c:valAx>
        <c:axId val="154389504"/>
        <c:scaling>
          <c:orientation val="minMax"/>
          <c:min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54387968"/>
        <c:crosses val="autoZero"/>
        <c:crossBetween val="between"/>
      </c:valAx>
      <c:spPr>
        <a:noFill/>
        <a:ln w="6350">
          <a:noFill/>
        </a:ln>
        <a:effectLst/>
      </c:spPr>
    </c:plotArea>
    <c:plotVisOnly val="1"/>
    <c:dispBlanksAs val="gap"/>
    <c:showDLblsOverMax val="0"/>
  </c:chart>
  <c:spPr>
    <a:solidFill>
      <a:schemeClr val="bg1"/>
    </a:solidFill>
    <a:ln w="9525" cap="flat" cmpd="sng" algn="ctr">
      <a:noFill/>
      <a:round/>
    </a:ln>
    <a:effectLst/>
  </c:spPr>
  <c:txPr>
    <a:bodyPr/>
    <a:lstStyle/>
    <a:p>
      <a:pPr>
        <a:defRPr>
          <a:latin typeface="Verdana" panose="020B0604030504040204" pitchFamily="34" charset="0"/>
          <a:ea typeface="Verdana" panose="020B0604030504040204" pitchFamily="34" charset="0"/>
          <a:cs typeface="Verdana" panose="020B060403050404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59905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1881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58913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11967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chart" Target="../charts/char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90.png"/><Relationship Id="rId5" Type="http://schemas.openxmlformats.org/officeDocument/2006/relationships/image" Target="../media/image19.png"/><Relationship Id="rId4" Type="http://schemas.openxmlformats.org/officeDocument/2006/relationships/image" Target="../media/image18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6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80.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and Dividing Integers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60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05256" y="1600200"/>
            <a:ext cx="1041923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multiply and divide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6423" y="129667"/>
            <a:ext cx="108370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05255" y="1596390"/>
            <a:ext cx="1002534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630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6424"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05255" y="1547093"/>
            <a:ext cx="10208221"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multiply and divide integers with procedural fluency.</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60</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538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3" y="60325"/>
            <a:ext cx="103587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7.13.1 Warm-Up: What’s Going on in This Graph?</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905256" y="1386026"/>
                <a:ext cx="10137882" cy="1015663"/>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graph shows the average global temperatures between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1880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2020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compared to the middle of the 20</a:t>
                </a:r>
                <a:r>
                  <a:rPr lang="en-US" sz="2000" baseline="30000" dirty="0">
                    <a:latin typeface="Verdana" panose="020B0604030504040204" pitchFamily="34" charset="0"/>
                    <a:ea typeface="Times New Roman" panose="02020603050405020304" pitchFamily="18" charset="0"/>
                    <a:cs typeface="Times New Roman" panose="02020603050405020304" pitchFamily="18" charset="0"/>
                  </a:rPr>
                  <a:t>th</a:t>
                </a:r>
                <a:r>
                  <a:rPr lang="en-US" sz="2000" dirty="0">
                    <a:latin typeface="Verdana" panose="020B0604030504040204" pitchFamily="34" charset="0"/>
                    <a:ea typeface="Times New Roman" panose="02020603050405020304" pitchFamily="18" charset="0"/>
                    <a:cs typeface="Times New Roman" panose="02020603050405020304" pitchFamily="18" charset="0"/>
                  </a:rPr>
                  <a:t> century. All temperatures are in degrees Celsius (℃).</a:t>
                </a: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905256" y="1386026"/>
                <a:ext cx="10137882" cy="1015663"/>
              </a:xfrm>
              <a:prstGeom prst="rect">
                <a:avLst/>
              </a:prstGeom>
              <a:blipFill>
                <a:blip r:embed="rId5"/>
                <a:stretch>
                  <a:fillRect l="-626" t="-2439" b="-8537"/>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graphicFrame>
        <p:nvGraphicFramePr>
          <p:cNvPr id="9" name="Chart 8">
            <a:extLst>
              <a:ext uri="{FF2B5EF4-FFF2-40B4-BE49-F238E27FC236}">
                <a16:creationId xmlns:a16="http://schemas.microsoft.com/office/drawing/2014/main" xmlns="" id="{2F506700-CB6C-994D-9BF7-CEE4711610F2}"/>
              </a:ext>
            </a:extLst>
          </p:cNvPr>
          <p:cNvGraphicFramePr/>
          <p:nvPr>
            <p:extLst>
              <p:ext uri="{D42A27DB-BD31-4B8C-83A1-F6EECF244321}">
                <p14:modId xmlns:p14="http://schemas.microsoft.com/office/powerpoint/2010/main" val="248734484"/>
              </p:ext>
            </p:extLst>
          </p:nvPr>
        </p:nvGraphicFramePr>
        <p:xfrm>
          <a:off x="2281451" y="2585766"/>
          <a:ext cx="7629098" cy="343075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905256" y="554241"/>
            <a:ext cx="10588049" cy="3046988"/>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you curious about after examining the graph?</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Imagine this graph is included in a newspaper article. Write a catchy headline that captures what’s going on in the graph.</a:t>
            </a:r>
          </a:p>
        </p:txBody>
      </p:sp>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B19CA662-25DE-624B-907F-6667A55D3C6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27923"/>
            <a:ext cx="105838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7.13.2 Refresher: Multiplying and Dividing Integers</a:t>
            </a:r>
          </a:p>
        </p:txBody>
      </p:sp>
      <p:sp>
        <p:nvSpPr>
          <p:cNvPr id="2" name="Rectangle 1">
            <a:extLst>
              <a:ext uri="{FF2B5EF4-FFF2-40B4-BE49-F238E27FC236}">
                <a16:creationId xmlns:a16="http://schemas.microsoft.com/office/drawing/2014/main" xmlns="" id="{B2BE9AFC-D858-8947-AE27-3738478587E3}"/>
              </a:ext>
            </a:extLst>
          </p:cNvPr>
          <p:cNvSpPr/>
          <p:nvPr/>
        </p:nvSpPr>
        <p:spPr>
          <a:xfrm>
            <a:off x="905256" y="1331162"/>
            <a:ext cx="10419236"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tables. The last row of each table is missing both the rule and an example equation.</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ED04C91E-CD57-BC4C-B3F4-59AB9CFB05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pic>
        <p:nvPicPr>
          <p:cNvPr id="4" name="Picture 3" descr="A picture containing chart&#10;&#10;Description automatically generated">
            <a:extLst>
              <a:ext uri="{FF2B5EF4-FFF2-40B4-BE49-F238E27FC236}">
                <a16:creationId xmlns:a16="http://schemas.microsoft.com/office/drawing/2014/main" xmlns="" id="{8F5F5376-3B73-8A42-BB45-00BA2181AF1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93738" y="2544853"/>
            <a:ext cx="5338012" cy="3399305"/>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61</a:t>
            </a:r>
            <a:endParaRPr i="1" dirty="0">
              <a:latin typeface="Calibri"/>
              <a:ea typeface="Calibri"/>
              <a:cs typeface="Calibri"/>
              <a:sym typeface="Calibri"/>
            </a:endParaRPr>
          </a:p>
        </p:txBody>
      </p:sp>
      <p:pic>
        <p:nvPicPr>
          <p:cNvPr id="5" name="Picture 4" descr="A picture containing bubble chart&#10;&#10;Description automatically generated">
            <a:extLst>
              <a:ext uri="{FF2B5EF4-FFF2-40B4-BE49-F238E27FC236}">
                <a16:creationId xmlns:a16="http://schemas.microsoft.com/office/drawing/2014/main" xmlns="" id="{D2795CF7-CC8F-694C-9FDC-B878CD1BA6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97609" y="1457311"/>
            <a:ext cx="6396782" cy="3935028"/>
          </a:xfrm>
          <a:prstGeom prst="rect">
            <a:avLst/>
          </a:prstGeom>
        </p:spPr>
      </p:pic>
    </p:spTree>
    <p:extLst>
      <p:ext uri="{BB962C8B-B14F-4D97-AF65-F5344CB8AC3E}">
        <p14:creationId xmlns:p14="http://schemas.microsoft.com/office/powerpoint/2010/main" val="215334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62072"/>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6760" y="158965"/>
            <a:ext cx="9922647"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7.13.3 Collaboration: Multiplying and Dividing Integers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905256" y="1375714"/>
                <a:ext cx="10250424" cy="1015663"/>
              </a:xfrm>
              <a:prstGeom prst="rect">
                <a:avLst/>
              </a:prstGeom>
            </p:spPr>
            <p:txBody>
              <a:bodyPr wrap="square">
                <a:spAutoFit/>
              </a:bodyPr>
              <a:lstStyle/>
              <a:p>
                <a:pPr marL="407988" indent="-396875">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table shows two different products. Work with your partner to find five different factor pairs that, when multiplied, will result in the product. The factors cannot include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1375714"/>
                <a:ext cx="10250424" cy="1015663"/>
              </a:xfrm>
              <a:prstGeom prst="rect">
                <a:avLst/>
              </a:prstGeom>
              <a:blipFill>
                <a:blip r:embed="rId4"/>
                <a:stretch>
                  <a:fillRect l="-371" t="-3704" r="-866" b="-9877"/>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E3050E26-9ACF-714B-994C-C85B93E026B5}"/>
                  </a:ext>
                </a:extLst>
              </p:cNvPr>
              <p:cNvGraphicFramePr>
                <a:graphicFrameLocks noGrp="1"/>
              </p:cNvGraphicFramePr>
              <p:nvPr>
                <p:extLst>
                  <p:ext uri="{D42A27DB-BD31-4B8C-83A1-F6EECF244321}">
                    <p14:modId xmlns:p14="http://schemas.microsoft.com/office/powerpoint/2010/main" val="1366513819"/>
                  </p:ext>
                </p:extLst>
              </p:nvPr>
            </p:nvGraphicFramePr>
            <p:xfrm>
              <a:off x="3824287" y="2815779"/>
              <a:ext cx="4543425" cy="3228467"/>
            </p:xfrm>
            <a:graphic>
              <a:graphicData uri="http://schemas.openxmlformats.org/drawingml/2006/table">
                <a:tbl>
                  <a:tblPr firstRow="1" firstCol="1" bandRow="1">
                    <a:tableStyleId>{A91F0D33-8C57-4600-99A7-42BC86742BE1}</a:tableStyleId>
                  </a:tblPr>
                  <a:tblGrid>
                    <a:gridCol w="1514475">
                      <a:extLst>
                        <a:ext uri="{9D8B030D-6E8A-4147-A177-3AD203B41FA5}">
                          <a16:colId xmlns:a16="http://schemas.microsoft.com/office/drawing/2014/main" xmlns="" val="609281476"/>
                        </a:ext>
                      </a:extLst>
                    </a:gridCol>
                    <a:gridCol w="1514475">
                      <a:extLst>
                        <a:ext uri="{9D8B030D-6E8A-4147-A177-3AD203B41FA5}">
                          <a16:colId xmlns:a16="http://schemas.microsoft.com/office/drawing/2014/main" xmlns="" val="2344704308"/>
                        </a:ext>
                      </a:extLst>
                    </a:gridCol>
                    <a:gridCol w="1514475">
                      <a:extLst>
                        <a:ext uri="{9D8B030D-6E8A-4147-A177-3AD203B41FA5}">
                          <a16:colId xmlns:a16="http://schemas.microsoft.com/office/drawing/2014/main" xmlns="" val="1745097355"/>
                        </a:ext>
                      </a:extLst>
                    </a:gridCol>
                  </a:tblGrid>
                  <a:tr h="2362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Factor</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Factor</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527863683"/>
                      </a:ext>
                    </a:extLst>
                  </a:tr>
                  <a:tr h="274320">
                    <a:tc rowSpan="5">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1800">
                                  <a:effectLst/>
                                  <a:latin typeface="Cambria Math" panose="02040503050406030204" pitchFamily="18" charset="0"/>
                                </a:rPr>
                                <m:t>−90</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8771130"/>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77994962"/>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7011734"/>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78651838"/>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4119279"/>
                      </a:ext>
                    </a:extLst>
                  </a:tr>
                  <a:tr h="274320">
                    <a:tc rowSpan="5">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42</m:t>
                                </m:r>
                              </m:oMath>
                            </m:oMathPara>
                          </a14:m>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37037121"/>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18917783"/>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31137941"/>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51829318"/>
                      </a:ext>
                    </a:extLst>
                  </a:tr>
                  <a:tr h="274320">
                    <a:tc vMerge="1">
                      <a:txBody>
                        <a:bodyPr/>
                        <a:lstStyle/>
                        <a:p>
                          <a:endParaRPr lang="x-none"/>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5485254"/>
                      </a:ext>
                    </a:extLst>
                  </a:tr>
                </a:tbl>
              </a:graphicData>
            </a:graphic>
          </p:graphicFrame>
        </mc:Choice>
        <mc:Fallback xmlns="">
          <p:graphicFrame>
            <p:nvGraphicFramePr>
              <p:cNvPr id="4" name="Table 3">
                <a:extLst>
                  <a:ext uri="{FF2B5EF4-FFF2-40B4-BE49-F238E27FC236}">
                    <a16:creationId xmlns:a16="http://schemas.microsoft.com/office/drawing/2014/main" id="{E3050E26-9ACF-714B-994C-C85B93E026B5}"/>
                  </a:ext>
                </a:extLst>
              </p:cNvPr>
              <p:cNvGraphicFramePr>
                <a:graphicFrameLocks noGrp="1"/>
              </p:cNvGraphicFramePr>
              <p:nvPr>
                <p:extLst>
                  <p:ext uri="{D42A27DB-BD31-4B8C-83A1-F6EECF244321}">
                    <p14:modId xmlns:p14="http://schemas.microsoft.com/office/powerpoint/2010/main" val="1366513819"/>
                  </p:ext>
                </p:extLst>
              </p:nvPr>
            </p:nvGraphicFramePr>
            <p:xfrm>
              <a:off x="3824287" y="2815779"/>
              <a:ext cx="4543425" cy="3010726"/>
            </p:xfrm>
            <a:graphic>
              <a:graphicData uri="http://schemas.openxmlformats.org/drawingml/2006/table">
                <a:tbl>
                  <a:tblPr firstRow="1" firstCol="1" bandRow="1">
                    <a:tableStyleId>{A91F0D33-8C57-4600-99A7-42BC86742BE1}</a:tableStyleId>
                  </a:tblPr>
                  <a:tblGrid>
                    <a:gridCol w="1514475">
                      <a:extLst>
                        <a:ext uri="{9D8B030D-6E8A-4147-A177-3AD203B41FA5}">
                          <a16:colId xmlns:a16="http://schemas.microsoft.com/office/drawing/2014/main" val="609281476"/>
                        </a:ext>
                      </a:extLst>
                    </a:gridCol>
                    <a:gridCol w="1514475">
                      <a:extLst>
                        <a:ext uri="{9D8B030D-6E8A-4147-A177-3AD203B41FA5}">
                          <a16:colId xmlns:a16="http://schemas.microsoft.com/office/drawing/2014/main" val="2344704308"/>
                        </a:ext>
                      </a:extLst>
                    </a:gridCol>
                    <a:gridCol w="1514475">
                      <a:extLst>
                        <a:ext uri="{9D8B030D-6E8A-4147-A177-3AD203B41FA5}">
                          <a16:colId xmlns:a16="http://schemas.microsoft.com/office/drawing/2014/main" val="1745097355"/>
                        </a:ext>
                      </a:extLst>
                    </a:gridCol>
                  </a:tblGrid>
                  <a:tr h="267526">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Factor</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Factor</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27863683"/>
                      </a:ext>
                    </a:extLst>
                  </a:tr>
                  <a:tr h="274320">
                    <a:tc rowSpan="5">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24771" r="-201681" b="-100000"/>
                          </a:stretch>
                        </a:blipFill>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71130"/>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994962"/>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11734"/>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8651838"/>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19279"/>
                      </a:ext>
                    </a:extLst>
                  </a:tr>
                  <a:tr h="274320">
                    <a:tc rowSpan="5">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0" t="-125926" r="-201681" b="-926"/>
                          </a:stretch>
                        </a:blipFill>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7037121"/>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8917783"/>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137941"/>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829318"/>
                      </a:ext>
                    </a:extLst>
                  </a:tr>
                  <a:tr h="274320">
                    <a:tc vMerge="1">
                      <a:txBody>
                        <a:bodyPr/>
                        <a:lstStyle/>
                        <a:p>
                          <a:endParaRPr lang="en-CO"/>
                        </a:p>
                      </a:txBody>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5485254"/>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905255" y="842784"/>
                <a:ext cx="10559913" cy="3046988"/>
              </a:xfrm>
              <a:prstGeom prst="rect">
                <a:avLst/>
              </a:prstGeom>
            </p:spPr>
            <p:txBody>
              <a:bodyPr wrap="square">
                <a:spAutoFit/>
              </a:bodyPr>
              <a:lstStyle/>
              <a:p>
                <a:pPr marL="457200" indent="-457200">
                  <a:buSzPct val="1000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a strategy or an approach that each partner suggested.</a:t>
                </a:r>
              </a:p>
              <a:p>
                <a:pPr marL="457200" indent="-457200">
                  <a:buSzPct val="1000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buSzPct val="100000"/>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which of the products,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was the easiest to find factor pairs for and why.</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5" y="842784"/>
                <a:ext cx="10559913" cy="3046988"/>
              </a:xfrm>
              <a:prstGeom prst="rect">
                <a:avLst/>
              </a:prstGeom>
              <a:blipFill>
                <a:blip r:embed="rId4"/>
                <a:stretch>
                  <a:fillRect l="-962" t="-1660" b="-3320"/>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p:spTree>
    <p:extLst>
      <p:ext uri="{BB962C8B-B14F-4D97-AF65-F5344CB8AC3E}">
        <p14:creationId xmlns:p14="http://schemas.microsoft.com/office/powerpoint/2010/main" val="252435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905255" y="385584"/>
                <a:ext cx="10123815" cy="1631216"/>
              </a:xfrm>
              <a:prstGeom prst="rect">
                <a:avLst/>
              </a:prstGeom>
            </p:spPr>
            <p:txBody>
              <a:bodyPr wrap="square">
                <a:spAutoFit/>
              </a:bodyPr>
              <a:lstStyle/>
              <a:p>
                <a:pPr marL="457200" indent="-457200">
                  <a:buSzPct val="1000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The table shows two different quotients. Work with your partner to find four different pairs of dividends and divisors that result in the given quotient when they are divided. The numbers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cannot be used.</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lgn="ctr">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𝒅𝒊𝒗𝒊𝒅𝒆𝒏𝒅 ÷ 𝒅𝒊𝒗𝒊𝒔𝒐𝒓 = 𝒒𝒖𝒐𝒕𝒊𝒆𝒏𝒕</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5" y="385584"/>
                <a:ext cx="10123815" cy="1631216"/>
              </a:xfrm>
              <a:prstGeom prst="rect">
                <a:avLst/>
              </a:prstGeom>
              <a:blipFill>
                <a:blip r:embed="rId4"/>
                <a:stretch>
                  <a:fillRect l="-627" t="-2326" b="-6202"/>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E288F391-A71B-154A-AD36-6D13EE6A765A}"/>
                  </a:ext>
                </a:extLst>
              </p:cNvPr>
              <p:cNvGraphicFramePr>
                <a:graphicFrameLocks noGrp="1"/>
              </p:cNvGraphicFramePr>
              <p:nvPr>
                <p:extLst>
                  <p:ext uri="{D42A27DB-BD31-4B8C-83A1-F6EECF244321}">
                    <p14:modId xmlns:p14="http://schemas.microsoft.com/office/powerpoint/2010/main" val="2997439618"/>
                  </p:ext>
                </p:extLst>
              </p:nvPr>
            </p:nvGraphicFramePr>
            <p:xfrm>
              <a:off x="3895725" y="2749421"/>
              <a:ext cx="4400550" cy="2641473"/>
            </p:xfrm>
            <a:graphic>
              <a:graphicData uri="http://schemas.openxmlformats.org/drawingml/2006/table">
                <a:tbl>
                  <a:tblPr firstRow="1" firstCol="1" bandRow="1">
                    <a:tableStyleId>{A91F0D33-8C57-4600-99A7-42BC86742BE1}</a:tableStyleId>
                  </a:tblPr>
                  <a:tblGrid>
                    <a:gridCol w="1466850">
                      <a:extLst>
                        <a:ext uri="{9D8B030D-6E8A-4147-A177-3AD203B41FA5}">
                          <a16:colId xmlns:a16="http://schemas.microsoft.com/office/drawing/2014/main" xmlns="" val="199680573"/>
                        </a:ext>
                      </a:extLst>
                    </a:gridCol>
                    <a:gridCol w="1466850">
                      <a:extLst>
                        <a:ext uri="{9D8B030D-6E8A-4147-A177-3AD203B41FA5}">
                          <a16:colId xmlns:a16="http://schemas.microsoft.com/office/drawing/2014/main" xmlns="" val="1907113178"/>
                        </a:ext>
                      </a:extLst>
                    </a:gridCol>
                    <a:gridCol w="1466850">
                      <a:extLst>
                        <a:ext uri="{9D8B030D-6E8A-4147-A177-3AD203B41FA5}">
                          <a16:colId xmlns:a16="http://schemas.microsoft.com/office/drawing/2014/main" xmlns="" val="881954244"/>
                        </a:ext>
                      </a:extLst>
                    </a:gridCol>
                  </a:tblGrid>
                  <a:tr h="23622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Dividend</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Divisor</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Quotient</a:t>
                          </a:r>
                          <a:endParaRPr lang="x-none"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367726355"/>
                      </a:ext>
                    </a:extLst>
                  </a:tr>
                  <a:tr h="27432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(−8)</m:t>
                                </m:r>
                              </m:oMath>
                            </m:oMathPara>
                          </a14:m>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45130763"/>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4193963092"/>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1946014493"/>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874223652"/>
                      </a:ext>
                    </a:extLst>
                  </a:tr>
                  <a:tr h="27432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13</m:t>
                                </m:r>
                              </m:oMath>
                            </m:oMathPara>
                          </a14:m>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93750890"/>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2461009860"/>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2598270724"/>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x-none"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x-none"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x-none"/>
                        </a:p>
                      </a:txBody>
                      <a:tcPr/>
                    </a:tc>
                    <a:extLst>
                      <a:ext uri="{0D108BD9-81ED-4DB2-BD59-A6C34878D82A}">
                        <a16:rowId xmlns:a16="http://schemas.microsoft.com/office/drawing/2014/main" xmlns="" val="3238387391"/>
                      </a:ext>
                    </a:extLst>
                  </a:tr>
                </a:tbl>
              </a:graphicData>
            </a:graphic>
          </p:graphicFrame>
        </mc:Choice>
        <mc:Fallback xmlns="">
          <p:graphicFrame>
            <p:nvGraphicFramePr>
              <p:cNvPr id="3" name="Table 2">
                <a:extLst>
                  <a:ext uri="{FF2B5EF4-FFF2-40B4-BE49-F238E27FC236}">
                    <a16:creationId xmlns:a16="http://schemas.microsoft.com/office/drawing/2014/main" id="{E288F391-A71B-154A-AD36-6D13EE6A765A}"/>
                  </a:ext>
                </a:extLst>
              </p:cNvPr>
              <p:cNvGraphicFramePr>
                <a:graphicFrameLocks noGrp="1"/>
              </p:cNvGraphicFramePr>
              <p:nvPr>
                <p:extLst>
                  <p:ext uri="{D42A27DB-BD31-4B8C-83A1-F6EECF244321}">
                    <p14:modId xmlns:p14="http://schemas.microsoft.com/office/powerpoint/2010/main" val="2997439618"/>
                  </p:ext>
                </p:extLst>
              </p:nvPr>
            </p:nvGraphicFramePr>
            <p:xfrm>
              <a:off x="3895725" y="2749421"/>
              <a:ext cx="4400550" cy="2462086"/>
            </p:xfrm>
            <a:graphic>
              <a:graphicData uri="http://schemas.openxmlformats.org/drawingml/2006/table">
                <a:tbl>
                  <a:tblPr firstRow="1" firstCol="1" bandRow="1">
                    <a:tableStyleId>{A91F0D33-8C57-4600-99A7-42BC86742BE1}</a:tableStyleId>
                  </a:tblPr>
                  <a:tblGrid>
                    <a:gridCol w="1466850">
                      <a:extLst>
                        <a:ext uri="{9D8B030D-6E8A-4147-A177-3AD203B41FA5}">
                          <a16:colId xmlns:a16="http://schemas.microsoft.com/office/drawing/2014/main" val="199680573"/>
                        </a:ext>
                      </a:extLst>
                    </a:gridCol>
                    <a:gridCol w="1466850">
                      <a:extLst>
                        <a:ext uri="{9D8B030D-6E8A-4147-A177-3AD203B41FA5}">
                          <a16:colId xmlns:a16="http://schemas.microsoft.com/office/drawing/2014/main" val="1907113178"/>
                        </a:ext>
                      </a:extLst>
                    </a:gridCol>
                    <a:gridCol w="1466850">
                      <a:extLst>
                        <a:ext uri="{9D8B030D-6E8A-4147-A177-3AD203B41FA5}">
                          <a16:colId xmlns:a16="http://schemas.microsoft.com/office/drawing/2014/main" val="881954244"/>
                        </a:ext>
                      </a:extLst>
                    </a:gridCol>
                  </a:tblGrid>
                  <a:tr h="267526">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Dividend</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Divisor</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Quotient</a:t>
                          </a:r>
                          <a:endParaRPr lang="en-CO" sz="16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67726355"/>
                      </a:ext>
                    </a:extLst>
                  </a:tr>
                  <a:tr h="27432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2184" r="-862" b="-101149"/>
                          </a:stretch>
                        </a:blipFill>
                      </a:tcPr>
                    </a:tc>
                    <a:extLst>
                      <a:ext uri="{0D108BD9-81ED-4DB2-BD59-A6C34878D82A}">
                        <a16:rowId xmlns:a16="http://schemas.microsoft.com/office/drawing/2014/main" val="645130763"/>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4193963092"/>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1946014493"/>
                      </a:ext>
                    </a:extLst>
                  </a:tr>
                  <a:tr h="274320">
                    <a:tc>
                      <a:txBody>
                        <a:bodyPr/>
                        <a:lstStyle/>
                        <a:p>
                          <a:pPr marL="0" marR="0" algn="ctr">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874223652"/>
                      </a:ext>
                    </a:extLst>
                  </a:tr>
                  <a:tr h="27432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32184" r="-862" b="-1149"/>
                          </a:stretch>
                        </a:blipFill>
                      </a:tcPr>
                    </a:tc>
                    <a:extLst>
                      <a:ext uri="{0D108BD9-81ED-4DB2-BD59-A6C34878D82A}">
                        <a16:rowId xmlns:a16="http://schemas.microsoft.com/office/drawing/2014/main" val="3493750890"/>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2461009860"/>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2598270724"/>
                      </a:ext>
                    </a:extLst>
                  </a:tr>
                  <a:tr h="274320">
                    <a:tc>
                      <a:txBody>
                        <a:bodyPr/>
                        <a:lstStyle/>
                        <a:p>
                          <a:pPr marL="0" marR="0">
                            <a:lnSpc>
                              <a:spcPct val="107000"/>
                            </a:lnSpc>
                            <a:spcBef>
                              <a:spcPts val="0"/>
                            </a:spcBef>
                            <a:spcAft>
                              <a:spcPts val="0"/>
                            </a:spcAft>
                          </a:pPr>
                          <a:r>
                            <a:rPr lang="en-US" sz="1800" u="none" strike="noStrike">
                              <a:effectLst/>
                              <a:latin typeface="Verdana" panose="020B0604030504040204" pitchFamily="34" charset="0"/>
                              <a:ea typeface="Verdana" panose="020B0604030504040204" pitchFamily="34" charset="0"/>
                              <a:cs typeface="Verdana" panose="020B0604030504040204" pitchFamily="34" charset="0"/>
                            </a:rPr>
                            <a:t> </a:t>
                          </a:r>
                          <a:endParaRPr lang="en-CO" sz="16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u="none" strike="noStrike" dirty="0">
                              <a:effectLst/>
                              <a:latin typeface="Verdana" panose="020B0604030504040204" pitchFamily="34" charset="0"/>
                              <a:ea typeface="Verdana" panose="020B0604030504040204" pitchFamily="34" charset="0"/>
                              <a:cs typeface="Verdana" panose="020B0604030504040204" pitchFamily="34" charset="0"/>
                            </a:rPr>
                            <a:t> </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CO"/>
                        </a:p>
                      </a:txBody>
                      <a:tcPr/>
                    </a:tc>
                    <a:extLst>
                      <a:ext uri="{0D108BD9-81ED-4DB2-BD59-A6C34878D82A}">
                        <a16:rowId xmlns:a16="http://schemas.microsoft.com/office/drawing/2014/main" val="3238387391"/>
                      </a:ext>
                    </a:extLst>
                  </a:tr>
                </a:tbl>
              </a:graphicData>
            </a:graphic>
          </p:graphicFrame>
        </mc:Fallback>
      </mc:AlternateContent>
    </p:spTree>
    <p:extLst>
      <p:ext uri="{BB962C8B-B14F-4D97-AF65-F5344CB8AC3E}">
        <p14:creationId xmlns:p14="http://schemas.microsoft.com/office/powerpoint/2010/main" val="2676669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D9AF1552-9966-3643-BA84-BB4BC68EDBB5}"/>
                  </a:ext>
                </a:extLst>
              </p:cNvPr>
              <p:cNvSpPr/>
              <p:nvPr/>
            </p:nvSpPr>
            <p:spPr>
              <a:xfrm>
                <a:off x="905256" y="385585"/>
                <a:ext cx="10714658" cy="3477875"/>
              </a:xfrm>
              <a:prstGeom prst="rect">
                <a:avLst/>
              </a:prstGeom>
            </p:spPr>
            <p:txBody>
              <a:bodyPr wrap="square">
                <a:spAutoFit/>
              </a:bodyPr>
              <a:lstStyle/>
              <a:p>
                <a:pPr marL="457200" indent="-457200">
                  <a:buSzPct val="1000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a strategy or an approach that each partner suggested.</a:t>
                </a: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which of the quotients,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was the easiest to find dividends and divisors for and why.</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6" y="385585"/>
                <a:ext cx="10714658" cy="3477875"/>
              </a:xfrm>
              <a:prstGeom prst="rect">
                <a:avLst/>
              </a:prstGeom>
              <a:blipFill>
                <a:blip r:embed="rId4"/>
                <a:stretch>
                  <a:fillRect l="-592" t="-1091" b="-2182"/>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62</a:t>
            </a:r>
            <a:endParaRPr i="1" dirty="0">
              <a:latin typeface="Calibri"/>
              <a:ea typeface="Calibri"/>
              <a:cs typeface="Calibri"/>
              <a:sym typeface="Calibri"/>
            </a:endParaRPr>
          </a:p>
        </p:txBody>
      </p:sp>
    </p:spTree>
    <p:extLst>
      <p:ext uri="{BB962C8B-B14F-4D97-AF65-F5344CB8AC3E}">
        <p14:creationId xmlns:p14="http://schemas.microsoft.com/office/powerpoint/2010/main" val="2137350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AEA4B4EA-62E9-1C44-B6F0-74A8572D4D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3" y="-96163"/>
            <a:ext cx="1037281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7.13.4 Guided Practice: Finding Missing Factors, Products, or Quotients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05256" y="1331161"/>
                <a:ext cx="8581650" cy="422301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Fill in the missing values to make each equation true.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(−7)∙ ____ = −14</m:t>
                    </m:r>
                  </m:oMath>
                </a14:m>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____ ÷(−5) = 7</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−40</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r>
                      <a:rPr lang="en-US" sz="2000" i="1" dirty="0">
                        <a:latin typeface="Cambria Math" panose="02040503050406030204" pitchFamily="18" charset="0"/>
                        <a:ea typeface="Verdana" panose="020B0604030504040204" pitchFamily="34" charset="0"/>
                        <a:cs typeface="Verdana" panose="020B0604030504040204" pitchFamily="34" charset="0"/>
                      </a:rPr>
                      <m:t>= ____</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____ ×(−9) = 63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05256" y="1331161"/>
                <a:ext cx="8581650" cy="4223016"/>
              </a:xfrm>
              <a:prstGeom prst="rect">
                <a:avLst/>
              </a:prstGeom>
              <a:blipFill>
                <a:blip r:embed="rId4"/>
                <a:stretch>
                  <a:fillRect l="-740" t="-599" b="-149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Icon&#10;&#10;Description automatically generated">
            <a:extLst>
              <a:ext uri="{FF2B5EF4-FFF2-40B4-BE49-F238E27FC236}">
                <a16:creationId xmlns:a16="http://schemas.microsoft.com/office/drawing/2014/main" xmlns="" id="{A11C236F-F6F0-6C44-9CE3-50FB461FC6B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592729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05255" y="956051"/>
                <a:ext cx="10770929" cy="286232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Consider the equation shown. Phillip said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the missing factor while Alicia claimed it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lgn="ct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_</a:t>
                </a:r>
                <a:r>
                  <a:rPr lang="en-US" sz="2000" u="sng" dirty="0">
                    <a:latin typeface="Verdana" panose="020B0604030504040204" pitchFamily="34" charset="0"/>
                    <a:ea typeface="Times New Roman" panose="02020603050405020304" pitchFamily="18" charset="0"/>
                    <a:cs typeface="Times New Roman" panose="02020603050405020304" pitchFamily="18" charset="0"/>
                  </a:rPr>
                  <a:t>?</a:t>
                </a:r>
                <a:r>
                  <a:rPr lang="en-US" sz="2000" dirty="0">
                    <a:latin typeface="Verdana" panose="020B0604030504040204" pitchFamily="34" charset="0"/>
                    <a:ea typeface="Times New Roman" panose="02020603050405020304" pitchFamily="18" charset="0"/>
                    <a:cs typeface="Times New Roman" panose="02020603050405020304" pitchFamily="18" charset="0"/>
                  </a:rPr>
                  <a:t>_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 24</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Explain which student is correct using, rules for multiplying integers.</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05255" y="956051"/>
                <a:ext cx="10770929" cy="2862322"/>
              </a:xfrm>
              <a:prstGeom prst="rect">
                <a:avLst/>
              </a:prstGeom>
              <a:blipFill>
                <a:blip r:embed="rId4"/>
                <a:stretch>
                  <a:fillRect l="-589" t="-132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spTree>
    <p:extLst>
      <p:ext uri="{BB962C8B-B14F-4D97-AF65-F5344CB8AC3E}">
        <p14:creationId xmlns:p14="http://schemas.microsoft.com/office/powerpoint/2010/main" val="3891239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E24E5F"/>
                </a:solidFill>
                <a:latin typeface="Verdana"/>
                <a:ea typeface="Verdana"/>
                <a:cs typeface="Verdana"/>
                <a:sym typeface="Verdana"/>
              </a:rPr>
              <a:t>Your Turn</a:t>
            </a:r>
            <a:endParaRPr sz="40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2C8C0BED-1AF4-B944-96AA-2CF26F1ABF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16352"/>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7.13.5 Your Turn!</a:t>
            </a:r>
          </a:p>
        </p:txBody>
      </p:sp>
      <p:sp>
        <p:nvSpPr>
          <p:cNvPr id="2" name="Rectangle 1">
            <a:extLst>
              <a:ext uri="{FF2B5EF4-FFF2-40B4-BE49-F238E27FC236}">
                <a16:creationId xmlns:a16="http://schemas.microsoft.com/office/drawing/2014/main" xmlns="" id="{B05AB5A2-AF35-B14C-AE54-D2A0628C823C}"/>
              </a:ext>
            </a:extLst>
          </p:cNvPr>
          <p:cNvSpPr/>
          <p:nvPr/>
        </p:nvSpPr>
        <p:spPr>
          <a:xfrm>
            <a:off x="905256" y="1340983"/>
            <a:ext cx="8254001"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Find each product or quotient.</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xmlns="" id="{00D9959C-BC81-7642-9A75-F49D35524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2254" cy="752254"/>
          </a:xfrm>
          <a:prstGeom prst="rect">
            <a:avLst/>
          </a:prstGeom>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1A6D4C6D-303B-BE48-9454-A5C4AD712233}"/>
                  </a:ext>
                </a:extLst>
              </p:cNvPr>
              <p:cNvGraphicFramePr>
                <a:graphicFrameLocks noGrp="1"/>
              </p:cNvGraphicFramePr>
              <p:nvPr>
                <p:extLst>
                  <p:ext uri="{D42A27DB-BD31-4B8C-83A1-F6EECF244321}">
                    <p14:modId xmlns:p14="http://schemas.microsoft.com/office/powerpoint/2010/main" val="3970179960"/>
                  </p:ext>
                </p:extLst>
              </p:nvPr>
            </p:nvGraphicFramePr>
            <p:xfrm>
              <a:off x="2817690" y="2059418"/>
              <a:ext cx="6556620" cy="4351338"/>
            </p:xfrm>
            <a:graphic>
              <a:graphicData uri="http://schemas.openxmlformats.org/drawingml/2006/table">
                <a:tbl>
                  <a:tblPr firstRow="1" firstCol="1" bandRow="1">
                    <a:tableStyleId>{A91F0D33-8C57-4600-99A7-42BC86742BE1}</a:tableStyleId>
                  </a:tblPr>
                  <a:tblGrid>
                    <a:gridCol w="1600325">
                      <a:extLst>
                        <a:ext uri="{9D8B030D-6E8A-4147-A177-3AD203B41FA5}">
                          <a16:colId xmlns:a16="http://schemas.microsoft.com/office/drawing/2014/main" xmlns="" val="4259968882"/>
                        </a:ext>
                      </a:extLst>
                    </a:gridCol>
                    <a:gridCol w="1651695">
                      <a:extLst>
                        <a:ext uri="{9D8B030D-6E8A-4147-A177-3AD203B41FA5}">
                          <a16:colId xmlns:a16="http://schemas.microsoft.com/office/drawing/2014/main" xmlns="" val="3752837866"/>
                        </a:ext>
                      </a:extLst>
                    </a:gridCol>
                    <a:gridCol w="1652300">
                      <a:extLst>
                        <a:ext uri="{9D8B030D-6E8A-4147-A177-3AD203B41FA5}">
                          <a16:colId xmlns:a16="http://schemas.microsoft.com/office/drawing/2014/main" xmlns="" val="654661099"/>
                        </a:ext>
                      </a:extLst>
                    </a:gridCol>
                    <a:gridCol w="1652300">
                      <a:extLst>
                        <a:ext uri="{9D8B030D-6E8A-4147-A177-3AD203B41FA5}">
                          <a16:colId xmlns:a16="http://schemas.microsoft.com/office/drawing/2014/main" xmlns="" val="3433494588"/>
                        </a:ext>
                      </a:extLst>
                    </a:gridCol>
                  </a:tblGrid>
                  <a:tr h="217566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−11×9</m:t>
                                </m:r>
                              </m:oMath>
                            </m:oMathPara>
                          </a14:m>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−4∙(−12)</m:t>
                                </m:r>
                              </m:oMath>
                            </m:oMathPara>
                          </a14:m>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−100÷25</m:t>
                                </m:r>
                              </m:oMath>
                            </m:oMathPara>
                          </a14:m>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x-none" sz="1700" i="1">
                                      <a:effectLst/>
                                      <a:latin typeface="Cambria Math"/>
                                    </a:rPr>
                                  </m:ctrlPr>
                                </m:fPr>
                                <m:num>
                                  <m:r>
                                    <a:rPr lang="en-US" sz="1700">
                                      <a:effectLst/>
                                      <a:latin typeface="Cambria Math" panose="02040503050406030204" pitchFamily="18" charset="0"/>
                                    </a:rPr>
                                    <m:t>−60</m:t>
                                  </m:r>
                                </m:num>
                                <m:den>
                                  <m:r>
                                    <a:rPr lang="en-US" sz="1700">
                                      <a:effectLst/>
                                      <a:latin typeface="Cambria Math" panose="02040503050406030204" pitchFamily="18" charset="0"/>
                                    </a:rPr>
                                    <m:t>−5</m:t>
                                  </m:r>
                                </m:den>
                              </m:f>
                            </m:oMath>
                          </a14:m>
                          <a:r>
                            <a:rPr lang="en-US" sz="1700" dirty="0">
                              <a:effectLst/>
                              <a:latin typeface="Verdana" panose="020B0604030504040204" pitchFamily="34" charset="0"/>
                              <a:ea typeface="Verdana" panose="020B0604030504040204" pitchFamily="34" charset="0"/>
                              <a:cs typeface="Verdana" panose="020B0604030504040204" pitchFamily="34" charset="0"/>
                            </a:rPr>
                            <a:t> </a:t>
                          </a:r>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37557053"/>
                      </a:ext>
                    </a:extLst>
                  </a:tr>
                  <a:tr h="217566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96÷(−6)</m:t>
                                </m:r>
                              </m:oMath>
                            </m:oMathPara>
                          </a14:m>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700" i="1">
                                        <a:effectLst/>
                                        <a:latin typeface="Cambria Math"/>
                                      </a:rPr>
                                    </m:ctrlPr>
                                  </m:dPr>
                                  <m:e>
                                    <m:r>
                                      <a:rPr lang="en-US" sz="1700">
                                        <a:effectLst/>
                                        <a:latin typeface="Cambria Math" panose="02040503050406030204" pitchFamily="18" charset="0"/>
                                      </a:rPr>
                                      <m:t>−5</m:t>
                                    </m:r>
                                  </m:e>
                                </m:d>
                                <m:r>
                                  <a:rPr lang="en-US" sz="1700">
                                    <a:effectLst/>
                                    <a:latin typeface="Cambria Math" panose="02040503050406030204" pitchFamily="18" charset="0"/>
                                  </a:rPr>
                                  <m:t>×(−13)</m:t>
                                </m:r>
                              </m:oMath>
                            </m:oMathPara>
                          </a14:m>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x-none" sz="1700" i="1">
                                      <a:effectLst/>
                                      <a:latin typeface="Cambria Math"/>
                                    </a:rPr>
                                  </m:ctrlPr>
                                </m:fPr>
                                <m:num>
                                  <m:r>
                                    <a:rPr lang="en-US" sz="1700">
                                      <a:effectLst/>
                                      <a:latin typeface="Cambria Math" panose="02040503050406030204" pitchFamily="18" charset="0"/>
                                    </a:rPr>
                                    <m:t>84</m:t>
                                  </m:r>
                                </m:num>
                                <m:den>
                                  <m:r>
                                    <a:rPr lang="en-US" sz="1700">
                                      <a:effectLst/>
                                      <a:latin typeface="Cambria Math" panose="02040503050406030204" pitchFamily="18" charset="0"/>
                                    </a:rPr>
                                    <m:t>−12</m:t>
                                  </m:r>
                                </m:den>
                              </m:f>
                            </m:oMath>
                          </a14:m>
                          <a:r>
                            <a:rPr lang="en-US" sz="1700">
                              <a:effectLst/>
                              <a:latin typeface="Verdana" panose="020B0604030504040204" pitchFamily="34" charset="0"/>
                              <a:ea typeface="Verdana" panose="020B0604030504040204" pitchFamily="34" charset="0"/>
                              <a:cs typeface="Verdana" panose="020B0604030504040204" pitchFamily="34" charset="0"/>
                            </a:rPr>
                            <a:t> </a:t>
                          </a:r>
                          <a:endParaRPr lang="x-none" sz="15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(−7)(−7)</m:t>
                                </m:r>
                              </m:oMath>
                            </m:oMathPara>
                          </a14:m>
                          <a:endParaRPr lang="x-none" sz="1500" dirty="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3588650"/>
                      </a:ext>
                    </a:extLst>
                  </a:tr>
                </a:tbl>
              </a:graphicData>
            </a:graphic>
          </p:graphicFrame>
        </mc:Choice>
        <mc:Fallback xmlns="">
          <p:graphicFrame>
            <p:nvGraphicFramePr>
              <p:cNvPr id="3" name="Table 2">
                <a:extLst>
                  <a:ext uri="{FF2B5EF4-FFF2-40B4-BE49-F238E27FC236}">
                    <a16:creationId xmlns:a16="http://schemas.microsoft.com/office/drawing/2014/main" id="{1A6D4C6D-303B-BE48-9454-A5C4AD712233}"/>
                  </a:ext>
                </a:extLst>
              </p:cNvPr>
              <p:cNvGraphicFramePr>
                <a:graphicFrameLocks noGrp="1"/>
              </p:cNvGraphicFramePr>
              <p:nvPr>
                <p:extLst>
                  <p:ext uri="{D42A27DB-BD31-4B8C-83A1-F6EECF244321}">
                    <p14:modId xmlns:p14="http://schemas.microsoft.com/office/powerpoint/2010/main" val="3970179960"/>
                  </p:ext>
                </p:extLst>
              </p:nvPr>
            </p:nvGraphicFramePr>
            <p:xfrm>
              <a:off x="2817690" y="2059418"/>
              <a:ext cx="6556620" cy="4351338"/>
            </p:xfrm>
            <a:graphic>
              <a:graphicData uri="http://schemas.openxmlformats.org/drawingml/2006/table">
                <a:tbl>
                  <a:tblPr firstRow="1" firstCol="1" bandRow="1">
                    <a:tableStyleId>{A91F0D33-8C57-4600-99A7-42BC86742BE1}</a:tableStyleId>
                  </a:tblPr>
                  <a:tblGrid>
                    <a:gridCol w="1600325">
                      <a:extLst>
                        <a:ext uri="{9D8B030D-6E8A-4147-A177-3AD203B41FA5}">
                          <a16:colId xmlns:a16="http://schemas.microsoft.com/office/drawing/2014/main" val="4259968882"/>
                        </a:ext>
                      </a:extLst>
                    </a:gridCol>
                    <a:gridCol w="1651695">
                      <a:extLst>
                        <a:ext uri="{9D8B030D-6E8A-4147-A177-3AD203B41FA5}">
                          <a16:colId xmlns:a16="http://schemas.microsoft.com/office/drawing/2014/main" val="3752837866"/>
                        </a:ext>
                      </a:extLst>
                    </a:gridCol>
                    <a:gridCol w="1652300">
                      <a:extLst>
                        <a:ext uri="{9D8B030D-6E8A-4147-A177-3AD203B41FA5}">
                          <a16:colId xmlns:a16="http://schemas.microsoft.com/office/drawing/2014/main" val="654661099"/>
                        </a:ext>
                      </a:extLst>
                    </a:gridCol>
                    <a:gridCol w="1652300">
                      <a:extLst>
                        <a:ext uri="{9D8B030D-6E8A-4147-A177-3AD203B41FA5}">
                          <a16:colId xmlns:a16="http://schemas.microsoft.com/office/drawing/2014/main" val="3433494588"/>
                        </a:ext>
                      </a:extLst>
                    </a:gridCol>
                  </a:tblGrid>
                  <a:tr h="2175669">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581" r="-311905" b="-10000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183" t="-581" r="-200000" b="-10000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7692" t="-581" r="-101538" b="-10000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420" t="-581" r="-763" b="-100000"/>
                          </a:stretch>
                        </a:blipFill>
                      </a:tcPr>
                    </a:tc>
                    <a:extLst>
                      <a:ext uri="{0D108BD9-81ED-4DB2-BD59-A6C34878D82A}">
                        <a16:rowId xmlns:a16="http://schemas.microsoft.com/office/drawing/2014/main" val="4137557053"/>
                      </a:ext>
                    </a:extLst>
                  </a:tr>
                  <a:tr h="2175669">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1170" r="-311905" b="-585"/>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6183" t="-101170" r="-200000" b="-585"/>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7692" t="-101170" r="-101538" b="-585"/>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420" t="-101170" r="-763" b="-585"/>
                          </a:stretch>
                        </a:blipFill>
                      </a:tcPr>
                    </a:tc>
                    <a:extLst>
                      <a:ext uri="{0D108BD9-81ED-4DB2-BD59-A6C34878D82A}">
                        <a16:rowId xmlns:a16="http://schemas.microsoft.com/office/drawing/2014/main" val="3763588650"/>
                      </a:ext>
                    </a:extLst>
                  </a:tr>
                </a:tbl>
              </a:graphicData>
            </a:graphic>
          </p:graphicFrame>
        </mc:Fallback>
      </mc:AlternateContent>
    </p:spTree>
    <p:extLst>
      <p:ext uri="{BB962C8B-B14F-4D97-AF65-F5344CB8AC3E}">
        <p14:creationId xmlns:p14="http://schemas.microsoft.com/office/powerpoint/2010/main" val="223524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22C45968-D9CB-AB49-A163-70C0ACA100B2}"/>
                  </a:ext>
                </a:extLst>
              </p:cNvPr>
              <p:cNvGraphicFramePr>
                <a:graphicFrameLocks noGrp="1"/>
              </p:cNvGraphicFramePr>
              <p:nvPr>
                <p:extLst>
                  <p:ext uri="{D42A27DB-BD31-4B8C-83A1-F6EECF244321}">
                    <p14:modId xmlns:p14="http://schemas.microsoft.com/office/powerpoint/2010/main" val="4140815575"/>
                  </p:ext>
                </p:extLst>
              </p:nvPr>
            </p:nvGraphicFramePr>
            <p:xfrm>
              <a:off x="2817690" y="1249156"/>
              <a:ext cx="6556620" cy="4351338"/>
            </p:xfrm>
            <a:graphic>
              <a:graphicData uri="http://schemas.openxmlformats.org/drawingml/2006/table">
                <a:tbl>
                  <a:tblPr firstRow="1" firstCol="1" bandRow="1">
                    <a:tableStyleId>{A91F0D33-8C57-4600-99A7-42BC86742BE1}</a:tableStyleId>
                  </a:tblPr>
                  <a:tblGrid>
                    <a:gridCol w="1600325">
                      <a:extLst>
                        <a:ext uri="{9D8B030D-6E8A-4147-A177-3AD203B41FA5}">
                          <a16:colId xmlns:a16="http://schemas.microsoft.com/office/drawing/2014/main" xmlns="" val="1534461215"/>
                        </a:ext>
                      </a:extLst>
                    </a:gridCol>
                    <a:gridCol w="1651695">
                      <a:extLst>
                        <a:ext uri="{9D8B030D-6E8A-4147-A177-3AD203B41FA5}">
                          <a16:colId xmlns:a16="http://schemas.microsoft.com/office/drawing/2014/main" xmlns="" val="2196193969"/>
                        </a:ext>
                      </a:extLst>
                    </a:gridCol>
                    <a:gridCol w="1652300">
                      <a:extLst>
                        <a:ext uri="{9D8B030D-6E8A-4147-A177-3AD203B41FA5}">
                          <a16:colId xmlns:a16="http://schemas.microsoft.com/office/drawing/2014/main" xmlns="" val="1245677724"/>
                        </a:ext>
                      </a:extLst>
                    </a:gridCol>
                    <a:gridCol w="1652300">
                      <a:extLst>
                        <a:ext uri="{9D8B030D-6E8A-4147-A177-3AD203B41FA5}">
                          <a16:colId xmlns:a16="http://schemas.microsoft.com/office/drawing/2014/main" xmlns="" val="1812437847"/>
                        </a:ext>
                      </a:extLst>
                    </a:gridCol>
                  </a:tblGrid>
                  <a:tr h="217566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110 ÷(−11)</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700" i="1">
                                        <a:effectLst/>
                                        <a:latin typeface="Cambria Math"/>
                                      </a:rPr>
                                    </m:ctrlPr>
                                  </m:dPr>
                                  <m:e>
                                    <m:r>
                                      <a:rPr lang="en-US" sz="1700">
                                        <a:effectLst/>
                                        <a:latin typeface="Cambria Math" panose="02040503050406030204" pitchFamily="18" charset="0"/>
                                      </a:rPr>
                                      <m:t>−6</m:t>
                                    </m:r>
                                  </m:e>
                                </m:d>
                                <m:r>
                                  <a:rPr lang="en-US" sz="1700">
                                    <a:effectLst/>
                                    <a:latin typeface="Cambria Math" panose="02040503050406030204" pitchFamily="18" charset="0"/>
                                  </a:rPr>
                                  <m:t>(−24)</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9×(−15)</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−18×96</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87398621"/>
                      </a:ext>
                    </a:extLst>
                  </a:tr>
                  <a:tr h="2175669">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26÷(−13)</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150÷(−3)</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700">
                                    <a:effectLst/>
                                    <a:latin typeface="Cambria Math" panose="02040503050406030204" pitchFamily="18" charset="0"/>
                                  </a:rPr>
                                  <m:t>−39×(−4)</m:t>
                                </m:r>
                              </m:oMath>
                            </m:oMathPara>
                          </a14:m>
                          <a:endParaRPr lang="x-none" sz="150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 xmlns:m="http://schemas.openxmlformats.org/officeDocument/2006/math">
                              <m:f>
                                <m:fPr>
                                  <m:ctrlPr>
                                    <a:rPr lang="x-none" sz="1700" i="1">
                                      <a:effectLst/>
                                      <a:latin typeface="Cambria Math"/>
                                    </a:rPr>
                                  </m:ctrlPr>
                                </m:fPr>
                                <m:num>
                                  <m:r>
                                    <a:rPr lang="en-US" sz="1700">
                                      <a:effectLst/>
                                      <a:latin typeface="Cambria Math" panose="02040503050406030204" pitchFamily="18" charset="0"/>
                                    </a:rPr>
                                    <m:t>−88</m:t>
                                  </m:r>
                                </m:num>
                                <m:den>
                                  <m:r>
                                    <a:rPr lang="en-US" sz="1700">
                                      <a:effectLst/>
                                      <a:latin typeface="Cambria Math" panose="02040503050406030204" pitchFamily="18" charset="0"/>
                                    </a:rPr>
                                    <m:t>−4</m:t>
                                  </m:r>
                                </m:den>
                              </m:f>
                            </m:oMath>
                          </a14:m>
                          <a:r>
                            <a:rPr lang="en-US" sz="1700" dirty="0">
                              <a:effectLst/>
                            </a:rPr>
                            <a:t> </a:t>
                          </a:r>
                          <a:endParaRPr lang="x-none" sz="1500" dirty="0">
                            <a:effectLst/>
                            <a:latin typeface="Cambria Math" panose="02040503050406030204" pitchFamily="18" charset="0"/>
                            <a:ea typeface="Times New Roman" panose="02020603050405020304" pitchFamily="18" charset="0"/>
                            <a:cs typeface="Times New Roman" panose="02020603050405020304" pitchFamily="18" charset="0"/>
                          </a:endParaRPr>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55079270"/>
                      </a:ext>
                    </a:extLst>
                  </a:tr>
                </a:tbl>
              </a:graphicData>
            </a:graphic>
          </p:graphicFrame>
        </mc:Choice>
        <mc:Fallback xmlns="">
          <p:graphicFrame>
            <p:nvGraphicFramePr>
              <p:cNvPr id="3" name="Table 2">
                <a:extLst>
                  <a:ext uri="{FF2B5EF4-FFF2-40B4-BE49-F238E27FC236}">
                    <a16:creationId xmlns:a16="http://schemas.microsoft.com/office/drawing/2014/main" id="{22C45968-D9CB-AB49-A163-70C0ACA100B2}"/>
                  </a:ext>
                </a:extLst>
              </p:cNvPr>
              <p:cNvGraphicFramePr>
                <a:graphicFrameLocks noGrp="1"/>
              </p:cNvGraphicFramePr>
              <p:nvPr>
                <p:extLst>
                  <p:ext uri="{D42A27DB-BD31-4B8C-83A1-F6EECF244321}">
                    <p14:modId xmlns:p14="http://schemas.microsoft.com/office/powerpoint/2010/main" val="4140815575"/>
                  </p:ext>
                </p:extLst>
              </p:nvPr>
            </p:nvGraphicFramePr>
            <p:xfrm>
              <a:off x="2817690" y="1249156"/>
              <a:ext cx="6556620" cy="4351338"/>
            </p:xfrm>
            <a:graphic>
              <a:graphicData uri="http://schemas.openxmlformats.org/drawingml/2006/table">
                <a:tbl>
                  <a:tblPr firstRow="1" firstCol="1" bandRow="1">
                    <a:tableStyleId>{A91F0D33-8C57-4600-99A7-42BC86742BE1}</a:tableStyleId>
                  </a:tblPr>
                  <a:tblGrid>
                    <a:gridCol w="1600325">
                      <a:extLst>
                        <a:ext uri="{9D8B030D-6E8A-4147-A177-3AD203B41FA5}">
                          <a16:colId xmlns:a16="http://schemas.microsoft.com/office/drawing/2014/main" val="1534461215"/>
                        </a:ext>
                      </a:extLst>
                    </a:gridCol>
                    <a:gridCol w="1651695">
                      <a:extLst>
                        <a:ext uri="{9D8B030D-6E8A-4147-A177-3AD203B41FA5}">
                          <a16:colId xmlns:a16="http://schemas.microsoft.com/office/drawing/2014/main" val="2196193969"/>
                        </a:ext>
                      </a:extLst>
                    </a:gridCol>
                    <a:gridCol w="1652300">
                      <a:extLst>
                        <a:ext uri="{9D8B030D-6E8A-4147-A177-3AD203B41FA5}">
                          <a16:colId xmlns:a16="http://schemas.microsoft.com/office/drawing/2014/main" val="1245677724"/>
                        </a:ext>
                      </a:extLst>
                    </a:gridCol>
                    <a:gridCol w="1652300">
                      <a:extLst>
                        <a:ext uri="{9D8B030D-6E8A-4147-A177-3AD203B41FA5}">
                          <a16:colId xmlns:a16="http://schemas.microsoft.com/office/drawing/2014/main" val="1812437847"/>
                        </a:ext>
                      </a:extLst>
                    </a:gridCol>
                  </a:tblGrid>
                  <a:tr h="2175669">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163" r="-311905" b="-100581"/>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6183" t="-1163" r="-200000" b="-100581"/>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7692" t="-1163" r="-101538" b="-100581"/>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5420" t="-1163" r="-763" b="-100581"/>
                          </a:stretch>
                        </a:blipFill>
                      </a:tcPr>
                    </a:tc>
                    <a:extLst>
                      <a:ext uri="{0D108BD9-81ED-4DB2-BD59-A6C34878D82A}">
                        <a16:rowId xmlns:a16="http://schemas.microsoft.com/office/drawing/2014/main" val="1687398621"/>
                      </a:ext>
                    </a:extLst>
                  </a:tr>
                  <a:tr h="2175669">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01754" r="-311905" b="-117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6183" t="-101754" r="-200000" b="-117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7692" t="-101754" r="-101538" b="-1170"/>
                          </a:stretch>
                        </a:blipFill>
                      </a:tcPr>
                    </a:tc>
                    <a:tc>
                      <a:txBody>
                        <a:bodyPr/>
                        <a:lstStyle/>
                        <a:p>
                          <a:endParaRPr lang="en-US"/>
                        </a:p>
                      </a:txBody>
                      <a:tcPr marL="65270" marR="652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5420" t="-101754" r="-763" b="-1170"/>
                          </a:stretch>
                        </a:blipFill>
                      </a:tcPr>
                    </a:tc>
                    <a:extLst>
                      <a:ext uri="{0D108BD9-81ED-4DB2-BD59-A6C34878D82A}">
                        <a16:rowId xmlns:a16="http://schemas.microsoft.com/office/drawing/2014/main" val="555079270"/>
                      </a:ext>
                    </a:extLst>
                  </a:tr>
                </a:tbl>
              </a:graphicData>
            </a:graphic>
          </p:graphicFrame>
        </mc:Fallback>
      </mc:AlternateContent>
    </p:spTree>
    <p:extLst>
      <p:ext uri="{BB962C8B-B14F-4D97-AF65-F5344CB8AC3E}">
        <p14:creationId xmlns:p14="http://schemas.microsoft.com/office/powerpoint/2010/main" val="155251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64</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6424"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7.13.6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905256" y="1140259"/>
            <a:ext cx="8422610" cy="400110"/>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learning period based on today’s lesson.</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64</a:t>
            </a:r>
            <a:endParaRPr i="1" dirty="0">
              <a:latin typeface="Calibri"/>
              <a:ea typeface="Calibri"/>
              <a:cs typeface="Calibri"/>
              <a:sym typeface="Calibri"/>
            </a:endParaRPr>
          </a:p>
        </p:txBody>
      </p:sp>
      <p:sp>
        <p:nvSpPr>
          <p:cNvPr id="10" name="Text Box 2">
            <a:extLst>
              <a:ext uri="{FF2B5EF4-FFF2-40B4-BE49-F238E27FC236}">
                <a16:creationId xmlns:a16="http://schemas.microsoft.com/office/drawing/2014/main" xmlns="" id="{FBE6AE60-2959-F64C-B725-2F30B3D5C628}"/>
              </a:ext>
            </a:extLst>
          </p:cNvPr>
          <p:cNvSpPr txBox="1">
            <a:spLocks noChangeArrowheads="1"/>
          </p:cNvSpPr>
          <p:nvPr/>
        </p:nvSpPr>
        <p:spPr bwMode="auto">
          <a:xfrm>
            <a:off x="3797691" y="1987694"/>
            <a:ext cx="2514600" cy="1339090"/>
          </a:xfrm>
          <a:prstGeom prst="rect">
            <a:avLst/>
          </a:prstGeom>
          <a:solidFill>
            <a:srgbClr val="FFFFFF"/>
          </a:solidFill>
          <a:ln w="28575">
            <a:solidFill>
              <a:srgbClr val="000000"/>
            </a:solidFill>
            <a:miter lim="800000"/>
            <a:headEnd/>
            <a:tailEnd/>
          </a:ln>
        </p:spPr>
        <p:txBody>
          <a:bodyPr rot="0" vert="horz" wrap="square" lIns="91440" tIns="45720" rIns="91440" bIns="45720" anchor="t" anchorCtr="0">
            <a:noAutofit/>
          </a:bodyPr>
          <a:lstStyle/>
          <a:p>
            <a:pPr algn="ctr">
              <a:spcAft>
                <a:spcPts val="1000"/>
              </a:spcAft>
            </a:pPr>
            <a:r>
              <a:rPr lang="en-US" sz="1200" dirty="0">
                <a:latin typeface="Verdana" panose="020B0604030504040204" pitchFamily="34" charset="0"/>
                <a:ea typeface="Times New Roman" panose="02020603050405020304" pitchFamily="18" charset="0"/>
                <a:cs typeface="Times New Roman" panose="02020603050405020304" pitchFamily="18" charset="0"/>
              </a:rPr>
              <a:t>One question I would like to have answered …</a:t>
            </a:r>
            <a:endParaRPr lang="x-none" sz="1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Text Box 2">
            <a:extLst>
              <a:ext uri="{FF2B5EF4-FFF2-40B4-BE49-F238E27FC236}">
                <a16:creationId xmlns:a16="http://schemas.microsoft.com/office/drawing/2014/main" xmlns="" id="{C6BF65E1-CBDF-7A4D-B342-657F37141ABA}"/>
              </a:ext>
            </a:extLst>
          </p:cNvPr>
          <p:cNvSpPr txBox="1">
            <a:spLocks noChangeArrowheads="1"/>
          </p:cNvSpPr>
          <p:nvPr/>
        </p:nvSpPr>
        <p:spPr bwMode="auto">
          <a:xfrm>
            <a:off x="2505604" y="3339416"/>
            <a:ext cx="2514600" cy="1339090"/>
          </a:xfrm>
          <a:prstGeom prst="rect">
            <a:avLst/>
          </a:prstGeom>
          <a:solidFill>
            <a:srgbClr val="FFFFFF"/>
          </a:solidFill>
          <a:ln w="28575">
            <a:solidFill>
              <a:srgbClr val="000000"/>
            </a:solidFill>
            <a:miter lim="800000"/>
            <a:headEnd/>
            <a:tailEnd/>
          </a:ln>
        </p:spPr>
        <p:txBody>
          <a:bodyPr rot="0" vert="horz" wrap="square" lIns="91440" tIns="45720" rIns="91440" bIns="45720" anchor="t" anchorCtr="0">
            <a:noAutofit/>
          </a:bodyPr>
          <a:lstStyle/>
          <a:p>
            <a:pPr algn="ctr">
              <a:spcAft>
                <a:spcPts val="1000"/>
              </a:spcAft>
            </a:pPr>
            <a:r>
              <a:rPr lang="en-US" sz="1200" dirty="0">
                <a:latin typeface="Verdana" panose="020B0604030504040204" pitchFamily="34" charset="0"/>
                <a:ea typeface="Times New Roman" panose="02020603050405020304" pitchFamily="18" charset="0"/>
                <a:cs typeface="Times New Roman" panose="02020603050405020304" pitchFamily="18" charset="0"/>
              </a:rPr>
              <a:t>One mistake I learned from today …</a:t>
            </a:r>
            <a:endParaRPr lang="x-none" sz="1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Text Box 2">
            <a:extLst>
              <a:ext uri="{FF2B5EF4-FFF2-40B4-BE49-F238E27FC236}">
                <a16:creationId xmlns:a16="http://schemas.microsoft.com/office/drawing/2014/main" xmlns="" id="{282A00FE-20F9-454D-B4C2-9AB2F1D0E97B}"/>
              </a:ext>
            </a:extLst>
          </p:cNvPr>
          <p:cNvSpPr txBox="1">
            <a:spLocks noChangeArrowheads="1"/>
          </p:cNvSpPr>
          <p:nvPr/>
        </p:nvSpPr>
        <p:spPr bwMode="auto">
          <a:xfrm>
            <a:off x="5010264" y="3339416"/>
            <a:ext cx="2514600" cy="1339090"/>
          </a:xfrm>
          <a:prstGeom prst="rect">
            <a:avLst/>
          </a:prstGeom>
          <a:solidFill>
            <a:srgbClr val="FFFFFF"/>
          </a:solidFill>
          <a:ln w="28575">
            <a:solidFill>
              <a:srgbClr val="000000"/>
            </a:solidFill>
            <a:miter lim="800000"/>
            <a:headEnd/>
            <a:tailEnd/>
          </a:ln>
        </p:spPr>
        <p:txBody>
          <a:bodyPr rot="0" vert="horz" wrap="square" lIns="91440" tIns="45720" rIns="91440" bIns="45720" anchor="t" anchorCtr="0">
            <a:noAutofit/>
          </a:bodyPr>
          <a:lstStyle/>
          <a:p>
            <a:pPr algn="ctr">
              <a:spcAft>
                <a:spcPts val="1000"/>
              </a:spcAft>
            </a:pPr>
            <a:r>
              <a:rPr lang="en-US" sz="1200" dirty="0">
                <a:latin typeface="Verdana" panose="020B0604030504040204" pitchFamily="34" charset="0"/>
                <a:ea typeface="Times New Roman" panose="02020603050405020304" pitchFamily="18" charset="0"/>
                <a:cs typeface="Times New Roman" panose="02020603050405020304" pitchFamily="18" charset="0"/>
              </a:rPr>
              <a:t>One thing I am not sure about … YET!</a:t>
            </a:r>
            <a:endParaRPr lang="x-none" sz="1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Text Box 2">
            <a:extLst>
              <a:ext uri="{FF2B5EF4-FFF2-40B4-BE49-F238E27FC236}">
                <a16:creationId xmlns:a16="http://schemas.microsoft.com/office/drawing/2014/main" xmlns="" id="{5C18D402-7206-7241-8F50-6727955DCE65}"/>
              </a:ext>
            </a:extLst>
          </p:cNvPr>
          <p:cNvSpPr txBox="1">
            <a:spLocks noChangeArrowheads="1"/>
          </p:cNvSpPr>
          <p:nvPr/>
        </p:nvSpPr>
        <p:spPr bwMode="auto">
          <a:xfrm>
            <a:off x="2505604" y="4671259"/>
            <a:ext cx="5019260" cy="1339090"/>
          </a:xfrm>
          <a:prstGeom prst="rect">
            <a:avLst/>
          </a:prstGeom>
          <a:solidFill>
            <a:srgbClr val="FFFFFF"/>
          </a:solidFill>
          <a:ln w="28575">
            <a:solidFill>
              <a:srgbClr val="000000"/>
            </a:solidFill>
            <a:miter lim="800000"/>
            <a:headEnd/>
            <a:tailEnd/>
          </a:ln>
        </p:spPr>
        <p:txBody>
          <a:bodyPr rot="0" vert="horz" wrap="square" lIns="91440" tIns="45720" rIns="91440" bIns="45720" anchor="t" anchorCtr="0">
            <a:noAutofit/>
          </a:bodyPr>
          <a:lstStyle/>
          <a:p>
            <a:pPr algn="ctr">
              <a:spcAft>
                <a:spcPts val="1000"/>
              </a:spcAft>
            </a:pPr>
            <a:r>
              <a:rPr lang="en-US" sz="1200" dirty="0">
                <a:latin typeface="Verdana" panose="020B0604030504040204" pitchFamily="34" charset="0"/>
                <a:ea typeface="Times New Roman" panose="02020603050405020304" pitchFamily="18" charset="0"/>
                <a:cs typeface="Times New Roman" panose="02020603050405020304" pitchFamily="18" charset="0"/>
              </a:rPr>
              <a:t>One thing I am confident I know is …</a:t>
            </a:r>
            <a:endParaRPr lang="x-none" sz="1000" dirty="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TotalTime>
  <Words>734</Words>
  <Application>Microsoft Office PowerPoint</Application>
  <PresentationFormat>Custom</PresentationFormat>
  <Paragraphs>185</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Verdana</vt:lpstr>
      <vt:lpstr>Calibri</vt:lpstr>
      <vt:lpstr>Times New Roman</vt:lpstr>
      <vt:lpstr>Century Gothic</vt:lpstr>
      <vt:lpstr>Wingdings</vt:lpstr>
      <vt:lpstr>Cambria Math</vt:lpstr>
      <vt:lpstr>Cambria</vt:lpstr>
      <vt:lpstr>Arial Black</vt:lpstr>
      <vt:lpstr>1_Office Theme</vt:lpstr>
      <vt:lpstr>6th Grade Math  Unit 7, Lesson 13  Multiplying and Dividing Integers  Volume 2, pg. 60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25</cp:revision>
  <dcterms:created xsi:type="dcterms:W3CDTF">2015-03-17T18:51:18Z</dcterms:created>
  <dcterms:modified xsi:type="dcterms:W3CDTF">2022-06-05T07:36:11Z</dcterms:modified>
</cp:coreProperties>
</file>