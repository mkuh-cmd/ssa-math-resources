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302" r:id="rId8"/>
    <p:sldId id="303" r:id="rId9"/>
    <p:sldId id="340" r:id="rId10"/>
    <p:sldId id="289" r:id="rId11"/>
    <p:sldId id="290" r:id="rId12"/>
    <p:sldId id="336" r:id="rId13"/>
    <p:sldId id="345" r:id="rId14"/>
    <p:sldId id="346" r:id="rId15"/>
    <p:sldId id="347" r:id="rId16"/>
    <p:sldId id="348" r:id="rId17"/>
    <p:sldId id="342" r:id="rId18"/>
    <p:sldId id="343" r:id="rId19"/>
    <p:sldId id="344" r:id="rId20"/>
    <p:sldId id="311" r:id="rId21"/>
    <p:sldId id="312" r:id="rId22"/>
    <p:sldId id="333" r:id="rId23"/>
    <p:sldId id="349" r:id="rId24"/>
    <p:sldId id="306" r:id="rId25"/>
    <p:sldId id="307" r:id="rId26"/>
  </p:sldIdLst>
  <p:sldSz cx="12192000" cy="6858000"/>
  <p:notesSz cx="6858000" cy="9144000"/>
  <p:embeddedFontLst>
    <p:embeddedFont>
      <p:font typeface="Verdana" pitchFamily="34" charset="0"/>
      <p:regular r:id="rId28"/>
      <p:bold r:id="rId29"/>
      <p:italic r:id="rId30"/>
      <p:boldItalic r:id="rId31"/>
    </p:embeddedFont>
    <p:embeddedFont>
      <p:font typeface="Calibri" pitchFamily="34" charset="0"/>
      <p:regular r:id="rId32"/>
      <p:bold r:id="rId33"/>
      <p:italic r:id="rId34"/>
      <p:boldItalic r:id="rId35"/>
    </p:embeddedFont>
    <p:embeddedFont>
      <p:font typeface="Century Gothic" pitchFamily="34" charset="0"/>
      <p:regular r:id="rId36"/>
      <p:bold r:id="rId37"/>
      <p:italic r:id="rId38"/>
      <p:boldItalic r:id="rId39"/>
    </p:embeddedFont>
    <p:embeddedFont>
      <p:font typeface="Cambria Math" pitchFamily="18" charset="0"/>
      <p:regular r:id="rId40"/>
    </p:embeddedFont>
    <p:embeddedFont>
      <p:font typeface="Cambria" pitchFamily="18" charset="0"/>
      <p:regular r:id="rId41"/>
      <p:bold r:id="rId42"/>
      <p:italic r:id="rId43"/>
      <p:boldItalic r:id="rId44"/>
    </p:embeddedFont>
    <p:embeddedFont>
      <p:font typeface="Arial Black" pitchFamily="34" charset="0"/>
      <p:bold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BAAA"/>
    <a:srgbClr val="26B7D4"/>
    <a:srgbClr val="E24E5F"/>
    <a:srgbClr val="52BDA6"/>
    <a:srgbClr val="276C46"/>
    <a:srgbClr val="C9DF6F"/>
    <a:srgbClr val="417DBF"/>
    <a:srgbClr val="3F2A67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23"/>
    <p:restoredTop sz="94719"/>
  </p:normalViewPr>
  <p:slideViewPr>
    <p:cSldViewPr snapToGrid="0">
      <p:cViewPr varScale="1">
        <p:scale>
          <a:sx n="80" d="100"/>
          <a:sy n="80" d="100"/>
        </p:scale>
        <p:origin x="-293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447067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01101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98733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02242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3883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50718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940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42926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79607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635312" y="2054275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Prime Factorization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26B7D4"/>
              </a:solidFill>
            </a:endParaRPr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1850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103970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MA.6.NSO.3.4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Express composite whole numbers as a product of prime factors with natural number exponents.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03916" y="-57102"/>
            <a:ext cx="884483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5" y="1268598"/>
            <a:ext cx="1096936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AC0AE969-0A27-9545-AB11-BBE5491801C1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58888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5" y="1453308"/>
            <a:ext cx="1106314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express composite whole numbers as a product of prime factors.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AE0319DD-E1E2-064E-A3C0-1ADADEA7DC73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5846" y="2705953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06503EB0-E904-7143-BA20-369F935837E3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3916" y="3371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7.2.1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79F083F-A67E-0047-8E64-5125815AF3D8}"/>
              </a:ext>
            </a:extLst>
          </p:cNvPr>
          <p:cNvSpPr/>
          <p:nvPr/>
        </p:nvSpPr>
        <p:spPr>
          <a:xfrm>
            <a:off x="730266" y="1593766"/>
            <a:ext cx="111334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of the following would you rather choose? Justify your reasoning using mathematics.</a:t>
            </a:r>
          </a:p>
        </p:txBody>
      </p: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xmlns="" id="{570FC961-D801-0C4E-8D4A-AEC23A74C9C3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: Rounded Corners 1">
                <a:extLst>
                  <a:ext uri="{FF2B5EF4-FFF2-40B4-BE49-F238E27FC236}">
                    <a16:creationId xmlns:a16="http://schemas.microsoft.com/office/drawing/2014/main" xmlns="" id="{6B66BBCE-070F-4240-A67A-657DEB9F9515}"/>
                  </a:ext>
                </a:extLst>
              </p:cNvPr>
              <p:cNvSpPr/>
              <p:nvPr/>
            </p:nvSpPr>
            <p:spPr>
              <a:xfrm>
                <a:off x="2885905" y="3157951"/>
                <a:ext cx="2998470" cy="11684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80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Deposit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$3</m:t>
                    </m:r>
                  </m:oMath>
                </a14:m>
                <a:r>
                  <a:rPr lang="en-US" sz="180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 in the bank and have it triple each week for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180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 weeks.</a:t>
                </a:r>
                <a:endParaRPr lang="x-none" sz="1600" i="1">
                  <a:latin typeface="Cambria Math" panose="02040503050406030204" pitchFamily="18" charset="0"/>
                  <a:ea typeface="Times New Roman" panose="020206030504050203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: Rounded Corners 1">
                <a:extLst>
                  <a:ext uri="{FF2B5EF4-FFF2-40B4-BE49-F238E27FC236}">
                    <a16:creationId xmlns:a16="http://schemas.microsoft.com/office/drawing/2014/main" id="{6B66BBCE-070F-4240-A67A-657DEB9F95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905" y="3157951"/>
                <a:ext cx="2998470" cy="11684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: Rounded Corners 2">
                <a:extLst>
                  <a:ext uri="{FF2B5EF4-FFF2-40B4-BE49-F238E27FC236}">
                    <a16:creationId xmlns:a16="http://schemas.microsoft.com/office/drawing/2014/main" xmlns="" id="{9D3E1234-4D81-7244-90BC-B9A5A412CB09}"/>
                  </a:ext>
                </a:extLst>
              </p:cNvPr>
              <p:cNvSpPr/>
              <p:nvPr/>
            </p:nvSpPr>
            <p:spPr>
              <a:xfrm>
                <a:off x="6307627" y="3157951"/>
                <a:ext cx="3413760" cy="116840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Deposit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$4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 in the bank and have it quadruple each week for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 weeks.</a:t>
                </a:r>
                <a:endParaRPr lang="x-none" sz="1600" i="1">
                  <a:latin typeface="Cambria Math" panose="02040503050406030204" pitchFamily="18" charset="0"/>
                  <a:ea typeface="Times New Roman" panose="020206030504050203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: Rounded Corners 2">
                <a:extLst>
                  <a:ext uri="{FF2B5EF4-FFF2-40B4-BE49-F238E27FC236}">
                    <a16:creationId xmlns:a16="http://schemas.microsoft.com/office/drawing/2014/main" id="{9D3E1234-4D81-7244-90BC-B9A5A412C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627" y="3157951"/>
                <a:ext cx="3413760" cy="1168400"/>
              </a:xfrm>
              <a:prstGeom prst="roundRect">
                <a:avLst/>
              </a:prstGeom>
              <a:blipFill>
                <a:blip r:embed="rId6"/>
                <a:stretch>
                  <a:fillRect r="-11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8436" y="275682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04201096-008D-9E40-8962-B6CD490C930F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13.png">
            <a:extLst>
              <a:ext uri="{FF2B5EF4-FFF2-40B4-BE49-F238E27FC236}">
                <a16:creationId xmlns:a16="http://schemas.microsoft.com/office/drawing/2014/main" xmlns="" id="{19FC86CE-2B26-154D-B9AC-9F7877DFB63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33502" cy="113350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28438" y="72214"/>
            <a:ext cx="8019300" cy="101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7.2.2 Collaboration: Exploring Factors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A66A031F-2EC8-DF4C-B3F5-E7AC5B8F3239}"/>
                  </a:ext>
                </a:extLst>
              </p:cNvPr>
              <p:cNvSpPr/>
              <p:nvPr/>
            </p:nvSpPr>
            <p:spPr>
              <a:xfrm>
                <a:off x="731686" y="1166842"/>
                <a:ext cx="11155513" cy="36933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07988" indent="-396875">
                  <a:buSzPts val="1800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on the following. </a:t>
                </a:r>
              </a:p>
              <a:p>
                <a:pPr marL="407988" indent="-396875">
                  <a:buSzPts val="1800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42900" indent="-342900">
                  <a:buSzPts val="1800"/>
                  <a:buFont typeface="+mj-lt"/>
                  <a:buAutoNum type="arabicPeriod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number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a factor pair that uses the greatest factor other than itself.</a:t>
                </a:r>
              </a:p>
              <a:p>
                <a:pPr marL="407988" indent="-396875">
                  <a:buSzPts val="1800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07988" indent="-396875">
                  <a:buSzPts val="1800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07988" indent="-396875">
                  <a:buSzPts val="1800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07988" indent="-396875">
                  <a:buSzPts val="1800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54012" indent="-342900">
                  <a:buSzPts val="1800"/>
                  <a:buFont typeface="+mj-lt"/>
                  <a:buAutoNum type="arabicPeriod" startAt="2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number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a factor pair that uses the greatest factor other than itself.</a:t>
                </a:r>
              </a:p>
              <a:p>
                <a:pPr marL="407988" indent="-396875">
                  <a:buSzPts val="1800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07988" indent="-396875">
                  <a:buSzPts val="1800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07988" indent="-396875">
                  <a:buSzPts val="1800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07988" indent="-396875">
                  <a:buSzPts val="1800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354012" indent="-342900">
                  <a:buSzPts val="1800"/>
                  <a:buFont typeface="+mj-lt"/>
                  <a:buAutoNum type="arabicPeriod" startAt="3"/>
                </a:pPr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number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a factor pair that uses the greatest factor other than itself.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6A031F-2EC8-DF4C-B3F5-E7AC5B8F3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86" y="1166842"/>
                <a:ext cx="11155513" cy="3693319"/>
              </a:xfrm>
              <a:prstGeom prst="rect">
                <a:avLst/>
              </a:prstGeom>
              <a:blipFill>
                <a:blip r:embed="rId4"/>
                <a:stretch>
                  <a:fillRect l="-455" t="-685" b="-1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8A626CB-082C-DB4E-B059-328DCC8AD138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13.png">
            <a:extLst>
              <a:ext uri="{FF2B5EF4-FFF2-40B4-BE49-F238E27FC236}">
                <a16:creationId xmlns:a16="http://schemas.microsoft.com/office/drawing/2014/main" xmlns="" id="{699307F5-468C-7F40-9CEC-F2717AEA7E9F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50143" cy="7501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D9AF1552-9966-3643-BA84-BB4BC68EDBB5}"/>
                  </a:ext>
                </a:extLst>
              </p:cNvPr>
              <p:cNvSpPr/>
              <p:nvPr/>
            </p:nvSpPr>
            <p:spPr>
              <a:xfrm>
                <a:off x="519331" y="960016"/>
                <a:ext cx="11426483" cy="4401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SzPts val="1800"/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number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as a factor pair that uses the greatest factor other than itself.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>
                  <a:buSzPts val="1800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SzPts val="1800"/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did each of the above tasks, problems 2-4, relate to the factor pair that came before it?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SzPts val="1800"/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was different about rewriting the number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as a factor pair using the greatest factor other than itself?</a:t>
                </a:r>
              </a:p>
              <a:p>
                <a:pPr lvl="0">
                  <a:buSzPts val="1800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AF1552-9966-3643-BA84-BB4BC68ED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31" y="960016"/>
                <a:ext cx="11426483" cy="4401205"/>
              </a:xfrm>
              <a:prstGeom prst="rect">
                <a:avLst/>
              </a:prstGeom>
              <a:blipFill>
                <a:blip r:embed="rId4"/>
                <a:stretch>
                  <a:fillRect l="-444" t="-865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FCAEDDBD-15FD-B945-9FDE-50793A71AA1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6067" y="2766063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AE80E75D-78AE-A94E-86B4-91D469B7BFAD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9.png" descr="Icon&#10;&#10;Description automatically generated">
            <a:extLst>
              <a:ext uri="{FF2B5EF4-FFF2-40B4-BE49-F238E27FC236}">
                <a16:creationId xmlns:a16="http://schemas.microsoft.com/office/drawing/2014/main" xmlns="" id="{AC25EC93-31DE-3F43-9D4B-DF66ABD9E718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1971" cy="115197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2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7.2.3 Guided Instruction: Prime Factorization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2BE9AFC-D858-8947-AE27-3738478587E3}"/>
                  </a:ext>
                </a:extLst>
              </p:cNvPr>
              <p:cNvSpPr/>
              <p:nvPr/>
            </p:nvSpPr>
            <p:spPr>
              <a:xfrm>
                <a:off x="730265" y="1325700"/>
                <a:ext cx="11250719" cy="38164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Each of the factor pairs from the Collaboration can be used to rewrite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more than one pair of factors. </a:t>
                </a: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example, the first factor pair was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2∙12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rewritten as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24=2∙12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written as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2∙6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also be rewritten as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24=2∙2∙6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 </a:t>
                </a: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expressed as ________, then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rewritten as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24=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______________________________.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2BE9AFC-D858-8947-AE27-373847858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325700"/>
                <a:ext cx="11250719" cy="3816429"/>
              </a:xfrm>
              <a:prstGeom prst="rect">
                <a:avLst/>
              </a:prstGeom>
              <a:blipFill>
                <a:blip r:embed="rId4"/>
                <a:stretch>
                  <a:fillRect l="-789" t="-993" r="-1240" b="-2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A0B3F56A-90D4-0546-BD18-061853EE942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9.png" descr="Icon&#10;&#10;Description automatically generated">
            <a:extLst>
              <a:ext uri="{FF2B5EF4-FFF2-40B4-BE49-F238E27FC236}">
                <a16:creationId xmlns:a16="http://schemas.microsoft.com/office/drawing/2014/main" xmlns="" id="{9BBCD551-EA0C-DA42-BFDB-F794DA1B5BBC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277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387740" y="518167"/>
                <a:ext cx="11370505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This is called the </a:t>
                </a:r>
                <a:r>
                  <a:rPr lang="en-US" sz="2400" b="1" i="1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prime factorization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because all of the factors are </a:t>
                </a:r>
                <a:r>
                  <a:rPr lang="en-US" sz="2400" b="1" i="1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prime numbers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40" y="518167"/>
                <a:ext cx="11370505" cy="830997"/>
              </a:xfrm>
              <a:prstGeom prst="rect">
                <a:avLst/>
              </a:prstGeom>
              <a:blipFill>
                <a:blip r:embed="rId4"/>
                <a:stretch>
                  <a:fillRect l="-781" t="-5970" b="-16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1A4A34E-93E7-0540-8CC8-F58D29DCA8FA}"/>
              </a:ext>
            </a:extLst>
          </p:cNvPr>
          <p:cNvGrpSpPr/>
          <p:nvPr/>
        </p:nvGrpSpPr>
        <p:grpSpPr>
          <a:xfrm>
            <a:off x="2149210" y="2381757"/>
            <a:ext cx="7903766" cy="1082706"/>
            <a:chOff x="-512405" y="-199271"/>
            <a:chExt cx="7903766" cy="10832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27">
                  <a:extLst>
                    <a:ext uri="{FF2B5EF4-FFF2-40B4-BE49-F238E27FC236}">
                      <a16:creationId xmlns:a16="http://schemas.microsoft.com/office/drawing/2014/main" xmlns="" id="{A6026882-9C95-7844-819B-BA2D44CD95FD}"/>
                    </a:ext>
                  </a:extLst>
                </p:cNvPr>
                <p:cNvSpPr txBox="1"/>
                <p:nvPr/>
              </p:nvSpPr>
              <p:spPr>
                <a:xfrm>
                  <a:off x="-512405" y="-199271"/>
                  <a:ext cx="7903766" cy="1083207"/>
                </a:xfrm>
                <a:prstGeom prst="roundRect">
                  <a:avLst/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742950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8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 Math" panose="02040503050406030204" pitchFamily="18" charset="0"/>
                    </a:rPr>
                    <a:t>A</a:t>
                  </a:r>
                  <a:r>
                    <a:rPr lang="en-US" sz="1800" b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 Math" panose="02040503050406030204" pitchFamily="18" charset="0"/>
                    </a:rPr>
                    <a:t> prime number </a:t>
                  </a:r>
                  <a:r>
                    <a:rPr lang="en-US" sz="18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 Math" panose="02040503050406030204" pitchFamily="18" charset="0"/>
                    </a:rPr>
                    <a:t>is a whole number greater than </a:t>
                  </a:r>
                  <a14:m>
                    <m:oMath xmlns:m="http://schemas.openxmlformats.org/officeDocument/2006/math">
                      <m:r>
                        <a:rPr lang="en-US" sz="18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en-US" sz="18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 Math" panose="02040503050406030204" pitchFamily="18" charset="0"/>
                    </a:rPr>
                    <a:t> that is not divisible by any whole number other than </a:t>
                  </a:r>
                  <a14:m>
                    <m:oMath xmlns:m="http://schemas.openxmlformats.org/officeDocument/2006/math">
                      <m:r>
                        <a:rPr lang="en-US" sz="18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en-US" sz="18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  <a:cs typeface="Cambria Math" panose="02040503050406030204" pitchFamily="18" charset="0"/>
                    </a:rPr>
                    <a:t> and itself.</a:t>
                  </a:r>
                  <a:r>
                    <a:rPr lang="es-ES" sz="1600" b="1" i="1" dirty="0">
                      <a:solidFill>
                        <a:srgbClr val="6C993D"/>
                      </a:solidFill>
                      <a:latin typeface="Cambria Math" panose="02040503050406030204" pitchFamily="18" charset="0"/>
                      <a:ea typeface="Times New Roman" panose="02020603050405020304" pitchFamily="18" charset="0"/>
                      <a:cs typeface="Cambria Math" panose="02040503050406030204" pitchFamily="18" charset="0"/>
                    </a:rPr>
                    <a:t> </a:t>
                  </a:r>
                  <a:endParaRPr lang="x-none" sz="1600" i="1" dirty="0"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 Box 27">
                  <a:extLst>
                    <a:ext uri="{FF2B5EF4-FFF2-40B4-BE49-F238E27FC236}">
                      <a16:creationId xmlns:a16="http://schemas.microsoft.com/office/drawing/2014/main" id="{A6026882-9C95-7844-819B-BA2D44CD9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12405" y="-199271"/>
                  <a:ext cx="7903766" cy="1083207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CO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3" name="Picture 12" descr="Icon&#10;&#10;Description automatically generated">
              <a:extLst>
                <a:ext uri="{FF2B5EF4-FFF2-40B4-BE49-F238E27FC236}">
                  <a16:creationId xmlns:a16="http://schemas.microsoft.com/office/drawing/2014/main" xmlns="" id="{7C7E68D4-8695-7649-AA91-303E6E489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271780" y="-42998"/>
              <a:ext cx="539750" cy="5397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7" name="Text Box 32">
            <a:extLst>
              <a:ext uri="{FF2B5EF4-FFF2-40B4-BE49-F238E27FC236}">
                <a16:creationId xmlns:a16="http://schemas.microsoft.com/office/drawing/2014/main" xmlns="" id="{D1581A71-66A6-EE4B-BCCE-36D62642298D}"/>
              </a:ext>
            </a:extLst>
          </p:cNvPr>
          <p:cNvSpPr txBox="1"/>
          <p:nvPr/>
        </p:nvSpPr>
        <p:spPr>
          <a:xfrm>
            <a:off x="2149211" y="3884530"/>
            <a:ext cx="7903765" cy="510603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</a:pPr>
            <a:r>
              <a:rPr lang="en-US" sz="1800" dirty="0">
                <a:solidFill>
                  <a:srgbClr val="6C993D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mbria Math" panose="02040503050406030204" pitchFamily="18" charset="0"/>
              </a:rPr>
              <a:t>  A</a:t>
            </a:r>
            <a:r>
              <a:rPr lang="en-US" sz="1800" b="1" dirty="0">
                <a:solidFill>
                  <a:srgbClr val="6C993D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mbria Math" panose="02040503050406030204" pitchFamily="18" charset="0"/>
              </a:rPr>
              <a:t> prime factor </a:t>
            </a:r>
            <a:r>
              <a:rPr lang="en-US" sz="1800" dirty="0">
                <a:solidFill>
                  <a:srgbClr val="6C993D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mbria Math" panose="02040503050406030204" pitchFamily="18" charset="0"/>
              </a:rPr>
              <a:t>is a factor that is a prime number.</a:t>
            </a:r>
            <a:endParaRPr lang="x-none" sz="1600" i="1" dirty="0">
              <a:latin typeface="Cambria Math" panose="02040503050406030204" pitchFamily="18" charset="0"/>
              <a:ea typeface="Times New Roman" panose="02020603050405020304" pitchFamily="18" charset="0"/>
              <a:cs typeface="Cambria Math" panose="020405030504060302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6B9FEFDD-40C6-C648-823F-2A702EFF0EA4}"/>
              </a:ext>
            </a:extLst>
          </p:cNvPr>
          <p:cNvGrpSpPr/>
          <p:nvPr/>
        </p:nvGrpSpPr>
        <p:grpSpPr>
          <a:xfrm>
            <a:off x="2149212" y="4815200"/>
            <a:ext cx="7903764" cy="998395"/>
            <a:chOff x="-586652" y="566978"/>
            <a:chExt cx="7903764" cy="9990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Text Box 38">
              <a:extLst>
                <a:ext uri="{FF2B5EF4-FFF2-40B4-BE49-F238E27FC236}">
                  <a16:creationId xmlns:a16="http://schemas.microsoft.com/office/drawing/2014/main" xmlns="" id="{2D714642-3CAA-B04B-9C72-A64152E223AF}"/>
                </a:ext>
              </a:extLst>
            </p:cNvPr>
            <p:cNvSpPr txBox="1"/>
            <p:nvPr/>
          </p:nvSpPr>
          <p:spPr>
            <a:xfrm>
              <a:off x="-586652" y="566978"/>
              <a:ext cx="7903764" cy="999040"/>
            </a:xfrm>
            <a:prstGeom prst="roundRect">
              <a:avLst/>
            </a:prstGeom>
            <a:solidFill>
              <a:srgbClr val="E2EED5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685800">
                <a:lnSpc>
                  <a:spcPct val="107000"/>
                </a:lnSpc>
              </a:pPr>
              <a:endParaRPr lang="en-US" sz="900" b="1" i="1" dirty="0">
                <a:solidFill>
                  <a:srgbClr val="6C993D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Cambria Math" panose="02040503050406030204" pitchFamily="18" charset="0"/>
              </a:endParaRPr>
            </a:p>
            <a:p>
              <a:pPr marL="685800">
                <a:lnSpc>
                  <a:spcPct val="107000"/>
                </a:lnSpc>
              </a:pPr>
              <a:r>
                <a:rPr lang="en-US" sz="1800" b="1" i="1" dirty="0">
                  <a:solidFill>
                    <a:srgbClr val="6C993D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Cambria Math" panose="02040503050406030204" pitchFamily="18" charset="0"/>
                </a:rPr>
                <a:t>Prime factorization </a:t>
              </a:r>
              <a:r>
                <a:rPr lang="en-US" sz="1800" dirty="0">
                  <a:solidFill>
                    <a:srgbClr val="6C993D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Cambria Math" panose="02040503050406030204" pitchFamily="18" charset="0"/>
                </a:rPr>
                <a:t>is the expression of a number as the product of prime factors.</a:t>
              </a:r>
              <a:endParaRPr lang="x-none" sz="1600" i="1" dirty="0"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endParaRPr>
            </a:p>
          </p:txBody>
        </p:sp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xmlns="" id="{F9C48B99-4CB3-8D4B-8967-3B7B67A6C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225392" y="744080"/>
              <a:ext cx="539750" cy="5397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657371" y="481916"/>
                <a:ext cx="854964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Cory determined the prime factorization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using different factor pairs.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71" y="481916"/>
                <a:ext cx="8549640" cy="830997"/>
              </a:xfrm>
              <a:prstGeom prst="rect">
                <a:avLst/>
              </a:prstGeom>
              <a:blipFill>
                <a:blip r:embed="rId4"/>
                <a:stretch>
                  <a:fillRect l="-1039" t="-4478" b="-16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0079752E-1752-0042-9EAA-98DDB7A89117}"/>
              </a:ext>
            </a:extLst>
          </p:cNvPr>
          <p:cNvSpPr/>
          <p:nvPr/>
        </p:nvSpPr>
        <p:spPr>
          <a:xfrm>
            <a:off x="802730" y="1574768"/>
            <a:ext cx="58557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whether Cory’s method changed the final result. </a:t>
            </a:r>
          </a:p>
        </p:txBody>
      </p:sp>
      <p:pic>
        <p:nvPicPr>
          <p:cNvPr id="4" name="Picture 3" descr="A picture containing text, clock&#10;&#10;Description automatically generated">
            <a:extLst>
              <a:ext uri="{FF2B5EF4-FFF2-40B4-BE49-F238E27FC236}">
                <a16:creationId xmlns:a16="http://schemas.microsoft.com/office/drawing/2014/main" xmlns="" id="{C213CDAF-8AB2-FA4F-8D4A-12709352034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7728" y="1775677"/>
            <a:ext cx="2220248" cy="221379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36197A84-7B3E-1A4C-B2B9-A638B07DB572}"/>
              </a:ext>
            </a:extLst>
          </p:cNvPr>
          <p:cNvSpPr/>
          <p:nvPr/>
        </p:nvSpPr>
        <p:spPr>
          <a:xfrm>
            <a:off x="802730" y="4452236"/>
            <a:ext cx="94080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did Cory circle the values he did?</a:t>
            </a:r>
          </a:p>
        </p:txBody>
      </p:sp>
    </p:spTree>
    <p:extLst>
      <p:ext uri="{BB962C8B-B14F-4D97-AF65-F5344CB8AC3E}">
        <p14:creationId xmlns:p14="http://schemas.microsoft.com/office/powerpoint/2010/main" val="2576515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551864" y="599817"/>
                <a:ext cx="1115949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prime factorization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by completing the work below.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64" y="599817"/>
                <a:ext cx="11159490" cy="461665"/>
              </a:xfrm>
              <a:prstGeom prst="rect">
                <a:avLst/>
              </a:prstGeom>
              <a:blipFill>
                <a:blip r:embed="rId4"/>
                <a:stretch>
                  <a:fillRect l="-795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xmlns="" id="{36197A84-7B3E-1A4C-B2B9-A638B07DB572}"/>
                  </a:ext>
                </a:extLst>
              </p:cNvPr>
              <p:cNvSpPr/>
              <p:nvPr/>
            </p:nvSpPr>
            <p:spPr>
              <a:xfrm>
                <a:off x="968778" y="5117088"/>
                <a:ext cx="854964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prime factorization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_________________.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6197A84-7B3E-1A4C-B2B9-A638B07DB5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778" y="5117088"/>
                <a:ext cx="8549640" cy="461665"/>
              </a:xfrm>
              <a:prstGeom prst="rect">
                <a:avLst/>
              </a:prstGeom>
              <a:blipFill>
                <a:blip r:embed="rId5"/>
                <a:stretch>
                  <a:fillRect l="-118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Diagram, shape&#10;&#10;Description automatically generated">
            <a:extLst>
              <a:ext uri="{FF2B5EF4-FFF2-40B4-BE49-F238E27FC236}">
                <a16:creationId xmlns:a16="http://schemas.microsoft.com/office/drawing/2014/main" xmlns="" id="{8A6A6027-5778-1040-8550-E3DFCFE12F1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3598" y="1430814"/>
            <a:ext cx="1919203" cy="331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32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535022" y="481916"/>
                <a:ext cx="10965316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the expression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2×2×2×3×3×5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product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2×2×2×3×3×5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prime factorization of ______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2×2×2×3×3×5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22" y="481916"/>
                <a:ext cx="10965316" cy="3785652"/>
              </a:xfrm>
              <a:prstGeom prst="rect">
                <a:avLst/>
              </a:prstGeom>
              <a:blipFill>
                <a:blip r:embed="rId4"/>
                <a:stretch>
                  <a:fillRect l="-926" t="-1003" b="-3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6516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469802" y="528809"/>
                <a:ext cx="11288443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Numbers with multiple repeating prime factors can be written using exponents. For example, the prime factorization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360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can be written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Why is it helpful to write the prime factorization with exponents?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02" y="528809"/>
                <a:ext cx="11288443" cy="2308324"/>
              </a:xfrm>
              <a:prstGeom prst="rect">
                <a:avLst/>
              </a:prstGeom>
              <a:blipFill>
                <a:blip r:embed="rId4"/>
                <a:stretch>
                  <a:fillRect l="-787" t="-2186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5790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3357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30082" y="2773557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AE80E75D-78AE-A94E-86B4-91D469B7BFAD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xmlns="" id="{AEA4B4EA-62E9-1C44-B6F0-74A8572D4D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1972" cy="11519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6214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40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28438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7.2.4 Guided Practice: Prime Factorization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2BE9AFC-D858-8947-AE27-3738478587E3}"/>
                  </a:ext>
                </a:extLst>
              </p:cNvPr>
              <p:cNvSpPr/>
              <p:nvPr/>
            </p:nvSpPr>
            <p:spPr>
              <a:xfrm>
                <a:off x="730265" y="1325700"/>
                <a:ext cx="10863857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prime factorization of each value. Use exponents where appropriate.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132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       b.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270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		            c. 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882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2BE9AFC-D858-8947-AE27-373847858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325700"/>
                <a:ext cx="10863857" cy="1938992"/>
              </a:xfrm>
              <a:prstGeom prst="rect">
                <a:avLst/>
              </a:prstGeom>
              <a:blipFill>
                <a:blip r:embed="rId4"/>
                <a:stretch>
                  <a:fillRect l="-935" t="-2597" b="-5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A0B3F56A-90D4-0546-BD18-061853EE942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3FB836D-7BF8-B941-8F1E-1C998C7EDD5F}"/>
              </a:ext>
            </a:extLst>
          </p:cNvPr>
          <p:cNvSpPr/>
          <p:nvPr/>
        </p:nvSpPr>
        <p:spPr>
          <a:xfrm>
            <a:off x="2146200" y="2419359"/>
            <a:ext cx="8333128" cy="101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x-none" sz="120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xmlns="" id="{A11C236F-F6F0-6C44-9CE3-50FB461FC6B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69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469802" y="499092"/>
                <a:ext cx="11440844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Sophie said the prime factorization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3∙7∙10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the error Sophie made. Then, write her a brief note explaining her error and how she can learn from it.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02" y="499092"/>
                <a:ext cx="11440844" cy="1323439"/>
              </a:xfrm>
              <a:prstGeom prst="rect">
                <a:avLst/>
              </a:prstGeom>
              <a:blipFill>
                <a:blip r:embed="rId4"/>
                <a:stretch>
                  <a:fillRect l="-443" t="-2857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74506D16-629B-BF4C-BA88-5C0A590ACB26}"/>
              </a:ext>
            </a:extLst>
          </p:cNvPr>
          <p:cNvSpPr/>
          <p:nvPr/>
        </p:nvSpPr>
        <p:spPr>
          <a:xfrm>
            <a:off x="6487407" y="1964272"/>
            <a:ext cx="2759467" cy="362042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x-none" sz="12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E5A26BC2-A2F9-0D4F-A7FA-2385DAC935D3}"/>
              </a:ext>
            </a:extLst>
          </p:cNvPr>
          <p:cNvSpPr/>
          <p:nvPr/>
        </p:nvSpPr>
        <p:spPr>
          <a:xfrm>
            <a:off x="3394818" y="2387021"/>
            <a:ext cx="1769114" cy="277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DB2B2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eans</a:t>
            </a:r>
            <a:endParaRPr lang="x-none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F25756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I</a:t>
            </a:r>
            <a:endParaRPr lang="x-none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E9923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tart</a:t>
            </a:r>
            <a:endParaRPr lang="x-none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FACD1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endParaRPr lang="x-none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7BA43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cquire</a:t>
            </a:r>
            <a:endParaRPr lang="x-none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24B7D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nowledge</a:t>
            </a:r>
            <a:endParaRPr lang="x-none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1B74B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xperience </a:t>
            </a:r>
            <a:endParaRPr lang="x-none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4A2B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kills</a:t>
            </a: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x-none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0AFE7343-F5E5-FB4A-B05E-A46F9656AF31}"/>
                  </a:ext>
                </a:extLst>
              </p:cNvPr>
              <p:cNvSpPr/>
              <p:nvPr/>
            </p:nvSpPr>
            <p:spPr>
              <a:xfrm>
                <a:off x="469802" y="5679724"/>
                <a:ext cx="854964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prime factorization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AFE7343-F5E5-FB4A-B05E-A46F9656AF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02" y="5679724"/>
                <a:ext cx="8549640" cy="400110"/>
              </a:xfrm>
              <a:prstGeom prst="rect">
                <a:avLst/>
              </a:prstGeom>
              <a:blipFill>
                <a:blip r:embed="rId5"/>
                <a:stretch>
                  <a:fillRect l="-593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404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37718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40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xmlns="" id="{2C8C0BED-1AF4-B944-96AA-2CF26F1ABF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6228" cy="1156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8438" y="-6210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7.2.5 Your Turn!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05AB5A2-AF35-B14C-AE54-D2A0628C823C}"/>
                  </a:ext>
                </a:extLst>
              </p:cNvPr>
              <p:cNvSpPr/>
              <p:nvPr/>
            </p:nvSpPr>
            <p:spPr>
              <a:xfrm>
                <a:off x="732743" y="1240145"/>
                <a:ext cx="10720703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prime factorization of each value. Use exponents where appropriate.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a.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904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   b.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1,125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           c.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80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05AB5A2-AF35-B14C-AE54-D2A0628C82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43" y="1240145"/>
                <a:ext cx="10720703" cy="2308324"/>
              </a:xfrm>
              <a:prstGeom prst="rect">
                <a:avLst/>
              </a:prstGeom>
              <a:blipFill>
                <a:blip r:embed="rId4"/>
                <a:stretch>
                  <a:fillRect l="-947" t="-2186" r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85268C17-F7CB-D243-B65D-166A4DD9987F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xmlns="" id="{00D9959C-BC81-7642-9A75-F49D3552473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52254" cy="75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3DC8F22-04D2-D04F-BA67-53D9B7F3B29F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72B68A3-0BC8-764F-AF62-423F747F7272}"/>
              </a:ext>
            </a:extLst>
          </p:cNvPr>
          <p:cNvSpPr/>
          <p:nvPr/>
        </p:nvSpPr>
        <p:spPr>
          <a:xfrm>
            <a:off x="419149" y="490409"/>
            <a:ext cx="114446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number includes the largest exponent when written in prime factorization? Explain your answer.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xmlns="" id="{C83FD3D9-B540-564D-8040-A8A5F4F24B93}"/>
                  </a:ext>
                </a:extLst>
              </p:cNvPr>
              <p:cNvSpPr/>
              <p:nvPr/>
            </p:nvSpPr>
            <p:spPr>
              <a:xfrm>
                <a:off x="3925011" y="2023250"/>
                <a:ext cx="1904479" cy="552555"/>
              </a:xfrm>
              <a:prstGeom prst="roundRect">
                <a:avLst>
                  <a:gd name="adj" fmla="val 16667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5,670</m:t>
                      </m:r>
                    </m:oMath>
                  </m:oMathPara>
                </a14:m>
                <a:endParaRPr lang="x-none" sz="1600" i="1">
                  <a:latin typeface="Cambria Math" panose="02040503050406030204" pitchFamily="18" charset="0"/>
                  <a:ea typeface="Times New Roman" panose="020206030504050203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C83FD3D9-B540-564D-8040-A8A5F4F24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011" y="2023250"/>
                <a:ext cx="1904479" cy="552555"/>
              </a:xfrm>
              <a:prstGeom prst="roundRect">
                <a:avLst>
                  <a:gd name="adj" fmla="val 16667"/>
                </a:avLst>
              </a:prstGeom>
              <a:blipFill>
                <a:blip r:embed="rId4"/>
                <a:stretch>
                  <a:fillRect/>
                </a:stretch>
              </a:blip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xmlns="" id="{EFCB2FB1-7966-B843-9377-DB18A5B4F246}"/>
                  </a:ext>
                </a:extLst>
              </p:cNvPr>
              <p:cNvSpPr/>
              <p:nvPr/>
            </p:nvSpPr>
            <p:spPr>
              <a:xfrm>
                <a:off x="6362510" y="2023250"/>
                <a:ext cx="1904479" cy="552555"/>
              </a:xfrm>
              <a:prstGeom prst="roundRect">
                <a:avLst>
                  <a:gd name="adj" fmla="val 16667"/>
                </a:avLst>
              </a:prstGeom>
              <a:noFill/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64</m:t>
                    </m:r>
                  </m:oMath>
                </a14:m>
                <a:r>
                  <a:rPr lang="en-US" sz="18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endParaRPr lang="x-none" sz="1600" i="1">
                  <a:latin typeface="Cambria Math" panose="02040503050406030204" pitchFamily="18" charset="0"/>
                  <a:ea typeface="Times New Roman" panose="020206030504050203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EFCB2FB1-7966-B843-9377-DB18A5B4F2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510" y="2023250"/>
                <a:ext cx="1904479" cy="552555"/>
              </a:xfrm>
              <a:prstGeom prst="roundRect">
                <a:avLst>
                  <a:gd name="adj" fmla="val 16667"/>
                </a:avLst>
              </a:prstGeom>
              <a:blipFill>
                <a:blip r:embed="rId5"/>
                <a:stretch>
                  <a:fillRect/>
                </a:stretch>
              </a:blip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3DC8F22-04D2-D04F-BA67-53D9B7F3B29F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D72B68A3-0BC8-764F-AF62-423F747F7272}"/>
                  </a:ext>
                </a:extLst>
              </p:cNvPr>
              <p:cNvSpPr/>
              <p:nvPr/>
            </p:nvSpPr>
            <p:spPr>
              <a:xfrm>
                <a:off x="550508" y="455239"/>
                <a:ext cx="11395307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a number that meets the following conditions.</a:t>
                </a:r>
              </a:p>
              <a:p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value of the number is less than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150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One of its prime factors has an exponent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When expressed in exponential form, its prime factorization has only two unique bases.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72B68A3-0BC8-764F-AF62-423F747F72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08" y="455239"/>
                <a:ext cx="11395307" cy="2308324"/>
              </a:xfrm>
              <a:prstGeom prst="rect">
                <a:avLst/>
              </a:prstGeom>
              <a:blipFill>
                <a:blip r:embed="rId4"/>
                <a:stretch>
                  <a:fillRect l="-780" t="-2198" r="-445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618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48857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ABBAE5D4-A013-554B-AF18-FD3C50BA4B0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03916" y="-8803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7.2.6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50A85065-1747-6C4E-8BA4-9C1ED8A185A6}"/>
                  </a:ext>
                </a:extLst>
              </p:cNvPr>
              <p:cNvSpPr/>
              <p:nvPr/>
            </p:nvSpPr>
            <p:spPr>
              <a:xfrm>
                <a:off x="730265" y="1237668"/>
                <a:ext cx="11168657" cy="48320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prime factorization of each value. Use exponents where appropriate.</a:t>
                </a:r>
              </a:p>
              <a:p>
                <a:pPr lvl="0"/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168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1,040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144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	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0A85065-1747-6C4E-8BA4-9C1ED8A185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237668"/>
                <a:ext cx="11168657" cy="4832092"/>
              </a:xfrm>
              <a:prstGeom prst="rect">
                <a:avLst/>
              </a:prstGeom>
              <a:blipFill>
                <a:blip r:embed="rId5"/>
                <a:stretch>
                  <a:fillRect l="-795" t="-785" b="-1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20425D2-BFDA-974E-9037-009E6465CCF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1413</TotalTime>
  <Words>787</Words>
  <Application>Microsoft Office PowerPoint</Application>
  <PresentationFormat>Custom</PresentationFormat>
  <Paragraphs>175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Verdana</vt:lpstr>
      <vt:lpstr>Calibri</vt:lpstr>
      <vt:lpstr>Times New Roman</vt:lpstr>
      <vt:lpstr>Century Gothic</vt:lpstr>
      <vt:lpstr>Wingdings</vt:lpstr>
      <vt:lpstr>Cambria Math</vt:lpstr>
      <vt:lpstr>Cambria</vt:lpstr>
      <vt:lpstr>Arial Black</vt:lpstr>
      <vt:lpstr>1_Office Theme</vt:lpstr>
      <vt:lpstr>6th Grade Math  Unit 7, Lesson 2  Prime Factorization  Volume 2, pg. 8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24</cp:revision>
  <dcterms:created xsi:type="dcterms:W3CDTF">2015-03-17T18:51:18Z</dcterms:created>
  <dcterms:modified xsi:type="dcterms:W3CDTF">2022-06-05T06:25:20Z</dcterms:modified>
</cp:coreProperties>
</file>