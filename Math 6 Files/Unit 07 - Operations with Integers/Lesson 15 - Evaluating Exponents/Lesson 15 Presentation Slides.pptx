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302" r:id="rId8"/>
    <p:sldId id="303" r:id="rId9"/>
    <p:sldId id="340" r:id="rId10"/>
    <p:sldId id="356" r:id="rId11"/>
    <p:sldId id="342" r:id="rId12"/>
    <p:sldId id="343" r:id="rId13"/>
    <p:sldId id="344" r:id="rId14"/>
    <p:sldId id="352" r:id="rId15"/>
    <p:sldId id="353" r:id="rId16"/>
    <p:sldId id="311" r:id="rId17"/>
    <p:sldId id="312" r:id="rId18"/>
    <p:sldId id="333" r:id="rId19"/>
    <p:sldId id="357" r:id="rId20"/>
    <p:sldId id="306" r:id="rId21"/>
    <p:sldId id="307" r:id="rId22"/>
  </p:sldIdLst>
  <p:sldSz cx="12192000" cy="6858000"/>
  <p:notesSz cx="6858000" cy="9144000"/>
  <p:embeddedFontLst>
    <p:embeddedFont>
      <p:font typeface="Verdana" pitchFamily="34" charset="0"/>
      <p:regular r:id="rId24"/>
      <p:bold r:id="rId25"/>
      <p:italic r:id="rId26"/>
      <p:boldItalic r:id="rId27"/>
    </p:embeddedFont>
    <p:embeddedFont>
      <p:font typeface="Calibri" pitchFamily="34" charset="0"/>
      <p:regular r:id="rId28"/>
      <p:bold r:id="rId29"/>
      <p:italic r:id="rId30"/>
      <p:boldItalic r:id="rId31"/>
    </p:embeddedFont>
    <p:embeddedFont>
      <p:font typeface="Century Gothic" pitchFamily="34" charset="0"/>
      <p:regular r:id="rId32"/>
      <p:bold r:id="rId33"/>
      <p:italic r:id="rId34"/>
      <p:boldItalic r:id="rId35"/>
    </p:embeddedFont>
    <p:embeddedFont>
      <p:font typeface="Cambria Math" pitchFamily="18" charset="0"/>
      <p:regular r:id="rId36"/>
    </p:embeddedFont>
    <p:embeddedFont>
      <p:font typeface="Cambria" pitchFamily="18" charset="0"/>
      <p:regular r:id="rId37"/>
      <p:bold r:id="rId38"/>
      <p:italic r:id="rId39"/>
      <p:boldItalic r:id="rId40"/>
    </p:embeddedFont>
    <p:embeddedFont>
      <p:font typeface="Arial Black" pitchFamily="34" charset="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BAAA"/>
    <a:srgbClr val="26B7D4"/>
    <a:srgbClr val="E24E5F"/>
    <a:srgbClr val="52BDA6"/>
    <a:srgbClr val="276C46"/>
    <a:srgbClr val="C9DF6F"/>
    <a:srgbClr val="417DBF"/>
    <a:srgbClr val="3F2A67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03"/>
    <p:restoredTop sz="94715"/>
  </p:normalViewPr>
  <p:slideViewPr>
    <p:cSldViewPr snapToGrid="0">
      <p:cViewPr varScale="1">
        <p:scale>
          <a:sx n="80" d="100"/>
          <a:sy n="80" d="100"/>
        </p:scale>
        <p:origin x="-35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44021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2684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814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758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68421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301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4745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71273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15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Evaluating Exponents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68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26B7D4"/>
              </a:solidFill>
            </a:endParaRPr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6424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05256" y="1600200"/>
            <a:ext cx="104831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MA.6.NSO.3.3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positive rational numbers and integers with natural number exponents.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6423" y="129667"/>
            <a:ext cx="1010190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05255" y="1596390"/>
            <a:ext cx="1010190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C0AE969-0A27-9545-AB11-BBE5491801C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6424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05256" y="1547093"/>
            <a:ext cx="10122962" cy="449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evaluate integers with natural number exponents.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evaluate a positive rational number raised to a power.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E0319DD-E1E2-064E-A3C0-1ADADEA7DC7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06503EB0-E904-7143-BA20-369F935837E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-691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7.15.1 Warm-Up: Consider the YET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79F083F-A67E-0047-8E64-5125815AF3D8}"/>
              </a:ext>
            </a:extLst>
          </p:cNvPr>
          <p:cNvSpPr/>
          <p:nvPr/>
        </p:nvSpPr>
        <p:spPr>
          <a:xfrm>
            <a:off x="905256" y="1318790"/>
            <a:ext cx="101803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the belief that “you can get better at whatever you want to get better at.” Explain whether you agree or disagree.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the quote, “I’ve never heard of someone who took up running and didn’t get faster the more they did it.” That person just may not have been a fast runner … YET.</a:t>
            </a:r>
          </a:p>
          <a:p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4025" indent="1270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statement to describe something you want to get better at.</a:t>
            </a:r>
          </a:p>
          <a:p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4025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___________________________________________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indent="454025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_______________________________________...YET!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xmlns="" id="{570FC961-D801-0C4E-8D4A-AEC23A74C9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40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04201096-008D-9E40-8962-B6CD490C930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xmlns="" id="{202E6ABC-1C51-3849-8B16-A4E367BD6C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33502" cy="113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6424" y="60325"/>
            <a:ext cx="10365140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7.15.2 Exploration: Building on the Understanding of Exponents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66A031F-2EC8-DF4C-B3F5-E7AC5B8F3239}"/>
              </a:ext>
            </a:extLst>
          </p:cNvPr>
          <p:cNvSpPr/>
          <p:nvPr/>
        </p:nvSpPr>
        <p:spPr>
          <a:xfrm>
            <a:off x="905256" y="1375713"/>
            <a:ext cx="8526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>
              <a:buSzPts val="1800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Recall the vocabulary of exponential expressions. 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xmlns="" id="{171D0238-04AA-AD44-9E65-831FFFF61ED9}"/>
                  </a:ext>
                </a:extLst>
              </p:cNvPr>
              <p:cNvSpPr/>
              <p:nvPr/>
            </p:nvSpPr>
            <p:spPr>
              <a:xfrm>
                <a:off x="905256" y="3953485"/>
                <a:ext cx="971157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07988" indent="-396875">
                  <a:buSzPts val="1800"/>
                  <a:buFont typeface="+mj-lt"/>
                  <a:buAutoNum type="arabicPeriod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Think of a number that will result in a value of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when it is raised to a power less than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07988" indent="-396875">
                  <a:buSzPts val="1800"/>
                  <a:buFont typeface="+mj-lt"/>
                  <a:buAutoNum type="arabicPeriod"/>
                </a:pPr>
                <a:endParaRPr lang="en-US" sz="1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7988" indent="-396875">
                  <a:buSzPts val="1800"/>
                  <a:buFont typeface="+mj-lt"/>
                  <a:buAutoNum type="arabicPeriod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base and its exponent.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71D0238-04AA-AD44-9E65-831FFFF61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3953485"/>
                <a:ext cx="9711570" cy="1200329"/>
              </a:xfrm>
              <a:prstGeom prst="rect">
                <a:avLst/>
              </a:prstGeom>
              <a:blipFill>
                <a:blip r:embed="rId4"/>
                <a:stretch>
                  <a:fillRect l="-392" t="-2105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xmlns="" id="{25EA86AB-62EB-1242-8C23-067DCB84922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4" cy="750144"/>
          </a:xfrm>
          <a:prstGeom prst="rect">
            <a:avLst/>
          </a:prstGeom>
        </p:spPr>
      </p:pic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xmlns="" id="{F37078DE-1809-1249-9552-F7253748DB5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4186" y="2031442"/>
            <a:ext cx="5592208" cy="15478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68A078BF-0AD5-1B46-AFB6-1450640C4B8A}"/>
              </a:ext>
            </a:extLst>
          </p:cNvPr>
          <p:cNvSpPr/>
          <p:nvPr/>
        </p:nvSpPr>
        <p:spPr>
          <a:xfrm>
            <a:off x="5532150" y="5735942"/>
            <a:ext cx="563850" cy="56385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8069743-E6EC-1446-B59D-781A66F40508}"/>
              </a:ext>
            </a:extLst>
          </p:cNvPr>
          <p:cNvSpPr/>
          <p:nvPr/>
        </p:nvSpPr>
        <p:spPr>
          <a:xfrm>
            <a:off x="6217950" y="5311696"/>
            <a:ext cx="369532" cy="369532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9AF1552-9966-3643-BA84-BB4BC68EDBB5}"/>
              </a:ext>
            </a:extLst>
          </p:cNvPr>
          <p:cNvSpPr/>
          <p:nvPr/>
        </p:nvSpPr>
        <p:spPr>
          <a:xfrm>
            <a:off x="905256" y="842785"/>
            <a:ext cx="1062172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your expression with your partner and check for accuracy. </a:t>
            </a:r>
          </a:p>
          <a:p>
            <a:pPr marL="457200" indent="-457200">
              <a:buSzPct val="100000"/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your partner found a different base and exponent that meets the description, write it below. If your partner wrote the same base and exponent as you, work together to find a second exponential expression that also works.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24EE97F-5836-564B-81A1-03F746F2C439}"/>
              </a:ext>
            </a:extLst>
          </p:cNvPr>
          <p:cNvSpPr/>
          <p:nvPr/>
        </p:nvSpPr>
        <p:spPr>
          <a:xfrm>
            <a:off x="5532150" y="4151529"/>
            <a:ext cx="729753" cy="729753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56029CE-5EFD-094E-879A-030755754C05}"/>
              </a:ext>
            </a:extLst>
          </p:cNvPr>
          <p:cNvSpPr/>
          <p:nvPr/>
        </p:nvSpPr>
        <p:spPr>
          <a:xfrm>
            <a:off x="6379315" y="3558806"/>
            <a:ext cx="478260" cy="47826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9AF1552-9966-3643-BA84-BB4BC68EDBB5}"/>
              </a:ext>
            </a:extLst>
          </p:cNvPr>
          <p:cNvSpPr/>
          <p:nvPr/>
        </p:nvSpPr>
        <p:spPr>
          <a:xfrm>
            <a:off x="905256" y="385584"/>
            <a:ext cx="103723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+mj-lt"/>
              <a:buAutoNum type="arabicPeriod" startAt="5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choose one of the exponential expressions used and rewrite it making the base negative. 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662BF3F-E40B-F04A-8986-D5A10FD97094}"/>
                  </a:ext>
                </a:extLst>
              </p:cNvPr>
              <p:cNvSpPr txBox="1"/>
              <p:nvPr/>
            </p:nvSpPr>
            <p:spPr>
              <a:xfrm>
                <a:off x="3722594" y="1627847"/>
                <a:ext cx="46392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x-none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x-none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lit/>
                            </m:rPr>
                            <a:rPr lang="x-none" sz="2800">
                              <a:latin typeface="Cambria Math" panose="02040503050406030204" pitchFamily="18" charset="0"/>
                            </a:rPr>
                            <m:t>_____</m:t>
                          </m:r>
                        </m:e>
                      </m:d>
                    </m:oMath>
                  </m:oMathPara>
                </a14:m>
                <a:endParaRPr lang="x-none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62BF3F-E40B-F04A-8986-D5A10FD97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594" y="1627847"/>
                <a:ext cx="463923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1227A23-1EB2-C648-A3D4-D76D26B50285}"/>
              </a:ext>
            </a:extLst>
          </p:cNvPr>
          <p:cNvSpPr/>
          <p:nvPr/>
        </p:nvSpPr>
        <p:spPr>
          <a:xfrm>
            <a:off x="6688597" y="1259358"/>
            <a:ext cx="478260" cy="47826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31FCA1CC-EE66-F847-BB1E-754A76418A6A}"/>
              </a:ext>
            </a:extLst>
          </p:cNvPr>
          <p:cNvSpPr/>
          <p:nvPr/>
        </p:nvSpPr>
        <p:spPr>
          <a:xfrm>
            <a:off x="905256" y="2483325"/>
            <a:ext cx="98735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whether the negative base changes the value of the expression.</a:t>
            </a:r>
          </a:p>
          <a:p>
            <a:pPr marL="457200" indent="-457200">
              <a:buSzPct val="100000"/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how you could change the exponent to result in a negative answer. Write a brief summary of your discussion below.</a:t>
            </a:r>
          </a:p>
          <a:p>
            <a:pPr lvl="0">
              <a:buSzPct val="100000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669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xmlns="" id="{B8FF7CCF-AD02-664B-ACE0-CCC71DAE9F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6733" cy="11567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9353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6423" y="-27923"/>
            <a:ext cx="1085004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7.15.3 Bring It Together: Building on the Understanding of Exponents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2BE9AFC-D858-8947-AE27-3738478587E3}"/>
                  </a:ext>
                </a:extLst>
              </p:cNvPr>
              <p:cNvSpPr/>
              <p:nvPr/>
            </p:nvSpPr>
            <p:spPr>
              <a:xfrm>
                <a:off x="905256" y="1331161"/>
                <a:ext cx="11051216" cy="34093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evaluating exponents with a negative base, the same rules of multiplication with integers apply.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2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es-ES" sz="22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base is ____ and the exponent is ____, resulting in the repeated multiplication sentence of ____________.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Why do the results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2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es-ES" sz="22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s-E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result in a positive number?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331161"/>
                <a:ext cx="11051216" cy="3409395"/>
              </a:xfrm>
              <a:prstGeom prst="rect">
                <a:avLst/>
              </a:prstGeom>
              <a:blipFill>
                <a:blip r:embed="rId4"/>
                <a:stretch>
                  <a:fillRect l="-804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xmlns="" id="{79F1B2C6-81E5-F042-97D1-AEADC87CC0D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01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905255" y="389993"/>
                <a:ext cx="10746417" cy="28007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2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es-ES" sz="22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the base is ____ and the exponent is ____, resulting in the repeated multiplication sentence of _______________.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Why do the results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2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es-ES" sz="22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result in a negative number?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389993"/>
                <a:ext cx="10746417" cy="2800767"/>
              </a:xfrm>
              <a:prstGeom prst="rect">
                <a:avLst/>
              </a:prstGeom>
              <a:blipFill>
                <a:blip r:embed="rId4"/>
                <a:stretch>
                  <a:fillRect l="-826"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3346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2E7CAFC-319F-CE4F-8B26-ED2749A56CDA}"/>
              </a:ext>
            </a:extLst>
          </p:cNvPr>
          <p:cNvSpPr/>
          <p:nvPr/>
        </p:nvSpPr>
        <p:spPr>
          <a:xfrm>
            <a:off x="905255" y="778352"/>
            <a:ext cx="100813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each expression, determine whether its value is positive or negative.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2521AC48-87D1-164D-A2A7-E61E734997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4164442"/>
                  </p:ext>
                </p:extLst>
              </p:nvPr>
            </p:nvGraphicFramePr>
            <p:xfrm>
              <a:off x="3478530" y="1995726"/>
              <a:ext cx="5486400" cy="287299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xmlns="" val="111631591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="" val="210025515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Positive or Negative Value?</a:t>
                          </a:r>
                          <a:endParaRPr lang="x-none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107204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(−2)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851971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(−2)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514873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(−2)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344583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(−2)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5427082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(−2)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2671519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521AC48-87D1-164D-A2A7-E61E734997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4164442"/>
                  </p:ext>
                </p:extLst>
              </p:nvPr>
            </p:nvGraphicFramePr>
            <p:xfrm>
              <a:off x="3478530" y="1995726"/>
              <a:ext cx="5486400" cy="284702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111631591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100255152"/>
                        </a:ext>
                      </a:extLst>
                    </a:gridCol>
                  </a:tblGrid>
                  <a:tr h="5610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en-CO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Positive or Negative Value?</a:t>
                          </a:r>
                          <a:endParaRPr lang="en-CO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07204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41667" r="-100461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1971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35135" r="-100461" b="-29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514873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44444" r="-100461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344583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44444" r="-100461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5427082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544444" r="-100461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715193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0816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2E7CAFC-319F-CE4F-8B26-ED2749A56CDA}"/>
              </a:ext>
            </a:extLst>
          </p:cNvPr>
          <p:cNvSpPr/>
          <p:nvPr/>
        </p:nvSpPr>
        <p:spPr>
          <a:xfrm>
            <a:off x="905256" y="389993"/>
            <a:ext cx="995670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evaluating exponents with a negative base, 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value of the expression will be                if the 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exponent is an             number, and the value of the 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expression will be               if the exponent is an 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number.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FF9CDCF0-9306-DF44-8C00-F1E70EEED2C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2330" y="950760"/>
            <a:ext cx="1375927" cy="749300"/>
          </a:xfrm>
          <a:prstGeom prst="rect">
            <a:avLst/>
          </a:prstGeom>
        </p:spPr>
      </p:pic>
      <p:pic>
        <p:nvPicPr>
          <p:cNvPr id="14" name="Picture 13" descr="Shape&#10;&#10;Description automatically generated with medium confidence">
            <a:extLst>
              <a:ext uri="{FF2B5EF4-FFF2-40B4-BE49-F238E27FC236}">
                <a16:creationId xmlns:a16="http://schemas.microsoft.com/office/drawing/2014/main" xmlns="" id="{940AF908-36E9-4E4C-8072-47808C48BD5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1928" y="1667211"/>
            <a:ext cx="1093182" cy="749300"/>
          </a:xfrm>
          <a:prstGeom prst="rect">
            <a:avLst/>
          </a:prstGeom>
        </p:spPr>
      </p:pic>
      <p:pic>
        <p:nvPicPr>
          <p:cNvPr id="17" name="Picture 16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2AC8B92F-FBF5-634A-B29B-58DFB051D8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7146" y="2489704"/>
            <a:ext cx="1375927" cy="749300"/>
          </a:xfrm>
          <a:prstGeom prst="rect">
            <a:avLst/>
          </a:prstGeom>
        </p:spPr>
      </p:pic>
      <p:pic>
        <p:nvPicPr>
          <p:cNvPr id="18" name="Picture 17" descr="Shape&#10;&#10;Description automatically generated with medium confidence">
            <a:extLst>
              <a:ext uri="{FF2B5EF4-FFF2-40B4-BE49-F238E27FC236}">
                <a16:creationId xmlns:a16="http://schemas.microsoft.com/office/drawing/2014/main" xmlns="" id="{3D7137F7-4AE0-6440-AB2E-F31148628A8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714" y="3218222"/>
            <a:ext cx="1093182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0632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40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xmlns="" id="{2C8C0BED-1AF4-B944-96AA-2CF26F1ABF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6228" cy="1156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7.15.4 Your Turn!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05AB5A2-AF35-B14C-AE54-D2A0628C823C}"/>
                  </a:ext>
                </a:extLst>
              </p:cNvPr>
              <p:cNvSpPr/>
              <p:nvPr/>
            </p:nvSpPr>
            <p:spPr>
              <a:xfrm>
                <a:off x="905256" y="1340983"/>
                <a:ext cx="10180320" cy="2020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Evaluate each expression.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sz="2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 dirty="0">
                                    <a:latin typeface="Cambria Math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2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15</m:t>
                                </m:r>
                              </m:num>
                              <m:den>
                                <m:r>
                                  <a:rPr lang="es-ES" sz="22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      c.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 dirty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sz="22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1340983"/>
                <a:ext cx="10180320" cy="2020105"/>
              </a:xfrm>
              <a:prstGeom prst="rect">
                <a:avLst/>
              </a:prstGeom>
              <a:blipFill>
                <a:blip r:embed="rId4"/>
                <a:stretch>
                  <a:fillRect l="-872" t="-1875" b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85268C17-F7CB-D243-B65D-166A4DD998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xmlns="" id="{00D9959C-BC81-7642-9A75-F49D3552473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2254" cy="75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3DC8F22-04D2-D04F-BA67-53D9B7F3B29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8A71DEF1-087D-214F-86DF-C80090F990CE}"/>
                  </a:ext>
                </a:extLst>
              </p:cNvPr>
              <p:cNvSpPr/>
              <p:nvPr/>
            </p:nvSpPr>
            <p:spPr>
              <a:xfrm>
                <a:off x="905256" y="441331"/>
                <a:ext cx="10316926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Rewrite each repeated multiplication sentence as an exponential expression. Then, find the value of the expression.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a.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(−12)(−12)(−12)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b.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3.4</m:t>
                    </m:r>
                    <m:r>
                      <a:rPr lang="es-E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s-E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3.4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A71DEF1-087D-214F-86DF-C80090F990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" y="441331"/>
                <a:ext cx="10316926" cy="2308324"/>
              </a:xfrm>
              <a:prstGeom prst="rect">
                <a:avLst/>
              </a:prstGeom>
              <a:blipFill>
                <a:blip r:embed="rId4"/>
                <a:stretch>
                  <a:fillRect l="-984" t="-2186" b="-5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3DC8F22-04D2-D04F-BA67-53D9B7F3B29F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A71DEF1-087D-214F-86DF-C80090F990CE}"/>
              </a:ext>
            </a:extLst>
          </p:cNvPr>
          <p:cNvSpPr/>
          <p:nvPr/>
        </p:nvSpPr>
        <p:spPr>
          <a:xfrm>
            <a:off x="905256" y="441332"/>
            <a:ext cx="106632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 if each equation in the table is true or false. Show your work to support your answer.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DED347A5-DFCD-3140-8CA5-33E2C6B8B1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5650303"/>
                  </p:ext>
                </p:extLst>
              </p:nvPr>
            </p:nvGraphicFramePr>
            <p:xfrm>
              <a:off x="2867025" y="1833629"/>
              <a:ext cx="6457950" cy="352196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143250">
                      <a:extLst>
                        <a:ext uri="{9D8B030D-6E8A-4147-A177-3AD203B41FA5}">
                          <a16:colId xmlns:a16="http://schemas.microsoft.com/office/drawing/2014/main" xmlns="" val="305403055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xmlns="" val="3644005652"/>
                        </a:ext>
                      </a:extLst>
                    </a:gridCol>
                    <a:gridCol w="2171700">
                      <a:extLst>
                        <a:ext uri="{9D8B030D-6E8A-4147-A177-3AD203B41FA5}">
                          <a16:colId xmlns:a16="http://schemas.microsoft.com/office/drawing/2014/main" xmlns="" val="20726255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x-none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 or False?</a:t>
                          </a:r>
                          <a:endParaRPr lang="x-none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x-none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1531814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1800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−8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1501077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(−</m:t>
                                </m:r>
                                <m:sSup>
                                  <m:sSupPr>
                                    <m:ctrlPr>
                                      <a:rPr lang="x-none" sz="1800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5)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=−5∙5∙5</m:t>
                                </m:r>
                              </m:oMath>
                            </m:oMathPara>
                          </a14:m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915120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ED347A5-DFCD-3140-8CA5-33E2C6B8B1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5650303"/>
                  </p:ext>
                </p:extLst>
              </p:nvPr>
            </p:nvGraphicFramePr>
            <p:xfrm>
              <a:off x="2867025" y="1833629"/>
              <a:ext cx="6457950" cy="344405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143250">
                      <a:extLst>
                        <a:ext uri="{9D8B030D-6E8A-4147-A177-3AD203B41FA5}">
                          <a16:colId xmlns:a16="http://schemas.microsoft.com/office/drawing/2014/main" val="305403055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644005652"/>
                        </a:ext>
                      </a:extLst>
                    </a:gridCol>
                    <a:gridCol w="2171700">
                      <a:extLst>
                        <a:ext uri="{9D8B030D-6E8A-4147-A177-3AD203B41FA5}">
                          <a16:colId xmlns:a16="http://schemas.microsoft.com/office/drawing/2014/main" val="2072625557"/>
                        </a:ext>
                      </a:extLst>
                    </a:gridCol>
                  </a:tblGrid>
                  <a:tr h="5610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en-CO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True or False?</a:t>
                          </a:r>
                          <a:endParaRPr lang="en-CO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en-CO" sz="11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318140"/>
                      </a:ext>
                    </a:extLst>
                  </a:tr>
                  <a:tr h="1441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4737" r="-106048" b="-1008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5010770"/>
                      </a:ext>
                    </a:extLst>
                  </a:tr>
                  <a:tr h="1441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44737" r="-106048" b="-8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15120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0880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BBAE5D4-A013-554B-AF18-FD3C50BA4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6424" y="-18544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7.15.5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0A85065-1747-6C4E-8BA4-9C1ED8A185A6}"/>
              </a:ext>
            </a:extLst>
          </p:cNvPr>
          <p:cNvSpPr/>
          <p:nvPr/>
        </p:nvSpPr>
        <p:spPr>
          <a:xfrm>
            <a:off x="905256" y="1019236"/>
            <a:ext cx="106771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this unit, you have learned multiple concepts about operations with integers. Rate yourself on the following skills based on your level of understanding.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89A1AD64-5DEC-6A4D-9EBC-1B499912A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958299"/>
              </p:ext>
            </p:extLst>
          </p:nvPr>
        </p:nvGraphicFramePr>
        <p:xfrm>
          <a:off x="2801472" y="2154178"/>
          <a:ext cx="7005916" cy="423711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734974">
                  <a:extLst>
                    <a:ext uri="{9D8B030D-6E8A-4147-A177-3AD203B41FA5}">
                      <a16:colId xmlns:a16="http://schemas.microsoft.com/office/drawing/2014/main" xmlns="" val="3303667901"/>
                    </a:ext>
                  </a:extLst>
                </a:gridCol>
                <a:gridCol w="3270942">
                  <a:extLst>
                    <a:ext uri="{9D8B030D-6E8A-4147-A177-3AD203B41FA5}">
                      <a16:colId xmlns:a16="http://schemas.microsoft.com/office/drawing/2014/main" xmlns="" val="2039114089"/>
                    </a:ext>
                  </a:extLst>
                </a:gridCol>
              </a:tblGrid>
              <a:tr h="9985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Statement</a:t>
                      </a:r>
                      <a:endParaRPr lang="x-none" sz="9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Rating</a:t>
                      </a:r>
                      <a:endParaRPr lang="x-none" sz="9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 – I struggle with this.</a:t>
                      </a:r>
                      <a:endParaRPr lang="x-none" sz="9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 – I have some skills.</a:t>
                      </a:r>
                      <a:endParaRPr lang="x-none" sz="9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 – I am almost there.</a:t>
                      </a:r>
                      <a:endParaRPr lang="x-none" sz="9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 – I have got this!</a:t>
                      </a:r>
                      <a:endParaRPr lang="x-none" sz="9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2550649"/>
                  </a:ext>
                </a:extLst>
              </a:tr>
              <a:tr h="5948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evaluate positive rational numbers and integers raised to a power.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74948633"/>
                  </a:ext>
                </a:extLst>
              </a:tr>
              <a:tr h="5948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express composite whole numbers as a product of prime factors.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19121158"/>
                  </a:ext>
                </a:extLst>
              </a:tr>
              <a:tr h="4765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add integers.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50766202"/>
                  </a:ext>
                </a:extLst>
              </a:tr>
              <a:tr h="4765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subtract integers.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2343383"/>
                  </a:ext>
                </a:extLst>
              </a:tr>
              <a:tr h="4765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multiply integers.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85045314"/>
                  </a:ext>
                </a:extLst>
              </a:tr>
              <a:tr h="4765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divide integers.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041400" algn="l"/>
                        </a:tabLs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0134" marR="501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7815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870</Words>
  <Application>Microsoft Office PowerPoint</Application>
  <PresentationFormat>Custom</PresentationFormat>
  <Paragraphs>169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Verdana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1_Office Theme</vt:lpstr>
      <vt:lpstr>6th Grade Math  Unit 7, Lesson 15  Evaluating Exponents  Volume 2, pg. 68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25</cp:revision>
  <dcterms:created xsi:type="dcterms:W3CDTF">2015-03-17T18:51:18Z</dcterms:created>
  <dcterms:modified xsi:type="dcterms:W3CDTF">2022-06-05T08:00:50Z</dcterms:modified>
</cp:coreProperties>
</file>