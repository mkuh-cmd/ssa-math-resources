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5" r:id="rId4"/>
    <p:sldId id="286" r:id="rId5"/>
    <p:sldId id="261" r:id="rId6"/>
    <p:sldId id="287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23" r:id="rId15"/>
    <p:sldId id="324" r:id="rId16"/>
    <p:sldId id="306" r:id="rId17"/>
    <p:sldId id="307" r:id="rId18"/>
  </p:sldIdLst>
  <p:sldSz cx="12192000" cy="6858000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Century Gothic" panose="020B0502020202020204" pitchFamily="34" charset="0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FCBD1E"/>
    <a:srgbClr val="C9DF6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9" autoAdjust="0"/>
    <p:restoredTop sz="86395" autoAdjust="0"/>
  </p:normalViewPr>
  <p:slideViewPr>
    <p:cSldViewPr snapToGrid="0">
      <p:cViewPr varScale="1">
        <p:scale>
          <a:sx n="77" d="100"/>
          <a:sy n="77" d="100"/>
        </p:scale>
        <p:origin x="942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59480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0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0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Google Shape;261;g104476d1465_0_0"/>
              <p:cNvSpPr txBox="1">
                <a:spLocks noGrp="1"/>
              </p:cNvSpPr>
              <p:nvPr>
                <p:ph type="ctrTitle" idx="4294967295"/>
              </p:nvPr>
            </p:nvSpPr>
            <p:spPr>
              <a:xfrm>
                <a:off x="5799984" y="2140968"/>
                <a:ext cx="4925167" cy="3194455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6</a:t>
                </a:r>
                <a:r>
                  <a:rPr lang="en-US" sz="3600" b="1" baseline="30000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th</a:t>
                </a:r>
                <a: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Grade Math</a:t>
                </a:r>
                <a:b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b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Unit 3, Lesson 3</a:t>
                </a:r>
                <a:b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b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3600" b="1" dirty="0">
                    <a:solidFill>
                      <a:srgbClr val="417DBF"/>
                    </a:solidFill>
                    <a:latin typeface="Verdana"/>
                    <a:cs typeface="Times New Roman"/>
                  </a:rPr>
                  <a:t>Equivalent Conversions: Fractions 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417DBF"/>
                        </a:solidFill>
                        <a:latin typeface="Cambria Math"/>
                        <a:cs typeface="Times New Roman"/>
                      </a:rPr>
                      <m:t>↔</m:t>
                    </m:r>
                  </m:oMath>
                </a14:m>
                <a:r>
                  <a:rPr lang="en-US" sz="3600" b="1" dirty="0">
                    <a:solidFill>
                      <a:srgbClr val="417DBF"/>
                    </a:solidFill>
                    <a:cs typeface="Times New Roman"/>
                  </a:rPr>
                  <a:t> </a:t>
                </a:r>
                <a:r>
                  <a:rPr lang="en-US" sz="3600" b="1" dirty="0">
                    <a:solidFill>
                      <a:srgbClr val="417DBF"/>
                    </a:solidFill>
                    <a:latin typeface="Verdana"/>
                    <a:cs typeface="Times New Roman"/>
                  </a:rPr>
                  <a:t>Percentages – Part 2</a:t>
                </a:r>
                <a:b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br>
                  <a:rPr lang="en-US" sz="3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2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Volume 1, pg. 103</a:t>
                </a:r>
              </a:p>
              <a:p>
                <a:pPr algn="ctr">
                  <a:lnSpc>
                    <a:spcPct val="100000"/>
                  </a:lnSpc>
                  <a:buClr>
                    <a:srgbClr val="000000"/>
                  </a:buClr>
                </a:pPr>
                <a:endParaRPr lang="en-US" sz="3400" b="1" dirty="0">
                  <a:solidFill>
                    <a:srgbClr val="417DB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algn="ctr">
                  <a:lnSpc>
                    <a:spcPct val="75000"/>
                  </a:lnSpc>
                </a:pPr>
                <a:endParaRPr sz="3100" dirty="0">
                  <a:solidFill>
                    <a:srgbClr val="417DBF"/>
                  </a:solidFill>
                </a:endParaRPr>
              </a:p>
            </p:txBody>
          </p:sp>
        </mc:Choice>
        <mc:Fallback xmlns="">
          <p:sp>
            <p:nvSpPr>
              <p:cNvPr id="261" name="Google Shape;261;g104476d1465_0_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ctrTitle" idx="4294967295"/>
              </p:nvPr>
            </p:nvSpPr>
            <p:spPr>
              <a:xfrm>
                <a:off x="5799984" y="2140968"/>
                <a:ext cx="4925167" cy="3194455"/>
              </a:xfrm>
              <a:prstGeom prst="rect">
                <a:avLst/>
              </a:prstGeom>
              <a:blipFill>
                <a:blip r:embed="rId3"/>
                <a:stretch>
                  <a:fillRect t="-60870" b="-35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117486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MA.6.NSO.3.5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Rewrite positive rational numbers in different but equivalent forms including fractions, terminating decimals, and percentages.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6" y="1326150"/>
            <a:ext cx="1108521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6" y="1326150"/>
            <a:ext cx="1105832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5475" indent="-619125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convert between fractions and percentages.</a:t>
            </a:r>
          </a:p>
          <a:p>
            <a:pPr marL="625475" indent="-619125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25475" indent="-619125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rewrite positive rational numbers in different but equivalent forms.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76915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3.3.1 Warm-Up: Matching Puzzle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6" y="1194696"/>
            <a:ext cx="113541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Several values, expressed as decimals and percentages, are given.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Match the values in the left column with their equivalent form in the right column by drawing lines to connect them.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how you determined which values are equivalent.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3696079"/>
                  </p:ext>
                </p:extLst>
              </p:nvPr>
            </p:nvGraphicFramePr>
            <p:xfrm>
              <a:off x="4180059" y="1922385"/>
              <a:ext cx="3960000" cy="162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0.71</m:t>
                                </m:r>
                              </m:oMath>
                            </m:oMathPara>
                          </a14:m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710%</m:t>
                                </m:r>
                              </m:oMath>
                            </m:oMathPara>
                          </a14:m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7.1</m:t>
                                </m:r>
                              </m:oMath>
                            </m:oMathPara>
                          </a14:m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7.1%</m:t>
                                </m:r>
                              </m:oMath>
                            </m:oMathPara>
                          </a14:m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0.071</m:t>
                                </m:r>
                              </m:oMath>
                            </m:oMathPara>
                          </a14:m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71%</m:t>
                                </m:r>
                              </m:oMath>
                            </m:oMathPara>
                          </a14:m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3696079"/>
                  </p:ext>
                </p:extLst>
              </p:nvPr>
            </p:nvGraphicFramePr>
            <p:xfrm>
              <a:off x="4180059" y="1922385"/>
              <a:ext cx="3960000" cy="162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2326" r="-177876" b="-2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991" t="-2326" r="-1770" b="-2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104762" r="-177876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991" t="-104762" r="-1770" b="-1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200000" r="-177876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  <a:endParaRPr lang="en-PH" sz="24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991" t="-200000" r="-1770" b="-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99888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52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2" y="-2870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3.3.2 Guided Instruction: Rewriting Rational Numbers in Equivalent Forms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730266" y="1296996"/>
            <a:ext cx="11049358" cy="121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sz="2000" dirty="0">
                <a:latin typeface="Verdana"/>
                <a:ea typeface="Calibri"/>
                <a:cs typeface="Times New Roman"/>
              </a:rPr>
              <a:t>Recall from Lesson 1 that a fraction can be converted into its equivalent decimal form by dividing the </a:t>
            </a:r>
            <a:r>
              <a:rPr lang="en-US" sz="2000" b="1" i="1" dirty="0">
                <a:latin typeface="Verdana"/>
                <a:ea typeface="Calibri"/>
                <a:cs typeface="Times New Roman"/>
              </a:rPr>
              <a:t>numerator</a:t>
            </a:r>
            <a:r>
              <a:rPr lang="en-US" sz="2000" dirty="0">
                <a:latin typeface="Verdana"/>
                <a:ea typeface="Calibri"/>
                <a:cs typeface="Times New Roman"/>
              </a:rPr>
              <a:t> by the </a:t>
            </a:r>
            <a:r>
              <a:rPr lang="en-US" sz="2000" b="1" i="1" dirty="0">
                <a:latin typeface="Verdana"/>
                <a:ea typeface="Calibri"/>
                <a:cs typeface="Times New Roman"/>
              </a:rPr>
              <a:t>denominator</a:t>
            </a:r>
            <a:r>
              <a:rPr lang="en-US" sz="2000" dirty="0">
                <a:latin typeface="Verdana"/>
                <a:ea typeface="Calibri"/>
                <a:cs typeface="Times New Roman"/>
              </a:rPr>
              <a:t>.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/>
                <a:ea typeface="Calibri"/>
                <a:cs typeface="Times New Roman"/>
              </a:rPr>
              <a:t>Complete the table by rewriting the fraction into an equivalent decimal form.</a:t>
            </a:r>
            <a:endParaRPr lang="en-PH" sz="20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F7A98FFB-A3E6-7642-B96E-3A3B8C27BD7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4545678"/>
                  </p:ext>
                </p:extLst>
              </p:nvPr>
            </p:nvGraphicFramePr>
            <p:xfrm>
              <a:off x="3108000" y="2859518"/>
              <a:ext cx="5976000" cy="297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8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8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Fraction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8867" marR="388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Decimal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8867" marR="388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1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PH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H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4545678"/>
                  </p:ext>
                </p:extLst>
              </p:nvPr>
            </p:nvGraphicFramePr>
            <p:xfrm>
              <a:off x="3108000" y="2859518"/>
              <a:ext cx="5976000" cy="297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8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8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Fraction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8867" marR="388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Decimal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8867" marR="388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4" t="-68750" r="-100424" b="-2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4" t="-168750" r="-100424" b="-1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1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4" t="-268750" r="-100424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H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001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24972" y="326253"/>
                <a:ext cx="11156039" cy="5802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 startAt="2"/>
                  <a:tabLst>
                    <a:tab pos="1765300" algn="l"/>
                  </a:tabLst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Complete the table by rewriting the decimal into an equivalent percentage.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76530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76530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76530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76530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76530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76530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76530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176530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  <a:tabLst>
                    <a:tab pos="590550" algn="l"/>
                  </a:tabLst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What is the equivalent decimal form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PH" sz="2000" i="1">
                            <a:latin typeface="Cambria Math"/>
                            <a:cs typeface="Times New Roman"/>
                          </a:rPr>
                          <m:t>5</m:t>
                        </m:r>
                      </m:num>
                      <m:den>
                        <m:r>
                          <a:rPr lang="en-PH" sz="2000" i="1">
                            <a:latin typeface="Cambria Math"/>
                            <a:cs typeface="Times New Roman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  <a:tabLst>
                    <a:tab pos="590550" algn="l"/>
                  </a:tabLst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  <a:tabLst>
                    <a:tab pos="590550" algn="l"/>
                  </a:tabLst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  <a:tabLst>
                    <a:tab pos="590550" algn="l"/>
                  </a:tabLst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0.625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rewritten as a percentage?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  <a:tabLst>
                    <a:tab pos="590550" algn="l"/>
                  </a:tabLst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  <a:tabLst>
                    <a:tab pos="590550" algn="l"/>
                  </a:tabLst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  <a:tabLst>
                    <a:tab pos="590550" algn="l"/>
                  </a:tabLst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rewritten as a percentage?</a:t>
                </a:r>
                <a:endParaRPr lang="en-PH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72" y="326253"/>
                <a:ext cx="11156039" cy="5802101"/>
              </a:xfrm>
              <a:prstGeom prst="rect">
                <a:avLst/>
              </a:prstGeom>
              <a:blipFill>
                <a:blip r:embed="rId4"/>
                <a:stretch>
                  <a:fillRect l="-569" t="-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2323318"/>
                  </p:ext>
                </p:extLst>
              </p:nvPr>
            </p:nvGraphicFramePr>
            <p:xfrm>
              <a:off x="3114991" y="808665"/>
              <a:ext cx="5976000" cy="2484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8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8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Decimal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0.325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0.875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2.6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2323318"/>
                  </p:ext>
                </p:extLst>
              </p:nvPr>
            </p:nvGraphicFramePr>
            <p:xfrm>
              <a:off x="3114991" y="808665"/>
              <a:ext cx="5976000" cy="2484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8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8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Decimal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4" t="-86275" r="-100424" b="-2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4" t="-182692" r="-10042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4" t="-288235" r="-100424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3373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89114" y="292249"/>
            <a:ext cx="11317404" cy="2379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6"/>
              <a:tabLst>
                <a:tab pos="590550" algn="l"/>
              </a:tabLst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When rewriting a fraction as a percentage, why might it be helpful to first rewrite it in its equivalent decimal form?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  <a:tabLst>
                <a:tab pos="590550" algn="l"/>
              </a:tabLst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Complete the table by rewriting each value in its equivalent forms.</a:t>
            </a:r>
            <a:endParaRPr lang="en-PH" sz="2000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6306439"/>
                  </p:ext>
                </p:extLst>
              </p:nvPr>
            </p:nvGraphicFramePr>
            <p:xfrm>
              <a:off x="2421816" y="2944903"/>
              <a:ext cx="7452000" cy="32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8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Fraction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Decimal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67.5%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0.019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63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6306439"/>
                  </p:ext>
                </p:extLst>
              </p:nvPr>
            </p:nvGraphicFramePr>
            <p:xfrm>
              <a:off x="2421816" y="2944903"/>
              <a:ext cx="7452000" cy="32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8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Fraction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Decimal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60563" r="-510" b="-20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58333" r="-10051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61972" r="-200510" b="-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3590" marR="435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5552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240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0090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8500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49BEAB"/>
                </a:solidFill>
                <a:latin typeface="Verdana"/>
                <a:ea typeface="Calibri"/>
                <a:cs typeface="Times New Roman"/>
              </a:rPr>
              <a:t>3.3.3 Collaboration: Strategies for Rewriting Rational Numbers</a:t>
            </a:r>
            <a:endParaRPr lang="en-US" sz="2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731519" y="1167281"/>
                <a:ext cx="11326009" cy="5146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tabLst>
                    <a:tab pos="590550" algn="l"/>
                  </a:tabLst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Working with your partner, use the words in the bank to complete each statement. Words can be used more than once.</a:t>
                </a:r>
              </a:p>
              <a:p>
                <a:pPr>
                  <a:lnSpc>
                    <a:spcPct val="107000"/>
                  </a:lnSpc>
                  <a:tabLst>
                    <a:tab pos="59055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>
                  <a:lnSpc>
                    <a:spcPct val="107000"/>
                  </a:lnSpc>
                  <a:tabLst>
                    <a:tab pos="59055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>
                  <a:lnSpc>
                    <a:spcPct val="107000"/>
                  </a:lnSpc>
                  <a:tabLst>
                    <a:tab pos="59055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>
                  <a:lnSpc>
                    <a:spcPct val="107000"/>
                  </a:lnSpc>
                  <a:tabLst>
                    <a:tab pos="590550" algn="l"/>
                  </a:tabLst>
                </a:pPr>
                <a:endParaRPr lang="en-US" sz="20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endParaRPr lang="en-US" sz="2000" dirty="0">
                  <a:solidFill>
                    <a:srgbClr val="0D0D0D"/>
                  </a:solidFill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0D0D0D"/>
                    </a:solidFill>
                    <a:latin typeface="Verdana"/>
                    <a:ea typeface="Calibri"/>
                    <a:cs typeface="Times New Roman"/>
                  </a:rPr>
                  <a:t>To convert a ________________ to a decimal, divide the ______________ by the _______________. </a:t>
                </a: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endParaRPr lang="en-US" sz="2000" dirty="0">
                  <a:solidFill>
                    <a:srgbClr val="0D0D0D"/>
                  </a:solidFill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0D0D0D"/>
                    </a:solidFill>
                    <a:latin typeface="Verdana"/>
                    <a:ea typeface="Calibri"/>
                    <a:cs typeface="Times New Roman"/>
                  </a:rPr>
                  <a:t>Multiply the _______________ by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D0D0D"/>
                        </a:solidFill>
                        <a:latin typeface="Cambria Math"/>
                        <a:ea typeface="Calibri"/>
                        <a:cs typeface="Times New Roman"/>
                      </a:rPr>
                      <m:t>100</m:t>
                    </m:r>
                  </m:oMath>
                </a14:m>
                <a:r>
                  <a:rPr lang="en-US" sz="2000" dirty="0">
                    <a:solidFill>
                      <a:srgbClr val="0D0D0D"/>
                    </a:solidFill>
                    <a:latin typeface="Verdana"/>
                    <a:ea typeface="Calibri"/>
                    <a:cs typeface="Times New Roman"/>
                  </a:rPr>
                  <a:t> to convert a ________________ to a ______________. </a:t>
                </a:r>
                <a:endParaRPr lang="en-PH" sz="12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167281"/>
                <a:ext cx="11326009" cy="5146024"/>
              </a:xfrm>
              <a:prstGeom prst="rect">
                <a:avLst/>
              </a:prstGeom>
              <a:blipFill>
                <a:blip r:embed="rId5"/>
                <a:stretch>
                  <a:fillRect l="-560" t="-737" r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252DD22-4545-6844-9D1D-323C0B41ADF5}"/>
              </a:ext>
            </a:extLst>
          </p:cNvPr>
          <p:cNvSpPr/>
          <p:nvPr/>
        </p:nvSpPr>
        <p:spPr>
          <a:xfrm>
            <a:off x="134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276308"/>
              </p:ext>
            </p:extLst>
          </p:nvPr>
        </p:nvGraphicFramePr>
        <p:xfrm>
          <a:off x="3211268" y="2151185"/>
          <a:ext cx="6443980" cy="1350000"/>
        </p:xfrm>
        <a:graphic>
          <a:graphicData uri="http://schemas.openxmlformats.org/drawingml/2006/table">
            <a:tbl>
              <a:tblPr firstRow="1" firstCol="1" bandRow="1"/>
              <a:tblGrid>
                <a:gridCol w="1885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8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Word Bank</a:t>
                      </a:r>
                      <a:r>
                        <a:rPr lang="en-PH" sz="2000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decimal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denominator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fraction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numerator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percentage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place value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133798" y="2074292"/>
            <a:ext cx="6521450" cy="13547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>
                <a:ea typeface="Calibri"/>
                <a:cs typeface="Times New Roman"/>
              </a:rPr>
              <a:t> </a:t>
            </a:r>
            <a:endParaRPr lang="en-PH" sz="1100">
              <a:ea typeface="Calibri"/>
              <a:cs typeface="Times New Roman"/>
            </a:endParaRP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2112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438940" y="305068"/>
                <a:ext cx="11528941" cy="5738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r>
                  <a:rPr lang="en-US" sz="2000" dirty="0">
                    <a:solidFill>
                      <a:srgbClr val="0D0D0D"/>
                    </a:solidFill>
                    <a:latin typeface="Verdana"/>
                    <a:ea typeface="Calibri"/>
                    <a:cs typeface="Times New Roman"/>
                  </a:rPr>
                  <a:t>To rewrite a ________________ as a ________________, divide the ____________ by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D0D0D"/>
                        </a:solidFill>
                        <a:latin typeface="Cambria Math"/>
                        <a:ea typeface="Calibri"/>
                        <a:cs typeface="Times New Roman"/>
                      </a:rPr>
                      <m:t>100</m:t>
                    </m:r>
                  </m:oMath>
                </a14:m>
                <a:r>
                  <a:rPr lang="en-US" sz="2000" dirty="0">
                    <a:solidFill>
                      <a:srgbClr val="0D0D0D"/>
                    </a:solidFill>
                    <a:latin typeface="Verdana"/>
                    <a:ea typeface="Calibri"/>
                    <a:cs typeface="Times New Roman"/>
                  </a:rPr>
                  <a:t>. </a:t>
                </a:r>
                <a:endParaRPr lang="en-PH" sz="2000" dirty="0">
                  <a:latin typeface="Calibri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endParaRPr lang="en-US" sz="2000" dirty="0">
                  <a:solidFill>
                    <a:srgbClr val="0D0D0D"/>
                  </a:solidFill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endParaRPr lang="en-US" sz="2000" dirty="0">
                  <a:solidFill>
                    <a:srgbClr val="0D0D0D"/>
                  </a:solidFill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r>
                  <a:rPr lang="en-US" sz="2000" dirty="0">
                    <a:solidFill>
                      <a:srgbClr val="0D0D0D"/>
                    </a:solidFill>
                    <a:latin typeface="Verdana"/>
                    <a:ea typeface="Calibri"/>
                    <a:cs typeface="Times New Roman"/>
                  </a:rPr>
                  <a:t>Use the _______________ of the final digit to determine the denominator of the decimal when rewriting a ______________ as an equivalent ___________. </a:t>
                </a:r>
                <a:endParaRPr lang="en-PH" sz="2000" dirty="0">
                  <a:latin typeface="Calibri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endParaRPr lang="en-US" sz="2000" dirty="0">
                  <a:solidFill>
                    <a:srgbClr val="0D0D0D"/>
                  </a:solidFill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endParaRPr lang="en-US" sz="2000" dirty="0">
                  <a:solidFill>
                    <a:srgbClr val="0D0D0D"/>
                  </a:solidFill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r>
                  <a:rPr lang="en-US" sz="2000" dirty="0">
                    <a:solidFill>
                      <a:srgbClr val="0D0D0D"/>
                    </a:solidFill>
                    <a:latin typeface="Verdana"/>
                    <a:ea typeface="Calibri"/>
                    <a:cs typeface="Times New Roman"/>
                  </a:rPr>
                  <a:t>An equivalent fraction with a _____________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D0D0D"/>
                        </a:solidFill>
                        <a:latin typeface="Cambria Math"/>
                        <a:ea typeface="Calibri"/>
                        <a:cs typeface="Times New Roman"/>
                      </a:rPr>
                      <m:t>100</m:t>
                    </m:r>
                  </m:oMath>
                </a14:m>
                <a:r>
                  <a:rPr lang="en-US" sz="2000" dirty="0">
                    <a:solidFill>
                      <a:srgbClr val="0D0D0D"/>
                    </a:solidFill>
                    <a:latin typeface="Verdana"/>
                    <a:ea typeface="Calibri"/>
                    <a:cs typeface="Times New Roman"/>
                  </a:rPr>
                  <a:t> can be used to convert a _____________ to a percentage. </a:t>
                </a:r>
                <a:br>
                  <a:rPr lang="en-US" sz="2000" dirty="0">
                    <a:solidFill>
                      <a:srgbClr val="0D0D0D"/>
                    </a:solidFill>
                    <a:latin typeface="Verdana"/>
                    <a:ea typeface="Calibri"/>
                    <a:cs typeface="Times New Roman"/>
                  </a:rPr>
                </a:br>
                <a:endParaRPr lang="en-PH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40" y="305068"/>
                <a:ext cx="11528941" cy="5738494"/>
              </a:xfrm>
              <a:prstGeom prst="rect">
                <a:avLst/>
              </a:prstGeom>
              <a:blipFill>
                <a:blip r:embed="rId4"/>
                <a:stretch>
                  <a:fillRect l="-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3866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840" y="-3273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26B6D4"/>
                </a:solidFill>
                <a:latin typeface="Verdana"/>
                <a:ea typeface="Calibri"/>
                <a:cs typeface="Times New Roman"/>
              </a:rPr>
              <a:t>3.3.4 Guided Practice: Rewriting Rational Numbers in Equivalent Forms</a:t>
            </a:r>
            <a:endParaRPr lang="en-US" sz="28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731520" y="1318060"/>
            <a:ext cx="11048104" cy="466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Complete the table by rewriting each value in its equivalent forms.</a:t>
            </a:r>
            <a:endParaRPr lang="en-PH" sz="24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A3E0058B-C607-174E-B439-E4D3192A9DB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706969"/>
                  </p:ext>
                </p:extLst>
              </p:nvPr>
            </p:nvGraphicFramePr>
            <p:xfrm>
              <a:off x="2316000" y="2151490"/>
              <a:ext cx="7560000" cy="34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Fraction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Decimal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libri"/>
                                    <a:cs typeface="Times New Roman"/>
                                  </a:rPr>
                                  <m:t>0.375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37.5%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0.22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4%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706969"/>
                  </p:ext>
                </p:extLst>
              </p:nvPr>
            </p:nvGraphicFramePr>
            <p:xfrm>
              <a:off x="2316000" y="2151490"/>
              <a:ext cx="7560000" cy="34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Fraction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Decimal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 Form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3" t="-78571" r="-200503" b="-3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10" t="-78571" r="-101515" b="-3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78571" r="-1005" b="-3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10" t="-175439" r="-101515" b="-20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275439" r="-1005" b="-10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3" t="-375439" r="-200503" b="-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35786" marR="3578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48857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7332" y="172229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41266B"/>
                </a:solidFill>
                <a:latin typeface="Verdana"/>
                <a:ea typeface="Calibri"/>
                <a:cs typeface="Times New Roman"/>
              </a:rPr>
              <a:t>3.3.5 Wrap-Up: Ticket Out </a:t>
            </a:r>
            <a:br>
              <a:rPr lang="en-US" sz="3600" b="1" dirty="0">
                <a:solidFill>
                  <a:srgbClr val="41266B"/>
                </a:solidFill>
                <a:latin typeface="Verdana"/>
                <a:ea typeface="Calibri"/>
                <a:cs typeface="Times New Roman"/>
              </a:rPr>
            </a:br>
            <a:r>
              <a:rPr lang="en-US" sz="3600" b="1" dirty="0">
                <a:solidFill>
                  <a:srgbClr val="41266B"/>
                </a:solidFill>
                <a:latin typeface="Verdana"/>
                <a:ea typeface="Calibri"/>
                <a:cs typeface="Times New Roman"/>
              </a:rPr>
              <a:t>the Door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356616" y="1484637"/>
            <a:ext cx="11414043" cy="3751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SzPct val="100000"/>
              <a:buFont typeface="+mj-lt"/>
              <a:buAutoNum type="arabicPeriod"/>
            </a:pPr>
            <a:r>
              <a:rPr lang="en-US" sz="2400" dirty="0">
                <a:latin typeface="Verdana"/>
                <a:ea typeface="Calibri"/>
                <a:cs typeface="Times New Roman"/>
              </a:rPr>
              <a:t>Rewrite each value as an equivalent percentage.</a:t>
            </a:r>
            <a:br>
              <a:rPr lang="en-US" sz="2400" dirty="0">
                <a:latin typeface="Verdana"/>
                <a:ea typeface="Calibri"/>
                <a:cs typeface="Times New Roman"/>
              </a:rPr>
            </a:br>
            <a:endParaRPr lang="en-US" sz="2400" dirty="0">
              <a:latin typeface="Verdana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SzPct val="100000"/>
              <a:buFont typeface="+mj-lt"/>
              <a:buAutoNum type="arabicPeriod"/>
            </a:pPr>
            <a:endParaRPr lang="en-US" sz="2400" dirty="0">
              <a:latin typeface="Verdana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SzPct val="100000"/>
              <a:buFont typeface="+mj-lt"/>
              <a:buAutoNum type="arabicPeriod"/>
            </a:pPr>
            <a:endParaRPr lang="en-US" sz="2400" dirty="0">
              <a:latin typeface="Verdana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SzPct val="100000"/>
              <a:buFont typeface="+mj-lt"/>
              <a:buAutoNum type="arabicPeriod"/>
            </a:pPr>
            <a:endParaRPr lang="en-US" sz="2400" dirty="0">
              <a:latin typeface="Verdana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SzPct val="100000"/>
              <a:buFont typeface="+mj-lt"/>
              <a:buAutoNum type="arabicPeriod"/>
            </a:pPr>
            <a:endParaRPr lang="en-US" sz="2400" dirty="0">
              <a:latin typeface="Verdana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SzPct val="100000"/>
              <a:buFont typeface="+mj-lt"/>
              <a:buAutoNum type="arabicPeriod"/>
            </a:pPr>
            <a:endParaRPr lang="en-US" sz="2400" dirty="0">
              <a:latin typeface="Verdana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Rewrite each value as an equivalent fraction.</a:t>
            </a:r>
            <a:endParaRPr lang="en-PH" sz="2400" dirty="0">
              <a:latin typeface="Calibri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SzPct val="100000"/>
              <a:buFont typeface="+mj-lt"/>
              <a:buAutoNum type="arabicPeriod"/>
            </a:pPr>
            <a:endParaRPr lang="en-PH" sz="24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2149751"/>
                  </p:ext>
                </p:extLst>
              </p:nvPr>
            </p:nvGraphicFramePr>
            <p:xfrm>
              <a:off x="1696632" y="2120887"/>
              <a:ext cx="7560000" cy="77857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a.  </a:t>
                          </a:r>
                          <a14:m>
                            <m:oMath xmlns:m="http://schemas.openxmlformats.org/officeDocument/2006/math">
                              <m:r>
                                <a:rPr lang="en-PH" sz="2400" i="1" dirty="0" smtClean="0">
                                  <a:latin typeface="Cambria Math"/>
                                </a:rPr>
                                <m:t>0.02</m:t>
                              </m:r>
                            </m:oMath>
                          </a14:m>
                          <a:endParaRPr lang="en-PH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PH" sz="2400" b="0" i="0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Verdana" pitchFamily="34" charset="0"/>
                                    <a:ea typeface="Verdana" pitchFamily="34" charset="0"/>
                                    <a:cs typeface="Times New Roman"/>
                                    <a:sym typeface="Arial"/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kumimoji="0" lang="en-PH" sz="2400" b="0" i="0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Verdana" pitchFamily="34" charset="0"/>
                                    <a:ea typeface="Verdana" pitchFamily="34" charset="0"/>
                                    <a:cs typeface="Times New Roman"/>
                                    <a:sym typeface="Arial"/>
                                  </a:rPr>
                                  <m:t>.  </m:t>
                                </m:r>
                                <m:f>
                                  <m:fPr>
                                    <m:ctrlPr>
                                      <a:rPr kumimoji="0" lang="en-PH" sz="2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PH" sz="2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Times New Roman"/>
                                        <a:cs typeface="Times New Roman"/>
                                        <a:sym typeface="Arial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PH" sz="2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Times New Roman"/>
                                        <a:cs typeface="Times New Roman"/>
                                        <a:sym typeface="Arial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PH" sz="2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Arial"/>
                            <a:sym typeface="Arial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PH" sz="2400" b="0" i="0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Verdana" pitchFamily="34" charset="0"/>
                                    <a:ea typeface="Verdana" pitchFamily="34" charset="0"/>
                                    <a:cs typeface="Times New Roman"/>
                                    <a:sym typeface="Arial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kumimoji="0" lang="en-PH" sz="2400" b="0" i="0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Verdana" pitchFamily="34" charset="0"/>
                                    <a:ea typeface="Verdana" pitchFamily="34" charset="0"/>
                                    <a:cs typeface="Times New Roman"/>
                                    <a:sym typeface="Arial"/>
                                  </a:rPr>
                                  <m:t>. </m:t>
                                </m:r>
                                <m:r>
                                  <a:rPr kumimoji="0" lang="en-PH" sz="2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Verdana" pitchFamily="34" charset="0"/>
                                    <a:cs typeface="Times New Roman"/>
                                    <a:sym typeface="Arial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kumimoji="0" lang="en-PH" sz="2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PH" sz="24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Times New Roman"/>
                                        <a:cs typeface="Times New Roman"/>
                                        <a:sym typeface="Arial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US" sz="24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Times New Roman"/>
                                        <a:cs typeface="Times New Roman"/>
                                        <a:sym typeface="Arial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PH" sz="2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Arial"/>
                            <a:sym typeface="Arial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2149751"/>
                  </p:ext>
                </p:extLst>
              </p:nvPr>
            </p:nvGraphicFramePr>
            <p:xfrm>
              <a:off x="1696632" y="2120887"/>
              <a:ext cx="7560000" cy="77857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785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200000" b="-7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505" r="-101010" b="-7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99497" r="-503" b="-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6662307"/>
                  </p:ext>
                </p:extLst>
              </p:nvPr>
            </p:nvGraphicFramePr>
            <p:xfrm>
              <a:off x="1696632" y="5177717"/>
              <a:ext cx="7560000" cy="36042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lvl="0" indent="0" algn="l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a.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67%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b. </a:t>
                          </a:r>
                          <a14:m>
                            <m:oMath xmlns:m="http://schemas.openxmlformats.org/officeDocument/2006/math">
                              <m:r>
                                <a:rPr lang="en-PH" sz="2400" b="0" i="0" smtClean="0">
                                  <a:effectLst/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0.375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c.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PH" sz="2400" b="0" i="0" smtClean="0">
                                  <a:effectLst/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35.65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6662307"/>
                  </p:ext>
                </p:extLst>
              </p:nvPr>
            </p:nvGraphicFramePr>
            <p:xfrm>
              <a:off x="1696632" y="5177717"/>
              <a:ext cx="7560000" cy="36042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04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26667" r="-200000" b="-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505" t="-26667" r="-101010" b="-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99497" t="-26667" r="-503" b="-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661</Words>
  <Application>Microsoft Office PowerPoint</Application>
  <PresentationFormat>Widescreen</PresentationFormat>
  <Paragraphs>178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Verdana</vt:lpstr>
      <vt:lpstr>Century Gothic</vt:lpstr>
      <vt:lpstr>Calibri</vt:lpstr>
      <vt:lpstr>Arial Black</vt:lpstr>
      <vt:lpstr>Cambria Math</vt:lpstr>
      <vt:lpstr>Arial</vt:lpstr>
      <vt:lpstr>1_Office Theme</vt:lpstr>
      <vt:lpstr>6th Grade Math  Unit 3, Lesson 3  Equivalent Conversions: Fractions ↔ Percentages – Part 2  Volume 1, pg. 103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Guided Practice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25</cp:revision>
  <dcterms:created xsi:type="dcterms:W3CDTF">2015-03-17T18:51:18Z</dcterms:created>
  <dcterms:modified xsi:type="dcterms:W3CDTF">2022-06-05T00:06:19Z</dcterms:modified>
</cp:coreProperties>
</file>