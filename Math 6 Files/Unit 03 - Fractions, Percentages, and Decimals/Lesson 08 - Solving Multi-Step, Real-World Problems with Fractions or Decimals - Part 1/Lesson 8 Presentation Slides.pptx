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85" r:id="rId4"/>
    <p:sldId id="286" r:id="rId5"/>
    <p:sldId id="261" r:id="rId6"/>
    <p:sldId id="287" r:id="rId7"/>
    <p:sldId id="289" r:id="rId8"/>
    <p:sldId id="290" r:id="rId9"/>
    <p:sldId id="308" r:id="rId10"/>
    <p:sldId id="311" r:id="rId11"/>
    <p:sldId id="302" r:id="rId12"/>
    <p:sldId id="303" r:id="rId13"/>
    <p:sldId id="309" r:id="rId14"/>
    <p:sldId id="313" r:id="rId15"/>
    <p:sldId id="306" r:id="rId16"/>
    <p:sldId id="307" r:id="rId17"/>
  </p:sldIdLst>
  <p:sldSz cx="12192000" cy="6858000"/>
  <p:notesSz cx="6858000" cy="9144000"/>
  <p:embeddedFontLst>
    <p:embeddedFont>
      <p:font typeface="Cambria Math" pitchFamily="18" charset="0"/>
      <p:regular r:id="rId19"/>
    </p:embeddedFont>
    <p:embeddedFont>
      <p:font typeface="Arial Black" pitchFamily="34" charset="0"/>
      <p:bold r:id="rId20"/>
    </p:embeddedFont>
    <p:embeddedFont>
      <p:font typeface="Verdana" pitchFamily="34" charset="0"/>
      <p:regular r:id="rId21"/>
      <p:bold r:id="rId22"/>
      <p:italic r:id="rId23"/>
      <p:boldItalic r:id="rId24"/>
    </p:embeddedFont>
    <p:embeddedFont>
      <p:font typeface="Calibri" pitchFamily="34" charset="0"/>
      <p:regular r:id="rId25"/>
      <p:bold r:id="rId26"/>
      <p:italic r:id="rId27"/>
      <p:boldItalic r:id="rId28"/>
    </p:embeddedFont>
    <p:embeddedFont>
      <p:font typeface="Century Gothic"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46"/>
    <p:restoredTop sz="94719" autoAdjust="0"/>
  </p:normalViewPr>
  <p:slideViewPr>
    <p:cSldViewPr snapToGrid="0">
      <p:cViewPr varScale="1">
        <p:scale>
          <a:sx n="80" d="100"/>
          <a:sy n="80" d="100"/>
        </p:scale>
        <p:origin x="-864"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253676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54045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540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635312" y="2054275"/>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3, Lesson 8</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Multi Step, Real-World Problems with Fractions or Decimals – Part 1</a:t>
            </a:r>
            <a:br>
              <a:rPr lang="en-US" sz="36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3916"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5" y="1278045"/>
            <a:ext cx="11184643"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MA.6.NSO.2.3</a:t>
            </a:r>
          </a:p>
          <a:p>
            <a:pPr indent="0">
              <a:buNone/>
            </a:pPr>
            <a:r>
              <a:rPr lang="en-US" sz="3500" dirty="0">
                <a:solidFill>
                  <a:schemeClr val="tx1"/>
                </a:solidFill>
                <a:latin typeface="Verdana"/>
                <a:ea typeface="Verdana"/>
                <a:cs typeface="Verdana"/>
                <a:sym typeface="Verdana"/>
              </a:rPr>
              <a:t>Solve multi-step, real-world problems involving any of the four operations with positive multi-digit decimals or positive fractions, including mixed numbers.</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875"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6" y="1326150"/>
            <a:ext cx="107505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xmlns="" id="{0EC4A24D-AC58-5143-9A1A-1E71E28DFC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5" y="1326150"/>
            <a:ext cx="111846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solve three-step, real-world problems with decimals or fractions.</a:t>
            </a:r>
          </a:p>
        </p:txBody>
      </p:sp>
      <p:sp>
        <p:nvSpPr>
          <p:cNvPr id="8" name="Google Shape;278;g104476d1465_1_17">
            <a:extLst>
              <a:ext uri="{FF2B5EF4-FFF2-40B4-BE49-F238E27FC236}">
                <a16:creationId xmlns:a16="http://schemas.microsoft.com/office/drawing/2014/main" xmlns=""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3916" y="91046"/>
            <a:ext cx="80193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41266B"/>
                </a:solidFill>
                <a:latin typeface="Verdana"/>
                <a:ea typeface="Calibri"/>
                <a:cs typeface="Times New Roman"/>
              </a:rPr>
              <a:t>3.8.1 Warm-Up: Career – Body Structures Engineer</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730266" y="1447675"/>
            <a:ext cx="11129225" cy="3521733"/>
          </a:xfrm>
          <a:prstGeom prst="rect">
            <a:avLst/>
          </a:prstGeom>
          <a:noFill/>
        </p:spPr>
        <p:txBody>
          <a:bodyPr wrap="square" rtlCol="0">
            <a:spAutoFit/>
          </a:bodyPr>
          <a:lstStyle/>
          <a:p>
            <a:pPr>
              <a:lnSpc>
                <a:spcPct val="107000"/>
              </a:lnSpc>
              <a:spcAft>
                <a:spcPts val="1200"/>
              </a:spcAft>
            </a:pPr>
            <a:r>
              <a:rPr lang="en-US" sz="2000" dirty="0">
                <a:latin typeface="Verdana"/>
                <a:ea typeface="Calibri"/>
                <a:cs typeface="Times New Roman"/>
              </a:rPr>
              <a:t>Rebecca Lees, a body structures engineer from Jaguar Land Rover, works on high-profile projects and talks about how she came to pursue a career in automotive, her educational background, and how an international work placement played a key role in setting her on a path to her career.</a:t>
            </a:r>
          </a:p>
          <a:p>
            <a:pPr marL="457200" indent="-457200">
              <a:lnSpc>
                <a:spcPct val="107000"/>
              </a:lnSpc>
              <a:buFont typeface="+mj-lt"/>
              <a:buAutoNum type="arabicPeriod"/>
            </a:pPr>
            <a:r>
              <a:rPr lang="en-US" sz="2000" dirty="0">
                <a:latin typeface="Verdana"/>
                <a:ea typeface="Calibri"/>
                <a:cs typeface="Times New Roman"/>
              </a:rPr>
              <a:t>What did you find interesting about body structures engineers?</a:t>
            </a:r>
          </a:p>
          <a:p>
            <a:pPr marL="457200" indent="-457200">
              <a:lnSpc>
                <a:spcPct val="107000"/>
              </a:lnSpc>
              <a:buFont typeface="+mj-lt"/>
              <a:buAutoNum type="arabicPeriod"/>
            </a:pPr>
            <a:endParaRPr lang="en-US" sz="2000" dirty="0">
              <a:latin typeface="Verdana"/>
              <a:ea typeface="Calibri"/>
              <a:cs typeface="Times New Roman"/>
            </a:endParaRPr>
          </a:p>
          <a:p>
            <a:pPr marL="457200" indent="-457200">
              <a:lnSpc>
                <a:spcPct val="107000"/>
              </a:lnSpc>
              <a:buFont typeface="+mj-lt"/>
              <a:buAutoNum type="arabicPeriod"/>
            </a:pPr>
            <a:endParaRPr lang="en-US" sz="2000" dirty="0">
              <a:latin typeface="Verdana"/>
              <a:ea typeface="Calibri"/>
              <a:cs typeface="Times New Roman"/>
            </a:endParaRPr>
          </a:p>
          <a:p>
            <a:pPr marL="457200" indent="-457200">
              <a:lnSpc>
                <a:spcPct val="107000"/>
              </a:lnSpc>
              <a:buFont typeface="+mj-lt"/>
              <a:buAutoNum type="arabicPeriod"/>
            </a:pPr>
            <a:r>
              <a:rPr lang="en-US" sz="2000" dirty="0">
                <a:latin typeface="Verdana"/>
                <a:ea typeface="Calibri"/>
                <a:cs typeface="Times New Roman"/>
              </a:rPr>
              <a:t>Structural engineers focus on the structure of a building or a bridge. The structures should withstand the stresses and pressures of the environment. What stresses or pressures should the body of a car be able to withstand?  </a:t>
            </a:r>
            <a:endParaRPr lang="en-PH" sz="2000" dirty="0">
              <a:latin typeface="Calibri"/>
              <a:ea typeface="Calibri"/>
              <a:cs typeface="Times New Roman"/>
            </a:endParaRPr>
          </a:p>
        </p:txBody>
      </p:sp>
      <p:sp>
        <p:nvSpPr>
          <p:cNvPr id="9" name="Google Shape;278;g104476d1465_1_17">
            <a:extLst>
              <a:ext uri="{FF2B5EF4-FFF2-40B4-BE49-F238E27FC236}">
                <a16:creationId xmlns:a16="http://schemas.microsoft.com/office/drawing/2014/main" xmlns="" id="{C2564F7E-689E-724F-BBC4-EC8DFC52E6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9888" y="2766150"/>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37332" y="30073"/>
            <a:ext cx="8019300"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26B6D4"/>
                </a:solidFill>
                <a:latin typeface="Verdana"/>
                <a:ea typeface="Calibri"/>
                <a:cs typeface="Times New Roman"/>
              </a:rPr>
              <a:t>3.8.2 Guided Instruction: Three-Step Rational Problems</a:t>
            </a:r>
            <a:endParaRPr lang="en-US" sz="36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730265" y="1279085"/>
                <a:ext cx="10800319" cy="1277850"/>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Times New Roman"/>
                    <a:cs typeface="Times New Roman"/>
                  </a:rPr>
                  <a:t>For his recital, a student practiced the piano </a:t>
                </a:r>
                <a14:m>
                  <m:oMath xmlns:m="http://schemas.openxmlformats.org/officeDocument/2006/math">
                    <m:r>
                      <a:rPr lang="en-US" sz="2400" i="1">
                        <a:latin typeface="Cambria Math"/>
                        <a:ea typeface="Times New Roman"/>
                        <a:cs typeface="Times New Roman"/>
                      </a:rPr>
                      <m:t>2.18</m:t>
                    </m:r>
                  </m:oMath>
                </a14:m>
                <a:r>
                  <a:rPr lang="en-US" sz="2400" dirty="0">
                    <a:latin typeface="Verdana"/>
                    <a:ea typeface="Times New Roman"/>
                    <a:cs typeface="Times New Roman"/>
                  </a:rPr>
                  <a:t> hours each day for </a:t>
                </a:r>
                <a14:m>
                  <m:oMath xmlns:m="http://schemas.openxmlformats.org/officeDocument/2006/math">
                    <m:r>
                      <a:rPr lang="en-US" sz="2400" i="1">
                        <a:latin typeface="Cambria Math"/>
                        <a:ea typeface="Times New Roman"/>
                        <a:cs typeface="Times New Roman"/>
                      </a:rPr>
                      <m:t>5</m:t>
                    </m:r>
                  </m:oMath>
                </a14:m>
                <a:r>
                  <a:rPr lang="en-US" sz="2400" dirty="0">
                    <a:latin typeface="Verdana"/>
                    <a:ea typeface="Times New Roman"/>
                    <a:cs typeface="Times New Roman"/>
                  </a:rPr>
                  <a:t> days last week. This week, he practiced </a:t>
                </a:r>
                <a14:m>
                  <m:oMath xmlns:m="http://schemas.openxmlformats.org/officeDocument/2006/math">
                    <m:r>
                      <a:rPr lang="en-US" sz="2400" i="1">
                        <a:latin typeface="Cambria Math"/>
                        <a:ea typeface="Times New Roman"/>
                        <a:cs typeface="Times New Roman"/>
                      </a:rPr>
                      <m:t>0.75</m:t>
                    </m:r>
                  </m:oMath>
                </a14:m>
                <a:r>
                  <a:rPr lang="en-US" sz="2400" dirty="0">
                    <a:latin typeface="Verdana"/>
                    <a:ea typeface="Times New Roman"/>
                    <a:cs typeface="Times New Roman"/>
                  </a:rPr>
                  <a:t> hours each day for </a:t>
                </a:r>
                <a14:m>
                  <m:oMath xmlns:m="http://schemas.openxmlformats.org/officeDocument/2006/math">
                    <m:r>
                      <a:rPr lang="en-US" sz="2400" i="1">
                        <a:latin typeface="Cambria Math"/>
                        <a:ea typeface="Times New Roman"/>
                        <a:cs typeface="Times New Roman"/>
                      </a:rPr>
                      <m:t>4</m:t>
                    </m:r>
                  </m:oMath>
                </a14:m>
                <a:r>
                  <a:rPr lang="en-US" sz="2400" dirty="0">
                    <a:latin typeface="Verdana"/>
                    <a:ea typeface="Times New Roman"/>
                    <a:cs typeface="Times New Roman"/>
                  </a:rPr>
                  <a:t> days. </a:t>
                </a:r>
                <a:r>
                  <a:rPr lang="en-US" sz="2400" dirty="0" smtClean="0">
                    <a:latin typeface="Verdana"/>
                    <a:ea typeface="Times New Roman"/>
                    <a:cs typeface="Times New Roman"/>
                  </a:rPr>
                  <a:t>How </a:t>
                </a:r>
                <a:r>
                  <a:rPr lang="en-US" sz="2400" dirty="0">
                    <a:latin typeface="Verdana"/>
                    <a:ea typeface="Times New Roman"/>
                    <a:cs typeface="Times New Roman"/>
                  </a:rPr>
                  <a:t>many hours did he spend practicing?</a:t>
                </a:r>
                <a:endParaRPr lang="en-PH" sz="2400" dirty="0">
                  <a:latin typeface="Calibri"/>
                  <a:ea typeface="Calibri"/>
                  <a:cs typeface="Times New Roman"/>
                </a:endParaRP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730265" y="1279085"/>
                <a:ext cx="10800319" cy="1277850"/>
              </a:xfrm>
              <a:prstGeom prst="rect">
                <a:avLst/>
              </a:prstGeom>
              <a:blipFill rotWithShape="1">
                <a:blip r:embed="rId5"/>
                <a:stretch>
                  <a:fillRect l="-903" t="-4785" r="-790" b="-7656"/>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F7A98FFB-A3E6-7642-B96E-3A3B8C27BD7F}"/>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327426" y="355923"/>
                <a:ext cx="11203686" cy="4856714"/>
              </a:xfrm>
              <a:prstGeom prst="rect">
                <a:avLst/>
              </a:prstGeom>
              <a:noFill/>
            </p:spPr>
            <p:txBody>
              <a:bodyPr wrap="square" rtlCol="0">
                <a:spAutoFit/>
              </a:bodyPr>
              <a:lstStyle/>
              <a:p>
                <a:pPr marL="457200" indent="-457200">
                  <a:lnSpc>
                    <a:spcPct val="107000"/>
                  </a:lnSpc>
                  <a:spcAft>
                    <a:spcPts val="1200"/>
                  </a:spcAft>
                  <a:buFont typeface="+mj-lt"/>
                  <a:buAutoNum type="arabicPeriod" startAt="2"/>
                </a:pPr>
                <a:r>
                  <a:rPr lang="en-US" sz="2000" dirty="0">
                    <a:latin typeface="Verdana"/>
                    <a:ea typeface="Times New Roman"/>
                    <a:cs typeface="Times New Roman"/>
                  </a:rPr>
                  <a:t>The Across Florida 200 Trail Run is an event where participants run </a:t>
                </a:r>
                <a14:m>
                  <m:oMath xmlns:m="http://schemas.openxmlformats.org/officeDocument/2006/math">
                    <m:r>
                      <a:rPr lang="en-US" sz="2000" i="1">
                        <a:latin typeface="Cambria Math"/>
                        <a:ea typeface="Times New Roman"/>
                        <a:cs typeface="Times New Roman"/>
                      </a:rPr>
                      <m:t>200</m:t>
                    </m:r>
                  </m:oMath>
                </a14:m>
                <a:r>
                  <a:rPr lang="en-US" sz="2000" dirty="0">
                    <a:latin typeface="Verdana"/>
                    <a:ea typeface="Times New Roman"/>
                    <a:cs typeface="Times New Roman"/>
                  </a:rPr>
                  <a:t> miles of trails between the Withlacoochee Bay Trail and Crescent Beach. To prepare for the Across Florida 200 Trail Run, Walt ran </a:t>
                </a:r>
                <a14:m>
                  <m:oMath xmlns:m="http://schemas.openxmlformats.org/officeDocument/2006/math">
                    <m:r>
                      <a:rPr lang="en-US" sz="2000" i="1">
                        <a:latin typeface="Cambria Math"/>
                        <a:ea typeface="Times New Roman"/>
                        <a:cs typeface="Times New Roman"/>
                      </a:rPr>
                      <m:t>2.18</m:t>
                    </m:r>
                  </m:oMath>
                </a14:m>
                <a:r>
                  <a:rPr lang="en-US" sz="2000" dirty="0">
                    <a:latin typeface="Verdana"/>
                    <a:ea typeface="Times New Roman"/>
                    <a:cs typeface="Times New Roman"/>
                  </a:rPr>
                  <a:t> hours each day for </a:t>
                </a:r>
                <a14:m>
                  <m:oMath xmlns:m="http://schemas.openxmlformats.org/officeDocument/2006/math">
                    <m:r>
                      <a:rPr lang="en-US" sz="2000" i="1">
                        <a:latin typeface="Cambria Math"/>
                        <a:ea typeface="Times New Roman"/>
                        <a:cs typeface="Times New Roman"/>
                      </a:rPr>
                      <m:t>5</m:t>
                    </m:r>
                  </m:oMath>
                </a14:m>
                <a:r>
                  <a:rPr lang="en-US" sz="2000" dirty="0">
                    <a:latin typeface="Verdana"/>
                    <a:ea typeface="Times New Roman"/>
                    <a:cs typeface="Times New Roman"/>
                  </a:rPr>
                  <a:t> days last week. This week, he ran </a:t>
                </a:r>
                <a14:m>
                  <m:oMath xmlns:m="http://schemas.openxmlformats.org/officeDocument/2006/math">
                    <m:r>
                      <a:rPr lang="en-US" sz="2000" i="1">
                        <a:latin typeface="Cambria Math"/>
                        <a:ea typeface="Times New Roman"/>
                        <a:cs typeface="Times New Roman"/>
                      </a:rPr>
                      <m:t>2.75</m:t>
                    </m:r>
                  </m:oMath>
                </a14:m>
                <a:r>
                  <a:rPr lang="en-US" sz="2000" dirty="0">
                    <a:latin typeface="Verdana"/>
                    <a:ea typeface="Times New Roman"/>
                    <a:cs typeface="Times New Roman"/>
                  </a:rPr>
                  <a:t> hours each day for </a:t>
                </a:r>
                <a14:m>
                  <m:oMath xmlns:m="http://schemas.openxmlformats.org/officeDocument/2006/math">
                    <m:r>
                      <a:rPr lang="en-US" sz="2000" i="1">
                        <a:latin typeface="Cambria Math"/>
                        <a:ea typeface="Times New Roman"/>
                        <a:cs typeface="Times New Roman"/>
                      </a:rPr>
                      <m:t>4</m:t>
                    </m:r>
                  </m:oMath>
                </a14:m>
                <a:r>
                  <a:rPr lang="en-US" sz="2000" dirty="0">
                    <a:latin typeface="Verdana"/>
                    <a:ea typeface="Times New Roman"/>
                    <a:cs typeface="Times New Roman"/>
                  </a:rPr>
                  <a:t> days. Walt runs at an average pace if </a:t>
                </a:r>
                <a14:m>
                  <m:oMath xmlns:m="http://schemas.openxmlformats.org/officeDocument/2006/math">
                    <m:r>
                      <a:rPr lang="en-US" sz="2000" i="1">
                        <a:latin typeface="Cambria Math"/>
                        <a:ea typeface="Times New Roman"/>
                        <a:cs typeface="Times New Roman"/>
                      </a:rPr>
                      <m:t>6.23</m:t>
                    </m:r>
                  </m:oMath>
                </a14:m>
                <a:r>
                  <a:rPr lang="en-US" sz="2000" dirty="0">
                    <a:latin typeface="Verdana"/>
                    <a:ea typeface="Times New Roman"/>
                    <a:cs typeface="Times New Roman"/>
                  </a:rPr>
                  <a:t> miles per hour.</a:t>
                </a:r>
              </a:p>
              <a:p>
                <a:pPr marL="893763" indent="-441325">
                  <a:lnSpc>
                    <a:spcPct val="107000"/>
                  </a:lnSpc>
                  <a:buFont typeface="+mj-lt"/>
                  <a:buAutoNum type="alphaLcPeriod"/>
                </a:pPr>
                <a:r>
                  <a:rPr lang="en-US" sz="2000" dirty="0">
                    <a:latin typeface="Verdana"/>
                    <a:ea typeface="Times New Roman"/>
                    <a:cs typeface="Times New Roman"/>
                  </a:rPr>
                  <a:t>How many hours has Walt run over the last two weeks?</a:t>
                </a:r>
                <a:endParaRPr lang="en-PH" sz="2000" dirty="0">
                  <a:latin typeface="Calibri"/>
                  <a:ea typeface="Calibri"/>
                  <a:cs typeface="Times New Roman"/>
                </a:endParaRPr>
              </a:p>
              <a:p>
                <a:pPr marL="893763" indent="-441325">
                  <a:lnSpc>
                    <a:spcPct val="107000"/>
                  </a:lnSpc>
                  <a:buFont typeface="+mj-lt"/>
                  <a:buAutoNum type="alphaLcPeriod"/>
                </a:pPr>
                <a:endParaRPr lang="en-US" sz="2000" dirty="0">
                  <a:latin typeface="Verdana"/>
                  <a:ea typeface="Times New Roman"/>
                  <a:cs typeface="Times New Roman"/>
                </a:endParaRPr>
              </a:p>
              <a:p>
                <a:pPr marL="893763" indent="-441325">
                  <a:lnSpc>
                    <a:spcPct val="107000"/>
                  </a:lnSpc>
                  <a:buFont typeface="+mj-lt"/>
                  <a:buAutoNum type="alphaLcPeriod"/>
                </a:pPr>
                <a:endParaRPr lang="en-US" sz="2000" dirty="0">
                  <a:latin typeface="Verdana"/>
                  <a:ea typeface="Times New Roman"/>
                  <a:cs typeface="Times New Roman"/>
                </a:endParaRPr>
              </a:p>
              <a:p>
                <a:pPr marL="893763" indent="-441325">
                  <a:lnSpc>
                    <a:spcPct val="107000"/>
                  </a:lnSpc>
                  <a:buFont typeface="+mj-lt"/>
                  <a:buAutoNum type="alphaLcPeriod"/>
                </a:pPr>
                <a:r>
                  <a:rPr lang="en-US" sz="2000" dirty="0">
                    <a:latin typeface="Verdana"/>
                    <a:ea typeface="Times New Roman"/>
                    <a:cs typeface="Times New Roman"/>
                  </a:rPr>
                  <a:t>How many miles has Walt run over the last two weeks?</a:t>
                </a:r>
              </a:p>
              <a:p>
                <a:pPr marL="893763" indent="-441325">
                  <a:lnSpc>
                    <a:spcPct val="107000"/>
                  </a:lnSpc>
                  <a:buFont typeface="+mj-lt"/>
                  <a:buAutoNum type="alphaLcPeriod"/>
                </a:pPr>
                <a:endParaRPr lang="en-US" sz="2000" dirty="0">
                  <a:latin typeface="Verdana"/>
                  <a:ea typeface="Calibri"/>
                  <a:cs typeface="Times New Roman"/>
                </a:endParaRPr>
              </a:p>
              <a:p>
                <a:pPr marL="893763" indent="-441325">
                  <a:lnSpc>
                    <a:spcPct val="107000"/>
                  </a:lnSpc>
                  <a:buFont typeface="+mj-lt"/>
                  <a:buAutoNum type="alphaLcPeriod"/>
                </a:pPr>
                <a:endParaRPr lang="en-US" sz="2000" dirty="0">
                  <a:latin typeface="Verdana"/>
                  <a:ea typeface="Calibri"/>
                  <a:cs typeface="Times New Roman"/>
                </a:endParaRPr>
              </a:p>
              <a:p>
                <a:pPr marL="893763" indent="-441325">
                  <a:lnSpc>
                    <a:spcPct val="107000"/>
                  </a:lnSpc>
                  <a:buFont typeface="+mj-lt"/>
                  <a:buAutoNum type="alphaLcPeriod"/>
                </a:pPr>
                <a:r>
                  <a:rPr lang="en-US" sz="2000" dirty="0">
                    <a:latin typeface="Verdana"/>
                    <a:ea typeface="Calibri"/>
                    <a:cs typeface="Times New Roman"/>
                  </a:rPr>
                  <a:t>Based on Walt’s </a:t>
                </a:r>
                <a:r>
                  <a:rPr lang="en-US" sz="2000" dirty="0">
                    <a:latin typeface="Verdana"/>
                    <a:ea typeface="Times New Roman"/>
                    <a:cs typeface="Times New Roman"/>
                  </a:rPr>
                  <a:t>average pace, how much longer would it take him to run the Across Florida 200 Trail Run than the amount of time he has spent practicing the last </a:t>
                </a:r>
                <a:r>
                  <a:rPr lang="en-US" sz="2000" dirty="0" smtClean="0">
                    <a:latin typeface="Verdana"/>
                    <a:ea typeface="Times New Roman"/>
                    <a:cs typeface="Times New Roman"/>
                  </a:rPr>
                  <a:t>two </a:t>
                </a:r>
                <a:r>
                  <a:rPr lang="en-US" sz="2000" dirty="0">
                    <a:latin typeface="Verdana"/>
                    <a:ea typeface="Times New Roman"/>
                    <a:cs typeface="Times New Roman"/>
                  </a:rPr>
                  <a:t>weeks?</a:t>
                </a:r>
                <a:endParaRPr lang="en-PH" sz="2000" dirty="0">
                  <a:latin typeface="Calibri"/>
                  <a:ea typeface="Calibri"/>
                  <a:cs typeface="Times New Roman"/>
                </a:endParaRP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327426" y="355923"/>
                <a:ext cx="11203686" cy="4856714"/>
              </a:xfrm>
              <a:prstGeom prst="rect">
                <a:avLst/>
              </a:prstGeom>
              <a:blipFill rotWithShape="1">
                <a:blip r:embed="rId4"/>
                <a:stretch>
                  <a:fillRect l="-598" t="-878" b="-75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8AE5E1E0-A54D-BE42-84B5-F917038ADE99}"/>
                  </a:ext>
                </a:extLst>
              </p:cNvPr>
              <p:cNvSpPr txBox="1"/>
              <p:nvPr/>
            </p:nvSpPr>
            <p:spPr>
              <a:xfrm>
                <a:off x="417668" y="265057"/>
                <a:ext cx="11561896" cy="6327886"/>
              </a:xfrm>
              <a:prstGeom prst="rect">
                <a:avLst/>
              </a:prstGeom>
              <a:noFill/>
            </p:spPr>
            <p:txBody>
              <a:bodyPr wrap="square" rtlCol="0">
                <a:spAutoFit/>
              </a:bodyPr>
              <a:lstStyle/>
              <a:p>
                <a:pPr marL="457200" indent="-457200">
                  <a:lnSpc>
                    <a:spcPct val="107000"/>
                  </a:lnSpc>
                  <a:spcAft>
                    <a:spcPts val="1200"/>
                  </a:spcAft>
                  <a:buFont typeface="+mj-lt"/>
                  <a:buAutoNum type="arabicPeriod" startAt="3"/>
                </a:pPr>
                <a:r>
                  <a:rPr lang="en-US" sz="2000" dirty="0">
                    <a:latin typeface="Verdana"/>
                    <a:ea typeface="Times New Roman"/>
                    <a:cs typeface="Times New Roman"/>
                  </a:rPr>
                  <a:t>The Across Florida 200 Trail Run offers a team competition where a team of </a:t>
                </a:r>
                <a14:m>
                  <m:oMath xmlns:m="http://schemas.openxmlformats.org/officeDocument/2006/math">
                    <m:r>
                      <a:rPr lang="en-US" sz="2000" i="1">
                        <a:latin typeface="Cambria Math"/>
                        <a:ea typeface="Times New Roman"/>
                        <a:cs typeface="Times New Roman"/>
                      </a:rPr>
                      <m:t>4</m:t>
                    </m:r>
                  </m:oMath>
                </a14:m>
                <a:r>
                  <a:rPr lang="en-US" sz="2000" dirty="0">
                    <a:latin typeface="Verdana"/>
                    <a:ea typeface="Times New Roman"/>
                    <a:cs typeface="Times New Roman"/>
                  </a:rPr>
                  <a:t> runners take turns to run the </a:t>
                </a:r>
                <a14:m>
                  <m:oMath xmlns:m="http://schemas.openxmlformats.org/officeDocument/2006/math">
                    <m:r>
                      <a:rPr lang="en-US" sz="2000" i="1">
                        <a:latin typeface="Cambria Math"/>
                        <a:ea typeface="Times New Roman"/>
                        <a:cs typeface="Times New Roman"/>
                      </a:rPr>
                      <m:t>200</m:t>
                    </m:r>
                  </m:oMath>
                </a14:m>
                <a:r>
                  <a:rPr lang="en-US" sz="2000" dirty="0">
                    <a:latin typeface="Verdana"/>
                    <a:ea typeface="Times New Roman"/>
                    <a:cs typeface="Times New Roman"/>
                  </a:rPr>
                  <a:t> miles.</a:t>
                </a:r>
              </a:p>
              <a:p>
                <a:pPr indent="452438">
                  <a:lnSpc>
                    <a:spcPct val="107000"/>
                  </a:lnSpc>
                  <a:spcAft>
                    <a:spcPts val="1200"/>
                  </a:spcAft>
                </a:pPr>
                <a:r>
                  <a:rPr lang="en-US" sz="2000" dirty="0">
                    <a:latin typeface="Verdana"/>
                    <a:ea typeface="Times New Roman"/>
                    <a:cs typeface="Times New Roman"/>
                  </a:rPr>
                  <a:t>A team of runners and their average pace is shown.</a:t>
                </a:r>
              </a:p>
              <a:p>
                <a:pPr marL="457200" indent="-457200">
                  <a:lnSpc>
                    <a:spcPct val="107000"/>
                  </a:lnSpc>
                  <a:buFont typeface="+mj-lt"/>
                  <a:buAutoNum type="arabicPeriod"/>
                </a:pPr>
                <a:endParaRPr lang="en-US" sz="2000" dirty="0">
                  <a:latin typeface="Verdana"/>
                  <a:ea typeface="Calibri"/>
                  <a:cs typeface="Times New Roman"/>
                </a:endParaRPr>
              </a:p>
              <a:p>
                <a:pPr marL="457200" indent="-457200">
                  <a:lnSpc>
                    <a:spcPct val="107000"/>
                  </a:lnSpc>
                  <a:buFont typeface="+mj-lt"/>
                  <a:buAutoNum type="arabicPeriod"/>
                </a:pPr>
                <a:endParaRPr lang="en-US" sz="2000" dirty="0">
                  <a:latin typeface="Verdana"/>
                  <a:ea typeface="Calibri"/>
                  <a:cs typeface="Times New Roman"/>
                </a:endParaRPr>
              </a:p>
              <a:p>
                <a:pPr marL="457200" indent="-457200">
                  <a:lnSpc>
                    <a:spcPct val="107000"/>
                  </a:lnSpc>
                  <a:buFont typeface="+mj-lt"/>
                  <a:buAutoNum type="arabicPeriod"/>
                </a:pPr>
                <a:endParaRPr lang="en-US" sz="2000" dirty="0">
                  <a:latin typeface="Verdana"/>
                  <a:ea typeface="Calibri"/>
                  <a:cs typeface="Times New Roman"/>
                </a:endParaRPr>
              </a:p>
              <a:p>
                <a:pPr marL="457200" indent="-457200">
                  <a:lnSpc>
                    <a:spcPct val="107000"/>
                  </a:lnSpc>
                  <a:buFont typeface="+mj-lt"/>
                  <a:buAutoNum type="arabicPeriod"/>
                </a:pPr>
                <a:endParaRPr lang="en-US" sz="2000" dirty="0">
                  <a:latin typeface="Verdana"/>
                  <a:ea typeface="Calibri"/>
                  <a:cs typeface="Times New Roman"/>
                </a:endParaRPr>
              </a:p>
              <a:p>
                <a:pPr indent="457200">
                  <a:lnSpc>
                    <a:spcPct val="107000"/>
                  </a:lnSpc>
                </a:pPr>
                <a:r>
                  <a:rPr lang="en-US" sz="2000" dirty="0">
                    <a:latin typeface="Verdana"/>
                    <a:ea typeface="Times New Roman"/>
                    <a:cs typeface="Times New Roman"/>
                  </a:rPr>
                  <a:t>To prepare for the race the team ran part of the trail.</a:t>
                </a: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indent="457200">
                  <a:lnSpc>
                    <a:spcPct val="107000"/>
                  </a:lnSpc>
                </a:pPr>
                <a:endParaRPr lang="en-US" sz="2000" dirty="0">
                  <a:latin typeface="Verdana"/>
                  <a:ea typeface="Times New Roman"/>
                  <a:cs typeface="Times New Roman"/>
                </a:endParaRPr>
              </a:p>
              <a:p>
                <a:pPr marL="457200">
                  <a:lnSpc>
                    <a:spcPct val="107000"/>
                  </a:lnSpc>
                </a:pPr>
                <a:r>
                  <a:rPr lang="en-US" sz="2000" dirty="0">
                    <a:latin typeface="Verdana"/>
                    <a:ea typeface="Calibri"/>
                    <a:cs typeface="Times New Roman"/>
                  </a:rPr>
                  <a:t>How long did it take the team to run the practice run of </a:t>
                </a:r>
                <a:r>
                  <a:rPr lang="en-PH" sz="2000" i="1" dirty="0">
                    <a:latin typeface="Cambria Math"/>
                    <a:ea typeface="Calibri"/>
                    <a:cs typeface="Times New Roman"/>
                  </a:rPr>
                  <a:t/>
                </a:r>
                <a:br>
                  <a:rPr lang="en-PH" sz="2000" i="1" dirty="0">
                    <a:latin typeface="Cambria Math"/>
                    <a:ea typeface="Calibri"/>
                    <a:cs typeface="Times New Roman"/>
                  </a:rPr>
                </a:br>
                <a14:m>
                  <m:oMath xmlns:m="http://schemas.openxmlformats.org/officeDocument/2006/math">
                    <m:r>
                      <a:rPr lang="en-US" sz="2000" i="1">
                        <a:latin typeface="Cambria Math"/>
                        <a:ea typeface="Calibri"/>
                        <a:cs typeface="Times New Roman"/>
                      </a:rPr>
                      <m:t>85</m:t>
                    </m:r>
                  </m:oMath>
                </a14:m>
                <a:r>
                  <a:rPr lang="en-US" sz="2000" dirty="0">
                    <a:latin typeface="Verdana"/>
                    <a:ea typeface="Calibri"/>
                    <a:cs typeface="Times New Roman"/>
                  </a:rPr>
                  <a:t> miles?</a:t>
                </a:r>
                <a:endParaRPr lang="en-US" sz="2000" dirty="0">
                  <a:latin typeface="Verdana"/>
                  <a:ea typeface="Times New Roman"/>
                  <a:cs typeface="Times New Roman"/>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17668" y="265057"/>
                <a:ext cx="11561896" cy="6327886"/>
              </a:xfrm>
              <a:prstGeom prst="rect">
                <a:avLst/>
              </a:prstGeom>
              <a:blipFill>
                <a:blip r:embed="rId4"/>
                <a:stretch>
                  <a:fillRect l="-659" t="-600" b="-20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132551E-02DD-6A43-9F52-A70D434DE096}"/>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071693049"/>
                  </p:ext>
                </p:extLst>
              </p:nvPr>
            </p:nvGraphicFramePr>
            <p:xfrm>
              <a:off x="2100000" y="1685016"/>
              <a:ext cx="7992000" cy="1063371"/>
            </p:xfrm>
            <a:graphic>
              <a:graphicData uri="http://schemas.openxmlformats.org/drawingml/2006/table">
                <a:tbl>
                  <a:tblPr firstRow="1" firstCol="1" bandRow="1"/>
                  <a:tblGrid>
                    <a:gridCol w="2520000">
                      <a:extLst>
                        <a:ext uri="{9D8B030D-6E8A-4147-A177-3AD203B41FA5}">
                          <a16:colId xmlns:a16="http://schemas.microsoft.com/office/drawing/2014/main" xmlns="" val="20000"/>
                        </a:ext>
                      </a:extLst>
                    </a:gridCol>
                    <a:gridCol w="1368000">
                      <a:extLst>
                        <a:ext uri="{9D8B030D-6E8A-4147-A177-3AD203B41FA5}">
                          <a16:colId xmlns:a16="http://schemas.microsoft.com/office/drawing/2014/main" xmlns="" val="20001"/>
                        </a:ext>
                      </a:extLst>
                    </a:gridCol>
                    <a:gridCol w="1368000">
                      <a:extLst>
                        <a:ext uri="{9D8B030D-6E8A-4147-A177-3AD203B41FA5}">
                          <a16:colId xmlns:a16="http://schemas.microsoft.com/office/drawing/2014/main" xmlns="" val="20002"/>
                        </a:ext>
                      </a:extLst>
                    </a:gridCol>
                    <a:gridCol w="1368000">
                      <a:extLst>
                        <a:ext uri="{9D8B030D-6E8A-4147-A177-3AD203B41FA5}">
                          <a16:colId xmlns:a16="http://schemas.microsoft.com/office/drawing/2014/main" xmlns="" val="20003"/>
                        </a:ext>
                      </a:extLst>
                    </a:gridCol>
                    <a:gridCol w="1368000">
                      <a:extLst>
                        <a:ext uri="{9D8B030D-6E8A-4147-A177-3AD203B41FA5}">
                          <a16:colId xmlns:a16="http://schemas.microsoft.com/office/drawing/2014/main" xmlns="" val="20004"/>
                        </a:ext>
                      </a:extLst>
                    </a:gridCol>
                  </a:tblGrid>
                  <a:tr h="259347">
                    <a:tc>
                      <a:txBody>
                        <a:bodyPr/>
                        <a:lstStyle/>
                        <a:p>
                          <a:pPr algn="ctr">
                            <a:lnSpc>
                              <a:spcPct val="107000"/>
                            </a:lnSpc>
                            <a:spcAft>
                              <a:spcPts val="0"/>
                            </a:spcAft>
                          </a:pPr>
                          <a:r>
                            <a:rPr lang="en-US" sz="1800" b="1" dirty="0">
                              <a:effectLst/>
                              <a:latin typeface="Verdana"/>
                              <a:ea typeface="Times New Roman"/>
                              <a:cs typeface="Times New Roman"/>
                            </a:rPr>
                            <a:t>Name</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effectLst/>
                              <a:latin typeface="Verdana"/>
                              <a:ea typeface="Times New Roman"/>
                              <a:cs typeface="Times New Roman"/>
                            </a:rPr>
                            <a:t>Molly</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Reginald</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Tyler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Liz</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34473">
                    <a:tc>
                      <a:txBody>
                        <a:bodyPr/>
                        <a:lstStyle/>
                        <a:p>
                          <a:pPr algn="ctr">
                            <a:lnSpc>
                              <a:spcPct val="107000"/>
                            </a:lnSpc>
                            <a:spcAft>
                              <a:spcPts val="0"/>
                            </a:spcAft>
                          </a:pPr>
                          <a:r>
                            <a:rPr lang="en-US" sz="1800" b="1" dirty="0">
                              <a:effectLst/>
                              <a:latin typeface="Verdana"/>
                              <a:ea typeface="Times New Roman"/>
                              <a:cs typeface="Times New Roman"/>
                            </a:rPr>
                            <a:t>Average Pace</a:t>
                          </a:r>
                          <a:endParaRPr lang="en-PH" sz="1800" dirty="0">
                            <a:effectLst/>
                            <a:latin typeface="Calibri"/>
                            <a:ea typeface="Calibri"/>
                            <a:cs typeface="Times New Roman"/>
                          </a:endParaRPr>
                        </a:p>
                        <a:p>
                          <a:pPr algn="ctr">
                            <a:lnSpc>
                              <a:spcPct val="107000"/>
                            </a:lnSpc>
                            <a:spcAft>
                              <a:spcPts val="0"/>
                            </a:spcAft>
                          </a:pPr>
                          <a:r>
                            <a:rPr lang="en-US" sz="1800" b="1" dirty="0">
                              <a:effectLst/>
                              <a:latin typeface="Verdana"/>
                              <a:ea typeface="Times New Roman"/>
                              <a:cs typeface="Times New Roman"/>
                            </a:rPr>
                            <a:t>(miles per hour)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6.75</m:t>
                                </m:r>
                              </m:oMath>
                            </m:oMathPara>
                          </a14:m>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6.75</m:t>
                                </m:r>
                              </m:oMath>
                            </m:oMathPara>
                          </a14:m>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8.2</m:t>
                                </m:r>
                              </m:oMath>
                            </m:oMathPara>
                          </a14:m>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9.58</m:t>
                                </m:r>
                              </m:oMath>
                            </m:oMathPara>
                          </a14:m>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071693049"/>
                  </p:ext>
                </p:extLst>
              </p:nvPr>
            </p:nvGraphicFramePr>
            <p:xfrm>
              <a:off x="2100000" y="1685016"/>
              <a:ext cx="7992000" cy="1031875"/>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1368000">
                      <a:extLst>
                        <a:ext uri="{9D8B030D-6E8A-4147-A177-3AD203B41FA5}">
                          <a16:colId xmlns:a16="http://schemas.microsoft.com/office/drawing/2014/main" val="20001"/>
                        </a:ext>
                      </a:extLst>
                    </a:gridCol>
                    <a:gridCol w="1368000">
                      <a:extLst>
                        <a:ext uri="{9D8B030D-6E8A-4147-A177-3AD203B41FA5}">
                          <a16:colId xmlns:a16="http://schemas.microsoft.com/office/drawing/2014/main" val="20002"/>
                        </a:ext>
                      </a:extLst>
                    </a:gridCol>
                    <a:gridCol w="1368000">
                      <a:extLst>
                        <a:ext uri="{9D8B030D-6E8A-4147-A177-3AD203B41FA5}">
                          <a16:colId xmlns:a16="http://schemas.microsoft.com/office/drawing/2014/main" val="20003"/>
                        </a:ext>
                      </a:extLst>
                    </a:gridCol>
                    <a:gridCol w="1368000">
                      <a:extLst>
                        <a:ext uri="{9D8B030D-6E8A-4147-A177-3AD203B41FA5}">
                          <a16:colId xmlns:a16="http://schemas.microsoft.com/office/drawing/2014/main" val="20004"/>
                        </a:ext>
                      </a:extLst>
                    </a:gridCol>
                  </a:tblGrid>
                  <a:tr h="369189">
                    <a:tc>
                      <a:txBody>
                        <a:bodyPr/>
                        <a:lstStyle/>
                        <a:p>
                          <a:pPr algn="ctr">
                            <a:lnSpc>
                              <a:spcPct val="107000"/>
                            </a:lnSpc>
                            <a:spcAft>
                              <a:spcPts val="0"/>
                            </a:spcAft>
                          </a:pPr>
                          <a:r>
                            <a:rPr lang="en-US" sz="1800" b="1" dirty="0">
                              <a:effectLst/>
                              <a:latin typeface="Verdana"/>
                              <a:ea typeface="Times New Roman"/>
                              <a:cs typeface="Times New Roman"/>
                            </a:rPr>
                            <a:t>Name</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effectLst/>
                              <a:latin typeface="Verdana"/>
                              <a:ea typeface="Times New Roman"/>
                              <a:cs typeface="Times New Roman"/>
                            </a:rPr>
                            <a:t>Molly</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Reginald</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Tyler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1800" dirty="0">
                              <a:effectLst/>
                              <a:latin typeface="Verdana"/>
                              <a:ea typeface="Times New Roman"/>
                              <a:cs typeface="Times New Roman"/>
                            </a:rPr>
                            <a:t>Liz</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62686">
                    <a:tc>
                      <a:txBody>
                        <a:bodyPr/>
                        <a:lstStyle/>
                        <a:p>
                          <a:pPr algn="ctr">
                            <a:lnSpc>
                              <a:spcPct val="107000"/>
                            </a:lnSpc>
                            <a:spcAft>
                              <a:spcPts val="0"/>
                            </a:spcAft>
                          </a:pPr>
                          <a:r>
                            <a:rPr lang="en-US" sz="1800" b="1" dirty="0">
                              <a:effectLst/>
                              <a:latin typeface="Verdana"/>
                              <a:ea typeface="Times New Roman"/>
                              <a:cs typeface="Times New Roman"/>
                            </a:rPr>
                            <a:t>Average Pace</a:t>
                          </a:r>
                          <a:endParaRPr lang="en-PH" sz="1800" dirty="0">
                            <a:effectLst/>
                            <a:latin typeface="Calibri"/>
                            <a:ea typeface="Calibri"/>
                            <a:cs typeface="Times New Roman"/>
                          </a:endParaRPr>
                        </a:p>
                        <a:p>
                          <a:pPr algn="ctr">
                            <a:lnSpc>
                              <a:spcPct val="107000"/>
                            </a:lnSpc>
                            <a:spcAft>
                              <a:spcPts val="0"/>
                            </a:spcAft>
                          </a:pPr>
                          <a:r>
                            <a:rPr lang="en-US" sz="1800" b="1" dirty="0">
                              <a:effectLst/>
                              <a:latin typeface="Verdana"/>
                              <a:ea typeface="Times New Roman"/>
                              <a:cs typeface="Times New Roman"/>
                            </a:rPr>
                            <a:t>(miles per hour)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6916" t="-60377" r="-303738" b="-13208"/>
                          </a:stretch>
                        </a:blip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84259" t="-60377" r="-200926" b="-13208"/>
                          </a:stretch>
                        </a:blip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84259" t="-60377" r="-100926" b="-13208"/>
                          </a:stretch>
                        </a:blipFill>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84259" t="-60377" r="-926" b="-13208"/>
                          </a:stretch>
                        </a:blip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49155110"/>
                  </p:ext>
                </p:extLst>
              </p:nvPr>
            </p:nvGraphicFramePr>
            <p:xfrm>
              <a:off x="2414722" y="3421037"/>
              <a:ext cx="7362555" cy="2218182"/>
            </p:xfrm>
            <a:graphic>
              <a:graphicData uri="http://schemas.openxmlformats.org/drawingml/2006/table">
                <a:tbl>
                  <a:tblPr firstRow="1" firstCol="1" bandRow="1"/>
                  <a:tblGrid>
                    <a:gridCol w="2160000">
                      <a:extLst>
                        <a:ext uri="{9D8B030D-6E8A-4147-A177-3AD203B41FA5}">
                          <a16:colId xmlns:a16="http://schemas.microsoft.com/office/drawing/2014/main" xmlns="" val="20000"/>
                        </a:ext>
                      </a:extLst>
                    </a:gridCol>
                    <a:gridCol w="4286250">
                      <a:extLst>
                        <a:ext uri="{9D8B030D-6E8A-4147-A177-3AD203B41FA5}">
                          <a16:colId xmlns:a16="http://schemas.microsoft.com/office/drawing/2014/main" xmlns="" val="20001"/>
                        </a:ext>
                      </a:extLst>
                    </a:gridCol>
                    <a:gridCol w="916305">
                      <a:extLst>
                        <a:ext uri="{9D8B030D-6E8A-4147-A177-3AD203B41FA5}">
                          <a16:colId xmlns:a16="http://schemas.microsoft.com/office/drawing/2014/main" xmlns="" val="20002"/>
                        </a:ext>
                      </a:extLst>
                    </a:gridCol>
                  </a:tblGrid>
                  <a:tr h="0">
                    <a:tc>
                      <a:txBody>
                        <a:bodyPr/>
                        <a:lstStyle/>
                        <a:p>
                          <a:pPr algn="ctr">
                            <a:lnSpc>
                              <a:spcPct val="107000"/>
                            </a:lnSpc>
                            <a:spcAft>
                              <a:spcPts val="0"/>
                            </a:spcAft>
                          </a:pPr>
                          <a:r>
                            <a:rPr lang="en-US" sz="1800" b="1" dirty="0">
                              <a:effectLst/>
                              <a:latin typeface="Verdana"/>
                              <a:ea typeface="Times New Roman"/>
                              <a:cs typeface="Times New Roman"/>
                            </a:rPr>
                            <a:t>Team Member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dirty="0">
                              <a:effectLst/>
                              <a:latin typeface="Verdana"/>
                              <a:ea typeface="Times New Roman"/>
                              <a:cs typeface="Times New Roman"/>
                            </a:rPr>
                            <a:t>Description</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a:effectLst/>
                              <a:latin typeface="Verdana"/>
                              <a:ea typeface="Times New Roman"/>
                              <a:cs typeface="Times New Roman"/>
                            </a:rPr>
                            <a:t>Miles</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449062">
                    <a:tc>
                      <a:txBody>
                        <a:bodyPr/>
                        <a:lstStyle/>
                        <a:p>
                          <a:pPr algn="ctr">
                            <a:lnSpc>
                              <a:spcPct val="107000"/>
                            </a:lnSpc>
                            <a:spcAft>
                              <a:spcPts val="0"/>
                            </a:spcAft>
                          </a:pPr>
                          <a:r>
                            <a:rPr lang="en-US" sz="1800" b="1">
                              <a:effectLst/>
                              <a:latin typeface="Verdana"/>
                              <a:ea typeface="Times New Roman"/>
                              <a:cs typeface="Times New Roman"/>
                            </a:rPr>
                            <a:t>Tyler</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solidFill>
                                <a:srgbClr val="000000"/>
                              </a:solidFill>
                              <a:effectLst/>
                              <a:latin typeface="Verdana"/>
                              <a:ea typeface="Calibri"/>
                              <a:cs typeface="Arial"/>
                            </a:rPr>
                            <a:t>Withlacoochee Bay Trail to Lake Rousseau Dam &amp; Recreational Area</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10</m:t>
                                </m:r>
                              </m:oMath>
                            </m:oMathPara>
                          </a14:m>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0">
                    <a:tc>
                      <a:txBody>
                        <a:bodyPr/>
                        <a:lstStyle/>
                        <a:p>
                          <a:pPr algn="ctr">
                            <a:lnSpc>
                              <a:spcPct val="107000"/>
                            </a:lnSpc>
                            <a:spcAft>
                              <a:spcPts val="0"/>
                            </a:spcAft>
                          </a:pPr>
                          <a:r>
                            <a:rPr lang="en-US" sz="1800" b="1">
                              <a:effectLst/>
                              <a:latin typeface="Verdana"/>
                              <a:ea typeface="Times New Roman"/>
                              <a:cs typeface="Times New Roman"/>
                            </a:rPr>
                            <a:t>Liz</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a:solidFill>
                                <a:srgbClr val="000000"/>
                              </a:solidFill>
                              <a:effectLst/>
                              <a:latin typeface="Verdana"/>
                              <a:ea typeface="Calibri"/>
                              <a:cs typeface="Arial"/>
                            </a:rPr>
                            <a:t>Lake Rousseau to Florida Trail</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15</m:t>
                                </m:r>
                              </m:oMath>
                            </m:oMathPara>
                          </a14:m>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0">
                    <a:tc>
                      <a:txBody>
                        <a:bodyPr/>
                        <a:lstStyle/>
                        <a:p>
                          <a:pPr algn="ctr">
                            <a:lnSpc>
                              <a:spcPct val="107000"/>
                            </a:lnSpc>
                            <a:spcAft>
                              <a:spcPts val="0"/>
                            </a:spcAft>
                          </a:pPr>
                          <a:r>
                            <a:rPr lang="en-US" sz="1800" b="1">
                              <a:effectLst/>
                              <a:latin typeface="Verdana"/>
                              <a:ea typeface="Times New Roman"/>
                              <a:cs typeface="Times New Roman"/>
                            </a:rPr>
                            <a:t>Molly</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a:solidFill>
                                <a:srgbClr val="000000"/>
                              </a:solidFill>
                              <a:effectLst/>
                              <a:latin typeface="Verdana"/>
                              <a:ea typeface="Calibri"/>
                              <a:cs typeface="Arial"/>
                            </a:rPr>
                            <a:t>Florida Trail Part 1</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35</m:t>
                                </m:r>
                              </m:oMath>
                            </m:oMathPara>
                          </a14:m>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0">
                    <a:tc>
                      <a:txBody>
                        <a:bodyPr/>
                        <a:lstStyle/>
                        <a:p>
                          <a:pPr algn="ctr">
                            <a:lnSpc>
                              <a:spcPct val="107000"/>
                            </a:lnSpc>
                            <a:spcAft>
                              <a:spcPts val="0"/>
                            </a:spcAft>
                          </a:pPr>
                          <a:r>
                            <a:rPr lang="en-US" sz="1800" b="1">
                              <a:effectLst/>
                              <a:latin typeface="Verdana"/>
                              <a:ea typeface="Times New Roman"/>
                              <a:cs typeface="Times New Roman"/>
                            </a:rPr>
                            <a:t>Reginald</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solidFill>
                                <a:srgbClr val="000000"/>
                              </a:solidFill>
                              <a:effectLst/>
                              <a:latin typeface="Verdana"/>
                              <a:ea typeface="Calibri"/>
                              <a:cs typeface="Arial"/>
                            </a:rPr>
                            <a:t>Florida Trail Part 2</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Times New Roman"/>
                                    <a:cs typeface="Times New Roman"/>
                                  </a:rPr>
                                  <m:t>25</m:t>
                                </m:r>
                              </m:oMath>
                            </m:oMathPara>
                          </a14:m>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49155110"/>
                  </p:ext>
                </p:extLst>
              </p:nvPr>
            </p:nvGraphicFramePr>
            <p:xfrm>
              <a:off x="2414722" y="3421037"/>
              <a:ext cx="7362555" cy="2186686"/>
            </p:xfrm>
            <a:graphic>
              <a:graphicData uri="http://schemas.openxmlformats.org/drawingml/2006/table">
                <a:tbl>
                  <a:tblPr firstRow="1" firstCol="1" bandRow="1"/>
                  <a:tblGrid>
                    <a:gridCol w="2160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916305">
                      <a:extLst>
                        <a:ext uri="{9D8B030D-6E8A-4147-A177-3AD203B41FA5}">
                          <a16:colId xmlns:a16="http://schemas.microsoft.com/office/drawing/2014/main" val="20002"/>
                        </a:ext>
                      </a:extLst>
                    </a:gridCol>
                  </a:tblGrid>
                  <a:tr h="369189">
                    <a:tc>
                      <a:txBody>
                        <a:bodyPr/>
                        <a:lstStyle/>
                        <a:p>
                          <a:pPr algn="ctr">
                            <a:lnSpc>
                              <a:spcPct val="107000"/>
                            </a:lnSpc>
                            <a:spcAft>
                              <a:spcPts val="0"/>
                            </a:spcAft>
                          </a:pPr>
                          <a:r>
                            <a:rPr lang="en-US" sz="1800" b="1" dirty="0">
                              <a:effectLst/>
                              <a:latin typeface="Verdana"/>
                              <a:ea typeface="Times New Roman"/>
                              <a:cs typeface="Times New Roman"/>
                            </a:rPr>
                            <a:t>Team Member</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dirty="0">
                              <a:effectLst/>
                              <a:latin typeface="Verdana"/>
                              <a:ea typeface="Times New Roman"/>
                              <a:cs typeface="Times New Roman"/>
                            </a:rPr>
                            <a:t>Description</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a:effectLst/>
                              <a:latin typeface="Verdana"/>
                              <a:ea typeface="Times New Roman"/>
                              <a:cs typeface="Times New Roman"/>
                            </a:rPr>
                            <a:t>Miles</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62686">
                    <a:tc>
                      <a:txBody>
                        <a:bodyPr/>
                        <a:lstStyle/>
                        <a:p>
                          <a:pPr algn="ctr">
                            <a:lnSpc>
                              <a:spcPct val="107000"/>
                            </a:lnSpc>
                            <a:spcAft>
                              <a:spcPts val="0"/>
                            </a:spcAft>
                          </a:pPr>
                          <a:r>
                            <a:rPr lang="en-US" sz="1800" b="1">
                              <a:effectLst/>
                              <a:latin typeface="Verdana"/>
                              <a:ea typeface="Times New Roman"/>
                              <a:cs typeface="Times New Roman"/>
                            </a:rPr>
                            <a:t>Tyler</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solidFill>
                                <a:srgbClr val="000000"/>
                              </a:solidFill>
                              <a:effectLst/>
                              <a:latin typeface="Verdana"/>
                              <a:ea typeface="Calibri"/>
                              <a:cs typeface="Arial"/>
                            </a:rPr>
                            <a:t>Withlacoochee Bay Trail to Lake Rousseau Dam &amp; Recreational Area</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06944" t="-60377" r="-1389" b="-183019"/>
                          </a:stretch>
                        </a:blipFill>
                      </a:tcPr>
                    </a:tc>
                    <a:extLst>
                      <a:ext uri="{0D108BD9-81ED-4DB2-BD59-A6C34878D82A}">
                        <a16:rowId xmlns:a16="http://schemas.microsoft.com/office/drawing/2014/main" val="10001"/>
                      </a:ext>
                    </a:extLst>
                  </a:tr>
                  <a:tr h="384937">
                    <a:tc>
                      <a:txBody>
                        <a:bodyPr/>
                        <a:lstStyle/>
                        <a:p>
                          <a:pPr algn="ctr">
                            <a:lnSpc>
                              <a:spcPct val="107000"/>
                            </a:lnSpc>
                            <a:spcAft>
                              <a:spcPts val="0"/>
                            </a:spcAft>
                          </a:pPr>
                          <a:r>
                            <a:rPr lang="en-US" sz="1800" b="1">
                              <a:effectLst/>
                              <a:latin typeface="Verdana"/>
                              <a:ea typeface="Times New Roman"/>
                              <a:cs typeface="Times New Roman"/>
                            </a:rPr>
                            <a:t>Liz</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a:solidFill>
                                <a:srgbClr val="000000"/>
                              </a:solidFill>
                              <a:effectLst/>
                              <a:latin typeface="Verdana"/>
                              <a:ea typeface="Calibri"/>
                              <a:cs typeface="Arial"/>
                            </a:rPr>
                            <a:t>Lake Rousseau to Florida Trail</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06944" t="-283333" r="-1389" b="-223333"/>
                          </a:stretch>
                        </a:blipFill>
                      </a:tcPr>
                    </a:tc>
                    <a:extLst>
                      <a:ext uri="{0D108BD9-81ED-4DB2-BD59-A6C34878D82A}">
                        <a16:rowId xmlns:a16="http://schemas.microsoft.com/office/drawing/2014/main" val="10002"/>
                      </a:ext>
                    </a:extLst>
                  </a:tr>
                  <a:tr h="384937">
                    <a:tc>
                      <a:txBody>
                        <a:bodyPr/>
                        <a:lstStyle/>
                        <a:p>
                          <a:pPr algn="ctr">
                            <a:lnSpc>
                              <a:spcPct val="107000"/>
                            </a:lnSpc>
                            <a:spcAft>
                              <a:spcPts val="0"/>
                            </a:spcAft>
                          </a:pPr>
                          <a:r>
                            <a:rPr lang="en-US" sz="1800" b="1">
                              <a:effectLst/>
                              <a:latin typeface="Verdana"/>
                              <a:ea typeface="Times New Roman"/>
                              <a:cs typeface="Times New Roman"/>
                            </a:rPr>
                            <a:t>Molly</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a:solidFill>
                                <a:srgbClr val="000000"/>
                              </a:solidFill>
                              <a:effectLst/>
                              <a:latin typeface="Verdana"/>
                              <a:ea typeface="Calibri"/>
                              <a:cs typeface="Arial"/>
                            </a:rPr>
                            <a:t>Florida Trail Part 1</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06944" t="-370968" r="-1389" b="-116129"/>
                          </a:stretch>
                        </a:blipFill>
                      </a:tcPr>
                    </a:tc>
                    <a:extLst>
                      <a:ext uri="{0D108BD9-81ED-4DB2-BD59-A6C34878D82A}">
                        <a16:rowId xmlns:a16="http://schemas.microsoft.com/office/drawing/2014/main" val="10003"/>
                      </a:ext>
                    </a:extLst>
                  </a:tr>
                  <a:tr h="384937">
                    <a:tc>
                      <a:txBody>
                        <a:bodyPr/>
                        <a:lstStyle/>
                        <a:p>
                          <a:pPr algn="ctr">
                            <a:lnSpc>
                              <a:spcPct val="107000"/>
                            </a:lnSpc>
                            <a:spcAft>
                              <a:spcPts val="0"/>
                            </a:spcAft>
                          </a:pPr>
                          <a:r>
                            <a:rPr lang="en-US" sz="1800" b="1">
                              <a:effectLst/>
                              <a:latin typeface="Verdana"/>
                              <a:ea typeface="Times New Roman"/>
                              <a:cs typeface="Times New Roman"/>
                            </a:rPr>
                            <a:t>Reginald</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dirty="0">
                              <a:solidFill>
                                <a:srgbClr val="000000"/>
                              </a:solidFill>
                              <a:effectLst/>
                              <a:latin typeface="Verdana"/>
                              <a:ea typeface="Calibri"/>
                              <a:cs typeface="Arial"/>
                            </a:rPr>
                            <a:t>Florida Trail Part 2</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06944" t="-486667" r="-1389" b="-20000"/>
                          </a:stretch>
                        </a:blipFill>
                      </a:tcPr>
                    </a:tc>
                    <a:extLst>
                      <a:ext uri="{0D108BD9-81ED-4DB2-BD59-A6C34878D82A}">
                        <a16:rowId xmlns:a16="http://schemas.microsoft.com/office/drawing/2014/main" val="10004"/>
                      </a:ext>
                    </a:extLst>
                  </a:tr>
                </a:tbl>
              </a:graphicData>
            </a:graphic>
          </p:graphicFrame>
        </mc:Fallback>
      </mc:AlternateContent>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endParaRPr i="1" dirty="0">
              <a:latin typeface="Calibri"/>
              <a:ea typeface="Calibri"/>
              <a:cs typeface="Calibri"/>
              <a:sym typeface="Calibri"/>
            </a:endParaRPr>
          </a:p>
        </p:txBody>
      </p:sp>
    </p:spTree>
    <p:extLst>
      <p:ext uri="{BB962C8B-B14F-4D97-AF65-F5344CB8AC3E}">
        <p14:creationId xmlns:p14="http://schemas.microsoft.com/office/powerpoint/2010/main" val="89573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7653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3.8.3 Your Turn! </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730266" y="1164352"/>
                <a:ext cx="11101516" cy="2376100"/>
              </a:xfrm>
              <a:prstGeom prst="rect">
                <a:avLst/>
              </a:prstGeom>
              <a:noFill/>
            </p:spPr>
            <p:txBody>
              <a:bodyPr wrap="square" rtlCol="0">
                <a:spAutoFit/>
              </a:bodyPr>
              <a:lstStyle/>
              <a:p>
                <a:pPr marL="457200" indent="-457200">
                  <a:lnSpc>
                    <a:spcPct val="107000"/>
                  </a:lnSpc>
                  <a:buFont typeface="+mj-lt"/>
                  <a:buAutoNum type="arabicPeriod"/>
                  <a:tabLst>
                    <a:tab pos="514350" algn="l"/>
                  </a:tabLst>
                </a:pPr>
                <a:r>
                  <a:rPr lang="en-US" sz="2400" dirty="0">
                    <a:latin typeface="Verdana"/>
                    <a:ea typeface="Times New Roman"/>
                    <a:cs typeface="Times New Roman"/>
                  </a:rPr>
                  <a:t>On Sunday, a farmer picked </a:t>
                </a:r>
                <a14:m>
                  <m:oMath xmlns:m="http://schemas.openxmlformats.org/officeDocument/2006/math">
                    <m:r>
                      <a:rPr lang="en-US" sz="2400" i="1">
                        <a:latin typeface="Cambria Math"/>
                        <a:ea typeface="Times New Roman"/>
                        <a:cs typeface="Times New Roman"/>
                      </a:rPr>
                      <m:t>1</m:t>
                    </m:r>
                    <m:f>
                      <m:fPr>
                        <m:ctrlPr>
                          <a:rPr lang="en-PH" sz="2400" i="1">
                            <a:latin typeface="Cambria Math"/>
                            <a:ea typeface="Times New Roman"/>
                            <a:cs typeface="Times New Roman"/>
                          </a:rPr>
                        </m:ctrlPr>
                      </m:fPr>
                      <m:num>
                        <m:r>
                          <a:rPr lang="en-US" sz="2400" i="1">
                            <a:latin typeface="Cambria Math"/>
                            <a:ea typeface="Times New Roman"/>
                            <a:cs typeface="Times New Roman"/>
                          </a:rPr>
                          <m:t>3</m:t>
                        </m:r>
                      </m:num>
                      <m:den>
                        <m:r>
                          <a:rPr lang="en-US" sz="2400" i="1">
                            <a:latin typeface="Cambria Math"/>
                            <a:ea typeface="Times New Roman"/>
                            <a:cs typeface="Times New Roman"/>
                          </a:rPr>
                          <m:t>4</m:t>
                        </m:r>
                      </m:den>
                    </m:f>
                  </m:oMath>
                </a14:m>
                <a:r>
                  <a:rPr lang="en-US" sz="2400" dirty="0">
                    <a:latin typeface="Verdana"/>
                    <a:ea typeface="Times New Roman"/>
                    <a:cs typeface="Times New Roman"/>
                  </a:rPr>
                  <a:t> barrels of blueberries. On Monday, the farmer picked </a:t>
                </a:r>
                <a14:m>
                  <m:oMath xmlns:m="http://schemas.openxmlformats.org/officeDocument/2006/math">
                    <m:f>
                      <m:fPr>
                        <m:ctrlPr>
                          <a:rPr lang="en-PH" sz="2400" i="1">
                            <a:latin typeface="Cambria Math"/>
                            <a:ea typeface="Times New Roman"/>
                            <a:cs typeface="Times New Roman"/>
                          </a:rPr>
                        </m:ctrlPr>
                      </m:fPr>
                      <m:num>
                        <m:r>
                          <a:rPr lang="en-US" sz="2400" i="1">
                            <a:latin typeface="Cambria Math"/>
                            <a:ea typeface="Times New Roman"/>
                            <a:cs typeface="Times New Roman"/>
                          </a:rPr>
                          <m:t>1</m:t>
                        </m:r>
                      </m:num>
                      <m:den>
                        <m:r>
                          <a:rPr lang="en-US" sz="2400" i="1">
                            <a:latin typeface="Cambria Math"/>
                            <a:ea typeface="Times New Roman"/>
                            <a:cs typeface="Times New Roman"/>
                          </a:rPr>
                          <m:t>5</m:t>
                        </m:r>
                      </m:den>
                    </m:f>
                  </m:oMath>
                </a14:m>
                <a:r>
                  <a:rPr lang="en-US" sz="2400" dirty="0">
                    <a:latin typeface="Verdana"/>
                    <a:ea typeface="Times New Roman"/>
                    <a:cs typeface="Times New Roman"/>
                  </a:rPr>
                  <a:t> as many blueberries as he did on Sunday. On Tuesday, the farmer discovered that half of his barrels of blueberries were spoiled. How many total barrels of blueberries did the farmer have left to sell? </a:t>
                </a:r>
                <a:endParaRPr lang="en-PH" sz="2400" dirty="0">
                  <a:latin typeface="Calibri"/>
                  <a:ea typeface="Calibri"/>
                  <a:cs typeface="Times New Roman"/>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6" y="1164352"/>
                <a:ext cx="11101516" cy="2376100"/>
              </a:xfrm>
              <a:prstGeom prst="rect">
                <a:avLst/>
              </a:prstGeom>
              <a:blipFill>
                <a:blip r:embed="rId5"/>
                <a:stretch>
                  <a:fillRect l="-914" r="-686" b="-4787"/>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B65A09A0-1E94-F34F-9AC7-848B14CF3F5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454613" y="541959"/>
                <a:ext cx="11552659" cy="5097742"/>
              </a:xfrm>
              <a:prstGeom prst="rect">
                <a:avLst/>
              </a:prstGeom>
              <a:noFill/>
            </p:spPr>
            <p:txBody>
              <a:bodyPr wrap="square" rtlCol="0">
                <a:spAutoFit/>
              </a:bodyPr>
              <a:lstStyle/>
              <a:p>
                <a:pPr marL="457200" indent="-457200">
                  <a:lnSpc>
                    <a:spcPct val="107000"/>
                  </a:lnSpc>
                  <a:buFont typeface="+mj-lt"/>
                  <a:buAutoNum type="arabicPeriod" startAt="2"/>
                  <a:tabLst>
                    <a:tab pos="514350" algn="l"/>
                  </a:tabLst>
                </a:pPr>
                <a:r>
                  <a:rPr lang="en-US" sz="2000" dirty="0">
                    <a:latin typeface="Verdana"/>
                    <a:ea typeface="Times New Roman"/>
                    <a:cs typeface="Times New Roman"/>
                  </a:rPr>
                  <a:t>A pool that holds </a:t>
                </a:r>
                <a14:m>
                  <m:oMath xmlns:m="http://schemas.openxmlformats.org/officeDocument/2006/math">
                    <m:r>
                      <a:rPr lang="en-US" sz="2000" i="1">
                        <a:latin typeface="Cambria Math"/>
                        <a:ea typeface="Times New Roman"/>
                        <a:cs typeface="Times New Roman"/>
                      </a:rPr>
                      <m:t>273.68</m:t>
                    </m:r>
                  </m:oMath>
                </a14:m>
                <a:r>
                  <a:rPr lang="en-US" sz="2000" dirty="0">
                    <a:latin typeface="Verdana"/>
                    <a:ea typeface="Times New Roman"/>
                    <a:cs typeface="Times New Roman"/>
                  </a:rPr>
                  <a:t> gallons of water lost </a:t>
                </a:r>
                <a14:m>
                  <m:oMath xmlns:m="http://schemas.openxmlformats.org/officeDocument/2006/math">
                    <m:r>
                      <a:rPr lang="en-US" sz="2000" i="1">
                        <a:latin typeface="Cambria Math"/>
                        <a:ea typeface="Times New Roman"/>
                        <a:cs typeface="Times New Roman"/>
                      </a:rPr>
                      <m:t>4.79</m:t>
                    </m:r>
                  </m:oMath>
                </a14:m>
                <a:r>
                  <a:rPr lang="en-US" sz="2000" dirty="0">
                    <a:latin typeface="Verdana"/>
                    <a:ea typeface="Times New Roman"/>
                    <a:cs typeface="Times New Roman"/>
                  </a:rPr>
                  <a:t> gallons of water each day while there was a leak that went unnoticed. Tad noticed the water was lower, so he added </a:t>
                </a:r>
                <a14:m>
                  <m:oMath xmlns:m="http://schemas.openxmlformats.org/officeDocument/2006/math">
                    <m:r>
                      <a:rPr lang="en-US" sz="2000" i="1">
                        <a:latin typeface="Cambria Math"/>
                        <a:ea typeface="Times New Roman"/>
                        <a:cs typeface="Times New Roman"/>
                      </a:rPr>
                      <m:t>20.45</m:t>
                    </m:r>
                  </m:oMath>
                </a14:m>
                <a:r>
                  <a:rPr lang="en-US" sz="2000" dirty="0">
                    <a:latin typeface="Verdana"/>
                    <a:ea typeface="Times New Roman"/>
                    <a:cs typeface="Times New Roman"/>
                  </a:rPr>
                  <a:t> gallons of water before he realized there was a leak on the side. If Tad fixed the leak after </a:t>
                </a:r>
                <a14:m>
                  <m:oMath xmlns:m="http://schemas.openxmlformats.org/officeDocument/2006/math">
                    <m:r>
                      <a:rPr lang="en-US" sz="2000" i="1">
                        <a:latin typeface="Cambria Math"/>
                        <a:ea typeface="Times New Roman"/>
                        <a:cs typeface="Times New Roman"/>
                      </a:rPr>
                      <m:t>8</m:t>
                    </m:r>
                  </m:oMath>
                </a14:m>
                <a:r>
                  <a:rPr lang="en-US" sz="2000" dirty="0">
                    <a:latin typeface="Verdana"/>
                    <a:ea typeface="Times New Roman"/>
                    <a:cs typeface="Times New Roman"/>
                  </a:rPr>
                  <a:t> days of leaking, how many gallons of water does he currently have in the pool? </a:t>
                </a:r>
              </a:p>
              <a:p>
                <a:pPr marL="457200" indent="-457200">
                  <a:lnSpc>
                    <a:spcPct val="107000"/>
                  </a:lnSpc>
                  <a:buFont typeface="+mj-lt"/>
                  <a:buAutoNum type="arabicPeriod" startAt="2"/>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2"/>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2"/>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2"/>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2"/>
                  <a:tabLst>
                    <a:tab pos="514350" algn="l"/>
                  </a:tabLst>
                </a:pPr>
                <a:r>
                  <a:rPr lang="en-US" sz="2000" dirty="0">
                    <a:latin typeface="Verdana"/>
                    <a:ea typeface="Times New Roman"/>
                    <a:cs typeface="Times New Roman"/>
                  </a:rPr>
                  <a:t>A paving company ordered </a:t>
                </a:r>
                <a14:m>
                  <m:oMath xmlns:m="http://schemas.openxmlformats.org/officeDocument/2006/math">
                    <m:r>
                      <a:rPr lang="en-US" sz="2000" i="1">
                        <a:latin typeface="Cambria Math"/>
                        <a:ea typeface="Times New Roman"/>
                        <a:cs typeface="Times New Roman"/>
                      </a:rPr>
                      <m:t>4</m:t>
                    </m:r>
                    <m:f>
                      <m:fPr>
                        <m:ctrlPr>
                          <a:rPr lang="en-PH" sz="2000" i="1">
                            <a:latin typeface="Cambria Math"/>
                            <a:ea typeface="Times New Roman"/>
                            <a:cs typeface="Times New Roman"/>
                          </a:rPr>
                        </m:ctrlPr>
                      </m:fPr>
                      <m:num>
                        <m:r>
                          <a:rPr lang="en-US" sz="2000" i="1">
                            <a:latin typeface="Cambria Math"/>
                            <a:ea typeface="Times New Roman"/>
                            <a:cs typeface="Times New Roman"/>
                          </a:rPr>
                          <m:t>3</m:t>
                        </m:r>
                      </m:num>
                      <m:den>
                        <m:r>
                          <a:rPr lang="en-US" sz="2000" i="1">
                            <a:latin typeface="Cambria Math"/>
                            <a:ea typeface="Times New Roman"/>
                            <a:cs typeface="Times New Roman"/>
                          </a:rPr>
                          <m:t>4</m:t>
                        </m:r>
                      </m:den>
                    </m:f>
                  </m:oMath>
                </a14:m>
                <a:r>
                  <a:rPr lang="en-US" sz="2000" dirty="0">
                    <a:latin typeface="Verdana"/>
                    <a:ea typeface="Times New Roman"/>
                    <a:cs typeface="Times New Roman"/>
                  </a:rPr>
                  <a:t> tons of cement to pave the streets of a new neighborhood. Additionally, the company ordered </a:t>
                </a:r>
                <a14:m>
                  <m:oMath xmlns:m="http://schemas.openxmlformats.org/officeDocument/2006/math">
                    <m:r>
                      <a:rPr lang="en-US" sz="2000" i="1">
                        <a:latin typeface="Cambria Math"/>
                        <a:ea typeface="Times New Roman"/>
                        <a:cs typeface="Times New Roman"/>
                      </a:rPr>
                      <m:t>7</m:t>
                    </m:r>
                    <m:f>
                      <m:fPr>
                        <m:ctrlPr>
                          <a:rPr lang="en-PH" sz="2000" i="1">
                            <a:latin typeface="Cambria Math"/>
                            <a:ea typeface="Times New Roman"/>
                            <a:cs typeface="Times New Roman"/>
                          </a:rPr>
                        </m:ctrlPr>
                      </m:fPr>
                      <m:num>
                        <m:r>
                          <a:rPr lang="en-US" sz="2000" i="1">
                            <a:latin typeface="Cambria Math"/>
                            <a:ea typeface="Times New Roman"/>
                            <a:cs typeface="Times New Roman"/>
                          </a:rPr>
                          <m:t>2</m:t>
                        </m:r>
                      </m:num>
                      <m:den>
                        <m:r>
                          <a:rPr lang="en-US" sz="2000" i="1">
                            <a:latin typeface="Cambria Math"/>
                            <a:ea typeface="Times New Roman"/>
                            <a:cs typeface="Times New Roman"/>
                          </a:rPr>
                          <m:t>3</m:t>
                        </m:r>
                      </m:den>
                    </m:f>
                  </m:oMath>
                </a14:m>
                <a:r>
                  <a:rPr lang="en-US" sz="2000" dirty="0">
                    <a:latin typeface="Verdana"/>
                    <a:ea typeface="Times New Roman"/>
                    <a:cs typeface="Times New Roman"/>
                  </a:rPr>
                  <a:t> tons of cement to pave the guest parking lot for the pool area at the front of the neighborhood. After pouring, they only needed </a:t>
                </a:r>
                <a14:m>
                  <m:oMath xmlns:m="http://schemas.openxmlformats.org/officeDocument/2006/math">
                    <m:f>
                      <m:fPr>
                        <m:ctrlPr>
                          <a:rPr lang="en-PH" sz="2000" i="1">
                            <a:latin typeface="Cambria Math"/>
                            <a:ea typeface="Times New Roman"/>
                            <a:cs typeface="Times New Roman"/>
                          </a:rPr>
                        </m:ctrlPr>
                      </m:fPr>
                      <m:num>
                        <m:r>
                          <a:rPr lang="en-US" sz="2000" i="1">
                            <a:latin typeface="Cambria Math"/>
                            <a:ea typeface="Times New Roman"/>
                            <a:cs typeface="Times New Roman"/>
                          </a:rPr>
                          <m:t>2</m:t>
                        </m:r>
                      </m:num>
                      <m:den>
                        <m:r>
                          <a:rPr lang="en-US" sz="2000" i="1">
                            <a:latin typeface="Cambria Math"/>
                            <a:ea typeface="Times New Roman"/>
                            <a:cs typeface="Times New Roman"/>
                          </a:rPr>
                          <m:t>3</m:t>
                        </m:r>
                      </m:den>
                    </m:f>
                  </m:oMath>
                </a14:m>
                <a:r>
                  <a:rPr lang="en-US" sz="2000" dirty="0">
                    <a:latin typeface="Verdana"/>
                    <a:ea typeface="Times New Roman"/>
                    <a:cs typeface="Times New Roman"/>
                  </a:rPr>
                  <a:t> of the cement they ordered. How many tons of cement were left unused?</a:t>
                </a:r>
                <a:endParaRPr lang="en-PH" sz="2000" dirty="0">
                  <a:latin typeface="Calibri"/>
                  <a:ea typeface="Calibri"/>
                  <a:cs typeface="Times New Roman"/>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54613" y="541959"/>
                <a:ext cx="11552659" cy="5097742"/>
              </a:xfrm>
              <a:prstGeom prst="rect">
                <a:avLst/>
              </a:prstGeom>
              <a:blipFill>
                <a:blip r:embed="rId4"/>
                <a:stretch>
                  <a:fillRect l="-659" t="-993" r="-440" b="-74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C20EB48B-0C2A-FF47-ACB6-866A7F9595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327425" y="565018"/>
                <a:ext cx="11485883" cy="4826642"/>
              </a:xfrm>
              <a:prstGeom prst="rect">
                <a:avLst/>
              </a:prstGeom>
              <a:noFill/>
            </p:spPr>
            <p:txBody>
              <a:bodyPr wrap="square" rtlCol="0">
                <a:spAutoFit/>
              </a:bodyPr>
              <a:lstStyle/>
              <a:p>
                <a:pPr marL="457200" indent="-457200">
                  <a:lnSpc>
                    <a:spcPct val="107000"/>
                  </a:lnSpc>
                  <a:buFont typeface="+mj-lt"/>
                  <a:buAutoNum type="arabicPeriod" startAt="4"/>
                  <a:tabLst>
                    <a:tab pos="514350" algn="l"/>
                  </a:tabLst>
                </a:pPr>
                <a:r>
                  <a:rPr lang="en-US" sz="2000" dirty="0">
                    <a:latin typeface="Verdana"/>
                    <a:ea typeface="Times New Roman"/>
                    <a:cs typeface="Times New Roman"/>
                  </a:rPr>
                  <a:t>A grocery store opens a new wing bar that charges by the pound. </a:t>
                </a:r>
                <a:r>
                  <a:rPr lang="en-US" sz="2000" dirty="0" err="1">
                    <a:latin typeface="Verdana"/>
                    <a:ea typeface="Times New Roman"/>
                    <a:cs typeface="Times New Roman"/>
                  </a:rPr>
                  <a:t>Yasmine</a:t>
                </a:r>
                <a:r>
                  <a:rPr lang="en-US" sz="2000" dirty="0">
                    <a:latin typeface="Verdana"/>
                    <a:ea typeface="Times New Roman"/>
                    <a:cs typeface="Times New Roman"/>
                  </a:rPr>
                  <a:t> wants to purchase </a:t>
                </a:r>
                <a14:m>
                  <m:oMath xmlns:m="http://schemas.openxmlformats.org/officeDocument/2006/math">
                    <m:f>
                      <m:fPr>
                        <m:ctrlPr>
                          <a:rPr lang="en-PH" sz="2000" i="1">
                            <a:latin typeface="Cambria Math"/>
                            <a:ea typeface="Times New Roman"/>
                            <a:cs typeface="Times New Roman"/>
                          </a:rPr>
                        </m:ctrlPr>
                      </m:fPr>
                      <m:num>
                        <m:r>
                          <a:rPr lang="en-US" sz="2000" i="1">
                            <a:latin typeface="Cambria Math"/>
                            <a:ea typeface="Times New Roman"/>
                            <a:cs typeface="Times New Roman"/>
                          </a:rPr>
                          <m:t>1</m:t>
                        </m:r>
                      </m:num>
                      <m:den>
                        <m:r>
                          <a:rPr lang="en-US" sz="2000" i="1">
                            <a:latin typeface="Cambria Math"/>
                            <a:ea typeface="Times New Roman"/>
                            <a:cs typeface="Times New Roman"/>
                          </a:rPr>
                          <m:t>4</m:t>
                        </m:r>
                      </m:den>
                    </m:f>
                  </m:oMath>
                </a14:m>
                <a:r>
                  <a:rPr lang="en-US" sz="2000" dirty="0">
                    <a:latin typeface="Verdana"/>
                    <a:ea typeface="Times New Roman"/>
                    <a:cs typeface="Times New Roman"/>
                  </a:rPr>
                  <a:t> pound of garlic parmesan wings, </a:t>
                </a:r>
                <a14:m>
                  <m:oMath xmlns:m="http://schemas.openxmlformats.org/officeDocument/2006/math">
                    <m:f>
                      <m:fPr>
                        <m:ctrlPr>
                          <a:rPr lang="en-PH" sz="2000" i="1">
                            <a:latin typeface="Cambria Math"/>
                            <a:ea typeface="Times New Roman"/>
                            <a:cs typeface="Times New Roman"/>
                          </a:rPr>
                        </m:ctrlPr>
                      </m:fPr>
                      <m:num>
                        <m:r>
                          <a:rPr lang="en-US" sz="2000" i="1">
                            <a:latin typeface="Cambria Math"/>
                            <a:ea typeface="Times New Roman"/>
                            <a:cs typeface="Times New Roman"/>
                          </a:rPr>
                          <m:t>1</m:t>
                        </m:r>
                      </m:num>
                      <m:den>
                        <m:r>
                          <a:rPr lang="en-US" sz="2000" i="1">
                            <a:latin typeface="Cambria Math"/>
                            <a:ea typeface="Times New Roman"/>
                            <a:cs typeface="Times New Roman"/>
                          </a:rPr>
                          <m:t>8</m:t>
                        </m:r>
                      </m:den>
                    </m:f>
                  </m:oMath>
                </a14:m>
                <a:r>
                  <a:rPr lang="en-US" sz="2000" dirty="0">
                    <a:latin typeface="Verdana"/>
                    <a:ea typeface="Times New Roman"/>
                    <a:cs typeface="Times New Roman"/>
                  </a:rPr>
                  <a:t> pound of mild wings, and </a:t>
                </a:r>
                <a14:m>
                  <m:oMath xmlns:m="http://schemas.openxmlformats.org/officeDocument/2006/math">
                    <m:f>
                      <m:fPr>
                        <m:ctrlPr>
                          <a:rPr lang="en-PH" sz="2000" i="1">
                            <a:latin typeface="Cambria Math"/>
                            <a:ea typeface="Times New Roman"/>
                            <a:cs typeface="Times New Roman"/>
                          </a:rPr>
                        </m:ctrlPr>
                      </m:fPr>
                      <m:num>
                        <m:r>
                          <a:rPr lang="en-US" sz="2000" i="1">
                            <a:latin typeface="Cambria Math"/>
                            <a:ea typeface="Times New Roman"/>
                            <a:cs typeface="Times New Roman"/>
                          </a:rPr>
                          <m:t>2</m:t>
                        </m:r>
                      </m:num>
                      <m:den>
                        <m:r>
                          <a:rPr lang="en-US" sz="2000" i="1">
                            <a:latin typeface="Cambria Math"/>
                            <a:ea typeface="Times New Roman"/>
                            <a:cs typeface="Times New Roman"/>
                          </a:rPr>
                          <m:t>5</m:t>
                        </m:r>
                      </m:den>
                    </m:f>
                  </m:oMath>
                </a14:m>
                <a:r>
                  <a:rPr lang="en-US" sz="2000" dirty="0">
                    <a:latin typeface="Verdana"/>
                    <a:ea typeface="Times New Roman"/>
                    <a:cs typeface="Times New Roman"/>
                  </a:rPr>
                  <a:t> pound of teriyaki wings. She also wants to purchase some hot wings. If </a:t>
                </a:r>
                <a:r>
                  <a:rPr lang="en-US" sz="2000" dirty="0" err="1">
                    <a:latin typeface="Verdana"/>
                    <a:ea typeface="Times New Roman"/>
                    <a:cs typeface="Times New Roman"/>
                  </a:rPr>
                  <a:t>Yasmine</a:t>
                </a:r>
                <a:r>
                  <a:rPr lang="en-US" sz="2000" dirty="0">
                    <a:latin typeface="Verdana"/>
                    <a:ea typeface="Times New Roman"/>
                    <a:cs typeface="Times New Roman"/>
                  </a:rPr>
                  <a:t> wants to purchase a total of </a:t>
                </a:r>
                <a14:m>
                  <m:oMath xmlns:m="http://schemas.openxmlformats.org/officeDocument/2006/math">
                    <m:r>
                      <a:rPr lang="en-US" sz="2000" i="1">
                        <a:latin typeface="Cambria Math"/>
                        <a:ea typeface="Times New Roman"/>
                        <a:cs typeface="Times New Roman"/>
                      </a:rPr>
                      <m:t>2</m:t>
                    </m:r>
                  </m:oMath>
                </a14:m>
                <a:r>
                  <a:rPr lang="en-US" sz="2000" dirty="0">
                    <a:latin typeface="Verdana"/>
                    <a:ea typeface="Times New Roman"/>
                    <a:cs typeface="Times New Roman"/>
                  </a:rPr>
                  <a:t> pounds of wings, how many pounds of hot wings should she buy?</a:t>
                </a:r>
              </a:p>
              <a:p>
                <a:pPr marL="457200" indent="-457200">
                  <a:lnSpc>
                    <a:spcPct val="107000"/>
                  </a:lnSpc>
                  <a:buFont typeface="+mj-lt"/>
                  <a:buAutoNum type="arabicPeriod" startAt="4"/>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4"/>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4"/>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4"/>
                  <a:tabLst>
                    <a:tab pos="514350" algn="l"/>
                  </a:tabLst>
                </a:pPr>
                <a:endParaRPr lang="en-US" sz="2000" dirty="0">
                  <a:latin typeface="Verdana"/>
                  <a:ea typeface="Times New Roman"/>
                  <a:cs typeface="Times New Roman"/>
                </a:endParaRPr>
              </a:p>
              <a:p>
                <a:pPr marL="457200" indent="-457200">
                  <a:lnSpc>
                    <a:spcPct val="107000"/>
                  </a:lnSpc>
                  <a:buFont typeface="+mj-lt"/>
                  <a:buAutoNum type="arabicPeriod" startAt="4"/>
                  <a:tabLst>
                    <a:tab pos="514350" algn="l"/>
                  </a:tabLst>
                </a:pPr>
                <a:r>
                  <a:rPr lang="en-US" sz="2000" dirty="0" err="1">
                    <a:latin typeface="Verdana"/>
                    <a:ea typeface="Times New Roman"/>
                    <a:cs typeface="Times New Roman"/>
                  </a:rPr>
                  <a:t>Rawslyn</a:t>
                </a:r>
                <a:r>
                  <a:rPr lang="en-US" sz="2000" dirty="0">
                    <a:latin typeface="Verdana"/>
                    <a:ea typeface="Times New Roman"/>
                    <a:cs typeface="Times New Roman"/>
                  </a:rPr>
                  <a:t> is creating study kits for her students. Each folder costs </a:t>
                </a:r>
                <a14:m>
                  <m:oMath xmlns:m="http://schemas.openxmlformats.org/officeDocument/2006/math">
                    <m:r>
                      <a:rPr lang="en-US" sz="2000" i="1">
                        <a:latin typeface="Cambria Math"/>
                        <a:ea typeface="Times New Roman"/>
                        <a:cs typeface="Times New Roman"/>
                      </a:rPr>
                      <m:t>$1.79</m:t>
                    </m:r>
                  </m:oMath>
                </a14:m>
                <a:r>
                  <a:rPr lang="en-US" sz="2000" dirty="0">
                    <a:latin typeface="Verdana"/>
                    <a:ea typeface="Times New Roman"/>
                    <a:cs typeface="Times New Roman"/>
                  </a:rPr>
                  <a:t> and each copy of the study guide costs </a:t>
                </a:r>
                <a14:m>
                  <m:oMath xmlns:m="http://schemas.openxmlformats.org/officeDocument/2006/math">
                    <m:r>
                      <a:rPr lang="en-US" sz="2000" i="1">
                        <a:latin typeface="Cambria Math"/>
                        <a:ea typeface="Times New Roman"/>
                        <a:cs typeface="Times New Roman"/>
                      </a:rPr>
                      <m:t>$0.95</m:t>
                    </m:r>
                  </m:oMath>
                </a14:m>
                <a:r>
                  <a:rPr lang="en-US" sz="2000" dirty="0">
                    <a:latin typeface="Cambria Math"/>
                    <a:ea typeface="Times New Roman"/>
                    <a:cs typeface="Times New Roman"/>
                  </a:rPr>
                  <a:t>.</a:t>
                </a:r>
                <a:r>
                  <a:rPr lang="en-US" sz="2000" dirty="0">
                    <a:latin typeface="Verdana"/>
                    <a:ea typeface="Times New Roman"/>
                    <a:cs typeface="Times New Roman"/>
                  </a:rPr>
                  <a:t> Each student gets one of each and there are </a:t>
                </a:r>
                <a14:m>
                  <m:oMath xmlns:m="http://schemas.openxmlformats.org/officeDocument/2006/math">
                    <m:r>
                      <a:rPr lang="en-US" sz="2000" i="1">
                        <a:latin typeface="Cambria Math"/>
                        <a:ea typeface="Times New Roman"/>
                        <a:cs typeface="Times New Roman"/>
                      </a:rPr>
                      <m:t>22</m:t>
                    </m:r>
                  </m:oMath>
                </a14:m>
                <a:r>
                  <a:rPr lang="en-US" sz="2000" dirty="0">
                    <a:latin typeface="Verdana"/>
                    <a:ea typeface="Times New Roman"/>
                    <a:cs typeface="Times New Roman"/>
                  </a:rPr>
                  <a:t> students in the class. If </a:t>
                </a:r>
                <a:r>
                  <a:rPr lang="en-US" sz="2000" dirty="0" err="1">
                    <a:latin typeface="Verdana"/>
                    <a:ea typeface="Times New Roman"/>
                    <a:cs typeface="Times New Roman"/>
                  </a:rPr>
                  <a:t>Rawslyn</a:t>
                </a:r>
                <a:r>
                  <a:rPr lang="en-US" sz="2000" dirty="0">
                    <a:latin typeface="Verdana"/>
                    <a:ea typeface="Times New Roman"/>
                    <a:cs typeface="Times New Roman"/>
                  </a:rPr>
                  <a:t> has </a:t>
                </a:r>
                <a14:m>
                  <m:oMath xmlns:m="http://schemas.openxmlformats.org/officeDocument/2006/math">
                    <m:r>
                      <a:rPr lang="en-US" sz="2000" i="1">
                        <a:latin typeface="Cambria Math"/>
                        <a:ea typeface="Times New Roman"/>
                        <a:cs typeface="Times New Roman"/>
                      </a:rPr>
                      <m:t>$35.43</m:t>
                    </m:r>
                  </m:oMath>
                </a14:m>
                <a:r>
                  <a:rPr lang="en-US" sz="2000" dirty="0">
                    <a:latin typeface="Verdana"/>
                    <a:ea typeface="Times New Roman"/>
                    <a:cs typeface="Times New Roman"/>
                  </a:rPr>
                  <a:t> in her wallet, how much more money will </a:t>
                </a:r>
                <a:r>
                  <a:rPr lang="en-US" sz="2000" dirty="0" err="1">
                    <a:latin typeface="Verdana"/>
                    <a:ea typeface="Times New Roman"/>
                    <a:cs typeface="Times New Roman"/>
                  </a:rPr>
                  <a:t>Rawslyn</a:t>
                </a:r>
                <a:r>
                  <a:rPr lang="en-US" sz="2000" dirty="0">
                    <a:latin typeface="Verdana"/>
                    <a:ea typeface="Times New Roman"/>
                    <a:cs typeface="Times New Roman"/>
                  </a:rPr>
                  <a:t> need to create the study kits? </a:t>
                </a:r>
                <a:endParaRPr lang="en-PH" sz="2000" dirty="0">
                  <a:latin typeface="Calibri"/>
                  <a:ea typeface="Calibri"/>
                  <a:cs typeface="Times New Roman"/>
                </a:endParaRPr>
              </a:p>
              <a:p>
                <a:pPr marL="457200" indent="-457200">
                  <a:lnSpc>
                    <a:spcPct val="107000"/>
                  </a:lnSpc>
                  <a:buFont typeface="+mj-lt"/>
                  <a:buAutoNum type="arabicPeriod" startAt="4"/>
                  <a:tabLst>
                    <a:tab pos="514350" algn="l"/>
                  </a:tabLst>
                </a:pPr>
                <a:endParaRPr lang="en-PH" sz="2000" dirty="0">
                  <a:latin typeface="Calibri"/>
                  <a:ea typeface="Calibri"/>
                  <a:cs typeface="Times New Roman"/>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327425" y="565018"/>
                <a:ext cx="11485883" cy="4826642"/>
              </a:xfrm>
              <a:prstGeom prst="rect">
                <a:avLst/>
              </a:prstGeom>
              <a:blipFill>
                <a:blip r:embed="rId4"/>
                <a:stretch>
                  <a:fillRect l="-552" t="-1050" r="-44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C20EB48B-0C2A-FF47-ACB6-866A7F95956C}"/>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endParaRPr i="1" dirty="0">
              <a:latin typeface="Calibri"/>
              <a:ea typeface="Calibri"/>
              <a:cs typeface="Calibri"/>
              <a:sym typeface="Calibri"/>
            </a:endParaRPr>
          </a:p>
        </p:txBody>
      </p:sp>
    </p:spTree>
    <p:extLst>
      <p:ext uri="{BB962C8B-B14F-4D97-AF65-F5344CB8AC3E}">
        <p14:creationId xmlns:p14="http://schemas.microsoft.com/office/powerpoint/2010/main" val="403655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26339"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28438" y="307336"/>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41266B"/>
                </a:solidFill>
                <a:latin typeface="Verdana"/>
                <a:ea typeface="Calibri"/>
                <a:cs typeface="Times New Roman"/>
              </a:rPr>
              <a:t>3.8.4 Wrap-Up: Cool Down</a:t>
            </a:r>
            <a:endParaRPr lang="en-US" sz="3600" b="1" dirty="0">
              <a:solidFill>
                <a:srgbClr val="3F2A67"/>
              </a:solidFill>
              <a:latin typeface="Verdana"/>
              <a:ea typeface="Verdana"/>
              <a:cs typeface="Verdana"/>
              <a:sym typeface="Verdana"/>
            </a:endParaRP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730266" y="1333064"/>
            <a:ext cx="10898316" cy="733278"/>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a:ea typeface="Calibri"/>
                <a:cs typeface="Times New Roman"/>
              </a:rPr>
              <a:t>For each statement, write whether you agree with it, disagree with it, or are unsure. </a:t>
            </a:r>
            <a:endParaRPr lang="en-PH" sz="2000" dirty="0">
              <a:latin typeface="Calibri"/>
              <a:ea typeface="Calibri"/>
              <a:cs typeface="Times New Roman"/>
            </a:endParaRPr>
          </a:p>
        </p:txBody>
      </p:sp>
      <p:sp>
        <p:nvSpPr>
          <p:cNvPr id="8" name="Google Shape;278;g104476d1465_1_17">
            <a:extLst>
              <a:ext uri="{FF2B5EF4-FFF2-40B4-BE49-F238E27FC236}">
                <a16:creationId xmlns:a16="http://schemas.microsoft.com/office/drawing/2014/main" xmlns="" id="{31AAE36C-5822-464A-8B2B-DAD96F65814D}"/>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p:cNvGraphicFramePr>
            <a:graphicFrameLocks noGrp="1"/>
          </p:cNvGraphicFramePr>
          <p:nvPr>
            <p:extLst>
              <p:ext uri="{D42A27DB-BD31-4B8C-83A1-F6EECF244321}">
                <p14:modId xmlns:p14="http://schemas.microsoft.com/office/powerpoint/2010/main" val="3524504289"/>
              </p:ext>
            </p:extLst>
          </p:nvPr>
        </p:nvGraphicFramePr>
        <p:xfrm>
          <a:off x="2272453" y="2292161"/>
          <a:ext cx="7813941" cy="3777107"/>
        </p:xfrm>
        <a:graphic>
          <a:graphicData uri="http://schemas.openxmlformats.org/drawingml/2006/table">
            <a:tbl>
              <a:tblPr firstRow="1" firstCol="1" bandRow="1"/>
              <a:tblGrid>
                <a:gridCol w="4320000">
                  <a:extLst>
                    <a:ext uri="{9D8B030D-6E8A-4147-A177-3AD203B41FA5}">
                      <a16:colId xmlns:a16="http://schemas.microsoft.com/office/drawing/2014/main" xmlns="" val="20000"/>
                    </a:ext>
                  </a:extLst>
                </a:gridCol>
                <a:gridCol w="3493941">
                  <a:extLst>
                    <a:ext uri="{9D8B030D-6E8A-4147-A177-3AD203B41FA5}">
                      <a16:colId xmlns:a16="http://schemas.microsoft.com/office/drawing/2014/main" xmlns="" val="20001"/>
                    </a:ext>
                  </a:extLst>
                </a:gridCol>
              </a:tblGrid>
              <a:tr h="140421">
                <a:tc>
                  <a:txBody>
                    <a:bodyPr/>
                    <a:lstStyle/>
                    <a:p>
                      <a:pPr algn="ctr">
                        <a:lnSpc>
                          <a:spcPct val="107000"/>
                        </a:lnSpc>
                        <a:spcAft>
                          <a:spcPts val="0"/>
                        </a:spcAft>
                        <a:tabLst>
                          <a:tab pos="590550" algn="l"/>
                        </a:tabLst>
                      </a:pPr>
                      <a:r>
                        <a:rPr lang="en-US" sz="1800" b="1" dirty="0">
                          <a:effectLst/>
                          <a:latin typeface="Verdana"/>
                          <a:ea typeface="Times New Roman"/>
                          <a:cs typeface="Times New Roman"/>
                        </a:rPr>
                        <a:t>Statement</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tabLst>
                          <a:tab pos="590550" algn="l"/>
                        </a:tabLst>
                      </a:pPr>
                      <a:r>
                        <a:rPr lang="en-US" sz="1800" b="1" dirty="0">
                          <a:effectLst/>
                          <a:latin typeface="Verdana"/>
                          <a:ea typeface="Times New Roman"/>
                          <a:cs typeface="Times New Roman"/>
                        </a:rPr>
                        <a:t>Agree/Disagree/Unsure</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70322">
                <a:tc>
                  <a:txBody>
                    <a:bodyPr/>
                    <a:lstStyle/>
                    <a:p>
                      <a:pPr algn="ctr">
                        <a:lnSpc>
                          <a:spcPct val="107000"/>
                        </a:lnSpc>
                        <a:spcAft>
                          <a:spcPts val="0"/>
                        </a:spcAft>
                        <a:tabLst>
                          <a:tab pos="590550" algn="l"/>
                        </a:tabLst>
                      </a:pPr>
                      <a:r>
                        <a:rPr lang="en-US" sz="1800" dirty="0">
                          <a:effectLst/>
                          <a:latin typeface="Verdana"/>
                          <a:ea typeface="Times New Roman"/>
                          <a:cs typeface="Times New Roman"/>
                        </a:rPr>
                        <a:t>The more digits a number has, </a:t>
                      </a:r>
                      <a:br>
                        <a:rPr lang="en-US" sz="1800" dirty="0">
                          <a:effectLst/>
                          <a:latin typeface="Verdana"/>
                          <a:ea typeface="Times New Roman"/>
                          <a:cs typeface="Times New Roman"/>
                        </a:rPr>
                      </a:br>
                      <a:r>
                        <a:rPr lang="en-US" sz="1800" dirty="0">
                          <a:effectLst/>
                          <a:latin typeface="Verdana"/>
                          <a:ea typeface="Times New Roman"/>
                          <a:cs typeface="Times New Roman"/>
                        </a:rPr>
                        <a:t>the larger it is.</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590550" algn="l"/>
                        </a:tabLst>
                      </a:pPr>
                      <a:r>
                        <a:rPr lang="en-US" sz="1800" b="1" dirty="0">
                          <a:effectLst/>
                          <a:latin typeface="Verdana"/>
                          <a:ea typeface="Times New Roman"/>
                          <a:cs typeface="Times New Roman"/>
                        </a:rPr>
                        <a:t> </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453870">
                <a:tc>
                  <a:txBody>
                    <a:bodyPr/>
                    <a:lstStyle/>
                    <a:p>
                      <a:pPr algn="ctr">
                        <a:lnSpc>
                          <a:spcPct val="107000"/>
                        </a:lnSpc>
                        <a:spcAft>
                          <a:spcPts val="0"/>
                        </a:spcAft>
                        <a:tabLst>
                          <a:tab pos="590550" algn="l"/>
                        </a:tabLst>
                      </a:pPr>
                      <a:r>
                        <a:rPr lang="en-US" sz="1800">
                          <a:effectLst/>
                          <a:latin typeface="Verdana"/>
                          <a:ea typeface="Times New Roman"/>
                          <a:cs typeface="Times New Roman"/>
                        </a:rPr>
                        <a:t>When you add two positive decimals together, the value is always larger.</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590550" algn="l"/>
                        </a:tabLst>
                      </a:pPr>
                      <a:r>
                        <a:rPr lang="en-US" sz="1800" b="1">
                          <a:effectLst/>
                          <a:latin typeface="Verdana"/>
                          <a:ea typeface="Times New Roman"/>
                          <a:cs typeface="Times New Roman"/>
                        </a:rPr>
                        <a:t> </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495377">
                <a:tc>
                  <a:txBody>
                    <a:bodyPr/>
                    <a:lstStyle/>
                    <a:p>
                      <a:pPr algn="ctr">
                        <a:lnSpc>
                          <a:spcPct val="107000"/>
                        </a:lnSpc>
                        <a:spcAft>
                          <a:spcPts val="0"/>
                        </a:spcAft>
                        <a:tabLst>
                          <a:tab pos="590550" algn="l"/>
                        </a:tabLst>
                      </a:pPr>
                      <a:r>
                        <a:rPr lang="en-US" sz="1800">
                          <a:effectLst/>
                          <a:latin typeface="Verdana"/>
                          <a:ea typeface="Times New Roman"/>
                          <a:cs typeface="Times New Roman"/>
                        </a:rPr>
                        <a:t>To add fractions, their denominators must be the same.</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590550" algn="l"/>
                        </a:tabLst>
                      </a:pPr>
                      <a:r>
                        <a:rPr lang="en-US" sz="1800" b="1">
                          <a:effectLst/>
                          <a:latin typeface="Verdana"/>
                          <a:ea typeface="Times New Roman"/>
                          <a:cs typeface="Times New Roman"/>
                        </a:rPr>
                        <a:t> </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473822">
                <a:tc>
                  <a:txBody>
                    <a:bodyPr/>
                    <a:lstStyle/>
                    <a:p>
                      <a:pPr algn="ctr">
                        <a:lnSpc>
                          <a:spcPct val="107000"/>
                        </a:lnSpc>
                        <a:spcAft>
                          <a:spcPts val="0"/>
                        </a:spcAft>
                        <a:tabLst>
                          <a:tab pos="590550" algn="l"/>
                        </a:tabLst>
                      </a:pPr>
                      <a:r>
                        <a:rPr lang="en-US" sz="1800">
                          <a:effectLst/>
                          <a:latin typeface="Verdana"/>
                          <a:ea typeface="Times New Roman"/>
                          <a:cs typeface="Times New Roman"/>
                        </a:rPr>
                        <a:t>The product of two fractions is always a larger number.</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590550" algn="l"/>
                        </a:tabLst>
                      </a:pPr>
                      <a:r>
                        <a:rPr lang="en-US" sz="1800" b="1">
                          <a:effectLst/>
                          <a:latin typeface="Verdana"/>
                          <a:ea typeface="Times New Roman"/>
                          <a:cs typeface="Times New Roman"/>
                        </a:rPr>
                        <a:t> </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494309">
                <a:tc>
                  <a:txBody>
                    <a:bodyPr/>
                    <a:lstStyle/>
                    <a:p>
                      <a:pPr algn="ctr">
                        <a:lnSpc>
                          <a:spcPct val="107000"/>
                        </a:lnSpc>
                        <a:spcAft>
                          <a:spcPts val="0"/>
                        </a:spcAft>
                        <a:tabLst>
                          <a:tab pos="590550" algn="l"/>
                        </a:tabLst>
                      </a:pPr>
                      <a:r>
                        <a:rPr lang="en-US" sz="1800">
                          <a:effectLst/>
                          <a:latin typeface="Verdana"/>
                          <a:ea typeface="Times New Roman"/>
                          <a:cs typeface="Times New Roman"/>
                        </a:rPr>
                        <a:t>When you put a zero on the end of any number, it makes it larger.</a:t>
                      </a:r>
                      <a:endParaRPr lang="en-PH" sz="180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tabLst>
                          <a:tab pos="590550" algn="l"/>
                        </a:tabLst>
                      </a:pPr>
                      <a:r>
                        <a:rPr lang="en-US" sz="1800" b="1" dirty="0">
                          <a:effectLst/>
                          <a:latin typeface="Verdana"/>
                          <a:ea typeface="Times New Roman"/>
                          <a:cs typeface="Times New Roman"/>
                        </a:rPr>
                        <a:t> </a:t>
                      </a:r>
                      <a:endParaRPr lang="en-PH" sz="1800" dirty="0">
                        <a:effectLst/>
                        <a:latin typeface="Calibri"/>
                        <a:ea typeface="Calibri"/>
                        <a:cs typeface="Times New Roman"/>
                      </a:endParaRPr>
                    </a:p>
                  </a:txBody>
                  <a:tcPr marL="45720" marR="4572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1275</TotalTime>
  <Words>1026</Words>
  <Application>Microsoft Office PowerPoint</Application>
  <PresentationFormat>Custom</PresentationFormat>
  <Paragraphs>131</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Wingdings</vt:lpstr>
      <vt:lpstr>Cambria Math</vt:lpstr>
      <vt:lpstr>Arial Black</vt:lpstr>
      <vt:lpstr>Verdana</vt:lpstr>
      <vt:lpstr>Calibri</vt:lpstr>
      <vt:lpstr>Times New Roman</vt:lpstr>
      <vt:lpstr>Century Gothic</vt:lpstr>
      <vt:lpstr>1_Office Theme</vt:lpstr>
      <vt:lpstr>6th Grade Math  Unit 3, Lesson 8  Solving Multi Step, Real-World Problems with Fractions or Decimals – Part 1  Volume 1, pg. 123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24</cp:revision>
  <dcterms:created xsi:type="dcterms:W3CDTF">2015-03-17T18:51:18Z</dcterms:created>
  <dcterms:modified xsi:type="dcterms:W3CDTF">2022-07-07T09:09:15Z</dcterms:modified>
</cp:coreProperties>
</file>