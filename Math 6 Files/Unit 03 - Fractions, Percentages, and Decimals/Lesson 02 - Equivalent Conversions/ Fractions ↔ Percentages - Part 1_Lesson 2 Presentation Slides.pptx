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08" r:id="rId10"/>
    <p:sldId id="326" r:id="rId11"/>
    <p:sldId id="327" r:id="rId12"/>
    <p:sldId id="328" r:id="rId13"/>
    <p:sldId id="323" r:id="rId14"/>
    <p:sldId id="324" r:id="rId15"/>
    <p:sldId id="302" r:id="rId16"/>
    <p:sldId id="303" r:id="rId17"/>
    <p:sldId id="309" r:id="rId18"/>
    <p:sldId id="306" r:id="rId19"/>
    <p:sldId id="307" r:id="rId20"/>
  </p:sldIdLst>
  <p:sldSz cx="12192000" cy="6858000"/>
  <p:notesSz cx="6858000" cy="9144000"/>
  <p:embeddedFontLst>
    <p:embeddedFont>
      <p:font typeface="Segoe UI Emoji" pitchFamily="34" charset="0"/>
      <p:regular r:id="rId22"/>
    </p:embeddedFont>
    <p:embeddedFont>
      <p:font typeface="Century Gothic" pitchFamily="34" charset="0"/>
      <p:regular r:id="rId23"/>
      <p:bold r:id="rId24"/>
      <p:italic r:id="rId25"/>
      <p:boldItalic r:id="rId26"/>
    </p:embeddedFont>
    <p:embeddedFont>
      <p:font typeface="Cambria Math" pitchFamily="18" charset="0"/>
      <p:regular r:id="rId27"/>
    </p:embeddedFont>
    <p:embeddedFont>
      <p:font typeface="Arial Black" pitchFamily="34" charset="0"/>
      <p:bold r:id="rId28"/>
    </p:embeddedFont>
    <p:embeddedFont>
      <p:font typeface="Verdana" pitchFamily="34" charset="0"/>
      <p:regular r:id="rId29"/>
      <p:bold r:id="rId30"/>
      <p:italic r:id="rId31"/>
      <p:boldItalic r:id="rId32"/>
    </p:embeddedFont>
    <p:embeddedFont>
      <p:font typeface="Calibri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FCBD1E"/>
    <a:srgbClr val="C9DF6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4CED1C-0113-4A54-9022-4204CDD3C5CD}" v="490" dt="2021-12-30T22:32:48.851"/>
  </p1510:revLst>
</p1510:revInfo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091" autoAdjust="0"/>
    <p:restoredTop sz="86359" autoAdjust="0"/>
  </p:normalViewPr>
  <p:slideViewPr>
    <p:cSldViewPr snapToGrid="0">
      <p:cViewPr varScale="1">
        <p:scale>
          <a:sx n="55" d="100"/>
          <a:sy n="55" d="100"/>
        </p:scale>
        <p:origin x="-90" y="-12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7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3032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1170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3958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4205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0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Google Shape;261;g104476d1465_0_0"/>
              <p:cNvSpPr txBox="1">
                <a:spLocks noGrp="1"/>
              </p:cNvSpPr>
              <p:nvPr>
                <p:ph type="ctrTitle" idx="4294967295"/>
              </p:nvPr>
            </p:nvSpPr>
            <p:spPr>
              <a:xfrm>
                <a:off x="5635312" y="2054275"/>
                <a:ext cx="4925167" cy="3194455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6</a:t>
                </a:r>
                <a:r>
                  <a:rPr lang="en-US" sz="3600" b="1" baseline="30000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th</a:t>
                </a:r>
                <a: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Grade Math</a:t>
                </a:r>
                <a:b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endParaRPr lang="en-US" sz="3600" b="1" dirty="0">
                  <a:solidFill>
                    <a:srgbClr val="417DB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 algn="ctr">
                  <a:lnSpc>
                    <a:spcPct val="100000"/>
                  </a:lnSpc>
                  <a:buClr>
                    <a:srgbClr val="000000"/>
                  </a:buClr>
                </a:pPr>
                <a: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Unit 3, Lesson 2</a:t>
                </a:r>
                <a:b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/>
                </a:r>
                <a:b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Equivalent Conversions: </a:t>
                </a:r>
                <a:r>
                  <a:rPr lang="en-US" sz="36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Fractions 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417DB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en-US" sz="36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Segoe UI Emoji" panose="020B0502040204020203" pitchFamily="34" charset="0"/>
                  </a:rPr>
                  <a:t> </a:t>
                </a:r>
                <a:r>
                  <a:rPr lang="en-US" sz="36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Percentages</a:t>
                </a:r>
                <a:br>
                  <a:rPr lang="en-US" sz="36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</a:br>
                <a:r>
                  <a:rPr lang="en-US" sz="36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- Part 1</a:t>
                </a:r>
                <a:r>
                  <a:rPr lang="en-US" sz="36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/>
                    <a:sym typeface="Verdana"/>
                  </a:rPr>
                  <a:t/>
                </a:r>
                <a:br>
                  <a:rPr lang="en-US" sz="36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/>
                    <a:sym typeface="Verdana"/>
                  </a:rPr>
                </a:br>
                <a:r>
                  <a:rPr lang="en-US" sz="3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/>
                </a:r>
                <a:br>
                  <a:rPr lang="en-US" sz="3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-US" sz="2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Volume 1, pg. 99</a:t>
                </a:r>
              </a:p>
              <a:p>
                <a:pPr algn="ctr">
                  <a:lnSpc>
                    <a:spcPct val="100000"/>
                  </a:lnSpc>
                  <a:buClr>
                    <a:srgbClr val="000000"/>
                  </a:buClr>
                </a:pPr>
                <a:endParaRPr lang="en-US" sz="3400" b="1" dirty="0">
                  <a:solidFill>
                    <a:srgbClr val="417DB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algn="ctr">
                  <a:lnSpc>
                    <a:spcPct val="75000"/>
                  </a:lnSpc>
                </a:pPr>
                <a:endParaRPr sz="3100" dirty="0">
                  <a:solidFill>
                    <a:srgbClr val="417DBF"/>
                  </a:solidFill>
                </a:endParaRPr>
              </a:p>
            </p:txBody>
          </p:sp>
        </mc:Choice>
        <mc:Fallback xmlns="">
          <p:sp>
            <p:nvSpPr>
              <p:cNvPr id="261" name="Google Shape;261;g104476d1465_0_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ctrTitle" idx="4294967295"/>
              </p:nvPr>
            </p:nvSpPr>
            <p:spPr>
              <a:xfrm>
                <a:off x="5635312" y="2054275"/>
                <a:ext cx="4925167" cy="3194455"/>
              </a:xfrm>
              <a:prstGeom prst="rect">
                <a:avLst/>
              </a:prstGeom>
              <a:blipFill>
                <a:blip r:embed="rId3"/>
                <a:stretch>
                  <a:fillRect t="-60474" b="-35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67512" y="1325700"/>
            <a:ext cx="1108493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MA.6.NSO.3.5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Rewrite positive rational numbers in different but equivalent forms including fractions, terminating decimals, and percentages.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64876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6" y="1326150"/>
            <a:ext cx="1110880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0EC4A24D-AC58-5143-9A1A-1E71E28DFC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xmlns="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0266" y="1325700"/>
                <a:ext cx="11205060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536575" indent="-530225">
                  <a:buClr>
                    <a:srgbClr val="434343"/>
                  </a:buClr>
                  <a:buSzPts val="3500"/>
                  <a:buFont typeface="Wingdings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I can convert between fractions with denominators of </a:t>
                </a:r>
                <a14:m>
                  <m:oMath xmlns:m="http://schemas.openxmlformats.org/officeDocument/2006/math">
                    <m:r>
                      <a:rPr lang="en-US" sz="3500" i="1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and percentages.</a:t>
                </a:r>
              </a:p>
              <a:p>
                <a:pPr marL="536575" indent="-530225">
                  <a:buClr>
                    <a:srgbClr val="434343"/>
                  </a:buClr>
                  <a:buSzPts val="3500"/>
                  <a:buFont typeface="Wingdings" pitchFamily="2" charset="2"/>
                  <a:buChar char="q"/>
                </a:pPr>
                <a:endParaRPr lang="en-US" sz="35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536575" indent="-530225">
                  <a:buClr>
                    <a:srgbClr val="434343"/>
                  </a:buClr>
                  <a:buSzPts val="3500"/>
                  <a:buFont typeface="Wingdings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I can convert between fractions and percentages using equivalent fractions.</a:t>
                </a:r>
              </a:p>
              <a:p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 </a:t>
                </a:r>
              </a:p>
              <a:p>
                <a:pPr marL="457200" indent="-450850"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endParaRPr lang="en-US" sz="3500" dirty="0">
                  <a:solidFill>
                    <a:schemeClr val="tx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25700"/>
                <a:ext cx="11205060" cy="4205700"/>
              </a:xfrm>
              <a:prstGeom prst="rect">
                <a:avLst/>
              </a:prstGeom>
              <a:blipFill>
                <a:blip r:embed="rId5"/>
                <a:stretch>
                  <a:fillRect l="-1359" t="-21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7BA09A98-EDA0-5343-AD77-8F8E8C4F0E7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7007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59929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124267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3.2.1 Warm-Up: A Brief History of Numerical Systems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730265" y="1294089"/>
            <a:ext cx="11378315" cy="4351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Humans went from using body parts, tally marks, and symbols to count objects, to what we now know as the base-ten system. </a:t>
            </a:r>
            <a:r>
              <a:rPr lang="en-US" sz="2000" dirty="0">
                <a:latin typeface="Verdana"/>
              </a:rPr>
              <a:t>Multiple civilizations around the world developed positional numbering systems, and both Mayan and Indian civilizations developed the concept of “zero</a:t>
            </a:r>
            <a:r>
              <a:rPr lang="en-US" sz="2000" dirty="0" smtClean="0">
                <a:latin typeface="Verdana"/>
              </a:rPr>
              <a:t>.”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base-ten system was perfected by eighth century Indian mathematicians. They realized that they could combine the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concept of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“zero” with a positional system that used repeatable symbols, whose values are determined by their position in a sequence. A base of ten was selected because, quite simply, we have ten fingers. Centuries later, this Hindu-Arabic numeral system began to spread to Europe and replaced the Roman numeral system. This is what we use today.</a:t>
            </a:r>
          </a:p>
          <a:p>
            <a:pPr>
              <a:lnSpc>
                <a:spcPct val="107000"/>
              </a:lnSpc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What is the historical importance of the number zero?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If zero was never created, how would that affect how we do math today?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C2564F7E-689E-724F-BBC4-EC8DFC52E6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51000" y="284992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95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3.2.2 Guided Instruction: Converting Between Fractions and Percentages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730266" y="1325700"/>
            <a:ext cx="11387940" cy="4418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model represents a </a:t>
            </a:r>
            <a:b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numerical value. Use the </a:t>
            </a:r>
            <a:b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to answer the </a:t>
            </a:r>
            <a:b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questions that follow.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/>
              <a:tabLst>
                <a:tab pos="1193800" algn="l"/>
              </a:tabLst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many total squares </a:t>
            </a:r>
            <a:b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 in the image?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tabLst>
                <a:tab pos="1193800" algn="l"/>
              </a:tabLst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pPr marL="914400">
              <a:lnSpc>
                <a:spcPct val="107000"/>
              </a:lnSpc>
              <a:tabLst>
                <a:tab pos="1193800" algn="l"/>
              </a:tabLs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 startAt="2"/>
              <a:tabLst>
                <a:tab pos="1193800" algn="l"/>
              </a:tabLst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2438">
              <a:lnSpc>
                <a:spcPct val="107000"/>
              </a:lnSpc>
              <a:buFont typeface="+mj-lt"/>
              <a:buAutoNum type="alphaLcPeriod" startAt="2"/>
              <a:tabLst>
                <a:tab pos="1193800" algn="l"/>
              </a:tabLst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many of the squares are shaded blue?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F7A98FFB-A3E6-7642-B96E-3A3B8C27BD7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D828F5F-5E2A-42DB-94FF-4323D14719A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8616" y="1325700"/>
            <a:ext cx="3356032" cy="345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379655" y="417181"/>
                <a:ext cx="11594172" cy="5233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2438">
                  <a:lnSpc>
                    <a:spcPct val="107000"/>
                  </a:lnSpc>
                  <a:buFont typeface="+mj-lt"/>
                  <a:buAutoNum type="alphaLcPeriod" startAt="3"/>
                  <a:tabLst>
                    <a:tab pos="119380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What numerical value does the model represent, expressed as a fraction of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blue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shaded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squares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total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squares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461962">
                  <a:lnSpc>
                    <a:spcPct val="107000"/>
                  </a:lnSpc>
                  <a:tabLst>
                    <a:tab pos="119380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61962">
                  <a:lnSpc>
                    <a:spcPct val="107000"/>
                  </a:lnSpc>
                  <a:tabLst>
                    <a:tab pos="119380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61962">
                  <a:lnSpc>
                    <a:spcPct val="107000"/>
                  </a:lnSpc>
                  <a:tabLst>
                    <a:tab pos="119380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Recall that a </a:t>
                </a:r>
                <a:r>
                  <a:rPr lang="en-US" sz="24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percentage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ratio expressed as a fraction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61962">
                  <a:lnSpc>
                    <a:spcPct val="107000"/>
                  </a:lnSpc>
                  <a:tabLst>
                    <a:tab pos="119380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1962">
                  <a:lnSpc>
                    <a:spcPct val="107000"/>
                  </a:lnSpc>
                  <a:tabLst>
                    <a:tab pos="119380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1962">
                  <a:lnSpc>
                    <a:spcPct val="107000"/>
                  </a:lnSpc>
                  <a:tabLst>
                    <a:tab pos="1193800" algn="l"/>
                    <a:tab pos="531495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For example,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means “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,” so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is equivalent to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40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55" y="417181"/>
                <a:ext cx="11594172" cy="5233292"/>
              </a:xfrm>
              <a:prstGeom prst="rect">
                <a:avLst/>
              </a:prstGeom>
              <a:blipFill>
                <a:blip r:embed="rId4"/>
                <a:stretch>
                  <a:fillRect l="-766"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xmlns="" id="{321CFBAB-4D60-4FEB-9D8B-AE4E9737A4C3}"/>
                  </a:ext>
                </a:extLst>
              </p:cNvPr>
              <p:cNvSpPr/>
              <p:nvPr/>
            </p:nvSpPr>
            <p:spPr>
              <a:xfrm>
                <a:off x="1982741" y="3706283"/>
                <a:ext cx="8388000" cy="497705"/>
              </a:xfrm>
              <a:prstGeom prst="roundRect">
                <a:avLst/>
              </a:prstGeom>
              <a:solidFill>
                <a:srgbClr val="E3EFD5"/>
              </a:solidFill>
              <a:ln>
                <a:solidFill>
                  <a:srgbClr val="E3EFD5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72000" rIns="91440" bIns="720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b="1" i="1" dirty="0">
                    <a:solidFill>
                      <a:srgbClr val="6C993C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Percent</a:t>
                </a:r>
                <a:r>
                  <a:rPr lang="en-US" sz="2000" dirty="0">
                    <a:solidFill>
                      <a:srgbClr val="6C993C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C993C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sz="2000" dirty="0">
                    <a:solidFill>
                      <a:srgbClr val="6C993C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means “per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C993C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100</m:t>
                    </m:r>
                  </m:oMath>
                </a14:m>
                <a:r>
                  <a:rPr lang="en-US" sz="2000" dirty="0">
                    <a:solidFill>
                      <a:srgbClr val="6C993C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,” “for every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C993C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100</m:t>
                    </m:r>
                  </m:oMath>
                </a14:m>
                <a:r>
                  <a:rPr lang="en-US" sz="2000" dirty="0">
                    <a:solidFill>
                      <a:srgbClr val="6C993C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,” or “out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C993C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100</m:t>
                    </m:r>
                  </m:oMath>
                </a14:m>
                <a:r>
                  <a:rPr lang="en-US" sz="2000" dirty="0">
                    <a:solidFill>
                      <a:srgbClr val="6C993C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.”</a:t>
                </a:r>
                <a:endParaRPr lang="en-US" sz="12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21CFBAB-4D60-4FEB-9D8B-AE4E9737A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741" y="3706283"/>
                <a:ext cx="8388000" cy="49770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E3EFD5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352833" y="422726"/>
                <a:ext cx="11486333" cy="653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decimal value has the same value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40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33" y="422726"/>
                <a:ext cx="11486333" cy="653705"/>
              </a:xfrm>
              <a:prstGeom prst="rect">
                <a:avLst/>
              </a:prstGeom>
              <a:blipFill>
                <a:blip r:embed="rId4"/>
                <a:stretch>
                  <a:fillRect l="-773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8C219FC8-56DC-4408-AEAB-AEF467E6E8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4850925"/>
                  </p:ext>
                </p:extLst>
              </p:nvPr>
            </p:nvGraphicFramePr>
            <p:xfrm>
              <a:off x="2575696" y="1318883"/>
              <a:ext cx="7040605" cy="211011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346413">
                      <a:extLst>
                        <a:ext uri="{9D8B030D-6E8A-4147-A177-3AD203B41FA5}">
                          <a16:colId xmlns:a16="http://schemas.microsoft.com/office/drawing/2014/main" xmlns="" val="2434972333"/>
                        </a:ext>
                      </a:extLst>
                    </a:gridCol>
                    <a:gridCol w="2347096">
                      <a:extLst>
                        <a:ext uri="{9D8B030D-6E8A-4147-A177-3AD203B41FA5}">
                          <a16:colId xmlns:a16="http://schemas.microsoft.com/office/drawing/2014/main" xmlns="" val="1587196992"/>
                        </a:ext>
                      </a:extLst>
                    </a:gridCol>
                    <a:gridCol w="2347096">
                      <a:extLst>
                        <a:ext uri="{9D8B030D-6E8A-4147-A177-3AD203B41FA5}">
                          <a16:colId xmlns:a16="http://schemas.microsoft.com/office/drawing/2014/main" xmlns="" val="3672757096"/>
                        </a:ext>
                      </a:extLst>
                    </a:gridCol>
                  </a:tblGrid>
                  <a:tr h="486818"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Equivalent Values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220888665"/>
                      </a:ext>
                    </a:extLst>
                  </a:tr>
                  <a:tr h="48681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Decimal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270516303"/>
                      </a:ext>
                    </a:extLst>
                  </a:tr>
                  <a:tr h="113648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40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6733934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C219FC8-56DC-4408-AEAB-AEF467E6E8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4850925"/>
                  </p:ext>
                </p:extLst>
              </p:nvPr>
            </p:nvGraphicFramePr>
            <p:xfrm>
              <a:off x="2575696" y="1318883"/>
              <a:ext cx="7040605" cy="211011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346413">
                      <a:extLst>
                        <a:ext uri="{9D8B030D-6E8A-4147-A177-3AD203B41FA5}">
                          <a16:colId xmlns:a16="http://schemas.microsoft.com/office/drawing/2014/main" val="2434972333"/>
                        </a:ext>
                      </a:extLst>
                    </a:gridCol>
                    <a:gridCol w="2347096">
                      <a:extLst>
                        <a:ext uri="{9D8B030D-6E8A-4147-A177-3AD203B41FA5}">
                          <a16:colId xmlns:a16="http://schemas.microsoft.com/office/drawing/2014/main" val="1587196992"/>
                        </a:ext>
                      </a:extLst>
                    </a:gridCol>
                    <a:gridCol w="2347096">
                      <a:extLst>
                        <a:ext uri="{9D8B030D-6E8A-4147-A177-3AD203B41FA5}">
                          <a16:colId xmlns:a16="http://schemas.microsoft.com/office/drawing/2014/main" val="3672757096"/>
                        </a:ext>
                      </a:extLst>
                    </a:gridCol>
                  </a:tblGrid>
                  <a:tr h="486818"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Equivalent Values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0888665"/>
                      </a:ext>
                    </a:extLst>
                  </a:tr>
                  <a:tr h="48681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Decimal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0516303"/>
                      </a:ext>
                    </a:extLst>
                  </a:tr>
                  <a:tr h="11364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41" t="-86667" r="-201081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86667" r="-100000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733934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95575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353888" y="380267"/>
            <a:ext cx="11725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With your partner, complete the table by rewriting each value in the equivalent form indicated.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30B4021A-F103-49B2-8413-97D833E57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5593030"/>
                  </p:ext>
                </p:extLst>
              </p:nvPr>
            </p:nvGraphicFramePr>
            <p:xfrm>
              <a:off x="2616796" y="1350469"/>
              <a:ext cx="7200000" cy="496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xmlns="" val="3010395461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3412162548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70301688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50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50%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116194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523797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47909884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150%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5632581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9380152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0B4021A-F103-49B2-8413-97D833E57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5593030"/>
                  </p:ext>
                </p:extLst>
              </p:nvPr>
            </p:nvGraphicFramePr>
            <p:xfrm>
              <a:off x="2616796" y="1350469"/>
              <a:ext cx="7200000" cy="496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3010395461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3412162548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0301688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4" t="-53521" r="-100352" b="-40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060" t="-53521" r="-707" b="-40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16194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4" t="-153521" r="-100352" b="-30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23797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4" t="-253521" r="-100352" b="-20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909884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060" t="-353521" r="-707" b="-10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632581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060" t="-453521" r="-707" b="-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80152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2433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392390" y="393849"/>
                <a:ext cx="11571812" cy="1638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tabLst>
                    <a:tab pos="147955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When converting fractions to percentages, generate an equivalent fraction with a denominator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 when possible.</a:t>
                </a:r>
              </a:p>
              <a:p>
                <a:pPr>
                  <a:lnSpc>
                    <a:spcPct val="107000"/>
                  </a:lnSpc>
                  <a:tabLst>
                    <a:tab pos="147955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  <a:tabLst>
                    <a:tab pos="147955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0" y="393849"/>
                <a:ext cx="11571812" cy="1638077"/>
              </a:xfrm>
              <a:prstGeom prst="rect">
                <a:avLst/>
              </a:prstGeom>
              <a:blipFill>
                <a:blip r:embed="rId4"/>
                <a:stretch>
                  <a:fillRect l="-767" t="-4651" b="-8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5FC10DB0-BB4D-4116-BC01-ACEBF170C2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1866884"/>
                  </p:ext>
                </p:extLst>
              </p:nvPr>
            </p:nvGraphicFramePr>
            <p:xfrm>
              <a:off x="2316000" y="2240663"/>
              <a:ext cx="7560000" cy="349355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xmlns="" val="3162764946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xmlns="" val="346412099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164536110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Original Fraction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Equivalent Fraction with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a Denominator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smtClean="0">
                                  <a:effectLst/>
                                  <a:latin typeface="Cambria Math" panose="02040503050406030204" pitchFamily="18" charset="0"/>
                                </a:rPr>
                                <m:t>𝟏𝟎𝟎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Percentage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04045573"/>
                      </a:ext>
                    </a:extLst>
                  </a:tr>
                  <a:tr h="916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60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965447489"/>
                      </a:ext>
                    </a:extLst>
                  </a:tr>
                  <a:tr h="916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________%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58135744"/>
                      </a:ext>
                    </a:extLst>
                  </a:tr>
                  <a:tr h="916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 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________%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007671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FC10DB0-BB4D-4116-BC01-ACEBF170C2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1866884"/>
                  </p:ext>
                </p:extLst>
              </p:nvPr>
            </p:nvGraphicFramePr>
            <p:xfrm>
              <a:off x="2316000" y="2240663"/>
              <a:ext cx="7560000" cy="346984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162764946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val="346412099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645361104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Original Fraction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5833" t="-7018" r="-46154" b="-385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Percentage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4045573"/>
                      </a:ext>
                    </a:extLst>
                  </a:tr>
                  <a:tr h="9166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4" t="-84722" r="-321127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5833" t="-84722" r="-46154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0423" t="-84722" r="-1408" b="-2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447489"/>
                      </a:ext>
                    </a:extLst>
                  </a:tr>
                  <a:tr h="9166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4" t="-182192" r="-321127" b="-10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5833" t="-182192" r="-46154" b="-102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0423" t="-182192" r="-1408" b="-1027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8135744"/>
                      </a:ext>
                    </a:extLst>
                  </a:tr>
                  <a:tr h="9166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4" t="-286111" r="-321127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5833" t="-286111" r="-46154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0423" t="-286111" r="-1408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076719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0340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1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840" y="20116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3.2.3 Guided Practice: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Converting Between Fractions and Percentages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101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4891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D40250-DEDD-2C41-8538-3D4DD18CCC4A}"/>
              </a:ext>
            </a:extLst>
          </p:cNvPr>
          <p:cNvSpPr txBox="1"/>
          <p:nvPr/>
        </p:nvSpPr>
        <p:spPr>
          <a:xfrm>
            <a:off x="725615" y="1729217"/>
            <a:ext cx="11123083" cy="861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 by rewriting each value in the equivalent form indicated. Simplify where applicable.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A3E0058B-C607-174E-B439-E4D3192A9DB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D554F5D5-5F06-4513-8CE9-0AA2C6C28D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9145763"/>
                  </p:ext>
                </p:extLst>
              </p:nvPr>
            </p:nvGraphicFramePr>
            <p:xfrm>
              <a:off x="1865332" y="2833963"/>
              <a:ext cx="3600000" cy="290371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xmlns="" val="261281502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364917102"/>
                        </a:ext>
                      </a:extLst>
                    </a:gridCol>
                  </a:tblGrid>
                  <a:tr h="5905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7922420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885580246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6303437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8777363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554F5D5-5F06-4513-8CE9-0AA2C6C28D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9145763"/>
                  </p:ext>
                </p:extLst>
              </p:nvPr>
            </p:nvGraphicFramePr>
            <p:xfrm>
              <a:off x="1865332" y="2833963"/>
              <a:ext cx="3600000" cy="28748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61281502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364917102"/>
                        </a:ext>
                      </a:extLst>
                    </a:gridCol>
                  </a:tblGrid>
                  <a:tr h="7148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922420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9" t="-105263" r="-100699" b="-2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408" t="-105263" r="-1408" b="-2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5580246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9" t="-205263" r="-100699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03437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9" t="-305263" r="-100699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73632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xmlns="" id="{D554F5D5-5F06-4513-8CE9-0AA2C6C28D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963133"/>
                  </p:ext>
                </p:extLst>
              </p:nvPr>
            </p:nvGraphicFramePr>
            <p:xfrm>
              <a:off x="6400863" y="2726795"/>
              <a:ext cx="3600000" cy="3623712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xmlns="" val="261281502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xmlns="" val="2364917102"/>
                        </a:ext>
                      </a:extLst>
                    </a:gridCol>
                  </a:tblGrid>
                  <a:tr h="5905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7922420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30%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27867626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18%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3290375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771069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200%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8109952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554F5D5-5F06-4513-8CE9-0AA2C6C28D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963133"/>
                  </p:ext>
                </p:extLst>
              </p:nvPr>
            </p:nvGraphicFramePr>
            <p:xfrm>
              <a:off x="6400863" y="2726795"/>
              <a:ext cx="3600000" cy="35948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61281502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364917102"/>
                        </a:ext>
                      </a:extLst>
                    </a:gridCol>
                  </a:tblGrid>
                  <a:tr h="7148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 Form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922420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704" t="-103509" r="-1408" b="-30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7867626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704" t="-203509" r="-1408" b="-20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290375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04" t="-303509" r="-101408" b="-1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7710694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47955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704" t="-403509" r="-1408" b="-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09952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76536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37332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3.2.4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F9486181-07A1-C74B-A129-E8949F43C159}"/>
              </a:ext>
            </a:extLst>
          </p:cNvPr>
          <p:cNvSpPr txBox="1"/>
          <p:nvPr/>
        </p:nvSpPr>
        <p:spPr>
          <a:xfrm>
            <a:off x="88971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730266" y="1163011"/>
            <a:ext cx="10579418" cy="452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  <a:tabLst>
                <a:tab pos="1765300" algn="l"/>
              </a:tabLs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Rewrite each fraction as an equivalent percentage.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B65A09A0-1E94-F34F-9AC7-848B14CF3F5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xmlns="" id="{0B2D2713-8321-43AD-8BA9-1B3CD39E9D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6647538"/>
                  </p:ext>
                </p:extLst>
              </p:nvPr>
            </p:nvGraphicFramePr>
            <p:xfrm>
              <a:off x="1103915" y="1819016"/>
              <a:ext cx="10579418" cy="43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52337">
                      <a:extLst>
                        <a:ext uri="{9D8B030D-6E8A-4147-A177-3AD203B41FA5}">
                          <a16:colId xmlns:a16="http://schemas.microsoft.com/office/drawing/2014/main" xmlns="" val="444733724"/>
                        </a:ext>
                      </a:extLst>
                    </a:gridCol>
                    <a:gridCol w="2852337">
                      <a:extLst>
                        <a:ext uri="{9D8B030D-6E8A-4147-A177-3AD203B41FA5}">
                          <a16:colId xmlns:a16="http://schemas.microsoft.com/office/drawing/2014/main" xmlns="" val="4247479255"/>
                        </a:ext>
                      </a:extLst>
                    </a:gridCol>
                    <a:gridCol w="2852337">
                      <a:extLst>
                        <a:ext uri="{9D8B030D-6E8A-4147-A177-3AD203B41FA5}">
                          <a16:colId xmlns:a16="http://schemas.microsoft.com/office/drawing/2014/main" xmlns="" val="4243299365"/>
                        </a:ext>
                      </a:extLst>
                    </a:gridCol>
                    <a:gridCol w="2022407">
                      <a:extLst>
                        <a:ext uri="{9D8B030D-6E8A-4147-A177-3AD203B41FA5}">
                          <a16:colId xmlns:a16="http://schemas.microsoft.com/office/drawing/2014/main" xmlns="" val="2020227321"/>
                        </a:ext>
                      </a:extLst>
                    </a:gridCol>
                  </a:tblGrid>
                  <a:tr h="2160000">
                    <a:tc>
                      <a:txBody>
                        <a:bodyPr/>
                        <a:lstStyle/>
                        <a:p>
                          <a:pPr marL="357188" marR="0" lvl="0" indent="-35718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  <a:tabLst>
                              <a:tab pos="1765300" algn="l"/>
                            </a:tabLst>
                          </a:pPr>
                          <a:r>
                            <a:rPr lang="en-US" sz="2400" i="0" baseline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lang="en-US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b.	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42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lang="en-US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c.	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36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lang="en-US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d.	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96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lang="en-US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465114640"/>
                      </a:ext>
                    </a:extLst>
                  </a:tr>
                  <a:tr h="2160000"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e.	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lang="en-US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f.	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24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	</a:t>
                          </a: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g.	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	</a:t>
                          </a: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h.	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lang="en-US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7921007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B2D2713-8321-43AD-8BA9-1B3CD39E9D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6647538"/>
                  </p:ext>
                </p:extLst>
              </p:nvPr>
            </p:nvGraphicFramePr>
            <p:xfrm>
              <a:off x="1103915" y="1819016"/>
              <a:ext cx="10579418" cy="43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52337">
                      <a:extLst>
                        <a:ext uri="{9D8B030D-6E8A-4147-A177-3AD203B41FA5}">
                          <a16:colId xmlns:a16="http://schemas.microsoft.com/office/drawing/2014/main" val="444733724"/>
                        </a:ext>
                      </a:extLst>
                    </a:gridCol>
                    <a:gridCol w="2852337">
                      <a:extLst>
                        <a:ext uri="{9D8B030D-6E8A-4147-A177-3AD203B41FA5}">
                          <a16:colId xmlns:a16="http://schemas.microsoft.com/office/drawing/2014/main" val="4247479255"/>
                        </a:ext>
                      </a:extLst>
                    </a:gridCol>
                    <a:gridCol w="2852337">
                      <a:extLst>
                        <a:ext uri="{9D8B030D-6E8A-4147-A177-3AD203B41FA5}">
                          <a16:colId xmlns:a16="http://schemas.microsoft.com/office/drawing/2014/main" val="4243299365"/>
                        </a:ext>
                      </a:extLst>
                    </a:gridCol>
                    <a:gridCol w="2022407">
                      <a:extLst>
                        <a:ext uri="{9D8B030D-6E8A-4147-A177-3AD203B41FA5}">
                          <a16:colId xmlns:a16="http://schemas.microsoft.com/office/drawing/2014/main" val="2020227321"/>
                        </a:ext>
                      </a:extLst>
                    </a:gridCol>
                  </a:tblGrid>
                  <a:tr h="21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585" r="-271111" b="-99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000" t="-585" r="-171111" b="-99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00000" t="-585" r="-71111" b="-99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424528" t="-585" r="-629" b="-994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5114640"/>
                      </a:ext>
                    </a:extLst>
                  </a:tr>
                  <a:tr h="21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01176" r="-27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000" t="-101176" r="-17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00000" t="-101176" r="-7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424528" t="-101176" r="-6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1007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8C67FCF-92C3-654A-BF40-5BDF7A4F9271}"/>
              </a:ext>
            </a:extLst>
          </p:cNvPr>
          <p:cNvSpPr txBox="1"/>
          <p:nvPr/>
        </p:nvSpPr>
        <p:spPr>
          <a:xfrm>
            <a:off x="546394" y="437194"/>
            <a:ext cx="11388931" cy="466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2"/>
              <a:tabLst>
                <a:tab pos="1765300" algn="l"/>
              </a:tabLst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 each to a fraction. Simplify where applicable.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C20EB48B-0C2A-FF47-ACB6-866A7F9595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0AAE1AB8-7D34-4825-9710-46B9334D7E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7143225"/>
                  </p:ext>
                </p:extLst>
              </p:nvPr>
            </p:nvGraphicFramePr>
            <p:xfrm>
              <a:off x="857172" y="1392070"/>
              <a:ext cx="10856772" cy="43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79850">
                      <a:extLst>
                        <a:ext uri="{9D8B030D-6E8A-4147-A177-3AD203B41FA5}">
                          <a16:colId xmlns:a16="http://schemas.microsoft.com/office/drawing/2014/main" xmlns="" val="2677751243"/>
                        </a:ext>
                      </a:extLst>
                    </a:gridCol>
                    <a:gridCol w="2879850">
                      <a:extLst>
                        <a:ext uri="{9D8B030D-6E8A-4147-A177-3AD203B41FA5}">
                          <a16:colId xmlns:a16="http://schemas.microsoft.com/office/drawing/2014/main" xmlns="" val="1912684187"/>
                        </a:ext>
                      </a:extLst>
                    </a:gridCol>
                    <a:gridCol w="2879850">
                      <a:extLst>
                        <a:ext uri="{9D8B030D-6E8A-4147-A177-3AD203B41FA5}">
                          <a16:colId xmlns:a16="http://schemas.microsoft.com/office/drawing/2014/main" xmlns="" val="801539616"/>
                        </a:ext>
                      </a:extLst>
                    </a:gridCol>
                    <a:gridCol w="2217222">
                      <a:extLst>
                        <a:ext uri="{9D8B030D-6E8A-4147-A177-3AD203B41FA5}">
                          <a16:colId xmlns:a16="http://schemas.microsoft.com/office/drawing/2014/main" xmlns="" val="20485781"/>
                        </a:ext>
                      </a:extLst>
                    </a:gridCol>
                  </a:tblGrid>
                  <a:tr h="2160000"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a.	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90%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b.	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167%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c.	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86%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	</a:t>
                          </a: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61963" marR="0" lvl="0" indent="-461963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d.	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33%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05142011"/>
                      </a:ext>
                    </a:extLst>
                  </a:tr>
                  <a:tr h="2160000"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e.	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226%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f.	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29%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		</a:t>
                          </a: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g.	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50%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		</a:t>
                          </a: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marR="0" lvl="0" indent="-452438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h.	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18%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4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061869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AAE1AB8-7D34-4825-9710-46B9334D7E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7143225"/>
                  </p:ext>
                </p:extLst>
              </p:nvPr>
            </p:nvGraphicFramePr>
            <p:xfrm>
              <a:off x="857172" y="1392070"/>
              <a:ext cx="10856772" cy="43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79850">
                      <a:extLst>
                        <a:ext uri="{9D8B030D-6E8A-4147-A177-3AD203B41FA5}">
                          <a16:colId xmlns:a16="http://schemas.microsoft.com/office/drawing/2014/main" val="2677751243"/>
                        </a:ext>
                      </a:extLst>
                    </a:gridCol>
                    <a:gridCol w="2879850">
                      <a:extLst>
                        <a:ext uri="{9D8B030D-6E8A-4147-A177-3AD203B41FA5}">
                          <a16:colId xmlns:a16="http://schemas.microsoft.com/office/drawing/2014/main" val="1912684187"/>
                        </a:ext>
                      </a:extLst>
                    </a:gridCol>
                    <a:gridCol w="2879850">
                      <a:extLst>
                        <a:ext uri="{9D8B030D-6E8A-4147-A177-3AD203B41FA5}">
                          <a16:colId xmlns:a16="http://schemas.microsoft.com/office/drawing/2014/main" val="801539616"/>
                        </a:ext>
                      </a:extLst>
                    </a:gridCol>
                    <a:gridCol w="2217222">
                      <a:extLst>
                        <a:ext uri="{9D8B030D-6E8A-4147-A177-3AD203B41FA5}">
                          <a16:colId xmlns:a16="http://schemas.microsoft.com/office/drawing/2014/main" val="20485781"/>
                        </a:ext>
                      </a:extLst>
                    </a:gridCol>
                  </a:tblGrid>
                  <a:tr h="21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4678" r="-27709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00000" t="-4678" r="-17709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200000" t="-4678" r="-7709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389143" t="-467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5142011"/>
                      </a:ext>
                    </a:extLst>
                  </a:tr>
                  <a:tr h="21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05294" r="-277093" b="-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00000" t="-105294" r="-177093" b="-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200000" t="-105294" r="-77093" b="-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635" marR="326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389143" t="-105294" b="-5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61869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50033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2920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103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7332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3.2.5 Wrap-Up: Ticket Out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730266" y="1351921"/>
            <a:ext cx="10925928" cy="733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Use the numbers below to create three more fractions equivalent to any three percentages in the table.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31AAE36C-5822-464A-8B2B-DAD96F65814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DC3A5B88-48FB-4782-A292-F25D9E2CC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806036"/>
              </p:ext>
            </p:extLst>
          </p:nvPr>
        </p:nvGraphicFramePr>
        <p:xfrm>
          <a:off x="2662452" y="2232930"/>
          <a:ext cx="6867096" cy="1405557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144275">
                  <a:extLst>
                    <a:ext uri="{9D8B030D-6E8A-4147-A177-3AD203B41FA5}">
                      <a16:colId xmlns:a16="http://schemas.microsoft.com/office/drawing/2014/main" xmlns="" val="3842861385"/>
                    </a:ext>
                  </a:extLst>
                </a:gridCol>
                <a:gridCol w="1144275">
                  <a:extLst>
                    <a:ext uri="{9D8B030D-6E8A-4147-A177-3AD203B41FA5}">
                      <a16:colId xmlns:a16="http://schemas.microsoft.com/office/drawing/2014/main" xmlns="" val="2708098683"/>
                    </a:ext>
                  </a:extLst>
                </a:gridCol>
                <a:gridCol w="1144275">
                  <a:extLst>
                    <a:ext uri="{9D8B030D-6E8A-4147-A177-3AD203B41FA5}">
                      <a16:colId xmlns:a16="http://schemas.microsoft.com/office/drawing/2014/main" xmlns="" val="186235532"/>
                    </a:ext>
                  </a:extLst>
                </a:gridCol>
                <a:gridCol w="1144275">
                  <a:extLst>
                    <a:ext uri="{9D8B030D-6E8A-4147-A177-3AD203B41FA5}">
                      <a16:colId xmlns:a16="http://schemas.microsoft.com/office/drawing/2014/main" xmlns="" val="75768594"/>
                    </a:ext>
                  </a:extLst>
                </a:gridCol>
                <a:gridCol w="1144998">
                  <a:extLst>
                    <a:ext uri="{9D8B030D-6E8A-4147-A177-3AD203B41FA5}">
                      <a16:colId xmlns:a16="http://schemas.microsoft.com/office/drawing/2014/main" xmlns="" val="1614149108"/>
                    </a:ext>
                  </a:extLst>
                </a:gridCol>
                <a:gridCol w="1144998">
                  <a:extLst>
                    <a:ext uri="{9D8B030D-6E8A-4147-A177-3AD203B41FA5}">
                      <a16:colId xmlns:a16="http://schemas.microsoft.com/office/drawing/2014/main" xmlns="" val="3262529718"/>
                    </a:ext>
                  </a:extLst>
                </a:gridCol>
              </a:tblGrid>
              <a:tr h="468519">
                <a:tc>
                  <a:txBody>
                    <a:bodyPr/>
                    <a:lstStyle/>
                    <a:p>
                      <a:pPr marL="630238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4375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21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2438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36575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25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4375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884767837"/>
                  </a:ext>
                </a:extLst>
              </a:tr>
              <a:tr h="468519">
                <a:tc>
                  <a:txBody>
                    <a:bodyPr/>
                    <a:lstStyle/>
                    <a:p>
                      <a:pPr marL="630238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32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4375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30263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36575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30238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4375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910041256"/>
                  </a:ext>
                </a:extLst>
              </a:tr>
              <a:tr h="468519">
                <a:tc>
                  <a:txBody>
                    <a:bodyPr/>
                    <a:lstStyle/>
                    <a:p>
                      <a:pPr marL="714375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30238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72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36575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536575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09625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61768602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2A752679-912D-4EE3-9796-3E29BEE046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2402549"/>
                  </p:ext>
                </p:extLst>
              </p:nvPr>
            </p:nvGraphicFramePr>
            <p:xfrm>
              <a:off x="2662452" y="3724121"/>
              <a:ext cx="7475815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830023">
                      <a:extLst>
                        <a:ext uri="{9D8B030D-6E8A-4147-A177-3AD203B41FA5}">
                          <a16:colId xmlns:a16="http://schemas.microsoft.com/office/drawing/2014/main" xmlns="" val="2742123524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xmlns="" val="772927049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xmlns="" val="2658207700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xmlns="" val="1151680929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xmlns="" val="2198386836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xmlns="" val="3153439829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xmlns="" val="2110190306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xmlns="" val="60711072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xmlns="" val="2884943557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𝟕𝟎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𝟗𝟎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74729508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0065665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A752679-912D-4EE3-9796-3E29BEE046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2402549"/>
                  </p:ext>
                </p:extLst>
              </p:nvPr>
            </p:nvGraphicFramePr>
            <p:xfrm>
              <a:off x="2662452" y="3724121"/>
              <a:ext cx="7475815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830023">
                      <a:extLst>
                        <a:ext uri="{9D8B030D-6E8A-4147-A177-3AD203B41FA5}">
                          <a16:colId xmlns:a16="http://schemas.microsoft.com/office/drawing/2014/main" val="2742123524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val="772927049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val="2658207700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val="1151680929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val="2198386836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val="3153439829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val="2110190306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val="60711072"/>
                        </a:ext>
                      </a:extLst>
                    </a:gridCol>
                    <a:gridCol w="830724">
                      <a:extLst>
                        <a:ext uri="{9D8B030D-6E8A-4147-A177-3AD203B41FA5}">
                          <a16:colId xmlns:a16="http://schemas.microsoft.com/office/drawing/2014/main" val="2884943557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15" t="-1754" r="-796970" b="-2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077" t="-1754" r="-709231" b="-2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754" r="-598485" b="-2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4615" t="-1754" r="-507692" b="-2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8485" t="-1754" r="-400000" b="-2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6154" t="-1754" r="-306154" b="-2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6970" t="-1754" r="-201515" b="-2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7692" t="-1754" r="-104615" b="-2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95455" t="-1754" r="-3030" b="-2035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4729508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7653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95455" t="-50877" r="-3030" b="-1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65665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</TotalTime>
  <Words>797</Words>
  <Application>Microsoft Office PowerPoint</Application>
  <PresentationFormat>Custom</PresentationFormat>
  <Paragraphs>195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Segoe UI Emoji</vt:lpstr>
      <vt:lpstr>Century Gothic</vt:lpstr>
      <vt:lpstr>Cambria Math</vt:lpstr>
      <vt:lpstr>Wingdings</vt:lpstr>
      <vt:lpstr>Arial Black</vt:lpstr>
      <vt:lpstr>Verdana</vt:lpstr>
      <vt:lpstr>Times New Roman</vt:lpstr>
      <vt:lpstr>Calibri</vt:lpstr>
      <vt:lpstr>1_Office Theme</vt:lpstr>
      <vt:lpstr>6th Grade Math  Unit 3, Lesson 2  Equivalent Conversions: Fractions ↔ Percentages - Part 1  Volume 1, pg. 99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24</cp:revision>
  <dcterms:created xsi:type="dcterms:W3CDTF">2015-03-17T18:51:18Z</dcterms:created>
  <dcterms:modified xsi:type="dcterms:W3CDTF">2022-07-07T04:18:55Z</dcterms:modified>
</cp:coreProperties>
</file>