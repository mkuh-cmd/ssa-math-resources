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85" r:id="rId4"/>
    <p:sldId id="286" r:id="rId5"/>
    <p:sldId id="261" r:id="rId6"/>
    <p:sldId id="287" r:id="rId7"/>
    <p:sldId id="323" r:id="rId8"/>
    <p:sldId id="324" r:id="rId9"/>
    <p:sldId id="325" r:id="rId10"/>
    <p:sldId id="326" r:id="rId11"/>
    <p:sldId id="327" r:id="rId12"/>
    <p:sldId id="314" r:id="rId13"/>
    <p:sldId id="315" r:id="rId14"/>
    <p:sldId id="316" r:id="rId15"/>
    <p:sldId id="328" r:id="rId16"/>
    <p:sldId id="306" r:id="rId17"/>
    <p:sldId id="307" r:id="rId18"/>
  </p:sldIdLst>
  <p:sldSz cx="12192000" cy="6858000"/>
  <p:notesSz cx="6858000" cy="9144000"/>
  <p:embeddedFontLst>
    <p:embeddedFont>
      <p:font typeface="Arial Black" panose="020B0A04020102020204" pitchFamily="34" charset="0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mbria Math" panose="02040503050406030204" pitchFamily="18" charset="0"/>
      <p:regular r:id="rId25"/>
    </p:embeddedFont>
    <p:embeddedFont>
      <p:font typeface="Century Gothic" panose="020B0502020202020204" pitchFamily="34" charset="0"/>
      <p:regular r:id="rId26"/>
      <p:bold r:id="rId27"/>
      <p:italic r:id="rId28"/>
      <p:boldItalic r:id="rId29"/>
    </p:embeddedFont>
    <p:embeddedFont>
      <p:font typeface="Verdana" panose="020B060403050404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D1E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94719" autoAdjust="0"/>
  </p:normalViewPr>
  <p:slideViewPr>
    <p:cSldViewPr snapToGrid="0">
      <p:cViewPr varScale="1">
        <p:scale>
          <a:sx n="65" d="100"/>
          <a:sy n="65" d="100"/>
        </p:scale>
        <p:origin x="72" y="10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819812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403201" y="2054275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Two Step, Real-World Problems with Fractions or Decimals – Part 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116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3916" y="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6" y="1326150"/>
            <a:ext cx="1100453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MA.6.NSO.2.3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Solve multi-step, real-world problems involving any of the four operations with positive multi-digit decimals or positive fractions, including mixed numbers.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03916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6" y="1325700"/>
            <a:ext cx="1077145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EC4A24D-AC58-5143-9A1A-1E71E28DFCF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9923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5" y="1237668"/>
            <a:ext cx="1096867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90563" indent="-684213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solve two-step, real-world problems involving any of the four operations with decimals.</a:t>
            </a:r>
          </a:p>
          <a:p>
            <a:pPr marL="690563" indent="-684213">
              <a:buClr>
                <a:srgbClr val="434343"/>
              </a:buClr>
              <a:buSzPts val="3500"/>
              <a:buFont typeface="Wingdings" pitchFamily="2" charset="2"/>
              <a:buChar char="q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690563" indent="-684213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solve two-step, real-world problems involving any of the four operations with fractions.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BA09A98-EDA0-5343-AD77-8F8E8C4F0E7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5846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3916" y="277645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41266B"/>
                </a:solidFill>
                <a:latin typeface="Verdana"/>
                <a:ea typeface="Calibri"/>
                <a:cs typeface="Times New Roman"/>
              </a:rPr>
              <a:t>3.6.1 Warm-Up: Gas Guzzler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30265" y="1180509"/>
                <a:ext cx="10941781" cy="4708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The image below shows the cost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libri"/>
                        <a:cs typeface="Times New Roman"/>
                      </a:rPr>
                      <m:t>14.819</m:t>
                    </m:r>
                  </m:oMath>
                </a14:m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libri"/>
                        <a:cs typeface="Times New Roman"/>
                      </a:rPr>
                      <m:t>16.895</m:t>
                    </m:r>
                  </m:oMath>
                </a14:m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 liters of gasoline.</a:t>
                </a:r>
              </a:p>
              <a:p>
                <a:endParaRPr lang="en-US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What is the price per liter of gas?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How much will it cost to pump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libri"/>
                        <a:cs typeface="Times New Roman"/>
                      </a:rPr>
                      <m:t>38</m:t>
                    </m:r>
                  </m:oMath>
                </a14:m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 liters of fuel into the tank?</a:t>
                </a:r>
                <a:endParaRPr lang="en-US" sz="24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5" y="1180509"/>
                <a:ext cx="10941781" cy="4708725"/>
              </a:xfrm>
              <a:prstGeom prst="rect">
                <a:avLst/>
              </a:prstGeom>
              <a:blipFill>
                <a:blip r:embed="rId5"/>
                <a:stretch>
                  <a:fillRect l="-927" t="-1078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C2564F7E-689E-724F-BBC4-EC8DFC52E6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 descr="A picture containing text, clock&#10;&#10;Description automatically generated"/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1533"/>
          <a:stretch/>
        </p:blipFill>
        <p:spPr bwMode="auto">
          <a:xfrm>
            <a:off x="4263452" y="1903370"/>
            <a:ext cx="3875405" cy="23641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30168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6496" y="31327"/>
            <a:ext cx="80193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26B6D4"/>
                </a:solidFill>
                <a:latin typeface="Verdana"/>
                <a:ea typeface="Calibri"/>
                <a:cs typeface="Times New Roman"/>
              </a:rPr>
              <a:t>3.6.2 Guided Practice: </a:t>
            </a:r>
            <a:br>
              <a:rPr lang="en-US" sz="3600" b="1" dirty="0">
                <a:solidFill>
                  <a:srgbClr val="26B6D4"/>
                </a:solidFill>
                <a:latin typeface="Verdana"/>
                <a:ea typeface="Calibri"/>
                <a:cs typeface="Times New Roman"/>
              </a:rPr>
            </a:br>
            <a:r>
              <a:rPr lang="en-US" sz="3600" b="1" dirty="0">
                <a:solidFill>
                  <a:srgbClr val="26B6D4"/>
                </a:solidFill>
                <a:latin typeface="Verdana"/>
                <a:ea typeface="Calibri"/>
                <a:cs typeface="Times New Roman"/>
              </a:rPr>
              <a:t>Two-Step Rational Problems</a:t>
            </a:r>
            <a:endParaRPr lang="en-US" sz="36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731520" y="1257708"/>
                <a:ext cx="11057068" cy="4526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Sophie grew her hair out for a long period of time. Her hair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2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feet long. She donated her hair by cutting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5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of a foot off. Sophie’s hair then grew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1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feet.</a:t>
                </a:r>
              </a:p>
              <a:p>
                <a:pPr lvl="0">
                  <a:lnSpc>
                    <a:spcPct val="107000"/>
                  </a:lnSpc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What operations are needed to determine the length of Sophie’s hair?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What values are necessary to determine the length of Sophie’s hair?</a:t>
                </a:r>
                <a:endParaRPr lang="en-US" sz="24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257708"/>
                <a:ext cx="11057068" cy="4526560"/>
              </a:xfrm>
              <a:prstGeom prst="rect">
                <a:avLst/>
              </a:prstGeom>
              <a:blipFill>
                <a:blip r:embed="rId5"/>
                <a:stretch>
                  <a:fillRect l="-917" r="-1261" b="-1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A3E0058B-C607-174E-B439-E4D3192A9DBC}"/>
              </a:ext>
            </a:extLst>
          </p:cNvPr>
          <p:cNvSpPr/>
          <p:nvPr/>
        </p:nvSpPr>
        <p:spPr>
          <a:xfrm>
            <a:off x="3344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111599" y="386282"/>
            <a:ext cx="11766635" cy="5229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Write the numeric expression that can be used to determine the length of Sophie’s hair.</a:t>
            </a: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Determine the length of Sophie’s hair.</a:t>
            </a: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Determine if the length of Sophie’s hair makes sense. Support your answer.</a:t>
            </a:r>
            <a:endParaRPr lang="en-US" sz="2400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152CD2B-A4D4-A94A-8235-80385DFE97A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372574" y="422140"/>
                <a:ext cx="11487732" cy="440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590550" algn="l"/>
                  </a:tabLst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Tiffany has a balance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$167.32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in her checking account. She deposits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$58.16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in her checking account and then writes a check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$97.27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. 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590550" algn="l"/>
                  </a:tabLst>
                </a:pPr>
                <a:endParaRPr lang="en-US" sz="2400" dirty="0">
                  <a:latin typeface="Calibri"/>
                  <a:ea typeface="Calibri"/>
                  <a:cs typeface="Times New Roman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What operations are needed to determine the amount of money in Tiffany’s bank account?</a:t>
                </a: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400" dirty="0">
                  <a:latin typeface="Calibri"/>
                  <a:ea typeface="Times New Roman"/>
                  <a:cs typeface="Times New Roman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400" dirty="0">
                  <a:latin typeface="Calibri"/>
                  <a:ea typeface="Times New Roman"/>
                  <a:cs typeface="Times New Roman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400" dirty="0">
                  <a:latin typeface="Calibri"/>
                  <a:ea typeface="Times New Roman"/>
                  <a:cs typeface="Times New Roman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400" dirty="0">
                  <a:latin typeface="Calibri"/>
                  <a:ea typeface="Times New Roman"/>
                  <a:cs typeface="Times New Roman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What values are necessary to determine the amount of money in Tiffany’s bank account?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74" y="422140"/>
                <a:ext cx="11487732" cy="4404283"/>
              </a:xfrm>
              <a:prstGeom prst="rect">
                <a:avLst/>
              </a:prstGeom>
              <a:blipFill>
                <a:blip r:embed="rId4"/>
                <a:stretch>
                  <a:fillRect l="-883" t="-1437" r="-883" b="-2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152CD2B-A4D4-A94A-8235-80385DFE97A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8170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111599" y="449034"/>
            <a:ext cx="11632165" cy="3627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Write the numeric expression that can be used to determine the amount of money in Tiffany’s bank account.</a:t>
            </a: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Determine the amount of money Tiffany has left in her checking account.  </a:t>
            </a:r>
            <a:endParaRPr lang="en-US" sz="2400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152CD2B-A4D4-A94A-8235-80385DFE97A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2678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06240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28438" y="342129"/>
            <a:ext cx="10706946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49BEAB"/>
                </a:solidFill>
                <a:latin typeface="Verdana"/>
                <a:ea typeface="Calibri"/>
                <a:cs typeface="Times New Roman"/>
              </a:rPr>
              <a:t>3.6.3 Collaboration: Problem Solving</a:t>
            </a:r>
            <a:endParaRPr lang="en-US"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731520" y="1410435"/>
                <a:ext cx="11119821" cy="4022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  <a:tabLst>
                    <a:tab pos="628650" algn="l"/>
                  </a:tabLst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A roll of ribbon was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meters long. Diego cut </a:t>
                </a:r>
                <a:br>
                  <a:rPr lang="en-US" sz="2400" dirty="0">
                    <a:latin typeface="Verdana"/>
                    <a:ea typeface="Times New Roman"/>
                    <a:cs typeface="Times New Roman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9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pieces of ribbon that were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0.4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meters each to tie some presents. He then used the remaining ribbon to make some wreaths. Each wreath requires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0.6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meters. </a:t>
                </a:r>
                <a:endParaRPr lang="en-US" sz="2400" dirty="0">
                  <a:latin typeface="Calibri"/>
                  <a:ea typeface="Calibri"/>
                  <a:cs typeface="Times New Roman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 </a:t>
                </a:r>
                <a:endParaRPr lang="en-US" sz="2400" dirty="0">
                  <a:latin typeface="Calibri"/>
                  <a:ea typeface="Calibri"/>
                  <a:cs typeface="Times New Roman"/>
                </a:endParaRPr>
              </a:p>
              <a:p>
                <a:pPr marL="862013" indent="-404813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Draw a representation of the information.</a:t>
                </a:r>
              </a:p>
              <a:p>
                <a:pPr marL="862013" indent="-404813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862013" indent="-404813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862013" indent="-404813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862013" indent="-404813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How does your drawing compare to your partner’s drawing? </a:t>
                </a:r>
                <a:endParaRPr lang="en-US" sz="24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410435"/>
                <a:ext cx="11119821" cy="4022896"/>
              </a:xfrm>
              <a:prstGeom prst="rect">
                <a:avLst/>
              </a:prstGeom>
              <a:blipFill>
                <a:blip r:embed="rId5"/>
                <a:stretch>
                  <a:fillRect l="-912" t="-1258" b="-2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D252DD22-4545-6844-9D1D-323C0B41ADF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111600" y="338948"/>
            <a:ext cx="11721812" cy="4418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Calibri"/>
                <a:cs typeface="Times New Roman"/>
              </a:rPr>
              <a:t>Draw a circle around the piece of ribbon in your drawing </a:t>
            </a:r>
            <a:r>
              <a:rPr lang="en-US" sz="2400" dirty="0">
                <a:latin typeface="Verdana"/>
                <a:ea typeface="Times New Roman"/>
                <a:cs typeface="Times New Roman"/>
              </a:rPr>
              <a:t>that is available to make wreaths.</a:t>
            </a: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Write the numeric expression that can be used to determine the amount of ribbon, in meters, available for making wreaths.</a:t>
            </a: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How many meters of ribbon are available for making wreaths?</a:t>
            </a:r>
            <a:endParaRPr lang="en-US" sz="2400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-1" y="437560"/>
            <a:ext cx="11716871" cy="323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lnSpc>
                <a:spcPct val="107000"/>
              </a:lnSpc>
              <a:buFont typeface="+mj-lt"/>
              <a:buAutoNum type="alphaLcPeriod" startAt="6"/>
            </a:pPr>
            <a:r>
              <a:rPr lang="en-US" sz="2400" dirty="0">
                <a:latin typeface="Verdana"/>
                <a:ea typeface="Calibri"/>
                <a:cs typeface="Times New Roman"/>
              </a:rPr>
              <a:t>What piece of information is not needed to determine the amount of ribbon available for making wreaths?</a:t>
            </a:r>
          </a:p>
          <a:p>
            <a:pPr marL="914400" indent="-457200">
              <a:lnSpc>
                <a:spcPct val="107000"/>
              </a:lnSpc>
              <a:buFont typeface="+mj-lt"/>
              <a:buAutoNum type="alphaLcPeriod" startAt="6"/>
            </a:pPr>
            <a:endParaRPr lang="en-US" sz="2400" dirty="0">
              <a:latin typeface="Verdana"/>
              <a:ea typeface="Calibri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6"/>
            </a:pPr>
            <a:endParaRPr lang="en-US" sz="2400" dirty="0">
              <a:latin typeface="Verdana"/>
              <a:ea typeface="Calibri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6"/>
            </a:pPr>
            <a:endParaRPr lang="en-US" sz="2400" dirty="0">
              <a:latin typeface="Verdana"/>
              <a:ea typeface="Calibri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6"/>
            </a:pPr>
            <a:endParaRPr lang="en-US" sz="2400" dirty="0">
              <a:latin typeface="Verdana"/>
              <a:ea typeface="Calibri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6"/>
            </a:pPr>
            <a:endParaRPr lang="en-US" sz="2400" dirty="0">
              <a:latin typeface="Verdana"/>
              <a:ea typeface="Calibri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6"/>
            </a:pPr>
            <a:r>
              <a:rPr lang="en-US" sz="2400" dirty="0">
                <a:latin typeface="Verdana"/>
                <a:ea typeface="Calibri"/>
                <a:cs typeface="Times New Roman"/>
              </a:rPr>
              <a:t>Write a question that uses this information.</a:t>
            </a:r>
            <a:endParaRPr lang="en-US" sz="2400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3893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48857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37332" y="279372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41266B"/>
                </a:solidFill>
                <a:latin typeface="Verdana"/>
                <a:ea typeface="Calibri"/>
                <a:cs typeface="Times New Roman"/>
              </a:rPr>
              <a:t>3.6.4 Wrap-Up: Reflection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730266" y="1162731"/>
            <a:ext cx="10870063" cy="3851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sz="2000" dirty="0">
                <a:latin typeface="Verdana"/>
                <a:ea typeface="Verdana"/>
                <a:cs typeface="Verdana"/>
              </a:rPr>
              <a:t>Place an </a:t>
            </a:r>
            <a:r>
              <a:rPr lang="en-US" sz="2000" b="1" dirty="0">
                <a:latin typeface="Verdana"/>
                <a:ea typeface="Verdana"/>
                <a:cs typeface="Verdana"/>
              </a:rPr>
              <a:t>X</a:t>
            </a:r>
            <a:r>
              <a:rPr lang="en-US" sz="2000" dirty="0">
                <a:latin typeface="Verdana"/>
                <a:ea typeface="Verdana"/>
                <a:cs typeface="Verdana"/>
              </a:rPr>
              <a:t> on the line to indicate your understanding of each  of today’s learning targets. Then, provide a brief explanation  or evidence to support your self-assessment.</a:t>
            </a: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/>
                <a:ea typeface="Calibri"/>
                <a:cs typeface="Times New Roman"/>
              </a:rPr>
              <a:t>I can solve real-world problems with two steps using decimals.</a:t>
            </a: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000" dirty="0">
              <a:latin typeface="Verdana"/>
              <a:ea typeface="Calibri"/>
              <a:cs typeface="Times New Roman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000" dirty="0">
              <a:latin typeface="Verdana"/>
              <a:ea typeface="Calibri"/>
              <a:cs typeface="Times New Roman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000" dirty="0">
              <a:latin typeface="Verdana"/>
              <a:ea typeface="Calibri"/>
              <a:cs typeface="Times New Roman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000" dirty="0">
              <a:latin typeface="Verdana"/>
              <a:ea typeface="Calibri"/>
              <a:cs typeface="Times New Roman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000" dirty="0">
              <a:latin typeface="Calibri"/>
              <a:ea typeface="Calibri"/>
              <a:cs typeface="Times New Roman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000" dirty="0">
              <a:latin typeface="Calibri"/>
              <a:ea typeface="Calibri"/>
              <a:cs typeface="Times New Roman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/>
                <a:ea typeface="Calibri"/>
                <a:cs typeface="Times New Roman"/>
              </a:rPr>
              <a:t>I can solve real-world problems with two steps using fractions.</a:t>
            </a:r>
            <a:endParaRPr lang="en-US" sz="2000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31AAE36C-5822-464A-8B2B-DAD96F65814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946695"/>
              </p:ext>
            </p:extLst>
          </p:nvPr>
        </p:nvGraphicFramePr>
        <p:xfrm>
          <a:off x="2050497" y="3355191"/>
          <a:ext cx="8229600" cy="634746"/>
        </p:xfrm>
        <a:graphic>
          <a:graphicData uri="http://schemas.openxmlformats.org/drawingml/2006/table">
            <a:tbl>
              <a:tblPr firstRow="1" firstCol="1" bandRow="1"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558">
                <a:tc>
                  <a:txBody>
                    <a:bodyPr/>
                    <a:lstStyle/>
                    <a:p>
                      <a:pPr marR="50165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need help.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50165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can’t get started.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I’m getting there.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understand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R="34290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and have evidence.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2237925" y="4080301"/>
            <a:ext cx="781505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359349"/>
              </p:ext>
            </p:extLst>
          </p:nvPr>
        </p:nvGraphicFramePr>
        <p:xfrm>
          <a:off x="1981199" y="5399144"/>
          <a:ext cx="8229600" cy="634746"/>
        </p:xfrm>
        <a:graphic>
          <a:graphicData uri="http://schemas.openxmlformats.org/drawingml/2006/table">
            <a:tbl>
              <a:tblPr firstRow="1" firstCol="1" bandRow="1"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572">
                <a:tc>
                  <a:txBody>
                    <a:bodyPr/>
                    <a:lstStyle/>
                    <a:p>
                      <a:pPr marR="50165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need help.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R="50165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can’t get started.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I’m getting there.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understand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R="34290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and have evidence.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0544744-8BD6-AB4E-9B93-36E69009FEBB}"/>
              </a:ext>
            </a:extLst>
          </p:cNvPr>
          <p:cNvCxnSpPr/>
          <p:nvPr/>
        </p:nvCxnSpPr>
        <p:spPr>
          <a:xfrm>
            <a:off x="2188474" y="6124254"/>
            <a:ext cx="781505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727</Words>
  <Application>Microsoft Office PowerPoint</Application>
  <PresentationFormat>Widescreen</PresentationFormat>
  <Paragraphs>138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Verdana</vt:lpstr>
      <vt:lpstr>Wingdings</vt:lpstr>
      <vt:lpstr>Century Gothic</vt:lpstr>
      <vt:lpstr>Calibri</vt:lpstr>
      <vt:lpstr>Arial Black</vt:lpstr>
      <vt:lpstr>Cambria Math</vt:lpstr>
      <vt:lpstr>Arial</vt:lpstr>
      <vt:lpstr>1_Office Theme</vt:lpstr>
      <vt:lpstr>6th Grade Math  Unit 3, Lesson 6  Solving Two Step, Real-World Problems with Fractions or Decimals – Part 1  Volume 1, pg. 116  </vt:lpstr>
      <vt:lpstr>Benchmark</vt:lpstr>
      <vt:lpstr>PowerPoint Presentation</vt:lpstr>
      <vt:lpstr>PowerPoint Presentation</vt:lpstr>
      <vt:lpstr>Warm-Up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24</cp:revision>
  <dcterms:created xsi:type="dcterms:W3CDTF">2015-03-17T18:51:18Z</dcterms:created>
  <dcterms:modified xsi:type="dcterms:W3CDTF">2022-06-05T00:51:18Z</dcterms:modified>
</cp:coreProperties>
</file>