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289" r:id="rId9"/>
    <p:sldId id="290" r:id="rId10"/>
    <p:sldId id="308" r:id="rId11"/>
    <p:sldId id="326" r:id="rId12"/>
    <p:sldId id="327" r:id="rId13"/>
    <p:sldId id="328" r:id="rId14"/>
    <p:sldId id="329" r:id="rId15"/>
    <p:sldId id="323" r:id="rId16"/>
    <p:sldId id="324" r:id="rId17"/>
    <p:sldId id="325" r:id="rId18"/>
    <p:sldId id="306" r:id="rId19"/>
    <p:sldId id="307" r:id="rId20"/>
    <p:sldId id="310" r:id="rId21"/>
  </p:sldIdLst>
  <p:sldSz cx="12192000" cy="6858000"/>
  <p:notesSz cx="6858000" cy="9144000"/>
  <p:embeddedFontLst>
    <p:embeddedFont>
      <p:font typeface="Cambria Math" pitchFamily="18" charset="0"/>
      <p:regular r:id="rId23"/>
    </p:embeddedFont>
    <p:embeddedFont>
      <p:font typeface="Arial Black" pitchFamily="34" charset="0"/>
      <p:bold r:id="rId24"/>
    </p:embeddedFont>
    <p:embeddedFont>
      <p:font typeface="Verdana" pitchFamily="34" charset="0"/>
      <p:regular r:id="rId25"/>
      <p:bold r:id="rId26"/>
      <p:italic r:id="rId27"/>
      <p:boldItalic r:id="rId28"/>
    </p:embeddedFont>
    <p:embeddedFont>
      <p:font typeface="Calibri" pitchFamily="34" charset="0"/>
      <p:regular r:id="rId29"/>
      <p:bold r:id="rId30"/>
      <p:italic r:id="rId31"/>
      <p:boldItalic r:id="rId32"/>
    </p:embeddedFont>
    <p:embeddedFont>
      <p:font typeface="Century Gothic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BD1E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2305"/>
    <p:restoredTop sz="94719"/>
  </p:normalViewPr>
  <p:slideViewPr>
    <p:cSldViewPr snapToGrid="0">
      <p:cViewPr varScale="1">
        <p:scale>
          <a:sx n="85" d="100"/>
          <a:sy n="85" d="100"/>
        </p:scale>
        <p:origin x="-1205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21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7327148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0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450226" y="2054275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5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Using Operations to Solve 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Real-World Problems – 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Part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112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=""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=""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1850" y="-5861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=""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30265" y="1267085"/>
            <a:ext cx="1099281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MA.6.NSO.2.3</a:t>
            </a:r>
          </a:p>
          <a:p>
            <a:pPr indent="0">
              <a:buNone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Solve multi-step, real-world problems involving any of the four operations with positive multi-digit decimals or positive fractions, including mixed numbers.</a:t>
            </a:r>
            <a:endParaRPr lang="en-US" sz="18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=""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875" y="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=""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730266" y="1211926"/>
            <a:ext cx="1117771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="" xmlns:a16="http://schemas.microsoft.com/office/drawing/2014/main" id="{0EC4A24D-AC58-5143-9A1A-1E71E28DFCF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=""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37332" y="3084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=""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32004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=""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730266" y="1356540"/>
            <a:ext cx="1094911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indent="-5651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solve one-step, real-world problems involving any of the four operations with decimals or fractions.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="" xmlns:a16="http://schemas.microsoft.com/office/drawing/2014/main" id="{7BA09A98-EDA0-5343-AD77-8F8E8C4F0E7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8036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5846" y="273338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7332" y="8972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3.5.1 Warm-Up: Two Questions and One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=""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730266" y="1398935"/>
            <a:ext cx="10626998" cy="404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000" dirty="0" err="1">
                <a:latin typeface="Verdana"/>
                <a:ea typeface="Verdana"/>
                <a:cs typeface="Verdana"/>
              </a:rPr>
              <a:t>Ky-ree</a:t>
            </a:r>
            <a:r>
              <a:rPr lang="en-US" sz="2000" dirty="0">
                <a:latin typeface="Verdana"/>
                <a:ea typeface="Verdana"/>
                <a:cs typeface="Verdana"/>
              </a:rPr>
              <a:t>, a firefighter in Los Angeles, budgets his paycheck.</a:t>
            </a:r>
            <a:endParaRPr lang="en-US" sz="1800" i="1" dirty="0">
              <a:latin typeface="Cambria Math"/>
              <a:ea typeface="Cambria Math"/>
              <a:cs typeface="Cambria Math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="" xmlns:a16="http://schemas.microsoft.com/office/drawing/2014/main" id="{C2564F7E-689E-724F-BBC4-EC8DFC52E66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121643"/>
              </p:ext>
            </p:extLst>
          </p:nvPr>
        </p:nvGraphicFramePr>
        <p:xfrm>
          <a:off x="2346960" y="2112274"/>
          <a:ext cx="7498080" cy="377952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2743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b="1" i="0" dirty="0" err="1">
                          <a:effectLst/>
                          <a:latin typeface="Verdana"/>
                          <a:ea typeface="Verdana"/>
                          <a:cs typeface="Verdana"/>
                        </a:rPr>
                        <a:t>Ky-ree’s</a:t>
                      </a:r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 Budget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Monthly salary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000" dirty="0">
                          <a:latin typeface="Cambria Math" pitchFamily="18" charset="0"/>
                          <a:ea typeface="Cambria Math" pitchFamily="18" charset="0"/>
                        </a:rPr>
                        <a:t>$5,800</a:t>
                      </a:r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Car payment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PH" sz="2000" dirty="0">
                          <a:latin typeface="Cambria Math" pitchFamily="18" charset="0"/>
                          <a:ea typeface="Cambria Math" pitchFamily="18" charset="0"/>
                        </a:rPr>
                        <a:t>$330</a:t>
                      </a:r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Taxes and </a:t>
                      </a:r>
                      <a:b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</a:br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other deductions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000" dirty="0">
                          <a:latin typeface="Cambria Math" pitchFamily="18" charset="0"/>
                          <a:ea typeface="Cambria Math" pitchFamily="18" charset="0"/>
                        </a:rPr>
                        <a:t>$2,900</a:t>
                      </a:r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Verdana"/>
                          <a:cs typeface="Verdana"/>
                          <a:sym typeface="Arial"/>
                        </a:rPr>
                        <a:t>Insurance</a:t>
                      </a:r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PH" sz="2000" dirty="0">
                          <a:latin typeface="Cambria Math" pitchFamily="18" charset="0"/>
                          <a:ea typeface="Cambria Math" pitchFamily="18" charset="0"/>
                        </a:rPr>
                        <a:t>$120</a:t>
                      </a:r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Net take </a:t>
                      </a:r>
                      <a:b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</a:br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home income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000" dirty="0">
                          <a:latin typeface="Cambria Math" pitchFamily="18" charset="0"/>
                          <a:ea typeface="Cambria Math" pitchFamily="18" charset="0"/>
                        </a:rPr>
                        <a:t>$2,900</a:t>
                      </a:r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Gas</a:t>
                      </a:r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000" dirty="0">
                          <a:latin typeface="Cambria Math" pitchFamily="18" charset="0"/>
                          <a:ea typeface="Cambria Math" pitchFamily="18" charset="0"/>
                        </a:rPr>
                        <a:t>$140</a:t>
                      </a:r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Rent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000" dirty="0">
                          <a:latin typeface="Cambria Math" pitchFamily="18" charset="0"/>
                          <a:ea typeface="Cambria Math" pitchFamily="18" charset="0"/>
                        </a:rPr>
                        <a:t>$1,350</a:t>
                      </a:r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Food</a:t>
                      </a:r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000" dirty="0">
                          <a:latin typeface="Cambria Math" pitchFamily="18" charset="0"/>
                          <a:ea typeface="Cambria Math" pitchFamily="18" charset="0"/>
                        </a:rPr>
                        <a:t>$250</a:t>
                      </a:r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Utilities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000" dirty="0">
                          <a:latin typeface="Cambria Math" pitchFamily="18" charset="0"/>
                          <a:ea typeface="Cambria Math" pitchFamily="18" charset="0"/>
                        </a:rPr>
                        <a:t>$60</a:t>
                      </a:r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Gym</a:t>
                      </a:r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000" dirty="0">
                          <a:latin typeface="Cambria Math" pitchFamily="18" charset="0"/>
                          <a:ea typeface="Cambria Math" pitchFamily="18" charset="0"/>
                        </a:rPr>
                        <a:t>$30</a:t>
                      </a:r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Internet &amp; cable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000" dirty="0">
                          <a:latin typeface="Cambria Math" pitchFamily="18" charset="0"/>
                          <a:ea typeface="Cambria Math" pitchFamily="18" charset="0"/>
                        </a:rPr>
                        <a:t>$50</a:t>
                      </a:r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Entertainment</a:t>
                      </a:r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000" dirty="0">
                          <a:latin typeface="Cambria Math" pitchFamily="18" charset="0"/>
                          <a:ea typeface="Cambria Math" pitchFamily="18" charset="0"/>
                        </a:rPr>
                        <a:t>$120</a:t>
                      </a:r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Cell phone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000" dirty="0">
                          <a:latin typeface="Cambria Math" pitchFamily="18" charset="0"/>
                          <a:ea typeface="Cambria Math" pitchFamily="18" charset="0"/>
                        </a:rPr>
                        <a:t>$130</a:t>
                      </a:r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Remaining</a:t>
                      </a:r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000" dirty="0">
                          <a:latin typeface="Cambria Math" pitchFamily="18" charset="0"/>
                          <a:ea typeface="Cambria Math" pitchFamily="18" charset="0"/>
                        </a:rPr>
                        <a:t>$320</a:t>
                      </a:r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304614" y="707429"/>
            <a:ext cx="1108382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</a:rPr>
              <a:t>List two questions you have about </a:t>
            </a:r>
            <a:r>
              <a:rPr lang="en-US" sz="2400" dirty="0" err="1">
                <a:latin typeface="Verdana"/>
                <a:ea typeface="Verdana"/>
                <a:cs typeface="Verdana"/>
              </a:rPr>
              <a:t>Ky-ree’s</a:t>
            </a:r>
            <a:r>
              <a:rPr lang="en-US" sz="2400" dirty="0">
                <a:latin typeface="Verdana"/>
                <a:ea typeface="Verdana"/>
                <a:cs typeface="Verdana"/>
              </a:rPr>
              <a:t> budget.</a:t>
            </a:r>
          </a:p>
          <a:p>
            <a:pPr marL="457200" indent="-457200">
              <a:buFont typeface="+mj-lt"/>
              <a:buAutoNum type="arabicPeriod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</a:rPr>
              <a:t>List one thing you wonder about </a:t>
            </a:r>
            <a:r>
              <a:rPr lang="en-US" sz="2400" dirty="0" err="1">
                <a:latin typeface="Verdana"/>
                <a:ea typeface="Verdana"/>
                <a:cs typeface="Verdana"/>
              </a:rPr>
              <a:t>Ky-ree’s</a:t>
            </a:r>
            <a:r>
              <a:rPr lang="en-US" sz="2400" dirty="0">
                <a:latin typeface="Verdana"/>
                <a:ea typeface="Verdana"/>
                <a:cs typeface="Verdana"/>
              </a:rPr>
              <a:t> budget.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2950EAF9-F430-CC4A-9F7C-2EC37538C1F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9803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=""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2241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92305" y="-35904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3.5.2 Guided Instruction: Real-World Contexts About Finances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=""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730265" y="1647595"/>
                <a:ext cx="11073807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Recall the problem from Lesson 4.</a:t>
                </a: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:r>
                  <a:rPr lang="en-US" sz="2400" dirty="0">
                    <a:latin typeface="Verdana"/>
                    <a:ea typeface="Verdana"/>
                    <a:cs typeface="Verdana"/>
                  </a:rPr>
                  <a:t/>
                </a: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:r>
                  <a:rPr lang="en-US" sz="2400" dirty="0">
                    <a:latin typeface="Verdana"/>
                    <a:ea typeface="Verdana"/>
                    <a:cs typeface="Verdana"/>
                  </a:rPr>
                  <a:t>A Valencia orange tree that is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/>
                        <a:ea typeface="Cambria Math"/>
                        <a:cs typeface="Cambria Math"/>
                      </a:rPr>
                      <m:t>12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years old can produce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/>
                        <a:ea typeface="Cambria Math"/>
                        <a:cs typeface="Cambria Math"/>
                      </a:rPr>
                      <m:t>1.4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boxes of fruit. In May 2017, a box of fresh Valencia oranges cost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/>
                        <a:ea typeface="Cambria Math"/>
                        <a:cs typeface="Cambria Math"/>
                      </a:rPr>
                      <m:t>$20.45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. How much income would a Valencia orange tree generate?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5" y="1647595"/>
                <a:ext cx="11073807" cy="3046988"/>
              </a:xfrm>
              <a:prstGeom prst="rect">
                <a:avLst/>
              </a:prstGeom>
              <a:blipFill>
                <a:blip r:embed="rId5"/>
                <a:stretch>
                  <a:fillRect l="-916" r="-1604" b="-3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="" xmlns:a16="http://schemas.microsoft.com/office/drawing/2014/main" id="{F7A98FFB-A3E6-7642-B96E-3A3B8C27BD7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03916" y="1540005"/>
            <a:ext cx="6704330" cy="580017"/>
          </a:xfrm>
          <a:prstGeom prst="roundRect">
            <a:avLst>
              <a:gd name="adj" fmla="val 16667"/>
            </a:avLst>
          </a:prstGeom>
          <a:solidFill>
            <a:srgbClr val="E3EFD5"/>
          </a:solidFill>
          <a:ln w="12700" cap="flat" cmpd="sng">
            <a:solidFill>
              <a:srgbClr val="E3EFD5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40" rIns="91425" bIns="0" anchor="ctr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i="1" dirty="0">
                <a:solidFill>
                  <a:srgbClr val="6C993C"/>
                </a:solidFill>
                <a:latin typeface="Verdana"/>
                <a:ea typeface="Verdana"/>
                <a:cs typeface="Verdana"/>
              </a:rPr>
              <a:t>Income</a:t>
            </a:r>
            <a:r>
              <a:rPr lang="en-US" sz="2000" b="1" dirty="0">
                <a:solidFill>
                  <a:srgbClr val="6C993C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sz="2000" dirty="0">
                <a:solidFill>
                  <a:srgbClr val="6C993C"/>
                </a:solidFill>
                <a:latin typeface="Verdana"/>
                <a:ea typeface="Verdana"/>
                <a:cs typeface="Verdana"/>
              </a:rPr>
              <a:t>is the amount of money received.</a:t>
            </a:r>
            <a:endParaRPr lang="en-US" sz="2000" i="1" dirty="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529660" y="1005719"/>
            <a:ext cx="11125385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/>
                <a:ea typeface="Verdana"/>
                <a:cs typeface="Verdana"/>
              </a:rPr>
              <a:t>Daniel owns a Valencia orange grove. Choose other items from the list that he should consider as a part of his finances.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Wingdings" pitchFamily="2" charset="2"/>
              <a:buChar char="q"/>
            </a:pPr>
            <a:r>
              <a:rPr lang="en-US" sz="2400" dirty="0">
                <a:latin typeface="Verdana"/>
                <a:ea typeface="Verdana"/>
                <a:cs typeface="Verdana"/>
              </a:rPr>
              <a:t>The taxes he pays on the property.</a:t>
            </a:r>
          </a:p>
          <a:p>
            <a:pPr marL="914400" indent="-457200">
              <a:spcBef>
                <a:spcPts val="1200"/>
              </a:spcBef>
              <a:buFont typeface="Wingdings" pitchFamily="2" charset="2"/>
              <a:buChar char="q"/>
            </a:pPr>
            <a:r>
              <a:rPr lang="en-US" sz="2400" dirty="0">
                <a:latin typeface="Verdana"/>
                <a:ea typeface="Verdana"/>
                <a:cs typeface="Verdana"/>
              </a:rPr>
              <a:t>The amount of money he has in the bank.</a:t>
            </a:r>
          </a:p>
          <a:p>
            <a:pPr marL="914400" indent="-457200">
              <a:spcBef>
                <a:spcPts val="1200"/>
              </a:spcBef>
              <a:buFont typeface="Wingdings" pitchFamily="2" charset="2"/>
              <a:buChar char="q"/>
            </a:pPr>
            <a:r>
              <a:rPr lang="en-US" sz="2400" dirty="0">
                <a:latin typeface="Verdana"/>
                <a:ea typeface="Verdana"/>
                <a:cs typeface="Verdana"/>
              </a:rPr>
              <a:t>The cost of taking care of the orange grove.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29660" y="849856"/>
            <a:ext cx="6704330" cy="580017"/>
          </a:xfrm>
          <a:prstGeom prst="roundRect">
            <a:avLst>
              <a:gd name="adj" fmla="val 16667"/>
            </a:avLst>
          </a:prstGeom>
          <a:solidFill>
            <a:srgbClr val="E3EFD5"/>
          </a:solidFill>
          <a:ln w="12700" cap="flat" cmpd="sng">
            <a:solidFill>
              <a:srgbClr val="E3EFD5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40" rIns="91425" bIns="0" anchor="ctr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i="1" dirty="0">
                <a:solidFill>
                  <a:srgbClr val="6C993C"/>
                </a:solidFill>
                <a:latin typeface="Verdana"/>
                <a:ea typeface="Verdana"/>
                <a:cs typeface="Verdana"/>
              </a:rPr>
              <a:t>Finance</a:t>
            </a:r>
            <a:r>
              <a:rPr lang="en-US" sz="2000" b="1" dirty="0">
                <a:solidFill>
                  <a:srgbClr val="6C993C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sz="2000" dirty="0">
                <a:solidFill>
                  <a:srgbClr val="6C993C"/>
                </a:solidFill>
                <a:latin typeface="Verdana"/>
                <a:ea typeface="Verdana"/>
                <a:cs typeface="Verdana"/>
              </a:rPr>
              <a:t>is the management of money.</a:t>
            </a:r>
            <a:endParaRPr lang="en-US" sz="2000" i="1" dirty="0">
              <a:latin typeface="Cambria Math"/>
              <a:ea typeface="Cambria Math"/>
              <a:cs typeface="Cambria Math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304613" y="351091"/>
            <a:ext cx="11042259" cy="4800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/>
                <a:ea typeface="Verdana"/>
                <a:cs typeface="Verdana"/>
              </a:rPr>
              <a:t>Use the words in the word bank to complete each statement.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lnSpc>
                <a:spcPct val="150000"/>
              </a:lnSpc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______________ or _____________ describe money that is spent.</a:t>
            </a:r>
          </a:p>
          <a:p>
            <a:pPr marL="457200">
              <a:lnSpc>
                <a:spcPct val="150000"/>
              </a:lnSpc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457200">
              <a:lnSpc>
                <a:spcPct val="150000"/>
              </a:lnSpc>
            </a:pPr>
            <a:r>
              <a:rPr lang="en-US" sz="2000" dirty="0">
                <a:latin typeface="Verdana"/>
                <a:ea typeface="Verdana"/>
                <a:cs typeface="Verdana"/>
              </a:rPr>
              <a:t>b. ____________ are the amount of money that is paid to the government.</a:t>
            </a:r>
          </a:p>
          <a:p>
            <a:pPr marL="457200">
              <a:lnSpc>
                <a:spcPct val="150000"/>
              </a:lnSpc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457200">
              <a:lnSpc>
                <a:spcPct val="150000"/>
              </a:lnSpc>
            </a:pPr>
            <a:r>
              <a:rPr lang="en-US" sz="2000" dirty="0">
                <a:latin typeface="Verdana"/>
                <a:ea typeface="Verdana"/>
                <a:cs typeface="Verdana"/>
              </a:rPr>
              <a:t>c. A _____________ is the amount of money placed in a bank account.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808498"/>
              </p:ext>
            </p:extLst>
          </p:nvPr>
        </p:nvGraphicFramePr>
        <p:xfrm>
          <a:off x="2457450" y="1111939"/>
          <a:ext cx="7315200" cy="118872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1828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Verdana" pitchFamily="34" charset="0"/>
                          <a:ea typeface="Verdana" pitchFamily="34" charset="0"/>
                        </a:rPr>
                        <a:t>Word Bank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Verdana" pitchFamily="34" charset="0"/>
                          <a:ea typeface="Verdana" pitchFamily="34" charset="0"/>
                        </a:rPr>
                        <a:t>withdrawal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checking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costs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deposit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expenses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savings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taxes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2419350" y="981764"/>
            <a:ext cx="7358063" cy="1449070"/>
          </a:xfrm>
          <a:prstGeom prst="round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i="1">
                <a:latin typeface="Cambria Math"/>
                <a:ea typeface="Cambria Math"/>
                <a:cs typeface="Cambria Math"/>
              </a:rPr>
              <a:t> </a:t>
            </a: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3194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111600" y="351091"/>
            <a:ext cx="117028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lnSpc>
                <a:spcPct val="150000"/>
              </a:lnSpc>
              <a:buFont typeface="+mj-lt"/>
              <a:buAutoNum type="alphaLcPeriod" startAt="4"/>
            </a:pPr>
            <a:r>
              <a:rPr lang="en-US" sz="2000" dirty="0">
                <a:latin typeface="Verdana"/>
                <a:ea typeface="Verdana"/>
                <a:cs typeface="Verdana"/>
              </a:rPr>
              <a:t>A </a:t>
            </a:r>
            <a:r>
              <a:rPr lang="en-US" sz="1800" dirty="0">
                <a:latin typeface="Verdana"/>
                <a:ea typeface="Verdana"/>
                <a:cs typeface="Verdana"/>
              </a:rPr>
              <a:t>____________</a:t>
            </a:r>
            <a:r>
              <a:rPr lang="en-US" sz="2000" dirty="0">
                <a:latin typeface="Verdana"/>
                <a:ea typeface="Verdana"/>
                <a:cs typeface="Verdana"/>
              </a:rPr>
              <a:t> is the amount of money removed from a bank account.</a:t>
            </a:r>
          </a:p>
          <a:p>
            <a:pPr marL="914400" indent="-457200">
              <a:lnSpc>
                <a:spcPct val="150000"/>
              </a:lnSpc>
              <a:buFont typeface="+mj-lt"/>
              <a:buAutoNum type="alphaLcPeriod" startAt="4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lnSpc>
                <a:spcPct val="150000"/>
              </a:lnSpc>
              <a:buFont typeface="+mj-lt"/>
              <a:buAutoNum type="alphaL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 and _____________ are types of bank accounts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1932432" y="3429000"/>
            <a:ext cx="8327136" cy="1308727"/>
          </a:xfrm>
          <a:prstGeom prst="roundRect">
            <a:avLst>
              <a:gd name="adj" fmla="val 16667"/>
            </a:avLst>
          </a:prstGeom>
          <a:solidFill>
            <a:srgbClr val="E3EFD5"/>
          </a:solidFill>
          <a:ln w="12700" cap="flat" cmpd="sng">
            <a:solidFill>
              <a:srgbClr val="E3EFD5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40" rIns="91425" bIns="0" anchor="ctr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6C993C"/>
                </a:solidFill>
                <a:latin typeface="Verdana"/>
                <a:ea typeface="Verdana"/>
                <a:cs typeface="Verdana"/>
              </a:rPr>
              <a:t>An</a:t>
            </a:r>
            <a:r>
              <a:rPr lang="en-US" sz="2000" b="1" dirty="0">
                <a:solidFill>
                  <a:srgbClr val="6C993C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sz="2000" b="1" i="1" dirty="0">
                <a:solidFill>
                  <a:srgbClr val="6C993C"/>
                </a:solidFill>
                <a:latin typeface="Verdana"/>
                <a:ea typeface="Verdana"/>
                <a:cs typeface="Verdana"/>
              </a:rPr>
              <a:t>investment</a:t>
            </a:r>
            <a:r>
              <a:rPr lang="en-US" sz="2000" b="1" dirty="0">
                <a:solidFill>
                  <a:srgbClr val="6C993C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sz="2000" dirty="0">
                <a:solidFill>
                  <a:srgbClr val="6C993C"/>
                </a:solidFill>
                <a:latin typeface="Verdana"/>
                <a:ea typeface="Verdana"/>
                <a:cs typeface="Verdana"/>
              </a:rPr>
              <a:t>is when the initial amount of money, known as the </a:t>
            </a:r>
            <a:r>
              <a:rPr lang="en-US" sz="2000" b="1" i="1" dirty="0">
                <a:solidFill>
                  <a:srgbClr val="6C993C"/>
                </a:solidFill>
                <a:latin typeface="Verdana"/>
                <a:ea typeface="Verdana"/>
                <a:cs typeface="Verdana"/>
              </a:rPr>
              <a:t>principal</a:t>
            </a:r>
            <a:r>
              <a:rPr lang="en-US" sz="2000" dirty="0">
                <a:solidFill>
                  <a:srgbClr val="6C993C"/>
                </a:solidFill>
                <a:latin typeface="Verdana"/>
                <a:ea typeface="Verdana"/>
                <a:cs typeface="Verdana"/>
              </a:rPr>
              <a:t>, earns more money, known as the </a:t>
            </a:r>
            <a:r>
              <a:rPr lang="en-US" sz="2000" b="1" i="1" dirty="0">
                <a:solidFill>
                  <a:srgbClr val="6C993C"/>
                </a:solidFill>
                <a:latin typeface="Verdana"/>
                <a:ea typeface="Verdana"/>
                <a:cs typeface="Verdana"/>
              </a:rPr>
              <a:t>return</a:t>
            </a:r>
            <a:r>
              <a:rPr lang="en-US" sz="2000" dirty="0">
                <a:solidFill>
                  <a:srgbClr val="6C993C"/>
                </a:solidFill>
                <a:latin typeface="Verdana"/>
                <a:ea typeface="Verdana"/>
                <a:cs typeface="Verdana"/>
              </a:rPr>
              <a:t>, over time.</a:t>
            </a:r>
            <a:endParaRPr lang="en-US" sz="2000" i="1" dirty="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7458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304614" y="403046"/>
            <a:ext cx="117176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>
                <a:latin typeface="Verdana"/>
                <a:ea typeface="Verdana"/>
                <a:cs typeface="Verdana"/>
              </a:rPr>
              <a:t>For each financial transaction, write the mathematical operation that is most commonly associated with it.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778021"/>
              </p:ext>
            </p:extLst>
          </p:nvPr>
        </p:nvGraphicFramePr>
        <p:xfrm>
          <a:off x="3115448" y="1539240"/>
          <a:ext cx="6096000" cy="377952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048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Financial Transaction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Mathematical Operation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costs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deposit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expenses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income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taxes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withdrawal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return on an investment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6954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15358" y="543426"/>
                <a:ext cx="11430277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Hannah earns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$9.17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an hour. Each week she works </a:t>
                </a:r>
                <a:r>
                  <a:rPr lang="en-US" sz="2000" dirty="0">
                    <a:latin typeface="Cambria Math"/>
                    <a:ea typeface="Cambria Math"/>
                    <a:cs typeface="Cambria Math"/>
                  </a:rPr>
                  <a:t/>
                </a:r>
                <a:br>
                  <a:rPr lang="en-US" sz="2000" dirty="0">
                    <a:latin typeface="Cambria Math"/>
                    <a:ea typeface="Cambria Math"/>
                    <a:cs typeface="Cambria Math"/>
                  </a:rPr>
                </a:b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14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hours. How much is Hannah’s weekly gross income?</a:t>
                </a: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Each week Hannah has to pay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$26.96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in taxes. What is Hannah’s net income?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358" y="543426"/>
                <a:ext cx="11430277" cy="4401205"/>
              </a:xfrm>
              <a:prstGeom prst="rect">
                <a:avLst/>
              </a:prstGeom>
              <a:blipFill>
                <a:blip r:embed="rId4"/>
                <a:stretch>
                  <a:fillRect l="-555" b="-14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932432" y="543426"/>
            <a:ext cx="8327136" cy="580017"/>
          </a:xfrm>
          <a:prstGeom prst="roundRect">
            <a:avLst>
              <a:gd name="adj" fmla="val 16667"/>
            </a:avLst>
          </a:prstGeom>
          <a:solidFill>
            <a:srgbClr val="E3EFD5"/>
          </a:solidFill>
          <a:ln w="12700" cap="flat" cmpd="sng">
            <a:solidFill>
              <a:srgbClr val="E3EFD5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40" rIns="91425" bIns="0" anchor="ctr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i="1" dirty="0">
                <a:solidFill>
                  <a:srgbClr val="6C993C"/>
                </a:solidFill>
                <a:latin typeface="Verdana"/>
                <a:ea typeface="Verdana"/>
                <a:cs typeface="Verdana"/>
              </a:rPr>
              <a:t>Gross income</a:t>
            </a:r>
            <a:r>
              <a:rPr lang="en-US" sz="2000" b="1" dirty="0">
                <a:solidFill>
                  <a:srgbClr val="6C993C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sz="2000" dirty="0">
                <a:solidFill>
                  <a:srgbClr val="6C993C"/>
                </a:solidFill>
                <a:latin typeface="Verdana"/>
                <a:ea typeface="Verdana"/>
                <a:cs typeface="Verdana"/>
              </a:rPr>
              <a:t>is the amount of income that is earned.</a:t>
            </a:r>
            <a:endParaRPr lang="en-US" sz="1800" i="1" dirty="0">
              <a:latin typeface="Cambria Math"/>
              <a:ea typeface="Cambria Math"/>
              <a:cs typeface="Cambria Math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932432" y="3113159"/>
            <a:ext cx="8327136" cy="944372"/>
          </a:xfrm>
          <a:prstGeom prst="roundRect">
            <a:avLst>
              <a:gd name="adj" fmla="val 16667"/>
            </a:avLst>
          </a:prstGeom>
          <a:solidFill>
            <a:srgbClr val="E3EFD5"/>
          </a:solidFill>
          <a:ln w="12700" cap="flat" cmpd="sng">
            <a:solidFill>
              <a:srgbClr val="E3EFD5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40" rIns="91425" bIns="0" anchor="ctr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i="1" dirty="0">
                <a:solidFill>
                  <a:srgbClr val="6C993C"/>
                </a:solidFill>
                <a:latin typeface="Verdana"/>
                <a:ea typeface="Verdana"/>
                <a:cs typeface="Verdana"/>
              </a:rPr>
              <a:t>Net income</a:t>
            </a:r>
            <a:r>
              <a:rPr lang="en-US" sz="2000" b="1" dirty="0">
                <a:solidFill>
                  <a:srgbClr val="6C993C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sz="2000" dirty="0">
                <a:solidFill>
                  <a:srgbClr val="6C993C"/>
                </a:solidFill>
                <a:latin typeface="Verdana"/>
                <a:ea typeface="Verdana"/>
                <a:cs typeface="Verdana"/>
              </a:rPr>
              <a:t>is the amount of income that is earned after expenses and taxes are deducted.</a:t>
            </a:r>
            <a:endParaRPr lang="en-US" sz="1800" i="1" dirty="0">
              <a:latin typeface="Cambria Math"/>
              <a:ea typeface="Cambria Math"/>
              <a:cs typeface="Cambria Math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1347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630168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9840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3.5.3 Guided Practice: Solving Real-World Finance Problems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731519" y="1337730"/>
                <a:ext cx="11166071" cy="45550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A trampoline park charges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$26.88</m:t>
                    </m:r>
                  </m:oMath>
                </a14:m>
                <a:r>
                  <a:rPr lang="en-US" sz="2000" dirty="0">
                    <a:latin typeface="Cambria Math"/>
                    <a:ea typeface="Cambria Math"/>
                    <a:cs typeface="Cambria Math"/>
                  </a:rPr>
                  <a:t> </a:t>
                </a:r>
                <a:r>
                  <a:rPr lang="en-US" sz="2000" dirty="0">
                    <a:latin typeface="Verdana"/>
                    <a:ea typeface="Verdana"/>
                    <a:cs typeface="Verdana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2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hours.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How much is the cost for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1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hour?</a:t>
                </a:r>
              </a:p>
              <a:p>
                <a:pPr marL="914400" indent="-457200">
                  <a:spcBef>
                    <a:spcPts val="2000"/>
                  </a:spcBef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The manager of the trampoline park knows that during a Saturday there are typically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125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people at the park.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If each person only pays for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2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hours, what is the park’s typical income on Saturdays?</a:t>
                </a:r>
              </a:p>
              <a:p>
                <a:pPr marL="914400" indent="-457200">
                  <a:spcBef>
                    <a:spcPts val="2000"/>
                  </a:spcBef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The manager of the trampoline park lists the costs for Saturday as follows: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$119.50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to pay the employees and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$256.73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for all other costs. What are the park’s typical costs?</a:t>
                </a:r>
              </a:p>
              <a:p>
                <a:pPr marL="914400" indent="-457200">
                  <a:spcBef>
                    <a:spcPts val="2000"/>
                  </a:spcBef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Determine the park’s net income for a typical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Saturday.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19" y="1337730"/>
                <a:ext cx="11166071" cy="4555093"/>
              </a:xfrm>
              <a:prstGeom prst="rect">
                <a:avLst/>
              </a:prstGeom>
              <a:blipFill>
                <a:blip r:embed="rId5"/>
                <a:stretch>
                  <a:fillRect l="-568" t="-1111" b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="" xmlns:a16="http://schemas.microsoft.com/office/drawing/2014/main" id="{A3E0058B-C607-174E-B439-E4D3192A9DB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394577" y="355109"/>
                <a:ext cx="11347149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Emmanuel invested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$12,500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into the stock market.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In the first quarter of the year his return was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$281.25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.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He combines the return with his initial investment. How much does Emmanuel have invested after the first quarter of the year?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Aaron has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$2,478.23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in his checking account. He writes a check for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$637.89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to pay for new tires on his truck. How much money does he have in his checking account now?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 err="1">
                    <a:latin typeface="Verdana"/>
                    <a:ea typeface="Verdana"/>
                    <a:cs typeface="Verdana"/>
                  </a:rPr>
                  <a:t>Violeta</a:t>
                </a:r>
                <a:r>
                  <a:rPr lang="en-US" sz="2000" dirty="0">
                    <a:latin typeface="Verdana"/>
                    <a:ea typeface="Verdana"/>
                    <a:cs typeface="Verdana"/>
                  </a:rPr>
                  <a:t> has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$5,734.49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in her savings account. She deposits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$218.56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. How much does she have in her savings account now?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77" y="355109"/>
                <a:ext cx="11347149" cy="4708981"/>
              </a:xfrm>
              <a:prstGeom prst="rect">
                <a:avLst/>
              </a:prstGeom>
              <a:blipFill>
                <a:blip r:embed="rId4"/>
                <a:stretch>
                  <a:fillRect l="-671" t="-538" r="-1230" b="-1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2152CD2B-A4D4-A94A-8235-80385DFE97A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22875" y="269833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=""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=""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28438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3.5.4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=""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730266" y="1262347"/>
            <a:ext cx="1054387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Verdana"/>
                <a:ea typeface="Verdana"/>
                <a:cs typeface="Verdana"/>
              </a:rPr>
              <a:t>Mishka</a:t>
            </a:r>
            <a:r>
              <a:rPr lang="en-US" sz="2000" dirty="0">
                <a:latin typeface="Verdana"/>
                <a:ea typeface="Verdana"/>
                <a:cs typeface="Verdana"/>
              </a:rPr>
              <a:t> is planning to host a music festival to raise funds for a local food bank. Her budget is shown.</a:t>
            </a:r>
          </a:p>
          <a:p>
            <a:endParaRPr lang="en-US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US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US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US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US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US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US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US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US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US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In order to find the </a:t>
            </a:r>
            <a:r>
              <a:rPr lang="en-US" sz="2000" b="1" dirty="0">
                <a:latin typeface="Verdana"/>
                <a:ea typeface="Verdana"/>
                <a:cs typeface="Verdana"/>
              </a:rPr>
              <a:t>gross income</a:t>
            </a:r>
            <a:r>
              <a:rPr lang="en-US" sz="2000" dirty="0">
                <a:latin typeface="Verdana"/>
                <a:ea typeface="Verdana"/>
                <a:cs typeface="Verdana"/>
              </a:rPr>
              <a:t> for the music festival,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I need to know _____________________________ and ________________________________________.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="" xmlns:a16="http://schemas.microsoft.com/office/drawing/2014/main" id="{31AAE36C-5822-464A-8B2B-DAD96F65814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076574"/>
              </p:ext>
            </p:extLst>
          </p:nvPr>
        </p:nvGraphicFramePr>
        <p:xfrm>
          <a:off x="3396161" y="2042160"/>
          <a:ext cx="5212080" cy="277368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38328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Item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Amount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Ticket price at the door</a:t>
                      </a:r>
                      <a:endParaRPr lang="en-US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 Math" pitchFamily="18" charset="0"/>
                          <a:ea typeface="Cambria Math" pitchFamily="18" charset="0"/>
                        </a:rPr>
                        <a:t>$9.00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Fee paid to each band</a:t>
                      </a:r>
                      <a:endParaRPr lang="en-US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 Math" pitchFamily="18" charset="0"/>
                          <a:ea typeface="Cambria Math" pitchFamily="18" charset="0"/>
                        </a:rPr>
                        <a:t>$175.00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Early-bird ticket price</a:t>
                      </a:r>
                      <a:endParaRPr lang="en-US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 Math" pitchFamily="18" charset="0"/>
                          <a:ea typeface="Cambria Math" pitchFamily="18" charset="0"/>
                        </a:rPr>
                        <a:t>$6.50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Equipment rental</a:t>
                      </a:r>
                      <a:endParaRPr lang="en-US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 Math" pitchFamily="18" charset="0"/>
                          <a:ea typeface="Cambria Math" pitchFamily="18" charset="0"/>
                        </a:rPr>
                        <a:t>$225.00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Publicity (flyers/artwork)</a:t>
                      </a:r>
                      <a:endParaRPr lang="en-US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 Math" pitchFamily="18" charset="0"/>
                          <a:ea typeface="Cambria Math" pitchFamily="18" charset="0"/>
                        </a:rPr>
                        <a:t>$64.57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Stage rental</a:t>
                      </a:r>
                      <a:endParaRPr lang="en-US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 Math" pitchFamily="18" charset="0"/>
                          <a:ea typeface="Cambria Math" pitchFamily="18" charset="0"/>
                        </a:rPr>
                        <a:t>$187.50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4CE9D117-FAE6-F74F-940B-9CD1479755BE}"/>
                  </a:ext>
                </a:extLst>
              </p:cNvPr>
              <p:cNvSpPr txBox="1"/>
              <p:nvPr/>
            </p:nvSpPr>
            <p:spPr>
              <a:xfrm>
                <a:off x="436140" y="495595"/>
                <a:ext cx="11222459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List the items in </a:t>
                </a:r>
                <a:r>
                  <a:rPr lang="en-US" sz="2400" dirty="0" err="1">
                    <a:latin typeface="Verdana"/>
                    <a:ea typeface="Verdana"/>
                    <a:cs typeface="Verdana"/>
                  </a:rPr>
                  <a:t>Mishka’s</a:t>
                </a:r>
                <a:r>
                  <a:rPr lang="en-US" sz="2400" dirty="0">
                    <a:latin typeface="Verdana"/>
                    <a:ea typeface="Verdana"/>
                    <a:cs typeface="Verdana"/>
                  </a:rPr>
                  <a:t> budget that are </a:t>
                </a:r>
                <a:r>
                  <a:rPr lang="en-US" sz="2400" b="1" dirty="0">
                    <a:latin typeface="Verdana"/>
                    <a:ea typeface="Verdana"/>
                    <a:cs typeface="Verdana"/>
                  </a:rPr>
                  <a:t>expenses</a:t>
                </a:r>
                <a:r>
                  <a:rPr lang="en-US" sz="2400" dirty="0">
                    <a:latin typeface="Verdana"/>
                    <a:ea typeface="Verdana"/>
                    <a:cs typeface="Verdana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If </a:t>
                </a:r>
                <a:r>
                  <a:rPr lang="en-US" sz="2400" dirty="0" err="1">
                    <a:latin typeface="Verdana"/>
                    <a:ea typeface="Verdana"/>
                    <a:cs typeface="Verdana"/>
                  </a:rPr>
                  <a:t>Mishka</a:t>
                </a:r>
                <a:r>
                  <a:rPr lang="en-US" sz="2400" dirty="0">
                    <a:latin typeface="Verdana"/>
                    <a:ea typeface="Verdana"/>
                    <a:cs typeface="Verdana"/>
                  </a:rPr>
                  <a:t> had a gross income of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/>
                        <a:ea typeface="Cambria Math"/>
                        <a:cs typeface="Cambria Math"/>
                      </a:rPr>
                      <m:t>$1,166.50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and expenses totaling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/>
                        <a:ea typeface="Cambria Math"/>
                        <a:cs typeface="Cambria Math"/>
                      </a:rPr>
                      <m:t>$827.07</m:t>
                    </m:r>
                  </m:oMath>
                </a14:m>
                <a:r>
                  <a:rPr lang="en-US" sz="2400" dirty="0">
                    <a:latin typeface="Cambria Math"/>
                    <a:ea typeface="Cambria Math"/>
                    <a:cs typeface="Cambria Math"/>
                  </a:rPr>
                  <a:t>,</a:t>
                </a:r>
                <a:r>
                  <a:rPr lang="en-US" sz="2400" dirty="0">
                    <a:latin typeface="Verdana"/>
                    <a:ea typeface="Verdana"/>
                    <a:cs typeface="Verdana"/>
                  </a:rPr>
                  <a:t> what is her net income for the music festival?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E9D117-FAE6-F74F-940B-9CD147975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140" y="495595"/>
                <a:ext cx="11222459" cy="4524315"/>
              </a:xfrm>
              <a:prstGeom prst="rect">
                <a:avLst/>
              </a:prstGeom>
              <a:blipFill>
                <a:blip r:embed="rId4"/>
                <a:stretch>
                  <a:fillRect l="-905" t="-838" b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770AEB55-C0B0-E249-801E-7B66B61DDE1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1338</TotalTime>
  <Words>730</Words>
  <Application>Microsoft Office PowerPoint</Application>
  <PresentationFormat>Custom</PresentationFormat>
  <Paragraphs>212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Cambria Math</vt:lpstr>
      <vt:lpstr>Wingdings</vt:lpstr>
      <vt:lpstr>Arial Black</vt:lpstr>
      <vt:lpstr>Verdana</vt:lpstr>
      <vt:lpstr>Calibri</vt:lpstr>
      <vt:lpstr>Century Gothic</vt:lpstr>
      <vt:lpstr>1_Office Theme</vt:lpstr>
      <vt:lpstr>6th Grade Math  Unit 3, Lesson 5  Using Operations to Solve  Real-World Problems –  Part 2  Volume 1, pg. 112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40</cp:revision>
  <dcterms:created xsi:type="dcterms:W3CDTF">2015-03-17T18:51:18Z</dcterms:created>
  <dcterms:modified xsi:type="dcterms:W3CDTF">2022-07-07T08:33:27Z</dcterms:modified>
</cp:coreProperties>
</file>