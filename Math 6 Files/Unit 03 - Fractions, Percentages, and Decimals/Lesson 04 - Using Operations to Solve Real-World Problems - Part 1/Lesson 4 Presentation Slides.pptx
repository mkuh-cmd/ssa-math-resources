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7"/>
  </p:notesMasterIdLst>
  <p:sldIdLst>
    <p:sldId id="256" r:id="rId5"/>
    <p:sldId id="257" r:id="rId6"/>
    <p:sldId id="285" r:id="rId7"/>
    <p:sldId id="286" r:id="rId8"/>
    <p:sldId id="261" r:id="rId9"/>
    <p:sldId id="287" r:id="rId10"/>
    <p:sldId id="288" r:id="rId11"/>
    <p:sldId id="289" r:id="rId12"/>
    <p:sldId id="290" r:id="rId13"/>
    <p:sldId id="308" r:id="rId14"/>
    <p:sldId id="326" r:id="rId15"/>
    <p:sldId id="327" r:id="rId16"/>
    <p:sldId id="328" r:id="rId17"/>
    <p:sldId id="323" r:id="rId18"/>
    <p:sldId id="324" r:id="rId19"/>
    <p:sldId id="325" r:id="rId20"/>
    <p:sldId id="329" r:id="rId21"/>
    <p:sldId id="330" r:id="rId22"/>
    <p:sldId id="332" r:id="rId23"/>
    <p:sldId id="306" r:id="rId24"/>
    <p:sldId id="307" r:id="rId25"/>
    <p:sldId id="310" r:id="rId26"/>
  </p:sldIdLst>
  <p:sldSz cx="12192000" cy="6858000"/>
  <p:notesSz cx="6858000" cy="9144000"/>
  <p:embeddedFontLst>
    <p:embeddedFont>
      <p:font typeface="Century Gothic" pitchFamily="34" charset="0"/>
      <p:regular r:id="rId28"/>
      <p:bold r:id="rId29"/>
      <p:italic r:id="rId30"/>
      <p:boldItalic r:id="rId31"/>
    </p:embeddedFont>
    <p:embeddedFont>
      <p:font typeface="Cambria Math" pitchFamily="18" charset="0"/>
      <p:regular r:id="rId32"/>
    </p:embeddedFont>
    <p:embeddedFont>
      <p:font typeface="Arial Black" pitchFamily="34" charset="0"/>
      <p:bold r:id="rId33"/>
    </p:embeddedFont>
    <p:embeddedFont>
      <p:font typeface="Verdana" pitchFamily="34" charset="0"/>
      <p:regular r:id="rId34"/>
      <p:bold r:id="rId35"/>
      <p:italic r:id="rId36"/>
      <p:boldItalic r:id="rId37"/>
    </p:embeddedFont>
    <p:embeddedFont>
      <p:font typeface="Calibri"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D1E"/>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15"/>
    <p:restoredTop sz="94645" autoAdjust="0"/>
  </p:normalViewPr>
  <p:slideViewPr>
    <p:cSldViewPr snapToGrid="0">
      <p:cViewPr>
        <p:scale>
          <a:sx n="76" d="100"/>
          <a:sy n="76" d="100"/>
        </p:scale>
        <p:origin x="-504" y="4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7.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659884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1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635312" y="2150072"/>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3, Lesson 4</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Using Operations to Solve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Real-World Problems –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Part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107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3916"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730266" y="1326150"/>
            <a:ext cx="1100148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a:ea typeface="Verdana"/>
                <a:cs typeface="Verdana"/>
                <a:sym typeface="Verdana"/>
              </a:rPr>
              <a:t>MA.6.NSO.2.3</a:t>
            </a:r>
          </a:p>
          <a:p>
            <a:pPr indent="0">
              <a:buNone/>
            </a:pPr>
            <a:r>
              <a:rPr lang="en-US" sz="3600" dirty="0">
                <a:solidFill>
                  <a:schemeClr val="tx1"/>
                </a:solidFill>
                <a:latin typeface="Verdana"/>
                <a:ea typeface="Verdana"/>
                <a:cs typeface="Verdana"/>
                <a:sym typeface="Verdana"/>
              </a:rPr>
              <a:t>Solve multi-step, real-world problems involving any of the four operations with positive multi-digit decimals or positive fractions, including mixed numbers.</a:t>
            </a:r>
            <a:endParaRPr lang="en-US" sz="36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237332" y="54864"/>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730266" y="1326150"/>
            <a:ext cx="1119351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 xmlns:a16="http://schemas.microsoft.com/office/drawing/2014/main" id="{0EC4A24D-AC58-5143-9A1A-1E71E28DFCF5}"/>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730266" y="1326150"/>
            <a:ext cx="1110207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65150">
              <a:buClr>
                <a:srgbClr val="434343"/>
              </a:buClr>
              <a:buSzPts val="3500"/>
              <a:buFont typeface="Verdana"/>
              <a:buChar char="❏"/>
            </a:pPr>
            <a:r>
              <a:rPr lang="en-US" sz="3600" dirty="0">
                <a:latin typeface="Verdana"/>
                <a:ea typeface="Verdana"/>
                <a:cs typeface="Verdana"/>
              </a:rPr>
              <a:t>I can determine which operation should be used to solve a real-world problem.</a:t>
            </a:r>
            <a:endParaRPr lang="en-US" sz="3500" dirty="0">
              <a:solidFill>
                <a:schemeClr val="tx1"/>
              </a:solidFill>
              <a:latin typeface="Verdana"/>
              <a:ea typeface="Verdana"/>
              <a:cs typeface="Verdana"/>
              <a:sym typeface="Verdana"/>
            </a:endParaRPr>
          </a:p>
        </p:txBody>
      </p:sp>
      <p:sp>
        <p:nvSpPr>
          <p:cNvPr id="8" name="Google Shape;278;g104476d1465_1_17">
            <a:extLst>
              <a:ext uri="{FF2B5EF4-FFF2-40B4-BE49-F238E27FC236}">
                <a16:creationId xmlns="" xmlns:a16="http://schemas.microsoft.com/office/drawing/2014/main" id="{7BA09A98-EDA0-5343-AD77-8F8E8C4F0E7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37332" y="275102"/>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3.4.1 Warm-Up: Math Flop	</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 xmlns:a16="http://schemas.microsoft.com/office/drawing/2014/main" id="{E1D7562E-134F-D14B-AF1A-DF40E11EF758}"/>
              </a:ext>
            </a:extLst>
          </p:cNvPr>
          <p:cNvSpPr txBox="1"/>
          <p:nvPr/>
        </p:nvSpPr>
        <p:spPr>
          <a:xfrm>
            <a:off x="730266" y="1279581"/>
            <a:ext cx="11129502" cy="400110"/>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Determine the mistake in each picture. Then, complete the table.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78;g104476d1465_1_17">
            <a:extLst>
              <a:ext uri="{FF2B5EF4-FFF2-40B4-BE49-F238E27FC236}">
                <a16:creationId xmlns="" xmlns:a16="http://schemas.microsoft.com/office/drawing/2014/main" id="{C2564F7E-689E-724F-BBC4-EC8DFC52E66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3" name="Table 2"/>
          <p:cNvGraphicFramePr>
            <a:graphicFrameLocks noGrp="1"/>
          </p:cNvGraphicFramePr>
          <p:nvPr>
            <p:extLst>
              <p:ext uri="{D42A27DB-BD31-4B8C-83A1-F6EECF244321}">
                <p14:modId xmlns:p14="http://schemas.microsoft.com/office/powerpoint/2010/main" val="2105567277"/>
              </p:ext>
            </p:extLst>
          </p:nvPr>
        </p:nvGraphicFramePr>
        <p:xfrm>
          <a:off x="2683137" y="1987026"/>
          <a:ext cx="7223760" cy="4163314"/>
        </p:xfrm>
        <a:graphic>
          <a:graphicData uri="http://schemas.openxmlformats.org/drawingml/2006/table">
            <a:tbl>
              <a:tblPr firstRow="1" bandRow="1">
                <a:tableStyleId>{A91F0D33-8C57-4600-99A7-42BC86742BE1}</a:tableStyleId>
              </a:tblPr>
              <a:tblGrid>
                <a:gridCol w="1828800">
                  <a:extLst>
                    <a:ext uri="{9D8B030D-6E8A-4147-A177-3AD203B41FA5}">
                      <a16:colId xmlns="" xmlns:a16="http://schemas.microsoft.com/office/drawing/2014/main" val="20000"/>
                    </a:ext>
                  </a:extLst>
                </a:gridCol>
                <a:gridCol w="1645920">
                  <a:extLst>
                    <a:ext uri="{9D8B030D-6E8A-4147-A177-3AD203B41FA5}">
                      <a16:colId xmlns="" xmlns:a16="http://schemas.microsoft.com/office/drawing/2014/main" val="20001"/>
                    </a:ext>
                  </a:extLst>
                </a:gridCol>
                <a:gridCol w="1645920">
                  <a:extLst>
                    <a:ext uri="{9D8B030D-6E8A-4147-A177-3AD203B41FA5}">
                      <a16:colId xmlns="" xmlns:a16="http://schemas.microsoft.com/office/drawing/2014/main" val="20002"/>
                    </a:ext>
                  </a:extLst>
                </a:gridCol>
                <a:gridCol w="2103120">
                  <a:extLst>
                    <a:ext uri="{9D8B030D-6E8A-4147-A177-3AD203B41FA5}">
                      <a16:colId xmlns="" xmlns:a16="http://schemas.microsoft.com/office/drawing/2014/main" val="20003"/>
                    </a:ext>
                  </a:extLst>
                </a:gridCol>
              </a:tblGrid>
              <a:tr h="370840">
                <a:tc>
                  <a:txBody>
                    <a:bodyPr/>
                    <a:lstStyle/>
                    <a:p>
                      <a:pPr algn="ctr"/>
                      <a:r>
                        <a:rPr lang="en-US" sz="1800" b="1" i="0" dirty="0">
                          <a:effectLst/>
                          <a:latin typeface="Verdana"/>
                          <a:ea typeface="Verdana"/>
                          <a:cs typeface="Verdana"/>
                        </a:rPr>
                        <a:t>Math Flop</a:t>
                      </a:r>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800"/>
                        </a:spcAft>
                      </a:pPr>
                      <a:r>
                        <a:rPr lang="en-US" sz="1800" b="1" i="0" dirty="0">
                          <a:effectLst/>
                          <a:latin typeface="Verdana"/>
                          <a:ea typeface="Verdana"/>
                          <a:cs typeface="Verdana"/>
                        </a:rPr>
                        <a:t>The Mistake: </a:t>
                      </a:r>
                      <a:endParaRPr lang="en-US" sz="1800" i="1" dirty="0">
                        <a:effectLst/>
                        <a:latin typeface="Cambria Math"/>
                        <a:ea typeface="Cambria Math"/>
                        <a:cs typeface="Cambria Math"/>
                      </a:endParaRPr>
                    </a:p>
                    <a:p>
                      <a:pPr algn="ctr"/>
                      <a:r>
                        <a:rPr lang="en-US" sz="1800" i="0" dirty="0">
                          <a:effectLst/>
                          <a:latin typeface="Verdana"/>
                          <a:ea typeface="Verdana"/>
                          <a:cs typeface="Verdana"/>
                        </a:rPr>
                        <a:t>Which number is not correct?</a:t>
                      </a:r>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800"/>
                        </a:spcAft>
                      </a:pPr>
                      <a:r>
                        <a:rPr lang="en-US" sz="1800" b="1" i="0" dirty="0">
                          <a:effectLst/>
                          <a:latin typeface="Verdana"/>
                          <a:ea typeface="Verdana"/>
                          <a:cs typeface="Verdana"/>
                        </a:rPr>
                        <a:t>My Work:</a:t>
                      </a:r>
                      <a:endParaRPr lang="en-US" sz="1800" i="1" dirty="0">
                        <a:effectLst/>
                        <a:latin typeface="Cambria Math"/>
                        <a:ea typeface="Cambria Math"/>
                        <a:cs typeface="Cambria Math"/>
                      </a:endParaRPr>
                    </a:p>
                    <a:p>
                      <a:pPr algn="ctr"/>
                      <a:r>
                        <a:rPr lang="en-US" sz="1800" i="0" dirty="0">
                          <a:effectLst/>
                          <a:latin typeface="Verdana"/>
                          <a:ea typeface="Verdana"/>
                          <a:cs typeface="Verdana"/>
                        </a:rPr>
                        <a:t>Show the math that proves it is a mistake.</a:t>
                      </a:r>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800"/>
                        </a:spcAft>
                      </a:pPr>
                      <a:r>
                        <a:rPr lang="en-US" sz="1800" b="1" i="0" dirty="0">
                          <a:effectLst/>
                          <a:latin typeface="Verdana"/>
                          <a:ea typeface="Verdana"/>
                          <a:cs typeface="Verdana"/>
                        </a:rPr>
                        <a:t>The Correct Label:</a:t>
                      </a:r>
                      <a:endParaRPr lang="en-US" sz="1800" i="1" dirty="0">
                        <a:effectLst/>
                        <a:latin typeface="Cambria Math"/>
                        <a:ea typeface="Cambria Math"/>
                        <a:cs typeface="Cambria Math"/>
                      </a:endParaRPr>
                    </a:p>
                    <a:p>
                      <a:r>
                        <a:rPr lang="en-US" sz="1800" i="0" dirty="0">
                          <a:effectLst/>
                          <a:latin typeface="Verdana"/>
                          <a:ea typeface="Verdana"/>
                          <a:cs typeface="Verdana"/>
                        </a:rPr>
                        <a:t>Fix the label by marking out the mistake and inserting the correct number.</a:t>
                      </a:r>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70840">
                <a:tc>
                  <a:txBody>
                    <a:bodyPr/>
                    <a:lstStyle/>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pic>
        <p:nvPicPr>
          <p:cNvPr id="10" name="Picture 9"/>
          <p:cNvPicPr/>
          <p:nvPr/>
        </p:nvPicPr>
        <p:blipFill>
          <a:blip r:embed="rId5" cstate="screen">
            <a:extLst>
              <a:ext uri="{28A0092B-C50C-407E-A947-70E740481C1C}">
                <a14:useLocalDpi xmlns:a14="http://schemas.microsoft.com/office/drawing/2010/main"/>
              </a:ext>
            </a:extLst>
          </a:blip>
          <a:stretch>
            <a:fillRect/>
          </a:stretch>
        </p:blipFill>
        <p:spPr>
          <a:xfrm>
            <a:off x="2987514" y="4251160"/>
            <a:ext cx="1223645" cy="1771116"/>
          </a:xfrm>
          <a:prstGeom prst="rect">
            <a:avLst/>
          </a:prstGeom>
        </p:spPr>
      </p:pic>
      <p:pic>
        <p:nvPicPr>
          <p:cNvPr id="11" name="Picture 10"/>
          <p:cNvPicPr/>
          <p:nvPr/>
        </p:nvPicPr>
        <p:blipFill>
          <a:blip r:embed="rId5" cstate="screen">
            <a:extLst>
              <a:ext uri="{28A0092B-C50C-407E-A947-70E740481C1C}">
                <a14:useLocalDpi xmlns:a14="http://schemas.microsoft.com/office/drawing/2010/main"/>
              </a:ext>
            </a:extLst>
          </a:blip>
          <a:stretch>
            <a:fillRect/>
          </a:stretch>
        </p:blipFill>
        <p:spPr>
          <a:xfrm>
            <a:off x="8285331" y="4247218"/>
            <a:ext cx="1223532" cy="1771116"/>
          </a:xfrm>
          <a:prstGeom prst="rect">
            <a:avLst/>
          </a:prstGeom>
        </p:spPr>
      </p:pic>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 xmlns:a16="http://schemas.microsoft.com/office/drawing/2014/main" id="{2950EAF9-F430-CC4A-9F7C-2EC37538C1F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Table 6"/>
          <p:cNvGraphicFramePr>
            <a:graphicFrameLocks noGrp="1"/>
          </p:cNvGraphicFramePr>
          <p:nvPr>
            <p:extLst>
              <p:ext uri="{D42A27DB-BD31-4B8C-83A1-F6EECF244321}">
                <p14:modId xmlns:p14="http://schemas.microsoft.com/office/powerpoint/2010/main" val="2164927359"/>
              </p:ext>
            </p:extLst>
          </p:nvPr>
        </p:nvGraphicFramePr>
        <p:xfrm>
          <a:off x="2484120" y="1347343"/>
          <a:ext cx="7223760" cy="4163314"/>
        </p:xfrm>
        <a:graphic>
          <a:graphicData uri="http://schemas.openxmlformats.org/drawingml/2006/table">
            <a:tbl>
              <a:tblPr firstRow="1" bandRow="1">
                <a:tableStyleId>{A91F0D33-8C57-4600-99A7-42BC86742BE1}</a:tableStyleId>
              </a:tblPr>
              <a:tblGrid>
                <a:gridCol w="1828800">
                  <a:extLst>
                    <a:ext uri="{9D8B030D-6E8A-4147-A177-3AD203B41FA5}">
                      <a16:colId xmlns="" xmlns:a16="http://schemas.microsoft.com/office/drawing/2014/main" val="20000"/>
                    </a:ext>
                  </a:extLst>
                </a:gridCol>
                <a:gridCol w="1645920">
                  <a:extLst>
                    <a:ext uri="{9D8B030D-6E8A-4147-A177-3AD203B41FA5}">
                      <a16:colId xmlns="" xmlns:a16="http://schemas.microsoft.com/office/drawing/2014/main" val="20001"/>
                    </a:ext>
                  </a:extLst>
                </a:gridCol>
                <a:gridCol w="1645920">
                  <a:extLst>
                    <a:ext uri="{9D8B030D-6E8A-4147-A177-3AD203B41FA5}">
                      <a16:colId xmlns="" xmlns:a16="http://schemas.microsoft.com/office/drawing/2014/main" val="20002"/>
                    </a:ext>
                  </a:extLst>
                </a:gridCol>
                <a:gridCol w="2103120">
                  <a:extLst>
                    <a:ext uri="{9D8B030D-6E8A-4147-A177-3AD203B41FA5}">
                      <a16:colId xmlns="" xmlns:a16="http://schemas.microsoft.com/office/drawing/2014/main" val="20003"/>
                    </a:ext>
                  </a:extLst>
                </a:gridCol>
              </a:tblGrid>
              <a:tr h="370840">
                <a:tc>
                  <a:txBody>
                    <a:bodyPr/>
                    <a:lstStyle/>
                    <a:p>
                      <a:pPr algn="ctr"/>
                      <a:r>
                        <a:rPr lang="en-US" sz="1800" b="1" i="0" dirty="0">
                          <a:effectLst/>
                          <a:latin typeface="Verdana"/>
                          <a:ea typeface="Verdana"/>
                          <a:cs typeface="Verdana"/>
                        </a:rPr>
                        <a:t>Math Flop</a:t>
                      </a:r>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800"/>
                        </a:spcAft>
                      </a:pPr>
                      <a:r>
                        <a:rPr lang="en-US" sz="1800" b="1" i="0" dirty="0">
                          <a:effectLst/>
                          <a:latin typeface="Verdana"/>
                          <a:ea typeface="Verdana"/>
                          <a:cs typeface="Verdana"/>
                        </a:rPr>
                        <a:t>The Mistake: </a:t>
                      </a:r>
                      <a:endParaRPr lang="en-US" sz="1800" i="1" dirty="0">
                        <a:effectLst/>
                        <a:latin typeface="Cambria Math"/>
                        <a:ea typeface="Cambria Math"/>
                        <a:cs typeface="Cambria Math"/>
                      </a:endParaRPr>
                    </a:p>
                    <a:p>
                      <a:pPr algn="ctr"/>
                      <a:r>
                        <a:rPr lang="en-US" sz="1800" i="0" dirty="0">
                          <a:effectLst/>
                          <a:latin typeface="Verdana"/>
                          <a:ea typeface="Verdana"/>
                          <a:cs typeface="Verdana"/>
                        </a:rPr>
                        <a:t>Which number is not correct?</a:t>
                      </a:r>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800"/>
                        </a:spcAft>
                      </a:pPr>
                      <a:r>
                        <a:rPr lang="en-US" sz="1800" b="1" i="0" dirty="0">
                          <a:effectLst/>
                          <a:latin typeface="Verdana"/>
                          <a:ea typeface="Verdana"/>
                          <a:cs typeface="Verdana"/>
                        </a:rPr>
                        <a:t>My Work:</a:t>
                      </a:r>
                      <a:endParaRPr lang="en-US" sz="1800" i="1" dirty="0">
                        <a:effectLst/>
                        <a:latin typeface="Cambria Math"/>
                        <a:ea typeface="Cambria Math"/>
                        <a:cs typeface="Cambria Math"/>
                      </a:endParaRPr>
                    </a:p>
                    <a:p>
                      <a:pPr algn="ctr"/>
                      <a:r>
                        <a:rPr lang="en-US" sz="1800" i="0" dirty="0">
                          <a:effectLst/>
                          <a:latin typeface="Verdana"/>
                          <a:ea typeface="Verdana"/>
                          <a:cs typeface="Verdana"/>
                        </a:rPr>
                        <a:t>Show the math that proves it is a mistake.</a:t>
                      </a:r>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800"/>
                        </a:spcAft>
                      </a:pPr>
                      <a:r>
                        <a:rPr lang="en-US" sz="1800" b="1" i="0" dirty="0">
                          <a:effectLst/>
                          <a:latin typeface="Verdana"/>
                          <a:ea typeface="Verdana"/>
                          <a:cs typeface="Verdana"/>
                        </a:rPr>
                        <a:t>The Correct Label:</a:t>
                      </a:r>
                      <a:endParaRPr lang="en-US" sz="1800" i="1" dirty="0">
                        <a:effectLst/>
                        <a:latin typeface="Cambria Math"/>
                        <a:ea typeface="Cambria Math"/>
                        <a:cs typeface="Cambria Math"/>
                      </a:endParaRPr>
                    </a:p>
                    <a:p>
                      <a:r>
                        <a:rPr lang="en-US" sz="1800" i="0" dirty="0">
                          <a:effectLst/>
                          <a:latin typeface="Verdana"/>
                          <a:ea typeface="Verdana"/>
                          <a:cs typeface="Verdana"/>
                        </a:rPr>
                        <a:t>Fix the label by marking out the mistake and inserting the correct number.</a:t>
                      </a:r>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70840">
                <a:tc>
                  <a:txBody>
                    <a:bodyPr/>
                    <a:lstStyle/>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p>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pic>
        <p:nvPicPr>
          <p:cNvPr id="8" name="Picture 7"/>
          <p:cNvPicPr/>
          <p:nvPr/>
        </p:nvPicPr>
        <p:blipFill>
          <a:blip r:embed="rId4" cstate="screen">
            <a:extLst>
              <a:ext uri="{28A0092B-C50C-407E-A947-70E740481C1C}">
                <a14:useLocalDpi xmlns:a14="http://schemas.microsoft.com/office/drawing/2010/main"/>
              </a:ext>
            </a:extLst>
          </a:blip>
          <a:stretch>
            <a:fillRect/>
          </a:stretch>
        </p:blipFill>
        <p:spPr>
          <a:xfrm>
            <a:off x="2654238" y="4020470"/>
            <a:ext cx="1561147" cy="618531"/>
          </a:xfrm>
          <a:prstGeom prst="rect">
            <a:avLst/>
          </a:prstGeom>
        </p:spPr>
      </p:pic>
      <p:pic>
        <p:nvPicPr>
          <p:cNvPr id="9" name="Picture 8"/>
          <p:cNvPicPr/>
          <p:nvPr/>
        </p:nvPicPr>
        <p:blipFill>
          <a:blip r:embed="rId4" cstate="screen">
            <a:extLst>
              <a:ext uri="{28A0092B-C50C-407E-A947-70E740481C1C}">
                <a14:useLocalDpi xmlns:a14="http://schemas.microsoft.com/office/drawing/2010/main"/>
              </a:ext>
            </a:extLst>
          </a:blip>
          <a:stretch>
            <a:fillRect/>
          </a:stretch>
        </p:blipFill>
        <p:spPr>
          <a:xfrm>
            <a:off x="7851176" y="4019210"/>
            <a:ext cx="1561147" cy="618531"/>
          </a:xfrm>
          <a:prstGeom prst="rect">
            <a:avLst/>
          </a:prstGeom>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99888" y="2852928"/>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37332" y="201168"/>
            <a:ext cx="8019300"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3.4.2 Guided Instruction: Interpreting Real-World Problems</a:t>
            </a: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C01B13E8-EC8D-E443-A329-C5E3593DD13A}"/>
                  </a:ext>
                </a:extLst>
              </p:cNvPr>
              <p:cNvSpPr txBox="1"/>
              <p:nvPr/>
            </p:nvSpPr>
            <p:spPr>
              <a:xfrm>
                <a:off x="730266" y="1294755"/>
                <a:ext cx="10992342" cy="2200474"/>
              </a:xfrm>
              <a:prstGeom prst="rect">
                <a:avLst/>
              </a:prstGeom>
              <a:noFill/>
            </p:spPr>
            <p:txBody>
              <a:bodyPr wrap="square" rtlCol="0">
                <a:spAutoFit/>
              </a:bodyPr>
              <a:lstStyle/>
              <a:p>
                <a:pPr marL="457200" indent="-457200">
                  <a:spcAft>
                    <a:spcPts val="1200"/>
                  </a:spcAft>
                  <a:buFont typeface="+mj-lt"/>
                  <a:buAutoNum type="arabicPeriod"/>
                </a:pPr>
                <a:r>
                  <a:rPr lang="en-US" sz="2000" dirty="0">
                    <a:latin typeface="Verdana"/>
                    <a:ea typeface="Verdana"/>
                    <a:cs typeface="Verdana"/>
                  </a:rPr>
                  <a:t>Louis has two boards. The length of the longer board is </a:t>
                </a:r>
                <a14:m>
                  <m:oMath xmlns:m="http://schemas.openxmlformats.org/officeDocument/2006/math">
                    <m:r>
                      <a:rPr lang="en-US" sz="2000">
                        <a:latin typeface="Cambria Math"/>
                        <a:ea typeface="Verdana"/>
                        <a:cs typeface="Verdana"/>
                      </a:rPr>
                      <m:t>27</m:t>
                    </m:r>
                    <m:f>
                      <m:fPr>
                        <m:ctrlPr>
                          <a:rPr lang="en-US" sz="2000" i="1">
                            <a:latin typeface="Cambria Math"/>
                            <a:ea typeface="Verdana"/>
                            <a:cs typeface="Verdana"/>
                          </a:rPr>
                        </m:ctrlPr>
                      </m:fPr>
                      <m:num>
                        <m:r>
                          <a:rPr lang="en-US" sz="2000">
                            <a:latin typeface="Cambria Math"/>
                            <a:ea typeface="Verdana"/>
                            <a:cs typeface="Verdana"/>
                          </a:rPr>
                          <m:t>3</m:t>
                        </m:r>
                      </m:num>
                      <m:den>
                        <m:r>
                          <a:rPr lang="en-US" sz="2000">
                            <a:latin typeface="Cambria Math"/>
                            <a:ea typeface="Verdana"/>
                            <a:cs typeface="Verdana"/>
                          </a:rPr>
                          <m:t>8</m:t>
                        </m:r>
                      </m:den>
                    </m:f>
                  </m:oMath>
                </a14:m>
                <a:r>
                  <a:rPr lang="en-US" sz="2000" dirty="0">
                    <a:latin typeface="Verdana"/>
                    <a:ea typeface="Verdana"/>
                    <a:cs typeface="Verdana"/>
                  </a:rPr>
                  <a:t> inches (in.). The length of the shorter board is </a:t>
                </a:r>
                <a14:m>
                  <m:oMath xmlns:m="http://schemas.openxmlformats.org/officeDocument/2006/math">
                    <m:r>
                      <a:rPr lang="en-US" sz="2000">
                        <a:latin typeface="Cambria Math"/>
                        <a:ea typeface="Verdana"/>
                        <a:cs typeface="Verdana"/>
                      </a:rPr>
                      <m:t>14</m:t>
                    </m:r>
                    <m:f>
                      <m:fPr>
                        <m:ctrlPr>
                          <a:rPr lang="en-US" sz="2000" i="1">
                            <a:latin typeface="Cambria Math"/>
                            <a:ea typeface="Verdana"/>
                            <a:cs typeface="Verdana"/>
                          </a:rPr>
                        </m:ctrlPr>
                      </m:fPr>
                      <m:num>
                        <m:r>
                          <a:rPr lang="en-US" sz="2000">
                            <a:latin typeface="Cambria Math"/>
                            <a:ea typeface="Verdana"/>
                            <a:cs typeface="Verdana"/>
                          </a:rPr>
                          <m:t>5</m:t>
                        </m:r>
                      </m:num>
                      <m:den>
                        <m:r>
                          <a:rPr lang="en-US" sz="2000">
                            <a:latin typeface="Cambria Math"/>
                            <a:ea typeface="Verdana"/>
                            <a:cs typeface="Verdana"/>
                          </a:rPr>
                          <m:t>12</m:t>
                        </m:r>
                      </m:den>
                    </m:f>
                  </m:oMath>
                </a14:m>
                <a:r>
                  <a:rPr lang="en-US" sz="2000" dirty="0">
                    <a:latin typeface="Verdana"/>
                    <a:ea typeface="Verdana"/>
                    <a:cs typeface="Verdana"/>
                  </a:rPr>
                  <a:t> in.</a:t>
                </a:r>
              </a:p>
              <a:p>
                <a:pPr indent="452438">
                  <a:spcAft>
                    <a:spcPts val="1200"/>
                  </a:spcAft>
                </a:pPr>
                <a:r>
                  <a:rPr lang="en-US" sz="2000" dirty="0">
                    <a:latin typeface="Verdana"/>
                    <a:ea typeface="Verdana"/>
                    <a:cs typeface="Verdana"/>
                  </a:rPr>
                  <a:t>Read each question and complete the following table.</a:t>
                </a:r>
                <a:endParaRPr lang="en-US" sz="2000" dirty="0">
                  <a:latin typeface="Verdana"/>
                  <a:ea typeface="Verdana"/>
                  <a:cs typeface="Verdana" panose="020B0604030504040204" pitchFamily="34" charset="0"/>
                </a:endParaRPr>
              </a:p>
              <a:p>
                <a:pPr marL="914400" indent="-457200">
                  <a:buFont typeface="+mj-lt"/>
                  <a:buAutoNum type="alphaLcPeriod"/>
                </a:pPr>
                <a:r>
                  <a:rPr lang="en-US" sz="2000" dirty="0">
                    <a:latin typeface="Verdana"/>
                    <a:ea typeface="Verdana"/>
                    <a:cs typeface="Verdana"/>
                  </a:rPr>
                  <a:t>Which mathematical operation can be used to find the total length of the two boards?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730266" y="1294755"/>
                <a:ext cx="10992342" cy="2200474"/>
              </a:xfrm>
              <a:prstGeom prst="rect">
                <a:avLst/>
              </a:prstGeom>
              <a:blipFill>
                <a:blip r:embed="rId5"/>
                <a:stretch>
                  <a:fillRect l="-577" r="-1038" b="-3429"/>
                </a:stretch>
              </a:blipFill>
            </p:spPr>
            <p:txBody>
              <a:bodyPr/>
              <a:lstStyle/>
              <a:p>
                <a:r>
                  <a:rPr lang="en-US">
                    <a:noFill/>
                  </a:rPr>
                  <a:t> </a:t>
                </a:r>
              </a:p>
            </p:txBody>
          </p:sp>
        </mc:Fallback>
      </mc:AlternateContent>
      <p:sp>
        <p:nvSpPr>
          <p:cNvPr id="8" name="Google Shape;278;g104476d1465_1_17">
            <a:extLst>
              <a:ext uri="{FF2B5EF4-FFF2-40B4-BE49-F238E27FC236}">
                <a16:creationId xmlns="" xmlns:a16="http://schemas.microsoft.com/office/drawing/2014/main" id="{F7A98FFB-A3E6-7642-B96E-3A3B8C27BD7F}"/>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194927852"/>
              </p:ext>
            </p:extLst>
          </p:nvPr>
        </p:nvGraphicFramePr>
        <p:xfrm>
          <a:off x="2780824" y="3495229"/>
          <a:ext cx="6891226" cy="2479675"/>
        </p:xfrm>
        <a:graphic>
          <a:graphicData uri="http://schemas.openxmlformats.org/drawingml/2006/table">
            <a:tbl>
              <a:tblPr firstRow="1" bandRow="1">
                <a:tableStyleId>{A91F0D33-8C57-4600-99A7-42BC86742BE1}</a:tableStyleId>
              </a:tblPr>
              <a:tblGrid>
                <a:gridCol w="2066927">
                  <a:extLst>
                    <a:ext uri="{9D8B030D-6E8A-4147-A177-3AD203B41FA5}">
                      <a16:colId xmlns="" xmlns:a16="http://schemas.microsoft.com/office/drawing/2014/main" val="20000"/>
                    </a:ext>
                  </a:extLst>
                </a:gridCol>
                <a:gridCol w="4824299">
                  <a:extLst>
                    <a:ext uri="{9D8B030D-6E8A-4147-A177-3AD203B41FA5}">
                      <a16:colId xmlns="" xmlns:a16="http://schemas.microsoft.com/office/drawing/2014/main" val="20001"/>
                    </a:ext>
                  </a:extLst>
                </a:gridCol>
              </a:tblGrid>
              <a:tr h="370840">
                <a:tc>
                  <a:txBody>
                    <a:bodyPr/>
                    <a:lstStyle/>
                    <a:p>
                      <a:pPr algn="ctr"/>
                      <a:r>
                        <a:rPr lang="en-US" sz="2000" b="1" i="0" dirty="0">
                          <a:effectLst/>
                          <a:latin typeface="Verdana"/>
                          <a:ea typeface="Verdana"/>
                          <a:cs typeface="Verdana"/>
                        </a:rPr>
                        <a:t>Operation</a:t>
                      </a: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smtClean="0">
                          <a:effectLst/>
                          <a:latin typeface="Verdana"/>
                          <a:ea typeface="Verdana"/>
                          <a:cs typeface="Verdana"/>
                        </a:rPr>
                        <a:t>Sketch a picture or explain why you chose that operation.</a:t>
                      </a: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1778635">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8AE5E1E0-A54D-BE42-84B5-F917038ADE99}"/>
              </a:ext>
            </a:extLst>
          </p:cNvPr>
          <p:cNvSpPr txBox="1"/>
          <p:nvPr/>
        </p:nvSpPr>
        <p:spPr>
          <a:xfrm>
            <a:off x="111600" y="416762"/>
            <a:ext cx="11812176" cy="5262979"/>
          </a:xfrm>
          <a:prstGeom prst="rect">
            <a:avLst/>
          </a:prstGeom>
          <a:noFill/>
        </p:spPr>
        <p:txBody>
          <a:bodyPr wrap="square" rtlCol="0">
            <a:spAutoFit/>
          </a:bodyPr>
          <a:lstStyle/>
          <a:p>
            <a:pPr marL="914400" indent="-457200">
              <a:buFont typeface="+mj-lt"/>
              <a:buAutoNum type="alphaLcPeriod" startAt="2"/>
            </a:pPr>
            <a:r>
              <a:rPr lang="en-US" sz="2400" dirty="0">
                <a:latin typeface="Verdana"/>
                <a:ea typeface="Verdana"/>
                <a:cs typeface="Verdana"/>
              </a:rPr>
              <a:t>Which mathematical operation can be used to find the length of each piece when the longest board is cut into four</a:t>
            </a:r>
            <a:r>
              <a:rPr lang="en-US" sz="2400" dirty="0">
                <a:latin typeface="Cambria Math"/>
                <a:ea typeface="Verdana"/>
                <a:cs typeface="Verdana"/>
              </a:rPr>
              <a:t> </a:t>
            </a:r>
            <a:r>
              <a:rPr lang="en-US" sz="2400" dirty="0">
                <a:latin typeface="Verdana"/>
                <a:ea typeface="Verdana"/>
                <a:cs typeface="Verdana"/>
              </a:rPr>
              <a:t>equal-sized pieces?</a:t>
            </a:r>
          </a:p>
          <a:p>
            <a:pPr marL="914400" indent="-457200">
              <a:buFont typeface="+mj-lt"/>
              <a:buAutoNum type="alphaLcPeriod" startAt="2"/>
            </a:pPr>
            <a:endParaRPr lang="en-US" sz="2400" dirty="0">
              <a:latin typeface="Verdana"/>
              <a:ea typeface="Verdana"/>
              <a:cs typeface="Verdana" panose="020B0604030504040204" pitchFamily="34" charset="0"/>
            </a:endParaRPr>
          </a:p>
          <a:p>
            <a:pPr marL="914400" indent="-457200">
              <a:buFont typeface="+mj-lt"/>
              <a:buAutoNum type="alphaLcPeriod" startAt="2"/>
            </a:pPr>
            <a:endParaRPr lang="en-US" sz="2400" dirty="0">
              <a:latin typeface="Verdana"/>
              <a:ea typeface="Verdana"/>
              <a:cs typeface="Verdana" panose="020B0604030504040204" pitchFamily="34" charset="0"/>
            </a:endParaRPr>
          </a:p>
          <a:p>
            <a:pPr marL="914400" indent="-457200">
              <a:buFont typeface="+mj-lt"/>
              <a:buAutoNum type="alphaLcPeriod" startAt="2"/>
            </a:pPr>
            <a:endParaRPr lang="en-US" sz="2400" dirty="0">
              <a:latin typeface="Verdana"/>
              <a:ea typeface="Verdana"/>
              <a:cs typeface="Verdana" panose="020B0604030504040204" pitchFamily="34" charset="0"/>
            </a:endParaRPr>
          </a:p>
          <a:p>
            <a:pPr marL="914400" indent="-457200">
              <a:buFont typeface="+mj-lt"/>
              <a:buAutoNum type="alphaLcPeriod" startAt="2"/>
            </a:pPr>
            <a:endParaRPr lang="en-US" sz="2400" dirty="0">
              <a:latin typeface="Verdana"/>
              <a:ea typeface="Verdana"/>
              <a:cs typeface="Verdana" panose="020B0604030504040204" pitchFamily="34" charset="0"/>
            </a:endParaRPr>
          </a:p>
          <a:p>
            <a:pPr marL="914400" indent="-457200">
              <a:buFont typeface="+mj-lt"/>
              <a:buAutoNum type="alphaLcPeriod" startAt="2"/>
            </a:pPr>
            <a:endParaRPr lang="en-US" sz="2400" dirty="0">
              <a:latin typeface="Verdana"/>
              <a:ea typeface="Verdana"/>
              <a:cs typeface="Verdana" panose="020B0604030504040204" pitchFamily="34" charset="0"/>
            </a:endParaRPr>
          </a:p>
          <a:p>
            <a:pPr marL="914400" indent="-457200">
              <a:buFont typeface="+mj-lt"/>
              <a:buAutoNum type="alphaLcPeriod" startAt="2"/>
            </a:pPr>
            <a:endParaRPr lang="en-US" sz="2400" dirty="0">
              <a:latin typeface="Verdana"/>
              <a:ea typeface="Verdana"/>
              <a:cs typeface="Verdana" panose="020B0604030504040204" pitchFamily="34" charset="0"/>
            </a:endParaRPr>
          </a:p>
          <a:p>
            <a:pPr marL="914400" indent="-457200">
              <a:buFont typeface="+mj-lt"/>
              <a:buAutoNum type="alphaLcPeriod" startAt="2"/>
            </a:pPr>
            <a:endParaRPr lang="en-US" sz="2400" dirty="0">
              <a:latin typeface="Verdana"/>
              <a:ea typeface="Verdana"/>
              <a:cs typeface="Verdana" panose="020B0604030504040204" pitchFamily="34" charset="0"/>
            </a:endParaRPr>
          </a:p>
          <a:p>
            <a:pPr marL="914400" indent="-457200">
              <a:buFont typeface="+mj-lt"/>
              <a:buAutoNum type="alphaLcPeriod" startAt="2"/>
            </a:pPr>
            <a:endParaRPr lang="en-US" sz="2400" dirty="0">
              <a:latin typeface="Verdana"/>
              <a:ea typeface="Verdana"/>
              <a:cs typeface="Verdana" panose="020B0604030504040204" pitchFamily="34" charset="0"/>
            </a:endParaRPr>
          </a:p>
          <a:p>
            <a:pPr marL="914400" indent="-457200">
              <a:buFont typeface="+mj-lt"/>
              <a:buAutoNum type="alphaLcPeriod" startAt="2"/>
            </a:pPr>
            <a:endParaRPr lang="en-US" sz="2400" dirty="0">
              <a:latin typeface="Verdana"/>
              <a:ea typeface="Verdana"/>
              <a:cs typeface="Verdana" panose="020B0604030504040204" pitchFamily="34" charset="0"/>
            </a:endParaRPr>
          </a:p>
          <a:p>
            <a:pPr marL="914400" indent="-457200">
              <a:buFont typeface="+mj-lt"/>
              <a:buAutoNum type="alphaLcPeriod" startAt="2"/>
            </a:pPr>
            <a:r>
              <a:rPr lang="en-US" sz="2400" dirty="0">
                <a:latin typeface="Verdana"/>
                <a:ea typeface="Verdana"/>
                <a:cs typeface="Verdana"/>
              </a:rPr>
              <a:t>Check</a:t>
            </a:r>
            <a:r>
              <a:rPr lang="en-US" sz="2400" b="1" dirty="0">
                <a:latin typeface="Verdana"/>
                <a:ea typeface="Verdana"/>
                <a:cs typeface="Verdana"/>
              </a:rPr>
              <a:t> </a:t>
            </a:r>
            <a:r>
              <a:rPr lang="en-US" sz="2400" dirty="0">
                <a:latin typeface="Verdana"/>
                <a:ea typeface="Verdana"/>
                <a:cs typeface="Verdana"/>
              </a:rPr>
              <a:t>your answers with your partner and resolve any differences if necessary.</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 xmlns:a16="http://schemas.microsoft.com/office/drawing/2014/main" id="{D132551E-02DD-6A43-9F52-A70D434DE09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Table 6"/>
          <p:cNvGraphicFramePr>
            <a:graphicFrameLocks noGrp="1"/>
          </p:cNvGraphicFramePr>
          <p:nvPr>
            <p:extLst>
              <p:ext uri="{D42A27DB-BD31-4B8C-83A1-F6EECF244321}">
                <p14:modId xmlns:p14="http://schemas.microsoft.com/office/powerpoint/2010/main" val="560335605"/>
              </p:ext>
            </p:extLst>
          </p:nvPr>
        </p:nvGraphicFramePr>
        <p:xfrm>
          <a:off x="2650387" y="1483606"/>
          <a:ext cx="6891226" cy="2479675"/>
        </p:xfrm>
        <a:graphic>
          <a:graphicData uri="http://schemas.openxmlformats.org/drawingml/2006/table">
            <a:tbl>
              <a:tblPr firstRow="1" bandRow="1">
                <a:tableStyleId>{A91F0D33-8C57-4600-99A7-42BC86742BE1}</a:tableStyleId>
              </a:tblPr>
              <a:tblGrid>
                <a:gridCol w="2066927">
                  <a:extLst>
                    <a:ext uri="{9D8B030D-6E8A-4147-A177-3AD203B41FA5}">
                      <a16:colId xmlns="" xmlns:a16="http://schemas.microsoft.com/office/drawing/2014/main" val="20000"/>
                    </a:ext>
                  </a:extLst>
                </a:gridCol>
                <a:gridCol w="4824299">
                  <a:extLst>
                    <a:ext uri="{9D8B030D-6E8A-4147-A177-3AD203B41FA5}">
                      <a16:colId xmlns="" xmlns:a16="http://schemas.microsoft.com/office/drawing/2014/main" val="20001"/>
                    </a:ext>
                  </a:extLst>
                </a:gridCol>
              </a:tblGrid>
              <a:tr h="370840">
                <a:tc>
                  <a:txBody>
                    <a:bodyPr/>
                    <a:lstStyle/>
                    <a:p>
                      <a:pPr algn="ctr"/>
                      <a:r>
                        <a:rPr lang="en-US" sz="2000" b="1" i="0" dirty="0">
                          <a:effectLst/>
                          <a:latin typeface="Verdana"/>
                          <a:ea typeface="Verdana"/>
                          <a:cs typeface="Verdana"/>
                        </a:rPr>
                        <a:t>Operation</a:t>
                      </a: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smtClean="0">
                          <a:effectLst/>
                          <a:latin typeface="Verdana"/>
                          <a:ea typeface="Verdana"/>
                          <a:cs typeface="Verdana"/>
                        </a:rPr>
                        <a:t>Sketch a picture or explain why you chose that operation.</a:t>
                      </a: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1778635">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111600" y="389329"/>
                <a:ext cx="11729880" cy="3785652"/>
              </a:xfrm>
              <a:prstGeom prst="rect">
                <a:avLst/>
              </a:prstGeom>
              <a:noFill/>
            </p:spPr>
            <p:txBody>
              <a:bodyPr wrap="square" rtlCol="0">
                <a:spAutoFit/>
              </a:bodyPr>
              <a:lstStyle/>
              <a:p>
                <a:pPr marL="914400" indent="-457200">
                  <a:buFont typeface="+mj-lt"/>
                  <a:buAutoNum type="alphaLcPeriod" startAt="4"/>
                </a:pPr>
                <a:r>
                  <a:rPr lang="en-US" sz="2400" dirty="0">
                    <a:latin typeface="Verdana"/>
                    <a:ea typeface="Verdana"/>
                    <a:cs typeface="Verdana"/>
                  </a:rPr>
                  <a:t>Which mathematical operation can be used to determine the difference in the board lengths?</a:t>
                </a:r>
              </a:p>
              <a:p>
                <a:pPr marL="914400" indent="-457200">
                  <a:buFont typeface="+mj-lt"/>
                  <a:buAutoNum type="alphaLcPeriod" startAt="4"/>
                </a:pPr>
                <a:endParaRPr lang="en-US" sz="2400" dirty="0">
                  <a:latin typeface="Verdana"/>
                  <a:ea typeface="Verdana"/>
                  <a:cs typeface="Verdana" panose="020B0604030504040204" pitchFamily="34" charset="0"/>
                </a:endParaRPr>
              </a:p>
              <a:p>
                <a:pPr marL="914400" indent="-457200">
                  <a:buFont typeface="+mj-lt"/>
                  <a:buAutoNum type="alphaLcPeriod" startAt="4"/>
                </a:pPr>
                <a:endParaRPr lang="en-US" sz="2400" dirty="0">
                  <a:latin typeface="Verdana"/>
                  <a:ea typeface="Verdana"/>
                  <a:cs typeface="Verdana" panose="020B0604030504040204" pitchFamily="34" charset="0"/>
                </a:endParaRPr>
              </a:p>
              <a:p>
                <a:pPr marL="914400" indent="-457200">
                  <a:buFont typeface="+mj-lt"/>
                  <a:buAutoNum type="alphaLcPeriod" startAt="4"/>
                </a:pPr>
                <a:endParaRPr lang="en-US" sz="2400" dirty="0">
                  <a:latin typeface="Verdana"/>
                  <a:ea typeface="Verdana"/>
                  <a:cs typeface="Verdana" panose="020B0604030504040204" pitchFamily="34" charset="0"/>
                </a:endParaRPr>
              </a:p>
              <a:p>
                <a:pPr marL="914400" indent="-457200">
                  <a:buFont typeface="+mj-lt"/>
                  <a:buAutoNum type="alphaLcPeriod" startAt="4"/>
                </a:pPr>
                <a:endParaRPr lang="en-US" sz="2400" dirty="0">
                  <a:latin typeface="Verdana"/>
                  <a:ea typeface="Verdana"/>
                  <a:cs typeface="Verdana" panose="020B0604030504040204" pitchFamily="34" charset="0"/>
                </a:endParaRPr>
              </a:p>
              <a:p>
                <a:pPr marL="914400" indent="-457200">
                  <a:buFont typeface="+mj-lt"/>
                  <a:buAutoNum type="alphaLcPeriod" startAt="4"/>
                </a:pPr>
                <a:endParaRPr lang="en-US" sz="2400" dirty="0">
                  <a:latin typeface="Verdana"/>
                  <a:ea typeface="Verdana"/>
                  <a:cs typeface="Verdana" panose="020B0604030504040204" pitchFamily="34" charset="0"/>
                </a:endParaRPr>
              </a:p>
              <a:p>
                <a:pPr marL="914400" indent="-457200">
                  <a:buFont typeface="+mj-lt"/>
                  <a:buAutoNum type="alphaLcPeriod" startAt="4"/>
                </a:pPr>
                <a:endParaRPr lang="en-US" sz="2400" dirty="0">
                  <a:latin typeface="Verdana"/>
                  <a:ea typeface="Verdana"/>
                  <a:cs typeface="Verdana" panose="020B0604030504040204" pitchFamily="34" charset="0"/>
                </a:endParaRPr>
              </a:p>
              <a:p>
                <a:pPr marL="914400" indent="-457200">
                  <a:buFont typeface="+mj-lt"/>
                  <a:buAutoNum type="alphaLcPeriod" startAt="4"/>
                </a:pPr>
                <a:r>
                  <a:rPr lang="en-US" sz="2400" dirty="0">
                    <a:latin typeface="Verdana"/>
                    <a:ea typeface="Verdana"/>
                    <a:cs typeface="Verdana"/>
                  </a:rPr>
                  <a:t>Which mathematical operation can be used to find the total length of </a:t>
                </a:r>
                <a14:m>
                  <m:oMath xmlns:m="http://schemas.openxmlformats.org/officeDocument/2006/math">
                    <m:r>
                      <a:rPr lang="en-US" sz="2400">
                        <a:latin typeface="Cambria Math"/>
                        <a:ea typeface="Verdana"/>
                        <a:cs typeface="Verdana"/>
                      </a:rPr>
                      <m:t>48</m:t>
                    </m:r>
                  </m:oMath>
                </a14:m>
                <a:r>
                  <a:rPr lang="en-US" sz="2400" dirty="0">
                    <a:latin typeface="Verdana"/>
                    <a:ea typeface="Verdana"/>
                    <a:cs typeface="Verdana"/>
                  </a:rPr>
                  <a:t> of the shortest boards lined up end-to-end?</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111600" y="389329"/>
                <a:ext cx="11729880" cy="3785652"/>
              </a:xfrm>
              <a:prstGeom prst="rect">
                <a:avLst/>
              </a:prstGeom>
              <a:blipFill>
                <a:blip r:embed="rId4"/>
                <a:stretch>
                  <a:fillRect t="-1338" r="-1622" b="-2676"/>
                </a:stretch>
              </a:blipFill>
            </p:spPr>
            <p:txBody>
              <a:bodyPr/>
              <a:lstStyle/>
              <a:p>
                <a:r>
                  <a:rPr lang="en-US">
                    <a:noFill/>
                  </a:rPr>
                  <a:t> </a:t>
                </a:r>
              </a:p>
            </p:txBody>
          </p:sp>
        </mc:Fallback>
      </mc:AlternateContent>
      <p:sp>
        <p:nvSpPr>
          <p:cNvPr id="6" name="Google Shape;278;g104476d1465_1_17">
            <a:extLst>
              <a:ext uri="{FF2B5EF4-FFF2-40B4-BE49-F238E27FC236}">
                <a16:creationId xmlns="" xmlns:a16="http://schemas.microsoft.com/office/drawing/2014/main" id="{D132551E-02DD-6A43-9F52-A70D434DE09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109</a:t>
            </a:r>
            <a:endParaRPr i="1" dirty="0">
              <a:latin typeface="Calibri"/>
              <a:ea typeface="Calibri"/>
              <a:cs typeface="Calibri"/>
              <a:sym typeface="Calibri"/>
            </a:endParaRPr>
          </a:p>
        </p:txBody>
      </p:sp>
    </p:spTree>
    <p:extLst>
      <p:ext uri="{BB962C8B-B14F-4D97-AF65-F5344CB8AC3E}">
        <p14:creationId xmlns:p14="http://schemas.microsoft.com/office/powerpoint/2010/main" val="3556403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8AE5E1E0-A54D-BE42-84B5-F917038ADE99}"/>
              </a:ext>
            </a:extLst>
          </p:cNvPr>
          <p:cNvSpPr txBox="1"/>
          <p:nvPr/>
        </p:nvSpPr>
        <p:spPr>
          <a:xfrm>
            <a:off x="0" y="327890"/>
            <a:ext cx="12070080" cy="862095"/>
          </a:xfrm>
          <a:prstGeom prst="rect">
            <a:avLst/>
          </a:prstGeom>
          <a:noFill/>
        </p:spPr>
        <p:txBody>
          <a:bodyPr wrap="square" rtlCol="0">
            <a:spAutoFit/>
          </a:bodyPr>
          <a:lstStyle/>
          <a:p>
            <a:pPr marL="893763" indent="-441325">
              <a:lnSpc>
                <a:spcPct val="107000"/>
              </a:lnSpc>
              <a:buFont typeface="+mj-lt"/>
              <a:buAutoNum type="alphaLcPeriod" startAt="6"/>
              <a:tabLst>
                <a:tab pos="893763" algn="l"/>
              </a:tabLst>
            </a:pPr>
            <a:r>
              <a:rPr lang="en-US" sz="2400" dirty="0">
                <a:latin typeface="Verdana"/>
                <a:ea typeface="Verdana"/>
                <a:cs typeface="Verdana"/>
              </a:rPr>
              <a:t>Write the numeric expression that shows how to calculate the answer. Then, determine the units of the answer. </a:t>
            </a:r>
            <a:endParaRPr lang="en-PH" sz="2000" i="1" dirty="0">
              <a:latin typeface="Cambria Math"/>
              <a:ea typeface="Cambria Math"/>
              <a:cs typeface="Cambria Math"/>
            </a:endParaRPr>
          </a:p>
        </p:txBody>
      </p:sp>
      <p:sp>
        <p:nvSpPr>
          <p:cNvPr id="6" name="Google Shape;278;g104476d1465_1_17">
            <a:extLst>
              <a:ext uri="{FF2B5EF4-FFF2-40B4-BE49-F238E27FC236}">
                <a16:creationId xmlns="" xmlns:a16="http://schemas.microsoft.com/office/drawing/2014/main" id="{D132551E-02DD-6A43-9F52-A70D434DE09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477818801"/>
                  </p:ext>
                </p:extLst>
              </p:nvPr>
            </p:nvGraphicFramePr>
            <p:xfrm>
              <a:off x="2388000" y="1405750"/>
              <a:ext cx="7416000" cy="4881880"/>
            </p:xfrm>
            <a:graphic>
              <a:graphicData uri="http://schemas.openxmlformats.org/drawingml/2006/table">
                <a:tbl>
                  <a:tblPr firstRow="1" firstCol="1" bandRow="1"/>
                  <a:tblGrid>
                    <a:gridCol w="3960000">
                      <a:extLst>
                        <a:ext uri="{9D8B030D-6E8A-4147-A177-3AD203B41FA5}">
                          <a16:colId xmlns="" xmlns:a16="http://schemas.microsoft.com/office/drawing/2014/main" val="20000"/>
                        </a:ext>
                      </a:extLst>
                    </a:gridCol>
                    <a:gridCol w="1728000">
                      <a:extLst>
                        <a:ext uri="{9D8B030D-6E8A-4147-A177-3AD203B41FA5}">
                          <a16:colId xmlns="" xmlns:a16="http://schemas.microsoft.com/office/drawing/2014/main" val="20001"/>
                        </a:ext>
                      </a:extLst>
                    </a:gridCol>
                    <a:gridCol w="1728000">
                      <a:extLst>
                        <a:ext uri="{9D8B030D-6E8A-4147-A177-3AD203B41FA5}">
                          <a16:colId xmlns="" xmlns:a16="http://schemas.microsoft.com/office/drawing/2014/main" val="20002"/>
                        </a:ext>
                      </a:extLst>
                    </a:gridCol>
                  </a:tblGrid>
                  <a:tr h="488033">
                    <a:tc>
                      <a:txBody>
                        <a:bodyPr/>
                        <a:lstStyle/>
                        <a:p>
                          <a:pPr marL="100965" indent="-100965" algn="ctr">
                            <a:lnSpc>
                              <a:spcPct val="107000"/>
                            </a:lnSpc>
                            <a:spcAft>
                              <a:spcPts val="0"/>
                            </a:spcAft>
                          </a:pPr>
                          <a:r>
                            <a:rPr lang="en-US" sz="1800" b="1" i="0" dirty="0">
                              <a:effectLst/>
                              <a:latin typeface="Verdana"/>
                              <a:ea typeface="Verdana"/>
                              <a:cs typeface="Verdana"/>
                            </a:rPr>
                            <a:t>Information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i="0" dirty="0">
                              <a:effectLst/>
                              <a:latin typeface="Verdana"/>
                              <a:ea typeface="Verdana"/>
                              <a:cs typeface="Verdana"/>
                            </a:rPr>
                            <a:t>Numeric </a:t>
                          </a:r>
                          <a:r>
                            <a:rPr lang="en-US" sz="1800" b="1" i="0" dirty="0" smtClean="0">
                              <a:effectLst/>
                              <a:latin typeface="Verdana"/>
                              <a:ea typeface="Verdana"/>
                              <a:cs typeface="Verdana"/>
                            </a:rPr>
                            <a:t>Expression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i="0" dirty="0">
                              <a:effectLst/>
                              <a:latin typeface="Verdana"/>
                              <a:ea typeface="Verdana"/>
                              <a:cs typeface="Verdana"/>
                            </a:rPr>
                            <a:t>Units of the </a:t>
                          </a:r>
                          <a:r>
                            <a:rPr lang="en-US" sz="1800" b="1" i="0" dirty="0" smtClean="0">
                              <a:effectLst/>
                              <a:latin typeface="Verdana"/>
                              <a:ea typeface="Verdana"/>
                              <a:cs typeface="Verdana"/>
                            </a:rPr>
                            <a:t>Answer</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10000"/>
                      </a:ext>
                    </a:extLst>
                  </a:tr>
                  <a:tr h="1709958">
                    <a:tc>
                      <a:txBody>
                        <a:bodyPr/>
                        <a:lstStyle/>
                        <a:p>
                          <a:pPr>
                            <a:lnSpc>
                              <a:spcPct val="107000"/>
                            </a:lnSpc>
                            <a:spcAft>
                              <a:spcPts val="0"/>
                            </a:spcAft>
                          </a:pPr>
                          <a:r>
                            <a:rPr lang="en-US" sz="1800" i="0" dirty="0">
                              <a:effectLst/>
                              <a:latin typeface="Verdana"/>
                              <a:ea typeface="Verdana"/>
                              <a:cs typeface="Verdana"/>
                            </a:rPr>
                            <a:t>Louis has two boards. The length of the longer board is </a:t>
                          </a:r>
                          <a14:m>
                            <m:oMath xmlns:m="http://schemas.openxmlformats.org/officeDocument/2006/math">
                              <m:r>
                                <a:rPr lang="en-US" sz="1800" i="1">
                                  <a:effectLst/>
                                  <a:latin typeface="Cambria Math"/>
                                  <a:ea typeface="Verdana"/>
                                  <a:cs typeface="Verdana"/>
                                </a:rPr>
                                <m:t>27</m:t>
                              </m:r>
                              <m:f>
                                <m:fPr>
                                  <m:ctrlPr>
                                    <a:rPr lang="en-PH" sz="1800" i="1">
                                      <a:effectLst/>
                                      <a:latin typeface="Cambria Math"/>
                                      <a:ea typeface="Verdana"/>
                                      <a:cs typeface="Verdana"/>
                                    </a:rPr>
                                  </m:ctrlPr>
                                </m:fPr>
                                <m:num>
                                  <m:r>
                                    <a:rPr lang="en-US" sz="1800" i="1">
                                      <a:effectLst/>
                                      <a:latin typeface="Cambria Math"/>
                                      <a:ea typeface="Verdana"/>
                                      <a:cs typeface="Verdana"/>
                                    </a:rPr>
                                    <m:t>3</m:t>
                                  </m:r>
                                </m:num>
                                <m:den>
                                  <m:r>
                                    <a:rPr lang="en-US" sz="1800" i="1">
                                      <a:effectLst/>
                                      <a:latin typeface="Cambria Math"/>
                                      <a:ea typeface="Verdana"/>
                                      <a:cs typeface="Verdana"/>
                                    </a:rPr>
                                    <m:t>8</m:t>
                                  </m:r>
                                </m:den>
                              </m:f>
                            </m:oMath>
                          </a14:m>
                          <a:r>
                            <a:rPr lang="en-US" sz="1800" i="0" dirty="0">
                              <a:effectLst/>
                              <a:latin typeface="Verdana"/>
                              <a:ea typeface="Verdana"/>
                              <a:cs typeface="Verdana"/>
                            </a:rPr>
                            <a:t> inches (in). The length of the shorter board is </a:t>
                          </a:r>
                          <a14:m>
                            <m:oMath xmlns:m="http://schemas.openxmlformats.org/officeDocument/2006/math">
                              <m:r>
                                <a:rPr lang="en-US" sz="1800" i="1">
                                  <a:effectLst/>
                                  <a:latin typeface="Cambria Math"/>
                                  <a:ea typeface="Verdana"/>
                                  <a:cs typeface="Verdana"/>
                                </a:rPr>
                                <m:t>14</m:t>
                              </m:r>
                              <m:f>
                                <m:fPr>
                                  <m:ctrlPr>
                                    <a:rPr lang="en-PH" sz="1800" i="1">
                                      <a:effectLst/>
                                      <a:latin typeface="Cambria Math"/>
                                      <a:ea typeface="Verdana"/>
                                      <a:cs typeface="Verdana"/>
                                    </a:rPr>
                                  </m:ctrlPr>
                                </m:fPr>
                                <m:num>
                                  <m:r>
                                    <a:rPr lang="en-US" sz="1800" i="1">
                                      <a:effectLst/>
                                      <a:latin typeface="Cambria Math"/>
                                      <a:ea typeface="Verdana"/>
                                      <a:cs typeface="Verdana"/>
                                    </a:rPr>
                                    <m:t>5</m:t>
                                  </m:r>
                                </m:num>
                                <m:den>
                                  <m:r>
                                    <a:rPr lang="en-US" sz="1800" i="1">
                                      <a:effectLst/>
                                      <a:latin typeface="Cambria Math"/>
                                      <a:ea typeface="Verdana"/>
                                      <a:cs typeface="Verdana"/>
                                    </a:rPr>
                                    <m:t>12</m:t>
                                  </m:r>
                                </m:den>
                              </m:f>
                            </m:oMath>
                          </a14:m>
                          <a:r>
                            <a:rPr lang="en-US" sz="1800" i="0" dirty="0">
                              <a:effectLst/>
                              <a:latin typeface="Verdana"/>
                              <a:ea typeface="Verdana"/>
                              <a:cs typeface="Verdana"/>
                            </a:rPr>
                            <a:t> in. What is the total length of the two boards?</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b="1" i="0" u="none" strike="noStrike" dirty="0">
                              <a:effectLst/>
                              <a:latin typeface="Verdana"/>
                              <a:ea typeface="Verdana"/>
                              <a:cs typeface="Verdana"/>
                            </a:rPr>
                            <a:t> </a:t>
                          </a:r>
                          <a:endParaRPr lang="en-PH" sz="1800" i="1" dirty="0">
                            <a:effectLst/>
                            <a:latin typeface="Cambria Math"/>
                            <a:ea typeface="Cambria Math"/>
                            <a:cs typeface="Cambria Math"/>
                          </a:endParaRPr>
                        </a:p>
                      </a:txBody>
                      <a:tcPr marL="56858" marR="568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b="1" i="0" u="none" strike="noStrike" dirty="0">
                              <a:effectLst/>
                              <a:latin typeface="Verdana"/>
                              <a:ea typeface="Verdana"/>
                              <a:cs typeface="Verdana"/>
                            </a:rPr>
                            <a:t> </a:t>
                          </a:r>
                          <a:endParaRPr lang="en-PH" sz="1800" i="1" dirty="0">
                            <a:effectLst/>
                            <a:latin typeface="Cambria Math"/>
                            <a:ea typeface="Cambria Math"/>
                            <a:cs typeface="Cambria Math"/>
                          </a:endParaRPr>
                        </a:p>
                      </a:txBody>
                      <a:tcPr marL="56858" marR="568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2153347">
                    <a:tc>
                      <a:txBody>
                        <a:bodyPr/>
                        <a:lstStyle/>
                        <a:p>
                          <a:pPr>
                            <a:lnSpc>
                              <a:spcPct val="107000"/>
                            </a:lnSpc>
                            <a:spcAft>
                              <a:spcPts val="0"/>
                            </a:spcAft>
                          </a:pPr>
                          <a:r>
                            <a:rPr lang="en-US" sz="1800" i="0" dirty="0">
                              <a:effectLst/>
                              <a:latin typeface="Verdana"/>
                              <a:ea typeface="Verdana"/>
                              <a:cs typeface="Verdana"/>
                            </a:rPr>
                            <a:t>Louis has two boards. The length of the longer board is </a:t>
                          </a:r>
                          <a14:m>
                            <m:oMath xmlns:m="http://schemas.openxmlformats.org/officeDocument/2006/math">
                              <m:r>
                                <a:rPr lang="en-US" sz="1800" i="1">
                                  <a:effectLst/>
                                  <a:latin typeface="Cambria Math"/>
                                  <a:ea typeface="Verdana"/>
                                  <a:cs typeface="Verdana"/>
                                </a:rPr>
                                <m:t>27</m:t>
                              </m:r>
                              <m:f>
                                <m:fPr>
                                  <m:ctrlPr>
                                    <a:rPr lang="en-PH" sz="1800" i="1">
                                      <a:effectLst/>
                                      <a:latin typeface="Cambria Math"/>
                                      <a:ea typeface="Verdana"/>
                                      <a:cs typeface="Verdana"/>
                                    </a:rPr>
                                  </m:ctrlPr>
                                </m:fPr>
                                <m:num>
                                  <m:r>
                                    <a:rPr lang="en-US" sz="1800" i="1">
                                      <a:effectLst/>
                                      <a:latin typeface="Cambria Math"/>
                                      <a:ea typeface="Verdana"/>
                                      <a:cs typeface="Verdana"/>
                                    </a:rPr>
                                    <m:t>3</m:t>
                                  </m:r>
                                </m:num>
                                <m:den>
                                  <m:r>
                                    <a:rPr lang="en-US" sz="1800" i="1">
                                      <a:effectLst/>
                                      <a:latin typeface="Cambria Math"/>
                                      <a:ea typeface="Verdana"/>
                                      <a:cs typeface="Verdana"/>
                                    </a:rPr>
                                    <m:t>8</m:t>
                                  </m:r>
                                </m:den>
                              </m:f>
                            </m:oMath>
                          </a14:m>
                          <a:r>
                            <a:rPr lang="en-US" sz="1800" i="0" dirty="0">
                              <a:effectLst/>
                              <a:latin typeface="Verdana"/>
                              <a:ea typeface="Verdana"/>
                              <a:cs typeface="Verdana"/>
                            </a:rPr>
                            <a:t> inches (in). The length of the shorter board is </a:t>
                          </a:r>
                          <a14:m>
                            <m:oMath xmlns:m="http://schemas.openxmlformats.org/officeDocument/2006/math">
                              <m:r>
                                <a:rPr lang="en-US" sz="1800" i="1">
                                  <a:effectLst/>
                                  <a:latin typeface="Cambria Math"/>
                                  <a:ea typeface="Verdana"/>
                                  <a:cs typeface="Verdana"/>
                                </a:rPr>
                                <m:t>14</m:t>
                              </m:r>
                              <m:f>
                                <m:fPr>
                                  <m:ctrlPr>
                                    <a:rPr lang="en-PH" sz="1800" i="1">
                                      <a:effectLst/>
                                      <a:latin typeface="Cambria Math"/>
                                      <a:ea typeface="Verdana"/>
                                      <a:cs typeface="Verdana"/>
                                    </a:rPr>
                                  </m:ctrlPr>
                                </m:fPr>
                                <m:num>
                                  <m:r>
                                    <a:rPr lang="en-US" sz="1800" i="1">
                                      <a:effectLst/>
                                      <a:latin typeface="Cambria Math"/>
                                      <a:ea typeface="Verdana"/>
                                      <a:cs typeface="Verdana"/>
                                    </a:rPr>
                                    <m:t>5</m:t>
                                  </m:r>
                                </m:num>
                                <m:den>
                                  <m:r>
                                    <a:rPr lang="en-US" sz="1800" i="1">
                                      <a:effectLst/>
                                      <a:latin typeface="Cambria Math"/>
                                      <a:ea typeface="Verdana"/>
                                      <a:cs typeface="Verdana"/>
                                    </a:rPr>
                                    <m:t>12</m:t>
                                  </m:r>
                                </m:den>
                              </m:f>
                            </m:oMath>
                          </a14:m>
                          <a:r>
                            <a:rPr lang="en-US" sz="1800" i="0" dirty="0">
                              <a:effectLst/>
                              <a:latin typeface="Verdana"/>
                              <a:ea typeface="Verdana"/>
                              <a:cs typeface="Verdana"/>
                            </a:rPr>
                            <a:t> in. What is the length of each piece when the longest board is cut into four</a:t>
                          </a:r>
                          <a:r>
                            <a:rPr lang="en-US" sz="1800" i="0" dirty="0">
                              <a:effectLst/>
                              <a:latin typeface="Cambria Math"/>
                              <a:ea typeface="Verdana"/>
                              <a:cs typeface="Verdana"/>
                            </a:rPr>
                            <a:t> </a:t>
                          </a:r>
                          <a:r>
                            <a:rPr lang="en-US" sz="1800" i="0" dirty="0">
                              <a:effectLst/>
                              <a:latin typeface="Verdana"/>
                              <a:ea typeface="Verdana"/>
                              <a:cs typeface="Verdana"/>
                            </a:rPr>
                            <a:t>equal-sized pieces?</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b="1" i="0" u="none" strike="noStrike">
                              <a:effectLst/>
                              <a:latin typeface="Verdana"/>
                              <a:ea typeface="Verdana"/>
                              <a:cs typeface="Verdana"/>
                            </a:rPr>
                            <a:t> </a:t>
                          </a:r>
                          <a:endParaRPr lang="en-PH" sz="1800" i="1">
                            <a:effectLst/>
                            <a:latin typeface="Cambria Math"/>
                            <a:ea typeface="Cambria Math"/>
                            <a:cs typeface="Cambria Math"/>
                          </a:endParaRPr>
                        </a:p>
                      </a:txBody>
                      <a:tcPr marL="56858" marR="568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b="1" i="0" u="none" strike="noStrike" dirty="0">
                              <a:effectLst/>
                              <a:latin typeface="Verdana"/>
                              <a:ea typeface="Verdana"/>
                              <a:cs typeface="Verdana"/>
                            </a:rPr>
                            <a:t> </a:t>
                          </a:r>
                          <a:endParaRPr lang="en-PH" sz="1800" i="1" dirty="0">
                            <a:effectLst/>
                            <a:latin typeface="Cambria Math"/>
                            <a:ea typeface="Cambria Math"/>
                            <a:cs typeface="Cambria Math"/>
                          </a:endParaRPr>
                        </a:p>
                      </a:txBody>
                      <a:tcPr marL="56858" marR="568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477818801"/>
                  </p:ext>
                </p:extLst>
              </p:nvPr>
            </p:nvGraphicFramePr>
            <p:xfrm>
              <a:off x="2388000" y="1405750"/>
              <a:ext cx="7416000" cy="4859655"/>
            </p:xfrm>
            <a:graphic>
              <a:graphicData uri="http://schemas.openxmlformats.org/drawingml/2006/table">
                <a:tbl>
                  <a:tblPr firstRow="1" firstCol="1" bandRow="1"/>
                  <a:tblGrid>
                    <a:gridCol w="3960000">
                      <a:extLst>
                        <a:ext uri="{9D8B030D-6E8A-4147-A177-3AD203B41FA5}">
                          <a16:colId xmlns:a16="http://schemas.microsoft.com/office/drawing/2014/main" xmlns:a14="http://schemas.microsoft.com/office/drawing/2010/main" xmlns="" val="20000"/>
                        </a:ext>
                      </a:extLst>
                    </a:gridCol>
                    <a:gridCol w="1728000">
                      <a:extLst>
                        <a:ext uri="{9D8B030D-6E8A-4147-A177-3AD203B41FA5}">
                          <a16:colId xmlns:a16="http://schemas.microsoft.com/office/drawing/2014/main" xmlns:a14="http://schemas.microsoft.com/office/drawing/2010/main" xmlns="" val="20001"/>
                        </a:ext>
                      </a:extLst>
                    </a:gridCol>
                    <a:gridCol w="1728000">
                      <a:extLst>
                        <a:ext uri="{9D8B030D-6E8A-4147-A177-3AD203B41FA5}">
                          <a16:colId xmlns:a16="http://schemas.microsoft.com/office/drawing/2014/main" xmlns:a14="http://schemas.microsoft.com/office/drawing/2010/main" xmlns="" val="20002"/>
                        </a:ext>
                      </a:extLst>
                    </a:gridCol>
                  </a:tblGrid>
                  <a:tr h="656209">
                    <a:tc>
                      <a:txBody>
                        <a:bodyPr/>
                        <a:lstStyle/>
                        <a:p>
                          <a:pPr marL="100965" indent="-100965" algn="ctr">
                            <a:lnSpc>
                              <a:spcPct val="107000"/>
                            </a:lnSpc>
                            <a:spcAft>
                              <a:spcPts val="0"/>
                            </a:spcAft>
                          </a:pPr>
                          <a:r>
                            <a:rPr lang="en-US" sz="1800" b="1" i="0" dirty="0">
                              <a:effectLst/>
                              <a:latin typeface="Verdana"/>
                              <a:ea typeface="Verdana"/>
                              <a:cs typeface="Verdana"/>
                            </a:rPr>
                            <a:t>Information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i="0" dirty="0">
                              <a:effectLst/>
                              <a:latin typeface="Verdana"/>
                              <a:ea typeface="Verdana"/>
                              <a:cs typeface="Verdana"/>
                            </a:rPr>
                            <a:t>Numeric </a:t>
                          </a:r>
                          <a:r>
                            <a:rPr lang="en-US" sz="1800" b="1" i="0" dirty="0" smtClean="0">
                              <a:effectLst/>
                              <a:latin typeface="Verdana"/>
                              <a:ea typeface="Verdana"/>
                              <a:cs typeface="Verdana"/>
                            </a:rPr>
                            <a:t>Expression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i="0" dirty="0">
                              <a:effectLst/>
                              <a:latin typeface="Verdana"/>
                              <a:ea typeface="Verdana"/>
                              <a:cs typeface="Verdana"/>
                            </a:rPr>
                            <a:t>Units of the </a:t>
                          </a:r>
                          <a:r>
                            <a:rPr lang="en-US" sz="1800" b="1" i="0" dirty="0" smtClean="0">
                              <a:effectLst/>
                              <a:latin typeface="Verdana"/>
                              <a:ea typeface="Verdana"/>
                              <a:cs typeface="Verdana"/>
                            </a:rPr>
                            <a:t>Answer</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1808226">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54" t="-38514" r="-87519" b="-136824"/>
                          </a:stretch>
                        </a:blipFill>
                      </a:tcPr>
                    </a:tc>
                    <a:tc>
                      <a:txBody>
                        <a:bodyPr/>
                        <a:lstStyle/>
                        <a:p>
                          <a:pPr>
                            <a:lnSpc>
                              <a:spcPct val="107000"/>
                            </a:lnSpc>
                            <a:spcAft>
                              <a:spcPts val="0"/>
                            </a:spcAft>
                          </a:pPr>
                          <a:r>
                            <a:rPr lang="en-US" sz="1800" b="1" i="0" u="none" strike="noStrike" dirty="0">
                              <a:effectLst/>
                              <a:latin typeface="Verdana"/>
                              <a:ea typeface="Verdana"/>
                              <a:cs typeface="Verdana"/>
                            </a:rPr>
                            <a:t> </a:t>
                          </a:r>
                          <a:endParaRPr lang="en-PH" sz="1800" i="1" dirty="0">
                            <a:effectLst/>
                            <a:latin typeface="Cambria Math"/>
                            <a:ea typeface="Cambria Math"/>
                            <a:cs typeface="Cambria Math"/>
                          </a:endParaRPr>
                        </a:p>
                      </a:txBody>
                      <a:tcPr marL="56858" marR="568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b="1" i="0" u="none" strike="noStrike" dirty="0">
                              <a:effectLst/>
                              <a:latin typeface="Verdana"/>
                              <a:ea typeface="Verdana"/>
                              <a:cs typeface="Verdana"/>
                            </a:rPr>
                            <a:t> </a:t>
                          </a:r>
                          <a:endParaRPr lang="en-PH" sz="1800" i="1" dirty="0">
                            <a:effectLst/>
                            <a:latin typeface="Cambria Math"/>
                            <a:ea typeface="Cambria Math"/>
                            <a:cs typeface="Cambria Math"/>
                          </a:endParaRPr>
                        </a:p>
                      </a:txBody>
                      <a:tcPr marL="56858" marR="568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2395220">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54" t="-104326" r="-87519" b="-3053"/>
                          </a:stretch>
                        </a:blipFill>
                      </a:tcPr>
                    </a:tc>
                    <a:tc>
                      <a:txBody>
                        <a:bodyPr/>
                        <a:lstStyle/>
                        <a:p>
                          <a:pPr>
                            <a:lnSpc>
                              <a:spcPct val="107000"/>
                            </a:lnSpc>
                            <a:spcAft>
                              <a:spcPts val="0"/>
                            </a:spcAft>
                          </a:pPr>
                          <a:r>
                            <a:rPr lang="en-US" sz="1800" b="1" i="0" u="none" strike="noStrike">
                              <a:effectLst/>
                              <a:latin typeface="Verdana"/>
                              <a:ea typeface="Verdana"/>
                              <a:cs typeface="Verdana"/>
                            </a:rPr>
                            <a:t> </a:t>
                          </a:r>
                          <a:endParaRPr lang="en-PH" sz="1800" i="1">
                            <a:effectLst/>
                            <a:latin typeface="Cambria Math"/>
                            <a:ea typeface="Cambria Math"/>
                            <a:cs typeface="Cambria Math"/>
                          </a:endParaRPr>
                        </a:p>
                      </a:txBody>
                      <a:tcPr marL="56858" marR="568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b="1" i="0" u="none" strike="noStrike" dirty="0">
                              <a:effectLst/>
                              <a:latin typeface="Verdana"/>
                              <a:ea typeface="Verdana"/>
                              <a:cs typeface="Verdana"/>
                            </a:rPr>
                            <a:t> </a:t>
                          </a:r>
                          <a:endParaRPr lang="en-PH" sz="1800" i="1" dirty="0">
                            <a:effectLst/>
                            <a:latin typeface="Cambria Math"/>
                            <a:ea typeface="Cambria Math"/>
                            <a:cs typeface="Cambria Math"/>
                          </a:endParaRPr>
                        </a:p>
                      </a:txBody>
                      <a:tcPr marL="56858" marR="568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109</a:t>
            </a:r>
            <a:endParaRPr i="1" dirty="0">
              <a:latin typeface="Calibri"/>
              <a:ea typeface="Calibri"/>
              <a:cs typeface="Calibri"/>
              <a:sym typeface="Calibri"/>
            </a:endParaRPr>
          </a:p>
        </p:txBody>
      </p:sp>
    </p:spTree>
    <p:extLst>
      <p:ext uri="{BB962C8B-B14F-4D97-AF65-F5344CB8AC3E}">
        <p14:creationId xmlns:p14="http://schemas.microsoft.com/office/powerpoint/2010/main" val="371648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 xmlns:a16="http://schemas.microsoft.com/office/drawing/2014/main" id="{D132551E-02DD-6A43-9F52-A70D434DE09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456615968"/>
                  </p:ext>
                </p:extLst>
              </p:nvPr>
            </p:nvGraphicFramePr>
            <p:xfrm>
              <a:off x="2388000" y="325322"/>
              <a:ext cx="7416000" cy="5720462"/>
            </p:xfrm>
            <a:graphic>
              <a:graphicData uri="http://schemas.openxmlformats.org/drawingml/2006/table">
                <a:tbl>
                  <a:tblPr firstRow="1" firstCol="1" bandRow="1"/>
                  <a:tblGrid>
                    <a:gridCol w="3960000">
                      <a:extLst>
                        <a:ext uri="{9D8B030D-6E8A-4147-A177-3AD203B41FA5}">
                          <a16:colId xmlns="" xmlns:a16="http://schemas.microsoft.com/office/drawing/2014/main" val="20000"/>
                        </a:ext>
                      </a:extLst>
                    </a:gridCol>
                    <a:gridCol w="1728000">
                      <a:extLst>
                        <a:ext uri="{9D8B030D-6E8A-4147-A177-3AD203B41FA5}">
                          <a16:colId xmlns="" xmlns:a16="http://schemas.microsoft.com/office/drawing/2014/main" val="20001"/>
                        </a:ext>
                      </a:extLst>
                    </a:gridCol>
                    <a:gridCol w="1728000">
                      <a:extLst>
                        <a:ext uri="{9D8B030D-6E8A-4147-A177-3AD203B41FA5}">
                          <a16:colId xmlns="" xmlns:a16="http://schemas.microsoft.com/office/drawing/2014/main" val="20002"/>
                        </a:ext>
                      </a:extLst>
                    </a:gridCol>
                  </a:tblGrid>
                  <a:tr h="488033">
                    <a:tc>
                      <a:txBody>
                        <a:bodyPr/>
                        <a:lstStyle/>
                        <a:p>
                          <a:pPr marL="100965" indent="-100965" algn="ctr">
                            <a:lnSpc>
                              <a:spcPct val="107000"/>
                            </a:lnSpc>
                            <a:spcAft>
                              <a:spcPts val="0"/>
                            </a:spcAft>
                          </a:pPr>
                          <a:r>
                            <a:rPr lang="en-US" sz="2000" b="1" i="0" dirty="0">
                              <a:effectLst/>
                              <a:latin typeface="Verdana"/>
                              <a:ea typeface="Verdana"/>
                              <a:cs typeface="Verdana"/>
                            </a:rPr>
                            <a:t>Information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Numeric </a:t>
                          </a:r>
                          <a:r>
                            <a:rPr lang="en-US" sz="2000" b="1" i="0" dirty="0" smtClean="0">
                              <a:effectLst/>
                              <a:latin typeface="Verdana"/>
                              <a:ea typeface="Verdana"/>
                              <a:cs typeface="Verdana"/>
                            </a:rPr>
                            <a:t>Expression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Units of the </a:t>
                          </a:r>
                          <a:r>
                            <a:rPr lang="en-US" sz="2000" b="1" i="0" dirty="0" smtClean="0">
                              <a:effectLst/>
                              <a:latin typeface="Verdana"/>
                              <a:ea typeface="Verdana"/>
                              <a:cs typeface="Verdana"/>
                            </a:rPr>
                            <a:t>Answer</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10000"/>
                      </a:ext>
                    </a:extLst>
                  </a:tr>
                  <a:tr h="1709958">
                    <a:tc>
                      <a:txBody>
                        <a:bodyPr/>
                        <a:lstStyle/>
                        <a:p>
                          <a:pPr>
                            <a:lnSpc>
                              <a:spcPct val="107000"/>
                            </a:lnSpc>
                            <a:spcAft>
                              <a:spcPts val="0"/>
                            </a:spcAft>
                          </a:pPr>
                          <a:r>
                            <a:rPr lang="en-US" sz="2000" i="0" dirty="0">
                              <a:effectLst/>
                              <a:latin typeface="Verdana"/>
                              <a:ea typeface="Verdana"/>
                              <a:cs typeface="Verdana"/>
                            </a:rPr>
                            <a:t>Louis has two boards. The length of the longer board is </a:t>
                          </a:r>
                          <a14:m>
                            <m:oMath xmlns:m="http://schemas.openxmlformats.org/officeDocument/2006/math">
                              <m:r>
                                <a:rPr lang="en-US" sz="2000" i="1">
                                  <a:effectLst/>
                                  <a:latin typeface="Cambria Math"/>
                                  <a:ea typeface="Verdana"/>
                                  <a:cs typeface="Verdana"/>
                                </a:rPr>
                                <m:t>27</m:t>
                              </m:r>
                              <m:f>
                                <m:fPr>
                                  <m:ctrlPr>
                                    <a:rPr lang="en-PH" sz="2000" i="1">
                                      <a:effectLst/>
                                      <a:latin typeface="Cambria Math"/>
                                      <a:ea typeface="Verdana"/>
                                      <a:cs typeface="Verdana"/>
                                    </a:rPr>
                                  </m:ctrlPr>
                                </m:fPr>
                                <m:num>
                                  <m:r>
                                    <a:rPr lang="en-US" sz="2000" i="1">
                                      <a:effectLst/>
                                      <a:latin typeface="Cambria Math"/>
                                      <a:ea typeface="Verdana"/>
                                      <a:cs typeface="Verdana"/>
                                    </a:rPr>
                                    <m:t>3</m:t>
                                  </m:r>
                                </m:num>
                                <m:den>
                                  <m:r>
                                    <a:rPr lang="en-US" sz="2000" i="1">
                                      <a:effectLst/>
                                      <a:latin typeface="Cambria Math"/>
                                      <a:ea typeface="Verdana"/>
                                      <a:cs typeface="Verdana"/>
                                    </a:rPr>
                                    <m:t>8</m:t>
                                  </m:r>
                                </m:den>
                              </m:f>
                            </m:oMath>
                          </a14:m>
                          <a:r>
                            <a:rPr lang="en-US" sz="2000" i="0" dirty="0">
                              <a:effectLst/>
                              <a:latin typeface="Verdana"/>
                              <a:ea typeface="Verdana"/>
                              <a:cs typeface="Verdana"/>
                            </a:rPr>
                            <a:t> inches (in). The length of the shorter board is </a:t>
                          </a:r>
                          <a14:m>
                            <m:oMath xmlns:m="http://schemas.openxmlformats.org/officeDocument/2006/math">
                              <m:r>
                                <a:rPr lang="en-US" sz="2000" i="1">
                                  <a:effectLst/>
                                  <a:latin typeface="Cambria Math"/>
                                  <a:ea typeface="Verdana"/>
                                  <a:cs typeface="Verdana"/>
                                </a:rPr>
                                <m:t>14</m:t>
                              </m:r>
                              <m:f>
                                <m:fPr>
                                  <m:ctrlPr>
                                    <a:rPr lang="en-PH" sz="2000" i="1">
                                      <a:effectLst/>
                                      <a:latin typeface="Cambria Math"/>
                                      <a:ea typeface="Verdana"/>
                                      <a:cs typeface="Verdana"/>
                                    </a:rPr>
                                  </m:ctrlPr>
                                </m:fPr>
                                <m:num>
                                  <m:r>
                                    <a:rPr lang="en-US" sz="2000" i="1">
                                      <a:effectLst/>
                                      <a:latin typeface="Cambria Math"/>
                                      <a:ea typeface="Verdana"/>
                                      <a:cs typeface="Verdana"/>
                                    </a:rPr>
                                    <m:t>5</m:t>
                                  </m:r>
                                </m:num>
                                <m:den>
                                  <m:r>
                                    <a:rPr lang="en-US" sz="2000" i="1">
                                      <a:effectLst/>
                                      <a:latin typeface="Cambria Math"/>
                                      <a:ea typeface="Verdana"/>
                                      <a:cs typeface="Verdana"/>
                                    </a:rPr>
                                    <m:t>12</m:t>
                                  </m:r>
                                </m:den>
                              </m:f>
                            </m:oMath>
                          </a14:m>
                          <a:r>
                            <a:rPr lang="en-US" sz="2000" i="0" dirty="0">
                              <a:effectLst/>
                              <a:latin typeface="Verdana"/>
                              <a:ea typeface="Verdana"/>
                              <a:cs typeface="Verdana"/>
                            </a:rPr>
                            <a:t> in. What is the difference between the board lengths?</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b="1" i="0" u="none" strike="noStrike" dirty="0">
                              <a:effectLst/>
                              <a:latin typeface="Verdana"/>
                              <a:ea typeface="Verdana"/>
                              <a:cs typeface="Verdana"/>
                            </a:rPr>
                            <a:t> </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b="1" i="0" u="none" strike="noStrike" dirty="0">
                              <a:effectLst/>
                              <a:latin typeface="Verdana"/>
                              <a:ea typeface="Verdana"/>
                              <a:cs typeface="Verdana"/>
                            </a:rPr>
                            <a:t> </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2153347">
                    <a:tc>
                      <a:txBody>
                        <a:bodyPr/>
                        <a:lstStyle/>
                        <a:p>
                          <a:pPr>
                            <a:lnSpc>
                              <a:spcPct val="107000"/>
                            </a:lnSpc>
                            <a:spcAft>
                              <a:spcPts val="0"/>
                            </a:spcAft>
                          </a:pPr>
                          <a:r>
                            <a:rPr lang="en-US" sz="2000" i="0" dirty="0">
                              <a:effectLst/>
                              <a:latin typeface="Verdana"/>
                              <a:ea typeface="Verdana"/>
                              <a:cs typeface="Verdana"/>
                            </a:rPr>
                            <a:t>Louis has two boards. The length of the longer board is </a:t>
                          </a:r>
                          <a14:m>
                            <m:oMath xmlns:m="http://schemas.openxmlformats.org/officeDocument/2006/math">
                              <m:r>
                                <a:rPr lang="en-US" sz="2000" i="1">
                                  <a:effectLst/>
                                  <a:latin typeface="Cambria Math"/>
                                  <a:ea typeface="Verdana"/>
                                  <a:cs typeface="Verdana"/>
                                </a:rPr>
                                <m:t>27</m:t>
                              </m:r>
                              <m:f>
                                <m:fPr>
                                  <m:ctrlPr>
                                    <a:rPr lang="en-PH" sz="2000" i="1">
                                      <a:effectLst/>
                                      <a:latin typeface="Cambria Math"/>
                                      <a:ea typeface="Verdana"/>
                                      <a:cs typeface="Verdana"/>
                                    </a:rPr>
                                  </m:ctrlPr>
                                </m:fPr>
                                <m:num>
                                  <m:r>
                                    <a:rPr lang="en-US" sz="2000" i="1">
                                      <a:effectLst/>
                                      <a:latin typeface="Cambria Math"/>
                                      <a:ea typeface="Verdana"/>
                                      <a:cs typeface="Verdana"/>
                                    </a:rPr>
                                    <m:t>3</m:t>
                                  </m:r>
                                </m:num>
                                <m:den>
                                  <m:r>
                                    <a:rPr lang="en-US" sz="2000" i="1">
                                      <a:effectLst/>
                                      <a:latin typeface="Cambria Math"/>
                                      <a:ea typeface="Verdana"/>
                                      <a:cs typeface="Verdana"/>
                                    </a:rPr>
                                    <m:t>8</m:t>
                                  </m:r>
                                </m:den>
                              </m:f>
                            </m:oMath>
                          </a14:m>
                          <a:r>
                            <a:rPr lang="en-US" sz="2000" i="0" dirty="0">
                              <a:effectLst/>
                              <a:latin typeface="Verdana"/>
                              <a:ea typeface="Verdana"/>
                              <a:cs typeface="Verdana"/>
                            </a:rPr>
                            <a:t> inches (in). The length of the shorter board is </a:t>
                          </a:r>
                          <a14:m>
                            <m:oMath xmlns:m="http://schemas.openxmlformats.org/officeDocument/2006/math">
                              <m:r>
                                <a:rPr lang="en-US" sz="2000" i="1">
                                  <a:effectLst/>
                                  <a:latin typeface="Cambria Math"/>
                                  <a:ea typeface="Verdana"/>
                                  <a:cs typeface="Verdana"/>
                                </a:rPr>
                                <m:t>14</m:t>
                              </m:r>
                              <m:f>
                                <m:fPr>
                                  <m:ctrlPr>
                                    <a:rPr lang="en-PH" sz="2000" i="1">
                                      <a:effectLst/>
                                      <a:latin typeface="Cambria Math"/>
                                      <a:ea typeface="Verdana"/>
                                      <a:cs typeface="Verdana"/>
                                    </a:rPr>
                                  </m:ctrlPr>
                                </m:fPr>
                                <m:num>
                                  <m:r>
                                    <a:rPr lang="en-US" sz="2000" i="1">
                                      <a:effectLst/>
                                      <a:latin typeface="Cambria Math"/>
                                      <a:ea typeface="Verdana"/>
                                      <a:cs typeface="Verdana"/>
                                    </a:rPr>
                                    <m:t>5</m:t>
                                  </m:r>
                                </m:num>
                                <m:den>
                                  <m:r>
                                    <a:rPr lang="en-US" sz="2000" i="1">
                                      <a:effectLst/>
                                      <a:latin typeface="Cambria Math"/>
                                      <a:ea typeface="Verdana"/>
                                      <a:cs typeface="Verdana"/>
                                    </a:rPr>
                                    <m:t>12</m:t>
                                  </m:r>
                                </m:den>
                              </m:f>
                            </m:oMath>
                          </a14:m>
                          <a:r>
                            <a:rPr lang="en-US" sz="2000" i="0" dirty="0">
                              <a:effectLst/>
                              <a:latin typeface="Verdana"/>
                              <a:ea typeface="Verdana"/>
                              <a:cs typeface="Verdana"/>
                            </a:rPr>
                            <a:t> in. What is the total length of </a:t>
                          </a:r>
                          <a14:m>
                            <m:oMath xmlns:m="http://schemas.openxmlformats.org/officeDocument/2006/math">
                              <m:r>
                                <a:rPr lang="en-US" sz="2000" i="1">
                                  <a:effectLst/>
                                  <a:latin typeface="Cambria Math"/>
                                  <a:ea typeface="Verdana"/>
                                  <a:cs typeface="Verdana"/>
                                </a:rPr>
                                <m:t>48</m:t>
                              </m:r>
                            </m:oMath>
                          </a14:m>
                          <a:r>
                            <a:rPr lang="en-US" sz="2000" i="0" dirty="0">
                              <a:effectLst/>
                              <a:latin typeface="Verdana"/>
                              <a:ea typeface="Verdana"/>
                              <a:cs typeface="Verdana"/>
                            </a:rPr>
                            <a:t> of the shortest boards lined up end-to-end?</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b="1" i="0" u="none" strike="noStrike">
                              <a:effectLst/>
                              <a:latin typeface="Verdana"/>
                              <a:ea typeface="Verdana"/>
                              <a:cs typeface="Verdana"/>
                            </a:rPr>
                            <a:t> </a:t>
                          </a:r>
                          <a:endParaRPr lang="en-PH" sz="2000" i="1">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b="1" i="0" u="none" strike="noStrike" dirty="0">
                              <a:effectLst/>
                              <a:latin typeface="Verdana"/>
                              <a:ea typeface="Verdana"/>
                              <a:cs typeface="Verdana"/>
                            </a:rPr>
                            <a:t> </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456615968"/>
                  </p:ext>
                </p:extLst>
              </p:nvPr>
            </p:nvGraphicFramePr>
            <p:xfrm>
              <a:off x="2388000" y="325322"/>
              <a:ext cx="7416000" cy="5695761"/>
            </p:xfrm>
            <a:graphic>
              <a:graphicData uri="http://schemas.openxmlformats.org/drawingml/2006/table">
                <a:tbl>
                  <a:tblPr firstRow="1" firstCol="1" bandRow="1"/>
                  <a:tblGrid>
                    <a:gridCol w="3960000">
                      <a:extLst>
                        <a:ext uri="{9D8B030D-6E8A-4147-A177-3AD203B41FA5}">
                          <a16:colId xmlns:a16="http://schemas.microsoft.com/office/drawing/2014/main" xmlns:a14="http://schemas.microsoft.com/office/drawing/2010/main" xmlns="" val="20000"/>
                        </a:ext>
                      </a:extLst>
                    </a:gridCol>
                    <a:gridCol w="1728000">
                      <a:extLst>
                        <a:ext uri="{9D8B030D-6E8A-4147-A177-3AD203B41FA5}">
                          <a16:colId xmlns:a16="http://schemas.microsoft.com/office/drawing/2014/main" xmlns:a14="http://schemas.microsoft.com/office/drawing/2010/main" xmlns="" val="20001"/>
                        </a:ext>
                      </a:extLst>
                    </a:gridCol>
                    <a:gridCol w="1728000">
                      <a:extLst>
                        <a:ext uri="{9D8B030D-6E8A-4147-A177-3AD203B41FA5}">
                          <a16:colId xmlns:a16="http://schemas.microsoft.com/office/drawing/2014/main" xmlns:a14="http://schemas.microsoft.com/office/drawing/2010/main" xmlns="" val="20002"/>
                        </a:ext>
                      </a:extLst>
                    </a:gridCol>
                  </a:tblGrid>
                  <a:tr h="719011">
                    <a:tc>
                      <a:txBody>
                        <a:bodyPr/>
                        <a:lstStyle/>
                        <a:p>
                          <a:pPr marL="100965" indent="-100965" algn="ctr">
                            <a:lnSpc>
                              <a:spcPct val="107000"/>
                            </a:lnSpc>
                            <a:spcAft>
                              <a:spcPts val="0"/>
                            </a:spcAft>
                          </a:pPr>
                          <a:r>
                            <a:rPr lang="en-US" sz="2000" b="1" i="0" dirty="0">
                              <a:effectLst/>
                              <a:latin typeface="Verdana"/>
                              <a:ea typeface="Verdana"/>
                              <a:cs typeface="Verdana"/>
                            </a:rPr>
                            <a:t>Information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Numeric </a:t>
                          </a:r>
                          <a:r>
                            <a:rPr lang="en-US" sz="2000" b="1" i="0" dirty="0" smtClean="0">
                              <a:effectLst/>
                              <a:latin typeface="Verdana"/>
                              <a:ea typeface="Verdana"/>
                              <a:cs typeface="Verdana"/>
                            </a:rPr>
                            <a:t>Expression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Units of the </a:t>
                          </a:r>
                          <a:r>
                            <a:rPr lang="en-US" sz="2000" b="1" i="0" dirty="0" smtClean="0">
                              <a:effectLst/>
                              <a:latin typeface="Verdana"/>
                              <a:ea typeface="Verdana"/>
                              <a:cs typeface="Verdana"/>
                            </a:rPr>
                            <a:t>Answer</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2325307">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54" t="-32461" r="-87519" b="-117539"/>
                          </a:stretch>
                        </a:blipFill>
                      </a:tcPr>
                    </a:tc>
                    <a:tc>
                      <a:txBody>
                        <a:bodyPr/>
                        <a:lstStyle/>
                        <a:p>
                          <a:pPr>
                            <a:lnSpc>
                              <a:spcPct val="107000"/>
                            </a:lnSpc>
                            <a:spcAft>
                              <a:spcPts val="0"/>
                            </a:spcAft>
                          </a:pPr>
                          <a:r>
                            <a:rPr lang="en-US" sz="2000" b="1" i="0" u="none" strike="noStrike" dirty="0">
                              <a:effectLst/>
                              <a:latin typeface="Verdana"/>
                              <a:ea typeface="Verdana"/>
                              <a:cs typeface="Verdana"/>
                            </a:rPr>
                            <a:t> </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b="1" i="0" u="none" strike="noStrike" dirty="0">
                              <a:effectLst/>
                              <a:latin typeface="Verdana"/>
                              <a:ea typeface="Verdana"/>
                              <a:cs typeface="Verdana"/>
                            </a:rPr>
                            <a:t> </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2651443">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54" t="-116322" r="-87519" b="-3218"/>
                          </a:stretch>
                        </a:blipFill>
                      </a:tcPr>
                    </a:tc>
                    <a:tc>
                      <a:txBody>
                        <a:bodyPr/>
                        <a:lstStyle/>
                        <a:p>
                          <a:pPr>
                            <a:lnSpc>
                              <a:spcPct val="107000"/>
                            </a:lnSpc>
                            <a:spcAft>
                              <a:spcPts val="0"/>
                            </a:spcAft>
                          </a:pPr>
                          <a:r>
                            <a:rPr lang="en-US" sz="2000" b="1" i="0" u="none" strike="noStrike">
                              <a:effectLst/>
                              <a:latin typeface="Verdana"/>
                              <a:ea typeface="Verdana"/>
                              <a:cs typeface="Verdana"/>
                            </a:rPr>
                            <a:t> </a:t>
                          </a:r>
                          <a:endParaRPr lang="en-PH" sz="2000" i="1">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b="1" i="0" u="none" strike="noStrike" dirty="0">
                              <a:effectLst/>
                              <a:latin typeface="Verdana"/>
                              <a:ea typeface="Verdana"/>
                              <a:cs typeface="Verdana"/>
                            </a:rPr>
                            <a:t> </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109</a:t>
            </a:r>
            <a:endParaRPr i="1" dirty="0">
              <a:latin typeface="Calibri"/>
              <a:ea typeface="Calibri"/>
              <a:cs typeface="Calibri"/>
              <a:sym typeface="Calibri"/>
            </a:endParaRPr>
          </a:p>
        </p:txBody>
      </p:sp>
    </p:spTree>
    <p:extLst>
      <p:ext uri="{BB962C8B-B14F-4D97-AF65-F5344CB8AC3E}">
        <p14:creationId xmlns:p14="http://schemas.microsoft.com/office/powerpoint/2010/main" val="853779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301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110</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39840" y="201168"/>
            <a:ext cx="8019300"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3.4.3 Guided Practice: Operations in Real-World Context</a:t>
            </a:r>
          </a:p>
        </p:txBody>
      </p:sp>
      <p:pic>
        <p:nvPicPr>
          <p:cNvPr id="8" name="Picture 2" descr="Icon&#10;&#10;Description automatically generated">
            <a:extLst>
              <a:ext uri="{FF2B5EF4-FFF2-40B4-BE49-F238E27FC236}">
                <a16:creationId xmlns=""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31D40250-DEDD-2C41-8538-3D4DD18CCC4A}"/>
              </a:ext>
            </a:extLst>
          </p:cNvPr>
          <p:cNvSpPr txBox="1"/>
          <p:nvPr/>
        </p:nvSpPr>
        <p:spPr>
          <a:xfrm>
            <a:off x="731520" y="1258009"/>
            <a:ext cx="11064240" cy="1055354"/>
          </a:xfrm>
          <a:prstGeom prst="rect">
            <a:avLst/>
          </a:prstGeom>
          <a:noFill/>
        </p:spPr>
        <p:txBody>
          <a:bodyPr wrap="square" rtlCol="0">
            <a:spAutoFit/>
          </a:bodyPr>
          <a:lstStyle/>
          <a:p>
            <a:pPr marL="457200" indent="-457200">
              <a:lnSpc>
                <a:spcPct val="107000"/>
              </a:lnSpc>
              <a:buFont typeface="+mj-lt"/>
              <a:buAutoNum type="arabicPeriod"/>
            </a:pPr>
            <a:r>
              <a:rPr lang="en-US" sz="2000" spc="-30" dirty="0">
                <a:latin typeface="Verdana"/>
                <a:ea typeface="Verdana"/>
                <a:cs typeface="Verdana"/>
              </a:rPr>
              <a:t>The table contains four different real-world contexts. Select the question in the middle column that requires the use of the operation indicated in the last column within this context.</a:t>
            </a:r>
            <a:endParaRPr lang="en-PH" sz="1800" i="1" spc="-30" dirty="0">
              <a:latin typeface="Cambria Math"/>
              <a:ea typeface="Cambria Math"/>
              <a:cs typeface="Cambria Math"/>
            </a:endParaRPr>
          </a:p>
        </p:txBody>
      </p:sp>
      <p:sp>
        <p:nvSpPr>
          <p:cNvPr id="9" name="Google Shape;278;g104476d1465_1_17">
            <a:extLst>
              <a:ext uri="{FF2B5EF4-FFF2-40B4-BE49-F238E27FC236}">
                <a16:creationId xmlns="" xmlns:a16="http://schemas.microsoft.com/office/drawing/2014/main" id="{A3E0058B-C607-174E-B439-E4D3192A9DB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040927053"/>
                  </p:ext>
                </p:extLst>
              </p:nvPr>
            </p:nvGraphicFramePr>
            <p:xfrm>
              <a:off x="2303640" y="2551815"/>
              <a:ext cx="7920000" cy="3444240"/>
            </p:xfrm>
            <a:graphic>
              <a:graphicData uri="http://schemas.openxmlformats.org/drawingml/2006/table">
                <a:tbl>
                  <a:tblPr firstRow="1" firstCol="1" bandRow="1"/>
                  <a:tblGrid>
                    <a:gridCol w="2700000">
                      <a:extLst>
                        <a:ext uri="{9D8B030D-6E8A-4147-A177-3AD203B41FA5}">
                          <a16:colId xmlns="" xmlns:a16="http://schemas.microsoft.com/office/drawing/2014/main" val="20000"/>
                        </a:ext>
                      </a:extLst>
                    </a:gridCol>
                    <a:gridCol w="3600000">
                      <a:extLst>
                        <a:ext uri="{9D8B030D-6E8A-4147-A177-3AD203B41FA5}">
                          <a16:colId xmlns="" xmlns:a16="http://schemas.microsoft.com/office/drawing/2014/main" val="20001"/>
                        </a:ext>
                      </a:extLst>
                    </a:gridCol>
                    <a:gridCol w="1620000">
                      <a:extLst>
                        <a:ext uri="{9D8B030D-6E8A-4147-A177-3AD203B41FA5}">
                          <a16:colId xmlns="" xmlns:a16="http://schemas.microsoft.com/office/drawing/2014/main" val="20002"/>
                        </a:ext>
                      </a:extLst>
                    </a:gridCol>
                  </a:tblGrid>
                  <a:tr h="378377">
                    <a:tc>
                      <a:txBody>
                        <a:bodyPr/>
                        <a:lstStyle/>
                        <a:p>
                          <a:pPr algn="ctr">
                            <a:lnSpc>
                              <a:spcPct val="107000"/>
                            </a:lnSpc>
                            <a:spcAft>
                              <a:spcPts val="0"/>
                            </a:spcAft>
                          </a:pPr>
                          <a:r>
                            <a:rPr lang="en-US" sz="2000" b="1" i="0" dirty="0">
                              <a:effectLst/>
                              <a:latin typeface="Verdana"/>
                              <a:ea typeface="Verdana"/>
                              <a:cs typeface="Verdana"/>
                            </a:rPr>
                            <a:t>Real-World Context</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Which Question?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Operation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10000"/>
                      </a:ext>
                    </a:extLst>
                  </a:tr>
                  <a:tr h="1891886">
                    <a:tc>
                      <a:txBody>
                        <a:bodyPr/>
                        <a:lstStyle/>
                        <a:p>
                          <a:pPr>
                            <a:lnSpc>
                              <a:spcPct val="107000"/>
                            </a:lnSpc>
                            <a:spcAft>
                              <a:spcPts val="0"/>
                            </a:spcAft>
                          </a:pPr>
                          <a:r>
                            <a:rPr lang="en-US" sz="2000" i="0" dirty="0">
                              <a:effectLst/>
                              <a:latin typeface="Verdana"/>
                              <a:ea typeface="Verdana"/>
                              <a:cs typeface="Verdana"/>
                            </a:rPr>
                            <a:t>A Valencia orange tree that is twelve years old can produce </a:t>
                          </a:r>
                          <a14:m>
                            <m:oMath xmlns:m="http://schemas.openxmlformats.org/officeDocument/2006/math">
                              <m:r>
                                <a:rPr lang="en-US" sz="2000" i="1">
                                  <a:effectLst/>
                                  <a:latin typeface="Cambria Math"/>
                                  <a:ea typeface="Verdana"/>
                                  <a:cs typeface="Verdana"/>
                                </a:rPr>
                                <m:t>1.4</m:t>
                              </m:r>
                            </m:oMath>
                          </a14:m>
                          <a:r>
                            <a:rPr lang="en-US" sz="2000" i="0" dirty="0">
                              <a:effectLst/>
                              <a:latin typeface="Verdana"/>
                              <a:ea typeface="Verdana"/>
                              <a:cs typeface="Verdana"/>
                            </a:rPr>
                            <a:t> boxes of oranges. In May 2017, a box of fresh Valencia oranges cost </a:t>
                          </a:r>
                          <a14:m>
                            <m:oMath xmlns:m="http://schemas.openxmlformats.org/officeDocument/2006/math">
                              <m:r>
                                <a:rPr lang="en-US" sz="2000" i="1">
                                  <a:effectLst/>
                                  <a:latin typeface="Cambria Math"/>
                                  <a:ea typeface="Verdana"/>
                                  <a:cs typeface="Verdana"/>
                                </a:rPr>
                                <m:t>$20.45</m:t>
                              </m:r>
                            </m:oMath>
                          </a14:m>
                          <a:r>
                            <a:rPr lang="en-US" sz="2000" i="0" dirty="0">
                              <a:effectLst/>
                              <a:latin typeface="Verdana"/>
                              <a:ea typeface="Verdana"/>
                              <a:cs typeface="Verdana"/>
                            </a:rPr>
                            <a:t>.</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0" lvl="0" indent="-273050">
                            <a:lnSpc>
                              <a:spcPct val="107000"/>
                            </a:lnSpc>
                            <a:spcAft>
                              <a:spcPts val="0"/>
                            </a:spcAft>
                            <a:buFont typeface="Courier New" pitchFamily="49" charset="0"/>
                            <a:buChar char="o"/>
                          </a:pPr>
                          <a:r>
                            <a:rPr lang="en-US" sz="2000" i="0" dirty="0">
                              <a:effectLst/>
                              <a:latin typeface="Verdana"/>
                              <a:ea typeface="Verdana"/>
                              <a:cs typeface="Verdana"/>
                            </a:rPr>
                            <a:t>For how many years did a box of Valencia oranges cost </a:t>
                          </a:r>
                          <a14:m>
                            <m:oMath xmlns:m="http://schemas.openxmlformats.org/officeDocument/2006/math">
                              <m:r>
                                <a:rPr lang="en-US" sz="2000" i="1">
                                  <a:effectLst/>
                                  <a:latin typeface="Cambria Math"/>
                                  <a:ea typeface="Verdana"/>
                                  <a:cs typeface="Verdana"/>
                                </a:rPr>
                                <m:t>$20.45</m:t>
                              </m:r>
                            </m:oMath>
                          </a14:m>
                          <a:r>
                            <a:rPr lang="en-US" sz="2000" i="0" dirty="0">
                              <a:effectLst/>
                              <a:latin typeface="Verdana"/>
                              <a:ea typeface="Verdana"/>
                              <a:cs typeface="Verdana"/>
                            </a:rPr>
                            <a:t>?</a:t>
                          </a:r>
                          <a:endParaRPr lang="en-PH" sz="2000" i="1" dirty="0">
                            <a:effectLst/>
                            <a:latin typeface="Cambria Math"/>
                            <a:ea typeface="Cambria Math"/>
                            <a:cs typeface="Cambria Math"/>
                          </a:endParaRPr>
                        </a:p>
                        <a:p>
                          <a:pPr marL="273050" lvl="0" indent="-273050">
                            <a:lnSpc>
                              <a:spcPct val="107000"/>
                            </a:lnSpc>
                            <a:spcAft>
                              <a:spcPts val="0"/>
                            </a:spcAft>
                            <a:buFont typeface="Courier New" pitchFamily="49" charset="0"/>
                            <a:buChar char="o"/>
                          </a:pPr>
                          <a:r>
                            <a:rPr lang="en-US" sz="2000" i="0" dirty="0">
                              <a:effectLst/>
                              <a:latin typeface="Verdana"/>
                              <a:ea typeface="Verdana"/>
                              <a:cs typeface="Verdana"/>
                            </a:rPr>
                            <a:t>How much money would a 12-year old Valencia orange tree generate?</a:t>
                          </a:r>
                          <a:endParaRPr lang="en-PH" sz="2000" i="1" dirty="0">
                            <a:effectLst/>
                            <a:latin typeface="Cambria Math"/>
                            <a:ea typeface="Cambria Math"/>
                            <a:cs typeface="Cambria Math"/>
                          </a:endParaRPr>
                        </a:p>
                        <a:p>
                          <a:pPr marL="273050" lvl="0" indent="-273050">
                            <a:lnSpc>
                              <a:spcPct val="107000"/>
                            </a:lnSpc>
                            <a:spcAft>
                              <a:spcPts val="0"/>
                            </a:spcAft>
                            <a:buFont typeface="Courier New" pitchFamily="49" charset="0"/>
                            <a:buChar char="o"/>
                          </a:pPr>
                          <a:r>
                            <a:rPr lang="en-US" sz="2000" i="0" dirty="0">
                              <a:effectLst/>
                              <a:latin typeface="Verdana"/>
                              <a:ea typeface="Verdana"/>
                              <a:cs typeface="Verdana"/>
                            </a:rPr>
                            <a:t>What is the price per box of Valencia oranges?</a:t>
                          </a:r>
                          <a:endParaRPr lang="en-PH" sz="20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4800" b="1" i="1">
                                    <a:effectLst/>
                                    <a:latin typeface="Cambria Math"/>
                                    <a:ea typeface="Verdana"/>
                                    <a:cs typeface="Verdana"/>
                                  </a:rPr>
                                  <m:t>×</m:t>
                                </m:r>
                              </m:oMath>
                            </m:oMathPara>
                          </a14:m>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040927053"/>
                  </p:ext>
                </p:extLst>
              </p:nvPr>
            </p:nvGraphicFramePr>
            <p:xfrm>
              <a:off x="2303640" y="2551815"/>
              <a:ext cx="7920000" cy="3410332"/>
            </p:xfrm>
            <a:graphic>
              <a:graphicData uri="http://schemas.openxmlformats.org/drawingml/2006/table">
                <a:tbl>
                  <a:tblPr firstRow="1" firstCol="1" bandRow="1"/>
                  <a:tblGrid>
                    <a:gridCol w="27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tblGrid>
                  <a:tr h="726758">
                    <a:tc>
                      <a:txBody>
                        <a:bodyPr/>
                        <a:lstStyle/>
                        <a:p>
                          <a:pPr algn="ctr">
                            <a:lnSpc>
                              <a:spcPct val="107000"/>
                            </a:lnSpc>
                            <a:spcAft>
                              <a:spcPts val="0"/>
                            </a:spcAft>
                          </a:pPr>
                          <a:r>
                            <a:rPr lang="en-US" sz="2000" b="1" i="0" dirty="0">
                              <a:effectLst/>
                              <a:latin typeface="Verdana"/>
                              <a:ea typeface="Verdana"/>
                              <a:cs typeface="Verdana"/>
                            </a:rPr>
                            <a:t>Real-World Context</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Which Question?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Operation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683574">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69" t="-28774" r="-193897" b="-3774"/>
                          </a:stretch>
                        </a:blipFill>
                      </a:tcPr>
                    </a:tc>
                    <a:tc>
                      <a:txBody>
                        <a:bodyPr/>
                        <a:lstStyle/>
                        <a:p>
                          <a:endParaRPr lang="en-US"/>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5352" t="-28774" r="-45423" b="-3774"/>
                          </a:stretch>
                        </a:blipFill>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89063" t="-28774" r="-781" b="-3774"/>
                          </a:stretch>
                        </a:blipFill>
                      </a:tcPr>
                    </a:tc>
                    <a:extLst>
                      <a:ext uri="{0D108BD9-81ED-4DB2-BD59-A6C34878D82A}">
                        <a16:rowId xmlns:a16="http://schemas.microsoft.com/office/drawing/2014/main" val="10001"/>
                      </a:ext>
                    </a:extLst>
                  </a:tr>
                </a:tbl>
              </a:graphicData>
            </a:graphic>
          </p:graphicFrame>
        </mc:Fallback>
      </mc:AlternateContent>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110</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 xmlns:a16="http://schemas.microsoft.com/office/drawing/2014/main" id="{2152CD2B-A4D4-A94A-8235-80385DFE97AA}"/>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76467379"/>
                  </p:ext>
                </p:extLst>
              </p:nvPr>
            </p:nvGraphicFramePr>
            <p:xfrm>
              <a:off x="2373367" y="207606"/>
              <a:ext cx="8100000" cy="5850763"/>
            </p:xfrm>
            <a:graphic>
              <a:graphicData uri="http://schemas.openxmlformats.org/drawingml/2006/table">
                <a:tbl>
                  <a:tblPr firstRow="1" firstCol="1" bandRow="1"/>
                  <a:tblGrid>
                    <a:gridCol w="2628000">
                      <a:extLst>
                        <a:ext uri="{9D8B030D-6E8A-4147-A177-3AD203B41FA5}">
                          <a16:colId xmlns="" xmlns:a16="http://schemas.microsoft.com/office/drawing/2014/main" val="20000"/>
                        </a:ext>
                      </a:extLst>
                    </a:gridCol>
                    <a:gridCol w="3996000">
                      <a:extLst>
                        <a:ext uri="{9D8B030D-6E8A-4147-A177-3AD203B41FA5}">
                          <a16:colId xmlns="" xmlns:a16="http://schemas.microsoft.com/office/drawing/2014/main" val="20001"/>
                        </a:ext>
                      </a:extLst>
                    </a:gridCol>
                    <a:gridCol w="1476000">
                      <a:extLst>
                        <a:ext uri="{9D8B030D-6E8A-4147-A177-3AD203B41FA5}">
                          <a16:colId xmlns="" xmlns:a16="http://schemas.microsoft.com/office/drawing/2014/main" val="20002"/>
                        </a:ext>
                      </a:extLst>
                    </a:gridCol>
                  </a:tblGrid>
                  <a:tr h="540000">
                    <a:tc>
                      <a:txBody>
                        <a:bodyPr/>
                        <a:lstStyle/>
                        <a:p>
                          <a:pPr algn="ctr">
                            <a:lnSpc>
                              <a:spcPct val="107000"/>
                            </a:lnSpc>
                            <a:spcAft>
                              <a:spcPts val="0"/>
                            </a:spcAft>
                          </a:pPr>
                          <a:r>
                            <a:rPr lang="en-US" sz="1800" b="1" i="0" dirty="0">
                              <a:effectLst/>
                              <a:latin typeface="Verdana"/>
                              <a:ea typeface="Verdana"/>
                              <a:cs typeface="Verdana"/>
                            </a:rPr>
                            <a:t>Real-World </a:t>
                          </a:r>
                          <a:br>
                            <a:rPr lang="en-US" sz="1800" b="1" i="0" dirty="0">
                              <a:effectLst/>
                              <a:latin typeface="Verdana"/>
                              <a:ea typeface="Verdana"/>
                              <a:cs typeface="Verdana"/>
                            </a:rPr>
                          </a:br>
                          <a:r>
                            <a:rPr lang="en-US" sz="1800" b="1" i="0" dirty="0">
                              <a:effectLst/>
                              <a:latin typeface="Verdana"/>
                              <a:ea typeface="Verdana"/>
                              <a:cs typeface="Verdana"/>
                            </a:rPr>
                            <a:t>Context</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a:effectLst/>
                              <a:latin typeface="Verdana"/>
                              <a:ea typeface="Verdana"/>
                              <a:cs typeface="Verdana"/>
                            </a:rPr>
                            <a:t>Which Question?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a:effectLst/>
                              <a:latin typeface="Verdana"/>
                              <a:ea typeface="Verdana"/>
                              <a:cs typeface="Verdana"/>
                            </a:rPr>
                            <a:t>Operation</a:t>
                          </a:r>
                          <a:endParaRPr lang="en-PH" sz="1800" i="1" dirty="0">
                            <a:effectLst/>
                            <a:latin typeface="Cambria Math"/>
                            <a:ea typeface="Cambria Math"/>
                            <a:cs typeface="Cambria Math"/>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2081075">
                    <a:tc>
                      <a:txBody>
                        <a:bodyPr/>
                        <a:lstStyle/>
                        <a:p>
                          <a:pPr>
                            <a:lnSpc>
                              <a:spcPct val="107000"/>
                            </a:lnSpc>
                            <a:spcAft>
                              <a:spcPts val="0"/>
                            </a:spcAft>
                          </a:pPr>
                          <a:r>
                            <a:rPr lang="en-US" sz="1800" b="0" i="0" spc="-30" baseline="0" dirty="0">
                              <a:effectLst/>
                              <a:latin typeface="Verdana"/>
                              <a:ea typeface="Verdana"/>
                              <a:cs typeface="Verdana"/>
                            </a:rPr>
                            <a:t>In 2016, there were </a:t>
                          </a:r>
                          <a14:m>
                            <m:oMath xmlns:m="http://schemas.openxmlformats.org/officeDocument/2006/math">
                              <m:r>
                                <a:rPr lang="en-US" sz="1800" b="0" i="1" spc="-30" baseline="0">
                                  <a:effectLst/>
                                  <a:latin typeface="Cambria Math"/>
                                  <a:ea typeface="Verdana"/>
                                  <a:cs typeface="Verdana"/>
                                </a:rPr>
                                <m:t>19.3</m:t>
                              </m:r>
                            </m:oMath>
                          </a14:m>
                          <a:r>
                            <a:rPr lang="en-US" sz="1800" b="0" i="0" spc="-30" baseline="0" dirty="0">
                              <a:effectLst/>
                              <a:latin typeface="Verdana"/>
                              <a:ea typeface="Verdana"/>
                              <a:cs typeface="Verdana"/>
                            </a:rPr>
                            <a:t> million </a:t>
                          </a:r>
                          <a:r>
                            <a:rPr lang="en-US" sz="1800" b="0" i="0" spc="-30" baseline="0" dirty="0" err="1">
                              <a:effectLst/>
                              <a:latin typeface="Verdana"/>
                              <a:ea typeface="Verdana"/>
                              <a:cs typeface="Verdana"/>
                            </a:rPr>
                            <a:t>Snapchat</a:t>
                          </a:r>
                          <a:r>
                            <a:rPr lang="en-US" sz="1800" b="0" i="0" spc="-30" baseline="0" dirty="0">
                              <a:effectLst/>
                              <a:latin typeface="Verdana"/>
                              <a:ea typeface="Verdana"/>
                              <a:cs typeface="Verdana"/>
                            </a:rPr>
                            <a:t> users in the age range of 18-24, and </a:t>
                          </a:r>
                          <a14:m>
                            <m:oMath xmlns:m="http://schemas.openxmlformats.org/officeDocument/2006/math">
                              <m:r>
                                <a:rPr lang="en-US" sz="1800" b="0" i="1" spc="-30" baseline="0">
                                  <a:effectLst/>
                                  <a:latin typeface="Cambria Math"/>
                                  <a:ea typeface="Verdana"/>
                                  <a:cs typeface="Verdana"/>
                                </a:rPr>
                                <m:t>16.7</m:t>
                              </m:r>
                            </m:oMath>
                          </a14:m>
                          <a:r>
                            <a:rPr lang="en-US" sz="1800" b="0" i="0" spc="-30" baseline="0" dirty="0">
                              <a:effectLst/>
                              <a:latin typeface="Verdana"/>
                              <a:ea typeface="Verdana"/>
                              <a:cs typeface="Verdana"/>
                            </a:rPr>
                            <a:t> million users in the age range of </a:t>
                          </a:r>
                          <a:br>
                            <a:rPr lang="en-US" sz="1800" b="0" i="0" spc="-30" baseline="0" dirty="0">
                              <a:effectLst/>
                              <a:latin typeface="Verdana"/>
                              <a:ea typeface="Verdana"/>
                              <a:cs typeface="Verdana"/>
                            </a:rPr>
                          </a:br>
                          <a:r>
                            <a:rPr lang="en-US" sz="1800" b="0" i="0" spc="-30" baseline="0" dirty="0">
                              <a:effectLst/>
                              <a:latin typeface="Verdana"/>
                              <a:ea typeface="Verdana"/>
                              <a:cs typeface="Verdana"/>
                            </a:rPr>
                            <a:t>25-34.</a:t>
                          </a:r>
                          <a:endParaRPr lang="en-PH" sz="1800" b="0" i="1" spc="-30" baseline="0"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0" lvl="0" indent="-273050">
                            <a:lnSpc>
                              <a:spcPct val="107000"/>
                            </a:lnSpc>
                            <a:spcAft>
                              <a:spcPts val="0"/>
                            </a:spcAft>
                            <a:buFont typeface="Courier New"/>
                            <a:buChar char="o"/>
                          </a:pPr>
                          <a:r>
                            <a:rPr lang="en-US" sz="1800" b="0" i="0" spc="-30" baseline="0" dirty="0">
                              <a:effectLst/>
                              <a:latin typeface="Verdana"/>
                              <a:ea typeface="Verdana"/>
                              <a:cs typeface="Verdana"/>
                            </a:rPr>
                            <a:t>How many </a:t>
                          </a:r>
                          <a:r>
                            <a:rPr lang="en-US" sz="1800" b="0" i="0" spc="-30" baseline="0" dirty="0" err="1">
                              <a:effectLst/>
                              <a:latin typeface="Verdana"/>
                              <a:ea typeface="Verdana"/>
                              <a:cs typeface="Verdana"/>
                            </a:rPr>
                            <a:t>Snapchat</a:t>
                          </a:r>
                          <a:r>
                            <a:rPr lang="en-US" sz="1800" b="0" i="0" spc="-30" baseline="0" dirty="0">
                              <a:effectLst/>
                              <a:latin typeface="Verdana"/>
                              <a:ea typeface="Verdana"/>
                              <a:cs typeface="Verdana"/>
                            </a:rPr>
                            <a:t> users were between the ages of </a:t>
                          </a:r>
                          <a14:m>
                            <m:oMath xmlns:m="http://schemas.openxmlformats.org/officeDocument/2006/math">
                              <m:r>
                                <a:rPr lang="en-US" sz="1800" b="0" i="1" spc="-30" baseline="0">
                                  <a:effectLst/>
                                  <a:latin typeface="Cambria Math"/>
                                  <a:ea typeface="Verdana"/>
                                  <a:cs typeface="Verdana"/>
                                </a:rPr>
                                <m:t>18</m:t>
                              </m:r>
                            </m:oMath>
                          </a14:m>
                          <a:r>
                            <a:rPr lang="en-US" sz="1800" b="0" i="0" spc="-30" baseline="0" dirty="0">
                              <a:effectLst/>
                              <a:latin typeface="Verdana"/>
                              <a:ea typeface="Verdana"/>
                              <a:cs typeface="Verdana"/>
                            </a:rPr>
                            <a:t> and </a:t>
                          </a:r>
                          <a14:m>
                            <m:oMath xmlns:m="http://schemas.openxmlformats.org/officeDocument/2006/math">
                              <m:r>
                                <a:rPr lang="en-US" sz="1800" b="0" i="1" spc="-30" baseline="0">
                                  <a:effectLst/>
                                  <a:latin typeface="Cambria Math"/>
                                  <a:ea typeface="Verdana"/>
                                  <a:cs typeface="Verdana"/>
                                </a:rPr>
                                <m:t>34</m:t>
                              </m:r>
                            </m:oMath>
                          </a14:m>
                          <a:r>
                            <a:rPr lang="en-US" sz="1800" b="0" i="0" spc="-30" baseline="0" dirty="0">
                              <a:effectLst/>
                              <a:latin typeface="Verdana"/>
                              <a:ea typeface="Verdana"/>
                              <a:cs typeface="Verdana"/>
                            </a:rPr>
                            <a:t>?</a:t>
                          </a:r>
                          <a:endParaRPr lang="en-PH" sz="1800" b="0" i="1" spc="-30" baseline="0" dirty="0">
                            <a:effectLst/>
                            <a:latin typeface="Cambria Math"/>
                            <a:ea typeface="Cambria Math"/>
                            <a:cs typeface="Cambria Math"/>
                          </a:endParaRPr>
                        </a:p>
                        <a:p>
                          <a:pPr marL="273050" lvl="0" indent="-273050">
                            <a:lnSpc>
                              <a:spcPct val="107000"/>
                            </a:lnSpc>
                            <a:spcAft>
                              <a:spcPts val="0"/>
                            </a:spcAft>
                            <a:buFont typeface="Courier New"/>
                            <a:buChar char="o"/>
                          </a:pPr>
                          <a:r>
                            <a:rPr lang="en-US" sz="1800" b="0" i="0" dirty="0">
                              <a:effectLst/>
                              <a:latin typeface="Verdana"/>
                              <a:ea typeface="Verdana"/>
                              <a:cs typeface="Verdana"/>
                            </a:rPr>
                            <a:t>What was the difference between the number of </a:t>
                          </a:r>
                          <a:r>
                            <a:rPr lang="en-US" sz="1800" b="0" i="0" dirty="0" err="1">
                              <a:effectLst/>
                              <a:latin typeface="Verdana"/>
                              <a:ea typeface="Verdana"/>
                              <a:cs typeface="Verdana"/>
                            </a:rPr>
                            <a:t>Snapchat</a:t>
                          </a:r>
                          <a:r>
                            <a:rPr lang="en-US" sz="1800" b="0" i="0" dirty="0">
                              <a:effectLst/>
                              <a:latin typeface="Verdana"/>
                              <a:ea typeface="Verdana"/>
                              <a:cs typeface="Verdana"/>
                            </a:rPr>
                            <a:t> users in the 18-24 and the 25-34 age range?</a:t>
                          </a:r>
                          <a:endParaRPr lang="en-PH" sz="1800" b="0" i="1" dirty="0">
                            <a:effectLst/>
                            <a:latin typeface="Cambria Math"/>
                            <a:ea typeface="Cambria Math"/>
                            <a:cs typeface="Cambria Math"/>
                          </a:endParaRPr>
                        </a:p>
                        <a:p>
                          <a:pPr marL="273050" lvl="0" indent="-273050">
                            <a:lnSpc>
                              <a:spcPct val="107000"/>
                            </a:lnSpc>
                            <a:spcAft>
                              <a:spcPts val="0"/>
                            </a:spcAft>
                            <a:buFont typeface="Courier New"/>
                            <a:buChar char="o"/>
                          </a:pPr>
                          <a:r>
                            <a:rPr lang="en-US" sz="1800" b="0" i="0" dirty="0">
                              <a:effectLst/>
                              <a:latin typeface="Verdana"/>
                              <a:ea typeface="Verdana"/>
                              <a:cs typeface="Verdana"/>
                            </a:rPr>
                            <a:t>How many </a:t>
                          </a:r>
                          <a:r>
                            <a:rPr lang="en-US" sz="1800" b="0" i="0" dirty="0" err="1">
                              <a:effectLst/>
                              <a:latin typeface="Verdana"/>
                              <a:ea typeface="Verdana"/>
                              <a:cs typeface="Verdana"/>
                            </a:rPr>
                            <a:t>Snapchat</a:t>
                          </a:r>
                          <a:r>
                            <a:rPr lang="en-US" sz="1800" b="0" i="0" dirty="0">
                              <a:effectLst/>
                              <a:latin typeface="Verdana"/>
                              <a:ea typeface="Verdana"/>
                              <a:cs typeface="Verdana"/>
                            </a:rPr>
                            <a:t> users were younger than </a:t>
                          </a:r>
                          <a14:m>
                            <m:oMath xmlns:m="http://schemas.openxmlformats.org/officeDocument/2006/math">
                              <m:r>
                                <a:rPr lang="en-US" sz="1800" b="0" i="1">
                                  <a:effectLst/>
                                  <a:latin typeface="Cambria Math"/>
                                  <a:ea typeface="Verdana"/>
                                  <a:cs typeface="Verdana"/>
                                </a:rPr>
                                <m:t>18</m:t>
                              </m:r>
                            </m:oMath>
                          </a14:m>
                          <a:r>
                            <a:rPr lang="en-US" sz="1800" b="0" i="0" dirty="0">
                              <a:effectLst/>
                              <a:latin typeface="Verdana"/>
                              <a:ea typeface="Verdana"/>
                              <a:cs typeface="Verdana"/>
                            </a:rPr>
                            <a:t>?</a:t>
                          </a:r>
                          <a:endParaRPr lang="en-PH" sz="1800" b="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4400" b="0" i="1">
                                    <a:effectLst/>
                                    <a:latin typeface="Cambria Math"/>
                                    <a:ea typeface="Verdana"/>
                                    <a:cs typeface="Verdana"/>
                                  </a:rPr>
                                  <m:t>+</m:t>
                                </m:r>
                              </m:oMath>
                            </m:oMathPara>
                          </a14:m>
                          <a:endParaRPr lang="en-PH" sz="4400" b="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2081075">
                    <a:tc>
                      <a:txBody>
                        <a:bodyPr/>
                        <a:lstStyle/>
                        <a:p>
                          <a:pPr>
                            <a:lnSpc>
                              <a:spcPct val="107000"/>
                            </a:lnSpc>
                            <a:spcAft>
                              <a:spcPts val="0"/>
                            </a:spcAft>
                          </a:pPr>
                          <a:r>
                            <a:rPr lang="en-US" sz="1800" i="0" dirty="0">
                              <a:effectLst/>
                              <a:latin typeface="Verdana"/>
                              <a:ea typeface="Verdana"/>
                              <a:cs typeface="Verdana"/>
                            </a:rPr>
                            <a:t>In 2004, each person in the United States consumed </a:t>
                          </a:r>
                          <a14:m>
                            <m:oMath xmlns:m="http://schemas.openxmlformats.org/officeDocument/2006/math">
                              <m:r>
                                <a:rPr lang="en-US" sz="1800" i="1">
                                  <a:effectLst/>
                                  <a:latin typeface="Cambria Math"/>
                                  <a:ea typeface="Verdana"/>
                                  <a:cs typeface="Verdana"/>
                                </a:rPr>
                                <m:t>61.5</m:t>
                              </m:r>
                            </m:oMath>
                          </a14:m>
                          <a:r>
                            <a:rPr lang="en-US" sz="1800" i="0" dirty="0">
                              <a:effectLst/>
                              <a:latin typeface="Verdana"/>
                              <a:ea typeface="Verdana"/>
                              <a:cs typeface="Verdana"/>
                            </a:rPr>
                            <a:t> pounds of refined sugar on average. In 2008, the average consumed per person was </a:t>
                          </a:r>
                          <a14:m>
                            <m:oMath xmlns:m="http://schemas.openxmlformats.org/officeDocument/2006/math">
                              <m:r>
                                <a:rPr lang="en-US" sz="1800" i="1">
                                  <a:effectLst/>
                                  <a:latin typeface="Cambria Math"/>
                                  <a:ea typeface="Verdana"/>
                                  <a:cs typeface="Verdana"/>
                                </a:rPr>
                                <m:t>66.3</m:t>
                              </m:r>
                            </m:oMath>
                          </a14:m>
                          <a:r>
                            <a:rPr lang="en-US" sz="1800" i="0" dirty="0">
                              <a:effectLst/>
                              <a:latin typeface="Verdana"/>
                              <a:ea typeface="Verdana"/>
                              <a:cs typeface="Verdana"/>
                            </a:rPr>
                            <a:t> pounds of refined sugar.</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0" lvl="0" indent="-273050">
                            <a:lnSpc>
                              <a:spcPct val="107000"/>
                            </a:lnSpc>
                            <a:spcAft>
                              <a:spcPts val="0"/>
                            </a:spcAft>
                            <a:buFont typeface="Courier New"/>
                            <a:buChar char="o"/>
                          </a:pPr>
                          <a:r>
                            <a:rPr lang="en-US" sz="1800" i="0" dirty="0">
                              <a:effectLst/>
                              <a:latin typeface="Verdana"/>
                              <a:ea typeface="Verdana"/>
                              <a:cs typeface="Verdana"/>
                            </a:rPr>
                            <a:t>What is the total amount of sugar the average person consumed in 2004 and 2008?</a:t>
                          </a:r>
                          <a:endParaRPr lang="en-PH" sz="1800" i="1" dirty="0">
                            <a:effectLst/>
                            <a:latin typeface="Cambria Math"/>
                            <a:ea typeface="Cambria Math"/>
                            <a:cs typeface="Cambria Math"/>
                          </a:endParaRPr>
                        </a:p>
                        <a:p>
                          <a:pPr marL="273050" lvl="0" indent="-273050">
                            <a:lnSpc>
                              <a:spcPct val="107000"/>
                            </a:lnSpc>
                            <a:spcAft>
                              <a:spcPts val="0"/>
                            </a:spcAft>
                            <a:buFont typeface="Courier New"/>
                            <a:buChar char="o"/>
                          </a:pPr>
                          <a:r>
                            <a:rPr lang="en-US" sz="1800" i="0" dirty="0">
                              <a:effectLst/>
                              <a:latin typeface="Verdana"/>
                              <a:ea typeface="Verdana"/>
                              <a:cs typeface="Verdana"/>
                            </a:rPr>
                            <a:t>What was the average yearly increase in sugar consumption from 2004 to 2008?</a:t>
                          </a:r>
                          <a:endParaRPr lang="en-PH" sz="1800" i="1" dirty="0">
                            <a:effectLst/>
                            <a:latin typeface="Cambria Math"/>
                            <a:ea typeface="Cambria Math"/>
                            <a:cs typeface="Cambria Math"/>
                          </a:endParaRPr>
                        </a:p>
                        <a:p>
                          <a:pPr marL="273050" lvl="0" indent="-273050">
                            <a:lnSpc>
                              <a:spcPct val="107000"/>
                            </a:lnSpc>
                            <a:spcAft>
                              <a:spcPts val="0"/>
                            </a:spcAft>
                            <a:buFont typeface="Courier New"/>
                            <a:buChar char="o"/>
                          </a:pPr>
                          <a:r>
                            <a:rPr lang="en-US" sz="1800" i="0" dirty="0">
                              <a:effectLst/>
                              <a:latin typeface="Verdana"/>
                              <a:ea typeface="Verdana"/>
                              <a:cs typeface="Verdana"/>
                            </a:rPr>
                            <a:t>What is the difference between the amount of sugar consumed in 2004 and 2008?</a:t>
                          </a:r>
                          <a:endParaRPr lang="en-PH" sz="18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4400" b="1" i="1">
                                    <a:effectLst/>
                                    <a:latin typeface="Cambria Math"/>
                                    <a:ea typeface="Verdana"/>
                                    <a:cs typeface="Verdana"/>
                                  </a:rPr>
                                  <m:t>−</m:t>
                                </m:r>
                              </m:oMath>
                            </m:oMathPara>
                          </a14:m>
                          <a:endParaRPr lang="en-PH" sz="44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76467379"/>
                  </p:ext>
                </p:extLst>
              </p:nvPr>
            </p:nvGraphicFramePr>
            <p:xfrm>
              <a:off x="2373367" y="207606"/>
              <a:ext cx="8100000" cy="5805043"/>
            </p:xfrm>
            <a:graphic>
              <a:graphicData uri="http://schemas.openxmlformats.org/drawingml/2006/table">
                <a:tbl>
                  <a:tblPr firstRow="1" firstCol="1" bandRow="1"/>
                  <a:tblGrid>
                    <a:gridCol w="2628000">
                      <a:extLst>
                        <a:ext uri="{9D8B030D-6E8A-4147-A177-3AD203B41FA5}">
                          <a16:colId xmlns:a16="http://schemas.microsoft.com/office/drawing/2014/main" val="20000"/>
                        </a:ext>
                      </a:extLst>
                    </a:gridCol>
                    <a:gridCol w="399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663194">
                    <a:tc>
                      <a:txBody>
                        <a:bodyPr/>
                        <a:lstStyle/>
                        <a:p>
                          <a:pPr algn="ctr">
                            <a:lnSpc>
                              <a:spcPct val="107000"/>
                            </a:lnSpc>
                            <a:spcAft>
                              <a:spcPts val="0"/>
                            </a:spcAft>
                          </a:pPr>
                          <a:r>
                            <a:rPr lang="en-US" sz="1800" b="1" i="0" dirty="0">
                              <a:effectLst/>
                              <a:latin typeface="Verdana"/>
                              <a:ea typeface="Verdana"/>
                              <a:cs typeface="Verdana"/>
                            </a:rPr>
                            <a:t>Real-World </a:t>
                          </a:r>
                          <a:br>
                            <a:rPr lang="en-US" sz="1800" b="1" i="0" dirty="0">
                              <a:effectLst/>
                              <a:latin typeface="Verdana"/>
                              <a:ea typeface="Verdana"/>
                              <a:cs typeface="Verdana"/>
                            </a:rPr>
                          </a:br>
                          <a:r>
                            <a:rPr lang="en-US" sz="1800" b="1" i="0" dirty="0">
                              <a:effectLst/>
                              <a:latin typeface="Verdana"/>
                              <a:ea typeface="Verdana"/>
                              <a:cs typeface="Verdana"/>
                            </a:rPr>
                            <a:t>Context</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a:effectLst/>
                              <a:latin typeface="Verdana"/>
                              <a:ea typeface="Verdana"/>
                              <a:cs typeface="Verdana"/>
                            </a:rPr>
                            <a:t>Which Question?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a:effectLst/>
                              <a:latin typeface="Verdana"/>
                              <a:ea typeface="Verdana"/>
                              <a:cs typeface="Verdana"/>
                            </a:rPr>
                            <a:t>Operation</a:t>
                          </a:r>
                          <a:endParaRPr lang="en-PH" sz="1800" i="1" dirty="0">
                            <a:effectLst/>
                            <a:latin typeface="Cambria Math"/>
                            <a:ea typeface="Cambria Math"/>
                            <a:cs typeface="Cambria Math"/>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424176">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28646" r="-209662" b="-115104"/>
                          </a:stretch>
                        </a:blipFill>
                      </a:tcPr>
                    </a:tc>
                    <a:tc>
                      <a:txBody>
                        <a:bodyPr/>
                        <a:lstStyle/>
                        <a:p>
                          <a:endParaRPr lang="en-US"/>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5506" t="-28646" r="-37342" b="-115104"/>
                          </a:stretch>
                        </a:blipFill>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50862" t="-28646" r="-1724" b="-115104"/>
                          </a:stretch>
                        </a:blipFill>
                      </a:tcPr>
                    </a:tc>
                    <a:extLst>
                      <a:ext uri="{0D108BD9-81ED-4DB2-BD59-A6C34878D82A}">
                        <a16:rowId xmlns:a16="http://schemas.microsoft.com/office/drawing/2014/main" val="10001"/>
                      </a:ext>
                    </a:extLst>
                  </a:tr>
                  <a:tr h="2717673">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115421" r="-209662" b="-3271"/>
                          </a:stretch>
                        </a:blipFill>
                      </a:tcPr>
                    </a:tc>
                    <a:tc>
                      <a:txBody>
                        <a:bodyPr/>
                        <a:lstStyle/>
                        <a:p>
                          <a:pPr marL="273050" lvl="0" indent="-273050">
                            <a:lnSpc>
                              <a:spcPct val="107000"/>
                            </a:lnSpc>
                            <a:spcAft>
                              <a:spcPts val="0"/>
                            </a:spcAft>
                            <a:buFont typeface="Courier New"/>
                            <a:buChar char="o"/>
                          </a:pPr>
                          <a:r>
                            <a:rPr lang="en-US" sz="1800" i="0" dirty="0">
                              <a:effectLst/>
                              <a:latin typeface="Verdana"/>
                              <a:ea typeface="Verdana"/>
                              <a:cs typeface="Verdana"/>
                            </a:rPr>
                            <a:t>What is the total amount of sugar the average person consumed in 2004 and 2008?</a:t>
                          </a:r>
                          <a:endParaRPr lang="en-PH" sz="1800" i="1" dirty="0">
                            <a:effectLst/>
                            <a:latin typeface="Cambria Math"/>
                            <a:ea typeface="Cambria Math"/>
                            <a:cs typeface="Cambria Math"/>
                          </a:endParaRPr>
                        </a:p>
                        <a:p>
                          <a:pPr marL="273050" lvl="0" indent="-273050">
                            <a:lnSpc>
                              <a:spcPct val="107000"/>
                            </a:lnSpc>
                            <a:spcAft>
                              <a:spcPts val="0"/>
                            </a:spcAft>
                            <a:buFont typeface="Courier New"/>
                            <a:buChar char="o"/>
                          </a:pPr>
                          <a:r>
                            <a:rPr lang="en-US" sz="1800" i="0" dirty="0">
                              <a:effectLst/>
                              <a:latin typeface="Verdana"/>
                              <a:ea typeface="Verdana"/>
                              <a:cs typeface="Verdana"/>
                            </a:rPr>
                            <a:t>What was the average yearly increase in sugar consumption from 2004 to 2008?</a:t>
                          </a:r>
                          <a:endParaRPr lang="en-PH" sz="1800" i="1" dirty="0">
                            <a:effectLst/>
                            <a:latin typeface="Cambria Math"/>
                            <a:ea typeface="Cambria Math"/>
                            <a:cs typeface="Cambria Math"/>
                          </a:endParaRPr>
                        </a:p>
                        <a:p>
                          <a:pPr marL="273050" lvl="0" indent="-273050">
                            <a:lnSpc>
                              <a:spcPct val="107000"/>
                            </a:lnSpc>
                            <a:spcAft>
                              <a:spcPts val="0"/>
                            </a:spcAft>
                            <a:buFont typeface="Courier New"/>
                            <a:buChar char="o"/>
                          </a:pPr>
                          <a:r>
                            <a:rPr lang="en-US" sz="1800" i="0" dirty="0">
                              <a:effectLst/>
                              <a:latin typeface="Verdana"/>
                              <a:ea typeface="Verdana"/>
                              <a:cs typeface="Verdana"/>
                            </a:rPr>
                            <a:t>What is the difference between the amount of sugar consumed in 2004 and 2008?</a:t>
                          </a:r>
                          <a:endParaRPr lang="en-PH" sz="18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50862" t="-115421" r="-1724" b="-3271"/>
                          </a:stretch>
                        </a:blipFill>
                      </a:tcPr>
                    </a:tc>
                    <a:extLst>
                      <a:ext uri="{0D108BD9-81ED-4DB2-BD59-A6C34878D82A}">
                        <a16:rowId xmlns:a16="http://schemas.microsoft.com/office/drawing/2014/main" val="10002"/>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110</a:t>
            </a:r>
            <a:endParaRPr i="1" dirty="0">
              <a:latin typeface="Calibri"/>
              <a:ea typeface="Calibri"/>
              <a:cs typeface="Calibri"/>
              <a:sym typeface="Calibri"/>
            </a:endParaRPr>
          </a:p>
        </p:txBody>
      </p:sp>
    </p:spTree>
    <p:extLst>
      <p:ext uri="{BB962C8B-B14F-4D97-AF65-F5344CB8AC3E}">
        <p14:creationId xmlns:p14="http://schemas.microsoft.com/office/powerpoint/2010/main" val="1918385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 xmlns:a16="http://schemas.microsoft.com/office/drawing/2014/main" id="{2152CD2B-A4D4-A94A-8235-80385DFE97AA}"/>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142670134"/>
                  </p:ext>
                </p:extLst>
              </p:nvPr>
            </p:nvGraphicFramePr>
            <p:xfrm>
              <a:off x="2234901" y="673951"/>
              <a:ext cx="8100000" cy="4748784"/>
            </p:xfrm>
            <a:graphic>
              <a:graphicData uri="http://schemas.openxmlformats.org/drawingml/2006/table">
                <a:tbl>
                  <a:tblPr firstRow="1" firstCol="1" bandRow="1"/>
                  <a:tblGrid>
                    <a:gridCol w="2628000">
                      <a:extLst>
                        <a:ext uri="{9D8B030D-6E8A-4147-A177-3AD203B41FA5}">
                          <a16:colId xmlns="" xmlns:a16="http://schemas.microsoft.com/office/drawing/2014/main" val="20000"/>
                        </a:ext>
                      </a:extLst>
                    </a:gridCol>
                    <a:gridCol w="3996000">
                      <a:extLst>
                        <a:ext uri="{9D8B030D-6E8A-4147-A177-3AD203B41FA5}">
                          <a16:colId xmlns="" xmlns:a16="http://schemas.microsoft.com/office/drawing/2014/main" val="20001"/>
                        </a:ext>
                      </a:extLst>
                    </a:gridCol>
                    <a:gridCol w="1476000">
                      <a:extLst>
                        <a:ext uri="{9D8B030D-6E8A-4147-A177-3AD203B41FA5}">
                          <a16:colId xmlns="" xmlns:a16="http://schemas.microsoft.com/office/drawing/2014/main" val="20002"/>
                        </a:ext>
                      </a:extLst>
                    </a:gridCol>
                  </a:tblGrid>
                  <a:tr h="540000">
                    <a:tc>
                      <a:txBody>
                        <a:bodyPr/>
                        <a:lstStyle/>
                        <a:p>
                          <a:pPr algn="ctr">
                            <a:lnSpc>
                              <a:spcPct val="107000"/>
                            </a:lnSpc>
                            <a:spcAft>
                              <a:spcPts val="0"/>
                            </a:spcAft>
                          </a:pPr>
                          <a:r>
                            <a:rPr lang="en-US" sz="2000" b="1" i="0" dirty="0">
                              <a:effectLst/>
                              <a:latin typeface="Verdana"/>
                              <a:ea typeface="Verdana"/>
                              <a:cs typeface="Verdana"/>
                            </a:rPr>
                            <a:t>Real-World </a:t>
                          </a:r>
                          <a:br>
                            <a:rPr lang="en-US" sz="2000" b="1" i="0" dirty="0">
                              <a:effectLst/>
                              <a:latin typeface="Verdana"/>
                              <a:ea typeface="Verdana"/>
                              <a:cs typeface="Verdana"/>
                            </a:rPr>
                          </a:br>
                          <a:r>
                            <a:rPr lang="en-US" sz="2000" b="1" i="0" dirty="0">
                              <a:effectLst/>
                              <a:latin typeface="Verdana"/>
                              <a:ea typeface="Verdana"/>
                              <a:cs typeface="Verdana"/>
                            </a:rPr>
                            <a:t>Context</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a:ea typeface="Verdana"/>
                              <a:cs typeface="Verdana"/>
                            </a:rPr>
                            <a:t>Which Question?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a:ea typeface="Verdana"/>
                              <a:cs typeface="Verdana"/>
                            </a:rPr>
                            <a:t>Operation</a:t>
                          </a:r>
                          <a:endParaRPr lang="en-PH" sz="2000" i="1" dirty="0">
                            <a:effectLst/>
                            <a:latin typeface="Cambria Math"/>
                            <a:ea typeface="Cambria Math"/>
                            <a:cs typeface="Cambria Math"/>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2081075">
                    <a:tc>
                      <a:txBody>
                        <a:bodyPr/>
                        <a:lstStyle/>
                        <a:p>
                          <a:pPr>
                            <a:lnSpc>
                              <a:spcPct val="107000"/>
                            </a:lnSpc>
                            <a:spcAft>
                              <a:spcPts val="0"/>
                            </a:spcAft>
                          </a:pPr>
                          <a:r>
                            <a:rPr lang="en-US" sz="2000" i="0" dirty="0">
                              <a:effectLst/>
                              <a:latin typeface="Verdana"/>
                              <a:ea typeface="Verdana"/>
                              <a:cs typeface="Verdana"/>
                            </a:rPr>
                            <a:t>Barbara sent letters that exceeded the allowed weight by the U.S. Postal Service. To mail the letters she had to add a </a:t>
                          </a:r>
                          <a14:m>
                            <m:oMath xmlns:m="http://schemas.openxmlformats.org/officeDocument/2006/math">
                              <m:r>
                                <a:rPr lang="en-US" sz="2000" i="1">
                                  <a:effectLst/>
                                  <a:latin typeface="Cambria Math"/>
                                  <a:ea typeface="Verdana"/>
                                  <a:cs typeface="Verdana"/>
                                </a:rPr>
                                <m:t>$0.15</m:t>
                              </m:r>
                            </m:oMath>
                          </a14:m>
                          <a:r>
                            <a:rPr lang="en-US" sz="2000" i="0" dirty="0">
                              <a:effectLst/>
                              <a:latin typeface="Verdana"/>
                              <a:ea typeface="Verdana"/>
                              <a:cs typeface="Verdana"/>
                            </a:rPr>
                            <a:t> stamp to each letter. She spent </a:t>
                          </a:r>
                          <a14:m>
                            <m:oMath xmlns:m="http://schemas.openxmlformats.org/officeDocument/2006/math">
                              <m:r>
                                <a:rPr lang="en-US" sz="2000" i="1">
                                  <a:effectLst/>
                                  <a:latin typeface="Cambria Math"/>
                                  <a:ea typeface="Verdana"/>
                                  <a:cs typeface="Verdana"/>
                                </a:rPr>
                                <m:t>$2.55</m:t>
                              </m:r>
                            </m:oMath>
                          </a14:m>
                          <a:r>
                            <a:rPr lang="en-US" sz="2000" i="0" dirty="0">
                              <a:effectLst/>
                              <a:latin typeface="Verdana"/>
                              <a:ea typeface="Verdana"/>
                              <a:cs typeface="Verdana"/>
                            </a:rPr>
                            <a:t> in additional weight charges.</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0" lvl="0" indent="-273050">
                            <a:lnSpc>
                              <a:spcPct val="107000"/>
                            </a:lnSpc>
                            <a:spcAft>
                              <a:spcPts val="0"/>
                            </a:spcAft>
                            <a:buFont typeface="Courier New"/>
                            <a:buChar char="o"/>
                          </a:pPr>
                          <a:r>
                            <a:rPr lang="en-US" sz="2000" i="0" dirty="0">
                              <a:effectLst/>
                              <a:latin typeface="Verdana"/>
                              <a:ea typeface="Verdana"/>
                              <a:cs typeface="Verdana"/>
                            </a:rPr>
                            <a:t>What was the total cost of sending the letters?</a:t>
                          </a:r>
                          <a:endParaRPr lang="en-PH" sz="2000" i="1" dirty="0">
                            <a:effectLst/>
                            <a:latin typeface="Cambria Math"/>
                            <a:ea typeface="Cambria Math"/>
                            <a:cs typeface="Cambria Math"/>
                          </a:endParaRPr>
                        </a:p>
                        <a:p>
                          <a:pPr marL="273050" lvl="0" indent="-273050">
                            <a:lnSpc>
                              <a:spcPct val="107000"/>
                            </a:lnSpc>
                            <a:spcAft>
                              <a:spcPts val="0"/>
                            </a:spcAft>
                            <a:buFont typeface="Courier New"/>
                            <a:buChar char="o"/>
                          </a:pPr>
                          <a:r>
                            <a:rPr lang="en-US" sz="2000" i="0" dirty="0">
                              <a:effectLst/>
                              <a:latin typeface="Verdana"/>
                              <a:ea typeface="Verdana"/>
                              <a:cs typeface="Verdana"/>
                            </a:rPr>
                            <a:t>For how many letters did Barbara pay the additional weight charge?</a:t>
                          </a:r>
                          <a:endParaRPr lang="en-PH" sz="2000" i="1" dirty="0">
                            <a:effectLst/>
                            <a:latin typeface="Cambria Math"/>
                            <a:ea typeface="Cambria Math"/>
                            <a:cs typeface="Cambria Math"/>
                          </a:endParaRPr>
                        </a:p>
                        <a:p>
                          <a:pPr marL="273050" lvl="0" indent="-273050">
                            <a:lnSpc>
                              <a:spcPct val="107000"/>
                            </a:lnSpc>
                            <a:spcAft>
                              <a:spcPts val="0"/>
                            </a:spcAft>
                            <a:buFont typeface="Courier New"/>
                            <a:buChar char="o"/>
                          </a:pPr>
                          <a:r>
                            <a:rPr lang="en-US" sz="2000" i="0" dirty="0">
                              <a:effectLst/>
                              <a:latin typeface="Verdana"/>
                              <a:ea typeface="Verdana"/>
                              <a:cs typeface="Verdana"/>
                            </a:rPr>
                            <a:t>What is the difference between the cost of sending a regular letter and one that exceeds the weight allowed?</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4800" b="1" i="1">
                                    <a:effectLst/>
                                    <a:latin typeface="Cambria Math"/>
                                    <a:ea typeface="Verdana"/>
                                    <a:cs typeface="Verdana"/>
                                  </a:rPr>
                                  <m:t>÷</m:t>
                                </m:r>
                              </m:oMath>
                            </m:oMathPara>
                          </a14:m>
                          <a:endParaRPr lang="en-PH" sz="4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142670134"/>
                  </p:ext>
                </p:extLst>
              </p:nvPr>
            </p:nvGraphicFramePr>
            <p:xfrm>
              <a:off x="2234901" y="673951"/>
              <a:ext cx="8100000" cy="4714876"/>
            </p:xfrm>
            <a:graphic>
              <a:graphicData uri="http://schemas.openxmlformats.org/drawingml/2006/table">
                <a:tbl>
                  <a:tblPr firstRow="1" firstCol="1" bandRow="1"/>
                  <a:tblGrid>
                    <a:gridCol w="2628000">
                      <a:extLst>
                        <a:ext uri="{9D8B030D-6E8A-4147-A177-3AD203B41FA5}">
                          <a16:colId xmlns:a16="http://schemas.microsoft.com/office/drawing/2014/main" val="20000"/>
                        </a:ext>
                      </a:extLst>
                    </a:gridCol>
                    <a:gridCol w="399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726758">
                    <a:tc>
                      <a:txBody>
                        <a:bodyPr/>
                        <a:lstStyle/>
                        <a:p>
                          <a:pPr algn="ctr">
                            <a:lnSpc>
                              <a:spcPct val="107000"/>
                            </a:lnSpc>
                            <a:spcAft>
                              <a:spcPts val="0"/>
                            </a:spcAft>
                          </a:pPr>
                          <a:r>
                            <a:rPr lang="en-US" sz="2000" b="1" i="0" dirty="0">
                              <a:effectLst/>
                              <a:latin typeface="Verdana"/>
                              <a:ea typeface="Verdana"/>
                              <a:cs typeface="Verdana"/>
                            </a:rPr>
                            <a:t>Real-World </a:t>
                          </a:r>
                          <a:br>
                            <a:rPr lang="en-US" sz="2000" b="1" i="0" dirty="0">
                              <a:effectLst/>
                              <a:latin typeface="Verdana"/>
                              <a:ea typeface="Verdana"/>
                              <a:cs typeface="Verdana"/>
                            </a:rPr>
                          </a:br>
                          <a:r>
                            <a:rPr lang="en-US" sz="2000" b="1" i="0" dirty="0">
                              <a:effectLst/>
                              <a:latin typeface="Verdana"/>
                              <a:ea typeface="Verdana"/>
                              <a:cs typeface="Verdana"/>
                            </a:rPr>
                            <a:t>Context</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a:ea typeface="Verdana"/>
                              <a:cs typeface="Verdana"/>
                            </a:rPr>
                            <a:t>Which Question?</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a:ea typeface="Verdana"/>
                              <a:cs typeface="Verdana"/>
                            </a:rPr>
                            <a:t>Operation</a:t>
                          </a:r>
                          <a:endParaRPr lang="en-PH" sz="2000" i="1" dirty="0">
                            <a:effectLst/>
                            <a:latin typeface="Cambria Math"/>
                            <a:ea typeface="Cambria Math"/>
                            <a:cs typeface="Cambria Math"/>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988118">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19365" r="-209662" b="-2540"/>
                          </a:stretch>
                        </a:blipFill>
                      </a:tcPr>
                    </a:tc>
                    <a:tc>
                      <a:txBody>
                        <a:bodyPr/>
                        <a:lstStyle/>
                        <a:p>
                          <a:pPr marL="273050" lvl="0" indent="-273050">
                            <a:lnSpc>
                              <a:spcPct val="107000"/>
                            </a:lnSpc>
                            <a:spcAft>
                              <a:spcPts val="0"/>
                            </a:spcAft>
                            <a:buFont typeface="Courier New"/>
                            <a:buChar char="o"/>
                          </a:pPr>
                          <a:r>
                            <a:rPr lang="en-US" sz="2000" i="0" dirty="0">
                              <a:effectLst/>
                              <a:latin typeface="Verdana"/>
                              <a:ea typeface="Verdana"/>
                              <a:cs typeface="Verdana"/>
                            </a:rPr>
                            <a:t>What was the total cost of sending the letters?</a:t>
                          </a:r>
                          <a:endParaRPr lang="en-PH" sz="2000" i="1" dirty="0">
                            <a:effectLst/>
                            <a:latin typeface="Cambria Math"/>
                            <a:ea typeface="Cambria Math"/>
                            <a:cs typeface="Cambria Math"/>
                          </a:endParaRPr>
                        </a:p>
                        <a:p>
                          <a:pPr marL="273050" lvl="0" indent="-273050">
                            <a:lnSpc>
                              <a:spcPct val="107000"/>
                            </a:lnSpc>
                            <a:spcAft>
                              <a:spcPts val="0"/>
                            </a:spcAft>
                            <a:buFont typeface="Courier New"/>
                            <a:buChar char="o"/>
                          </a:pPr>
                          <a:r>
                            <a:rPr lang="en-US" sz="2000" i="0" dirty="0">
                              <a:effectLst/>
                              <a:latin typeface="Verdana"/>
                              <a:ea typeface="Verdana"/>
                              <a:cs typeface="Verdana"/>
                            </a:rPr>
                            <a:t>For how many letters did Barbara pay the additional weight charge?</a:t>
                          </a:r>
                          <a:endParaRPr lang="en-PH" sz="2000" i="1" dirty="0">
                            <a:effectLst/>
                            <a:latin typeface="Cambria Math"/>
                            <a:ea typeface="Cambria Math"/>
                            <a:cs typeface="Cambria Math"/>
                          </a:endParaRPr>
                        </a:p>
                        <a:p>
                          <a:pPr marL="273050" lvl="0" indent="-273050">
                            <a:lnSpc>
                              <a:spcPct val="107000"/>
                            </a:lnSpc>
                            <a:spcAft>
                              <a:spcPts val="0"/>
                            </a:spcAft>
                            <a:buFont typeface="Courier New"/>
                            <a:buChar char="o"/>
                          </a:pPr>
                          <a:r>
                            <a:rPr lang="en-US" sz="2000" i="0" dirty="0">
                              <a:effectLst/>
                              <a:latin typeface="Verdana"/>
                              <a:ea typeface="Verdana"/>
                              <a:cs typeface="Verdana"/>
                            </a:rPr>
                            <a:t>What is the difference between the cost of sending a regular letter and one that exceeds the weight allowed?</a:t>
                          </a:r>
                          <a:endParaRPr lang="en-PH" sz="20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50862" t="-19365" r="-1724" b="-2540"/>
                          </a:stretch>
                        </a:blipFill>
                      </a:tcPr>
                    </a:tc>
                    <a:extLst>
                      <a:ext uri="{0D108BD9-81ED-4DB2-BD59-A6C34878D82A}">
                        <a16:rowId xmlns:a16="http://schemas.microsoft.com/office/drawing/2014/main" val="10001"/>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110</a:t>
            </a:r>
            <a:endParaRPr i="1" dirty="0">
              <a:latin typeface="Calibri"/>
              <a:ea typeface="Calibri"/>
              <a:cs typeface="Calibri"/>
              <a:sym typeface="Calibri"/>
            </a:endParaRPr>
          </a:p>
        </p:txBody>
      </p:sp>
    </p:spTree>
    <p:extLst>
      <p:ext uri="{BB962C8B-B14F-4D97-AF65-F5344CB8AC3E}">
        <p14:creationId xmlns:p14="http://schemas.microsoft.com/office/powerpoint/2010/main" val="2316870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 xmlns:a16="http://schemas.microsoft.com/office/drawing/2014/main" id="{2152CD2B-A4D4-A94A-8235-80385DFE97AA}"/>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862218803"/>
                  </p:ext>
                </p:extLst>
              </p:nvPr>
            </p:nvGraphicFramePr>
            <p:xfrm>
              <a:off x="2132976" y="1958378"/>
              <a:ext cx="7920000" cy="4089781"/>
            </p:xfrm>
            <a:graphic>
              <a:graphicData uri="http://schemas.openxmlformats.org/drawingml/2006/table">
                <a:tbl>
                  <a:tblPr firstRow="1" firstCol="1" bandRow="1"/>
                  <a:tblGrid>
                    <a:gridCol w="3240000">
                      <a:extLst>
                        <a:ext uri="{9D8B030D-6E8A-4147-A177-3AD203B41FA5}">
                          <a16:colId xmlns="" xmlns:a16="http://schemas.microsoft.com/office/drawing/2014/main" val="20000"/>
                        </a:ext>
                      </a:extLst>
                    </a:gridCol>
                    <a:gridCol w="1800000">
                      <a:extLst>
                        <a:ext uri="{9D8B030D-6E8A-4147-A177-3AD203B41FA5}">
                          <a16:colId xmlns="" xmlns:a16="http://schemas.microsoft.com/office/drawing/2014/main" val="20001"/>
                        </a:ext>
                      </a:extLst>
                    </a:gridCol>
                    <a:gridCol w="2880000">
                      <a:extLst>
                        <a:ext uri="{9D8B030D-6E8A-4147-A177-3AD203B41FA5}">
                          <a16:colId xmlns="" xmlns:a16="http://schemas.microsoft.com/office/drawing/2014/main" val="20002"/>
                        </a:ext>
                      </a:extLst>
                    </a:gridCol>
                  </a:tblGrid>
                  <a:tr h="540000">
                    <a:tc>
                      <a:txBody>
                        <a:bodyPr/>
                        <a:lstStyle/>
                        <a:p>
                          <a:pPr algn="ctr">
                            <a:lnSpc>
                              <a:spcPct val="107000"/>
                            </a:lnSpc>
                            <a:spcAft>
                              <a:spcPts val="0"/>
                            </a:spcAft>
                          </a:pPr>
                          <a:r>
                            <a:rPr lang="en-US" sz="1800" b="1" i="0" dirty="0">
                              <a:effectLst/>
                              <a:latin typeface="Verdana"/>
                              <a:ea typeface="Verdana"/>
                              <a:cs typeface="Verdana"/>
                            </a:rPr>
                            <a:t>Information</a:t>
                          </a:r>
                          <a:endParaRPr lang="en-PH" sz="16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a:effectLst/>
                              <a:latin typeface="Verdana"/>
                              <a:ea typeface="Verdana"/>
                              <a:cs typeface="Verdana"/>
                            </a:rPr>
                            <a:t>Numeric </a:t>
                          </a:r>
                          <a:r>
                            <a:rPr lang="en-US" sz="1800" b="1" i="0" dirty="0" smtClean="0">
                              <a:effectLst/>
                              <a:latin typeface="Verdana"/>
                              <a:ea typeface="Verdana"/>
                              <a:cs typeface="Verdana"/>
                            </a:rPr>
                            <a:t>Expression</a:t>
                          </a:r>
                          <a:endParaRPr lang="en-PH" sz="16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smtClean="0">
                              <a:effectLst/>
                              <a:latin typeface="Verdana"/>
                              <a:ea typeface="Verdana"/>
                              <a:cs typeface="Verdana"/>
                            </a:rPr>
                            <a:t>Show Your Work and Answer with Units</a:t>
                          </a:r>
                          <a:endParaRPr lang="en-PH" sz="16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793827">
                    <a:tc>
                      <a:txBody>
                        <a:bodyPr/>
                        <a:lstStyle/>
                        <a:p>
                          <a:pPr>
                            <a:lnSpc>
                              <a:spcPct val="107000"/>
                            </a:lnSpc>
                            <a:spcAft>
                              <a:spcPts val="0"/>
                            </a:spcAft>
                          </a:pPr>
                          <a:r>
                            <a:rPr lang="en-US" sz="1800" i="0" dirty="0">
                              <a:effectLst/>
                              <a:latin typeface="Verdana"/>
                              <a:ea typeface="Verdana"/>
                              <a:cs typeface="Verdana"/>
                            </a:rPr>
                            <a:t>A Valencia orange tree that is 12 years old can produce </a:t>
                          </a:r>
                          <a14:m>
                            <m:oMath xmlns:m="http://schemas.openxmlformats.org/officeDocument/2006/math">
                              <m:r>
                                <a:rPr lang="en-US" sz="1800" i="1">
                                  <a:effectLst/>
                                  <a:latin typeface="Cambria Math"/>
                                  <a:ea typeface="Verdana"/>
                                  <a:cs typeface="Verdana"/>
                                </a:rPr>
                                <m:t>1.4</m:t>
                              </m:r>
                            </m:oMath>
                          </a14:m>
                          <a:r>
                            <a:rPr lang="en-US" sz="1800" i="0" dirty="0">
                              <a:effectLst/>
                              <a:latin typeface="Verdana"/>
                              <a:ea typeface="Verdana"/>
                              <a:cs typeface="Verdana"/>
                            </a:rPr>
                            <a:t> boxes of oranges. In May 2017, a box of fresh Valencia oranges cost </a:t>
                          </a:r>
                          <a14:m>
                            <m:oMath xmlns:m="http://schemas.openxmlformats.org/officeDocument/2006/math">
                              <m:r>
                                <a:rPr lang="en-US" sz="1800" i="1">
                                  <a:effectLst/>
                                  <a:latin typeface="Cambria Math"/>
                                  <a:ea typeface="Verdana"/>
                                  <a:cs typeface="Verdana"/>
                                </a:rPr>
                                <m:t>$20.45</m:t>
                              </m:r>
                            </m:oMath>
                          </a14:m>
                          <a:r>
                            <a:rPr lang="en-US" sz="1800" i="0" dirty="0">
                              <a:effectLst/>
                              <a:latin typeface="Verdana"/>
                              <a:ea typeface="Verdana"/>
                              <a:cs typeface="Verdana"/>
                            </a:rPr>
                            <a:t>.</a:t>
                          </a:r>
                          <a:endParaRPr lang="en-PH" sz="16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dirty="0">
                              <a:effectLst/>
                              <a:latin typeface="Verdana"/>
                              <a:ea typeface="Verdana"/>
                              <a:cs typeface="Verdana"/>
                            </a:rPr>
                            <a:t> </a:t>
                          </a:r>
                          <a:endParaRPr lang="en-PH" sz="16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dirty="0">
                              <a:effectLst/>
                              <a:latin typeface="Verdana"/>
                              <a:ea typeface="Verdana"/>
                              <a:cs typeface="Verdana"/>
                            </a:rPr>
                            <a:t> </a:t>
                          </a:r>
                          <a:endParaRPr lang="en-PH" sz="16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792430">
                    <a:tc>
                      <a:txBody>
                        <a:bodyPr/>
                        <a:lstStyle/>
                        <a:p>
                          <a:pPr>
                            <a:lnSpc>
                              <a:spcPct val="107000"/>
                            </a:lnSpc>
                            <a:spcAft>
                              <a:spcPts val="0"/>
                            </a:spcAft>
                          </a:pPr>
                          <a:r>
                            <a:rPr lang="en-US" sz="1800" i="0" dirty="0">
                              <a:effectLst/>
                              <a:latin typeface="Verdana"/>
                              <a:ea typeface="Verdana"/>
                              <a:cs typeface="Verdana"/>
                            </a:rPr>
                            <a:t>In 2016, there were </a:t>
                          </a:r>
                          <a14:m>
                            <m:oMath xmlns:m="http://schemas.openxmlformats.org/officeDocument/2006/math">
                              <m:r>
                                <a:rPr lang="en-US" sz="1800" i="1">
                                  <a:effectLst/>
                                  <a:latin typeface="Cambria Math"/>
                                  <a:ea typeface="Verdana"/>
                                  <a:cs typeface="Verdana"/>
                                </a:rPr>
                                <m:t>19.3</m:t>
                              </m:r>
                            </m:oMath>
                          </a14:m>
                          <a:r>
                            <a:rPr lang="en-US" sz="1800" i="0" dirty="0">
                              <a:effectLst/>
                              <a:latin typeface="Verdana"/>
                              <a:ea typeface="Verdana"/>
                              <a:cs typeface="Verdana"/>
                            </a:rPr>
                            <a:t> million </a:t>
                          </a:r>
                          <a:r>
                            <a:rPr lang="en-US" sz="1800" i="0" dirty="0" err="1">
                              <a:effectLst/>
                              <a:latin typeface="Verdana"/>
                              <a:ea typeface="Verdana"/>
                              <a:cs typeface="Verdana"/>
                            </a:rPr>
                            <a:t>Snapchat</a:t>
                          </a:r>
                          <a:r>
                            <a:rPr lang="en-US" sz="1800" i="0" dirty="0">
                              <a:effectLst/>
                              <a:latin typeface="Verdana"/>
                              <a:ea typeface="Verdana"/>
                              <a:cs typeface="Verdana"/>
                            </a:rPr>
                            <a:t> users in the age range of 18-24, and </a:t>
                          </a:r>
                          <a14:m>
                            <m:oMath xmlns:m="http://schemas.openxmlformats.org/officeDocument/2006/math">
                              <m:r>
                                <a:rPr lang="en-US" sz="1800" i="1">
                                  <a:effectLst/>
                                  <a:latin typeface="Cambria Math"/>
                                  <a:ea typeface="Verdana"/>
                                  <a:cs typeface="Verdana"/>
                                </a:rPr>
                                <m:t>16.7</m:t>
                              </m:r>
                            </m:oMath>
                          </a14:m>
                          <a:r>
                            <a:rPr lang="en-US" sz="1800" i="0" dirty="0">
                              <a:effectLst/>
                              <a:latin typeface="Verdana"/>
                              <a:ea typeface="Verdana"/>
                              <a:cs typeface="Verdana"/>
                            </a:rPr>
                            <a:t> million users in the age range of 25-34.</a:t>
                          </a:r>
                          <a:endParaRPr lang="en-PH" sz="16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a:effectLst/>
                              <a:latin typeface="Verdana"/>
                              <a:ea typeface="Verdana"/>
                              <a:cs typeface="Verdana"/>
                            </a:rPr>
                            <a:t> </a:t>
                          </a:r>
                          <a:endParaRPr lang="en-PH" sz="1600" i="1">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dirty="0">
                              <a:effectLst/>
                              <a:latin typeface="Verdana"/>
                              <a:ea typeface="Verdana"/>
                              <a:cs typeface="Verdana"/>
                            </a:rPr>
                            <a:t> </a:t>
                          </a:r>
                          <a:endParaRPr lang="en-PH" sz="16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862218803"/>
                  </p:ext>
                </p:extLst>
              </p:nvPr>
            </p:nvGraphicFramePr>
            <p:xfrm>
              <a:off x="2132976" y="1958378"/>
              <a:ext cx="7920000" cy="4067556"/>
            </p:xfrm>
            <a:graphic>
              <a:graphicData uri="http://schemas.openxmlformats.org/drawingml/2006/table">
                <a:tbl>
                  <a:tblPr firstRow="1" firstCol="1" bandRow="1"/>
                  <a:tblGrid>
                    <a:gridCol w="3240000">
                      <a:extLst>
                        <a:ext uri="{9D8B030D-6E8A-4147-A177-3AD203B41FA5}">
                          <a16:colId xmlns:a16="http://schemas.microsoft.com/office/drawing/2014/main" xmlns:a14="http://schemas.microsoft.com/office/drawing/2010/main" xmlns="" val="20000"/>
                        </a:ext>
                      </a:extLst>
                    </a:gridCol>
                    <a:gridCol w="1800000">
                      <a:extLst>
                        <a:ext uri="{9D8B030D-6E8A-4147-A177-3AD203B41FA5}">
                          <a16:colId xmlns:a16="http://schemas.microsoft.com/office/drawing/2014/main" xmlns:a14="http://schemas.microsoft.com/office/drawing/2010/main" xmlns="" val="20001"/>
                        </a:ext>
                      </a:extLst>
                    </a:gridCol>
                    <a:gridCol w="2880000">
                      <a:extLst>
                        <a:ext uri="{9D8B030D-6E8A-4147-A177-3AD203B41FA5}">
                          <a16:colId xmlns:a16="http://schemas.microsoft.com/office/drawing/2014/main" xmlns:a14="http://schemas.microsoft.com/office/drawing/2010/main" xmlns="" val="20002"/>
                        </a:ext>
                      </a:extLst>
                    </a:gridCol>
                  </a:tblGrid>
                  <a:tr h="656209">
                    <a:tc>
                      <a:txBody>
                        <a:bodyPr/>
                        <a:lstStyle/>
                        <a:p>
                          <a:pPr algn="ctr">
                            <a:lnSpc>
                              <a:spcPct val="107000"/>
                            </a:lnSpc>
                            <a:spcAft>
                              <a:spcPts val="0"/>
                            </a:spcAft>
                          </a:pPr>
                          <a:r>
                            <a:rPr lang="en-US" sz="1800" b="1" i="0" dirty="0">
                              <a:effectLst/>
                              <a:latin typeface="Verdana"/>
                              <a:ea typeface="Verdana"/>
                              <a:cs typeface="Verdana"/>
                            </a:rPr>
                            <a:t>Information</a:t>
                          </a:r>
                          <a:endParaRPr lang="en-PH" sz="16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a:effectLst/>
                              <a:latin typeface="Verdana"/>
                              <a:ea typeface="Verdana"/>
                              <a:cs typeface="Verdana"/>
                            </a:rPr>
                            <a:t>Numeric </a:t>
                          </a:r>
                          <a:r>
                            <a:rPr lang="en-US" sz="1800" b="1" i="0" dirty="0" smtClean="0">
                              <a:effectLst/>
                              <a:latin typeface="Verdana"/>
                              <a:ea typeface="Verdana"/>
                              <a:cs typeface="Verdana"/>
                            </a:rPr>
                            <a:t>Expression</a:t>
                          </a:r>
                          <a:endParaRPr lang="en-PH" sz="16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smtClean="0">
                              <a:effectLst/>
                              <a:latin typeface="Verdana"/>
                              <a:ea typeface="Verdana"/>
                              <a:cs typeface="Verdana"/>
                            </a:rPr>
                            <a:t>Show Your Work and Answer with Units</a:t>
                          </a:r>
                          <a:endParaRPr lang="en-PH" sz="16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852422">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88" t="-37500" r="-144821" b="-88158"/>
                          </a:stretch>
                        </a:blipFill>
                      </a:tcPr>
                    </a:tc>
                    <a:tc>
                      <a:txBody>
                        <a:bodyPr/>
                        <a:lstStyle/>
                        <a:p>
                          <a:pPr>
                            <a:lnSpc>
                              <a:spcPct val="107000"/>
                            </a:lnSpc>
                            <a:spcAft>
                              <a:spcPts val="0"/>
                            </a:spcAft>
                          </a:pPr>
                          <a:r>
                            <a:rPr lang="en-US" sz="1800" i="0" dirty="0">
                              <a:effectLst/>
                              <a:latin typeface="Verdana"/>
                              <a:ea typeface="Verdana"/>
                              <a:cs typeface="Verdana"/>
                            </a:rPr>
                            <a:t> </a:t>
                          </a:r>
                          <a:endParaRPr lang="en-PH" sz="16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dirty="0">
                              <a:effectLst/>
                              <a:latin typeface="Verdana"/>
                              <a:ea typeface="Verdana"/>
                              <a:cs typeface="Verdana"/>
                            </a:rPr>
                            <a:t> </a:t>
                          </a:r>
                          <a:endParaRPr lang="en-PH" sz="16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1558925">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88" t="-163281" r="-144821" b="-4688"/>
                          </a:stretch>
                        </a:blipFill>
                      </a:tcPr>
                    </a:tc>
                    <a:tc>
                      <a:txBody>
                        <a:bodyPr/>
                        <a:lstStyle/>
                        <a:p>
                          <a:pPr>
                            <a:lnSpc>
                              <a:spcPct val="107000"/>
                            </a:lnSpc>
                            <a:spcAft>
                              <a:spcPts val="0"/>
                            </a:spcAft>
                          </a:pPr>
                          <a:r>
                            <a:rPr lang="en-US" sz="1800" i="0">
                              <a:effectLst/>
                              <a:latin typeface="Verdana"/>
                              <a:ea typeface="Verdana"/>
                              <a:cs typeface="Verdana"/>
                            </a:rPr>
                            <a:t> </a:t>
                          </a:r>
                          <a:endParaRPr lang="en-PH" sz="1600" i="1">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dirty="0">
                              <a:effectLst/>
                              <a:latin typeface="Verdana"/>
                              <a:ea typeface="Verdana"/>
                              <a:cs typeface="Verdana"/>
                            </a:rPr>
                            <a:t> </a:t>
                          </a:r>
                          <a:endParaRPr lang="en-PH" sz="16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8" name="Rectangle 7"/>
          <p:cNvSpPr/>
          <p:nvPr/>
        </p:nvSpPr>
        <p:spPr>
          <a:xfrm>
            <a:off x="417916" y="367721"/>
            <a:ext cx="11496716" cy="1392497"/>
          </a:xfrm>
          <a:prstGeom prst="rect">
            <a:avLst/>
          </a:prstGeom>
        </p:spPr>
        <p:txBody>
          <a:bodyPr wrap="square">
            <a:spAutoFit/>
          </a:bodyPr>
          <a:lstStyle/>
          <a:p>
            <a:pPr marL="457200" indent="-457200">
              <a:lnSpc>
                <a:spcPct val="107000"/>
              </a:lnSpc>
              <a:buFont typeface="+mj-lt"/>
              <a:buAutoNum type="arabicPeriod" startAt="2"/>
            </a:pPr>
            <a:r>
              <a:rPr lang="en-US" sz="2000" dirty="0">
                <a:latin typeface="Verdana"/>
                <a:ea typeface="Verdana"/>
                <a:cs typeface="Verdana"/>
              </a:rPr>
              <a:t>Use the same four real-world contexts and the operation indicated to find the answer to the question selected in the previous table. Write the numeric expression used to determine the answer. Then, show your work and write the answer using the correct units.</a:t>
            </a:r>
            <a:endParaRPr lang="en-PH" sz="2000" i="1" dirty="0">
              <a:latin typeface="Cambria Math"/>
              <a:ea typeface="Cambria Math"/>
              <a:cs typeface="Cambria Math"/>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spTree>
    <p:extLst>
      <p:ext uri="{BB962C8B-B14F-4D97-AF65-F5344CB8AC3E}">
        <p14:creationId xmlns:p14="http://schemas.microsoft.com/office/powerpoint/2010/main" val="561300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 xmlns:a16="http://schemas.microsoft.com/office/drawing/2014/main" id="{2152CD2B-A4D4-A94A-8235-80385DFE97AA}"/>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536380757"/>
                  </p:ext>
                </p:extLst>
              </p:nvPr>
            </p:nvGraphicFramePr>
            <p:xfrm>
              <a:off x="2132976" y="535633"/>
              <a:ext cx="7920000" cy="5263769"/>
            </p:xfrm>
            <a:graphic>
              <a:graphicData uri="http://schemas.openxmlformats.org/drawingml/2006/table">
                <a:tbl>
                  <a:tblPr firstRow="1" firstCol="1" bandRow="1"/>
                  <a:tblGrid>
                    <a:gridCol w="3240000">
                      <a:extLst>
                        <a:ext uri="{9D8B030D-6E8A-4147-A177-3AD203B41FA5}">
                          <a16:colId xmlns="" xmlns:a16="http://schemas.microsoft.com/office/drawing/2014/main" val="20000"/>
                        </a:ext>
                      </a:extLst>
                    </a:gridCol>
                    <a:gridCol w="1800000">
                      <a:extLst>
                        <a:ext uri="{9D8B030D-6E8A-4147-A177-3AD203B41FA5}">
                          <a16:colId xmlns="" xmlns:a16="http://schemas.microsoft.com/office/drawing/2014/main" val="20001"/>
                        </a:ext>
                      </a:extLst>
                    </a:gridCol>
                    <a:gridCol w="2880000">
                      <a:extLst>
                        <a:ext uri="{9D8B030D-6E8A-4147-A177-3AD203B41FA5}">
                          <a16:colId xmlns="" xmlns:a16="http://schemas.microsoft.com/office/drawing/2014/main" val="20002"/>
                        </a:ext>
                      </a:extLst>
                    </a:gridCol>
                  </a:tblGrid>
                  <a:tr h="540000">
                    <a:tc>
                      <a:txBody>
                        <a:bodyPr/>
                        <a:lstStyle/>
                        <a:p>
                          <a:pPr algn="ctr">
                            <a:lnSpc>
                              <a:spcPct val="107000"/>
                            </a:lnSpc>
                            <a:spcAft>
                              <a:spcPts val="0"/>
                            </a:spcAft>
                          </a:pPr>
                          <a:r>
                            <a:rPr lang="en-US" sz="1800" b="1" i="0" dirty="0">
                              <a:effectLst/>
                              <a:latin typeface="Verdana"/>
                              <a:ea typeface="Verdana"/>
                              <a:cs typeface="Verdana"/>
                            </a:rPr>
                            <a:t>Information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a:effectLst/>
                              <a:latin typeface="Verdana"/>
                              <a:ea typeface="Verdana"/>
                              <a:cs typeface="Verdana"/>
                            </a:rPr>
                            <a:t>Numeric </a:t>
                          </a:r>
                          <a:r>
                            <a:rPr lang="en-US" sz="1800" b="1" i="0" dirty="0" smtClean="0">
                              <a:effectLst/>
                              <a:latin typeface="Verdana"/>
                              <a:ea typeface="Verdana"/>
                              <a:cs typeface="Verdana"/>
                            </a:rPr>
                            <a:t>Expression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smtClean="0">
                              <a:effectLst/>
                              <a:latin typeface="Verdana"/>
                              <a:ea typeface="Verdana"/>
                              <a:cs typeface="Verdana"/>
                            </a:rPr>
                            <a:t>Show Your Work and Answer with Units</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793827">
                    <a:tc>
                      <a:txBody>
                        <a:bodyPr/>
                        <a:lstStyle/>
                        <a:p>
                          <a:pPr>
                            <a:lnSpc>
                              <a:spcPct val="107000"/>
                            </a:lnSpc>
                            <a:spcAft>
                              <a:spcPts val="0"/>
                            </a:spcAft>
                          </a:pPr>
                          <a:r>
                            <a:rPr lang="en-US" sz="1800" i="0" spc="-30" baseline="0" dirty="0">
                              <a:effectLst/>
                              <a:latin typeface="Verdana"/>
                              <a:ea typeface="Verdana"/>
                              <a:cs typeface="Verdana"/>
                            </a:rPr>
                            <a:t>In 2004, each person in the United States consumed </a:t>
                          </a:r>
                          <a14:m>
                            <m:oMath xmlns:m="http://schemas.openxmlformats.org/officeDocument/2006/math">
                              <m:r>
                                <a:rPr lang="en-US" sz="1800" i="1" spc="-30" baseline="0">
                                  <a:effectLst/>
                                  <a:latin typeface="Cambria Math"/>
                                  <a:ea typeface="Verdana"/>
                                  <a:cs typeface="Verdana"/>
                                </a:rPr>
                                <m:t>61.5</m:t>
                              </m:r>
                            </m:oMath>
                          </a14:m>
                          <a:r>
                            <a:rPr lang="en-US" sz="1800" i="0" spc="-30" baseline="0" dirty="0">
                              <a:effectLst/>
                              <a:latin typeface="Verdana"/>
                              <a:ea typeface="Verdana"/>
                              <a:cs typeface="Verdana"/>
                            </a:rPr>
                            <a:t> pounds of refined sugar on average. In 2008, the average consumed per person was </a:t>
                          </a:r>
                          <a14:m>
                            <m:oMath xmlns:m="http://schemas.openxmlformats.org/officeDocument/2006/math">
                              <m:r>
                                <a:rPr lang="en-US" sz="1800" i="1" spc="-30" baseline="0">
                                  <a:effectLst/>
                                  <a:latin typeface="Cambria Math"/>
                                  <a:ea typeface="Verdana"/>
                                  <a:cs typeface="Verdana"/>
                                </a:rPr>
                                <m:t>66.3</m:t>
                              </m:r>
                            </m:oMath>
                          </a14:m>
                          <a:r>
                            <a:rPr lang="en-US" sz="1800" i="0" spc="-30" baseline="0" dirty="0">
                              <a:effectLst/>
                              <a:latin typeface="Verdana"/>
                              <a:ea typeface="Verdana"/>
                              <a:cs typeface="Verdana"/>
                            </a:rPr>
                            <a:t> pounds of refined sugar.  </a:t>
                          </a:r>
                          <a:endParaRPr lang="en-PH" sz="1800" i="1" spc="-30" baseline="0"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a:effectLst/>
                              <a:latin typeface="Verdana"/>
                              <a:ea typeface="Verdana"/>
                              <a:cs typeface="Verdana"/>
                            </a:rPr>
                            <a:t> </a:t>
                          </a:r>
                          <a:endParaRPr lang="en-PH" sz="1800" i="1">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a:effectLst/>
                              <a:latin typeface="Verdana"/>
                              <a:ea typeface="Verdana"/>
                              <a:cs typeface="Verdana"/>
                            </a:rPr>
                            <a:t> </a:t>
                          </a:r>
                          <a:endParaRPr lang="en-PH" sz="1800" i="1">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792430">
                    <a:tc>
                      <a:txBody>
                        <a:bodyPr/>
                        <a:lstStyle/>
                        <a:p>
                          <a:pPr>
                            <a:lnSpc>
                              <a:spcPct val="107000"/>
                            </a:lnSpc>
                            <a:spcAft>
                              <a:spcPts val="0"/>
                            </a:spcAft>
                          </a:pPr>
                          <a:r>
                            <a:rPr lang="en-US" sz="1800" i="0" dirty="0">
                              <a:effectLst/>
                              <a:latin typeface="Verdana"/>
                              <a:ea typeface="Verdana"/>
                              <a:cs typeface="Verdana"/>
                            </a:rPr>
                            <a:t>Barbara sent letters that exceeded the allowed weight by the U.S. Postal Service. To mail the letters, she had to add a </a:t>
                          </a:r>
                          <a14:m>
                            <m:oMath xmlns:m="http://schemas.openxmlformats.org/officeDocument/2006/math">
                              <m:r>
                                <a:rPr lang="en-US" sz="1800" i="1">
                                  <a:effectLst/>
                                  <a:latin typeface="Cambria Math"/>
                                  <a:ea typeface="Verdana"/>
                                  <a:cs typeface="Verdana"/>
                                </a:rPr>
                                <m:t>$0.15</m:t>
                              </m:r>
                            </m:oMath>
                          </a14:m>
                          <a:r>
                            <a:rPr lang="en-US" sz="1800" i="0" dirty="0">
                              <a:effectLst/>
                              <a:latin typeface="Verdana"/>
                              <a:ea typeface="Verdana"/>
                              <a:cs typeface="Verdana"/>
                            </a:rPr>
                            <a:t> stamp to each letter. She spent </a:t>
                          </a:r>
                          <a14:m>
                            <m:oMath xmlns:m="http://schemas.openxmlformats.org/officeDocument/2006/math">
                              <m:r>
                                <a:rPr lang="en-US" sz="1800" i="1">
                                  <a:effectLst/>
                                  <a:latin typeface="Cambria Math"/>
                                  <a:ea typeface="Verdana"/>
                                  <a:cs typeface="Verdana"/>
                                </a:rPr>
                                <m:t>$2.55</m:t>
                              </m:r>
                            </m:oMath>
                          </a14:m>
                          <a:r>
                            <a:rPr lang="en-US" sz="1800" i="0" dirty="0">
                              <a:effectLst/>
                              <a:latin typeface="Verdana"/>
                              <a:ea typeface="Verdana"/>
                              <a:cs typeface="Verdana"/>
                            </a:rPr>
                            <a:t> in additional weight charges.</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a:effectLst/>
                              <a:latin typeface="Verdana"/>
                              <a:ea typeface="Verdana"/>
                              <a:cs typeface="Verdana"/>
                            </a:rPr>
                            <a:t> </a:t>
                          </a:r>
                          <a:endParaRPr lang="en-PH" sz="1800" i="1">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dirty="0">
                              <a:effectLst/>
                              <a:latin typeface="Verdana"/>
                              <a:ea typeface="Verdana"/>
                              <a:cs typeface="Verdana"/>
                            </a:rPr>
                            <a:t> </a:t>
                          </a:r>
                          <a:endParaRPr lang="en-PH" sz="18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536380757"/>
                  </p:ext>
                </p:extLst>
              </p:nvPr>
            </p:nvGraphicFramePr>
            <p:xfrm>
              <a:off x="2132976" y="535633"/>
              <a:ext cx="7920000" cy="5241544"/>
            </p:xfrm>
            <a:graphic>
              <a:graphicData uri="http://schemas.openxmlformats.org/drawingml/2006/table">
                <a:tbl>
                  <a:tblPr firstRow="1" firstCol="1" bandRow="1"/>
                  <a:tblGrid>
                    <a:gridCol w="3240000">
                      <a:extLst>
                        <a:ext uri="{9D8B030D-6E8A-4147-A177-3AD203B41FA5}">
                          <a16:colId xmlns:a16="http://schemas.microsoft.com/office/drawing/2014/main" xmlns:a14="http://schemas.microsoft.com/office/drawing/2010/main" xmlns="" val="20000"/>
                        </a:ext>
                      </a:extLst>
                    </a:gridCol>
                    <a:gridCol w="1800000">
                      <a:extLst>
                        <a:ext uri="{9D8B030D-6E8A-4147-A177-3AD203B41FA5}">
                          <a16:colId xmlns:a16="http://schemas.microsoft.com/office/drawing/2014/main" xmlns:a14="http://schemas.microsoft.com/office/drawing/2010/main" xmlns="" val="20001"/>
                        </a:ext>
                      </a:extLst>
                    </a:gridCol>
                    <a:gridCol w="2880000">
                      <a:extLst>
                        <a:ext uri="{9D8B030D-6E8A-4147-A177-3AD203B41FA5}">
                          <a16:colId xmlns:a16="http://schemas.microsoft.com/office/drawing/2014/main" xmlns:a14="http://schemas.microsoft.com/office/drawing/2010/main" xmlns="" val="20002"/>
                        </a:ext>
                      </a:extLst>
                    </a:gridCol>
                  </a:tblGrid>
                  <a:tr h="656209">
                    <a:tc>
                      <a:txBody>
                        <a:bodyPr/>
                        <a:lstStyle/>
                        <a:p>
                          <a:pPr algn="ctr">
                            <a:lnSpc>
                              <a:spcPct val="107000"/>
                            </a:lnSpc>
                            <a:spcAft>
                              <a:spcPts val="0"/>
                            </a:spcAft>
                          </a:pPr>
                          <a:r>
                            <a:rPr lang="en-US" sz="1800" b="1" i="0" dirty="0">
                              <a:effectLst/>
                              <a:latin typeface="Verdana"/>
                              <a:ea typeface="Verdana"/>
                              <a:cs typeface="Verdana"/>
                            </a:rPr>
                            <a:t>Information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a:effectLst/>
                              <a:latin typeface="Verdana"/>
                              <a:ea typeface="Verdana"/>
                              <a:cs typeface="Verdana"/>
                            </a:rPr>
                            <a:t>Numeric </a:t>
                          </a:r>
                          <a:r>
                            <a:rPr lang="en-US" sz="1800" b="1" i="0" dirty="0" smtClean="0">
                              <a:effectLst/>
                              <a:latin typeface="Verdana"/>
                              <a:ea typeface="Verdana"/>
                              <a:cs typeface="Verdana"/>
                            </a:rPr>
                            <a:t>Expression</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1800" b="1" i="0" dirty="0" smtClean="0">
                              <a:effectLst/>
                              <a:latin typeface="Verdana"/>
                              <a:ea typeface="Verdana"/>
                              <a:cs typeface="Verdana"/>
                            </a:rPr>
                            <a:t>Show Your Work and Answer with Units</a:t>
                          </a:r>
                          <a:endParaRPr lang="en-PH" sz="1800" i="1" dirty="0">
                            <a:effectLst/>
                            <a:latin typeface="Cambria Math"/>
                            <a:ea typeface="Cambria Math"/>
                            <a:cs typeface="Cambria Math"/>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2145919">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88" t="-32386" r="-144821" b="-117045"/>
                          </a:stretch>
                        </a:blipFill>
                      </a:tcPr>
                    </a:tc>
                    <a:tc>
                      <a:txBody>
                        <a:bodyPr/>
                        <a:lstStyle/>
                        <a:p>
                          <a:pPr>
                            <a:lnSpc>
                              <a:spcPct val="107000"/>
                            </a:lnSpc>
                            <a:spcAft>
                              <a:spcPts val="0"/>
                            </a:spcAft>
                          </a:pPr>
                          <a:r>
                            <a:rPr lang="en-US" sz="1800" i="0">
                              <a:effectLst/>
                              <a:latin typeface="Verdana"/>
                              <a:ea typeface="Verdana"/>
                              <a:cs typeface="Verdana"/>
                            </a:rPr>
                            <a:t> </a:t>
                          </a:r>
                          <a:endParaRPr lang="en-PH" sz="1800" i="1">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a:effectLst/>
                              <a:latin typeface="Verdana"/>
                              <a:ea typeface="Verdana"/>
                              <a:cs typeface="Verdana"/>
                            </a:rPr>
                            <a:t> </a:t>
                          </a:r>
                          <a:endParaRPr lang="en-PH" sz="1800" i="1">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2439416">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88" t="-116500" r="-144821" b="-3000"/>
                          </a:stretch>
                        </a:blipFill>
                      </a:tcPr>
                    </a:tc>
                    <a:tc>
                      <a:txBody>
                        <a:bodyPr/>
                        <a:lstStyle/>
                        <a:p>
                          <a:pPr>
                            <a:lnSpc>
                              <a:spcPct val="107000"/>
                            </a:lnSpc>
                            <a:spcAft>
                              <a:spcPts val="0"/>
                            </a:spcAft>
                          </a:pPr>
                          <a:r>
                            <a:rPr lang="en-US" sz="1800" i="0">
                              <a:effectLst/>
                              <a:latin typeface="Verdana"/>
                              <a:ea typeface="Verdana"/>
                              <a:cs typeface="Verdana"/>
                            </a:rPr>
                            <a:t> </a:t>
                          </a:r>
                          <a:endParaRPr lang="en-PH" sz="1800" i="1">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1800" i="0" dirty="0">
                              <a:effectLst/>
                              <a:latin typeface="Verdana"/>
                              <a:ea typeface="Verdana"/>
                              <a:cs typeface="Verdana"/>
                            </a:rPr>
                            <a:t> </a:t>
                          </a:r>
                          <a:endParaRPr lang="en-PH" sz="1800" i="1" dirty="0">
                            <a:effectLst/>
                            <a:latin typeface="Cambria Math"/>
                            <a:ea typeface="Cambria Math"/>
                            <a:cs typeface="Cambria Math"/>
                          </a:endParaRPr>
                        </a:p>
                      </a:txBody>
                      <a:tcPr marL="45720" marR="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spTree>
    <p:extLst>
      <p:ext uri="{BB962C8B-B14F-4D97-AF65-F5344CB8AC3E}">
        <p14:creationId xmlns:p14="http://schemas.microsoft.com/office/powerpoint/2010/main" val="2979673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48857"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128438" y="279372"/>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3.4.4 Wrap-Up: Reflection</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0370EDB7-6994-3D43-ABF9-E04CBAFB9CD9}"/>
                  </a:ext>
                </a:extLst>
              </p:cNvPr>
              <p:cNvSpPr txBox="1"/>
              <p:nvPr/>
            </p:nvSpPr>
            <p:spPr>
              <a:xfrm>
                <a:off x="730266" y="1185909"/>
                <a:ext cx="10992342" cy="2824619"/>
              </a:xfrm>
              <a:prstGeom prst="rect">
                <a:avLst/>
              </a:prstGeom>
              <a:noFill/>
            </p:spPr>
            <p:txBody>
              <a:bodyPr wrap="square" rtlCol="0">
                <a:spAutoFit/>
              </a:bodyPr>
              <a:lstStyle/>
              <a:p>
                <a:pPr>
                  <a:lnSpc>
                    <a:spcPct val="107000"/>
                  </a:lnSpc>
                  <a:spcAft>
                    <a:spcPts val="1200"/>
                  </a:spcAft>
                </a:pPr>
                <a:r>
                  <a:rPr lang="en-US" sz="2000" dirty="0">
                    <a:latin typeface="Verdana"/>
                    <a:ea typeface="Verdana"/>
                    <a:cs typeface="Verdana"/>
                  </a:rPr>
                  <a:t>Mathematics is most useful in the real world. Determine the operation(s) needed to find the answer to each question. Then, mark how confident you are in your choice of operation(s) to be used. </a:t>
                </a:r>
                <a:endParaRPr lang="en-US" sz="2000" dirty="0">
                  <a:latin typeface="Verdana"/>
                  <a:ea typeface="Verdana"/>
                  <a:cs typeface="Cambria Math"/>
                </a:endParaRPr>
              </a:p>
              <a:p>
                <a:pPr marL="457200" indent="-457200">
                  <a:lnSpc>
                    <a:spcPct val="107000"/>
                  </a:lnSpc>
                  <a:spcAft>
                    <a:spcPts val="1200"/>
                  </a:spcAft>
                  <a:buFont typeface="+mj-lt"/>
                  <a:buAutoNum type="arabicPeriod"/>
                </a:pPr>
                <a:r>
                  <a:rPr lang="en-US" sz="2000" dirty="0">
                    <a:latin typeface="Verdana"/>
                    <a:ea typeface="Cambria Math"/>
                    <a:cs typeface="Cambria Math"/>
                  </a:rPr>
                  <a:t>Fitzgerald is selling chocolate bars to raise money for a trip. He has to sell a total of </a:t>
                </a:r>
                <a14:m>
                  <m:oMath xmlns:m="http://schemas.openxmlformats.org/officeDocument/2006/math">
                    <m:r>
                      <a:rPr lang="en-US" sz="2000" i="1">
                        <a:latin typeface="Cambria Math"/>
                        <a:ea typeface="Cambria Math"/>
                        <a:cs typeface="Cambria Math"/>
                      </a:rPr>
                      <m:t>4</m:t>
                    </m:r>
                  </m:oMath>
                </a14:m>
                <a:r>
                  <a:rPr lang="en-US" sz="2000" dirty="0">
                    <a:latin typeface="Verdana"/>
                    <a:ea typeface="Cambria Math"/>
                    <a:cs typeface="Cambria Math"/>
                  </a:rPr>
                  <a:t> boxes. The first day, he sold </a:t>
                </a:r>
                <a14:m>
                  <m:oMath xmlns:m="http://schemas.openxmlformats.org/officeDocument/2006/math">
                    <m:r>
                      <a:rPr lang="en-US" sz="2000" i="1">
                        <a:latin typeface="Cambria Math"/>
                        <a:ea typeface="Cambria Math"/>
                        <a:cs typeface="Cambria Math"/>
                      </a:rPr>
                      <m:t>2</m:t>
                    </m:r>
                    <m:f>
                      <m:fPr>
                        <m:ctrlPr>
                          <a:rPr lang="en-PH" sz="2000" i="1">
                            <a:latin typeface="Cambria Math"/>
                            <a:ea typeface="Cambria Math"/>
                            <a:cs typeface="Cambria Math"/>
                          </a:rPr>
                        </m:ctrlPr>
                      </m:fPr>
                      <m:num>
                        <m:r>
                          <a:rPr lang="en-US" sz="2000" i="1">
                            <a:latin typeface="Cambria Math"/>
                            <a:ea typeface="Cambria Math"/>
                            <a:cs typeface="Cambria Math"/>
                          </a:rPr>
                          <m:t>3</m:t>
                        </m:r>
                      </m:num>
                      <m:den>
                        <m:r>
                          <a:rPr lang="en-US" sz="2000" i="1">
                            <a:latin typeface="Cambria Math"/>
                            <a:ea typeface="Cambria Math"/>
                            <a:cs typeface="Cambria Math"/>
                          </a:rPr>
                          <m:t>4</m:t>
                        </m:r>
                      </m:den>
                    </m:f>
                  </m:oMath>
                </a14:m>
                <a:r>
                  <a:rPr lang="en-US" sz="2000" dirty="0">
                    <a:latin typeface="Verdana"/>
                    <a:ea typeface="Cambria Math"/>
                    <a:cs typeface="Cambria Math"/>
                  </a:rPr>
                  <a:t> boxes. How many more boxes does he have to sell?</a:t>
                </a:r>
                <a:endParaRPr lang="en-PH" sz="2000" i="1" dirty="0">
                  <a:latin typeface="Cambria Math"/>
                  <a:ea typeface="Cambria Math"/>
                  <a:cs typeface="Cambria Math"/>
                </a:endParaRPr>
              </a:p>
              <a:p>
                <a:pPr indent="457200">
                  <a:lnSpc>
                    <a:spcPct val="107000"/>
                  </a:lnSpc>
                </a:pPr>
                <a:r>
                  <a:rPr lang="en-US" sz="2000" dirty="0">
                    <a:latin typeface="Verdana"/>
                    <a:ea typeface="Cambria Math"/>
                    <a:cs typeface="Cambria Math"/>
                  </a:rPr>
                  <a:t>The operation(s) that should be used is/are ____________.</a:t>
                </a:r>
                <a:endParaRPr lang="en-PH" sz="2000" i="1" dirty="0">
                  <a:latin typeface="Cambria Math"/>
                  <a:ea typeface="Cambria Math"/>
                  <a:cs typeface="Cambria Math"/>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730266" y="1185909"/>
                <a:ext cx="10992342" cy="2824619"/>
              </a:xfrm>
              <a:prstGeom prst="rect">
                <a:avLst/>
              </a:prstGeom>
              <a:blipFill>
                <a:blip r:embed="rId5"/>
                <a:stretch>
                  <a:fillRect l="-577" t="-1794" r="-577" b="-2691"/>
                </a:stretch>
              </a:blipFill>
            </p:spPr>
            <p:txBody>
              <a:bodyPr/>
              <a:lstStyle/>
              <a:p>
                <a:r>
                  <a:rPr lang="en-US">
                    <a:noFill/>
                  </a:rPr>
                  <a:t> </a:t>
                </a:r>
              </a:p>
            </p:txBody>
          </p:sp>
        </mc:Fallback>
      </mc:AlternateContent>
      <p:sp>
        <p:nvSpPr>
          <p:cNvPr id="8" name="Google Shape;278;g104476d1465_1_17">
            <a:extLst>
              <a:ext uri="{FF2B5EF4-FFF2-40B4-BE49-F238E27FC236}">
                <a16:creationId xmlns="" xmlns:a16="http://schemas.microsoft.com/office/drawing/2014/main" id="{31AAE36C-5822-464A-8B2B-DAD96F65814D}"/>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098"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501827" y="4247969"/>
            <a:ext cx="7188346" cy="1785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4CE9D117-FAE6-F74F-940B-9CD1479755BE}"/>
                  </a:ext>
                </a:extLst>
              </p:cNvPr>
              <p:cNvSpPr txBox="1"/>
              <p:nvPr/>
            </p:nvSpPr>
            <p:spPr>
              <a:xfrm>
                <a:off x="304614" y="322274"/>
                <a:ext cx="11436282" cy="1721818"/>
              </a:xfrm>
              <a:prstGeom prst="rect">
                <a:avLst/>
              </a:prstGeom>
              <a:noFill/>
            </p:spPr>
            <p:txBody>
              <a:bodyPr wrap="square" rtlCol="0">
                <a:spAutoFit/>
              </a:bodyPr>
              <a:lstStyle/>
              <a:p>
                <a:pPr marL="457200" indent="-457200">
                  <a:lnSpc>
                    <a:spcPct val="107000"/>
                  </a:lnSpc>
                  <a:buFont typeface="+mj-lt"/>
                  <a:buAutoNum type="arabicPeriod" startAt="2"/>
                </a:pPr>
                <a:r>
                  <a:rPr lang="en-US" sz="2000" dirty="0">
                    <a:latin typeface="Verdana"/>
                    <a:ea typeface="Cambria Math"/>
                    <a:cs typeface="Cambria Math"/>
                  </a:rPr>
                  <a:t>Ginger is buying new carpet for her living room. The carpet costs </a:t>
                </a:r>
                <a14:m>
                  <m:oMath xmlns:m="http://schemas.openxmlformats.org/officeDocument/2006/math">
                    <m:r>
                      <a:rPr lang="en-US" sz="2000" i="1">
                        <a:latin typeface="Cambria Math"/>
                        <a:ea typeface="Cambria Math"/>
                        <a:cs typeface="Cambria Math"/>
                      </a:rPr>
                      <m:t>$56.81</m:t>
                    </m:r>
                  </m:oMath>
                </a14:m>
                <a:r>
                  <a:rPr lang="en-US" sz="2000" dirty="0">
                    <a:latin typeface="Verdana"/>
                    <a:ea typeface="Cambria Math"/>
                    <a:cs typeface="Cambria Math"/>
                  </a:rPr>
                  <a:t> per square yard with an additional </a:t>
                </a:r>
                <a14:m>
                  <m:oMath xmlns:m="http://schemas.openxmlformats.org/officeDocument/2006/math">
                    <m:r>
                      <a:rPr lang="en-US" sz="2000" i="1">
                        <a:latin typeface="Cambria Math"/>
                        <a:ea typeface="Cambria Math"/>
                        <a:cs typeface="Cambria Math"/>
                      </a:rPr>
                      <m:t>$7.64</m:t>
                    </m:r>
                  </m:oMath>
                </a14:m>
                <a:r>
                  <a:rPr lang="en-US" sz="2000" dirty="0">
                    <a:latin typeface="Verdana"/>
                    <a:ea typeface="Cambria Math"/>
                    <a:cs typeface="Cambria Math"/>
                  </a:rPr>
                  <a:t> per square yard to install it. The size of the living room is </a:t>
                </a:r>
                <a14:m>
                  <m:oMath xmlns:m="http://schemas.openxmlformats.org/officeDocument/2006/math">
                    <m:r>
                      <a:rPr lang="en-US" sz="2000" i="1">
                        <a:latin typeface="Cambria Math"/>
                        <a:ea typeface="Cambria Math"/>
                        <a:cs typeface="Cambria Math"/>
                      </a:rPr>
                      <m:t>13.6</m:t>
                    </m:r>
                  </m:oMath>
                </a14:m>
                <a:r>
                  <a:rPr lang="en-US" sz="2000" dirty="0">
                    <a:latin typeface="Verdana"/>
                    <a:ea typeface="Cambria Math"/>
                    <a:cs typeface="Cambria Math"/>
                  </a:rPr>
                  <a:t> square yards. How much will the carpet for the living room cost?</a:t>
                </a:r>
                <a:endParaRPr lang="en-PH" sz="2000" i="1" dirty="0">
                  <a:latin typeface="Cambria Math"/>
                  <a:ea typeface="Cambria Math"/>
                  <a:cs typeface="Cambria Math"/>
                </a:endParaRPr>
              </a:p>
              <a:p>
                <a:pPr indent="457200">
                  <a:lnSpc>
                    <a:spcPct val="107000"/>
                  </a:lnSpc>
                </a:pPr>
                <a:r>
                  <a:rPr lang="en-US" sz="2000" dirty="0">
                    <a:latin typeface="Verdana"/>
                    <a:ea typeface="Cambria Math"/>
                    <a:cs typeface="Cambria Math"/>
                  </a:rPr>
                  <a:t> </a:t>
                </a:r>
                <a:endParaRPr lang="en-PH" sz="2000" i="1" dirty="0">
                  <a:latin typeface="Cambria Math"/>
                  <a:ea typeface="Cambria Math"/>
                  <a:cs typeface="Cambria Math"/>
                </a:endParaRPr>
              </a:p>
              <a:p>
                <a:pPr indent="457200">
                  <a:lnSpc>
                    <a:spcPct val="107000"/>
                  </a:lnSpc>
                </a:pPr>
                <a:r>
                  <a:rPr lang="en-US" sz="2000" dirty="0">
                    <a:latin typeface="Verdana"/>
                    <a:ea typeface="Cambria Math"/>
                    <a:cs typeface="Cambria Math"/>
                  </a:rPr>
                  <a:t>The operation(s) that should be used is/are ____________.</a:t>
                </a:r>
                <a:endParaRPr lang="en-PH" sz="2000" i="1" dirty="0">
                  <a:latin typeface="Cambria Math"/>
                  <a:ea typeface="Cambria Math"/>
                  <a:cs typeface="Cambria Math"/>
                </a:endParaRPr>
              </a:p>
            </p:txBody>
          </p:sp>
        </mc:Choice>
        <mc:Fallback xmlns="">
          <p:sp>
            <p:nvSpPr>
              <p:cNvPr id="5" name="TextBox 4">
                <a:extLst>
                  <a:ext uri="{FF2B5EF4-FFF2-40B4-BE49-F238E27FC236}">
                    <a16:creationId xmlns:a16="http://schemas.microsoft.com/office/drawing/2014/main" id="{4CE9D117-FAE6-F74F-940B-9CD1479755BE}"/>
                  </a:ext>
                </a:extLst>
              </p:cNvPr>
              <p:cNvSpPr txBox="1">
                <a:spLocks noRot="1" noChangeAspect="1" noMove="1" noResize="1" noEditPoints="1" noAdjustHandles="1" noChangeArrowheads="1" noChangeShapeType="1" noTextEdit="1"/>
              </p:cNvSpPr>
              <p:nvPr/>
            </p:nvSpPr>
            <p:spPr>
              <a:xfrm>
                <a:off x="304614" y="322274"/>
                <a:ext cx="11436282" cy="1721818"/>
              </a:xfrm>
              <a:prstGeom prst="rect">
                <a:avLst/>
              </a:prstGeom>
              <a:blipFill>
                <a:blip r:embed="rId4"/>
                <a:stretch>
                  <a:fillRect l="-666" t="-2941" r="-1110" b="-5147"/>
                </a:stretch>
              </a:blipFill>
            </p:spPr>
            <p:txBody>
              <a:bodyPr/>
              <a:lstStyle/>
              <a:p>
                <a:r>
                  <a:rPr lang="en-US">
                    <a:noFill/>
                  </a:rPr>
                  <a:t> </a:t>
                </a:r>
              </a:p>
            </p:txBody>
          </p:sp>
        </mc:Fallback>
      </mc:AlternateContent>
      <p:sp>
        <p:nvSpPr>
          <p:cNvPr id="6" name="Google Shape;278;g104476d1465_1_17">
            <a:extLst>
              <a:ext uri="{FF2B5EF4-FFF2-40B4-BE49-F238E27FC236}">
                <a16:creationId xmlns="" xmlns:a16="http://schemas.microsoft.com/office/drawing/2014/main" id="{770AEB55-C0B0-E249-801E-7B66B61DDE11}"/>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pic>
        <p:nvPicPr>
          <p:cNvPr id="10"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501827" y="2536471"/>
            <a:ext cx="7188346" cy="1785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23132E7B-3AF3-4175-B30C-47B7280F9E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596C79F-E640-4FF0-B32F-BAD9214A9133}">
  <ds:schemaRefs>
    <ds:schemaRef ds:uri="http://schemas.microsoft.com/sharepoint/v3/contenttype/forms"/>
  </ds:schemaRefs>
</ds:datastoreItem>
</file>

<file path=customXml/itemProps3.xml><?xml version="1.0" encoding="utf-8"?>
<ds:datastoreItem xmlns:ds="http://schemas.openxmlformats.org/officeDocument/2006/customXml" ds:itemID="{8A2EEA18-5FCB-4A98-9CA1-4C95A341D764}">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docProps/app.xml><?xml version="1.0" encoding="utf-8"?>
<Properties xmlns="http://schemas.openxmlformats.org/officeDocument/2006/extended-properties" xmlns:vt="http://schemas.openxmlformats.org/officeDocument/2006/docPropsVTypes">
  <TotalTime>1301</TotalTime>
  <Words>1412</Words>
  <Application>Microsoft Office PowerPoint</Application>
  <PresentationFormat>Custom</PresentationFormat>
  <Paragraphs>184</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Century Gothic</vt:lpstr>
      <vt:lpstr>Cambria Math</vt:lpstr>
      <vt:lpstr>Arial Black</vt:lpstr>
      <vt:lpstr>Verdana</vt:lpstr>
      <vt:lpstr>Calibri</vt:lpstr>
      <vt:lpstr>Courier New</vt:lpstr>
      <vt:lpstr>1_Office Theme</vt:lpstr>
      <vt:lpstr>6th Grade Math  Unit 3, Lesson 4  Using Operations to Solve  Real-World Problems –  Part 1  Volume 1, pg. 107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30</cp:revision>
  <dcterms:created xsi:type="dcterms:W3CDTF">2015-03-17T18:51:18Z</dcterms:created>
  <dcterms:modified xsi:type="dcterms:W3CDTF">2023-06-30T00:17:27Z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