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341" r:id="rId5"/>
    <p:sldId id="261" r:id="rId6"/>
    <p:sldId id="287" r:id="rId7"/>
    <p:sldId id="289" r:id="rId8"/>
    <p:sldId id="290" r:id="rId9"/>
    <p:sldId id="308" r:id="rId10"/>
    <p:sldId id="338" r:id="rId11"/>
    <p:sldId id="339" r:id="rId12"/>
    <p:sldId id="340" r:id="rId13"/>
    <p:sldId id="323" r:id="rId14"/>
    <p:sldId id="324" r:id="rId15"/>
    <p:sldId id="325" r:id="rId16"/>
    <p:sldId id="332" r:id="rId17"/>
    <p:sldId id="333" r:id="rId18"/>
    <p:sldId id="334" r:id="rId19"/>
    <p:sldId id="335" r:id="rId20"/>
    <p:sldId id="336" r:id="rId21"/>
    <p:sldId id="337" r:id="rId22"/>
    <p:sldId id="302" r:id="rId23"/>
    <p:sldId id="303" r:id="rId24"/>
    <p:sldId id="309" r:id="rId25"/>
    <p:sldId id="306" r:id="rId26"/>
    <p:sldId id="307" r:id="rId27"/>
  </p:sldIdLst>
  <p:sldSz cx="12192000" cy="6858000"/>
  <p:notesSz cx="6858000" cy="9144000"/>
  <p:embeddedFontLst>
    <p:embeddedFont>
      <p:font typeface="Arial Black" panose="020B0A04020102020204" pitchFamily="34" charset="0"/>
      <p:regular r:id="rId29"/>
      <p:bold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Century Gothic" panose="020B0502020202020204" pitchFamily="34" charset="0"/>
      <p:regular r:id="rId36"/>
      <p:bold r:id="rId37"/>
      <p:italic r:id="rId38"/>
      <p:boldItalic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DBF"/>
    <a:srgbClr val="FCBD1E"/>
    <a:srgbClr val="C9DF6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FDEDA6-5A73-4674-888D-1480F94AAF5E}" v="313" dt="2021-12-30T20:51:51.680"/>
  </p1510:revLst>
</p1510:revInfo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1" autoAdjust="0"/>
    <p:restoredTop sz="94719"/>
  </p:normalViewPr>
  <p:slideViewPr>
    <p:cSldViewPr snapToGrid="0">
      <p:cViewPr varScale="1">
        <p:scale>
          <a:sx n="73" d="100"/>
          <a:sy n="73" d="100"/>
        </p:scale>
        <p:origin x="85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5235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928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78055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87614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46605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3067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78910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355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12358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Google Shape;261;g104476d1465_0_0"/>
              <p:cNvSpPr txBox="1">
                <a:spLocks noGrp="1"/>
              </p:cNvSpPr>
              <p:nvPr>
                <p:ph type="ctrTitle" idx="4294967295"/>
              </p:nvPr>
            </p:nvSpPr>
            <p:spPr>
              <a:xfrm>
                <a:off x="5505303" y="2054277"/>
                <a:ext cx="5185186" cy="3281147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38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6</a:t>
                </a:r>
                <a:r>
                  <a:rPr lang="en-US" sz="3800" b="1" baseline="30000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th</a:t>
                </a:r>
                <a:r>
                  <a:rPr lang="en-US" sz="38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 Grade Math</a:t>
                </a:r>
                <a:br>
                  <a:rPr lang="en-US" sz="38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br>
                  <a:rPr lang="en-US" sz="38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r>
                  <a:rPr lang="en-US" sz="38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Unit 3, Lesson 1</a:t>
                </a:r>
                <a:br>
                  <a:rPr lang="en-US" sz="38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br>
                  <a:rPr lang="en-US" sz="38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r>
                  <a:rPr lang="en-US" sz="2800" b="1" dirty="0">
                    <a:solidFill>
                      <a:srgbClr val="417DBF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Equivalent Conversions: </a:t>
                </a:r>
                <a:br>
                  <a:rPr lang="en-US" sz="2800" b="1" dirty="0">
                    <a:solidFill>
                      <a:srgbClr val="417DBF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800" b="1" dirty="0">
                    <a:solidFill>
                      <a:srgbClr val="417DBF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Fractions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417DB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US" sz="2800" b="1" i="1">
                        <a:solidFill>
                          <a:srgbClr val="417DB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1" dirty="0">
                    <a:solidFill>
                      <a:srgbClr val="417DBF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Decimals; </a:t>
                </a:r>
                <a:br>
                  <a:rPr lang="en-US" sz="2800" b="1" dirty="0">
                    <a:solidFill>
                      <a:srgbClr val="417DBF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800" b="1" dirty="0">
                    <a:solidFill>
                      <a:srgbClr val="417DBF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Decimals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417DBF"/>
                        </a:solidFill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sz="2800" b="1" dirty="0">
                    <a:solidFill>
                      <a:srgbClr val="417DBF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Percentages</a:t>
                </a:r>
                <a:br>
                  <a:rPr lang="en-US" sz="3800" b="1" dirty="0">
                    <a:solidFill>
                      <a:srgbClr val="417DBF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br>
                  <a:rPr lang="en-US" sz="3800" b="1" dirty="0">
                    <a:solidFill>
                      <a:srgbClr val="417D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/>
                    <a:sym typeface="Verdana"/>
                  </a:rPr>
                </a:br>
                <a:r>
                  <a:rPr lang="en-US" sz="28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Volume 1, pg. 93</a:t>
                </a:r>
                <a:br>
                  <a:rPr lang="en-US" sz="28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br>
                  <a:rPr lang="en-US" sz="3400" b="1" dirty="0">
                    <a:solidFill>
                      <a:srgbClr val="417DBF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endParaRPr sz="3100" dirty="0">
                  <a:solidFill>
                    <a:srgbClr val="417DBF"/>
                  </a:solidFill>
                </a:endParaRPr>
              </a:p>
            </p:txBody>
          </p:sp>
        </mc:Choice>
        <mc:Fallback xmlns="">
          <p:sp>
            <p:nvSpPr>
              <p:cNvPr id="261" name="Google Shape;261;g104476d1465_0_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ctrTitle" idx="4294967295"/>
              </p:nvPr>
            </p:nvSpPr>
            <p:spPr>
              <a:xfrm>
                <a:off x="5505303" y="2054277"/>
                <a:ext cx="5185186" cy="3281147"/>
              </a:xfrm>
              <a:prstGeom prst="rect">
                <a:avLst/>
              </a:prstGeom>
              <a:blipFill>
                <a:blip r:embed="rId3"/>
                <a:stretch>
                  <a:fillRect l="-2200" t="-39231" r="-3178" b="-1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-1" y="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2200" y="-8677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201168"/>
            <a:ext cx="747300" cy="74980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9433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46515" y="1072150"/>
            <a:ext cx="113359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MA.6.NSO.3.5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Rewrite positive rational numbers in different but equivalent forms including fractions, terminating decimals, and percentages.</a:t>
            </a:r>
            <a:endParaRPr lang="en-US" sz="3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indent="0">
              <a:buNone/>
            </a:pP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37332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93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5" y="1326150"/>
            <a:ext cx="1109025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EC4A24D-AC58-5143-9A1A-1E71E28DFCF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6584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45091" y="1321975"/>
            <a:ext cx="1139448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</a:rPr>
              <a:t>I can convert between fractions and decimals.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</a:rPr>
              <a:t>I can convert between percentages and decimals.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BA09A98-EDA0-5343-AD77-8F8E8C4F0E7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252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187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67988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3916" y="6413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3.1.1 Warm-Up: 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Self-Evaluation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6"/>
            <a:ext cx="26340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93</a:t>
            </a:r>
          </a:p>
          <a:p>
            <a:pPr algn="r"/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730266" y="1354164"/>
            <a:ext cx="11223609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problem, rate your level of confidence in your ability to answer each question, but don’t actually answer them. 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>
              <a:lnSpc>
                <a:spcPct val="107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a scale from 1 to 5, where 1 means you do not feel confident about how to answer the question, and 5 means you feel very confident.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C2564F7E-689E-724F-BBC4-EC8DFC52E66C}"/>
              </a:ext>
            </a:extLst>
          </p:cNvPr>
          <p:cNvSpPr/>
          <p:nvPr/>
        </p:nvSpPr>
        <p:spPr>
          <a:xfrm>
            <a:off x="-14034" y="-8224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68E772C-60B6-4F38-AF3F-69385FD900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7132416"/>
                  </p:ext>
                </p:extLst>
              </p:nvPr>
            </p:nvGraphicFramePr>
            <p:xfrm>
              <a:off x="2351621" y="3480016"/>
              <a:ext cx="7488757" cy="2544891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5424878">
                      <a:extLst>
                        <a:ext uri="{9D8B030D-6E8A-4147-A177-3AD203B41FA5}">
                          <a16:colId xmlns:a16="http://schemas.microsoft.com/office/drawing/2014/main" val="13882633"/>
                        </a:ext>
                      </a:extLst>
                    </a:gridCol>
                    <a:gridCol w="2063879">
                      <a:extLst>
                        <a:ext uri="{9D8B030D-6E8A-4147-A177-3AD203B41FA5}">
                          <a16:colId xmlns:a16="http://schemas.microsoft.com/office/drawing/2014/main" val="203857650"/>
                        </a:ext>
                      </a:extLst>
                    </a:gridCol>
                  </a:tblGrid>
                  <a:tr h="59599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Problem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Confidence Level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5778778"/>
                      </a:ext>
                    </a:extLst>
                  </a:tr>
                  <a:tr h="49029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Rewrite </a:t>
                          </a:r>
                          <a14:m>
                            <m:oMath xmlns:m="http://schemas.openxmlformats.org/officeDocument/2006/math">
                              <m:r>
                                <a:rPr lang="en-US" sz="19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f>
                                <m:fPr>
                                  <m:ctrlPr>
                                    <a:rPr lang="en-US" sz="19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9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19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in its equivalent decimal form.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98065340"/>
                      </a:ext>
                    </a:extLst>
                  </a:tr>
                  <a:tr h="59920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Rewrite </a:t>
                          </a:r>
                          <a14:m>
                            <m:oMath xmlns:m="http://schemas.openxmlformats.org/officeDocument/2006/math">
                              <m:r>
                                <a:rPr lang="en-US" sz="19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0.625</m:t>
                              </m:r>
                            </m:oMath>
                          </a14:m>
                          <a:r>
                            <a:rPr lang="en-US" sz="19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as a fraction with the same value.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4439889"/>
                      </a:ext>
                    </a:extLst>
                  </a:tr>
                  <a:tr h="40190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Rewrite </a:t>
                          </a:r>
                          <a14:m>
                            <m:oMath xmlns:m="http://schemas.openxmlformats.org/officeDocument/2006/math">
                              <m:r>
                                <a:rPr lang="en-US" sz="19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0.9</m:t>
                              </m:r>
                            </m:oMath>
                          </a14:m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 as an equivalent percentage.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5036560"/>
                      </a:ext>
                    </a:extLst>
                  </a:tr>
                  <a:tr h="45749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Rewrite </a:t>
                          </a:r>
                          <a14:m>
                            <m:oMath xmlns:m="http://schemas.openxmlformats.org/officeDocument/2006/math">
                              <m:r>
                                <a:rPr lang="en-US" sz="19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75%</m:t>
                              </m:r>
                            </m:oMath>
                          </a14:m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 in its equivalent decimal form.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658607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68E772C-60B6-4F38-AF3F-69385FD900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7132416"/>
                  </p:ext>
                </p:extLst>
              </p:nvPr>
            </p:nvGraphicFramePr>
            <p:xfrm>
              <a:off x="2351621" y="3480016"/>
              <a:ext cx="7488757" cy="2544891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5424878">
                      <a:extLst>
                        <a:ext uri="{9D8B030D-6E8A-4147-A177-3AD203B41FA5}">
                          <a16:colId xmlns:a16="http://schemas.microsoft.com/office/drawing/2014/main" val="13882633"/>
                        </a:ext>
                      </a:extLst>
                    </a:gridCol>
                    <a:gridCol w="2063879">
                      <a:extLst>
                        <a:ext uri="{9D8B030D-6E8A-4147-A177-3AD203B41FA5}">
                          <a16:colId xmlns:a16="http://schemas.microsoft.com/office/drawing/2014/main" val="203857650"/>
                        </a:ext>
                      </a:extLst>
                    </a:gridCol>
                  </a:tblGrid>
                  <a:tr h="59599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Problem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Confidence Level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5778778"/>
                      </a:ext>
                    </a:extLst>
                  </a:tr>
                  <a:tr h="4902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4" t="-141026" r="-38642" b="-3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98065340"/>
                      </a:ext>
                    </a:extLst>
                  </a:tr>
                  <a:tr h="5992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4" t="-200000" r="-38642" b="-1553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4439889"/>
                      </a:ext>
                    </a:extLst>
                  </a:tr>
                  <a:tr h="4019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4" t="-440625" r="-38642" b="-1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75036560"/>
                      </a:ext>
                    </a:extLst>
                  </a:tr>
                  <a:tr h="4574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4" t="-480556" r="-38642" b="-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658607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519074" y="276197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2241" y="284575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94</a:t>
            </a: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7332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3.1.2 Guided Instruction: Fraction and Decimal Conversions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94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F7A98FFB-A3E6-7642-B96E-3A3B8C27BD7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3F8ABE-4908-41ED-B285-B0110B56739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8342" y="1264645"/>
            <a:ext cx="3435315" cy="220039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762DCDB-18B7-4080-8C3D-23552A9FF570}"/>
              </a:ext>
            </a:extLst>
          </p:cNvPr>
          <p:cNvGrpSpPr/>
          <p:nvPr/>
        </p:nvGrpSpPr>
        <p:grpSpPr>
          <a:xfrm>
            <a:off x="2942075" y="3654697"/>
            <a:ext cx="6629400" cy="3003078"/>
            <a:chOff x="2031300" y="3275735"/>
            <a:chExt cx="6629400" cy="300313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74DB971-2FC0-44C3-9835-F3DE3B4B5709}"/>
                </a:ext>
              </a:extLst>
            </p:cNvPr>
            <p:cNvGrpSpPr/>
            <p:nvPr/>
          </p:nvGrpSpPr>
          <p:grpSpPr>
            <a:xfrm>
              <a:off x="2031300" y="3275735"/>
              <a:ext cx="6629400" cy="3003135"/>
              <a:chOff x="0" y="0"/>
              <a:chExt cx="6629400" cy="300313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4FFF2E0-1CD3-4638-AD19-59A9D2D1699A}"/>
                  </a:ext>
                </a:extLst>
              </p:cNvPr>
              <p:cNvSpPr/>
              <p:nvPr/>
            </p:nvSpPr>
            <p:spPr>
              <a:xfrm>
                <a:off x="0" y="0"/>
                <a:ext cx="6629400" cy="1008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>
                    <a:latin typeface="Calibri" panose="020F0502020204030204" pitchFamily="34" charset="0"/>
                    <a:ea typeface="Calibri" panose="020F0502020204030204" pitchFamily="34" charset="0"/>
                  </a:rPr>
                  <a:t> </a:t>
                </a: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517C82F-308E-4FA7-B2B4-6E5B73A1C32F}"/>
                  </a:ext>
                </a:extLst>
              </p:cNvPr>
              <p:cNvGrpSpPr/>
              <p:nvPr/>
            </p:nvGrpSpPr>
            <p:grpSpPr>
              <a:xfrm>
                <a:off x="0" y="0"/>
                <a:ext cx="6629400" cy="3003135"/>
                <a:chOff x="0" y="0"/>
                <a:chExt cx="6629400" cy="3003135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7B315A4B-B2C7-4F6C-8B20-770F84B7F9D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>
                      <a:latin typeface="Calibri" panose="020F0502020204030204" pitchFamily="34" charset="0"/>
                      <a:ea typeface="Calibri" panose="020F0502020204030204" pitchFamily="34" charset="0"/>
                    </a:rPr>
                    <a:t> 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237ADFDD-20E9-4D06-B6DC-54B03134AF5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>
                      <a:latin typeface="Calibri" panose="020F0502020204030204" pitchFamily="34" charset="0"/>
                      <a:ea typeface="Calibri" panose="020F0502020204030204" pitchFamily="34" charset="0"/>
                    </a:rPr>
                    <a:t> 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Rounded Rectangle 13">
                      <a:extLst>
                        <a:ext uri="{FF2B5EF4-FFF2-40B4-BE49-F238E27FC236}">
                          <a16:creationId xmlns:a16="http://schemas.microsoft.com/office/drawing/2014/main" id="{C7BE8776-799E-4383-AA58-9806E436C6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6629400" cy="3003135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B8E6F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571500">
                        <a:lnSpc>
                          <a:spcPct val="107000"/>
                        </a:lnSpc>
                      </a:pPr>
                      <a:endParaRPr lang="en-US" sz="2000" dirty="0">
                        <a:solidFill>
                          <a:srgbClr val="1175BF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571500">
                        <a:lnSpc>
                          <a:spcPct val="107000"/>
                        </a:lnSpc>
                      </a:pPr>
                      <a:endParaRPr lang="en-US" sz="2000" dirty="0">
                        <a:solidFill>
                          <a:srgbClr val="1175BF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571500">
                        <a:lnSpc>
                          <a:spcPct val="107000"/>
                        </a:lnSpc>
                      </a:pPr>
                      <a:endParaRPr lang="en-US" sz="2000" dirty="0">
                        <a:solidFill>
                          <a:srgbClr val="1175BF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571500">
                        <a:lnSpc>
                          <a:spcPct val="107000"/>
                        </a:lnSpc>
                      </a:pPr>
                      <a:endParaRPr lang="en-US" sz="2000" dirty="0">
                        <a:solidFill>
                          <a:srgbClr val="1175BF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571500">
                        <a:lnSpc>
                          <a:spcPct val="107000"/>
                        </a:lnSpc>
                      </a:pPr>
                      <a:endParaRPr lang="en-US" sz="2000" dirty="0">
                        <a:solidFill>
                          <a:srgbClr val="1175BF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571500">
                        <a:lnSpc>
                          <a:spcPct val="107000"/>
                        </a:lnSpc>
                      </a:pPr>
                      <a:endParaRPr lang="en-US" sz="2000" dirty="0">
                        <a:solidFill>
                          <a:srgbClr val="1175BF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571500">
                        <a:lnSpc>
                          <a:spcPct val="107000"/>
                        </a:lnSpc>
                      </a:pPr>
                      <a:endParaRPr lang="en-US" sz="2000" dirty="0">
                        <a:solidFill>
                          <a:srgbClr val="1175BF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571500">
                        <a:lnSpc>
                          <a:spcPct val="107000"/>
                        </a:lnSpc>
                      </a:pPr>
                      <a:endParaRPr lang="en-US" sz="2000" dirty="0">
                        <a:solidFill>
                          <a:srgbClr val="1175BF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571500">
                        <a:lnSpc>
                          <a:spcPct val="107000"/>
                        </a:lnSpc>
                      </a:pPr>
                      <a:endParaRPr lang="en-US" sz="2000" dirty="0">
                        <a:solidFill>
                          <a:srgbClr val="1175BF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571500">
                        <a:lnSpc>
                          <a:spcPct val="107000"/>
                        </a:lnSpc>
                      </a:pPr>
                      <a:endParaRPr lang="en-US" sz="2000" dirty="0">
                        <a:solidFill>
                          <a:srgbClr val="1175BF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571500">
                        <a:lnSpc>
                          <a:spcPct val="107000"/>
                        </a:lnSpc>
                      </a:pPr>
                      <a:r>
                        <a:rPr lang="en-US" sz="2000" dirty="0">
                          <a:solidFill>
                            <a:srgbClr val="11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place value of a number provides the numerical value that a digit has by virtue of its position in a number.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571500">
                        <a:lnSpc>
                          <a:spcPct val="107000"/>
                        </a:lnSpc>
                      </a:pPr>
                      <a:r>
                        <a:rPr lang="en-US" sz="2000" dirty="0">
                          <a:solidFill>
                            <a:srgbClr val="11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571500">
                        <a:lnSpc>
                          <a:spcPct val="107000"/>
                        </a:lnSpc>
                      </a:pPr>
                      <a:r>
                        <a:rPr lang="en-US" sz="2000" dirty="0">
                          <a:solidFill>
                            <a:srgbClr val="11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Example: In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11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278.493</m:t>
                          </m:r>
                        </m:oMath>
                      </a14:m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571500">
                        <a:lnSpc>
                          <a:spcPct val="107000"/>
                        </a:lnSpc>
                      </a:pPr>
                      <a:r>
                        <a:rPr lang="en-US" sz="2000" dirty="0">
                          <a:solidFill>
                            <a:srgbClr val="11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11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8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11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is in the </a:t>
                      </a:r>
                      <a:r>
                        <a:rPr lang="en-US" sz="2000" b="1" dirty="0">
                          <a:solidFill>
                            <a:srgbClr val="11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ones</a:t>
                      </a:r>
                      <a:r>
                        <a:rPr lang="en-US" sz="2000" dirty="0">
                          <a:solidFill>
                            <a:srgbClr val="11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place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571500">
                        <a:lnSpc>
                          <a:spcPct val="107000"/>
                        </a:lnSpc>
                      </a:pPr>
                      <a:r>
                        <a:rPr lang="en-US" sz="2000" dirty="0">
                          <a:solidFill>
                            <a:srgbClr val="11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11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4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11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is in the </a:t>
                      </a:r>
                      <a:r>
                        <a:rPr lang="en-US" sz="2000" b="1" dirty="0">
                          <a:solidFill>
                            <a:srgbClr val="11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tenths</a:t>
                      </a:r>
                      <a:r>
                        <a:rPr lang="en-US" sz="2000" dirty="0">
                          <a:solidFill>
                            <a:srgbClr val="11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place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571500">
                        <a:lnSpc>
                          <a:spcPct val="107000"/>
                        </a:lnSpc>
                      </a:pPr>
                      <a:r>
                        <a:rPr lang="en-US" sz="2000" dirty="0">
                          <a:solidFill>
                            <a:srgbClr val="11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11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9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11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is in the </a:t>
                      </a:r>
                      <a:r>
                        <a:rPr lang="en-US" sz="2000" b="1" dirty="0">
                          <a:solidFill>
                            <a:srgbClr val="11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hundredths</a:t>
                      </a:r>
                      <a:r>
                        <a:rPr lang="en-US" sz="2000" dirty="0">
                          <a:solidFill>
                            <a:srgbClr val="11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place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571500">
                        <a:lnSpc>
                          <a:spcPct val="107000"/>
                        </a:lnSpc>
                      </a:pPr>
                      <a:r>
                        <a:rPr lang="en-US" sz="2000" dirty="0">
                          <a:solidFill>
                            <a:srgbClr val="11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11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3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11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is in the </a:t>
                      </a:r>
                      <a:r>
                        <a:rPr lang="en-US" sz="2000" b="1" dirty="0">
                          <a:solidFill>
                            <a:srgbClr val="11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thousandths</a:t>
                      </a:r>
                      <a:r>
                        <a:rPr lang="en-US" sz="2000" dirty="0">
                          <a:solidFill>
                            <a:srgbClr val="11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place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latin typeface="Verdana" panose="020B060403050404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 marL="74295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</a:p>
                  </p:txBody>
                </p:sp>
              </mc:Choice>
              <mc:Fallback xmlns="">
                <p:sp>
                  <p:nvSpPr>
                    <p:cNvPr id="20" name="Rounded Rectangle 13">
                      <a:extLst>
                        <a:ext uri="{FF2B5EF4-FFF2-40B4-BE49-F238E27FC236}">
                          <a16:creationId xmlns:a16="http://schemas.microsoft.com/office/drawing/2014/main" id="{C7BE8776-799E-4383-AA58-9806E436C60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0"/>
                      <a:ext cx="6629400" cy="3003135"/>
                    </a:xfrm>
                    <a:prstGeom prst="roundRect">
                      <a:avLst>
                        <a:gd name="adj" fmla="val 16667"/>
                      </a:avLst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pic>
            <p:nvPicPr>
              <p:cNvPr id="17" name="Shape 15" descr="Icon&#10;&#10;Description automatically generated">
                <a:extLst>
                  <a:ext uri="{FF2B5EF4-FFF2-40B4-BE49-F238E27FC236}">
                    <a16:creationId xmlns:a16="http://schemas.microsoft.com/office/drawing/2014/main" id="{B037EDBF-2F10-47ED-B7CF-5CAEDCF04071}"/>
                  </a:ext>
                </a:extLst>
              </p:cNvPr>
              <p:cNvPicPr preferRelativeResize="0"/>
              <p:nvPr/>
            </p:nvPicPr>
            <p:blipFill rotWithShape="1">
              <a:blip r:embed="rId7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83914" y="140504"/>
                <a:ext cx="539750" cy="53975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17957" y="345896"/>
                <a:ext cx="11364468" cy="5367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original number to fill in the missing digits and place values.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number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0.08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>
                  <a:lnSpc>
                    <a:spcPct val="107000"/>
                  </a:lnSpc>
                  <a:tabLst>
                    <a:tab pos="17907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914400" indent="-452438">
                  <a:lnSpc>
                    <a:spcPct val="107000"/>
                  </a:lnSpc>
                  <a:buFont typeface="+mj-lt"/>
                  <a:buAutoNum type="alphaLcPeriod"/>
                  <a:tabLst>
                    <a:tab pos="17907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the number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0.08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what is the place value of the final digit?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57" y="345896"/>
                <a:ext cx="11364468" cy="5367623"/>
              </a:xfrm>
              <a:prstGeom prst="rect">
                <a:avLst/>
              </a:prstGeom>
              <a:blipFill>
                <a:blip r:embed="rId4"/>
                <a:stretch>
                  <a:fillRect l="-670" t="-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631F799-19EA-479B-ADCD-32BD865D84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0640200"/>
                  </p:ext>
                </p:extLst>
              </p:nvPr>
            </p:nvGraphicFramePr>
            <p:xfrm>
              <a:off x="3046787" y="951983"/>
              <a:ext cx="6098426" cy="3062066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032384">
                      <a:extLst>
                        <a:ext uri="{9D8B030D-6E8A-4147-A177-3AD203B41FA5}">
                          <a16:colId xmlns:a16="http://schemas.microsoft.com/office/drawing/2014/main" val="3854840494"/>
                        </a:ext>
                      </a:extLst>
                    </a:gridCol>
                    <a:gridCol w="2033021">
                      <a:extLst>
                        <a:ext uri="{9D8B030D-6E8A-4147-A177-3AD203B41FA5}">
                          <a16:colId xmlns:a16="http://schemas.microsoft.com/office/drawing/2014/main" val="3127790582"/>
                        </a:ext>
                      </a:extLst>
                    </a:gridCol>
                    <a:gridCol w="2033021">
                      <a:extLst>
                        <a:ext uri="{9D8B030D-6E8A-4147-A177-3AD203B41FA5}">
                          <a16:colId xmlns:a16="http://schemas.microsoft.com/office/drawing/2014/main" val="4038185520"/>
                        </a:ext>
                      </a:extLst>
                    </a:gridCol>
                  </a:tblGrid>
                  <a:tr h="70741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Original Number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Digit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Place Value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5051132"/>
                      </a:ext>
                    </a:extLst>
                  </a:tr>
                  <a:tr h="56100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422.54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Tenths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6338004"/>
                      </a:ext>
                    </a:extLst>
                  </a:tr>
                  <a:tr h="56100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5.276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Ones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03800067"/>
                      </a:ext>
                    </a:extLst>
                  </a:tr>
                  <a:tr h="56100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12.749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1720970"/>
                      </a:ext>
                    </a:extLst>
                  </a:tr>
                  <a:tr h="67163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3.826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Thousandths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700826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631F799-19EA-479B-ADCD-32BD865D84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0640200"/>
                  </p:ext>
                </p:extLst>
              </p:nvPr>
            </p:nvGraphicFramePr>
            <p:xfrm>
              <a:off x="3046787" y="951983"/>
              <a:ext cx="6098426" cy="3062066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032384">
                      <a:extLst>
                        <a:ext uri="{9D8B030D-6E8A-4147-A177-3AD203B41FA5}">
                          <a16:colId xmlns:a16="http://schemas.microsoft.com/office/drawing/2014/main" val="3854840494"/>
                        </a:ext>
                      </a:extLst>
                    </a:gridCol>
                    <a:gridCol w="2033021">
                      <a:extLst>
                        <a:ext uri="{9D8B030D-6E8A-4147-A177-3AD203B41FA5}">
                          <a16:colId xmlns:a16="http://schemas.microsoft.com/office/drawing/2014/main" val="3127790582"/>
                        </a:ext>
                      </a:extLst>
                    </a:gridCol>
                    <a:gridCol w="2033021">
                      <a:extLst>
                        <a:ext uri="{9D8B030D-6E8A-4147-A177-3AD203B41FA5}">
                          <a16:colId xmlns:a16="http://schemas.microsoft.com/office/drawing/2014/main" val="4038185520"/>
                        </a:ext>
                      </a:extLst>
                    </a:gridCol>
                  </a:tblGrid>
                  <a:tr h="70741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Original Number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Digit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Place Value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5051132"/>
                      </a:ext>
                    </a:extLst>
                  </a:tr>
                  <a:tr h="561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31111" r="-200000" b="-3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625" t="-131111" r="-101250" b="-31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Tenths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6338004"/>
                      </a:ext>
                    </a:extLst>
                  </a:tr>
                  <a:tr h="561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36364" r="-200000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Ones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03800067"/>
                      </a:ext>
                    </a:extLst>
                  </a:tr>
                  <a:tr h="5610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28889" r="-200000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625" t="-328889" r="-101250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1720970"/>
                      </a:ext>
                    </a:extLst>
                  </a:tr>
                  <a:tr h="6716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64151" r="-200000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Thousandths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700826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6"/>
            <a:ext cx="26340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94</a:t>
            </a:r>
          </a:p>
          <a:p>
            <a:pPr algn="r"/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-1" y="263750"/>
                <a:ext cx="11972925" cy="3311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2438">
                  <a:lnSpc>
                    <a:spcPct val="107000"/>
                  </a:lnSpc>
                  <a:buFont typeface="+mj-lt"/>
                  <a:buAutoNum type="alphaLcPeriod" startAt="2"/>
                  <a:tabLst>
                    <a:tab pos="17907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written description of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2"/>
                  <a:tabLst>
                    <a:tab pos="17907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2"/>
                  <a:tabLst>
                    <a:tab pos="17907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2"/>
                  <a:tabLst>
                    <a:tab pos="17907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2"/>
                  <a:tabLst>
                    <a:tab pos="17907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 startAt="2"/>
                  <a:tabLst>
                    <a:tab pos="17907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2438">
                  <a:lnSpc>
                    <a:spcPct val="107000"/>
                  </a:lnSpc>
                  <a:buFont typeface="+mj-lt"/>
                  <a:buAutoNum type="alphaLcPeriod" startAt="2"/>
                  <a:tabLst>
                    <a:tab pos="17907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D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iscuss with your partner any similarities or differences between the decimal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0.08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63750"/>
                <a:ext cx="11972925" cy="33115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-8224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8BA520A-B653-42B3-AE83-B26841720780}"/>
              </a:ext>
            </a:extLst>
          </p:cNvPr>
          <p:cNvGrpSpPr/>
          <p:nvPr/>
        </p:nvGrpSpPr>
        <p:grpSpPr>
          <a:xfrm>
            <a:off x="2372572" y="4324407"/>
            <a:ext cx="7227778" cy="1384160"/>
            <a:chOff x="1755725" y="2972416"/>
            <a:chExt cx="7227778" cy="138489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76AB960-BAC2-4A08-977D-206CB6F77066}"/>
                </a:ext>
              </a:extLst>
            </p:cNvPr>
            <p:cNvGrpSpPr/>
            <p:nvPr/>
          </p:nvGrpSpPr>
          <p:grpSpPr>
            <a:xfrm>
              <a:off x="1755725" y="2972416"/>
              <a:ext cx="7227778" cy="1384891"/>
              <a:chOff x="-275575" y="-303319"/>
              <a:chExt cx="7227778" cy="1384891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D2745ED-D9DB-402F-BCF2-F4D2A89E77EC}"/>
                  </a:ext>
                </a:extLst>
              </p:cNvPr>
              <p:cNvSpPr/>
              <p:nvPr/>
            </p:nvSpPr>
            <p:spPr>
              <a:xfrm>
                <a:off x="0" y="0"/>
                <a:ext cx="6629400" cy="1008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>
                    <a:latin typeface="Calibri" panose="020F0502020204030204" pitchFamily="34" charset="0"/>
                    <a:ea typeface="Calibri" panose="020F0502020204030204" pitchFamily="34" charset="0"/>
                  </a:rPr>
                  <a:t> </a:t>
                </a: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83BAF53-FC8C-4BD5-9F08-551E086D5C65}"/>
                  </a:ext>
                </a:extLst>
              </p:cNvPr>
              <p:cNvGrpSpPr/>
              <p:nvPr/>
            </p:nvGrpSpPr>
            <p:grpSpPr>
              <a:xfrm>
                <a:off x="-275575" y="-303319"/>
                <a:ext cx="7227778" cy="1384891"/>
                <a:chOff x="-275575" y="-303319"/>
                <a:chExt cx="7227778" cy="1384891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C57B732-AEB7-4507-A8D6-B055149A62D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>
                      <a:latin typeface="Calibri" panose="020F0502020204030204" pitchFamily="34" charset="0"/>
                      <a:ea typeface="Calibri" panose="020F0502020204030204" pitchFamily="34" charset="0"/>
                    </a:rPr>
                    <a:t> 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AFE03937-B0E5-4167-947C-CB0DAB88D32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>
                      <a:latin typeface="Calibri" panose="020F0502020204030204" pitchFamily="34" charset="0"/>
                      <a:ea typeface="Calibri" panose="020F0502020204030204" pitchFamily="34" charset="0"/>
                    </a:rPr>
                    <a:t> </a:t>
                  </a:r>
                </a:p>
              </p:txBody>
            </p:sp>
            <p:sp>
              <p:nvSpPr>
                <p:cNvPr id="15" name="Rounded Rectangle 27">
                  <a:extLst>
                    <a:ext uri="{FF2B5EF4-FFF2-40B4-BE49-F238E27FC236}">
                      <a16:creationId xmlns:a16="http://schemas.microsoft.com/office/drawing/2014/main" id="{656DD1A9-62A7-443C-8ECA-837920C1B63A}"/>
                    </a:ext>
                  </a:extLst>
                </p:cNvPr>
                <p:cNvSpPr/>
                <p:nvPr/>
              </p:nvSpPr>
              <p:spPr>
                <a:xfrm>
                  <a:off x="-275575" y="-303319"/>
                  <a:ext cx="7227778" cy="1384891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628650">
                    <a:lnSpc>
                      <a:spcPct val="107000"/>
                    </a:lnSpc>
                  </a:pPr>
                  <a:endParaRPr lang="en-US" sz="1800" dirty="0">
                    <a:solidFill>
                      <a:srgbClr val="11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  <a:p>
                  <a:pPr marL="628650">
                    <a:lnSpc>
                      <a:spcPct val="107000"/>
                    </a:lnSpc>
                  </a:pPr>
                  <a:endParaRPr lang="en-US" sz="1800" dirty="0">
                    <a:solidFill>
                      <a:srgbClr val="11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  <a:p>
                  <a:pPr marL="628650">
                    <a:lnSpc>
                      <a:spcPct val="107000"/>
                    </a:lnSpc>
                  </a:pPr>
                  <a:endParaRPr lang="en-US" sz="2000" dirty="0">
                    <a:solidFill>
                      <a:srgbClr val="1175BF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  <a:p>
                  <a:pPr marL="628650">
                    <a:lnSpc>
                      <a:spcPct val="107000"/>
                    </a:lnSpc>
                  </a:pPr>
                  <a:r>
                    <a:rPr lang="en-US" sz="2000" dirty="0">
                      <a:solidFill>
                        <a:srgbClr val="11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When rewriting a decimal that is greater than </a:t>
                  </a:r>
                  <a:r>
                    <a:rPr lang="en-US" sz="2000" dirty="0">
                      <a:solidFill>
                        <a:srgbClr val="1175BF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Verdana" panose="020B0604030504040204" pitchFamily="34" charset="0"/>
                    </a:rPr>
                    <a:t>0</a:t>
                  </a:r>
                  <a:r>
                    <a:rPr lang="en-US" sz="2000" dirty="0">
                      <a:solidFill>
                        <a:srgbClr val="11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but less than </a:t>
                  </a:r>
                  <a:r>
                    <a:rPr lang="en-US" sz="2000" dirty="0">
                      <a:solidFill>
                        <a:srgbClr val="1175BF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Verdana" panose="020B0604030504040204" pitchFamily="34" charset="0"/>
                    </a:rPr>
                    <a:t>1</a:t>
                  </a:r>
                  <a:r>
                    <a:rPr lang="en-US" sz="2000" dirty="0">
                      <a:solidFill>
                        <a:srgbClr val="11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as an equivalent fraction, use the place value of the final digit to determine the denominator of the fraction.</a:t>
                  </a:r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2000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 </a:t>
                  </a:r>
                </a:p>
                <a:p>
                  <a:pPr marL="742950" indent="742950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2000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 </a:t>
                  </a:r>
                </a:p>
              </p:txBody>
            </p:sp>
          </p:grpSp>
          <p:pic>
            <p:nvPicPr>
              <p:cNvPr id="11" name="Shape 15" descr="Icon&#10;&#10;Description automatically generated">
                <a:extLst>
                  <a:ext uri="{FF2B5EF4-FFF2-40B4-BE49-F238E27FC236}">
                    <a16:creationId xmlns:a16="http://schemas.microsoft.com/office/drawing/2014/main" id="{7013ED73-3516-4FF6-BF70-9DBC1D840BBD}"/>
                  </a:ext>
                </a:extLst>
              </p:cNvPr>
              <p:cNvPicPr preferRelativeResize="0"/>
              <p:nvPr/>
            </p:nvPicPr>
            <p:blipFill rotWithShape="1">
              <a:blip r:embed="rId5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-101892" y="-150624"/>
                <a:ext cx="539750" cy="53975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</p:spTree>
    <p:extLst>
      <p:ext uri="{BB962C8B-B14F-4D97-AF65-F5344CB8AC3E}">
        <p14:creationId xmlns:p14="http://schemas.microsoft.com/office/powerpoint/2010/main" val="1440162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-165113" y="318954"/>
                <a:ext cx="11204588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2438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In the decimal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, the final digit is in the  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                   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                                      place, so               is the equivalent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fraction form. </a:t>
                </a: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519113" indent="-61913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914400" indent="-452438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the decimal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0.037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final digit is in the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</a:p>
              <a:p>
                <a:pPr marL="914400" indent="-452438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914400" indent="-452438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61962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                                place, so               is the equivalent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fraction form. 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                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5113" y="318954"/>
                <a:ext cx="11204588" cy="5632311"/>
              </a:xfrm>
              <a:prstGeom prst="rect">
                <a:avLst/>
              </a:prstGeom>
              <a:blipFill>
                <a:blip r:embed="rId4"/>
                <a:stretch>
                  <a:fillRect t="-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6" name="Rounded Rectangle 1">
            <a:extLst>
              <a:ext uri="{FF2B5EF4-FFF2-40B4-BE49-F238E27FC236}">
                <a16:creationId xmlns:a16="http://schemas.microsoft.com/office/drawing/2014/main" id="{A14C47CA-5E3A-420D-A7B6-521B64490CB2}"/>
              </a:ext>
            </a:extLst>
          </p:cNvPr>
          <p:cNvSpPr/>
          <p:nvPr/>
        </p:nvSpPr>
        <p:spPr>
          <a:xfrm>
            <a:off x="769013" y="836088"/>
            <a:ext cx="2255070" cy="11119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tenths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hundredths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thousandths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2">
                <a:extLst>
                  <a:ext uri="{FF2B5EF4-FFF2-40B4-BE49-F238E27FC236}">
                    <a16:creationId xmlns:a16="http://schemas.microsoft.com/office/drawing/2014/main" id="{0F011B36-9417-43C2-B3BC-6AD6AB00FD51}"/>
                  </a:ext>
                </a:extLst>
              </p:cNvPr>
              <p:cNvSpPr/>
              <p:nvPr/>
            </p:nvSpPr>
            <p:spPr>
              <a:xfrm>
                <a:off x="4606666" y="692685"/>
                <a:ext cx="1024671" cy="1622473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342900" indent="-342900">
                  <a:lnSpc>
                    <a:spcPct val="107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ounded Rectangle 2">
                <a:extLst>
                  <a:ext uri="{FF2B5EF4-FFF2-40B4-BE49-F238E27FC236}">
                    <a16:creationId xmlns:a16="http://schemas.microsoft.com/office/drawing/2014/main" id="{0F011B36-9417-43C2-B3BC-6AD6AB00FD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6666" y="692685"/>
                <a:ext cx="1024671" cy="16224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5">
            <a:extLst>
              <a:ext uri="{FF2B5EF4-FFF2-40B4-BE49-F238E27FC236}">
                <a16:creationId xmlns:a16="http://schemas.microsoft.com/office/drawing/2014/main" id="{9A1C7602-5C8D-4ADB-9CC5-8394ECFD2158}"/>
              </a:ext>
            </a:extLst>
          </p:cNvPr>
          <p:cNvSpPr/>
          <p:nvPr/>
        </p:nvSpPr>
        <p:spPr>
          <a:xfrm>
            <a:off x="769013" y="3615314"/>
            <a:ext cx="2255070" cy="111199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tenths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hundredths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thousandths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6">
                <a:extLst>
                  <a:ext uri="{FF2B5EF4-FFF2-40B4-BE49-F238E27FC236}">
                    <a16:creationId xmlns:a16="http://schemas.microsoft.com/office/drawing/2014/main" id="{236C3FB3-A670-46EC-B3F8-1DFEB5EE8BAE}"/>
                  </a:ext>
                </a:extLst>
              </p:cNvPr>
              <p:cNvSpPr/>
              <p:nvPr/>
            </p:nvSpPr>
            <p:spPr>
              <a:xfrm>
                <a:off x="4606666" y="3518462"/>
                <a:ext cx="1014622" cy="165967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342900" indent="-342900">
                  <a:lnSpc>
                    <a:spcPct val="107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ounded Rectangle 6">
                <a:extLst>
                  <a:ext uri="{FF2B5EF4-FFF2-40B4-BE49-F238E27FC236}">
                    <a16:creationId xmlns:a16="http://schemas.microsoft.com/office/drawing/2014/main" id="{236C3FB3-A670-46EC-B3F8-1DFEB5EE8B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6666" y="3518462"/>
                <a:ext cx="1014622" cy="1659674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5447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304614" y="260171"/>
                <a:ext cx="11715936" cy="2160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fraction can be converted into its equivalent decimal form by dividing the </a:t>
                </a:r>
                <a:r>
                  <a:rPr lang="en-US" sz="20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numerator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the </a:t>
                </a:r>
                <a:r>
                  <a:rPr lang="en-US" sz="20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denominator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convert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a decimal, divide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completing the diagram below.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                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14" y="260171"/>
                <a:ext cx="11715936" cy="2160848"/>
              </a:xfrm>
              <a:prstGeom prst="rect">
                <a:avLst/>
              </a:prstGeom>
              <a:blipFill>
                <a:blip r:embed="rId4"/>
                <a:stretch>
                  <a:fillRect l="-650" t="-2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-34994" y="-8225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3FEACF-EDE0-43C4-8847-0CA36C65593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0459" y="2953645"/>
            <a:ext cx="3355688" cy="375293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93BEB84-05DD-4F1E-A18F-86D3387DCFD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8303" y="1888519"/>
            <a:ext cx="1818907" cy="10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361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30168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96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43784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9840" y="1105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55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3.1.3 Guided Practice: Fraction and Decimal Conversions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96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731520" y="1336755"/>
            <a:ext cx="113652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by converting each decimal to an equivalent fraction. If possible, write the equivalent fraction so that the numerator and denominator have no common factors.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A3E0058B-C607-174E-B439-E4D3192A9DB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680A880-6968-49B5-AC1A-5F967C74B3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9476056"/>
                  </p:ext>
                </p:extLst>
              </p:nvPr>
            </p:nvGraphicFramePr>
            <p:xfrm>
              <a:off x="4455714" y="2658626"/>
              <a:ext cx="3280571" cy="3854386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640126">
                      <a:extLst>
                        <a:ext uri="{9D8B030D-6E8A-4147-A177-3AD203B41FA5}">
                          <a16:colId xmlns:a16="http://schemas.microsoft.com/office/drawing/2014/main" val="2073759614"/>
                        </a:ext>
                      </a:extLst>
                    </a:gridCol>
                    <a:gridCol w="1640445">
                      <a:extLst>
                        <a:ext uri="{9D8B030D-6E8A-4147-A177-3AD203B41FA5}">
                          <a16:colId xmlns:a16="http://schemas.microsoft.com/office/drawing/2014/main" val="1637964556"/>
                        </a:ext>
                      </a:extLst>
                    </a:gridCol>
                  </a:tblGrid>
                  <a:tr h="57303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Decimal Form</a:t>
                          </a:r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Fraction Form</a:t>
                          </a:r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3160669"/>
                      </a:ext>
                    </a:extLst>
                  </a:tr>
                  <a:tr h="87574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37098491"/>
                      </a:ext>
                    </a:extLst>
                  </a:tr>
                  <a:tr h="8078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31281483"/>
                      </a:ext>
                    </a:extLst>
                  </a:tr>
                  <a:tr h="8078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04234805"/>
                      </a:ext>
                    </a:extLst>
                  </a:tr>
                  <a:tr h="73962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0.005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452275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680A880-6968-49B5-AC1A-5F967C74B3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9476056"/>
                  </p:ext>
                </p:extLst>
              </p:nvPr>
            </p:nvGraphicFramePr>
            <p:xfrm>
              <a:off x="4455714" y="2658626"/>
              <a:ext cx="3280571" cy="3854386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640126">
                      <a:extLst>
                        <a:ext uri="{9D8B030D-6E8A-4147-A177-3AD203B41FA5}">
                          <a16:colId xmlns:a16="http://schemas.microsoft.com/office/drawing/2014/main" val="2073759614"/>
                        </a:ext>
                      </a:extLst>
                    </a:gridCol>
                    <a:gridCol w="1640445">
                      <a:extLst>
                        <a:ext uri="{9D8B030D-6E8A-4147-A177-3AD203B41FA5}">
                          <a16:colId xmlns:a16="http://schemas.microsoft.com/office/drawing/2014/main" val="1637964556"/>
                        </a:ext>
                      </a:extLst>
                    </a:gridCol>
                  </a:tblGrid>
                  <a:tr h="6233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Decimal Form</a:t>
                          </a:r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Fraction Form</a:t>
                          </a:r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3160669"/>
                      </a:ext>
                    </a:extLst>
                  </a:tr>
                  <a:tr h="8757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69" t="-81159" r="-100769" b="-2724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69" t="-81159" r="-769" b="-2724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098491"/>
                      </a:ext>
                    </a:extLst>
                  </a:tr>
                  <a:tr h="807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69" t="-195313" r="-100769" b="-1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31281483"/>
                      </a:ext>
                    </a:extLst>
                  </a:tr>
                  <a:tr h="807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69" t="-295313" r="-100769" b="-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04234805"/>
                      </a:ext>
                    </a:extLst>
                  </a:tr>
                  <a:tr h="739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69" t="-436207" r="-100769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37038" marR="37038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4522752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408431" y="334378"/>
            <a:ext cx="11869293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buFont typeface="+mj-lt"/>
              <a:buAutoNum type="arabicPeriod" startAt="2"/>
              <a:tabLst>
                <a:tab pos="196850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by rewriting each fraction as its equivalent decimal.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152CD2B-A4D4-A94A-8235-80385DFE97AA}"/>
              </a:ext>
            </a:extLst>
          </p:cNvPr>
          <p:cNvSpPr/>
          <p:nvPr/>
        </p:nvSpPr>
        <p:spPr>
          <a:xfrm>
            <a:off x="-10861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1E526CA-22FE-4057-9E97-98CBB9C72B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944239"/>
                  </p:ext>
                </p:extLst>
              </p:nvPr>
            </p:nvGraphicFramePr>
            <p:xfrm>
              <a:off x="3207099" y="928947"/>
              <a:ext cx="5777802" cy="5338115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335005">
                      <a:extLst>
                        <a:ext uri="{9D8B030D-6E8A-4147-A177-3AD203B41FA5}">
                          <a16:colId xmlns:a16="http://schemas.microsoft.com/office/drawing/2014/main" val="213833211"/>
                        </a:ext>
                      </a:extLst>
                    </a:gridCol>
                    <a:gridCol w="2914366">
                      <a:extLst>
                        <a:ext uri="{9D8B030D-6E8A-4147-A177-3AD203B41FA5}">
                          <a16:colId xmlns:a16="http://schemas.microsoft.com/office/drawing/2014/main" val="1497584374"/>
                        </a:ext>
                      </a:extLst>
                    </a:gridCol>
                    <a:gridCol w="1528431">
                      <a:extLst>
                        <a:ext uri="{9D8B030D-6E8A-4147-A177-3AD203B41FA5}">
                          <a16:colId xmlns:a16="http://schemas.microsoft.com/office/drawing/2014/main" val="2854797768"/>
                        </a:ext>
                      </a:extLst>
                    </a:gridCol>
                  </a:tblGrid>
                  <a:tr h="151500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Fraction Form</a:t>
                          </a:r>
                        </a:p>
                      </a:txBody>
                      <a:tcPr marL="30196" marR="301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Your Work</a:t>
                          </a:r>
                        </a:p>
                      </a:txBody>
                      <a:tcPr marL="30196" marR="301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Decimal Form</a:t>
                          </a:r>
                        </a:p>
                      </a:txBody>
                      <a:tcPr marL="30196" marR="301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2065730"/>
                      </a:ext>
                    </a:extLst>
                  </a:tr>
                  <a:tr h="127437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30196" marR="301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30196" marR="3019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30196" marR="301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52347827"/>
                      </a:ext>
                    </a:extLst>
                  </a:tr>
                  <a:tr h="127437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30196" marR="301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30196" marR="3019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30196" marR="301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69208323"/>
                      </a:ext>
                    </a:extLst>
                  </a:tr>
                  <a:tr h="127437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</a:endParaRPr>
                        </a:p>
                      </a:txBody>
                      <a:tcPr marL="30196" marR="301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30196" marR="3019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30196" marR="301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876009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1E526CA-22FE-4057-9E97-98CBB9C72B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944239"/>
                  </p:ext>
                </p:extLst>
              </p:nvPr>
            </p:nvGraphicFramePr>
            <p:xfrm>
              <a:off x="3207099" y="928947"/>
              <a:ext cx="5777802" cy="5338115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335005">
                      <a:extLst>
                        <a:ext uri="{9D8B030D-6E8A-4147-A177-3AD203B41FA5}">
                          <a16:colId xmlns:a16="http://schemas.microsoft.com/office/drawing/2014/main" val="213833211"/>
                        </a:ext>
                      </a:extLst>
                    </a:gridCol>
                    <a:gridCol w="2914366">
                      <a:extLst>
                        <a:ext uri="{9D8B030D-6E8A-4147-A177-3AD203B41FA5}">
                          <a16:colId xmlns:a16="http://schemas.microsoft.com/office/drawing/2014/main" val="1497584374"/>
                        </a:ext>
                      </a:extLst>
                    </a:gridCol>
                    <a:gridCol w="1528431">
                      <a:extLst>
                        <a:ext uri="{9D8B030D-6E8A-4147-A177-3AD203B41FA5}">
                          <a16:colId xmlns:a16="http://schemas.microsoft.com/office/drawing/2014/main" val="2854797768"/>
                        </a:ext>
                      </a:extLst>
                    </a:gridCol>
                  </a:tblGrid>
                  <a:tr h="151500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Fraction Form</a:t>
                          </a:r>
                        </a:p>
                      </a:txBody>
                      <a:tcPr marL="30196" marR="301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Your Work</a:t>
                          </a:r>
                        </a:p>
                      </a:txBody>
                      <a:tcPr marL="30196" marR="301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Decimal Form</a:t>
                          </a:r>
                        </a:p>
                      </a:txBody>
                      <a:tcPr marL="30196" marR="301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2065730"/>
                      </a:ext>
                    </a:extLst>
                  </a:tr>
                  <a:tr h="12743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0196" marR="301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18812" r="-33523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30196" marR="3019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30196" marR="301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52347827"/>
                      </a:ext>
                    </a:extLst>
                  </a:tr>
                  <a:tr h="12743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0196" marR="301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21000" r="-335238" b="-1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30196" marR="3019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30196" marR="301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69208323"/>
                      </a:ext>
                    </a:extLst>
                  </a:tr>
                  <a:tr h="12743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0196" marR="301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17822" r="-335238" b="-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30196" marR="30196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30196" marR="3019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876009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99888" y="28457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4575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97</a:t>
            </a:r>
          </a:p>
        </p:txBody>
      </p:sp>
    </p:spTree>
    <p:extLst>
      <p:ext uri="{BB962C8B-B14F-4D97-AF65-F5344CB8AC3E}">
        <p14:creationId xmlns:p14="http://schemas.microsoft.com/office/powerpoint/2010/main" val="3229980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7332" y="-8598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3.1.4 Guided Instruction: Decimal and Percentage Conversions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655886" y="1386025"/>
                <a:ext cx="11536114" cy="2700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Percentages can also be written as fractions with a denominator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or as a decimal.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66%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a fraction and as a decimal.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86" y="1386025"/>
                <a:ext cx="11536114" cy="2700868"/>
              </a:xfrm>
              <a:prstGeom prst="rect">
                <a:avLst/>
              </a:prstGeom>
              <a:blipFill>
                <a:blip r:embed="rId5"/>
                <a:stretch>
                  <a:fillRect l="-549"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F7A98FFB-A3E6-7642-B96E-3A3B8C27BD7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BA7E45DC-463F-45E6-92F2-4C02AE769E54}"/>
                  </a:ext>
                </a:extLst>
              </p:cNvPr>
              <p:cNvSpPr/>
              <p:nvPr/>
            </p:nvSpPr>
            <p:spPr>
              <a:xfrm>
                <a:off x="655886" y="1386025"/>
                <a:ext cx="6691630" cy="790575"/>
              </a:xfrm>
              <a:prstGeom prst="roundRect">
                <a:avLst/>
              </a:prstGeom>
              <a:solidFill>
                <a:srgbClr val="E3EFD5"/>
              </a:solidFill>
              <a:ln>
                <a:solidFill>
                  <a:srgbClr val="E3EFD5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000" dirty="0">
                    <a:solidFill>
                      <a:srgbClr val="6C993C"/>
                    </a:solidFill>
                    <a:effectLst>
                      <a:outerShdw blurRad="50800" dist="50800" dir="5400000" sx="0" sy="0" algn="ctr">
                        <a:srgbClr val="6C993C"/>
                      </a:outerShdw>
                    </a:effectLst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</a:t>
                </a:r>
                <a:r>
                  <a:rPr lang="en-US" sz="2000" b="1" i="1" dirty="0">
                    <a:solidFill>
                      <a:srgbClr val="6C993C"/>
                    </a:solidFill>
                    <a:effectLst>
                      <a:outerShdw blurRad="50800" dist="50800" dir="5400000" sx="0" sy="0" algn="ctr">
                        <a:srgbClr val="6C993C"/>
                      </a:outerShdw>
                    </a:effectLst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percentage</a:t>
                </a:r>
                <a:r>
                  <a:rPr lang="en-US" sz="2000" dirty="0">
                    <a:solidFill>
                      <a:srgbClr val="6C993C"/>
                    </a:solidFill>
                    <a:effectLst>
                      <a:outerShdw blurRad="50800" dist="50800" dir="5400000" sx="0" sy="0" algn="ctr">
                        <a:srgbClr val="6C993C"/>
                      </a:outerShdw>
                    </a:effectLst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ratio expressed as a fraction with a denominator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6C993C"/>
                        </a:solidFill>
                        <a:effectLst>
                          <a:outerShdw blurRad="50800" dist="50800" dir="5400000" sx="0" sy="0" algn="ctr">
                            <a:srgbClr val="6C993C"/>
                          </a:outerShdw>
                        </a:effectLst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000" dirty="0">
                    <a:solidFill>
                      <a:srgbClr val="6C993C"/>
                    </a:solidFill>
                    <a:effectLst>
                      <a:outerShdw blurRad="50800" dist="50800" dir="5400000" sx="0" sy="0" algn="ctr">
                        <a:srgbClr val="6C993C"/>
                      </a:outerShdw>
                    </a:effectLst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800" dirty="0">
                    <a:solidFill>
                      <a:srgbClr val="000000"/>
                    </a:solidFill>
                    <a:latin typeface="Verdana" panose="020B0604030504040204" pitchFamily="34" charset="0"/>
                    <a:ea typeface="Calibri" panose="020F0502020204030204" pitchFamily="34" charset="0"/>
                  </a:rPr>
                  <a:t> </a:t>
                </a:r>
                <a:endParaRPr lang="en-US" sz="1100" dirty="0">
                  <a:ea typeface="Calibri" panose="020F050202020403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800" dirty="0">
                    <a:ea typeface="Calibri" panose="020F0502020204030204" pitchFamily="34" charset="0"/>
                  </a:rPr>
                  <a:t> </a:t>
                </a:r>
                <a:endParaRPr lang="en-US" sz="1100" dirty="0"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BA7E45DC-463F-45E6-92F2-4C02AE769E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86" y="1386025"/>
                <a:ext cx="6691630" cy="79057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E3EFD5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A10A877-A2B2-4282-BE86-CC693F57E3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3232622"/>
                  </p:ext>
                </p:extLst>
              </p:nvPr>
            </p:nvGraphicFramePr>
            <p:xfrm>
              <a:off x="2277227" y="4364351"/>
              <a:ext cx="7637545" cy="1558791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77919">
                      <a:extLst>
                        <a:ext uri="{9D8B030D-6E8A-4147-A177-3AD203B41FA5}">
                          <a16:colId xmlns:a16="http://schemas.microsoft.com/office/drawing/2014/main" val="478459555"/>
                        </a:ext>
                      </a:extLst>
                    </a:gridCol>
                    <a:gridCol w="2578627">
                      <a:extLst>
                        <a:ext uri="{9D8B030D-6E8A-4147-A177-3AD203B41FA5}">
                          <a16:colId xmlns:a16="http://schemas.microsoft.com/office/drawing/2014/main" val="2616070139"/>
                        </a:ext>
                      </a:extLst>
                    </a:gridCol>
                    <a:gridCol w="2480999">
                      <a:extLst>
                        <a:ext uri="{9D8B030D-6E8A-4147-A177-3AD203B41FA5}">
                          <a16:colId xmlns:a16="http://schemas.microsoft.com/office/drawing/2014/main" val="4229148311"/>
                        </a:ext>
                      </a:extLst>
                    </a:gridCol>
                  </a:tblGrid>
                  <a:tr h="41385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Percent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Fraction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Decimal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5719202"/>
                      </a:ext>
                    </a:extLst>
                  </a:tr>
                  <a:tr h="114493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66%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       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3920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A10A877-A2B2-4282-BE86-CC693F57E3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3232622"/>
                  </p:ext>
                </p:extLst>
              </p:nvPr>
            </p:nvGraphicFramePr>
            <p:xfrm>
              <a:off x="2277227" y="4364351"/>
              <a:ext cx="7637545" cy="1558791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577919">
                      <a:extLst>
                        <a:ext uri="{9D8B030D-6E8A-4147-A177-3AD203B41FA5}">
                          <a16:colId xmlns:a16="http://schemas.microsoft.com/office/drawing/2014/main" val="478459555"/>
                        </a:ext>
                      </a:extLst>
                    </a:gridCol>
                    <a:gridCol w="2578627">
                      <a:extLst>
                        <a:ext uri="{9D8B030D-6E8A-4147-A177-3AD203B41FA5}">
                          <a16:colId xmlns:a16="http://schemas.microsoft.com/office/drawing/2014/main" val="2616070139"/>
                        </a:ext>
                      </a:extLst>
                    </a:gridCol>
                    <a:gridCol w="2480999">
                      <a:extLst>
                        <a:ext uri="{9D8B030D-6E8A-4147-A177-3AD203B41FA5}">
                          <a16:colId xmlns:a16="http://schemas.microsoft.com/office/drawing/2014/main" val="4229148311"/>
                        </a:ext>
                      </a:extLst>
                    </a:gridCol>
                  </a:tblGrid>
                  <a:tr h="41385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Percent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Fraction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Decimal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5719202"/>
                      </a:ext>
                    </a:extLst>
                  </a:tr>
                  <a:tr h="11449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93" t="-39560" r="-197044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493" t="-39560" r="-97044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3920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83474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379856" y="326846"/>
                <a:ext cx="11507343" cy="5407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convert a decimal to a percent, multiply the decimal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algn="ctr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 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Convert the decimal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0.16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a percent.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0.16×________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________%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convert a percent to a decimal, divide the percent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multiply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Convert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16.2%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a decimal.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algn="ctr">
                  <a:lnSpc>
                    <a:spcPct val="107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16.2÷________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16.2∙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                 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 </m:t>
                        </m:r>
                      </m:den>
                    </m:f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algn="ctr">
                  <a:lnSpc>
                    <a:spcPct val="107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:br>
                  <a:rPr lang="en-US" sz="1800" b="1" u="sng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18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56" y="326846"/>
                <a:ext cx="11507343" cy="5407378"/>
              </a:xfrm>
              <a:prstGeom prst="rect">
                <a:avLst/>
              </a:prstGeom>
              <a:blipFill>
                <a:blip r:embed="rId4"/>
                <a:stretch>
                  <a:fillRect l="-551" t="-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9983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301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97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0958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9840" y="4127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55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3.1.5 Guided Practice: Decimal and Percentage Conversions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97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731520" y="1366975"/>
            <a:ext cx="10946130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by converting each decimal to an equivalent percentage.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A3E0058B-C607-174E-B439-E4D3192A9DB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ED67DF-9759-454F-9235-6F950A64BA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7312744"/>
                  </p:ext>
                </p:extLst>
              </p:nvPr>
            </p:nvGraphicFramePr>
            <p:xfrm>
              <a:off x="3549873" y="2129660"/>
              <a:ext cx="5092253" cy="407094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593744">
                      <a:extLst>
                        <a:ext uri="{9D8B030D-6E8A-4147-A177-3AD203B41FA5}">
                          <a16:colId xmlns:a16="http://schemas.microsoft.com/office/drawing/2014/main" val="3382597915"/>
                        </a:ext>
                      </a:extLst>
                    </a:gridCol>
                    <a:gridCol w="2498509">
                      <a:extLst>
                        <a:ext uri="{9D8B030D-6E8A-4147-A177-3AD203B41FA5}">
                          <a16:colId xmlns:a16="http://schemas.microsoft.com/office/drawing/2014/main" val="2583221894"/>
                        </a:ext>
                      </a:extLst>
                    </a:gridCol>
                  </a:tblGrid>
                  <a:tr h="66017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Decimal Form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Percent Form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028101"/>
                      </a:ext>
                    </a:extLst>
                  </a:tr>
                  <a:tr h="83223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8%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01601586"/>
                      </a:ext>
                    </a:extLst>
                  </a:tr>
                  <a:tr h="84907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0.27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1491359"/>
                      </a:ext>
                    </a:extLst>
                  </a:tr>
                  <a:tr h="83223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2.2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57830294"/>
                      </a:ext>
                    </a:extLst>
                  </a:tr>
                  <a:tr h="8972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0.005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66329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ED67DF-9759-454F-9235-6F950A64BA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7312744"/>
                  </p:ext>
                </p:extLst>
              </p:nvPr>
            </p:nvGraphicFramePr>
            <p:xfrm>
              <a:off x="3549873" y="2129660"/>
              <a:ext cx="5092253" cy="407094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593744">
                      <a:extLst>
                        <a:ext uri="{9D8B030D-6E8A-4147-A177-3AD203B41FA5}">
                          <a16:colId xmlns:a16="http://schemas.microsoft.com/office/drawing/2014/main" val="3382597915"/>
                        </a:ext>
                      </a:extLst>
                    </a:gridCol>
                    <a:gridCol w="2498509">
                      <a:extLst>
                        <a:ext uri="{9D8B030D-6E8A-4147-A177-3AD203B41FA5}">
                          <a16:colId xmlns:a16="http://schemas.microsoft.com/office/drawing/2014/main" val="2583221894"/>
                        </a:ext>
                      </a:extLst>
                    </a:gridCol>
                  </a:tblGrid>
                  <a:tr h="66017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Decimal Form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Percent Form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028101"/>
                      </a:ext>
                    </a:extLst>
                  </a:tr>
                  <a:tr h="8322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88" t="-78788" r="-96585" b="-31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4569" t="-78788" r="-508" b="-3106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1601586"/>
                      </a:ext>
                    </a:extLst>
                  </a:tr>
                  <a:tr h="8490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88" t="-176119" r="-96585" b="-205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1491359"/>
                      </a:ext>
                    </a:extLst>
                  </a:tr>
                  <a:tr h="8322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88" t="-280303" r="-96585" b="-1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57830294"/>
                      </a:ext>
                    </a:extLst>
                  </a:tr>
                  <a:tr h="8972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88" t="-353521" r="-96585" b="-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663296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39422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503682" y="442010"/>
            <a:ext cx="11440668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 startAt="2"/>
              <a:tabLst>
                <a:tab pos="119380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Rewrite each percentage into its equivalent decimal form to complete the table.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152CD2B-A4D4-A94A-8235-80385DFE97AA}"/>
              </a:ext>
            </a:extLst>
          </p:cNvPr>
          <p:cNvSpPr/>
          <p:nvPr/>
        </p:nvSpPr>
        <p:spPr>
          <a:xfrm>
            <a:off x="8775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4FB312B-9646-40EE-8D6A-1E39031CDE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6402865"/>
                  </p:ext>
                </p:extLst>
              </p:nvPr>
            </p:nvGraphicFramePr>
            <p:xfrm>
              <a:off x="3453283" y="1432361"/>
              <a:ext cx="5285433" cy="4768239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692153">
                      <a:extLst>
                        <a:ext uri="{9D8B030D-6E8A-4147-A177-3AD203B41FA5}">
                          <a16:colId xmlns:a16="http://schemas.microsoft.com/office/drawing/2014/main" val="2853337959"/>
                        </a:ext>
                      </a:extLst>
                    </a:gridCol>
                    <a:gridCol w="2593280">
                      <a:extLst>
                        <a:ext uri="{9D8B030D-6E8A-4147-A177-3AD203B41FA5}">
                          <a16:colId xmlns:a16="http://schemas.microsoft.com/office/drawing/2014/main" val="807321702"/>
                        </a:ext>
                      </a:extLst>
                    </a:gridCol>
                  </a:tblGrid>
                  <a:tr h="7878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Percent Form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Decimal Form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8493335"/>
                      </a:ext>
                    </a:extLst>
                  </a:tr>
                  <a:tr h="99508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72%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0.72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04054546"/>
                      </a:ext>
                    </a:extLst>
                  </a:tr>
                  <a:tr h="99508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12.5%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21278434"/>
                      </a:ext>
                    </a:extLst>
                  </a:tr>
                  <a:tr h="99508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0.7%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2326432"/>
                      </a:ext>
                    </a:extLst>
                  </a:tr>
                  <a:tr h="99508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214%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412329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4FB312B-9646-40EE-8D6A-1E39031CDE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6402865"/>
                  </p:ext>
                </p:extLst>
              </p:nvPr>
            </p:nvGraphicFramePr>
            <p:xfrm>
              <a:off x="3453283" y="1432361"/>
              <a:ext cx="5285433" cy="4768239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692153">
                      <a:extLst>
                        <a:ext uri="{9D8B030D-6E8A-4147-A177-3AD203B41FA5}">
                          <a16:colId xmlns:a16="http://schemas.microsoft.com/office/drawing/2014/main" val="2853337959"/>
                        </a:ext>
                      </a:extLst>
                    </a:gridCol>
                    <a:gridCol w="2593280">
                      <a:extLst>
                        <a:ext uri="{9D8B030D-6E8A-4147-A177-3AD203B41FA5}">
                          <a16:colId xmlns:a16="http://schemas.microsoft.com/office/drawing/2014/main" val="807321702"/>
                        </a:ext>
                      </a:extLst>
                    </a:gridCol>
                  </a:tblGrid>
                  <a:tr h="7878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Percent Form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Decimal Form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8493335"/>
                      </a:ext>
                    </a:extLst>
                  </a:tr>
                  <a:tr h="9950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79747" r="-9671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3902" t="-79747" r="-48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4054546"/>
                      </a:ext>
                    </a:extLst>
                  </a:tr>
                  <a:tr h="9950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79747" r="-9671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21278434"/>
                      </a:ext>
                    </a:extLst>
                  </a:tr>
                  <a:tr h="9950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83333" r="-96714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2326432"/>
                      </a:ext>
                    </a:extLst>
                  </a:tr>
                  <a:tr h="9950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78481" r="-96714" b="-12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tabLst>
                              <a:tab pos="19685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4123297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62007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00601" y="2721149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98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237332" y="241611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3.1.6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9711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6" y="1343886"/>
                <a:ext cx="11118834" cy="48567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each percentage as a decimal.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</a:t>
                </a:r>
              </a:p>
              <a:p>
                <a:pPr marL="4619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125.6%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                                        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b.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3%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461963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461963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461963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461963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461963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461963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Convert each decimal to an equivalent percentage.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tabLst>
                    <a:tab pos="11938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803275" indent="-341313">
                  <a:lnSpc>
                    <a:spcPct val="107000"/>
                  </a:lnSpc>
                  <a:tabLst>
                    <a:tab pos="11938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0.008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	         b.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4.71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</a:p>
              <a:p>
                <a:pPr marL="803275" indent="-341313">
                  <a:lnSpc>
                    <a:spcPct val="107000"/>
                  </a:lnSpc>
                  <a:tabLst>
                    <a:tab pos="11938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tabLst>
                    <a:tab pos="11938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343886"/>
                <a:ext cx="11118834" cy="4856714"/>
              </a:xfrm>
              <a:prstGeom prst="rect">
                <a:avLst/>
              </a:prstGeom>
              <a:blipFill>
                <a:blip r:embed="rId5"/>
                <a:stretch>
                  <a:fillRect l="-570" t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B65A09A0-1E94-F34F-9AC7-848B14CF3F5C}"/>
              </a:ext>
            </a:extLst>
          </p:cNvPr>
          <p:cNvSpPr/>
          <p:nvPr/>
        </p:nvSpPr>
        <p:spPr>
          <a:xfrm>
            <a:off x="0" y="-8224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304614" y="284173"/>
                <a:ext cx="11449236" cy="4460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  <a:tabLst>
                    <a:tab pos="11938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each fraction as a decimal.	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457200">
                  <a:lnSpc>
                    <a:spcPct val="107000"/>
                  </a:lnSpc>
                  <a:tabLst>
                    <a:tab pos="11938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tabLst>
                    <a:tab pos="11938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a.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		         b.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</a:t>
                </a:r>
              </a:p>
              <a:p>
                <a:pPr>
                  <a:lnSpc>
                    <a:spcPct val="107000"/>
                  </a:lnSpc>
                  <a:tabLst>
                    <a:tab pos="11938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tabLst>
                    <a:tab pos="11938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tabLst>
                    <a:tab pos="11938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tabLst>
                    <a:tab pos="11938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tabLst>
                    <a:tab pos="11938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tabLst>
                    <a:tab pos="11938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  <a:tabLst>
                    <a:tab pos="11938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each decimal as an equivalent fraction. Simplify where applicable.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tabLst>
                    <a:tab pos="11938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1313" indent="120650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.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0.94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	         b.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1.7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		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tabLst>
                    <a:tab pos="11938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14" y="284173"/>
                <a:ext cx="11449236" cy="4460580"/>
              </a:xfrm>
              <a:prstGeom prst="rect">
                <a:avLst/>
              </a:prstGeom>
              <a:blipFill>
                <a:blip r:embed="rId4"/>
                <a:stretch>
                  <a:fillRect l="-665" t="-1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C20EB48B-0C2A-FF47-ACB6-866A7F95956C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98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855625" y="278977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4436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98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28732" y="4796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3.1.7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730266" y="1461452"/>
            <a:ext cx="1104263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expression that does not belong.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your reasoning for your choice.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31AAE36C-5822-464A-8B2B-DAD96F65814D}"/>
              </a:ext>
            </a:extLst>
          </p:cNvPr>
          <p:cNvSpPr/>
          <p:nvPr/>
        </p:nvSpPr>
        <p:spPr>
          <a:xfrm>
            <a:off x="8600" y="-8225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4291790-8587-46B4-B5D6-3DC872BD87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3211085"/>
                  </p:ext>
                </p:extLst>
              </p:nvPr>
            </p:nvGraphicFramePr>
            <p:xfrm>
              <a:off x="2037775" y="2075372"/>
              <a:ext cx="3470999" cy="262060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699540">
                      <a:extLst>
                        <a:ext uri="{9D8B030D-6E8A-4147-A177-3AD203B41FA5}">
                          <a16:colId xmlns:a16="http://schemas.microsoft.com/office/drawing/2014/main" val="453809131"/>
                        </a:ext>
                      </a:extLst>
                    </a:gridCol>
                    <a:gridCol w="1771459">
                      <a:extLst>
                        <a:ext uri="{9D8B030D-6E8A-4147-A177-3AD203B41FA5}">
                          <a16:colId xmlns:a16="http://schemas.microsoft.com/office/drawing/2014/main" val="2019434891"/>
                        </a:ext>
                      </a:extLst>
                    </a:gridCol>
                  </a:tblGrid>
                  <a:tr h="125538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083676"/>
                      </a:ext>
                    </a:extLst>
                  </a:tr>
                  <a:tr h="136521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40%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207192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4291790-8587-46B4-B5D6-3DC872BD87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3211085"/>
                  </p:ext>
                </p:extLst>
              </p:nvPr>
            </p:nvGraphicFramePr>
            <p:xfrm>
              <a:off x="2037775" y="2075372"/>
              <a:ext cx="3470999" cy="262060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699540">
                      <a:extLst>
                        <a:ext uri="{9D8B030D-6E8A-4147-A177-3AD203B41FA5}">
                          <a16:colId xmlns:a16="http://schemas.microsoft.com/office/drawing/2014/main" val="453809131"/>
                        </a:ext>
                      </a:extLst>
                    </a:gridCol>
                    <a:gridCol w="1771459">
                      <a:extLst>
                        <a:ext uri="{9D8B030D-6E8A-4147-A177-3AD203B41FA5}">
                          <a16:colId xmlns:a16="http://schemas.microsoft.com/office/drawing/2014/main" val="2019434891"/>
                        </a:ext>
                      </a:extLst>
                    </a:gridCol>
                  </a:tblGrid>
                  <a:tr h="12553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46" t="-1010" r="-105224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6429" t="-1010" r="-714" b="-1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083676"/>
                      </a:ext>
                    </a:extLst>
                  </a:tr>
                  <a:tr h="13652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46" t="-92593" r="-105224" b="-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6429" t="-92593" r="-714" b="-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071927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</TotalTime>
  <Words>1067</Words>
  <Application>Microsoft Office PowerPoint</Application>
  <PresentationFormat>Widescreen</PresentationFormat>
  <Paragraphs>321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Verdana</vt:lpstr>
      <vt:lpstr>Century Gothic</vt:lpstr>
      <vt:lpstr>Calibri</vt:lpstr>
      <vt:lpstr>Arial Black</vt:lpstr>
      <vt:lpstr>Cambria Math</vt:lpstr>
      <vt:lpstr>Courier New</vt:lpstr>
      <vt:lpstr>Arial</vt:lpstr>
      <vt:lpstr>1_Office Theme</vt:lpstr>
      <vt:lpstr>6th Grade Math  Unit 3, Lesson 1  Equivalent Conversions:  Fractions ↔ Decimals;  Decimals ↔ Percentages  Volume 1, pg. 93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Guided Instruction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vaanmx</cp:lastModifiedBy>
  <cp:revision>18</cp:revision>
  <dcterms:created xsi:type="dcterms:W3CDTF">2015-03-17T18:51:18Z</dcterms:created>
  <dcterms:modified xsi:type="dcterms:W3CDTF">2022-06-05T00:05:32Z</dcterms:modified>
</cp:coreProperties>
</file>