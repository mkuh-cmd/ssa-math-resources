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323" r:id="rId11"/>
    <p:sldId id="324" r:id="rId12"/>
    <p:sldId id="302" r:id="rId13"/>
    <p:sldId id="303" r:id="rId14"/>
    <p:sldId id="309" r:id="rId15"/>
    <p:sldId id="306" r:id="rId16"/>
    <p:sldId id="307" r:id="rId17"/>
  </p:sldIdLst>
  <p:sldSz cx="12192000" cy="6858000"/>
  <p:notesSz cx="6858000" cy="9144000"/>
  <p:embeddedFontLst>
    <p:embeddedFont>
      <p:font typeface="Arial Black" panose="020B0604020202020204" pitchFamily="34" charset="0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mbria Math" panose="02040503050406030204" pitchFamily="18" charset="0"/>
      <p:regular r:id="rId24"/>
    </p:embeddedFon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Verdana" panose="020B060403050404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D1E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3" autoAdjust="0"/>
    <p:restoredTop sz="94694" autoAdjust="0"/>
  </p:normalViewPr>
  <p:slideViewPr>
    <p:cSldViewPr snapToGrid="0">
      <p:cViewPr varScale="1">
        <p:scale>
          <a:sx n="121" d="100"/>
          <a:sy n="121" d="100"/>
        </p:scale>
        <p:origin x="92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26148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://en.wikipedia.org/wiki/File:Skittles-Wrapper-Small.jp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77074" y="2054275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Two Step, Real-World Problems with Fractions or Decimals – Part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120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3916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13171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MA.6.NSO.2.3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Solve multi-step, real-world problems involving any of the four operations with positive multi-digit decimals or positive fractions, including mixed numbers.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114750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83642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7063" indent="-620713">
              <a:buClr>
                <a:srgbClr val="434343"/>
              </a:buClr>
              <a:buSzPts val="3500"/>
              <a:buFont typeface="Wingdings" pitchFamily="2" charset="2"/>
              <a:buChar char="q"/>
              <a:tabLst>
                <a:tab pos="627063" algn="l"/>
              </a:tabLst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two-step, real-world problems with decimals or fractions.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6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  <a:t>3.7.1 Warm-Up: Would You Rather?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315498"/>
                <a:ext cx="11109800" cy="4729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Would you rather buy </a:t>
                </a:r>
                <a:br>
                  <a:rPr lang="en-US" sz="2400" i="1" dirty="0">
                    <a:latin typeface="Cambria Math"/>
                    <a:ea typeface="Calibri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8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Skittles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25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cents </a:t>
                </a:r>
                <a:br>
                  <a:rPr lang="en-US" sz="2400" dirty="0">
                    <a:latin typeface="Verdana"/>
                    <a:ea typeface="Calibri"/>
                    <a:cs typeface="Times New Roman"/>
                  </a:rPr>
                </a:b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62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Skittles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$1.49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?</a:t>
                </a: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>
                  <a:lnSpc>
                    <a:spcPct val="107000"/>
                  </a:lnSpc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Explain your choice.</a:t>
                </a: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endParaRPr lang="en-US" sz="2400" dirty="0">
                  <a:latin typeface="Verdana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Would your answer change if you could choose what flavor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8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Skittles were but you could not choose the flavors from the bag?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15498"/>
                <a:ext cx="11109800" cy="4729500"/>
              </a:xfrm>
              <a:prstGeom prst="rect">
                <a:avLst/>
              </a:prstGeom>
              <a:blipFill>
                <a:blip r:embed="rId5"/>
                <a:stretch>
                  <a:fillRect l="-913" t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File:Skittles-Wrapper-Small.jpg - Wikipedia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350277" y="1541628"/>
            <a:ext cx="4562945" cy="20388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6240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6424" y="0"/>
            <a:ext cx="10648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9BEAB"/>
                </a:solidFill>
                <a:latin typeface="Verdana"/>
                <a:ea typeface="Calibri"/>
                <a:cs typeface="Times New Roman"/>
              </a:rPr>
              <a:t>3.7.2 Collaboration: Error Analysis</a:t>
            </a:r>
            <a:endParaRPr lang="en-US" sz="36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31519" y="1348563"/>
            <a:ext cx="11023705" cy="1015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Verdana"/>
                <a:ea typeface="Calibri"/>
                <a:cs typeface="Times New Roman"/>
              </a:rPr>
              <a:t>Stefanie solved the following word problem. Her work is shown. </a:t>
            </a:r>
            <a:endParaRPr lang="en-US" sz="2400" dirty="0">
              <a:latin typeface="Calibri"/>
              <a:ea typeface="Calibri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Calibri"/>
                <a:cs typeface="Times New Roman"/>
              </a:rPr>
              <a:t>Evaluate her work and determine where she made mistakes.</a:t>
            </a:r>
            <a:endParaRPr lang="en-US" sz="24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252DD22-4545-6844-9D1D-323C0B41ADF5}"/>
              </a:ext>
            </a:extLst>
          </p:cNvPr>
          <p:cNvSpPr/>
          <p:nvPr/>
        </p:nvSpPr>
        <p:spPr>
          <a:xfrm>
            <a:off x="0" y="4049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0590331"/>
                  </p:ext>
                </p:extLst>
              </p:nvPr>
            </p:nvGraphicFramePr>
            <p:xfrm>
              <a:off x="2720436" y="2652192"/>
              <a:ext cx="7045870" cy="30280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224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2341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36830" indent="-36830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Problem</a:t>
                          </a:r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Stefanie’s Work</a:t>
                          </a:r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5105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Calibri"/>
                              <a:cs typeface="Times New Roman"/>
                            </a:rPr>
                            <a:t>Janelle has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Calibri"/>
                              <a:cs typeface="Times New Roman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pans of brownies. Each pan </a:t>
                          </a:r>
                          <a:b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made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brownies.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She gave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of the brownies </a:t>
                          </a:r>
                          <a:b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to her friends. How many brownies did Janelle give away?</a:t>
                          </a:r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Step 1: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2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  ×  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 =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 × 8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effectLst/>
                            <a:latin typeface="Cambria Math"/>
                            <a:ea typeface="Times New Roman"/>
                            <a:cs typeface="Times New Roman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Step 2: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 ÷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 ×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=6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Answer: She gave away</a:t>
                          </a:r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:br>
                            <a:rPr lang="en-US" sz="2000" i="1" dirty="0">
                              <a:effectLst/>
                              <a:latin typeface="Cambria Math"/>
                              <a:ea typeface="Calibri"/>
                              <a:cs typeface="Times New Roman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libri"/>
                                  <a:cs typeface="Times New Roman"/>
                                </a:rPr>
                                <m:t>6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libri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libri"/>
                                      <a:cs typeface="Times New Roman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libri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brownies.</a:t>
                          </a:r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0590331"/>
                  </p:ext>
                </p:extLst>
              </p:nvPr>
            </p:nvGraphicFramePr>
            <p:xfrm>
              <a:off x="2720436" y="2652192"/>
              <a:ext cx="7045870" cy="302806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224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2341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00050">
                    <a:tc>
                      <a:txBody>
                        <a:bodyPr/>
                        <a:lstStyle/>
                        <a:p>
                          <a:pPr marL="36830" indent="-36830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Problem</a:t>
                          </a:r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tabLst>
                              <a:tab pos="590550" algn="l"/>
                            </a:tabLst>
                          </a:pPr>
                          <a:r>
                            <a:rPr lang="en-US" sz="20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Stefanie’s Work</a:t>
                          </a:r>
                          <a:endParaRPr lang="en-US" sz="2000" dirty="0">
                            <a:effectLst/>
                            <a:latin typeface="Calibri"/>
                            <a:ea typeface="Calibri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280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7" t="-17308" r="-126423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677" t="-17308" r="-323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0" y="350198"/>
            <a:ext cx="11642564" cy="5673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Help Stefanie understand and learn from her mistakes. Write a brief note to Stefanie explaining what her mistakes were and how she could learn from those mistakes.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 startAt="2"/>
              <a:tabLst>
                <a:tab pos="590550" algn="l"/>
              </a:tabLst>
            </a:pPr>
            <a:r>
              <a:rPr lang="en-US" sz="2000" dirty="0">
                <a:latin typeface="Verdana"/>
                <a:ea typeface="Calibri"/>
                <a:cs typeface="Times New Roman"/>
              </a:rPr>
              <a:t>Read your partner’s note to Stefanie and offer suggestions for how to improve their note.</a:t>
            </a:r>
            <a:endParaRPr lang="en-US" sz="2000" dirty="0">
              <a:latin typeface="Calibri"/>
              <a:ea typeface="Calibri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4B490A-71D6-FD45-903D-95450FDFCF8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524001" y="74712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946038" y="1691341"/>
            <a:ext cx="2192049" cy="29908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DB2B2A"/>
                </a:solidFill>
                <a:latin typeface="Verdana"/>
                <a:ea typeface="Verdana"/>
                <a:cs typeface="Verdana"/>
              </a:rPr>
              <a:t>M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eans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F25756"/>
                </a:solidFill>
                <a:latin typeface="Verdana"/>
                <a:ea typeface="Calibri"/>
                <a:cs typeface="Times New Roman"/>
              </a:rPr>
              <a:t>I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E99237"/>
                </a:solidFill>
                <a:latin typeface="Verdana"/>
                <a:ea typeface="Verdana"/>
                <a:cs typeface="Verdana"/>
              </a:rPr>
              <a:t>S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tart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FACD17"/>
                </a:solidFill>
                <a:latin typeface="Verdana"/>
                <a:ea typeface="Verdana"/>
                <a:cs typeface="Verdana"/>
              </a:rPr>
              <a:t>T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o 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7BA43F"/>
                </a:solidFill>
                <a:latin typeface="Verdana"/>
                <a:ea typeface="Verdana"/>
                <a:cs typeface="Verdana"/>
              </a:rPr>
              <a:t>A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cquire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24B7D2"/>
                </a:solidFill>
                <a:latin typeface="Verdana"/>
                <a:ea typeface="Verdana"/>
                <a:cs typeface="Verdana"/>
              </a:rPr>
              <a:t>K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nowledge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1B74B9"/>
                </a:solidFill>
                <a:latin typeface="Verdana"/>
                <a:ea typeface="Verdana"/>
                <a:cs typeface="Verdana"/>
              </a:rPr>
              <a:t>E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xperience 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000" b="1" dirty="0">
                <a:solidFill>
                  <a:srgbClr val="4A2B79"/>
                </a:solidFill>
                <a:latin typeface="Verdana"/>
                <a:ea typeface="Verdana"/>
                <a:cs typeface="Verdana"/>
              </a:rPr>
              <a:t>S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kills</a:t>
            </a:r>
            <a:r>
              <a:rPr lang="en-US" sz="2000" dirty="0">
                <a:ea typeface="Calibri"/>
                <a:cs typeface="Times New Roman"/>
              </a:rPr>
              <a:t> 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524001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tabLst>
                <a:tab pos="590550" algn="l"/>
              </a:tabLst>
            </a:pPr>
            <a:endParaRPr lang="en-US" sz="1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28263" y="1350398"/>
            <a:ext cx="4433570" cy="367269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sz="1100">
                <a:latin typeface="Calibri"/>
                <a:ea typeface="Calibri"/>
                <a:cs typeface="Times New Roman"/>
              </a:rPr>
              <a:t> 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30168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20536" y="-942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  <a:t>3.7.3 Guided Practice: </a:t>
            </a:r>
            <a:br>
              <a:rPr lang="en-US" sz="36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</a:br>
            <a:r>
              <a:rPr lang="en-US" sz="3600" b="1" dirty="0">
                <a:solidFill>
                  <a:srgbClr val="26B6D4"/>
                </a:solidFill>
                <a:latin typeface="Verdana"/>
                <a:ea typeface="Calibri"/>
                <a:cs typeface="Times New Roman"/>
              </a:rPr>
              <a:t>Two-Step Rational Problems</a:t>
            </a:r>
            <a:endParaRPr lang="en-US" sz="36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316273"/>
                <a:ext cx="10910583" cy="4524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While </a:t>
                </a:r>
                <a:r>
                  <a:rPr lang="en-US" sz="2400" dirty="0" err="1">
                    <a:latin typeface="Verdana"/>
                    <a:ea typeface="Calibri"/>
                    <a:cs typeface="Times New Roman"/>
                  </a:rPr>
                  <a:t>birdwatching</a:t>
                </a: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, David saw a cardinal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of a yard to the left from where he was standing. A bluebird was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of a yard to the right of the cardinal. Crystal is standing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yards to the right of David. How far was the bluebird from where Crystal was standing?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One gallon of gasoline in Buffalo, New York costs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$2.29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 In Toronto, Canada, one liter of gas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$0.91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. There are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3.8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liters in one gallon. How much greater is the cost of gas in either city?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316273"/>
                <a:ext cx="10910583" cy="4524444"/>
              </a:xfrm>
              <a:prstGeom prst="rect">
                <a:avLst/>
              </a:prstGeom>
              <a:blipFill>
                <a:blip r:embed="rId5"/>
                <a:stretch>
                  <a:fillRect l="-930" b="-1961"/>
                </a:stretch>
              </a:blipFill>
            </p:spPr>
            <p:txBody>
              <a:bodyPr/>
              <a:lstStyle/>
              <a:p>
                <a:r>
                  <a:rPr lang="en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A3E0058B-C607-174E-B439-E4D3192A9DB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6536" y="272114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965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F33D5B"/>
                </a:solidFill>
                <a:latin typeface="Verdana"/>
                <a:ea typeface="Calibri"/>
                <a:cs typeface="Times New Roman"/>
              </a:rPr>
              <a:t>3.7.4 Your Turn!</a:t>
            </a:r>
            <a:endParaRPr lang="en-US" sz="43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5" y="1171490"/>
                <a:ext cx="11053239" cy="3956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Martha fills her ice cream bowl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 of ice cream,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 of candy toppings, and the rest with fruit toppings. If the bowl contains a total of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cups, how much of the bowl is made up of fruit toppings?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Jasmine has a ribbon that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12.6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meters long. Sharon has a ribbon that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3.8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meters shorter. What is the total length of the two ribbons?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171490"/>
                <a:ext cx="11053239" cy="3956148"/>
              </a:xfrm>
              <a:prstGeom prst="rect">
                <a:avLst/>
              </a:prstGeom>
              <a:blipFill>
                <a:blip r:embed="rId5"/>
                <a:stretch>
                  <a:fillRect l="-918" r="-574" b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42997" y="426753"/>
                <a:ext cx="11387642" cy="4519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Before soccer practice, Hernando puts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4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cups of sports drink in </a:t>
                </a: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a water bottle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cups of ice. After a hot afternoon of practice, he drinks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cups of the sports drink and melted ice. How many cups of this mixture are left in the water bottle?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A bag of chocolates weighs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1.384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pounds. If Luis gives each of his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6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friends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0.23</m:t>
                    </m:r>
                  </m:oMath>
                </a14:m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 pounds of chocolate, how many pounds of chocolate does Luis have left?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97" y="426753"/>
                <a:ext cx="11387642" cy="4519507"/>
              </a:xfrm>
              <a:prstGeom prst="rect">
                <a:avLst/>
              </a:prstGeom>
              <a:blipFill>
                <a:blip r:embed="rId4"/>
                <a:stretch>
                  <a:fillRect l="-892" r="-156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48857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11296" y="361595"/>
            <a:ext cx="10472598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41266B"/>
                </a:solidFill>
                <a:latin typeface="Verdana"/>
                <a:ea typeface="Calibri"/>
                <a:cs typeface="Times New Roman"/>
              </a:rPr>
              <a:t>3.7.5 Wrap-Up: Ticket Out the Door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08106" y="1429569"/>
                <a:ext cx="11175788" cy="1428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Calibri"/>
                    <a:cs typeface="Times New Roman"/>
                  </a:rPr>
                  <a:t>Priscilla and Dayton sold candy to raise money for their swimming team. Priscilla sold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libri"/>
                        <a:cs typeface="Times New Roman"/>
                      </a:rPr>
                      <m:t>1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libri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libri"/>
                            <a:cs typeface="Times New Roman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times as much as Dayton. If Dayton sold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of a box of candy, how many total boxes of candy did they sell?</a:t>
                </a:r>
                <a:endParaRPr lang="en-US" sz="2400" dirty="0">
                  <a:latin typeface="Calibri"/>
                  <a:ea typeface="Calibri"/>
                  <a:cs typeface="Times New Roman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06" y="1429569"/>
                <a:ext cx="11175788" cy="1428724"/>
              </a:xfrm>
              <a:prstGeom prst="rect">
                <a:avLst/>
              </a:prstGeom>
              <a:blipFill>
                <a:blip r:embed="rId5"/>
                <a:stretch>
                  <a:fillRect l="-794" t="-4386" r="-227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</TotalTime>
  <Words>762</Words>
  <Application>Microsoft Macintosh PowerPoint</Application>
  <PresentationFormat>Widescreen</PresentationFormat>
  <Paragraphs>102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Calibri</vt:lpstr>
      <vt:lpstr>Arial Black</vt:lpstr>
      <vt:lpstr>Cambria Math</vt:lpstr>
      <vt:lpstr>Arial</vt:lpstr>
      <vt:lpstr>Wingdings</vt:lpstr>
      <vt:lpstr>Verdana</vt:lpstr>
      <vt:lpstr>Century Gothic</vt:lpstr>
      <vt:lpstr>1_Office Theme</vt:lpstr>
      <vt:lpstr>6th Grade Math  Unit 3, Lesson 7  Solving Two Step, Real-World Problems with Fractions or Decimals – Part 2  Volume 1, pg. 120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SELVA LOPEZ VICTORIA</cp:lastModifiedBy>
  <cp:revision>25</cp:revision>
  <dcterms:created xsi:type="dcterms:W3CDTF">2015-03-17T18:51:18Z</dcterms:created>
  <dcterms:modified xsi:type="dcterms:W3CDTF">2022-09-23T19:09:43Z</dcterms:modified>
</cp:coreProperties>
</file>