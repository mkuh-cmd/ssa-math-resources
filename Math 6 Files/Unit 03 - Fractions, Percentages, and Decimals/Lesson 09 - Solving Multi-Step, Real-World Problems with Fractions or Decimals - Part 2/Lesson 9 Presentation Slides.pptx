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317" r:id="rId11"/>
    <p:sldId id="302" r:id="rId12"/>
    <p:sldId id="303" r:id="rId13"/>
    <p:sldId id="309" r:id="rId14"/>
    <p:sldId id="319" r:id="rId15"/>
    <p:sldId id="318" r:id="rId16"/>
    <p:sldId id="306" r:id="rId17"/>
    <p:sldId id="307" r:id="rId18"/>
    <p:sldId id="310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/>
    <p:restoredTop sz="94719" autoAdjust="0"/>
  </p:normalViewPr>
  <p:slideViewPr>
    <p:cSldViewPr snapToGrid="0">
      <p:cViewPr varScale="1">
        <p:scale>
          <a:sx n="73" d="100"/>
          <a:sy n="73" d="100"/>
        </p:scale>
        <p:origin x="103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60507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635312" y="2054275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Multi Step, Real-World Problems with Fractions or Decimals – Part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128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5138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1390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MA.6.NSO.2.3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multi-step, real-world problems involving any of the four operations with positive multi-digit decimals or positive fractions, including mixed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391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526868"/>
            <a:ext cx="1114796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274313"/>
            <a:ext cx="110672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multi-step, real-world problems involving any of the four operations with decimals or fractions.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5795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3797" y="1672227"/>
            <a:ext cx="3096812" cy="2849602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7" y="-14567"/>
            <a:ext cx="10265703" cy="118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3.9.1 Warm-Up: Short Division 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089549"/>
                <a:ext cx="10663874" cy="1246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In Mexico, when dividing by a single-digit divisor, sometimes a method called “short division” is used. Consider the example shown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74÷4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089549"/>
                <a:ext cx="10663874" cy="1246623"/>
              </a:xfrm>
              <a:prstGeom prst="rect">
                <a:avLst/>
              </a:prstGeom>
              <a:blipFill>
                <a:blip r:embed="rId6"/>
                <a:stretch>
                  <a:fillRect l="-951" t="-4040" r="-1546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0266" y="4262539"/>
                <a:ext cx="11372087" cy="20470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Using your knowledge of division, explain where you think the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  <a:ea typeface="Calibri"/>
                        <a:cs typeface="Times New Roman"/>
                      </a:rPr>
                      <m:t>𝟏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  <a:ea typeface="Calibri"/>
                        <a:cs typeface="Times New Roman"/>
                      </a:rPr>
                      <m:t>𝟑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ED7D31"/>
                        </a:solidFill>
                        <a:latin typeface="Cambria Math"/>
                        <a:ea typeface="Calibri"/>
                        <a:cs typeface="Times New Roman"/>
                      </a:rPr>
                      <m:t>𝟖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ED7D31"/>
                        </a:solidFill>
                        <a:latin typeface="Cambria Math"/>
                        <a:ea typeface="Calibri"/>
                        <a:cs typeface="Times New Roman"/>
                      </a:rPr>
                      <m:t>𝟐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came from in the process. 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Show how you might represent the same division problem using a method different from “short division.”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4262539"/>
                <a:ext cx="11372087" cy="2047035"/>
              </a:xfrm>
              <a:prstGeom prst="rect">
                <a:avLst/>
              </a:prstGeom>
              <a:blipFill>
                <a:blip r:embed="rId7"/>
                <a:stretch>
                  <a:fillRect l="-893" t="-3086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6584" y="64567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0227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3.9.2 Collaboration: Distance Between Two Hurdles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731520" y="1325700"/>
                <a:ext cx="11236362" cy="1892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2000" spc="-30" dirty="0">
                    <a:latin typeface="Verdana"/>
                    <a:ea typeface="Calibri"/>
                    <a:cs typeface="Times New Roman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000" i="1" spc="-30">
                        <a:latin typeface="Cambria Math"/>
                        <a:ea typeface="Calibri"/>
                        <a:cs typeface="Times New Roman"/>
                      </a:rPr>
                      <m:t>10</m:t>
                    </m:r>
                  </m:oMath>
                </a14:m>
                <a:r>
                  <a:rPr lang="en-US" sz="2000" spc="-30" dirty="0">
                    <a:latin typeface="Verdana"/>
                    <a:ea typeface="Calibri"/>
                    <a:cs typeface="Times New Roman"/>
                  </a:rPr>
                  <a:t> equally spaced hurdles on a racetrack. The first hurdle is </a:t>
                </a:r>
                <a14:m>
                  <m:oMath xmlns:m="http://schemas.openxmlformats.org/officeDocument/2006/math">
                    <m:r>
                      <a:rPr lang="en-US" sz="2000" i="1" spc="-30">
                        <a:latin typeface="Cambria Math"/>
                        <a:ea typeface="Calibri"/>
                        <a:cs typeface="Times New Roman"/>
                      </a:rPr>
                      <m:t>13.72</m:t>
                    </m:r>
                  </m:oMath>
                </a14:m>
                <a:r>
                  <a:rPr lang="en-US" sz="2000" spc="-30" dirty="0">
                    <a:latin typeface="Verdana"/>
                    <a:ea typeface="Calibri"/>
                    <a:cs typeface="Times New Roman"/>
                  </a:rPr>
                  <a:t> meters from the start line. The final hurdle is </a:t>
                </a:r>
                <a14:m>
                  <m:oMath xmlns:m="http://schemas.openxmlformats.org/officeDocument/2006/math">
                    <m:r>
                      <a:rPr lang="en-US" sz="2000" i="1" spc="-30">
                        <a:latin typeface="Cambria Math"/>
                        <a:ea typeface="Calibri"/>
                        <a:cs typeface="Times New Roman"/>
                      </a:rPr>
                      <m:t>14.02</m:t>
                    </m:r>
                  </m:oMath>
                </a14:m>
                <a:r>
                  <a:rPr lang="en-US" sz="2000" spc="-30" dirty="0">
                    <a:latin typeface="Verdana"/>
                    <a:ea typeface="Calibri"/>
                    <a:cs typeface="Times New Roman"/>
                  </a:rPr>
                  <a:t> meters from the finish line. The racetrack is </a:t>
                </a:r>
                <a14:m>
                  <m:oMath xmlns:m="http://schemas.openxmlformats.org/officeDocument/2006/math">
                    <m:r>
                      <a:rPr lang="en-US" sz="2000" i="1" spc="-30">
                        <a:latin typeface="Cambria Math"/>
                        <a:ea typeface="Calibri"/>
                        <a:cs typeface="Times New Roman"/>
                      </a:rPr>
                      <m:t>110</m:t>
                    </m:r>
                  </m:oMath>
                </a14:m>
                <a:r>
                  <a:rPr lang="en-US" sz="2000" spc="-30" dirty="0">
                    <a:latin typeface="Verdana"/>
                    <a:ea typeface="Calibri"/>
                    <a:cs typeface="Times New Roman"/>
                  </a:rPr>
                  <a:t> meters long.</a:t>
                </a:r>
                <a:endParaRPr lang="en-PH" sz="20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/>
                    <a:ea typeface="Calibri"/>
                    <a:cs typeface="Times New Roman"/>
                  </a:rPr>
                  <a:t>The diagram below represents what the track would look like if the track were straight and not curved. </a:t>
                </a:r>
                <a:endParaRPr lang="en-PH" sz="20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25700"/>
                <a:ext cx="11236362" cy="1892826"/>
              </a:xfrm>
              <a:prstGeom prst="rect">
                <a:avLst/>
              </a:prstGeom>
              <a:blipFill>
                <a:blip r:embed="rId5"/>
                <a:stretch>
                  <a:fillRect l="-564" t="-2667" r="-677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-16421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4408" y="3107818"/>
            <a:ext cx="3950585" cy="3203491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412046" y="481653"/>
                <a:ext cx="11699271" cy="5208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Use the diagram below to show the placement of the hurdles on the racetrack. Label all known measurements.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Discuss with your partner how many spaces there are between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hurdles.</a:t>
                </a:r>
                <a:endParaRPr lang="en-PH" sz="2400" dirty="0">
                  <a:latin typeface="Calibri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How far are the hurdles from one another? Explain or show your reasoning.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46" y="481653"/>
                <a:ext cx="11699271" cy="5208414"/>
              </a:xfrm>
              <a:prstGeom prst="rect">
                <a:avLst/>
              </a:prstGeom>
              <a:blipFill>
                <a:blip r:embed="rId4"/>
                <a:stretch>
                  <a:fillRect l="-868" t="-973" b="-1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579773" y="1495211"/>
            <a:ext cx="7755128" cy="15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438941" y="421967"/>
                <a:ext cx="11511011" cy="4575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A professional runner takes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strides between each pair of hurdles. The runner leaves the ground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2.2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meters before the hurdle and returns to the ground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 after the hurdle.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Draw a diagram to model the runner’s strides between the hurdles. Label all known measurements.</a:t>
                </a: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Calibri"/>
                  <a:ea typeface="Calibri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Calibri"/>
                  <a:ea typeface="Calibri"/>
                  <a:cs typeface="Times New Roman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About how long are each of the runner’s strides between the hurdles? Show your reasoning.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1" y="421967"/>
                <a:ext cx="11511011" cy="4575612"/>
              </a:xfrm>
              <a:prstGeom prst="rect">
                <a:avLst/>
              </a:prstGeom>
              <a:blipFill>
                <a:blip r:embed="rId4"/>
                <a:stretch>
                  <a:fillRect l="-882" t="-1385" r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82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70537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28438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3.9.3 Your Turn! 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241446"/>
                <a:ext cx="11130040" cy="3384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Carpeting costs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$9.99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per yard. If Ginger buys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18.6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yards, how much will it cost her if she has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$10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off coupon?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A runner jogs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7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miles east,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5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miles south,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8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miles west. What is the total number of miles jogged overall?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41446"/>
                <a:ext cx="11130040" cy="3384453"/>
              </a:xfrm>
              <a:prstGeom prst="rect">
                <a:avLst/>
              </a:prstGeom>
              <a:blipFill>
                <a:blip r:embed="rId5"/>
                <a:stretch>
                  <a:fillRect l="-911" t="-1866" r="-1367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29768" y="371579"/>
                <a:ext cx="11326369" cy="433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Theta drinks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11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ounces of water at breakfast,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19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ounces at lunch,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20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ounces at dinner. How many additional ounces will she need to drink in order to meet 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64−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ounce goal?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A rectangular garden has a length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8.75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inches and a width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2.4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inches. If one bag of soil covers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square inches, how many bags would be needed to fill the garden?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371579"/>
                <a:ext cx="11326369" cy="4338816"/>
              </a:xfrm>
              <a:prstGeom prst="rect">
                <a:avLst/>
              </a:prstGeom>
              <a:blipFill>
                <a:blip r:embed="rId4"/>
                <a:stretch>
                  <a:fillRect l="-897" r="-1009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29768" y="457200"/>
                <a:ext cx="11380155" cy="4418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Lawrence paid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$11.20 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gallons of gas and an additional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$0.78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in tax. How much was the cost for each gallon of gas including tax?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Frannie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purchased a new television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$799.99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with a sales tax rate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7%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of the purchase. If she splits the payments into equal amounts over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months, how much would she need to pay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each month?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457200"/>
                <a:ext cx="11380155" cy="4418069"/>
              </a:xfrm>
              <a:prstGeom prst="rect">
                <a:avLst/>
              </a:prstGeom>
              <a:blipFill>
                <a:blip r:embed="rId4"/>
                <a:stretch>
                  <a:fillRect l="-893" t="-1437" r="-893" b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1195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26360" y="443297"/>
                <a:ext cx="11362227" cy="4523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7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A local farmer is constructing a new pen for his pigs. He has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608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15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feet worth of fencing material. Three of the four sides measure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89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feet,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147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feet,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162</m:t>
                    </m:r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feet. How much fencing material remains after his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sides are installed?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7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7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7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7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Rhonda bought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balloons priced 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$0.75</m:t>
                    </m:r>
                  </m:oMath>
                </a14:m>
                <a:r>
                  <a:rPr lang="en-US" sz="2400" dirty="0">
                    <a:latin typeface="Cambria Math"/>
                    <a:ea typeface="Times New Roman"/>
                    <a:cs typeface="Times New Roman"/>
                  </a:rPr>
                  <a:t> 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per balloon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noisemakers priced 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$1.39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each. How much did Rhonda spend on her total purchase?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60" y="443297"/>
                <a:ext cx="11362227" cy="4523931"/>
              </a:xfrm>
              <a:prstGeom prst="rect">
                <a:avLst/>
              </a:prstGeom>
              <a:blipFill>
                <a:blip r:embed="rId4"/>
                <a:stretch>
                  <a:fillRect l="-893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633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8438" y="513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3.9.4 Wrap-Up: Ticket Out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5" y="1424444"/>
                <a:ext cx="11121075" cy="282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Todd Everett’s Flooring in Okeechobee, Florida sells a variety of flooring options. The company pays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$2.562</m:t>
                    </m:r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per square foot for specialty vinyl plank. The general manager purchases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4400</m:t>
                    </m:r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square feet of the vinyl plank to have in stock inventory. If the general manager has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$17,500.00</m:t>
                    </m:r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budgeted for stock inventory purchases, how much money does he have left in his budget for additional stock inventory after purchasing the specialty vinyl plank?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424444"/>
                <a:ext cx="11121075" cy="2823593"/>
              </a:xfrm>
              <a:prstGeom prst="rect">
                <a:avLst/>
              </a:prstGeom>
              <a:blipFill>
                <a:blip r:embed="rId5"/>
                <a:stretch>
                  <a:fillRect l="-912" t="-2242" b="-4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408431" y="467680"/>
                <a:ext cx="11649097" cy="2376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Tula is transitioning 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-month old puppy, Rose, to adult dog food. To transition her puppy, Tula mixes adult and puppy dog food. Tula needs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9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cup of adult food for Rose and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cups of adult food for her other dog, Ash. Tula only has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 cup scoop. How many scoops of adult dog food will Tula need to have enough to feed Rose and Ash?</a:t>
                </a:r>
                <a:endParaRPr lang="en-PH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1" y="467680"/>
                <a:ext cx="11649097" cy="2376292"/>
              </a:xfrm>
              <a:prstGeom prst="rect">
                <a:avLst/>
              </a:prstGeom>
              <a:blipFill>
                <a:blip r:embed="rId4"/>
                <a:stretch>
                  <a:fillRect l="-871" t="-2116" r="-1307" b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974</Words>
  <Application>Microsoft Office PowerPoint</Application>
  <PresentationFormat>Widescreen</PresentationFormat>
  <Paragraphs>103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Verdana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3, Lesson 9  Solving Multi Step, Real-World Problems with Fractions or Decimals – Part 2  Volume 1, pg. 128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22</cp:revision>
  <dcterms:created xsi:type="dcterms:W3CDTF">2015-03-17T18:51:18Z</dcterms:created>
  <dcterms:modified xsi:type="dcterms:W3CDTF">2022-06-05T00:08:38Z</dcterms:modified>
</cp:coreProperties>
</file>