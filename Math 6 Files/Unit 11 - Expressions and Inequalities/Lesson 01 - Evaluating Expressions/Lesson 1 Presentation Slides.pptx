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34" r:id="rId12"/>
    <p:sldId id="335" r:id="rId13"/>
    <p:sldId id="336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37" r:id="rId22"/>
    <p:sldId id="338" r:id="rId23"/>
    <p:sldId id="302" r:id="rId24"/>
    <p:sldId id="303" r:id="rId25"/>
    <p:sldId id="306" r:id="rId26"/>
    <p:sldId id="307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6C983C"/>
    <a:srgbClr val="6A9A3E"/>
    <a:srgbClr val="DAE5CE"/>
    <a:srgbClr val="B399C8"/>
    <a:srgbClr val="1F3165"/>
    <a:srgbClr val="C9DF6F"/>
    <a:srgbClr val="3F2A67"/>
    <a:srgbClr val="E24E5F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78"/>
    <p:restoredTop sz="94719"/>
  </p:normalViewPr>
  <p:slideViewPr>
    <p:cSldViewPr snapToGrid="0">
      <p:cViewPr varScale="1">
        <p:scale>
          <a:sx n="54" d="100"/>
          <a:sy n="54" d="100"/>
        </p:scale>
        <p:origin x="96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61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55868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8615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53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6743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8855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7284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96032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49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5322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49558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2929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0418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13616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0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0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4978401" y="2054276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Evaluating Expressions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239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55326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436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92176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6" y="1237668"/>
            <a:ext cx="1070537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MA.6.AR.1.3 </a:t>
            </a:r>
          </a:p>
          <a:p>
            <a:pPr marL="0" indent="0">
              <a:buSzPts val="1100"/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Evaluate algebraic expressions using substitution and order of operations </a:t>
            </a:r>
            <a:endParaRPr lang="en-US" sz="2400" dirty="0">
              <a:solidFill>
                <a:schemeClr val="tx1"/>
              </a:solidFill>
              <a:latin typeface="Verdana" charset="0"/>
              <a:ea typeface="Verdana" charset="0"/>
              <a:cs typeface="Verdana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1" y="-88032"/>
            <a:ext cx="1043537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239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108920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239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6" y="1326150"/>
            <a:ext cx="1070537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apply order of operations to an algebraic expression. </a:t>
            </a:r>
            <a:endParaRPr lang="en-US" sz="2400" dirty="0">
              <a:solidFill>
                <a:schemeClr val="tx1"/>
              </a:solidFill>
              <a:latin typeface="Verdana" charset="0"/>
              <a:ea typeface="Verdana" charset="0"/>
              <a:cs typeface="Verdana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512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71900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-33867"/>
            <a:ext cx="105980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11.1.1 Warm-Up: Evaluating Numeric Expressions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368027"/>
                <a:ext cx="1110511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This math expression is dividing the internet.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algn="ctr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8÷2(2+2)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68027"/>
                <a:ext cx="11105118" cy="1323439"/>
              </a:xfrm>
              <a:prstGeom prst="rect">
                <a:avLst/>
              </a:prstGeom>
              <a:blipFill>
                <a:blip r:embed="rId5"/>
                <a:stretch>
                  <a:fillRect l="-571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6048" y="2691466"/>
            <a:ext cx="7320619" cy="346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239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06342" y="610705"/>
            <a:ext cx="115276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Do you agree with Alex or Ms. B? Explain or show why using order of operations.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Find the value of the expression. Show your work.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051194" y="1926568"/>
                <a:ext cx="208961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4−2×6÷3+7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194" y="1926568"/>
                <a:ext cx="208961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35746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53512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9839" y="-86778"/>
            <a:ext cx="1086184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11.1.2 Collaboration: Modeling the Meaning of Expressions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240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731519" y="1386025"/>
            <a:ext cx="60756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with your partner to determine which mathematical model matches each numerical expression. Use arrows to indicate matches. Be prepared to explain your thinking.</a:t>
            </a:r>
          </a:p>
          <a:p>
            <a:pPr marL="457200" lvl="3" indent="-457200">
              <a:buFont typeface="+mj-lt"/>
              <a:buAutoNum type="arabi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did you use the grouping symbols to help you determine which model matched each expression?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9147" y="1386025"/>
            <a:ext cx="4617532" cy="382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404743" y="400325"/>
            <a:ext cx="114937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If the grouping symbols were removed, which model matches each expression? Use arrows to indicate matches.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7199" y="1237532"/>
            <a:ext cx="6288833" cy="521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89615" y="2766150"/>
            <a:ext cx="758816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3512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</p:spTree>
    <p:extLst>
      <p:ext uri="{BB962C8B-B14F-4D97-AF65-F5344CB8AC3E}">
        <p14:creationId xmlns:p14="http://schemas.microsoft.com/office/powerpoint/2010/main" val="461722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1" y="60326"/>
            <a:ext cx="1071760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11.1.3 Guided Instruction: Applying Order of Operations to Algebraic Expressions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730266" y="1386026"/>
                <a:ext cx="1122466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Recall from 5</a:t>
                </a:r>
                <a:r>
                  <a:rPr lang="en-US" sz="2000" baseline="30000" dirty="0">
                    <a:latin typeface="Verdana" charset="0"/>
                    <a:ea typeface="Verdana" charset="0"/>
                    <a:cs typeface="Verdana" charset="0"/>
                  </a:rPr>
                  <a:t>th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grade that an order of operations</a:t>
                </a:r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used to evaluate numeric expressions with multiple operations. Grouping symbols such as parentheses are used to indicate which operations should be performed first. The following order is used.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Step 1:  Perform operations within grouping symbols.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Step 2:  Multiply and divide in order from left to right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→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Step 3:  Add and subtract in order from left to right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→</m:t>
                        </m:r>
                      </m:e>
                    </m:d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86026"/>
                <a:ext cx="11224666" cy="2554545"/>
              </a:xfrm>
              <a:prstGeom prst="rect">
                <a:avLst/>
              </a:prstGeom>
              <a:blipFill>
                <a:blip r:embed="rId5"/>
                <a:stretch>
                  <a:fillRect l="-565" t="-985" r="-1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75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19721" y="435501"/>
            <a:ext cx="11501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Three students completed the warm-up. The steps in each student’s process are shown.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2236622"/>
                  </p:ext>
                </p:extLst>
              </p:nvPr>
            </p:nvGraphicFramePr>
            <p:xfrm>
              <a:off x="2152651" y="1766564"/>
              <a:ext cx="7886699" cy="2361691"/>
            </p:xfrm>
            <a:graphic>
              <a:graphicData uri="http://schemas.openxmlformats.org/drawingml/2006/table">
                <a:tbl>
                  <a:tblPr bandRow="1"/>
                  <a:tblGrid>
                    <a:gridCol w="26283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291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291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4185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7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Leila’s</a:t>
                          </a:r>
                          <a:r>
                            <a:rPr lang="en-US" sz="1700" b="1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Work</a:t>
                          </a:r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6648" marR="66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7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Fabian’s</a:t>
                          </a:r>
                          <a:r>
                            <a:rPr lang="en-US" sz="1700" b="1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Work</a:t>
                          </a:r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6648" marR="66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7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Jaylah’s</a:t>
                          </a:r>
                          <a:r>
                            <a:rPr lang="en-US" sz="1700" b="1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Work</a:t>
                          </a:r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6648" marR="66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1983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4−2×6÷3+7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2×6÷3+7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12÷3+7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4+7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6648" marR="66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4−2×6÷3+7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4−12÷3+7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4−4+7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4−11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6648" marR="66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4−2×6÷3+7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4−12÷3+7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4−4+7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0+7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6648" marR="66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2236622"/>
                  </p:ext>
                </p:extLst>
              </p:nvPr>
            </p:nvGraphicFramePr>
            <p:xfrm>
              <a:off x="2152651" y="1766564"/>
              <a:ext cx="7886699" cy="2361691"/>
            </p:xfrm>
            <a:graphic>
              <a:graphicData uri="http://schemas.openxmlformats.org/drawingml/2006/table">
                <a:tbl>
                  <a:tblPr bandRow="1"/>
                  <a:tblGrid>
                    <a:gridCol w="26283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2917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291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4185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7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Leila’s</a:t>
                          </a:r>
                          <a:r>
                            <a:rPr lang="en-US" sz="1700" b="1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Work</a:t>
                          </a:r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6648" marR="66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7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Fabian’s</a:t>
                          </a:r>
                          <a:r>
                            <a:rPr lang="en-US" sz="1700" b="1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Work</a:t>
                          </a:r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6648" marR="66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7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Jaylah’s</a:t>
                          </a:r>
                          <a:r>
                            <a:rPr lang="en-US" sz="1700" b="1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Work</a:t>
                          </a:r>
                          <a:endParaRPr lang="en-US" sz="16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6648" marR="666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198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648" marR="66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2" t="-23418" r="-200696" b="-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648" marR="66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418" r="-100231" b="-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648" marR="6664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464" t="-23418" r="-464" b="-6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9684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42298" y="360436"/>
            <a:ext cx="11162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4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statements about which student correctly applied the given steps of the order of operations.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278" y="1068322"/>
            <a:ext cx="1484524" cy="11480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1087" y="2117300"/>
            <a:ext cx="3696916" cy="8080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5905" y="1642338"/>
            <a:ext cx="1039581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                evaluated the numerical expression correctly.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She first performed all                                           in order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from left to right and then performed all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                                        in order from left to right.                                                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905" y="3817892"/>
            <a:ext cx="3686806" cy="82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993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53587" y="379057"/>
            <a:ext cx="112981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With your partner, discuss the work of each student, Leila, Fabian, and Jaylah. Two of these students made a mistake somewhere. Circle the mistakes that you and your partner found.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754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53587" y="305068"/>
            <a:ext cx="112981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Omari evaluated Expression A and Expression B. His work is shown.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x-none" altLang="x-none" sz="2000" dirty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rPr>
              <a:t>With your partner, discuss the two original expressions that Omari evaluated and his corresponding answers. </a:t>
            </a:r>
            <a:endParaRPr lang="en-US" altLang="x-none" sz="2000" dirty="0">
              <a:solidFill>
                <a:schemeClr val="tx1"/>
              </a:solidFill>
              <a:latin typeface="Verdana" charset="0"/>
              <a:ea typeface="Verdana" charset="0"/>
              <a:cs typeface="Verdana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endParaRPr lang="x-none" altLang="x-none" sz="2000" dirty="0">
              <a:solidFill>
                <a:schemeClr val="tx1"/>
              </a:solidFill>
              <a:latin typeface="Verdana" charset="0"/>
              <a:ea typeface="Verdana" charset="0"/>
              <a:cs typeface="Verdana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x-none" altLang="x-none" sz="2000" dirty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rPr>
              <a:t>Omari’s partner gave him a</a:t>
            </a:r>
            <a:r>
              <a:rPr lang="en-US" altLang="x-none" sz="2000" dirty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rPr>
              <a:t>  </a:t>
            </a:r>
            <a:r>
              <a:rPr lang="x-none" altLang="x-none" sz="2000" dirty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rPr>
              <a:t>  </a:t>
            </a:r>
            <a:r>
              <a:rPr lang="en-US" altLang="x-none" sz="2000" dirty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rPr>
              <a:t>  </a:t>
            </a:r>
            <a:r>
              <a:rPr lang="x-none" altLang="x-none" sz="2000" dirty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rPr>
              <a:t>on both of his answers. Why did Omari arrive at two different values when evaluating these expressions? </a:t>
            </a:r>
          </a:p>
        </p:txBody>
      </p:sp>
      <p:pic>
        <p:nvPicPr>
          <p:cNvPr id="2052" name="image11.png" descr="Thumbs up sign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81949" y="5166896"/>
            <a:ext cx="433953" cy="433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0287018"/>
                  </p:ext>
                </p:extLst>
              </p:nvPr>
            </p:nvGraphicFramePr>
            <p:xfrm>
              <a:off x="2159309" y="1271727"/>
              <a:ext cx="7886700" cy="2424018"/>
            </p:xfrm>
            <a:graphic>
              <a:graphicData uri="http://schemas.openxmlformats.org/drawingml/2006/table">
                <a:tbl>
                  <a:tblPr bandRow="1"/>
                  <a:tblGrid>
                    <a:gridCol w="3943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433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853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 A</a:t>
                          </a:r>
                          <a:endParaRPr lang="en-US" sz="16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7280" marR="672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 B</a:t>
                          </a:r>
                          <a:endParaRPr lang="en-US" sz="16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7280" marR="672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3803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12+24÷6−2×2</m:t>
                                </m:r>
                              </m:oMath>
                            </m:oMathPara>
                          </a14:m>
                          <a:endParaRPr lang="en-US" sz="16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12+4−2×2</m:t>
                                </m:r>
                              </m:oMath>
                            </m:oMathPara>
                          </a14:m>
                          <a:endParaRPr lang="en-US" sz="16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12+4−4</m:t>
                                </m:r>
                              </m:oMath>
                            </m:oMathPara>
                          </a14:m>
                          <a:endParaRPr lang="en-US" sz="16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16−4</m:t>
                                </m:r>
                              </m:oMath>
                            </m:oMathPara>
                          </a14:m>
                          <a:endParaRPr lang="en-US" sz="16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sz="16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7280" marR="672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12+24÷(6−2×2)</m:t>
                                </m:r>
                              </m:oMath>
                            </m:oMathPara>
                          </a14:m>
                          <a:endParaRPr lang="en-US" sz="16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12+24÷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6−4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6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12+24÷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6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12+12</m:t>
                                </m:r>
                              </m:oMath>
                            </m:oMathPara>
                          </a14:m>
                          <a:endParaRPr lang="en-US" sz="16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16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7280" marR="672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0287018"/>
                  </p:ext>
                </p:extLst>
              </p:nvPr>
            </p:nvGraphicFramePr>
            <p:xfrm>
              <a:off x="2159309" y="1271727"/>
              <a:ext cx="7886700" cy="2424018"/>
            </p:xfrm>
            <a:graphic>
              <a:graphicData uri="http://schemas.openxmlformats.org/drawingml/2006/table">
                <a:tbl>
                  <a:tblPr bandRow="1"/>
                  <a:tblGrid>
                    <a:gridCol w="3943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433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853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 A</a:t>
                          </a:r>
                          <a:endParaRPr lang="en-US" sz="16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7280" marR="672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 B</a:t>
                          </a:r>
                          <a:endParaRPr lang="en-US" sz="16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7280" marR="672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754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280" marR="672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2" t="-23718" r="-100322" b="-6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280" marR="672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22" t="-23718" r="-322" b="-6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7787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64876" y="401635"/>
            <a:ext cx="11343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Like numeric expressions, algebraic expressions can be evaluated using order of operations when given a specific value for the 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variable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(s).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3" name="Text Box 24"/>
          <p:cNvSpPr txBox="1"/>
          <p:nvPr/>
        </p:nvSpPr>
        <p:spPr>
          <a:xfrm>
            <a:off x="2972981" y="1767452"/>
            <a:ext cx="6246038" cy="1887608"/>
          </a:xfrm>
          <a:prstGeom prst="roundRect">
            <a:avLst/>
          </a:prstGeom>
          <a:solidFill>
            <a:srgbClr val="DAE5CE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6C983C"/>
                </a:solidFill>
                <a:latin typeface="Verdana" charset="0"/>
                <a:ea typeface="Verdana" charset="0"/>
                <a:cs typeface="Verdana" charset="0"/>
              </a:rPr>
              <a:t>In an algebraic expression, a </a:t>
            </a:r>
            <a:r>
              <a:rPr lang="en-US" sz="2000" b="1" i="1" dirty="0">
                <a:solidFill>
                  <a:srgbClr val="6C983C"/>
                </a:solidFill>
                <a:latin typeface="Verdana" charset="0"/>
                <a:ea typeface="Verdana" charset="0"/>
                <a:cs typeface="Verdana" charset="0"/>
              </a:rPr>
              <a:t>variable</a:t>
            </a:r>
            <a:r>
              <a:rPr lang="en-US" sz="2000" dirty="0">
                <a:solidFill>
                  <a:srgbClr val="6C983C"/>
                </a:solidFill>
                <a:latin typeface="Verdana" charset="0"/>
                <a:ea typeface="Verdana" charset="0"/>
                <a:cs typeface="Verdana" charset="0"/>
              </a:rPr>
              <a:t> is a letter that represents a number. It is called a </a:t>
            </a:r>
            <a:r>
              <a:rPr lang="en-US" sz="2000" b="1" dirty="0">
                <a:solidFill>
                  <a:srgbClr val="6C983C"/>
                </a:solidFill>
                <a:latin typeface="Verdana" charset="0"/>
                <a:ea typeface="Verdana" charset="0"/>
                <a:cs typeface="Verdana" charset="0"/>
              </a:rPr>
              <a:t>vari</a:t>
            </a:r>
            <a:r>
              <a:rPr lang="en-US" sz="2000" dirty="0">
                <a:solidFill>
                  <a:srgbClr val="6C983C"/>
                </a:solidFill>
                <a:latin typeface="Verdana" charset="0"/>
                <a:ea typeface="Verdana" charset="0"/>
                <a:cs typeface="Verdana" charset="0"/>
              </a:rPr>
              <a:t>able because the value used to replace the letter can </a:t>
            </a:r>
            <a:r>
              <a:rPr lang="en-US" sz="2000" b="1" i="1" dirty="0">
                <a:solidFill>
                  <a:srgbClr val="6C983C"/>
                </a:solidFill>
                <a:latin typeface="Verdana" charset="0"/>
                <a:ea typeface="Verdana" charset="0"/>
                <a:cs typeface="Verdana" charset="0"/>
              </a:rPr>
              <a:t>vary</a:t>
            </a:r>
            <a:r>
              <a:rPr lang="en-US" sz="2000" dirty="0">
                <a:solidFill>
                  <a:srgbClr val="6C983C"/>
                </a:solidFill>
                <a:latin typeface="Verdana" charset="0"/>
                <a:ea typeface="Verdana" charset="0"/>
                <a:cs typeface="Verdana" charset="0"/>
              </a:rPr>
              <a:t>.</a:t>
            </a:r>
            <a:endParaRPr lang="en-US" sz="2000" i="1" dirty="0">
              <a:solidFill>
                <a:srgbClr val="6C983C"/>
              </a:solidFill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186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877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53586" y="386437"/>
                <a:ext cx="11512635" cy="419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When evaluating algebraic expressions, first substitute the given ________ for the variable(s). Then, apply the given steps for order of operations.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𝑛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6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𝑛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86" y="386437"/>
                <a:ext cx="11512635" cy="4197816"/>
              </a:xfrm>
              <a:prstGeom prst="rect">
                <a:avLst/>
              </a:prstGeom>
              <a:blipFill>
                <a:blip r:embed="rId4"/>
                <a:stretch>
                  <a:fillRect l="-551" t="-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4"/>
          <p:cNvSpPr txBox="1"/>
          <p:nvPr/>
        </p:nvSpPr>
        <p:spPr>
          <a:xfrm>
            <a:off x="2781300" y="1754277"/>
            <a:ext cx="6629400" cy="1562359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42950">
              <a:spcAft>
                <a:spcPts val="1000"/>
              </a:spcAft>
            </a:pPr>
            <a:r>
              <a:rPr lang="en-US" sz="2000" dirty="0">
                <a:solidFill>
                  <a:srgbClr val="2074BF"/>
                </a:solidFill>
                <a:latin typeface="Verdana" panose="020B0604030504040204" pitchFamily="34" charset="0"/>
                <a:ea typeface="Times New Roman"/>
                <a:cs typeface="Times New Roman"/>
              </a:rPr>
              <a:t>In mathematics, </a:t>
            </a:r>
            <a:r>
              <a:rPr lang="en-US" sz="2000" b="1" dirty="0">
                <a:solidFill>
                  <a:srgbClr val="2074BF"/>
                </a:solidFill>
                <a:latin typeface="Verdana" panose="020B0604030504040204" pitchFamily="34" charset="0"/>
                <a:ea typeface="Times New Roman"/>
                <a:cs typeface="Times New Roman"/>
              </a:rPr>
              <a:t>evaluate</a:t>
            </a:r>
            <a:r>
              <a:rPr lang="en-US" sz="2000" dirty="0">
                <a:solidFill>
                  <a:srgbClr val="2074BF"/>
                </a:solidFill>
                <a:latin typeface="Verdana" panose="020B0604030504040204" pitchFamily="34" charset="0"/>
                <a:ea typeface="Times New Roman"/>
                <a:cs typeface="Times New Roman"/>
              </a:rPr>
              <a:t> is an instruction that indicates the answer is a </a:t>
            </a:r>
            <a:r>
              <a:rPr lang="en-US" sz="2000" b="1" dirty="0">
                <a:solidFill>
                  <a:srgbClr val="2074BF"/>
                </a:solidFill>
                <a:latin typeface="Verdana" panose="020B0604030504040204" pitchFamily="34" charset="0"/>
                <a:ea typeface="Times New Roman"/>
                <a:cs typeface="Times New Roman"/>
              </a:rPr>
              <a:t>value</a:t>
            </a:r>
            <a:r>
              <a:rPr lang="en-US" sz="2000" dirty="0">
                <a:solidFill>
                  <a:srgbClr val="2074BF"/>
                </a:solidFill>
                <a:latin typeface="Verdana" panose="020B0604030504040204" pitchFamily="34" charset="0"/>
                <a:ea typeface="Times New Roman"/>
                <a:cs typeface="Times New Roman"/>
              </a:rPr>
              <a:t>. </a:t>
            </a:r>
            <a:endParaRPr lang="en-US" sz="2000" dirty="0">
              <a:solidFill>
                <a:srgbClr val="2074BF"/>
              </a:solidFill>
              <a:ea typeface="Times New Roman"/>
              <a:cs typeface="Times New Roman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4668" y="2270281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4669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42298" y="412924"/>
                <a:ext cx="11490058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numeric expressions, multiplication can be represented in different ways. Each expression below is a way to represent “three times five.”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algebraic expressions, the multiplication symbol, ×, could be confused with the variable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Therefore, writing a number next to a variable is a better way to note multiplication when using variables.</a:t>
                </a: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Multiplication of a number and a variable could also be represented using the multiplication dot,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3∙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or</a:t>
                </a:r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parentheses,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but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will be the most common way.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98" y="412924"/>
                <a:ext cx="11490058" cy="4401205"/>
              </a:xfrm>
              <a:prstGeom prst="rect">
                <a:avLst/>
              </a:prstGeom>
              <a:blipFill>
                <a:blip r:embed="rId4"/>
                <a:stretch>
                  <a:fillRect l="-663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844100"/>
                  </p:ext>
                </p:extLst>
              </p:nvPr>
            </p:nvGraphicFramePr>
            <p:xfrm>
              <a:off x="2243976" y="1449637"/>
              <a:ext cx="7886700" cy="378841"/>
            </p:xfrm>
            <a:graphic>
              <a:graphicData uri="http://schemas.openxmlformats.org/drawingml/2006/table">
                <a:tbl>
                  <a:tblPr bandRow="1"/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895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3×5</m:t>
                                </m:r>
                              </m:oMath>
                            </m:oMathPara>
                          </a14:m>
                          <a:endParaRPr lang="en-US" sz="15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4042" marR="6404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3∙5</m:t>
                                </m:r>
                              </m:oMath>
                            </m:oMathPara>
                          </a14:m>
                          <a:endParaRPr lang="en-US" sz="1500" i="1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4042" marR="6404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700" i="1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3(5)</m:t>
                                </m:r>
                              </m:oMath>
                            </m:oMathPara>
                          </a14:m>
                          <a:endParaRPr lang="en-US" sz="15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4042" marR="6404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844100"/>
                  </p:ext>
                </p:extLst>
              </p:nvPr>
            </p:nvGraphicFramePr>
            <p:xfrm>
              <a:off x="2243976" y="1449637"/>
              <a:ext cx="7886700" cy="378841"/>
            </p:xfrm>
            <a:graphic>
              <a:graphicData uri="http://schemas.openxmlformats.org/drawingml/2006/table">
                <a:tbl>
                  <a:tblPr bandRow="1"/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88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042" marR="6404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3333" r="-200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042" marR="6404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99519" t="-3333" r="-99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042" marR="6404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200483" t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19309" y="3122947"/>
                <a:ext cx="3536033" cy="3967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7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means “three times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.”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309" y="3122947"/>
                <a:ext cx="3536033" cy="396712"/>
              </a:xfrm>
              <a:prstGeom prst="rect">
                <a:avLst/>
              </a:prstGeom>
              <a:blipFill>
                <a:blip r:embed="rId6"/>
                <a:stretch>
                  <a:fillRect t="-9375" r="-143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147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933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611632" y="334854"/>
                <a:ext cx="1135459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why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3∙5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cannot be written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7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−(3+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−12)÷2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ea typeface="Verdana" charset="0"/>
                    <a:cs typeface="Verdana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 Show your work.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32" y="334854"/>
                <a:ext cx="11354590" cy="4401205"/>
              </a:xfrm>
              <a:prstGeom prst="rect">
                <a:avLst/>
              </a:prstGeom>
              <a:blipFill>
                <a:blip r:embed="rId4"/>
                <a:stretch>
                  <a:fillRect l="-559" t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4"/>
          <p:cNvSpPr txBox="1"/>
          <p:nvPr/>
        </p:nvSpPr>
        <p:spPr>
          <a:xfrm>
            <a:off x="2781300" y="1754276"/>
            <a:ext cx="6949440" cy="1562359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42950"/>
            <a:r>
              <a:rPr lang="en-US" sz="2000" dirty="0">
                <a:solidFill>
                  <a:srgbClr val="417DBF"/>
                </a:solidFill>
                <a:latin typeface="Verdana" pitchFamily="34" charset="0"/>
                <a:ea typeface="Verdana" pitchFamily="34" charset="0"/>
              </a:rPr>
              <a:t>When substituting values into algebraic expressions, it is helpful to put the substituted value in </a:t>
            </a:r>
            <a:r>
              <a:rPr lang="en-US" sz="2000" b="1" dirty="0">
                <a:solidFill>
                  <a:srgbClr val="417DBF"/>
                </a:solidFill>
                <a:latin typeface="Verdana" pitchFamily="34" charset="0"/>
                <a:ea typeface="Verdana" pitchFamily="34" charset="0"/>
              </a:rPr>
              <a:t>parentheses</a:t>
            </a:r>
            <a:r>
              <a:rPr lang="en-US" sz="2000" dirty="0">
                <a:solidFill>
                  <a:srgbClr val="417DBF"/>
                </a:solidFill>
                <a:latin typeface="Verdana" pitchFamily="34" charset="0"/>
                <a:ea typeface="Verdana" pitchFamily="34" charset="0"/>
              </a:rPr>
              <a:t> when the variable is being multiplied by a known value.</a:t>
            </a:r>
            <a:endParaRPr lang="en-US" sz="2000" i="1" dirty="0">
              <a:solidFill>
                <a:srgbClr val="417DBF"/>
              </a:solidFill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5484" y="2005103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069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46162" y="2772500"/>
            <a:ext cx="71371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243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53512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704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840" y="0"/>
            <a:ext cx="1051189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11.1.4 Guided Practice: Evaluating Algebraic Expressions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243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19" y="1325700"/>
                <a:ext cx="10511893" cy="1766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3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6∙2−(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𝑡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+3)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𝑡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4−10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5−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𝑤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+4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𝑤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∙2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𝑤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lvl="3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3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8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𝐻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325700"/>
                <a:ext cx="10511893" cy="1766574"/>
              </a:xfrm>
              <a:prstGeom prst="rect">
                <a:avLst/>
              </a:prstGeom>
              <a:blipFill>
                <a:blip r:embed="rId5"/>
                <a:stretch>
                  <a:fillRect l="-603" t="-2143" b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26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75952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3512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243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11.1.5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5" y="1340871"/>
                <a:ext cx="10581201" cy="1772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6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13−48÷2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𝑟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𝑟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lvl="6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6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6∙(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+9)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𝑞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lvl="6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lvl="6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7+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𝑎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×5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340871"/>
                <a:ext cx="10581201" cy="1772537"/>
              </a:xfrm>
              <a:prstGeom prst="rect">
                <a:avLst/>
              </a:prstGeom>
              <a:blipFill>
                <a:blip r:embed="rId5"/>
                <a:stretch>
                  <a:fillRect l="-600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244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69895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3512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244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7331" y="279372"/>
            <a:ext cx="9667735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11.1.6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30266" y="1325700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3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Evaluate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8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𝑎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−4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25700"/>
                <a:ext cx="8327136" cy="400110"/>
              </a:xfrm>
              <a:prstGeom prst="rect">
                <a:avLst/>
              </a:prstGeom>
              <a:blipFill>
                <a:blip r:embed="rId5"/>
                <a:stretch>
                  <a:fillRect l="-761" t="-937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F98AD3D1-459B-472D-971B-541AE97C05D5}"/>
</file>

<file path=customXml/itemProps2.xml><?xml version="1.0" encoding="utf-8"?>
<ds:datastoreItem xmlns:ds="http://schemas.openxmlformats.org/officeDocument/2006/customXml" ds:itemID="{9C1374F1-94B2-4D34-AA81-F3FF34A378DD}"/>
</file>

<file path=customXml/itemProps3.xml><?xml version="1.0" encoding="utf-8"?>
<ds:datastoreItem xmlns:ds="http://schemas.openxmlformats.org/officeDocument/2006/customXml" ds:itemID="{E12694E3-A53E-490A-B4B0-D6354DA70264}"/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1157</Words>
  <Application>Microsoft Office PowerPoint</Application>
  <PresentationFormat>Widescreen</PresentationFormat>
  <Paragraphs>199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Math  Unit 11, Lesson 1  Evaluating Expressions  Volume 2, pg. 239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27</cp:revision>
  <dcterms:created xsi:type="dcterms:W3CDTF">2015-03-17T18:51:18Z</dcterms:created>
  <dcterms:modified xsi:type="dcterms:W3CDTF">2022-07-09T18:59:50Z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