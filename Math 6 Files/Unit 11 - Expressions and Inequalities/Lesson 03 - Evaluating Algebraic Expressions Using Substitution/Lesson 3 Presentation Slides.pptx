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16" r:id="rId10"/>
    <p:sldId id="317" r:id="rId11"/>
    <p:sldId id="318" r:id="rId12"/>
    <p:sldId id="319" r:id="rId13"/>
    <p:sldId id="302" r:id="rId14"/>
    <p:sldId id="303" r:id="rId15"/>
    <p:sldId id="309" r:id="rId16"/>
    <p:sldId id="306" r:id="rId17"/>
    <p:sldId id="307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08"/>
    <p:restoredTop sz="94719"/>
  </p:normalViewPr>
  <p:slideViewPr>
    <p:cSldViewPr snapToGrid="0">
      <p:cViewPr varScale="1">
        <p:scale>
          <a:sx n="78" d="100"/>
          <a:sy n="78" d="100"/>
        </p:scale>
        <p:origin x="-360" y="-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167602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2304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182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9755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13446" y="2136799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Evaluating Algebraic Expressions Using Substitution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251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2136799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7332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102311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200" dirty="0">
                <a:latin typeface="Verdana" charset="0"/>
                <a:ea typeface="Verdana" charset="0"/>
                <a:cs typeface="Verdana" charset="0"/>
              </a:rPr>
              <a:t>MA.6.AR.1.3</a:t>
            </a:r>
            <a:r>
              <a:rPr lang="en-US" sz="3200" i="1" dirty="0">
                <a:latin typeface="Verdana" charset="0"/>
                <a:ea typeface="Verdana" charset="0"/>
                <a:cs typeface="Verdana" charset="0"/>
              </a:rPr>
              <a:t> </a:t>
            </a:r>
          </a:p>
          <a:p>
            <a:pPr marL="95250" indent="0">
              <a:buNone/>
            </a:pPr>
            <a:r>
              <a:rPr lang="en-US" sz="3200" dirty="0">
                <a:latin typeface="Verdana" charset="0"/>
                <a:ea typeface="Verdana" charset="0"/>
                <a:cs typeface="Verdana" charset="0"/>
              </a:rPr>
              <a:t>Evaluate algebraic expressions using substitution and order of operations.</a:t>
            </a:r>
            <a:endParaRPr lang="en-US" sz="32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03916" y="33900"/>
            <a:ext cx="1073146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251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6" y="1526868"/>
            <a:ext cx="1110511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</a:t>
            </a: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</a:t>
            </a: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58888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251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6" y="1488688"/>
            <a:ext cx="1001951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evaluate algebraic expressions using substitution.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3512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71900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33480" y="-88032"/>
            <a:ext cx="992503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11.3.1 Warm-Up: Order Explorer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6" y="1237668"/>
                <a:ext cx="11246144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Place a digit in each box to create an expression with the largest possible value. Use any of the digits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once each at most.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value of your expression?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On a scale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how confident are you that your expression is the largest possible value?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your strategy for choosing and placing the numbers as you did.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237668"/>
                <a:ext cx="11246144" cy="4708981"/>
              </a:xfrm>
              <a:prstGeom prst="rect">
                <a:avLst/>
              </a:prstGeom>
              <a:blipFill>
                <a:blip r:embed="rId5"/>
                <a:stretch>
                  <a:fillRect l="-564" t="-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6791" y="1952559"/>
            <a:ext cx="4598416" cy="163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05656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252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53512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1114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9840" y="142127"/>
            <a:ext cx="10156706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11.3.2 Collaboration: Evaluating Algebraic Expressions by Substituting Integers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252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731519" y="1372928"/>
                <a:ext cx="11111076" cy="3746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20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Brae evaluated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7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+12−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(5−3)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Her work is shown. </a:t>
                </a: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her work and determine where she made mistakes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7</m:t>
                      </m:r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𝑏</m:t>
                      </m:r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+12−</m:t>
                      </m:r>
                      <m:sSup>
                        <m:sSupPr>
                          <m:ctrlPr>
                            <a:rPr lang="en-US" sz="20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(5−3)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7−2+12−</m:t>
                      </m:r>
                      <m:sSup>
                        <m:sSupPr>
                          <m:ctrlPr>
                            <a:rPr lang="en-US" sz="20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(5−3)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7−2+12−</m:t>
                      </m:r>
                      <m:sSup>
                        <m:sSupPr>
                          <m:ctrlPr>
                            <a:rPr lang="en-US" sz="20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(−2)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7−2+12+4</m:t>
                      </m:r>
                    </m:oMath>
                  </m:oMathPara>
                </a14:m>
                <a:endParaRPr lang="en-US" sz="20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5+12+4</m:t>
                      </m:r>
                    </m:oMath>
                  </m:oMathPara>
                </a14:m>
                <a:endParaRPr lang="en-US" sz="20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17+4</m:t>
                      </m:r>
                    </m:oMath>
                  </m:oMathPara>
                </a14:m>
                <a:endParaRPr lang="en-US" sz="20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000">
                        <a:latin typeface="Cambria Math" charset="0"/>
                        <a:ea typeface="Cambria Math" charset="0"/>
                        <a:cs typeface="Cambria Math" charset="0"/>
                      </a:rPr>
                      <m:t>21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372928"/>
                <a:ext cx="11111076" cy="3746667"/>
              </a:xfrm>
              <a:prstGeom prst="rect">
                <a:avLst/>
              </a:prstGeom>
              <a:blipFill rotWithShape="1">
                <a:blip r:embed="rId5"/>
                <a:stretch>
                  <a:fillRect l="-549" t="-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446593" y="388857"/>
            <a:ext cx="11373699" cy="721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indent="-457200">
              <a:lnSpc>
                <a:spcPct val="107000"/>
              </a:lnSpc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Help Brae understand and learn from her mistakes. Write a brief note to Brae explaining what her mistakes were and how she could learn from the mistakes.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6976" y="1532393"/>
            <a:ext cx="5932932" cy="450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5813" y="400324"/>
            <a:ext cx="10874771" cy="588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Read the note your partner wrote and offer suggestions on ways to improve their note.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Using the word bank below, complete the three reminders that could help Brae</a:t>
            </a: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.</a:t>
            </a:r>
          </a:p>
          <a:p>
            <a:pPr marL="4572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000" dirty="0" smtClean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000" dirty="0" smtClean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lnSpc>
                <a:spcPct val="115000"/>
              </a:lnSpc>
              <a:buFont typeface="Symbol" charset="2"/>
              <a:buChar char="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When substituting values into algebraic expressions, it is helpful to put the substituted value(s) in ____________.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lnSpc>
                <a:spcPct val="107000"/>
              </a:lnSpc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lnSpc>
                <a:spcPct val="115000"/>
              </a:lnSpc>
              <a:buFont typeface="Symbol" charset="2"/>
              <a:buChar char="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When evaluating expressions with exponents, if the negative is </a:t>
            </a: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_________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parentheses, the negative indicates subtraction, or the opposite of the value found by raising the value inside to a power. 	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lnSpc>
                <a:spcPct val="115000"/>
              </a:lnSpc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lnSpc>
                <a:spcPct val="115000"/>
              </a:lnSpc>
              <a:buFont typeface="Symbol" charset="2"/>
              <a:buChar char="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If the negative is ________ the parentheses, it indicates that the number is a negative number being raised to a power</a:t>
            </a: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.</a:t>
            </a: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0885" y="1978446"/>
            <a:ext cx="5229008" cy="82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2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55813" y="400324"/>
            <a:ext cx="10874771" cy="726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lphaLcPeriod" startAt="5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Verify your answers with your partner and, if necessary, resolve any differences</a:t>
            </a: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.</a:t>
            </a:r>
            <a:endParaRPr lang="en-US" sz="2000" i="1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253</a:t>
            </a:r>
          </a:p>
        </p:txBody>
      </p:sp>
    </p:spTree>
    <p:extLst>
      <p:ext uri="{BB962C8B-B14F-4D97-AF65-F5344CB8AC3E}">
        <p14:creationId xmlns:p14="http://schemas.microsoft.com/office/powerpoint/2010/main" val="1204522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655813" y="400324"/>
                <a:ext cx="10874771" cy="33949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spcAft>
                    <a:spcPts val="2000"/>
                  </a:spcAft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following problems.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−8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−4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𝑞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𝑠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=4, 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=−3,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=−24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−4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=4, 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=−3,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=−24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=4, 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=−3,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=−24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All of the expressions should have the same result. Check your work with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/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your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partner.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13" y="400324"/>
                <a:ext cx="10874771" cy="3394904"/>
              </a:xfrm>
              <a:prstGeom prst="rect">
                <a:avLst/>
              </a:prstGeom>
              <a:blipFill rotWithShape="1">
                <a:blip r:embed="rId4"/>
                <a:stretch>
                  <a:fillRect l="-617" t="-1257" b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3707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93642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3512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254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11.3.3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F9486181-07A1-C74B-A129-E8949F43C159}"/>
              </a:ext>
            </a:extLst>
          </p:cNvPr>
          <p:cNvSpPr txBox="1"/>
          <p:nvPr/>
        </p:nvSpPr>
        <p:spPr>
          <a:xfrm>
            <a:off x="8897112" y="64632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6" y="1326297"/>
                <a:ext cx="10800318" cy="23795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</m:t>
                    </m:r>
                    <m:d>
                      <m:d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6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+7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−3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𝑑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sup>
                    </m:sSup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𝑑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 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=−75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−2</m:t>
                    </m:r>
                    <m:d>
                      <m:d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𝑏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+4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/>
                                <a:ea typeface="Verdana" charset="0"/>
                                <a:cs typeface="Verdana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7−</m:t>
                            </m:r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𝑐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−5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𝑐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=−9, 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=29,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=−17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26297"/>
                <a:ext cx="10800318" cy="2379562"/>
              </a:xfrm>
              <a:prstGeom prst="rect">
                <a:avLst/>
              </a:prstGeom>
              <a:blipFill rotWithShape="1">
                <a:blip r:embed="rId5"/>
                <a:stretch>
                  <a:fillRect l="-621" t="-1538" b="-3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655813" y="400324"/>
                <a:ext cx="10874771" cy="3141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2000"/>
                  </a:spcAft>
                  <a:buFont typeface="+mj-lt"/>
                  <a:buAutoNum type="arabi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each expression.</a:t>
                </a:r>
              </a:p>
              <a:p>
                <a:pPr marL="914400" indent="-457200">
                  <a:lnSpc>
                    <a:spcPct val="107000"/>
                  </a:lnSpc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Verdana" charset="0"/>
                  </a:rPr>
                  <a:t>a.	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8÷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p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−16÷(−5+7)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p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=4</m:t>
                    </m:r>
                  </m:oMath>
                </a14:m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914400" indent="-457200">
                  <a:lnSpc>
                    <a:spcPct val="107000"/>
                  </a:lnSpc>
                </a:pPr>
                <a:endParaRPr lang="en-US" sz="2000" dirty="0" smtClean="0">
                  <a:latin typeface="Cambria Math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Verdana" charset="0"/>
                  </a:rPr>
                  <a:t>b.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13+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y</m:t>
                        </m:r>
                      </m:den>
                    </m:f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y</m:t>
                        </m:r>
                      </m:e>
                      <m:sup>
                        <m: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y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=−3</m:t>
                    </m:r>
                  </m:oMath>
                </a14:m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914400" indent="-457200">
                  <a:lnSpc>
                    <a:spcPct val="107000"/>
                  </a:lnSpc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Verdana" charset="0"/>
                  </a:rPr>
                  <a:t>c.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g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−12+(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−7)∙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e>
                      <m:sup>
                        <m: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g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=−7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=6</m:t>
                    </m:r>
                  </m:oMath>
                </a14:m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914400" indent="-457200">
                  <a:lnSpc>
                    <a:spcPct val="107000"/>
                  </a:lnSpc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Verdana" charset="0"/>
                  </a:rPr>
                  <a:t>d.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w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÷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t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÷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y</m:t>
                        </m:r>
                      </m:e>
                      <m:sup>
                        <m: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=−3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t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=7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w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=84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y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=−2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13" y="400324"/>
                <a:ext cx="10874771" cy="3141053"/>
              </a:xfrm>
              <a:prstGeom prst="rect">
                <a:avLst/>
              </a:prstGeom>
              <a:blipFill rotWithShape="1">
                <a:blip r:embed="rId3"/>
                <a:stretch>
                  <a:fillRect l="-617" t="-1165" b="-1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254</a:t>
            </a: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255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55715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3512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255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9873" y="307072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11.3.4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730265" y="1237668"/>
            <a:ext cx="45995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Color in the arrow up to the statement that best describes your current understanding.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6515" y="886021"/>
            <a:ext cx="4599578" cy="557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</TotalTime>
  <Words>690</Words>
  <Application>Microsoft Office PowerPoint</Application>
  <PresentationFormat>Custom</PresentationFormat>
  <Paragraphs>113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1_Office Theme</vt:lpstr>
      <vt:lpstr>6th Grade Math  Unit 11, Lesson 3  Evaluating Algebraic Expressions Using Substitution  Volume 2, pg. 251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27</cp:revision>
  <dcterms:created xsi:type="dcterms:W3CDTF">2015-03-17T18:51:18Z</dcterms:created>
  <dcterms:modified xsi:type="dcterms:W3CDTF">2022-06-07T10:35:28Z</dcterms:modified>
</cp:coreProperties>
</file>