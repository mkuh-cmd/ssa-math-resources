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14" r:id="rId8"/>
    <p:sldId id="315" r:id="rId9"/>
    <p:sldId id="316" r:id="rId10"/>
    <p:sldId id="337" r:id="rId11"/>
    <p:sldId id="338" r:id="rId12"/>
    <p:sldId id="332" r:id="rId13"/>
    <p:sldId id="333" r:id="rId14"/>
    <p:sldId id="334" r:id="rId15"/>
    <p:sldId id="335" r:id="rId16"/>
    <p:sldId id="336" r:id="rId17"/>
    <p:sldId id="344" r:id="rId18"/>
    <p:sldId id="339" r:id="rId19"/>
    <p:sldId id="340" r:id="rId20"/>
    <p:sldId id="341" r:id="rId21"/>
    <p:sldId id="342" r:id="rId22"/>
    <p:sldId id="302" r:id="rId23"/>
    <p:sldId id="303" r:id="rId24"/>
    <p:sldId id="309" r:id="rId25"/>
    <p:sldId id="306" r:id="rId26"/>
    <p:sldId id="307" r:id="rId27"/>
    <p:sldId id="310"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9A3D"/>
    <a:srgbClr val="E4EFD4"/>
    <a:srgbClr val="417DBF"/>
    <a:srgbClr val="E14E5E"/>
    <a:srgbClr val="F7D1D5"/>
    <a:srgbClr val="B399C8"/>
    <a:srgbClr val="1F3165"/>
    <a:srgbClr val="C9DF6F"/>
    <a:srgbClr val="3F2A67"/>
    <a:srgbClr val="E24E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340"/>
    <p:restoredTop sz="94719"/>
  </p:normalViewPr>
  <p:slideViewPr>
    <p:cSldViewPr snapToGrid="0">
      <p:cViewPr varScale="1">
        <p:scale>
          <a:sx n="54" d="100"/>
          <a:sy n="54" d="100"/>
        </p:scale>
        <p:origin x="90" y="17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499408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60040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606802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679185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12871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181807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978611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447372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036730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956338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618543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827725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7174420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40458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14434" y="2054276"/>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Evaluating Expressions with Exponents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244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1850"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5" y="1126067"/>
            <a:ext cx="10739245"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MA.6.AR.1.3 </a:t>
            </a:r>
          </a:p>
          <a:p>
            <a:pPr marL="95250" indent="0">
              <a:buNone/>
            </a:pPr>
            <a:r>
              <a:rPr lang="en-US" sz="2400" dirty="0">
                <a:latin typeface="Verdana" charset="0"/>
                <a:ea typeface="Verdana" charset="0"/>
                <a:cs typeface="Verdana" charset="0"/>
              </a:rPr>
              <a:t>Evaluate algebraic expressions using substitution and order of operations.</a:t>
            </a:r>
            <a:endParaRPr lang="en-US" sz="2400" i="1" dirty="0">
              <a:latin typeface="Verdana" charset="0"/>
              <a:ea typeface="Verdana" charset="0"/>
              <a:cs typeface="Verdana"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37332" y="20546"/>
            <a:ext cx="105980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244</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0265" y="1326150"/>
            <a:ext cx="1094244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244</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5" y="1326150"/>
            <a:ext cx="1033284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evaluate expressions that include exponents.</a:t>
            </a:r>
            <a:endParaRPr lang="en-US" sz="2400" i="1" dirty="0">
              <a:latin typeface="Verdana" charset="0"/>
              <a:ea typeface="Verdana" charset="0"/>
              <a:cs typeface="Verdana"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2953512"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69080" y="2705953"/>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8437" y="279372"/>
            <a:ext cx="9833073"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11.2.1 Warm-Up: Error Analysis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245</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730266" y="1236850"/>
                <a:ext cx="11111778" cy="4773614"/>
              </a:xfrm>
              <a:prstGeom prst="rect">
                <a:avLst/>
              </a:prstGeom>
              <a:noFill/>
            </p:spPr>
            <p:txBody>
              <a:bodyPr wrap="square" rtlCol="0">
                <a:spAutoFit/>
              </a:bodyPr>
              <a:lstStyle/>
              <a:p>
                <a:r>
                  <a:rPr lang="en-US" sz="2000" dirty="0">
                    <a:latin typeface="Verdana" charset="0"/>
                    <a:ea typeface="Verdana" charset="0"/>
                    <a:cs typeface="Verdana" charset="0"/>
                  </a:rPr>
                  <a:t>Two students made errors on yesterday’s exit ticket. Their work is shown below.</a:t>
                </a:r>
                <a:endParaRPr lang="en-US" sz="2000" i="1" dirty="0">
                  <a:latin typeface="Verdana" charset="0"/>
                  <a:ea typeface="Verdana" charset="0"/>
                  <a:cs typeface="Verdana" charset="0"/>
                </a:endParaRPr>
              </a:p>
              <a:p>
                <a:r>
                  <a:rPr lang="en-US" sz="2000" i="1" dirty="0">
                    <a:latin typeface="Verdana" charset="0"/>
                    <a:ea typeface="Verdana" charset="0"/>
                    <a:cs typeface="Verdana" charset="0"/>
                  </a:rPr>
                  <a:t> </a:t>
                </a:r>
              </a:p>
              <a:p>
                <a:pPr algn="ctr"/>
                <a:r>
                  <a:rPr lang="en-US" sz="2000" dirty="0">
                    <a:latin typeface="Verdana" charset="0"/>
                    <a:ea typeface="Verdana" charset="0"/>
                    <a:cs typeface="Verdana" charset="0"/>
                  </a:rPr>
                  <a:t>Evaluate </a:t>
                </a:r>
                <a14:m>
                  <m:oMath xmlns:m="http://schemas.openxmlformats.org/officeDocument/2006/math">
                    <m:r>
                      <a:rPr lang="en-US" sz="2000" i="1">
                        <a:latin typeface="Cambria Math" charset="0"/>
                        <a:ea typeface="Verdana" charset="0"/>
                        <a:cs typeface="Verdana" charset="0"/>
                      </a:rPr>
                      <m:t>8</m:t>
                    </m:r>
                    <m:r>
                      <a:rPr lang="en-US" sz="2000" i="1">
                        <a:latin typeface="Cambria Math" charset="0"/>
                        <a:ea typeface="Verdana" charset="0"/>
                        <a:cs typeface="Verdana" charset="0"/>
                      </a:rPr>
                      <m:t>𝑎</m:t>
                    </m:r>
                    <m:r>
                      <a:rPr lang="en-US" sz="2000" i="1">
                        <a:latin typeface="Cambria Math" charset="0"/>
                        <a:ea typeface="Verdana" charset="0"/>
                        <a:cs typeface="Verdana" charset="0"/>
                      </a:rPr>
                      <m:t>+3</m:t>
                    </m:r>
                    <m:r>
                      <a:rPr lang="en-US" sz="2000" i="1">
                        <a:latin typeface="Cambria Math" charset="0"/>
                        <a:ea typeface="Verdana" charset="0"/>
                        <a:cs typeface="Verdana" charset="0"/>
                      </a:rPr>
                      <m:t>𝑏</m:t>
                    </m:r>
                    <m:r>
                      <a:rPr lang="en-US" sz="2000" i="1">
                        <a:latin typeface="Cambria Math" charset="0"/>
                        <a:ea typeface="Verdana" charset="0"/>
                        <a:cs typeface="Verdana" charset="0"/>
                      </a:rPr>
                      <m:t>(2</m:t>
                    </m:r>
                    <m:r>
                      <a:rPr lang="en-US" sz="2000" i="1">
                        <a:latin typeface="Cambria Math" charset="0"/>
                        <a:ea typeface="Verdana" charset="0"/>
                        <a:cs typeface="Verdana" charset="0"/>
                      </a:rPr>
                      <m:t>𝑎</m:t>
                    </m:r>
                    <m:r>
                      <a:rPr lang="en-US" sz="2000" i="1">
                        <a:latin typeface="Cambria Math" charset="0"/>
                        <a:ea typeface="Verdana" charset="0"/>
                        <a:cs typeface="Verdana" charset="0"/>
                      </a:rPr>
                      <m:t>−4)</m:t>
                    </m:r>
                  </m:oMath>
                </a14:m>
                <a:r>
                  <a:rPr lang="en-US" sz="2000" dirty="0">
                    <a:latin typeface="Verdana" charset="0"/>
                    <a:ea typeface="Verdana" charset="0"/>
                    <a:cs typeface="Verdana" charset="0"/>
                  </a:rPr>
                  <a:t> for </a:t>
                </a:r>
                <a14:m>
                  <m:oMath xmlns:m="http://schemas.openxmlformats.org/officeDocument/2006/math">
                    <m:r>
                      <a:rPr lang="en-US" sz="2000" i="1">
                        <a:latin typeface="Cambria Math" charset="0"/>
                        <a:ea typeface="Verdana" charset="0"/>
                        <a:cs typeface="Verdana" charset="0"/>
                      </a:rPr>
                      <m:t>𝑎</m:t>
                    </m:r>
                    <m:r>
                      <a:rPr lang="en-US" sz="2000" i="1">
                        <a:latin typeface="Cambria Math" charset="0"/>
                        <a:ea typeface="Verdana" charset="0"/>
                        <a:cs typeface="Verdana" charset="0"/>
                      </a:rPr>
                      <m:t>=2</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𝑏</m:t>
                    </m:r>
                    <m:r>
                      <a:rPr lang="en-US" sz="2000" i="1">
                        <a:latin typeface="Cambria Math" charset="0"/>
                        <a:ea typeface="Verdana" charset="0"/>
                        <a:cs typeface="Verdana" charset="0"/>
                      </a:rPr>
                      <m:t>=6</m:t>
                    </m:r>
                  </m:oMath>
                </a14:m>
                <a:r>
                  <a:rPr lang="en-US" sz="2000" dirty="0">
                    <a:latin typeface="Verdana" charset="0"/>
                    <a:ea typeface="Verdana" charset="0"/>
                    <a:cs typeface="Verdana" charset="0"/>
                  </a:rPr>
                  <a:t>.</a:t>
                </a:r>
              </a:p>
              <a:p>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a:p>
                <a:pPr marL="457200" indent="-457200">
                  <a:lnSpc>
                    <a:spcPct val="107000"/>
                  </a:lnSpc>
                  <a:buFont typeface="+mj-lt"/>
                  <a:buAutoNum type="arabicPeriod"/>
                </a:pPr>
                <a:r>
                  <a:rPr lang="en-US" sz="2000" dirty="0">
                    <a:latin typeface="Verdana" charset="0"/>
                    <a:ea typeface="Verdana" charset="0"/>
                    <a:cs typeface="Verdana" charset="0"/>
                  </a:rPr>
                  <a:t>What error did Azalea make?</a:t>
                </a:r>
                <a:endParaRPr lang="en-US" sz="2000" i="1" dirty="0">
                  <a:latin typeface="Verdana" charset="0"/>
                  <a:ea typeface="Verdana" charset="0"/>
                  <a:cs typeface="Verdana" charset="0"/>
                </a:endParaRPr>
              </a:p>
              <a:p>
                <a:pPr marL="342900" indent="-342900">
                  <a:lnSpc>
                    <a:spcPct val="107000"/>
                  </a:lnSpc>
                  <a:buFont typeface="+mj-lt"/>
                  <a:buAutoNum type="arabicPeriod"/>
                </a:pPr>
                <a:endParaRPr lang="en-US" sz="2000" i="1" dirty="0">
                  <a:latin typeface="Verdana" charset="0"/>
                  <a:ea typeface="Verdana" charset="0"/>
                  <a:cs typeface="Verdana" charset="0"/>
                </a:endParaRPr>
              </a:p>
              <a:p>
                <a:pPr marL="457200" indent="-457200">
                  <a:lnSpc>
                    <a:spcPct val="107000"/>
                  </a:lnSpc>
                  <a:buFont typeface="+mj-lt"/>
                  <a:buAutoNum type="arabicPeriod"/>
                </a:pPr>
                <a:r>
                  <a:rPr lang="en-US" sz="2000" dirty="0">
                    <a:latin typeface="Verdana" charset="0"/>
                    <a:ea typeface="Verdana" charset="0"/>
                    <a:cs typeface="Verdana" charset="0"/>
                  </a:rPr>
                  <a:t>What error did Joshua make?</a:t>
                </a:r>
                <a:endParaRPr lang="en-US" sz="2000" i="1" dirty="0">
                  <a:latin typeface="Verdana" charset="0"/>
                  <a:ea typeface="Verdana" charset="0"/>
                  <a:cs typeface="Verdana"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730266" y="1236850"/>
                <a:ext cx="11111778" cy="4773614"/>
              </a:xfrm>
              <a:prstGeom prst="rect">
                <a:avLst/>
              </a:prstGeom>
              <a:blipFill rotWithShape="1">
                <a:blip r:embed="rId5"/>
                <a:stretch>
                  <a:fillRect l="-603" t="-639" b="-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417081855"/>
                  </p:ext>
                </p:extLst>
              </p:nvPr>
            </p:nvGraphicFramePr>
            <p:xfrm>
              <a:off x="2381250" y="2476217"/>
              <a:ext cx="7429500" cy="2236915"/>
            </p:xfrm>
            <a:graphic>
              <a:graphicData uri="http://schemas.openxmlformats.org/drawingml/2006/table">
                <a:tbl>
                  <a:tblPr bandRow="1"/>
                  <a:tblGrid>
                    <a:gridCol w="3712210">
                      <a:extLst>
                        <a:ext uri="{9D8B030D-6E8A-4147-A177-3AD203B41FA5}">
                          <a16:colId xmlns:a16="http://schemas.microsoft.com/office/drawing/2014/main" val="20000"/>
                        </a:ext>
                      </a:extLst>
                    </a:gridCol>
                    <a:gridCol w="3717290">
                      <a:extLst>
                        <a:ext uri="{9D8B030D-6E8A-4147-A177-3AD203B41FA5}">
                          <a16:colId xmlns:a16="http://schemas.microsoft.com/office/drawing/2014/main" val="20001"/>
                        </a:ext>
                      </a:extLst>
                    </a:gridCol>
                  </a:tblGrid>
                  <a:tr h="193675">
                    <a:tc>
                      <a:txBody>
                        <a:bodyPr/>
                        <a:lstStyle/>
                        <a:p>
                          <a:pPr marL="0" marR="0" algn="ctr">
                            <a:lnSpc>
                              <a:spcPct val="107000"/>
                            </a:lnSpc>
                            <a:spcBef>
                              <a:spcPts val="0"/>
                            </a:spcBef>
                            <a:spcAft>
                              <a:spcPts val="0"/>
                            </a:spcAft>
                          </a:pPr>
                          <a:r>
                            <a:rPr lang="en-US" sz="2000" b="1" i="0" dirty="0">
                              <a:solidFill>
                                <a:srgbClr val="000000"/>
                              </a:solidFill>
                              <a:effectLst/>
                              <a:latin typeface="Verdana" charset="0"/>
                              <a:ea typeface="Verdana" charset="0"/>
                              <a:cs typeface="Verdana" charset="0"/>
                            </a:rPr>
                            <a:t>Azalea’s Work</a:t>
                          </a:r>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charset="0"/>
                              <a:ea typeface="Verdana" charset="0"/>
                              <a:cs typeface="Verdana" charset="0"/>
                            </a:rPr>
                            <a:t>Joshua’s Work</a:t>
                          </a:r>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82+36(22−4)</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82+36(18)</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82+648</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730</m:t>
                                </m:r>
                              </m:oMath>
                            </m:oMathPara>
                          </a14:m>
                          <a:endParaRPr lang="en-US" sz="2000" i="1" dirty="0">
                            <a:effectLst/>
                            <a:latin typeface="Cambria Math" charset="0"/>
                            <a:ea typeface="Cambria Math" charset="0"/>
                            <a:cs typeface="Cambria Math"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8(2)+3(6)[2</m:t>
                                </m:r>
                                <m:d>
                                  <m:dPr>
                                    <m:ctrlPr>
                                      <a:rPr lang="en-US" sz="2000" i="1">
                                        <a:solidFill>
                                          <a:srgbClr val="000000"/>
                                        </a:solidFill>
                                        <a:effectLst/>
                                        <a:latin typeface="Cambria Math" panose="02040503050406030204" pitchFamily="18" charset="0"/>
                                        <a:ea typeface="Cambria Math" charset="0"/>
                                        <a:cs typeface="Cambria Math" charset="0"/>
                                      </a:rPr>
                                    </m:ctrlPr>
                                  </m:dPr>
                                  <m:e>
                                    <m:r>
                                      <a:rPr lang="en-US" sz="2000" i="1">
                                        <a:solidFill>
                                          <a:srgbClr val="000000"/>
                                        </a:solidFill>
                                        <a:effectLst/>
                                        <a:latin typeface="Cambria Math" charset="0"/>
                                        <a:ea typeface="Cambria Math" charset="0"/>
                                        <a:cs typeface="Cambria Math" charset="0"/>
                                      </a:rPr>
                                      <m:t>2</m:t>
                                    </m:r>
                                  </m:e>
                                </m:d>
                                <m:r>
                                  <a:rPr lang="en-US" sz="2000" i="1">
                                    <a:solidFill>
                                      <a:srgbClr val="000000"/>
                                    </a:solidFill>
                                    <a:effectLst/>
                                    <a:latin typeface="Cambria Math" charset="0"/>
                                    <a:ea typeface="Cambria Math" charset="0"/>
                                    <a:cs typeface="Cambria Math" charset="0"/>
                                  </a:rPr>
                                  <m:t>−4]</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16+18(4−4)</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16+18(0)</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34(0)</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charset="0"/>
                                    <a:ea typeface="Cambria Math" charset="0"/>
                                    <a:cs typeface="Cambria Math" charset="0"/>
                                  </a:rPr>
                                  <m:t>0</m:t>
                                </m:r>
                              </m:oMath>
                            </m:oMathPara>
                          </a14:m>
                          <a:endParaRPr lang="en-US" sz="2000" i="1" dirty="0">
                            <a:effectLst/>
                            <a:latin typeface="Cambria Math" charset="0"/>
                            <a:ea typeface="Cambria Math" charset="0"/>
                            <a:cs typeface="Cambria Math"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417081855"/>
                  </p:ext>
                </p:extLst>
              </p:nvPr>
            </p:nvGraphicFramePr>
            <p:xfrm>
              <a:off x="2381250" y="2476217"/>
              <a:ext cx="7429500" cy="2236915"/>
            </p:xfrm>
            <a:graphic>
              <a:graphicData uri="http://schemas.openxmlformats.org/drawingml/2006/table">
                <a:tbl>
                  <a:tblPr bandRow="1"/>
                  <a:tblGrid>
                    <a:gridCol w="3712210">
                      <a:extLst>
                        <a:ext uri="{9D8B030D-6E8A-4147-A177-3AD203B41FA5}">
                          <a16:colId xmlns:a16="http://schemas.microsoft.com/office/drawing/2014/main" xmlns:a14="http://schemas.microsoft.com/office/drawing/2010/main" xmlns="" val="20000"/>
                        </a:ext>
                      </a:extLst>
                    </a:gridCol>
                    <a:gridCol w="3717290">
                      <a:extLst>
                        <a:ext uri="{9D8B030D-6E8A-4147-A177-3AD203B41FA5}">
                          <a16:colId xmlns:a16="http://schemas.microsoft.com/office/drawing/2014/main" xmlns:a14="http://schemas.microsoft.com/office/drawing/2010/main" xmlns="" val="20001"/>
                        </a:ext>
                      </a:extLst>
                    </a:gridCol>
                  </a:tblGrid>
                  <a:tr h="392875">
                    <a:tc>
                      <a:txBody>
                        <a:bodyPr/>
                        <a:lstStyle/>
                        <a:p>
                          <a:pPr marL="0" marR="0" algn="ctr">
                            <a:lnSpc>
                              <a:spcPct val="107000"/>
                            </a:lnSpc>
                            <a:spcBef>
                              <a:spcPts val="0"/>
                            </a:spcBef>
                            <a:spcAft>
                              <a:spcPts val="0"/>
                            </a:spcAft>
                          </a:pPr>
                          <a:r>
                            <a:rPr lang="en-US" sz="2000" b="1" i="0" dirty="0">
                              <a:solidFill>
                                <a:srgbClr val="000000"/>
                              </a:solidFill>
                              <a:effectLst/>
                              <a:latin typeface="Verdana" charset="0"/>
                              <a:ea typeface="Verdana" charset="0"/>
                              <a:cs typeface="Verdana" charset="0"/>
                            </a:rPr>
                            <a:t>Azalea’s Work</a:t>
                          </a:r>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charset="0"/>
                              <a:ea typeface="Verdana" charset="0"/>
                              <a:cs typeface="Verdana" charset="0"/>
                            </a:rPr>
                            <a:t>Joshua’s Work</a:t>
                          </a:r>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1844040">
                    <a:tc>
                      <a:txBody>
                        <a:bodyPr/>
                        <a:lstStyle/>
                        <a:p>
                          <a:endParaRPr lang="en-US"/>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64" t="-23102" r="-100164" b="-330"/>
                          </a:stretch>
                        </a:blipFill>
                      </a:tcPr>
                    </a:tc>
                    <a:tc>
                      <a:txBody>
                        <a:bodyPr/>
                        <a:lstStyle/>
                        <a:p>
                          <a:endParaRPr lang="en-US"/>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164" t="-23102" r="-164" b="-330"/>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35746"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245</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53512"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8200" y="280626"/>
            <a:ext cx="109022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11.2.2 Collaboration: Order of Operations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245</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731520" y="1352845"/>
            <a:ext cx="11178258" cy="707886"/>
          </a:xfrm>
          <a:prstGeom prst="rect">
            <a:avLst/>
          </a:prstGeom>
          <a:noFill/>
        </p:spPr>
        <p:txBody>
          <a:bodyPr wrap="square" rtlCol="0">
            <a:spAutoFit/>
          </a:bodyPr>
          <a:lstStyle/>
          <a:p>
            <a:pPr marL="457200" lvl="3" indent="-457200">
              <a:buFont typeface="+mj-lt"/>
              <a:buAutoNum type="arabicPeriod"/>
            </a:pPr>
            <a:r>
              <a:rPr lang="en-US" sz="2000" dirty="0">
                <a:latin typeface="Verdana" charset="0"/>
                <a:ea typeface="Verdana" charset="0"/>
                <a:cs typeface="Verdana" charset="0"/>
              </a:rPr>
              <a:t>Work with your partner to number each operation so that the steps for the order of operations are in the correct sequence.</a:t>
            </a:r>
            <a:endParaRPr lang="en-US" sz="2000" i="1" dirty="0">
              <a:latin typeface="Verdana" charset="0"/>
              <a:ea typeface="Verdana" charset="0"/>
              <a:cs typeface="Verdana"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978150" y="2462600"/>
            <a:ext cx="6235700" cy="2921000"/>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245</a:t>
            </a:r>
          </a:p>
        </p:txBody>
      </p:sp>
      <p:sp>
        <p:nvSpPr>
          <p:cNvPr id="6" name="Text Box 24"/>
          <p:cNvSpPr txBox="1"/>
          <p:nvPr/>
        </p:nvSpPr>
        <p:spPr>
          <a:xfrm>
            <a:off x="2781300" y="1761795"/>
            <a:ext cx="6629400" cy="1887608"/>
          </a:xfrm>
          <a:prstGeom prst="roundRect">
            <a:avLst/>
          </a:prstGeom>
          <a:solidFill>
            <a:srgbClr val="F7D1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r>
              <a:rPr lang="en-US" sz="2000" dirty="0">
                <a:solidFill>
                  <a:srgbClr val="E14E5E"/>
                </a:solidFill>
                <a:latin typeface="Verdana" pitchFamily="34" charset="0"/>
                <a:ea typeface="Verdana" pitchFamily="34" charset="0"/>
              </a:rPr>
              <a:t>An order of operations was first noted in First Year Algebra by Webster Wells and Walter Wilson Hart. The textbook was published in 1912.</a:t>
            </a:r>
            <a:endParaRPr lang="en-US" sz="2000" i="1" dirty="0">
              <a:solidFill>
                <a:srgbClr val="E14E5E"/>
              </a:solidFill>
              <a:latin typeface="Verdana" pitchFamily="34" charset="0"/>
              <a:ea typeface="Verdana"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915247" y="2076489"/>
            <a:ext cx="629110" cy="629110"/>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759"/>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246</a:t>
            </a:r>
          </a:p>
        </p:txBody>
      </p:sp>
      <p:sp>
        <p:nvSpPr>
          <p:cNvPr id="5" name="TextBox 4">
            <a:extLst>
              <a:ext uri="{FF2B5EF4-FFF2-40B4-BE49-F238E27FC236}">
                <a16:creationId xmlns:a16="http://schemas.microsoft.com/office/drawing/2014/main" id="{2AA35BC6-D428-FC41-BDE5-6438AB8840FC}"/>
              </a:ext>
            </a:extLst>
          </p:cNvPr>
          <p:cNvSpPr txBox="1"/>
          <p:nvPr/>
        </p:nvSpPr>
        <p:spPr>
          <a:xfrm>
            <a:off x="528920" y="468174"/>
            <a:ext cx="10647079" cy="3477875"/>
          </a:xfrm>
          <a:prstGeom prst="rect">
            <a:avLst/>
          </a:prstGeom>
          <a:noFill/>
        </p:spPr>
        <p:txBody>
          <a:bodyPr wrap="square" rtlCol="0">
            <a:spAutoFit/>
          </a:bodyPr>
          <a:lstStyle/>
          <a:p>
            <a:pPr marL="457200" lvl="3" indent="-457200">
              <a:buFont typeface="+mj-lt"/>
              <a:buAutoNum type="arabicPeriod" startAt="2"/>
            </a:pPr>
            <a:r>
              <a:rPr lang="en-US" sz="2000" dirty="0">
                <a:latin typeface="Verdana" charset="0"/>
                <a:ea typeface="Verdana" charset="0"/>
                <a:cs typeface="Verdana" charset="0"/>
              </a:rPr>
              <a:t>The problem below is an example from </a:t>
            </a:r>
            <a:r>
              <a:rPr lang="en-US" sz="2000" i="1" dirty="0">
                <a:latin typeface="Verdana" charset="0"/>
                <a:ea typeface="Verdana" charset="0"/>
                <a:cs typeface="Verdana" charset="0"/>
              </a:rPr>
              <a:t>First Year Algebra</a:t>
            </a:r>
            <a:r>
              <a:rPr lang="en-US" sz="2000" dirty="0">
                <a:latin typeface="Verdana" charset="0"/>
                <a:ea typeface="Verdana" charset="0"/>
                <a:cs typeface="Verdana" charset="0"/>
              </a:rPr>
              <a:t>.</a:t>
            </a:r>
          </a:p>
          <a:p>
            <a:pPr marL="457200" lvl="3" indent="-457200">
              <a:buFont typeface="+mj-lt"/>
              <a:buAutoNum type="arabicPeriod" startAt="2"/>
            </a:pPr>
            <a:endParaRPr lang="en-US" sz="2000" dirty="0">
              <a:latin typeface="Verdana" charset="0"/>
              <a:ea typeface="Verdana" charset="0"/>
              <a:cs typeface="Verdana" charset="0"/>
            </a:endParaRPr>
          </a:p>
          <a:p>
            <a:pPr marL="457200" lvl="3" indent="-457200">
              <a:buFont typeface="+mj-lt"/>
              <a:buAutoNum type="arabicPeriod" startAt="2"/>
            </a:pPr>
            <a:endParaRPr lang="en-US" sz="2000" dirty="0">
              <a:latin typeface="Verdana" charset="0"/>
              <a:ea typeface="Verdana" charset="0"/>
              <a:cs typeface="Verdana" charset="0"/>
            </a:endParaRPr>
          </a:p>
          <a:p>
            <a:pPr marL="457200" lvl="3" indent="-457200">
              <a:buFont typeface="+mj-lt"/>
              <a:buAutoNum type="arabicPeriod" startAt="2"/>
            </a:pPr>
            <a:endParaRPr lang="en-US" sz="2000" dirty="0">
              <a:latin typeface="Verdana" charset="0"/>
              <a:ea typeface="Verdana" charset="0"/>
              <a:cs typeface="Verdana" charset="0"/>
            </a:endParaRPr>
          </a:p>
          <a:p>
            <a:pPr marL="457200" lvl="3" indent="-457200">
              <a:buFont typeface="+mj-lt"/>
              <a:buAutoNum type="arabicPeriod" startAt="2"/>
            </a:pPr>
            <a:endParaRPr lang="en-US" sz="2000" dirty="0">
              <a:latin typeface="Verdana" charset="0"/>
              <a:ea typeface="Verdana" charset="0"/>
              <a:cs typeface="Verdana" charset="0"/>
            </a:endParaRPr>
          </a:p>
          <a:p>
            <a:pPr marL="457200" lvl="3" indent="-457200">
              <a:buFont typeface="+mj-lt"/>
              <a:buAutoNum type="arabicPeriod" startAt="2"/>
            </a:pPr>
            <a:endParaRPr lang="en-US" sz="2000" dirty="0">
              <a:latin typeface="Verdana" charset="0"/>
              <a:ea typeface="Verdana" charset="0"/>
              <a:cs typeface="Verdana" charset="0"/>
            </a:endParaRPr>
          </a:p>
          <a:p>
            <a:pPr marL="457200" lvl="3" indent="-457200">
              <a:buFont typeface="+mj-lt"/>
              <a:buAutoNum type="arabicPeriod" startAt="2"/>
            </a:pPr>
            <a:endParaRPr lang="en-US" sz="2000" dirty="0">
              <a:latin typeface="Verdana" charset="0"/>
              <a:ea typeface="Verdana" charset="0"/>
              <a:cs typeface="Verdana" charset="0"/>
            </a:endParaRPr>
          </a:p>
          <a:p>
            <a:pPr marL="457200" lvl="3" indent="-457200">
              <a:buFont typeface="+mj-lt"/>
              <a:buAutoNum type="arabicPeriod" startAt="2"/>
            </a:pPr>
            <a:endParaRPr lang="en-US" sz="2000" dirty="0">
              <a:latin typeface="Verdana" charset="0"/>
              <a:ea typeface="Verdana" charset="0"/>
              <a:cs typeface="Verdana" charset="0"/>
            </a:endParaRPr>
          </a:p>
          <a:p>
            <a:pPr marL="914400" lvl="4" indent="-457200">
              <a:buFont typeface="+mj-lt"/>
              <a:buAutoNum type="alphaLcPeriod"/>
            </a:pPr>
            <a:r>
              <a:rPr lang="en-US" sz="2000" dirty="0">
                <a:latin typeface="Verdana" charset="0"/>
                <a:ea typeface="Verdana" charset="0"/>
                <a:cs typeface="Verdana" charset="0"/>
              </a:rPr>
              <a:t>What is the numerical value of the expression? Show your work.</a:t>
            </a:r>
          </a:p>
          <a:p>
            <a:pPr marL="914400" lvl="4" indent="-457200">
              <a:buFont typeface="+mj-lt"/>
              <a:buAutoNum type="alphaLcPeriod"/>
            </a:pPr>
            <a:endParaRPr lang="en-US" sz="2000" i="1" dirty="0">
              <a:latin typeface="Verdana" charset="0"/>
              <a:ea typeface="Verdana" charset="0"/>
              <a:cs typeface="Verdana" charset="0"/>
            </a:endParaRPr>
          </a:p>
          <a:p>
            <a:pPr marL="914400" lvl="4" indent="-457200">
              <a:buFont typeface="+mj-lt"/>
              <a:buAutoNum type="alphaLcPeriod"/>
            </a:pPr>
            <a:r>
              <a:rPr lang="en-US" sz="2000" dirty="0">
                <a:latin typeface="Verdana" charset="0"/>
                <a:ea typeface="Verdana" charset="0"/>
                <a:cs typeface="Verdana" charset="0"/>
              </a:rPr>
              <a:t>Check your work with your partner.</a:t>
            </a:r>
            <a:endParaRPr lang="en-US" sz="2000" i="1" dirty="0">
              <a:latin typeface="Verdana" charset="0"/>
              <a:ea typeface="Verdana" charset="0"/>
              <a:cs typeface="Verdana"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35300" y="1235670"/>
            <a:ext cx="6121400" cy="1397000"/>
          </a:xfrm>
          <a:prstGeom prst="rect">
            <a:avLst/>
          </a:prstGeom>
        </p:spPr>
      </p:pic>
    </p:spTree>
    <p:extLst>
      <p:ext uri="{BB962C8B-B14F-4D97-AF65-F5344CB8AC3E}">
        <p14:creationId xmlns:p14="http://schemas.microsoft.com/office/powerpoint/2010/main" val="496102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246</a:t>
            </a:r>
          </a:p>
        </p:txBody>
      </p:sp>
      <p:sp>
        <p:nvSpPr>
          <p:cNvPr id="5" name="TextBox 4">
            <a:extLst>
              <a:ext uri="{FF2B5EF4-FFF2-40B4-BE49-F238E27FC236}">
                <a16:creationId xmlns:a16="http://schemas.microsoft.com/office/drawing/2014/main" id="{2AA35BC6-D428-FC41-BDE5-6438AB8840FC}"/>
              </a:ext>
            </a:extLst>
          </p:cNvPr>
          <p:cNvSpPr txBox="1"/>
          <p:nvPr/>
        </p:nvSpPr>
        <p:spPr>
          <a:xfrm>
            <a:off x="630521" y="410664"/>
            <a:ext cx="10816412" cy="2246769"/>
          </a:xfrm>
          <a:prstGeom prst="rect">
            <a:avLst/>
          </a:prstGeom>
          <a:noFill/>
        </p:spPr>
        <p:txBody>
          <a:bodyPr wrap="square" rtlCol="0">
            <a:spAutoFit/>
          </a:bodyPr>
          <a:lstStyle/>
          <a:p>
            <a:pPr marL="914400" indent="-457200" eaLnBrk="0" fontAlgn="base" hangingPunct="0">
              <a:spcBef>
                <a:spcPct val="0"/>
              </a:spcBef>
              <a:spcAft>
                <a:spcPct val="0"/>
              </a:spcAft>
              <a:buClrTx/>
              <a:buFont typeface="+mj-lt"/>
              <a:buAutoNum type="alphaLcPeriod" startAt="3"/>
            </a:pPr>
            <a:r>
              <a:rPr lang="x-none" altLang="x-none" sz="2000" dirty="0">
                <a:solidFill>
                  <a:schemeClr val="tx1"/>
                </a:solidFill>
                <a:latin typeface="Verdana" charset="0"/>
                <a:ea typeface="Verdana" charset="0"/>
                <a:cs typeface="Verdana" charset="0"/>
              </a:rPr>
              <a:t>The work shown in the textbook is below.</a:t>
            </a: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lphaLcPeriod" startAt="3"/>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lphaLcPeriod" startAt="3"/>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lphaLcPeriod" startAt="3"/>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lphaLcPeriod" startAt="3"/>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lphaLcPeriod" startAt="3"/>
            </a:pPr>
            <a:endParaRPr lang="en-US" altLang="x-none" sz="2000" dirty="0">
              <a:solidFill>
                <a:schemeClr val="tx1"/>
              </a:solidFill>
              <a:latin typeface="Verdana" charset="0"/>
              <a:ea typeface="Verdana" charset="0"/>
              <a:cs typeface="Verdana" charset="0"/>
            </a:endParaRPr>
          </a:p>
          <a:p>
            <a:pPr eaLnBrk="0" fontAlgn="base" hangingPunct="0">
              <a:spcBef>
                <a:spcPct val="0"/>
              </a:spcBef>
              <a:spcAft>
                <a:spcPct val="0"/>
              </a:spcAft>
              <a:buClrTx/>
            </a:pPr>
            <a:r>
              <a:rPr lang="en-US" altLang="x-none" sz="2000" dirty="0">
                <a:solidFill>
                  <a:schemeClr val="tx1"/>
                </a:solidFill>
                <a:latin typeface="Verdana" charset="0"/>
                <a:ea typeface="Verdana" charset="0"/>
                <a:cs typeface="Verdana" charset="0"/>
              </a:rPr>
              <a:t>          </a:t>
            </a:r>
            <a:r>
              <a:rPr lang="x-none" altLang="x-none" sz="2000" dirty="0">
                <a:solidFill>
                  <a:schemeClr val="tx1"/>
                </a:solidFill>
                <a:latin typeface="Verdana" charset="0"/>
                <a:ea typeface="Verdana" charset="0"/>
                <a:cs typeface="Verdana" charset="0"/>
              </a:rPr>
              <a:t>What is the difference between your work and the work from the book?</a:t>
            </a:r>
          </a:p>
        </p:txBody>
      </p:sp>
      <p:pic>
        <p:nvPicPr>
          <p:cNvPr id="2049" name="image2.png"/>
          <p:cNvPicPr>
            <a:picLocks noChangeAspect="1" noChangeArrowheads="1"/>
          </p:cNvPicPr>
          <p:nvPr/>
        </p:nvPicPr>
        <p:blipFill>
          <a:blip r:embed="rId4">
            <a:extLst>
              <a:ext uri="{28A0092B-C50C-407E-A947-70E740481C1C}">
                <a14:useLocalDpi xmlns:a14="http://schemas.microsoft.com/office/drawing/2010/main"/>
              </a:ext>
            </a:extLst>
          </a:blip>
          <a:srcRect r="4677"/>
          <a:stretch>
            <a:fillRect/>
          </a:stretch>
        </p:blipFill>
        <p:spPr bwMode="auto">
          <a:xfrm>
            <a:off x="1527175" y="1094725"/>
            <a:ext cx="6870700" cy="901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24"/>
          <p:cNvSpPr txBox="1"/>
          <p:nvPr/>
        </p:nvSpPr>
        <p:spPr>
          <a:xfrm>
            <a:off x="2781300" y="3126627"/>
            <a:ext cx="6675120" cy="3220332"/>
          </a:xfrm>
          <a:prstGeom prst="roundRect">
            <a:avLst/>
          </a:prstGeom>
          <a:solidFill>
            <a:srgbClr val="F7D1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r>
              <a:rPr lang="en-US" sz="2000" dirty="0">
                <a:solidFill>
                  <a:srgbClr val="E14E5E"/>
                </a:solidFill>
                <a:latin typeface="Verdana" pitchFamily="34" charset="0"/>
                <a:ea typeface="Verdana" pitchFamily="34" charset="0"/>
              </a:rPr>
              <a:t>An order of operations became more important when programmers needed a set of rules to program a computer to find values of numeric expressions. In 1883, Ada Lovelace described in her book about Charles Babbage's analytical engine, the first computer, that codes could be created so the device could handle letters and symbols along with numbers.</a:t>
            </a:r>
            <a:endParaRPr lang="en-US" sz="2000" i="1" dirty="0">
              <a:solidFill>
                <a:srgbClr val="E14E5E"/>
              </a:solidFill>
              <a:latin typeface="Verdana" pitchFamily="34" charset="0"/>
              <a:ea typeface="Verdana" pitchFamily="34" charset="0"/>
            </a:endParaRPr>
          </a:p>
        </p:txBody>
      </p:sp>
      <p:pic>
        <p:nvPicPr>
          <p:cNvPr id="10" name="Picture 9"/>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992507" y="3429000"/>
            <a:ext cx="629110" cy="629110"/>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289186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68777" y="2766145"/>
            <a:ext cx="7499133"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2953512"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247</a:t>
            </a:r>
          </a:p>
        </p:txBody>
      </p:sp>
    </p:spTree>
    <p:extLst>
      <p:ext uri="{BB962C8B-B14F-4D97-AF65-F5344CB8AC3E}">
        <p14:creationId xmlns:p14="http://schemas.microsoft.com/office/powerpoint/2010/main" val="540069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2" y="-6581"/>
            <a:ext cx="1050311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11.2.3 Guided Instruction: Evaluating Expressions with Exponents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247</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730265" y="1345433"/>
                <a:ext cx="11190801" cy="707886"/>
              </a:xfrm>
              <a:prstGeom prst="rect">
                <a:avLst/>
              </a:prstGeom>
              <a:noFill/>
            </p:spPr>
            <p:txBody>
              <a:bodyPr wrap="square" rtlCol="0">
                <a:spAutoFit/>
              </a:bodyPr>
              <a:lstStyle/>
              <a:p>
                <a:r>
                  <a:rPr lang="en-US" sz="2000" dirty="0">
                    <a:latin typeface="Verdana" charset="0"/>
                    <a:ea typeface="Verdana" charset="0"/>
                    <a:cs typeface="Verdana" charset="0"/>
                  </a:rPr>
                  <a:t>The work in the book, </a:t>
                </a:r>
                <a:r>
                  <a:rPr lang="en-US" sz="2000" i="1" dirty="0">
                    <a:latin typeface="Verdana" charset="0"/>
                    <a:ea typeface="Verdana" charset="0"/>
                    <a:cs typeface="Verdana" charset="0"/>
                  </a:rPr>
                  <a:t>First Year Algebra</a:t>
                </a:r>
                <a:r>
                  <a:rPr lang="en-US" sz="2000" dirty="0">
                    <a:latin typeface="Verdana" charset="0"/>
                    <a:ea typeface="Verdana" charset="0"/>
                    <a:cs typeface="Verdana" charset="0"/>
                  </a:rPr>
                  <a:t>, showed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2</m:t>
                        </m:r>
                      </m:e>
                      <m:sup>
                        <m:r>
                          <a:rPr lang="en-US" sz="2000" i="1">
                            <a:latin typeface="Cambria Math" charset="0"/>
                            <a:ea typeface="Verdana" charset="0"/>
                            <a:cs typeface="Verdana" charset="0"/>
                          </a:rPr>
                          <m:t>3</m:t>
                        </m:r>
                      </m:sup>
                    </m:sSup>
                  </m:oMath>
                </a14:m>
                <a:r>
                  <a:rPr lang="en-US" sz="2000" dirty="0">
                    <a:latin typeface="Verdana" charset="0"/>
                    <a:ea typeface="Verdana" charset="0"/>
                    <a:cs typeface="Verdana" charset="0"/>
                  </a:rPr>
                  <a:t> written out as multiplication. This method can get complex as shown in the table.</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730265" y="1345433"/>
                <a:ext cx="11190801" cy="707886"/>
              </a:xfrm>
              <a:prstGeom prst="rect">
                <a:avLst/>
              </a:prstGeom>
              <a:blipFill rotWithShape="1">
                <a:blip r:embed="rId5"/>
                <a:stretch>
                  <a:fillRect l="-599" t="-4310"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143302173"/>
                  </p:ext>
                </p:extLst>
              </p:nvPr>
            </p:nvGraphicFramePr>
            <p:xfrm>
              <a:off x="2820416" y="2542490"/>
              <a:ext cx="6807200" cy="1266255"/>
            </p:xfrm>
            <a:graphic>
              <a:graphicData uri="http://schemas.openxmlformats.org/drawingml/2006/table">
                <a:tbl>
                  <a:tblPr bandRow="1"/>
                  <a:tblGrid>
                    <a:gridCol w="6807200">
                      <a:extLst>
                        <a:ext uri="{9D8B030D-6E8A-4147-A177-3AD203B41FA5}">
                          <a16:colId xmlns:a16="http://schemas.microsoft.com/office/drawing/2014/main" val="20000"/>
                        </a:ext>
                      </a:extLst>
                    </a:gridCol>
                  </a:tblGrid>
                  <a:tr h="38798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solidFill>
                                          <a:srgbClr val="FF0000"/>
                                        </a:solidFill>
                                        <a:effectLst/>
                                        <a:latin typeface="Cambria Math" panose="02040503050406030204" pitchFamily="18" charset="0"/>
                                        <a:ea typeface="Cambria Math" charset="0"/>
                                        <a:cs typeface="Cambria Math" charset="0"/>
                                      </a:rPr>
                                    </m:ctrlPr>
                                  </m:sSupPr>
                                  <m:e>
                                    <m:r>
                                      <a:rPr lang="en-US" sz="2000" b="1" i="1">
                                        <a:solidFill>
                                          <a:srgbClr val="FF0000"/>
                                        </a:solidFill>
                                        <a:effectLst/>
                                        <a:latin typeface="Cambria Math" charset="0"/>
                                        <a:ea typeface="Cambria Math" charset="0"/>
                                        <a:cs typeface="Cambria Math" charset="0"/>
                                      </a:rPr>
                                      <m:t>(−</m:t>
                                    </m:r>
                                    <m:r>
                                      <a:rPr lang="en-US" sz="2000" b="1" i="1">
                                        <a:solidFill>
                                          <a:srgbClr val="FF0000"/>
                                        </a:solidFill>
                                        <a:effectLst/>
                                        <a:latin typeface="Cambria Math" charset="0"/>
                                        <a:ea typeface="Cambria Math" charset="0"/>
                                        <a:cs typeface="Cambria Math" charset="0"/>
                                      </a:rPr>
                                      <m:t>𝟑</m:t>
                                    </m:r>
                                    <m:r>
                                      <a:rPr lang="en-US" sz="2000" b="1" i="1">
                                        <a:solidFill>
                                          <a:srgbClr val="FF0000"/>
                                        </a:solidFill>
                                        <a:effectLst/>
                                        <a:latin typeface="Cambria Math" charset="0"/>
                                        <a:ea typeface="Cambria Math" charset="0"/>
                                        <a:cs typeface="Cambria Math" charset="0"/>
                                      </a:rPr>
                                      <m:t>)</m:t>
                                    </m:r>
                                  </m:e>
                                  <m:sup>
                                    <m:r>
                                      <a:rPr lang="en-US" sz="2000" b="1" i="1">
                                        <a:solidFill>
                                          <a:srgbClr val="FF0000"/>
                                        </a:solidFill>
                                        <a:effectLst/>
                                        <a:latin typeface="Cambria Math" charset="0"/>
                                        <a:ea typeface="Cambria Math" charset="0"/>
                                        <a:cs typeface="Cambria Math" charset="0"/>
                                      </a:rPr>
                                      <m:t>𝟑</m:t>
                                    </m:r>
                                  </m:sup>
                                </m:sSup>
                                <m:r>
                                  <a:rPr lang="en-US" sz="2000" b="1" i="1">
                                    <a:effectLst/>
                                    <a:latin typeface="Cambria Math" charset="0"/>
                                    <a:ea typeface="Cambria Math" charset="0"/>
                                    <a:cs typeface="Cambria Math" charset="0"/>
                                  </a:rPr>
                                  <m:t>+</m:t>
                                </m:r>
                                <m:sSup>
                                  <m:sSupPr>
                                    <m:ctrlPr>
                                      <a:rPr lang="en-US" sz="2000" b="1" i="1">
                                        <a:solidFill>
                                          <a:srgbClr val="0070C0"/>
                                        </a:solidFill>
                                        <a:effectLst/>
                                        <a:latin typeface="Cambria Math" panose="02040503050406030204" pitchFamily="18" charset="0"/>
                                        <a:ea typeface="Cambria Math" charset="0"/>
                                        <a:cs typeface="Cambria Math" charset="0"/>
                                      </a:rPr>
                                    </m:ctrlPr>
                                  </m:sSupPr>
                                  <m:e>
                                    <m:r>
                                      <a:rPr lang="en-US" sz="2000" b="1" i="1">
                                        <a:solidFill>
                                          <a:srgbClr val="0070C0"/>
                                        </a:solidFill>
                                        <a:effectLst/>
                                        <a:latin typeface="Cambria Math" charset="0"/>
                                        <a:ea typeface="Cambria Math" charset="0"/>
                                        <a:cs typeface="Cambria Math" charset="0"/>
                                      </a:rPr>
                                      <m:t>𝟐</m:t>
                                    </m:r>
                                  </m:e>
                                  <m:sup>
                                    <m:r>
                                      <a:rPr lang="en-US" sz="2000" b="1" i="1">
                                        <a:solidFill>
                                          <a:srgbClr val="0070C0"/>
                                        </a:solidFill>
                                        <a:effectLst/>
                                        <a:latin typeface="Cambria Math" charset="0"/>
                                        <a:ea typeface="Cambria Math" charset="0"/>
                                        <a:cs typeface="Cambria Math" charset="0"/>
                                      </a:rPr>
                                      <m:t>𝟔</m:t>
                                    </m:r>
                                  </m:sup>
                                </m:sSup>
                                <m:r>
                                  <a:rPr lang="en-US" sz="2000" b="1" i="1">
                                    <a:effectLst/>
                                    <a:latin typeface="Cambria Math" charset="0"/>
                                    <a:ea typeface="Cambria Math" charset="0"/>
                                    <a:cs typeface="Cambria Math" charset="0"/>
                                  </a:rPr>
                                  <m:t>÷−</m:t>
                                </m:r>
                                <m:r>
                                  <a:rPr lang="en-US" sz="2000" b="1" i="1">
                                    <a:effectLst/>
                                    <a:latin typeface="Cambria Math" charset="0"/>
                                    <a:ea typeface="Cambria Math" charset="0"/>
                                    <a:cs typeface="Cambria Math" charset="0"/>
                                  </a:rPr>
                                  <m:t>𝟏𝟔</m:t>
                                </m:r>
                                <m:r>
                                  <a:rPr lang="en-US" sz="2000" b="1" i="1">
                                    <a:effectLst/>
                                    <a:latin typeface="Cambria Math" charset="0"/>
                                    <a:ea typeface="Cambria Math" charset="0"/>
                                    <a:cs typeface="Cambria Math" charset="0"/>
                                  </a:rPr>
                                  <m:t>+</m:t>
                                </m:r>
                                <m:r>
                                  <a:rPr lang="en-US" sz="2000" b="1" i="1">
                                    <a:effectLst/>
                                    <a:latin typeface="Cambria Math" charset="0"/>
                                    <a:ea typeface="Cambria Math" charset="0"/>
                                    <a:cs typeface="Cambria Math" charset="0"/>
                                  </a:rPr>
                                  <m:t>𝟓</m:t>
                                </m:r>
                              </m:oMath>
                            </m:oMathPara>
                          </a14:m>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87985">
                    <a:tc>
                      <a:txBody>
                        <a:bodyPr/>
                        <a:lstStyle/>
                        <a:p>
                          <a:pPr marL="0" marR="0" algn="ctr">
                            <a:lnSpc>
                              <a:spcPct val="107000"/>
                            </a:lnSpc>
                            <a:spcBef>
                              <a:spcPts val="0"/>
                            </a:spcBef>
                            <a:spcAft>
                              <a:spcPts val="800"/>
                            </a:spcAft>
                          </a:pPr>
                          <a:r>
                            <a:rPr lang="en-US" sz="2000" i="1" dirty="0">
                              <a:effectLst/>
                              <a:latin typeface="Verdana" charset="0"/>
                              <a:ea typeface="Verdana" charset="0"/>
                              <a:cs typeface="Verdana" charset="0"/>
                            </a:rPr>
                            <a:t>Exponents written as multiplication</a:t>
                          </a:r>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7985">
                    <a:tc>
                      <a:txBody>
                        <a:bodyPr/>
                        <a:lstStyle/>
                        <a:p>
                          <a:pPr marL="0" marR="0" algn="ctr">
                            <a:lnSpc>
                              <a:spcPct val="107000"/>
                            </a:lnSpc>
                            <a:spcBef>
                              <a:spcPts val="0"/>
                            </a:spcBef>
                            <a:spcAft>
                              <a:spcPts val="800"/>
                            </a:spcAft>
                          </a:pPr>
                          <a14:m>
                            <m:oMath xmlns:m="http://schemas.openxmlformats.org/officeDocument/2006/math">
                              <m:d>
                                <m:dPr>
                                  <m:ctrlPr>
                                    <a:rPr lang="en-US" sz="2000" i="1">
                                      <a:solidFill>
                                        <a:srgbClr val="FF0000"/>
                                      </a:solidFill>
                                      <a:effectLst/>
                                      <a:latin typeface="Cambria Math" panose="02040503050406030204" pitchFamily="18" charset="0"/>
                                      <a:ea typeface="Cambria Math" charset="0"/>
                                      <a:cs typeface="Cambria Math" charset="0"/>
                                    </a:rPr>
                                  </m:ctrlPr>
                                </m:dPr>
                                <m:e>
                                  <m:d>
                                    <m:dPr>
                                      <m:ctrlPr>
                                        <a:rPr lang="en-US" sz="2000" i="1">
                                          <a:solidFill>
                                            <a:srgbClr val="FF0000"/>
                                          </a:solidFill>
                                          <a:effectLst/>
                                          <a:latin typeface="Cambria Math" panose="02040503050406030204" pitchFamily="18" charset="0"/>
                                          <a:ea typeface="Cambria Math" charset="0"/>
                                          <a:cs typeface="Cambria Math" charset="0"/>
                                        </a:rPr>
                                      </m:ctrlPr>
                                    </m:dPr>
                                    <m:e>
                                      <m:r>
                                        <a:rPr lang="en-US" sz="2000" i="1">
                                          <a:solidFill>
                                            <a:srgbClr val="FF0000"/>
                                          </a:solidFill>
                                          <a:effectLst/>
                                          <a:latin typeface="Cambria Math" charset="0"/>
                                          <a:ea typeface="Cambria Math" charset="0"/>
                                          <a:cs typeface="Cambria Math" charset="0"/>
                                        </a:rPr>
                                        <m:t>−3</m:t>
                                      </m:r>
                                    </m:e>
                                  </m:d>
                                  <m:d>
                                    <m:dPr>
                                      <m:ctrlPr>
                                        <a:rPr lang="en-US" sz="2000" i="1">
                                          <a:solidFill>
                                            <a:srgbClr val="FF0000"/>
                                          </a:solidFill>
                                          <a:effectLst/>
                                          <a:latin typeface="Cambria Math" panose="02040503050406030204" pitchFamily="18" charset="0"/>
                                          <a:ea typeface="Cambria Math" charset="0"/>
                                          <a:cs typeface="Cambria Math" charset="0"/>
                                        </a:rPr>
                                      </m:ctrlPr>
                                    </m:dPr>
                                    <m:e>
                                      <m:r>
                                        <a:rPr lang="en-US" sz="2000" i="1">
                                          <a:solidFill>
                                            <a:srgbClr val="FF0000"/>
                                          </a:solidFill>
                                          <a:effectLst/>
                                          <a:latin typeface="Cambria Math" charset="0"/>
                                          <a:ea typeface="Cambria Math" charset="0"/>
                                          <a:cs typeface="Cambria Math" charset="0"/>
                                        </a:rPr>
                                        <m:t>−3</m:t>
                                      </m:r>
                                    </m:e>
                                  </m:d>
                                  <m:d>
                                    <m:dPr>
                                      <m:ctrlPr>
                                        <a:rPr lang="en-US" sz="2000" i="1">
                                          <a:solidFill>
                                            <a:srgbClr val="FF0000"/>
                                          </a:solidFill>
                                          <a:effectLst/>
                                          <a:latin typeface="Cambria Math" panose="02040503050406030204" pitchFamily="18" charset="0"/>
                                          <a:ea typeface="Cambria Math" charset="0"/>
                                          <a:cs typeface="Cambria Math" charset="0"/>
                                        </a:rPr>
                                      </m:ctrlPr>
                                    </m:dPr>
                                    <m:e>
                                      <m:r>
                                        <a:rPr lang="en-US" sz="2000" i="1">
                                          <a:solidFill>
                                            <a:srgbClr val="FF0000"/>
                                          </a:solidFill>
                                          <a:effectLst/>
                                          <a:latin typeface="Cambria Math" charset="0"/>
                                          <a:ea typeface="Cambria Math" charset="0"/>
                                          <a:cs typeface="Cambria Math" charset="0"/>
                                        </a:rPr>
                                        <m:t>−3</m:t>
                                      </m:r>
                                    </m:e>
                                  </m:d>
                                </m:e>
                              </m:d>
                              <m:r>
                                <a:rPr lang="en-US" sz="2000" i="1">
                                  <a:effectLst/>
                                  <a:latin typeface="Cambria Math" charset="0"/>
                                  <a:ea typeface="Cambria Math" charset="0"/>
                                  <a:cs typeface="Cambria Math" charset="0"/>
                                </a:rPr>
                                <m:t>+</m:t>
                              </m:r>
                              <m:r>
                                <a:rPr lang="en-US" sz="2000" i="1">
                                  <a:solidFill>
                                    <a:srgbClr val="0070C0"/>
                                  </a:solidFill>
                                  <a:effectLst/>
                                  <a:latin typeface="Cambria Math" charset="0"/>
                                  <a:ea typeface="Cambria Math" charset="0"/>
                                  <a:cs typeface="Cambria Math" charset="0"/>
                                </a:rPr>
                                <m:t>(2∙2∙2∙2∙2∙2)</m:t>
                              </m:r>
                              <m:r>
                                <a:rPr lang="en-US" sz="2000" i="1">
                                  <a:effectLst/>
                                  <a:latin typeface="Cambria Math" charset="0"/>
                                  <a:ea typeface="Cambria Math" charset="0"/>
                                  <a:cs typeface="Cambria Math" charset="0"/>
                                </a:rPr>
                                <m:t>÷−16+5</m:t>
                              </m:r>
                            </m:oMath>
                          </a14:m>
                          <a:r>
                            <a:rPr lang="en-US" sz="2000" i="1" dirty="0">
                              <a:effectLst/>
                              <a:latin typeface="Cambria Math" charset="0"/>
                              <a:ea typeface="Cambria Math" charset="0"/>
                              <a:cs typeface="Cambria Math" charset="0"/>
                            </a:rPr>
                            <a:t>     </a:t>
                          </a: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143302173"/>
                  </p:ext>
                </p:extLst>
              </p:nvPr>
            </p:nvGraphicFramePr>
            <p:xfrm>
              <a:off x="2820416" y="2542490"/>
              <a:ext cx="6807200" cy="1266255"/>
            </p:xfrm>
            <a:graphic>
              <a:graphicData uri="http://schemas.openxmlformats.org/drawingml/2006/table">
                <a:tbl>
                  <a:tblPr bandRow="1"/>
                  <a:tblGrid>
                    <a:gridCol w="6807200">
                      <a:extLst>
                        <a:ext uri="{9D8B030D-6E8A-4147-A177-3AD203B41FA5}">
                          <a16:colId xmlns:a16="http://schemas.microsoft.com/office/drawing/2014/main" xmlns:a14="http://schemas.microsoft.com/office/drawing/2010/main" xmlns="" val="20000"/>
                        </a:ext>
                      </a:extLst>
                    </a:gridCol>
                  </a:tblGrid>
                  <a:tr h="425006">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90" r="-90" b="-207143"/>
                          </a:stretch>
                        </a:blipFill>
                      </a:tcPr>
                    </a:tc>
                    <a:extLst>
                      <a:ext uri="{0D108BD9-81ED-4DB2-BD59-A6C34878D82A}">
                        <a16:rowId xmlns:a16="http://schemas.microsoft.com/office/drawing/2014/main" xmlns:a14="http://schemas.microsoft.com/office/drawing/2010/main" xmlns="" val="10000"/>
                      </a:ext>
                    </a:extLst>
                  </a:tr>
                  <a:tr h="392875">
                    <a:tc>
                      <a:txBody>
                        <a:bodyPr/>
                        <a:lstStyle/>
                        <a:p>
                          <a:pPr marL="0" marR="0" algn="ctr">
                            <a:lnSpc>
                              <a:spcPct val="107000"/>
                            </a:lnSpc>
                            <a:spcBef>
                              <a:spcPts val="0"/>
                            </a:spcBef>
                            <a:spcAft>
                              <a:spcPts val="800"/>
                            </a:spcAft>
                          </a:pPr>
                          <a:r>
                            <a:rPr lang="en-US" sz="2000" i="1" dirty="0">
                              <a:effectLst/>
                              <a:latin typeface="Verdana" charset="0"/>
                              <a:ea typeface="Verdana" charset="0"/>
                              <a:cs typeface="Verdana" charset="0"/>
                            </a:rPr>
                            <a:t>Exponents written as multiplication</a:t>
                          </a:r>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448374">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90" t="-181081" r="-90" b="-9459"/>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307438573"/>
                  </p:ext>
                </p:extLst>
              </p:nvPr>
            </p:nvGraphicFramePr>
            <p:xfrm>
              <a:off x="2756916" y="4117907"/>
              <a:ext cx="6870700" cy="1235457"/>
            </p:xfrm>
            <a:graphic>
              <a:graphicData uri="http://schemas.openxmlformats.org/drawingml/2006/table">
                <a:tbl>
                  <a:tblPr bandRow="1"/>
                  <a:tblGrid>
                    <a:gridCol w="6870700">
                      <a:extLst>
                        <a:ext uri="{9D8B030D-6E8A-4147-A177-3AD203B41FA5}">
                          <a16:colId xmlns:a16="http://schemas.microsoft.com/office/drawing/2014/main" val="20000"/>
                        </a:ext>
                      </a:extLst>
                    </a:gridCol>
                  </a:tblGrid>
                  <a:tr h="37401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solidFill>
                                          <a:srgbClr val="FF0000"/>
                                        </a:solidFill>
                                        <a:effectLst/>
                                        <a:latin typeface="Cambria Math" panose="02040503050406030204" pitchFamily="18" charset="0"/>
                                        <a:ea typeface="Cambria Math" charset="0"/>
                                        <a:cs typeface="Cambria Math" charset="0"/>
                                      </a:rPr>
                                    </m:ctrlPr>
                                  </m:sSupPr>
                                  <m:e>
                                    <m:r>
                                      <a:rPr lang="en-US" sz="2000" b="1" i="1">
                                        <a:solidFill>
                                          <a:srgbClr val="FF0000"/>
                                        </a:solidFill>
                                        <a:effectLst/>
                                        <a:latin typeface="Cambria Math" charset="0"/>
                                        <a:ea typeface="Cambria Math" charset="0"/>
                                        <a:cs typeface="Cambria Math" charset="0"/>
                                      </a:rPr>
                                      <m:t>(−</m:t>
                                    </m:r>
                                    <m:r>
                                      <a:rPr lang="en-US" sz="2000" b="1" i="1">
                                        <a:solidFill>
                                          <a:srgbClr val="FF0000"/>
                                        </a:solidFill>
                                        <a:effectLst/>
                                        <a:latin typeface="Cambria Math" charset="0"/>
                                        <a:ea typeface="Cambria Math" charset="0"/>
                                        <a:cs typeface="Cambria Math" charset="0"/>
                                      </a:rPr>
                                      <m:t>𝟑</m:t>
                                    </m:r>
                                    <m:r>
                                      <a:rPr lang="en-US" sz="2000" b="1" i="1">
                                        <a:solidFill>
                                          <a:srgbClr val="FF0000"/>
                                        </a:solidFill>
                                        <a:effectLst/>
                                        <a:latin typeface="Cambria Math" charset="0"/>
                                        <a:ea typeface="Cambria Math" charset="0"/>
                                        <a:cs typeface="Cambria Math" charset="0"/>
                                      </a:rPr>
                                      <m:t>)</m:t>
                                    </m:r>
                                  </m:e>
                                  <m:sup>
                                    <m:r>
                                      <a:rPr lang="en-US" sz="2000" b="1" i="1">
                                        <a:solidFill>
                                          <a:srgbClr val="FF0000"/>
                                        </a:solidFill>
                                        <a:effectLst/>
                                        <a:latin typeface="Cambria Math" charset="0"/>
                                        <a:ea typeface="Cambria Math" charset="0"/>
                                        <a:cs typeface="Cambria Math" charset="0"/>
                                      </a:rPr>
                                      <m:t>𝟑</m:t>
                                    </m:r>
                                  </m:sup>
                                </m:sSup>
                                <m:r>
                                  <a:rPr lang="en-US" sz="2000" b="1" i="1">
                                    <a:effectLst/>
                                    <a:latin typeface="Cambria Math" charset="0"/>
                                    <a:ea typeface="Cambria Math" charset="0"/>
                                    <a:cs typeface="Cambria Math" charset="0"/>
                                  </a:rPr>
                                  <m:t>+</m:t>
                                </m:r>
                                <m:sSup>
                                  <m:sSupPr>
                                    <m:ctrlPr>
                                      <a:rPr lang="en-US" sz="2000" b="1" i="1">
                                        <a:solidFill>
                                          <a:srgbClr val="0070C0"/>
                                        </a:solidFill>
                                        <a:effectLst/>
                                        <a:latin typeface="Cambria Math" panose="02040503050406030204" pitchFamily="18" charset="0"/>
                                        <a:ea typeface="Cambria Math" charset="0"/>
                                        <a:cs typeface="Cambria Math" charset="0"/>
                                      </a:rPr>
                                    </m:ctrlPr>
                                  </m:sSupPr>
                                  <m:e>
                                    <m:r>
                                      <a:rPr lang="en-US" sz="2000" b="1" i="1">
                                        <a:solidFill>
                                          <a:srgbClr val="0070C0"/>
                                        </a:solidFill>
                                        <a:effectLst/>
                                        <a:latin typeface="Cambria Math" charset="0"/>
                                        <a:ea typeface="Cambria Math" charset="0"/>
                                        <a:cs typeface="Cambria Math" charset="0"/>
                                      </a:rPr>
                                      <m:t>𝟐</m:t>
                                    </m:r>
                                  </m:e>
                                  <m:sup>
                                    <m:r>
                                      <a:rPr lang="en-US" sz="2000" b="1" i="1">
                                        <a:solidFill>
                                          <a:srgbClr val="0070C0"/>
                                        </a:solidFill>
                                        <a:effectLst/>
                                        <a:latin typeface="Cambria Math" charset="0"/>
                                        <a:ea typeface="Cambria Math" charset="0"/>
                                        <a:cs typeface="Cambria Math" charset="0"/>
                                      </a:rPr>
                                      <m:t>𝟔</m:t>
                                    </m:r>
                                  </m:sup>
                                </m:sSup>
                                <m:r>
                                  <a:rPr lang="en-US" sz="2000" b="1" i="1">
                                    <a:effectLst/>
                                    <a:latin typeface="Cambria Math" charset="0"/>
                                    <a:ea typeface="Cambria Math" charset="0"/>
                                    <a:cs typeface="Cambria Math" charset="0"/>
                                  </a:rPr>
                                  <m:t>÷−</m:t>
                                </m:r>
                                <m:r>
                                  <a:rPr lang="en-US" sz="2000" b="1" i="1">
                                    <a:effectLst/>
                                    <a:latin typeface="Cambria Math" charset="0"/>
                                    <a:ea typeface="Cambria Math" charset="0"/>
                                    <a:cs typeface="Cambria Math" charset="0"/>
                                  </a:rPr>
                                  <m:t>𝟏𝟔</m:t>
                                </m:r>
                                <m:r>
                                  <a:rPr lang="en-US" sz="2000" b="1" i="1">
                                    <a:effectLst/>
                                    <a:latin typeface="Cambria Math" charset="0"/>
                                    <a:ea typeface="Cambria Math" charset="0"/>
                                    <a:cs typeface="Cambria Math" charset="0"/>
                                  </a:rPr>
                                  <m:t>+</m:t>
                                </m:r>
                                <m:r>
                                  <a:rPr lang="en-US" sz="2000" b="1" i="1">
                                    <a:effectLst/>
                                    <a:latin typeface="Cambria Math" charset="0"/>
                                    <a:ea typeface="Cambria Math" charset="0"/>
                                    <a:cs typeface="Cambria Math" charset="0"/>
                                  </a:rPr>
                                  <m:t>𝟓</m:t>
                                </m:r>
                              </m:oMath>
                            </m:oMathPara>
                          </a14:m>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74015">
                    <a:tc>
                      <a:txBody>
                        <a:bodyPr/>
                        <a:lstStyle/>
                        <a:p>
                          <a:pPr marL="0" marR="0" algn="ctr">
                            <a:lnSpc>
                              <a:spcPct val="107000"/>
                            </a:lnSpc>
                            <a:spcBef>
                              <a:spcPts val="0"/>
                            </a:spcBef>
                            <a:spcAft>
                              <a:spcPts val="800"/>
                            </a:spcAft>
                          </a:pPr>
                          <a:r>
                            <a:rPr lang="en-US" sz="2000" i="1" dirty="0">
                              <a:effectLst/>
                              <a:latin typeface="Verdana" charset="0"/>
                              <a:ea typeface="Verdana" charset="0"/>
                              <a:cs typeface="Verdana" charset="0"/>
                            </a:rPr>
                            <a:t>Evaluate expressions with exponents first</a:t>
                          </a:r>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401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FF0000"/>
                                    </a:solidFill>
                                    <a:effectLst/>
                                    <a:latin typeface="Cambria Math" charset="0"/>
                                    <a:ea typeface="Cambria Math" charset="0"/>
                                    <a:cs typeface="Cambria Math" charset="0"/>
                                  </a:rPr>
                                  <m:t>−27</m:t>
                                </m:r>
                                <m:r>
                                  <a:rPr lang="en-US" sz="2000" i="1">
                                    <a:effectLst/>
                                    <a:latin typeface="Cambria Math" charset="0"/>
                                    <a:ea typeface="Cambria Math" charset="0"/>
                                    <a:cs typeface="Cambria Math" charset="0"/>
                                  </a:rPr>
                                  <m:t>+</m:t>
                                </m:r>
                                <m:r>
                                  <a:rPr lang="en-US" sz="2000" i="1">
                                    <a:solidFill>
                                      <a:srgbClr val="0070C0"/>
                                    </a:solidFill>
                                    <a:effectLst/>
                                    <a:latin typeface="Cambria Math" charset="0"/>
                                    <a:ea typeface="Cambria Math" charset="0"/>
                                    <a:cs typeface="Cambria Math" charset="0"/>
                                  </a:rPr>
                                  <m:t>64</m:t>
                                </m:r>
                                <m:r>
                                  <a:rPr lang="en-US" sz="2000" i="1">
                                    <a:effectLst/>
                                    <a:latin typeface="Cambria Math" charset="0"/>
                                    <a:ea typeface="Cambria Math" charset="0"/>
                                    <a:cs typeface="Cambria Math" charset="0"/>
                                  </a:rPr>
                                  <m:t>÷−16+5</m:t>
                                </m:r>
                              </m:oMath>
                            </m:oMathPara>
                          </a14:m>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307438573"/>
                  </p:ext>
                </p:extLst>
              </p:nvPr>
            </p:nvGraphicFramePr>
            <p:xfrm>
              <a:off x="2756916" y="4117907"/>
              <a:ext cx="6870700" cy="1235457"/>
            </p:xfrm>
            <a:graphic>
              <a:graphicData uri="http://schemas.openxmlformats.org/drawingml/2006/table">
                <a:tbl>
                  <a:tblPr bandRow="1"/>
                  <a:tblGrid>
                    <a:gridCol w="6870700">
                      <a:extLst>
                        <a:ext uri="{9D8B030D-6E8A-4147-A177-3AD203B41FA5}">
                          <a16:colId xmlns:a16="http://schemas.microsoft.com/office/drawing/2014/main" xmlns:a14="http://schemas.microsoft.com/office/drawing/2010/main" xmlns="" val="20000"/>
                        </a:ext>
                      </a:extLst>
                    </a:gridCol>
                  </a:tblGrid>
                  <a:tr h="425006">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1449" r="-89" b="-194203"/>
                          </a:stretch>
                        </a:blipFill>
                      </a:tcPr>
                    </a:tc>
                    <a:extLst>
                      <a:ext uri="{0D108BD9-81ED-4DB2-BD59-A6C34878D82A}">
                        <a16:rowId xmlns:a16="http://schemas.microsoft.com/office/drawing/2014/main" xmlns:a14="http://schemas.microsoft.com/office/drawing/2010/main" xmlns="" val="10000"/>
                      </a:ext>
                    </a:extLst>
                  </a:tr>
                  <a:tr h="392875">
                    <a:tc>
                      <a:txBody>
                        <a:bodyPr/>
                        <a:lstStyle/>
                        <a:p>
                          <a:pPr marL="0" marR="0" algn="ctr">
                            <a:lnSpc>
                              <a:spcPct val="107000"/>
                            </a:lnSpc>
                            <a:spcBef>
                              <a:spcPts val="0"/>
                            </a:spcBef>
                            <a:spcAft>
                              <a:spcPts val="800"/>
                            </a:spcAft>
                          </a:pPr>
                          <a:r>
                            <a:rPr lang="en-US" sz="2000" i="1" dirty="0">
                              <a:effectLst/>
                              <a:latin typeface="Verdana" charset="0"/>
                              <a:ea typeface="Verdana" charset="0"/>
                              <a:cs typeface="Verdana" charset="0"/>
                            </a:rPr>
                            <a:t>Evaluate expressions with exponents first</a:t>
                          </a:r>
                          <a:endParaRPr lang="en-US" sz="2000" i="1" dirty="0">
                            <a:effectLst/>
                            <a:latin typeface="Cambria Math" charset="0"/>
                            <a:ea typeface="Cambria Math" charset="0"/>
                            <a:cs typeface="Cambria Math"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417576">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198529" r="-89" b="-1471"/>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Tree>
    <p:extLst>
      <p:ext uri="{BB962C8B-B14F-4D97-AF65-F5344CB8AC3E}">
        <p14:creationId xmlns:p14="http://schemas.microsoft.com/office/powerpoint/2010/main" val="1481613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453587" y="412923"/>
                <a:ext cx="11241701" cy="2554545"/>
              </a:xfrm>
              <a:prstGeom prst="rect">
                <a:avLst/>
              </a:prstGeom>
              <a:noFill/>
            </p:spPr>
            <p:txBody>
              <a:bodyPr wrap="square" rtlCol="0">
                <a:spAutoFit/>
              </a:bodyPr>
              <a:lstStyle/>
              <a:p>
                <a:pPr marL="342900" indent="-342900">
                  <a:buFont typeface="Arial" charset="0"/>
                  <a:buChar char="•"/>
                </a:pPr>
                <a:r>
                  <a:rPr lang="en-US" sz="2000" dirty="0">
                    <a:latin typeface="Verdana" charset="0"/>
                    <a:ea typeface="Verdana" charset="0"/>
                    <a:cs typeface="Verdana" charset="0"/>
                  </a:rPr>
                  <a:t>When writing </a:t>
                </a:r>
                <a14:m>
                  <m:oMath xmlns:m="http://schemas.openxmlformats.org/officeDocument/2006/math">
                    <m:sSup>
                      <m:sSupPr>
                        <m:ctrlPr>
                          <a:rPr lang="en-US" sz="2000" i="1">
                            <a:solidFill>
                              <a:srgbClr val="E14E5E"/>
                            </a:solidFill>
                            <a:latin typeface="Cambria Math" panose="02040503050406030204" pitchFamily="18" charset="0"/>
                            <a:ea typeface="Verdana" charset="0"/>
                            <a:cs typeface="Verdana" charset="0"/>
                          </a:rPr>
                        </m:ctrlPr>
                      </m:sSupPr>
                      <m:e>
                        <m:r>
                          <a:rPr lang="en-US" sz="2000" i="1">
                            <a:solidFill>
                              <a:srgbClr val="E14E5E"/>
                            </a:solidFill>
                            <a:latin typeface="Cambria Math" charset="0"/>
                            <a:ea typeface="Verdana" charset="0"/>
                            <a:cs typeface="Verdana" charset="0"/>
                          </a:rPr>
                          <m:t>(−3)</m:t>
                        </m:r>
                      </m:e>
                      <m:sup>
                        <m:r>
                          <a:rPr lang="en-US" sz="2000" i="1">
                            <a:solidFill>
                              <a:srgbClr val="E14E5E"/>
                            </a:solidFill>
                            <a:latin typeface="Cambria Math" charset="0"/>
                            <a:ea typeface="Verdana" charset="0"/>
                            <a:cs typeface="Verdana" charset="0"/>
                          </a:rPr>
                          <m:t>3</m:t>
                        </m:r>
                      </m:sup>
                    </m:sSup>
                  </m:oMath>
                </a14:m>
                <a:r>
                  <a:rPr lang="en-US" sz="2000" dirty="0">
                    <a:latin typeface="Verdana" charset="0"/>
                    <a:ea typeface="Verdana" charset="0"/>
                    <a:cs typeface="Verdana" charset="0"/>
                  </a:rPr>
                  <a:t> and </a:t>
                </a:r>
                <a14:m>
                  <m:oMath xmlns:m="http://schemas.openxmlformats.org/officeDocument/2006/math">
                    <m:sSup>
                      <m:sSupPr>
                        <m:ctrlPr>
                          <a:rPr lang="en-US" sz="2000" i="1">
                            <a:solidFill>
                              <a:srgbClr val="417DBF"/>
                            </a:solidFill>
                            <a:latin typeface="Cambria Math" panose="02040503050406030204" pitchFamily="18" charset="0"/>
                            <a:ea typeface="Verdana" charset="0"/>
                            <a:cs typeface="Verdana" charset="0"/>
                          </a:rPr>
                        </m:ctrlPr>
                      </m:sSupPr>
                      <m:e>
                        <m:r>
                          <a:rPr lang="en-US" sz="2000" i="1">
                            <a:solidFill>
                              <a:srgbClr val="417DBF"/>
                            </a:solidFill>
                            <a:latin typeface="Cambria Math" charset="0"/>
                            <a:ea typeface="Verdana" charset="0"/>
                            <a:cs typeface="Verdana" charset="0"/>
                          </a:rPr>
                          <m:t>2</m:t>
                        </m:r>
                      </m:e>
                      <m:sup>
                        <m:r>
                          <a:rPr lang="en-US" sz="2000" i="1">
                            <a:solidFill>
                              <a:srgbClr val="417DBF"/>
                            </a:solidFill>
                            <a:latin typeface="Cambria Math" charset="0"/>
                            <a:ea typeface="Verdana" charset="0"/>
                            <a:cs typeface="Verdana" charset="0"/>
                          </a:rPr>
                          <m:t>6</m:t>
                        </m:r>
                      </m:sup>
                    </m:sSup>
                  </m:oMath>
                </a14:m>
                <a:r>
                  <a:rPr lang="en-US" sz="2000" dirty="0">
                    <a:latin typeface="Verdana" charset="0"/>
                    <a:ea typeface="Verdana" charset="0"/>
                    <a:cs typeface="Verdana" charset="0"/>
                  </a:rPr>
                  <a:t> using multiplication, both were written inside a set of parentheses.</a:t>
                </a:r>
              </a:p>
              <a:p>
                <a:pPr marL="342900" indent="-342900">
                  <a:buFont typeface="Arial" charset="0"/>
                  <a:buChar char="•"/>
                </a:pPr>
                <a:endParaRPr lang="en-US" sz="2000" i="1" dirty="0">
                  <a:latin typeface="Verdana" charset="0"/>
                  <a:ea typeface="Verdana" charset="0"/>
                  <a:cs typeface="Verdana" charset="0"/>
                </a:endParaRPr>
              </a:p>
              <a:p>
                <a:pPr marL="342900" indent="-342900">
                  <a:buFont typeface="Arial" charset="0"/>
                  <a:buChar char="•"/>
                </a:pPr>
                <a:r>
                  <a:rPr lang="en-US" sz="2000" dirty="0">
                    <a:latin typeface="Verdana" charset="0"/>
                    <a:ea typeface="Verdana" charset="0"/>
                    <a:cs typeface="Verdana" charset="0"/>
                  </a:rPr>
                  <a:t>In order of operations, parentheses indicate that the operations inside should be done __________ other steps. </a:t>
                </a:r>
              </a:p>
              <a:p>
                <a:pPr marL="342900" indent="-342900">
                  <a:buFont typeface="Arial" charset="0"/>
                  <a:buChar char="•"/>
                </a:pPr>
                <a:endParaRPr lang="en-US" sz="2000" i="1" dirty="0">
                  <a:latin typeface="Verdana" charset="0"/>
                  <a:ea typeface="Verdana" charset="0"/>
                  <a:cs typeface="Verdana" charset="0"/>
                </a:endParaRPr>
              </a:p>
              <a:p>
                <a:pPr marL="342900" indent="-342900">
                  <a:buFont typeface="Arial" charset="0"/>
                  <a:buChar char="•"/>
                </a:pPr>
                <a:r>
                  <a:rPr lang="en-US" sz="2000" dirty="0">
                    <a:latin typeface="Verdana" charset="0"/>
                    <a:ea typeface="Verdana" charset="0"/>
                    <a:cs typeface="Verdana" charset="0"/>
                  </a:rPr>
                  <a:t>Therefore, evaluating exponents is done before other multiplication and division when following the order of operations. </a:t>
                </a:r>
                <a:endParaRPr lang="en-US" sz="2000" i="1"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53587" y="412923"/>
                <a:ext cx="11241701" cy="2554545"/>
              </a:xfrm>
              <a:prstGeom prst="rect">
                <a:avLst/>
              </a:prstGeom>
              <a:blipFill>
                <a:blip r:embed="rId4"/>
                <a:stretch>
                  <a:fillRect l="-451" t="-1485" b="-3465"/>
                </a:stretch>
              </a:blipFill>
            </p:spPr>
            <p:txBody>
              <a:bodyPr/>
              <a:lstStyle/>
              <a:p>
                <a:r>
                  <a:rPr lang="en-US">
                    <a:noFill/>
                  </a:rPr>
                  <a:t> </a:t>
                </a:r>
              </a:p>
            </p:txBody>
          </p:sp>
        </mc:Fallback>
      </mc:AlternateContent>
    </p:spTree>
    <p:extLst>
      <p:ext uri="{BB962C8B-B14F-4D97-AF65-F5344CB8AC3E}">
        <p14:creationId xmlns:p14="http://schemas.microsoft.com/office/powerpoint/2010/main" val="1606510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30269" y="301573"/>
                <a:ext cx="11000315" cy="5324535"/>
              </a:xfrm>
              <a:prstGeom prst="rect">
                <a:avLst/>
              </a:prstGeom>
              <a:noFill/>
            </p:spPr>
            <p:txBody>
              <a:bodyPr wrap="square" rtlCol="0">
                <a:spAutoFit/>
              </a:bodyPr>
              <a:lstStyle/>
              <a:p>
                <a:pPr marL="457200" lvl="3" indent="-457200">
                  <a:buFont typeface="+mj-lt"/>
                  <a:buAutoNum type="arabicPeriod"/>
                </a:pPr>
                <a:r>
                  <a:rPr lang="en-US" sz="2000" dirty="0">
                    <a:latin typeface="Verdana" charset="0"/>
                    <a:ea typeface="Verdana" charset="0"/>
                    <a:cs typeface="Verdana" charset="0"/>
                  </a:rPr>
                  <a:t>Evaluate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(−3)</m:t>
                        </m:r>
                      </m:e>
                      <m:sup>
                        <m:r>
                          <a:rPr lang="en-US" sz="2000" i="1">
                            <a:latin typeface="Cambria Math" charset="0"/>
                            <a:ea typeface="Verdana" charset="0"/>
                            <a:cs typeface="Verdana" charset="0"/>
                          </a:rPr>
                          <m:t>3</m:t>
                        </m:r>
                      </m:sup>
                    </m:sSup>
                    <m:r>
                      <a:rPr lang="en-US" sz="2000" i="1">
                        <a:latin typeface="Cambria Math" charset="0"/>
                        <a:ea typeface="Verdana" charset="0"/>
                        <a:cs typeface="Verdana" charset="0"/>
                      </a:rPr>
                      <m:t>+</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2</m:t>
                        </m:r>
                      </m:e>
                      <m:sup>
                        <m:r>
                          <a:rPr lang="en-US" sz="2000" i="1">
                            <a:latin typeface="Cambria Math" charset="0"/>
                            <a:ea typeface="Verdana" charset="0"/>
                            <a:cs typeface="Verdana" charset="0"/>
                          </a:rPr>
                          <m:t>6</m:t>
                        </m:r>
                      </m:sup>
                    </m:sSup>
                    <m:r>
                      <a:rPr lang="en-US" sz="2000" i="1">
                        <a:latin typeface="Cambria Math" charset="0"/>
                        <a:ea typeface="Verdana" charset="0"/>
                        <a:cs typeface="Verdana" charset="0"/>
                      </a:rPr>
                      <m:t>÷−16+5</m:t>
                    </m:r>
                  </m:oMath>
                </a14:m>
                <a:r>
                  <a:rPr lang="en-US" sz="2000" dirty="0">
                    <a:latin typeface="Verdana" charset="0"/>
                    <a:ea typeface="Verdana" charset="0"/>
                    <a:cs typeface="Verdana" charset="0"/>
                  </a:rPr>
                  <a:t>.</a:t>
                </a:r>
                <a:endParaRPr lang="en-US" sz="2000" i="1"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r>
                  <a:rPr lang="en-US" sz="2000" dirty="0">
                    <a:latin typeface="Verdana" charset="0"/>
                    <a:ea typeface="Verdana" charset="0"/>
                    <a:cs typeface="Verdana" charset="0"/>
                  </a:rPr>
                  <a:t>Evaluate each expression, then determine if the expressions are equivalent.</a:t>
                </a: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endParaRPr lang="en-US" sz="2000" dirty="0">
                  <a:latin typeface="Verdana" charset="0"/>
                  <a:ea typeface="Verdana" charset="0"/>
                  <a:cs typeface="Verdana" charset="0"/>
                </a:endParaRPr>
              </a:p>
              <a:p>
                <a:pPr marL="457200" lvl="3" indent="-457200">
                  <a:buFont typeface="+mj-lt"/>
                  <a:buAutoNum type="arabicPeriod"/>
                </a:pPr>
                <a:r>
                  <a:rPr lang="en-US" sz="2000" dirty="0">
                    <a:latin typeface="Verdana" charset="0"/>
                    <a:ea typeface="Verdana" charset="0"/>
                    <a:cs typeface="Verdana" charset="0"/>
                  </a:rPr>
                  <a:t>Describe a strategy that can be used when evaluating expressions with exponents that include a negative sign or a subtraction sign.</a:t>
                </a:r>
                <a:endParaRPr lang="en-US" sz="2000" i="1"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0269" y="301573"/>
                <a:ext cx="11000315" cy="5324535"/>
              </a:xfrm>
              <a:prstGeom prst="rect">
                <a:avLst/>
              </a:prstGeom>
              <a:blipFill rotWithShape="1">
                <a:blip r:embed="rId4"/>
                <a:stretch>
                  <a:fillRect l="-609" t="-686" b="-1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083978612"/>
                  </p:ext>
                </p:extLst>
              </p:nvPr>
            </p:nvGraphicFramePr>
            <p:xfrm>
              <a:off x="1123089" y="1642323"/>
              <a:ext cx="7886700" cy="2810493"/>
            </p:xfrm>
            <a:graphic>
              <a:graphicData uri="http://schemas.openxmlformats.org/drawingml/2006/table">
                <a:tbl>
                  <a:tblPr bandRow="1"/>
                  <a:tblGrid>
                    <a:gridCol w="2447780">
                      <a:extLst>
                        <a:ext uri="{9D8B030D-6E8A-4147-A177-3AD203B41FA5}">
                          <a16:colId xmlns:a16="http://schemas.microsoft.com/office/drawing/2014/main" val="20000"/>
                        </a:ext>
                      </a:extLst>
                    </a:gridCol>
                    <a:gridCol w="2565571">
                      <a:extLst>
                        <a:ext uri="{9D8B030D-6E8A-4147-A177-3AD203B41FA5}">
                          <a16:colId xmlns:a16="http://schemas.microsoft.com/office/drawing/2014/main" val="20001"/>
                        </a:ext>
                      </a:extLst>
                    </a:gridCol>
                    <a:gridCol w="2873349">
                      <a:extLst>
                        <a:ext uri="{9D8B030D-6E8A-4147-A177-3AD203B41FA5}">
                          <a16:colId xmlns:a16="http://schemas.microsoft.com/office/drawing/2014/main" val="20002"/>
                        </a:ext>
                      </a:extLst>
                    </a:gridCol>
                  </a:tblGrid>
                  <a:tr h="450180">
                    <a:tc>
                      <a:txBody>
                        <a:bodyPr/>
                        <a:lstStyle/>
                        <a:p>
                          <a:pPr marL="0" marR="0" algn="ctr">
                            <a:lnSpc>
                              <a:spcPct val="107000"/>
                            </a:lnSpc>
                            <a:spcBef>
                              <a:spcPts val="0"/>
                            </a:spcBef>
                            <a:spcAft>
                              <a:spcPts val="800"/>
                            </a:spcAft>
                          </a:pPr>
                          <a:r>
                            <a:rPr lang="en-US" sz="2000" b="1" i="0" dirty="0">
                              <a:effectLst/>
                              <a:latin typeface="Verdana" charset="0"/>
                              <a:ea typeface="Verdana" charset="0"/>
                              <a:cs typeface="Verdana" charset="0"/>
                            </a:rPr>
                            <a:t>Expression A</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i="0" dirty="0">
                              <a:effectLst/>
                              <a:latin typeface="Verdana" charset="0"/>
                              <a:ea typeface="Verdana" charset="0"/>
                              <a:cs typeface="Verdana" charset="0"/>
                            </a:rPr>
                            <a:t>Expression B</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i="0">
                              <a:effectLst/>
                              <a:latin typeface="Verdana" charset="0"/>
                              <a:ea typeface="Verdana" charset="0"/>
                              <a:cs typeface="Verdana" charset="0"/>
                            </a:rPr>
                            <a:t>Equivalent?</a:t>
                          </a:r>
                          <a:endParaRPr lang="en-US" sz="2000" i="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7468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r>
                                      <a:rPr lang="en-US" sz="2000" i="0">
                                        <a:effectLst/>
                                        <a:latin typeface="Cambria Math" charset="0"/>
                                        <a:ea typeface="Cambria Math" charset="0"/>
                                        <a:cs typeface="Cambria Math" charset="0"/>
                                      </a:rPr>
                                      <m:t>(−3)</m:t>
                                    </m:r>
                                  </m:e>
                                  <m:sup>
                                    <m:r>
                                      <a:rPr lang="en-US" sz="2000" i="0">
                                        <a:effectLst/>
                                        <a:latin typeface="Cambria Math" charset="0"/>
                                        <a:ea typeface="Cambria Math" charset="0"/>
                                        <a:cs typeface="Cambria Math" charset="0"/>
                                      </a:rPr>
                                      <m:t>4</m:t>
                                    </m:r>
                                  </m:sup>
                                </m:sSup>
                              </m:oMath>
                            </m:oMathPara>
                          </a14:m>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0">
                                    <a:effectLst/>
                                    <a:latin typeface="Cambria Math" charset="0"/>
                                    <a:ea typeface="Cambria Math" charset="0"/>
                                    <a:cs typeface="Cambria Math" charset="0"/>
                                  </a:rPr>
                                  <m:t>−</m:t>
                                </m:r>
                                <m:sSup>
                                  <m:sSupPr>
                                    <m:ctrlPr>
                                      <a:rPr lang="en-US" sz="2000" i="1">
                                        <a:effectLst/>
                                        <a:latin typeface="Cambria Math" panose="02040503050406030204" pitchFamily="18" charset="0"/>
                                        <a:ea typeface="Cambria Math" charset="0"/>
                                        <a:cs typeface="Cambria Math" charset="0"/>
                                      </a:rPr>
                                    </m:ctrlPr>
                                  </m:sSupPr>
                                  <m:e>
                                    <m:r>
                                      <a:rPr lang="en-US" sz="2000" i="0">
                                        <a:effectLst/>
                                        <a:latin typeface="Cambria Math" charset="0"/>
                                        <a:ea typeface="Cambria Math" charset="0"/>
                                        <a:cs typeface="Cambria Math" charset="0"/>
                                      </a:rPr>
                                      <m:t>(3</m:t>
                                    </m:r>
                                  </m:e>
                                  <m:sup>
                                    <m:r>
                                      <a:rPr lang="en-US" sz="2000" i="0">
                                        <a:effectLst/>
                                        <a:latin typeface="Cambria Math" charset="0"/>
                                        <a:ea typeface="Cambria Math" charset="0"/>
                                        <a:cs typeface="Cambria Math" charset="0"/>
                                      </a:rPr>
                                      <m:t>4</m:t>
                                    </m:r>
                                  </m:sup>
                                </m:sSup>
                                <m:r>
                                  <a:rPr lang="en-US" sz="2000" i="0">
                                    <a:effectLst/>
                                    <a:latin typeface="Cambria Math" charset="0"/>
                                    <a:ea typeface="Cambria Math" charset="0"/>
                                    <a:cs typeface="Cambria Math" charset="0"/>
                                  </a:rPr>
                                  <m:t>)</m:t>
                                </m:r>
                              </m:oMath>
                            </m:oMathPara>
                          </a14:m>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 </a:t>
                          </a:r>
                          <a:endParaRPr lang="en-US" sz="2000" i="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7468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r>
                                      <a:rPr lang="en-US" sz="2000" i="0">
                                        <a:effectLst/>
                                        <a:latin typeface="Cambria Math" charset="0"/>
                                        <a:ea typeface="Cambria Math" charset="0"/>
                                        <a:cs typeface="Cambria Math" charset="0"/>
                                      </a:rPr>
                                      <m:t>−(9)</m:t>
                                    </m:r>
                                  </m:e>
                                  <m:sup>
                                    <m:r>
                                      <a:rPr lang="en-US" sz="2000" i="0">
                                        <a:effectLst/>
                                        <a:latin typeface="Cambria Math" charset="0"/>
                                        <a:ea typeface="Cambria Math" charset="0"/>
                                        <a:cs typeface="Cambria Math" charset="0"/>
                                      </a:rPr>
                                      <m:t>2</m:t>
                                    </m:r>
                                  </m:sup>
                                </m:sSup>
                              </m:oMath>
                            </m:oMathPara>
                          </a14:m>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d>
                                      <m:dPr>
                                        <m:ctrlPr>
                                          <a:rPr lang="en-US" sz="2000" i="1">
                                            <a:effectLst/>
                                            <a:latin typeface="Cambria Math" panose="02040503050406030204" pitchFamily="18" charset="0"/>
                                            <a:ea typeface="Cambria Math" charset="0"/>
                                            <a:cs typeface="Cambria Math" charset="0"/>
                                          </a:rPr>
                                        </m:ctrlPr>
                                      </m:dPr>
                                      <m:e>
                                        <m:r>
                                          <a:rPr lang="en-US" sz="2000" i="0">
                                            <a:effectLst/>
                                            <a:latin typeface="Cambria Math" charset="0"/>
                                            <a:ea typeface="Cambria Math" charset="0"/>
                                            <a:cs typeface="Cambria Math" charset="0"/>
                                          </a:rPr>
                                          <m:t>−9</m:t>
                                        </m:r>
                                      </m:e>
                                    </m:d>
                                  </m:e>
                                  <m:sup>
                                    <m:r>
                                      <a:rPr lang="en-US" sz="2000" i="0">
                                        <a:effectLst/>
                                        <a:latin typeface="Cambria Math" charset="0"/>
                                        <a:ea typeface="Cambria Math" charset="0"/>
                                        <a:cs typeface="Cambria Math" charset="0"/>
                                      </a:rPr>
                                      <m:t>2</m:t>
                                    </m:r>
                                  </m:sup>
                                </m:sSup>
                              </m:oMath>
                            </m:oMathPara>
                          </a14:m>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 </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468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r>
                                      <a:rPr lang="en-US" sz="2000" i="0">
                                        <a:effectLst/>
                                        <a:latin typeface="Cambria Math" charset="0"/>
                                        <a:ea typeface="Cambria Math" charset="0"/>
                                        <a:cs typeface="Cambria Math" charset="0"/>
                                      </a:rPr>
                                      <m:t>(−5</m:t>
                                    </m:r>
                                  </m:e>
                                  <m:sup>
                                    <m:r>
                                      <a:rPr lang="en-US" sz="2000" i="0">
                                        <a:effectLst/>
                                        <a:latin typeface="Cambria Math" charset="0"/>
                                        <a:ea typeface="Cambria Math" charset="0"/>
                                        <a:cs typeface="Cambria Math" charset="0"/>
                                      </a:rPr>
                                      <m:t>2</m:t>
                                    </m:r>
                                  </m:sup>
                                </m:sSup>
                                <m:r>
                                  <a:rPr lang="en-US" sz="2000" i="0">
                                    <a:effectLst/>
                                    <a:latin typeface="Cambria Math" charset="0"/>
                                    <a:ea typeface="Cambria Math" charset="0"/>
                                    <a:cs typeface="Cambria Math" charset="0"/>
                                  </a:rPr>
                                  <m:t>)</m:t>
                                </m:r>
                              </m:oMath>
                            </m:oMathPara>
                          </a14:m>
                          <a:endParaRPr lang="en-US" sz="2000" i="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d>
                                      <m:dPr>
                                        <m:ctrlPr>
                                          <a:rPr lang="en-US" sz="2000" i="1">
                                            <a:effectLst/>
                                            <a:latin typeface="Cambria Math" panose="02040503050406030204" pitchFamily="18" charset="0"/>
                                            <a:ea typeface="Cambria Math" charset="0"/>
                                            <a:cs typeface="Cambria Math" charset="0"/>
                                          </a:rPr>
                                        </m:ctrlPr>
                                      </m:dPr>
                                      <m:e>
                                        <m:r>
                                          <a:rPr lang="en-US" sz="2000" i="0">
                                            <a:effectLst/>
                                            <a:latin typeface="Cambria Math" charset="0"/>
                                            <a:ea typeface="Cambria Math" charset="0"/>
                                            <a:cs typeface="Cambria Math" charset="0"/>
                                          </a:rPr>
                                          <m:t>−5</m:t>
                                        </m:r>
                                      </m:e>
                                    </m:d>
                                  </m:e>
                                  <m:sup>
                                    <m:r>
                                      <a:rPr lang="en-US" sz="2000" i="0">
                                        <a:effectLst/>
                                        <a:latin typeface="Cambria Math" charset="0"/>
                                        <a:ea typeface="Cambria Math" charset="0"/>
                                        <a:cs typeface="Cambria Math" charset="0"/>
                                      </a:rPr>
                                      <m:t>2</m:t>
                                    </m:r>
                                  </m:sup>
                                </m:sSup>
                              </m:oMath>
                            </m:oMathPara>
                          </a14:m>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 </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7468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0">
                                    <a:effectLst/>
                                    <a:latin typeface="Cambria Math" charset="0"/>
                                    <a:ea typeface="Cambria Math" charset="0"/>
                                    <a:cs typeface="Cambria Math" charset="0"/>
                                  </a:rPr>
                                  <m:t>26−</m:t>
                                </m:r>
                                <m:sSup>
                                  <m:sSupPr>
                                    <m:ctrlPr>
                                      <a:rPr lang="en-US" sz="2000" i="1">
                                        <a:effectLst/>
                                        <a:latin typeface="Cambria Math" panose="02040503050406030204" pitchFamily="18" charset="0"/>
                                        <a:ea typeface="Cambria Math" charset="0"/>
                                        <a:cs typeface="Cambria Math" charset="0"/>
                                      </a:rPr>
                                    </m:ctrlPr>
                                  </m:sSupPr>
                                  <m:e>
                                    <m:r>
                                      <a:rPr lang="en-US" sz="2000" i="0">
                                        <a:effectLst/>
                                        <a:latin typeface="Cambria Math" charset="0"/>
                                        <a:ea typeface="Cambria Math" charset="0"/>
                                        <a:cs typeface="Cambria Math" charset="0"/>
                                      </a:rPr>
                                      <m:t>4</m:t>
                                    </m:r>
                                  </m:e>
                                  <m:sup>
                                    <m:r>
                                      <a:rPr lang="en-US" sz="2000" i="0">
                                        <a:effectLst/>
                                        <a:latin typeface="Cambria Math" charset="0"/>
                                        <a:ea typeface="Cambria Math" charset="0"/>
                                        <a:cs typeface="Cambria Math" charset="0"/>
                                      </a:rPr>
                                      <m:t>3</m:t>
                                    </m:r>
                                  </m:sup>
                                </m:sSup>
                              </m:oMath>
                            </m:oMathPara>
                          </a14:m>
                          <a:endParaRPr lang="en-US" sz="2000" i="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0">
                                    <a:effectLst/>
                                    <a:latin typeface="Cambria Math" charset="0"/>
                                    <a:ea typeface="Cambria Math" charset="0"/>
                                    <a:cs typeface="Cambria Math" charset="0"/>
                                  </a:rPr>
                                  <m:t>26−</m:t>
                                </m:r>
                                <m:sSup>
                                  <m:sSupPr>
                                    <m:ctrlPr>
                                      <a:rPr lang="en-US" sz="2000" i="1">
                                        <a:effectLst/>
                                        <a:latin typeface="Cambria Math" panose="02040503050406030204" pitchFamily="18" charset="0"/>
                                        <a:ea typeface="Cambria Math" charset="0"/>
                                        <a:cs typeface="Cambria Math" charset="0"/>
                                      </a:rPr>
                                    </m:ctrlPr>
                                  </m:sSupPr>
                                  <m:e>
                                    <m:d>
                                      <m:dPr>
                                        <m:ctrlPr>
                                          <a:rPr lang="en-US" sz="2000" i="1">
                                            <a:effectLst/>
                                            <a:latin typeface="Cambria Math" panose="02040503050406030204" pitchFamily="18" charset="0"/>
                                            <a:ea typeface="Cambria Math" charset="0"/>
                                            <a:cs typeface="Cambria Math" charset="0"/>
                                          </a:rPr>
                                        </m:ctrlPr>
                                      </m:dPr>
                                      <m:e>
                                        <m:r>
                                          <a:rPr lang="en-US" sz="2000" i="0">
                                            <a:effectLst/>
                                            <a:latin typeface="Cambria Math" charset="0"/>
                                            <a:ea typeface="Cambria Math" charset="0"/>
                                            <a:cs typeface="Cambria Math" charset="0"/>
                                          </a:rPr>
                                          <m:t>−4</m:t>
                                        </m:r>
                                      </m:e>
                                    </m:d>
                                  </m:e>
                                  <m:sup>
                                    <m:r>
                                      <a:rPr lang="en-US" sz="2000" i="0">
                                        <a:effectLst/>
                                        <a:latin typeface="Cambria Math" charset="0"/>
                                        <a:ea typeface="Cambria Math" charset="0"/>
                                        <a:cs typeface="Cambria Math" charset="0"/>
                                      </a:rPr>
                                      <m:t>3</m:t>
                                    </m:r>
                                  </m:sup>
                                </m:sSup>
                              </m:oMath>
                            </m:oMathPara>
                          </a14:m>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 </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6157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0">
                                    <a:effectLst/>
                                    <a:latin typeface="Cambria Math" charset="0"/>
                                    <a:ea typeface="Cambria Math" charset="0"/>
                                    <a:cs typeface="Cambria Math" charset="0"/>
                                  </a:rPr>
                                  <m:t>17+</m:t>
                                </m:r>
                                <m:sSup>
                                  <m:sSupPr>
                                    <m:ctrlPr>
                                      <a:rPr lang="en-US" sz="2000" i="1">
                                        <a:effectLst/>
                                        <a:latin typeface="Cambria Math" panose="02040503050406030204" pitchFamily="18" charset="0"/>
                                        <a:ea typeface="Cambria Math" charset="0"/>
                                        <a:cs typeface="Cambria Math" charset="0"/>
                                      </a:rPr>
                                    </m:ctrlPr>
                                  </m:sSupPr>
                                  <m:e>
                                    <m:r>
                                      <a:rPr lang="en-US" sz="2000" i="0">
                                        <a:effectLst/>
                                        <a:latin typeface="Cambria Math" charset="0"/>
                                        <a:ea typeface="Cambria Math" charset="0"/>
                                        <a:cs typeface="Cambria Math" charset="0"/>
                                      </a:rPr>
                                      <m:t>(−2</m:t>
                                    </m:r>
                                  </m:e>
                                  <m:sup>
                                    <m:r>
                                      <a:rPr lang="en-US" sz="2000" i="0">
                                        <a:effectLst/>
                                        <a:latin typeface="Cambria Math" charset="0"/>
                                        <a:ea typeface="Cambria Math" charset="0"/>
                                        <a:cs typeface="Cambria Math" charset="0"/>
                                      </a:rPr>
                                      <m:t>4</m:t>
                                    </m:r>
                                  </m:sup>
                                </m:sSup>
                                <m:r>
                                  <a:rPr lang="en-US" sz="2000" i="0">
                                    <a:effectLst/>
                                    <a:latin typeface="Cambria Math" charset="0"/>
                                    <a:ea typeface="Cambria Math" charset="0"/>
                                    <a:cs typeface="Cambria Math" charset="0"/>
                                  </a:rPr>
                                  <m:t>)</m:t>
                                </m:r>
                              </m:oMath>
                            </m:oMathPara>
                          </a14:m>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0">
                                    <a:effectLst/>
                                    <a:latin typeface="Cambria Math" charset="0"/>
                                    <a:ea typeface="Cambria Math" charset="0"/>
                                    <a:cs typeface="Cambria Math" charset="0"/>
                                  </a:rPr>
                                  <m:t>17−</m:t>
                                </m:r>
                                <m:sSup>
                                  <m:sSupPr>
                                    <m:ctrlPr>
                                      <a:rPr lang="en-US" sz="2000" i="1">
                                        <a:effectLst/>
                                        <a:latin typeface="Cambria Math" panose="02040503050406030204" pitchFamily="18" charset="0"/>
                                        <a:ea typeface="Cambria Math" charset="0"/>
                                        <a:cs typeface="Cambria Math" charset="0"/>
                                      </a:rPr>
                                    </m:ctrlPr>
                                  </m:sSupPr>
                                  <m:e>
                                    <m:r>
                                      <a:rPr lang="en-US" sz="2000" i="0">
                                        <a:effectLst/>
                                        <a:latin typeface="Cambria Math" charset="0"/>
                                        <a:ea typeface="Cambria Math" charset="0"/>
                                        <a:cs typeface="Cambria Math" charset="0"/>
                                      </a:rPr>
                                      <m:t>(2</m:t>
                                    </m:r>
                                  </m:e>
                                  <m:sup>
                                    <m:r>
                                      <a:rPr lang="en-US" sz="2000" i="0">
                                        <a:effectLst/>
                                        <a:latin typeface="Cambria Math" charset="0"/>
                                        <a:ea typeface="Cambria Math" charset="0"/>
                                        <a:cs typeface="Cambria Math" charset="0"/>
                                      </a:rPr>
                                      <m:t>4</m:t>
                                    </m:r>
                                  </m:sup>
                                </m:sSup>
                                <m:r>
                                  <a:rPr lang="en-US" sz="2000" i="0">
                                    <a:effectLst/>
                                    <a:latin typeface="Cambria Math" charset="0"/>
                                    <a:ea typeface="Cambria Math" charset="0"/>
                                    <a:cs typeface="Cambria Math" charset="0"/>
                                  </a:rPr>
                                  <m:t>)</m:t>
                                </m:r>
                              </m:oMath>
                            </m:oMathPara>
                          </a14:m>
                          <a:endParaRPr lang="en-US" sz="2000" i="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 </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083978612"/>
                  </p:ext>
                </p:extLst>
              </p:nvPr>
            </p:nvGraphicFramePr>
            <p:xfrm>
              <a:off x="1123089" y="1642323"/>
              <a:ext cx="7886700" cy="2810493"/>
            </p:xfrm>
            <a:graphic>
              <a:graphicData uri="http://schemas.openxmlformats.org/drawingml/2006/table">
                <a:tbl>
                  <a:tblPr bandRow="1"/>
                  <a:tblGrid>
                    <a:gridCol w="2447780">
                      <a:extLst>
                        <a:ext uri="{9D8B030D-6E8A-4147-A177-3AD203B41FA5}">
                          <a16:colId xmlns:a16="http://schemas.microsoft.com/office/drawing/2014/main" xmlns:a14="http://schemas.microsoft.com/office/drawing/2010/main" xmlns="" val="20000"/>
                        </a:ext>
                      </a:extLst>
                    </a:gridCol>
                    <a:gridCol w="2565571">
                      <a:extLst>
                        <a:ext uri="{9D8B030D-6E8A-4147-A177-3AD203B41FA5}">
                          <a16:colId xmlns:a16="http://schemas.microsoft.com/office/drawing/2014/main" xmlns:a14="http://schemas.microsoft.com/office/drawing/2010/main" xmlns="" val="20001"/>
                        </a:ext>
                      </a:extLst>
                    </a:gridCol>
                    <a:gridCol w="2873349">
                      <a:extLst>
                        <a:ext uri="{9D8B030D-6E8A-4147-A177-3AD203B41FA5}">
                          <a16:colId xmlns:a16="http://schemas.microsoft.com/office/drawing/2014/main" xmlns:a14="http://schemas.microsoft.com/office/drawing/2010/main" xmlns="" val="20002"/>
                        </a:ext>
                      </a:extLst>
                    </a:gridCol>
                  </a:tblGrid>
                  <a:tr h="450180">
                    <a:tc>
                      <a:txBody>
                        <a:bodyPr/>
                        <a:lstStyle/>
                        <a:p>
                          <a:pPr marL="0" marR="0" algn="ctr">
                            <a:lnSpc>
                              <a:spcPct val="107000"/>
                            </a:lnSpc>
                            <a:spcBef>
                              <a:spcPts val="0"/>
                            </a:spcBef>
                            <a:spcAft>
                              <a:spcPts val="800"/>
                            </a:spcAft>
                          </a:pPr>
                          <a:r>
                            <a:rPr lang="en-US" sz="2000" b="1" i="0" dirty="0">
                              <a:effectLst/>
                              <a:latin typeface="Verdana" charset="0"/>
                              <a:ea typeface="Verdana" charset="0"/>
                              <a:cs typeface="Verdana" charset="0"/>
                            </a:rPr>
                            <a:t>Expression A</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i="0" dirty="0">
                              <a:effectLst/>
                              <a:latin typeface="Verdana" charset="0"/>
                              <a:ea typeface="Verdana" charset="0"/>
                              <a:cs typeface="Verdana" charset="0"/>
                            </a:rPr>
                            <a:t>Expression B</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i="0">
                              <a:effectLst/>
                              <a:latin typeface="Verdana" charset="0"/>
                              <a:ea typeface="Verdana" charset="0"/>
                              <a:cs typeface="Verdana" charset="0"/>
                            </a:rPr>
                            <a:t>Equivalent?</a:t>
                          </a:r>
                          <a:endParaRPr lang="en-US" sz="2000" i="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474684">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98718" r="-221891" b="-401282"/>
                          </a:stretch>
                        </a:blipFill>
                      </a:tcPr>
                    </a:tc>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5487" t="-98718" r="-111876" b="-401282"/>
                          </a:stretch>
                        </a:blip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 </a:t>
                          </a:r>
                          <a:endParaRPr lang="en-US" sz="2000" i="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474684">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98718" r="-221891" b="-301282"/>
                          </a:stretch>
                        </a:blipFill>
                      </a:tcPr>
                    </a:tc>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5487" t="-198718" r="-111876" b="-301282"/>
                          </a:stretch>
                        </a:blipFill>
                      </a:tcPr>
                    </a:tc>
                    <a:tc>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 </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474684">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02597" r="-221891" b="-205195"/>
                          </a:stretch>
                        </a:blipFill>
                      </a:tcPr>
                    </a:tc>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5487" t="-302597" r="-111876" b="-205195"/>
                          </a:stretch>
                        </a:blipFill>
                      </a:tcPr>
                    </a:tc>
                    <a:tc>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 </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474684">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97436" r="-221891" b="-102564"/>
                          </a:stretch>
                        </a:blipFill>
                      </a:tcPr>
                    </a:tc>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5487" t="-397436" r="-111876" b="-102564"/>
                          </a:stretch>
                        </a:blipFill>
                      </a:tcPr>
                    </a:tc>
                    <a:tc>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 </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461577">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510526" r="-221891" b="-5263"/>
                          </a:stretch>
                        </a:blipFill>
                      </a:tcPr>
                    </a:tc>
                    <a:tc>
                      <a:txBody>
                        <a:bodyPr/>
                        <a:lstStyle/>
                        <a:p>
                          <a:endParaRPr lang="en-US"/>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5487" t="-510526" r="-111876" b="-5263"/>
                          </a:stretch>
                        </a:blipFill>
                      </a:tcPr>
                    </a:tc>
                    <a:tc>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 </a:t>
                          </a:r>
                          <a:endParaRPr lang="en-US" sz="2000" i="0" dirty="0">
                            <a:effectLst/>
                            <a:latin typeface="Cambria Math" charset="0"/>
                            <a:ea typeface="Cambria Math" charset="0"/>
                            <a:cs typeface="Cambria Math" charset="0"/>
                          </a:endParaRPr>
                        </a:p>
                      </a:txBody>
                      <a:tcPr marL="61544" marR="6154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Tree>
    <p:extLst>
      <p:ext uri="{BB962C8B-B14F-4D97-AF65-F5344CB8AC3E}">
        <p14:creationId xmlns:p14="http://schemas.microsoft.com/office/powerpoint/2010/main" val="1051503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248</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386403" y="339994"/>
                <a:ext cx="11433613" cy="5170646"/>
              </a:xfrm>
              <a:prstGeom prst="rect">
                <a:avLst/>
              </a:prstGeom>
              <a:noFill/>
            </p:spPr>
            <p:txBody>
              <a:bodyPr wrap="square" rtlCol="0">
                <a:spAutoFit/>
              </a:bodyPr>
              <a:lstStyle/>
              <a:p>
                <a:pPr marL="457200" lvl="3" indent="-457200">
                  <a:spcAft>
                    <a:spcPts val="2000"/>
                  </a:spcAft>
                  <a:buFont typeface="+mj-lt"/>
                  <a:buAutoNum type="arabicPeriod" startAt="4"/>
                </a:pPr>
                <a:r>
                  <a:rPr lang="en-US" sz="2000" dirty="0">
                    <a:latin typeface="Verdana" charset="0"/>
                    <a:ea typeface="Verdana" charset="0"/>
                    <a:cs typeface="Verdana" charset="0"/>
                  </a:rPr>
                  <a:t>Elizabeth evaluated</a:t>
                </a:r>
                <a14:m>
                  <m:oMath xmlns:m="http://schemas.openxmlformats.org/officeDocument/2006/math">
                    <m:r>
                      <a:rPr lang="en-US" sz="2000" i="1">
                        <a:latin typeface="Cambria Math" charset="0"/>
                        <a:ea typeface="Verdana" charset="0"/>
                        <a:cs typeface="Verdana" charset="0"/>
                      </a:rPr>
                      <m:t>  </m:t>
                    </m:r>
                    <m:r>
                      <a:rPr lang="en-US" sz="2000" i="1">
                        <a:latin typeface="Cambria Math" charset="0"/>
                        <a:ea typeface="Verdana" charset="0"/>
                        <a:cs typeface="Verdana" charset="0"/>
                      </a:rPr>
                      <m:t>𝑏</m:t>
                    </m:r>
                    <m:r>
                      <a:rPr lang="en-US" sz="2000" i="1">
                        <a:latin typeface="Cambria Math" charset="0"/>
                        <a:ea typeface="Verdana" charset="0"/>
                        <a:cs typeface="Verdana" charset="0"/>
                      </a:rPr>
                      <m:t>+</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𝑎</m:t>
                        </m:r>
                      </m:e>
                      <m:sup>
                        <m:r>
                          <a:rPr lang="en-US" sz="2000" i="1">
                            <a:latin typeface="Cambria Math" charset="0"/>
                            <a:ea typeface="Verdana" charset="0"/>
                            <a:cs typeface="Verdana" charset="0"/>
                          </a:rPr>
                          <m:t>3</m:t>
                        </m:r>
                      </m:sup>
                    </m:sSup>
                    <m:r>
                      <a:rPr lang="en-US" sz="2000" i="1">
                        <a:latin typeface="Cambria Math" charset="0"/>
                        <a:ea typeface="Verdana" charset="0"/>
                        <a:cs typeface="Verdana" charset="0"/>
                      </a:rPr>
                      <m:t>∙7−9</m:t>
                    </m:r>
                  </m:oMath>
                </a14:m>
                <a:r>
                  <a:rPr lang="en-US" sz="2000" dirty="0">
                    <a:latin typeface="Verdana" charset="0"/>
                    <a:ea typeface="Verdana" charset="0"/>
                    <a:cs typeface="Verdana" charset="0"/>
                  </a:rPr>
                  <a:t> when </a:t>
                </a:r>
                <a14:m>
                  <m:oMath xmlns:m="http://schemas.openxmlformats.org/officeDocument/2006/math">
                    <m:r>
                      <a:rPr lang="en-US" sz="2000" i="1">
                        <a:latin typeface="Cambria Math" charset="0"/>
                        <a:ea typeface="Verdana" charset="0"/>
                        <a:cs typeface="Verdana" charset="0"/>
                      </a:rPr>
                      <m:t>𝑎</m:t>
                    </m:r>
                    <m:r>
                      <a:rPr lang="en-US" sz="2000" i="1">
                        <a:latin typeface="Cambria Math" charset="0"/>
                        <a:ea typeface="Verdana" charset="0"/>
                        <a:cs typeface="Verdana" charset="0"/>
                      </a:rPr>
                      <m:t>=−4</m:t>
                    </m:r>
                  </m:oMath>
                </a14:m>
                <a:r>
                  <a:rPr lang="en-US" sz="2000" dirty="0">
                    <a:latin typeface="Verdana" charset="0"/>
                    <a:ea typeface="Verdana" charset="0"/>
                    <a:cs typeface="Verdana" charset="0"/>
                  </a:rPr>
                  <a:t> and</a:t>
                </a:r>
                <a:r>
                  <a:rPr lang="en-US" sz="2000" i="1"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𝑏</m:t>
                    </m:r>
                    <m:r>
                      <a:rPr lang="en-US" sz="2000" i="1">
                        <a:latin typeface="Cambria Math" charset="0"/>
                        <a:ea typeface="Verdana" charset="0"/>
                        <a:cs typeface="Verdana" charset="0"/>
                      </a:rPr>
                      <m:t>=17</m:t>
                    </m:r>
                  </m:oMath>
                </a14:m>
                <a:r>
                  <a:rPr lang="en-US" sz="2000" dirty="0">
                    <a:latin typeface="Verdana" charset="0"/>
                    <a:ea typeface="Verdana" charset="0"/>
                    <a:cs typeface="Verdana" charset="0"/>
                  </a:rPr>
                  <a:t>. </a:t>
                </a:r>
                <a:br>
                  <a:rPr lang="en-US" sz="2000" dirty="0">
                    <a:latin typeface="Verdana" charset="0"/>
                    <a:ea typeface="Verdana" charset="0"/>
                    <a:cs typeface="Verdana" charset="0"/>
                  </a:rPr>
                </a:br>
                <a:r>
                  <a:rPr lang="en-US" sz="2000" dirty="0">
                    <a:latin typeface="Verdana" charset="0"/>
                    <a:ea typeface="Verdana" charset="0"/>
                    <a:cs typeface="Verdana" charset="0"/>
                  </a:rPr>
                  <a:t>Her work is below. </a:t>
                </a:r>
                <a:endParaRPr lang="en-US" sz="2000" i="1" dirty="0">
                  <a:latin typeface="Verdana" charset="0"/>
                  <a:ea typeface="Verdana" charset="0"/>
                  <a:cs typeface="Verdana" charset="0"/>
                </a:endParaRPr>
              </a:p>
              <a:p>
                <a:pPr marL="914400" lvl="5" indent="-457200">
                  <a:buFont typeface="+mj-lt"/>
                  <a:buAutoNum type="alphaLcPeriod"/>
                </a:pPr>
                <a:r>
                  <a:rPr lang="en-US" sz="2000" dirty="0">
                    <a:latin typeface="Verdana" charset="0"/>
                    <a:ea typeface="Verdana" charset="0"/>
                    <a:cs typeface="Verdana" charset="0"/>
                  </a:rPr>
                  <a:t>Circle Elizabeth’s error.</a:t>
                </a:r>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17+</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(−4)</m:t>
                          </m:r>
                        </m:e>
                        <m:sup>
                          <m:r>
                            <a:rPr lang="en-US" sz="2000" i="1">
                              <a:latin typeface="Cambria Math" charset="0"/>
                              <a:ea typeface="Verdana" charset="0"/>
                              <a:cs typeface="Verdana" charset="0"/>
                            </a:rPr>
                            <m:t>3</m:t>
                          </m:r>
                        </m:sup>
                      </m:sSup>
                      <m:r>
                        <a:rPr lang="en-US" sz="2000" i="1">
                          <a:latin typeface="Cambria Math" charset="0"/>
                          <a:ea typeface="Verdana" charset="0"/>
                          <a:cs typeface="Verdana" charset="0"/>
                        </a:rPr>
                        <m:t>∙7−9</m:t>
                      </m:r>
                    </m:oMath>
                  </m:oMathPara>
                </a14:m>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17+(−64)∙7−9</m:t>
                      </m:r>
                    </m:oMath>
                  </m:oMathPara>
                </a14:m>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(−47)∙7−9</m:t>
                      </m:r>
                    </m:oMath>
                  </m:oMathPara>
                </a14:m>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−329−9</m:t>
                      </m:r>
                    </m:oMath>
                  </m:oMathPara>
                </a14:m>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−338</m:t>
                      </m:r>
                    </m:oMath>
                  </m:oMathPara>
                </a14:m>
                <a:endParaRPr lang="en-US" sz="2000" i="1" dirty="0">
                  <a:latin typeface="Verdana" charset="0"/>
                  <a:ea typeface="Verdana" charset="0"/>
                  <a:cs typeface="Verdana" charset="0"/>
                </a:endParaRPr>
              </a:p>
              <a:p>
                <a:pPr marL="914400" lvl="4" indent="-457200">
                  <a:spcAft>
                    <a:spcPts val="2000"/>
                  </a:spcAft>
                  <a:buFont typeface="+mj-lt"/>
                  <a:buAutoNum type="alphaLcPeriod" startAt="2"/>
                </a:pPr>
                <a:endParaRPr lang="en-US" sz="2000" dirty="0">
                  <a:latin typeface="Verdana" charset="0"/>
                  <a:ea typeface="Verdana" charset="0"/>
                  <a:cs typeface="Verdana" charset="0"/>
                </a:endParaRPr>
              </a:p>
              <a:p>
                <a:pPr marL="914400" lvl="4" indent="-457200">
                  <a:spcAft>
                    <a:spcPts val="2000"/>
                  </a:spcAft>
                  <a:buFont typeface="+mj-lt"/>
                  <a:buAutoNum type="alphaLcPeriod" startAt="2"/>
                </a:pPr>
                <a:r>
                  <a:rPr lang="en-US" sz="2000" dirty="0">
                    <a:latin typeface="Verdana" charset="0"/>
                    <a:ea typeface="Verdana" charset="0"/>
                    <a:cs typeface="Verdana" charset="0"/>
                  </a:rPr>
                  <a:t>Which step of the order of operations did she not apply correctly?</a:t>
                </a:r>
              </a:p>
              <a:p>
                <a:pPr marL="1371600" indent="-457200">
                  <a:buFont typeface="+mj-lt"/>
                  <a:buAutoNum type="alphaUcPeriod"/>
                </a:pPr>
                <a:r>
                  <a:rPr lang="en-US" sz="2000" dirty="0">
                    <a:latin typeface="Verdana" charset="0"/>
                    <a:ea typeface="Verdana" charset="0"/>
                    <a:cs typeface="Verdana" charset="0"/>
                  </a:rPr>
                  <a:t>Evaluate expressions with exponents.</a:t>
                </a:r>
                <a:endParaRPr lang="en-US" sz="2000" i="1" dirty="0">
                  <a:latin typeface="Verdana" charset="0"/>
                  <a:ea typeface="Verdana" charset="0"/>
                  <a:cs typeface="Verdana" charset="0"/>
                </a:endParaRPr>
              </a:p>
              <a:p>
                <a:pPr marL="1371600" indent="-457200">
                  <a:buFont typeface="+mj-lt"/>
                  <a:buAutoNum type="alphaUcPeriod"/>
                </a:pPr>
                <a:r>
                  <a:rPr lang="en-US" sz="2000" dirty="0">
                    <a:latin typeface="Verdana" charset="0"/>
                    <a:ea typeface="Verdana" charset="0"/>
                    <a:cs typeface="Verdana" charset="0"/>
                  </a:rPr>
                  <a:t>Perform operations inside grouping symbols. </a:t>
                </a:r>
                <a:endParaRPr lang="en-US" sz="2000" i="1" dirty="0">
                  <a:latin typeface="Verdana" charset="0"/>
                  <a:ea typeface="Verdana" charset="0"/>
                  <a:cs typeface="Verdana" charset="0"/>
                </a:endParaRPr>
              </a:p>
              <a:p>
                <a:pPr marL="1371600" indent="-457200">
                  <a:buFont typeface="+mj-lt"/>
                  <a:buAutoNum type="alphaUcPeriod"/>
                </a:pPr>
                <a:r>
                  <a:rPr lang="en-US" sz="2000" dirty="0">
                    <a:latin typeface="Verdana" charset="0"/>
                    <a:ea typeface="Verdana" charset="0"/>
                    <a:cs typeface="Verdana" charset="0"/>
                  </a:rPr>
                  <a:t>Perform multiplication and division in order from left to right.</a:t>
                </a:r>
                <a:endParaRPr lang="en-US" sz="2000" i="1" dirty="0">
                  <a:latin typeface="Verdana" charset="0"/>
                  <a:ea typeface="Verdana" charset="0"/>
                  <a:cs typeface="Verdana" charset="0"/>
                </a:endParaRPr>
              </a:p>
              <a:p>
                <a:pPr marL="1371600" indent="-457200">
                  <a:buFont typeface="+mj-lt"/>
                  <a:buAutoNum type="alphaUcPeriod"/>
                </a:pPr>
                <a:r>
                  <a:rPr lang="en-US" sz="2000" dirty="0">
                    <a:latin typeface="Verdana" charset="0"/>
                    <a:ea typeface="Verdana" charset="0"/>
                    <a:cs typeface="Verdana" charset="0"/>
                  </a:rPr>
                  <a:t>Perform addition and subtraction in order from left to right.</a:t>
                </a:r>
                <a:endParaRPr lang="en-US" sz="2000" i="1"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386403" y="339994"/>
                <a:ext cx="11433613" cy="5170646"/>
              </a:xfrm>
              <a:prstGeom prst="rect">
                <a:avLst/>
              </a:prstGeom>
              <a:blipFill rotWithShape="1">
                <a:blip r:embed="rId4"/>
                <a:stretch>
                  <a:fillRect l="-533" t="-708" b="-1179"/>
                </a:stretch>
              </a:blipFill>
            </p:spPr>
            <p:txBody>
              <a:bodyPr/>
              <a:lstStyle/>
              <a:p>
                <a:r>
                  <a:rPr lang="en-US">
                    <a:noFill/>
                  </a:rPr>
                  <a:t> </a:t>
                </a:r>
              </a:p>
            </p:txBody>
          </p:sp>
        </mc:Fallback>
      </mc:AlternateContent>
    </p:spTree>
    <p:extLst>
      <p:ext uri="{BB962C8B-B14F-4D97-AF65-F5344CB8AC3E}">
        <p14:creationId xmlns:p14="http://schemas.microsoft.com/office/powerpoint/2010/main" val="253588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248</a:t>
            </a:r>
          </a:p>
        </p:txBody>
      </p:sp>
      <p:sp>
        <p:nvSpPr>
          <p:cNvPr id="6" name="Text Box 24"/>
          <p:cNvSpPr txBox="1"/>
          <p:nvPr/>
        </p:nvSpPr>
        <p:spPr>
          <a:xfrm>
            <a:off x="2781300" y="1227921"/>
            <a:ext cx="6858000" cy="3220332"/>
          </a:xfrm>
          <a:prstGeom prst="roundRect">
            <a:avLst/>
          </a:prstGeom>
          <a:solidFill>
            <a:srgbClr val="E4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r>
              <a:rPr lang="en-US" sz="2000" dirty="0">
                <a:solidFill>
                  <a:srgbClr val="6B9A3D"/>
                </a:solidFill>
                <a:latin typeface="Verdana" pitchFamily="34" charset="0"/>
                <a:ea typeface="Verdana" pitchFamily="34" charset="0"/>
              </a:rPr>
              <a:t>The order of performing computations is first to work within grouping symbols using the </a:t>
            </a:r>
            <a:r>
              <a:rPr lang="en-US" sz="2000" b="1" i="1" dirty="0">
                <a:solidFill>
                  <a:srgbClr val="6B9A3D"/>
                </a:solidFill>
                <a:latin typeface="Verdana" pitchFamily="34" charset="0"/>
                <a:ea typeface="Verdana" pitchFamily="34" charset="0"/>
              </a:rPr>
              <a:t>order of operations</a:t>
            </a:r>
            <a:r>
              <a:rPr lang="en-US" sz="2000" dirty="0">
                <a:solidFill>
                  <a:srgbClr val="6B9A3D"/>
                </a:solidFill>
                <a:latin typeface="Verdana" pitchFamily="34" charset="0"/>
                <a:ea typeface="Verdana" pitchFamily="34" charset="0"/>
              </a:rPr>
              <a:t>. Then, simplify terms with exponents. Next, while reading from left to right, perform multiplication and division in the order in which it appears. Finally, while reading from left to right, perform addition and subtraction in the order in which it appears.</a:t>
            </a:r>
            <a:endParaRPr lang="en-US" sz="2000" i="1" dirty="0">
              <a:solidFill>
                <a:srgbClr val="6B9A3D"/>
              </a:solidFill>
              <a:latin typeface="Verdana" pitchFamily="34" charset="0"/>
              <a:ea typeface="Verdana"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12141" y="1491050"/>
            <a:ext cx="595304" cy="608989"/>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531610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332641"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248</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53512"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6696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9839" y="3882"/>
            <a:ext cx="1051189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11.2.4 Try It: Discovering the Importance of Left to Right </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248</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731520" y="1341053"/>
                <a:ext cx="10799064" cy="3785652"/>
              </a:xfrm>
              <a:prstGeom prst="rect">
                <a:avLst/>
              </a:prstGeom>
              <a:noFill/>
            </p:spPr>
            <p:txBody>
              <a:bodyPr wrap="square" rtlCol="0">
                <a:spAutoFit/>
              </a:bodyPr>
              <a:lstStyle/>
              <a:p>
                <a:pPr marL="457200" lvl="3" indent="-457200">
                  <a:buFont typeface="+mj-lt"/>
                  <a:buAutoNum type="arabicPeriod"/>
                </a:pPr>
                <a:r>
                  <a:rPr lang="en-US" sz="2000" dirty="0">
                    <a:latin typeface="Verdana" charset="0"/>
                    <a:ea typeface="Verdana" charset="0"/>
                    <a:cs typeface="Verdana" charset="0"/>
                  </a:rPr>
                  <a:t>Mia is evaluating the expression,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𝑥</m:t>
                        </m:r>
                      </m:e>
                      <m:sup>
                        <m:r>
                          <a:rPr lang="en-US" sz="2000" i="1">
                            <a:latin typeface="Cambria Math" charset="0"/>
                            <a:ea typeface="Verdana" charset="0"/>
                            <a:cs typeface="Verdana" charset="0"/>
                          </a:rPr>
                          <m:t>3</m:t>
                        </m:r>
                      </m:sup>
                    </m:sSup>
                    <m:r>
                      <a:rPr lang="en-US" sz="2000" i="1">
                        <a:latin typeface="Cambria Math" charset="0"/>
                        <a:ea typeface="Verdana" charset="0"/>
                        <a:cs typeface="Verdana" charset="0"/>
                      </a:rPr>
                      <m:t>÷</m:t>
                    </m:r>
                    <m:r>
                      <a:rPr lang="en-US" sz="2000" i="1">
                        <a:latin typeface="Cambria Math" charset="0"/>
                        <a:ea typeface="Verdana" charset="0"/>
                        <a:cs typeface="Verdana" charset="0"/>
                      </a:rPr>
                      <m:t>𝑟</m:t>
                    </m:r>
                    <m:r>
                      <a:rPr lang="en-US" sz="2000" i="1">
                        <a:latin typeface="Cambria Math" charset="0"/>
                        <a:ea typeface="Verdana" charset="0"/>
                        <a:cs typeface="Verdana" charset="0"/>
                      </a:rPr>
                      <m:t>∙(</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𝑘</m:t>
                        </m:r>
                      </m:e>
                      <m:sup>
                        <m:r>
                          <a:rPr lang="en-US" sz="2000" i="1">
                            <a:latin typeface="Cambria Math" charset="0"/>
                            <a:ea typeface="Verdana" charset="0"/>
                            <a:cs typeface="Verdana" charset="0"/>
                          </a:rPr>
                          <m:t>2</m:t>
                        </m:r>
                      </m:sup>
                    </m:sSup>
                    <m:r>
                      <a:rPr lang="en-US" sz="2000" i="1">
                        <a:latin typeface="Cambria Math" charset="0"/>
                        <a:ea typeface="Verdana" charset="0"/>
                        <a:cs typeface="Verdana" charset="0"/>
                      </a:rPr>
                      <m:t>−5)</m:t>
                    </m:r>
                  </m:oMath>
                </a14:m>
                <a:r>
                  <a:rPr lang="en-US" sz="2000" dirty="0">
                    <a:latin typeface="Verdana" charset="0"/>
                    <a:ea typeface="Verdana" charset="0"/>
                    <a:cs typeface="Verdana" charset="0"/>
                  </a:rPr>
                  <a:t> for </a:t>
                </a:r>
                <a14:m>
                  <m:oMath xmlns:m="http://schemas.openxmlformats.org/officeDocument/2006/math">
                    <m:r>
                      <a:rPr lang="en-US" sz="2000" i="1">
                        <a:latin typeface="Cambria Math" charset="0"/>
                        <a:ea typeface="Verdana" charset="0"/>
                        <a:cs typeface="Verdana" charset="0"/>
                      </a:rPr>
                      <m:t>𝑘</m:t>
                    </m:r>
                    <m:r>
                      <a:rPr lang="en-US" sz="2000" i="1">
                        <a:latin typeface="Cambria Math" charset="0"/>
                        <a:ea typeface="Verdana" charset="0"/>
                        <a:cs typeface="Verdana" charset="0"/>
                      </a:rPr>
                      <m:t>=3</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𝑟</m:t>
                    </m:r>
                    <m:r>
                      <a:rPr lang="en-US" sz="2000" i="1">
                        <a:latin typeface="Cambria Math" charset="0"/>
                        <a:ea typeface="Verdana" charset="0"/>
                        <a:cs typeface="Verdana" charset="0"/>
                      </a:rPr>
                      <m:t>=−8</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𝑥</m:t>
                    </m:r>
                    <m:r>
                      <a:rPr lang="en-US" sz="2000" i="1">
                        <a:latin typeface="Cambria Math" charset="0"/>
                        <a:ea typeface="Verdana" charset="0"/>
                        <a:cs typeface="Verdana" charset="0"/>
                      </a:rPr>
                      <m:t>=4</m:t>
                    </m:r>
                  </m:oMath>
                </a14:m>
                <a:r>
                  <a:rPr lang="en-US" sz="2000" dirty="0">
                    <a:latin typeface="Verdana" charset="0"/>
                    <a:ea typeface="Verdana" charset="0"/>
                    <a:cs typeface="Verdana" charset="0"/>
                  </a:rPr>
                  <a:t>. </a:t>
                </a:r>
                <a:br>
                  <a:rPr lang="en-US" sz="2000" dirty="0">
                    <a:latin typeface="Verdana" charset="0"/>
                    <a:ea typeface="Verdana" charset="0"/>
                    <a:cs typeface="Verdana" charset="0"/>
                  </a:rPr>
                </a:br>
                <a:r>
                  <a:rPr lang="en-US" sz="2000" dirty="0">
                    <a:latin typeface="Verdana" charset="0"/>
                    <a:ea typeface="Verdana" charset="0"/>
                    <a:cs typeface="Verdana" charset="0"/>
                  </a:rPr>
                  <a:t>Her first few steps are shown.</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4</m:t>
                          </m:r>
                        </m:e>
                        <m:sup>
                          <m:r>
                            <a:rPr lang="en-US" sz="2000" i="1">
                              <a:latin typeface="Cambria Math" charset="0"/>
                              <a:ea typeface="Verdana" charset="0"/>
                              <a:cs typeface="Verdana" charset="0"/>
                            </a:rPr>
                            <m:t>3</m:t>
                          </m:r>
                        </m:sup>
                      </m:sSup>
                      <m:r>
                        <a:rPr lang="en-US" sz="2000" i="1">
                          <a:latin typeface="Cambria Math" charset="0"/>
                          <a:ea typeface="Verdana" charset="0"/>
                          <a:cs typeface="Verdana" charset="0"/>
                        </a:rPr>
                        <m:t>÷−8∙(</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3</m:t>
                          </m:r>
                        </m:e>
                        <m:sup>
                          <m:r>
                            <a:rPr lang="en-US" sz="2000" i="1">
                              <a:latin typeface="Cambria Math" charset="0"/>
                              <a:ea typeface="Verdana" charset="0"/>
                              <a:cs typeface="Verdana" charset="0"/>
                            </a:rPr>
                            <m:t>2</m:t>
                          </m:r>
                        </m:sup>
                      </m:sSup>
                      <m:r>
                        <a:rPr lang="en-US" sz="2000" i="1">
                          <a:latin typeface="Cambria Math" charset="0"/>
                          <a:ea typeface="Verdana" charset="0"/>
                          <a:cs typeface="Verdana" charset="0"/>
                        </a:rPr>
                        <m:t>−5)</m:t>
                      </m:r>
                    </m:oMath>
                  </m:oMathPara>
                </a14:m>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64÷−8∙</m:t>
                      </m:r>
                      <m:d>
                        <m:dPr>
                          <m:ctrlPr>
                            <a:rPr lang="en-US" sz="2000" i="1">
                              <a:latin typeface="Cambria Math" panose="02040503050406030204" pitchFamily="18" charset="0"/>
                              <a:ea typeface="Verdana" charset="0"/>
                              <a:cs typeface="Verdana" charset="0"/>
                            </a:rPr>
                          </m:ctrlPr>
                        </m:dPr>
                        <m:e>
                          <m:r>
                            <a:rPr lang="en-US" sz="2000" i="1">
                              <a:latin typeface="Cambria Math" charset="0"/>
                              <a:ea typeface="Verdana" charset="0"/>
                              <a:cs typeface="Verdana" charset="0"/>
                            </a:rPr>
                            <m:t>9−5</m:t>
                          </m:r>
                        </m:e>
                      </m:d>
                    </m:oMath>
                  </m:oMathPara>
                </a14:m>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64÷−8∙4</m:t>
                      </m:r>
                    </m:oMath>
                  </m:oMathPara>
                </a14:m>
                <a:endParaRPr lang="en-US" sz="2000" i="1" dirty="0">
                  <a:latin typeface="Verdana" charset="0"/>
                  <a:ea typeface="Verdana" charset="0"/>
                  <a:cs typeface="Verdana" charset="0"/>
                </a:endParaRPr>
              </a:p>
              <a:p>
                <a:pPr marL="457200" lvl="4" indent="-457200">
                  <a:buFont typeface="+mj-lt"/>
                  <a:buAutoNum type="alphaLcPeriod"/>
                </a:pPr>
                <a:endParaRPr lang="en-US" sz="2000" dirty="0">
                  <a:latin typeface="Verdana" charset="0"/>
                  <a:ea typeface="Verdana" charset="0"/>
                  <a:cs typeface="Verdana" charset="0"/>
                </a:endParaRPr>
              </a:p>
              <a:p>
                <a:pPr marL="914400" lvl="4" indent="-457200">
                  <a:buFont typeface="+mj-lt"/>
                  <a:buAutoNum type="alphaLcPeriod"/>
                </a:pPr>
                <a:r>
                  <a:rPr lang="en-US" sz="2000" dirty="0">
                    <a:latin typeface="Verdana" charset="0"/>
                    <a:ea typeface="Verdana" charset="0"/>
                    <a:cs typeface="Verdana" charset="0"/>
                  </a:rPr>
                  <a:t>Mia thinks that she could finish her work by either finding </a:t>
                </a:r>
                <a14:m>
                  <m:oMath xmlns:m="http://schemas.openxmlformats.org/officeDocument/2006/math">
                    <m:r>
                      <a:rPr lang="en-US" sz="2000" i="1">
                        <a:latin typeface="Cambria Math" charset="0"/>
                        <a:ea typeface="Verdana" charset="0"/>
                        <a:cs typeface="Verdana" charset="0"/>
                      </a:rPr>
                      <m:t>64÷−8</m:t>
                    </m:r>
                  </m:oMath>
                </a14:m>
                <a:r>
                  <a:rPr lang="en-US" sz="2000" dirty="0">
                    <a:latin typeface="Verdana" charset="0"/>
                    <a:ea typeface="Verdana" charset="0"/>
                    <a:cs typeface="Verdana" charset="0"/>
                  </a:rPr>
                  <a:t> or </a:t>
                </a:r>
                <a14:m>
                  <m:oMath xmlns:m="http://schemas.openxmlformats.org/officeDocument/2006/math">
                    <m:r>
                      <a:rPr lang="en-US" sz="2000" i="1">
                        <a:latin typeface="Cambria Math" charset="0"/>
                        <a:ea typeface="Verdana" charset="0"/>
                        <a:cs typeface="Verdana" charset="0"/>
                      </a:rPr>
                      <m:t>−8∙4</m:t>
                    </m:r>
                  </m:oMath>
                </a14:m>
                <a:r>
                  <a:rPr lang="en-US" sz="2000" dirty="0">
                    <a:latin typeface="Verdana" charset="0"/>
                    <a:ea typeface="Verdana" charset="0"/>
                    <a:cs typeface="Verdana" charset="0"/>
                  </a:rPr>
                  <a:t> first. Show the work for both possibilities to determine if Mia is correct.</a:t>
                </a:r>
                <a:endParaRPr lang="en-US" sz="2000" i="1" dirty="0">
                  <a:latin typeface="Verdana" charset="0"/>
                  <a:ea typeface="Verdana" charset="0"/>
                  <a:cs typeface="Verdana" charset="0"/>
                </a:endParaRPr>
              </a:p>
              <a:p>
                <a:pPr marL="914400" lvl="4" indent="-457200">
                  <a:buFont typeface="+mj-lt"/>
                  <a:buAutoNum type="alphaLcPeriod"/>
                </a:pPr>
                <a:endParaRPr lang="en-US" sz="2000" i="1" dirty="0">
                  <a:latin typeface="Verdana" charset="0"/>
                  <a:ea typeface="Verdana" charset="0"/>
                  <a:cs typeface="Verdana" charset="0"/>
                </a:endParaRPr>
              </a:p>
              <a:p>
                <a:pPr marL="914400" lvl="4" indent="-457200">
                  <a:buFont typeface="+mj-lt"/>
                  <a:buAutoNum type="alphaLcPeriod"/>
                </a:pPr>
                <a:r>
                  <a:rPr lang="en-US" sz="2000" dirty="0">
                    <a:latin typeface="Verdana" charset="0"/>
                    <a:ea typeface="Verdana" charset="0"/>
                    <a:cs typeface="Verdana" charset="0"/>
                  </a:rPr>
                  <a:t>Was Mia correct when she stated that both methods would work? Use the steps of the order of operations to justify whether or not Mia is correct. </a:t>
                </a:r>
                <a:endParaRPr lang="en-US" sz="2000" i="1" dirty="0">
                  <a:latin typeface="Verdana" charset="0"/>
                  <a:ea typeface="Verdana" charset="0"/>
                  <a:cs typeface="Verdana" charset="0"/>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731520" y="1341053"/>
                <a:ext cx="10799064" cy="3785652"/>
              </a:xfrm>
              <a:prstGeom prst="rect">
                <a:avLst/>
              </a:prstGeom>
              <a:blipFill rotWithShape="1">
                <a:blip r:embed="rId5"/>
                <a:stretch>
                  <a:fillRect l="-564" t="-966" b="-1932"/>
                </a:stretch>
              </a:blipFill>
            </p:spPr>
            <p:txBody>
              <a:bodyPr/>
              <a:lstStyle/>
              <a:p>
                <a:r>
                  <a:rPr lang="en-US">
                    <a:noFill/>
                  </a:rPr>
                  <a:t> </a:t>
                </a:r>
              </a:p>
            </p:txBody>
          </p:sp>
        </mc:Fallback>
      </mc:AlternateContent>
    </p:spTree>
    <p:extLst>
      <p:ext uri="{BB962C8B-B14F-4D97-AF65-F5344CB8AC3E}">
        <p14:creationId xmlns:p14="http://schemas.microsoft.com/office/powerpoint/2010/main" val="2028878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498742" y="406150"/>
                <a:ext cx="11032369" cy="2816156"/>
              </a:xfrm>
              <a:prstGeom prst="rect">
                <a:avLst/>
              </a:prstGeom>
              <a:noFill/>
            </p:spPr>
            <p:txBody>
              <a:bodyPr wrap="square" rtlCol="0">
                <a:spAutoFit/>
              </a:bodyPr>
              <a:lstStyle/>
              <a:p>
                <a:pPr marL="457200" indent="-457200">
                  <a:spcAft>
                    <a:spcPts val="2000"/>
                  </a:spcAft>
                  <a:buFont typeface="+mj-lt"/>
                  <a:buAutoNum type="arabicPeriod" startAt="2"/>
                </a:pPr>
                <a:r>
                  <a:rPr lang="en-US" sz="2000" dirty="0">
                    <a:latin typeface="Verdana" charset="0"/>
                    <a:ea typeface="Verdana" charset="0"/>
                    <a:cs typeface="Verdana" charset="0"/>
                  </a:rPr>
                  <a:t>Answer the following problems.</a:t>
                </a:r>
              </a:p>
              <a:p>
                <a:pPr marL="914400" lvl="4" indent="-457200">
                  <a:lnSpc>
                    <a:spcPct val="107000"/>
                  </a:lnSpc>
                  <a:spcAft>
                    <a:spcPts val="2000"/>
                  </a:spcAft>
                  <a:buFont typeface="+mj-lt"/>
                  <a:buAutoNum type="alphaLcPeriod"/>
                </a:pPr>
                <a:r>
                  <a:rPr lang="en-US" sz="2000" dirty="0">
                    <a:latin typeface="Verdana" charset="0"/>
                    <a:ea typeface="Verdana" charset="0"/>
                    <a:cs typeface="Verdana" charset="0"/>
                  </a:rPr>
                  <a:t>Evaluate </a:t>
                </a:r>
                <a14:m>
                  <m:oMath xmlns:m="http://schemas.openxmlformats.org/officeDocument/2006/math">
                    <m:r>
                      <a:rPr lang="en-US" sz="2000" i="1">
                        <a:latin typeface="Cambria Math" charset="0"/>
                        <a:ea typeface="Cambria Math" charset="0"/>
                        <a:cs typeface="Cambria Math" charset="0"/>
                      </a:rPr>
                      <m:t>𝑟</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𝑊</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𝑥</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𝑚</m:t>
                    </m:r>
                  </m:oMath>
                </a14:m>
                <a:r>
                  <a:rPr lang="en-US" sz="2000" dirty="0">
                    <a:latin typeface="Verdana" charset="0"/>
                    <a:ea typeface="Verdana" charset="0"/>
                    <a:cs typeface="Verdana" charset="0"/>
                  </a:rPr>
                  <a:t> when </a:t>
                </a:r>
                <a14:m>
                  <m:oMath xmlns:m="http://schemas.openxmlformats.org/officeDocument/2006/math">
                    <m:r>
                      <a:rPr lang="en-US" sz="2000" i="1">
                        <a:latin typeface="Cambria Math" charset="0"/>
                        <a:ea typeface="Cambria Math" charset="0"/>
                        <a:cs typeface="Cambria Math" charset="0"/>
                      </a:rPr>
                      <m:t>𝑚</m:t>
                    </m:r>
                    <m:r>
                      <a:rPr lang="en-US" sz="2000" i="1">
                        <a:latin typeface="Cambria Math" charset="0"/>
                        <a:ea typeface="Cambria Math" charset="0"/>
                        <a:cs typeface="Cambria Math" charset="0"/>
                      </a:rPr>
                      <m:t>=2,  </m:t>
                    </m:r>
                    <m:r>
                      <a:rPr lang="en-US" sz="2000" i="1">
                        <a:latin typeface="Cambria Math" charset="0"/>
                        <a:ea typeface="Cambria Math" charset="0"/>
                        <a:cs typeface="Cambria Math" charset="0"/>
                      </a:rPr>
                      <m:t>𝑟</m:t>
                    </m:r>
                    <m:r>
                      <a:rPr lang="en-US" sz="2000" i="1">
                        <a:latin typeface="Cambria Math" charset="0"/>
                        <a:ea typeface="Cambria Math" charset="0"/>
                        <a:cs typeface="Cambria Math" charset="0"/>
                      </a:rPr>
                      <m:t>=−4,  </m:t>
                    </m:r>
                    <m:r>
                      <a:rPr lang="en-US" sz="2000" i="1">
                        <a:latin typeface="Cambria Math" charset="0"/>
                        <a:ea typeface="Cambria Math" charset="0"/>
                        <a:cs typeface="Cambria Math" charset="0"/>
                      </a:rPr>
                      <m:t>𝑊</m:t>
                    </m:r>
                    <m:r>
                      <a:rPr lang="en-US" sz="2000" i="1">
                        <a:latin typeface="Cambria Math" charset="0"/>
                        <a:ea typeface="Cambria Math" charset="0"/>
                        <a:cs typeface="Cambria Math" charset="0"/>
                      </a:rPr>
                      <m:t>=−60,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Cambria Math" charset="0"/>
                        <a:cs typeface="Cambria Math" charset="0"/>
                      </a:rPr>
                      <m:t>𝑥</m:t>
                    </m:r>
                    <m:r>
                      <a:rPr lang="en-US" sz="2000" i="1">
                        <a:latin typeface="Cambria Math" charset="0"/>
                        <a:ea typeface="Cambria Math" charset="0"/>
                        <a:cs typeface="Cambria Math" charset="0"/>
                      </a:rPr>
                      <m:t>=−10</m:t>
                    </m:r>
                  </m:oMath>
                </a14:m>
                <a:r>
                  <a:rPr lang="en-US" sz="2000" dirty="0">
                    <a:latin typeface="Verdana" charset="0"/>
                    <a:ea typeface="Verdana" charset="0"/>
                    <a:cs typeface="Verdana" charset="0"/>
                  </a:rPr>
                  <a:t>. </a:t>
                </a:r>
                <a:br>
                  <a:rPr lang="en-US" sz="2000" dirty="0">
                    <a:latin typeface="Verdana" charset="0"/>
                    <a:ea typeface="Verdana" charset="0"/>
                    <a:cs typeface="Verdana" charset="0"/>
                  </a:rPr>
                </a:br>
                <a:r>
                  <a:rPr lang="en-US" sz="2000" dirty="0">
                    <a:latin typeface="Verdana" charset="0"/>
                    <a:ea typeface="Verdana" charset="0"/>
                    <a:cs typeface="Verdana" charset="0"/>
                  </a:rPr>
                  <a:t>Show your work.</a:t>
                </a:r>
              </a:p>
              <a:p>
                <a:pPr marL="914400" lvl="4" indent="-457200">
                  <a:lnSpc>
                    <a:spcPct val="107000"/>
                  </a:lnSpc>
                  <a:spcAft>
                    <a:spcPts val="2000"/>
                  </a:spcAft>
                  <a:buFont typeface="+mj-lt"/>
                  <a:buAutoNum type="alphaLcPeriod"/>
                </a:pPr>
                <a:r>
                  <a:rPr lang="en-US" sz="2000" dirty="0">
                    <a:latin typeface="Verdana" charset="0"/>
                    <a:ea typeface="Verdana" charset="0"/>
                    <a:cs typeface="Verdana" charset="0"/>
                  </a:rPr>
                  <a:t>Evaluate </a:t>
                </a:r>
                <a14:m>
                  <m:oMath xmlns:m="http://schemas.openxmlformats.org/officeDocument/2006/math">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𝑟</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𝑊</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𝑥</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𝑚</m:t>
                    </m:r>
                  </m:oMath>
                </a14:m>
                <a:r>
                  <a:rPr lang="en-US" sz="2000" dirty="0">
                    <a:latin typeface="Cambria Math" charset="0"/>
                    <a:ea typeface="Cambria Math" charset="0"/>
                    <a:cs typeface="Cambria Math" charset="0"/>
                  </a:rPr>
                  <a:t>)</a:t>
                </a:r>
                <a:r>
                  <a:rPr lang="en-US" sz="2000" dirty="0">
                    <a:latin typeface="Verdana" charset="0"/>
                    <a:ea typeface="Verdana" charset="0"/>
                    <a:cs typeface="Verdana" charset="0"/>
                  </a:rPr>
                  <a:t> when</a:t>
                </a:r>
                <a14:m>
                  <m:oMath xmlns:m="http://schemas.openxmlformats.org/officeDocument/2006/math">
                    <m:r>
                      <a:rPr lang="en-US" sz="2000" i="1">
                        <a:latin typeface="Cambria Math" charset="0"/>
                        <a:ea typeface="Cambria Math" charset="0"/>
                        <a:cs typeface="Cambria Math" charset="0"/>
                      </a:rPr>
                      <m:t> </m:t>
                    </m:r>
                    <m:r>
                      <a:rPr lang="en-US" sz="2000" i="1">
                        <a:latin typeface="Cambria Math" charset="0"/>
                        <a:ea typeface="Cambria Math" charset="0"/>
                        <a:cs typeface="Cambria Math" charset="0"/>
                      </a:rPr>
                      <m:t>𝑚</m:t>
                    </m:r>
                    <m:r>
                      <a:rPr lang="en-US" sz="2000" i="1">
                        <a:latin typeface="Cambria Math" charset="0"/>
                        <a:ea typeface="Cambria Math" charset="0"/>
                        <a:cs typeface="Cambria Math" charset="0"/>
                      </a:rPr>
                      <m:t>=2,  </m:t>
                    </m:r>
                    <m:r>
                      <a:rPr lang="en-US" sz="2000" i="1">
                        <a:latin typeface="Cambria Math" charset="0"/>
                        <a:ea typeface="Cambria Math" charset="0"/>
                        <a:cs typeface="Cambria Math" charset="0"/>
                      </a:rPr>
                      <m:t>𝑟</m:t>
                    </m:r>
                    <m:r>
                      <a:rPr lang="en-US" sz="2000" i="1">
                        <a:latin typeface="Cambria Math" charset="0"/>
                        <a:ea typeface="Cambria Math" charset="0"/>
                        <a:cs typeface="Cambria Math" charset="0"/>
                      </a:rPr>
                      <m:t>=−4,  </m:t>
                    </m:r>
                    <m:r>
                      <a:rPr lang="en-US" sz="2000" i="1">
                        <a:latin typeface="Cambria Math" charset="0"/>
                        <a:ea typeface="Cambria Math" charset="0"/>
                        <a:cs typeface="Cambria Math" charset="0"/>
                      </a:rPr>
                      <m:t>𝑊</m:t>
                    </m:r>
                    <m:r>
                      <a:rPr lang="en-US" sz="2000" i="1">
                        <a:latin typeface="Cambria Math" charset="0"/>
                        <a:ea typeface="Cambria Math" charset="0"/>
                        <a:cs typeface="Cambria Math" charset="0"/>
                      </a:rPr>
                      <m:t>=−60,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Cambria Math" charset="0"/>
                        <a:cs typeface="Cambria Math" charset="0"/>
                      </a:rPr>
                      <m:t>𝑥</m:t>
                    </m:r>
                    <m:r>
                      <a:rPr lang="en-US" sz="2000" i="1">
                        <a:latin typeface="Cambria Math" charset="0"/>
                        <a:ea typeface="Cambria Math" charset="0"/>
                        <a:cs typeface="Cambria Math" charset="0"/>
                      </a:rPr>
                      <m:t>=−10</m:t>
                    </m:r>
                  </m:oMath>
                </a14:m>
                <a:r>
                  <a:rPr lang="en-US" sz="2000" dirty="0">
                    <a:latin typeface="Verdana" charset="0"/>
                    <a:ea typeface="Verdana" charset="0"/>
                    <a:cs typeface="Verdana" charset="0"/>
                  </a:rPr>
                  <a:t>. </a:t>
                </a:r>
                <a:br>
                  <a:rPr lang="en-US" sz="2000" dirty="0">
                    <a:latin typeface="Verdana" charset="0"/>
                    <a:ea typeface="Verdana" charset="0"/>
                    <a:cs typeface="Verdana" charset="0"/>
                  </a:rPr>
                </a:br>
                <a:r>
                  <a:rPr lang="en-US" sz="2000" dirty="0">
                    <a:latin typeface="Verdana" charset="0"/>
                    <a:ea typeface="Verdana" charset="0"/>
                    <a:cs typeface="Verdana" charset="0"/>
                  </a:rPr>
                  <a:t>Show your work.</a:t>
                </a:r>
              </a:p>
              <a:p>
                <a:pPr marL="914400" lvl="4" indent="-457200">
                  <a:lnSpc>
                    <a:spcPct val="107000"/>
                  </a:lnSpc>
                  <a:buFont typeface="+mj-lt"/>
                  <a:buAutoNum type="alphaLcPeriod"/>
                </a:pPr>
                <a:r>
                  <a:rPr lang="en-US" sz="2000" dirty="0">
                    <a:latin typeface="Verdana" charset="0"/>
                    <a:ea typeface="Verdana" charset="0"/>
                    <a:cs typeface="Verdana" charset="0"/>
                  </a:rPr>
                  <a:t>How did the use of parentheses change the answers?</a:t>
                </a:r>
                <a:endParaRPr lang="en-US" sz="2000" i="1" dirty="0">
                  <a:latin typeface="Cambria Math" charset="0"/>
                  <a:ea typeface="Cambria Math" charset="0"/>
                  <a:cs typeface="Cambria Math" charset="0"/>
                </a:endParaRPr>
              </a:p>
            </p:txBody>
          </p:sp>
        </mc:Choice>
        <mc:Fallback xmlns="">
          <p:sp>
            <p:nvSpPr>
              <p:cNvPr id="5" name="TextBox 4">
                <a:extLst>
                  <a:ext uri="{FF2B5EF4-FFF2-40B4-BE49-F238E27FC236}">
                    <a16:creationId xmlns:a16="http://schemas.microsoft.com/office/drawing/2014/main" xmlns="" id="{22347CCE-34A7-8044-BA67-B5895157AE55}"/>
                  </a:ext>
                </a:extLst>
              </p:cNvPr>
              <p:cNvSpPr txBox="1">
                <a:spLocks noRot="1" noChangeAspect="1" noMove="1" noResize="1" noEditPoints="1" noAdjustHandles="1" noChangeArrowheads="1" noChangeShapeType="1" noTextEdit="1"/>
              </p:cNvSpPr>
              <p:nvPr/>
            </p:nvSpPr>
            <p:spPr>
              <a:xfrm>
                <a:off x="498742" y="406150"/>
                <a:ext cx="11032369" cy="2816156"/>
              </a:xfrm>
              <a:prstGeom prst="rect">
                <a:avLst/>
              </a:prstGeom>
              <a:blipFill rotWithShape="1">
                <a:blip r:embed="rId4"/>
                <a:stretch>
                  <a:fillRect l="-608" t="-1299" b="-1948"/>
                </a:stretch>
              </a:blipFill>
            </p:spPr>
            <p:txBody>
              <a:bodyPr/>
              <a:lstStyle/>
              <a:p>
                <a:r>
                  <a:rPr lang="en-US">
                    <a:noFill/>
                  </a:rPr>
                  <a:t> </a:t>
                </a:r>
              </a:p>
            </p:txBody>
          </p:sp>
        </mc:Fallback>
      </mc:AlternateContent>
    </p:spTree>
    <p:extLst>
      <p:ext uri="{BB962C8B-B14F-4D97-AF65-F5344CB8AC3E}">
        <p14:creationId xmlns:p14="http://schemas.microsoft.com/office/powerpoint/2010/main" val="1277813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2347CCE-34A7-8044-BA67-B5895157AE55}"/>
                  </a:ext>
                </a:extLst>
              </p:cNvPr>
              <p:cNvSpPr txBox="1"/>
              <p:nvPr/>
            </p:nvSpPr>
            <p:spPr>
              <a:xfrm>
                <a:off x="498742" y="406150"/>
                <a:ext cx="11032369" cy="2816156"/>
              </a:xfrm>
              <a:prstGeom prst="rect">
                <a:avLst/>
              </a:prstGeom>
              <a:noFill/>
            </p:spPr>
            <p:txBody>
              <a:bodyPr wrap="square" rtlCol="0">
                <a:spAutoFit/>
              </a:bodyPr>
              <a:lstStyle/>
              <a:p>
                <a:pPr marL="457200" indent="-457200">
                  <a:spcAft>
                    <a:spcPts val="2000"/>
                  </a:spcAft>
                  <a:buFont typeface="+mj-lt"/>
                  <a:buAutoNum type="arabicPeriod" startAt="3"/>
                </a:pPr>
                <a:r>
                  <a:rPr lang="en-US" sz="2000" dirty="0">
                    <a:latin typeface="Verdana" charset="0"/>
                    <a:ea typeface="Verdana" charset="0"/>
                    <a:cs typeface="Verdana" charset="0"/>
                  </a:rPr>
                  <a:t>Answer the following problems.</a:t>
                </a:r>
              </a:p>
              <a:p>
                <a:pPr marL="914400" lvl="1" indent="-457200">
                  <a:lnSpc>
                    <a:spcPct val="107000"/>
                  </a:lnSpc>
                  <a:spcAft>
                    <a:spcPts val="2000"/>
                  </a:spcAft>
                  <a:buFont typeface="+mj-lt"/>
                  <a:buAutoNum type="alphaLcPeriod"/>
                </a:pPr>
                <a:r>
                  <a:rPr lang="en-US" sz="2000" dirty="0">
                    <a:latin typeface="Verdana" charset="0"/>
                    <a:ea typeface="Verdana" charset="0"/>
                    <a:cs typeface="Verdana" charset="0"/>
                  </a:rPr>
                  <a:t>Evaluate </a:t>
                </a:r>
                <a14:m>
                  <m:oMath xmlns:m="http://schemas.openxmlformats.org/officeDocument/2006/math">
                    <m:r>
                      <a:rPr lang="en-US" sz="2000" i="1">
                        <a:latin typeface="Cambria Math" charset="0"/>
                        <a:ea typeface="Cambria Math" charset="0"/>
                        <a:cs typeface="Cambria Math" charset="0"/>
                      </a:rPr>
                      <m:t>𝑑</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𝑘</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𝑦</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𝐵</m:t>
                    </m:r>
                  </m:oMath>
                </a14:m>
                <a:r>
                  <a:rPr lang="en-US" sz="2000" dirty="0">
                    <a:latin typeface="Verdana" charset="0"/>
                    <a:ea typeface="Verdana" charset="0"/>
                    <a:cs typeface="Verdana" charset="0"/>
                  </a:rPr>
                  <a:t> when </a:t>
                </a:r>
                <a14:m>
                  <m:oMath xmlns:m="http://schemas.openxmlformats.org/officeDocument/2006/math">
                    <m:r>
                      <a:rPr lang="en-US" sz="2000" i="1">
                        <a:latin typeface="Cambria Math" charset="0"/>
                        <a:ea typeface="Cambria Math" charset="0"/>
                        <a:cs typeface="Cambria Math" charset="0"/>
                      </a:rPr>
                      <m:t>𝐵</m:t>
                    </m:r>
                    <m:r>
                      <a:rPr lang="en-US" sz="2000" i="1">
                        <a:latin typeface="Cambria Math" charset="0"/>
                        <a:ea typeface="Cambria Math" charset="0"/>
                        <a:cs typeface="Cambria Math" charset="0"/>
                      </a:rPr>
                      <m:t>=3,  </m:t>
                    </m:r>
                    <m:r>
                      <a:rPr lang="en-US" sz="2000" i="1">
                        <a:latin typeface="Cambria Math" charset="0"/>
                        <a:ea typeface="Cambria Math" charset="0"/>
                        <a:cs typeface="Cambria Math" charset="0"/>
                      </a:rPr>
                      <m:t>𝑑</m:t>
                    </m:r>
                    <m:r>
                      <a:rPr lang="en-US" sz="2000" i="1">
                        <a:latin typeface="Cambria Math" charset="0"/>
                        <a:ea typeface="Cambria Math" charset="0"/>
                        <a:cs typeface="Cambria Math" charset="0"/>
                      </a:rPr>
                      <m:t>=−72,  </m:t>
                    </m:r>
                    <m:r>
                      <a:rPr lang="en-US" sz="2000" i="1">
                        <a:latin typeface="Cambria Math" charset="0"/>
                        <a:ea typeface="Cambria Math" charset="0"/>
                        <a:cs typeface="Cambria Math" charset="0"/>
                      </a:rPr>
                      <m:t>𝑘</m:t>
                    </m:r>
                    <m:r>
                      <a:rPr lang="en-US" sz="2000" i="1">
                        <a:latin typeface="Cambria Math" charset="0"/>
                        <a:ea typeface="Cambria Math" charset="0"/>
                        <a:cs typeface="Cambria Math" charset="0"/>
                      </a:rPr>
                      <m:t>=−6,</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Cambria Math" charset="0"/>
                        <a:cs typeface="Cambria Math" charset="0"/>
                      </a:rPr>
                      <m:t>𝑦</m:t>
                    </m:r>
                    <m:r>
                      <a:rPr lang="en-US" sz="2000" i="1">
                        <a:latin typeface="Cambria Math" charset="0"/>
                        <a:ea typeface="Cambria Math" charset="0"/>
                        <a:cs typeface="Cambria Math" charset="0"/>
                      </a:rPr>
                      <m:t>=9</m:t>
                    </m:r>
                  </m:oMath>
                </a14:m>
                <a:r>
                  <a:rPr lang="en-US" sz="2000" dirty="0">
                    <a:latin typeface="Verdana" charset="0"/>
                    <a:ea typeface="Verdana" charset="0"/>
                    <a:cs typeface="Verdana" charset="0"/>
                  </a:rPr>
                  <a:t>. </a:t>
                </a:r>
                <a:br>
                  <a:rPr lang="en-US" sz="2000" dirty="0">
                    <a:latin typeface="Verdana" charset="0"/>
                    <a:ea typeface="Verdana" charset="0"/>
                    <a:cs typeface="Verdana" charset="0"/>
                  </a:rPr>
                </a:br>
                <a:r>
                  <a:rPr lang="en-US" sz="2000" dirty="0">
                    <a:latin typeface="Verdana" charset="0"/>
                    <a:ea typeface="Verdana" charset="0"/>
                    <a:cs typeface="Verdana" charset="0"/>
                  </a:rPr>
                  <a:t>Show your work.</a:t>
                </a:r>
              </a:p>
              <a:p>
                <a:pPr marL="914400" lvl="1" indent="-457200">
                  <a:lnSpc>
                    <a:spcPct val="107000"/>
                  </a:lnSpc>
                  <a:spcAft>
                    <a:spcPts val="2000"/>
                  </a:spcAft>
                  <a:buFont typeface="+mj-lt"/>
                  <a:buAutoNum type="alphaLcPeriod"/>
                </a:pPr>
                <a:r>
                  <a:rPr lang="en-US" sz="2000" dirty="0">
                    <a:latin typeface="Verdana" charset="0"/>
                    <a:ea typeface="Verdana" charset="0"/>
                    <a:cs typeface="Verdana" charset="0"/>
                  </a:rPr>
                  <a:t>Evaluate </a:t>
                </a:r>
                <a14:m>
                  <m:oMath xmlns:m="http://schemas.openxmlformats.org/officeDocument/2006/math">
                    <m:r>
                      <a:rPr lang="en-US" sz="2000" i="1">
                        <a:latin typeface="Cambria Math" charset="0"/>
                        <a:ea typeface="Cambria Math" charset="0"/>
                        <a:cs typeface="Cambria Math" charset="0"/>
                      </a:rPr>
                      <m:t>𝑑</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𝑘</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𝑦</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𝐵</m:t>
                    </m:r>
                  </m:oMath>
                </a14:m>
                <a:r>
                  <a:rPr lang="en-US" sz="2000" dirty="0">
                    <a:latin typeface="Verdana" charset="0"/>
                    <a:ea typeface="Verdana" charset="0"/>
                    <a:cs typeface="Verdana" charset="0"/>
                  </a:rPr>
                  <a:t> when</a:t>
                </a:r>
                <a14:m>
                  <m:oMath xmlns:m="http://schemas.openxmlformats.org/officeDocument/2006/math">
                    <m:r>
                      <a:rPr lang="en-US" sz="2000" i="1">
                        <a:latin typeface="Cambria Math" charset="0"/>
                        <a:ea typeface="Cambria Math" charset="0"/>
                        <a:cs typeface="Cambria Math" charset="0"/>
                      </a:rPr>
                      <m:t> </m:t>
                    </m:r>
                    <m:r>
                      <a:rPr lang="en-US" sz="2000" i="1">
                        <a:latin typeface="Cambria Math" charset="0"/>
                        <a:ea typeface="Cambria Math" charset="0"/>
                        <a:cs typeface="Cambria Math" charset="0"/>
                      </a:rPr>
                      <m:t>𝐵</m:t>
                    </m:r>
                    <m:r>
                      <a:rPr lang="en-US" sz="2000" i="1">
                        <a:latin typeface="Cambria Math" charset="0"/>
                        <a:ea typeface="Cambria Math" charset="0"/>
                        <a:cs typeface="Cambria Math" charset="0"/>
                      </a:rPr>
                      <m:t>=3,  </m:t>
                    </m:r>
                    <m:r>
                      <a:rPr lang="en-US" sz="2000" i="1">
                        <a:latin typeface="Cambria Math" charset="0"/>
                        <a:ea typeface="Cambria Math" charset="0"/>
                        <a:cs typeface="Cambria Math" charset="0"/>
                      </a:rPr>
                      <m:t>𝑑</m:t>
                    </m:r>
                    <m:r>
                      <a:rPr lang="en-US" sz="2000" i="1">
                        <a:latin typeface="Cambria Math" charset="0"/>
                        <a:ea typeface="Cambria Math" charset="0"/>
                        <a:cs typeface="Cambria Math" charset="0"/>
                      </a:rPr>
                      <m:t>=−72,  </m:t>
                    </m:r>
                    <m:r>
                      <a:rPr lang="en-US" sz="2000" i="1">
                        <a:latin typeface="Cambria Math" charset="0"/>
                        <a:ea typeface="Cambria Math" charset="0"/>
                        <a:cs typeface="Cambria Math" charset="0"/>
                      </a:rPr>
                      <m:t>𝑘</m:t>
                    </m:r>
                    <m:r>
                      <a:rPr lang="en-US" sz="2000" i="1">
                        <a:latin typeface="Cambria Math" charset="0"/>
                        <a:ea typeface="Cambria Math" charset="0"/>
                        <a:cs typeface="Cambria Math" charset="0"/>
                      </a:rPr>
                      <m:t>=−6,</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Cambria Math" charset="0"/>
                        <a:cs typeface="Cambria Math" charset="0"/>
                      </a:rPr>
                      <m:t>𝑦</m:t>
                    </m:r>
                    <m:r>
                      <a:rPr lang="en-US" sz="2000" i="1">
                        <a:latin typeface="Cambria Math" charset="0"/>
                        <a:ea typeface="Cambria Math" charset="0"/>
                        <a:cs typeface="Cambria Math" charset="0"/>
                      </a:rPr>
                      <m:t>=9</m:t>
                    </m:r>
                  </m:oMath>
                </a14:m>
                <a:r>
                  <a:rPr lang="en-US" sz="2000" dirty="0">
                    <a:latin typeface="Verdana" charset="0"/>
                    <a:ea typeface="Verdana" charset="0"/>
                    <a:cs typeface="Verdana" charset="0"/>
                  </a:rPr>
                  <a:t>. </a:t>
                </a:r>
                <a:br>
                  <a:rPr lang="en-US" sz="2000" dirty="0">
                    <a:latin typeface="Verdana" charset="0"/>
                    <a:ea typeface="Verdana" charset="0"/>
                    <a:cs typeface="Verdana" charset="0"/>
                  </a:rPr>
                </a:br>
                <a:r>
                  <a:rPr lang="en-US" sz="2000" dirty="0">
                    <a:latin typeface="Verdana" charset="0"/>
                    <a:ea typeface="Verdana" charset="0"/>
                    <a:cs typeface="Verdana" charset="0"/>
                  </a:rPr>
                  <a:t>Show your work.</a:t>
                </a:r>
              </a:p>
              <a:p>
                <a:pPr marL="914400" lvl="1" indent="-457200">
                  <a:lnSpc>
                    <a:spcPct val="107000"/>
                  </a:lnSpc>
                  <a:buFont typeface="+mj-lt"/>
                  <a:buAutoNum type="alphaLcPeriod"/>
                </a:pPr>
                <a:r>
                  <a:rPr lang="en-US" sz="2000" dirty="0">
                    <a:latin typeface="Verdana" charset="0"/>
                    <a:ea typeface="Verdana" charset="0"/>
                    <a:cs typeface="Verdana" charset="0"/>
                  </a:rPr>
                  <a:t>How did rearranging the operations change the answers?</a:t>
                </a:r>
                <a:endParaRPr lang="en-US" sz="2000" i="1" dirty="0">
                  <a:latin typeface="Cambria Math" charset="0"/>
                  <a:ea typeface="Cambria Math" charset="0"/>
                  <a:cs typeface="Cambria Math" charset="0"/>
                </a:endParaRPr>
              </a:p>
            </p:txBody>
          </p:sp>
        </mc:Choice>
        <mc:Fallback xmlns="">
          <p:sp>
            <p:nvSpPr>
              <p:cNvPr id="7" name="TextBox 6">
                <a:extLst>
                  <a:ext uri="{FF2B5EF4-FFF2-40B4-BE49-F238E27FC236}">
                    <a16:creationId xmlns:a16="http://schemas.microsoft.com/office/drawing/2014/main" xmlns="" id="{22347CCE-34A7-8044-BA67-B5895157AE55}"/>
                  </a:ext>
                </a:extLst>
              </p:cNvPr>
              <p:cNvSpPr txBox="1">
                <a:spLocks noRot="1" noChangeAspect="1" noMove="1" noResize="1" noEditPoints="1" noAdjustHandles="1" noChangeArrowheads="1" noChangeShapeType="1" noTextEdit="1"/>
              </p:cNvSpPr>
              <p:nvPr/>
            </p:nvSpPr>
            <p:spPr>
              <a:xfrm>
                <a:off x="498742" y="406150"/>
                <a:ext cx="11032369" cy="2816156"/>
              </a:xfrm>
              <a:prstGeom prst="rect">
                <a:avLst/>
              </a:prstGeom>
              <a:blipFill rotWithShape="1">
                <a:blip r:embed="rId3"/>
                <a:stretch>
                  <a:fillRect l="-608" t="-1299" b="-1948"/>
                </a:stretch>
              </a:blipFill>
            </p:spPr>
            <p:txBody>
              <a:bodyPr/>
              <a:lstStyle/>
              <a:p>
                <a:r>
                  <a:rPr lang="en-US">
                    <a:noFill/>
                  </a:rPr>
                  <a:t> </a:t>
                </a:r>
              </a:p>
            </p:txBody>
          </p:sp>
        </mc:Fallback>
      </mc:AlternateContent>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249</a:t>
            </a:r>
          </a:p>
        </p:txBody>
      </p:sp>
    </p:spTree>
    <p:extLst>
      <p:ext uri="{BB962C8B-B14F-4D97-AF65-F5344CB8AC3E}">
        <p14:creationId xmlns:p14="http://schemas.microsoft.com/office/powerpoint/2010/main" val="2089193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75952"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2953512" y="2852928"/>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250</a:t>
            </a:r>
          </a:p>
        </p:txBody>
      </p:sp>
    </p:spTree>
    <p:extLst>
      <p:ext uri="{BB962C8B-B14F-4D97-AF65-F5344CB8AC3E}">
        <p14:creationId xmlns:p14="http://schemas.microsoft.com/office/powerpoint/2010/main" val="179083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37332"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11.2.5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897112" y="6464808"/>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250</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730266" y="1370190"/>
                <a:ext cx="10800318" cy="3620478"/>
              </a:xfrm>
              <a:prstGeom prst="rect">
                <a:avLst/>
              </a:prstGeom>
              <a:noFill/>
            </p:spPr>
            <p:txBody>
              <a:bodyPr wrap="square" rtlCol="0">
                <a:spAutoFit/>
              </a:bodyPr>
              <a:lstStyle/>
              <a:p>
                <a:pPr marL="457200" lvl="0" indent="-457200">
                  <a:spcAft>
                    <a:spcPts val="2000"/>
                  </a:spcAft>
                  <a:buFont typeface="+mj-lt"/>
                  <a:buAutoNum type="arabicPeriod"/>
                </a:pPr>
                <a:r>
                  <a:rPr lang="en-US" sz="2000" dirty="0">
                    <a:latin typeface="Verdana" pitchFamily="34" charset="0"/>
                    <a:ea typeface="Verdana" pitchFamily="34" charset="0"/>
                  </a:rPr>
                  <a:t>Answer the following problems.</a:t>
                </a:r>
              </a:p>
              <a:p>
                <a:pPr marL="914400" lvl="1" indent="-457200">
                  <a:lnSpc>
                    <a:spcPct val="107000"/>
                  </a:lnSpc>
                  <a:buFont typeface="Verdana" charset="0"/>
                  <a:buAutoNum type="alphaLcPeriod"/>
                </a:pPr>
                <a:r>
                  <a:rPr lang="en-US" sz="2000" dirty="0">
                    <a:latin typeface="Verdana" charset="0"/>
                    <a:ea typeface="Verdana" charset="0"/>
                    <a:cs typeface="Verdana" charset="0"/>
                  </a:rPr>
                  <a:t>Circle the expressions you think will result in the same value.</a:t>
                </a:r>
              </a:p>
              <a:p>
                <a:pPr marL="914400" lvl="1" indent="-457200">
                  <a:lnSpc>
                    <a:spcPct val="107000"/>
                  </a:lnSpc>
                  <a:buFont typeface="Verdana" charset="0"/>
                  <a:buAutoNum type="alphaLcPeriod"/>
                </a:pPr>
                <a:endParaRPr lang="en-US" sz="2000" dirty="0">
                  <a:latin typeface="Verdana" charset="0"/>
                  <a:ea typeface="Verdana" charset="0"/>
                  <a:cs typeface="Verdana" charset="0"/>
                </a:endParaRPr>
              </a:p>
              <a:p>
                <a:pPr marL="914400" lvl="1" indent="-457200">
                  <a:lnSpc>
                    <a:spcPct val="107000"/>
                  </a:lnSpc>
                  <a:buFont typeface="Verdana" charset="0"/>
                  <a:buAutoNum type="alphaLcPeriod"/>
                </a:pPr>
                <a:endParaRPr lang="en-US" sz="2000" dirty="0">
                  <a:latin typeface="Verdana" charset="0"/>
                  <a:ea typeface="Verdana" charset="0"/>
                  <a:cs typeface="Verdana" charset="0"/>
                </a:endParaRPr>
              </a:p>
              <a:p>
                <a:pPr marL="914400" lvl="1" indent="-457200">
                  <a:lnSpc>
                    <a:spcPct val="107000"/>
                  </a:lnSpc>
                  <a:buFont typeface="Verdana" charset="0"/>
                  <a:buAutoNum type="alphaLcPeriod"/>
                </a:pPr>
                <a:endParaRPr lang="en-US" sz="2000" dirty="0">
                  <a:latin typeface="Verdana" charset="0"/>
                  <a:ea typeface="Verdana" charset="0"/>
                  <a:cs typeface="Verdana" charset="0"/>
                </a:endParaRPr>
              </a:p>
              <a:p>
                <a:pPr marL="914400" lvl="1" indent="-457200">
                  <a:lnSpc>
                    <a:spcPct val="107000"/>
                  </a:lnSpc>
                  <a:buFont typeface="Verdana" charset="0"/>
                  <a:buAutoNum type="alphaLcPeriod"/>
                </a:pPr>
                <a:endParaRPr lang="en-US" sz="2000" dirty="0">
                  <a:latin typeface="Verdana" charset="0"/>
                  <a:ea typeface="Verdana" charset="0"/>
                  <a:cs typeface="Verdana" charset="0"/>
                </a:endParaRPr>
              </a:p>
              <a:p>
                <a:pPr marL="914400" lvl="1" indent="-457200">
                  <a:lnSpc>
                    <a:spcPct val="107000"/>
                  </a:lnSpc>
                  <a:buFont typeface="Verdana" charset="0"/>
                  <a:buAutoNum type="alphaLcPeriod"/>
                </a:pPr>
                <a:r>
                  <a:rPr lang="en-US" sz="2000" dirty="0">
                    <a:latin typeface="Verdana" charset="0"/>
                    <a:ea typeface="Verdana" charset="0"/>
                    <a:cs typeface="Verdana" charset="0"/>
                  </a:rPr>
                  <a:t>Find the value of </a:t>
                </a:r>
                <a14:m>
                  <m:oMath xmlns:m="http://schemas.openxmlformats.org/officeDocument/2006/math">
                    <m:r>
                      <a:rPr lang="en-US" sz="2000" i="1">
                        <a:latin typeface="Cambria Math" charset="0"/>
                        <a:ea typeface="Verdana" charset="0"/>
                        <a:cs typeface="Verdana" charset="0"/>
                      </a:rPr>
                      <m:t>7−</m:t>
                    </m:r>
                    <m:sSup>
                      <m:sSupPr>
                        <m:ctrlPr>
                          <a:rPr lang="en-US" sz="2000" i="1">
                            <a:latin typeface="Cambria Math" panose="02040503050406030204" pitchFamily="18" charset="0"/>
                            <a:ea typeface="Verdana" charset="0"/>
                            <a:cs typeface="Verdana" charset="0"/>
                          </a:rPr>
                        </m:ctrlPr>
                      </m:sSupPr>
                      <m:e>
                        <m:d>
                          <m:dPr>
                            <m:ctrlPr>
                              <a:rPr lang="en-US" sz="2000" i="1">
                                <a:latin typeface="Cambria Math" panose="02040503050406030204" pitchFamily="18" charset="0"/>
                                <a:ea typeface="Verdana" charset="0"/>
                                <a:cs typeface="Verdana" charset="0"/>
                              </a:rPr>
                            </m:ctrlPr>
                          </m:dPr>
                          <m:e>
                            <m:r>
                              <a:rPr lang="en-US" sz="2000" i="1">
                                <a:latin typeface="Cambria Math" charset="0"/>
                                <a:ea typeface="Verdana" charset="0"/>
                                <a:cs typeface="Verdana" charset="0"/>
                              </a:rPr>
                              <m:t>𝑦</m:t>
                            </m:r>
                            <m:r>
                              <a:rPr lang="en-US" sz="2000" i="1">
                                <a:latin typeface="Cambria Math" charset="0"/>
                                <a:ea typeface="Verdana" charset="0"/>
                                <a:cs typeface="Verdana" charset="0"/>
                              </a:rPr>
                              <m:t>−11</m:t>
                            </m:r>
                          </m:e>
                        </m:d>
                      </m:e>
                      <m:sup>
                        <m:r>
                          <a:rPr lang="en-US" sz="2000" i="1">
                            <a:latin typeface="Cambria Math" charset="0"/>
                            <a:ea typeface="Verdana" charset="0"/>
                            <a:cs typeface="Verdana" charset="0"/>
                          </a:rPr>
                          <m:t>2</m:t>
                        </m:r>
                      </m:sup>
                    </m:sSup>
                    <m:r>
                      <a:rPr lang="en-US" sz="2000" i="1">
                        <a:latin typeface="Cambria Math" charset="0"/>
                        <a:ea typeface="Verdana" charset="0"/>
                        <a:cs typeface="Verdana" charset="0"/>
                      </a:rPr>
                      <m:t>+6</m:t>
                    </m:r>
                    <m:r>
                      <a:rPr lang="en-US" sz="2000" i="1">
                        <a:latin typeface="Cambria Math" charset="0"/>
                        <a:ea typeface="Verdana" charset="0"/>
                        <a:cs typeface="Verdana" charset="0"/>
                      </a:rPr>
                      <m:t>𝑉</m:t>
                    </m:r>
                  </m:oMath>
                </a14:m>
                <a:r>
                  <a:rPr lang="en-US" sz="2000" dirty="0">
                    <a:latin typeface="Verdana" charset="0"/>
                    <a:ea typeface="Verdana" charset="0"/>
                    <a:cs typeface="Verdana" charset="0"/>
                  </a:rPr>
                  <a:t> when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 −9 </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𝑦</m:t>
                    </m:r>
                    <m:r>
                      <a:rPr lang="en-US" sz="2000" i="1">
                        <a:latin typeface="Cambria Math" charset="0"/>
                        <a:ea typeface="Verdana" charset="0"/>
                        <a:cs typeface="Verdana" charset="0"/>
                      </a:rPr>
                      <m:t>=4</m:t>
                    </m:r>
                  </m:oMath>
                </a14:m>
                <a:r>
                  <a:rPr lang="en-US" sz="2000" i="1" dirty="0">
                    <a:latin typeface="Verdana" charset="0"/>
                    <a:ea typeface="Verdana" charset="0"/>
                    <a:cs typeface="Verdana" charset="0"/>
                  </a:rPr>
                  <a:t>.</a:t>
                </a:r>
              </a:p>
              <a:p>
                <a:pPr marL="914400" lvl="1" indent="-457200">
                  <a:lnSpc>
                    <a:spcPct val="107000"/>
                  </a:lnSpc>
                  <a:buFont typeface="Verdana" charset="0"/>
                  <a:buAutoNum type="alphaLcPeriod"/>
                </a:pPr>
                <a:endParaRPr lang="en-US" sz="2000" i="1" dirty="0">
                  <a:latin typeface="Verdana" charset="0"/>
                  <a:ea typeface="Verdana" charset="0"/>
                  <a:cs typeface="Verdana" charset="0"/>
                </a:endParaRPr>
              </a:p>
              <a:p>
                <a:pPr marL="914400" lvl="1" indent="-457200">
                  <a:lnSpc>
                    <a:spcPct val="107000"/>
                  </a:lnSpc>
                  <a:buFont typeface="Verdana" charset="0"/>
                  <a:buAutoNum type="alphaLcPeriod"/>
                </a:pPr>
                <a:endParaRPr lang="en-US" sz="2000" i="1" dirty="0">
                  <a:latin typeface="Verdana" charset="0"/>
                  <a:ea typeface="Verdana" charset="0"/>
                  <a:cs typeface="Verdana" charset="0"/>
                </a:endParaRPr>
              </a:p>
              <a:p>
                <a:pPr marL="914400" lvl="1" indent="-457200">
                  <a:lnSpc>
                    <a:spcPct val="107000"/>
                  </a:lnSpc>
                  <a:buFont typeface="Verdana" charset="0"/>
                  <a:buAutoNum type="alphaLcPeriod"/>
                </a:pPr>
                <a:r>
                  <a:rPr lang="en-US" sz="2000" dirty="0">
                    <a:latin typeface="Verdana" charset="0"/>
                    <a:ea typeface="Verdana" charset="0"/>
                    <a:cs typeface="Verdana" charset="0"/>
                  </a:rPr>
                  <a:t>Find the value of </a:t>
                </a:r>
                <a14:m>
                  <m:oMath xmlns:m="http://schemas.openxmlformats.org/officeDocument/2006/math">
                    <m:r>
                      <a:rPr lang="en-US" sz="2000" i="1">
                        <a:latin typeface="Cambria Math" charset="0"/>
                        <a:ea typeface="Verdana" charset="0"/>
                        <a:cs typeface="Verdana" charset="0"/>
                      </a:rPr>
                      <m:t>7−</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𝑦</m:t>
                        </m:r>
                      </m:e>
                      <m:sup>
                        <m:r>
                          <a:rPr lang="en-US" sz="2000" i="1">
                            <a:latin typeface="Cambria Math" charset="0"/>
                            <a:ea typeface="Verdana" charset="0"/>
                            <a:cs typeface="Verdana" charset="0"/>
                          </a:rPr>
                          <m:t>2</m:t>
                        </m:r>
                      </m:sup>
                    </m:sSup>
                    <m:r>
                      <a:rPr lang="en-US" sz="2000" i="1">
                        <a:latin typeface="Cambria Math" charset="0"/>
                        <a:ea typeface="Verdana" charset="0"/>
                        <a:cs typeface="Verdana" charset="0"/>
                      </a:rPr>
                      <m:t>−</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11</m:t>
                        </m:r>
                      </m:e>
                      <m:sup>
                        <m:r>
                          <a:rPr lang="en-US" sz="2000" i="1">
                            <a:latin typeface="Cambria Math" charset="0"/>
                            <a:ea typeface="Verdana" charset="0"/>
                            <a:cs typeface="Verdana" charset="0"/>
                          </a:rPr>
                          <m:t>2</m:t>
                        </m:r>
                      </m:sup>
                    </m:sSup>
                    <m:r>
                      <a:rPr lang="en-US" sz="2000" i="1">
                        <a:latin typeface="Cambria Math" charset="0"/>
                        <a:ea typeface="Verdana" charset="0"/>
                        <a:cs typeface="Verdana" charset="0"/>
                      </a:rPr>
                      <m:t>+6</m:t>
                    </m:r>
                    <m:r>
                      <a:rPr lang="en-US" sz="2000" i="1">
                        <a:latin typeface="Cambria Math" charset="0"/>
                        <a:ea typeface="Verdana" charset="0"/>
                        <a:cs typeface="Verdana" charset="0"/>
                      </a:rPr>
                      <m:t>𝑉</m:t>
                    </m:r>
                  </m:oMath>
                </a14:m>
                <a:r>
                  <a:rPr lang="en-US" sz="2000" dirty="0">
                    <a:latin typeface="Verdana" charset="0"/>
                    <a:ea typeface="Verdana" charset="0"/>
                    <a:cs typeface="Verdana" charset="0"/>
                  </a:rPr>
                  <a:t> when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 −9 </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𝑦</m:t>
                    </m:r>
                    <m:r>
                      <a:rPr lang="en-US" sz="2000" i="1">
                        <a:latin typeface="Cambria Math" charset="0"/>
                        <a:ea typeface="Verdana" charset="0"/>
                        <a:cs typeface="Verdana" charset="0"/>
                      </a:rPr>
                      <m:t>=4</m:t>
                    </m:r>
                  </m:oMath>
                </a14:m>
                <a:r>
                  <a:rPr lang="en-US" sz="2000" i="1" dirty="0">
                    <a:latin typeface="Verdana" charset="0"/>
                    <a:ea typeface="Verdana" charset="0"/>
                    <a:cs typeface="Verdana" charset="0"/>
                  </a:rPr>
                  <a:t>.</a:t>
                </a:r>
              </a:p>
            </p:txBody>
          </p:sp>
        </mc:Choice>
        <mc:Fallback xmlns="">
          <p:sp>
            <p:nvSpPr>
              <p:cNvPr id="12" name="TextBox 11">
                <a:extLst>
                  <a:ext uri="{FF2B5EF4-FFF2-40B4-BE49-F238E27FC236}">
                    <a16:creationId xmlns:a16="http://schemas.microsoft.com/office/drawing/2014/main" xmlns="" id="{759C3E41-93EC-B84D-963F-86A3B15AC1C6}"/>
                  </a:ext>
                </a:extLst>
              </p:cNvPr>
              <p:cNvSpPr txBox="1">
                <a:spLocks noRot="1" noChangeAspect="1" noMove="1" noResize="1" noEditPoints="1" noAdjustHandles="1" noChangeArrowheads="1" noChangeShapeType="1" noTextEdit="1"/>
              </p:cNvSpPr>
              <p:nvPr/>
            </p:nvSpPr>
            <p:spPr>
              <a:xfrm>
                <a:off x="730266" y="1370190"/>
                <a:ext cx="10800318" cy="3620478"/>
              </a:xfrm>
              <a:prstGeom prst="rect">
                <a:avLst/>
              </a:prstGeom>
              <a:blipFill rotWithShape="1">
                <a:blip r:embed="rId5"/>
                <a:stretch>
                  <a:fillRect l="-621" t="-1010" b="-13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4255324677"/>
                  </p:ext>
                </p:extLst>
              </p:nvPr>
            </p:nvGraphicFramePr>
            <p:xfrm>
              <a:off x="1532232" y="2676530"/>
              <a:ext cx="7886700" cy="509370"/>
            </p:xfrm>
            <a:graphic>
              <a:graphicData uri="http://schemas.openxmlformats.org/drawingml/2006/table">
                <a:tbl>
                  <a:tblPr bandRow="1"/>
                  <a:tblGrid>
                    <a:gridCol w="2628677">
                      <a:extLst>
                        <a:ext uri="{9D8B030D-6E8A-4147-A177-3AD203B41FA5}">
                          <a16:colId xmlns:a16="http://schemas.microsoft.com/office/drawing/2014/main" val="20000"/>
                        </a:ext>
                      </a:extLst>
                    </a:gridCol>
                    <a:gridCol w="2628677">
                      <a:extLst>
                        <a:ext uri="{9D8B030D-6E8A-4147-A177-3AD203B41FA5}">
                          <a16:colId xmlns:a16="http://schemas.microsoft.com/office/drawing/2014/main" val="20001"/>
                        </a:ext>
                      </a:extLst>
                    </a:gridCol>
                    <a:gridCol w="2629346">
                      <a:extLst>
                        <a:ext uri="{9D8B030D-6E8A-4147-A177-3AD203B41FA5}">
                          <a16:colId xmlns:a16="http://schemas.microsoft.com/office/drawing/2014/main" val="20002"/>
                        </a:ext>
                      </a:extLst>
                    </a:gridCol>
                  </a:tblGrid>
                  <a:tr h="50937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7−</m:t>
                                </m:r>
                                <m:sSup>
                                  <m:sSupPr>
                                    <m:ctrlPr>
                                      <a:rPr lang="en-US" sz="2000" i="1">
                                        <a:effectLst/>
                                        <a:latin typeface="Cambria Math" panose="02040503050406030204" pitchFamily="18" charset="0"/>
                                        <a:ea typeface="Cambria Math" charset="0"/>
                                        <a:cs typeface="Cambria Math" charset="0"/>
                                      </a:rPr>
                                    </m:ctrlPr>
                                  </m:sSupPr>
                                  <m:e>
                                    <m:d>
                                      <m:dPr>
                                        <m:ctrlPr>
                                          <a:rPr lang="en-US" sz="2000" i="1">
                                            <a:effectLst/>
                                            <a:latin typeface="Cambria Math" panose="02040503050406030204" pitchFamily="18" charset="0"/>
                                            <a:ea typeface="Cambria Math" charset="0"/>
                                            <a:cs typeface="Cambria Math" charset="0"/>
                                          </a:rPr>
                                        </m:ctrlPr>
                                      </m:dPr>
                                      <m:e>
                                        <m:r>
                                          <a:rPr lang="en-US" sz="2000" i="1">
                                            <a:effectLst/>
                                            <a:latin typeface="Cambria Math" charset="0"/>
                                            <a:ea typeface="Cambria Math" charset="0"/>
                                            <a:cs typeface="Cambria Math" charset="0"/>
                                          </a:rPr>
                                          <m:t>𝑦</m:t>
                                        </m:r>
                                        <m:r>
                                          <a:rPr lang="en-US" sz="2000" i="1">
                                            <a:effectLst/>
                                            <a:latin typeface="Cambria Math" charset="0"/>
                                            <a:ea typeface="Cambria Math" charset="0"/>
                                            <a:cs typeface="Cambria Math" charset="0"/>
                                          </a:rPr>
                                          <m:t>−11</m:t>
                                        </m:r>
                                      </m:e>
                                    </m:d>
                                  </m:e>
                                  <m:sup>
                                    <m:r>
                                      <a:rPr lang="en-US" sz="2000" i="1">
                                        <a:effectLst/>
                                        <a:latin typeface="Cambria Math" charset="0"/>
                                        <a:ea typeface="Cambria Math" charset="0"/>
                                        <a:cs typeface="Cambria Math" charset="0"/>
                                      </a:rPr>
                                      <m:t>2</m:t>
                                    </m:r>
                                  </m:sup>
                                </m:sSup>
                                <m:r>
                                  <a:rPr lang="en-US" sz="2000" i="1">
                                    <a:effectLst/>
                                    <a:latin typeface="Cambria Math" charset="0"/>
                                    <a:ea typeface="Cambria Math" charset="0"/>
                                    <a:cs typeface="Cambria Math" charset="0"/>
                                  </a:rPr>
                                  <m:t>+6</m:t>
                                </m:r>
                                <m:r>
                                  <a:rPr lang="en-US" sz="2000" i="1">
                                    <a:effectLst/>
                                    <a:latin typeface="Cambria Math" charset="0"/>
                                    <a:ea typeface="Cambria Math" charset="0"/>
                                    <a:cs typeface="Cambria Math" charset="0"/>
                                  </a:rPr>
                                  <m:t>𝑉</m:t>
                                </m:r>
                              </m:oMath>
                            </m:oMathPara>
                          </a14:m>
                          <a:endParaRPr lang="en-US" sz="2000" i="1" dirty="0">
                            <a:effectLst/>
                            <a:latin typeface="Cambria Math" charset="0"/>
                            <a:ea typeface="Cambria Math" charset="0"/>
                            <a:cs typeface="Cambria Math" charset="0"/>
                          </a:endParaRPr>
                        </a:p>
                      </a:txBody>
                      <a:tcPr marL="54252" marR="54252" marT="0" marB="0">
                        <a:lnL>
                          <a:noFill/>
                        </a:lnL>
                        <a:lnR>
                          <a:noFill/>
                        </a:lnR>
                        <a:lnT>
                          <a:noFill/>
                        </a:lnT>
                        <a:lnB>
                          <a:noFill/>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7−</m:t>
                                </m:r>
                                <m:sSup>
                                  <m:sSupPr>
                                    <m:ctrlPr>
                                      <a:rPr lang="en-US" sz="2000" i="1">
                                        <a:effectLst/>
                                        <a:latin typeface="Cambria Math" panose="02040503050406030204" pitchFamily="18" charset="0"/>
                                        <a:ea typeface="Cambria Math" charset="0"/>
                                        <a:cs typeface="Cambria Math" charset="0"/>
                                      </a:rPr>
                                    </m:ctrlPr>
                                  </m:sSupPr>
                                  <m:e>
                                    <m:r>
                                      <a:rPr lang="en-US" sz="2000" i="1">
                                        <a:effectLst/>
                                        <a:latin typeface="Cambria Math" charset="0"/>
                                        <a:ea typeface="Cambria Math" charset="0"/>
                                        <a:cs typeface="Cambria Math" charset="0"/>
                                      </a:rPr>
                                      <m:t>𝑦</m:t>
                                    </m:r>
                                  </m:e>
                                  <m:sup>
                                    <m:r>
                                      <a:rPr lang="en-US" sz="2000" i="1">
                                        <a:effectLst/>
                                        <a:latin typeface="Cambria Math" charset="0"/>
                                        <a:ea typeface="Cambria Math" charset="0"/>
                                        <a:cs typeface="Cambria Math" charset="0"/>
                                      </a:rPr>
                                      <m:t>2</m:t>
                                    </m:r>
                                  </m:sup>
                                </m:sSup>
                                <m:r>
                                  <a:rPr lang="en-US" sz="2000" i="1">
                                    <a:effectLst/>
                                    <a:latin typeface="Cambria Math" charset="0"/>
                                    <a:ea typeface="Cambria Math" charset="0"/>
                                    <a:cs typeface="Cambria Math" charset="0"/>
                                  </a:rPr>
                                  <m:t>−</m:t>
                                </m:r>
                                <m:sSup>
                                  <m:sSupPr>
                                    <m:ctrlPr>
                                      <a:rPr lang="en-US" sz="2000" i="1">
                                        <a:effectLst/>
                                        <a:latin typeface="Cambria Math" panose="02040503050406030204" pitchFamily="18" charset="0"/>
                                        <a:ea typeface="Cambria Math" charset="0"/>
                                        <a:cs typeface="Cambria Math" charset="0"/>
                                      </a:rPr>
                                    </m:ctrlPr>
                                  </m:sSupPr>
                                  <m:e>
                                    <m:r>
                                      <a:rPr lang="en-US" sz="2000" i="1">
                                        <a:effectLst/>
                                        <a:latin typeface="Cambria Math" charset="0"/>
                                        <a:ea typeface="Cambria Math" charset="0"/>
                                        <a:cs typeface="Cambria Math" charset="0"/>
                                      </a:rPr>
                                      <m:t>11</m:t>
                                    </m:r>
                                  </m:e>
                                  <m:sup>
                                    <m:r>
                                      <a:rPr lang="en-US" sz="2000" i="1">
                                        <a:effectLst/>
                                        <a:latin typeface="Cambria Math" charset="0"/>
                                        <a:ea typeface="Cambria Math" charset="0"/>
                                        <a:cs typeface="Cambria Math" charset="0"/>
                                      </a:rPr>
                                      <m:t>2</m:t>
                                    </m:r>
                                  </m:sup>
                                </m:sSup>
                                <m:r>
                                  <a:rPr lang="en-US" sz="2000" i="1">
                                    <a:effectLst/>
                                    <a:latin typeface="Cambria Math" charset="0"/>
                                    <a:ea typeface="Cambria Math" charset="0"/>
                                    <a:cs typeface="Cambria Math" charset="0"/>
                                  </a:rPr>
                                  <m:t>+6</m:t>
                                </m:r>
                                <m:r>
                                  <a:rPr lang="en-US" sz="2000" i="1">
                                    <a:effectLst/>
                                    <a:latin typeface="Cambria Math" charset="0"/>
                                    <a:ea typeface="Cambria Math" charset="0"/>
                                    <a:cs typeface="Cambria Math" charset="0"/>
                                  </a:rPr>
                                  <m:t>𝑉</m:t>
                                </m:r>
                              </m:oMath>
                            </m:oMathPara>
                          </a14:m>
                          <a:endParaRPr lang="en-US" sz="2000" i="1" dirty="0">
                            <a:effectLst/>
                            <a:latin typeface="Cambria Math" charset="0"/>
                            <a:ea typeface="Cambria Math" charset="0"/>
                            <a:cs typeface="Cambria Math" charset="0"/>
                          </a:endParaRPr>
                        </a:p>
                      </a:txBody>
                      <a:tcPr marL="54252" marR="54252" marT="0" marB="0">
                        <a:lnL>
                          <a:noFill/>
                        </a:lnL>
                        <a:lnR>
                          <a:noFill/>
                        </a:lnR>
                        <a:lnT>
                          <a:noFill/>
                        </a:lnT>
                        <a:lnB>
                          <a:noFill/>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7−</m:t>
                                </m:r>
                                <m:sSup>
                                  <m:sSupPr>
                                    <m:ctrlPr>
                                      <a:rPr lang="en-US" sz="2000" i="1">
                                        <a:effectLst/>
                                        <a:latin typeface="Cambria Math" panose="02040503050406030204" pitchFamily="18" charset="0"/>
                                        <a:ea typeface="Cambria Math" charset="0"/>
                                        <a:cs typeface="Cambria Math" charset="0"/>
                                      </a:rPr>
                                    </m:ctrlPr>
                                  </m:sSupPr>
                                  <m:e>
                                    <m:r>
                                      <a:rPr lang="en-US" sz="2000" i="1">
                                        <a:effectLst/>
                                        <a:latin typeface="Cambria Math" charset="0"/>
                                        <a:ea typeface="Cambria Math" charset="0"/>
                                        <a:cs typeface="Cambria Math" charset="0"/>
                                      </a:rPr>
                                      <m:t>𝑦</m:t>
                                    </m:r>
                                  </m:e>
                                  <m:sup>
                                    <m:r>
                                      <a:rPr lang="en-US" sz="2000" i="1">
                                        <a:effectLst/>
                                        <a:latin typeface="Cambria Math" charset="0"/>
                                        <a:ea typeface="Cambria Math" charset="0"/>
                                        <a:cs typeface="Cambria Math" charset="0"/>
                                      </a:rPr>
                                      <m:t>2</m:t>
                                    </m:r>
                                  </m:sup>
                                </m:sSup>
                                <m:r>
                                  <a:rPr lang="en-US" sz="2000" i="1">
                                    <a:effectLst/>
                                    <a:latin typeface="Cambria Math" charset="0"/>
                                    <a:ea typeface="Cambria Math" charset="0"/>
                                    <a:cs typeface="Cambria Math" charset="0"/>
                                  </a:rPr>
                                  <m:t>+</m:t>
                                </m:r>
                                <m:sSup>
                                  <m:sSupPr>
                                    <m:ctrlPr>
                                      <a:rPr lang="en-US" sz="2000" i="1">
                                        <a:effectLst/>
                                        <a:latin typeface="Cambria Math" panose="02040503050406030204" pitchFamily="18" charset="0"/>
                                        <a:ea typeface="Cambria Math" charset="0"/>
                                        <a:cs typeface="Cambria Math" charset="0"/>
                                      </a:rPr>
                                    </m:ctrlPr>
                                  </m:sSupPr>
                                  <m:e>
                                    <m:r>
                                      <a:rPr lang="en-US" sz="2000" i="1">
                                        <a:effectLst/>
                                        <a:latin typeface="Cambria Math" charset="0"/>
                                        <a:ea typeface="Cambria Math" charset="0"/>
                                        <a:cs typeface="Cambria Math" charset="0"/>
                                      </a:rPr>
                                      <m:t>11</m:t>
                                    </m:r>
                                  </m:e>
                                  <m:sup>
                                    <m:r>
                                      <a:rPr lang="en-US" sz="2000" i="1">
                                        <a:effectLst/>
                                        <a:latin typeface="Cambria Math" charset="0"/>
                                        <a:ea typeface="Cambria Math" charset="0"/>
                                        <a:cs typeface="Cambria Math" charset="0"/>
                                      </a:rPr>
                                      <m:t>2</m:t>
                                    </m:r>
                                  </m:sup>
                                </m:sSup>
                                <m:r>
                                  <a:rPr lang="en-US" sz="2000" i="1">
                                    <a:effectLst/>
                                    <a:latin typeface="Cambria Math" charset="0"/>
                                    <a:ea typeface="Cambria Math" charset="0"/>
                                    <a:cs typeface="Cambria Math" charset="0"/>
                                  </a:rPr>
                                  <m:t>+6</m:t>
                                </m:r>
                                <m:r>
                                  <a:rPr lang="en-US" sz="2000" i="1">
                                    <a:effectLst/>
                                    <a:latin typeface="Cambria Math" charset="0"/>
                                    <a:ea typeface="Cambria Math" charset="0"/>
                                    <a:cs typeface="Cambria Math" charset="0"/>
                                  </a:rPr>
                                  <m:t>𝑉</m:t>
                                </m:r>
                              </m:oMath>
                            </m:oMathPara>
                          </a14:m>
                          <a:endParaRPr lang="en-US" sz="2000" i="1" dirty="0">
                            <a:effectLst/>
                            <a:latin typeface="Cambria Math" charset="0"/>
                            <a:ea typeface="Cambria Math" charset="0"/>
                            <a:cs typeface="Cambria Math" charset="0"/>
                          </a:endParaRPr>
                        </a:p>
                      </a:txBody>
                      <a:tcPr marL="54252" marR="54252" marT="0" marB="0">
                        <a:lnL>
                          <a:noFill/>
                        </a:lnL>
                        <a:lnR>
                          <a:noFill/>
                        </a:lnR>
                        <a:lnT>
                          <a:noFill/>
                        </a:lnT>
                        <a:lnB>
                          <a:noFill/>
                        </a:lnB>
                      </a:tcPr>
                    </a:tc>
                    <a:extLst>
                      <a:ext uri="{0D108BD9-81ED-4DB2-BD59-A6C34878D82A}">
                        <a16:rowId xmlns:a16="http://schemas.microsoft.com/office/drawing/2014/main" val="10000"/>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4255324677"/>
                  </p:ext>
                </p:extLst>
              </p:nvPr>
            </p:nvGraphicFramePr>
            <p:xfrm>
              <a:off x="1532232" y="2676530"/>
              <a:ext cx="7886700" cy="509370"/>
            </p:xfrm>
            <a:graphic>
              <a:graphicData uri="http://schemas.openxmlformats.org/drawingml/2006/table">
                <a:tbl>
                  <a:tblPr bandRow="1"/>
                  <a:tblGrid>
                    <a:gridCol w="2628677">
                      <a:extLst>
                        <a:ext uri="{9D8B030D-6E8A-4147-A177-3AD203B41FA5}">
                          <a16:colId xmlns:a16="http://schemas.microsoft.com/office/drawing/2014/main" xmlns:a14="http://schemas.microsoft.com/office/drawing/2010/main" xmlns="" val="20000"/>
                        </a:ext>
                      </a:extLst>
                    </a:gridCol>
                    <a:gridCol w="2628677">
                      <a:extLst>
                        <a:ext uri="{9D8B030D-6E8A-4147-A177-3AD203B41FA5}">
                          <a16:colId xmlns:a16="http://schemas.microsoft.com/office/drawing/2014/main" xmlns:a14="http://schemas.microsoft.com/office/drawing/2010/main" xmlns="" val="20001"/>
                        </a:ext>
                      </a:extLst>
                    </a:gridCol>
                    <a:gridCol w="2629346">
                      <a:extLst>
                        <a:ext uri="{9D8B030D-6E8A-4147-A177-3AD203B41FA5}">
                          <a16:colId xmlns:a16="http://schemas.microsoft.com/office/drawing/2014/main" xmlns:a14="http://schemas.microsoft.com/office/drawing/2010/main" xmlns="" val="20002"/>
                        </a:ext>
                      </a:extLst>
                    </a:gridCol>
                  </a:tblGrid>
                  <a:tr h="509370">
                    <a:tc>
                      <a:txBody>
                        <a:bodyPr/>
                        <a:lstStyle/>
                        <a:p>
                          <a:endParaRPr lang="en-US"/>
                        </a:p>
                      </a:txBody>
                      <a:tcPr marL="54252" marR="54252" marT="0" marB="0">
                        <a:lnL>
                          <a:noFill/>
                        </a:lnL>
                        <a:lnR>
                          <a:noFill/>
                        </a:lnR>
                        <a:lnT>
                          <a:noFill/>
                        </a:lnT>
                        <a:lnB>
                          <a:noFill/>
                        </a:lnB>
                        <a:blipFill rotWithShape="1">
                          <a:blip r:embed="rId6"/>
                          <a:stretch>
                            <a:fillRect r="-200464"/>
                          </a:stretch>
                        </a:blipFill>
                      </a:tcPr>
                    </a:tc>
                    <a:tc>
                      <a:txBody>
                        <a:bodyPr/>
                        <a:lstStyle/>
                        <a:p>
                          <a:endParaRPr lang="en-US"/>
                        </a:p>
                      </a:txBody>
                      <a:tcPr marL="54252" marR="54252" marT="0" marB="0">
                        <a:lnL>
                          <a:noFill/>
                        </a:lnL>
                        <a:lnR>
                          <a:noFill/>
                        </a:lnR>
                        <a:lnT>
                          <a:noFill/>
                        </a:lnT>
                        <a:lnB>
                          <a:noFill/>
                        </a:lnB>
                        <a:blipFill rotWithShape="1">
                          <a:blip r:embed="rId6"/>
                          <a:stretch>
                            <a:fillRect l="-99769" r="-100000"/>
                          </a:stretch>
                        </a:blipFill>
                      </a:tcPr>
                    </a:tc>
                    <a:tc>
                      <a:txBody>
                        <a:bodyPr/>
                        <a:lstStyle/>
                        <a:p>
                          <a:endParaRPr lang="en-US"/>
                        </a:p>
                      </a:txBody>
                      <a:tcPr marL="54252" marR="54252" marT="0" marB="0">
                        <a:lnL>
                          <a:noFill/>
                        </a:lnL>
                        <a:lnR>
                          <a:noFill/>
                        </a:lnR>
                        <a:lnT>
                          <a:noFill/>
                        </a:lnT>
                        <a:lnB>
                          <a:noFill/>
                        </a:lnB>
                        <a:blipFill rotWithShape="1">
                          <a:blip r:embed="rId6"/>
                          <a:stretch>
                            <a:fillRect l="-200232" r="-232"/>
                          </a:stretch>
                        </a:blipFill>
                      </a:tcPr>
                    </a:tc>
                    <a:extLst>
                      <a:ext uri="{0D108BD9-81ED-4DB2-BD59-A6C34878D82A}">
                        <a16:rowId xmlns:a16="http://schemas.microsoft.com/office/drawing/2014/main" xmlns:a14="http://schemas.microsoft.com/office/drawing/2010/main" xmlns="" val="10000"/>
                      </a:ext>
                    </a:extLst>
                  </a:tr>
                </a:tbl>
              </a:graphicData>
            </a:graphic>
          </p:graphicFrame>
        </mc:Fallback>
      </mc:AlternateContent>
    </p:spTree>
    <p:extLst>
      <p:ext uri="{BB962C8B-B14F-4D97-AF65-F5344CB8AC3E}">
        <p14:creationId xmlns:p14="http://schemas.microsoft.com/office/powerpoint/2010/main" val="310129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250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510032" y="500073"/>
                <a:ext cx="10564368" cy="1323439"/>
              </a:xfrm>
              <a:prstGeom prst="rect">
                <a:avLst/>
              </a:prstGeom>
              <a:noFill/>
            </p:spPr>
            <p:txBody>
              <a:bodyPr wrap="square" rtlCol="0">
                <a:spAutoFit/>
              </a:bodyPr>
              <a:lstStyle/>
              <a:p>
                <a:pPr marL="914400" lvl="1" indent="-457200">
                  <a:buFont typeface="+mj-lt"/>
                  <a:buAutoNum type="alphaLcPeriod" startAt="4"/>
                </a:pPr>
                <a:r>
                  <a:rPr lang="en-US" sz="2000" dirty="0">
                    <a:latin typeface="Verdana" charset="0"/>
                    <a:ea typeface="Verdana" charset="0"/>
                    <a:cs typeface="Verdana" charset="0"/>
                  </a:rPr>
                  <a:t>Find the value of </a:t>
                </a:r>
                <a14:m>
                  <m:oMath xmlns:m="http://schemas.openxmlformats.org/officeDocument/2006/math">
                    <m:r>
                      <a:rPr lang="en-US" sz="2000" i="1">
                        <a:latin typeface="Cambria Math" charset="0"/>
                        <a:ea typeface="Verdana" charset="0"/>
                        <a:cs typeface="Verdana" charset="0"/>
                      </a:rPr>
                      <m:t>7−</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𝑦</m:t>
                        </m:r>
                      </m:e>
                      <m:sup>
                        <m:r>
                          <a:rPr lang="en-US" sz="2000" i="1">
                            <a:latin typeface="Cambria Math" charset="0"/>
                            <a:ea typeface="Verdana" charset="0"/>
                            <a:cs typeface="Verdana" charset="0"/>
                          </a:rPr>
                          <m:t>2</m:t>
                        </m:r>
                      </m:sup>
                    </m:sSup>
                    <m:r>
                      <a:rPr lang="en-US" sz="2000" i="1">
                        <a:latin typeface="Cambria Math" charset="0"/>
                        <a:ea typeface="Verdana" charset="0"/>
                        <a:cs typeface="Verdana" charset="0"/>
                      </a:rPr>
                      <m:t>+</m:t>
                    </m:r>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11</m:t>
                        </m:r>
                      </m:e>
                      <m:sup>
                        <m:r>
                          <a:rPr lang="en-US" sz="2000" i="1">
                            <a:latin typeface="Cambria Math" charset="0"/>
                            <a:ea typeface="Verdana" charset="0"/>
                            <a:cs typeface="Verdana" charset="0"/>
                          </a:rPr>
                          <m:t>2</m:t>
                        </m:r>
                      </m:sup>
                    </m:sSup>
                    <m:r>
                      <a:rPr lang="en-US" sz="2000" i="1">
                        <a:latin typeface="Cambria Math" charset="0"/>
                        <a:ea typeface="Verdana" charset="0"/>
                        <a:cs typeface="Verdana" charset="0"/>
                      </a:rPr>
                      <m:t>+6</m:t>
                    </m:r>
                    <m:r>
                      <a:rPr lang="en-US" sz="2000" i="1">
                        <a:latin typeface="Cambria Math" charset="0"/>
                        <a:ea typeface="Verdana" charset="0"/>
                        <a:cs typeface="Verdana" charset="0"/>
                      </a:rPr>
                      <m:t>𝑉</m:t>
                    </m:r>
                  </m:oMath>
                </a14:m>
                <a:r>
                  <a:rPr lang="en-US" sz="2000" dirty="0">
                    <a:latin typeface="Verdana" charset="0"/>
                    <a:ea typeface="Verdana" charset="0"/>
                    <a:cs typeface="Verdana" charset="0"/>
                  </a:rPr>
                  <a:t> when </a:t>
                </a:r>
                <a14:m>
                  <m:oMath xmlns:m="http://schemas.openxmlformats.org/officeDocument/2006/math">
                    <m:r>
                      <a:rPr lang="en-US" sz="2000" i="1">
                        <a:latin typeface="Cambria Math" charset="0"/>
                        <a:ea typeface="Verdana" charset="0"/>
                        <a:cs typeface="Verdana" charset="0"/>
                      </a:rPr>
                      <m:t>𝑉</m:t>
                    </m:r>
                    <m:r>
                      <a:rPr lang="en-US" sz="2000" i="1">
                        <a:latin typeface="Cambria Math" charset="0"/>
                        <a:ea typeface="Verdana" charset="0"/>
                        <a:cs typeface="Verdana" charset="0"/>
                      </a:rPr>
                      <m:t>= −9 </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𝑦</m:t>
                    </m:r>
                    <m:r>
                      <a:rPr lang="en-US" sz="2000" i="1">
                        <a:latin typeface="Cambria Math" charset="0"/>
                        <a:ea typeface="Verdana" charset="0"/>
                        <a:cs typeface="Verdana" charset="0"/>
                      </a:rPr>
                      <m:t>=4</m:t>
                    </m:r>
                  </m:oMath>
                </a14:m>
                <a:r>
                  <a:rPr lang="en-US" sz="2000" i="1" dirty="0">
                    <a:latin typeface="Verdana" charset="0"/>
                    <a:ea typeface="Verdana" charset="0"/>
                    <a:cs typeface="Verdana" charset="0"/>
                  </a:rPr>
                  <a:t>.</a:t>
                </a:r>
              </a:p>
              <a:p>
                <a:pPr marL="457200" lvl="1" indent="-457200">
                  <a:buFont typeface="+mj-lt"/>
                  <a:buAutoNum type="alphaLcPeriod" startAt="4"/>
                </a:pPr>
                <a:endParaRPr lang="en-US" sz="2000" dirty="0">
                  <a:latin typeface="Verdana" charset="0"/>
                  <a:ea typeface="Verdana" charset="0"/>
                  <a:cs typeface="Verdana" charset="0"/>
                </a:endParaRPr>
              </a:p>
              <a:p>
                <a:pPr marL="457200" lvl="1" indent="-457200">
                  <a:buFont typeface="+mj-lt"/>
                  <a:buAutoNum type="alphaLcPeriod" startAt="4"/>
                </a:pPr>
                <a:endParaRPr lang="en-US" sz="2000" dirty="0">
                  <a:latin typeface="Verdana" charset="0"/>
                  <a:ea typeface="Verdana" charset="0"/>
                  <a:cs typeface="Verdana" charset="0"/>
                </a:endParaRPr>
              </a:p>
              <a:p>
                <a:pPr marL="914400" lvl="1" indent="-457200">
                  <a:buFont typeface="+mj-lt"/>
                  <a:buAutoNum type="alphaLcPeriod" startAt="4"/>
                </a:pPr>
                <a:r>
                  <a:rPr lang="en-US" sz="2000" dirty="0">
                    <a:latin typeface="Verdana" charset="0"/>
                    <a:ea typeface="Verdana" charset="0"/>
                    <a:cs typeface="Verdana" charset="0"/>
                  </a:rPr>
                  <a:t>Which expressions, if any, resulted in the same value?</a:t>
                </a:r>
                <a:endParaRPr lang="en-US" sz="2000" i="1"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510032" y="500073"/>
                <a:ext cx="10564368" cy="1323439"/>
              </a:xfrm>
              <a:prstGeom prst="rect">
                <a:avLst/>
              </a:prstGeom>
              <a:blipFill rotWithShape="1">
                <a:blip r:embed="rId4"/>
                <a:stretch>
                  <a:fillRect t="-2765" b="-7373"/>
                </a:stretch>
              </a:blipFill>
            </p:spPr>
            <p:txBody>
              <a:bodyPr/>
              <a:lstStyle/>
              <a:p>
                <a:r>
                  <a:rPr lang="en-US">
                    <a:noFill/>
                  </a:rPr>
                  <a:t> </a:t>
                </a:r>
              </a:p>
            </p:txBody>
          </p:sp>
        </mc:Fallback>
      </mc:AlternateContent>
    </p:spTree>
    <p:extLst>
      <p:ext uri="{BB962C8B-B14F-4D97-AF65-F5344CB8AC3E}">
        <p14:creationId xmlns:p14="http://schemas.microsoft.com/office/powerpoint/2010/main" val="843614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251</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58606"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2953512"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251</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7331" y="279372"/>
            <a:ext cx="10130579" cy="59089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11.2.6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730265" y="1428283"/>
                <a:ext cx="11089201" cy="707886"/>
              </a:xfrm>
              <a:prstGeom prst="rect">
                <a:avLst/>
              </a:prstGeom>
              <a:noFill/>
            </p:spPr>
            <p:txBody>
              <a:bodyPr wrap="square" rtlCol="0">
                <a:spAutoFit/>
              </a:bodyPr>
              <a:lstStyle/>
              <a:p>
                <a:pPr marL="457200" lvl="3" indent="-457200">
                  <a:buFont typeface="+mj-lt"/>
                  <a:buAutoNum type="arabicPeriod"/>
                </a:pPr>
                <a:r>
                  <a:rPr lang="en-US" sz="2000" dirty="0">
                    <a:latin typeface="Verdana" charset="0"/>
                    <a:ea typeface="Verdana" charset="0"/>
                    <a:cs typeface="Verdana" charset="0"/>
                  </a:rPr>
                  <a:t>Nadine and Nora evaluated the expression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𝑟</m:t>
                        </m:r>
                      </m:e>
                      <m:sup>
                        <m:r>
                          <a:rPr lang="en-US" sz="2000" i="1">
                            <a:latin typeface="Cambria Math" charset="0"/>
                            <a:ea typeface="Verdana" charset="0"/>
                            <a:cs typeface="Verdana" charset="0"/>
                          </a:rPr>
                          <m:t>3</m:t>
                        </m:r>
                      </m:sup>
                    </m:sSup>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r>
                      <a:rPr lang="en-US" sz="2000" i="1">
                        <a:latin typeface="Cambria Math" charset="0"/>
                        <a:ea typeface="Verdana" charset="0"/>
                        <a:cs typeface="Verdana" charset="0"/>
                      </a:rPr>
                      <m:t>𝑐</m:t>
                    </m:r>
                  </m:oMath>
                </a14:m>
                <a:r>
                  <a:rPr lang="en-US" sz="2000" dirty="0">
                    <a:latin typeface="Verdana" charset="0"/>
                    <a:ea typeface="Verdana" charset="0"/>
                    <a:cs typeface="Verdana" charset="0"/>
                  </a:rPr>
                  <a:t> for </a:t>
                </a:r>
                <a14:m>
                  <m:oMath xmlns:m="http://schemas.openxmlformats.org/officeDocument/2006/math">
                    <m:r>
                      <a:rPr lang="en-US" sz="2000" i="1">
                        <a:latin typeface="Cambria Math" charset="0"/>
                        <a:ea typeface="Verdana" charset="0"/>
                        <a:cs typeface="Verdana" charset="0"/>
                      </a:rPr>
                      <m:t>𝑐</m:t>
                    </m:r>
                    <m:r>
                      <a:rPr lang="en-US" sz="2000" i="1">
                        <a:latin typeface="Cambria Math" charset="0"/>
                        <a:ea typeface="Verdana" charset="0"/>
                        <a:cs typeface="Verdana" charset="0"/>
                      </a:rPr>
                      <m:t>=9</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𝑟</m:t>
                    </m:r>
                    <m:r>
                      <a:rPr lang="en-US" sz="2000" i="1">
                        <a:latin typeface="Cambria Math" charset="0"/>
                        <a:ea typeface="Verdana" charset="0"/>
                        <a:cs typeface="Verdana" charset="0"/>
                      </a:rPr>
                      <m:t>=−6 </m:t>
                    </m:r>
                  </m:oMath>
                </a14:m>
                <a:r>
                  <a:rPr lang="en-US" sz="2000" dirty="0">
                    <a:latin typeface="Verdana" charset="0"/>
                    <a:ea typeface="Verdana" charset="0"/>
                    <a:cs typeface="Verdana" charset="0"/>
                  </a:rPr>
                  <a:t>and </a:t>
                </a:r>
                <a14:m>
                  <m:oMath xmlns:m="http://schemas.openxmlformats.org/officeDocument/2006/math">
                    <m:r>
                      <a:rPr lang="en-US" sz="2000" i="1">
                        <a:latin typeface="Cambria Math" charset="0"/>
                        <a:ea typeface="Verdana" charset="0"/>
                        <a:cs typeface="Verdana" charset="0"/>
                      </a:rPr>
                      <m:t>𝑥</m:t>
                    </m:r>
                    <m:r>
                      <a:rPr lang="en-US" sz="2000" i="1">
                        <a:latin typeface="Cambria Math" charset="0"/>
                        <a:ea typeface="Verdana" charset="0"/>
                        <a:cs typeface="Verdana" charset="0"/>
                      </a:rPr>
                      <m:t>=−3</m:t>
                    </m:r>
                  </m:oMath>
                </a14:m>
                <a:r>
                  <a:rPr lang="en-US" sz="2000" dirty="0">
                    <a:latin typeface="Verdana" charset="0"/>
                    <a:ea typeface="Verdana" charset="0"/>
                    <a:cs typeface="Verdana" charset="0"/>
                  </a:rPr>
                  <a:t>. Both students made errors in their work shown. Circle their errors.</a:t>
                </a:r>
                <a:endParaRPr lang="en-US" sz="2000" i="1" dirty="0">
                  <a:latin typeface="Verdana" charset="0"/>
                  <a:ea typeface="Verdana" charset="0"/>
                  <a:cs typeface="Verdana" charset="0"/>
                </a:endParaRP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730265" y="1428283"/>
                <a:ext cx="11089201" cy="707886"/>
              </a:xfrm>
              <a:prstGeom prst="rect">
                <a:avLst/>
              </a:prstGeom>
              <a:blipFill rotWithShape="1">
                <a:blip r:embed="rId5"/>
                <a:stretch>
                  <a:fillRect l="-605" t="-5172"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56164298"/>
                  </p:ext>
                </p:extLst>
              </p:nvPr>
            </p:nvGraphicFramePr>
            <p:xfrm>
              <a:off x="2216395" y="2551128"/>
              <a:ext cx="7886700" cy="2236915"/>
            </p:xfrm>
            <a:graphic>
              <a:graphicData uri="http://schemas.openxmlformats.org/drawingml/2006/table">
                <a:tbl>
                  <a:tblPr bandRow="1"/>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0">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Nadine’s Work</a:t>
                          </a:r>
                          <a:endParaRPr lang="en-US" sz="2000" i="1" dirty="0">
                            <a:effectLst/>
                            <a:latin typeface="Cambria Math" charset="0"/>
                            <a:ea typeface="Cambria Math" charset="0"/>
                            <a:cs typeface="Cambria Math" charset="0"/>
                          </a:endParaRPr>
                        </a:p>
                      </a:txBody>
                      <a:tcPr marL="67708" marR="6770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Nora’s Work</a:t>
                          </a:r>
                          <a:endParaRPr lang="en-US" sz="2000" i="1" dirty="0">
                            <a:effectLst/>
                            <a:latin typeface="Cambria Math" charset="0"/>
                            <a:ea typeface="Cambria Math" charset="0"/>
                            <a:cs typeface="Cambria Math" charset="0"/>
                          </a:endParaRPr>
                        </a:p>
                      </a:txBody>
                      <a:tcPr marL="67708" marR="6770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751625">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r>
                                      <a:rPr lang="en-US" sz="2000" i="1">
                                        <a:effectLst/>
                                        <a:latin typeface="Cambria Math" charset="0"/>
                                        <a:ea typeface="Cambria Math" charset="0"/>
                                        <a:cs typeface="Cambria Math" charset="0"/>
                                      </a:rPr>
                                      <m:t>𝑟</m:t>
                                    </m:r>
                                  </m:e>
                                  <m:sup>
                                    <m:r>
                                      <a:rPr lang="en-US" sz="2000" i="1">
                                        <a:effectLst/>
                                        <a:latin typeface="Cambria Math" charset="0"/>
                                        <a:ea typeface="Cambria Math" charset="0"/>
                                        <a:cs typeface="Cambria Math" charset="0"/>
                                      </a:rPr>
                                      <m:t>3</m:t>
                                    </m:r>
                                  </m:sup>
                                </m:sSup>
                                <m:r>
                                  <a:rPr lang="en-US" sz="2000" i="1">
                                    <a:effectLst/>
                                    <a:latin typeface="Cambria Math" charset="0"/>
                                    <a:ea typeface="Cambria Math" charset="0"/>
                                    <a:cs typeface="Cambria Math" charset="0"/>
                                  </a:rPr>
                                  <m:t>÷</m:t>
                                </m:r>
                                <m:r>
                                  <a:rPr lang="en-US" sz="2000" i="1">
                                    <a:effectLst/>
                                    <a:latin typeface="Cambria Math" charset="0"/>
                                    <a:ea typeface="Cambria Math" charset="0"/>
                                    <a:cs typeface="Cambria Math" charset="0"/>
                                  </a:rPr>
                                  <m:t>𝑥</m:t>
                                </m:r>
                                <m:r>
                                  <a:rPr lang="en-US" sz="2000" i="1">
                                    <a:effectLst/>
                                    <a:latin typeface="Cambria Math" charset="0"/>
                                    <a:ea typeface="Cambria Math" charset="0"/>
                                    <a:cs typeface="Cambria Math" charset="0"/>
                                  </a:rPr>
                                  <m:t>∙</m:t>
                                </m:r>
                                <m:r>
                                  <a:rPr lang="en-US" sz="2000" i="1">
                                    <a:effectLst/>
                                    <a:latin typeface="Cambria Math" charset="0"/>
                                    <a:ea typeface="Cambria Math" charset="0"/>
                                    <a:cs typeface="Cambria Math" charset="0"/>
                                  </a:rPr>
                                  <m:t>𝑐</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r>
                                      <a:rPr lang="en-US" sz="2000" i="1">
                                        <a:effectLst/>
                                        <a:latin typeface="Cambria Math" charset="0"/>
                                        <a:ea typeface="Cambria Math" charset="0"/>
                                        <a:cs typeface="Cambria Math" charset="0"/>
                                      </a:rPr>
                                      <m:t>(−6)</m:t>
                                    </m:r>
                                  </m:e>
                                  <m:sup>
                                    <m:r>
                                      <a:rPr lang="en-US" sz="2000" i="1">
                                        <a:effectLst/>
                                        <a:latin typeface="Cambria Math" charset="0"/>
                                        <a:ea typeface="Cambria Math" charset="0"/>
                                        <a:cs typeface="Cambria Math" charset="0"/>
                                      </a:rPr>
                                      <m:t>3</m:t>
                                    </m:r>
                                  </m:sup>
                                </m:sSup>
                                <m:r>
                                  <a:rPr lang="en-US" sz="2000" i="1">
                                    <a:effectLst/>
                                    <a:latin typeface="Cambria Math" charset="0"/>
                                    <a:ea typeface="Cambria Math" charset="0"/>
                                    <a:cs typeface="Cambria Math" charset="0"/>
                                  </a:rPr>
                                  <m:t>÷(−3)∙9</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−216÷(−3)∙9</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−216÷−27</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8</m:t>
                                </m:r>
                              </m:oMath>
                            </m:oMathPara>
                          </a14:m>
                          <a:endParaRPr lang="en-US" sz="2000" i="1" dirty="0">
                            <a:effectLst/>
                            <a:latin typeface="Cambria Math" charset="0"/>
                            <a:ea typeface="Cambria Math" charset="0"/>
                            <a:cs typeface="Cambria Math" charset="0"/>
                          </a:endParaRPr>
                        </a:p>
                      </a:txBody>
                      <a:tcPr marL="67708" marR="6770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r>
                                      <a:rPr lang="en-US" sz="2000" i="1">
                                        <a:effectLst/>
                                        <a:latin typeface="Cambria Math" charset="0"/>
                                        <a:ea typeface="Cambria Math" charset="0"/>
                                        <a:cs typeface="Cambria Math" charset="0"/>
                                      </a:rPr>
                                      <m:t>𝑟</m:t>
                                    </m:r>
                                  </m:e>
                                  <m:sup>
                                    <m:r>
                                      <a:rPr lang="en-US" sz="2000" i="1">
                                        <a:effectLst/>
                                        <a:latin typeface="Cambria Math" charset="0"/>
                                        <a:ea typeface="Cambria Math" charset="0"/>
                                        <a:cs typeface="Cambria Math" charset="0"/>
                                      </a:rPr>
                                      <m:t>3</m:t>
                                    </m:r>
                                  </m:sup>
                                </m:sSup>
                                <m:r>
                                  <a:rPr lang="en-US" sz="2000" i="1">
                                    <a:effectLst/>
                                    <a:latin typeface="Cambria Math" charset="0"/>
                                    <a:ea typeface="Cambria Math" charset="0"/>
                                    <a:cs typeface="Cambria Math" charset="0"/>
                                  </a:rPr>
                                  <m:t>÷</m:t>
                                </m:r>
                                <m:r>
                                  <a:rPr lang="en-US" sz="2000" i="1">
                                    <a:effectLst/>
                                    <a:latin typeface="Cambria Math" charset="0"/>
                                    <a:ea typeface="Cambria Math" charset="0"/>
                                    <a:cs typeface="Cambria Math" charset="0"/>
                                  </a:rPr>
                                  <m:t>𝑥</m:t>
                                </m:r>
                                <m:r>
                                  <a:rPr lang="en-US" sz="2000" i="1">
                                    <a:effectLst/>
                                    <a:latin typeface="Cambria Math" charset="0"/>
                                    <a:ea typeface="Cambria Math" charset="0"/>
                                    <a:cs typeface="Cambria Math" charset="0"/>
                                  </a:rPr>
                                  <m:t>∙</m:t>
                                </m:r>
                                <m:r>
                                  <a:rPr lang="en-US" sz="2000" i="1">
                                    <a:effectLst/>
                                    <a:latin typeface="Cambria Math" charset="0"/>
                                    <a:ea typeface="Cambria Math" charset="0"/>
                                    <a:cs typeface="Cambria Math" charset="0"/>
                                  </a:rPr>
                                  <m:t>𝑐</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charset="0"/>
                                        <a:cs typeface="Cambria Math" charset="0"/>
                                      </a:rPr>
                                    </m:ctrlPr>
                                  </m:sSupPr>
                                  <m:e>
                                    <m:r>
                                      <a:rPr lang="en-US" sz="2000" i="1">
                                        <a:effectLst/>
                                        <a:latin typeface="Cambria Math" charset="0"/>
                                        <a:ea typeface="Cambria Math" charset="0"/>
                                        <a:cs typeface="Cambria Math" charset="0"/>
                                      </a:rPr>
                                      <m:t>(−6)</m:t>
                                    </m:r>
                                  </m:e>
                                  <m:sup>
                                    <m:r>
                                      <a:rPr lang="en-US" sz="2000" i="1">
                                        <a:effectLst/>
                                        <a:latin typeface="Cambria Math" charset="0"/>
                                        <a:ea typeface="Cambria Math" charset="0"/>
                                        <a:cs typeface="Cambria Math" charset="0"/>
                                      </a:rPr>
                                      <m:t>3</m:t>
                                    </m:r>
                                  </m:sup>
                                </m:sSup>
                                <m:r>
                                  <a:rPr lang="en-US" sz="2000" i="1">
                                    <a:effectLst/>
                                    <a:latin typeface="Cambria Math" charset="0"/>
                                    <a:ea typeface="Cambria Math" charset="0"/>
                                    <a:cs typeface="Cambria Math" charset="0"/>
                                  </a:rPr>
                                  <m:t>÷(−3)∙9</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−18÷</m:t>
                                </m:r>
                                <m:d>
                                  <m:dPr>
                                    <m:ctrlPr>
                                      <a:rPr lang="en-US" sz="2000" i="1">
                                        <a:effectLst/>
                                        <a:latin typeface="Cambria Math" panose="02040503050406030204" pitchFamily="18" charset="0"/>
                                        <a:ea typeface="Cambria Math" charset="0"/>
                                        <a:cs typeface="Cambria Math" charset="0"/>
                                      </a:rPr>
                                    </m:ctrlPr>
                                  </m:dPr>
                                  <m:e>
                                    <m:r>
                                      <a:rPr lang="en-US" sz="2000" i="1">
                                        <a:effectLst/>
                                        <a:latin typeface="Cambria Math" charset="0"/>
                                        <a:ea typeface="Cambria Math" charset="0"/>
                                        <a:cs typeface="Cambria Math" charset="0"/>
                                      </a:rPr>
                                      <m:t>−3</m:t>
                                    </m:r>
                                  </m:e>
                                </m:d>
                                <m:r>
                                  <a:rPr lang="en-US" sz="2000" i="1">
                                    <a:effectLst/>
                                    <a:latin typeface="Cambria Math" charset="0"/>
                                    <a:ea typeface="Cambria Math" charset="0"/>
                                    <a:cs typeface="Cambria Math" charset="0"/>
                                  </a:rPr>
                                  <m:t>∙9</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6∙9</m:t>
                                </m:r>
                              </m:oMath>
                            </m:oMathPara>
                          </a14:m>
                          <a:endParaRPr lang="en-US" sz="2000" i="1" dirty="0">
                            <a:effectLst/>
                            <a:latin typeface="Cambria Math" charset="0"/>
                            <a:ea typeface="Cambria Math" charset="0"/>
                            <a:cs typeface="Cambria Math" charset="0"/>
                          </a:endParaRPr>
                        </a:p>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Cambria Math" charset="0"/>
                                    <a:cs typeface="Cambria Math" charset="0"/>
                                  </a:rPr>
                                  <m:t>54</m:t>
                                </m:r>
                              </m:oMath>
                            </m:oMathPara>
                          </a14:m>
                          <a:endParaRPr lang="en-US" sz="2000" i="1" dirty="0">
                            <a:effectLst/>
                            <a:latin typeface="Cambria Math" charset="0"/>
                            <a:ea typeface="Cambria Math" charset="0"/>
                            <a:cs typeface="Cambria Math" charset="0"/>
                          </a:endParaRPr>
                        </a:p>
                      </a:txBody>
                      <a:tcPr marL="67708" marR="6770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56164298"/>
                  </p:ext>
                </p:extLst>
              </p:nvPr>
            </p:nvGraphicFramePr>
            <p:xfrm>
              <a:off x="2216395" y="2551128"/>
              <a:ext cx="7886700" cy="2261616"/>
            </p:xfrm>
            <a:graphic>
              <a:graphicData uri="http://schemas.openxmlformats.org/drawingml/2006/table">
                <a:tbl>
                  <a:tblPr bandRow="1"/>
                  <a:tblGrid>
                    <a:gridCol w="3943350">
                      <a:extLst>
                        <a:ext uri="{9D8B030D-6E8A-4147-A177-3AD203B41FA5}">
                          <a16:colId xmlns:a16="http://schemas.microsoft.com/office/drawing/2014/main" xmlns:a14="http://schemas.microsoft.com/office/drawing/2010/main" xmlns="" val="20000"/>
                        </a:ext>
                      </a:extLst>
                    </a:gridCol>
                    <a:gridCol w="3943350">
                      <a:extLst>
                        <a:ext uri="{9D8B030D-6E8A-4147-A177-3AD203B41FA5}">
                          <a16:colId xmlns:a16="http://schemas.microsoft.com/office/drawing/2014/main" xmlns:a14="http://schemas.microsoft.com/office/drawing/2010/main" xmlns="" val="20001"/>
                        </a:ext>
                      </a:extLst>
                    </a:gridCol>
                  </a:tblGrid>
                  <a:tr h="417576">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Nadine’s Work</a:t>
                          </a:r>
                          <a:endParaRPr lang="en-US" sz="2000" i="1" dirty="0">
                            <a:effectLst/>
                            <a:latin typeface="Cambria Math" charset="0"/>
                            <a:ea typeface="Cambria Math" charset="0"/>
                            <a:cs typeface="Cambria Math" charset="0"/>
                          </a:endParaRPr>
                        </a:p>
                      </a:txBody>
                      <a:tcPr marL="67708" marR="6770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Nora’s Work</a:t>
                          </a:r>
                          <a:endParaRPr lang="en-US" sz="2000" i="1" dirty="0">
                            <a:effectLst/>
                            <a:latin typeface="Cambria Math" charset="0"/>
                            <a:ea typeface="Cambria Math" charset="0"/>
                            <a:cs typeface="Cambria Math" charset="0"/>
                          </a:endParaRPr>
                        </a:p>
                      </a:txBody>
                      <a:tcPr marL="67708" marR="6770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1844040">
                    <a:tc>
                      <a:txBody>
                        <a:bodyPr/>
                        <a:lstStyle/>
                        <a:p>
                          <a:endParaRPr lang="en-US"/>
                        </a:p>
                      </a:txBody>
                      <a:tcPr marL="67708" marR="6770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55" t="-24834" r="-100000" b="-331"/>
                          </a:stretch>
                        </a:blipFill>
                      </a:tcPr>
                    </a:tc>
                    <a:tc>
                      <a:txBody>
                        <a:bodyPr/>
                        <a:lstStyle/>
                        <a:p>
                          <a:endParaRPr lang="en-US"/>
                        </a:p>
                      </a:txBody>
                      <a:tcPr marL="67708" marR="6770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310" t="-24834" r="-155" b="-331"/>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is-IS" i="1" dirty="0">
                <a:latin typeface="Calibri"/>
                <a:ea typeface="Calibri"/>
                <a:cs typeface="Calibri"/>
                <a:sym typeface="Calibri"/>
              </a:rPr>
              <a:t>volume 2, pg. 251</a:t>
            </a:r>
          </a:p>
        </p:txBody>
      </p:sp>
      <p:sp>
        <p:nvSpPr>
          <p:cNvPr id="5" name="TextBox 4">
            <a:extLst>
              <a:ext uri="{FF2B5EF4-FFF2-40B4-BE49-F238E27FC236}">
                <a16:creationId xmlns:a16="http://schemas.microsoft.com/office/drawing/2014/main" id="{4CE9D117-FAE6-F74F-940B-9CD1479755BE}"/>
              </a:ext>
            </a:extLst>
          </p:cNvPr>
          <p:cNvSpPr txBox="1"/>
          <p:nvPr/>
        </p:nvSpPr>
        <p:spPr>
          <a:xfrm>
            <a:off x="487453" y="505293"/>
            <a:ext cx="11399747"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Write a short explanation to each student to explain the mistake and what she needs to remember about evaluating expressions in the future.</a:t>
            </a:r>
            <a:endParaRPr lang="en-US" sz="2000" i="1" dirty="0">
              <a:latin typeface="Verdana" charset="0"/>
              <a:ea typeface="Verdana" charset="0"/>
              <a:cs typeface="Verdana"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940443850"/>
              </p:ext>
            </p:extLst>
          </p:nvPr>
        </p:nvGraphicFramePr>
        <p:xfrm>
          <a:off x="2243976" y="1847323"/>
          <a:ext cx="7886699" cy="3810572"/>
        </p:xfrm>
        <a:graphic>
          <a:graphicData uri="http://schemas.openxmlformats.org/drawingml/2006/table">
            <a:tbl>
              <a:tblPr bandRow="1"/>
              <a:tblGrid>
                <a:gridCol w="3829226">
                  <a:extLst>
                    <a:ext uri="{9D8B030D-6E8A-4147-A177-3AD203B41FA5}">
                      <a16:colId xmlns:a16="http://schemas.microsoft.com/office/drawing/2014/main" val="20000"/>
                    </a:ext>
                  </a:extLst>
                </a:gridCol>
                <a:gridCol w="4057473">
                  <a:extLst>
                    <a:ext uri="{9D8B030D-6E8A-4147-A177-3AD203B41FA5}">
                      <a16:colId xmlns:a16="http://schemas.microsoft.com/office/drawing/2014/main" val="20001"/>
                    </a:ext>
                  </a:extLst>
                </a:gridCol>
              </a:tblGrid>
              <a:tr h="3379621">
                <a:tc>
                  <a:txBody>
                    <a:bodyPr/>
                    <a:lstStyle/>
                    <a:p>
                      <a:pPr marL="0" marR="0">
                        <a:lnSpc>
                          <a:spcPct val="107000"/>
                        </a:lnSpc>
                        <a:spcBef>
                          <a:spcPts val="0"/>
                        </a:spcBef>
                        <a:spcAft>
                          <a:spcPts val="800"/>
                        </a:spcAft>
                      </a:pPr>
                      <a:r>
                        <a:rPr lang="en-US" sz="2000" i="1" dirty="0">
                          <a:effectLst/>
                          <a:latin typeface="Verdana" charset="0"/>
                          <a:ea typeface="Verdana" charset="0"/>
                          <a:cs typeface="Verdana" charset="0"/>
                        </a:rPr>
                        <a:t>To Nadine:</a:t>
                      </a:r>
                    </a:p>
                  </a:txBody>
                  <a:tcPr marL="59815" marR="5981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i="1" dirty="0">
                          <a:effectLst/>
                          <a:latin typeface="Verdana" charset="0"/>
                          <a:ea typeface="Verdana" charset="0"/>
                          <a:cs typeface="Verdana" charset="0"/>
                        </a:rPr>
                        <a:t>To Nora:</a:t>
                      </a:r>
                    </a:p>
                    <a:p>
                      <a:pPr marL="0" marR="0">
                        <a:lnSpc>
                          <a:spcPct val="107000"/>
                        </a:lnSpc>
                        <a:spcBef>
                          <a:spcPts val="0"/>
                        </a:spcBef>
                        <a:spcAft>
                          <a:spcPts val="800"/>
                        </a:spcAft>
                      </a:pPr>
                      <a:r>
                        <a:rPr lang="en-US" sz="2000" i="1" dirty="0">
                          <a:effectLst/>
                          <a:latin typeface="Verdana" charset="0"/>
                          <a:ea typeface="Verdana" charset="0"/>
                          <a:cs typeface="Verdana" charset="0"/>
                        </a:rPr>
                        <a:t> </a:t>
                      </a:r>
                    </a:p>
                    <a:p>
                      <a:pPr marL="0" marR="0">
                        <a:lnSpc>
                          <a:spcPct val="107000"/>
                        </a:lnSpc>
                        <a:spcBef>
                          <a:spcPts val="0"/>
                        </a:spcBef>
                        <a:spcAft>
                          <a:spcPts val="800"/>
                        </a:spcAft>
                      </a:pPr>
                      <a:r>
                        <a:rPr lang="en-US" sz="2000" i="1" dirty="0">
                          <a:effectLst/>
                          <a:latin typeface="Verdana" charset="0"/>
                          <a:ea typeface="Verdana" charset="0"/>
                          <a:cs typeface="Verdana" charset="0"/>
                        </a:rPr>
                        <a:t> </a:t>
                      </a:r>
                    </a:p>
                    <a:p>
                      <a:pPr marL="0" marR="0">
                        <a:lnSpc>
                          <a:spcPct val="107000"/>
                        </a:lnSpc>
                        <a:spcBef>
                          <a:spcPts val="0"/>
                        </a:spcBef>
                        <a:spcAft>
                          <a:spcPts val="800"/>
                        </a:spcAft>
                      </a:pPr>
                      <a:r>
                        <a:rPr lang="en-US" sz="2000" i="1" dirty="0">
                          <a:effectLst/>
                          <a:latin typeface="Verdana" charset="0"/>
                          <a:ea typeface="Verdana" charset="0"/>
                          <a:cs typeface="Verdana" charset="0"/>
                        </a:rPr>
                        <a:t> </a:t>
                      </a:r>
                    </a:p>
                    <a:p>
                      <a:pPr marL="0" marR="0">
                        <a:lnSpc>
                          <a:spcPct val="107000"/>
                        </a:lnSpc>
                        <a:spcBef>
                          <a:spcPts val="0"/>
                        </a:spcBef>
                        <a:spcAft>
                          <a:spcPts val="800"/>
                        </a:spcAft>
                      </a:pPr>
                      <a:r>
                        <a:rPr lang="en-US" sz="2000" i="1" dirty="0">
                          <a:effectLst/>
                          <a:latin typeface="Verdana" charset="0"/>
                          <a:ea typeface="Verdana" charset="0"/>
                          <a:cs typeface="Verdana" charset="0"/>
                        </a:rPr>
                        <a:t> </a:t>
                      </a:r>
                    </a:p>
                    <a:p>
                      <a:pPr marL="0" marR="0">
                        <a:lnSpc>
                          <a:spcPct val="107000"/>
                        </a:lnSpc>
                        <a:spcBef>
                          <a:spcPts val="0"/>
                        </a:spcBef>
                        <a:spcAft>
                          <a:spcPts val="800"/>
                        </a:spcAft>
                      </a:pPr>
                      <a:r>
                        <a:rPr lang="en-US" sz="2000" i="1" dirty="0">
                          <a:effectLst/>
                          <a:latin typeface="Verdana" charset="0"/>
                          <a:ea typeface="Verdana" charset="0"/>
                          <a:cs typeface="Verdana" charset="0"/>
                        </a:rPr>
                        <a:t> </a:t>
                      </a:r>
                    </a:p>
                    <a:p>
                      <a:pPr marL="0" marR="0">
                        <a:lnSpc>
                          <a:spcPct val="107000"/>
                        </a:lnSpc>
                        <a:spcBef>
                          <a:spcPts val="0"/>
                        </a:spcBef>
                        <a:spcAft>
                          <a:spcPts val="800"/>
                        </a:spcAft>
                      </a:pPr>
                      <a:r>
                        <a:rPr lang="en-US" sz="2000" i="1" dirty="0">
                          <a:effectLst/>
                          <a:latin typeface="Verdana" charset="0"/>
                          <a:ea typeface="Verdana" charset="0"/>
                          <a:cs typeface="Verdana" charset="0"/>
                        </a:rPr>
                        <a:t> </a:t>
                      </a:r>
                    </a:p>
                    <a:p>
                      <a:pPr marL="0" marR="0">
                        <a:lnSpc>
                          <a:spcPct val="107000"/>
                        </a:lnSpc>
                        <a:spcBef>
                          <a:spcPts val="0"/>
                        </a:spcBef>
                        <a:spcAft>
                          <a:spcPts val="800"/>
                        </a:spcAft>
                      </a:pPr>
                      <a:r>
                        <a:rPr lang="en-US" sz="2000" i="1" dirty="0">
                          <a:effectLst/>
                          <a:latin typeface="Verdana" charset="0"/>
                          <a:ea typeface="Verdana" charset="0"/>
                          <a:cs typeface="Verdana" charset="0"/>
                        </a:rPr>
                        <a:t> </a:t>
                      </a:r>
                    </a:p>
                    <a:p>
                      <a:pPr marL="0" marR="0">
                        <a:lnSpc>
                          <a:spcPct val="107000"/>
                        </a:lnSpc>
                        <a:spcBef>
                          <a:spcPts val="0"/>
                        </a:spcBef>
                        <a:spcAft>
                          <a:spcPts val="800"/>
                        </a:spcAft>
                      </a:pPr>
                      <a:r>
                        <a:rPr lang="en-US" sz="2000" i="1" dirty="0">
                          <a:effectLst/>
                          <a:latin typeface="Verdana" charset="0"/>
                          <a:ea typeface="Verdana" charset="0"/>
                          <a:cs typeface="Verdana" charset="0"/>
                        </a:rPr>
                        <a:t> </a:t>
                      </a:r>
                    </a:p>
                  </a:txBody>
                  <a:tcPr marL="59815" marR="5981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Google Shape;278;g104476d1465_1_17">
            <a:extLst>
              <a:ext uri="{FF2B5EF4-FFF2-40B4-BE49-F238E27FC236}">
                <a16:creationId xmlns:a16="http://schemas.microsoft.com/office/drawing/2014/main" id="{4E76B144-6CDE-A54B-9F9B-004A5E06161F}"/>
              </a:ext>
            </a:extLst>
          </p:cNvPr>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1351</TotalTime>
  <Words>1497</Words>
  <Application>Microsoft Office PowerPoint</Application>
  <PresentationFormat>Widescreen</PresentationFormat>
  <Paragraphs>242</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Arial Black</vt:lpstr>
      <vt:lpstr>Calibri</vt:lpstr>
      <vt:lpstr>Cambria Math</vt:lpstr>
      <vt:lpstr>Century Gothic</vt:lpstr>
      <vt:lpstr>Verdana</vt:lpstr>
      <vt:lpstr>Wingdings</vt:lpstr>
      <vt:lpstr>1_Office Theme</vt:lpstr>
      <vt:lpstr>6th Grade Math  Unit 11, Lesson 2  Evaluating Expressions with Exponents  Volume 2, pg. 244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40</cp:revision>
  <dcterms:created xsi:type="dcterms:W3CDTF">2015-03-17T18:51:18Z</dcterms:created>
  <dcterms:modified xsi:type="dcterms:W3CDTF">2022-07-09T19:21:25Z</dcterms:modified>
</cp:coreProperties>
</file>