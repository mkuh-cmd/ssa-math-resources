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42" r:id="rId11"/>
    <p:sldId id="339" r:id="rId12"/>
    <p:sldId id="332" r:id="rId13"/>
    <p:sldId id="333" r:id="rId14"/>
    <p:sldId id="334" r:id="rId15"/>
    <p:sldId id="335" r:id="rId16"/>
    <p:sldId id="336" r:id="rId17"/>
    <p:sldId id="337" r:id="rId18"/>
    <p:sldId id="338" r:id="rId19"/>
    <p:sldId id="340" r:id="rId20"/>
    <p:sldId id="341" r:id="rId21"/>
    <p:sldId id="306" r:id="rId22"/>
    <p:sldId id="30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B9A3D"/>
    <a:srgbClr val="70973B"/>
    <a:srgbClr val="E2EFD5"/>
    <a:srgbClr val="B399C8"/>
    <a:srgbClr val="1F3165"/>
    <a:srgbClr val="C9DF6F"/>
    <a:srgbClr val="417DBF"/>
    <a:srgbClr val="3F2A67"/>
    <a:srgbClr val="E24E5F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51"/>
    <p:restoredTop sz="94719"/>
  </p:normalViewPr>
  <p:slideViewPr>
    <p:cSldViewPr snapToGrid="0">
      <p:cViewPr varScale="1">
        <p:scale>
          <a:sx n="54" d="100"/>
          <a:sy n="54" d="100"/>
        </p:scale>
        <p:origin x="114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12986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4290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9534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3765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13135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515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319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128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1851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4441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75666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3742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10563" y="2054276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Properties of Operations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255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937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6395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6" y="1237668"/>
            <a:ext cx="1087815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MA.6.AR.1.4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the properties of operations to generate equivalent algebraic expressions with integer coefficients.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33900"/>
            <a:ext cx="107948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255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01933" y="1451425"/>
            <a:ext cx="1117411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51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255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326150"/>
            <a:ext cx="1080009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apply the associative, commutative, and distributive properties to generate equivalent expressions.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512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7190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11.4.1 Warm-Up: Mental Math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9224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730266" y="1311422"/>
                <a:ext cx="10878154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Ulrich finds the 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5∙107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 his head. Ulrich wrote the following explanation of his thinking: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100+7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I can 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5∙107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5(100+7)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I know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5∙100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Then, I add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500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35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to get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535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Ulrich’s reasoning to write each in the form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Then, use that form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to find the product.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11422"/>
                <a:ext cx="10878154" cy="2554545"/>
              </a:xfrm>
              <a:prstGeom prst="rect">
                <a:avLst/>
              </a:prstGeom>
              <a:blipFill rotWithShape="1">
                <a:blip r:embed="rId5"/>
                <a:stretch>
                  <a:fillRect l="-617" t="-1193" r="-897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312507"/>
                  </p:ext>
                </p:extLst>
              </p:nvPr>
            </p:nvGraphicFramePr>
            <p:xfrm>
              <a:off x="1321117" y="4122285"/>
              <a:ext cx="7886701" cy="1847216"/>
            </p:xfrm>
            <a:graphic>
              <a:graphicData uri="http://schemas.openxmlformats.org/drawingml/2006/table">
                <a:tbl>
                  <a:tblPr bandRow="1"/>
                  <a:tblGrid>
                    <a:gridCol w="216842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06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9060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60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394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𝟏𝟎𝟒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𝟗𝟕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𝟓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r>
                                  <a:rPr lang="en-US" sz="2000" b="1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𝟏𝟑𝟎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036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𝑎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𝑏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𝑐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225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Product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0312507"/>
                  </p:ext>
                </p:extLst>
              </p:nvPr>
            </p:nvGraphicFramePr>
            <p:xfrm>
              <a:off x="1321117" y="4122285"/>
              <a:ext cx="7886701" cy="1905000"/>
            </p:xfrm>
            <a:graphic>
              <a:graphicData uri="http://schemas.openxmlformats.org/drawingml/2006/table">
                <a:tbl>
                  <a:tblPr bandRow="1"/>
                  <a:tblGrid>
                    <a:gridCol w="216842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906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906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90609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175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14423" t="-8696" r="-200641" b="-353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13738" t="-8696" r="-100000" b="-3536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314744" t="-8696" r="-321" b="-3536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4371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281" t="-61475" r="-26348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437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Product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8823" marR="58823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70774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3512" y="2852928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42286" y="87950"/>
            <a:ext cx="10593098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11.4.2 Exploration: Representing Area of a Rectangle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732743" y="1484508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Work with your partner to answer the questions.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800" y="2391846"/>
            <a:ext cx="4978400" cy="276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435443" y="551491"/>
                <a:ext cx="11095670" cy="3504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2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Rectangle A is divided into two smaller rectangles. Select all the expressions that could be used to determine the area of Rectangle A.</a:t>
                </a:r>
              </a:p>
              <a:p>
                <a:pPr marL="1371600" indent="-457200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6∙5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6∙3∙2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6(3+2)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6∙3+2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6+3+2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lnSpc>
                    <a:spcPct val="107000"/>
                  </a:lnSpc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6∙3+6∙2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discuss which expressions are in the form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𝑐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43" y="551491"/>
                <a:ext cx="11095670" cy="3504549"/>
              </a:xfrm>
              <a:prstGeom prst="rect">
                <a:avLst/>
              </a:prstGeom>
              <a:blipFill rotWithShape="1">
                <a:blip r:embed="rId4"/>
                <a:stretch>
                  <a:fillRect t="-1043" b="-2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435443" y="551491"/>
                <a:ext cx="11095142" cy="36830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Aft>
                    <a:spcPts val="2000"/>
                  </a:spcAft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Rectangle B is divided into two smaller rectangles. Select all the expressions that could be used to determine the area of the blue rectangle inside Rectangle B.</a:t>
                </a:r>
              </a:p>
              <a:p>
                <a:pPr marL="1371600" indent="-4572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4∙5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4∙7∙2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4(7−2)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4∙7−4∙2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4∙7+4∙2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1371600" indent="-457200">
                  <a:buFont typeface="Wingdings" charset="2"/>
                  <a:buChar char="q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4∙2−4∙7</m:t>
                    </m:r>
                  </m:oMath>
                </a14:m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spcBef>
                    <a:spcPts val="2000"/>
                  </a:spcBef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discuss which expressions are in the form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𝑎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𝑐</m:t>
                    </m:r>
                    <m:r>
                      <a:rPr lang="en-US" sz="2000" i="1">
                        <a:latin typeface="Cambria Math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43" y="551491"/>
                <a:ext cx="11095142" cy="3683060"/>
              </a:xfrm>
              <a:prstGeom prst="rect">
                <a:avLst/>
              </a:prstGeom>
              <a:blipFill rotWithShape="1">
                <a:blip r:embed="rId3"/>
                <a:stretch>
                  <a:fillRect t="-992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256</a:t>
            </a:r>
          </a:p>
        </p:txBody>
      </p:sp>
    </p:spTree>
    <p:extLst>
      <p:ext uri="{BB962C8B-B14F-4D97-AF65-F5344CB8AC3E}">
        <p14:creationId xmlns:p14="http://schemas.microsoft.com/office/powerpoint/2010/main" val="1583721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18657" y="515085"/>
                <a:ext cx="11112455" cy="33127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07000"/>
                  </a:lnSpc>
                  <a:spcAft>
                    <a:spcPts val="2000"/>
                  </a:spcAft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following problems.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Circle all of the expressions that have the same value 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−4(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+7)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13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4400" indent="-457200">
                  <a:lnSpc>
                    <a:spcPct val="107000"/>
                  </a:lnSpc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discuss whether or not the expressions you circled would change if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-value were a different number. Summarize your decision and reason.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7" y="515085"/>
                <a:ext cx="11112455" cy="3312702"/>
              </a:xfrm>
              <a:prstGeom prst="rect">
                <a:avLst/>
              </a:prstGeom>
              <a:blipFill rotWithShape="1">
                <a:blip r:embed="rId4"/>
                <a:stretch>
                  <a:fillRect l="-603" t="-1287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5858452"/>
                  </p:ext>
                </p:extLst>
              </p:nvPr>
            </p:nvGraphicFramePr>
            <p:xfrm>
              <a:off x="1457324" y="1841357"/>
              <a:ext cx="7690777" cy="4070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7763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95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8514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9418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3845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0703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−4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+7)∙−4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−4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+−4∙7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−7)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28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−4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5858452"/>
                  </p:ext>
                </p:extLst>
              </p:nvPr>
            </p:nvGraphicFramePr>
            <p:xfrm>
              <a:off x="1457324" y="1841357"/>
              <a:ext cx="7690777" cy="40703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37763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59535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88514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29418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  <a:gridCol w="153845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4"/>
                        </a:ext>
                      </a:extLst>
                    </a:gridCol>
                  </a:tblGrid>
                  <a:tr h="40703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r="-458407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86260" r="-295420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57929" r="-150485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374178" r="-118310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0794" b="-119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642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99665" y="2766150"/>
            <a:ext cx="756487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3512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258</a:t>
            </a:r>
          </a:p>
        </p:txBody>
      </p:sp>
    </p:spTree>
    <p:extLst>
      <p:ext uri="{BB962C8B-B14F-4D97-AF65-F5344CB8AC3E}">
        <p14:creationId xmlns:p14="http://schemas.microsoft.com/office/powerpoint/2010/main" val="1203659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2" y="85473"/>
            <a:ext cx="10739078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11.4.3 Guided Instruction: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Applying Properties of Operations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30266" y="1301777"/>
            <a:ext cx="108003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</a:t>
            </a:r>
            <a:r>
              <a:rPr lang="en-US" sz="2000" b="1" i="1" dirty="0">
                <a:latin typeface="Verdana" charset="0"/>
                <a:ea typeface="Verdana" charset="0"/>
                <a:cs typeface="Verdana" charset="0"/>
              </a:rPr>
              <a:t>distributive property of multiplication over addition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is a property that applies to all rational numbers. The distributive property “distributes” a factor to all terms within a set of parentheses.</a:t>
            </a: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table. The first row has been completed.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915872"/>
                  </p:ext>
                </p:extLst>
              </p:nvPr>
            </p:nvGraphicFramePr>
            <p:xfrm>
              <a:off x="1323975" y="3105383"/>
              <a:ext cx="7886699" cy="2734991"/>
            </p:xfrm>
            <a:graphic>
              <a:graphicData uri="http://schemas.openxmlformats.org/drawingml/2006/table">
                <a:tbl>
                  <a:tblPr bandRow="1"/>
                  <a:tblGrid>
                    <a:gridCol w="25264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935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6671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3871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𝐚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𝐛</m:t>
                                    </m:r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𝐜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𝐚𝐛</m:t>
                                </m:r>
                                <m:r>
                                  <a:rPr lang="en-US" sz="2000" b="1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000" b="1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𝐚𝐜</m:t>
                                </m:r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8(50+9)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8</m:t>
                                    </m:r>
                                  </m:e>
                                </m:sPre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50</m:t>
                                    </m:r>
                                  </m:e>
                                </m:d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+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8</m:t>
                                    </m:r>
                                  </m:e>
                                </m:sPre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472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17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20</m:t>
                                    </m:r>
                                  </m:e>
                                </m:d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+17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(100−7)∙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6</m:t>
                                    </m:r>
                                  </m:e>
                                </m:sPre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(40+72)29</m:t>
                                </m:r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11</m:t>
                                    </m:r>
                                  </m:e>
                                </m:sPre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48</m:t>
                                    </m:r>
                                  </m:e>
                                </m:d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−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11</m:t>
                                    </m:r>
                                  </m:e>
                                </m:sPre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charset="0"/>
                                        <a:cs typeface="Cambria Math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Cambria Math" charset="0"/>
                                        <a:cs typeface="Cambria Math" charset="0"/>
                                      </a:rPr>
                                      <m:t>96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0915872"/>
                  </p:ext>
                </p:extLst>
              </p:nvPr>
            </p:nvGraphicFramePr>
            <p:xfrm>
              <a:off x="1323975" y="3105383"/>
              <a:ext cx="7886699" cy="2734991"/>
            </p:xfrm>
            <a:graphic>
              <a:graphicData uri="http://schemas.openxmlformats.org/drawingml/2006/table">
                <a:tbl>
                  <a:tblPr bandRow="1"/>
                  <a:tblGrid>
                    <a:gridCol w="25264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79350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566718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8696" r="-211807" b="-55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6720" t="-8696" r="-41318" b="-55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Value</a:t>
                          </a:r>
                          <a:endParaRPr lang="en-US" sz="2000" i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98684" r="-211807" b="-4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6720" t="-98684" r="-41318" b="-4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403502" t="-98684" b="-401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6720" t="-198684" r="-41318" b="-3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298684" r="-211807" b="-2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398684" r="-211807" b="-10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6348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66720" t="-498684" r="-41318" b="-1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a:t> </a:t>
                          </a:r>
                        </a:p>
                      </a:txBody>
                      <a:tcPr marL="61455" marR="6145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15242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18657" y="515085"/>
                <a:ext cx="11112455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In two of the rows the expression had a subtraction sign instead of an addition sign. Discuss with your partner how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𝑎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can be rewritten using addition. Write a summary of your discussion.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7" y="515085"/>
                <a:ext cx="11112455" cy="1015663"/>
              </a:xfrm>
              <a:prstGeom prst="rect">
                <a:avLst/>
              </a:prstGeom>
              <a:blipFill rotWithShape="1">
                <a:blip r:embed="rId4"/>
                <a:stretch>
                  <a:fillRect l="-603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479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8657" y="515085"/>
            <a:ext cx="1111192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expressions below to show that the distributive property of multiplication over addition works with rational numbers.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Mathematicians determine a property exists when expressions are equivalent, no matter what number is used. A property can then be used with variables.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124563"/>
                  </p:ext>
                </p:extLst>
              </p:nvPr>
            </p:nvGraphicFramePr>
            <p:xfrm>
              <a:off x="1002030" y="1457092"/>
              <a:ext cx="6797040" cy="19016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891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7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831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4569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𝐚</m:t>
                                </m:r>
                                <m:d>
                                  <m:dPr>
                                    <m:ctrlPr>
                                      <a:rPr lang="en-US" sz="2000" b="1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𝐛</m:t>
                                    </m:r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r>
                                      <a:rPr lang="en-US" sz="2000" b="1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𝐜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𝐚𝐛</m:t>
                                </m:r>
                                <m:r>
                                  <a:rPr lang="en-US" sz="2000" b="1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000" b="1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𝐚𝐜</m:t>
                                </m:r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420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sPre>
                                      <m:sPre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PrePr>
                                      <m:sub/>
                                      <m:sup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−</m:t>
                                        </m:r>
                                      </m:sup>
                                      <m:e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14+50</m:t>
                                        </m:r>
                                      </m:e>
                                    </m:sPre>
                                  </m:e>
                                </m:d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14)+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0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50</m:t>
                                        </m:r>
                                      </m:e>
                                    </m:d>
                                  </m:e>
                                </m:sPre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4203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1.2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0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12+50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0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1.2∙12+1.2∙50</m:t>
                                </m:r>
                              </m:oMath>
                            </m:oMathPara>
                          </a14:m>
                          <a:endParaRPr lang="en-US" sz="2000" i="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2124563"/>
                  </p:ext>
                </p:extLst>
              </p:nvPr>
            </p:nvGraphicFramePr>
            <p:xfrm>
              <a:off x="1002030" y="1457092"/>
              <a:ext cx="6797040" cy="19016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891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32473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38315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8696" r="-225364" b="-35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0026" t="-8696" r="-102887" b="-35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42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61983" r="-225364" b="-1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0026" t="-61983" r="-102887" b="-1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4203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60656" r="-225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0026" t="-160656" r="-102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 Box 24"/>
          <p:cNvSpPr txBox="1"/>
          <p:nvPr/>
        </p:nvSpPr>
        <p:spPr>
          <a:xfrm>
            <a:off x="2659920" y="4526388"/>
            <a:ext cx="6629400" cy="1387302"/>
          </a:xfrm>
          <a:prstGeom prst="roundRect">
            <a:avLst/>
          </a:prstGeom>
          <a:solidFill>
            <a:srgbClr val="E2EF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Expressions are </a:t>
            </a:r>
            <a:r>
              <a:rPr lang="en-US" sz="2000" b="1" i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equivalent</a:t>
            </a:r>
            <a:r>
              <a:rPr lang="en-US" sz="2000" b="1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solidFill>
                  <a:srgbClr val="6B9A3D"/>
                </a:solidFill>
                <a:latin typeface="Verdana" charset="0"/>
                <a:ea typeface="Verdana" charset="0"/>
                <a:cs typeface="Verdana" charset="0"/>
              </a:rPr>
              <a:t>if they have the same value, no matter what number is substituted in for each of the variables.</a:t>
            </a:r>
            <a:endParaRPr lang="en-US" sz="2000" i="1" dirty="0">
              <a:solidFill>
                <a:srgbClr val="6B9A3D"/>
              </a:solidFill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30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18657" y="515085"/>
                <a:ext cx="11111927" cy="11424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equivalent expression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8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an equivalent expression for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−16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7" y="515085"/>
                <a:ext cx="11111927" cy="1142492"/>
              </a:xfrm>
              <a:prstGeom prst="rect">
                <a:avLst/>
              </a:prstGeom>
              <a:blipFill rotWithShape="1">
                <a:blip r:embed="rId4"/>
                <a:stretch>
                  <a:fillRect l="-603" t="-3191" b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9802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8657" y="515085"/>
            <a:ext cx="11111927" cy="5926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</a:t>
            </a:r>
            <a:r>
              <a:rPr lang="en-US" sz="2000" b="1" i="1" dirty="0">
                <a:latin typeface="Verdana" charset="0"/>
                <a:ea typeface="Verdana" charset="0"/>
                <a:cs typeface="Verdana" charset="0"/>
              </a:rPr>
              <a:t>commutative property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states that the order in which an operation is performed does not change the value of the expression.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pairs of expressions below to determine the operations for which the commutative property is true.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>
              <a:lnSpc>
                <a:spcPct val="107000"/>
              </a:lnSpc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commutative property only applies to ____ and ____.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5637913"/>
                  </p:ext>
                </p:extLst>
              </p:nvPr>
            </p:nvGraphicFramePr>
            <p:xfrm>
              <a:off x="1009650" y="2310307"/>
              <a:ext cx="7619999" cy="3351068"/>
            </p:xfrm>
            <a:graphic>
              <a:graphicData uri="http://schemas.openxmlformats.org/drawingml/2006/table">
                <a:tbl>
                  <a:tblPr bandRow="1"/>
                  <a:tblGrid>
                    <a:gridCol w="198757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5655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6019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31568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748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Operation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Example Expressions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Addition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Subtraction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6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6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Division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5637913"/>
                  </p:ext>
                </p:extLst>
              </p:nvPr>
            </p:nvGraphicFramePr>
            <p:xfrm>
              <a:off x="1009650" y="2310307"/>
              <a:ext cx="7619999" cy="3408852"/>
            </p:xfrm>
            <a:graphic>
              <a:graphicData uri="http://schemas.openxmlformats.org/drawingml/2006/table">
                <a:tbl>
                  <a:tblPr bandRow="1"/>
                  <a:tblGrid>
                    <a:gridCol w="1987574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65655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66019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2315682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175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Operation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Example Expressions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437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Addition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20221" t="-60656" r="-23970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0221" t="-60656" r="-139706" b="-3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Subtraction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20221" t="-167521" r="-239706" b="-2162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0221" t="-167521" r="-139706" b="-2162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82423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20221" t="-231852" r="-239706" b="-8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0221" t="-231852" r="-139706" b="-8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711667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Division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20221" t="-382906" r="-239706" b="-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0221" t="-382906" r="-139706" b="-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3321" marR="43321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14386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259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18657" y="515085"/>
                <a:ext cx="11111927" cy="20683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commutative property of multiplication to write an expression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5∙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20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∙4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4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+9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commutative property.</a:t>
                </a:r>
              </a:p>
              <a:p>
                <a:pPr marL="457200" indent="-457200">
                  <a:buFont typeface="+mj-lt"/>
                  <a:buAutoNum type="arabicPeriod" startAt="7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−</m:t>
                            </m:r>
                          </m:sup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7</m:t>
                            </m:r>
                          </m:e>
                        </m:sPre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the commutative property.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57" y="515085"/>
                <a:ext cx="11111927" cy="2068387"/>
              </a:xfrm>
              <a:prstGeom prst="rect">
                <a:avLst/>
              </a:prstGeom>
              <a:blipFill rotWithShape="1">
                <a:blip r:embed="rId7"/>
                <a:stretch>
                  <a:fillRect l="-603" t="-1765" r="-439" b="-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98DAABA-555B-0A6B-AECE-D57A80D970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3004" y="3182135"/>
            <a:ext cx="7444795" cy="241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13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18657" y="515085"/>
            <a:ext cx="11111927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</a:t>
            </a:r>
            <a:r>
              <a:rPr lang="en-US" sz="2000" b="1" i="1" dirty="0">
                <a:latin typeface="Verdana" charset="0"/>
                <a:ea typeface="Verdana" charset="0"/>
                <a:cs typeface="Verdana" charset="0"/>
              </a:rPr>
              <a:t>associative property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 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states that the way in which numbers are grouped does not change the value of the expression. </a:t>
            </a:r>
          </a:p>
          <a:p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pairs of expressions below to determine the operations for which the associative property is true.</a:t>
            </a: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 indent="-571500">
              <a:buFont typeface="+mj-lt"/>
              <a:buAutoNum type="arabicPeriod" startAt="10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571500"/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associative property only applies to ____ and ____.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9877272"/>
                  </p:ext>
                </p:extLst>
              </p:nvPr>
            </p:nvGraphicFramePr>
            <p:xfrm>
              <a:off x="1123950" y="2310775"/>
              <a:ext cx="7600950" cy="3685604"/>
            </p:xfrm>
            <a:graphic>
              <a:graphicData uri="http://schemas.openxmlformats.org/drawingml/2006/table">
                <a:tbl>
                  <a:tblPr bandRow="1"/>
                  <a:tblGrid>
                    <a:gridCol w="183677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36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3677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636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61859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Operation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Example Expressions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Addition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8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17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Subtraction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7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∙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9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∙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051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Division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5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÷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÷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÷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÷</m:t>
                                    </m:r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9877272"/>
                  </p:ext>
                </p:extLst>
              </p:nvPr>
            </p:nvGraphicFramePr>
            <p:xfrm>
              <a:off x="1123950" y="2310775"/>
              <a:ext cx="7600950" cy="3714496"/>
            </p:xfrm>
            <a:graphic>
              <a:graphicData uri="http://schemas.openxmlformats.org/drawingml/2006/table">
                <a:tbl>
                  <a:tblPr bandRow="1"/>
                  <a:tblGrid>
                    <a:gridCol w="18367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96369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8367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  <a:gridCol w="196369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3"/>
                        </a:ext>
                      </a:extLst>
                    </a:gridCol>
                  </a:tblGrid>
                  <a:tr h="4175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Operation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Example Expressions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Equivalent?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82423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Addition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3189" t="-54412" r="-193189" b="-298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7309" t="-54412" r="-107309" b="-298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82423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Subtraction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3189" t="-155556" r="-193189" b="-20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7309" t="-155556" r="-107309" b="-20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82423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Multiplication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3189" t="-255556" r="-193189" b="-10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7309" t="-255556" r="-107309" b="-10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82423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Division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93189" t="-355556" r="-193189" b="-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07309" t="-355556" r="-107309" b="-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46456" marR="4645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05664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49319" y="389106"/>
                <a:ext cx="11058740" cy="2299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+mj-lt"/>
                  <a:buAutoNum type="arabicPeriod" startAt="11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3.25+9.8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+7.2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associative property.</a:t>
                </a:r>
              </a:p>
              <a:p>
                <a:pPr marL="571500" indent="-571500">
                  <a:buFont typeface="+mj-lt"/>
                  <a:buAutoNum type="arabicPeriod" startAt="11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71500" indent="-571500">
                  <a:buFont typeface="+mj-lt"/>
                  <a:buAutoNum type="arabicPeriod" startAt="11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+15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sPre>
                      <m:sPre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11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associative property.</a:t>
                </a:r>
              </a:p>
              <a:p>
                <a:pPr marL="571500" indent="-571500">
                  <a:buFont typeface="+mj-lt"/>
                  <a:buAutoNum type="arabicPeriod" startAt="11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71500" indent="-571500">
                  <a:buFont typeface="+mj-lt"/>
                  <a:buAutoNum type="arabicPeriod" startAt="11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sPrePr>
                          <m:sub/>
                          <m:sup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−</m:t>
                            </m:r>
                          </m:sup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2</m:t>
                            </m:r>
                          </m:e>
                        </m:sPre>
                      </m:e>
                    </m:d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8∙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the associative property.</a:t>
                </a:r>
              </a:p>
              <a:p>
                <a:pPr marL="571500" indent="-571500">
                  <a:buFont typeface="+mj-lt"/>
                  <a:buAutoNum type="arabicPeriod" startAt="11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571500" indent="-571500">
                  <a:buFont typeface="+mj-lt"/>
                  <a:buAutoNum type="arabicPeriod" startAt="11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6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𝑥</m:t>
                            </m:r>
                            <m:r>
                              <a:rPr lang="en-US" sz="2000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+3</m:t>
                            </m:r>
                          </m:e>
                        </m:d>
                        <m: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+2</m:t>
                        </m:r>
                      </m:e>
                    </m: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associative property.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19" y="389106"/>
                <a:ext cx="11058740" cy="2299732"/>
              </a:xfrm>
              <a:prstGeom prst="rect">
                <a:avLst/>
              </a:prstGeom>
              <a:blipFill rotWithShape="1">
                <a:blip r:embed="rId4"/>
                <a:stretch>
                  <a:fillRect l="-606" t="-1592" b="-2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7DAD907-5C53-BAB0-A3AB-2BF18F692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532" y="3786948"/>
            <a:ext cx="6584981" cy="19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09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261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49441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3512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261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03916" y="-88032"/>
            <a:ext cx="1027926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11.4.4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30266" y="1313969"/>
            <a:ext cx="108008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an equivalent expression that uses each given property to complete </a:t>
            </a:r>
            <a:br>
              <a:rPr lang="en-US" sz="2000" dirty="0">
                <a:latin typeface="Verdana" charset="0"/>
                <a:ea typeface="Verdana" charset="0"/>
                <a:cs typeface="Verdana" charset="0"/>
              </a:rPr>
            </a:b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 table.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0384269"/>
                  </p:ext>
                </p:extLst>
              </p:nvPr>
            </p:nvGraphicFramePr>
            <p:xfrm>
              <a:off x="2443119" y="2244481"/>
              <a:ext cx="7305762" cy="37530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912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812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332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7229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Property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 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127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4+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+</m:t>
                                        </m:r>
                                        <m:sPre>
                                          <m:sPre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sPrePr>
                                          <m:sub/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−</m:t>
                                            </m:r>
                                          </m:sup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7</m:t>
                                            </m:r>
                                          </m:e>
                                        </m:sPre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Commutative Property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127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4+</m:t>
                                    </m:r>
                                    <m:d>
                                      <m:d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+</m:t>
                                        </m:r>
                                        <m:sPre>
                                          <m:sPrePr>
                                            <m:ctrlP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</m:ctrlPr>
                                          </m:sPrePr>
                                          <m:sub/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−</m:t>
                                            </m:r>
                                          </m:sup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charset="0"/>
                                                <a:ea typeface="Verdana" charset="0"/>
                                                <a:cs typeface="Verdana" charset="0"/>
                                              </a:rPr>
                                              <m:t>7</m:t>
                                            </m:r>
                                          </m:e>
                                        </m:sPre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Associative Property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1275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−2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4+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</m:t>
                                    </m:r>
                                    <m:sPre>
                                      <m:sPre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 charset="0"/>
                                            <a:cs typeface="Verdana" charset="0"/>
                                          </a:rPr>
                                        </m:ctrlPr>
                                      </m:sPrePr>
                                      <m:sub/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−</m:t>
                                        </m:r>
                                      </m:sup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charset="0"/>
                                            <a:ea typeface="Verdana" charset="0"/>
                                            <a:cs typeface="Verdana" charset="0"/>
                                          </a:rPr>
                                          <m:t>7</m:t>
                                        </m:r>
                                      </m:e>
                                    </m:sPre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Distributive Property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0384269"/>
                  </p:ext>
                </p:extLst>
              </p:nvPr>
            </p:nvGraphicFramePr>
            <p:xfrm>
              <a:off x="2443119" y="2244481"/>
              <a:ext cx="7305762" cy="378198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9129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3812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53321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437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Expression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Property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Equivalent Expression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127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55" t="-77108" r="-205867" b="-2006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Commutative Property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10127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55" t="-176048" r="-205867" b="-994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Associative Property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01275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55" t="-277711" r="-2058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Distributive Property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7198" marR="67198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1163</Words>
  <Application>Microsoft Office PowerPoint</Application>
  <PresentationFormat>Widescreen</PresentationFormat>
  <Paragraphs>254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6th Grade Math  Unit 11, Lesson 4  Applying Properties of Operations  Volume 2, pg. 255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33</cp:revision>
  <dcterms:created xsi:type="dcterms:W3CDTF">2015-03-17T18:51:18Z</dcterms:created>
  <dcterms:modified xsi:type="dcterms:W3CDTF">2022-07-09T19:46:30Z</dcterms:modified>
</cp:coreProperties>
</file>