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85" r:id="rId7"/>
    <p:sldId id="286" r:id="rId8"/>
    <p:sldId id="261" r:id="rId9"/>
    <p:sldId id="287" r:id="rId10"/>
    <p:sldId id="332" r:id="rId11"/>
    <p:sldId id="333" r:id="rId12"/>
    <p:sldId id="334" r:id="rId13"/>
    <p:sldId id="335" r:id="rId14"/>
    <p:sldId id="336" r:id="rId15"/>
    <p:sldId id="337" r:id="rId16"/>
    <p:sldId id="339" r:id="rId17"/>
    <p:sldId id="340" r:id="rId18"/>
    <p:sldId id="341" r:id="rId19"/>
    <p:sldId id="343" r:id="rId20"/>
    <p:sldId id="344" r:id="rId21"/>
    <p:sldId id="345" r:id="rId22"/>
    <p:sldId id="302" r:id="rId23"/>
    <p:sldId id="303" r:id="rId24"/>
    <p:sldId id="309" r:id="rId25"/>
    <p:sldId id="346" r:id="rId26"/>
    <p:sldId id="306" r:id="rId27"/>
    <p:sldId id="307" r:id="rId28"/>
    <p:sldId id="310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/>
    <p:restoredTop sz="94719"/>
  </p:normalViewPr>
  <p:slideViewPr>
    <p:cSldViewPr snapToGrid="0">
      <p:cViewPr varScale="1">
        <p:scale>
          <a:sx n="49" d="100"/>
          <a:sy n="49" d="100"/>
        </p:scale>
        <p:origin x="60" y="5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02264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7329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4358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7765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086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8097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843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1873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2493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3156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401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057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9659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5419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0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0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33360" y="2054276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Translating Real-World Written Descriptions into Algebraic Inequalities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272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929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41261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265" y="1326150"/>
                <a:ext cx="10531901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95250" indent="0">
                  <a:buNone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MA.6.AR.1.2 </a:t>
                </a:r>
              </a:p>
              <a:p>
                <a:pPr marL="95250" indent="0">
                  <a:buNone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Translate a real-world written description into an algebraic inequality in the form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&gt;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&lt;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≥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≤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 Represent the inequality on a number line.</a:t>
                </a:r>
                <a:endParaRPr lang="en-US" sz="24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326150"/>
                <a:ext cx="10531901" cy="4205700"/>
              </a:xfrm>
              <a:prstGeom prst="rect">
                <a:avLst/>
              </a:prstGeom>
              <a:blipFill>
                <a:blip r:embed="rId5"/>
                <a:stretch>
                  <a:fillRect r="-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1" y="0"/>
            <a:ext cx="1049939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272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06666" y="1325700"/>
            <a:ext cx="1103006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272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426579"/>
            <a:ext cx="1062449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translate a written description into an algebraic inequality.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represent an inequality on a number line when given a written description of a real-world context.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85251"/>
            <a:ext cx="111012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11.7.1 Warm-Up: </a:t>
            </a:r>
            <a:r>
              <a:rPr lang="en-US" sz="3600" b="1" dirty="0" err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Jumbotron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 Estimation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429764"/>
                <a:ext cx="10879142" cy="325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U.S., the average LCD TV screen has a width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3.63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(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 and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2.04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ft.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Doak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Campbell stadium has a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jumbotron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screen with a width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119.7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56.7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ft.</a:t>
                </a: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Estimate how many TV screens can be laid on top of the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jumbotron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at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Doak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Campbell stadium.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how you found your estimate.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29764"/>
                <a:ext cx="10879142" cy="3256276"/>
              </a:xfrm>
              <a:prstGeom prst="rect">
                <a:avLst/>
              </a:prstGeom>
              <a:blipFill rotWithShape="1">
                <a:blip r:embed="rId5"/>
                <a:stretch>
                  <a:fillRect l="-617" t="-936" r="-673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8066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273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79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2286" y="87950"/>
            <a:ext cx="1094971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11.7.2 Exploration: Representing Inequalities on a Number Line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273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732742" y="1357665"/>
                <a:ext cx="10797841" cy="301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following problems.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Choose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-value that will make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≤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true.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Choose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-value that will make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≤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false.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Have your partner verify your choices are correct.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-value that is true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≤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but false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&lt;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42" y="1357665"/>
                <a:ext cx="10797841" cy="3013133"/>
              </a:xfrm>
              <a:prstGeom prst="rect">
                <a:avLst/>
              </a:prstGeom>
              <a:blipFill rotWithShape="1">
                <a:blip r:embed="rId5"/>
                <a:stretch>
                  <a:fillRect l="-565" t="-1215" b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48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03056" y="374089"/>
                <a:ext cx="10712812" cy="3607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number line below represents all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-values that are true for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≤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number line below represents all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-values that are true for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&lt;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>
                  <a:lnSpc>
                    <a:spcPct val="107000"/>
                  </a:lnSpc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lnSpc>
                    <a:spcPct val="107000"/>
                  </a:lnSpc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lnSpc>
                    <a:spcPct val="107000"/>
                  </a:lnSpc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lnSpc>
                    <a:spcPct val="107000"/>
                  </a:lnSpc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is the graph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&lt;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different from the graph for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≤ 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56" y="374089"/>
                <a:ext cx="10712812" cy="3607141"/>
              </a:xfrm>
              <a:prstGeom prst="rect">
                <a:avLst/>
              </a:prstGeom>
              <a:blipFill rotWithShape="1">
                <a:blip r:embed="rId4"/>
                <a:stretch>
                  <a:fillRect l="-626" t="-1014"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0083" y="1083493"/>
            <a:ext cx="7302500" cy="495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4750" y="2727405"/>
            <a:ext cx="7302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3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445182" y="382872"/>
                <a:ext cx="11156267" cy="2354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following.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are the solutions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≥ −23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&gt;− 23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the same? 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are the solutions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≥ −23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&gt;− 23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different?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Graph the solutions to each inequality on the number lines. 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82" y="382872"/>
                <a:ext cx="11156267" cy="2354491"/>
              </a:xfrm>
              <a:prstGeom prst="rect">
                <a:avLst/>
              </a:prstGeom>
              <a:blipFill rotWithShape="1">
                <a:blip r:embed="rId4"/>
                <a:stretch>
                  <a:fillRect l="-546" t="-1554" b="-2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1458762" y="3156269"/>
            <a:ext cx="7313552" cy="2402695"/>
            <a:chOff x="2516037" y="3156269"/>
            <a:chExt cx="7313552" cy="2402695"/>
          </a:xfrm>
        </p:grpSpPr>
        <p:grpSp>
          <p:nvGrpSpPr>
            <p:cNvPr id="7" name="Group 6"/>
            <p:cNvGrpSpPr/>
            <p:nvPr/>
          </p:nvGrpSpPr>
          <p:grpSpPr>
            <a:xfrm>
              <a:off x="2527089" y="3156269"/>
              <a:ext cx="7302500" cy="924123"/>
              <a:chOff x="2527089" y="3156269"/>
              <a:chExt cx="7302500" cy="9241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Rectangle 2"/>
                  <p:cNvSpPr/>
                  <p:nvPr/>
                </p:nvSpPr>
                <p:spPr>
                  <a:xfrm>
                    <a:off x="5495693" y="3156269"/>
                    <a:ext cx="134318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𝑥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 ≥ −23</m:t>
                          </m:r>
                        </m:oMath>
                      </m:oMathPara>
                    </a14:m>
                    <a:endParaRPr lang="en-US" sz="2000" dirty="0">
                      <a:latin typeface="Verdana" charset="0"/>
                      <a:ea typeface="Verdana" charset="0"/>
                      <a:cs typeface="Verdana" charset="0"/>
                    </a:endParaRPr>
                  </a:p>
                </p:txBody>
              </p:sp>
            </mc:Choice>
            <mc:Fallback xmlns="">
              <p:sp>
                <p:nvSpPr>
                  <p:cNvPr id="3" name="Rectangle 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5693" y="3156269"/>
                    <a:ext cx="13431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527089" y="3597792"/>
                <a:ext cx="7302500" cy="482600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>
              <a:off x="2516037" y="4498973"/>
              <a:ext cx="7302500" cy="1059991"/>
              <a:chOff x="2516037" y="4498973"/>
              <a:chExt cx="7302500" cy="105999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/>
                  <p:cNvSpPr/>
                  <p:nvPr/>
                </p:nvSpPr>
                <p:spPr>
                  <a:xfrm>
                    <a:off x="5506745" y="4498973"/>
                    <a:ext cx="134318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𝑥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 &gt; −23</m:t>
                          </m:r>
                        </m:oMath>
                      </m:oMathPara>
                    </a14:m>
                    <a:endParaRPr lang="en-US" sz="2000" dirty="0">
                      <a:latin typeface="Verdana" charset="0"/>
                      <a:ea typeface="Verdana" charset="0"/>
                      <a:cs typeface="Verdana" charset="0"/>
                    </a:endParaRPr>
                  </a:p>
                </p:txBody>
              </p:sp>
            </mc:Choice>
            <mc:Fallback xmlns="">
              <p:sp>
                <p:nvSpPr>
                  <p:cNvPr id="6" name="Rectangle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06745" y="4498973"/>
                    <a:ext cx="1343188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18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516037" y="5076364"/>
                <a:ext cx="7302500" cy="4826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52579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6403394" y="377221"/>
            <a:ext cx="51712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following.</a:t>
            </a:r>
          </a:p>
          <a:p>
            <a:endParaRPr lang="en-PH" sz="2000" i="1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Cambria Math" charset="0"/>
                <a:cs typeface="Cambria Math" charset="0"/>
              </a:rPr>
              <a:t>With your partner, determine which inequality best represents each context.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2456" y="274108"/>
            <a:ext cx="4470608" cy="630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0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9353" y="420389"/>
                <a:ext cx="1104847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which, if any, of these situations does a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make sense given the context?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which, if any, of these situations does a negative number make sense given the context?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which, if any, of these situations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1,000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make sense given the context?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53" y="420389"/>
                <a:ext cx="11048479" cy="2246769"/>
              </a:xfrm>
              <a:prstGeom prst="rect">
                <a:avLst/>
              </a:prstGeom>
              <a:blipFill>
                <a:blip r:embed="rId4"/>
                <a:stretch>
                  <a:fillRect l="-574" t="-1685"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057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34340" y="2772500"/>
            <a:ext cx="75162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176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142127"/>
            <a:ext cx="10496889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11.7.3 Guided Practice: Translating a Written Description into an Algebraic Inequality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20" y="1297805"/>
                <a:ext cx="11155680" cy="4967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According to the Interstate Highway Standards, U.S. and state highway traffic lanes must be at least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wide.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inequality to represent the width,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𝑤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that traffic lanes can be. 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Represent the inequality on the number line.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List two examples of possible widths, in feet, for the traffic lane.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 one example of a width that is true for the inequality but does not make sense in the real world.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297805"/>
                <a:ext cx="11155680" cy="4967514"/>
              </a:xfrm>
              <a:prstGeom prst="rect">
                <a:avLst/>
              </a:prstGeom>
              <a:blipFill rotWithShape="1">
                <a:blip r:embed="rId5"/>
                <a:stretch>
                  <a:fillRect l="-546" t="-736" b="-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3778" y="3826894"/>
            <a:ext cx="7935774" cy="48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4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508746" y="435954"/>
                <a:ext cx="11042788" cy="4638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High-altitude parachute jumps are usually made for an altitude that is no more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35,000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to avoid frostbite from extreme cold.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represents the height of a jumper, write an inequality to describe all possible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Represent the inequality on the number line.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Does the inequality that represents the situation include 0 as a possible height? 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a negative number does not make sense for this context.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46" y="435954"/>
                <a:ext cx="11042788" cy="4638193"/>
              </a:xfrm>
              <a:prstGeom prst="rect">
                <a:avLst/>
              </a:prstGeom>
              <a:blipFill rotWithShape="1">
                <a:blip r:embed="rId4"/>
                <a:stretch>
                  <a:fillRect l="-552" t="-789" b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265" y="2989497"/>
            <a:ext cx="6045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05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31063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276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63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0" y="142127"/>
            <a:ext cx="10705233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11.7.4 Try It: Writing an Algebraic Inequality and Representing It on a Number Line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276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731519" y="1339169"/>
                <a:ext cx="10831589" cy="397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67.85 ≤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represents the amount of money,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Edin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needs to earn to buy a new bike.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Graph the inequality.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 one value that is true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67.85 ≤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but is unreasonable for the context.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the value you chose is unreasonable.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339169"/>
                <a:ext cx="10831589" cy="3979551"/>
              </a:xfrm>
              <a:prstGeom prst="rect">
                <a:avLst/>
              </a:prstGeom>
              <a:blipFill rotWithShape="1">
                <a:blip r:embed="rId5"/>
                <a:stretch>
                  <a:fillRect l="-563" t="-920" b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738" y="3023475"/>
            <a:ext cx="6045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94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555044" y="390540"/>
                <a:ext cx="10975540" cy="4659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farmer plans to plant more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52.75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acres of oranges.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represents the number of acres of oranges the farmer plants, write an inequality that represents the number of acres the farmer plants.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all the possible values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 number of acres the farmer plans to plant, from the list below.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Graph the inequality.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44" y="390540"/>
                <a:ext cx="10975540" cy="4659737"/>
              </a:xfrm>
              <a:prstGeom prst="rect">
                <a:avLst/>
              </a:prstGeom>
              <a:blipFill rotWithShape="1">
                <a:blip r:embed="rId4"/>
                <a:stretch>
                  <a:fillRect l="-555" t="-785" b="-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760101"/>
                  </p:ext>
                </p:extLst>
              </p:nvPr>
            </p:nvGraphicFramePr>
            <p:xfrm>
              <a:off x="3151187" y="2980381"/>
              <a:ext cx="5318125" cy="14720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722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722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735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115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52.7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acres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52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acres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53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acres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12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52 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acres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52.8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acres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52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acres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760101"/>
                  </p:ext>
                </p:extLst>
              </p:nvPr>
            </p:nvGraphicFramePr>
            <p:xfrm>
              <a:off x="3151187" y="2980381"/>
              <a:ext cx="5318125" cy="14720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722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7722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7735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10115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344" t="-8434" r="-200000" b="-5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100690" t="-8434" r="-100690" b="-5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200000" t="-8434" r="-344" b="-53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605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344" t="-240000" r="-200000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100690" t="-240000" r="-100690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200000" t="-240000" r="-344" b="-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7960" y="5639742"/>
            <a:ext cx="6916077" cy="51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28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000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96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683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11.7.5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5" y="1215707"/>
                <a:ext cx="11110635" cy="3296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Would you rather drive a go-cart with speed,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𝑔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in miles per hour (mph),  represented by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12.5 ≥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𝑔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or an electric bike with speed,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in mph, represented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≥7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 choose the                             because __________.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                            could have a speed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mph.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215707"/>
                <a:ext cx="11110635" cy="3296928"/>
              </a:xfrm>
              <a:prstGeom prst="rect">
                <a:avLst/>
              </a:prstGeom>
              <a:blipFill>
                <a:blip r:embed="rId5"/>
                <a:stretch>
                  <a:fillRect l="-604" t="-1109" r="-220" b="-22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1505" y="2567121"/>
            <a:ext cx="2455894" cy="99211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7080" y="3796564"/>
            <a:ext cx="2455894" cy="99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439298" y="491070"/>
            <a:ext cx="11285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Circle all the values from the list below that are possible speeds for the go-cart.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428016"/>
                  </p:ext>
                </p:extLst>
              </p:nvPr>
            </p:nvGraphicFramePr>
            <p:xfrm>
              <a:off x="2599604" y="1393475"/>
              <a:ext cx="6965244" cy="15206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409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0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416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416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1.25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15.2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10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12.45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11.95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11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mph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428016"/>
                  </p:ext>
                </p:extLst>
              </p:nvPr>
            </p:nvGraphicFramePr>
            <p:xfrm>
              <a:off x="2599604" y="1393475"/>
              <a:ext cx="6965244" cy="15206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409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0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416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416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604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1475" r="-301460" b="-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275" t="-11475" r="-199275" b="-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00730" t="-11475" r="-100730" b="-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98551" t="-11475" b="-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01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13333" r="-30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99275" t="-113333" r="-1992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00730" t="-113333" r="-100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98551" t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670791" y="357586"/>
            <a:ext cx="107997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Represent the speed of the electric bike on the number line. 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Represent the speed of the go-cart on the number line.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why the number lines do not include negative numbers.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9750" y="836617"/>
            <a:ext cx="6032500" cy="469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9750" y="2106549"/>
            <a:ext cx="60325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49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70392" y="138528"/>
            <a:ext cx="985121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166440"/>
                <a:ext cx="10800318" cy="2332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At Universal Studios, a person must be at least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inches (in.) tall to ride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Revenge of the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Mummy</a:t>
                </a:r>
                <a:r>
                  <a:rPr lang="en-US" sz="2000" baseline="30000" dirty="0" err="1">
                    <a:latin typeface="Verdana" charset="0"/>
                    <a:ea typeface="Verdana" charset="0"/>
                    <a:cs typeface="Verdana" charset="0"/>
                  </a:rPr>
                  <a:t>TM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inequality representing the height,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 person must be to go on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ride.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all values from the list below that satisfy this inequality.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166440"/>
                <a:ext cx="10800318" cy="2332946"/>
              </a:xfrm>
              <a:prstGeom prst="rect">
                <a:avLst/>
              </a:prstGeom>
              <a:blipFill rotWithShape="1">
                <a:blip r:embed="rId5"/>
                <a:stretch>
                  <a:fillRect l="-621" t="-1305" b="-2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7045503"/>
                  </p:ext>
                </p:extLst>
              </p:nvPr>
            </p:nvGraphicFramePr>
            <p:xfrm>
              <a:off x="1991168" y="3755295"/>
              <a:ext cx="6905944" cy="213957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261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261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268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268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915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47.9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100 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48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48.5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772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70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48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400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772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48.099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48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50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47.9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in.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7045503"/>
                  </p:ext>
                </p:extLst>
              </p:nvPr>
            </p:nvGraphicFramePr>
            <p:xfrm>
              <a:off x="1991168" y="3755295"/>
              <a:ext cx="6905944" cy="213957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2612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72612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7268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7268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6233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353" t="-12745" r="-300353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100353" t="-12745" r="-200353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199648" t="-12745" r="-99648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300707" t="-12745" b="-245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577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353" t="-92000" r="-30035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100353" t="-92000" r="-20035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199648" t="-92000" r="-9964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300707" t="-92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58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353" t="-193548" r="-300353" b="-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100353" t="-193548" r="-200353" b="-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199648" t="-193548" r="-99648" b="-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6"/>
                          <a:stretch>
                            <a:fillRect l="-300707" t="-193548" b="-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2,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555044" y="469156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Graph the inequality on the number line.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5629" y="1085542"/>
            <a:ext cx="6840741" cy="488624"/>
          </a:xfrm>
          <a:prstGeom prst="rect">
            <a:avLst/>
          </a:prstGeom>
        </p:spPr>
      </p:pic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7FC1A2E-C11E-2F45-B64D-4833634C65E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FA26E5-35EA-48B8-8FEA-3B7E6D0EB5E3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EA72AA7A-E3E1-4FAA-B5AD-871F051BFA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F84F40-D2B9-4B20-91F2-BE4745E5C4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1265</Words>
  <Application>Microsoft Office PowerPoint</Application>
  <PresentationFormat>Widescreen</PresentationFormat>
  <Paragraphs>218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Math  Unit 11, Lesson 7  Translating Real-World Written Descriptions into Algebraic Inequalities  Volume 2, pg. 272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37</cp:revision>
  <dcterms:created xsi:type="dcterms:W3CDTF">2015-03-17T18:51:18Z</dcterms:created>
  <dcterms:modified xsi:type="dcterms:W3CDTF">2023-07-07T06:48:30Z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