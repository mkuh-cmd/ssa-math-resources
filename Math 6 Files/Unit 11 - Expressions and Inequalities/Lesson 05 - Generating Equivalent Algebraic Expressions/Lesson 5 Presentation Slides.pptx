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26"/>
  </p:notesMasterIdLst>
  <p:sldIdLst>
    <p:sldId id="256" r:id="rId5"/>
    <p:sldId id="257" r:id="rId6"/>
    <p:sldId id="285" r:id="rId7"/>
    <p:sldId id="286" r:id="rId8"/>
    <p:sldId id="261" r:id="rId9"/>
    <p:sldId id="287" r:id="rId10"/>
    <p:sldId id="332" r:id="rId11"/>
    <p:sldId id="333" r:id="rId12"/>
    <p:sldId id="334" r:id="rId13"/>
    <p:sldId id="335" r:id="rId14"/>
    <p:sldId id="337" r:id="rId15"/>
    <p:sldId id="338" r:id="rId16"/>
    <p:sldId id="320" r:id="rId17"/>
    <p:sldId id="321" r:id="rId18"/>
    <p:sldId id="339" r:id="rId19"/>
    <p:sldId id="302" r:id="rId20"/>
    <p:sldId id="303" r:id="rId21"/>
    <p:sldId id="309" r:id="rId22"/>
    <p:sldId id="336" r:id="rId23"/>
    <p:sldId id="306" r:id="rId24"/>
    <p:sldId id="307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99C8"/>
    <a:srgbClr val="1F3165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271"/>
    <p:restoredTop sz="94694"/>
  </p:normalViewPr>
  <p:slideViewPr>
    <p:cSldViewPr snapToGrid="0">
      <p:cViewPr varScale="1">
        <p:scale>
          <a:sx n="71" d="100"/>
          <a:sy n="71" d="100"/>
        </p:scale>
        <p:origin x="78" y="18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55" Type="http://customschemas.google.com/relationships/presentationmetadata" Target="meta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59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9955995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90666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66832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77848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1110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654415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64145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65849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07359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35442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0458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79327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9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png"/><Relationship Id="rId5" Type="http://schemas.openxmlformats.org/officeDocument/2006/relationships/image" Target="../media/image250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90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344802" y="2054276"/>
            <a:ext cx="516890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11, Lesson 5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Generating Equivalent Algebraic Expressions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261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70701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AB08A17F-C082-CD48-B100-6B09C860CC1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1762" y="1850136"/>
            <a:ext cx="3090582" cy="36027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37332" y="-88032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730265" y="1237668"/>
            <a:ext cx="10427591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MA.6.AR.1.4 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Apply the properties of operations to generate equivalent algebraic expressions with integer coefficients.</a:t>
            </a:r>
            <a:endParaRPr lang="en-US" sz="2400" i="1" dirty="0">
              <a:latin typeface="Verdana" charset="0"/>
              <a:ea typeface="Verdana" charset="0"/>
              <a:cs typeface="Verdana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237332" y="0"/>
            <a:ext cx="1026886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261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729816" y="1411332"/>
            <a:ext cx="1077638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237332" y="-88032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261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730265" y="1404257"/>
            <a:ext cx="10819477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apply properties of operations to generate equivalent expressions.</a:t>
            </a:r>
            <a:endParaRPr lang="en-US" sz="2400" i="1" dirty="0">
              <a:latin typeface="Verdana" charset="0"/>
              <a:ea typeface="Verdana" charset="0"/>
              <a:cs typeface="Verdan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852928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5846" y="2705953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28438" y="279372"/>
            <a:ext cx="10706946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11.5.1 Warm-Up: Missing Number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553816" y="4729481"/>
            <a:ext cx="1079998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is the first number you tried for the missing number?</a:t>
            </a: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Did your first number work for the rest of the pattern?</a:t>
            </a:r>
          </a:p>
          <a:p>
            <a:pPr marL="457200" indent="-457200">
              <a:buFont typeface="+mj-lt"/>
              <a:buAutoNum type="arabicPeriod"/>
            </a:pP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strategy did you try if your first number did not work?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2870" y="1107282"/>
            <a:ext cx="4798082" cy="355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199888" y="2766150"/>
            <a:ext cx="725647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262</a:t>
            </a:r>
          </a:p>
        </p:txBody>
      </p:sp>
    </p:spTree>
    <p:extLst>
      <p:ext uri="{BB962C8B-B14F-4D97-AF65-F5344CB8AC3E}">
        <p14:creationId xmlns:p14="http://schemas.microsoft.com/office/powerpoint/2010/main" val="1385726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9318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37332" y="60990"/>
            <a:ext cx="10598052" cy="86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11.5.2 Guided Instruction: Generating Equivalent Algebraic Expressions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1212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1B13E8-EC8D-E443-A329-C5E3593DD13A}"/>
              </a:ext>
            </a:extLst>
          </p:cNvPr>
          <p:cNvSpPr txBox="1"/>
          <p:nvPr/>
        </p:nvSpPr>
        <p:spPr>
          <a:xfrm>
            <a:off x="730266" y="1346765"/>
            <a:ext cx="10800318" cy="3958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Consider the following expressions.</a:t>
            </a: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lnSpc>
                <a:spcPct val="107000"/>
              </a:lnSpc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Which of these expressions are equivalent?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  <a:p>
            <a:pPr marL="342900" indent="-342900">
              <a:lnSpc>
                <a:spcPct val="107000"/>
              </a:lnSpc>
              <a:buFont typeface="+mj-lt"/>
              <a:buAutoNum type="alphaLcPeriod"/>
            </a:pPr>
            <a:endParaRPr lang="en-PH" sz="2000" dirty="0">
              <a:latin typeface="Verdana" charset="0"/>
              <a:ea typeface="Verdana" charset="0"/>
              <a:cs typeface="Verdana" charset="0"/>
            </a:endParaRPr>
          </a:p>
          <a:p>
            <a:pPr marL="342900" indent="-342900">
              <a:lnSpc>
                <a:spcPct val="107000"/>
              </a:lnSpc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lnSpc>
                <a:spcPct val="107000"/>
              </a:lnSpc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Which property of operation justifies that the expressions are equivalent?</a:t>
            </a:r>
          </a:p>
          <a:p>
            <a:pPr marL="914400" indent="-457200">
              <a:lnSpc>
                <a:spcPct val="107000"/>
              </a:lnSpc>
              <a:buFont typeface="+mj-lt"/>
              <a:buAutoNum type="alphaLcPeriod"/>
            </a:pPr>
            <a:endParaRPr lang="en-PH" sz="2000" dirty="0">
              <a:latin typeface="Verdana" charset="0"/>
              <a:ea typeface="Verdana" charset="0"/>
              <a:cs typeface="Verdana" charset="0"/>
            </a:endParaRPr>
          </a:p>
          <a:p>
            <a:pPr marL="914400" indent="-457200">
              <a:lnSpc>
                <a:spcPct val="107000"/>
              </a:lnSpc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Write two equivalent expressions. Name the property or properties you used to create each equivalent expression.</a:t>
            </a:r>
            <a:endParaRPr lang="en-US" sz="2000" i="1" dirty="0">
              <a:latin typeface="Cambria Math" charset="0"/>
              <a:ea typeface="Cambria Math" charset="0"/>
              <a:cs typeface="Cambria Math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53300586"/>
                  </p:ext>
                </p:extLst>
              </p:nvPr>
            </p:nvGraphicFramePr>
            <p:xfrm>
              <a:off x="2857343" y="1985440"/>
              <a:ext cx="6028690" cy="3657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00914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0977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00977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8∙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+8∙9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8(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+9)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8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+9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Cambria Math" charset="0"/>
                            <a:ea typeface="Cambria Math" charset="0"/>
                            <a:cs typeface="Cambria Math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53300586"/>
                  </p:ext>
                </p:extLst>
              </p:nvPr>
            </p:nvGraphicFramePr>
            <p:xfrm>
              <a:off x="2857343" y="1985440"/>
              <a:ext cx="6028690" cy="3657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00914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200977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200977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1">
                          <a:blip r:embed="rId5"/>
                          <a:stretch>
                            <a:fillRect l="-303" t="-1667" r="-199697" b="-1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1">
                          <a:blip r:embed="rId5"/>
                          <a:stretch>
                            <a:fillRect l="-100608" t="-1667" r="-100304" b="-18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1">
                          <a:blip r:embed="rId5"/>
                          <a:stretch>
                            <a:fillRect l="-200000" t="-1667" b="-1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0915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262-263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647917" y="380593"/>
                <a:ext cx="10882668" cy="57400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For each expression, use the associative and commutative properties to generate an equivalent expression.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PH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4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Rewrite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−11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𝑏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+3(10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𝑘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+1)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using the distributive property.</a:t>
                </a: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4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4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Rewrite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−11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𝑏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+3(10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𝑘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+1)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using the commutative property of multiplication.</a:t>
                </a: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4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 startAt="4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Rewrite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−11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𝑏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+3(10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𝑘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+1)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using the commutative property of addition.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917" y="380593"/>
                <a:ext cx="10882668" cy="5740033"/>
              </a:xfrm>
              <a:prstGeom prst="rect">
                <a:avLst/>
              </a:prstGeom>
              <a:blipFill rotWithShape="1">
                <a:blip r:embed="rId4"/>
                <a:stretch>
                  <a:fillRect l="-560" t="-637" b="-4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49188075"/>
                  </p:ext>
                </p:extLst>
              </p:nvPr>
            </p:nvGraphicFramePr>
            <p:xfrm>
              <a:off x="1249515" y="1309973"/>
              <a:ext cx="6598920" cy="263599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93484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2473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33934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5371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Original Expression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Associative Property 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Commutative Property 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1795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3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𝑥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+5</m:t>
                                    </m:r>
                                  </m:e>
                                </m:d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+4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𝑧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8021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8∙(−1∙13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𝑑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49188075"/>
                  </p:ext>
                </p:extLst>
              </p:nvPr>
            </p:nvGraphicFramePr>
            <p:xfrm>
              <a:off x="1249515" y="1309973"/>
              <a:ext cx="6598920" cy="269377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93484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232473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233934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</a:tblGrid>
                  <a:tr h="74371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Original Expression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Associative Property 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Commutative Property 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10698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5"/>
                          <a:stretch>
                            <a:fillRect l="-315" t="-72727" r="-241640" b="-81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88021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5"/>
                          <a:stretch>
                            <a:fillRect l="-315" t="-211111" r="-2416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01371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95890628"/>
                  </p:ext>
                </p:extLst>
              </p:nvPr>
            </p:nvGraphicFramePr>
            <p:xfrm>
              <a:off x="2298221" y="1684112"/>
              <a:ext cx="7366958" cy="2829612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68347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8347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3264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Makayla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8507" marR="3850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Soledad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8507" marR="3850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0954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−14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−5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h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+9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8507" marR="3850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h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  <m:t>∙−5+9</m:t>
                                    </m:r>
                                  </m:e>
                                </m:d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∙−14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8507" marR="3850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0954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h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= _________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8507" marR="3850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h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Verdana" charset="0"/>
                                    <a:cs typeface="Verdana" charset="0"/>
                                  </a:rPr>
                                  <m:t>= _________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8507" marR="3850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605776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8507" marR="3850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8507" marR="3850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95890628"/>
                  </p:ext>
                </p:extLst>
              </p:nvPr>
            </p:nvGraphicFramePr>
            <p:xfrm>
              <a:off x="2298221" y="1684112"/>
              <a:ext cx="7366958" cy="285850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683479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3683479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41757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 err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Makayla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8507" marR="3850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Soledad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8507" marR="3850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4175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8507" marR="3850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110294" r="-100166" b="-489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8507" marR="3850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000" t="-110294" r="-166" b="-4897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4175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8507" marR="3850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207246" r="-100166" b="-3826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38507" marR="3850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000" t="-207246" r="-166" b="-3826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1605776"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8507" marR="3850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38507" marR="3850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647917" y="380593"/>
                <a:ext cx="10882668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7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Makayla and Soledad both rewrote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−5</m:t>
                        </m:r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h</m:t>
                        </m:r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+9</m:t>
                        </m:r>
                      </m:e>
                    </m:d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∙−14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using the commutative property of multiplication. Verify that their expressions are equivalent by substituting a value in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h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Show your work in the table.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917" y="380593"/>
                <a:ext cx="10882668" cy="1015663"/>
              </a:xfrm>
              <a:prstGeom prst="rect">
                <a:avLst/>
              </a:prstGeom>
              <a:blipFill rotWithShape="1">
                <a:blip r:embed="rId5"/>
                <a:stretch>
                  <a:fillRect l="-560" t="-3593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0148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647917" y="380593"/>
                <a:ext cx="10882668" cy="4239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i="0" dirty="0">
                    <a:effectLst/>
                    <a:latin typeface="Verdana" panose="020B0604030504040204" pitchFamily="34" charset="0"/>
                    <a:ea typeface="Cambria Math" panose="02040503050406030204" pitchFamily="18" charset="0"/>
                    <a:cs typeface="Cambria Math" panose="02040503050406030204" pitchFamily="18" charset="0"/>
                  </a:rPr>
                  <a:t>There are some fundamental definitions that are necessary to know for working with algebraic expressions. </a:t>
                </a:r>
                <a:endParaRPr lang="en-US" sz="2000" i="1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i="0" dirty="0">
                    <a:effectLst/>
                    <a:latin typeface="Verdana" panose="020B0604030504040204" pitchFamily="34" charset="0"/>
                    <a:ea typeface="Cambria Math" panose="02040503050406030204" pitchFamily="18" charset="0"/>
                    <a:cs typeface="Cambria Math" panose="02040503050406030204" pitchFamily="18" charset="0"/>
                  </a:rPr>
                  <a:t>The expression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5−3</m:t>
                    </m:r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i="0" dirty="0">
                    <a:effectLst/>
                    <a:latin typeface="Verdana" panose="020B0604030504040204" pitchFamily="34" charset="0"/>
                    <a:ea typeface="Cambria Math" panose="02040503050406030204" pitchFamily="18" charset="0"/>
                    <a:cs typeface="Cambria Math" panose="02040503050406030204" pitchFamily="18" charset="0"/>
                  </a:rPr>
                  <a:t> has two terms.</a:t>
                </a:r>
                <a:endParaRPr lang="en-US" sz="2000" i="1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000" i="0" dirty="0">
                    <a:effectLst/>
                    <a:latin typeface="Verdana" panose="020B0604030504040204" pitchFamily="34" charset="0"/>
                    <a:ea typeface="Cambria Math" panose="02040503050406030204" pitchFamily="18" charset="0"/>
                    <a:cs typeface="Cambria Math" panose="02040503050406030204" pitchFamily="18" charset="0"/>
                  </a:rPr>
                  <a:t>The term,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2000" i="0" dirty="0">
                    <a:effectLst/>
                    <a:latin typeface="Verdana" panose="020B0604030504040204" pitchFamily="34" charset="0"/>
                    <a:ea typeface="Cambria Math" panose="02040503050406030204" pitchFamily="18" charset="0"/>
                    <a:cs typeface="Cambria Math" panose="02040503050406030204" pitchFamily="18" charset="0"/>
                  </a:rPr>
                  <a:t>, is a constant term because it is a fixed numerical value with no variable. </a:t>
                </a:r>
                <a:endParaRPr lang="en-US" sz="2000" i="1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r>
                  <a:rPr lang="en-US" sz="2000" i="0" dirty="0">
                    <a:effectLst/>
                    <a:latin typeface="Verdana" panose="020B0604030504040204" pitchFamily="34" charset="0"/>
                    <a:ea typeface="Cambria Math" panose="02040503050406030204" pitchFamily="18" charset="0"/>
                    <a:cs typeface="Cambria Math" panose="02040503050406030204" pitchFamily="18" charset="0"/>
                  </a:rPr>
                  <a:t>The term,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20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3</m:t>
                    </m:r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i="0" dirty="0">
                    <a:effectLst/>
                    <a:latin typeface="Verdana" panose="020B0604030504040204" pitchFamily="34" charset="0"/>
                    <a:ea typeface="Cambria Math" panose="02040503050406030204" pitchFamily="18" charset="0"/>
                    <a:cs typeface="Cambria Math" panose="02040503050406030204" pitchFamily="18" charset="0"/>
                  </a:rPr>
                  <a:t>, is a variable term with a coefficient being multiplied by the variable.</a:t>
                </a:r>
                <a:r>
                  <a:rPr lang="en-US" sz="2000" dirty="0">
                    <a:effectLst/>
                  </a:rPr>
                  <a:t> </a:t>
                </a:r>
                <a:endParaRPr lang="en-US" sz="2000" i="1" dirty="0">
                  <a:effectLst/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917" y="380593"/>
                <a:ext cx="10882668" cy="4239109"/>
              </a:xfrm>
              <a:prstGeom prst="rect">
                <a:avLst/>
              </a:prstGeom>
              <a:blipFill>
                <a:blip r:embed="rId4"/>
                <a:stretch>
                  <a:fillRect l="-466" t="-597" b="-1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3CB11BC3-4DCF-7726-4C80-9FDA036BE7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9574" y="1035878"/>
            <a:ext cx="6657040" cy="11660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FD8B3D3-FEC9-27C8-A90C-328D8CED84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3502" y="4280524"/>
            <a:ext cx="6335684" cy="251431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9CAD2A0-EF1D-AC8F-2085-DB57889587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2217656"/>
            <a:ext cx="2232475" cy="902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714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647917" y="380593"/>
                <a:ext cx="10882668" cy="43119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i="0" dirty="0">
                    <a:effectLst/>
                    <a:latin typeface="Verdana" panose="020B0604030504040204" pitchFamily="34" charset="0"/>
                    <a:ea typeface="Cambria Math" panose="02040503050406030204" pitchFamily="18" charset="0"/>
                    <a:cs typeface="Cambria Math" panose="02040503050406030204" pitchFamily="18" charset="0"/>
                  </a:rPr>
                  <a:t>Like terms can be combined when adding and subtracting.</a:t>
                </a:r>
                <a:endParaRPr lang="en-US" sz="2000" i="1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marR="0" lvl="0" indent="-34290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 startAt="8"/>
                </a:pPr>
                <a:r>
                  <a:rPr lang="en-US" sz="2000" i="0" dirty="0">
                    <a:effectLst/>
                    <a:latin typeface="Verdana" panose="020B0604030504040204" pitchFamily="34" charset="0"/>
                    <a:ea typeface="Cambria Math" panose="02040503050406030204" pitchFamily="18" charset="0"/>
                    <a:cs typeface="Cambria Math" panose="02040503050406030204" pitchFamily="18" charset="0"/>
                  </a:rPr>
                  <a:t>Rewrite each expression by combining like terms and applying any properties of operations.</a:t>
                </a:r>
                <a:endParaRPr lang="en-US" sz="2000" i="1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marL="457200" marR="0">
                  <a:lnSpc>
                    <a:spcPct val="107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000" i="0" dirty="0">
                    <a:effectLst/>
                    <a:latin typeface="Verdana" panose="020B0604030504040204" pitchFamily="34" charset="0"/>
                    <a:ea typeface="Cambria Math" panose="02040503050406030204" pitchFamily="18" charset="0"/>
                    <a:cs typeface="Cambria Math" panose="02040503050406030204" pitchFamily="18" charset="0"/>
                  </a:rPr>
                  <a:t> </a:t>
                </a:r>
                <a:endParaRPr lang="en-US" sz="2000" i="1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marL="457200" marR="0" lvl="1">
                  <a:lnSpc>
                    <a:spcPct val="2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000" dirty="0">
                    <a:effectLst/>
                    <a:ea typeface="Cambria Math" panose="02040503050406030204" pitchFamily="18" charset="0"/>
                    <a:cs typeface="Cambria Math" panose="02040503050406030204" pitchFamily="18" charset="0"/>
                  </a:rPr>
                  <a:t>a. 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5</m:t>
                    </m:r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−3</m:t>
                    </m:r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i="0" dirty="0">
                    <a:effectLst/>
                    <a:latin typeface="Verdana" panose="020B0604030504040204" pitchFamily="34" charset="0"/>
                    <a:ea typeface="Cambria Math" panose="02040503050406030204" pitchFamily="18" charset="0"/>
                    <a:cs typeface="Cambria Math" panose="02040503050406030204" pitchFamily="18" charset="0"/>
                  </a:rPr>
                  <a:t> ________________</a:t>
                </a:r>
                <a:endParaRPr lang="en-US" sz="2000" i="1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marL="457200" marR="0" lvl="1">
                  <a:lnSpc>
                    <a:spcPct val="2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000" dirty="0">
                    <a:effectLst/>
                    <a:ea typeface="Cambria Math" panose="02040503050406030204" pitchFamily="18" charset="0"/>
                    <a:cs typeface="Cambria Math" panose="02040503050406030204" pitchFamily="18" charset="0"/>
                  </a:rPr>
                  <a:t>b. 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−2</m:t>
                    </m:r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+4+4</m:t>
                    </m:r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−1=</m:t>
                    </m:r>
                  </m:oMath>
                </a14:m>
                <a:r>
                  <a:rPr lang="en-US" sz="2000" i="0" dirty="0">
                    <a:effectLst/>
                    <a:latin typeface="Verdana" panose="020B0604030504040204" pitchFamily="34" charset="0"/>
                    <a:ea typeface="Cambria Math" panose="02040503050406030204" pitchFamily="18" charset="0"/>
                    <a:cs typeface="Cambria Math" panose="02040503050406030204" pitchFamily="18" charset="0"/>
                  </a:rPr>
                  <a:t> ______________</a:t>
                </a:r>
                <a:endParaRPr lang="en-US" sz="2000" i="1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marL="457200" marR="0" lvl="1">
                  <a:lnSpc>
                    <a:spcPct val="25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000" dirty="0">
                    <a:effectLst/>
                    <a:ea typeface="Cambria Math" panose="02040503050406030204" pitchFamily="18" charset="0"/>
                    <a:cs typeface="Cambria Math" panose="02040503050406030204" pitchFamily="18" charset="0"/>
                  </a:rPr>
                  <a:t>c.  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6</m:t>
                    </m:r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+2</m:t>
                    </m:r>
                    <m:d>
                      <m:dPr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i="0" dirty="0">
                    <a:effectLst/>
                    <a:latin typeface="Verdana" panose="020B0604030504040204" pitchFamily="34" charset="0"/>
                    <a:ea typeface="Cambria Math" panose="02040503050406030204" pitchFamily="18" charset="0"/>
                    <a:cs typeface="Cambria Math" panose="02040503050406030204" pitchFamily="18" charset="0"/>
                  </a:rPr>
                  <a:t> _______________</a:t>
                </a:r>
                <a:endParaRPr lang="en-US" sz="2000" i="1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917" y="380593"/>
                <a:ext cx="10882668" cy="4311950"/>
              </a:xfrm>
              <a:prstGeom prst="rect">
                <a:avLst/>
              </a:prstGeom>
              <a:blipFill>
                <a:blip r:embed="rId4"/>
                <a:stretch>
                  <a:fillRect l="-466" t="-880" r="-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3683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309256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264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098E9CE-9B4F-0D4F-9369-4E0B8D4E3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6858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39840" y="86727"/>
            <a:ext cx="10734446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11.5.3 Try It: Writing Equivalent Algebraic Expressions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264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0B7508E-1910-D441-91B6-6EA6022F2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B6A3A1-5A0D-C84F-AC89-57E6782F43E5}"/>
                  </a:ext>
                </a:extLst>
              </p:cNvPr>
              <p:cNvSpPr txBox="1"/>
              <p:nvPr/>
            </p:nvSpPr>
            <p:spPr>
              <a:xfrm>
                <a:off x="730928" y="1325700"/>
                <a:ext cx="1091678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Select the expressions that are equivalent to </a:t>
                </a:r>
                <a:r>
                  <a:rPr lang="en-US" sz="2000" i="1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(2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+7)+(5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−3)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B6A3A1-5A0D-C84F-AC89-57E6782F4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928" y="1325700"/>
                <a:ext cx="10916786" cy="400110"/>
              </a:xfrm>
              <a:prstGeom prst="rect">
                <a:avLst/>
              </a:prstGeom>
              <a:blipFill>
                <a:blip r:embed="rId5"/>
                <a:stretch>
                  <a:fillRect l="-581" t="-937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6723FB8-6CC3-F250-E740-855C885385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3276" y="1768746"/>
            <a:ext cx="3098800" cy="27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3594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39840" y="86727"/>
            <a:ext cx="10734446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11.5.3 Try It: Writing Equivalent Algebraic Expressions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264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0B7508E-1910-D441-91B6-6EA6022F2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AB6A3A1-5A0D-C84F-AC89-57E6782F43E5}"/>
              </a:ext>
            </a:extLst>
          </p:cNvPr>
          <p:cNvSpPr txBox="1"/>
          <p:nvPr/>
        </p:nvSpPr>
        <p:spPr>
          <a:xfrm>
            <a:off x="730928" y="1325700"/>
            <a:ext cx="10916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Write two equivalent algebraic expressions for each expression below.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5368373"/>
                  </p:ext>
                </p:extLst>
              </p:nvPr>
            </p:nvGraphicFramePr>
            <p:xfrm>
              <a:off x="1403176" y="1767653"/>
              <a:ext cx="8128000" cy="2660523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457200" indent="-457200" algn="l"/>
                          <a:r>
                            <a:rPr lang="en-PH" sz="2000" dirty="0">
                              <a:latin typeface="Verdana" pitchFamily="34" charset="0"/>
                              <a:ea typeface="Verdana" pitchFamily="34" charset="0"/>
                            </a:rPr>
                            <a:t>a.</a:t>
                          </a:r>
                          <a:r>
                            <a:rPr lang="en-US" sz="2000" dirty="0"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	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  <a:ea typeface="Verdana" charset="0"/>
                                    </a:rPr>
                                  </m:ctrlPr>
                                </m:dPr>
                                <m:e>
                                  <m:r>
                                    <a:rPr lang="en-PH" sz="2000" b="0" i="1" smtClean="0">
                                      <a:latin typeface="Cambria Math"/>
                                      <a:ea typeface="Verdana" charset="0"/>
                                    </a:rPr>
                                    <m:t>4+9</m:t>
                                  </m:r>
                                </m:e>
                              </m:d>
                              <m:r>
                                <a:rPr lang="en-US" sz="2000" i="1" smtClean="0">
                                  <a:latin typeface="Cambria Math"/>
                                  <a:ea typeface="Cambria Math"/>
                                </a:rPr>
                                <m:t>∙</m:t>
                              </m:r>
                              <m:r>
                                <a:rPr lang="en-PH" sz="2000" b="0" i="1" smtClean="0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457200" indent="-457200" algn="l"/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457200" indent="-457200" algn="l"/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457200" indent="-457200" algn="l"/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457200" indent="-457200" algn="l"/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457200" indent="-457200" algn="l"/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457200" indent="-457200" algn="l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 marR="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457200" indent="-457200" algn="l"/>
                          <a:r>
                            <a:rPr lang="en-PH" sz="2000" dirty="0">
                              <a:latin typeface="Verdana" pitchFamily="34" charset="0"/>
                              <a:ea typeface="Verdana" pitchFamily="34" charset="0"/>
                            </a:rPr>
                            <a:t>b.</a:t>
                          </a:r>
                          <a:r>
                            <a:rPr lang="en-US" sz="2000" dirty="0"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	</a:t>
                          </a:r>
                          <a14:m>
                            <m:oMath xmlns:m="http://schemas.openxmlformats.org/officeDocument/2006/math">
                              <m:r>
                                <a:rPr lang="en-PH" sz="2000" b="0" i="1" smtClean="0">
                                  <a:latin typeface="Cambria Math"/>
                                  <a:ea typeface="Verdana" charset="0"/>
                                  <a:cs typeface="Verdana" charset="0"/>
                                </a:rPr>
                                <m:t>3</m:t>
                              </m:r>
                              <m:r>
                                <a:rPr lang="en-PH" sz="2000" b="0" i="1" smtClean="0">
                                  <a:latin typeface="Cambria Math"/>
                                  <a:ea typeface="Verdana" charset="0"/>
                                  <a:cs typeface="Verdana" charset="0"/>
                                </a:rPr>
                                <m:t>𝑡</m:t>
                              </m:r>
                              <m:r>
                                <a:rPr lang="en-PH" sz="2000" b="0" i="1" smtClean="0">
                                  <a:latin typeface="Cambria Math"/>
                                  <a:ea typeface="Cambria Math"/>
                                  <a:cs typeface="Verdana" charset="0"/>
                                </a:rPr>
                                <m:t>∙4</m:t>
                              </m:r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457200" indent="-457200" algn="l"/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457200" indent="-457200" algn="l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457200" indent="-457200" algn="l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457200" indent="-457200" algn="l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457200" indent="-457200" algn="l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457200" indent="-457200" algn="l"/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 marR="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457200" indent="-457200" algn="l"/>
                          <a:r>
                            <a:rPr lang="en-PH" sz="2000" dirty="0">
                              <a:latin typeface="Verdana" pitchFamily="34" charset="0"/>
                              <a:ea typeface="Verdana" pitchFamily="34" charset="0"/>
                            </a:rPr>
                            <a:t>c.</a:t>
                          </a:r>
                          <a:r>
                            <a:rPr lang="en-US" sz="2000" dirty="0"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	</a:t>
                          </a:r>
                          <a14:m>
                            <m:oMath xmlns:m="http://schemas.openxmlformats.org/officeDocument/2006/math">
                              <m:r>
                                <a:rPr lang="en-PH" sz="2000" b="0" i="1" smtClean="0">
                                  <a:latin typeface="Cambria Math"/>
                                  <a:ea typeface="Verdana" charset="0"/>
                                  <a:cs typeface="Verdana" charset="0"/>
                                </a:rPr>
                                <m:t>−7</m:t>
                              </m:r>
                              <m:r>
                                <a:rPr lang="en-PH" sz="2000" b="0" i="1" smtClean="0">
                                  <a:latin typeface="Cambria Math"/>
                                  <a:ea typeface="Verdana" charset="0"/>
                                  <a:cs typeface="Verdana" charset="0"/>
                                </a:rPr>
                                <m:t>𝑥</m:t>
                              </m:r>
                              <m:r>
                                <a:rPr lang="en-PH" sz="2000" b="0" i="1" smtClean="0">
                                  <a:latin typeface="Cambria Math"/>
                                  <a:ea typeface="Verdana" charset="0"/>
                                  <a:cs typeface="Verdana" charset="0"/>
                                </a:rPr>
                                <m:t>+3−14</m:t>
                              </m:r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 marR="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457200" indent="-457200" algn="l"/>
                          <a:r>
                            <a:rPr lang="en-PH" sz="2000" dirty="0">
                              <a:latin typeface="Verdana" pitchFamily="34" charset="0"/>
                              <a:ea typeface="Verdana" pitchFamily="34" charset="0"/>
                            </a:rPr>
                            <a:t>d.</a:t>
                          </a:r>
                          <a:r>
                            <a:rPr lang="en-US" sz="2000" dirty="0"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	</a:t>
                          </a:r>
                          <a14:m>
                            <m:oMath xmlns:m="http://schemas.openxmlformats.org/officeDocument/2006/math">
                              <m:r>
                                <a:rPr lang="en-PH" sz="2000" b="0" i="1" smtClean="0">
                                  <a:latin typeface="Cambria Math"/>
                                  <a:ea typeface="Verdana" charset="0"/>
                                  <a:cs typeface="Verdana" charset="0"/>
                                </a:rPr>
                                <m:t>3</m:t>
                              </m:r>
                              <m:d>
                                <m:dPr>
                                  <m:ctrlPr>
                                    <a:rPr lang="en-PH" sz="2000" b="0" i="1" smtClean="0">
                                      <a:latin typeface="Cambria Math" panose="02040503050406030204" pitchFamily="18" charset="0"/>
                                      <a:ea typeface="Verdana" charset="0"/>
                                    </a:rPr>
                                  </m:ctrlPr>
                                </m:dPr>
                                <m:e>
                                  <m:sPre>
                                    <m:sPrePr>
                                      <m:ctrlPr>
                                        <a:rPr lang="en-US" sz="2000" i="1" smtClean="0">
                                          <a:latin typeface="Cambria Math" panose="02040503050406030204" pitchFamily="18" charset="0"/>
                                          <a:ea typeface="Verdana" charset="0"/>
                                          <a:cs typeface="Verdana" charset="0"/>
                                        </a:rPr>
                                      </m:ctrlPr>
                                    </m:sPrePr>
                                    <m:sub/>
                                    <m:sup>
                                      <m:r>
                                        <a:rPr lang="en-US" sz="2000">
                                          <a:latin typeface="Cambria Math" charset="0"/>
                                          <a:ea typeface="Verdana" charset="0"/>
                                          <a:cs typeface="Verdana" charset="0"/>
                                        </a:rPr>
                                        <m:t>−</m:t>
                                      </m:r>
                                    </m:sup>
                                    <m:e>
                                      <m:r>
                                        <a:rPr lang="en-US" sz="2000">
                                          <a:latin typeface="Cambria Math" charset="0"/>
                                          <a:ea typeface="Verdana" charset="0"/>
                                          <a:cs typeface="Verdana" charset="0"/>
                                        </a:rPr>
                                        <m:t>9</m:t>
                                      </m:r>
                                    </m:e>
                                  </m:sPre>
                                  <m:r>
                                    <a:rPr lang="en-PH" sz="2000" b="0" i="1" smtClean="0">
                                      <a:latin typeface="Cambria Math"/>
                                      <a:ea typeface="Verdana" charset="0"/>
                                    </a:rPr>
                                    <m:t>𝑝</m:t>
                                  </m:r>
                                  <m:r>
                                    <a:rPr lang="en-PH" sz="2000" b="0" i="1" smtClean="0">
                                      <a:latin typeface="Cambria Math"/>
                                      <a:ea typeface="Verdana" charset="0"/>
                                    </a:rPr>
                                    <m:t>−4</m:t>
                                  </m:r>
                                </m:e>
                              </m:d>
                              <m:r>
                                <a:rPr lang="en-PH" sz="2000" b="0" i="1" smtClean="0">
                                  <a:latin typeface="Cambria Math"/>
                                  <a:ea typeface="Verdana" charset="0"/>
                                </a:rPr>
                                <m:t>+7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Verdana" charset="0"/>
                                </a:rPr>
                                <m:t>𝑝</m:t>
                              </m:r>
                            </m:oMath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 marR="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5368373"/>
                  </p:ext>
                </p:extLst>
              </p:nvPr>
            </p:nvGraphicFramePr>
            <p:xfrm>
              <a:off x="1403176" y="1767653"/>
              <a:ext cx="8128000" cy="2627884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4064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064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225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1705" r="-99688" b="-2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313" t="-1705" b="-2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0284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559375" r="-99688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anchor="ctr">
                        <a:lnL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313" t="-559375" b="-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47657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8134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42896" y="276615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E3C8BB3-D8AE-154C-9B2D-B1D7451436FE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264</a:t>
            </a: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237332" y="20116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11.5.4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F9486181-07A1-C74B-A129-E8949F43C159}"/>
              </a:ext>
            </a:extLst>
          </p:cNvPr>
          <p:cNvSpPr txBox="1"/>
          <p:nvPr/>
        </p:nvSpPr>
        <p:spPr>
          <a:xfrm>
            <a:off x="8897112" y="646480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730265" y="1348208"/>
                <a:ext cx="11037191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students in Ms. Justino’s class are writing expressions for the perimeter of a rectangle of side length, 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𝓁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 and width,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𝑤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The expressions for four students are in the table. 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5" y="1348208"/>
                <a:ext cx="11037191" cy="1015663"/>
              </a:xfrm>
              <a:prstGeom prst="rect">
                <a:avLst/>
              </a:prstGeom>
              <a:blipFill>
                <a:blip r:embed="rId5"/>
                <a:stretch>
                  <a:fillRect l="-575" t="-3704" r="-345" b="-86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299160" y="2764886"/>
            <a:ext cx="7899400" cy="2565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C67FCF-92C3-654A-BF40-5BDF7A4F9271}"/>
              </a:ext>
            </a:extLst>
          </p:cNvPr>
          <p:cNvSpPr txBox="1"/>
          <p:nvPr/>
        </p:nvSpPr>
        <p:spPr>
          <a:xfrm>
            <a:off x="539060" y="398475"/>
            <a:ext cx="112828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Ms. </a:t>
            </a:r>
            <a:r>
              <a:rPr lang="en-US" sz="2000" dirty="0" err="1">
                <a:latin typeface="Verdana" charset="0"/>
                <a:ea typeface="Verdana" charset="0"/>
                <a:cs typeface="Verdana" charset="0"/>
              </a:rPr>
              <a:t>Justino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told the group that one of the expressions is not equivalent. Write a short explanation to the student to show why their expression is not equivalent to the other expressions.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28111" y="1555628"/>
            <a:ext cx="6135777" cy="450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146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C67FCF-92C3-654A-BF40-5BDF7A4F9271}"/>
              </a:ext>
            </a:extLst>
          </p:cNvPr>
          <p:cNvSpPr txBox="1"/>
          <p:nvPr/>
        </p:nvSpPr>
        <p:spPr>
          <a:xfrm>
            <a:off x="571717" y="420245"/>
            <a:ext cx="110651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Match equivalent expressions by drawing an arrow. If an expression does not have a match, write an equivalent expression to match it in one of the blank boxes provided. </a:t>
            </a:r>
            <a:endParaRPr lang="en-US" sz="2000" i="1" dirty="0">
              <a:latin typeface="Verdana" charset="0"/>
              <a:ea typeface="Verdana" charset="0"/>
              <a:cs typeface="Verdana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2085778"/>
                  </p:ext>
                </p:extLst>
              </p:nvPr>
            </p:nvGraphicFramePr>
            <p:xfrm>
              <a:off x="2881582" y="2278598"/>
              <a:ext cx="2800350" cy="26517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003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Column A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−8(</m:t>
                                </m:r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+3)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−8</m:t>
                                </m:r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∙3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(8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𝑥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∙−3</m:t>
                                </m:r>
                                <m:r>
                                  <a:rPr lang="en-US" sz="2000" b="0" i="1" smtClean="0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)∙2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(3+</m:t>
                                </m:r>
                                <m:sPre>
                                  <m:sPre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 charset="0"/>
                                        <a:cs typeface="Verdana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 charset="0"/>
                                        <a:cs typeface="Verdana" charset="0"/>
                                      </a:rPr>
                                      <m:t>8</m:t>
                                    </m:r>
                                  </m:e>
                                </m:sPre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)+2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2</m:t>
                                </m:r>
                                <m:r>
                                  <a:rPr lang="en-US" sz="2000" b="0" i="1" smtClean="0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𝑦</m:t>
                                </m:r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+</m:t>
                                </m:r>
                                <m:sPre>
                                  <m:sPre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 charset="0"/>
                                        <a:cs typeface="Verdana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 charset="0"/>
                                        <a:cs typeface="Verdana" charset="0"/>
                                      </a:rPr>
                                      <m:t>8</m:t>
                                    </m:r>
                                  </m:e>
                                </m:sPre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32085778"/>
                  </p:ext>
                </p:extLst>
              </p:nvPr>
            </p:nvGraphicFramePr>
            <p:xfrm>
              <a:off x="2881582" y="2278598"/>
              <a:ext cx="2800350" cy="26517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003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Column A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94444" r="-901" b="-40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194444" r="-901" b="-30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286486" r="-901" b="-1972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397222" r="-901" b="-102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497222" r="-901" b="-2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9985280"/>
                  </p:ext>
                </p:extLst>
              </p:nvPr>
            </p:nvGraphicFramePr>
            <p:xfrm>
              <a:off x="6510068" y="2278598"/>
              <a:ext cx="2800350" cy="26517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003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Column B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2+(</m:t>
                                </m:r>
                                <m:sPre>
                                  <m:sPre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sPrePr>
                                  <m:sub/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 charset="0"/>
                                        <a:cs typeface="Verdana" charset="0"/>
                                      </a:rPr>
                                      <m:t>−</m:t>
                                    </m:r>
                                  </m:sup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 charset="0"/>
                                        <a:cs typeface="Verdana" charset="0"/>
                                      </a:rPr>
                                      <m:t>8</m:t>
                                    </m:r>
                                  </m:e>
                                </m:sPre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+3)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3∙−8</m:t>
                                </m:r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−24−8</m:t>
                                </m:r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 charset="0"/>
                                    <a:cs typeface="Verdana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9985280"/>
                  </p:ext>
                </p:extLst>
              </p:nvPr>
            </p:nvGraphicFramePr>
            <p:xfrm>
              <a:off x="6510068" y="2278598"/>
              <a:ext cx="2800350" cy="26517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0035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Column B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18" t="-93333" r="-218" b="-4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18" t="-293333" r="-218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18" t="-393333" r="-21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193158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265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737225" y="2698334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265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237331" y="279372"/>
            <a:ext cx="10388611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11.5.5 Wrap-Up: Error Analysis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730266" y="1386024"/>
                <a:ext cx="10800318" cy="45089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Tangela was asked to circle all of the expressions equivalent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6(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𝑦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+1)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Her work is shown below.</a:t>
                </a:r>
              </a:p>
              <a:p>
                <a:endParaRPr lang="en-PH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PH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PH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PH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PH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PH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Determine if Tangela correctly identified all of the equivalent expressions. </a:t>
                </a:r>
                <a:b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</a:b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If she is missing an expression, circle the expression(s) she is missing.</a:t>
                </a: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If Tangela made an error, then explain her error and list the equivalent expressions.</a:t>
                </a:r>
                <a:endParaRPr lang="en-US" sz="2000" i="1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6" y="1386024"/>
                <a:ext cx="10800318" cy="4508927"/>
              </a:xfrm>
              <a:prstGeom prst="rect">
                <a:avLst/>
              </a:prstGeom>
              <a:blipFill>
                <a:blip r:embed="rId5"/>
                <a:stretch>
                  <a:fillRect l="-621" t="-676" b="-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93504" y="2602046"/>
            <a:ext cx="7569200" cy="119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A71AFB6E4EB4AB3FD645FC79B11BE" ma:contentTypeVersion="14" ma:contentTypeDescription="Create a new document." ma:contentTypeScope="" ma:versionID="c6de188039f2115276cd22936a35b493">
  <xsd:schema xmlns:xsd="http://www.w3.org/2001/XMLSchema" xmlns:xs="http://www.w3.org/2001/XMLSchema" xmlns:p="http://schemas.microsoft.com/office/2006/metadata/properties" xmlns:ns2="c8f36ed4-5234-49bf-a7f7-5f171c3a2f56" xmlns:ns3="aecc3118-db6a-47b0-8115-3eb3ee12f279" targetNamespace="http://schemas.microsoft.com/office/2006/metadata/properties" ma:root="true" ma:fieldsID="3d1530f6c55cd2fbfcc1e1abc0d9cffe" ns2:_="" ns3:_="">
    <xsd:import namespace="c8f36ed4-5234-49bf-a7f7-5f171c3a2f56"/>
    <xsd:import namespace="aecc3118-db6a-47b0-8115-3eb3ee12f2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f36ed4-5234-49bf-a7f7-5f171c3a2f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125260-8dc9-4871-9a4d-e9e8d429e3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cc3118-db6a-47b0-8115-3eb3ee12f27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b4dde3-b3bf-4934-b5d8-236f7d7596ba}" ma:internalName="TaxCatchAll" ma:showField="CatchAllData" ma:web="aecc3118-db6a-47b0-8115-3eb3ee12f2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8f36ed4-5234-49bf-a7f7-5f171c3a2f56">
      <Terms xmlns="http://schemas.microsoft.com/office/infopath/2007/PartnerControls"/>
    </lcf76f155ced4ddcb4097134ff3c332f>
    <TaxCatchAll xmlns="aecc3118-db6a-47b0-8115-3eb3ee12f279" xsi:nil="true"/>
  </documentManagement>
</p:properties>
</file>

<file path=customXml/itemProps1.xml><?xml version="1.0" encoding="utf-8"?>
<ds:datastoreItem xmlns:ds="http://schemas.openxmlformats.org/officeDocument/2006/customXml" ds:itemID="{C0A7263F-030E-4AF6-84E4-4CDCC0BC4C8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598A508-0FCC-491A-8F59-C1C88C837B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f36ed4-5234-49bf-a7f7-5f171c3a2f56"/>
    <ds:schemaRef ds:uri="aecc3118-db6a-47b0-8115-3eb3ee12f27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D065439-2434-48A1-AA37-058B98AB79E5}">
  <ds:schemaRefs>
    <ds:schemaRef ds:uri="http://schemas.microsoft.com/office/2006/metadata/properties"/>
    <ds:schemaRef ds:uri="http://schemas.microsoft.com/office/infopath/2007/PartnerControls"/>
    <ds:schemaRef ds:uri="c8f36ed4-5234-49bf-a7f7-5f171c3a2f56"/>
    <ds:schemaRef ds:uri="aecc3118-db6a-47b0-8115-3eb3ee12f27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1323</TotalTime>
  <Words>951</Words>
  <Application>Microsoft Office PowerPoint</Application>
  <PresentationFormat>Widescreen</PresentationFormat>
  <Paragraphs>178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Arial Black</vt:lpstr>
      <vt:lpstr>Calibri</vt:lpstr>
      <vt:lpstr>Cambria Math</vt:lpstr>
      <vt:lpstr>Century Gothic</vt:lpstr>
      <vt:lpstr>Verdana</vt:lpstr>
      <vt:lpstr>Wingdings</vt:lpstr>
      <vt:lpstr>1_Office Theme</vt:lpstr>
      <vt:lpstr>6th Grade Math  Unit 11, Lesson 5  Generating Equivalent Algebraic Expressions  Volume 1, pg. 261  </vt:lpstr>
      <vt:lpstr>Benchmark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Try It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Karen  Yohe</cp:lastModifiedBy>
  <cp:revision>33</cp:revision>
  <dcterms:created xsi:type="dcterms:W3CDTF">2015-03-17T18:51:18Z</dcterms:created>
  <dcterms:modified xsi:type="dcterms:W3CDTF">2025-02-07T23:37:55Z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0x01010045BA71AFB6E4EB4AB3FD645FC79B11BE</vt:lpwstr>
  </property>
</Properties>
</file>