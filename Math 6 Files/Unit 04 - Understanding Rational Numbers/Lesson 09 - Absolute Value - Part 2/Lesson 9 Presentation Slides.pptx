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323" r:id="rId8"/>
    <p:sldId id="324" r:id="rId9"/>
    <p:sldId id="325" r:id="rId10"/>
    <p:sldId id="326" r:id="rId11"/>
    <p:sldId id="327" r:id="rId12"/>
    <p:sldId id="328" r:id="rId13"/>
    <p:sldId id="314" r:id="rId14"/>
    <p:sldId id="315" r:id="rId15"/>
    <p:sldId id="316" r:id="rId16"/>
    <p:sldId id="302" r:id="rId17"/>
    <p:sldId id="303" r:id="rId18"/>
    <p:sldId id="309" r:id="rId19"/>
    <p:sldId id="306" r:id="rId20"/>
    <p:sldId id="307" r:id="rId21"/>
    <p:sldId id="310" r:id="rId22"/>
  </p:sldIdLst>
  <p:sldSz cx="12192000" cy="6858000"/>
  <p:notesSz cx="6858000" cy="9144000"/>
  <p:embeddedFontLst>
    <p:embeddedFont>
      <p:font typeface="Calibri" pitchFamily="34" charset="0"/>
      <p:regular r:id="rId24"/>
      <p:bold r:id="rId25"/>
      <p:italic r:id="rId26"/>
      <p:boldItalic r:id="rId27"/>
    </p:embeddedFont>
    <p:embeddedFont>
      <p:font typeface="Century Gothic" pitchFamily="34" charset="0"/>
      <p:regular r:id="rId28"/>
      <p:bold r:id="rId29"/>
      <p:italic r:id="rId30"/>
      <p:boldItalic r:id="rId31"/>
    </p:embeddedFont>
    <p:embeddedFont>
      <p:font typeface="Cambria Math" pitchFamily="18" charset="0"/>
      <p:regular r:id="rId32"/>
    </p:embeddedFont>
    <p:embeddedFont>
      <p:font typeface="Arial Black" pitchFamily="34" charset="0"/>
      <p:bold r:id="rId33"/>
    </p:embeddedFont>
    <p:embeddedFont>
      <p:font typeface="Verdana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87"/>
    <p:restoredTop sz="94659"/>
  </p:normalViewPr>
  <p:slideViewPr>
    <p:cSldViewPr snapToGrid="0">
      <p:cViewPr varScale="1">
        <p:scale>
          <a:sx n="78" d="100"/>
          <a:sy n="78" d="100"/>
        </p:scale>
        <p:origin x="-360" y="-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21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57" Type="http://schemas.openxmlformats.org/officeDocument/2006/relationships/viewProps" Target="viewProps.xml"/><Relationship Id="rId61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6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6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70898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0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0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9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Absolute Value – Part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179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515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95850" y="198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350" y="434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05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3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685800" y="1409700"/>
            <a:ext cx="10922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MA.6.NSO.1.3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mathematical or real-world context, interpret the absolute value of a number as the distance from zero on a number line. Find the absolute value of rational numbers.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17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8826" y="129667"/>
            <a:ext cx="104789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5386" y="1596390"/>
            <a:ext cx="1050241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62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56575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13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57200" y="1608425"/>
            <a:ext cx="11150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latin typeface="Verdana"/>
                <a:ea typeface="Verdana"/>
                <a:cs typeface="Verdana"/>
              </a:rPr>
              <a:t>I can find the absolute value of a value and interpret it within the context.</a:t>
            </a: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625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785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34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2350" y="284553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71150" y="27323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752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97042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4.9.1 Warm-Up: Absolute Value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593248" y="1386026"/>
            <a:ext cx="1063355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Choose any value 1 through 9, along with its opposite, to complete the statement below: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/>
            <a:r>
              <a:rPr lang="en-US" sz="2000" dirty="0">
                <a:latin typeface="Verdana"/>
                <a:ea typeface="Verdana"/>
                <a:cs typeface="Verdana"/>
              </a:rPr>
              <a:t>____ and ____ are ____ units away from _____ on the</a:t>
            </a:r>
          </a:p>
          <a:p>
            <a:pPr marL="457200"/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/>
                <a:ea typeface="Verdana"/>
                <a:cs typeface="Verdana"/>
              </a:rPr>
              <a:t>number line.</a:t>
            </a: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Switch your answer with a partner to check.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Ask your partner their strategy for finding their answer and write their strategy below.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625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64854" y="2761970"/>
            <a:ext cx="688254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9523" y="284874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371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60950" y="0"/>
            <a:ext cx="104722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4.9.2 Guided Practice: Absolute Value and Opposites in the Real World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1142" y="16602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701548" y="1325700"/>
                <a:ext cx="10931652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A tiger was rescued by The Brevard Zoo in Melbourne, Florida. The zoo veterinarian examined the tiger and determined the animal’s weight to be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29.6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pounds below average.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What value represents this situation?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What is the absolute value of the value that represents the tiger’s weight loss?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48" y="1325700"/>
                <a:ext cx="10931652" cy="3170099"/>
              </a:xfrm>
              <a:prstGeom prst="rect">
                <a:avLst/>
              </a:prstGeom>
              <a:blipFill>
                <a:blip r:embed="rId5"/>
                <a:stretch>
                  <a:fillRect l="-581" t="-1200" b="-2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2" y="386281"/>
                <a:ext cx="11155268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Model the tiger’s weight loss on the number line.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What does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0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represent in this situation?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If the tiger’s weight had been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29.6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pounds above average instead of below, what would be the same about this situation?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86281"/>
                <a:ext cx="11155268" cy="3477875"/>
              </a:xfrm>
              <a:prstGeom prst="rect">
                <a:avLst/>
              </a:prstGeom>
              <a:blipFill>
                <a:blip r:embed="rId4"/>
                <a:stretch>
                  <a:fillRect t="-1091" b="-2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/>
          <p:nvPr/>
        </p:nvPicPr>
        <p:blipFill>
          <a:blip r:embed="rId5"/>
          <a:stretch>
            <a:fillRect/>
          </a:stretch>
        </p:blipFill>
        <p:spPr>
          <a:xfrm>
            <a:off x="2946400" y="1222375"/>
            <a:ext cx="6946900" cy="48895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0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3BC97A7-8575-5A46-8E72-A886A83AEC7E}"/>
              </a:ext>
            </a:extLst>
          </p:cNvPr>
          <p:cNvSpPr txBox="1"/>
          <p:nvPr/>
        </p:nvSpPr>
        <p:spPr>
          <a:xfrm>
            <a:off x="390974" y="344425"/>
            <a:ext cx="1121682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Calibri"/>
                <a:cs typeface="Calibri"/>
              </a:rPr>
              <a:t>Simone is doing research on different rides at the Strawberry Festival. She attaches an accelerator to a bumper car to measure the velocity of her car. She recorded the velocities, in miles per hour (mph), in the table.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Calibri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Calibri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Calibri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Calibri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Calibri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Calibri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Calibri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Calibri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Calibri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Calibri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Calibri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Calibri"/>
                <a:cs typeface="Calibri"/>
              </a:rPr>
              <a:t>Determine when the bumper car is at the same speed. List the times and the speed of the car at those times.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509161" y="1747643"/>
            <a:ext cx="6736080" cy="580017"/>
            <a:chOff x="-174151" y="-119707"/>
            <a:chExt cx="6992126" cy="9050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ctangle 7"/>
            <p:cNvSpPr/>
            <p:nvPr/>
          </p:nvSpPr>
          <p:spPr>
            <a:xfrm>
              <a:off x="0" y="237478"/>
              <a:ext cx="6817975" cy="4267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20" rIns="91425" bIns="45720" anchor="ctr" anchorCtr="0">
              <a:spAutoFit/>
            </a:bodyPr>
            <a:lstStyle/>
            <a:p>
              <a:pPr>
                <a:lnSpc>
                  <a:spcPct val="107000"/>
                </a:lnSpc>
              </a:pPr>
              <a:r>
                <a:rPr lang="en-US" sz="1100">
                  <a:latin typeface="Calibri"/>
                  <a:ea typeface="Calibri"/>
                </a:rPr>
                <a:t> 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-174151" y="-119707"/>
              <a:ext cx="6992002" cy="905082"/>
            </a:xfrm>
            <a:prstGeom prst="roundRect">
              <a:avLst>
                <a:gd name="adj" fmla="val 16667"/>
              </a:avLst>
            </a:prstGeom>
            <a:solidFill>
              <a:srgbClr val="E3EFD5"/>
            </a:solidFill>
            <a:ln w="12700" cap="flat" cmpd="sng">
              <a:solidFill>
                <a:srgbClr val="E3EFD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40" rIns="91425" bIns="0" anchor="ctr" anchorCtr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b="1" i="1" dirty="0">
                  <a:solidFill>
                    <a:srgbClr val="6C993C"/>
                  </a:solidFill>
                  <a:latin typeface="Verdana"/>
                  <a:ea typeface="Calibri"/>
                </a:rPr>
                <a:t>Speed</a:t>
              </a:r>
              <a:r>
                <a:rPr lang="en-US" sz="2000" dirty="0">
                  <a:solidFill>
                    <a:srgbClr val="6C993C"/>
                  </a:solidFill>
                  <a:latin typeface="Verdana"/>
                  <a:ea typeface="Calibri"/>
                </a:rPr>
                <a:t> is the absolute value of velocity.</a:t>
              </a:r>
              <a:endParaRPr lang="en-US" sz="1200" dirty="0">
                <a:latin typeface="Calibri"/>
                <a:ea typeface="Calibri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5180363"/>
                  </p:ext>
                </p:extLst>
              </p:nvPr>
            </p:nvGraphicFramePr>
            <p:xfrm>
              <a:off x="1899501" y="2752693"/>
              <a:ext cx="7955280" cy="156540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18872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18872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118872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</a:tblGrid>
                  <a:tr h="5295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Time (seconds)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Velocity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(mph)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Time (seconds)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Velocity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(mph)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Time (seconds)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Velocity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(mph)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933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libri"/>
                                    <a:cs typeface="Times New Roman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libri"/>
                                  </a:rPr>
                                  <m:t>−3.1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libri"/>
                                    <a:cs typeface="Times New Roman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libri"/>
                                  </a:rPr>
                                  <m:t>−2.4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libri"/>
                                    <a:cs typeface="Times New Roman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Calibri"/>
                                </a:rPr>
                                <m:t>−5.2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946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libri"/>
                                    <a:cs typeface="Times New Roman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libri"/>
                                  </a:rPr>
                                  <m:t>−2.7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libri"/>
                                    <a:cs typeface="Times New Roman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libri"/>
                                  </a:rPr>
                                  <m:t>−6.3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libri"/>
                                    <a:cs typeface="Times New Roman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libri"/>
                                  </a:rPr>
                                  <m:t>3.1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933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libri"/>
                                    <a:cs typeface="Times New Roman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libri"/>
                                  </a:rPr>
                                  <m:t>4.8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libri"/>
                                    <a:cs typeface="Times New Roman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libri"/>
                                  </a:rPr>
                                  <m:t>2.7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libri"/>
                                    <a:cs typeface="Times New Roman"/>
                                  </a:rPr>
                                  <m:t>45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libri"/>
                                  </a:rPr>
                                  <m:t>−7.8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5180363"/>
                  </p:ext>
                </p:extLst>
              </p:nvPr>
            </p:nvGraphicFramePr>
            <p:xfrm>
              <a:off x="1899501" y="2752693"/>
              <a:ext cx="7955280" cy="153943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887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887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8872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56102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Time (seconds)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Velocity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(mph)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Time (seconds)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Velocity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(mph)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Time (seconds)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Velocity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(mph)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61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70" t="-192308" r="-446957" b="-2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3404" t="-192308" r="-446809" b="-2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2609" t="-192308" r="-265217" b="-2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5745" t="-192308" r="-224468" b="-2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4348" t="-192308" r="-83478" b="-2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085" t="-192308" r="-2128" b="-20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261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70" t="-292308" r="-446957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3404" t="-292308" r="-446809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2609" t="-292308" r="-265217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5745" t="-292308" r="-224468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4348" t="-292308" r="-83478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085" t="-292308" r="-2128" b="-10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261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70" t="-392308" r="-446957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3404" t="-392308" r="-446809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2609" t="-392308" r="-265217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5745" t="-392308" r="-224468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4348" t="-392308" r="-83478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8085" t="-392308" r="-2128" b="-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Google Shape;282;g104476d1465_1_17"/>
          <p:cNvSpPr txBox="1"/>
          <p:nvPr/>
        </p:nvSpPr>
        <p:spPr>
          <a:xfrm>
            <a:off x="87498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917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74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46532" y="416309"/>
                <a:ext cx="11186668" cy="5093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Calibri"/>
                    <a:cs typeface="Calibri"/>
                  </a:rPr>
                  <a:t>At what time is the bumper car traveling at the slowest speed?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Calibri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Calibri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Calibri"/>
                    <a:cs typeface="Calibri"/>
                  </a:rPr>
                  <a:t>At what time is the bumper car traveling at the fastest speed?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Calibri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Before Bryan goes snow skiing, he asks a friend about the weather. The friend says that the temperature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5°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C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away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0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/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Select all the temperatures that are possible.</a:t>
                </a:r>
              </a:p>
              <a:p>
                <a:pPr marL="800100" indent="-342900">
                  <a:spcBef>
                    <a:spcPts val="600"/>
                  </a:spcBef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libri"/>
                        <a:cs typeface="Calibri"/>
                      </a:rPr>
                      <m:t>−10°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  <a:ea typeface="Calibri"/>
                        <a:cs typeface="Calibri"/>
                      </a:rPr>
                      <m:t>C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0100" indent="-342900">
                  <a:spcBef>
                    <a:spcPts val="600"/>
                  </a:spcBef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libri"/>
                        <a:cs typeface="Calibri"/>
                      </a:rPr>
                      <m:t>−5°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  <a:ea typeface="Calibri"/>
                        <a:cs typeface="Calibri"/>
                      </a:rPr>
                      <m:t>C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0100" indent="-342900">
                  <a:spcBef>
                    <a:spcPts val="600"/>
                  </a:spcBef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libri"/>
                        <a:cs typeface="Calibri"/>
                      </a:rPr>
                      <m:t>0°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  <a:ea typeface="Calibri"/>
                        <a:cs typeface="Calibri"/>
                      </a:rPr>
                      <m:t>C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0100" indent="-342900">
                  <a:spcBef>
                    <a:spcPts val="600"/>
                  </a:spcBef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libri"/>
                        <a:cs typeface="Calibri"/>
                      </a:rPr>
                      <m:t>5°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  <a:ea typeface="Calibri"/>
                        <a:cs typeface="Calibri"/>
                      </a:rPr>
                      <m:t>C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0100" indent="-342900">
                  <a:spcBef>
                    <a:spcPts val="600"/>
                  </a:spcBef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libri"/>
                        <a:cs typeface="Calibri"/>
                      </a:rPr>
                      <m:t>10°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  <a:ea typeface="Calibri"/>
                        <a:cs typeface="Calibri"/>
                      </a:rPr>
                      <m:t>C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32" y="416309"/>
                <a:ext cx="11186668" cy="5093702"/>
              </a:xfrm>
              <a:prstGeom prst="rect">
                <a:avLst/>
              </a:prstGeom>
              <a:blipFill>
                <a:blip r:embed="rId4"/>
                <a:stretch>
                  <a:fillRect l="-568" t="-498" b="-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006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74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19991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2" y="394506"/>
                <a:ext cx="11167968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A part of the city of New Orleans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19 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feet below sea level. We can use “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−19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feet” to describe its elevation, and “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Cambria Math"/>
                            <a:cs typeface="Cambria Math"/>
                          </a:rPr>
                          <m:t>−19</m:t>
                        </m:r>
                      </m:e>
                    </m:d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feet” to describe its vertical distance from sea level. In the context of elevation, what do each of the following numbers describe?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94506"/>
                <a:ext cx="11167968" cy="1323439"/>
              </a:xfrm>
              <a:prstGeom prst="rect">
                <a:avLst/>
              </a:prstGeom>
              <a:blipFill>
                <a:blip r:embed="rId4"/>
                <a:stretch>
                  <a:fillRect l="-568" t="-2857" r="-1023" b="-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2469337"/>
                  </p:ext>
                </p:extLst>
              </p:nvPr>
            </p:nvGraphicFramePr>
            <p:xfrm>
              <a:off x="2238104" y="1975009"/>
              <a:ext cx="7622223" cy="358267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8016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342063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66167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Value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Meaning in Context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3025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25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 feet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73025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25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 feet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73025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−8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 feet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73025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−8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 feet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2469337"/>
                  </p:ext>
                </p:extLst>
              </p:nvPr>
            </p:nvGraphicFramePr>
            <p:xfrm>
              <a:off x="2238104" y="1975009"/>
              <a:ext cx="7622223" cy="358267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801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20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6167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Value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Meaning in Context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302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90" t="-91379" r="-49604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302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90" t="-191379" r="-49604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302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90" t="-296491" r="-496040" b="-1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302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90" t="-389655" r="-496040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37150" y="645699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3406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0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41258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89114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498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54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10402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4.9.3 Collaboration: Absolute Value and Opposites in the Real World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8327136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Anthony owes his friend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$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2.80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Sketch a number line that represents this situation.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Represent this situation as a rational number.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What is the absolute value of the rational number?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What does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0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represent in this situation?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8327136" cy="4708981"/>
              </a:xfrm>
              <a:prstGeom prst="rect">
                <a:avLst/>
              </a:prstGeom>
              <a:blipFill>
                <a:blip r:embed="rId5"/>
                <a:stretch>
                  <a:fillRect l="-761" t="-536" b="-1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7171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561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4" y="461465"/>
                <a:ext cx="1066083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With your partner, describe the meaning of each value in the context of temperature, where the freezing point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libri"/>
                        <a:cs typeface="Calibri"/>
                      </a:rPr>
                      <m:t>0℃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461465"/>
                <a:ext cx="10660835" cy="707886"/>
              </a:xfrm>
              <a:prstGeom prst="rect">
                <a:avLst/>
              </a:prstGeom>
              <a:blipFill>
                <a:blip r:embed="rId4"/>
                <a:stretch>
                  <a:fillRect l="-595" t="-526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3539237"/>
                  </p:ext>
                </p:extLst>
              </p:nvPr>
            </p:nvGraphicFramePr>
            <p:xfrm>
              <a:off x="2556596" y="1397000"/>
              <a:ext cx="7229475" cy="49911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494347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Temperature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Interpretation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14871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1°</m:t>
                                </m:r>
                                <m:r>
                                  <m:rPr>
                                    <m:sty m:val="p"/>
                                  </m:rPr>
                                  <a:rPr lang="en-PH" sz="2000" b="0" i="0" smtClean="0">
                                    <a:latin typeface="Cambria Math"/>
                                    <a:ea typeface="Verdana" pitchFamily="34" charset="0"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 lang="en-US" sz="2000" i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14871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−4°</m:t>
                                </m:r>
                                <m:r>
                                  <m:rPr>
                                    <m:sty m:val="p"/>
                                  </m:rPr>
                                  <a:rPr lang="en-PH" sz="2000" b="0" i="0" smtClean="0">
                                    <a:latin typeface="Cambria Math"/>
                                    <a:ea typeface="Verdana" pitchFamily="34" charset="0"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114871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dirty="0" smtClean="0">
                                        <a:latin typeface="Cambria Math"/>
                                        <a:ea typeface="Verdana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000" b="0" i="1" dirty="0" smtClean="0">
                                        <a:latin typeface="Cambria Math"/>
                                        <a:ea typeface="Verdana" pitchFamily="34" charset="0"/>
                                      </a:rPr>
                                      <m:t>12</m:t>
                                    </m:r>
                                  </m:e>
                                </m:d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°</m:t>
                                </m:r>
                                <m:r>
                                  <m:rPr>
                                    <m:sty m:val="p"/>
                                  </m:rPr>
                                  <a:rPr lang="en-PH" sz="2000" b="0" i="0" smtClean="0">
                                    <a:latin typeface="Cambria Math"/>
                                    <a:ea typeface="Verdana" pitchFamily="34" charset="0"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114871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kumimoji="0" lang="en-US" sz="2000" b="0" i="1" u="none" strike="noStrike" kern="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Verdana" pitchFamily="34" charset="0"/>
                                        <a:sym typeface="Arial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PH" sz="2000" b="0" i="1" u="none" strike="noStrike" kern="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Verdana" pitchFamily="34" charset="0"/>
                                        <a:sym typeface="Arial"/>
                                      </a:rPr>
                                      <m:t>−7</m:t>
                                    </m:r>
                                  </m:e>
                                </m:d>
                                <m:r>
                                  <a:rPr kumimoji="0" lang="en-PH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Verdana" pitchFamily="34" charset="0"/>
                                    <a:sym typeface="Arial"/>
                                  </a:rPr>
                                  <m:t>°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n-PH" sz="2000" b="0" i="0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Verdana" pitchFamily="34" charset="0"/>
                                    <a:sym typeface="Arial"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3539237"/>
                  </p:ext>
                </p:extLst>
              </p:nvPr>
            </p:nvGraphicFramePr>
            <p:xfrm>
              <a:off x="2556596" y="1397000"/>
              <a:ext cx="7229475" cy="49911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9434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Temperature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Interpretation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48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56" t="-37363" r="-21722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48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56" t="-138889" r="-217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148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56" t="-236264" r="-217222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48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56" t="-340000" r="-21722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1739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20267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68128" y="2897934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7625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90750" y="18285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4.9.4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450" y="182850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93248" y="1394250"/>
                <a:ext cx="1100185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The absolute value of the elevation of Enterprise, Florida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19.7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feet. In relation to sea level, write the two values that could represent the elevation of Enterprise, Florida.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94250"/>
                <a:ext cx="11001852" cy="1200329"/>
              </a:xfrm>
              <a:prstGeom prst="rect">
                <a:avLst/>
              </a:prstGeom>
              <a:blipFill>
                <a:blip r:embed="rId5"/>
                <a:stretch>
                  <a:fillRect l="-807" t="-3125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625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65232" y="406698"/>
                <a:ext cx="1073616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Jasmine received a notice that her bank account was overdrawn, showing a balance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−$20.48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. What does the absolute value of her balance mean in this situation?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406698"/>
                <a:ext cx="10736168" cy="1200329"/>
              </a:xfrm>
              <a:prstGeom prst="rect">
                <a:avLst/>
              </a:prstGeom>
              <a:blipFill>
                <a:blip r:embed="rId4"/>
                <a:stretch>
                  <a:fillRect l="-826" t="-4211" r="-826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625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34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43839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22833" y="292074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752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82446"/>
            <a:ext cx="9812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4.9.5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4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93248" y="1386150"/>
                <a:ext cx="1101455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The number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−220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represents a withdrawal in dollars from a checking account,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220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represents a deposit in dollars to the same checking account. What do the absolute values of these values mean in terms of this context?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150"/>
                <a:ext cx="11014552" cy="1569660"/>
              </a:xfrm>
              <a:prstGeom prst="rect">
                <a:avLst/>
              </a:prstGeom>
              <a:blipFill>
                <a:blip r:embed="rId5"/>
                <a:stretch>
                  <a:fillRect l="-806" t="-24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625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4CE9D117-FAE6-F74F-940B-9CD1479755BE}"/>
                  </a:ext>
                </a:extLst>
              </p:cNvPr>
              <p:cNvSpPr txBox="1"/>
              <p:nvPr/>
            </p:nvSpPr>
            <p:spPr>
              <a:xfrm>
                <a:off x="421132" y="354724"/>
                <a:ext cx="1118666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A bank account has an account balance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$150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 For each description, check the value(s) of each expression that correctly matches</a:t>
                </a:r>
                <a:r>
                  <a:rPr lang="en-US" sz="2000" dirty="0">
                    <a:solidFill>
                      <a:srgbClr val="222222"/>
                    </a:solidFill>
                    <a:latin typeface="Verdana"/>
                    <a:ea typeface="Calibri"/>
                    <a:cs typeface="Calibri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9D117-FAE6-F74F-940B-9CD14797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32" y="354724"/>
                <a:ext cx="11186668" cy="707886"/>
              </a:xfrm>
              <a:prstGeom prst="rect">
                <a:avLst/>
              </a:prstGeom>
              <a:blipFill>
                <a:blip r:embed="rId4"/>
                <a:stretch>
                  <a:fillRect l="-568" t="-350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792251"/>
                  </p:ext>
                </p:extLst>
              </p:nvPr>
            </p:nvGraphicFramePr>
            <p:xfrm>
              <a:off x="2438400" y="1488075"/>
              <a:ext cx="7315200" cy="29565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Description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𝟏𝟐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1" i="1" smtClean="0">
                                        <a:latin typeface="Cambria Math"/>
                                        <a:ea typeface="Verdana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000" b="1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−</m:t>
                                    </m:r>
                                    <m:r>
                                      <a:rPr lang="en-PH" sz="2000" b="1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𝟏𝟐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1" i="1" smtClean="0">
                                        <a:latin typeface="Cambria Math"/>
                                        <a:ea typeface="Verdana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000" b="1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𝟏𝟐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−</m:t>
                                </m:r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𝟏𝟐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a withdrawal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$12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3200" dirty="0">
                              <a:latin typeface="Verdana" pitchFamily="34" charset="0"/>
                              <a:ea typeface="Verdana" pitchFamily="34" charset="0"/>
                            </a:rPr>
                            <a:t>◻</a:t>
                          </a:r>
                          <a:endParaRPr lang="en-US" sz="32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a deposit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$12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kumimoji="0" lang="en-US" sz="32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Verdana" pitchFamily="34" charset="0"/>
                            <a:ea typeface="Verdana" pitchFamily="34" charset="0"/>
                            <a:cs typeface="Arial"/>
                            <a:sym typeface="Arial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a change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$12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above the balance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a change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$12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below the balance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792251"/>
                  </p:ext>
                </p:extLst>
              </p:nvPr>
            </p:nvGraphicFramePr>
            <p:xfrm>
              <a:off x="2438400" y="1488075"/>
              <a:ext cx="7315200" cy="29565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Description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1389" t="-9677" r="-302778" b="-690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389" t="-9677" r="-202778" b="-690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1389" t="-9677" r="-102778" b="-690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01389" t="-9677" r="-2778" b="-6903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47" t="-73913" r="-100694" b="-3652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3200" dirty="0">
                              <a:latin typeface="Verdana" pitchFamily="34" charset="0"/>
                              <a:ea typeface="Verdana" pitchFamily="34" charset="0"/>
                            </a:rPr>
                            <a:t>◻</a:t>
                          </a:r>
                          <a:endParaRPr lang="en-US" sz="32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47" t="-173913" r="-100694" b="-2652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kumimoji="0" lang="en-US" sz="32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Verdana" pitchFamily="34" charset="0"/>
                            <a:ea typeface="Verdana" pitchFamily="34" charset="0"/>
                            <a:cs typeface="Arial"/>
                            <a:sym typeface="Arial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47" t="-229091" r="-100694" b="-12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47" t="-329091" r="-100694" b="-2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PH" sz="3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◻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Props1.xml><?xml version="1.0" encoding="utf-8"?>
<ds:datastoreItem xmlns:ds="http://schemas.openxmlformats.org/officeDocument/2006/customXml" ds:itemID="{7454FEE6-CA41-40C0-8391-6169DD5B6729}"/>
</file>

<file path=customXml/itemProps2.xml><?xml version="1.0" encoding="utf-8"?>
<ds:datastoreItem xmlns:ds="http://schemas.openxmlformats.org/officeDocument/2006/customXml" ds:itemID="{A87BBF89-734D-4EC4-BCDA-D86F44C17CFE}"/>
</file>

<file path=customXml/itemProps3.xml><?xml version="1.0" encoding="utf-8"?>
<ds:datastoreItem xmlns:ds="http://schemas.openxmlformats.org/officeDocument/2006/customXml" ds:itemID="{F33BA663-5419-4A14-9739-3D10285E1137}"/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933</Words>
  <Application>Microsoft Office PowerPoint</Application>
  <PresentationFormat>Custom</PresentationFormat>
  <Paragraphs>203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Times New Roman</vt:lpstr>
      <vt:lpstr>Century Gothic</vt:lpstr>
      <vt:lpstr>Cambria Math</vt:lpstr>
      <vt:lpstr>Wingdings</vt:lpstr>
      <vt:lpstr>Arial Black</vt:lpstr>
      <vt:lpstr>Verdana</vt:lpstr>
      <vt:lpstr>1_Office Theme</vt:lpstr>
      <vt:lpstr>6th Grade Math  Unit 4, Lesson 9  Absolute Value – Part 2  Volume 1, pg. 179  </vt:lpstr>
      <vt:lpstr>Benchmark</vt:lpstr>
      <vt:lpstr>PowerPoint Presentation</vt:lpstr>
      <vt:lpstr>PowerPoint Presentation</vt:lpstr>
      <vt:lpstr>Warm-Up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31</cp:revision>
  <dcterms:created xsi:type="dcterms:W3CDTF">2015-03-17T18:51:18Z</dcterms:created>
  <dcterms:modified xsi:type="dcterms:W3CDTF">2022-06-05T01:33:49Z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</Properties>
</file>