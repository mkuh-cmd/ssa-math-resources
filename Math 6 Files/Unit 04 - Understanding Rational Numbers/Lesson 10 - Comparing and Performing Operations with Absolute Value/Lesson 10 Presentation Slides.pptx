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24.xml" ContentType="application/vnd.openxmlformats-officedocument.presentationml.slide+xml"/>
  <Override PartName="/ppt/slides/slide15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35" r:id="rId9"/>
    <p:sldId id="289" r:id="rId10"/>
    <p:sldId id="290" r:id="rId11"/>
    <p:sldId id="308" r:id="rId12"/>
    <p:sldId id="336" r:id="rId13"/>
    <p:sldId id="314" r:id="rId14"/>
    <p:sldId id="315" r:id="rId15"/>
    <p:sldId id="316" r:id="rId16"/>
    <p:sldId id="337" r:id="rId17"/>
    <p:sldId id="332" r:id="rId18"/>
    <p:sldId id="333" r:id="rId19"/>
    <p:sldId id="334" r:id="rId20"/>
    <p:sldId id="338" r:id="rId21"/>
    <p:sldId id="302" r:id="rId22"/>
    <p:sldId id="303" r:id="rId23"/>
    <p:sldId id="309" r:id="rId24"/>
    <p:sldId id="306" r:id="rId25"/>
    <p:sldId id="307" r:id="rId26"/>
  </p:sldIdLst>
  <p:sldSz cx="12192000" cy="6858000"/>
  <p:notesSz cx="6858000" cy="9144000"/>
  <p:embeddedFontLs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Century Gothic" pitchFamily="34" charset="0"/>
      <p:regular r:id="rId32"/>
      <p:bold r:id="rId33"/>
      <p:italic r:id="rId34"/>
      <p:boldItalic r:id="rId35"/>
    </p:embeddedFont>
    <p:embeddedFont>
      <p:font typeface="Cambria Math" pitchFamily="18" charset="0"/>
      <p:regular r:id="rId36"/>
    </p:embeddedFont>
    <p:embeddedFont>
      <p:font typeface="Cambria" pitchFamily="18" charset="0"/>
      <p:regular r:id="rId37"/>
      <p:bold r:id="rId38"/>
      <p:italic r:id="rId39"/>
      <p:boldItalic r:id="rId40"/>
    </p:embeddedFont>
    <p:embeddedFont>
      <p:font typeface="Arial Black" pitchFamily="34" charset="0"/>
      <p:bold r:id="rId41"/>
    </p:embeddedFont>
    <p:embeddedFont>
      <p:font typeface="Verdana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87"/>
    <p:restoredTop sz="94659"/>
  </p:normalViewPr>
  <p:slideViewPr>
    <p:cSldViewPr snapToGrid="0">
      <p:cViewPr varScale="1">
        <p:scale>
          <a:sx n="80" d="100"/>
          <a:sy n="80" d="100"/>
        </p:scale>
        <p:origin x="-293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43004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10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Comparing and Performing Operations with Absolute Value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183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8254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94250" y="1746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750" y="4104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7267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090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84200" y="1638300"/>
            <a:ext cx="110363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MA.6.NSO.1.4</a:t>
            </a:r>
          </a:p>
          <a:p>
            <a:pPr indent="0">
              <a:buNone/>
            </a:pPr>
            <a:r>
              <a:rPr lang="en-US" sz="3600" dirty="0">
                <a:latin typeface="Verdana"/>
                <a:ea typeface="Verdana"/>
                <a:cs typeface="Verdana"/>
              </a:rPr>
              <a:t>Solve mathematical and real-world problems involving absolute value, including the comparison of absolute value.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50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8900" y="0"/>
            <a:ext cx="105715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235460" y="1203330"/>
            <a:ext cx="100675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47075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13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47700" y="1569540"/>
            <a:ext cx="109728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compare the absolute value of two numbers.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600" dirty="0">
              <a:latin typeface="Verdana"/>
              <a:ea typeface="Verdana"/>
              <a:cs typeface="Verdana"/>
            </a:endParaRPr>
          </a:p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perform operations that involve the absolute values of two numbers.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650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34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7750" y="27142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96550" y="26010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752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1233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4.10.1 Warm-Up: Rational Numbers in the Real World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93248" y="1386025"/>
            <a:ext cx="11039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</a:rPr>
              <a:t>For each of the following problems, ask a classmate for his/her explanation. Once you have received their explanation, write a summary in the space provided in the box. Your classmate should read your summary and initial that it is correct.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Repeat this with a different classmate for each of the remaining problems. </a:t>
            </a:r>
            <a:endParaRPr lang="en-US" sz="2400" dirty="0">
              <a:latin typeface="Cambria"/>
              <a:ea typeface="Times New Roman"/>
              <a:cs typeface="Cambri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362342"/>
              </p:ext>
            </p:extLst>
          </p:nvPr>
        </p:nvGraphicFramePr>
        <p:xfrm>
          <a:off x="2007765" y="520393"/>
          <a:ext cx="7750276" cy="55778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8751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751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Describe the relationship between two numbers that have the same absolute value.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Initials: ______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 startAt="2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In an American football game, the offensive team makes gains or losses on each play. Gains are represented by positive values and losses by negative values. What does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0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 represent in this context?</a:t>
                      </a:r>
                    </a:p>
                    <a:p>
                      <a:pPr marL="457200" indent="-457200">
                        <a:buFont typeface="+mj-lt"/>
                        <a:buAutoNum type="arabicPeriod" startAt="2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2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2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2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2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2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2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Initials: ______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006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6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920226"/>
              </p:ext>
            </p:extLst>
          </p:nvPr>
        </p:nvGraphicFramePr>
        <p:xfrm>
          <a:off x="2007765" y="520393"/>
          <a:ext cx="7750276" cy="5882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77502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 startAt="3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Elijah, Noah, and Isabella live on the same street.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The locations of their houses are modeled on the number line.</a:t>
                      </a:r>
                    </a:p>
                    <a:p>
                      <a:pPr marL="457200" indent="-457200">
                        <a:buFont typeface="+mj-lt"/>
                        <a:buAutoNum type="arabicPeriod" startAt="3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3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3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3"/>
                      </a:pP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3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0"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Describe where they live relative to each other in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two sentences. Include the words distance and absolute value.</a:t>
                      </a:r>
                    </a:p>
                    <a:p>
                      <a:pPr marL="457200" indent="0">
                        <a:buFont typeface="+mj-lt"/>
                        <a:buNone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0">
                        <a:buFont typeface="+mj-lt"/>
                        <a:buNone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0">
                        <a:buFont typeface="+mj-lt"/>
                        <a:buNone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0">
                        <a:buFont typeface="+mj-lt"/>
                        <a:buNone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3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3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457200" indent="-457200">
                        <a:buFont typeface="+mj-lt"/>
                        <a:buAutoNum type="arabicPeriod" startAt="3"/>
                      </a:pPr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Initials: ______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7" name="Picture 6" descr="Chart&#10;&#10;Description automatically generated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1363" y="1596390"/>
            <a:ext cx="5153025" cy="117729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043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097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1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7066" y="2766150"/>
            <a:ext cx="716213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1275" y="2849925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879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3148" y="0"/>
            <a:ext cx="96088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4.10.2 Guided Instruction: Comparing Absolute Values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68174" y="1375181"/>
                <a:ext cx="1089042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Verdana"/>
                    <a:cs typeface="Verdana"/>
                  </a:rPr>
                  <a:t>A number line is shown with the integers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−7, −5, −3, 2, 4,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and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plotted.</a:t>
                </a:r>
              </a:p>
              <a:p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Discuss with your partner which statements are true.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Be prepared to explain your thinking.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74" y="1375181"/>
                <a:ext cx="10890426" cy="2246769"/>
              </a:xfrm>
              <a:prstGeom prst="rect">
                <a:avLst/>
              </a:prstGeom>
              <a:blipFill>
                <a:blip r:embed="rId5"/>
                <a:stretch>
                  <a:fillRect l="-582" t="-1685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41"/>
          <a:stretch/>
        </p:blipFill>
        <p:spPr bwMode="auto">
          <a:xfrm>
            <a:off x="1879501" y="2273344"/>
            <a:ext cx="7884425" cy="4702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053217"/>
                  </p:ext>
                </p:extLst>
              </p:nvPr>
            </p:nvGraphicFramePr>
            <p:xfrm>
              <a:off x="2114550" y="3840014"/>
              <a:ext cx="7223760" cy="268922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0292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Mathematical</a:t>
                          </a:r>
                          <a:b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Statement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Explanation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970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−7&lt;−3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970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−7</m:t>
                                  </m:r>
                                </m:e>
                              </m:d>
                            </m:oMath>
                          </a14:m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 is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7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9704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−3</m:t>
                                  </m:r>
                                </m:e>
                              </m:d>
                            </m:oMath>
                          </a14:m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 is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3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9704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PH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−7</m:t>
                                    </m:r>
                                  </m:e>
                                </m:d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&lt;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PH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−3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053217"/>
                  </p:ext>
                </p:extLst>
              </p:nvPr>
            </p:nvGraphicFramePr>
            <p:xfrm>
              <a:off x="2114550" y="3840014"/>
              <a:ext cx="7223760" cy="268922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2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Mathematical</a:t>
                          </a:r>
                          <a:b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Statement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Explanation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7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78" t="-151282" r="-230058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7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78" t="-251282" r="-230058" b="-2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7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78" t="-342500" r="-23005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7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78" t="-453846" r="-230058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625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34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24332" y="250645"/>
                <a:ext cx="1100886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Does the comparison of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−7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match the comparison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−7</m:t>
                        </m:r>
                      </m:e>
                    </m:d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−3</m:t>
                        </m:r>
                      </m:e>
                    </m:d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With your partner, discuss why comparing two negative values and comparing the absolute value of the same two negative numbers may be different. Summarize your discussion below.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32" y="250645"/>
                <a:ext cx="11008868" cy="2677656"/>
              </a:xfrm>
              <a:prstGeom prst="rect">
                <a:avLst/>
              </a:prstGeom>
              <a:blipFill>
                <a:blip r:embed="rId4"/>
                <a:stretch>
                  <a:fillRect l="-806" t="-1887" r="-1843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752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508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22732" y="281374"/>
                <a:ext cx="11148568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For each row, use the symbols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&gt;, &lt;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,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to compare each pair of values.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do you notice about the comparisons?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When comparing the absolute values of two numbers,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numbers that are closer to zero will always have the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__________ absolute value.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2" y="281374"/>
                <a:ext cx="11148568" cy="6247864"/>
              </a:xfrm>
              <a:prstGeom prst="rect">
                <a:avLst/>
              </a:prstGeom>
              <a:blipFill>
                <a:blip r:embed="rId4"/>
                <a:stretch>
                  <a:fillRect l="-569" t="-609" b="-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7731504"/>
                  </p:ext>
                </p:extLst>
              </p:nvPr>
            </p:nvGraphicFramePr>
            <p:xfrm>
              <a:off x="2535750" y="1158875"/>
              <a:ext cx="7262300" cy="253682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71675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71675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Inequality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Absolute Value</a:t>
                          </a:r>
                          <a:b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Inequality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11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Pair 1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PH" sz="2000" b="0" i="1" baseline="0" smtClean="0">
                                  <a:latin typeface="Cambria Math"/>
                                  <a:ea typeface="Cambria Math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PH" sz="2000" baseline="0" dirty="0">
                              <a:latin typeface="Cambria Math" pitchFamily="18" charset="0"/>
                              <a:ea typeface="Cambria Math" pitchFamily="18" charset="0"/>
                            </a:rPr>
                            <a:t> _____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baseline="0" smtClean="0">
                                  <a:latin typeface="Cambria Math"/>
                                  <a:ea typeface="Cambria Math" pitchFamily="18" charset="0"/>
                                </a:rPr>
                                <m:t>−5</m:t>
                              </m:r>
                            </m:oMath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smtClean="0">
                                      <a:latin typeface="Cambria Math"/>
                                      <a:ea typeface="Cambria Math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Cambria Math" pitchFamily="18" charset="0"/>
                                    </a:rPr>
                                    <m:t>4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Cambria Math" pitchFamily="18" charset="0"/>
                              <a:ea typeface="Cambria Math" pitchFamily="18" charset="0"/>
                            </a:rPr>
                            <a:t> </a:t>
                          </a:r>
                          <a:r>
                            <a:rPr lang="en-PH" sz="2000" baseline="0" dirty="0">
                              <a:latin typeface="Cambria Math" pitchFamily="18" charset="0"/>
                              <a:ea typeface="Cambria Math" pitchFamily="18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baseline="0" smtClean="0">
                                      <a:latin typeface="Cambria Math"/>
                                      <a:ea typeface="Cambria Math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baseline="0" smtClean="0">
                                      <a:latin typeface="Cambria Math"/>
                                      <a:ea typeface="Cambria Math" pitchFamily="18" charset="0"/>
                                    </a:rPr>
                                    <m:t>−5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11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Pair 2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Cambria Math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US" sz="2000" dirty="0">
                              <a:latin typeface="Cambria Math" pitchFamily="18" charset="0"/>
                              <a:ea typeface="Cambria Math" pitchFamily="18" charset="0"/>
                            </a:rPr>
                            <a:t> </a:t>
                          </a:r>
                          <a:r>
                            <a:rPr lang="en-PH" sz="2000" baseline="0" dirty="0">
                              <a:latin typeface="Cambria Math" pitchFamily="18" charset="0"/>
                              <a:ea typeface="Cambria Math" pitchFamily="18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baseline="0" smtClean="0">
                                  <a:latin typeface="Cambria Math"/>
                                  <a:ea typeface="Cambria Math" pitchFamily="18" charset="0"/>
                                </a:rPr>
                                <m:t>2</m:t>
                              </m:r>
                            </m:oMath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smtClean="0">
                                      <a:latin typeface="Cambria Math"/>
                                      <a:ea typeface="Cambria Math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Cambria Math" pitchFamily="18" charset="0"/>
                                    </a:rPr>
                                    <m:t>−3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Cambria Math" pitchFamily="18" charset="0"/>
                              <a:ea typeface="Cambria Math" pitchFamily="18" charset="0"/>
                            </a:rPr>
                            <a:t> </a:t>
                          </a:r>
                          <a:r>
                            <a:rPr lang="en-PH" sz="2000" baseline="0" dirty="0">
                              <a:latin typeface="Cambria Math" pitchFamily="18" charset="0"/>
                              <a:ea typeface="Cambria Math" pitchFamily="18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baseline="0" smtClean="0">
                                      <a:latin typeface="Cambria Math"/>
                                      <a:ea typeface="Cambria Math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baseline="0" smtClean="0">
                                      <a:latin typeface="Cambria Math"/>
                                      <a:ea typeface="Cambria Math" pitchFamily="18" charset="0"/>
                                    </a:rPr>
                                    <m:t>2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11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Pair 3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Cambria Math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 dirty="0">
                              <a:latin typeface="Cambria Math" pitchFamily="18" charset="0"/>
                              <a:ea typeface="Cambria Math" pitchFamily="18" charset="0"/>
                            </a:rPr>
                            <a:t> </a:t>
                          </a:r>
                          <a:r>
                            <a:rPr lang="en-PH" sz="2000" baseline="0" dirty="0">
                              <a:latin typeface="Cambria Math" pitchFamily="18" charset="0"/>
                              <a:ea typeface="Cambria Math" pitchFamily="18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baseline="0" smtClean="0">
                                  <a:latin typeface="Cambria Math"/>
                                  <a:ea typeface="Cambria Math" pitchFamily="18" charset="0"/>
                                </a:rPr>
                                <m:t>−6</m:t>
                              </m:r>
                            </m:oMath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smtClean="0">
                                      <a:latin typeface="Cambria Math"/>
                                      <a:ea typeface="Cambria Math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Cambria Math" pitchFamily="18" charset="0"/>
                                    </a:rPr>
                                    <m:t>6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Cambria Math" pitchFamily="18" charset="0"/>
                              <a:ea typeface="Cambria Math" pitchFamily="18" charset="0"/>
                            </a:rPr>
                            <a:t> </a:t>
                          </a:r>
                          <a:r>
                            <a:rPr lang="en-PH" sz="2000" baseline="0" dirty="0">
                              <a:latin typeface="Cambria Math" pitchFamily="18" charset="0"/>
                              <a:ea typeface="Cambria Math" pitchFamily="18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baseline="0" smtClean="0">
                                      <a:latin typeface="Cambria Math"/>
                                      <a:ea typeface="Cambria Math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baseline="0" smtClean="0">
                                      <a:latin typeface="Cambria Math"/>
                                      <a:ea typeface="Cambria Math" pitchFamily="18" charset="0"/>
                                    </a:rPr>
                                    <m:t>−6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7731504"/>
                  </p:ext>
                </p:extLst>
              </p:nvPr>
            </p:nvGraphicFramePr>
            <p:xfrm>
              <a:off x="2535750" y="1158875"/>
              <a:ext cx="7262300" cy="253682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167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167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Inequality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Absolute Value</a:t>
                          </a:r>
                          <a:b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Inequality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1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Pair 1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7442" t="-118367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224" t="-118367" r="-46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1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Pair 2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7442" t="-222917" r="-100000" b="-1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224" t="-222917" r="-467" b="-1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1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Pair 3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7442" t="-322917" r="-100000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224" t="-322917" r="-467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3728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930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1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68258" y="26772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6114" y="27640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879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73650" y="60325"/>
            <a:ext cx="8775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4.10.3 Collaboration: Inequality Mix and Match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3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44DF7DE-9172-3E4E-B74A-7A51585FB6EA}"/>
              </a:ext>
            </a:extLst>
          </p:cNvPr>
          <p:cNvSpPr txBox="1"/>
          <p:nvPr/>
        </p:nvSpPr>
        <p:spPr>
          <a:xfrm>
            <a:off x="798746" y="1400450"/>
            <a:ext cx="108217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</a:rPr>
              <a:t>Work with your partner to complete the table.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Partner A will select two numbers and one comparison symbol. At least one of the numbers must be written as an absolute value.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Partner B will then write the mathematical statement in words. The following phrases may be helpful: is equal to, the absolute value of, is greater than, is less than.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09164" y="397966"/>
            <a:ext cx="10654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</a:rPr>
              <a:t>Switch roles until each partner has taken two turns. An example is shown in the first row.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354942"/>
                  </p:ext>
                </p:extLst>
              </p:nvPr>
            </p:nvGraphicFramePr>
            <p:xfrm>
              <a:off x="2105025" y="1511300"/>
              <a:ext cx="7909560" cy="24536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21615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1615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21615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21615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216152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</a:tblGrid>
                  <a:tr h="37084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Numbers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Symbol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−0.7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−9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−8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−6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−2.2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2.5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0.7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−14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20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15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PH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&gt;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354942"/>
                  </p:ext>
                </p:extLst>
              </p:nvPr>
            </p:nvGraphicFramePr>
            <p:xfrm>
              <a:off x="2105025" y="1511300"/>
              <a:ext cx="7909560" cy="24536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2161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61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161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61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161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9624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Numbers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Symbol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1818" r="-551042" b="-1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61818" r="-451042" b="-1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61818" r="-351042" b="-1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61818" r="-251042" b="-1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61818" r="-151042" b="-1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333" t="-61818" r="-694" b="-19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64815" r="-551042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64815" r="-451042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64815" r="-351042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64815" r="-251042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164815" r="-151042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333" t="-164815" r="-694" b="-10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64815" r="-551042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64815" r="-451042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64815" r="-351042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264815" r="-251042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264815" r="-151042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333" t="-264815" r="-694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117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0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727227"/>
                  </p:ext>
                </p:extLst>
              </p:nvPr>
            </p:nvGraphicFramePr>
            <p:xfrm>
              <a:off x="2039190" y="410665"/>
              <a:ext cx="8229600" cy="41452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20624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Partner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Mathematical</a:t>
                          </a:r>
                        </a:p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Statement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u="none" strike="noStrike" baseline="0" dirty="0">
                              <a:latin typeface="Verdana" pitchFamily="34" charset="0"/>
                              <a:ea typeface="Verdana" pitchFamily="34" charset="0"/>
                            </a:rPr>
                            <a:t>Statement in Words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i="1" dirty="0">
                              <a:latin typeface="Verdana" pitchFamily="34" charset="0"/>
                              <a:ea typeface="Verdana" pitchFamily="34" charset="0"/>
                            </a:rPr>
                            <a:t>Example</a:t>
                          </a:r>
                          <a:endParaRPr lang="en-US" sz="2000" i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 smtClean="0">
                                        <a:latin typeface="Cambria Math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3</m:t>
                                    </m:r>
                                  </m:e>
                                </m:d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&lt;4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Verdana" pitchFamily="34" charset="0"/>
                              <a:ea typeface="Verdana" pitchFamily="34" charset="0"/>
                            </a:rPr>
                            <a:t>the absolute value of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i="1" dirty="0">
                              <a:latin typeface="Verdana" pitchFamily="34" charset="0"/>
                              <a:ea typeface="Verdana" pitchFamily="34" charset="0"/>
                            </a:rPr>
                            <a:t> is less than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4</m:t>
                              </m:r>
                            </m:oMath>
                          </a14:m>
                          <a:endParaRPr lang="en-PH" sz="2000" i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Partner A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Partner B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Partner A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Partner B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8727227"/>
                  </p:ext>
                </p:extLst>
              </p:nvPr>
            </p:nvGraphicFramePr>
            <p:xfrm>
              <a:off x="2039190" y="410665"/>
              <a:ext cx="8229600" cy="41452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062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Partner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Mathematical</a:t>
                          </a:r>
                        </a:p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Statement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u="none" strike="noStrike" baseline="0" dirty="0">
                              <a:latin typeface="Verdana" pitchFamily="34" charset="0"/>
                              <a:ea typeface="Verdana" pitchFamily="34" charset="0"/>
                            </a:rPr>
                            <a:t>Statement in Words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i="1" dirty="0">
                              <a:latin typeface="Verdana" pitchFamily="34" charset="0"/>
                              <a:ea typeface="Verdana" pitchFamily="34" charset="0"/>
                            </a:rPr>
                            <a:t>Example</a:t>
                          </a:r>
                          <a:endParaRPr lang="en-US" sz="2000" i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815" t="-103571" r="-192486" b="-3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5783" t="-103571" r="-301" b="-3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Partner A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Partner B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Partner A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Partner B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244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0470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69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7066" y="2677245"/>
            <a:ext cx="722563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1275" y="27610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0447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4455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34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34800" y="-2565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4.10.4 Guided Instruction: Operations Using Absolute Value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00047"/>
                <a:ext cx="1101455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Ty’shaun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and Gabby were asked to explain their strategies for determining the sum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−7</m:t>
                        </m:r>
                      </m:e>
                    </m:d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|5|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Ty’shaun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modeled his thinking on the number line.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00047"/>
                <a:ext cx="11014552" cy="1323439"/>
              </a:xfrm>
              <a:prstGeom prst="rect">
                <a:avLst/>
              </a:prstGeom>
              <a:blipFill>
                <a:blip r:embed="rId5"/>
                <a:stretch>
                  <a:fillRect l="-576" t="-2857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6124" y="2928177"/>
            <a:ext cx="7381875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282;g104476d1465_1_17"/>
          <p:cNvSpPr txBox="1"/>
          <p:nvPr/>
        </p:nvSpPr>
        <p:spPr>
          <a:xfrm>
            <a:off x="87752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578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1600" y="301445"/>
                <a:ext cx="115089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400" dirty="0" err="1">
                    <a:latin typeface="Verdana"/>
                    <a:ea typeface="Verdana"/>
                    <a:cs typeface="Verdana"/>
                  </a:rPr>
                  <a:t>Gabby’s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 explanation was “I know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−7</m:t>
                        </m:r>
                      </m:e>
                    </m:d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a distance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from </a:t>
                </a:r>
                <a:r>
                  <a:rPr lang="en-US" sz="2400" dirty="0">
                    <a:latin typeface="Cambria"/>
                    <a:ea typeface="Times New Roman"/>
                    <a:cs typeface="Cambria"/>
                  </a:rPr>
                  <a:t>0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|5|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a distance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from </a:t>
                </a:r>
                <a:r>
                  <a:rPr lang="en-US" sz="2400" dirty="0">
                    <a:latin typeface="Cambria"/>
                    <a:ea typeface="Times New Roman"/>
                    <a:cs typeface="Cambria"/>
                  </a:rPr>
                  <a:t>0.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sum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, so the sum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|−7|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|5|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also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.”</a:t>
                </a:r>
              </a:p>
              <a:p>
                <a:pPr marL="457200"/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/>
                    <a:ea typeface="Verdana"/>
                    <a:cs typeface="Verdana"/>
                  </a:rPr>
                  <a:t>Explain which strategy makes more sense to you.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0" y="301445"/>
                <a:ext cx="11508900" cy="1938992"/>
              </a:xfrm>
              <a:prstGeom prst="rect">
                <a:avLst/>
              </a:prstGeom>
              <a:blipFill>
                <a:blip r:embed="rId4"/>
                <a:stretch>
                  <a:fillRect t="-3247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37150" y="648499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1611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2" y="288745"/>
            <a:ext cx="8327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Find the value of each expression.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r>
              <a:rPr lang="en-PH" sz="2000" dirty="0">
                <a:latin typeface="Verdana"/>
                <a:ea typeface="Verdana"/>
                <a:cs typeface="Verdana" panose="020B0604030504040204" pitchFamily="34" charset="0"/>
              </a:rPr>
              <a:t>	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1681508"/>
                  </p:ext>
                </p:extLst>
              </p:nvPr>
            </p:nvGraphicFramePr>
            <p:xfrm>
              <a:off x="910240" y="872745"/>
              <a:ext cx="7742682" cy="340836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87134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87134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342900" indent="-342900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a.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−18</m:t>
                                  </m:r>
                                </m:e>
                              </m:d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−13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b.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  <a:cs typeface="Verdana" panose="020B0604030504040204" pitchFamily="34" charset="0"/>
                                </a:rPr>
                                <m:t>12 </m:t>
                              </m:r>
                              <m:nary>
                                <m:naryPr>
                                  <m:chr m:val="⨉"/>
                                  <m:subHide m:val="on"/>
                                  <m:supHide m:val="on"/>
                                  <m:ctrlP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PH" sz="2000" b="0" i="1" smtClean="0">
                                          <a:latin typeface="Cambria Math"/>
                                          <a:ea typeface="Verdana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PH" sz="2000" b="0" i="1" smtClean="0">
                                          <a:latin typeface="Cambria Math"/>
                                          <a:ea typeface="Verdana"/>
                                        </a:rPr>
                                        <m:t>−4</m:t>
                                      </m:r>
                                    </m:e>
                                  </m:d>
                                </m:e>
                              </m:nary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indent="-342900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341313" marR="0" indent="-341313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c.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PH" sz="2000" i="1" smtClean="0">
                                          <a:latin typeface="Cambria Math"/>
                                          <a:ea typeface="Verdana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PH" sz="2000" b="0" i="1" smtClean="0">
                                          <a:latin typeface="Cambria Math"/>
                                          <a:ea typeface="Verdana"/>
                                        </a:rPr>
                                        <m:t>45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PH" sz="2000" i="1" smtClean="0">
                                          <a:latin typeface="Cambria Math"/>
                                          <a:ea typeface="Verdana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PH" sz="2000" b="0" i="1" smtClean="0">
                                          <a:latin typeface="Cambria Math"/>
                                          <a:ea typeface="Verdana"/>
                                        </a:rPr>
                                        <m:t>−3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1313" marR="0" indent="-341313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d.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−22</m:t>
                                  </m:r>
                                </m:e>
                              </m:d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−31</m:t>
                                  </m:r>
                                </m:e>
                              </m:d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40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1681508"/>
                  </p:ext>
                </p:extLst>
              </p:nvPr>
            </p:nvGraphicFramePr>
            <p:xfrm>
              <a:off x="910240" y="872745"/>
              <a:ext cx="7742682" cy="340836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8713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713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4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9333" r="-99673" b="-20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28" t="-9333" b="-20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37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546667" r="-99673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28" t="-546667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923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0708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84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67867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5728" y="2897934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4861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14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4.10.5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83271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 the symbols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 &gt; ,  &lt; 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,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or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 to compare each pair of values.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8327136" cy="707886"/>
              </a:xfrm>
              <a:prstGeom prst="rect">
                <a:avLst/>
              </a:prstGeom>
              <a:blipFill>
                <a:blip r:embed="rId5"/>
                <a:stretch>
                  <a:fillRect l="-761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768489"/>
                  </p:ext>
                </p:extLst>
              </p:nvPr>
            </p:nvGraphicFramePr>
            <p:xfrm>
              <a:off x="1040542" y="2251965"/>
              <a:ext cx="7742682" cy="4004055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87134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87134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1334685">
                    <a:tc>
                      <a:txBody>
                        <a:bodyPr/>
                        <a:lstStyle/>
                        <a:p>
                          <a:pPr marL="342900" indent="-342900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a.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−42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−25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d.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−512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284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334685">
                    <a:tc>
                      <a:txBody>
                        <a:bodyPr/>
                        <a:lstStyle/>
                        <a:p>
                          <a:pPr marL="341313" marR="0" indent="-341313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b.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/>
                                  <a:cs typeface="Verdana" panose="020B0604030504040204" pitchFamily="34" charset="0"/>
                                </a:rPr>
                                <m:t>−21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18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1313" marR="0" indent="-341313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e.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−176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176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334685">
                    <a:tc>
                      <a:txBody>
                        <a:bodyPr/>
                        <a:lstStyle/>
                        <a:p>
                          <a:pPr marL="341313" marR="0" indent="-341313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c.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−582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−790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f. </a:t>
                          </a:r>
                          <a:r>
                            <a:rPr lang="en-PH" sz="2000" dirty="0">
                              <a:latin typeface="Verdana"/>
                              <a:ea typeface="Verdana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000" i="1" smtClean="0">
                                      <a:latin typeface="Cambria Math"/>
                                      <a:ea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/>
                                    </a:rPr>
                                    <m:t>−38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0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768489"/>
                  </p:ext>
                </p:extLst>
              </p:nvPr>
            </p:nvGraphicFramePr>
            <p:xfrm>
              <a:off x="1040542" y="2251965"/>
              <a:ext cx="7742682" cy="4004055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8713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713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3346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2857" r="-99673" b="-2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328" t="-2857" b="-20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346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01887" r="-99673" b="-990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328" t="-101887" b="-990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346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203810" r="-99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328" t="-20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832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406699"/>
                <a:ext cx="8327136" cy="3657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Find the value of each expression.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/>
                <a:r>
                  <a:rPr lang="en-PH" sz="2000" dirty="0">
                    <a:latin typeface="Verdana"/>
                    <a:ea typeface="Verdana"/>
                    <a:cs typeface="Verdana" panose="020B0604030504040204" pitchFamily="34" charset="0"/>
                  </a:rPr>
                  <a:t>a.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000" i="1">
                            <a:latin typeface="Cambria Math"/>
                            <a:ea typeface="Verdana"/>
                          </a:rPr>
                        </m:ctrlPr>
                      </m:dPr>
                      <m:e>
                        <m:r>
                          <a:rPr lang="en-PH" sz="2000" i="1">
                            <a:latin typeface="Cambria Math"/>
                            <a:ea typeface="Verdana"/>
                          </a:rPr>
                          <m:t>−58</m:t>
                        </m:r>
                      </m:e>
                    </m:d>
                    <m:r>
                      <a:rPr lang="en-PH" sz="2000" i="1">
                        <a:latin typeface="Cambria Math"/>
                        <a:ea typeface="Verdana"/>
                      </a:rPr>
                      <m:t>+12=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</a:t>
                </a: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000" i="1">
                            <a:latin typeface="Cambria Math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PH" sz="2000" i="1">
                            <a:latin typeface="Cambria Math"/>
                            <a:ea typeface="Verdana" panose="020B0604030504040204" pitchFamily="34" charset="0"/>
                          </a:rPr>
                          <m:t>−13</m:t>
                        </m:r>
                      </m:e>
                    </m:d>
                    <m:r>
                      <a:rPr lang="en-PH" sz="2000" i="1">
                        <a:latin typeface="Cambria Math"/>
                        <a:ea typeface="Cambria Math"/>
                      </a:rPr>
                      <m:t>×5=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</a:t>
                </a: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000" i="1">
                            <a:latin typeface="Cambria Math"/>
                            <a:ea typeface="Verdana" panose="020B0604030504040204" pitchFamily="34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PH" sz="2000" i="1">
                                <a:latin typeface="Cambria Math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PH" sz="2000" i="1">
                                <a:latin typeface="Cambria Math"/>
                                <a:ea typeface="Verdana" panose="020B0604030504040204" pitchFamily="34" charset="0"/>
                              </a:rPr>
                              <m:t>−36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PH" sz="2000" i="1">
                                <a:latin typeface="Cambria Math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PH" sz="2000" i="1">
                                <a:latin typeface="Cambria Math"/>
                                <a:ea typeface="Verdana" panose="020B0604030504040204" pitchFamily="34" charset="0"/>
                              </a:rPr>
                              <m:t>9</m:t>
                            </m:r>
                          </m:e>
                        </m:d>
                      </m:den>
                    </m:f>
                    <m:r>
                      <a:rPr lang="en-PH" sz="2000" i="1">
                        <a:latin typeface="Cambria Math"/>
                        <a:ea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06699"/>
                <a:ext cx="8327136" cy="3657091"/>
              </a:xfrm>
              <a:prstGeom prst="rect">
                <a:avLst/>
              </a:prstGeom>
              <a:blipFill>
                <a:blip r:embed="rId4"/>
                <a:stretch>
                  <a:fillRect l="-761" t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92368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4619" y="2916570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62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1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5265" y="-5325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4.10.6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815" y="8963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713713" y="1415339"/>
            <a:ext cx="83271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Place an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X</a:t>
            </a:r>
            <a:r>
              <a:rPr lang="en-US" sz="2000" dirty="0">
                <a:latin typeface="Verdana"/>
                <a:ea typeface="Verdana"/>
                <a:cs typeface="Verdana"/>
              </a:rPr>
              <a:t> on the line to indicate your understanding of each of today’s learning targets. Then provide a brief explanation or evidence to support your self-assessment.</a:t>
            </a: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 can compare the absolute value of two numbers.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 can perform operations that involve the absolute value of two numbers.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854541"/>
              </p:ext>
            </p:extLst>
          </p:nvPr>
        </p:nvGraphicFramePr>
        <p:xfrm>
          <a:off x="2222126" y="3279600"/>
          <a:ext cx="8229600" cy="652272"/>
        </p:xfrm>
        <a:graphic>
          <a:graphicData uri="http://schemas.openxmlformats.org/drawingml/2006/table">
            <a:tbl>
              <a:tblPr firstRow="1" firstCol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R="5016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need help.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50165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can’t get started.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I’m getting there.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and have evidence.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2354751" y="4128609"/>
            <a:ext cx="781505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748141"/>
              </p:ext>
            </p:extLst>
          </p:nvPr>
        </p:nvGraphicFramePr>
        <p:xfrm>
          <a:off x="2273300" y="5351591"/>
          <a:ext cx="8229600" cy="652272"/>
        </p:xfrm>
        <a:graphic>
          <a:graphicData uri="http://schemas.openxmlformats.org/drawingml/2006/table">
            <a:tbl>
              <a:tblPr firstRow="1" firstCol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R="5016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need help.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R="5016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can’t get started.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I’m getting there.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and have evidence.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2405925" y="6200600"/>
            <a:ext cx="781505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282;g104476d1465_1_17"/>
          <p:cNvSpPr txBox="1"/>
          <p:nvPr/>
        </p:nvSpPr>
        <p:spPr>
          <a:xfrm>
            <a:off x="87879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5FBA28F1-777D-4EEA-BC5A-6CF866851E4F}"/>
</file>

<file path=customXml/itemProps2.xml><?xml version="1.0" encoding="utf-8"?>
<ds:datastoreItem xmlns:ds="http://schemas.openxmlformats.org/officeDocument/2006/customXml" ds:itemID="{8B9B7E48-3D22-459B-83A2-E4A3F195887E}"/>
</file>

<file path=customXml/itemProps3.xml><?xml version="1.0" encoding="utf-8"?>
<ds:datastoreItem xmlns:ds="http://schemas.openxmlformats.org/officeDocument/2006/customXml" ds:itemID="{6DF0802E-BBA0-4A9B-99CC-1F0A164BB2FD}"/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937</Words>
  <Application>Microsoft Office PowerPoint</Application>
  <PresentationFormat>Custom</PresentationFormat>
  <Paragraphs>252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Times New Roman</vt:lpstr>
      <vt:lpstr>Century Gothic</vt:lpstr>
      <vt:lpstr>Cambria Math</vt:lpstr>
      <vt:lpstr>Cambria</vt:lpstr>
      <vt:lpstr>Arial Black</vt:lpstr>
      <vt:lpstr>Verdana</vt:lpstr>
      <vt:lpstr>1_Office Theme</vt:lpstr>
      <vt:lpstr>6th Grade Math  Unit 4, Lesson 10  Comparing and Performing Operations with Absolute Value  Volume 1, pg. 183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52</cp:revision>
  <dcterms:created xsi:type="dcterms:W3CDTF">2015-03-17T18:51:18Z</dcterms:created>
  <dcterms:modified xsi:type="dcterms:W3CDTF">2022-06-05T01:39:10Z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