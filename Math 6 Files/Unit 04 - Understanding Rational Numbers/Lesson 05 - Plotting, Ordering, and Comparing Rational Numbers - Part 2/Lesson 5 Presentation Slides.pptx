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11" r:id="rId10"/>
    <p:sldId id="312" r:id="rId11"/>
    <p:sldId id="313" r:id="rId12"/>
    <p:sldId id="289" r:id="rId13"/>
    <p:sldId id="290" r:id="rId14"/>
    <p:sldId id="308" r:id="rId15"/>
    <p:sldId id="323" r:id="rId16"/>
    <p:sldId id="320" r:id="rId17"/>
    <p:sldId id="321" r:id="rId18"/>
    <p:sldId id="322" r:id="rId19"/>
    <p:sldId id="302" r:id="rId20"/>
    <p:sldId id="303" r:id="rId21"/>
    <p:sldId id="309" r:id="rId22"/>
    <p:sldId id="306" r:id="rId23"/>
    <p:sldId id="307" r:id="rId24"/>
  </p:sldIdLst>
  <p:sldSz cx="12192000" cy="6858000"/>
  <p:notesSz cx="6858000" cy="9144000"/>
  <p:embeddedFontLst>
    <p:embeddedFont>
      <p:font typeface="Calibri" pitchFamily="34" charset="0"/>
      <p:regular r:id="rId26"/>
      <p:bold r:id="rId27"/>
      <p:italic r:id="rId28"/>
      <p:boldItalic r:id="rId29"/>
    </p:embeddedFont>
    <p:embeddedFont>
      <p:font typeface="Century Gothic" pitchFamily="34" charset="0"/>
      <p:regular r:id="rId30"/>
      <p:bold r:id="rId31"/>
      <p:italic r:id="rId32"/>
      <p:boldItalic r:id="rId33"/>
    </p:embeddedFont>
    <p:embeddedFont>
      <p:font typeface="Cambria Math" pitchFamily="18" charset="0"/>
      <p:regular r:id="rId34"/>
    </p:embeddedFont>
    <p:embeddedFont>
      <p:font typeface="Arial Black" pitchFamily="34" charset="0"/>
      <p:bold r:id="rId35"/>
    </p:embeddedFont>
    <p:embeddedFont>
      <p:font typeface="Verdana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39" autoAdjust="0"/>
    <p:restoredTop sz="94761" autoAdjust="0"/>
  </p:normalViewPr>
  <p:slideViewPr>
    <p:cSldViewPr snapToGrid="0">
      <p:cViewPr varScale="1">
        <p:scale>
          <a:sx n="83" d="100"/>
          <a:sy n="83" d="100"/>
        </p:scale>
        <p:origin x="-888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50790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jpg"/><Relationship Id="rId5" Type="http://schemas.openxmlformats.org/officeDocument/2006/relationships/image" Target="../media/image160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0.png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tiff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Plotting, Ordering, and Comparing Rational Numbers – Part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156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3800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623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09622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MA.6.NSO.1.1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Extend previous understanding of numbers to define rational numbers. Plot, order, and compare rational numbers.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73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103921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59" y="1596390"/>
            <a:ext cx="1048748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7910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502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9362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15259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Verdana"/>
                <a:cs typeface="Verdana"/>
              </a:rPr>
              <a:t>I can plot, compare, and order rational numbers.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8680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528" y="287933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736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1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9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41266B"/>
                </a:solidFill>
                <a:latin typeface="Verdana"/>
                <a:ea typeface="Times New Roman"/>
                <a:cs typeface="Cambria Math"/>
              </a:rPr>
              <a:t>4.5.1 Warm-Up: Find the Error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93248" y="1386026"/>
            <a:ext cx="8327136" cy="4439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A student plotted the following numbers.</a:t>
            </a:r>
          </a:p>
          <a:p>
            <a:pPr>
              <a:lnSpc>
                <a:spcPct val="107000"/>
              </a:lnSpc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>
              <a:lnSpc>
                <a:spcPct val="107000"/>
              </a:lnSpc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>
              <a:lnSpc>
                <a:spcPct val="107000"/>
              </a:lnSpc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>
              <a:lnSpc>
                <a:spcPct val="107000"/>
              </a:lnSpc>
            </a:pPr>
            <a:endParaRPr lang="en-PH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Which values are plotted correctly?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Which values are NOT plotted correctly?</a:t>
            </a:r>
            <a:endParaRPr lang="en-PH" sz="2400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pic>
        <p:nvPicPr>
          <p:cNvPr id="9" name="Picture 8" descr="A picture containing object, clock&#10;&#10;Description automatically generated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12"/>
          <a:stretch/>
        </p:blipFill>
        <p:spPr>
          <a:xfrm>
            <a:off x="2146200" y="1911736"/>
            <a:ext cx="7785994" cy="1336561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839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72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4903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0450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135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302136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4.5.2 Activity: Class Number Line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9497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547ABD-563B-A148-B65C-C7679A7B43D4}"/>
              </a:ext>
            </a:extLst>
          </p:cNvPr>
          <p:cNvSpPr txBox="1"/>
          <p:nvPr/>
        </p:nvSpPr>
        <p:spPr>
          <a:xfrm>
            <a:off x="593247" y="1386026"/>
            <a:ext cx="10975453" cy="2047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400" dirty="0">
                <a:latin typeface="Verdana"/>
                <a:ea typeface="Verdana"/>
                <a:cs typeface="Verdana"/>
              </a:rPr>
              <a:t>Your teacher will give you a sticky note with a rational number</a:t>
            </a:r>
            <a:r>
              <a:rPr lang="en-US" sz="2400" dirty="0">
                <a:solidFill>
                  <a:srgbClr val="0000FF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400" dirty="0">
                <a:latin typeface="Verdana"/>
                <a:ea typeface="Verdana"/>
                <a:cs typeface="Verdana"/>
              </a:rPr>
              <a:t>written on the front.</a:t>
            </a:r>
            <a:endParaRPr lang="en-PH" sz="2000" dirty="0">
              <a:latin typeface="Cambria Math"/>
              <a:ea typeface="Cambria Math"/>
              <a:cs typeface="Cambria Math"/>
            </a:endParaRPr>
          </a:p>
          <a:p>
            <a:pPr>
              <a:lnSpc>
                <a:spcPct val="107000"/>
              </a:lnSpc>
            </a:pPr>
            <a:r>
              <a:rPr lang="en-US" sz="2400" dirty="0">
                <a:latin typeface="Verdana"/>
                <a:ea typeface="Verdana"/>
                <a:cs typeface="Verdana"/>
              </a:rPr>
              <a:t> </a:t>
            </a:r>
            <a:endParaRPr lang="en-PH" sz="2000" dirty="0">
              <a:latin typeface="Cambria Math"/>
              <a:ea typeface="Cambria Math"/>
              <a:cs typeface="Cambria Math"/>
            </a:endParaRPr>
          </a:p>
          <a:p>
            <a:pPr>
              <a:lnSpc>
                <a:spcPct val="107000"/>
              </a:lnSpc>
            </a:pPr>
            <a:r>
              <a:rPr lang="en-US" sz="2400" dirty="0">
                <a:latin typeface="Verdana"/>
                <a:ea typeface="Verdana"/>
                <a:cs typeface="Verdana"/>
              </a:rPr>
              <a:t>Write your name on the back of the sticky note and place your number in the correct location on the class number line.</a:t>
            </a:r>
            <a:endParaRPr lang="en-PH" sz="2000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5313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45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06950" y="2814310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9422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026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3208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4.5.3 Exploration: Comparing Points on a Number Line 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0780244" cy="2774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A number line is shown with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𝑀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𝑁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𝑃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. Work with your partner to answer the questions about the number line.</a:t>
                </a: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>
                  <a:lnSpc>
                    <a:spcPct val="107000"/>
                  </a:lnSpc>
                  <a:spcAft>
                    <a:spcPts val="600"/>
                  </a:spcAft>
                </a:pPr>
                <a:endParaRPr lang="en-PH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Use each of the given phrases to describe or compare the values of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𝑀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𝑁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𝑃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. Each statement will use one or two of the points.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0780244" cy="2774670"/>
              </a:xfrm>
              <a:prstGeom prst="rect">
                <a:avLst/>
              </a:prstGeom>
              <a:blipFill>
                <a:blip r:embed="rId5"/>
                <a:stretch>
                  <a:fillRect l="-588" t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chart&#10;&#10;Description automatically generated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56"/>
          <a:stretch/>
        </p:blipFill>
        <p:spPr bwMode="auto">
          <a:xfrm>
            <a:off x="3418586" y="2195677"/>
            <a:ext cx="5610860" cy="7429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665360"/>
                  </p:ext>
                </p:extLst>
              </p:nvPr>
            </p:nvGraphicFramePr>
            <p:xfrm>
              <a:off x="2624016" y="4130359"/>
              <a:ext cx="7200000" cy="2236272"/>
            </p:xfrm>
            <a:graphic>
              <a:graphicData uri="http://schemas.openxmlformats.org/drawingml/2006/table">
                <a:tbl>
                  <a:tblPr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574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Phrase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Description or Comparison </a:t>
                          </a:r>
                          <a:b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</a:b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𝑴</m:t>
                              </m:r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 </m:t>
                              </m:r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𝑵</m:t>
                              </m:r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 </m:t>
                              </m:r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𝑹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less than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opposite of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greater than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negative number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665360"/>
                  </p:ext>
                </p:extLst>
              </p:nvPr>
            </p:nvGraphicFramePr>
            <p:xfrm>
              <a:off x="2624016" y="4130359"/>
              <a:ext cx="7200000" cy="2210491"/>
            </p:xfrm>
            <a:graphic>
              <a:graphicData uri="http://schemas.openxmlformats.org/drawingml/2006/table">
                <a:tbl>
                  <a:tblPr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264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Phrase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6862" t="-16000" r="-293" b="-26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less than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opposite of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greater than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negative number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1203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180" y="622001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4191" y="365864"/>
                <a:ext cx="8327136" cy="5662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2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, what are the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𝑀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𝑁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?</a:t>
                </a:r>
                <a:endParaRPr lang="en-PH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0.4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, what are the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𝑀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𝑃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?</a:t>
                </a:r>
                <a:endParaRPr lang="en-PH" sz="20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200%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, what are the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𝑀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𝑁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?</a:t>
                </a:r>
                <a:endParaRPr lang="en-PH" sz="20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/>
                  <a:t>If 𝑀 is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, what are the values of 𝑁, 𝑃, and 𝑅?</a:t>
                </a: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91" y="365864"/>
                <a:ext cx="8327136" cy="5662704"/>
              </a:xfrm>
              <a:prstGeom prst="rect">
                <a:avLst/>
              </a:prstGeom>
              <a:blipFill>
                <a:blip r:embed="rId4"/>
                <a:stretch>
                  <a:fillRect l="-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83954" y="647709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1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19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5875" y="2845745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839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870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60990"/>
            <a:ext cx="10516051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4.5.4 Guided Instruction: Comparing Rational Numbers in Different Forms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0882986" cy="282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Use the symbols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  <a:cs typeface="Cambria Math"/>
                      </a:rPr>
                      <m:t>&gt;,  &lt;</m:t>
                    </m:r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 to compare each pair of values. </a:t>
                </a:r>
              </a:p>
              <a:p>
                <a:pPr marL="457200" lvl="3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lvl="3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lvl="3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lvl="3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lvl="3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lvl="3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0882986" cy="2823593"/>
              </a:xfrm>
              <a:prstGeom prst="rect">
                <a:avLst/>
              </a:prstGeom>
              <a:blipFill>
                <a:blip r:embed="rId5"/>
                <a:stretch>
                  <a:fillRect l="-816"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585714"/>
                  </p:ext>
                </p:extLst>
              </p:nvPr>
            </p:nvGraphicFramePr>
            <p:xfrm>
              <a:off x="2046000" y="2617899"/>
              <a:ext cx="8100000" cy="1440000"/>
            </p:xfrm>
            <a:graphic>
              <a:graphicData uri="http://schemas.openxmlformats.org/drawingml/2006/table">
                <a:tbl>
                  <a:tblPr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9.02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9.2%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lang="en-PH" sz="24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6.050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6.05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0.4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40</m:t>
                                  </m:r>
                                </m:den>
                              </m:f>
                            </m:oMath>
                          </a14:m>
                          <a:endParaRPr lang="en-PH" sz="24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2.624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PH" sz="24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585714"/>
                  </p:ext>
                </p:extLst>
              </p:nvPr>
            </p:nvGraphicFramePr>
            <p:xfrm>
              <a:off x="2046000" y="2617899"/>
              <a:ext cx="8100000" cy="1440000"/>
            </p:xfrm>
            <a:graphic>
              <a:graphicData uri="http://schemas.openxmlformats.org/drawingml/2006/table">
                <a:tbl>
                  <a:tblPr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469" t="-15789" r="-200000" b="-1140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0943" t="-15789" r="-100943" b="-1140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00000" t="-15789" r="-469" b="-1140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469" t="-115789" r="-200000" b="-140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0943" t="-115789" r="-100943" b="-140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00000" t="-115789" r="-469" b="-140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Google Shape;282;g104476d1465_1_17"/>
          <p:cNvSpPr txBox="1"/>
          <p:nvPr/>
        </p:nvSpPr>
        <p:spPr>
          <a:xfrm>
            <a:off x="883047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135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2" y="288746"/>
            <a:ext cx="11134292" cy="1257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Emma and Noah shared their strategy for comparing values written as fractions. Write your strategy in the box and note any </a:t>
            </a:r>
            <a:r>
              <a:rPr lang="en-US" sz="2400" b="1" dirty="0">
                <a:latin typeface="Verdana"/>
                <a:ea typeface="Verdana"/>
                <a:cs typeface="Verdana"/>
              </a:rPr>
              <a:t>differences</a:t>
            </a:r>
            <a:r>
              <a:rPr lang="en-US" sz="2400" dirty="0">
                <a:latin typeface="Verdana"/>
                <a:ea typeface="Verdana"/>
                <a:cs typeface="Verdana"/>
              </a:rPr>
              <a:t> from Emma’s or Noah’s strategy.</a:t>
            </a:r>
            <a:endParaRPr lang="en-PH" sz="2400" dirty="0">
              <a:latin typeface="Cambria Math"/>
              <a:ea typeface="Cambria Math"/>
              <a:cs typeface="Cambria Math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53452"/>
              </p:ext>
            </p:extLst>
          </p:nvPr>
        </p:nvGraphicFramePr>
        <p:xfrm>
          <a:off x="2132976" y="2065946"/>
          <a:ext cx="7920000" cy="3905832"/>
        </p:xfrm>
        <a:graphic>
          <a:graphicData uri="http://schemas.openxmlformats.org/drawingml/2006/table">
            <a:tbl>
              <a:tblPr firstRow="1" firstCol="1" bandRow="1"/>
              <a:tblGrid>
                <a:gridCol w="432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Emma’s Strategy</a:t>
                      </a:r>
                      <a:endParaRPr lang="en-PH" sz="2000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Noah’s Strategy</a:t>
                      </a:r>
                      <a:endParaRPr lang="en-PH" sz="2000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140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When Emma compares a negative fraction to a negative fraction, she starts by thinking about which whole numbers each fraction lies between and which each is closest to.</a:t>
                      </a:r>
                      <a:endParaRPr lang="en-PH" sz="2000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When Noah compares a negative fraction to a negative fraction, he uses common denominators.</a:t>
                      </a:r>
                      <a:endParaRPr lang="en-PH" sz="2000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000"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 </a:t>
                      </a:r>
                      <a:endParaRPr lang="en-PH" sz="2000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75313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163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1" y="288745"/>
            <a:ext cx="11113743" cy="1652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lnSpc>
                <a:spcPct val="107000"/>
              </a:lnSpc>
              <a:buFont typeface="+mj-lt"/>
              <a:buAutoNum type="arabi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Angel and Sophia share their strategies for comparing a value written as a decimal to a value written as a fraction. Write your strategy in the box and note any </a:t>
            </a:r>
            <a:r>
              <a:rPr lang="en-US" sz="2400" b="1" dirty="0">
                <a:latin typeface="Verdana"/>
                <a:ea typeface="Verdana"/>
                <a:cs typeface="Verdana"/>
              </a:rPr>
              <a:t>similarities</a:t>
            </a:r>
            <a:r>
              <a:rPr lang="en-US" sz="2400" dirty="0">
                <a:latin typeface="Verdana"/>
                <a:ea typeface="Verdana"/>
                <a:cs typeface="Verdana"/>
              </a:rPr>
              <a:t> from Angel’s or Sophia’s strategy.</a:t>
            </a:r>
            <a:endParaRPr lang="en-PH" sz="2000" dirty="0">
              <a:latin typeface="Cambria Math"/>
              <a:ea typeface="Cambria Math"/>
              <a:cs typeface="Cambria Math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330939"/>
              </p:ext>
            </p:extLst>
          </p:nvPr>
        </p:nvGraphicFramePr>
        <p:xfrm>
          <a:off x="2529183" y="2551843"/>
          <a:ext cx="7920000" cy="3253560"/>
        </p:xfrm>
        <a:graphic>
          <a:graphicData uri="http://schemas.openxmlformats.org/drawingml/2006/table">
            <a:tbl>
              <a:tblPr firstRow="1" firstCol="1" bandRow="1"/>
              <a:tblGrid>
                <a:gridCol w="432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/>
                          <a:ea typeface="Verdana"/>
                          <a:cs typeface="Verdana"/>
                        </a:rPr>
                        <a:t>Angel’s Strategy</a:t>
                      </a:r>
                      <a:endParaRPr lang="en-PH" sz="200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/>
                          <a:ea typeface="Verdana"/>
                          <a:cs typeface="Verdana"/>
                        </a:rPr>
                        <a:t>Sophia’s Strategy</a:t>
                      </a:r>
                      <a:endParaRPr lang="en-PH" sz="200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140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When Angel compares a positive decimal to a positive fraction, he rewrites the fraction as an equivalent decimal.</a:t>
                      </a:r>
                      <a:endParaRPr lang="en-PH" sz="2000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When Sophia compares a positive decimal to a positive fraction, she plots them on a number line.</a:t>
                      </a:r>
                      <a:endParaRPr lang="en-PH" sz="2000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000"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 </a:t>
                      </a:r>
                      <a:endParaRPr lang="en-PH" sz="2000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76340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647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92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89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7368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AB6A3A1-5A0D-C84F-AC89-57E6782F43E5}"/>
              </a:ext>
            </a:extLst>
          </p:cNvPr>
          <p:cNvSpPr txBox="1"/>
          <p:nvPr/>
        </p:nvSpPr>
        <p:spPr>
          <a:xfrm>
            <a:off x="593248" y="1394251"/>
            <a:ext cx="10996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896938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each value on the number line. Label each point with its numeric value.</a:t>
            </a: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96938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What strategies did you use that were helpful when plotting the rational numbers written in different forms on the number line?</a:t>
            </a:r>
          </a:p>
        </p:txBody>
      </p:sp>
      <p:pic>
        <p:nvPicPr>
          <p:cNvPr id="11" name="Picture 10" descr="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869" b="38319"/>
          <a:stretch/>
        </p:blipFill>
        <p:spPr bwMode="auto">
          <a:xfrm>
            <a:off x="3000580" y="3727745"/>
            <a:ext cx="6948170" cy="10648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98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8550"/>
            <a:ext cx="1053659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4.5.5 Try It: Plotting, Ordering, and Comparing Rational Numbers in Different Forms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05357"/>
                  </p:ext>
                </p:extLst>
              </p:nvPr>
            </p:nvGraphicFramePr>
            <p:xfrm>
              <a:off x="3005664" y="2745120"/>
              <a:ext cx="6739470" cy="78365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12324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−2.7</m:t>
                                </m:r>
                              </m:oMath>
                            </m:oMathPara>
                          </a14:m>
                          <a:endParaRPr lang="en-PH" sz="24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40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4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PH" sz="24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4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−1</m:t>
                                </m:r>
                                <m:f>
                                  <m:fPr>
                                    <m:ctrlPr>
                                      <a:rPr lang="en-PH" sz="24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4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PH" sz="24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4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PH" sz="24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PH" sz="24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4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PH" sz="24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4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28%</m:t>
                                </m:r>
                              </m:oMath>
                            </m:oMathPara>
                          </a14:m>
                          <a:endParaRPr lang="en-PH" sz="24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05357"/>
                  </p:ext>
                </p:extLst>
              </p:nvPr>
            </p:nvGraphicFramePr>
            <p:xfrm>
              <a:off x="3005664" y="2745120"/>
              <a:ext cx="6739470" cy="78365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1232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2324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7836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497753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136" r="-403409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8876" r="-298876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98876" r="-198876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3409" r="-101136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97753" b="-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70176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0535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2347CCE-34A7-8044-BA67-B5895157AE55}"/>
              </a:ext>
            </a:extLst>
          </p:cNvPr>
          <p:cNvSpPr txBox="1"/>
          <p:nvPr/>
        </p:nvSpPr>
        <p:spPr>
          <a:xfrm>
            <a:off x="465232" y="357931"/>
            <a:ext cx="111445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6938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Order the values from greatest to least.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96938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Complete the inequality statement to show the relationship between the values plotted on the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number line.</a:t>
            </a:r>
          </a:p>
          <a:p>
            <a:pPr marL="896938" indent="-457200">
              <a:buFont typeface="+mj-lt"/>
              <a:buAutoNum type="alphaLcPeriod" startAt="3"/>
            </a:pPr>
            <a:endParaRPr lang="en-US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2519363"/>
            <a:r>
              <a:rPr lang="en-US" sz="2000" dirty="0">
                <a:latin typeface="Verdana"/>
                <a:ea typeface="Verdana"/>
                <a:cs typeface="Verdana" panose="020B0604030504040204" pitchFamily="34" charset="0"/>
              </a:rPr>
              <a:t>_____&lt; _____&lt; _____&lt; _____&lt; _____&lt; 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2309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245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19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9528" y="2893754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79422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081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F33D5B"/>
                </a:solidFill>
                <a:latin typeface="Verdana"/>
                <a:ea typeface="Times New Roman"/>
                <a:cs typeface="Cambria Math"/>
              </a:rPr>
              <a:t>4.5.6 Your Turn!</a:t>
            </a:r>
            <a:endParaRPr lang="en-US" sz="43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7" y="1386026"/>
                <a:ext cx="10996001" cy="4049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Order the values from least to greatest.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PH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          0          1      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Plot the values on the number line. Label each point with its numeric value.</a:t>
                </a:r>
              </a:p>
              <a:p>
                <a:pPr algn="ctr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0.4            </m:t>
                      </m:r>
                      <m:r>
                        <a:rPr lang="en-US" sz="240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          </m:t>
                      </m:r>
                      <m:r>
                        <a:rPr lang="en-US" sz="240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PH" sz="2400" dirty="0">
                  <a:latin typeface="Cambria Math"/>
                  <a:ea typeface="Cambria Math"/>
                  <a:cs typeface="Cambria Math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026"/>
                <a:ext cx="10996001" cy="4049955"/>
              </a:xfrm>
              <a:prstGeom prst="rect">
                <a:avLst/>
              </a:prstGeom>
              <a:blipFill>
                <a:blip r:embed="rId5"/>
                <a:stretch>
                  <a:fillRect l="-807" t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picture containing bird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503" b="61789"/>
          <a:stretch/>
        </p:blipFill>
        <p:spPr bwMode="auto">
          <a:xfrm>
            <a:off x="3442500" y="5625284"/>
            <a:ext cx="6174001" cy="5753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282;g104476d1465_1_17"/>
          <p:cNvSpPr txBox="1"/>
          <p:nvPr/>
        </p:nvSpPr>
        <p:spPr>
          <a:xfrm>
            <a:off x="8732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1358" y="621822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1" y="406699"/>
                <a:ext cx="11113744" cy="2941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Order the values from greatest to least.</a:t>
                </a:r>
                <a:endParaRPr lang="en-PH" sz="2000" dirty="0">
                  <a:latin typeface="Cambria Math"/>
                  <a:ea typeface="Cambria Math"/>
                  <a:cs typeface="Verdana"/>
                </a:endParaRPr>
              </a:p>
              <a:p>
                <a:pPr algn="ctr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2       0      </m:t>
                      </m:r>
                      <m:r>
                        <a:rPr lang="en-US" sz="240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      1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den>
                      </m:f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       </m:t>
                      </m:r>
                      <m:r>
                        <a:rPr lang="en-US" sz="240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      1.4      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       </m:t>
                      </m:r>
                      <m:r>
                        <a:rPr lang="en-US" sz="240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13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a:rPr lang="en-US" sz="2400">
                          <a:latin typeface="Cambria Math"/>
                          <a:ea typeface="Cambria Math"/>
                          <a:cs typeface="Cambria Math"/>
                        </a:rPr>
                        <m:t>       </m:t>
                      </m:r>
                      <m:f>
                        <m:fPr>
                          <m:ctrlPr>
                            <a:rPr lang="en-PH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21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PH" sz="2000" dirty="0">
                  <a:latin typeface="Cambria Math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Use the symbols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  <a:cs typeface="Cambria Math"/>
                      </a:rPr>
                      <m:t>&gt; ,  &lt;,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 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  <a:cs typeface="Cambria Math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to compare each pair of values.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406699"/>
                <a:ext cx="11113744" cy="2941318"/>
              </a:xfrm>
              <a:prstGeom prst="rect">
                <a:avLst/>
              </a:prstGeom>
              <a:blipFill>
                <a:blip r:embed="rId4"/>
                <a:stretch>
                  <a:fillRect l="-799" t="-2155" b="-3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289210"/>
                  </p:ext>
                </p:extLst>
              </p:nvPr>
            </p:nvGraphicFramePr>
            <p:xfrm>
              <a:off x="2388750" y="3824218"/>
              <a:ext cx="8100000" cy="2062735"/>
            </p:xfrm>
            <a:graphic>
              <a:graphicData uri="http://schemas.openxmlformats.org/drawingml/2006/table">
                <a:tbl>
                  <a:tblPr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22442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8.7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8.689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7.2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22878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0.38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5%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−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4.5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en-US" sz="24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3.4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289210"/>
                  </p:ext>
                </p:extLst>
              </p:nvPr>
            </p:nvGraphicFramePr>
            <p:xfrm>
              <a:off x="2388750" y="3824218"/>
              <a:ext cx="8100000" cy="2031384"/>
            </p:xfrm>
            <a:graphic>
              <a:graphicData uri="http://schemas.openxmlformats.org/drawingml/2006/table">
                <a:tbl>
                  <a:tblPr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353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469" t="-1515" r="-200000" b="-143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943" t="-1515" r="-100943" b="-143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00000" t="-1515" r="-469" b="-143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36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469" t="-145455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943" t="-145455" r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00000" t="-145455" r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53132" y="647530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300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83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6133" y="293774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1477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18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4.5.7 Wrap-Up: Ticket Out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1006276" cy="3748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2438" lvl="3" indent="-452438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Use the values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3.6,  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4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</m:num>
                      <m:den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</m:den>
                    </m:f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,  0.7, </m:t>
                    </m:r>
                    <m:r>
                      <a:rPr lang="en-PH" sz="2000" i="1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1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</m:den>
                    </m:f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,  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15</m:t>
                        </m:r>
                      </m:num>
                      <m:den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</m:den>
                    </m:f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,  89%,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7</m:t>
                        </m:r>
                      </m:num>
                      <m:den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. Plot the values on the number line. Label each point with its numeric value.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2438" lvl="3" indent="-452438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2438" lvl="3" indent="-452438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2438" lvl="3" indent="-452438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2438" lvl="3" indent="-452438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2438" lvl="3" indent="-452438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List the values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3.6, </m:t>
                    </m:r>
                    <m:r>
                      <a:rPr lang="en-PH" sz="2000" i="1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4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</m:num>
                      <m:den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</m:den>
                    </m:f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PH" sz="2000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0.7, </m:t>
                    </m:r>
                    <m:r>
                      <a:rPr lang="en-PH" sz="2000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1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</m:den>
                    </m:f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PH" sz="2000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15</m:t>
                        </m:r>
                      </m:num>
                      <m:den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</m:den>
                    </m:f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PH" sz="2000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89%,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f>
                      <m:fPr>
                        <m:ctrlPr>
                          <a:rPr lang="en-PH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7</m:t>
                        </m:r>
                      </m:num>
                      <m:den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 from least to greatest.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2438" lvl="3" indent="-452438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2438" lvl="3" indent="-452438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2438" lvl="3" indent="-452438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Use the symbols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itchFamily="34" charset="0"/>
                        <a:cs typeface="Verdana"/>
                      </a:rPr>
                      <m:t>&lt;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itchFamily="34" charset="0"/>
                        <a:cs typeface="Verdana"/>
                      </a:rPr>
                      <m:t>&gt;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itchFamily="34" charset="0"/>
                        <a:cs typeface="Verdana"/>
                      </a:rPr>
                      <m:t>= 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to compare each pair of values.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1006276" cy="3748462"/>
              </a:xfrm>
              <a:prstGeom prst="rect">
                <a:avLst/>
              </a:prstGeom>
              <a:blipFill>
                <a:blip r:embed="rId5"/>
                <a:stretch>
                  <a:fillRect l="-576" b="-1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2782249"/>
                  </p:ext>
                </p:extLst>
              </p:nvPr>
            </p:nvGraphicFramePr>
            <p:xfrm>
              <a:off x="2544432" y="5892232"/>
              <a:ext cx="7200000" cy="462979"/>
            </p:xfrm>
            <a:graphic>
              <a:graphicData uri="http://schemas.openxmlformats.org/drawingml/2006/table">
                <a:tbl>
                  <a:tblPr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12.742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12.9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150%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3.7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2782249"/>
                  </p:ext>
                </p:extLst>
              </p:nvPr>
            </p:nvGraphicFramePr>
            <p:xfrm>
              <a:off x="2544432" y="5892232"/>
              <a:ext cx="7200000" cy="462979"/>
            </p:xfrm>
            <a:graphic>
              <a:graphicData uri="http://schemas.openxmlformats.org/drawingml/2006/table">
                <a:tbl>
                  <a:tblPr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29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2632" r="-185427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8152" t="-2632" r="-100543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07027" t="-2632" b="-1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 descr="Chart&#10;&#10;Description automatically generated"/>
          <p:cNvPicPr/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2207" b="40464"/>
          <a:stretch/>
        </p:blipFill>
        <p:spPr bwMode="auto">
          <a:xfrm>
            <a:off x="2631555" y="2770064"/>
            <a:ext cx="7766304" cy="4901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Google Shape;282;g104476d1465_1_17"/>
          <p:cNvSpPr txBox="1"/>
          <p:nvPr/>
        </p:nvSpPr>
        <p:spPr>
          <a:xfrm>
            <a:off x="876358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1080</Words>
  <Application>Microsoft Office PowerPoint</Application>
  <PresentationFormat>Custom</PresentationFormat>
  <Paragraphs>193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Times New Roman</vt:lpstr>
      <vt:lpstr>Century Gothic</vt:lpstr>
      <vt:lpstr>Cambria Math</vt:lpstr>
      <vt:lpstr>Arial Black</vt:lpstr>
      <vt:lpstr>Verdana</vt:lpstr>
      <vt:lpstr>1_Office Theme</vt:lpstr>
      <vt:lpstr>6th Grade Math  Unit 4, Lesson 5  Plotting, Ordering, and Comparing Rational Numbers – Part 2  Volume 1, pg. 156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27</cp:revision>
  <dcterms:created xsi:type="dcterms:W3CDTF">2015-03-17T18:51:18Z</dcterms:created>
  <dcterms:modified xsi:type="dcterms:W3CDTF">2022-06-05T00:51:33Z</dcterms:modified>
</cp:coreProperties>
</file>