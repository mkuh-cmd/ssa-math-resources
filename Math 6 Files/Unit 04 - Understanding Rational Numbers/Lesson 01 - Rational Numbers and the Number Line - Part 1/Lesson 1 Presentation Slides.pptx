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85" r:id="rId7"/>
    <p:sldId id="286" r:id="rId8"/>
    <p:sldId id="261" r:id="rId9"/>
    <p:sldId id="287" r:id="rId10"/>
    <p:sldId id="311" r:id="rId11"/>
    <p:sldId id="312" r:id="rId12"/>
    <p:sldId id="313" r:id="rId13"/>
    <p:sldId id="289" r:id="rId14"/>
    <p:sldId id="290" r:id="rId15"/>
    <p:sldId id="308" r:id="rId16"/>
    <p:sldId id="332" r:id="rId17"/>
    <p:sldId id="333" r:id="rId18"/>
    <p:sldId id="334" r:id="rId19"/>
    <p:sldId id="317" r:id="rId20"/>
    <p:sldId id="318" r:id="rId21"/>
    <p:sldId id="319" r:id="rId22"/>
    <p:sldId id="335" r:id="rId23"/>
    <p:sldId id="329" r:id="rId24"/>
    <p:sldId id="330" r:id="rId25"/>
    <p:sldId id="331" r:id="rId26"/>
    <p:sldId id="336" r:id="rId27"/>
    <p:sldId id="337" r:id="rId28"/>
    <p:sldId id="338" r:id="rId29"/>
    <p:sldId id="320" r:id="rId30"/>
    <p:sldId id="321" r:id="rId31"/>
    <p:sldId id="322" r:id="rId32"/>
    <p:sldId id="302" r:id="rId33"/>
    <p:sldId id="303" r:id="rId34"/>
    <p:sldId id="309" r:id="rId35"/>
    <p:sldId id="306" r:id="rId36"/>
    <p:sldId id="307" r:id="rId37"/>
  </p:sldIdLst>
  <p:sldSz cx="12192000" cy="6858000"/>
  <p:notesSz cx="6858000" cy="9144000"/>
  <p:embeddedFontLst>
    <p:embeddedFont>
      <p:font typeface="Calibri" pitchFamily="34" charset="0"/>
      <p:regular r:id="rId39"/>
      <p:bold r:id="rId40"/>
      <p:italic r:id="rId41"/>
      <p:boldItalic r:id="rId42"/>
    </p:embeddedFont>
    <p:embeddedFont>
      <p:font typeface="Century Gothic" pitchFamily="34" charset="0"/>
      <p:regular r:id="rId43"/>
      <p:bold r:id="rId44"/>
      <p:italic r:id="rId45"/>
      <p:boldItalic r:id="rId46"/>
    </p:embeddedFont>
    <p:embeddedFont>
      <p:font typeface="Cambria Math" pitchFamily="18" charset="0"/>
      <p:regular r:id="rId47"/>
    </p:embeddedFont>
    <p:embeddedFont>
      <p:font typeface="Arial Black" pitchFamily="34" charset="0"/>
      <p:bold r:id="rId48"/>
    </p:embeddedFont>
    <p:embeddedFont>
      <p:font typeface="Verdana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 autoAdjust="0"/>
    <p:restoredTop sz="94676" autoAdjust="0"/>
  </p:normalViewPr>
  <p:slideViewPr>
    <p:cSldViewPr snapToGrid="0">
      <p:cViewPr varScale="1">
        <p:scale>
          <a:sx n="112" d="100"/>
          <a:sy n="112" d="100"/>
        </p:scale>
        <p:origin x="-294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13.fntdata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66226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321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4641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233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459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0351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0313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6701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tif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4" Type="http://schemas.openxmlformats.org/officeDocument/2006/relationships/image" Target="../media/image2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tiff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tiff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6907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Rational Numbers and the Number Line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135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-11873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767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0536" y="92982"/>
            <a:ext cx="748009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36" y="328757"/>
            <a:ext cx="744335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94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20486" y="1556657"/>
            <a:ext cx="11081657" cy="45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latin typeface="Verdana" pitchFamily="34" charset="0"/>
                <a:ea typeface="Verdana" pitchFamily="34" charset="0"/>
              </a:rPr>
              <a:t>MA.6.NSO.1.1 </a:t>
            </a:r>
            <a:endParaRPr lang="en-US" sz="2800" dirty="0" smtClean="0">
              <a:latin typeface="Verdana" pitchFamily="34" charset="0"/>
              <a:ea typeface="Verdana" pitchFamily="34" charset="0"/>
            </a:endParaRPr>
          </a:p>
          <a:p>
            <a:pPr marL="444500" indent="0">
              <a:buSzPts val="1100"/>
              <a:buNone/>
            </a:pPr>
            <a:r>
              <a:rPr lang="en-US" sz="2800" dirty="0" smtClean="0">
                <a:latin typeface="Verdana" pitchFamily="34" charset="0"/>
                <a:ea typeface="Verdana" pitchFamily="34" charset="0"/>
              </a:rPr>
              <a:t>Extend </a:t>
            </a:r>
            <a:r>
              <a:rPr lang="en-US" sz="2800" dirty="0">
                <a:latin typeface="Verdana" pitchFamily="34" charset="0"/>
                <a:ea typeface="Verdana" pitchFamily="34" charset="0"/>
              </a:rPr>
              <a:t>previous understanding of numbers to define rational numbers. Plot, order, and compare rational numbers</a:t>
            </a:r>
            <a:r>
              <a:rPr lang="en-US" sz="28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0" indent="0">
              <a:buSzPts val="1100"/>
              <a:buNone/>
            </a:pPr>
            <a:endParaRPr lang="en-US" sz="2800" dirty="0" smtClean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MA.6.NSO.1.2</a:t>
            </a:r>
            <a:endParaRPr lang="en-US" sz="280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represent quantities that have opposite direction using rational numbers. Compare them on a number line and explain the meaning of zero within its context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14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93" y="2344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88142" y="-8225"/>
            <a:ext cx="101765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06093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135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64702" y="1458498"/>
            <a:ext cx="1049389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4261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21889" y="-9996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727" y="1892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0609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135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22513" y="1469571"/>
            <a:ext cx="109401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demonstrate an understanding of negative numbers.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recognize that a number in the real number system can have a variety of classifications.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rational numbers on a horizontal and vertical number line. 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850" y="2770467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90650" y="2657287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77343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232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4.1.1 Warm-Up: Creating Zero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020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773436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95939" y="1338838"/>
                <a:ext cx="10144203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only digits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most one time each, so that the equation is true.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Switch your answer with a partner to check. Ask your partner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strategy for finding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answer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write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strategy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below.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39" y="1338838"/>
                <a:ext cx="10144203" cy="3754874"/>
              </a:xfrm>
              <a:prstGeom prst="rect">
                <a:avLst/>
              </a:prstGeom>
              <a:blipFill rotWithShape="1">
                <a:blip r:embed="rId5"/>
                <a:stretch>
                  <a:fillRect l="-661" t="-974" r="-4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4">
            <a:extLst>
              <a:ext uri="{FF2B5EF4-FFF2-40B4-BE49-F238E27FC236}">
                <a16:creationId xmlns:a16="http://schemas.microsoft.com/office/drawing/2014/main" xmlns="" id="{FD34EF92-34D0-C043-B34E-9BE1F2DCDC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15309DB-7BFB-5240-AD05-97F431BEE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033" y="2349506"/>
            <a:ext cx="8323134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0609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136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14310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08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104644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4.1.2 Exploration: How Can Negative Numbers Exist?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77886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136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34081" y="1524880"/>
                <a:ext cx="1092383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Negative numbers are numbers less than zero.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Examples include:</a:t>
                </a:r>
              </a:p>
              <a:p>
                <a:pPr marL="923925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temperature below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degrees</a:t>
                </a:r>
              </a:p>
              <a:p>
                <a:pPr marL="923925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amount of money owed, or debt</a:t>
                </a:r>
              </a:p>
              <a:p>
                <a:pPr marL="923925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contestant’s score on Jeopardy (when someone misses a question,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they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loses points, so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score could be a negative amount)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the examples of negative numbers with your partner.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81" y="1524880"/>
                <a:ext cx="10923838" cy="2862322"/>
              </a:xfrm>
              <a:prstGeom prst="rect">
                <a:avLst/>
              </a:prstGeom>
              <a:blipFill rotWithShape="1">
                <a:blip r:embed="rId5"/>
                <a:stretch>
                  <a:fillRect l="-558" t="-1064" b="-27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5412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1513" y="623086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33287" y="64879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97727"/>
                <a:ext cx="1103094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of the contexts in the table could have a value less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write an example or explain your thinking.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97727"/>
                <a:ext cx="11030949" cy="1077218"/>
              </a:xfrm>
              <a:prstGeom prst="rect">
                <a:avLst/>
              </a:prstGeom>
              <a:blipFill>
                <a:blip r:embed="rId4"/>
                <a:stretch>
                  <a:fillRect l="-575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0087C52A-8BA9-7248-94A4-C5CB11B19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198045"/>
              </p:ext>
            </p:extLst>
          </p:nvPr>
        </p:nvGraphicFramePr>
        <p:xfrm>
          <a:off x="2978919" y="1662104"/>
          <a:ext cx="6234162" cy="4351337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289460">
                  <a:extLst>
                    <a:ext uri="{9D8B030D-6E8A-4147-A177-3AD203B41FA5}">
                      <a16:colId xmlns:a16="http://schemas.microsoft.com/office/drawing/2014/main" xmlns="" val="2067882882"/>
                    </a:ext>
                  </a:extLst>
                </a:gridCol>
                <a:gridCol w="4944702">
                  <a:extLst>
                    <a:ext uri="{9D8B030D-6E8A-4147-A177-3AD203B41FA5}">
                      <a16:colId xmlns:a16="http://schemas.microsoft.com/office/drawing/2014/main" xmlns="" val="672268354"/>
                    </a:ext>
                  </a:extLst>
                </a:gridCol>
              </a:tblGrid>
              <a:tr h="43513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Context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Example or Explanation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18324916"/>
                  </a:ext>
                </a:extLst>
              </a:tr>
              <a:tr h="13054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9751764"/>
                  </a:ext>
                </a:extLst>
              </a:tr>
              <a:tr h="13054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Points in a game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72926849"/>
                  </a:ext>
                </a:extLst>
              </a:tr>
              <a:tr h="13054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Time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9844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6" y="2770195"/>
            <a:ext cx="72074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5875" y="285397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773436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136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979"/>
            <a:ext cx="105406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4.1.3 Guided Instruction: The Real Number System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762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593248" y="1386025"/>
            <a:ext cx="11000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in blue on the number line are some of the numbers in the set of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natural numbers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D25031E-69B1-FE45-A1DD-822DDB4CE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30" y="2225420"/>
            <a:ext cx="7919273" cy="70788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3E1C3A87-F730-BA46-9B35-311B6FAC91EF}"/>
              </a:ext>
            </a:extLst>
          </p:cNvPr>
          <p:cNvGrpSpPr/>
          <p:nvPr/>
        </p:nvGrpSpPr>
        <p:grpSpPr>
          <a:xfrm>
            <a:off x="698759" y="3818100"/>
            <a:ext cx="8878657" cy="945990"/>
            <a:chOff x="-360465" y="-1"/>
            <a:chExt cx="7345925" cy="9461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2A1A0581-88DA-CE4E-B93A-556A4920E43C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xmlns="" id="{6B425645-EAAE-774B-A920-9A17D2571FBA}"/>
                    </a:ext>
                  </a:extLst>
                </p:cNvPr>
                <p:cNvSpPr/>
                <p:nvPr/>
              </p:nvSpPr>
              <p:spPr>
                <a:xfrm>
                  <a:off x="-360465" y="-1"/>
                  <a:ext cx="7345925" cy="94615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3EFD5"/>
                </a:solid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lnSpc>
                      <a:spcPct val="107000"/>
                    </a:lnSpc>
                  </a:pPr>
                  <a:r>
                    <a:rPr lang="en-US" sz="2000" b="1" i="1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Natural numbers</a:t>
                  </a:r>
                  <a:r>
                    <a:rPr lang="en-US" sz="20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are the counting numbers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C"/>
                          </a:solidFill>
                          <a:latin typeface="Cambria Math" panose="02040503050406030204" pitchFamily="18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m:t>{1, 2, 3, 4, 5…}</m:t>
                      </m:r>
                    </m:oMath>
                  </a14:m>
                  <a:r>
                    <a:rPr lang="en-US" sz="20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6B425645-EAAE-774B-A920-9A17D2571F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60465" y="-1"/>
                  <a:ext cx="7345925" cy="94615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Shape 7" descr="Icon&#10;&#10;Description automatically generated">
            <a:extLst>
              <a:ext uri="{FF2B5EF4-FFF2-40B4-BE49-F238E27FC236}">
                <a16:creationId xmlns:a16="http://schemas.microsoft.com/office/drawing/2014/main" xmlns="" id="{33BB396E-396B-B44B-993F-88CC1565E8A4}"/>
              </a:ext>
            </a:extLst>
          </p:cNvPr>
          <p:cNvPicPr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818" y="4021347"/>
            <a:ext cx="539750" cy="53949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0845" y="624061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12619" y="649769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1" y="288746"/>
            <a:ext cx="1136753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in red on the number line are some of the numbers in the set of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whole numbers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in green on the number line are some of the values in the set of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integers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337B534-363E-4042-BB98-8ADB7D5A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248" y="1001957"/>
            <a:ext cx="7921504" cy="7078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C422150-A08F-E444-90E4-EED8E4294013}"/>
              </a:ext>
            </a:extLst>
          </p:cNvPr>
          <p:cNvGrpSpPr/>
          <p:nvPr/>
        </p:nvGrpSpPr>
        <p:grpSpPr>
          <a:xfrm>
            <a:off x="586224" y="2196526"/>
            <a:ext cx="7746877" cy="967840"/>
            <a:chOff x="-157234" y="0"/>
            <a:chExt cx="6975209" cy="9426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3DAAA23D-4C21-1B4A-A084-CACD2635C82F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xmlns="" id="{08EA3C9C-DAB0-5F48-8C5C-99B541A7824A}"/>
                    </a:ext>
                  </a:extLst>
                </p:cNvPr>
                <p:cNvSpPr/>
                <p:nvPr/>
              </p:nvSpPr>
              <p:spPr>
                <a:xfrm>
                  <a:off x="-157234" y="112167"/>
                  <a:ext cx="6629998" cy="83051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3EFD5"/>
                </a:solid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lnSpc>
                      <a:spcPct val="107000"/>
                    </a:lnSpc>
                  </a:pPr>
                  <a:r>
                    <a:rPr lang="en-US" sz="2000" b="1" i="1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Whole numbers</a:t>
                  </a:r>
                  <a:r>
                    <a:rPr lang="en-US" sz="20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are natural numbers and zero.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C"/>
                          </a:solidFill>
                          <a:latin typeface="Cambria Math" panose="02040503050406030204" pitchFamily="18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m:t>{0, 1, 2, 3, 4, 5…}</m:t>
                      </m:r>
                    </m:oMath>
                  </a14:m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08EA3C9C-DAB0-5F48-8C5C-99B541A782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7234" y="112167"/>
                  <a:ext cx="6629998" cy="830510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Shape 7" descr="Icon&#10;&#10;Description automatically generated">
            <a:extLst>
              <a:ext uri="{FF2B5EF4-FFF2-40B4-BE49-F238E27FC236}">
                <a16:creationId xmlns:a16="http://schemas.microsoft.com/office/drawing/2014/main" xmlns="" id="{D6B42188-190F-EA45-BBE2-720D32B5AACB}"/>
              </a:ext>
            </a:extLst>
          </p:cNvPr>
          <p:cNvPicPr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130" y="2464162"/>
            <a:ext cx="539750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CA316CC-8096-E540-A52A-7E62E22E8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919" y="4160971"/>
            <a:ext cx="7920161" cy="70788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CB4175E4-AADA-3448-9F03-99D52B8DE824}"/>
              </a:ext>
            </a:extLst>
          </p:cNvPr>
          <p:cNvGrpSpPr/>
          <p:nvPr/>
        </p:nvGrpSpPr>
        <p:grpSpPr>
          <a:xfrm>
            <a:off x="586223" y="5378779"/>
            <a:ext cx="7363474" cy="1054123"/>
            <a:chOff x="2031300" y="3252851"/>
            <a:chExt cx="7363474" cy="105426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19367F65-20DC-EC43-A04A-946360715D77}"/>
                </a:ext>
              </a:extLst>
            </p:cNvPr>
            <p:cNvGrpSpPr/>
            <p:nvPr/>
          </p:nvGrpSpPr>
          <p:grpSpPr>
            <a:xfrm>
              <a:off x="2031300" y="3252851"/>
              <a:ext cx="7363474" cy="1054269"/>
              <a:chOff x="2031300" y="3262264"/>
              <a:chExt cx="7363474" cy="103544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55311F7D-A04C-5541-9F4C-9A710E529F9A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29AFA5E0-4B1C-D047-BA06-F28EEE251541}"/>
                  </a:ext>
                </a:extLst>
              </p:cNvPr>
              <p:cNvGrpSpPr/>
              <p:nvPr/>
            </p:nvGrpSpPr>
            <p:grpSpPr>
              <a:xfrm>
                <a:off x="2031300" y="3262264"/>
                <a:ext cx="7363474" cy="1035447"/>
                <a:chOff x="2031300" y="3373576"/>
                <a:chExt cx="7363474" cy="103544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xmlns="" id="{56602286-C535-CC48-8CE1-AAA14A714339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</a:pPr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xmlns="" id="{425A486F-4787-B34A-A592-293AC2F7D207}"/>
                    </a:ext>
                  </a:extLst>
                </p:cNvPr>
                <p:cNvGrpSpPr/>
                <p:nvPr/>
              </p:nvGrpSpPr>
              <p:grpSpPr>
                <a:xfrm>
                  <a:off x="2031300" y="3373576"/>
                  <a:ext cx="7363474" cy="1035447"/>
                  <a:chOff x="2031300" y="3373576"/>
                  <a:chExt cx="7363474" cy="1035447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xmlns="" id="{C4F841A8-48C9-9D45-BDB7-1FBA0EEF87CA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</a:pPr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xmlns="" id="{D2F422FF-BC00-F940-94B0-24700E867D4D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373576"/>
                    <a:ext cx="7363474" cy="1035447"/>
                    <a:chOff x="0" y="-24"/>
                    <a:chExt cx="7363474" cy="1035447"/>
                  </a:xfrm>
                </p:grpSpPr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xmlns="" id="{9F014208-7EC9-3740-B86C-FF842AC72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" name="Rounded Rectangle 21">
                          <a:extLst>
                            <a:ext uri="{FF2B5EF4-FFF2-40B4-BE49-F238E27FC236}">
                              <a16:creationId xmlns:a16="http://schemas.microsoft.com/office/drawing/2014/main" xmlns="" id="{B59F0AF0-E0C4-FF41-B508-910966C164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-24"/>
                          <a:ext cx="7363474" cy="1035447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E2EED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571500">
                            <a:lnSpc>
                              <a:spcPct val="107000"/>
                            </a:lnSpc>
                          </a:pPr>
                          <a:endParaRPr lang="en-US" sz="2000" b="1" i="1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71500">
                            <a:lnSpc>
                              <a:spcPct val="107000"/>
                            </a:lnSpc>
                          </a:pPr>
                          <a:r>
                            <a:rPr lang="en-US" sz="2000" b="1" i="1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Integers</a:t>
                          </a:r>
                          <a:r>
                            <a:rPr lang="en-US" sz="2000" b="1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whole numbers and their opposites.</a:t>
                          </a:r>
                          <a:r>
                            <a:rPr lang="en-US" sz="20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entury Gothic" panose="020B0502020202020204" pitchFamily="34" charset="0"/>
                                  <a:cs typeface="Century Gothic" panose="020B0502020202020204" pitchFamily="34" charset="0"/>
                                </a:rPr>
                                <m:t>{…−4, −3, −2, −1, 0, 1, 2, 3, 4…}</m:t>
                              </m:r>
                            </m:oMath>
                          </a14:m>
                          <a:endParaRPr lang="en-US" sz="20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85800" indent="1371600">
                            <a:lnSpc>
                              <a:spcPct val="107000"/>
                            </a:lnSpc>
                          </a:pPr>
                          <a:r>
                            <a:rPr lang="en-US" sz="20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22" name="Rounded Rectangle 21">
                          <a:extLst>
                            <a:ext uri="{FF2B5EF4-FFF2-40B4-BE49-F238E27FC236}">
                              <a16:creationId xmlns:a16="http://schemas.microsoft.com/office/drawing/2014/main" id="{B59F0AF0-E0C4-FF41-B508-910966C16475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0" y="-24"/>
                          <a:ext cx="7363474" cy="1035447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pic>
                  <p:nvPicPr>
                    <p:cNvPr id="23" name="Shape 11" descr="Icon&#10;&#10;Description automatically generated">
                      <a:extLst>
                        <a:ext uri="{FF2B5EF4-FFF2-40B4-BE49-F238E27FC236}">
                          <a16:creationId xmlns:a16="http://schemas.microsoft.com/office/drawing/2014/main" xmlns="" id="{1D8453E3-0449-D047-8D8C-80382485167B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9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91848" y="253328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1771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21230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06093" y="646937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09288" y="2427828"/>
                <a:ext cx="10463512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number lines to help to answer each of the following questions.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23925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set of natural numbers and the set of whole numbers?</a:t>
                </a: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set of integers?</a:t>
                </a: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number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> </a:t>
                </a:r>
                <a:endParaRPr lang="en-US" sz="10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88" y="2427828"/>
                <a:ext cx="10463512" cy="4001095"/>
              </a:xfrm>
              <a:prstGeom prst="rect">
                <a:avLst/>
              </a:prstGeom>
              <a:blipFill>
                <a:blip r:embed="rId4"/>
                <a:stretch>
                  <a:fillRect l="-606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7EBF049-0385-407A-A7ED-8BB393495171}"/>
              </a:ext>
            </a:extLst>
          </p:cNvPr>
          <p:cNvGrpSpPr/>
          <p:nvPr/>
        </p:nvGrpSpPr>
        <p:grpSpPr>
          <a:xfrm>
            <a:off x="753312" y="359666"/>
            <a:ext cx="8425718" cy="1627507"/>
            <a:chOff x="385183" y="162202"/>
            <a:chExt cx="8425718" cy="162750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9FADF0-B8CD-4235-8E37-569BF3022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183" y="162202"/>
              <a:ext cx="4666645" cy="4171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3F0779BD-3857-4ECB-9748-89E8980B5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183" y="759421"/>
              <a:ext cx="4667961" cy="41714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xmlns="" id="{A038FED7-3309-4366-9FC8-E08BA56F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963" y="1372567"/>
              <a:ext cx="4667181" cy="41714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22545A28-D184-4243-AA5F-9DD8FB4A3A18}"/>
                </a:ext>
              </a:extLst>
            </p:cNvPr>
            <p:cNvSpPr txBox="1"/>
            <p:nvPr/>
          </p:nvSpPr>
          <p:spPr>
            <a:xfrm>
              <a:off x="5200435" y="170718"/>
              <a:ext cx="36104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Natural numbers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14A18E91-0344-448A-9530-BBA41F0AED95}"/>
                </a:ext>
              </a:extLst>
            </p:cNvPr>
            <p:cNvSpPr txBox="1"/>
            <p:nvPr/>
          </p:nvSpPr>
          <p:spPr>
            <a:xfrm>
              <a:off x="5200433" y="805204"/>
              <a:ext cx="21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Whole numbers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20781E4E-3139-43EE-B4DC-588C8C17A0C3}"/>
                </a:ext>
              </a:extLst>
            </p:cNvPr>
            <p:cNvSpPr txBox="1"/>
            <p:nvPr/>
          </p:nvSpPr>
          <p:spPr>
            <a:xfrm>
              <a:off x="5200434" y="1389599"/>
              <a:ext cx="21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Integers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4070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969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8146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50730" y="2137937"/>
                <a:ext cx="10824121" cy="4127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3925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number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23925" lvl="1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lvl="1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numbers that appear in all three sets. 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Camaria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wondered to herself, “What about numbers such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−1.75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?”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These numbers are examples of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rational numbers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lvl="1" indent="-3429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> </a:t>
                </a:r>
                <a:endParaRPr lang="en-US" sz="105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30" y="2137937"/>
                <a:ext cx="10824121" cy="4127925"/>
              </a:xfrm>
              <a:prstGeom prst="rect">
                <a:avLst/>
              </a:prstGeom>
              <a:blipFill>
                <a:blip r:embed="rId4"/>
                <a:stretch>
                  <a:fillRect l="-586" t="-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180203-09E9-8D44-BDFE-1D9296156B43}"/>
              </a:ext>
            </a:extLst>
          </p:cNvPr>
          <p:cNvGrpSpPr/>
          <p:nvPr/>
        </p:nvGrpSpPr>
        <p:grpSpPr>
          <a:xfrm>
            <a:off x="615473" y="5517998"/>
            <a:ext cx="9790698" cy="841892"/>
            <a:chOff x="0" y="0"/>
            <a:chExt cx="9743319" cy="9017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336E2360-4E3E-8A4A-B52D-A0929FE61526}"/>
                </a:ext>
              </a:extLst>
            </p:cNvPr>
            <p:cNvSpPr/>
            <p:nvPr/>
          </p:nvSpPr>
          <p:spPr>
            <a:xfrm>
              <a:off x="0" y="0"/>
              <a:ext cx="6818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200">
                  <a:solidFill>
                    <a:srgbClr val="6C993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US" sz="1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xmlns="" id="{2065E9B9-D5C5-114C-B8AC-76F62FF5F08D}"/>
                </a:ext>
              </a:extLst>
            </p:cNvPr>
            <p:cNvSpPr/>
            <p:nvPr/>
          </p:nvSpPr>
          <p:spPr>
            <a:xfrm>
              <a:off x="0" y="0"/>
              <a:ext cx="9743319" cy="901700"/>
            </a:xfrm>
            <a:prstGeom prst="roundRect">
              <a:avLst>
                <a:gd name="adj" fmla="val 16667"/>
              </a:avLst>
            </a:prstGeom>
            <a:solidFill>
              <a:srgbClr val="E3EFD5"/>
            </a:solidFill>
            <a:ln w="12700" cap="flat" cmpd="sng">
              <a:solidFill>
                <a:srgbClr val="E3EF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685800" marR="12065">
                <a:lnSpc>
                  <a:spcPct val="107000"/>
                </a:lnSpc>
              </a:pPr>
              <a:r>
                <a:rPr lang="en-US" sz="2000" b="1" i="1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Rational numbers</a:t>
              </a: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 are numbers that can be expressed as the ratio of two integers.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pic>
        <p:nvPicPr>
          <p:cNvPr id="9" name="Shape 7" descr="Icon&#10;&#10;Description automatically generated">
            <a:extLst>
              <a:ext uri="{FF2B5EF4-FFF2-40B4-BE49-F238E27FC236}">
                <a16:creationId xmlns:a16="http://schemas.microsoft.com/office/drawing/2014/main" xmlns="" id="{6CAF4F86-56BD-D44D-899F-769ADC34A765}"/>
              </a:ext>
            </a:extLst>
          </p:cNvPr>
          <p:cNvPicPr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572" y="5665374"/>
            <a:ext cx="512013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203372C-7515-4143-9E76-53E01CD1049C}"/>
              </a:ext>
            </a:extLst>
          </p:cNvPr>
          <p:cNvGrpSpPr/>
          <p:nvPr/>
        </p:nvGrpSpPr>
        <p:grpSpPr>
          <a:xfrm>
            <a:off x="695572" y="276054"/>
            <a:ext cx="8425718" cy="1627507"/>
            <a:chOff x="385183" y="162202"/>
            <a:chExt cx="8425718" cy="162750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D0D4EA92-C614-4EA4-8BE4-D4CE45BAC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183" y="162202"/>
              <a:ext cx="4666645" cy="41714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4156311E-47FD-43A5-9DFD-63C9FA67C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183" y="759421"/>
              <a:ext cx="4667961" cy="41714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4C0B10DA-37B8-4582-BC0D-7CCDFD7DD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963" y="1372567"/>
              <a:ext cx="4667181" cy="41714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ABC23E60-063D-44F1-A1EB-FFA9350E3C1C}"/>
                </a:ext>
              </a:extLst>
            </p:cNvPr>
            <p:cNvSpPr txBox="1"/>
            <p:nvPr/>
          </p:nvSpPr>
          <p:spPr>
            <a:xfrm>
              <a:off x="5200435" y="170718"/>
              <a:ext cx="36104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Natural numbers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A62ACC24-412A-4587-9B65-D8EDA004CF6C}"/>
                </a:ext>
              </a:extLst>
            </p:cNvPr>
            <p:cNvSpPr txBox="1"/>
            <p:nvPr/>
          </p:nvSpPr>
          <p:spPr>
            <a:xfrm>
              <a:off x="5200433" y="805204"/>
              <a:ext cx="21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Whole numbers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7EE4496-DD60-4DFF-BD7E-0F36440C83E2}"/>
                </a:ext>
              </a:extLst>
            </p:cNvPr>
            <p:cNvSpPr txBox="1"/>
            <p:nvPr/>
          </p:nvSpPr>
          <p:spPr>
            <a:xfrm>
              <a:off x="5200434" y="1389599"/>
              <a:ext cx="21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Integers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9978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24061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06093" y="649769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288746"/>
            <a:ext cx="1081236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definition of rational numbers to write each as a ratio of two integers.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your study of mathematics, you will learn about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irrational numbers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which are numbers that cannot be written as a ratio of two integers.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774F93A7-3080-2442-AC43-A5DB1FE124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9550718"/>
                  </p:ext>
                </p:extLst>
              </p:nvPr>
            </p:nvGraphicFramePr>
            <p:xfrm>
              <a:off x="2853540" y="1079526"/>
              <a:ext cx="6035752" cy="232727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386402">
                      <a:extLst>
                        <a:ext uri="{9D8B030D-6E8A-4147-A177-3AD203B41FA5}">
                          <a16:colId xmlns:a16="http://schemas.microsoft.com/office/drawing/2014/main" xmlns="" val="2875198745"/>
                        </a:ext>
                      </a:extLst>
                    </a:gridCol>
                    <a:gridCol w="3649350">
                      <a:extLst>
                        <a:ext uri="{9D8B030D-6E8A-4147-A177-3AD203B41FA5}">
                          <a16:colId xmlns:a16="http://schemas.microsoft.com/office/drawing/2014/main" xmlns="" val="1858709681"/>
                        </a:ext>
                      </a:extLst>
                    </a:gridCol>
                  </a:tblGrid>
                  <a:tr h="7021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 of Two Integers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48382148"/>
                      </a:ext>
                    </a:extLst>
                  </a:tr>
                  <a:tr h="8125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76254140"/>
                      </a:ext>
                    </a:extLst>
                  </a:tr>
                  <a:tr h="8125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51977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4F93A7-3080-2442-AC43-A5DB1FE124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9550718"/>
                  </p:ext>
                </p:extLst>
              </p:nvPr>
            </p:nvGraphicFramePr>
            <p:xfrm>
              <a:off x="2853540" y="1079526"/>
              <a:ext cx="6035752" cy="232727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386402">
                      <a:extLst>
                        <a:ext uri="{9D8B030D-6E8A-4147-A177-3AD203B41FA5}">
                          <a16:colId xmlns:a16="http://schemas.microsoft.com/office/drawing/2014/main" val="2875198745"/>
                        </a:ext>
                      </a:extLst>
                    </a:gridCol>
                    <a:gridCol w="3649350">
                      <a:extLst>
                        <a:ext uri="{9D8B030D-6E8A-4147-A177-3AD203B41FA5}">
                          <a16:colId xmlns:a16="http://schemas.microsoft.com/office/drawing/2014/main" val="1858709681"/>
                        </a:ext>
                      </a:extLst>
                    </a:gridCol>
                  </a:tblGrid>
                  <a:tr h="7021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 of Two Integers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8382148"/>
                      </a:ext>
                    </a:extLst>
                  </a:tr>
                  <a:tr h="8125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9063" r="-154255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6254140"/>
                      </a:ext>
                    </a:extLst>
                  </a:tr>
                  <a:tr h="8125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89063" r="-154255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19778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76DC946-FAD1-2540-A699-781D1C5C3889}"/>
              </a:ext>
            </a:extLst>
          </p:cNvPr>
          <p:cNvGrpSpPr/>
          <p:nvPr/>
        </p:nvGrpSpPr>
        <p:grpSpPr>
          <a:xfrm>
            <a:off x="465232" y="5007484"/>
            <a:ext cx="10322511" cy="956310"/>
            <a:chOff x="-1" y="0"/>
            <a:chExt cx="10323124" cy="901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708E8073-9868-8148-9D5A-7AF712EEC31C}"/>
                </a:ext>
              </a:extLst>
            </p:cNvPr>
            <p:cNvSpPr/>
            <p:nvPr/>
          </p:nvSpPr>
          <p:spPr>
            <a:xfrm>
              <a:off x="0" y="0"/>
              <a:ext cx="6818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0EB95B0E-1459-D641-B8A0-A3A68D1534E8}"/>
                </a:ext>
              </a:extLst>
            </p:cNvPr>
            <p:cNvSpPr/>
            <p:nvPr/>
          </p:nvSpPr>
          <p:spPr>
            <a:xfrm>
              <a:off x="-1" y="2"/>
              <a:ext cx="10323124" cy="771831"/>
            </a:xfrm>
            <a:prstGeom prst="roundRect">
              <a:avLst>
                <a:gd name="adj" fmla="val 16667"/>
              </a:avLst>
            </a:prstGeom>
            <a:solidFill>
              <a:srgbClr val="E3EFD5"/>
            </a:solidFill>
            <a:ln w="12700" cap="flat" cmpd="sng">
              <a:solidFill>
                <a:srgbClr val="E3EF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800100">
                <a:lnSpc>
                  <a:spcPct val="107000"/>
                </a:lnSpc>
              </a:pP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The set of</a:t>
              </a:r>
              <a:r>
                <a:rPr lang="en-US" sz="2000" b="1" i="1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 real numbers </a:t>
              </a: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is the set of all rational and irrational numbers.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pic>
        <p:nvPicPr>
          <p:cNvPr id="15" name="Shape 7" descr="Icon&#10;&#10;Description automatically generated">
            <a:extLst>
              <a:ext uri="{FF2B5EF4-FFF2-40B4-BE49-F238E27FC236}">
                <a16:creationId xmlns:a16="http://schemas.microsoft.com/office/drawing/2014/main" xmlns="" id="{B1AC9178-AF0F-314B-93CA-C84EAEA059C8}"/>
              </a:ext>
            </a:extLst>
          </p:cNvPr>
          <p:cNvPicPr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525" y="5142397"/>
            <a:ext cx="539750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19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55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5792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7172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138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903" y="284469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103338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4.1.4 Activity: Horizontal Number Line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74077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138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93247" y="1386026"/>
                <a:ext cx="10333807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a sheet of paper, follow the steps to make your own number line.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035050" indent="-10350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1: Use a straightedge or a ruler to draw a horizontal line. Mark the middle point of the line and label it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035050" indent="-10239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2: To the right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draw tick marks that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centimeter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apart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tick marks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1, 2, 3 . . . 10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. </a:t>
                </a:r>
              </a:p>
              <a:p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  <a:p>
                <a:pPr marL="1035050" indent="-10350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3: Fold your paper so that a vertical crease goes through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two sides of the number line match up perfectly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026"/>
                <a:ext cx="10333807" cy="3170099"/>
              </a:xfrm>
              <a:prstGeom prst="rect">
                <a:avLst/>
              </a:prstGeom>
              <a:blipFill rotWithShape="1">
                <a:blip r:embed="rId5"/>
                <a:stretch>
                  <a:fillRect l="-590" t="-962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454346" y="384014"/>
                <a:ext cx="10953882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035050" indent="-10350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4: Use the fold to help you trace the tick marks that you already drew onto the opposite side of the number line. Unfold and label the tick marks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 −2, −3. . . −10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This represents the negative side of your number line.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number line to answer each of the following questions.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far away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from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 units to the _________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  <a:p>
                <a:pPr marL="466725"/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positive number and a negative number where each is farther away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the number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035050" indent="-10350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46" y="384014"/>
                <a:ext cx="10953882" cy="5386090"/>
              </a:xfrm>
              <a:prstGeom prst="rect">
                <a:avLst/>
              </a:prstGeom>
              <a:blipFill>
                <a:blip r:embed="rId4"/>
                <a:stretch>
                  <a:fillRect l="-695" t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9244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9336" y="61918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51110" y="644892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465231" y="337514"/>
                <a:ext cx="10910339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far away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from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0050"/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 to the ________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positive number and a negative number that are each farther away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dirty="0"/>
                  <a:t> </a:t>
                </a:r>
              </a:p>
              <a:p>
                <a:r>
                  <a:rPr lang="en-US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6725"/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035050" indent="-10350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37514"/>
                <a:ext cx="10910339" cy="5509200"/>
              </a:xfrm>
              <a:prstGeom prst="rect">
                <a:avLst/>
              </a:prstGeom>
              <a:blipFill>
                <a:blip r:embed="rId4"/>
                <a:stretch>
                  <a:fillRect l="-581" t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033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04199" y="2766150"/>
            <a:ext cx="74299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72989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139</a:t>
            </a: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2055" y="285697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4602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2134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0"/>
            <a:ext cx="105406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4.1.5 Bring It Together: Plotting Rational Numbers on Number Lines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729893" y="647050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93248" y="1398852"/>
                <a:ext cx="11000038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plotting numbers on a number line, the sign of the number indicates which direction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move on the number line.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horizontal number line, positive numbers are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9239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                 of zero. </a:t>
                </a:r>
              </a:p>
              <a:p>
                <a:pPr marL="9239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vertical number line, positive numbers are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239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zero.</a:t>
                </a:r>
              </a:p>
              <a:p>
                <a:pPr marL="1266825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> 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8852"/>
                <a:ext cx="11000038" cy="4308872"/>
              </a:xfrm>
              <a:prstGeom prst="rect">
                <a:avLst/>
              </a:prstGeom>
              <a:blipFill>
                <a:blip r:embed="rId4"/>
                <a:stretch>
                  <a:fillRect l="-577" t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51B76FA2-4101-D948-A96A-C3E92147E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6F984CC3-7080-AC46-89EF-B451B011BF92}"/>
              </a:ext>
            </a:extLst>
          </p:cNvPr>
          <p:cNvSpPr/>
          <p:nvPr/>
        </p:nvSpPr>
        <p:spPr>
          <a:xfrm>
            <a:off x="2572430" y="2798908"/>
            <a:ext cx="1276985" cy="75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96ECCC56-9B30-604E-AD19-696BDAD59036}"/>
              </a:ext>
            </a:extLst>
          </p:cNvPr>
          <p:cNvSpPr/>
          <p:nvPr/>
        </p:nvSpPr>
        <p:spPr>
          <a:xfrm>
            <a:off x="1606714" y="4289509"/>
            <a:ext cx="1383124" cy="75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above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below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923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8C1C0E-C7C0-F14B-88E2-57B6133AD69D}"/>
              </a:ext>
            </a:extLst>
          </p:cNvPr>
          <p:cNvSpPr txBox="1"/>
          <p:nvPr/>
        </p:nvSpPr>
        <p:spPr>
          <a:xfrm>
            <a:off x="465232" y="435050"/>
            <a:ext cx="83271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3925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a horizontal number line, negative numbers are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39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	                of zero. </a:t>
            </a:r>
          </a:p>
          <a:p>
            <a:pPr marL="9239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39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3925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a vertical number line, negative numbers are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39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06877589-902E-354B-8AE0-0B7D80AD9EFD}"/>
              </a:ext>
            </a:extLst>
          </p:cNvPr>
          <p:cNvSpPr/>
          <p:nvPr/>
        </p:nvSpPr>
        <p:spPr>
          <a:xfrm>
            <a:off x="2410535" y="899625"/>
            <a:ext cx="1249680" cy="75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right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left</a:t>
            </a:r>
            <a:endParaRPr lang="en-US" sz="2000" dirty="0">
              <a:ea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38B17913-9F23-D24E-908A-B2C41B85BE24}"/>
              </a:ext>
            </a:extLst>
          </p:cNvPr>
          <p:cNvSpPr/>
          <p:nvPr/>
        </p:nvSpPr>
        <p:spPr>
          <a:xfrm>
            <a:off x="1498987" y="2460795"/>
            <a:ext cx="1457130" cy="75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above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below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19006" y="644265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1" y="435049"/>
                <a:ext cx="10940441" cy="520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line is shown with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numbers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23925" indent="-579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579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579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579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Estimate the location of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435049"/>
                <a:ext cx="10940441" cy="5201424"/>
              </a:xfrm>
              <a:prstGeom prst="rect">
                <a:avLst/>
              </a:prstGeom>
              <a:blipFill>
                <a:blip r:embed="rId4"/>
                <a:stretch>
                  <a:fillRect l="-579" t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lose up of a antenna&#10;&#10;Description automatically generated">
            <a:extLst>
              <a:ext uri="{FF2B5EF4-FFF2-40B4-BE49-F238E27FC236}">
                <a16:creationId xmlns:a16="http://schemas.microsoft.com/office/drawing/2014/main" xmlns="" id="{7D870C19-786A-B546-8286-55A5F97159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3"/>
          <a:stretch/>
        </p:blipFill>
        <p:spPr bwMode="auto">
          <a:xfrm>
            <a:off x="2237943" y="1245625"/>
            <a:ext cx="7395015" cy="9551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44944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680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110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95207" y="64581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12595" y="435049"/>
                <a:ext cx="11028291" cy="5428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values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did the tick marks between each integer help you determine where to plot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did the tick marks between each integer help you determine where to plot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                                                      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95" y="435049"/>
                <a:ext cx="11028291" cy="5428794"/>
              </a:xfrm>
              <a:prstGeom prst="rect">
                <a:avLst/>
              </a:prstGeom>
              <a:blipFill>
                <a:blip r:embed="rId4"/>
                <a:stretch>
                  <a:fillRect l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63" y="435049"/>
            <a:ext cx="8710821" cy="100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99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22279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40779" y="647986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80857" y="443274"/>
                <a:ext cx="11123314" cy="483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number line, make a tick mark that is halfway between each value on the number line.  Label each tick mark with the value of its location.</a:t>
                </a: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Make another tick mark halfway between each value and the tick marks that were previously made. Label each with the value of its location.</a:t>
                </a: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values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57" y="443274"/>
                <a:ext cx="11123314" cy="4834721"/>
              </a:xfrm>
              <a:prstGeom prst="rect">
                <a:avLst/>
              </a:prstGeom>
              <a:blipFill>
                <a:blip r:embed="rId4"/>
                <a:stretch>
                  <a:fillRect l="-570" t="-787" r="-27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bird&#10;&#10;Description automatically generated">
            <a:extLst>
              <a:ext uri="{FF2B5EF4-FFF2-40B4-BE49-F238E27FC236}">
                <a16:creationId xmlns:a16="http://schemas.microsoft.com/office/drawing/2014/main" xmlns="" id="{51D38A5E-682D-B945-8800-B41D7E71BD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761" b="60855"/>
          <a:stretch/>
        </p:blipFill>
        <p:spPr bwMode="auto">
          <a:xfrm>
            <a:off x="1301143" y="306570"/>
            <a:ext cx="7673890" cy="9394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339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92285" y="275792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75166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140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171" y="284470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105461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4.1.6 Try It: Plotting Rational Numbers on a Number Line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75166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140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93248" y="1536444"/>
                <a:ext cx="11005504" cy="213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numbers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horizontal number line.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536444"/>
                <a:ext cx="11005504" cy="2132443"/>
              </a:xfrm>
              <a:prstGeom prst="rect">
                <a:avLst/>
              </a:prstGeom>
              <a:blipFill>
                <a:blip r:embed="rId5"/>
                <a:stretch>
                  <a:fillRect l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05DABC-1528-6A44-9434-30A64DC4EC4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0" y="2369454"/>
            <a:ext cx="68580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7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923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465232" y="349704"/>
                <a:ext cx="110653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rational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6.2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vertical number line.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49704"/>
                <a:ext cx="11065362" cy="1200329"/>
              </a:xfrm>
              <a:prstGeom prst="rect">
                <a:avLst/>
              </a:prstGeom>
              <a:blipFill>
                <a:blip r:embed="rId4"/>
                <a:stretch>
                  <a:fillRect l="-802" t="-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xmlns="" id="{582D4AE4-FC35-BC4D-803D-D9E9E627F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35" y="1143357"/>
            <a:ext cx="1446724" cy="546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64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7019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9528" y="290197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69241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6276" y="20684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4.1.7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976" y="20684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708820" y="6463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6874" y="1482708"/>
                <a:ext cx="10019952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Negative numbers are                    than zero. On a horizontal number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line, negative numbers are to the                    of zero. On a vertical 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number line, negative numbers are                    zero.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integers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horizontal number line.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482708"/>
                <a:ext cx="10019952" cy="4154984"/>
              </a:xfrm>
              <a:prstGeom prst="rect">
                <a:avLst/>
              </a:prstGeom>
              <a:blipFill>
                <a:blip r:embed="rId5"/>
                <a:stretch>
                  <a:fillRect l="-759" t="-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1924BDD0-EB8D-EB4A-9BB5-D36BED6B9F59}"/>
              </a:ext>
            </a:extLst>
          </p:cNvPr>
          <p:cNvSpPr/>
          <p:nvPr/>
        </p:nvSpPr>
        <p:spPr>
          <a:xfrm>
            <a:off x="4134242" y="1266403"/>
            <a:ext cx="1557550" cy="7371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98FBE7C6-93D9-7340-801B-24856E885D3F}"/>
              </a:ext>
            </a:extLst>
          </p:cNvPr>
          <p:cNvSpPr/>
          <p:nvPr/>
        </p:nvSpPr>
        <p:spPr>
          <a:xfrm>
            <a:off x="5691792" y="2134999"/>
            <a:ext cx="1174115" cy="75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4F583CE6-7D25-4247-AD05-1970AB76E364}"/>
              </a:ext>
            </a:extLst>
          </p:cNvPr>
          <p:cNvSpPr/>
          <p:nvPr/>
        </p:nvSpPr>
        <p:spPr>
          <a:xfrm>
            <a:off x="5851897" y="3092424"/>
            <a:ext cx="1495360" cy="7913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above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374851BB-E111-3948-AD3B-275DA76B80E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371" y="4946918"/>
            <a:ext cx="7629110" cy="73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190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3367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406698"/>
                <a:ext cx="10801482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rational numbers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vertical number line.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06698"/>
                <a:ext cx="10801482" cy="529504"/>
              </a:xfrm>
              <a:prstGeom prst="rect">
                <a:avLst/>
              </a:prstGeom>
              <a:blipFill>
                <a:blip r:embed="rId4"/>
                <a:stretch>
                  <a:fillRect l="-58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xmlns="" id="{0A8F2EF3-6903-3D4D-B797-25C0E985A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0602" y="1257710"/>
            <a:ext cx="1593896" cy="540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77343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8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83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6133" y="2937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2900" y="-90796"/>
            <a:ext cx="100476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4.1.8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450" y="1984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601348" y="1377800"/>
                <a:ext cx="10676252" cy="3209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rational numbers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 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to estimate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48" y="1377800"/>
                <a:ext cx="10676252" cy="3209661"/>
              </a:xfrm>
              <a:prstGeom prst="rect">
                <a:avLst/>
              </a:prstGeom>
              <a:blipFill>
                <a:blip r:embed="rId5"/>
                <a:stretch>
                  <a:fillRect l="-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5BBCA910-5E54-E745-BB19-23AD5262F95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6201" y="1900190"/>
            <a:ext cx="6946900" cy="1524635"/>
          </a:xfrm>
          <a:prstGeom prst="rect">
            <a:avLst/>
          </a:prstGeom>
        </p:spPr>
      </p:pic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xmlns="" id="{F983EB49-58CB-274D-8965-340C646070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201" y="4600155"/>
            <a:ext cx="7504811" cy="101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24A30A-7079-4986-828B-00CF031A21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6CF0CB-8467-4F4A-BFB4-27E35B2195CE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3.xml><?xml version="1.0" encoding="utf-8"?>
<ds:datastoreItem xmlns:ds="http://schemas.openxmlformats.org/officeDocument/2006/customXml" ds:itemID="{DFBEA156-A6BE-4D53-8FA4-001231E730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1283</Words>
  <Application>Microsoft Office PowerPoint</Application>
  <PresentationFormat>Custom</PresentationFormat>
  <Paragraphs>343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Courier New</vt:lpstr>
      <vt:lpstr>Times New Roman</vt:lpstr>
      <vt:lpstr>Century Gothic</vt:lpstr>
      <vt:lpstr>Cambria Math</vt:lpstr>
      <vt:lpstr>Arial Black</vt:lpstr>
      <vt:lpstr>Verdana</vt:lpstr>
      <vt:lpstr>1_Office Theme</vt:lpstr>
      <vt:lpstr>6th Grade  Unit 4, Lesson 1  Rational Numbers and the Number Line – Part 1  Volume 1, pg. 135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25</cp:revision>
  <dcterms:created xsi:type="dcterms:W3CDTF">2015-03-17T18:51:18Z</dcterms:created>
  <dcterms:modified xsi:type="dcterms:W3CDTF">2023-07-07T10:59:44Z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