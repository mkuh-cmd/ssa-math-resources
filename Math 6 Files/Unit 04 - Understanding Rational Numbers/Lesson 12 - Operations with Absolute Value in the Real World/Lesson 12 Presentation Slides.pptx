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289" r:id="rId8"/>
    <p:sldId id="290" r:id="rId9"/>
    <p:sldId id="308" r:id="rId10"/>
    <p:sldId id="323" r:id="rId11"/>
    <p:sldId id="324" r:id="rId12"/>
    <p:sldId id="325" r:id="rId13"/>
    <p:sldId id="326" r:id="rId14"/>
    <p:sldId id="327" r:id="rId15"/>
    <p:sldId id="320" r:id="rId16"/>
    <p:sldId id="321" r:id="rId17"/>
    <p:sldId id="322" r:id="rId18"/>
    <p:sldId id="314" r:id="rId19"/>
    <p:sldId id="315" r:id="rId20"/>
    <p:sldId id="316" r:id="rId21"/>
    <p:sldId id="328" r:id="rId22"/>
    <p:sldId id="302" r:id="rId23"/>
    <p:sldId id="303" r:id="rId24"/>
    <p:sldId id="309" r:id="rId25"/>
    <p:sldId id="329" r:id="rId26"/>
    <p:sldId id="306" r:id="rId27"/>
    <p:sldId id="307" r:id="rId28"/>
  </p:sldIdLst>
  <p:sldSz cx="12192000" cy="6858000"/>
  <p:notesSz cx="6858000" cy="9144000"/>
  <p:embeddedFontLst>
    <p:embeddedFont>
      <p:font typeface="Verdana" pitchFamily="34" charset="0"/>
      <p:regular r:id="rId30"/>
      <p:bold r:id="rId31"/>
      <p:italic r:id="rId32"/>
      <p:boldItalic r:id="rId33"/>
    </p:embeddedFont>
    <p:embeddedFont>
      <p:font typeface="Calibri" pitchFamily="34" charset="0"/>
      <p:regular r:id="rId34"/>
      <p:bold r:id="rId35"/>
      <p:italic r:id="rId36"/>
      <p:boldItalic r:id="rId37"/>
    </p:embeddedFont>
    <p:embeddedFont>
      <p:font typeface="Century Gothic" pitchFamily="34" charset="0"/>
      <p:regular r:id="rId38"/>
      <p:bold r:id="rId39"/>
      <p:italic r:id="rId40"/>
      <p:boldItalic r:id="rId41"/>
    </p:embeddedFont>
    <p:embeddedFont>
      <p:font typeface="Cambria Math" pitchFamily="18" charset="0"/>
      <p:regular r:id="rId42"/>
    </p:embeddedFont>
    <p:embeddedFont>
      <p:font typeface="Arial Black" pitchFamily="34" charset="0"/>
      <p:bold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3040"/>
    <p:restoredTop sz="94737"/>
  </p:normalViewPr>
  <p:slideViewPr>
    <p:cSldViewPr snapToGrid="0">
      <p:cViewPr varScale="1">
        <p:scale>
          <a:sx n="58" d="100"/>
          <a:sy n="58" d="100"/>
        </p:scale>
        <p:origin x="-90" y="-121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1606887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2551019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8486652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7675549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012958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4067076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5327928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540458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4261160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jp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7.tiff"/><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270.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8.tiff"/></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30.tiff"/><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4, Lesson 12</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Operations with Absolute Value in the Real World</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193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810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144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308550" y="211813"/>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85050" y="44758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041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2376"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1023288" y="1537513"/>
            <a:ext cx="10559112"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MA.6.NSO.1.4</a:t>
            </a:r>
          </a:p>
          <a:p>
            <a:pPr indent="0">
              <a:buNone/>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Solve </a:t>
            </a:r>
            <a:r>
              <a:rPr lang="en-US" sz="3500" dirty="0">
                <a:latin typeface="Verdana" panose="020B0604030504040204" pitchFamily="34" charset="0"/>
                <a:ea typeface="Verdana" panose="020B0604030504040204" pitchFamily="34" charset="0"/>
                <a:cs typeface="Verdana" panose="020B0604030504040204" pitchFamily="34" charset="0"/>
              </a:rPr>
              <a:t>mathematical and real-world problems involving absolute value, including the comparison of absolute values.</a:t>
            </a:r>
          </a:p>
          <a:p>
            <a:pPr indent="0">
              <a:buNone/>
            </a:pPr>
            <a:endParaRPr lang="en-US"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510450" y="424423"/>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335100" y="181790"/>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193</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884100" y="1529948"/>
            <a:ext cx="103681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376"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323275"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541113" y="28920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8737150"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193</a:t>
            </a: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914762" y="1612900"/>
            <a:ext cx="1008343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500" dirty="0">
                <a:latin typeface="Verdana" panose="020B0604030504040204" pitchFamily="34" charset="0"/>
                <a:ea typeface="Verdana" panose="020B0604030504040204" pitchFamily="34" charset="0"/>
                <a:cs typeface="Verdana" panose="020B0604030504040204" pitchFamily="34" charset="0"/>
              </a:rPr>
              <a:t>I can perform operations that involve the absolute value of two numbers.</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376"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73450" y="2879330"/>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282250"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737150"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340040" y="-5413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4.12.1 Warm-Up: Math Fail</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407970" y="18696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193</a:t>
            </a:r>
          </a:p>
        </p:txBody>
      </p:sp>
      <p:sp>
        <p:nvSpPr>
          <p:cNvPr id="2" name="TextBox 1">
            <a:extLst>
              <a:ext uri="{FF2B5EF4-FFF2-40B4-BE49-F238E27FC236}">
                <a16:creationId xmlns:a16="http://schemas.microsoft.com/office/drawing/2014/main" xmlns="" id="{E1D7562E-134F-D14B-AF1A-DF40E11EF758}"/>
              </a:ext>
            </a:extLst>
          </p:cNvPr>
          <p:cNvSpPr txBox="1"/>
          <p:nvPr/>
        </p:nvSpPr>
        <p:spPr>
          <a:xfrm>
            <a:off x="974520" y="1271565"/>
            <a:ext cx="8327136" cy="40011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do you notice about the sign?</a:t>
            </a:r>
          </a:p>
        </p:txBody>
      </p:sp>
      <p:pic>
        <p:nvPicPr>
          <p:cNvPr id="9" name="Picture 8" descr="Graphical user interface, text, chat or text message&#10;&#10;Description automatically generated">
            <a:extLst>
              <a:ext uri="{FF2B5EF4-FFF2-40B4-BE49-F238E27FC236}">
                <a16:creationId xmlns:a16="http://schemas.microsoft.com/office/drawing/2014/main" xmlns="" id="{D5ED1CED-8DA6-084E-8A68-25B1552A0C76}"/>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834640" y="2015055"/>
            <a:ext cx="2743200" cy="3195955"/>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2699"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28166" y="2766150"/>
            <a:ext cx="7314533"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2982375" y="2849925"/>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704473" y="64658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194</a:t>
            </a:r>
          </a:p>
        </p:txBody>
      </p:sp>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5598"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00" y="6197506"/>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398852" y="60325"/>
            <a:ext cx="1006924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900" b="1" dirty="0">
                <a:solidFill>
                  <a:srgbClr val="54B5D1"/>
                </a:solidFill>
                <a:latin typeface="Verdana"/>
                <a:ea typeface="Verdana"/>
                <a:cs typeface="Verdana"/>
                <a:sym typeface="Verdana"/>
              </a:rPr>
              <a:t>4.12.2 Guided Instruction: Operations with Absolute Value in the Real World</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424577" y="203221"/>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729874" y="6454581"/>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194</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xmlns="" id="{C01B13E8-EC8D-E443-A329-C5E3593DD13A}"/>
                  </a:ext>
                </a:extLst>
              </p:cNvPr>
              <p:cNvSpPr txBox="1"/>
              <p:nvPr/>
            </p:nvSpPr>
            <p:spPr>
              <a:xfrm>
                <a:off x="798226" y="1438017"/>
                <a:ext cx="10069247" cy="163121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Javier and his family drove to a picnic area on a mountain. From the picnic area, the family hiked to the mountain’s summit, which was an elevation change of</a:t>
                </a:r>
                <a:r>
                  <a:rPr lang="en-US" sz="2000" dirty="0">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1,516</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feet (ft). They hiked back to the picnic area to eat lunch. After lunch, they hiked down to the lake, which was an elevation change of </a:t>
                </a:r>
                <a14:m>
                  <m:oMath xmlns:m="http://schemas.openxmlformats.org/officeDocument/2006/math">
                    <m:r>
                      <a:rPr lang="en-US" sz="2000" i="1">
                        <a:latin typeface="Cambria Math" panose="02040503050406030204" pitchFamily="18" charset="0"/>
                        <a:ea typeface="Cambria Math" panose="02040503050406030204" pitchFamily="18" charset="0"/>
                      </a:rPr>
                      <m:t>2,347</m:t>
                    </m:r>
                  </m:oMath>
                </a14:m>
                <a:r>
                  <a:rPr lang="en-US" sz="2000" dirty="0">
                    <a:latin typeface="Verdana" panose="020B0604030504040204" pitchFamily="34" charset="0"/>
                    <a:ea typeface="Verdana" panose="020B0604030504040204" pitchFamily="34" charset="0"/>
                    <a:cs typeface="Verdana" panose="020B0604030504040204" pitchFamily="34" charset="0"/>
                  </a:rPr>
                  <a:t> ft.</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798226" y="1438017"/>
                <a:ext cx="10069247" cy="1631216"/>
              </a:xfrm>
              <a:prstGeom prst="rect">
                <a:avLst/>
              </a:prstGeom>
              <a:blipFill>
                <a:blip r:embed="rId5"/>
                <a:stretch>
                  <a:fillRect l="-630" t="-2326" b="-6202"/>
                </a:stretch>
              </a:blipFill>
            </p:spPr>
            <p:txBody>
              <a:bodyPr/>
              <a:lstStyle/>
              <a:p>
                <a:r>
                  <a:rPr lang="en-US">
                    <a:noFill/>
                  </a:rPr>
                  <a:t> </a:t>
                </a:r>
              </a:p>
            </p:txBody>
          </p:sp>
        </mc:Fallback>
      </mc:AlternateContent>
      <p:pic>
        <p:nvPicPr>
          <p:cNvPr id="8" name="Picture 7" descr="Diagram&#10;&#10;Description automatically generated">
            <a:extLst>
              <a:ext uri="{FF2B5EF4-FFF2-40B4-BE49-F238E27FC236}">
                <a16:creationId xmlns:a16="http://schemas.microsoft.com/office/drawing/2014/main" xmlns="" id="{0E37E098-88F0-D744-A579-5BA2AA9513A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548620" y="3429000"/>
            <a:ext cx="4568462" cy="3097143"/>
          </a:xfrm>
          <a:prstGeom prst="rect">
            <a:avLst/>
          </a:prstGeom>
        </p:spPr>
      </p:pic>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376"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737150"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194</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8AE5E1E0-A54D-BE42-84B5-F917038ADE99}"/>
                  </a:ext>
                </a:extLst>
              </p:cNvPr>
              <p:cNvSpPr txBox="1"/>
              <p:nvPr/>
            </p:nvSpPr>
            <p:spPr>
              <a:xfrm>
                <a:off x="111600" y="250646"/>
                <a:ext cx="11051700" cy="1015663"/>
              </a:xfrm>
              <a:prstGeom prst="rect">
                <a:avLst/>
              </a:prstGeom>
              <a:noFill/>
            </p:spPr>
            <p:txBody>
              <a:bodyPr wrap="square" rtlCol="0">
                <a:spAutoFit/>
              </a:bodyPr>
              <a:lstStyle/>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In the table, write the value that represents the position of each location if the value of the position of the picnic area is </a:t>
                </a:r>
                <a14:m>
                  <m:oMath xmlns:m="http://schemas.openxmlformats.org/officeDocument/2006/math">
                    <m:r>
                      <a:rPr lang="en-US" sz="2000" i="1">
                        <a:latin typeface="Cambria Math" panose="02040503050406030204" pitchFamily="18" charset="0"/>
                        <a:ea typeface="Cambria Math" panose="02040503050406030204" pitchFamily="18" charset="0"/>
                      </a:rPr>
                      <m:t>0</m:t>
                    </m:r>
                  </m:oMath>
                </a14:m>
                <a:r>
                  <a:rPr lang="en-US" sz="2000" dirty="0">
                    <a:latin typeface="Verdana" panose="020B0604030504040204" pitchFamily="34" charset="0"/>
                    <a:ea typeface="Verdana" panose="020B0604030504040204" pitchFamily="34" charset="0"/>
                    <a:cs typeface="Verdana" panose="020B0604030504040204" pitchFamily="34" charset="0"/>
                  </a:rPr>
                  <a:t>. Then, plot each value at the estimated location on the number line. </a:t>
                </a: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111600" y="250646"/>
                <a:ext cx="11051700" cy="1015663"/>
              </a:xfrm>
              <a:prstGeom prst="rect">
                <a:avLst/>
              </a:prstGeom>
              <a:blipFill>
                <a:blip r:embed="rId4"/>
                <a:stretch>
                  <a:fillRect t="-2469" b="-98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5DE2E227-4EE5-FF4C-837F-5E76A196A200}"/>
                  </a:ext>
                </a:extLst>
              </p:cNvPr>
              <p:cNvGraphicFramePr>
                <a:graphicFrameLocks noGrp="1"/>
              </p:cNvGraphicFramePr>
              <p:nvPr>
                <p:extLst>
                  <p:ext uri="{D42A27DB-BD31-4B8C-83A1-F6EECF244321}">
                    <p14:modId xmlns:p14="http://schemas.microsoft.com/office/powerpoint/2010/main" val="1005532592"/>
                  </p:ext>
                </p:extLst>
              </p:nvPr>
            </p:nvGraphicFramePr>
            <p:xfrm>
              <a:off x="2225011" y="2001905"/>
              <a:ext cx="4555128" cy="2387215"/>
            </p:xfrm>
            <a:graphic>
              <a:graphicData uri="http://schemas.openxmlformats.org/drawingml/2006/table">
                <a:tbl>
                  <a:tblPr bandRow="1">
                    <a:tableStyleId>{A91F0D33-8C57-4600-99A7-42BC86742BE1}</a:tableStyleId>
                  </a:tblPr>
                  <a:tblGrid>
                    <a:gridCol w="2532203">
                      <a:extLst>
                        <a:ext uri="{9D8B030D-6E8A-4147-A177-3AD203B41FA5}">
                          <a16:colId xmlns:a16="http://schemas.microsoft.com/office/drawing/2014/main" xmlns="" val="976084699"/>
                        </a:ext>
                      </a:extLst>
                    </a:gridCol>
                    <a:gridCol w="2022925">
                      <a:extLst>
                        <a:ext uri="{9D8B030D-6E8A-4147-A177-3AD203B41FA5}">
                          <a16:colId xmlns:a16="http://schemas.microsoft.com/office/drawing/2014/main" xmlns="" val="2872358490"/>
                        </a:ext>
                      </a:extLst>
                    </a:gridCol>
                  </a:tblGrid>
                  <a:tr h="583531">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Location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xmlns="" val="300710429"/>
                      </a:ext>
                    </a:extLst>
                  </a:tr>
                  <a:tr h="578926">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Picnic area</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238643787"/>
                      </a:ext>
                    </a:extLst>
                  </a:tr>
                  <a:tr h="645832">
                    <a:tc>
                      <a:txBody>
                        <a:bodyPr/>
                        <a:lstStyle/>
                        <a:p>
                          <a:pPr marL="0" marR="0" algn="ctr">
                            <a:lnSpc>
                              <a:spcPct val="107000"/>
                            </a:lnSpc>
                            <a:spcBef>
                              <a:spcPts val="0"/>
                            </a:spcBef>
                            <a:spcAft>
                              <a:spcPts val="800"/>
                            </a:spcAft>
                          </a:pPr>
                          <a:r>
                            <a:rPr lang="en-US" sz="2000">
                              <a:effectLst/>
                              <a:latin typeface="Verdana" panose="020B0604030504040204" pitchFamily="34" charset="0"/>
                              <a:ea typeface="Verdana" panose="020B0604030504040204" pitchFamily="34" charset="0"/>
                              <a:cs typeface="Verdana" panose="020B0604030504040204" pitchFamily="34" charset="0"/>
                            </a:rPr>
                            <a:t>Mountain summit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277681460"/>
                      </a:ext>
                    </a:extLst>
                  </a:tr>
                  <a:tr h="578926">
                    <a:tc>
                      <a:txBody>
                        <a:bodyPr/>
                        <a:lstStyle/>
                        <a:p>
                          <a:pPr marL="0" marR="0" algn="ctr">
                            <a:lnSpc>
                              <a:spcPct val="107000"/>
                            </a:lnSpc>
                            <a:spcBef>
                              <a:spcPts val="0"/>
                            </a:spcBef>
                            <a:spcAft>
                              <a:spcPts val="800"/>
                            </a:spcAft>
                          </a:pPr>
                          <a:r>
                            <a:rPr lang="en-US" sz="2000">
                              <a:effectLst/>
                              <a:latin typeface="Verdana" panose="020B0604030504040204" pitchFamily="34" charset="0"/>
                              <a:ea typeface="Verdana" panose="020B0604030504040204" pitchFamily="34" charset="0"/>
                              <a:cs typeface="Verdana" panose="020B0604030504040204" pitchFamily="34" charset="0"/>
                            </a:rPr>
                            <a:t>Lake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644689424"/>
                      </a:ext>
                    </a:extLst>
                  </a:tr>
                </a:tbl>
              </a:graphicData>
            </a:graphic>
          </p:graphicFrame>
        </mc:Choice>
        <mc:Fallback xmlns="">
          <p:graphicFrame>
            <p:nvGraphicFramePr>
              <p:cNvPr id="2" name="Table 1">
                <a:extLst>
                  <a:ext uri="{FF2B5EF4-FFF2-40B4-BE49-F238E27FC236}">
                    <a16:creationId xmlns:a16="http://schemas.microsoft.com/office/drawing/2014/main" id="{5DE2E227-4EE5-FF4C-837F-5E76A196A200}"/>
                  </a:ext>
                </a:extLst>
              </p:cNvPr>
              <p:cNvGraphicFramePr>
                <a:graphicFrameLocks noGrp="1"/>
              </p:cNvGraphicFramePr>
              <p:nvPr>
                <p:extLst>
                  <p:ext uri="{D42A27DB-BD31-4B8C-83A1-F6EECF244321}">
                    <p14:modId xmlns:p14="http://schemas.microsoft.com/office/powerpoint/2010/main" val="1005532592"/>
                  </p:ext>
                </p:extLst>
              </p:nvPr>
            </p:nvGraphicFramePr>
            <p:xfrm>
              <a:off x="2225011" y="2001905"/>
              <a:ext cx="4555128" cy="2387215"/>
            </p:xfrm>
            <a:graphic>
              <a:graphicData uri="http://schemas.openxmlformats.org/drawingml/2006/table">
                <a:tbl>
                  <a:tblPr bandRow="1">
                    <a:tableStyleId>{A91F0D33-8C57-4600-99A7-42BC86742BE1}</a:tableStyleId>
                  </a:tblPr>
                  <a:tblGrid>
                    <a:gridCol w="2532203">
                      <a:extLst>
                        <a:ext uri="{9D8B030D-6E8A-4147-A177-3AD203B41FA5}">
                          <a16:colId xmlns:a16="http://schemas.microsoft.com/office/drawing/2014/main" val="976084699"/>
                        </a:ext>
                      </a:extLst>
                    </a:gridCol>
                    <a:gridCol w="2022925">
                      <a:extLst>
                        <a:ext uri="{9D8B030D-6E8A-4147-A177-3AD203B41FA5}">
                          <a16:colId xmlns:a16="http://schemas.microsoft.com/office/drawing/2014/main" val="2872358490"/>
                        </a:ext>
                      </a:extLst>
                    </a:gridCol>
                  </a:tblGrid>
                  <a:tr h="583531">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Location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00710429"/>
                      </a:ext>
                    </a:extLst>
                  </a:tr>
                  <a:tr h="578926">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Picnic area</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26415" t="-102174" r="-1258" b="-215217"/>
                          </a:stretch>
                        </a:blipFill>
                      </a:tcPr>
                    </a:tc>
                    <a:extLst>
                      <a:ext uri="{0D108BD9-81ED-4DB2-BD59-A6C34878D82A}">
                        <a16:rowId xmlns:a16="http://schemas.microsoft.com/office/drawing/2014/main" val="1238643787"/>
                      </a:ext>
                    </a:extLst>
                  </a:tr>
                  <a:tr h="645832">
                    <a:tc>
                      <a:txBody>
                        <a:bodyPr/>
                        <a:lstStyle/>
                        <a:p>
                          <a:pPr marL="0" marR="0" algn="ctr">
                            <a:lnSpc>
                              <a:spcPct val="107000"/>
                            </a:lnSpc>
                            <a:spcBef>
                              <a:spcPts val="0"/>
                            </a:spcBef>
                            <a:spcAft>
                              <a:spcPts val="800"/>
                            </a:spcAft>
                          </a:pPr>
                          <a:r>
                            <a:rPr lang="en-US" sz="2000">
                              <a:effectLst/>
                              <a:latin typeface="Verdana" panose="020B0604030504040204" pitchFamily="34" charset="0"/>
                              <a:ea typeface="Verdana" panose="020B0604030504040204" pitchFamily="34" charset="0"/>
                              <a:cs typeface="Verdana" panose="020B0604030504040204" pitchFamily="34" charset="0"/>
                            </a:rPr>
                            <a:t>Mountain summit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7681460"/>
                      </a:ext>
                    </a:extLst>
                  </a:tr>
                  <a:tr h="578926">
                    <a:tc>
                      <a:txBody>
                        <a:bodyPr/>
                        <a:lstStyle/>
                        <a:p>
                          <a:pPr marL="0" marR="0" algn="ctr">
                            <a:lnSpc>
                              <a:spcPct val="107000"/>
                            </a:lnSpc>
                            <a:spcBef>
                              <a:spcPts val="0"/>
                            </a:spcBef>
                            <a:spcAft>
                              <a:spcPts val="800"/>
                            </a:spcAft>
                          </a:pPr>
                          <a:r>
                            <a:rPr lang="en-US" sz="2000">
                              <a:effectLst/>
                              <a:latin typeface="Verdana" panose="020B0604030504040204" pitchFamily="34" charset="0"/>
                              <a:ea typeface="Verdana" panose="020B0604030504040204" pitchFamily="34" charset="0"/>
                              <a:cs typeface="Verdana" panose="020B0604030504040204" pitchFamily="34" charset="0"/>
                            </a:rPr>
                            <a:t>Lake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44689424"/>
                      </a:ext>
                    </a:extLst>
                  </a:tr>
                </a:tbl>
              </a:graphicData>
            </a:graphic>
          </p:graphicFrame>
        </mc:Fallback>
      </mc:AlternateContent>
      <p:pic>
        <p:nvPicPr>
          <p:cNvPr id="7" name="Picture 6" descr="A picture containing chart&#10;&#10;Description automatically generated">
            <a:extLst>
              <a:ext uri="{FF2B5EF4-FFF2-40B4-BE49-F238E27FC236}">
                <a16:creationId xmlns:a16="http://schemas.microsoft.com/office/drawing/2014/main" xmlns="" id="{8B4C8DC0-BBEB-7C44-BFA6-ECA32D0DF3D9}"/>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34296" r="36964"/>
          <a:stretch/>
        </p:blipFill>
        <p:spPr bwMode="auto">
          <a:xfrm>
            <a:off x="7997893" y="1470830"/>
            <a:ext cx="2002970" cy="472977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393813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88076"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749850" y="645767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194</a:t>
            </a:r>
          </a:p>
        </p:txBody>
      </p:sp>
      <p:sp>
        <p:nvSpPr>
          <p:cNvPr id="5" name="TextBox 4">
            <a:extLst>
              <a:ext uri="{FF2B5EF4-FFF2-40B4-BE49-F238E27FC236}">
                <a16:creationId xmlns:a16="http://schemas.microsoft.com/office/drawing/2014/main" xmlns="" id="{8AE5E1E0-A54D-BE42-84B5-F917038ADE99}"/>
              </a:ext>
            </a:extLst>
          </p:cNvPr>
          <p:cNvSpPr txBox="1"/>
          <p:nvPr/>
        </p:nvSpPr>
        <p:spPr>
          <a:xfrm>
            <a:off x="223200" y="326845"/>
            <a:ext cx="10825800" cy="4924425"/>
          </a:xfrm>
          <a:prstGeom prst="rect">
            <a:avLst/>
          </a:prstGeom>
          <a:noFill/>
        </p:spPr>
        <p:txBody>
          <a:bodyPr wrap="square" rtlCol="0">
            <a:spAutoFit/>
          </a:bodyPr>
          <a:lstStyle/>
          <a:p>
            <a:pPr marL="914400" indent="-44926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Represent the distance of each location from the picnic area.</a:t>
            </a: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operation would you use with the representations in the table to find the distance from the lake to the mountain summit?</a:t>
            </a: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is the distance from the lake to the mountain summit? </a:t>
            </a:r>
          </a:p>
          <a:p>
            <a:r>
              <a:rPr lang="en-US" sz="2000" dirty="0">
                <a:latin typeface="Cambria Math" panose="02040503050406030204" pitchFamily="18" charset="0"/>
                <a:ea typeface="Cambria Math" panose="02040503050406030204" pitchFamily="18" charset="0"/>
              </a:rPr>
              <a:t> </a:t>
            </a:r>
          </a:p>
          <a:p>
            <a:pPr lvl="0"/>
            <a:endParaRPr lang="en-US" dirty="0"/>
          </a:p>
        </p:txBody>
      </p:sp>
      <p:graphicFrame>
        <p:nvGraphicFramePr>
          <p:cNvPr id="6" name="Table 5">
            <a:extLst>
              <a:ext uri="{FF2B5EF4-FFF2-40B4-BE49-F238E27FC236}">
                <a16:creationId xmlns:a16="http://schemas.microsoft.com/office/drawing/2014/main" xmlns="" id="{0A0D1371-5665-CC47-AD93-0A7EE5BCE330}"/>
              </a:ext>
            </a:extLst>
          </p:cNvPr>
          <p:cNvGraphicFramePr>
            <a:graphicFrameLocks noGrp="1"/>
          </p:cNvGraphicFramePr>
          <p:nvPr>
            <p:extLst>
              <p:ext uri="{D42A27DB-BD31-4B8C-83A1-F6EECF244321}">
                <p14:modId xmlns:p14="http://schemas.microsoft.com/office/powerpoint/2010/main" val="3307906264"/>
              </p:ext>
            </p:extLst>
          </p:nvPr>
        </p:nvGraphicFramePr>
        <p:xfrm>
          <a:off x="2855187" y="1091135"/>
          <a:ext cx="5210175" cy="1640205"/>
        </p:xfrm>
        <a:graphic>
          <a:graphicData uri="http://schemas.openxmlformats.org/drawingml/2006/table">
            <a:tbl>
              <a:tblPr bandRow="1">
                <a:tableStyleId>{A91F0D33-8C57-4600-99A7-42BC86742BE1}</a:tableStyleId>
              </a:tblPr>
              <a:tblGrid>
                <a:gridCol w="2523758">
                  <a:extLst>
                    <a:ext uri="{9D8B030D-6E8A-4147-A177-3AD203B41FA5}">
                      <a16:colId xmlns:a16="http://schemas.microsoft.com/office/drawing/2014/main" xmlns="" val="3586864366"/>
                    </a:ext>
                  </a:extLst>
                </a:gridCol>
                <a:gridCol w="2686417">
                  <a:extLst>
                    <a:ext uri="{9D8B030D-6E8A-4147-A177-3AD203B41FA5}">
                      <a16:colId xmlns:a16="http://schemas.microsoft.com/office/drawing/2014/main" xmlns="" val="64784755"/>
                    </a:ext>
                  </a:extLst>
                </a:gridCol>
              </a:tblGrid>
              <a:tr h="708025">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Location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Distance from Picnic Area</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48172561"/>
                  </a:ext>
                </a:extLst>
              </a:tr>
              <a:tr h="466090">
                <a:tc>
                  <a:txBody>
                    <a:bodyPr/>
                    <a:lstStyle/>
                    <a:p>
                      <a:pPr marL="0" marR="0" algn="ctr">
                        <a:lnSpc>
                          <a:spcPct val="107000"/>
                        </a:lnSpc>
                        <a:spcBef>
                          <a:spcPts val="0"/>
                        </a:spcBef>
                        <a:spcAft>
                          <a:spcPts val="800"/>
                        </a:spcAft>
                      </a:pPr>
                      <a:r>
                        <a:rPr lang="en-US" sz="2000">
                          <a:effectLst/>
                          <a:latin typeface="Verdana" panose="020B0604030504040204" pitchFamily="34" charset="0"/>
                          <a:ea typeface="Verdana" panose="020B0604030504040204" pitchFamily="34" charset="0"/>
                          <a:cs typeface="Verdana" panose="020B0604030504040204" pitchFamily="34" charset="0"/>
                        </a:rPr>
                        <a:t>Mountain summit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114429089"/>
                  </a:ext>
                </a:extLst>
              </a:tr>
              <a:tr h="466090">
                <a:tc>
                  <a:txBody>
                    <a:bodyPr/>
                    <a:lstStyle/>
                    <a:p>
                      <a:pPr marL="0" marR="0" algn="ctr">
                        <a:lnSpc>
                          <a:spcPct val="107000"/>
                        </a:lnSpc>
                        <a:spcBef>
                          <a:spcPts val="0"/>
                        </a:spcBef>
                        <a:spcAft>
                          <a:spcPts val="800"/>
                        </a:spcAft>
                      </a:pPr>
                      <a:r>
                        <a:rPr lang="en-US" sz="2000">
                          <a:effectLst/>
                          <a:latin typeface="Verdana" panose="020B0604030504040204" pitchFamily="34" charset="0"/>
                          <a:ea typeface="Verdana" panose="020B0604030504040204" pitchFamily="34" charset="0"/>
                          <a:cs typeface="Verdana" panose="020B0604030504040204" pitchFamily="34" charset="0"/>
                        </a:rPr>
                        <a:t>Lake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08213062"/>
                  </a:ext>
                </a:extLst>
              </a:tr>
            </a:tbl>
          </a:graphicData>
        </a:graphic>
      </p:graphicFrame>
    </p:spTree>
    <p:extLst>
      <p:ext uri="{BB962C8B-B14F-4D97-AF65-F5344CB8AC3E}">
        <p14:creationId xmlns:p14="http://schemas.microsoft.com/office/powerpoint/2010/main" val="3472504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74"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3476" y="6215217"/>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775250" y="6472292"/>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194</a:t>
            </a:r>
          </a:p>
        </p:txBody>
      </p:sp>
      <p:sp>
        <p:nvSpPr>
          <p:cNvPr id="5" name="TextBox 4">
            <a:extLst>
              <a:ext uri="{FF2B5EF4-FFF2-40B4-BE49-F238E27FC236}">
                <a16:creationId xmlns:a16="http://schemas.microsoft.com/office/drawing/2014/main" xmlns="" id="{8AE5E1E0-A54D-BE42-84B5-F917038ADE99}"/>
              </a:ext>
            </a:extLst>
          </p:cNvPr>
          <p:cNvSpPr txBox="1"/>
          <p:nvPr/>
        </p:nvSpPr>
        <p:spPr>
          <a:xfrm>
            <a:off x="111974" y="314145"/>
            <a:ext cx="11178326" cy="4924425"/>
          </a:xfrm>
          <a:prstGeom prst="rect">
            <a:avLst/>
          </a:prstGeom>
          <a:noFill/>
        </p:spPr>
        <p:txBody>
          <a:bodyPr wrap="square" rtlCol="0">
            <a:spAutoFit/>
          </a:bodyPr>
          <a:lstStyle/>
          <a:p>
            <a:pPr marL="914400" indent="-449263">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What operation would you use to determine how much farther a hike to the lake is than a hike to the  mountain summit?</a:t>
            </a:r>
          </a:p>
          <a:p>
            <a:pPr marL="914400" indent="-449263">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How much farther is a hike to the lake than a hike to the mountain summit?</a:t>
            </a:r>
          </a:p>
          <a:p>
            <a:pPr marL="914400" indent="-449263"/>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Cambria Math" panose="02040503050406030204" pitchFamily="18" charset="0"/>
                <a:ea typeface="Cambria Math" panose="02040503050406030204" pitchFamily="18" charset="0"/>
              </a:rPr>
              <a:t> </a:t>
            </a:r>
          </a:p>
          <a:p>
            <a:pPr lvl="0"/>
            <a:endParaRPr lang="en-US" dirty="0"/>
          </a:p>
        </p:txBody>
      </p:sp>
    </p:spTree>
    <p:extLst>
      <p:ext uri="{BB962C8B-B14F-4D97-AF65-F5344CB8AC3E}">
        <p14:creationId xmlns:p14="http://schemas.microsoft.com/office/powerpoint/2010/main" val="2752287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24576" y="6177117"/>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686350" y="6434192"/>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195</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xmlns="" id="{8AE5E1E0-A54D-BE42-84B5-F917038ADE99}"/>
                  </a:ext>
                </a:extLst>
              </p:cNvPr>
              <p:cNvSpPr txBox="1"/>
              <p:nvPr/>
            </p:nvSpPr>
            <p:spPr>
              <a:xfrm>
                <a:off x="662432" y="352245"/>
                <a:ext cx="10869168" cy="5447645"/>
              </a:xfrm>
              <a:prstGeom prst="rect">
                <a:avLst/>
              </a:prstGeom>
              <a:noFill/>
            </p:spPr>
            <p:txBody>
              <a:bodyPr wrap="square" rtlCol="0">
                <a:spAutoFit/>
              </a:bodyPr>
              <a:lstStyle/>
              <a:p>
                <a:pPr marL="457200" indent="-449263">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Chloe is starting a painting business. The supplies she purchased for the business cost </a:t>
                </a:r>
                <a14:m>
                  <m:oMath xmlns:m="http://schemas.openxmlformats.org/officeDocument/2006/math">
                    <m:r>
                      <a:rPr lang="en-US" sz="2000" i="1">
                        <a:latin typeface="Cambria Math" panose="02040503050406030204" pitchFamily="18" charset="0"/>
                        <a:ea typeface="Cambria Math" panose="02040503050406030204" pitchFamily="18" charset="0"/>
                      </a:rPr>
                      <m:t>$825</m:t>
                    </m:r>
                  </m:oMath>
                </a14:m>
                <a:r>
                  <a:rPr lang="en-US" sz="2000" dirty="0">
                    <a:latin typeface="Verdana" panose="020B0604030504040204" pitchFamily="34" charset="0"/>
                    <a:ea typeface="Verdana" panose="020B0604030504040204" pitchFamily="34" charset="0"/>
                    <a:cs typeface="Verdana" panose="020B0604030504040204" pitchFamily="34" charset="0"/>
                  </a:rPr>
                  <a:t>. She will earn a fee of </a:t>
                </a:r>
                <a14:m>
                  <m:oMath xmlns:m="http://schemas.openxmlformats.org/officeDocument/2006/math">
                    <m:r>
                      <a:rPr lang="en-US" sz="2000" i="1">
                        <a:latin typeface="Cambria Math" panose="02040503050406030204" pitchFamily="18" charset="0"/>
                        <a:ea typeface="Cambria Math" panose="02040503050406030204" pitchFamily="18" charset="0"/>
                      </a:rPr>
                      <m:t>$80</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for each room that she paints. Chloe wants to determine how many rooms she will need to paint before she starts making a profit.</a:t>
                </a:r>
              </a:p>
              <a:p>
                <a:pPr marL="457200" indent="-449263">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dirty="0"/>
                  <a:t>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dirty="0" smtClean="0">
                    <a:latin typeface="Verdana" panose="020B0604030504040204" pitchFamily="34" charset="0"/>
                    <a:ea typeface="Verdana" panose="020B0604030504040204" pitchFamily="34" charset="0"/>
                    <a:cs typeface="Verdana" panose="020B0604030504040204" pitchFamily="34" charset="0"/>
                  </a:rPr>
                  <a:t>increase </a:t>
                </a:r>
                <a:r>
                  <a:rPr lang="en-US" sz="2000" dirty="0">
                    <a:latin typeface="Verdana" panose="020B0604030504040204" pitchFamily="34" charset="0"/>
                    <a:ea typeface="Verdana" panose="020B0604030504040204" pitchFamily="34" charset="0"/>
                    <a:cs typeface="Verdana" panose="020B0604030504040204" pitchFamily="34" charset="0"/>
                  </a:rPr>
                  <a:t>her profit.</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dirty="0" smtClean="0">
                    <a:latin typeface="Verdana" panose="020B0604030504040204" pitchFamily="34" charset="0"/>
                    <a:ea typeface="Verdana" panose="020B0604030504040204" pitchFamily="34" charset="0"/>
                    <a:cs typeface="Verdana" panose="020B0604030504040204" pitchFamily="34" charset="0"/>
                  </a:rPr>
                  <a:t>decrease </a:t>
                </a:r>
                <a:r>
                  <a:rPr lang="en-US" sz="2000" dirty="0">
                    <a:latin typeface="Verdana" panose="020B0604030504040204" pitchFamily="34" charset="0"/>
                    <a:ea typeface="Verdana" panose="020B0604030504040204" pitchFamily="34" charset="0"/>
                    <a:cs typeface="Verdana" panose="020B0604030504040204" pitchFamily="34" charset="0"/>
                  </a:rPr>
                  <a:t>her profit.</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Cambria Math" panose="02040503050406030204" pitchFamily="18" charset="0"/>
                    <a:ea typeface="Cambria Math" panose="02040503050406030204" pitchFamily="18" charset="0"/>
                  </a:rPr>
                  <a:t> </a:t>
                </a:r>
              </a:p>
              <a:p>
                <a:pPr lvl="0"/>
                <a:endParaRPr lang="en-US" dirty="0"/>
              </a:p>
            </p:txBody>
          </p:sp>
        </mc:Choice>
        <mc:Fallback>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662432" y="352245"/>
                <a:ext cx="10869168" cy="5447645"/>
              </a:xfrm>
              <a:prstGeom prst="rect">
                <a:avLst/>
              </a:prstGeom>
              <a:blipFill rotWithShape="1">
                <a:blip r:embed="rId4"/>
                <a:stretch>
                  <a:fillRect l="-561" t="-672"/>
                </a:stretch>
              </a:blipFill>
            </p:spPr>
            <p:txBody>
              <a:bodyPr/>
              <a:lstStyle/>
              <a:p>
                <a:r>
                  <a:rPr lang="en-PH">
                    <a:noFill/>
                  </a:rPr>
                  <a:t> </a:t>
                </a:r>
              </a:p>
            </p:txBody>
          </p:sp>
        </mc:Fallback>
      </mc:AlternateContent>
      <p:sp>
        <p:nvSpPr>
          <p:cNvPr id="6" name="Rounded Rectangle 5">
            <a:extLst>
              <a:ext uri="{FF2B5EF4-FFF2-40B4-BE49-F238E27FC236}">
                <a16:creationId xmlns:a16="http://schemas.microsoft.com/office/drawing/2014/main" xmlns="" id="{1C5ADC3C-3FD3-CB4C-AEA3-E89FB99CB93D}"/>
              </a:ext>
            </a:extLst>
          </p:cNvPr>
          <p:cNvSpPr/>
          <p:nvPr/>
        </p:nvSpPr>
        <p:spPr>
          <a:xfrm>
            <a:off x="1623695" y="1891307"/>
            <a:ext cx="3123928" cy="784543"/>
          </a:xfrm>
          <a:prstGeom prst="roundRect">
            <a:avLst/>
          </a:prstGeom>
          <a:noFill/>
          <a:ln w="12700" cap="flat" cmpd="sng" algn="ctr">
            <a:solidFill>
              <a:schemeClr val="tx1"/>
            </a:solidFill>
            <a:prstDash val="solid"/>
          </a:ln>
          <a:effectLst/>
        </p:spPr>
        <p:txBody>
          <a:bodyPr rot="0" spcFirstLastPara="0" vert="horz" wrap="square" lIns="91440" tIns="45720" rIns="0" bIns="45720" numCol="1" spcCol="0" rtlCol="0" fromWordArt="0" anchor="ctr" anchorCtr="0" forceAA="0" compatLnSpc="1">
            <a:prstTxWarp prst="textNoShape">
              <a:avLst/>
            </a:prstTxWarp>
            <a:noAutofit/>
          </a:bodyPr>
          <a:lstStyle/>
          <a:p>
            <a:pPr marL="285750" indent="-28575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Fees Chloe earns</a:t>
            </a:r>
          </a:p>
          <a:p>
            <a:pPr marL="285750" indent="-28575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Supplies Chloe buys</a:t>
            </a:r>
          </a:p>
        </p:txBody>
      </p:sp>
      <p:sp>
        <p:nvSpPr>
          <p:cNvPr id="7" name="Rounded Rectangle 6">
            <a:extLst>
              <a:ext uri="{FF2B5EF4-FFF2-40B4-BE49-F238E27FC236}">
                <a16:creationId xmlns:a16="http://schemas.microsoft.com/office/drawing/2014/main" xmlns="" id="{EA9FF4A2-2DB2-7140-87C4-1A40D6C92157}"/>
              </a:ext>
            </a:extLst>
          </p:cNvPr>
          <p:cNvSpPr/>
          <p:nvPr/>
        </p:nvSpPr>
        <p:spPr>
          <a:xfrm>
            <a:off x="1623695" y="3410048"/>
            <a:ext cx="3123928" cy="784543"/>
          </a:xfrm>
          <a:prstGeom prst="roundRect">
            <a:avLst/>
          </a:prstGeom>
          <a:noFill/>
          <a:ln w="12700" cap="flat" cmpd="sng" algn="ctr">
            <a:solidFill>
              <a:schemeClr val="tx1"/>
            </a:solidFill>
            <a:prstDash val="solid"/>
          </a:ln>
          <a:effectLst/>
        </p:spPr>
        <p:txBody>
          <a:bodyPr rot="0" spcFirstLastPara="0" vert="horz" wrap="square" lIns="91440" tIns="45720" rIns="0" bIns="45720" numCol="1" spcCol="0" rtlCol="0" fromWordArt="0" anchor="ctr" anchorCtr="0" forceAA="0" compatLnSpc="1">
            <a:prstTxWarp prst="textNoShape">
              <a:avLst/>
            </a:prstTxWarp>
            <a:noAutofit/>
          </a:bodyPr>
          <a:lstStyle/>
          <a:p>
            <a:pPr marL="285750" indent="-28575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Fees Chloe earns</a:t>
            </a:r>
          </a:p>
          <a:p>
            <a:pPr marL="285750" indent="-28575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Supplies Chloe buys</a:t>
            </a:r>
          </a:p>
        </p:txBody>
      </p:sp>
    </p:spTree>
    <p:extLst>
      <p:ext uri="{BB962C8B-B14F-4D97-AF65-F5344CB8AC3E}">
        <p14:creationId xmlns:p14="http://schemas.microsoft.com/office/powerpoint/2010/main" val="4078631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2676"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724450"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195</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8AE5E1E0-A54D-BE42-84B5-F917038ADE99}"/>
                  </a:ext>
                </a:extLst>
              </p:cNvPr>
              <p:cNvSpPr txBox="1"/>
              <p:nvPr/>
            </p:nvSpPr>
            <p:spPr>
              <a:xfrm>
                <a:off x="327426" y="352845"/>
                <a:ext cx="10899374" cy="5847755"/>
              </a:xfrm>
              <a:prstGeom prst="rect">
                <a:avLst/>
              </a:prstGeom>
              <a:noFill/>
            </p:spPr>
            <p:txBody>
              <a:bodyPr wrap="square" rtlCol="0">
                <a:spAutoFit/>
              </a:bodyPr>
              <a:lstStyle/>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Write a value in the blank for each absolute value and a word in the remaining blank to complete each sentence.</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3175"/>
                <a:r>
                  <a:rPr lang="en-US" sz="2000" dirty="0">
                    <a:latin typeface="Verdana" panose="020B0604030504040204" pitchFamily="34" charset="0"/>
                    <a:ea typeface="Verdana" panose="020B0604030504040204" pitchFamily="34" charset="0"/>
                    <a:cs typeface="Verdana" panose="020B0604030504040204" pitchFamily="34" charset="0"/>
                  </a:rPr>
                  <a:t>To find the revenue, Chloe multiplies the number of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3175"/>
                <a:r>
                  <a:rPr lang="en-US" sz="2000" dirty="0">
                    <a:latin typeface="Verdana" panose="020B0604030504040204" pitchFamily="34" charset="0"/>
                    <a:ea typeface="Verdana" panose="020B0604030504040204" pitchFamily="34" charset="0"/>
                    <a:cs typeface="Verdana" panose="020B0604030504040204" pitchFamily="34" charset="0"/>
                  </a:rPr>
                  <a:t>rooms she paints by </a:t>
                </a:r>
                <a14:m>
                  <m:oMath xmlns:m="http://schemas.openxmlformats.org/officeDocument/2006/math">
                    <m:d>
                      <m:dPr>
                        <m:begChr m:val="|"/>
                        <m:endChr m:val="|"/>
                        <m:ctrlPr>
                          <a:rPr lang="en-US" sz="2000" i="1">
                            <a:latin typeface="Cambria Math"/>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________</m:t>
                        </m:r>
                      </m:e>
                    </m:d>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3175"/>
                <a:r>
                  <a:rPr lang="en-US" sz="2000" dirty="0">
                    <a:latin typeface="Verdana" panose="020B0604030504040204" pitchFamily="34" charset="0"/>
                    <a:ea typeface="Verdana" panose="020B0604030504040204" pitchFamily="34" charset="0"/>
                    <a:cs typeface="Verdana" panose="020B0604030504040204" pitchFamily="34" charset="0"/>
                  </a:rPr>
                  <a:t>To find the profit, Chloe subtracts </a:t>
                </a:r>
                <a14:m>
                  <m:oMath xmlns:m="http://schemas.openxmlformats.org/officeDocument/2006/math">
                    <m:d>
                      <m:dPr>
                        <m:begChr m:val="|"/>
                        <m:endChr m:val="|"/>
                        <m:ctrlPr>
                          <a:rPr lang="en-US" sz="2000" i="1">
                            <a:latin typeface="Cambria Math"/>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________</m:t>
                        </m:r>
                      </m:e>
                    </m:d>
                  </m:oMath>
                </a14:m>
                <a:r>
                  <a:rPr lang="en-US" sz="2000" dirty="0">
                    <a:latin typeface="Verdana" panose="020B0604030504040204" pitchFamily="34" charset="0"/>
                    <a:ea typeface="Verdana" panose="020B0604030504040204" pitchFamily="34" charset="0"/>
                    <a:cs typeface="Verdana" panose="020B0604030504040204" pitchFamily="34" charset="0"/>
                  </a:rPr>
                  <a:t> from the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3175"/>
                <a:r>
                  <a:rPr lang="en-US" sz="2000" dirty="0">
                    <a:latin typeface="Verdana" panose="020B0604030504040204" pitchFamily="34" charset="0"/>
                    <a:ea typeface="Verdana" panose="020B0604030504040204" pitchFamily="34" charset="0"/>
                    <a:cs typeface="Verdana" panose="020B0604030504040204" pitchFamily="34" charset="0"/>
                  </a:rPr>
                  <a:t>_____________.</a:t>
                </a:r>
              </a:p>
              <a:p>
                <a:pPr marL="914400" indent="-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49263">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7"/>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Cambria Math" panose="02040503050406030204" pitchFamily="18" charset="0"/>
                    <a:ea typeface="Cambria Math" panose="02040503050406030204" pitchFamily="18" charset="0"/>
                  </a:rPr>
                  <a:t> </a:t>
                </a:r>
              </a:p>
              <a:p>
                <a:pPr lvl="0"/>
                <a:endParaRPr lang="en-US" dirty="0"/>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327426" y="352845"/>
                <a:ext cx="10899374" cy="5847755"/>
              </a:xfrm>
              <a:prstGeom prst="rect">
                <a:avLst/>
              </a:prstGeom>
              <a:blipFill>
                <a:blip r:embed="rId4"/>
                <a:stretch>
                  <a:fillRect t="-649"/>
                </a:stretch>
              </a:blipFill>
            </p:spPr>
            <p:txBody>
              <a:bodyPr/>
              <a:lstStyle/>
              <a:p>
                <a:r>
                  <a:rPr lang="en-US">
                    <a:noFill/>
                  </a:rPr>
                  <a:t> </a:t>
                </a:r>
              </a:p>
            </p:txBody>
          </p:sp>
        </mc:Fallback>
      </mc:AlternateContent>
    </p:spTree>
    <p:extLst>
      <p:ext uri="{BB962C8B-B14F-4D97-AF65-F5344CB8AC3E}">
        <p14:creationId xmlns:p14="http://schemas.microsoft.com/office/powerpoint/2010/main" val="4147171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80800" y="6171828"/>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742574" y="6428903"/>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195</a:t>
            </a:r>
          </a:p>
        </p:txBody>
      </p:sp>
      <p:sp>
        <p:nvSpPr>
          <p:cNvPr id="5" name="TextBox 4">
            <a:extLst>
              <a:ext uri="{FF2B5EF4-FFF2-40B4-BE49-F238E27FC236}">
                <a16:creationId xmlns:a16="http://schemas.microsoft.com/office/drawing/2014/main" xmlns="" id="{8AE5E1E0-A54D-BE42-84B5-F917038ADE99}"/>
              </a:ext>
            </a:extLst>
          </p:cNvPr>
          <p:cNvSpPr txBox="1"/>
          <p:nvPr/>
        </p:nvSpPr>
        <p:spPr>
          <a:xfrm>
            <a:off x="111600" y="305518"/>
            <a:ext cx="11369200" cy="4924425"/>
          </a:xfrm>
          <a:prstGeom prst="rect">
            <a:avLst/>
          </a:prstGeom>
          <a:noFill/>
        </p:spPr>
        <p:txBody>
          <a:bodyPr wrap="square" rtlCol="0">
            <a:spAutoFit/>
          </a:bodyPr>
          <a:lstStyle/>
          <a:p>
            <a:pPr marL="914400" indent="-449263">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In the table, complete the mathematical statement and then perform the operations to determine if the number of rooms painted would result in a profit.</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49263">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7"/>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Cambria Math" panose="02040503050406030204" pitchFamily="18" charset="0"/>
                <a:ea typeface="Cambria Math" panose="02040503050406030204" pitchFamily="18" charset="0"/>
              </a:rPr>
              <a:t> </a:t>
            </a:r>
          </a:p>
          <a:p>
            <a:pPr lvl="0"/>
            <a:endParaRPr lang="en-US" dirty="0"/>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A7B3F66D-5B27-7943-AA08-8296D2865680}"/>
                  </a:ext>
                </a:extLst>
              </p:cNvPr>
              <p:cNvGraphicFramePr>
                <a:graphicFrameLocks noGrp="1"/>
              </p:cNvGraphicFramePr>
              <p:nvPr>
                <p:extLst>
                  <p:ext uri="{D42A27DB-BD31-4B8C-83A1-F6EECF244321}">
                    <p14:modId xmlns:p14="http://schemas.microsoft.com/office/powerpoint/2010/main" val="1386703884"/>
                  </p:ext>
                </p:extLst>
              </p:nvPr>
            </p:nvGraphicFramePr>
            <p:xfrm>
              <a:off x="2307772" y="1576041"/>
              <a:ext cx="7640979" cy="2691157"/>
            </p:xfrm>
            <a:graphic>
              <a:graphicData uri="http://schemas.openxmlformats.org/drawingml/2006/table">
                <a:tbl>
                  <a:tblPr firstRow="1" firstCol="1" bandRow="1">
                    <a:tableStyleId>{A91F0D33-8C57-4600-99A7-42BC86742BE1}</a:tableStyleId>
                  </a:tblPr>
                  <a:tblGrid>
                    <a:gridCol w="2940369">
                      <a:extLst>
                        <a:ext uri="{9D8B030D-6E8A-4147-A177-3AD203B41FA5}">
                          <a16:colId xmlns:a16="http://schemas.microsoft.com/office/drawing/2014/main" xmlns="" val="1212904324"/>
                        </a:ext>
                      </a:extLst>
                    </a:gridCol>
                    <a:gridCol w="2628117">
                      <a:extLst>
                        <a:ext uri="{9D8B030D-6E8A-4147-A177-3AD203B41FA5}">
                          <a16:colId xmlns:a16="http://schemas.microsoft.com/office/drawing/2014/main" xmlns="" val="1459383758"/>
                        </a:ext>
                      </a:extLst>
                    </a:gridCol>
                    <a:gridCol w="2072493">
                      <a:extLst>
                        <a:ext uri="{9D8B030D-6E8A-4147-A177-3AD203B41FA5}">
                          <a16:colId xmlns:a16="http://schemas.microsoft.com/office/drawing/2014/main" xmlns="" val="2416857031"/>
                        </a:ext>
                      </a:extLst>
                    </a:gridCol>
                  </a:tblGrid>
                  <a:tr h="701089">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Rooms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Mathematical Statement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Profit</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(Yes or No)</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96127658"/>
                      </a:ext>
                    </a:extLst>
                  </a:tr>
                  <a:tr h="497517">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m:t>
                                </m:r>
                                <m:d>
                                  <m:dPr>
                                    <m:begChr m:val="|"/>
                                    <m:endChr m:val="|"/>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_______</m:t>
                                    </m:r>
                                  </m:e>
                                </m:d>
                                <m:r>
                                  <a:rPr lang="en-US" sz="2000">
                                    <a:effectLst/>
                                    <a:latin typeface="Cambria Math" panose="02040503050406030204" pitchFamily="18" charset="0"/>
                                    <a:ea typeface="Cambria Math" panose="02040503050406030204" pitchFamily="18" charset="0"/>
                                  </a:rPr>
                                  <m:t> — </m:t>
                                </m:r>
                                <m:d>
                                  <m:dPr>
                                    <m:begChr m:val="|"/>
                                    <m:endChr m:val="|"/>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_______</m:t>
                                    </m:r>
                                  </m:e>
                                </m:d>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78337640"/>
                      </a:ext>
                    </a:extLst>
                  </a:tr>
                  <a:tr h="497517">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m:t>
                                </m:r>
                                <m:d>
                                  <m:dPr>
                                    <m:begChr m:val="|"/>
                                    <m:endChr m:val="|"/>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_______</m:t>
                                    </m:r>
                                  </m:e>
                                </m:d>
                                <m:r>
                                  <a:rPr lang="en-US" sz="2000">
                                    <a:effectLst/>
                                    <a:latin typeface="Cambria Math" panose="02040503050406030204" pitchFamily="18" charset="0"/>
                                    <a:ea typeface="Cambria Math" panose="02040503050406030204" pitchFamily="18" charset="0"/>
                                  </a:rPr>
                                  <m:t> — </m:t>
                                </m:r>
                                <m:d>
                                  <m:dPr>
                                    <m:begChr m:val="|"/>
                                    <m:endChr m:val="|"/>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_______</m:t>
                                    </m:r>
                                  </m:e>
                                </m:d>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72958775"/>
                      </a:ext>
                    </a:extLst>
                  </a:tr>
                  <a:tr h="497517">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13</m:t>
                                </m:r>
                              </m:oMath>
                            </m:oMathPara>
                          </a14:m>
                          <a:endParaRPr lang="en-US" sz="200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13</m:t>
                                </m:r>
                                <m:d>
                                  <m:dPr>
                                    <m:begChr m:val="|"/>
                                    <m:endChr m:val="|"/>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m:t>
                                    </m:r>
                                  </m:e>
                                </m:d>
                                <m:r>
                                  <a:rPr lang="en-US" sz="2000">
                                    <a:effectLst/>
                                    <a:latin typeface="Cambria Math" panose="02040503050406030204" pitchFamily="18" charset="0"/>
                                    <a:ea typeface="Cambria Math" panose="02040503050406030204" pitchFamily="18" charset="0"/>
                                  </a:rPr>
                                  <m:t> — </m:t>
                                </m:r>
                                <m:d>
                                  <m:dPr>
                                    <m:begChr m:val="|"/>
                                    <m:endChr m:val="|"/>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_______</m:t>
                                    </m:r>
                                  </m:e>
                                </m:d>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15899956"/>
                      </a:ext>
                    </a:extLst>
                  </a:tr>
                  <a:tr h="497517">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16</m:t>
                                </m:r>
                              </m:oMath>
                            </m:oMathPara>
                          </a14:m>
                          <a:endParaRPr lang="en-US" sz="200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16</m:t>
                                </m:r>
                                <m:d>
                                  <m:dPr>
                                    <m:begChr m:val="|"/>
                                    <m:endChr m:val="|"/>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_______</m:t>
                                    </m:r>
                                  </m:e>
                                </m:d>
                                <m:r>
                                  <a:rPr lang="en-US" sz="2000">
                                    <a:effectLst/>
                                    <a:latin typeface="Cambria Math" panose="02040503050406030204" pitchFamily="18" charset="0"/>
                                    <a:ea typeface="Cambria Math" panose="02040503050406030204" pitchFamily="18" charset="0"/>
                                  </a:rPr>
                                  <m:t> — </m:t>
                                </m:r>
                                <m:d>
                                  <m:dPr>
                                    <m:begChr m:val="|"/>
                                    <m:endChr m:val="|"/>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_______</m:t>
                                    </m:r>
                                  </m:e>
                                </m:d>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095386621"/>
                      </a:ext>
                    </a:extLst>
                  </a:tr>
                </a:tbl>
              </a:graphicData>
            </a:graphic>
          </p:graphicFrame>
        </mc:Choice>
        <mc:Fallback xmlns="">
          <p:graphicFrame>
            <p:nvGraphicFramePr>
              <p:cNvPr id="2" name="Table 1">
                <a:extLst>
                  <a:ext uri="{FF2B5EF4-FFF2-40B4-BE49-F238E27FC236}">
                    <a16:creationId xmlns:a16="http://schemas.microsoft.com/office/drawing/2014/main" id="{A7B3F66D-5B27-7943-AA08-8296D2865680}"/>
                  </a:ext>
                </a:extLst>
              </p:cNvPr>
              <p:cNvGraphicFramePr>
                <a:graphicFrameLocks noGrp="1"/>
              </p:cNvGraphicFramePr>
              <p:nvPr>
                <p:extLst>
                  <p:ext uri="{D42A27DB-BD31-4B8C-83A1-F6EECF244321}">
                    <p14:modId xmlns:p14="http://schemas.microsoft.com/office/powerpoint/2010/main" val="1386703884"/>
                  </p:ext>
                </p:extLst>
              </p:nvPr>
            </p:nvGraphicFramePr>
            <p:xfrm>
              <a:off x="2307772" y="1576041"/>
              <a:ext cx="7640979" cy="2691157"/>
            </p:xfrm>
            <a:graphic>
              <a:graphicData uri="http://schemas.openxmlformats.org/drawingml/2006/table">
                <a:tbl>
                  <a:tblPr firstRow="1" firstCol="1" bandRow="1">
                    <a:tableStyleId>{A91F0D33-8C57-4600-99A7-42BC86742BE1}</a:tableStyleId>
                  </a:tblPr>
                  <a:tblGrid>
                    <a:gridCol w="2940369">
                      <a:extLst>
                        <a:ext uri="{9D8B030D-6E8A-4147-A177-3AD203B41FA5}">
                          <a16:colId xmlns:a16="http://schemas.microsoft.com/office/drawing/2014/main" val="1212904324"/>
                        </a:ext>
                      </a:extLst>
                    </a:gridCol>
                    <a:gridCol w="2628117">
                      <a:extLst>
                        <a:ext uri="{9D8B030D-6E8A-4147-A177-3AD203B41FA5}">
                          <a16:colId xmlns:a16="http://schemas.microsoft.com/office/drawing/2014/main" val="1459383758"/>
                        </a:ext>
                      </a:extLst>
                    </a:gridCol>
                    <a:gridCol w="2072493">
                      <a:extLst>
                        <a:ext uri="{9D8B030D-6E8A-4147-A177-3AD203B41FA5}">
                          <a16:colId xmlns:a16="http://schemas.microsoft.com/office/drawing/2014/main" val="2416857031"/>
                        </a:ext>
                      </a:extLst>
                    </a:gridCol>
                  </a:tblGrid>
                  <a:tr h="701089">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Rooms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Mathematical Statement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Profit</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(Yes or No)</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6127658"/>
                      </a:ext>
                    </a:extLst>
                  </a:tr>
                  <a:tr h="497517">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31" t="-151282" r="-160345" b="-30769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560" t="-151282" r="-79710" b="-307692"/>
                          </a:stretch>
                        </a:blipFill>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8337640"/>
                      </a:ext>
                    </a:extLst>
                  </a:tr>
                  <a:tr h="497517">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31" t="-245000" r="-160345" b="-20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560" t="-245000" r="-79710" b="-200000"/>
                          </a:stretch>
                        </a:blipFill>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2958775"/>
                      </a:ext>
                    </a:extLst>
                  </a:tr>
                  <a:tr h="497517">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31" t="-353846" r="-160345" b="-10512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560" t="-353846" r="-79710" b="-105128"/>
                          </a:stretch>
                        </a:blipFill>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5899956"/>
                      </a:ext>
                    </a:extLst>
                  </a:tr>
                  <a:tr h="497517">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31" t="-453846" r="-160345" b="-512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560" t="-453846" r="-79710" b="-5128"/>
                          </a:stretch>
                        </a:blipFill>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5386621"/>
                      </a:ext>
                    </a:extLst>
                  </a:tr>
                </a:tbl>
              </a:graphicData>
            </a:graphic>
          </p:graphicFrame>
        </mc:Fallback>
      </mc:AlternateContent>
    </p:spTree>
    <p:extLst>
      <p:ext uri="{BB962C8B-B14F-4D97-AF65-F5344CB8AC3E}">
        <p14:creationId xmlns:p14="http://schemas.microsoft.com/office/powerpoint/2010/main" val="1714137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88076"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363685" y="26645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749850"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195</a:t>
            </a:r>
          </a:p>
        </p:txBody>
      </p:sp>
      <p:pic>
        <p:nvPicPr>
          <p:cNvPr id="7170" name="Picture 2">
            <a:extLst>
              <a:ext uri="{FF2B5EF4-FFF2-40B4-BE49-F238E27FC236}">
                <a16:creationId xmlns:a16="http://schemas.microsoft.com/office/drawing/2014/main" xmlns=""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60571" y="27513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6858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9350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60950" y="210010"/>
            <a:ext cx="103325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4.12.3 Try It: Operations with Absolute Value in the Real World</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755274"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195</a:t>
            </a:r>
          </a:p>
        </p:txBody>
      </p:sp>
      <p:pic>
        <p:nvPicPr>
          <p:cNvPr id="9" name="Picture 2">
            <a:extLst>
              <a:ext uri="{FF2B5EF4-FFF2-40B4-BE49-F238E27FC236}">
                <a16:creationId xmlns:a16="http://schemas.microsoft.com/office/drawing/2014/main" xmlns=""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11142" y="49795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0AB6A3A1-5A0D-C84F-AC89-57E6782F43E5}"/>
                  </a:ext>
                </a:extLst>
              </p:cNvPr>
              <p:cNvSpPr txBox="1"/>
              <p:nvPr/>
            </p:nvSpPr>
            <p:spPr>
              <a:xfrm>
                <a:off x="973008" y="1535710"/>
                <a:ext cx="10647492" cy="286232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Logan, Mia, and Xavier all live on the same street as their school, which runs from east to west.</a:t>
                </a:r>
              </a:p>
              <a:p>
                <a:pPr marL="293688">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Logan lives </a:t>
                </a:r>
                <a14:m>
                  <m:oMath xmlns:m="http://schemas.openxmlformats.org/officeDocument/2006/math">
                    <m:r>
                      <a:rPr lang="en-US" sz="2000" i="1">
                        <a:latin typeface="Cambria Math" panose="02040503050406030204" pitchFamily="18" charset="0"/>
                        <a:ea typeface="Cambria Math" panose="02040503050406030204" pitchFamily="18"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blocks to the west of the school.</a:t>
                </a:r>
              </a:p>
              <a:p>
                <a:pPr marL="293688">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Mia lives </a:t>
                </a:r>
                <a14:m>
                  <m:oMath xmlns:m="http://schemas.openxmlformats.org/officeDocument/2006/math">
                    <m:r>
                      <a:rPr lang="en-US" sz="2000" i="1">
                        <a:latin typeface="Cambria Math" panose="02040503050406030204" pitchFamily="18" charset="0"/>
                        <a:ea typeface="Cambria Math" panose="02040503050406030204" pitchFamily="18"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blocks to the east of the school.</a:t>
                </a:r>
              </a:p>
              <a:p>
                <a:pPr marL="293688">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Xavier lives </a:t>
                </a:r>
                <a14:m>
                  <m:oMath xmlns:m="http://schemas.openxmlformats.org/officeDocument/2006/math">
                    <m:r>
                      <a:rPr lang="en-US" sz="2000" i="1">
                        <a:latin typeface="Cambria Math" panose="02040503050406030204" pitchFamily="18" charset="0"/>
                        <a:ea typeface="Cambria Math" panose="020405030504060302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blocks to the west of the school.</a:t>
                </a:r>
              </a:p>
              <a:p>
                <a:pPr marL="293688"/>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the number line to model the position of each house and the school along the street. Label the location of each person’s house and the school.</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0" name="TextBox 9">
                <a:extLst>
                  <a:ext uri="{FF2B5EF4-FFF2-40B4-BE49-F238E27FC236}">
                    <a16:creationId xmlns:a16="http://schemas.microsoft.com/office/drawing/2014/main" id="{0AB6A3A1-5A0D-C84F-AC89-57E6782F43E5}"/>
                  </a:ext>
                </a:extLst>
              </p:cNvPr>
              <p:cNvSpPr txBox="1">
                <a:spLocks noRot="1" noChangeAspect="1" noMove="1" noResize="1" noEditPoints="1" noAdjustHandles="1" noChangeArrowheads="1" noChangeShapeType="1" noTextEdit="1"/>
              </p:cNvSpPr>
              <p:nvPr/>
            </p:nvSpPr>
            <p:spPr>
              <a:xfrm>
                <a:off x="973008" y="1535710"/>
                <a:ext cx="10647492" cy="2862322"/>
              </a:xfrm>
              <a:prstGeom prst="rect">
                <a:avLst/>
              </a:prstGeom>
              <a:blipFill>
                <a:blip r:embed="rId5"/>
                <a:stretch>
                  <a:fillRect l="-596" t="-881" r="-1192"/>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xmlns="" id="{4B787AD0-74B1-1345-9F87-6AAF468A8572}"/>
              </a:ext>
            </a:extLst>
          </p:cNvPr>
          <p:cNvPicPr>
            <a:picLocks noChangeAspect="1"/>
          </p:cNvPicPr>
          <p:nvPr/>
        </p:nvPicPr>
        <p:blipFill>
          <a:blip r:embed="rId6"/>
          <a:stretch>
            <a:fillRect/>
          </a:stretch>
        </p:blipFill>
        <p:spPr>
          <a:xfrm>
            <a:off x="2066338" y="4705809"/>
            <a:ext cx="8405745" cy="738384"/>
          </a:xfrm>
          <a:prstGeom prst="rect">
            <a:avLst/>
          </a:prstGeom>
        </p:spPr>
      </p:pic>
    </p:spTree>
    <p:extLst>
      <p:ext uri="{BB962C8B-B14F-4D97-AF65-F5344CB8AC3E}">
        <p14:creationId xmlns:p14="http://schemas.microsoft.com/office/powerpoint/2010/main" val="3840359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00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8318"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740092" y="645767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195</a:t>
            </a:r>
          </a:p>
        </p:txBody>
      </p:sp>
      <p:sp>
        <p:nvSpPr>
          <p:cNvPr id="5" name="TextBox 4">
            <a:extLst>
              <a:ext uri="{FF2B5EF4-FFF2-40B4-BE49-F238E27FC236}">
                <a16:creationId xmlns:a16="http://schemas.microsoft.com/office/drawing/2014/main" xmlns="" id="{22347CCE-34A7-8044-BA67-B5895157AE55}"/>
              </a:ext>
            </a:extLst>
          </p:cNvPr>
          <p:cNvSpPr txBox="1"/>
          <p:nvPr/>
        </p:nvSpPr>
        <p:spPr>
          <a:xfrm>
            <a:off x="713682" y="300893"/>
            <a:ext cx="10449617" cy="5940088"/>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write the mathematical sentence using absolute values. Then, use the mathematical sentence to determine each answer.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far does Logan live from Mia?</a:t>
            </a: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far does Mia live from Xavier?</a:t>
            </a: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far does Xavier live from Logan?</a:t>
            </a: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Was the same operation used to find each distance?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2161466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00776"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79358" y="26518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762550" y="645767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196</a:t>
            </a: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27214" y="27386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2676"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49850" y="60326"/>
            <a:ext cx="97610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4.12.4 Collaboration: Halfway Point</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724450"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196</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00042" y="34827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E44DF7DE-9172-3E4E-B74A-7A51585FB6EA}"/>
                  </a:ext>
                </a:extLst>
              </p:cNvPr>
              <p:cNvSpPr txBox="1"/>
              <p:nvPr/>
            </p:nvSpPr>
            <p:spPr>
              <a:xfrm>
                <a:off x="1249850" y="1413152"/>
                <a:ext cx="9761050" cy="193899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Mount Ojos del Salado is the highest mountain in Chile. Its peak is </a:t>
                </a:r>
                <a14:m>
                  <m:oMath xmlns:m="http://schemas.openxmlformats.org/officeDocument/2006/math">
                    <m:r>
                      <a:rPr lang="en-US" sz="2000" i="1">
                        <a:latin typeface="Cambria Math" panose="02040503050406030204" pitchFamily="18" charset="0"/>
                        <a:ea typeface="Cambria Math" panose="02040503050406030204" pitchFamily="18" charset="0"/>
                      </a:rPr>
                      <m:t>6,893</m:t>
                    </m:r>
                  </m:oMath>
                </a14:m>
                <a:r>
                  <a:rPr lang="en-US" sz="2000" dirty="0">
                    <a:latin typeface="Verdana" panose="020B0604030504040204" pitchFamily="34" charset="0"/>
                    <a:ea typeface="Verdana" panose="020B0604030504040204" pitchFamily="34" charset="0"/>
                    <a:cs typeface="Verdana" panose="020B0604030504040204" pitchFamily="34" charset="0"/>
                  </a:rPr>
                  <a:t> meters above sea level. The lowest point of the Atacama Trench, just off the coast of Peru and Chile, is </a:t>
                </a:r>
                <a14:m>
                  <m:oMath xmlns:m="http://schemas.openxmlformats.org/officeDocument/2006/math">
                    <m:r>
                      <a:rPr lang="en-US" sz="2000" i="1">
                        <a:latin typeface="Cambria Math" panose="02040503050406030204" pitchFamily="18" charset="0"/>
                        <a:ea typeface="Cambria Math" panose="02040503050406030204" pitchFamily="18" charset="0"/>
                      </a:rPr>
                      <m:t>8,065</m:t>
                    </m:r>
                  </m:oMath>
                </a14:m>
                <a:r>
                  <a:rPr lang="en-US" sz="2000" dirty="0">
                    <a:latin typeface="Verdana" panose="020B0604030504040204" pitchFamily="34" charset="0"/>
                    <a:ea typeface="Verdana" panose="020B0604030504040204" pitchFamily="34" charset="0"/>
                    <a:cs typeface="Verdana" panose="020B0604030504040204" pitchFamily="34" charset="0"/>
                  </a:rPr>
                  <a:t> meters below sea level.</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Work with your partner to answer each question.</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1249850" y="1413152"/>
                <a:ext cx="9761050" cy="1938992"/>
              </a:xfrm>
              <a:prstGeom prst="rect">
                <a:avLst/>
              </a:prstGeom>
              <a:blipFill>
                <a:blip r:embed="rId5"/>
                <a:stretch>
                  <a:fillRect l="-650" t="-1961"/>
                </a:stretch>
              </a:blipFill>
            </p:spPr>
            <p:txBody>
              <a:bodyPr/>
              <a:lstStyle/>
              <a:p>
                <a:r>
                  <a:rPr lang="en-US">
                    <a:noFill/>
                  </a:rPr>
                  <a:t> </a:t>
                </a:r>
              </a:p>
            </p:txBody>
          </p:sp>
        </mc:Fallback>
      </mc:AlternateContent>
    </p:spTree>
    <p:extLst>
      <p:ext uri="{BB962C8B-B14F-4D97-AF65-F5344CB8AC3E}">
        <p14:creationId xmlns:p14="http://schemas.microsoft.com/office/powerpoint/2010/main" val="16744370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376"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737150"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196</a:t>
            </a:r>
          </a:p>
        </p:txBody>
      </p:sp>
      <p:sp>
        <p:nvSpPr>
          <p:cNvPr id="5" name="TextBox 4">
            <a:extLst>
              <a:ext uri="{FF2B5EF4-FFF2-40B4-BE49-F238E27FC236}">
                <a16:creationId xmlns:a16="http://schemas.microsoft.com/office/drawing/2014/main" xmlns="" id="{2AA35BC6-D428-FC41-BDE5-6438AB8840FC}"/>
              </a:ext>
            </a:extLst>
          </p:cNvPr>
          <p:cNvSpPr txBox="1"/>
          <p:nvPr/>
        </p:nvSpPr>
        <p:spPr>
          <a:xfrm>
            <a:off x="665071" y="410666"/>
            <a:ext cx="9246458" cy="538609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Determine how to label the number line so that you can approximate a location on the number line that represents Mount Ojos del Salado, Atacama Trench, and sea level.</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Label the number line and place a point at the approximate location for Mount Ojos del Salado, Atacama Trench, and sea level.</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Write a mathematical sentence using absolute value to find the difference in elevations between Mount Ojos del Salado and the Atacama Trench.</a:t>
            </a:r>
          </a:p>
          <a:p>
            <a:r>
              <a:rPr lang="en-US" sz="2000" b="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b="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b="1" dirty="0"/>
              <a:t> </a:t>
            </a:r>
            <a:r>
              <a:rPr lang="en-US" sz="2400" dirty="0">
                <a:latin typeface="Verdana" panose="020B0604030504040204" pitchFamily="34" charset="0"/>
                <a:ea typeface="Verdana" panose="020B0604030504040204" pitchFamily="34" charset="0"/>
                <a:cs typeface="Verdana" panose="020B0604030504040204" pitchFamily="34" charset="0"/>
              </a:rPr>
              <a:t>      </a:t>
            </a:r>
          </a:p>
        </p:txBody>
      </p:sp>
      <p:pic>
        <p:nvPicPr>
          <p:cNvPr id="6" name="Picture 5" descr="A picture containing chart&#10;&#10;Description automatically generated">
            <a:extLst>
              <a:ext uri="{FF2B5EF4-FFF2-40B4-BE49-F238E27FC236}">
                <a16:creationId xmlns:a16="http://schemas.microsoft.com/office/drawing/2014/main" xmlns="" id="{73B6930D-9BF6-DF4A-83E4-C9A1EEE616D3}"/>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42629" r="42156"/>
          <a:stretch/>
        </p:blipFill>
        <p:spPr bwMode="auto">
          <a:xfrm>
            <a:off x="9911529" y="444730"/>
            <a:ext cx="1261382" cy="562573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518468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196</a:t>
            </a:r>
          </a:p>
        </p:txBody>
      </p:sp>
      <p:sp>
        <p:nvSpPr>
          <p:cNvPr id="5" name="TextBox 4">
            <a:extLst>
              <a:ext uri="{FF2B5EF4-FFF2-40B4-BE49-F238E27FC236}">
                <a16:creationId xmlns:a16="http://schemas.microsoft.com/office/drawing/2014/main" xmlns="" id="{2AA35BC6-D428-FC41-BDE5-6438AB8840FC}"/>
              </a:ext>
            </a:extLst>
          </p:cNvPr>
          <p:cNvSpPr txBox="1"/>
          <p:nvPr/>
        </p:nvSpPr>
        <p:spPr>
          <a:xfrm>
            <a:off x="636164" y="385266"/>
            <a:ext cx="10552535" cy="4093428"/>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With your partner, discuss how the halfway point between the peak of Mount Ojos del Salado and the Atacama Trench can be found. Write down all of the strategies that were discussed.</a:t>
            </a: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Explain how to determine if the halfway point’s elevation is above sea level or below sea level.</a:t>
            </a:r>
          </a:p>
          <a:p>
            <a:r>
              <a:rPr lang="en-US" sz="2000" b="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b="1"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3461373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7643"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18667"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4">
            <a:alphaModFix/>
          </a:blip>
          <a:srcRect/>
          <a:stretch/>
        </p:blipFill>
        <p:spPr>
          <a:xfrm>
            <a:off x="3066528" y="2897934"/>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xmlns="" id="{EE3C8BB3-D8AE-154C-9B2D-B1D7451436FE}"/>
              </a:ext>
            </a:extLst>
          </p:cNvPr>
          <p:cNvSpPr txBox="1"/>
          <p:nvPr/>
        </p:nvSpPr>
        <p:spPr>
          <a:xfrm>
            <a:off x="8799417"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197</a:t>
            </a:r>
          </a:p>
        </p:txBody>
      </p:sp>
    </p:spTree>
    <p:extLst>
      <p:ext uri="{BB962C8B-B14F-4D97-AF65-F5344CB8AC3E}">
        <p14:creationId xmlns:p14="http://schemas.microsoft.com/office/powerpoint/2010/main" val="1790839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88"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0876" y="6200724"/>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224450" y="193079"/>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4.12.5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4">
            <a:alphaModFix/>
          </a:blip>
          <a:srcRect/>
          <a:stretch/>
        </p:blipFill>
        <p:spPr>
          <a:xfrm>
            <a:off x="477150" y="193079"/>
            <a:ext cx="747300" cy="747300"/>
          </a:xfrm>
          <a:prstGeom prst="rect">
            <a:avLst/>
          </a:prstGeom>
          <a:noFill/>
          <a:ln>
            <a:noFill/>
          </a:ln>
        </p:spPr>
      </p:pic>
      <p:sp>
        <p:nvSpPr>
          <p:cNvPr id="11" name="Google Shape;282;g104476d1465_1_17">
            <a:extLst>
              <a:ext uri="{FF2B5EF4-FFF2-40B4-BE49-F238E27FC236}">
                <a16:creationId xmlns:a16="http://schemas.microsoft.com/office/drawing/2014/main" xmlns="" id="{F9486181-07A1-C74B-A129-E8949F43C159}"/>
              </a:ext>
            </a:extLst>
          </p:cNvPr>
          <p:cNvSpPr txBox="1"/>
          <p:nvPr/>
        </p:nvSpPr>
        <p:spPr>
          <a:xfrm>
            <a:off x="8668920" y="646337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197</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759C3E41-93EC-B84D-963F-86A3B15AC1C6}"/>
                  </a:ext>
                </a:extLst>
              </p:cNvPr>
              <p:cNvSpPr txBox="1"/>
              <p:nvPr/>
            </p:nvSpPr>
            <p:spPr>
              <a:xfrm>
                <a:off x="850800" y="1294386"/>
                <a:ext cx="9360000" cy="3477875"/>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captain of a fishing vessel is standing on the deck at </a:t>
                </a:r>
                <a14:m>
                  <m:oMath xmlns:m="http://schemas.openxmlformats.org/officeDocument/2006/math">
                    <m:r>
                      <a:rPr lang="en-US" sz="2000" i="1">
                        <a:latin typeface="Cambria Math" panose="02040503050406030204" pitchFamily="18" charset="0"/>
                        <a:ea typeface="Cambria Math" panose="02040503050406030204" pitchFamily="18" charset="0"/>
                      </a:rPr>
                      <m:t>23</m:t>
                    </m:r>
                  </m:oMath>
                </a14:m>
                <a:r>
                  <a:rPr lang="en-US" sz="2000" dirty="0">
                    <a:latin typeface="Verdana" panose="020B0604030504040204" pitchFamily="34" charset="0"/>
                    <a:ea typeface="Verdana" panose="020B0604030504040204" pitchFamily="34" charset="0"/>
                    <a:cs typeface="Verdana" panose="020B0604030504040204" pitchFamily="34" charset="0"/>
                  </a:rPr>
                  <a:t> feet above sea level. He holds a rope tied to a fishing net below him that is underwater at a depth of </a:t>
                </a:r>
                <a14:m>
                  <m:oMath xmlns:m="http://schemas.openxmlformats.org/officeDocument/2006/math">
                    <m:r>
                      <a:rPr lang="en-US" sz="2000" i="1">
                        <a:latin typeface="Cambria Math" panose="02040503050406030204" pitchFamily="18" charset="0"/>
                      </a:rPr>
                      <m:t>38</m:t>
                    </m:r>
                  </m:oMath>
                </a14:m>
                <a:r>
                  <a:rPr lang="en-US" sz="2000" dirty="0">
                    <a:latin typeface="Verdana" panose="020B0604030504040204" pitchFamily="34" charset="0"/>
                    <a:ea typeface="Verdana" panose="020B0604030504040204" pitchFamily="34" charset="0"/>
                    <a:cs typeface="Verdana" panose="020B0604030504040204" pitchFamily="34" charset="0"/>
                  </a:rPr>
                  <a:t> feet.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Draw a model of this situation using the number line. </a:t>
                </a: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Write a mathematical sentence using absolute value to determine the length of the rope</a:t>
                </a:r>
                <a:r>
                  <a:rPr lang="en-US" dirty="0"/>
                  <a:t>.</a:t>
                </a: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850800" y="1294386"/>
                <a:ext cx="9360000" cy="3477875"/>
              </a:xfrm>
              <a:prstGeom prst="rect">
                <a:avLst/>
              </a:prstGeom>
              <a:blipFill>
                <a:blip r:embed="rId5"/>
                <a:stretch>
                  <a:fillRect l="-813" t="-727" b="-2182"/>
                </a:stretch>
              </a:blipFill>
            </p:spPr>
            <p:txBody>
              <a:bodyPr/>
              <a:lstStyle/>
              <a:p>
                <a:r>
                  <a:rPr lang="en-US">
                    <a:noFill/>
                  </a:rPr>
                  <a:t> </a:t>
                </a:r>
              </a:p>
            </p:txBody>
          </p:sp>
        </mc:Fallback>
      </mc:AlternateContent>
      <p:pic>
        <p:nvPicPr>
          <p:cNvPr id="13" name="Picture 12" descr="Chart&#10;&#10;Description automatically generated">
            <a:extLst>
              <a:ext uri="{FF2B5EF4-FFF2-40B4-BE49-F238E27FC236}">
                <a16:creationId xmlns:a16="http://schemas.microsoft.com/office/drawing/2014/main" xmlns="" id="{0A567B89-69EC-4D47-A1CA-C08CA3E31EFE}"/>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39974" r="39017"/>
          <a:stretch/>
        </p:blipFill>
        <p:spPr bwMode="auto">
          <a:xfrm>
            <a:off x="9772776" y="703421"/>
            <a:ext cx="1688100" cy="545115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01299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9190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653674"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197</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08C67FCF-92C3-654A-BF40-5BDF7A4F9271}"/>
                  </a:ext>
                </a:extLst>
              </p:cNvPr>
              <p:cNvSpPr txBox="1"/>
              <p:nvPr/>
            </p:nvSpPr>
            <p:spPr>
              <a:xfrm>
                <a:off x="573532" y="461974"/>
                <a:ext cx="10818368" cy="347787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Aryan owes </a:t>
                </a:r>
                <a14:m>
                  <m:oMath xmlns:m="http://schemas.openxmlformats.org/officeDocument/2006/math">
                    <m:r>
                      <a:rPr lang="en-US" sz="2000" i="1">
                        <a:latin typeface="Cambria Math" panose="02040503050406030204" pitchFamily="18" charset="0"/>
                        <a:ea typeface="Cambria Math" panose="02040503050406030204" pitchFamily="18" charset="0"/>
                      </a:rPr>
                      <m:t>$325.46</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for recent purchases he made using his credit card, and he owes his parents another </a:t>
                </a:r>
                <a14:m>
                  <m:oMath xmlns:m="http://schemas.openxmlformats.org/officeDocument/2006/math">
                    <m:r>
                      <a:rPr lang="en-US" sz="2000" i="1">
                        <a:latin typeface="Cambria Math" panose="02040503050406030204" pitchFamily="18" charset="0"/>
                        <a:ea typeface="Cambria Math" panose="02040503050406030204" pitchFamily="18" charset="0"/>
                      </a:rPr>
                      <m:t>$187.27</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Write a mathematical statement using absolute value that can be used to determine Aryan’s total debt.</a:t>
                </a: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value of Aryan’s total debt?</a:t>
                </a:r>
              </a:p>
            </p:txBody>
          </p:sp>
        </mc:Choice>
        <mc:Fallback xmlns="">
          <p:sp>
            <p:nvSpPr>
              <p:cNvPr id="5" name="TextBox 4">
                <a:extLst>
                  <a:ext uri="{FF2B5EF4-FFF2-40B4-BE49-F238E27FC236}">
                    <a16:creationId xmlns:a16="http://schemas.microsoft.com/office/drawing/2014/main" id="{08C67FCF-92C3-654A-BF40-5BDF7A4F9271}"/>
                  </a:ext>
                </a:extLst>
              </p:cNvPr>
              <p:cNvSpPr txBox="1">
                <a:spLocks noRot="1" noChangeAspect="1" noMove="1" noResize="1" noEditPoints="1" noAdjustHandles="1" noChangeArrowheads="1" noChangeShapeType="1" noTextEdit="1"/>
              </p:cNvSpPr>
              <p:nvPr/>
            </p:nvSpPr>
            <p:spPr>
              <a:xfrm>
                <a:off x="573532" y="461974"/>
                <a:ext cx="10818368" cy="3477875"/>
              </a:xfrm>
              <a:prstGeom prst="rect">
                <a:avLst/>
              </a:prstGeom>
              <a:blipFill>
                <a:blip r:embed="rId4"/>
                <a:stretch>
                  <a:fillRect l="-586" t="-1455" r="-117" b="-2182"/>
                </a:stretch>
              </a:blipFill>
            </p:spPr>
            <p:txBody>
              <a:bodyPr/>
              <a:lstStyle/>
              <a:p>
                <a:r>
                  <a:rPr lang="en-US">
                    <a:noFill/>
                  </a:rPr>
                  <a:t> </a:t>
                </a:r>
              </a:p>
            </p:txBody>
          </p:sp>
        </mc:Fallback>
      </mc:AlternateContent>
    </p:spTree>
    <p:extLst>
      <p:ext uri="{BB962C8B-B14F-4D97-AF65-F5344CB8AC3E}">
        <p14:creationId xmlns:p14="http://schemas.microsoft.com/office/powerpoint/2010/main" val="8436146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160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793374"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197</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08C67FCF-92C3-654A-BF40-5BDF7A4F9271}"/>
                  </a:ext>
                </a:extLst>
              </p:cNvPr>
              <p:cNvSpPr txBox="1"/>
              <p:nvPr/>
            </p:nvSpPr>
            <p:spPr>
              <a:xfrm>
                <a:off x="446532" y="385773"/>
                <a:ext cx="11085068" cy="1644874"/>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When Brenda places a package of chicken in the freezer, the chicken is at a temperature of </a:t>
                </a:r>
                <a14:m>
                  <m:oMath xmlns:m="http://schemas.openxmlformats.org/officeDocument/2006/math">
                    <m:sSup>
                      <m:sSupPr>
                        <m:ctrlPr>
                          <a:rPr lang="en-US" sz="2000" i="1">
                            <a:latin typeface="Cambria Math"/>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41</m:t>
                        </m:r>
                      </m:e>
                      <m:sup>
                        <m:r>
                          <a:rPr lang="en-US" sz="2000" i="1">
                            <a:latin typeface="Cambria Math" panose="02040503050406030204" pitchFamily="18" charset="0"/>
                            <a:ea typeface="Cambria Math" panose="02040503050406030204" pitchFamily="18" charset="0"/>
                          </a:rPr>
                          <m:t>°</m:t>
                        </m:r>
                      </m:sup>
                    </m:sSup>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Fahrenheit (</a:t>
                </a:r>
                <a14:m>
                  <m:oMath xmlns:m="http://schemas.openxmlformats.org/officeDocument/2006/math">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While in the freezer, the temperature of the chicken changes </a:t>
                </a:r>
                <a14:m>
                  <m:oMath xmlns:m="http://schemas.openxmlformats.org/officeDocument/2006/math">
                    <m:sPre>
                      <m:sPrePr>
                        <m:ctrlPr>
                          <a:rPr lang="en-US" sz="2000" i="1">
                            <a:latin typeface="Cambria Math"/>
                            <a:ea typeface="Cambria Math" panose="02040503050406030204" pitchFamily="18" charset="0"/>
                          </a:rPr>
                        </m:ctrlPr>
                      </m:sPrePr>
                      <m:sub/>
                      <m:sup>
                        <m:r>
                          <a:rPr lang="en-US" sz="2000" i="1">
                            <a:latin typeface="Cambria Math" panose="02040503050406030204" pitchFamily="18" charset="0"/>
                            <a:ea typeface="Cambria Math" panose="02040503050406030204" pitchFamily="18" charset="0"/>
                          </a:rPr>
                          <m:t>−</m:t>
                        </m:r>
                      </m:sup>
                      <m:e>
                        <m:r>
                          <a:rPr lang="en-US" sz="2000" i="1">
                            <a:latin typeface="Cambria Math" panose="02040503050406030204" pitchFamily="18" charset="0"/>
                            <a:ea typeface="Cambria Math" panose="02040503050406030204" pitchFamily="18" charset="0"/>
                          </a:rPr>
                          <m:t>2</m:t>
                        </m:r>
                      </m:e>
                    </m:sPre>
                    <m:r>
                      <a:rPr lang="en-US" sz="2000" i="1">
                        <a:latin typeface="Cambria Math" panose="02040503050406030204" pitchFamily="18" charset="0"/>
                        <a:ea typeface="Cambria Math" panose="02040503050406030204" pitchFamily="18" charset="0"/>
                      </a:rPr>
                      <m:t>℉</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every hour until it reaches the temperature of the freezer. What is the temperature of the chicken </a:t>
                </a:r>
                <a14:m>
                  <m:oMath xmlns:m="http://schemas.openxmlformats.org/officeDocument/2006/math">
                    <m:r>
                      <a:rPr lang="en-US" sz="2000" i="1">
                        <a:latin typeface="Cambria Math" panose="02040503050406030204" pitchFamily="18" charset="0"/>
                        <a:ea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hours after Brenda puts it in the freezer? </a:t>
                </a:r>
              </a:p>
            </p:txBody>
          </p:sp>
        </mc:Choice>
        <mc:Fallback xmlns="">
          <p:sp>
            <p:nvSpPr>
              <p:cNvPr id="5" name="TextBox 4">
                <a:extLst>
                  <a:ext uri="{FF2B5EF4-FFF2-40B4-BE49-F238E27FC236}">
                    <a16:creationId xmlns:a16="http://schemas.microsoft.com/office/drawing/2014/main" id="{08C67FCF-92C3-654A-BF40-5BDF7A4F9271}"/>
                  </a:ext>
                </a:extLst>
              </p:cNvPr>
              <p:cNvSpPr txBox="1">
                <a:spLocks noRot="1" noChangeAspect="1" noMove="1" noResize="1" noEditPoints="1" noAdjustHandles="1" noChangeArrowheads="1" noChangeShapeType="1" noTextEdit="1"/>
              </p:cNvSpPr>
              <p:nvPr/>
            </p:nvSpPr>
            <p:spPr>
              <a:xfrm>
                <a:off x="446532" y="385773"/>
                <a:ext cx="11085068" cy="1644874"/>
              </a:xfrm>
              <a:prstGeom prst="rect">
                <a:avLst/>
              </a:prstGeom>
              <a:blipFill>
                <a:blip r:embed="rId4"/>
                <a:stretch>
                  <a:fillRect l="-572" t="-2308" b="-6154"/>
                </a:stretch>
              </a:blipFill>
            </p:spPr>
            <p:txBody>
              <a:bodyPr/>
              <a:lstStyle/>
              <a:p>
                <a:r>
                  <a:rPr lang="en-US">
                    <a:noFill/>
                  </a:rPr>
                  <a:t> </a:t>
                </a:r>
              </a:p>
            </p:txBody>
          </p:sp>
        </mc:Fallback>
      </mc:AlternateContent>
    </p:spTree>
    <p:extLst>
      <p:ext uri="{BB962C8B-B14F-4D97-AF65-F5344CB8AC3E}">
        <p14:creationId xmlns:p14="http://schemas.microsoft.com/office/powerpoint/2010/main" val="3360939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749850" y="6474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198</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88076" y="6217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855625"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34619" y="292074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721874" y="6457798"/>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198</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0100" y="620072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398900"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4.12.6 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437400" y="206629"/>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843675" y="1228397"/>
            <a:ext cx="10504650" cy="4401205"/>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Check all of the statements below that describe your understanding of and ability to work with absolute values.</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342900" indent="-34290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I can compare the absolute value of two numbers.</a:t>
            </a:r>
          </a:p>
          <a:p>
            <a:pPr marL="342900" indent="-34290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I need support on how to compare the absolute value of two numbers.</a:t>
            </a:r>
          </a:p>
          <a:p>
            <a:pPr marL="342900" indent="-34290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I can perform operations that involve the absolute value of two numbers.</a:t>
            </a:r>
          </a:p>
          <a:p>
            <a:pPr marL="342900" indent="-34290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I need support to perform operations that involve absolute value.</a:t>
            </a:r>
          </a:p>
          <a:p>
            <a:pPr marL="342900" indent="-34290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I can interpret comparisons of absolute values in real-world contexts.</a:t>
            </a:r>
          </a:p>
          <a:p>
            <a:pPr marL="342900" indent="-34290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I need support interpreting comparisons of absolute values in real-world contexts.</a:t>
            </a:r>
          </a:p>
          <a:p>
            <a:pPr marL="342900" indent="-34290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I can perform operations that involve absolute value when solving real-world problems.</a:t>
            </a:r>
          </a:p>
          <a:p>
            <a:pPr marL="342900" indent="-34290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I need support to perform operations that involve absolute value when solving real-world problems.</a:t>
            </a: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1307</TotalTime>
  <Words>1087</Words>
  <Application>Microsoft Office PowerPoint</Application>
  <PresentationFormat>Custom</PresentationFormat>
  <Paragraphs>264</Paragraphs>
  <Slides>27</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Verdana</vt:lpstr>
      <vt:lpstr>Calibri</vt:lpstr>
      <vt:lpstr>Courier New</vt:lpstr>
      <vt:lpstr>Century Gothic</vt:lpstr>
      <vt:lpstr>Cambria Math</vt:lpstr>
      <vt:lpstr>Wingdings</vt:lpstr>
      <vt:lpstr>Arial Black</vt:lpstr>
      <vt:lpstr>1_Office Theme</vt:lpstr>
      <vt:lpstr>6th Grade Math  Unit 4, Lesson 12  Operations with Absolute Value in the Real World  Volume 1, pg. 193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Collaboration</vt:lpstr>
      <vt:lpstr>PowerPoint Presentation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18</cp:revision>
  <dcterms:created xsi:type="dcterms:W3CDTF">2015-03-17T18:51:18Z</dcterms:created>
  <dcterms:modified xsi:type="dcterms:W3CDTF">2022-07-08T02:34:02Z</dcterms:modified>
</cp:coreProperties>
</file>