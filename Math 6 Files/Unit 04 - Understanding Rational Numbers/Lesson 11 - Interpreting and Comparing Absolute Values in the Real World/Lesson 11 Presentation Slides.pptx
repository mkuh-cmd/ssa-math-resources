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s/slide1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24.xml" ContentType="application/vnd.openxmlformats-officedocument.presentationml.slide+xml"/>
  <Override PartName="/ppt/slides/slide27.xml" ContentType="application/vnd.openxmlformats-officedocument.presentationml.slide+xml"/>
  <Override PartName="/ppt/slides/slide23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8.xml" ContentType="application/vnd.openxmlformats-officedocument.presentationml.notesSlide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289" r:id="rId9"/>
    <p:sldId id="290" r:id="rId10"/>
    <p:sldId id="308" r:id="rId11"/>
    <p:sldId id="317" r:id="rId12"/>
    <p:sldId id="318" r:id="rId13"/>
    <p:sldId id="319" r:id="rId14"/>
    <p:sldId id="320" r:id="rId15"/>
    <p:sldId id="314" r:id="rId16"/>
    <p:sldId id="315" r:id="rId17"/>
    <p:sldId id="316" r:id="rId18"/>
    <p:sldId id="321" r:id="rId19"/>
    <p:sldId id="324" r:id="rId20"/>
    <p:sldId id="302" r:id="rId21"/>
    <p:sldId id="303" r:id="rId22"/>
    <p:sldId id="309" r:id="rId23"/>
    <p:sldId id="322" r:id="rId24"/>
    <p:sldId id="323" r:id="rId25"/>
    <p:sldId id="306" r:id="rId26"/>
    <p:sldId id="307" r:id="rId27"/>
    <p:sldId id="310" r:id="rId28"/>
  </p:sldIdLst>
  <p:sldSz cx="12192000" cy="6858000"/>
  <p:notesSz cx="6858000" cy="9144000"/>
  <p:embeddedFontLst>
    <p:embeddedFont>
      <p:font typeface="Verdana" pitchFamily="34" charset="0"/>
      <p:regular r:id="rId30"/>
      <p:bold r:id="rId31"/>
      <p:italic r:id="rId32"/>
      <p:boldItalic r:id="rId33"/>
    </p:embeddedFont>
    <p:embeddedFont>
      <p:font typeface="Calibri" pitchFamily="34" charset="0"/>
      <p:regular r:id="rId34"/>
      <p:bold r:id="rId35"/>
      <p:italic r:id="rId36"/>
      <p:boldItalic r:id="rId37"/>
    </p:embeddedFont>
    <p:embeddedFont>
      <p:font typeface="Century Gothic" pitchFamily="34" charset="0"/>
      <p:regular r:id="rId38"/>
      <p:bold r:id="rId39"/>
      <p:italic r:id="rId40"/>
      <p:boldItalic r:id="rId41"/>
    </p:embeddedFont>
    <p:embeddedFont>
      <p:font typeface="Cambria Math" pitchFamily="18" charset="0"/>
      <p:regular r:id="rId42"/>
    </p:embeddedFont>
    <p:embeddedFont>
      <p:font typeface="Cambria" pitchFamily="18" charset="0"/>
      <p:regular r:id="rId43"/>
      <p:bold r:id="rId44"/>
      <p:italic r:id="rId45"/>
      <p:boldItalic r:id="rId46"/>
    </p:embeddedFont>
    <p:embeddedFont>
      <p:font typeface="Arial Black" pitchFamily="34" charset="0"/>
      <p:bold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DF6F"/>
    <a:srgbClr val="417DB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8223"/>
    <p:restoredTop sz="94737"/>
  </p:normalViewPr>
  <p:slideViewPr>
    <p:cSldViewPr snapToGrid="0">
      <p:cViewPr varScale="1">
        <p:scale>
          <a:sx n="58" d="100"/>
          <a:sy n="58" d="100"/>
        </p:scale>
        <p:origin x="-90" y="-12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font" Target="fonts/font18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font" Target="fonts/font16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font" Target="fonts/font15.fntdata"/><Relationship Id="rId6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font" Target="fonts/font17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2.fntdata"/><Relationship Id="rId62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5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2793315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77814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895084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751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526699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24827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20816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458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04310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16582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8492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0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4, Lesson 11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Interpreting and Comparing Absolute Values in the Real World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188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51852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3074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321250" y="1619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750" y="3977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7625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07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711200" y="1625600"/>
            <a:ext cx="109093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MA.6.NSO.1.4</a:t>
            </a:r>
          </a:p>
          <a:p>
            <a:pPr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mathematical and real-world problems involving absolute value, including the comparison of absolute value.</a:t>
            </a:r>
          </a:p>
          <a:p>
            <a:pPr indent="0">
              <a:buNone/>
            </a:pPr>
            <a:endParaRPr lang="en-US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3074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450" y="44438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335100" y="201755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E701C7D4-7BD4-5F4C-ACEB-5781D00837A2}"/>
              </a:ext>
            </a:extLst>
          </p:cNvPr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188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311660" y="1520190"/>
            <a:ext cx="988974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</a:p>
          <a:p>
            <a:pPr>
              <a:buSzPts val="523"/>
            </a:pP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807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247075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913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xmlns="" id="{3ECD2D46-55D5-C547-91DD-0801CE9D6AD7}"/>
              </a:ext>
            </a:extLst>
          </p:cNvPr>
          <p:cNvSpPr txBox="1"/>
          <p:nvPr/>
        </p:nvSpPr>
        <p:spPr>
          <a:xfrm>
            <a:off x="8749850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188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647700" y="1569540"/>
            <a:ext cx="106299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compare the absolute value of two numbers in a real-world context.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 </a:t>
            </a:r>
          </a:p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endParaRPr lang="en-US" sz="3500" b="1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80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0750" y="27015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69550" y="25883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7498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374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72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24450" y="91778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4.11.1 Warm-Up: Absolute Elevations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150" y="22893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6990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="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850800" y="1450656"/>
                <a:ext cx="10350600" cy="33855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Death Valley, a national park in California, is at an elevation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282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feet. The city of Tallahassee, Florida is at an elevation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203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feet.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an inequality symbol, &lt; or &gt;, to compare these two elevations.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an inequality symbol, &lt; or &gt;, to compare the absolute values of these two elevations.</a:t>
                </a:r>
              </a:p>
              <a:p>
                <a:r>
                  <a:rPr lang="en-US" dirty="0"/>
                  <a:t> 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800" y="1450656"/>
                <a:ext cx="10350600" cy="3385542"/>
              </a:xfrm>
              <a:prstGeom prst="rect">
                <a:avLst/>
              </a:prstGeom>
              <a:blipFill>
                <a:blip r:embed="rId5"/>
                <a:stretch>
                  <a:fillRect l="-735" t="-11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80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7498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483764" y="494994"/>
            <a:ext cx="10730335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what these two inequality statements mean in terms of the elevations of Death Valley and Tallahassee.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375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198033" y="2738290"/>
            <a:ext cx="72157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xmlns="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2241" y="2766145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33005AFD-D615-1344-BDC0-5A40F6454816}"/>
              </a:ext>
            </a:extLst>
          </p:cNvPr>
          <p:cNvSpPr txBox="1"/>
          <p:nvPr/>
        </p:nvSpPr>
        <p:spPr>
          <a:xfrm>
            <a:off x="867553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189</a:t>
            </a: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7272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07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0450" y="60325"/>
            <a:ext cx="100101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4.11.2 Guided Instruction: Comparing and Interpreting Absolute Value in Context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xmlns="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3150" y="26758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B2B1ECCC-8E07-F247-BB16-7B958B8E6B20}"/>
              </a:ext>
            </a:extLst>
          </p:cNvPr>
          <p:cNvSpPr txBox="1"/>
          <p:nvPr/>
        </p:nvSpPr>
        <p:spPr>
          <a:xfrm>
            <a:off x="87625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766800" y="1462158"/>
                <a:ext cx="1038380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Recall this scenario from a previous lesson with some additional information.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Elijah, Noah, and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Isabel live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on the same street that runs west to east. The locations of their houses are modeled on the number line, where each unit represents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kilometer.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800" y="1462158"/>
                <a:ext cx="10383800" cy="1938992"/>
              </a:xfrm>
              <a:prstGeom prst="rect">
                <a:avLst/>
              </a:prstGeom>
              <a:blipFill rotWithShape="1">
                <a:blip r:embed="rId5"/>
                <a:stretch>
                  <a:fillRect l="-646" t="-1887" r="-411" b="-471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6">
            <a:extLst>
              <a:ext uri="{FF2B5EF4-FFF2-40B4-BE49-F238E27FC236}">
                <a16:creationId xmlns:a16="http://schemas.microsoft.com/office/drawing/2014/main" xmlns="" id="{CBAEBE35-CDB7-9340-860D-EE63D468A3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9DAD01C7-679C-4279-AC7A-79A0DA53FD70}"/>
              </a:ext>
            </a:extLst>
          </p:cNvPr>
          <p:cNvGrpSpPr/>
          <p:nvPr/>
        </p:nvGrpSpPr>
        <p:grpSpPr>
          <a:xfrm>
            <a:off x="1847274" y="3532985"/>
            <a:ext cx="8205702" cy="1444865"/>
            <a:chOff x="323274" y="3532984"/>
            <a:chExt cx="8205702" cy="1444865"/>
          </a:xfrm>
        </p:grpSpPr>
        <p:pic>
          <p:nvPicPr>
            <p:cNvPr id="11" name="Picture 10" descr="Chart&#10;&#10;Description automatically generated">
              <a:extLst>
                <a:ext uri="{FF2B5EF4-FFF2-40B4-BE49-F238E27FC236}">
                  <a16:creationId xmlns:a16="http://schemas.microsoft.com/office/drawing/2014/main" xmlns="" id="{1ACE5695-BBFD-E24B-BBE3-9ED9C7016E6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11311" y="3532984"/>
              <a:ext cx="6324439" cy="1444865"/>
            </a:xfrm>
            <a:prstGeom prst="rect">
              <a:avLst/>
            </a:prstGeom>
          </p:spPr>
        </p:pic>
        <p:sp>
          <p:nvSpPr>
            <p:cNvPr id="14" name="Text Box 26">
              <a:extLst>
                <a:ext uri="{FF2B5EF4-FFF2-40B4-BE49-F238E27FC236}">
                  <a16:creationId xmlns:a16="http://schemas.microsoft.com/office/drawing/2014/main" xmlns="" id="{63D3CA4B-0538-B14E-9DEC-1932E579FDFA}"/>
                </a:ext>
              </a:extLst>
            </p:cNvPr>
            <p:cNvSpPr txBox="1"/>
            <p:nvPr/>
          </p:nvSpPr>
          <p:spPr>
            <a:xfrm>
              <a:off x="323274" y="4422708"/>
              <a:ext cx="988037" cy="492776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WEST</a:t>
              </a:r>
              <a:endParaRPr lang="en-US" sz="20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 Box 27">
              <a:extLst>
                <a:ext uri="{FF2B5EF4-FFF2-40B4-BE49-F238E27FC236}">
                  <a16:creationId xmlns:a16="http://schemas.microsoft.com/office/drawing/2014/main" xmlns="" id="{FDDB71D2-4258-2242-A3A5-7F6C166FFD52}"/>
                </a:ext>
              </a:extLst>
            </p:cNvPr>
            <p:cNvSpPr txBox="1"/>
            <p:nvPr/>
          </p:nvSpPr>
          <p:spPr>
            <a:xfrm>
              <a:off x="7681251" y="4412021"/>
              <a:ext cx="847725" cy="444500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EAST</a:t>
              </a:r>
              <a:endParaRPr lang="en-US" sz="20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34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7752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111600" y="1891728"/>
                <a:ext cx="11521600" cy="43088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49263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Noah’s house is located 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number line model. Represent the distance from Noah’s house to both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Isabel’s house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Elijah’s house using absolute value.</a:t>
                </a:r>
              </a:p>
              <a:p>
                <a:pPr marL="914400" indent="-44926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do the absolute values in the table compare to each other?</a:t>
                </a:r>
              </a:p>
              <a:p>
                <a:pPr marL="465137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000" i="1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______</m:t>
                          </m:r>
                        </m:e>
                      </m:d>
                      <m:r>
                        <a:rPr lang="en-US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i="1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______</m:t>
                          </m:r>
                        </m:e>
                      </m:d>
                    </m:oMath>
                  </m:oMathPara>
                </a14:m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  <a:p>
                <a:pPr lvl="0"/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00" y="1891728"/>
                <a:ext cx="11521600" cy="4308872"/>
              </a:xfrm>
              <a:prstGeom prst="rect">
                <a:avLst/>
              </a:prstGeom>
              <a:blipFill rotWithShape="1">
                <a:blip r:embed="rId4"/>
                <a:stretch>
                  <a:fillRect t="-849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xmlns="" id="{D2C06ED7-5CCE-884B-8218-C918A856EDF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56338221"/>
                  </p:ext>
                </p:extLst>
              </p:nvPr>
            </p:nvGraphicFramePr>
            <p:xfrm>
              <a:off x="2111061" y="2974199"/>
              <a:ext cx="8120544" cy="1329692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2388395">
                      <a:extLst>
                        <a:ext uri="{9D8B030D-6E8A-4147-A177-3AD203B41FA5}">
                          <a16:colId xmlns:a16="http://schemas.microsoft.com/office/drawing/2014/main" xmlns="" val="1086822449"/>
                        </a:ext>
                      </a:extLst>
                    </a:gridCol>
                    <a:gridCol w="2732627">
                      <a:extLst>
                        <a:ext uri="{9D8B030D-6E8A-4147-A177-3AD203B41FA5}">
                          <a16:colId xmlns:a16="http://schemas.microsoft.com/office/drawing/2014/main" xmlns="" val="3554478286"/>
                        </a:ext>
                      </a:extLst>
                    </a:gridCol>
                    <a:gridCol w="2999522">
                      <a:extLst>
                        <a:ext uri="{9D8B030D-6E8A-4147-A177-3AD203B41FA5}">
                          <a16:colId xmlns:a16="http://schemas.microsoft.com/office/drawing/2014/main" xmlns="" val="2480299633"/>
                        </a:ext>
                      </a:extLst>
                    </a:gridCol>
                  </a:tblGrid>
                  <a:tr h="40019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Elijah’s House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Isabel’s House</a:t>
                          </a: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328162732"/>
                      </a:ext>
                    </a:extLst>
                  </a:tr>
                  <a:tr h="92949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Distance from Noah’s House 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b="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_______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b="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b="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_______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b="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43130546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2C06ED7-5CCE-884B-8218-C918A856EDF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56338221"/>
                  </p:ext>
                </p:extLst>
              </p:nvPr>
            </p:nvGraphicFramePr>
            <p:xfrm>
              <a:off x="2111061" y="2974199"/>
              <a:ext cx="8120544" cy="1329692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238839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086822449"/>
                        </a:ext>
                      </a:extLst>
                    </a:gridCol>
                    <a:gridCol w="2732627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554478286"/>
                        </a:ext>
                      </a:extLst>
                    </a:gridCol>
                    <a:gridCol w="299952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480299633"/>
                        </a:ext>
                      </a:extLst>
                    </a:gridCol>
                  </a:tblGrid>
                  <a:tr h="40019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Elijah’s House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Isabel’s House</a:t>
                          </a: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328162732"/>
                      </a:ext>
                    </a:extLst>
                  </a:tr>
                  <a:tr h="92949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Distance from Noah’s House 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5"/>
                          <a:stretch>
                            <a:fillRect l="-87500" t="-46711" r="-110045" b="-6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5"/>
                          <a:stretch>
                            <a:fillRect l="-170732" t="-46711" r="-203" b="-6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431305462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C6098675-1568-44F9-8AF0-FA288946C928}"/>
              </a:ext>
            </a:extLst>
          </p:cNvPr>
          <p:cNvGrpSpPr/>
          <p:nvPr/>
        </p:nvGrpSpPr>
        <p:grpSpPr>
          <a:xfrm>
            <a:off x="2129199" y="200226"/>
            <a:ext cx="8205702" cy="1444865"/>
            <a:chOff x="323274" y="3532984"/>
            <a:chExt cx="8205702" cy="1444865"/>
          </a:xfrm>
        </p:grpSpPr>
        <p:pic>
          <p:nvPicPr>
            <p:cNvPr id="9" name="Picture 8" descr="Chart&#10;&#10;Description automatically generated">
              <a:extLst>
                <a:ext uri="{FF2B5EF4-FFF2-40B4-BE49-F238E27FC236}">
                  <a16:creationId xmlns:a16="http://schemas.microsoft.com/office/drawing/2014/main" xmlns="" id="{27341462-61B9-43A1-814B-59A3C8DA1C1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11311" y="3532984"/>
              <a:ext cx="6324439" cy="1444865"/>
            </a:xfrm>
            <a:prstGeom prst="rect">
              <a:avLst/>
            </a:prstGeom>
          </p:spPr>
        </p:pic>
        <p:sp>
          <p:nvSpPr>
            <p:cNvPr id="10" name="Text Box 26">
              <a:extLst>
                <a:ext uri="{FF2B5EF4-FFF2-40B4-BE49-F238E27FC236}">
                  <a16:creationId xmlns:a16="http://schemas.microsoft.com/office/drawing/2014/main" xmlns="" id="{B38ACD8F-707C-42F0-B6C9-7689D533E2BD}"/>
                </a:ext>
              </a:extLst>
            </p:cNvPr>
            <p:cNvSpPr txBox="1"/>
            <p:nvPr/>
          </p:nvSpPr>
          <p:spPr>
            <a:xfrm>
              <a:off x="323274" y="4422708"/>
              <a:ext cx="988037" cy="492776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WEST</a:t>
              </a:r>
              <a:endParaRPr lang="en-US" sz="20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 Box 27">
              <a:extLst>
                <a:ext uri="{FF2B5EF4-FFF2-40B4-BE49-F238E27FC236}">
                  <a16:creationId xmlns:a16="http://schemas.microsoft.com/office/drawing/2014/main" xmlns="" id="{57FBEBB2-C4E7-4224-BAEB-EA2B748991D2}"/>
                </a:ext>
              </a:extLst>
            </p:cNvPr>
            <p:cNvSpPr txBox="1"/>
            <p:nvPr/>
          </p:nvSpPr>
          <p:spPr>
            <a:xfrm>
              <a:off x="7681251" y="4412021"/>
              <a:ext cx="847725" cy="444500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EAST</a:t>
              </a:r>
              <a:endParaRPr lang="en-US" sz="20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9295" y="-16223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192601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724450" y="644967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189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655AFD43-CB14-45F1-A697-E2E749899531}"/>
              </a:ext>
            </a:extLst>
          </p:cNvPr>
          <p:cNvGrpSpPr/>
          <p:nvPr/>
        </p:nvGrpSpPr>
        <p:grpSpPr>
          <a:xfrm>
            <a:off x="495114" y="2179946"/>
            <a:ext cx="8327136" cy="2905561"/>
            <a:chOff x="408432" y="153173"/>
            <a:chExt cx="8327136" cy="290556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xmlns="" id="{8AE5E1E0-A54D-BE42-84B5-F917038ADE99}"/>
                </a:ext>
              </a:extLst>
            </p:cNvPr>
            <p:cNvSpPr txBox="1"/>
            <p:nvPr/>
          </p:nvSpPr>
          <p:spPr>
            <a:xfrm>
              <a:off x="408432" y="288745"/>
              <a:ext cx="8327136" cy="27699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914400" indent="-449263">
                <a:buFont typeface="+mj-lt"/>
                <a:buAutoNum type="alphaLcPeriod" startAt="3"/>
              </a:pPr>
              <a:r>
                <a: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Isabel lives </a:t>
              </a:r>
              <a:r>
                <a: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_____ kilometers to the                of </a:t>
              </a:r>
            </a:p>
            <a:p>
              <a:r>
                <a: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 </a:t>
              </a:r>
            </a:p>
            <a:p>
              <a:pPr marL="914400"/>
              <a:r>
                <a: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Noah. Elijah lives ______ kilometers to the                </a:t>
              </a:r>
            </a:p>
            <a:p>
              <a:r>
                <a: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 </a:t>
              </a:r>
            </a:p>
            <a:p>
              <a:pPr marL="914400"/>
              <a:r>
                <a: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of Noah. </a:t>
              </a:r>
              <a:r>
                <a: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Isabel </a:t>
              </a:r>
              <a:r>
                <a: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lives                         Noah than </a:t>
              </a:r>
            </a:p>
            <a:p>
              <a:r>
                <a: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 </a:t>
              </a:r>
            </a:p>
            <a:p>
              <a:pPr marL="914400"/>
              <a:r>
                <a: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Elijah does.</a:t>
              </a:r>
            </a:p>
            <a:p>
              <a:pPr marL="914400"/>
              <a:endPara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lvl="0"/>
              <a:endParaRPr lang="en-US" dirty="0"/>
            </a:p>
          </p:txBody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xmlns="" id="{4838A15F-FD2E-3443-9C88-22124DBD2BBE}"/>
                </a:ext>
              </a:extLst>
            </p:cNvPr>
            <p:cNvSpPr/>
            <p:nvPr/>
          </p:nvSpPr>
          <p:spPr>
            <a:xfrm>
              <a:off x="6192773" y="153173"/>
              <a:ext cx="1082131" cy="578348"/>
            </a:xfrm>
            <a:prstGeom prst="roundRect">
              <a:avLst>
                <a:gd name="adj" fmla="val 16667"/>
              </a:avLst>
            </a:prstGeom>
            <a:noFill/>
            <a:ln w="12700" cap="flat" cmpd="sng">
              <a:solidFill>
                <a:schemeClr val="tx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40" tIns="0" rIns="0" bIns="0" anchor="ctr" anchorCtr="0">
              <a:noAutofit/>
            </a:bodyPr>
            <a:lstStyle/>
            <a:p>
              <a:pPr marL="285750" indent="-285750">
                <a:buFont typeface="Courier New" panose="02070309020205020404" pitchFamily="49" charset="0"/>
                <a:buChar char="o"/>
              </a:pPr>
              <a:r>
                <a: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east</a:t>
              </a:r>
            </a:p>
            <a:p>
              <a:pPr marL="285750" indent="-285750">
                <a:buFont typeface="Courier New" panose="02070309020205020404" pitchFamily="49" charset="0"/>
                <a:buChar char="o"/>
              </a:pPr>
              <a:r>
                <a: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west</a:t>
              </a:r>
            </a:p>
          </p:txBody>
        </p:sp>
        <p:sp>
          <p:nvSpPr>
            <p:cNvPr id="9" name="Rectangle: Rounded Corners 4">
              <a:extLst>
                <a:ext uri="{FF2B5EF4-FFF2-40B4-BE49-F238E27FC236}">
                  <a16:creationId xmlns:a16="http://schemas.microsoft.com/office/drawing/2014/main" xmlns="" id="{505ED0BF-9B7F-CB45-8EE9-0C9FBEBBA452}"/>
                </a:ext>
              </a:extLst>
            </p:cNvPr>
            <p:cNvSpPr/>
            <p:nvPr/>
          </p:nvSpPr>
          <p:spPr>
            <a:xfrm>
              <a:off x="7029902" y="827221"/>
              <a:ext cx="1082131" cy="578348"/>
            </a:xfrm>
            <a:prstGeom prst="roundRect">
              <a:avLst>
                <a:gd name="adj" fmla="val 16667"/>
              </a:avLst>
            </a:prstGeom>
            <a:noFill/>
            <a:ln w="12700" cap="flat" cmpd="sng">
              <a:solidFill>
                <a:schemeClr val="tx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40" tIns="0" rIns="0" bIns="0" anchor="ctr" anchorCtr="0">
              <a:noAutofit/>
            </a:bodyPr>
            <a:lstStyle/>
            <a:p>
              <a:pPr marL="285750" indent="-285750">
                <a:buFont typeface="Courier New" panose="02070309020205020404" pitchFamily="49" charset="0"/>
                <a:buChar char="o"/>
              </a:pPr>
              <a:r>
                <a: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east</a:t>
              </a:r>
            </a:p>
            <a:p>
              <a:pPr marL="285750" indent="-285750">
                <a:buFont typeface="Courier New" panose="02070309020205020404" pitchFamily="49" charset="0"/>
                <a:buChar char="o"/>
              </a:pPr>
              <a:r>
                <a: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west</a:t>
              </a:r>
            </a:p>
          </p:txBody>
        </p:sp>
        <p:sp>
          <p:nvSpPr>
            <p:cNvPr id="10" name="Rectangle: Rounded Corners 4">
              <a:extLst>
                <a:ext uri="{FF2B5EF4-FFF2-40B4-BE49-F238E27FC236}">
                  <a16:creationId xmlns:a16="http://schemas.microsoft.com/office/drawing/2014/main" xmlns="" id="{529E23B4-8CE4-6143-B955-8FE528B64B78}"/>
                </a:ext>
              </a:extLst>
            </p:cNvPr>
            <p:cNvSpPr/>
            <p:nvPr/>
          </p:nvSpPr>
          <p:spPr>
            <a:xfrm>
              <a:off x="4164129" y="1372650"/>
              <a:ext cx="2028644" cy="676366"/>
            </a:xfrm>
            <a:prstGeom prst="roundRect">
              <a:avLst>
                <a:gd name="adj" fmla="val 16667"/>
              </a:avLst>
            </a:prstGeom>
            <a:noFill/>
            <a:ln w="12700" cap="flat" cmpd="sng">
              <a:solidFill>
                <a:schemeClr val="tx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0" bIns="45700" anchor="ctr" anchorCtr="0">
              <a:noAutofit/>
            </a:bodyPr>
            <a:lstStyle/>
            <a:p>
              <a:pPr marL="285750" indent="-285750">
                <a:buFont typeface="Courier New" panose="02070309020205020404" pitchFamily="49" charset="0"/>
                <a:buChar char="o"/>
              </a:pPr>
              <a:r>
                <a: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closer to</a:t>
              </a:r>
            </a:p>
            <a:p>
              <a:pPr marL="285750" indent="-285750">
                <a:buFont typeface="Courier New" panose="02070309020205020404" pitchFamily="49" charset="0"/>
                <a:buChar char="o"/>
              </a:pPr>
              <a:r>
                <a: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farther from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5BA2F3ED-B6CA-49BE-A722-2F2FBA5B0933}"/>
              </a:ext>
            </a:extLst>
          </p:cNvPr>
          <p:cNvGrpSpPr/>
          <p:nvPr/>
        </p:nvGrpSpPr>
        <p:grpSpPr>
          <a:xfrm>
            <a:off x="2129199" y="328700"/>
            <a:ext cx="8205702" cy="1444865"/>
            <a:chOff x="323274" y="3532984"/>
            <a:chExt cx="8205702" cy="1444865"/>
          </a:xfrm>
        </p:grpSpPr>
        <p:pic>
          <p:nvPicPr>
            <p:cNvPr id="17" name="Picture 16" descr="Chart&#10;&#10;Description automatically generated">
              <a:extLst>
                <a:ext uri="{FF2B5EF4-FFF2-40B4-BE49-F238E27FC236}">
                  <a16:creationId xmlns:a16="http://schemas.microsoft.com/office/drawing/2014/main" xmlns="" id="{8D5CB738-4DD0-470A-9E45-4548E744D1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11311" y="3532984"/>
              <a:ext cx="6324439" cy="1444865"/>
            </a:xfrm>
            <a:prstGeom prst="rect">
              <a:avLst/>
            </a:prstGeom>
          </p:spPr>
        </p:pic>
        <p:sp>
          <p:nvSpPr>
            <p:cNvPr id="18" name="Text Box 26">
              <a:extLst>
                <a:ext uri="{FF2B5EF4-FFF2-40B4-BE49-F238E27FC236}">
                  <a16:creationId xmlns:a16="http://schemas.microsoft.com/office/drawing/2014/main" xmlns="" id="{5F0E01F8-9807-4F6B-8BCC-C302410991B1}"/>
                </a:ext>
              </a:extLst>
            </p:cNvPr>
            <p:cNvSpPr txBox="1"/>
            <p:nvPr/>
          </p:nvSpPr>
          <p:spPr>
            <a:xfrm>
              <a:off x="323274" y="4422708"/>
              <a:ext cx="988037" cy="492776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WEST</a:t>
              </a:r>
              <a:endParaRPr lang="en-US" sz="20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 Box 27">
              <a:extLst>
                <a:ext uri="{FF2B5EF4-FFF2-40B4-BE49-F238E27FC236}">
                  <a16:creationId xmlns:a16="http://schemas.microsoft.com/office/drawing/2014/main" xmlns="" id="{47B80069-3BAB-4999-AB75-8CA6FB8FEA59}"/>
                </a:ext>
              </a:extLst>
            </p:cNvPr>
            <p:cNvSpPr txBox="1"/>
            <p:nvPr/>
          </p:nvSpPr>
          <p:spPr>
            <a:xfrm>
              <a:off x="7681251" y="4412021"/>
              <a:ext cx="847725" cy="444500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EAST</a:t>
              </a:r>
              <a:endParaRPr lang="en-US" sz="20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20014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69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7244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501332" y="302144"/>
                <a:ext cx="10661967" cy="55399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65137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Landon starts a lawn-mowing business to earn money. All of his profits are being saved for college.</a:t>
                </a:r>
              </a:p>
              <a:p>
                <a:pPr marL="465137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5137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5137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5137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5137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His father lends him a lawnmower to use for free, but he must pay for the gas and other supplies. For each lawn, his expenses are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$7.30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he earns an average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$40.00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this situation, revenue is represented with a		       value and 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 expense is represented by a 	                   value.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7937"/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  <a:p>
                <a:pPr lvl="0"/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32" y="302144"/>
                <a:ext cx="10661967" cy="5539978"/>
              </a:xfrm>
              <a:prstGeom prst="rect">
                <a:avLst/>
              </a:prstGeom>
              <a:blipFill>
                <a:blip r:embed="rId4"/>
                <a:stretch>
                  <a:fillRect l="-476" t="-688" r="-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678E1317-807C-7740-B1D0-C50F5186023D}"/>
              </a:ext>
            </a:extLst>
          </p:cNvPr>
          <p:cNvGrpSpPr/>
          <p:nvPr/>
        </p:nvGrpSpPr>
        <p:grpSpPr>
          <a:xfrm>
            <a:off x="2083526" y="1072242"/>
            <a:ext cx="6982097" cy="1063162"/>
            <a:chOff x="-429519" y="0"/>
            <a:chExt cx="7247494" cy="115508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8869BE70-CDEF-BA48-B7D7-0A0ACEF30EDC}"/>
                </a:ext>
              </a:extLst>
            </p:cNvPr>
            <p:cNvSpPr/>
            <p:nvPr/>
          </p:nvSpPr>
          <p:spPr>
            <a:xfrm>
              <a:off x="0" y="0"/>
              <a:ext cx="6817975" cy="90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120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xmlns="" id="{B345C062-8D11-E444-8674-3D3B1C748C76}"/>
                </a:ext>
              </a:extLst>
            </p:cNvPr>
            <p:cNvSpPr/>
            <p:nvPr/>
          </p:nvSpPr>
          <p:spPr>
            <a:xfrm>
              <a:off x="-429519" y="253382"/>
              <a:ext cx="7247494" cy="901700"/>
            </a:xfrm>
            <a:prstGeom prst="roundRect">
              <a:avLst>
                <a:gd name="adj" fmla="val 16667"/>
              </a:avLst>
            </a:prstGeom>
            <a:solidFill>
              <a:srgbClr val="E3EFD5"/>
            </a:solidFill>
            <a:ln w="12700" cap="flat" cmpd="sng">
              <a:solidFill>
                <a:srgbClr val="E3EFD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lnSpc>
                  <a:spcPct val="107000"/>
                </a:lnSpc>
              </a:pPr>
              <a:endParaRPr lang="en-US" sz="1800" b="1" i="1" dirty="0">
                <a:solidFill>
                  <a:srgbClr val="6C993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algn="ctr">
                <a:lnSpc>
                  <a:spcPct val="107000"/>
                </a:lnSpc>
              </a:pPr>
              <a:endParaRPr lang="en-US" sz="1800" b="1" i="1" dirty="0">
                <a:solidFill>
                  <a:srgbClr val="6C993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>
                <a:lnSpc>
                  <a:spcPct val="107000"/>
                </a:lnSpc>
              </a:pPr>
              <a:r>
                <a:rPr lang="en-US" sz="2000" b="1" i="1" dirty="0">
                  <a:solidFill>
                    <a:srgbClr val="6C993C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Profit</a:t>
              </a:r>
              <a:r>
                <a:rPr lang="en-US" sz="2000" b="1" dirty="0">
                  <a:solidFill>
                    <a:srgbClr val="6C993C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n-US" sz="2000" dirty="0">
                  <a:solidFill>
                    <a:srgbClr val="6C993C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is the difference between the amount earned (revenue) and the amount spent.</a:t>
              </a:r>
              <a:endPara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algn="ctr">
                <a:lnSpc>
                  <a:spcPct val="107000"/>
                </a:lnSpc>
              </a:pPr>
              <a:r>
                <a:rPr lang="en-US" sz="18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  <a:endParaRPr lang="en-US" sz="12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>
                <a:spcAft>
                  <a:spcPts val="1000"/>
                </a:spcAft>
              </a:pPr>
              <a:r>
                <a:rPr lang="en-US" sz="12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  <a:endParaRPr lang="en-US" sz="12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Rectangle: Rounded Corners 2">
            <a:extLst>
              <a:ext uri="{FF2B5EF4-FFF2-40B4-BE49-F238E27FC236}">
                <a16:creationId xmlns:a16="http://schemas.microsoft.com/office/drawing/2014/main" xmlns="" id="{7518CD32-4EC4-4A44-9E0E-25EB25F7B56C}"/>
              </a:ext>
            </a:extLst>
          </p:cNvPr>
          <p:cNvSpPr/>
          <p:nvPr/>
        </p:nvSpPr>
        <p:spPr>
          <a:xfrm>
            <a:off x="7660403" y="3552141"/>
            <a:ext cx="1586293" cy="627790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no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positive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negative</a:t>
            </a:r>
          </a:p>
        </p:txBody>
      </p:sp>
      <p:sp>
        <p:nvSpPr>
          <p:cNvPr id="16" name="Rectangle: Rounded Corners 2">
            <a:extLst>
              <a:ext uri="{FF2B5EF4-FFF2-40B4-BE49-F238E27FC236}">
                <a16:creationId xmlns:a16="http://schemas.microsoft.com/office/drawing/2014/main" xmlns="" id="{C7541BBC-3824-B84C-A49C-9055966D8D65}"/>
              </a:ext>
            </a:extLst>
          </p:cNvPr>
          <p:cNvSpPr/>
          <p:nvPr/>
        </p:nvSpPr>
        <p:spPr>
          <a:xfrm>
            <a:off x="5781469" y="4159938"/>
            <a:ext cx="1586293" cy="627790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no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positive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negative</a:t>
            </a:r>
          </a:p>
        </p:txBody>
      </p:sp>
    </p:spTree>
    <p:extLst>
      <p:ext uri="{BB962C8B-B14F-4D97-AF65-F5344CB8AC3E}">
        <p14:creationId xmlns:p14="http://schemas.microsoft.com/office/powerpoint/2010/main" val="372067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76" y="6170388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737150" y="6427463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522732" y="276045"/>
                <a:ext cx="11059668" cy="57554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 value to represent each situation.</a:t>
                </a: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an inequality symbol, &lt; or &gt;, to compare the absolute values of Landon’s expenses to revenue for each lawn he mows.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000" i="1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________</m:t>
                          </m:r>
                        </m:e>
                      </m:d>
                      <m:r>
                        <a:rPr lang="en-US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i="1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________</m:t>
                          </m:r>
                        </m:e>
                      </m:d>
                    </m:oMath>
                  </m:oMathPara>
                </a14:m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  <a:p>
                <a:endParaRPr lang="en-US" dirty="0"/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7937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7937"/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  <a:p>
                <a:pPr lvl="0"/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732" y="276045"/>
                <a:ext cx="11059668" cy="5755422"/>
              </a:xfrm>
              <a:prstGeom prst="rect">
                <a:avLst/>
              </a:prstGeom>
              <a:blipFill>
                <a:blip r:embed="rId4"/>
                <a:stretch>
                  <a:fillRect l="-573" t="-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8869BE70-CDEF-BA48-B7D7-0A0ACEF30EDC}"/>
              </a:ext>
            </a:extLst>
          </p:cNvPr>
          <p:cNvSpPr/>
          <p:nvPr/>
        </p:nvSpPr>
        <p:spPr>
          <a:xfrm>
            <a:off x="2497316" y="1072242"/>
            <a:ext cx="6568307" cy="829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16D33D57-E33D-BF4F-9FC4-61C4EAF6DB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721950"/>
              </p:ext>
            </p:extLst>
          </p:nvPr>
        </p:nvGraphicFramePr>
        <p:xfrm>
          <a:off x="3166856" y="1072242"/>
          <a:ext cx="5229225" cy="1276985"/>
        </p:xfrm>
        <a:graphic>
          <a:graphicData uri="http://schemas.openxmlformats.org/drawingml/2006/table">
            <a:tbl>
              <a:tblPr bandRow="1">
                <a:tableStyleId>{A91F0D33-8C57-4600-99A7-42BC86742BE1}</a:tableStyleId>
              </a:tblPr>
              <a:tblGrid>
                <a:gridCol w="2945962">
                  <a:extLst>
                    <a:ext uri="{9D8B030D-6E8A-4147-A177-3AD203B41FA5}">
                      <a16:colId xmlns:a16="http://schemas.microsoft.com/office/drawing/2014/main" xmlns="" val="516325593"/>
                    </a:ext>
                  </a:extLst>
                </a:gridCol>
                <a:gridCol w="2283263">
                  <a:extLst>
                    <a:ext uri="{9D8B030D-6E8A-4147-A177-3AD203B41FA5}">
                      <a16:colId xmlns:a16="http://schemas.microsoft.com/office/drawing/2014/main" xmlns="" val="2447489511"/>
                    </a:ext>
                  </a:extLst>
                </a:gridCol>
              </a:tblGrid>
              <a:tr h="48196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Landon’s Finances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Value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08812137"/>
                  </a:ext>
                </a:extLst>
              </a:tr>
              <a:tr h="39751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Expenses per lawn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100100803"/>
                  </a:ext>
                </a:extLst>
              </a:tr>
              <a:tr h="39751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Revenue per lawn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132537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5310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0776" y="6178128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762550" y="6435203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190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AE5E1E0-A54D-BE42-84B5-F917038ADE99}"/>
              </a:ext>
            </a:extLst>
          </p:cNvPr>
          <p:cNvSpPr txBox="1"/>
          <p:nvPr/>
        </p:nvSpPr>
        <p:spPr>
          <a:xfrm>
            <a:off x="116332" y="351234"/>
            <a:ext cx="11110468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49263">
              <a:buFont typeface="+mj-lt"/>
              <a:buAutoNum type="alphaLcPeriod" startAt="4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does the inequality show that Landon will make a profit?</a:t>
            </a:r>
          </a:p>
          <a:p>
            <a:pPr marL="457200" indent="-457200">
              <a:buFont typeface="+mj-lt"/>
              <a:buAutoNum type="alphaL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 startAt="4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make a profit, total expenses of a business must be 		             total </a:t>
            </a:r>
          </a:p>
          <a:p>
            <a:pPr marL="914400" indent="-449263">
              <a:buFont typeface="+mj-lt"/>
              <a:buAutoNum type="alphaL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7575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7575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revenue. A business is not profitable when the total			 </a:t>
            </a:r>
          </a:p>
          <a:p>
            <a:pPr marL="917575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7575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7575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greater than the   				 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13716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/>
            </a:pPr>
            <a:endParaRPr lang="en-US" sz="2000" dirty="0">
              <a:latin typeface="Cambria Math" panose="02040503050406030204" pitchFamily="18" charset="0"/>
              <a:ea typeface="Cambria Math" panose="02040503050406030204" pitchFamily="18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/>
            </a:pPr>
            <a:endParaRPr lang="en-US" sz="2000" dirty="0">
              <a:latin typeface="Cambria Math" panose="02040503050406030204" pitchFamily="18" charset="0"/>
              <a:ea typeface="Cambria Math" panose="02040503050406030204" pitchFamily="18" charset="0"/>
              <a:cs typeface="Verdana" panose="020B0604030504040204" pitchFamily="34" charset="0"/>
            </a:endParaRPr>
          </a:p>
          <a:p>
            <a:pPr lvl="0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8869BE70-CDEF-BA48-B7D7-0A0ACEF30EDC}"/>
              </a:ext>
            </a:extLst>
          </p:cNvPr>
          <p:cNvSpPr/>
          <p:nvPr/>
        </p:nvSpPr>
        <p:spPr>
          <a:xfrm>
            <a:off x="2497316" y="1072242"/>
            <a:ext cx="6568307" cy="829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8" name="Rectangle: Rounded Corners 2">
            <a:extLst>
              <a:ext uri="{FF2B5EF4-FFF2-40B4-BE49-F238E27FC236}">
                <a16:creationId xmlns:a16="http://schemas.microsoft.com/office/drawing/2014/main" xmlns="" id="{FCEDC192-BA8A-4541-8F27-EB13F325903B}"/>
              </a:ext>
            </a:extLst>
          </p:cNvPr>
          <p:cNvSpPr/>
          <p:nvPr/>
        </p:nvSpPr>
        <p:spPr>
          <a:xfrm>
            <a:off x="8224820" y="2294556"/>
            <a:ext cx="2110081" cy="657276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no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greater than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less than</a:t>
            </a:r>
          </a:p>
        </p:txBody>
      </p:sp>
      <p:sp>
        <p:nvSpPr>
          <p:cNvPr id="9" name="Rectangle: Rounded Corners 9">
            <a:extLst>
              <a:ext uri="{FF2B5EF4-FFF2-40B4-BE49-F238E27FC236}">
                <a16:creationId xmlns:a16="http://schemas.microsoft.com/office/drawing/2014/main" xmlns="" id="{C83248D6-ED2B-E843-BD90-BE40410CC9FB}"/>
              </a:ext>
            </a:extLst>
          </p:cNvPr>
          <p:cNvSpPr/>
          <p:nvPr/>
        </p:nvSpPr>
        <p:spPr>
          <a:xfrm>
            <a:off x="7859846" y="3087168"/>
            <a:ext cx="2193130" cy="704215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0" bIns="45700" anchor="ctr" anchorCtr="0">
            <a:noAutofit/>
          </a:bodyPr>
          <a:lstStyle/>
          <a:p>
            <a:pPr marL="342900" indent="-342900">
              <a:buSzPts val="2000"/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expenses are</a:t>
            </a:r>
          </a:p>
          <a:p>
            <a:pPr marL="342900" indent="-342900">
              <a:buSzPts val="2000"/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revenue is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xmlns="" id="{969547D4-FC80-FB4E-B806-6118C8544472}"/>
              </a:ext>
            </a:extLst>
          </p:cNvPr>
          <p:cNvSpPr/>
          <p:nvPr/>
        </p:nvSpPr>
        <p:spPr>
          <a:xfrm>
            <a:off x="3388098" y="4034606"/>
            <a:ext cx="1887219" cy="608962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SzPts val="2000"/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expenses.</a:t>
            </a:r>
          </a:p>
          <a:p>
            <a:pPr marL="342900" indent="-342900">
              <a:buSzPts val="2000"/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revenue. </a:t>
            </a:r>
          </a:p>
        </p:txBody>
      </p:sp>
    </p:spTree>
    <p:extLst>
      <p:ext uri="{BB962C8B-B14F-4D97-AF65-F5344CB8AC3E}">
        <p14:creationId xmlns:p14="http://schemas.microsoft.com/office/powerpoint/2010/main" val="244593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34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128558" y="2766150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7752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190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xmlns="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76414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270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10640" y="8351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4.11.3 Collaboration: Exploring Additional Contexts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70447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190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2016" y="23812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766920" y="1528790"/>
                <a:ext cx="10675780" cy="3176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 underwater cave has an elevation of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118</m:t>
                        </m:r>
                      </m:e>
                    </m:sPre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feet. Here are the descriptions of four people’s elevations in relation to the cave.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Clare’s elevation is a positive value. Clare is farther from sea level than the cave.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value of Andre’s elevation is smaller than the value of elevation of the cave. Andre is a farther distance from sea level than the cave.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Kiara’s elevation is greater than the elevation of the cave. Kiara is closer to sea level than the cave.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Lin’s elevation is the same distance away from sea level as the cave.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920" y="1528790"/>
                <a:ext cx="10675780" cy="3176767"/>
              </a:xfrm>
              <a:prstGeom prst="rect">
                <a:avLst/>
              </a:prstGeom>
              <a:blipFill>
                <a:blip r:embed="rId5"/>
                <a:stretch>
                  <a:fillRect l="-595" t="-1594" b="-2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670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807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749850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190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7264" y="461466"/>
                <a:ext cx="11098635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complete the following table.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</a:p>
              <a:p>
                <a:pPr marL="803275" indent="-338138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 possible elevation for each person based on the description. </a:t>
                </a:r>
              </a:p>
              <a:p>
                <a:pPr marL="803275" indent="-338138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 &lt;,  &gt;,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 =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compare the elevation of each person to the elevation of the cave. </a:t>
                </a:r>
              </a:p>
              <a:p>
                <a:pPr marL="803275" indent="-338138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absolute value to compare the distance each person is from sea level to the distance the cave is from sea level.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264" y="461466"/>
                <a:ext cx="11098635" cy="2554545"/>
              </a:xfrm>
              <a:prstGeom prst="rect">
                <a:avLst/>
              </a:prstGeom>
              <a:blipFill>
                <a:blip r:embed="rId4"/>
                <a:stretch>
                  <a:fillRect l="-686" t="-14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80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7498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190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AA35BC6-D428-FC41-BDE5-6438AB8840FC}"/>
              </a:ext>
            </a:extLst>
          </p:cNvPr>
          <p:cNvSpPr txBox="1"/>
          <p:nvPr/>
        </p:nvSpPr>
        <p:spPr>
          <a:xfrm>
            <a:off x="304614" y="317665"/>
            <a:ext cx="832713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first row has been completed for Clare.</a:t>
            </a: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="" id="{60DCB426-4F75-AE40-B562-416CC9D6315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3512754"/>
                  </p:ext>
                </p:extLst>
              </p:nvPr>
            </p:nvGraphicFramePr>
            <p:xfrm>
              <a:off x="2527882" y="984069"/>
              <a:ext cx="7136235" cy="2760619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1219910">
                      <a:extLst>
                        <a:ext uri="{9D8B030D-6E8A-4147-A177-3AD203B41FA5}">
                          <a16:colId xmlns:a16="http://schemas.microsoft.com/office/drawing/2014/main" xmlns="" val="1972679223"/>
                        </a:ext>
                      </a:extLst>
                    </a:gridCol>
                    <a:gridCol w="1761493">
                      <a:extLst>
                        <a:ext uri="{9D8B030D-6E8A-4147-A177-3AD203B41FA5}">
                          <a16:colId xmlns:a16="http://schemas.microsoft.com/office/drawing/2014/main" xmlns="" val="1229561272"/>
                        </a:ext>
                      </a:extLst>
                    </a:gridCol>
                    <a:gridCol w="1800562">
                      <a:extLst>
                        <a:ext uri="{9D8B030D-6E8A-4147-A177-3AD203B41FA5}">
                          <a16:colId xmlns:a16="http://schemas.microsoft.com/office/drawing/2014/main" xmlns="" val="222922572"/>
                        </a:ext>
                      </a:extLst>
                    </a:gridCol>
                    <a:gridCol w="2354270">
                      <a:extLst>
                        <a:ext uri="{9D8B030D-6E8A-4147-A177-3AD203B41FA5}">
                          <a16:colId xmlns:a16="http://schemas.microsoft.com/office/drawing/2014/main" xmlns="" val="2128452065"/>
                        </a:ext>
                      </a:extLst>
                    </a:gridCol>
                  </a:tblGrid>
                  <a:tr h="88948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Possible Elevation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Comparing Elevations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Comparison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764801940"/>
                      </a:ext>
                    </a:extLst>
                  </a:tr>
                  <a:tr h="46778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Clare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153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feet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153&gt;−118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|153|&gt;|−118|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4138452726"/>
                      </a:ext>
                    </a:extLst>
                  </a:tr>
                  <a:tr h="46778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Andre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257253985"/>
                      </a:ext>
                    </a:extLst>
                  </a:tr>
                  <a:tr h="46778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Kiara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66617532"/>
                      </a:ext>
                    </a:extLst>
                  </a:tr>
                  <a:tr h="46778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Lin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0393676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60DCB426-4F75-AE40-B562-416CC9D6315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3512754"/>
                  </p:ext>
                </p:extLst>
              </p:nvPr>
            </p:nvGraphicFramePr>
            <p:xfrm>
              <a:off x="2527882" y="984069"/>
              <a:ext cx="7136235" cy="2760619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1219910">
                      <a:extLst>
                        <a:ext uri="{9D8B030D-6E8A-4147-A177-3AD203B41FA5}">
                          <a16:colId xmlns:a16="http://schemas.microsoft.com/office/drawing/2014/main" val="1972679223"/>
                        </a:ext>
                      </a:extLst>
                    </a:gridCol>
                    <a:gridCol w="1761493">
                      <a:extLst>
                        <a:ext uri="{9D8B030D-6E8A-4147-A177-3AD203B41FA5}">
                          <a16:colId xmlns:a16="http://schemas.microsoft.com/office/drawing/2014/main" val="1229561272"/>
                        </a:ext>
                      </a:extLst>
                    </a:gridCol>
                    <a:gridCol w="1800562">
                      <a:extLst>
                        <a:ext uri="{9D8B030D-6E8A-4147-A177-3AD203B41FA5}">
                          <a16:colId xmlns:a16="http://schemas.microsoft.com/office/drawing/2014/main" val="222922572"/>
                        </a:ext>
                      </a:extLst>
                    </a:gridCol>
                    <a:gridCol w="2354270">
                      <a:extLst>
                        <a:ext uri="{9D8B030D-6E8A-4147-A177-3AD203B41FA5}">
                          <a16:colId xmlns:a16="http://schemas.microsoft.com/office/drawing/2014/main" val="2128452065"/>
                        </a:ext>
                      </a:extLst>
                    </a:gridCol>
                  </a:tblGrid>
                  <a:tr h="88948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Possible Elevation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Comparing Elevations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Comparison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64801940"/>
                      </a:ext>
                    </a:extLst>
                  </a:tr>
                  <a:tr h="46778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Clare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9784" t="-191892" r="-236691" b="-3162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6197" t="-191892" r="-131690" b="-3162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4324" t="-191892" r="-1081" b="-3162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8452726"/>
                      </a:ext>
                    </a:extLst>
                  </a:tr>
                  <a:tr h="46778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Andre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57253985"/>
                      </a:ext>
                    </a:extLst>
                  </a:tr>
                  <a:tr h="46778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Kiara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66617532"/>
                      </a:ext>
                    </a:extLst>
                  </a:tr>
                  <a:tr h="46778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Lin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393676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107592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191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AA35BC6-D428-FC41-BDE5-6438AB8840FC}"/>
              </a:ext>
            </a:extLst>
          </p:cNvPr>
          <p:cNvSpPr txBox="1"/>
          <p:nvPr/>
        </p:nvSpPr>
        <p:spPr>
          <a:xfrm>
            <a:off x="420264" y="385266"/>
            <a:ext cx="111494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49263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Priya says her elevation is less than the cave’s and she is closer to sea level. Is this possible? Explain your reasoning or draw a picture.</a:t>
            </a: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1349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8876" y="60990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11667" y="277019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xmlns="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59528" y="290197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EE3C8BB3-D8AE-154C-9B2D-B1D7451436FE}"/>
              </a:ext>
            </a:extLst>
          </p:cNvPr>
          <p:cNvSpPr txBox="1"/>
          <p:nvPr/>
        </p:nvSpPr>
        <p:spPr>
          <a:xfrm>
            <a:off x="8800650" y="63560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191</a:t>
            </a: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4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8076" y="6195026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xmlns="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262550" y="150326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4.11.4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xmlns="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5250" y="150326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F9486181-07A1-C74B-A129-E8949F43C159}"/>
              </a:ext>
            </a:extLst>
          </p:cNvPr>
          <p:cNvSpPr txBox="1"/>
          <p:nvPr/>
        </p:nvSpPr>
        <p:spPr>
          <a:xfrm>
            <a:off x="8696120" y="645767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191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515250" y="1257769"/>
                <a:ext cx="1085125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bank transaction occurs when money is passed between a person and the bank. Liliana has recently made two transactions at her bank. On Monday, she deposited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$127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into her bank account. A few days later, she withdrew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$140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from her account.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 value that could be used to represent each value in this situation.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250" y="1257769"/>
                <a:ext cx="10851250" cy="1938992"/>
              </a:xfrm>
              <a:prstGeom prst="rect">
                <a:avLst/>
              </a:prstGeom>
              <a:blipFill>
                <a:blip r:embed="rId5"/>
                <a:stretch>
                  <a:fillRect l="-584" t="-1299" r="-584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892210C6-6373-524D-AF67-C2CF44BBA9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6534381"/>
              </p:ext>
            </p:extLst>
          </p:nvPr>
        </p:nvGraphicFramePr>
        <p:xfrm>
          <a:off x="3729037" y="3661240"/>
          <a:ext cx="4733926" cy="1826895"/>
        </p:xfrm>
        <a:graphic>
          <a:graphicData uri="http://schemas.openxmlformats.org/drawingml/2006/table">
            <a:tbl>
              <a:tblPr bandRow="1">
                <a:tableStyleId>{A91F0D33-8C57-4600-99A7-42BC86742BE1}</a:tableStyleId>
              </a:tblPr>
              <a:tblGrid>
                <a:gridCol w="2366963">
                  <a:extLst>
                    <a:ext uri="{9D8B030D-6E8A-4147-A177-3AD203B41FA5}">
                      <a16:colId xmlns:a16="http://schemas.microsoft.com/office/drawing/2014/main" xmlns="" val="1347998455"/>
                    </a:ext>
                  </a:extLst>
                </a:gridCol>
                <a:gridCol w="2366963">
                  <a:extLst>
                    <a:ext uri="{9D8B030D-6E8A-4147-A177-3AD203B41FA5}">
                      <a16:colId xmlns:a16="http://schemas.microsoft.com/office/drawing/2014/main" xmlns="" val="953745891"/>
                    </a:ext>
                  </a:extLst>
                </a:gridCol>
              </a:tblGrid>
              <a:tr h="64452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Liliana’s Bank Transaction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Value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76197757"/>
                  </a:ext>
                </a:extLst>
              </a:tr>
              <a:tr h="59118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Deposit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600703958"/>
                  </a:ext>
                </a:extLst>
              </a:tr>
              <a:tr h="59118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Withdrawal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973265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2670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997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711750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191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249900" y="436573"/>
                <a:ext cx="10938800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22337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an inequality symbol, &lt; or &gt;, to compare the absolute values of Liliana’s transactions.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algn="ctr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________</m:t>
                        </m:r>
                      </m:e>
                    </m:d>
                  </m:oMath>
                </a14:m>
                <a:r>
                  <a:rPr lang="en-US" sz="20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___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________</m:t>
                        </m:r>
                      </m:e>
                    </m:d>
                  </m:oMath>
                </a14:m>
                <a:endParaRPr lang="en-US" sz="2000" i="1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does this inequality statement indicate about the amount of money in Liliana’s bank account after she made both transactions?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900" y="436573"/>
                <a:ext cx="10938800" cy="2554545"/>
              </a:xfrm>
              <a:prstGeom prst="rect">
                <a:avLst/>
              </a:prstGeom>
              <a:blipFill>
                <a:blip r:embed="rId4"/>
                <a:stretch>
                  <a:fillRect t="-1485" b="-3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36146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300" y="6190318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679074" y="6447393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192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471932" y="454781"/>
                <a:ext cx="10945368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 octopus is 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47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feet below sea level at the same time a dolphin is at 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108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feet below sea level.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 value to describe the position of each sea animal relative to sea level.</a:t>
                </a: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an inequality symbol, &lt; or &gt;, to write an inequality comparing the distance each sea animal is from sea level.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algn="ctr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_________</m:t>
                        </m:r>
                      </m:e>
                    </m:d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___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_________</m:t>
                        </m:r>
                      </m:e>
                    </m:d>
                  </m:oMath>
                </a14:m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932" y="454781"/>
                <a:ext cx="10945368" cy="5632311"/>
              </a:xfrm>
              <a:prstGeom prst="rect">
                <a:avLst/>
              </a:prstGeom>
              <a:blipFill>
                <a:blip r:embed="rId4"/>
                <a:stretch>
                  <a:fillRect l="-463" t="-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8EA5E3A9-713E-6C4F-B5E6-3F019CA7D7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535351"/>
              </p:ext>
            </p:extLst>
          </p:nvPr>
        </p:nvGraphicFramePr>
        <p:xfrm>
          <a:off x="3535229" y="2211636"/>
          <a:ext cx="3867056" cy="889745"/>
        </p:xfrm>
        <a:graphic>
          <a:graphicData uri="http://schemas.openxmlformats.org/drawingml/2006/table">
            <a:tbl>
              <a:tblPr bandRow="1">
                <a:tableStyleId>{A91F0D33-8C57-4600-99A7-42BC86742BE1}</a:tableStyleId>
              </a:tblPr>
              <a:tblGrid>
                <a:gridCol w="1933528">
                  <a:extLst>
                    <a:ext uri="{9D8B030D-6E8A-4147-A177-3AD203B41FA5}">
                      <a16:colId xmlns:a16="http://schemas.microsoft.com/office/drawing/2014/main" xmlns="" val="2603625918"/>
                    </a:ext>
                  </a:extLst>
                </a:gridCol>
                <a:gridCol w="1933528">
                  <a:extLst>
                    <a:ext uri="{9D8B030D-6E8A-4147-A177-3AD203B41FA5}">
                      <a16:colId xmlns:a16="http://schemas.microsoft.com/office/drawing/2014/main" xmlns="" val="4154888192"/>
                    </a:ext>
                  </a:extLst>
                </a:gridCol>
              </a:tblGrid>
              <a:tr h="34331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Octopus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Dolphin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42307306"/>
                  </a:ext>
                </a:extLst>
              </a:tr>
              <a:tr h="54643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984961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24424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374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34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7752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192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08C67FCF-92C3-654A-BF40-5BDF7A4F9271}"/>
              </a:ext>
            </a:extLst>
          </p:cNvPr>
          <p:cNvSpPr txBox="1"/>
          <p:nvPr/>
        </p:nvSpPr>
        <p:spPr>
          <a:xfrm>
            <a:off x="111974" y="385774"/>
            <a:ext cx="1126722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49263">
              <a:buFont typeface="+mj-lt"/>
              <a:buAutoNum type="alphaL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does this inequality statement indicate about the locations of each sea animal?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8818631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30925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7625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192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07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855625" y="276615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4619" y="292074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7244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192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243100" y="77925"/>
            <a:ext cx="9996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4.11.5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524" y="3671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370EDB7-6994-3D43-ABF9-E04CBAFB9CD9}"/>
              </a:ext>
            </a:extLst>
          </p:cNvPr>
          <p:cNvSpPr txBox="1"/>
          <p:nvPr/>
        </p:nvSpPr>
        <p:spPr>
          <a:xfrm>
            <a:off x="768174" y="1439550"/>
            <a:ext cx="97474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table shows the elevation, in meters (m), of five locations.  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="" id="{BDA7DCE0-BA35-F346-A857-F9BE3CD4A3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63483614"/>
                  </p:ext>
                </p:extLst>
              </p:nvPr>
            </p:nvGraphicFramePr>
            <p:xfrm>
              <a:off x="2735626" y="2183361"/>
              <a:ext cx="6111875" cy="19177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998595">
                      <a:extLst>
                        <a:ext uri="{9D8B030D-6E8A-4147-A177-3AD203B41FA5}">
                          <a16:colId xmlns:a16="http://schemas.microsoft.com/office/drawing/2014/main" xmlns="" val="1781105717"/>
                        </a:ext>
                      </a:extLst>
                    </a:gridCol>
                    <a:gridCol w="2113280">
                      <a:extLst>
                        <a:ext uri="{9D8B030D-6E8A-4147-A177-3AD203B41FA5}">
                          <a16:colId xmlns:a16="http://schemas.microsoft.com/office/drawing/2014/main" xmlns="" val="4283340940"/>
                        </a:ext>
                      </a:extLst>
                    </a:gridCol>
                  </a:tblGrid>
                  <a:tr h="3937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Location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Elevation (m)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334282152"/>
                      </a:ext>
                    </a:extLst>
                  </a:tr>
                  <a:tr h="18161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Vpadina Kaundy, Kazakhstan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Pre>
                                  <m:sPre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132</m:t>
                                    </m:r>
                                  </m:e>
                                </m:sPre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4010793597"/>
                      </a:ext>
                    </a:extLst>
                  </a:tr>
                  <a:tr h="18161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Laguna del Carbón, Argentina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Pre>
                                  <m:sPre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105</m:t>
                                    </m:r>
                                  </m:e>
                                </m:sPre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811432381"/>
                      </a:ext>
                    </a:extLst>
                  </a:tr>
                  <a:tr h="18161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Zuidplaspolder, Netherlands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Pre>
                                  <m:sPre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7</m:t>
                                    </m:r>
                                  </m:e>
                                </m:sPre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298431360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Fort Myers, Florida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599870380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Britton Hill, Lakewood, Florida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105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8057193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BDA7DCE0-BA35-F346-A857-F9BE3CD4A3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63483614"/>
                  </p:ext>
                </p:extLst>
              </p:nvPr>
            </p:nvGraphicFramePr>
            <p:xfrm>
              <a:off x="2735626" y="2183361"/>
              <a:ext cx="6111875" cy="1937512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998595">
                      <a:extLst>
                        <a:ext uri="{9D8B030D-6E8A-4147-A177-3AD203B41FA5}">
                          <a16:colId xmlns:a16="http://schemas.microsoft.com/office/drawing/2014/main" val="1781105717"/>
                        </a:ext>
                      </a:extLst>
                    </a:gridCol>
                    <a:gridCol w="2113280">
                      <a:extLst>
                        <a:ext uri="{9D8B030D-6E8A-4147-A177-3AD203B41FA5}">
                          <a16:colId xmlns:a16="http://schemas.microsoft.com/office/drawing/2014/main" val="4283340940"/>
                        </a:ext>
                      </a:extLst>
                    </a:gridCol>
                  </a:tblGrid>
                  <a:tr h="3937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Location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Elevation (m)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4282152"/>
                      </a:ext>
                    </a:extLst>
                  </a:tr>
                  <a:tr h="31140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 err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Vpadina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r>
                            <a:rPr lang="en-US" sz="2000" dirty="0" err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Kaundy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Kazakhstan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9625" t="-139216" r="-576" b="-4450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0793597"/>
                      </a:ext>
                    </a:extLst>
                  </a:tr>
                  <a:tr h="31140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Laguna del Carbón, Argentina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9625" t="-239216" r="-576" b="-3450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11432381"/>
                      </a:ext>
                    </a:extLst>
                  </a:tr>
                  <a:tr h="31140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Zuidplaspolder, Netherlands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9625" t="-339216" r="-576" b="-2450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843136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Fort Myers, Florida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9625" t="-448000" r="-576" b="-1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9987038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Britton Hill, Lakewood, Florida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105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057193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91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6609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192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4CE9D117-FAE6-F74F-940B-9CD1479755BE}"/>
                  </a:ext>
                </a:extLst>
              </p:cNvPr>
              <p:cNvSpPr txBox="1"/>
              <p:nvPr/>
            </p:nvSpPr>
            <p:spPr>
              <a:xfrm>
                <a:off x="223200" y="436146"/>
                <a:ext cx="106353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For each pair, use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 &lt; ,  &gt; ,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or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to compare their distances from sea level.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CE9D117-FAE6-F74F-940B-9CD147975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200" y="436146"/>
                <a:ext cx="10635300" cy="400110"/>
              </a:xfrm>
              <a:prstGeom prst="rect">
                <a:avLst/>
              </a:prstGeom>
              <a:blipFill>
                <a:blip r:embed="rId4"/>
                <a:stretch>
                  <a:fillRect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="" id="{2E73DB27-8BB8-114F-957B-6E43D8F906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8596350"/>
                  </p:ext>
                </p:extLst>
              </p:nvPr>
            </p:nvGraphicFramePr>
            <p:xfrm>
              <a:off x="2131878" y="1280627"/>
              <a:ext cx="6731635" cy="70612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4514850">
                      <a:extLst>
                        <a:ext uri="{9D8B030D-6E8A-4147-A177-3AD203B41FA5}">
                          <a16:colId xmlns:a16="http://schemas.microsoft.com/office/drawing/2014/main" xmlns="" val="2983539479"/>
                        </a:ext>
                      </a:extLst>
                    </a:gridCol>
                    <a:gridCol w="2216785">
                      <a:extLst>
                        <a:ext uri="{9D8B030D-6E8A-4147-A177-3AD203B41FA5}">
                          <a16:colId xmlns:a16="http://schemas.microsoft.com/office/drawing/2014/main" xmlns="" val="2100467828"/>
                        </a:ext>
                      </a:extLst>
                    </a:gridCol>
                  </a:tblGrid>
                  <a:tr h="35496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 err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Zuidplaspolder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Netherlands</a:t>
                          </a:r>
                        </a:p>
                      </a:txBody>
                      <a:tcPr marL="68580" marR="68580" marT="0" marB="0" anchor="ctr"/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_______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i="1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___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_______</m:t>
                                  </m:r>
                                </m:e>
                              </m:d>
                            </m:oMath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xmlns="" val="1438498939"/>
                      </a:ext>
                    </a:extLst>
                  </a:tr>
                  <a:tr h="35115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Fort Myers, Florida</a:t>
                          </a: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783003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E73DB27-8BB8-114F-957B-6E43D8F906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8596350"/>
                  </p:ext>
                </p:extLst>
              </p:nvPr>
            </p:nvGraphicFramePr>
            <p:xfrm>
              <a:off x="2131878" y="1280627"/>
              <a:ext cx="6731635" cy="70612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4514850">
                      <a:extLst>
                        <a:ext uri="{9D8B030D-6E8A-4147-A177-3AD203B41FA5}">
                          <a16:colId xmlns:a16="http://schemas.microsoft.com/office/drawing/2014/main" val="2983539479"/>
                        </a:ext>
                      </a:extLst>
                    </a:gridCol>
                    <a:gridCol w="2216785">
                      <a:extLst>
                        <a:ext uri="{9D8B030D-6E8A-4147-A177-3AD203B41FA5}">
                          <a16:colId xmlns:a16="http://schemas.microsoft.com/office/drawing/2014/main" val="2100467828"/>
                        </a:ext>
                      </a:extLst>
                    </a:gridCol>
                  </a:tblGrid>
                  <a:tr h="35496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 err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Zuidplaspolder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Netherlands</a:t>
                          </a:r>
                        </a:p>
                      </a:txBody>
                      <a:tcPr marL="68580" marR="68580" marT="0" marB="0" anchor="ctr"/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203429" t="-7018" r="-571" b="-192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8939"/>
                      </a:ext>
                    </a:extLst>
                  </a:tr>
                  <a:tr h="35115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Fort Myers, Florida</a:t>
                          </a: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30034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="" id="{9DBA8767-01E0-2746-8BA4-8727A8CFB8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99648722"/>
                  </p:ext>
                </p:extLst>
              </p:nvPr>
            </p:nvGraphicFramePr>
            <p:xfrm>
              <a:off x="2131878" y="2311065"/>
              <a:ext cx="6683375" cy="6096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4457700">
                      <a:extLst>
                        <a:ext uri="{9D8B030D-6E8A-4147-A177-3AD203B41FA5}">
                          <a16:colId xmlns:a16="http://schemas.microsoft.com/office/drawing/2014/main" xmlns="" val="4087496308"/>
                        </a:ext>
                      </a:extLst>
                    </a:gridCol>
                    <a:gridCol w="2225675">
                      <a:extLst>
                        <a:ext uri="{9D8B030D-6E8A-4147-A177-3AD203B41FA5}">
                          <a16:colId xmlns:a16="http://schemas.microsoft.com/office/drawing/2014/main" xmlns="" val="1573196443"/>
                        </a:ext>
                      </a:extLst>
                    </a:gridCol>
                  </a:tblGrid>
                  <a:tr h="30099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Britton Hill, Lakewood, Florida</a:t>
                          </a:r>
                        </a:p>
                      </a:txBody>
                      <a:tcPr marL="68580" marR="68580" marT="0" marB="0" anchor="ctr"/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_______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i="1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___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_______</m:t>
                                  </m:r>
                                </m:e>
                              </m:d>
                            </m:oMath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xmlns="" val="2744535355"/>
                      </a:ext>
                    </a:extLst>
                  </a:tr>
                  <a:tr h="29781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Laguna del </a:t>
                          </a:r>
                          <a:r>
                            <a:rPr lang="en-US" sz="2000" dirty="0" err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Carbón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Argentina</a:t>
                          </a: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329453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9DBA8767-01E0-2746-8BA4-8727A8CFB8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99648722"/>
                  </p:ext>
                </p:extLst>
              </p:nvPr>
            </p:nvGraphicFramePr>
            <p:xfrm>
              <a:off x="2131878" y="2311065"/>
              <a:ext cx="6683375" cy="6096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4457700">
                      <a:extLst>
                        <a:ext uri="{9D8B030D-6E8A-4147-A177-3AD203B41FA5}">
                          <a16:colId xmlns:a16="http://schemas.microsoft.com/office/drawing/2014/main" val="4087496308"/>
                        </a:ext>
                      </a:extLst>
                    </a:gridCol>
                    <a:gridCol w="2225675">
                      <a:extLst>
                        <a:ext uri="{9D8B030D-6E8A-4147-A177-3AD203B41FA5}">
                          <a16:colId xmlns:a16="http://schemas.microsoft.com/office/drawing/2014/main" val="157319644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Britton Hill, Lakewood, Florida</a:t>
                          </a:r>
                        </a:p>
                      </a:txBody>
                      <a:tcPr marL="68580" marR="68580" marT="0" marB="0" anchor="ctr"/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6"/>
                          <a:stretch>
                            <a:fillRect l="-200000" t="-12245" r="-568" b="-265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4453535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Laguna del </a:t>
                          </a:r>
                          <a:r>
                            <a:rPr lang="en-US" sz="2000" dirty="0" err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Carbón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Argentina</a:t>
                          </a: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294535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xmlns="" id="{D11852F0-BF4F-A145-AA15-270268EE32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98512144"/>
                  </p:ext>
                </p:extLst>
              </p:nvPr>
            </p:nvGraphicFramePr>
            <p:xfrm>
              <a:off x="2128068" y="3234189"/>
              <a:ext cx="6687185" cy="616585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4457700">
                      <a:extLst>
                        <a:ext uri="{9D8B030D-6E8A-4147-A177-3AD203B41FA5}">
                          <a16:colId xmlns:a16="http://schemas.microsoft.com/office/drawing/2014/main" xmlns="" val="4240194153"/>
                        </a:ext>
                      </a:extLst>
                    </a:gridCol>
                    <a:gridCol w="2229485">
                      <a:extLst>
                        <a:ext uri="{9D8B030D-6E8A-4147-A177-3AD203B41FA5}">
                          <a16:colId xmlns:a16="http://schemas.microsoft.com/office/drawing/2014/main" xmlns="" val="2466078920"/>
                        </a:ext>
                      </a:extLst>
                    </a:gridCol>
                  </a:tblGrid>
                  <a:tr h="3098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Laguna del </a:t>
                          </a:r>
                          <a:r>
                            <a:rPr lang="en-US" sz="2000" dirty="0" err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Carbón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Argentina</a:t>
                          </a:r>
                        </a:p>
                      </a:txBody>
                      <a:tcPr marL="68580" marR="68580" marT="0" marB="0" anchor="ctr"/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_______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___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_______</m:t>
                                  </m:r>
                                </m:e>
                              </m:d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xmlns="" val="899300726"/>
                      </a:ext>
                    </a:extLst>
                  </a:tr>
                  <a:tr h="30670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Vpadina Kaundy, Kazakhstan</a:t>
                          </a: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12665627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D11852F0-BF4F-A145-AA15-270268EE32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98512144"/>
                  </p:ext>
                </p:extLst>
              </p:nvPr>
            </p:nvGraphicFramePr>
            <p:xfrm>
              <a:off x="2128068" y="3234189"/>
              <a:ext cx="6687185" cy="616585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4457700">
                      <a:extLst>
                        <a:ext uri="{9D8B030D-6E8A-4147-A177-3AD203B41FA5}">
                          <a16:colId xmlns:a16="http://schemas.microsoft.com/office/drawing/2014/main" val="4240194153"/>
                        </a:ext>
                      </a:extLst>
                    </a:gridCol>
                    <a:gridCol w="2229485">
                      <a:extLst>
                        <a:ext uri="{9D8B030D-6E8A-4147-A177-3AD203B41FA5}">
                          <a16:colId xmlns:a16="http://schemas.microsoft.com/office/drawing/2014/main" val="2466078920"/>
                        </a:ext>
                      </a:extLst>
                    </a:gridCol>
                  </a:tblGrid>
                  <a:tr h="3098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Laguna del </a:t>
                          </a:r>
                          <a:r>
                            <a:rPr lang="en-US" sz="2000" dirty="0" err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Carbón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Argentina</a:t>
                          </a:r>
                        </a:p>
                      </a:txBody>
                      <a:tcPr marL="68580" marR="68580" marT="0" marB="0" anchor="ctr"/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7"/>
                          <a:stretch>
                            <a:fillRect l="-200000" t="-12000" r="-568" b="-2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99300726"/>
                      </a:ext>
                    </a:extLst>
                  </a:tr>
                  <a:tr h="30670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 err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Vpadina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r>
                            <a:rPr lang="en-US" sz="2000" dirty="0" err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Kaundy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Kazakhstan</a:t>
                          </a: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665627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2339640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A71AFB6E4EB4AB3FD645FC79B11BE" ma:contentTypeVersion="14" ma:contentTypeDescription="Create a new document." ma:contentTypeScope="" ma:versionID="c6de188039f2115276cd22936a35b493">
  <xsd:schema xmlns:xsd="http://www.w3.org/2001/XMLSchema" xmlns:xs="http://www.w3.org/2001/XMLSchema" xmlns:p="http://schemas.microsoft.com/office/2006/metadata/properties" xmlns:ns2="c8f36ed4-5234-49bf-a7f7-5f171c3a2f56" xmlns:ns3="aecc3118-db6a-47b0-8115-3eb3ee12f279" targetNamespace="http://schemas.microsoft.com/office/2006/metadata/properties" ma:root="true" ma:fieldsID="3d1530f6c55cd2fbfcc1e1abc0d9cffe" ns2:_="" ns3:_="">
    <xsd:import namespace="c8f36ed4-5234-49bf-a7f7-5f171c3a2f56"/>
    <xsd:import namespace="aecc3118-db6a-47b0-8115-3eb3ee12f2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f36ed4-5234-49bf-a7f7-5f171c3a2f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125260-8dc9-4871-9a4d-e9e8d429e3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cc3118-db6a-47b0-8115-3eb3ee12f27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b4dde3-b3bf-4934-b5d8-236f7d7596ba}" ma:internalName="TaxCatchAll" ma:showField="CatchAllData" ma:web="aecc3118-db6a-47b0-8115-3eb3ee12f2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f36ed4-5234-49bf-a7f7-5f171c3a2f56">
      <Terms xmlns="http://schemas.microsoft.com/office/infopath/2007/PartnerControls"/>
    </lcf76f155ced4ddcb4097134ff3c332f>
    <TaxCatchAll xmlns="aecc3118-db6a-47b0-8115-3eb3ee12f279" xsi:nil="true"/>
  </documentManagement>
</p:properties>
</file>

<file path=customXml/itemProps1.xml><?xml version="1.0" encoding="utf-8"?>
<ds:datastoreItem xmlns:ds="http://schemas.openxmlformats.org/officeDocument/2006/customXml" ds:itemID="{4832C305-670A-4133-A05C-0A00DA7EC77E}"/>
</file>

<file path=customXml/itemProps2.xml><?xml version="1.0" encoding="utf-8"?>
<ds:datastoreItem xmlns:ds="http://schemas.openxmlformats.org/officeDocument/2006/customXml" ds:itemID="{33D5C34F-DDB5-4A40-9AF8-EE8D07CAB309}"/>
</file>

<file path=customXml/itemProps3.xml><?xml version="1.0" encoding="utf-8"?>
<ds:datastoreItem xmlns:ds="http://schemas.openxmlformats.org/officeDocument/2006/customXml" ds:itemID="{CDD8F230-4F33-40CD-A7B0-2D608E528542}"/>
</file>

<file path=docProps/app.xml><?xml version="1.0" encoding="utf-8"?>
<Properties xmlns="http://schemas.openxmlformats.org/officeDocument/2006/extended-properties" xmlns:vt="http://schemas.openxmlformats.org/officeDocument/2006/docPropsVTypes">
  <TotalTime>1366</TotalTime>
  <Words>966</Words>
  <Application>Microsoft Office PowerPoint</Application>
  <PresentationFormat>Custom</PresentationFormat>
  <Paragraphs>304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Arial</vt:lpstr>
      <vt:lpstr>Verdana</vt:lpstr>
      <vt:lpstr>Calibri</vt:lpstr>
      <vt:lpstr>Courier New</vt:lpstr>
      <vt:lpstr>Times New Roman</vt:lpstr>
      <vt:lpstr>Century Gothic</vt:lpstr>
      <vt:lpstr>Cambria Math</vt:lpstr>
      <vt:lpstr>Cambria</vt:lpstr>
      <vt:lpstr>Arial Black</vt:lpstr>
      <vt:lpstr>1_Office Theme</vt:lpstr>
      <vt:lpstr>6th Grade Math  Unit 4, Lesson 11  Interpreting and Comparing Absolute Values in the Real World  Volume 1, pg. 188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Sensei</cp:lastModifiedBy>
  <cp:revision>20</cp:revision>
  <dcterms:created xsi:type="dcterms:W3CDTF">2015-03-17T18:51:18Z</dcterms:created>
  <dcterms:modified xsi:type="dcterms:W3CDTF">2022-07-08T01:49:25Z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0x01010045BA71AFB6E4EB4AB3FD645FC79B11BE</vt:lpwstr>
  </property>
</Properties>
</file>