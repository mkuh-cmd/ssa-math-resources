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289" r:id="rId11"/>
    <p:sldId id="290" r:id="rId12"/>
    <p:sldId id="308" r:id="rId13"/>
    <p:sldId id="323" r:id="rId14"/>
    <p:sldId id="324" r:id="rId15"/>
    <p:sldId id="325" r:id="rId16"/>
    <p:sldId id="302" r:id="rId17"/>
    <p:sldId id="303" r:id="rId18"/>
    <p:sldId id="309" r:id="rId19"/>
    <p:sldId id="306" r:id="rId20"/>
    <p:sldId id="307" r:id="rId21"/>
  </p:sldIdLst>
  <p:sldSz cx="12192000" cy="6858000"/>
  <p:notesSz cx="6858000" cy="9144000"/>
  <p:embeddedFontLs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Century Gothic" pitchFamily="34" charset="0"/>
      <p:regular r:id="rId27"/>
      <p:bold r:id="rId28"/>
      <p:italic r:id="rId29"/>
      <p:boldItalic r:id="rId30"/>
    </p:embeddedFont>
    <p:embeddedFont>
      <p:font typeface="Cambria Math" pitchFamily="18" charset="0"/>
      <p:regular r:id="rId31"/>
    </p:embeddedFont>
    <p:embeddedFont>
      <p:font typeface="Arial Black" pitchFamily="34" charset="0"/>
      <p:bold r:id="rId32"/>
    </p:embeddedFont>
    <p:embeddedFont>
      <p:font typeface="Verdana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13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-336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216739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tiff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tiff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tiff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0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tiff"/><Relationship Id="rId5" Type="http://schemas.openxmlformats.org/officeDocument/2006/relationships/image" Target="../media/image280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tiff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tiff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tiff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Absolute Value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174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4380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02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28549" y="1538555"/>
            <a:ext cx="1086069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MA.6.NSO.1.3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</a:t>
            </a:r>
            <a:b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real-world context, interpret the absolute value of a number as the distance from zero on a number line. Find the absolute value of rational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104948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89910" y="1455367"/>
            <a:ext cx="106301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0450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5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48063" y="1507732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find the absolute value of a rational number.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23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528" y="287933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0450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93248" y="1394250"/>
            <a:ext cx="8327136" cy="861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Would you rather have Pile A or Pile B? Justify your reasoning. </a:t>
            </a:r>
            <a:endParaRPr lang="en-PH" sz="2400" dirty="0">
              <a:latin typeface="Calibri"/>
              <a:ea typeface="Times New Roman"/>
              <a:cs typeface="Times New Roman"/>
            </a:endParaRPr>
          </a:p>
        </p:txBody>
      </p:sp>
      <p:pic>
        <p:nvPicPr>
          <p:cNvPr id="9" name="Picture 8" descr="American coins (also a jigsaw puzzle )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2308" y="2465048"/>
            <a:ext cx="3648247" cy="27263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843022"/>
              </p:ext>
            </p:extLst>
          </p:nvPr>
        </p:nvGraphicFramePr>
        <p:xfrm>
          <a:off x="6096000" y="2465048"/>
          <a:ext cx="3600000" cy="2700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Pile A</a:t>
                      </a:r>
                      <a:endParaRPr lang="en-PH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Pile B</a:t>
                      </a:r>
                      <a:endParaRPr lang="en-PH" sz="12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14 pennies</a:t>
                      </a:r>
                      <a:endParaRPr lang="en-PH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2 pennies</a:t>
                      </a:r>
                      <a:endParaRPr lang="en-PH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7 nickels</a:t>
                      </a:r>
                      <a:endParaRPr lang="en-PH" sz="12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4 nickels</a:t>
                      </a:r>
                      <a:endParaRPr lang="en-PH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2 dimes</a:t>
                      </a:r>
                      <a:endParaRPr lang="en-PH" sz="12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2 dimes</a:t>
                      </a:r>
                      <a:endParaRPr lang="en-PH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1 quarter</a:t>
                      </a:r>
                      <a:endParaRPr lang="en-PH" sz="12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2 quarters</a:t>
                      </a:r>
                      <a:endParaRPr lang="en-PH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79422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5506" y="620882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14310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7280" y="646590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00913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4.8.2 Exploration: Jumping Bugs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19253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006276" cy="4929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A bug is jumping around on the number line. His home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. Use a cut out of the bug to answer the following questions about the bug’s location. </a:t>
                </a:r>
              </a:p>
              <a:p>
                <a:endParaRPr lang="en-US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800"/>
                  </a:spcAft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1200"/>
                  </a:spcAft>
                  <a:buSzPts val="1800"/>
                  <a:buFont typeface="Verdana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The bug starts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and jumps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units to the right.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742950" lvl="1" indent="-285750">
                  <a:lnSpc>
                    <a:spcPct val="107000"/>
                  </a:lnSpc>
                  <a:spcAft>
                    <a:spcPts val="1200"/>
                  </a:spcAft>
                  <a:buSzPts val="1800"/>
                  <a:buFont typeface="Verdana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What is the bug’s new location?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742950" lvl="1" indent="-285750">
                  <a:lnSpc>
                    <a:spcPct val="107000"/>
                  </a:lnSpc>
                  <a:buSzPts val="1800"/>
                  <a:buFont typeface="Verdana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How far away from home is the bug?</a:t>
                </a:r>
              </a:p>
              <a:p>
                <a:pPr marL="742950" lvl="1" indent="-285750">
                  <a:lnSpc>
                    <a:spcPct val="107000"/>
                  </a:lnSpc>
                  <a:buSzPts val="1800"/>
                  <a:buFont typeface="Verdana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1" indent="-452438">
                  <a:lnSpc>
                    <a:spcPct val="107000"/>
                  </a:lnSpc>
                  <a:buSzPts val="1800"/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</a:t>
                </a:r>
              </a:p>
              <a:p>
                <a:pPr marL="914400" lvl="1" indent="-457200">
                  <a:lnSpc>
                    <a:spcPct val="107000"/>
                  </a:lnSpc>
                  <a:spcAft>
                    <a:spcPts val="1200"/>
                  </a:spcAft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If the bug starts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and jumps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units to the left, what is the bug’s new location?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lvl="1" indent="-457200">
                  <a:lnSpc>
                    <a:spcPct val="107000"/>
                  </a:lnSpc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How far away from home is the bug?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006276" cy="4929106"/>
              </a:xfrm>
              <a:prstGeom prst="rect">
                <a:avLst/>
              </a:prstGeom>
              <a:blipFill>
                <a:blip r:embed="rId5"/>
                <a:stretch>
                  <a:fillRect l="-576" t="-513" r="-1037"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191051" y="2209518"/>
            <a:ext cx="8247905" cy="984466"/>
            <a:chOff x="615679" y="2882900"/>
            <a:chExt cx="8247905" cy="984466"/>
          </a:xfrm>
        </p:grpSpPr>
        <p:pic>
          <p:nvPicPr>
            <p:cNvPr id="11" name="Picture 10" descr="A picture containing rectangle&#10;&#10;Description automatically generated"/>
            <p:cNvPicPr/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3666" b="27816"/>
            <a:stretch/>
          </p:blipFill>
          <p:spPr bwMode="auto">
            <a:xfrm>
              <a:off x="615679" y="3454558"/>
              <a:ext cx="8247905" cy="41280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 descr="A picture containing seat&#10;&#10;Description automatically generated"/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161" y="3027045"/>
              <a:ext cx="814310" cy="427513"/>
            </a:xfrm>
            <a:prstGeom prst="rect">
              <a:avLst/>
            </a:prstGeom>
          </p:spPr>
        </p:pic>
        <p:pic>
          <p:nvPicPr>
            <p:cNvPr id="13" name="Picture 12" descr="Close-up of a green plant&#10;&#10;Description automatically generated with medium confidence"/>
            <p:cNvPicPr/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74353" y="2882900"/>
              <a:ext cx="678592" cy="678592"/>
            </a:xfrm>
            <a:prstGeom prst="rect">
              <a:avLst/>
            </a:prstGeom>
          </p:spPr>
        </p:pic>
      </p:grpSp>
      <p:sp>
        <p:nvSpPr>
          <p:cNvPr id="18" name="Google Shape;282;g104476d1465_1_17"/>
          <p:cNvSpPr txBox="1"/>
          <p:nvPr/>
        </p:nvSpPr>
        <p:spPr>
          <a:xfrm>
            <a:off x="878395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89"/>
                <a:ext cx="11058959" cy="2047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Mr. Rodriguez told his class to begin with the bug at home. Then the bug should jump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units. When Micah and Brianna did this, they discovered that their bugs were in two different locations. Discuss with your partner how this may have happened. Write your explanation or draw a picture of what could have happened.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89"/>
                <a:ext cx="11058959" cy="2047035"/>
              </a:xfrm>
              <a:prstGeom prst="rect">
                <a:avLst/>
              </a:prstGeom>
              <a:blipFill>
                <a:blip r:embed="rId4"/>
                <a:stretch>
                  <a:fillRect l="-803" t="-3086" r="-1606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736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45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216" y="2770195"/>
            <a:ext cx="73985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5425" y="285397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9422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0" y="618313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6276" y="-94204"/>
            <a:ext cx="1055352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4.8.3 Guided Instruction: Absolute Value and Zero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976" y="1130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6874" y="1377800"/>
                <a:ext cx="11012924" cy="4598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Recall how opposite numbers relate to zero. Complete the explanation below by writing a word in each blank.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Pairs of opposite values are the same ______________ from zero on the number line. They are mirror images of each other, with a line of symmetry through __________.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The absolute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is ______ because it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units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on the number line.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377800"/>
                <a:ext cx="11012924" cy="4598182"/>
              </a:xfrm>
              <a:prstGeom prst="rect">
                <a:avLst/>
              </a:prstGeom>
              <a:blipFill>
                <a:blip r:embed="rId5"/>
                <a:stretch>
                  <a:fillRect l="-692" t="-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2094829" y="3922724"/>
            <a:ext cx="7318200" cy="901542"/>
            <a:chOff x="0" y="0"/>
            <a:chExt cx="6817975" cy="901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 9"/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2000">
                  <a:solidFill>
                    <a:srgbClr val="6C993C"/>
                  </a:solidFill>
                  <a:latin typeface="Calibri"/>
                  <a:ea typeface="Times New Roman"/>
                  <a:cs typeface="Times New Roman"/>
                </a:rPr>
                <a:t> </a:t>
              </a:r>
              <a:endParaRPr lang="en-PH" sz="2000">
                <a:latin typeface="Calibri"/>
                <a:ea typeface="Times New Roman"/>
                <a:cs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0" y="66883"/>
                  <a:ext cx="6817975" cy="83096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3EFD5"/>
                </a:solid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14375">
                    <a:lnSpc>
                      <a:spcPct val="107000"/>
                    </a:lnSpc>
                  </a:pPr>
                  <a:r>
                    <a:rPr lang="en-US" sz="2000" b="1" i="1" dirty="0">
                      <a:solidFill>
                        <a:srgbClr val="6C993C"/>
                      </a:solidFill>
                      <a:latin typeface="Verdana"/>
                      <a:ea typeface="Times New Roman"/>
                      <a:cs typeface="Times New Roman"/>
                    </a:rPr>
                    <a:t>Absolute value</a:t>
                  </a:r>
                  <a:r>
                    <a:rPr lang="en-US" sz="2000" b="1" dirty="0">
                      <a:solidFill>
                        <a:srgbClr val="6C993C"/>
                      </a:solidFill>
                      <a:latin typeface="Verdana"/>
                      <a:ea typeface="Times New Roman"/>
                      <a:cs typeface="Times New Roman"/>
                    </a:rPr>
                    <a:t> </a:t>
                  </a:r>
                  <a:r>
                    <a:rPr lang="en-US" sz="2000" dirty="0">
                      <a:solidFill>
                        <a:srgbClr val="6C993C"/>
                      </a:solidFill>
                      <a:latin typeface="Verdana"/>
                      <a:ea typeface="Times New Roman"/>
                      <a:cs typeface="Times New Roman"/>
                    </a:rPr>
                    <a:t>is the distance a number is from zero (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C"/>
                          </a:solidFill>
                          <a:latin typeface="Cambria Math"/>
                          <a:ea typeface="Times New Roman"/>
                          <a:cs typeface="Times New Roman"/>
                        </a:rPr>
                        <m:t>0</m:t>
                      </m:r>
                    </m:oMath>
                  </a14:m>
                  <a:r>
                    <a:rPr lang="en-US" sz="2000" dirty="0">
                      <a:solidFill>
                        <a:srgbClr val="6C993C"/>
                      </a:solidFill>
                      <a:latin typeface="Verdana"/>
                      <a:ea typeface="Times New Roman"/>
                      <a:cs typeface="Times New Roman"/>
                    </a:rPr>
                    <a:t>) on a number line.</a:t>
                  </a:r>
                  <a:endParaRPr lang="en-PH" sz="2000" dirty="0">
                    <a:latin typeface="Calibri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66883"/>
                  <a:ext cx="6817975" cy="830967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6"/>
                  <a:stretch>
                    <a:fillRect r="-1247" b="-3597"/>
                  </a:stretch>
                </a:blip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Shape 7" descr="Icon&#10;&#10;Description automatically generated"/>
          <p:cNvPicPr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60246" y="4127897"/>
            <a:ext cx="539750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roup 5"/>
          <p:cNvGrpSpPr/>
          <p:nvPr/>
        </p:nvGrpSpPr>
        <p:grpSpPr>
          <a:xfrm>
            <a:off x="2622548" y="5533757"/>
            <a:ext cx="7326202" cy="925091"/>
            <a:chOff x="1098548" y="5533756"/>
            <a:chExt cx="7326202" cy="925091"/>
          </a:xfrm>
        </p:grpSpPr>
        <p:pic>
          <p:nvPicPr>
            <p:cNvPr id="18" name="Picture 17" descr="A picture containing rectangle&#10;&#10;Description automatically generated"/>
            <p:cNvPicPr/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4403" b="27545"/>
            <a:stretch/>
          </p:blipFill>
          <p:spPr bwMode="auto">
            <a:xfrm>
              <a:off x="1098548" y="6112233"/>
              <a:ext cx="7326202" cy="34661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Right Brace 18"/>
            <p:cNvSpPr/>
            <p:nvPr/>
          </p:nvSpPr>
          <p:spPr>
            <a:xfrm rot="16200000">
              <a:off x="5293952" y="5347663"/>
              <a:ext cx="266574" cy="1362928"/>
            </a:xfrm>
            <a:prstGeom prst="rightBrac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5"/>
                <p:cNvSpPr txBox="1"/>
                <p:nvPr/>
              </p:nvSpPr>
              <p:spPr>
                <a:xfrm>
                  <a:off x="5217689" y="5533756"/>
                  <a:ext cx="419100" cy="36322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4</m:t>
                        </m:r>
                      </m:oMath>
                    </m:oMathPara>
                  </a14:m>
                  <a:endParaRPr lang="en-PH" sz="1200" dirty="0">
                    <a:latin typeface="Calibri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0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689" y="5533756"/>
                  <a:ext cx="419100" cy="36322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Google Shape;282;g104476d1465_1_17"/>
          <p:cNvSpPr txBox="1"/>
          <p:nvPr/>
        </p:nvSpPr>
        <p:spPr>
          <a:xfrm>
            <a:off x="8783954" y="644020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6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746"/>
                <a:ext cx="11134292" cy="4601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</a:rPr>
                  <a:t>The absolute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/>
                  </a:rPr>
                  <a:t> is ______ because it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</a:rPr>
                  <a:t> units from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 0</m:t>
                    </m:r>
                  </m:oMath>
                </a14:m>
                <a:r>
                  <a:rPr lang="en-US" sz="2400" dirty="0">
                    <a:latin typeface="Verdana"/>
                  </a:rPr>
                  <a:t> on the number line.</a:t>
                </a:r>
                <a:r>
                  <a:rPr lang="en-PH" sz="2400" dirty="0"/>
                  <a:t>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The values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are opposite. Each value is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units from zero. A number and its opposite have the same ________________________.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746"/>
                <a:ext cx="11134292" cy="4601837"/>
              </a:xfrm>
              <a:prstGeom prst="rect">
                <a:avLst/>
              </a:prstGeom>
              <a:blipFill>
                <a:blip r:embed="rId4"/>
                <a:stretch>
                  <a:fillRect l="-797" t="-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598826" y="1170898"/>
            <a:ext cx="7859440" cy="868684"/>
            <a:chOff x="1095374" y="1443592"/>
            <a:chExt cx="7859440" cy="868684"/>
          </a:xfrm>
        </p:grpSpPr>
        <p:pic>
          <p:nvPicPr>
            <p:cNvPr id="6" name="Picture 5" descr="A picture containing rectangle&#10;&#10;Description automatically generated"/>
            <p:cNvPicPr/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3400" b="27973"/>
            <a:stretch/>
          </p:blipFill>
          <p:spPr bwMode="auto">
            <a:xfrm>
              <a:off x="1095374" y="1913848"/>
              <a:ext cx="7859440" cy="39842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" name="Right Brace 6"/>
            <p:cNvSpPr/>
            <p:nvPr/>
          </p:nvSpPr>
          <p:spPr>
            <a:xfrm rot="16200000">
              <a:off x="4177943" y="1184707"/>
              <a:ext cx="201375" cy="1458282"/>
            </a:xfrm>
            <a:prstGeom prst="rightBrac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27"/>
                <p:cNvSpPr txBox="1"/>
                <p:nvPr/>
              </p:nvSpPr>
              <p:spPr>
                <a:xfrm>
                  <a:off x="4069080" y="1443592"/>
                  <a:ext cx="419100" cy="36322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4</m:t>
                        </m:r>
                      </m:oMath>
                    </m:oMathPara>
                  </a14:m>
                  <a:endParaRPr lang="en-PH" sz="1200" dirty="0">
                    <a:latin typeface="Calibri"/>
                    <a:ea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8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9080" y="1443592"/>
                  <a:ext cx="419100" cy="36322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Google Shape;282;g104476d1465_1_17"/>
          <p:cNvSpPr txBox="1"/>
          <p:nvPr/>
        </p:nvSpPr>
        <p:spPr>
          <a:xfrm>
            <a:off x="876340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22076" y="2761970"/>
            <a:ext cx="68440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523" y="284874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9422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3040" y="-8226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220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999610" y="-37212"/>
            <a:ext cx="106204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4.8.4 Guided Practice: Absolute Value and Zero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9802" y="1288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0208" y="1386025"/>
                <a:ext cx="11079864" cy="4466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Absolute value is represented using the notation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|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|.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notation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|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|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is read, “the absolute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.”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</a:t>
                </a:r>
              </a:p>
              <a:p>
                <a:pPr marL="893763" indent="-441325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0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−8</m:t>
                        </m:r>
                      </m:e>
                    </m:d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=_______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because the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is ____.</a:t>
                </a:r>
              </a:p>
              <a:p>
                <a:pPr marL="893763" indent="-441325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other number has the same absolute value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?</a:t>
                </a:r>
              </a:p>
              <a:p>
                <a:pPr marL="893763" indent="-441325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the number line to show the other number that has the same absolute value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On the number line, plot and label all numbers with an absolute value of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  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PH" sz="2000" dirty="0">
                  <a:latin typeface="Calibri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08" y="1386025"/>
                <a:ext cx="11079864" cy="4466800"/>
              </a:xfrm>
              <a:prstGeom prst="rect">
                <a:avLst/>
              </a:prstGeom>
              <a:blipFill>
                <a:blip r:embed="rId5"/>
                <a:stretch>
                  <a:fillRect l="-573" t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rectangle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2646" b="29641"/>
          <a:stretch/>
        </p:blipFill>
        <p:spPr bwMode="auto">
          <a:xfrm>
            <a:off x="2538124" y="4715250"/>
            <a:ext cx="7371784" cy="3471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picture containing bird&#10;&#10;Description automatically generated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442" b="61819"/>
          <a:stretch/>
        </p:blipFill>
        <p:spPr bwMode="auto">
          <a:xfrm>
            <a:off x="4251832" y="6182146"/>
            <a:ext cx="3944369" cy="3685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804503" y="647910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080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76243" y="293814"/>
                <a:ext cx="11002731" cy="4561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2400"/>
                  </a:spcAft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Hector and his partner,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  <a:cs typeface="Times New Roman"/>
                  </a:rPr>
                  <a:t>Salih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, were given the following two problems to complete.</a:t>
                </a:r>
              </a:p>
              <a:p>
                <a:pPr algn="ctr">
                  <a:lnSpc>
                    <a:spcPct val="107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5.5</m:t>
                        </m:r>
                      </m:e>
                    </m:d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 __________</m:t>
                    </m:r>
                  </m:oMath>
                </a14:m>
                <a:r>
                  <a:rPr lang="en-PH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__________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=3.2</m:t>
                    </m:r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Hector and </a:t>
                </a:r>
                <a:r>
                  <a:rPr lang="en-US" sz="2000" dirty="0" err="1">
                    <a:latin typeface="Verdana"/>
                    <a:ea typeface="Times New Roman"/>
                    <a:cs typeface="Times New Roman"/>
                  </a:rPr>
                  <a:t>Salih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had the same answer for one of the blanks but two different answers for the other. Their teacher told them they both had the correct answers.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Which problem can have more than one correct answer?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the number line to explain how this is possible.</a:t>
                </a:r>
                <a:endParaRPr lang="en-PH" sz="2000" dirty="0">
                  <a:latin typeface="Calibri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43" y="293814"/>
                <a:ext cx="11002731" cy="4561249"/>
              </a:xfrm>
              <a:prstGeom prst="rect">
                <a:avLst/>
              </a:prstGeom>
              <a:blipFill>
                <a:blip r:embed="rId4"/>
                <a:stretch>
                  <a:fillRect l="-57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picture containing rectangle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194" b="27397"/>
          <a:stretch/>
        </p:blipFill>
        <p:spPr bwMode="auto">
          <a:xfrm>
            <a:off x="2392116" y="5120332"/>
            <a:ext cx="7370984" cy="4074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32583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20998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3388" y="27702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1249" y="2901984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79422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752" y="621524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4.8.5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8327136" cy="5099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Complete each statement and model it on the number line given.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4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−7.8</m:t>
                        </m:r>
                      </m:e>
                    </m:d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= _______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4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6.25</m:t>
                        </m:r>
                      </m:e>
                    </m:d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= _______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4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______</m:t>
                        </m:r>
                      </m:e>
                    </m:d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</m:t>
                    </m:r>
                    <m:f>
                      <m:fPr>
                        <m:ctrlPr>
                          <a:rPr lang="en-PH" sz="24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8327136" cy="5099858"/>
              </a:xfrm>
              <a:prstGeom prst="rect">
                <a:avLst/>
              </a:prstGeom>
              <a:blipFill>
                <a:blip r:embed="rId5"/>
                <a:stretch>
                  <a:fillRect l="-1065" t="-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picture containing rectangle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017" b="29476"/>
          <a:stretch/>
        </p:blipFill>
        <p:spPr bwMode="auto">
          <a:xfrm>
            <a:off x="2622866" y="6212623"/>
            <a:ext cx="7272154" cy="2780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 descr="A picture containing rectangle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017" b="29476"/>
          <a:stretch/>
        </p:blipFill>
        <p:spPr bwMode="auto">
          <a:xfrm>
            <a:off x="2622866" y="4520457"/>
            <a:ext cx="7272154" cy="2780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 descr="A picture containing rectangle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017" b="29476"/>
          <a:stretch/>
        </p:blipFill>
        <p:spPr bwMode="auto">
          <a:xfrm>
            <a:off x="2622866" y="2997466"/>
            <a:ext cx="7272154" cy="2780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Google Shape;282;g104476d1465_1_17"/>
          <p:cNvSpPr txBox="1"/>
          <p:nvPr/>
        </p:nvSpPr>
        <p:spPr>
          <a:xfrm>
            <a:off x="8860526" y="647231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474"/>
                <a:ext cx="8327136" cy="431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Choose any rational number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−10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.</a:t>
                </a: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Plot the number and then plot its opposite on the number line.</a:t>
                </a: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914400" lvl="1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What is the relationship between the absolute values of these rational numbers?</a:t>
                </a:r>
                <a:endParaRPr lang="en-PH" sz="24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474"/>
                <a:ext cx="8327136" cy="4315733"/>
              </a:xfrm>
              <a:prstGeom prst="rect">
                <a:avLst/>
              </a:prstGeom>
              <a:blipFill rotWithShape="1">
                <a:blip r:embed="rId3"/>
                <a:stretch>
                  <a:fillRect l="-1098" t="-1412" r="-732" b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rectangle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5251" b="22968"/>
          <a:stretch/>
        </p:blipFill>
        <p:spPr bwMode="auto">
          <a:xfrm>
            <a:off x="1519054" y="1775811"/>
            <a:ext cx="7493876" cy="9590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3129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792368" y="648836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83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6133" y="2937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736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4.8.6 Wrap-Up: Ticket Out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8327136" cy="3842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Complete the statement and model it on the number line. </a:t>
                </a:r>
              </a:p>
              <a:p>
                <a:pPr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400" i="1"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PH" sz="2400" i="1">
                                <a:latin typeface="Cambria Math"/>
                                <a:ea typeface="Times New Roman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  <a:ea typeface="Times New Roman"/>
                                <a:cs typeface="Times New Roman"/>
                              </a:rPr>
                              <m:t>10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  <a:ea typeface="Times New Roman"/>
                                <a:cs typeface="Times New Roman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= _______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SzPct val="100000"/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must be true about two numbers that have the same absolute value? 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8327136" cy="3842206"/>
              </a:xfrm>
              <a:prstGeom prst="rect">
                <a:avLst/>
              </a:prstGeom>
              <a:blipFill>
                <a:blip r:embed="rId5"/>
                <a:stretch>
                  <a:fillRect l="-1065" t="-1316" r="-913" b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icture containing rectangle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1753" b="27574"/>
          <a:stretch/>
        </p:blipFill>
        <p:spPr bwMode="auto">
          <a:xfrm>
            <a:off x="2622868" y="3177832"/>
            <a:ext cx="7876967" cy="4939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79422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682</Words>
  <Application>Microsoft Office PowerPoint</Application>
  <PresentationFormat>Custom</PresentationFormat>
  <Paragraphs>142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Times New Roman</vt:lpstr>
      <vt:lpstr>Century Gothic</vt:lpstr>
      <vt:lpstr>Cambria Math</vt:lpstr>
      <vt:lpstr>Arial Black</vt:lpstr>
      <vt:lpstr>Verdana</vt:lpstr>
      <vt:lpstr>1_Office Theme</vt:lpstr>
      <vt:lpstr>6th Grade Math  Unit 4, Lesson 8  Absolute Value  – Part 1  Volume 1, pg. 174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23</cp:revision>
  <dcterms:created xsi:type="dcterms:W3CDTF">2015-03-17T18:51:18Z</dcterms:created>
  <dcterms:modified xsi:type="dcterms:W3CDTF">2022-06-05T01:12:41Z</dcterms:modified>
</cp:coreProperties>
</file>