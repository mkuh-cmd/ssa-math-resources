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317" r:id="rId11"/>
    <p:sldId id="318" r:id="rId12"/>
    <p:sldId id="302" r:id="rId13"/>
    <p:sldId id="303" r:id="rId14"/>
    <p:sldId id="306" r:id="rId15"/>
    <p:sldId id="307" r:id="rId16"/>
  </p:sldIdLst>
  <p:sldSz cx="12192000" cy="6858000"/>
  <p:notesSz cx="6858000" cy="9144000"/>
  <p:embeddedFontLs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Century Gothic" pitchFamily="34" charset="0"/>
      <p:regular r:id="rId22"/>
      <p:bold r:id="rId23"/>
      <p:italic r:id="rId24"/>
      <p:boldItalic r:id="rId25"/>
    </p:embeddedFont>
    <p:embeddedFont>
      <p:font typeface="Cambria Math" pitchFamily="18" charset="0"/>
      <p:regular r:id="rId26"/>
    </p:embeddedFont>
    <p:embeddedFont>
      <p:font typeface="Cambria" pitchFamily="18" charset="0"/>
      <p:regular r:id="rId27"/>
      <p:bold r:id="rId28"/>
      <p:italic r:id="rId29"/>
      <p:boldItalic r:id="rId30"/>
    </p:embeddedFont>
    <p:embeddedFont>
      <p:font typeface="Arial Black" pitchFamily="34" charset="0"/>
      <p:bold r:id="rId31"/>
    </p:embeddedFont>
    <p:embeddedFont>
      <p:font typeface="Verdana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 autoAdjust="0"/>
    <p:restoredTop sz="94707" autoAdjust="0"/>
  </p:normalViewPr>
  <p:slideViewPr>
    <p:cSldViewPr snapToGrid="0">
      <p:cViewPr varScale="1">
        <p:scale>
          <a:sx n="83" d="100"/>
          <a:sy n="83" d="100"/>
        </p:scale>
        <p:origin x="-398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93647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3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1" y="5553350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tiff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3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0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6" y="2054279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5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Plotting, Ordering, and Comparing Rational Numbers – Part 1</a:t>
            </a:r>
            <a:br>
              <a:rPr lang="en-US" sz="35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152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5" y="1514479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43600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3999" y="1608425"/>
            <a:ext cx="106540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MA.6.NSO.1.1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Extend previous understanding of numbers to define rational numbers. Plot, order, and compare rational numbers.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163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100325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59" y="1596390"/>
            <a:ext cx="1005597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6340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9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079300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0238" indent="-623888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plot, compare, and order fractional representations of rational numbers.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736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9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528" y="287110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42328" y="275792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736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163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303392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4.4.1 Warm-Up: Closer to Zero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7" y="1386028"/>
                <a:ext cx="10687777" cy="440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For each pair of numbers, determine which value is closest 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/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/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/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/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/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/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/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/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/>
                </a:r>
                <a:b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</a:b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/>
                  </a:rPr>
                  <a:t>Discuss with your partner the strategy you used.</a:t>
                </a:r>
                <a:endParaRPr lang="en-PH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86028"/>
                <a:ext cx="10687777" cy="4404283"/>
              </a:xfrm>
              <a:prstGeom prst="rect">
                <a:avLst/>
              </a:prstGeom>
              <a:blipFill>
                <a:blip r:embed="rId5"/>
                <a:stretch>
                  <a:fillRect l="-830" t="-1146" b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987107"/>
                  </p:ext>
                </p:extLst>
              </p:nvPr>
            </p:nvGraphicFramePr>
            <p:xfrm>
              <a:off x="3395387" y="2139609"/>
              <a:ext cx="5760000" cy="28971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Pair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Closest to Zero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58928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11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 or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15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11</m:t>
                                  </m:r>
                                </m:den>
                              </m:f>
                            </m:oMath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58928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 or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endParaRPr lang="en-PH" sz="20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58928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1.25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 or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58928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0.01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 or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0.001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987107"/>
                  </p:ext>
                </p:extLst>
              </p:nvPr>
            </p:nvGraphicFramePr>
            <p:xfrm>
              <a:off x="3395387" y="2139609"/>
              <a:ext cx="5760000" cy="28971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Pair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Closest to Zero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89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41" t="-95652" r="-100441" b="-3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9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41" t="-191489" r="-10044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89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41" t="-297826" r="-100441" b="-1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89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41" t="-389362" r="-100441" b="-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marL="0" marR="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6340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55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0350" y="275792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06950" y="2806080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172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815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8550"/>
            <a:ext cx="1049550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4.4.2 Exploration: Plotting and Comparing Fractions 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1667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3248" y="1394253"/>
                <a:ext cx="10954904" cy="4117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Plot and label the rational numbers on the number line below.</a:t>
                </a:r>
              </a:p>
              <a:p>
                <a:pPr algn="ctr">
                  <a:lnSpc>
                    <a:spcPct val="107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−3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5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5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  <a:ea typeface="Verdana"/>
                            <a:cs typeface="Verdana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−3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4</m:t>
                        </m:r>
                      </m:den>
                    </m:f>
                  </m:oMath>
                </a14:m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algn="ctr">
                  <a:lnSpc>
                    <a:spcPct val="107000"/>
                  </a:lnSpc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algn="ctr">
                  <a:lnSpc>
                    <a:spcPct val="107000"/>
                  </a:lnSpc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r>
                  <a:rPr lang="en-PH" sz="2400" dirty="0">
                    <a:latin typeface="Verdana"/>
                    <a:ea typeface="Verdana"/>
                    <a:cs typeface="Verdana"/>
                  </a:rPr>
                  <a:t/>
                </a:r>
                <a:br>
                  <a:rPr lang="en-PH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Using the rational numbers plotted above, answer the following questions.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Andre says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is less than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f>
                      <m:fPr>
                        <m:ctrlPr>
                          <a:rPr lang="en-PH" sz="24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because out of the two values,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is closer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 Explain why you agree or disagree with Andre.</a:t>
                </a:r>
                <a:endParaRPr lang="en-PH" sz="2400" dirty="0"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94253"/>
                <a:ext cx="10954904" cy="4117922"/>
              </a:xfrm>
              <a:prstGeom prst="rect">
                <a:avLst/>
              </a:prstGeom>
              <a:blipFill>
                <a:blip r:embed="rId5"/>
                <a:stretch>
                  <a:fillRect l="-810" t="-1231" b="-2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bird&#10;&#10;Description automatically generated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423" b="61829"/>
          <a:stretch/>
        </p:blipFill>
        <p:spPr bwMode="auto">
          <a:xfrm>
            <a:off x="3172405" y="2739811"/>
            <a:ext cx="6255989" cy="5849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09926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163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74091"/>
                <a:ext cx="11058959" cy="4439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Complete the table for each pair of numbers.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Is the value that is farther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always the greater value? Explain your reasoning.</a:t>
                </a:r>
                <a:endParaRPr lang="en-PH" sz="2000" dirty="0"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74091"/>
                <a:ext cx="11058959" cy="4439229"/>
              </a:xfrm>
              <a:prstGeom prst="rect">
                <a:avLst/>
              </a:prstGeom>
              <a:blipFill>
                <a:blip r:embed="rId4"/>
                <a:stretch>
                  <a:fillRect l="-803" t="-1425" b="-1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406794"/>
                  </p:ext>
                </p:extLst>
              </p:nvPr>
            </p:nvGraphicFramePr>
            <p:xfrm>
              <a:off x="2608536" y="986456"/>
              <a:ext cx="7560000" cy="220675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5937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Pair</a:t>
                          </a:r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Farthest </a:t>
                          </a:r>
                          <a:b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Distance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𝟎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Greater Value</a:t>
                          </a:r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 or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PH" sz="200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PH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  or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406794"/>
                  </p:ext>
                </p:extLst>
              </p:nvPr>
            </p:nvGraphicFramePr>
            <p:xfrm>
              <a:off x="2608536" y="986456"/>
              <a:ext cx="7560000" cy="218973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669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Pair</a:t>
                          </a:r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2996" t="-6897" r="-100881" b="-2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Greater Value</a:t>
                          </a:r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4" t="-106897" r="-321127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4" t="-206897" r="-321127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6340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550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0350" y="275792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84903" y="284469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1728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8700" y="620137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0325"/>
            <a:ext cx="1051605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4.4.3 Activity: Ordering Rational Number Cards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547ABD-563B-A148-B65C-C7679A7B43D4}"/>
              </a:ext>
            </a:extLst>
          </p:cNvPr>
          <p:cNvSpPr txBox="1"/>
          <p:nvPr/>
        </p:nvSpPr>
        <p:spPr>
          <a:xfrm>
            <a:off x="593248" y="1386028"/>
            <a:ext cx="10975452" cy="452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12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Your teacher will give you a set of number cards. Order them from least to greatest.</a:t>
            </a:r>
            <a:endParaRPr lang="en-PH" sz="2000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Your teacher will give you a second set of number cards. </a:t>
            </a:r>
            <a:b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Add these values to the correct places in the first ordered set.</a:t>
            </a:r>
          </a:p>
          <a:p>
            <a:pPr>
              <a:lnSpc>
                <a:spcPct val="107000"/>
              </a:lnSpc>
            </a:pPr>
            <a:endParaRPr lang="en-PH" sz="2000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In the first round of ordering, how did ordering negative numbers compare to ordering positive numbers?</a:t>
            </a: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PH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PH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endParaRPr lang="en-PH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What strategies helped you determine how to order the rational numbers represented as a decimal or a percent after you had already ordered the fractions?</a:t>
            </a:r>
            <a:endParaRPr lang="en-PH" sz="2000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30474" y="645844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45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2729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73936" y="277019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21797" y="2901981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27439" y="64741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6344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90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68994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4.4.4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694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91106" y="1292933"/>
                <a:ext cx="10609788" cy="5236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Plot the following values on the number line. Label each point with its numeric value.</a:t>
                </a:r>
                <a:endParaRPr lang="en-PH" sz="2000" dirty="0">
                  <a:latin typeface="Cambria Math"/>
                  <a:ea typeface="Cambria Math"/>
                  <a:cs typeface="Verdana"/>
                </a:endParaRPr>
              </a:p>
              <a:p>
                <a:pPr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  <a:ea typeface="Cambria Math"/>
                          <a:cs typeface="Cambria Math"/>
                        </a:rPr>
                        <m:t>1.5   </m:t>
                      </m:r>
                      <m:r>
                        <a:rPr lang="en-PH" sz="2000" i="1">
                          <a:latin typeface="Cambria Math"/>
                          <a:ea typeface="Cambria Math"/>
                          <a:cs typeface="Cambria Math"/>
                        </a:rPr>
                        <m:t>    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ctrlPr>
                            <a:rPr lang="en-PH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latin typeface="Cambria Math"/>
                          <a:ea typeface="Cambria Math"/>
                          <a:cs typeface="Cambria Math"/>
                        </a:rPr>
                        <m:t>  </m:t>
                      </m:r>
                      <m:r>
                        <a:rPr lang="en-PH" sz="2000" i="1">
                          <a:latin typeface="Cambria Math"/>
                          <a:ea typeface="Cambria Math"/>
                          <a:cs typeface="Cambria Math"/>
                        </a:rPr>
                        <m:t>    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r>
                        <a:rPr lang="en-PH" sz="2000" i="1"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Cambria Math"/>
                        </a:rPr>
                        <m:t> −</m:t>
                      </m:r>
                      <m:f>
                        <m:fPr>
                          <m:ctrlPr>
                            <a:rPr lang="en-PH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den>
                      </m:f>
                      <m:r>
                        <a:rPr lang="en-US" sz="2000" i="1"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r>
                        <a:rPr lang="en-PH" sz="2000" i="1">
                          <a:latin typeface="Cambria Math"/>
                          <a:ea typeface="Cambria Math"/>
                          <a:cs typeface="Cambria Math"/>
                        </a:rPr>
                        <m:t>     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Cambria Math"/>
                        </a:rPr>
                        <m:t>   0.75  </m:t>
                      </m:r>
                      <m:r>
                        <a:rPr lang="en-PH" sz="2000" i="1">
                          <a:latin typeface="Cambria Math"/>
                          <a:ea typeface="Cambria Math"/>
                          <a:cs typeface="Cambria Math"/>
                        </a:rPr>
                        <m:t>    </m:t>
                      </m:r>
                      <m:r>
                        <a:rPr lang="en-US" sz="2000" i="1">
                          <a:latin typeface="Cambria Math"/>
                          <a:ea typeface="Cambria Math"/>
                          <a:cs typeface="Cambria Math"/>
                        </a:rPr>
                        <m:t>  </m:t>
                      </m:r>
                      <m:f>
                        <m:fPr>
                          <m:ctrlPr>
                            <a:rPr lang="en-PH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PH" sz="2000" dirty="0">
                  <a:latin typeface="Cambria Math"/>
                  <a:ea typeface="Cambria Math"/>
                  <a:cs typeface="Cambria Math"/>
                </a:endParaRPr>
              </a:p>
              <a:p>
                <a:pPr>
                  <a:lnSpc>
                    <a:spcPct val="107000"/>
                  </a:lnSpc>
                </a:pPr>
                <a:endParaRPr lang="en-PH" sz="2000" dirty="0">
                  <a:latin typeface="Cambria Math"/>
                  <a:ea typeface="Cambria Math"/>
                  <a:cs typeface="Cambria Math"/>
                </a:endParaRPr>
              </a:p>
              <a:p>
                <a:pPr>
                  <a:lnSpc>
                    <a:spcPct val="107000"/>
                  </a:lnSpc>
                </a:pPr>
                <a:endParaRPr lang="en-PH" sz="2000" dirty="0">
                  <a:latin typeface="Cambria Math"/>
                  <a:ea typeface="Cambria Math"/>
                  <a:cs typeface="Cambria Math"/>
                </a:endParaRPr>
              </a:p>
              <a:p>
                <a:pPr>
                  <a:lnSpc>
                    <a:spcPct val="107000"/>
                  </a:lnSpc>
                  <a:spcAft>
                    <a:spcPts val="1200"/>
                  </a:spcAft>
                </a:pPr>
                <a:endParaRPr lang="en-PH" sz="2000" dirty="0">
                  <a:latin typeface="Cambria Math"/>
                  <a:ea typeface="Cambria Math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Use the symbols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/>
                        <a:cs typeface="Verdana"/>
                      </a:rPr>
                      <m:t>&lt;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/>
                        <a:cs typeface="Verdana"/>
                      </a:rPr>
                      <m:t>&gt; 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/>
                        <a:cs typeface="Verdana"/>
                      </a:rPr>
                      <m:t>= 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to compare each pair of values.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PH" sz="2000" dirty="0">
                  <a:latin typeface="Cambria Math"/>
                  <a:ea typeface="Cambria Math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Order the set of rational numbers.</a:t>
                </a:r>
              </a:p>
              <a:p>
                <a:pPr algn="ctr"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  <a:ea typeface="Cambria Math"/>
                          <a:cs typeface="Cambria Math"/>
                        </a:rPr>
                        <m:t>5.2         −3</m:t>
                      </m:r>
                      <m:f>
                        <m:fPr>
                          <m:ctrlPr>
                            <a:rPr lang="en-PH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latin typeface="Cambria Math"/>
                          <a:ea typeface="Cambria Math"/>
                          <a:cs typeface="Cambria Math"/>
                        </a:rPr>
                        <m:t>            5</m:t>
                      </m:r>
                      <m:f>
                        <m:fPr>
                          <m:ctrlPr>
                            <a:rPr lang="en-PH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latin typeface="Cambria Math"/>
                          <a:ea typeface="Cambria Math"/>
                          <a:cs typeface="Cambria Math"/>
                        </a:rPr>
                        <m:t>          −2</m:t>
                      </m:r>
                      <m:f>
                        <m:fPr>
                          <m:ctrlPr>
                            <a:rPr lang="en-PH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06" y="1292933"/>
                <a:ext cx="10609788" cy="5236305"/>
              </a:xfrm>
              <a:prstGeom prst="rect">
                <a:avLst/>
              </a:prstGeom>
              <a:blipFill>
                <a:blip r:embed="rId5"/>
                <a:stretch>
                  <a:fillRect l="-598" t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7012339"/>
                  </p:ext>
                </p:extLst>
              </p:nvPr>
            </p:nvGraphicFramePr>
            <p:xfrm>
              <a:off x="3230049" y="4447243"/>
              <a:ext cx="6419851" cy="522605"/>
            </p:xfrm>
            <a:graphic>
              <a:graphicData uri="http://schemas.openxmlformats.org/drawingml/2006/table">
                <a:tbl>
                  <a:tblPr bandRow="1"/>
                  <a:tblGrid>
                    <a:gridCol w="213952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4016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14016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5226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Cambria Math"/>
                              <a:cs typeface="Cambria Math"/>
                            </a:rPr>
                            <a:t>  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___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Cambria Math"/>
                              <a:cs typeface="Cambria Math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0.75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Cambria Math"/>
                              <a:cs typeface="Cambria Math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___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Cambria Math"/>
                              <a:cs typeface="Cambria Math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 smtClean="0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Cambria Math"/>
                              <a:cs typeface="Cambria Math"/>
                            </a:rPr>
                            <a:t>  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___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Cambria Math"/>
                              <a:cs typeface="Cambria Math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1.5</m:t>
                              </m:r>
                            </m:oMath>
                          </a14:m>
                          <a:endParaRPr lang="en-PH" sz="2000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7012339"/>
                  </p:ext>
                </p:extLst>
              </p:nvPr>
            </p:nvGraphicFramePr>
            <p:xfrm>
              <a:off x="3230049" y="4447243"/>
              <a:ext cx="6419851" cy="522605"/>
            </p:xfrm>
            <a:graphic>
              <a:graphicData uri="http://schemas.openxmlformats.org/drawingml/2006/table">
                <a:tbl>
                  <a:tblPr bandRow="1"/>
                  <a:tblGrid>
                    <a:gridCol w="213952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4016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016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2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592" t="-2381" r="-199408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01190" t="-2381" r="-100595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200000" t="-2381" b="-95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 descr="A picture containing bird&#10;&#10;Description automatically generated"/>
          <p:cNvPicPr/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34" b="60620"/>
          <a:stretch/>
        </p:blipFill>
        <p:spPr bwMode="auto">
          <a:xfrm>
            <a:off x="3359743" y="3109287"/>
            <a:ext cx="5728551" cy="6310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Google Shape;282;g104476d1465_1_17"/>
          <p:cNvSpPr txBox="1"/>
          <p:nvPr/>
        </p:nvSpPr>
        <p:spPr>
          <a:xfrm>
            <a:off x="877368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117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084" y="61876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14968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3964" y="2920747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42858" y="64447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9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146757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4.4.5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93248" y="1394253"/>
            <a:ext cx="11016550" cy="4009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2438" lvl="3" indent="-452438">
              <a:lnSpc>
                <a:spcPct val="107000"/>
              </a:lnSpc>
              <a:buFont typeface="+mj-lt"/>
              <a:buAutoNum type="arabicPeriod"/>
              <a:tabLst>
                <a:tab pos="452438" algn="l"/>
              </a:tabLst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Circle the </a:t>
            </a:r>
            <a:r>
              <a:rPr lang="en-US" sz="2400" dirty="0" err="1">
                <a:latin typeface="Verdana" pitchFamily="34" charset="0"/>
                <a:ea typeface="Verdana" pitchFamily="34" charset="0"/>
              </a:rPr>
              <a:t>emoji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 that best represents your understanding of the lesson today.</a:t>
            </a:r>
          </a:p>
          <a:p>
            <a:pPr marL="452438" lvl="3" indent="-452438">
              <a:lnSpc>
                <a:spcPct val="107000"/>
              </a:lnSpc>
              <a:buFont typeface="+mj-lt"/>
              <a:buAutoNum type="arabicPeriod"/>
              <a:tabLst>
                <a:tab pos="452438" algn="l"/>
              </a:tabLst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2438" lvl="3" indent="-452438">
              <a:lnSpc>
                <a:spcPct val="107000"/>
              </a:lnSpc>
              <a:buFont typeface="+mj-lt"/>
              <a:buAutoNum type="arabicPeriod"/>
              <a:tabLst>
                <a:tab pos="452438" algn="l"/>
              </a:tabLst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2438" lvl="3" indent="-452438">
              <a:lnSpc>
                <a:spcPct val="107000"/>
              </a:lnSpc>
              <a:buFont typeface="+mj-lt"/>
              <a:buAutoNum type="arabicPeriod"/>
              <a:tabLst>
                <a:tab pos="452438" algn="l"/>
              </a:tabLst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2438" lvl="3" indent="-452438">
              <a:lnSpc>
                <a:spcPct val="107000"/>
              </a:lnSpc>
              <a:buFont typeface="+mj-lt"/>
              <a:buAutoNum type="arabicPeriod"/>
              <a:tabLst>
                <a:tab pos="452438" algn="l"/>
              </a:tabLst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2438" lvl="3" indent="-452438">
              <a:lnSpc>
                <a:spcPct val="107000"/>
              </a:lnSpc>
              <a:buFont typeface="+mj-lt"/>
              <a:buAutoNum type="arabicPeriod"/>
              <a:tabLst>
                <a:tab pos="452438" algn="l"/>
              </a:tabLst>
            </a:pPr>
            <a:endParaRPr lang="en-US" sz="2400" dirty="0">
              <a:latin typeface="Verdana" pitchFamily="34" charset="0"/>
              <a:ea typeface="Verdana" pitchFamily="34" charset="0"/>
            </a:endParaRPr>
          </a:p>
          <a:p>
            <a:pPr marL="452438" lvl="3" indent="-452438">
              <a:lnSpc>
                <a:spcPct val="107000"/>
              </a:lnSpc>
              <a:buFont typeface="+mj-lt"/>
              <a:buAutoNum type="arabicPeriod"/>
              <a:tabLst>
                <a:tab pos="452438" algn="l"/>
              </a:tabLst>
            </a:pPr>
            <a:endParaRPr lang="en-PH" sz="2400" dirty="0">
              <a:latin typeface="Verdana" pitchFamily="34" charset="0"/>
              <a:ea typeface="Verdana" pitchFamily="34" charset="0"/>
            </a:endParaRPr>
          </a:p>
          <a:p>
            <a:pPr marL="452438" lvl="3" indent="-452438">
              <a:lnSpc>
                <a:spcPct val="107000"/>
              </a:lnSpc>
              <a:buFont typeface="+mj-lt"/>
              <a:buAutoNum type="arabicPeriod"/>
              <a:tabLst>
                <a:tab pos="452438" algn="l"/>
              </a:tabLst>
            </a:pPr>
            <a:endParaRPr lang="en-PH" sz="2400" dirty="0">
              <a:latin typeface="Verdana" pitchFamily="34" charset="0"/>
              <a:ea typeface="Verdana" pitchFamily="34" charset="0"/>
            </a:endParaRPr>
          </a:p>
          <a:p>
            <a:pPr marL="452438" lvl="3" indent="-452438">
              <a:lnSpc>
                <a:spcPct val="107000"/>
              </a:lnSpc>
              <a:buFont typeface="+mj-lt"/>
              <a:buAutoNum type="arabicPeriod"/>
              <a:tabLst>
                <a:tab pos="452438" algn="l"/>
              </a:tabLst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Write an explanation of why you chose that </a:t>
            </a:r>
            <a:r>
              <a:rPr lang="en-US" sz="2400" dirty="0" err="1">
                <a:latin typeface="Verdana" pitchFamily="34" charset="0"/>
                <a:ea typeface="Verdana" pitchFamily="34" charset="0"/>
              </a:rPr>
              <a:t>emoji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9850" y="2396760"/>
            <a:ext cx="7428900" cy="2034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282;g104476d1465_1_17"/>
          <p:cNvSpPr txBox="1"/>
          <p:nvPr/>
        </p:nvSpPr>
        <p:spPr>
          <a:xfrm>
            <a:off x="87736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493</Words>
  <Application>Microsoft Office PowerPoint</Application>
  <PresentationFormat>Custom</PresentationFormat>
  <Paragraphs>116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Times New Roman</vt:lpstr>
      <vt:lpstr>Century Gothic</vt:lpstr>
      <vt:lpstr>Cambria Math</vt:lpstr>
      <vt:lpstr>Cambria</vt:lpstr>
      <vt:lpstr>Arial Black</vt:lpstr>
      <vt:lpstr>Verdana</vt:lpstr>
      <vt:lpstr>1_Office Theme</vt:lpstr>
      <vt:lpstr>6th Grade Math  Unit 4, Lesson 4  Plotting, Ordering, and Comparing Rational Numbers – Part 1  Volume 1, pg. 152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Activity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20</cp:revision>
  <dcterms:created xsi:type="dcterms:W3CDTF">2015-03-17T18:51:18Z</dcterms:created>
  <dcterms:modified xsi:type="dcterms:W3CDTF">2022-06-05T00:43:58Z</dcterms:modified>
</cp:coreProperties>
</file>