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9" r:id="rId8"/>
    <p:sldId id="290" r:id="rId9"/>
    <p:sldId id="308" r:id="rId10"/>
    <p:sldId id="317" r:id="rId11"/>
    <p:sldId id="318" r:id="rId12"/>
    <p:sldId id="319" r:id="rId13"/>
    <p:sldId id="320" r:id="rId14"/>
    <p:sldId id="321" r:id="rId15"/>
    <p:sldId id="314" r:id="rId16"/>
    <p:sldId id="315" r:id="rId17"/>
    <p:sldId id="302" r:id="rId18"/>
    <p:sldId id="303" r:id="rId19"/>
    <p:sldId id="309" r:id="rId20"/>
    <p:sldId id="322" r:id="rId21"/>
    <p:sldId id="306" r:id="rId22"/>
    <p:sldId id="307" r:id="rId23"/>
  </p:sldIdLst>
  <p:sldSz cx="12192000" cy="6858000"/>
  <p:notesSz cx="6858000" cy="9144000"/>
  <p:embeddedFontLst>
    <p:embeddedFont>
      <p:font typeface="Calibri" pitchFamily="34" charset="0"/>
      <p:regular r:id="rId25"/>
      <p:bold r:id="rId26"/>
      <p:italic r:id="rId27"/>
      <p:boldItalic r:id="rId28"/>
    </p:embeddedFont>
    <p:embeddedFont>
      <p:font typeface="Century Gothic" pitchFamily="34" charset="0"/>
      <p:regular r:id="rId29"/>
      <p:bold r:id="rId30"/>
      <p:italic r:id="rId31"/>
      <p:boldItalic r:id="rId32"/>
    </p:embeddedFont>
    <p:embeddedFont>
      <p:font typeface="Cambria Math" pitchFamily="18" charset="0"/>
      <p:regular r:id="rId33"/>
    </p:embeddedFont>
    <p:embeddedFont>
      <p:font typeface="Cambria" pitchFamily="18" charset="0"/>
      <p:regular r:id="rId34"/>
      <p:bold r:id="rId35"/>
      <p:italic r:id="rId36"/>
      <p:boldItalic r:id="rId37"/>
    </p:embeddedFont>
    <p:embeddedFont>
      <p:font typeface="Arial Black" pitchFamily="34" charset="0"/>
      <p:bold r:id="rId38"/>
    </p:embeddedFont>
    <p:embeddedFont>
      <p:font typeface="Verdana"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4707" autoAdjust="0"/>
  </p:normalViewPr>
  <p:slideViewPr>
    <p:cSldViewPr snapToGrid="0">
      <p:cViewPr varScale="1">
        <p:scale>
          <a:sx n="83" d="100"/>
          <a:sy n="83" d="100"/>
        </p:scale>
        <p:origin x="-672"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78890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4045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6.tiff"/><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7.tiff"/><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0.tiff"/><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4, Lesson 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Plotting, Ordering, and Comparing Decimals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8395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2218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0200"/>
            <a:ext cx="1073620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MA.6.NSO.1.</a:t>
            </a:r>
          </a:p>
          <a:p>
            <a:pPr indent="0">
              <a:buNone/>
            </a:pPr>
            <a:r>
              <a:rPr lang="en-US" sz="3500" dirty="0">
                <a:solidFill>
                  <a:schemeClr val="tx1"/>
                </a:solidFill>
                <a:latin typeface="Verdana"/>
                <a:ea typeface="Verdana"/>
                <a:cs typeface="Verdana"/>
                <a:sym typeface="Verdana"/>
              </a:rPr>
              <a:t>Extend previous understanding of numbers to define rational numbers. Plot, order, and compare rational numbers.</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182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200" y="137892"/>
            <a:ext cx="1010445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59" y="1604615"/>
            <a:ext cx="1047721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200" dirty="0">
                <a:latin typeface="Verdana" panose="020B0604030504040204" pitchFamily="34" charset="0"/>
                <a:ea typeface="Verdana" panose="020B0604030504040204" pitchFamily="34" charset="0"/>
              </a:rPr>
              <a:t>MA.K12.MTR.1.1 Actively participate in effortful learning both individually and collectively.</a:t>
            </a:r>
          </a:p>
          <a:p>
            <a:endParaRPr lang="en-US" sz="2200" dirty="0">
              <a:latin typeface="Verdana" panose="020B0604030504040204" pitchFamily="34" charset="0"/>
              <a:ea typeface="Verdana" panose="020B0604030504040204" pitchFamily="34" charset="0"/>
            </a:endParaRPr>
          </a:p>
          <a:p>
            <a:r>
              <a:rPr lang="en-US" sz="2200" dirty="0">
                <a:latin typeface="Verdana" panose="020B0604030504040204" pitchFamily="34" charset="0"/>
                <a:ea typeface="Verdana" panose="020B0604030504040204" pitchFamily="34" charset="0"/>
              </a:rPr>
              <a:t>MA.K12.MTR.3.1 Complete tasks with mathematical fluency.</a:t>
            </a:r>
          </a:p>
          <a:p>
            <a:endParaRPr lang="en-US" sz="2200" dirty="0">
              <a:latin typeface="Verdana" panose="020B0604030504040204" pitchFamily="34" charset="0"/>
              <a:ea typeface="Verdana" panose="020B0604030504040204" pitchFamily="34" charset="0"/>
            </a:endParaRPr>
          </a:p>
          <a:p>
            <a:r>
              <a:rPr lang="en-US" sz="2200" dirty="0">
                <a:latin typeface="Verdana" panose="020B0604030504040204" pitchFamily="34" charset="0"/>
                <a:ea typeface="Verdana" panose="020B0604030504040204" pitchFamily="34" charset="0"/>
              </a:rPr>
              <a:t>MA.K12.MTR.4.1 Engage in discussions that reflect on the mathematical thinking of self and others.</a:t>
            </a:r>
          </a:p>
          <a:p>
            <a:endParaRPr lang="en-US" sz="2200" dirty="0">
              <a:latin typeface="Verdana" panose="020B0604030504040204" pitchFamily="34" charset="0"/>
              <a:ea typeface="Verdana" panose="020B0604030504040204" pitchFamily="34" charset="0"/>
            </a:endParaRPr>
          </a:p>
          <a:p>
            <a:r>
              <a:rPr lang="en-US" sz="2200" dirty="0">
                <a:latin typeface="Verdana" panose="020B0604030504040204" pitchFamily="34" charset="0"/>
                <a:ea typeface="Verdana" panose="020B0604030504040204" pitchFamily="34" charset="0"/>
              </a:rPr>
              <a:t>MA.K12.MTR.6.1 Assess the reasonableness of solutions.</a:t>
            </a:r>
          </a:p>
          <a:p>
            <a:endParaRPr lang="en-US" sz="2200" dirty="0">
              <a:latin typeface="Verdana" panose="020B0604030504040204" pitchFamily="34" charset="0"/>
              <a:ea typeface="Verdana" panose="020B0604030504040204" pitchFamily="34" charset="0"/>
            </a:endParaRPr>
          </a:p>
          <a:p>
            <a:r>
              <a:rPr lang="en-US" sz="2200" dirty="0">
                <a:latin typeface="Verdana" panose="020B0604030504040204" pitchFamily="34" charset="0"/>
                <a:ea typeface="Verdana" panose="020B0604030504040204" pitchFamily="34" charset="0"/>
              </a:rPr>
              <a:t>MA.K12.MTR.7.1 Apply mathematics to real-world contexts.</a:t>
            </a:r>
          </a:p>
        </p:txBody>
      </p:sp>
      <p:sp>
        <p:nvSpPr>
          <p:cNvPr id="9" name="Google Shape;282;g104476d1465_1_17"/>
          <p:cNvSpPr txBox="1"/>
          <p:nvPr/>
        </p:nvSpPr>
        <p:spPr>
          <a:xfrm>
            <a:off x="874360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2729"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199" y="1600200"/>
            <a:ext cx="1070053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Verdana"/>
              <a:buChar char="❏"/>
            </a:pPr>
            <a:r>
              <a:rPr lang="en-US" sz="3500" dirty="0">
                <a:solidFill>
                  <a:schemeClr val="tx1"/>
                </a:solidFill>
                <a:latin typeface="Verdana"/>
                <a:ea typeface="Verdana"/>
                <a:cs typeface="Verdana"/>
                <a:sym typeface="Verdana"/>
              </a:rPr>
              <a:t>I can plot and compare rational numbers represented as a decimal or percent.</a:t>
            </a:r>
          </a:p>
        </p:txBody>
      </p:sp>
      <p:sp>
        <p:nvSpPr>
          <p:cNvPr id="8" name="Google Shape;282;g104476d1465_1_17"/>
          <p:cNvSpPr txBox="1"/>
          <p:nvPr/>
        </p:nvSpPr>
        <p:spPr>
          <a:xfrm>
            <a:off x="88045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906"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133528"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4232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7368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1358"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4.3.1 Warm-Up: Notice and Wonder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593248" y="1386025"/>
                <a:ext cx="8327136" cy="4834400"/>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The diagram gives the temperature, in Fahrenheit </a:t>
                </a:r>
                <a14:m>
                  <m:oMath xmlns:m="http://schemas.openxmlformats.org/officeDocument/2006/math">
                    <m:d>
                      <m:dPr>
                        <m:ctrlPr>
                          <a:rPr lang="en-PH" sz="2400" i="1">
                            <a:latin typeface="Cambria Math"/>
                            <a:ea typeface="Times New Roman"/>
                            <a:cs typeface="Times New Roman"/>
                          </a:rPr>
                        </m:ctrlPr>
                      </m:dPr>
                      <m:e>
                        <m:r>
                          <a:rPr lang="en-US" sz="2400" i="1">
                            <a:latin typeface="Cambria Math"/>
                            <a:ea typeface="Times New Roman"/>
                            <a:cs typeface="Times New Roman"/>
                          </a:rPr>
                          <m:t>℉</m:t>
                        </m:r>
                      </m:e>
                    </m:d>
                  </m:oMath>
                </a14:m>
                <a:r>
                  <a:rPr lang="en-US" sz="2400" dirty="0">
                    <a:latin typeface="Verdana"/>
                    <a:ea typeface="Verdana"/>
                    <a:cs typeface="Verdana"/>
                  </a:rPr>
                  <a:t> and in Celsius </a:t>
                </a:r>
                <a14:m>
                  <m:oMath xmlns:m="http://schemas.openxmlformats.org/officeDocument/2006/math">
                    <m:d>
                      <m:dPr>
                        <m:ctrlPr>
                          <a:rPr lang="en-PH" sz="2400" i="1">
                            <a:latin typeface="Cambria Math"/>
                            <a:ea typeface="Times New Roman"/>
                            <a:cs typeface="Times New Roman"/>
                          </a:rPr>
                        </m:ctrlPr>
                      </m:dPr>
                      <m:e>
                        <m:r>
                          <a:rPr lang="en-US" sz="2400" i="1">
                            <a:latin typeface="Cambria Math"/>
                            <a:ea typeface="Times New Roman"/>
                            <a:cs typeface="Times New Roman"/>
                          </a:rPr>
                          <m:t>℃</m:t>
                        </m:r>
                      </m:e>
                    </m:d>
                  </m:oMath>
                </a14:m>
                <a:r>
                  <a:rPr lang="en-US" sz="2400" dirty="0">
                    <a:latin typeface="Verdana"/>
                    <a:ea typeface="Verdana"/>
                    <a:cs typeface="Verdana"/>
                  </a:rPr>
                  <a:t>, for Memphis, Tennessee, and Bangor, Maine.</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
                </a:r>
                <a:br>
                  <a:rPr lang="en-US" sz="2400" dirty="0">
                    <a:latin typeface="Verdana"/>
                    <a:ea typeface="Verdana"/>
                    <a:cs typeface="Verdana"/>
                  </a:rPr>
                </a:br>
                <a:r>
                  <a:rPr lang="en-US" sz="2400" dirty="0">
                    <a:latin typeface="Verdana"/>
                    <a:ea typeface="Verdana"/>
                    <a:cs typeface="Verdana"/>
                  </a:rPr>
                  <a:t>What do you notice about the temperatures? </a:t>
                </a:r>
                <a:endParaRPr lang="en-PH" sz="2000" dirty="0">
                  <a:latin typeface="Cambria Math"/>
                  <a:ea typeface="Cambria Math"/>
                  <a:cs typeface="Cambria Math"/>
                </a:endParaRPr>
              </a:p>
              <a:p>
                <a:pPr marL="457200" indent="-457200">
                  <a:lnSpc>
                    <a:spcPct val="107000"/>
                  </a:lnSpc>
                  <a:buFont typeface="+mj-lt"/>
                  <a:buAutoNum type="arabicPeriod"/>
                </a:pPr>
                <a:endParaRPr lang="en-PH" sz="2400" dirty="0">
                  <a:latin typeface="Cambria"/>
                  <a:ea typeface="Times New Roman"/>
                  <a:cs typeface="Times New Roman"/>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93248" y="1386025"/>
                <a:ext cx="8327136" cy="4834400"/>
              </a:xfrm>
              <a:prstGeom prst="rect">
                <a:avLst/>
              </a:prstGeom>
              <a:blipFill>
                <a:blip r:embed="rId5"/>
                <a:stretch>
                  <a:fillRect l="-1065" t="-1047"/>
                </a:stretch>
              </a:blipFill>
            </p:spPr>
            <p:txBody>
              <a:bodyPr/>
              <a:lstStyle/>
              <a:p>
                <a:r>
                  <a:rPr lang="en-US">
                    <a:noFill/>
                  </a:rPr>
                  <a:t> </a:t>
                </a:r>
              </a:p>
            </p:txBody>
          </p:sp>
        </mc:Fallback>
      </mc:AlternateContent>
      <p:pic>
        <p:nvPicPr>
          <p:cNvPr id="9" name="image2.png"/>
          <p:cNvPicPr/>
          <p:nvPr/>
        </p:nvPicPr>
        <p:blipFill>
          <a:blip r:embed="rId6"/>
          <a:srcRect/>
          <a:stretch>
            <a:fillRect/>
          </a:stretch>
        </p:blipFill>
        <p:spPr>
          <a:xfrm>
            <a:off x="2321944" y="2729087"/>
            <a:ext cx="7164736" cy="2148276"/>
          </a:xfrm>
          <a:prstGeom prst="rect">
            <a:avLst/>
          </a:prstGeom>
          <a:ln/>
        </p:spPr>
      </p:pic>
      <p:sp>
        <p:nvSpPr>
          <p:cNvPr id="10" name="Google Shape;282;g104476d1465_1_17"/>
          <p:cNvSpPr txBox="1"/>
          <p:nvPr/>
        </p:nvSpPr>
        <p:spPr>
          <a:xfrm>
            <a:off x="875313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4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181"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1667" y="2766150"/>
            <a:ext cx="7206288"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65875" y="2849925"/>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839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081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49" y="-85979"/>
            <a:ext cx="1053659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4.3.2 Guided Instruction: </a:t>
            </a:r>
            <a:br>
              <a:rPr lang="en-US" sz="2800" b="1" dirty="0">
                <a:solidFill>
                  <a:srgbClr val="54B5D1"/>
                </a:solidFill>
                <a:latin typeface="Verdana"/>
                <a:ea typeface="Verdana"/>
                <a:cs typeface="Verdana"/>
                <a:sym typeface="Verdana"/>
              </a:rPr>
            </a:br>
            <a:r>
              <a:rPr lang="en-US" sz="2800" b="1" dirty="0">
                <a:solidFill>
                  <a:srgbClr val="54B5D1"/>
                </a:solidFill>
                <a:latin typeface="Verdana"/>
                <a:ea typeface="Verdana"/>
                <a:cs typeface="Verdana"/>
                <a:sym typeface="Verdana"/>
              </a:rPr>
              <a:t>Comparing and Ordering Decimals </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593248" y="1386025"/>
                <a:ext cx="8327136" cy="3802772"/>
              </a:xfrm>
              <a:prstGeom prst="rect">
                <a:avLst/>
              </a:prstGeom>
              <a:noFill/>
            </p:spPr>
            <p:txBody>
              <a:bodyPr wrap="square" rtlCol="0">
                <a:spAutoFit/>
              </a:bodyPr>
              <a:lstStyle/>
              <a:p>
                <a:pPr marL="457200" indent="-457200">
                  <a:lnSpc>
                    <a:spcPct val="107000"/>
                  </a:lnSpc>
                  <a:spcAft>
                    <a:spcPts val="1200"/>
                  </a:spcAft>
                  <a:buFont typeface="+mj-lt"/>
                  <a:buAutoNum type="arabicPeriod"/>
                </a:pPr>
                <a:r>
                  <a:rPr lang="en-US" sz="2400" dirty="0">
                    <a:latin typeface="Verdana"/>
                    <a:ea typeface="Verdana"/>
                    <a:cs typeface="Verdana"/>
                  </a:rPr>
                  <a:t>The table shows the lowest temperature, in degrees Celsius </a:t>
                </a:r>
                <a14:m>
                  <m:oMath xmlns:m="http://schemas.openxmlformats.org/officeDocument/2006/math">
                    <m:d>
                      <m:dPr>
                        <m:ctrlPr>
                          <a:rPr lang="en-PH" sz="2400" i="1">
                            <a:latin typeface="Cambria Math"/>
                            <a:ea typeface="Times New Roman"/>
                            <a:cs typeface="Times New Roman"/>
                          </a:rPr>
                        </m:ctrlPr>
                      </m:dPr>
                      <m:e>
                        <m:r>
                          <a:rPr lang="en-US" sz="2400" i="1">
                            <a:latin typeface="Cambria Math"/>
                            <a:ea typeface="Times New Roman"/>
                            <a:cs typeface="Times New Roman"/>
                          </a:rPr>
                          <m:t>℃</m:t>
                        </m:r>
                      </m:e>
                    </m:d>
                  </m:oMath>
                </a14:m>
                <a:r>
                  <a:rPr lang="en-US" sz="2400" dirty="0">
                    <a:latin typeface="Verdana"/>
                    <a:ea typeface="Verdana"/>
                    <a:cs typeface="Verdana"/>
                  </a:rPr>
                  <a:t>, for each day during the week of October 14, 2019, in Anchorage, Alaska.</a:t>
                </a:r>
              </a:p>
              <a:p>
                <a:pPr marL="457200" indent="-457200">
                  <a:lnSpc>
                    <a:spcPct val="107000"/>
                  </a:lnSpc>
                  <a:buFont typeface="+mj-lt"/>
                  <a:buAutoNum type="arabicPeriod"/>
                </a:pPr>
                <a:endParaRPr lang="en-US" sz="2400" dirty="0">
                  <a:latin typeface="Verdana"/>
                  <a:ea typeface="Verdana"/>
                  <a:cs typeface="Times New Roman"/>
                </a:endParaRPr>
              </a:p>
              <a:p>
                <a:pPr marL="457200" indent="-457200">
                  <a:lnSpc>
                    <a:spcPct val="107000"/>
                  </a:lnSpc>
                  <a:buFont typeface="+mj-lt"/>
                  <a:buAutoNum type="arabicPeriod"/>
                </a:pPr>
                <a:endParaRPr lang="en-US" sz="2400" dirty="0">
                  <a:latin typeface="Verdana"/>
                  <a:ea typeface="Verdana"/>
                  <a:cs typeface="Times New Roman"/>
                </a:endParaRPr>
              </a:p>
              <a:p>
                <a:pPr marL="457200" indent="-457200">
                  <a:lnSpc>
                    <a:spcPct val="107000"/>
                  </a:lnSpc>
                  <a:buFont typeface="+mj-lt"/>
                  <a:buAutoNum type="arabicPeriod"/>
                </a:pPr>
                <a:endParaRPr lang="en-US" sz="2400" dirty="0">
                  <a:latin typeface="Verdana"/>
                  <a:ea typeface="Verdana"/>
                  <a:cs typeface="Times New Roman"/>
                </a:endParaRPr>
              </a:p>
              <a:p>
                <a:pPr marL="457200" indent="-457200">
                  <a:lnSpc>
                    <a:spcPct val="107000"/>
                  </a:lnSpc>
                  <a:buFont typeface="+mj-lt"/>
                  <a:buAutoNum type="arabicPeriod"/>
                </a:pPr>
                <a:endParaRPr lang="en-US" sz="2400" dirty="0">
                  <a:latin typeface="Verdana"/>
                  <a:ea typeface="Verdana"/>
                  <a:cs typeface="Times New Roman"/>
                </a:endParaRPr>
              </a:p>
              <a:p>
                <a:pPr marL="457200" indent="-457200">
                  <a:lnSpc>
                    <a:spcPct val="107000"/>
                  </a:lnSpc>
                  <a:buFont typeface="+mj-lt"/>
                  <a:buAutoNum type="arabicPeriod"/>
                </a:pPr>
                <a:endParaRPr lang="en-US" sz="2400" dirty="0">
                  <a:latin typeface="Verdana"/>
                  <a:ea typeface="Verdana"/>
                  <a:cs typeface="Times New Roman"/>
                </a:endParaRPr>
              </a:p>
              <a:p>
                <a:pPr marL="893763" indent="-441325">
                  <a:lnSpc>
                    <a:spcPct val="107000"/>
                  </a:lnSpc>
                  <a:spcAft>
                    <a:spcPts val="1200"/>
                  </a:spcAft>
                  <a:buFont typeface="+mj-lt"/>
                  <a:buAutoNum type="alphaLcPeriod"/>
                </a:pPr>
                <a:r>
                  <a:rPr lang="en-US" sz="2400" dirty="0">
                    <a:latin typeface="Verdana"/>
                    <a:ea typeface="Verdana"/>
                    <a:cs typeface="Verdana"/>
                  </a:rPr>
                  <a:t>Plot the temperatures on the number line.</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8" y="1386025"/>
                <a:ext cx="8327136" cy="3802772"/>
              </a:xfrm>
              <a:prstGeom prst="rect">
                <a:avLst/>
              </a:prstGeom>
              <a:blipFill>
                <a:blip r:embed="rId5"/>
                <a:stretch>
                  <a:fillRect l="-1065" t="-1329" b="-1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037184796"/>
                  </p:ext>
                </p:extLst>
              </p:nvPr>
            </p:nvGraphicFramePr>
            <p:xfrm>
              <a:off x="2659117" y="2868491"/>
              <a:ext cx="7704000" cy="1308227"/>
            </p:xfrm>
            <a:graphic>
              <a:graphicData uri="http://schemas.openxmlformats.org/drawingml/2006/table">
                <a:tbl>
                  <a:tblPr bandRow="1"/>
                  <a:tblGrid>
                    <a:gridCol w="2160000">
                      <a:extLst>
                        <a:ext uri="{9D8B030D-6E8A-4147-A177-3AD203B41FA5}">
                          <a16:colId xmlns:a16="http://schemas.microsoft.com/office/drawing/2014/main" xmlns="" val="20000"/>
                        </a:ext>
                      </a:extLst>
                    </a:gridCol>
                    <a:gridCol w="792000">
                      <a:extLst>
                        <a:ext uri="{9D8B030D-6E8A-4147-A177-3AD203B41FA5}">
                          <a16:colId xmlns:a16="http://schemas.microsoft.com/office/drawing/2014/main" xmlns="" val="20001"/>
                        </a:ext>
                      </a:extLst>
                    </a:gridCol>
                    <a:gridCol w="792000">
                      <a:extLst>
                        <a:ext uri="{9D8B030D-6E8A-4147-A177-3AD203B41FA5}">
                          <a16:colId xmlns:a16="http://schemas.microsoft.com/office/drawing/2014/main" xmlns="" val="20002"/>
                        </a:ext>
                      </a:extLst>
                    </a:gridCol>
                    <a:gridCol w="792000">
                      <a:extLst>
                        <a:ext uri="{9D8B030D-6E8A-4147-A177-3AD203B41FA5}">
                          <a16:colId xmlns:a16="http://schemas.microsoft.com/office/drawing/2014/main" xmlns="" val="20003"/>
                        </a:ext>
                      </a:extLst>
                    </a:gridCol>
                    <a:gridCol w="792000">
                      <a:extLst>
                        <a:ext uri="{9D8B030D-6E8A-4147-A177-3AD203B41FA5}">
                          <a16:colId xmlns:a16="http://schemas.microsoft.com/office/drawing/2014/main" xmlns="" val="20004"/>
                        </a:ext>
                      </a:extLst>
                    </a:gridCol>
                    <a:gridCol w="792000">
                      <a:extLst>
                        <a:ext uri="{9D8B030D-6E8A-4147-A177-3AD203B41FA5}">
                          <a16:colId xmlns:a16="http://schemas.microsoft.com/office/drawing/2014/main" xmlns="" val="20005"/>
                        </a:ext>
                      </a:extLst>
                    </a:gridCol>
                    <a:gridCol w="792000">
                      <a:extLst>
                        <a:ext uri="{9D8B030D-6E8A-4147-A177-3AD203B41FA5}">
                          <a16:colId xmlns:a16="http://schemas.microsoft.com/office/drawing/2014/main" xmlns="" val="20006"/>
                        </a:ext>
                      </a:extLst>
                    </a:gridCol>
                    <a:gridCol w="792000">
                      <a:extLst>
                        <a:ext uri="{9D8B030D-6E8A-4147-A177-3AD203B41FA5}">
                          <a16:colId xmlns:a16="http://schemas.microsoft.com/office/drawing/2014/main" xmlns="" val="20007"/>
                        </a:ext>
                      </a:extLst>
                    </a:gridCol>
                  </a:tblGrid>
                  <a:tr h="564515">
                    <a:tc>
                      <a:txBody>
                        <a:bodyPr/>
                        <a:lstStyle/>
                        <a:p>
                          <a:pPr algn="ctr">
                            <a:lnSpc>
                              <a:spcPct val="107000"/>
                            </a:lnSpc>
                            <a:spcAft>
                              <a:spcPts val="800"/>
                            </a:spcAft>
                          </a:pPr>
                          <a:r>
                            <a:rPr lang="en-US" sz="2000" b="1" dirty="0">
                              <a:effectLst/>
                              <a:latin typeface="Verdana" pitchFamily="34" charset="0"/>
                              <a:ea typeface="Verdana" pitchFamily="34" charset="0"/>
                              <a:cs typeface="Verdana"/>
                            </a:rPr>
                            <a:t>Day</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Mon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Tue</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Wed</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Thu</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Fri</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Sun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53720">
                    <a:tc>
                      <a:txBody>
                        <a:bodyPr/>
                        <a:lstStyle/>
                        <a:p>
                          <a:pPr algn="ctr">
                            <a:lnSpc>
                              <a:spcPct val="107000"/>
                            </a:lnSpc>
                            <a:spcAft>
                              <a:spcPts val="800"/>
                            </a:spcAft>
                          </a:pPr>
                          <a:r>
                            <a:rPr lang="en-US" sz="2000" b="1" dirty="0">
                              <a:effectLst/>
                              <a:latin typeface="Verdana" pitchFamily="34" charset="0"/>
                              <a:ea typeface="Verdana" pitchFamily="34" charset="0"/>
                              <a:cs typeface="Verdana"/>
                            </a:rPr>
                            <a:t>Temperature (</a:t>
                          </a:r>
                          <a14:m>
                            <m:oMath xmlns:m="http://schemas.openxmlformats.org/officeDocument/2006/math">
                              <m:r>
                                <a:rPr lang="en-US" sz="2000" b="1" i="1">
                                  <a:effectLst/>
                                  <a:latin typeface="Cambria Math"/>
                                  <a:ea typeface="Cambria Math"/>
                                  <a:cs typeface="Cambria Math"/>
                                </a:rPr>
                                <m:t>℃</m:t>
                              </m:r>
                            </m:oMath>
                          </a14:m>
                          <a:r>
                            <a:rPr lang="en-US" sz="2000" b="1" dirty="0">
                              <a:effectLst/>
                              <a:latin typeface="Verdana" pitchFamily="34" charset="0"/>
                              <a:ea typeface="Verdana" pitchFamily="34" charset="0"/>
                              <a:cs typeface="Verdana"/>
                            </a:rPr>
                            <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4.2</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−3.7</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−0.75</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1.3</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2.8</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−0.1</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−2.6</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037184796"/>
                  </p:ext>
                </p:extLst>
              </p:nvPr>
            </p:nvGraphicFramePr>
            <p:xfrm>
              <a:off x="2659117" y="2868491"/>
              <a:ext cx="7704000" cy="1282446"/>
            </p:xfrm>
            <a:graphic>
              <a:graphicData uri="http://schemas.openxmlformats.org/drawingml/2006/table">
                <a:tbl>
                  <a:tblPr bandRow="1"/>
                  <a:tblGrid>
                    <a:gridCol w="2160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792000">
                      <a:extLst>
                        <a:ext uri="{9D8B030D-6E8A-4147-A177-3AD203B41FA5}">
                          <a16:colId xmlns:a16="http://schemas.microsoft.com/office/drawing/2014/main" val="20004"/>
                        </a:ext>
                      </a:extLst>
                    </a:gridCol>
                    <a:gridCol w="792000">
                      <a:extLst>
                        <a:ext uri="{9D8B030D-6E8A-4147-A177-3AD203B41FA5}">
                          <a16:colId xmlns:a16="http://schemas.microsoft.com/office/drawing/2014/main" val="20005"/>
                        </a:ext>
                      </a:extLst>
                    </a:gridCol>
                    <a:gridCol w="792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564515">
                    <a:tc>
                      <a:txBody>
                        <a:bodyPr/>
                        <a:lstStyle/>
                        <a:p>
                          <a:pPr algn="ctr">
                            <a:lnSpc>
                              <a:spcPct val="107000"/>
                            </a:lnSpc>
                            <a:spcAft>
                              <a:spcPts val="800"/>
                            </a:spcAft>
                          </a:pPr>
                          <a:r>
                            <a:rPr lang="en-US" sz="2000" b="1" dirty="0">
                              <a:effectLst/>
                              <a:latin typeface="Verdana" pitchFamily="34" charset="0"/>
                              <a:ea typeface="Verdana" pitchFamily="34" charset="0"/>
                              <a:cs typeface="Verdana"/>
                            </a:rPr>
                            <a:t>Day</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Mon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Tue</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Wed</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Thu</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Fri</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Sun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7931">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88" t="-78947" r="-258235"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429" t="-78947" r="-596825"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77419" t="-78947" r="-506452"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77419" t="-78947" r="-406452"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68254" t="-78947" r="-300000"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79032" t="-78947" r="-204839"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66667" t="-78947" r="-101587" b="-15789"/>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80645" t="-78947" r="-3226" b="-15789"/>
                          </a:stretch>
                        </a:blipFill>
                      </a:tcPr>
                    </a:tc>
                    <a:extLst>
                      <a:ext uri="{0D108BD9-81ED-4DB2-BD59-A6C34878D82A}">
                        <a16:rowId xmlns:a16="http://schemas.microsoft.com/office/drawing/2014/main" val="10001"/>
                      </a:ext>
                    </a:extLst>
                  </a:tr>
                </a:tbl>
              </a:graphicData>
            </a:graphic>
          </p:graphicFrame>
        </mc:Fallback>
      </mc:AlternateContent>
      <p:pic>
        <p:nvPicPr>
          <p:cNvPr id="10" name="Picture 9" descr="A screenshot of a social media post&#10;&#10;Description automatically generated"/>
          <p:cNvPicPr/>
          <p:nvPr/>
        </p:nvPicPr>
        <p:blipFill rotWithShape="1">
          <a:blip r:embed="rId7" cstate="screen">
            <a:extLst>
              <a:ext uri="{28A0092B-C50C-407E-A947-70E740481C1C}">
                <a14:useLocalDpi xmlns:a14="http://schemas.microsoft.com/office/drawing/2010/main"/>
              </a:ext>
            </a:extLst>
          </a:blip>
          <a:srcRect t="39051" b="37309"/>
          <a:stretch/>
        </p:blipFill>
        <p:spPr bwMode="auto">
          <a:xfrm>
            <a:off x="3069022" y="5373504"/>
            <a:ext cx="7265879" cy="498360"/>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732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2455" y="6228405"/>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632765" y="1896104"/>
            <a:ext cx="10812646" cy="4045338"/>
          </a:xfrm>
          <a:prstGeom prst="rect">
            <a:avLst/>
          </a:prstGeom>
          <a:noFill/>
        </p:spPr>
        <p:txBody>
          <a:bodyPr wrap="square" rtlCol="0">
            <a:spAutoFit/>
          </a:bodyPr>
          <a:lstStyle/>
          <a:p>
            <a:pPr marL="909638" indent="-457200">
              <a:lnSpc>
                <a:spcPct val="107000"/>
              </a:lnSpc>
              <a:buFont typeface="+mj-lt"/>
              <a:buAutoNum type="alphaLcPeriod" startAt="2"/>
            </a:pPr>
            <a:r>
              <a:rPr lang="en-US" sz="2200" dirty="0">
                <a:latin typeface="Verdana"/>
                <a:ea typeface="Verdana"/>
                <a:cs typeface="Verdana"/>
              </a:rPr>
              <a:t>Which temperature did you plot farthest to the left?</a:t>
            </a:r>
            <a:endParaRPr lang="en-PH" sz="2200" dirty="0">
              <a:latin typeface="Cambria"/>
              <a:ea typeface="Times New Roman"/>
              <a:cs typeface="Times New Roman"/>
            </a:endParaRP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r>
              <a:rPr lang="en-US" sz="2200" dirty="0">
                <a:latin typeface="Verdana" pitchFamily="34" charset="0"/>
                <a:ea typeface="Verdana" pitchFamily="34" charset="0"/>
                <a:cs typeface="Verdana"/>
              </a:rPr>
              <a:t>What day of the week is represented by the value that was plotted farthest to the left?</a:t>
            </a: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endParaRPr lang="en-US" sz="2200" dirty="0">
              <a:latin typeface="Verdana" pitchFamily="34" charset="0"/>
              <a:ea typeface="Verdana" pitchFamily="34" charset="0"/>
              <a:cs typeface="Verdana"/>
            </a:endParaRPr>
          </a:p>
          <a:p>
            <a:pPr marL="893763" indent="-441325">
              <a:lnSpc>
                <a:spcPct val="107000"/>
              </a:lnSpc>
              <a:buFont typeface="+mj-lt"/>
              <a:buAutoNum type="alphaLcPeriod" startAt="2"/>
            </a:pPr>
            <a:r>
              <a:rPr lang="en-US" sz="2200" dirty="0">
                <a:latin typeface="Verdana" pitchFamily="34" charset="0"/>
                <a:ea typeface="Verdana" pitchFamily="34" charset="0"/>
                <a:cs typeface="Verdana"/>
              </a:rPr>
              <a:t>Why does the location of the temperature that is plotted farthest to the left help determine which day had the lowermost temperature?</a:t>
            </a:r>
          </a:p>
        </p:txBody>
      </p:sp>
      <p:sp>
        <p:nvSpPr>
          <p:cNvPr id="7" name="Google Shape;282;g104476d1465_1_17"/>
          <p:cNvSpPr txBox="1"/>
          <p:nvPr/>
        </p:nvSpPr>
        <p:spPr>
          <a:xfrm>
            <a:off x="8794229" y="648548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C381065-5207-4C61-82D8-53750B93BE88}"/>
                  </a:ext>
                </a:extLst>
              </p:cNvPr>
              <p:cNvGraphicFramePr>
                <a:graphicFrameLocks noGrp="1"/>
              </p:cNvGraphicFramePr>
              <p:nvPr>
                <p:extLst>
                  <p:ext uri="{D42A27DB-BD31-4B8C-83A1-F6EECF244321}">
                    <p14:modId xmlns:p14="http://schemas.microsoft.com/office/powerpoint/2010/main" val="1030729814"/>
                  </p:ext>
                </p:extLst>
              </p:nvPr>
            </p:nvGraphicFramePr>
            <p:xfrm>
              <a:off x="2348976" y="326695"/>
              <a:ext cx="7704000" cy="1308227"/>
            </p:xfrm>
            <a:graphic>
              <a:graphicData uri="http://schemas.openxmlformats.org/drawingml/2006/table">
                <a:tbl>
                  <a:tblPr bandRow="1"/>
                  <a:tblGrid>
                    <a:gridCol w="2160000">
                      <a:extLst>
                        <a:ext uri="{9D8B030D-6E8A-4147-A177-3AD203B41FA5}">
                          <a16:colId xmlns:a16="http://schemas.microsoft.com/office/drawing/2014/main" xmlns="" val="589350059"/>
                        </a:ext>
                      </a:extLst>
                    </a:gridCol>
                    <a:gridCol w="792000">
                      <a:extLst>
                        <a:ext uri="{9D8B030D-6E8A-4147-A177-3AD203B41FA5}">
                          <a16:colId xmlns:a16="http://schemas.microsoft.com/office/drawing/2014/main" xmlns="" val="571489797"/>
                        </a:ext>
                      </a:extLst>
                    </a:gridCol>
                    <a:gridCol w="792000">
                      <a:extLst>
                        <a:ext uri="{9D8B030D-6E8A-4147-A177-3AD203B41FA5}">
                          <a16:colId xmlns:a16="http://schemas.microsoft.com/office/drawing/2014/main" xmlns="" val="1609203914"/>
                        </a:ext>
                      </a:extLst>
                    </a:gridCol>
                    <a:gridCol w="792000">
                      <a:extLst>
                        <a:ext uri="{9D8B030D-6E8A-4147-A177-3AD203B41FA5}">
                          <a16:colId xmlns:a16="http://schemas.microsoft.com/office/drawing/2014/main" xmlns="" val="4099124676"/>
                        </a:ext>
                      </a:extLst>
                    </a:gridCol>
                    <a:gridCol w="792000">
                      <a:extLst>
                        <a:ext uri="{9D8B030D-6E8A-4147-A177-3AD203B41FA5}">
                          <a16:colId xmlns:a16="http://schemas.microsoft.com/office/drawing/2014/main" xmlns="" val="2153387472"/>
                        </a:ext>
                      </a:extLst>
                    </a:gridCol>
                    <a:gridCol w="792000">
                      <a:extLst>
                        <a:ext uri="{9D8B030D-6E8A-4147-A177-3AD203B41FA5}">
                          <a16:colId xmlns:a16="http://schemas.microsoft.com/office/drawing/2014/main" xmlns="" val="1587417122"/>
                        </a:ext>
                      </a:extLst>
                    </a:gridCol>
                    <a:gridCol w="792000">
                      <a:extLst>
                        <a:ext uri="{9D8B030D-6E8A-4147-A177-3AD203B41FA5}">
                          <a16:colId xmlns:a16="http://schemas.microsoft.com/office/drawing/2014/main" xmlns="" val="214727566"/>
                        </a:ext>
                      </a:extLst>
                    </a:gridCol>
                    <a:gridCol w="792000">
                      <a:extLst>
                        <a:ext uri="{9D8B030D-6E8A-4147-A177-3AD203B41FA5}">
                          <a16:colId xmlns:a16="http://schemas.microsoft.com/office/drawing/2014/main" xmlns="" val="270129653"/>
                        </a:ext>
                      </a:extLst>
                    </a:gridCol>
                  </a:tblGrid>
                  <a:tr h="564515">
                    <a:tc>
                      <a:txBody>
                        <a:bodyPr/>
                        <a:lstStyle/>
                        <a:p>
                          <a:pPr algn="ctr">
                            <a:lnSpc>
                              <a:spcPct val="107000"/>
                            </a:lnSpc>
                            <a:spcAft>
                              <a:spcPts val="800"/>
                            </a:spcAft>
                          </a:pPr>
                          <a:r>
                            <a:rPr lang="en-US" sz="2000" b="1" dirty="0">
                              <a:effectLst/>
                              <a:latin typeface="Verdana" pitchFamily="34" charset="0"/>
                              <a:ea typeface="Verdana" pitchFamily="34" charset="0"/>
                              <a:cs typeface="Verdana"/>
                            </a:rPr>
                            <a:t>Day</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Mon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Tue</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Wed</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Thu</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Fri</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Sun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7418332"/>
                      </a:ext>
                    </a:extLst>
                  </a:tr>
                  <a:tr h="553720">
                    <a:tc>
                      <a:txBody>
                        <a:bodyPr/>
                        <a:lstStyle/>
                        <a:p>
                          <a:pPr algn="ctr">
                            <a:lnSpc>
                              <a:spcPct val="107000"/>
                            </a:lnSpc>
                            <a:spcAft>
                              <a:spcPts val="800"/>
                            </a:spcAft>
                          </a:pPr>
                          <a:r>
                            <a:rPr lang="en-US" sz="2000" b="1" dirty="0">
                              <a:effectLst/>
                              <a:latin typeface="Verdana" pitchFamily="34" charset="0"/>
                              <a:ea typeface="Verdana" pitchFamily="34" charset="0"/>
                              <a:cs typeface="Verdana"/>
                            </a:rPr>
                            <a:t>Temperature (</a:t>
                          </a:r>
                          <a14:m>
                            <m:oMath xmlns:m="http://schemas.openxmlformats.org/officeDocument/2006/math">
                              <m:r>
                                <a:rPr lang="en-US" sz="2000" b="1" i="1">
                                  <a:effectLst/>
                                  <a:latin typeface="Cambria Math"/>
                                  <a:ea typeface="Cambria Math"/>
                                  <a:cs typeface="Cambria Math"/>
                                </a:rPr>
                                <m:t>℃</m:t>
                              </m:r>
                            </m:oMath>
                          </a14:m>
                          <a:r>
                            <a:rPr lang="en-US" sz="2000" b="1" dirty="0">
                              <a:effectLst/>
                              <a:latin typeface="Verdana" pitchFamily="34" charset="0"/>
                              <a:ea typeface="Verdana" pitchFamily="34" charset="0"/>
                              <a:cs typeface="Verdana"/>
                            </a:rPr>
                            <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4.2</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−3.7</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−0.75</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1.3</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2.8</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−0.1</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−2.6</m:t>
                                </m:r>
                              </m:oMath>
                            </m:oMathPara>
                          </a14:m>
                          <a:endParaRPr lang="en-PH" sz="2000" dirty="0">
                            <a:effectLst/>
                            <a:latin typeface="Verdana" pitchFamily="34" charset="0"/>
                            <a:ea typeface="Verdana" pitchFamily="34" charset="0"/>
                            <a:cs typeface="Cambria Math"/>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71964905"/>
                      </a:ext>
                    </a:extLst>
                  </a:tr>
                </a:tbl>
              </a:graphicData>
            </a:graphic>
          </p:graphicFrame>
        </mc:Choice>
        <mc:Fallback xmlns="">
          <p:graphicFrame>
            <p:nvGraphicFramePr>
              <p:cNvPr id="3" name="Table 2">
                <a:extLst>
                  <a:ext uri="{FF2B5EF4-FFF2-40B4-BE49-F238E27FC236}">
                    <a16:creationId xmlns:a16="http://schemas.microsoft.com/office/drawing/2014/main" id="{0C381065-5207-4C61-82D8-53750B93BE88}"/>
                  </a:ext>
                </a:extLst>
              </p:cNvPr>
              <p:cNvGraphicFramePr>
                <a:graphicFrameLocks noGrp="1"/>
              </p:cNvGraphicFramePr>
              <p:nvPr>
                <p:extLst>
                  <p:ext uri="{D42A27DB-BD31-4B8C-83A1-F6EECF244321}">
                    <p14:modId xmlns:p14="http://schemas.microsoft.com/office/powerpoint/2010/main" val="1030729814"/>
                  </p:ext>
                </p:extLst>
              </p:nvPr>
            </p:nvGraphicFramePr>
            <p:xfrm>
              <a:off x="2348976" y="326695"/>
              <a:ext cx="7704000" cy="1282446"/>
            </p:xfrm>
            <a:graphic>
              <a:graphicData uri="http://schemas.openxmlformats.org/drawingml/2006/table">
                <a:tbl>
                  <a:tblPr bandRow="1"/>
                  <a:tblGrid>
                    <a:gridCol w="2160000">
                      <a:extLst>
                        <a:ext uri="{9D8B030D-6E8A-4147-A177-3AD203B41FA5}">
                          <a16:colId xmlns:a16="http://schemas.microsoft.com/office/drawing/2014/main" val="589350059"/>
                        </a:ext>
                      </a:extLst>
                    </a:gridCol>
                    <a:gridCol w="792000">
                      <a:extLst>
                        <a:ext uri="{9D8B030D-6E8A-4147-A177-3AD203B41FA5}">
                          <a16:colId xmlns:a16="http://schemas.microsoft.com/office/drawing/2014/main" val="571489797"/>
                        </a:ext>
                      </a:extLst>
                    </a:gridCol>
                    <a:gridCol w="792000">
                      <a:extLst>
                        <a:ext uri="{9D8B030D-6E8A-4147-A177-3AD203B41FA5}">
                          <a16:colId xmlns:a16="http://schemas.microsoft.com/office/drawing/2014/main" val="1609203914"/>
                        </a:ext>
                      </a:extLst>
                    </a:gridCol>
                    <a:gridCol w="792000">
                      <a:extLst>
                        <a:ext uri="{9D8B030D-6E8A-4147-A177-3AD203B41FA5}">
                          <a16:colId xmlns:a16="http://schemas.microsoft.com/office/drawing/2014/main" val="4099124676"/>
                        </a:ext>
                      </a:extLst>
                    </a:gridCol>
                    <a:gridCol w="792000">
                      <a:extLst>
                        <a:ext uri="{9D8B030D-6E8A-4147-A177-3AD203B41FA5}">
                          <a16:colId xmlns:a16="http://schemas.microsoft.com/office/drawing/2014/main" val="2153387472"/>
                        </a:ext>
                      </a:extLst>
                    </a:gridCol>
                    <a:gridCol w="792000">
                      <a:extLst>
                        <a:ext uri="{9D8B030D-6E8A-4147-A177-3AD203B41FA5}">
                          <a16:colId xmlns:a16="http://schemas.microsoft.com/office/drawing/2014/main" val="1587417122"/>
                        </a:ext>
                      </a:extLst>
                    </a:gridCol>
                    <a:gridCol w="792000">
                      <a:extLst>
                        <a:ext uri="{9D8B030D-6E8A-4147-A177-3AD203B41FA5}">
                          <a16:colId xmlns:a16="http://schemas.microsoft.com/office/drawing/2014/main" val="214727566"/>
                        </a:ext>
                      </a:extLst>
                    </a:gridCol>
                    <a:gridCol w="792000">
                      <a:extLst>
                        <a:ext uri="{9D8B030D-6E8A-4147-A177-3AD203B41FA5}">
                          <a16:colId xmlns:a16="http://schemas.microsoft.com/office/drawing/2014/main" val="270129653"/>
                        </a:ext>
                      </a:extLst>
                    </a:gridCol>
                  </a:tblGrid>
                  <a:tr h="564515">
                    <a:tc>
                      <a:txBody>
                        <a:bodyPr/>
                        <a:lstStyle/>
                        <a:p>
                          <a:pPr algn="ctr">
                            <a:lnSpc>
                              <a:spcPct val="107000"/>
                            </a:lnSpc>
                            <a:spcAft>
                              <a:spcPts val="800"/>
                            </a:spcAft>
                          </a:pPr>
                          <a:r>
                            <a:rPr lang="en-US" sz="2000" b="1" dirty="0">
                              <a:effectLst/>
                              <a:latin typeface="Verdana" pitchFamily="34" charset="0"/>
                              <a:ea typeface="Verdana" pitchFamily="34" charset="0"/>
                              <a:cs typeface="Verdana"/>
                            </a:rPr>
                            <a:t>Day</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Mon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Tue</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Wed</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Thu</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Fri</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Sat</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pitchFamily="34" charset="0"/>
                              <a:ea typeface="Verdana" pitchFamily="34" charset="0"/>
                              <a:cs typeface="Verdana"/>
                            </a:rPr>
                            <a:t>Sun</a:t>
                          </a:r>
                          <a:endParaRPr lang="en-PH" sz="2000" dirty="0">
                            <a:effectLst/>
                            <a:latin typeface="Verdana" pitchFamily="34" charset="0"/>
                            <a:ea typeface="Verdana" pitchFamily="34" charset="0"/>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418332"/>
                      </a:ext>
                    </a:extLst>
                  </a:tr>
                  <a:tr h="717931">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80702" r="-258235"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841" t="-80702" r="-596825"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75806" t="-80702" r="-506452"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8254" t="-80702" r="-398413"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7419" t="-80702" r="-304839"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66667" t="-80702" r="-200000"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79032" t="-80702" r="-103226" b="-14035"/>
                          </a:stretch>
                        </a:blipFill>
                      </a:tcPr>
                    </a:tc>
                    <a:tc>
                      <a:txBody>
                        <a:bodyPr/>
                        <a:lstStyle/>
                        <a:p>
                          <a:endParaRPr lang="en-US"/>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865079" t="-80702" r="-1587" b="-14035"/>
                          </a:stretch>
                        </a:blipFill>
                      </a:tcPr>
                    </a:tc>
                    <a:extLst>
                      <a:ext uri="{0D108BD9-81ED-4DB2-BD59-A6C34878D82A}">
                        <a16:rowId xmlns:a16="http://schemas.microsoft.com/office/drawing/2014/main" val="1871964905"/>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 y="-8225"/>
            <a:ext cx="229045"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9988"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2" y="288746"/>
                <a:ext cx="10974756" cy="5198474"/>
              </a:xfrm>
              <a:prstGeom prst="rect">
                <a:avLst/>
              </a:prstGeom>
              <a:noFill/>
            </p:spPr>
            <p:txBody>
              <a:bodyPr wrap="square" rtlCol="0">
                <a:spAutoFit/>
              </a:bodyPr>
              <a:lstStyle/>
              <a:p>
                <a:pPr marL="909638" indent="-457200">
                  <a:lnSpc>
                    <a:spcPct val="107000"/>
                  </a:lnSpc>
                  <a:spcAft>
                    <a:spcPts val="1200"/>
                  </a:spcAft>
                  <a:buFont typeface="+mj-lt"/>
                  <a:buAutoNum type="alphaLcPeriod" startAt="5"/>
                </a:pPr>
                <a:r>
                  <a:rPr lang="en-US" sz="2400" dirty="0">
                    <a:latin typeface="Verdana" pitchFamily="34" charset="0"/>
                    <a:ea typeface="Verdana" pitchFamily="34" charset="0"/>
                    <a:cs typeface="Verdana"/>
                  </a:rPr>
                  <a:t>Interpret the temperature in this context.</a:t>
                </a:r>
              </a:p>
              <a:p>
                <a:pPr marL="452438"/>
                <a:endParaRPr lang="en-US" sz="2400" i="1" dirty="0">
                  <a:latin typeface="Verdana" pitchFamily="34" charset="0"/>
                  <a:ea typeface="Verdana" pitchFamily="34" charset="0"/>
                </a:endParaRPr>
              </a:p>
              <a:p>
                <a:pPr marL="452438"/>
                <a:r>
                  <a:rPr lang="en-US" sz="2400" i="1" dirty="0">
                    <a:latin typeface="Verdana" pitchFamily="34" charset="0"/>
                    <a:ea typeface="Verdana" pitchFamily="34" charset="0"/>
                  </a:rPr>
                  <a:t>During the week of October 14, 2019, the lowermost temperature </a:t>
                </a:r>
              </a:p>
              <a:p>
                <a:pPr marL="452438"/>
                <a:endParaRPr lang="en-US" sz="2400" i="1" dirty="0">
                  <a:latin typeface="Verdana" pitchFamily="34" charset="0"/>
                  <a:ea typeface="Verdana" pitchFamily="34" charset="0"/>
                </a:endParaRPr>
              </a:p>
              <a:p>
                <a:pPr marL="452438"/>
                <a:r>
                  <a:rPr lang="en-US" sz="2400" i="1" dirty="0">
                    <a:latin typeface="Verdana" pitchFamily="34" charset="0"/>
                    <a:ea typeface="Verdana" pitchFamily="34" charset="0"/>
                  </a:rPr>
                  <a:t>was ______</a:t>
                </a:r>
                <a14:m>
                  <m:oMath xmlns:m="http://schemas.openxmlformats.org/officeDocument/2006/math">
                    <m:r>
                      <a:rPr lang="en-US" sz="2400" i="1">
                        <a:latin typeface="Cambria Math"/>
                      </a:rPr>
                      <m:t>℃</m:t>
                    </m:r>
                  </m:oMath>
                </a14:m>
                <a:r>
                  <a:rPr lang="en-US" sz="2400" i="1" dirty="0">
                    <a:latin typeface="Verdana" pitchFamily="34" charset="0"/>
                    <a:ea typeface="Verdana" pitchFamily="34" charset="0"/>
                  </a:rPr>
                  <a:t>. This was the  		      temperature reached </a:t>
                </a:r>
                <a:br>
                  <a:rPr lang="en-US" sz="2400" i="1" dirty="0">
                    <a:latin typeface="Verdana" pitchFamily="34" charset="0"/>
                    <a:ea typeface="Verdana" pitchFamily="34" charset="0"/>
                  </a:rPr>
                </a:br>
                <a:endParaRPr lang="en-US" sz="2400" i="1" dirty="0">
                  <a:latin typeface="Verdana" pitchFamily="34" charset="0"/>
                  <a:ea typeface="Verdana" pitchFamily="34" charset="0"/>
                </a:endParaRPr>
              </a:p>
              <a:p>
                <a:pPr marL="452438"/>
                <a:r>
                  <a:rPr lang="en-US" sz="2400" i="1" dirty="0">
                    <a:latin typeface="Verdana" pitchFamily="34" charset="0"/>
                    <a:ea typeface="Verdana" pitchFamily="34" charset="0"/>
                  </a:rPr>
                  <a:t>that week.</a:t>
                </a:r>
                <a:endParaRPr lang="en-US" sz="2400" dirty="0">
                  <a:latin typeface="Verdana" pitchFamily="34" charset="0"/>
                  <a:ea typeface="Verdana" pitchFamily="34" charset="0"/>
                  <a:cs typeface="Verdana"/>
                </a:endParaRPr>
              </a:p>
              <a:p>
                <a:pPr marL="893763" indent="-441325">
                  <a:lnSpc>
                    <a:spcPct val="107000"/>
                  </a:lnSpc>
                  <a:buFont typeface="+mj-lt"/>
                  <a:buAutoNum type="alphaLcPeriod" startAt="6"/>
                  <a:tabLst>
                    <a:tab pos="893763" algn="l"/>
                  </a:tabLst>
                </a:pPr>
                <a:endParaRPr lang="en-US" sz="2400" dirty="0">
                  <a:latin typeface="Verdana"/>
                  <a:ea typeface="Verdana"/>
                  <a:cs typeface="Verdana"/>
                </a:endParaRPr>
              </a:p>
              <a:p>
                <a:pPr marL="893763" indent="-441325">
                  <a:lnSpc>
                    <a:spcPct val="107000"/>
                  </a:lnSpc>
                  <a:buFont typeface="+mj-lt"/>
                  <a:buAutoNum type="alphaLcPeriod" startAt="6"/>
                  <a:tabLst>
                    <a:tab pos="893763" algn="l"/>
                  </a:tabLst>
                </a:pPr>
                <a:endParaRPr lang="en-US" sz="2400" dirty="0">
                  <a:latin typeface="Verdana"/>
                  <a:ea typeface="Verdana"/>
                  <a:cs typeface="Verdana"/>
                </a:endParaRPr>
              </a:p>
              <a:p>
                <a:pPr marL="893763" indent="-441325">
                  <a:lnSpc>
                    <a:spcPct val="107000"/>
                  </a:lnSpc>
                  <a:buFont typeface="+mj-lt"/>
                  <a:buAutoNum type="alphaLcPeriod" startAt="6"/>
                  <a:tabLst>
                    <a:tab pos="893763" algn="l"/>
                  </a:tabLst>
                </a:pPr>
                <a:r>
                  <a:rPr lang="en-US" sz="2400" dirty="0">
                    <a:latin typeface="Verdana"/>
                    <a:ea typeface="Verdana"/>
                    <a:cs typeface="Verdana"/>
                  </a:rPr>
                  <a:t>The inequality symbols, </a:t>
                </a:r>
                <a14:m>
                  <m:oMath xmlns:m="http://schemas.openxmlformats.org/officeDocument/2006/math">
                    <m:r>
                      <a:rPr lang="en-US" sz="2400" i="1">
                        <a:latin typeface="Cambria Math"/>
                        <a:ea typeface="Times New Roman"/>
                        <a:cs typeface="Times New Roman"/>
                      </a:rPr>
                      <m:t>&lt;</m:t>
                    </m:r>
                  </m:oMath>
                </a14:m>
                <a:r>
                  <a:rPr lang="en-US" sz="2400" dirty="0">
                    <a:latin typeface="Verdana"/>
                    <a:ea typeface="Verdana"/>
                    <a:cs typeface="Verdana"/>
                  </a:rPr>
                  <a:t> or </a:t>
                </a:r>
                <a14:m>
                  <m:oMath xmlns:m="http://schemas.openxmlformats.org/officeDocument/2006/math">
                    <m:r>
                      <a:rPr lang="en-US" sz="2400" i="1">
                        <a:latin typeface="Cambria Math"/>
                        <a:ea typeface="Times New Roman"/>
                        <a:cs typeface="Times New Roman"/>
                      </a:rPr>
                      <m:t>&gt;</m:t>
                    </m:r>
                  </m:oMath>
                </a14:m>
                <a:r>
                  <a:rPr lang="en-US" sz="2400" dirty="0">
                    <a:latin typeface="Verdana"/>
                    <a:ea typeface="Verdana"/>
                    <a:cs typeface="Verdana"/>
                  </a:rPr>
                  <a:t>, can be used to compare two of the daily low temperatures. Write an inequality that shows the relationship between two of the low temperatures for the week of October 14, 2019.</a:t>
                </a:r>
                <a:endParaRPr lang="en-PH" sz="2400" dirty="0">
                  <a:latin typeface="Cambria"/>
                  <a:ea typeface="Times New Roman"/>
                  <a:cs typeface="Times New Roman"/>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2" y="288746"/>
                <a:ext cx="10974756" cy="5198474"/>
              </a:xfrm>
              <a:prstGeom prst="rect">
                <a:avLst/>
              </a:prstGeom>
              <a:blipFill>
                <a:blip r:embed="rId4"/>
                <a:stretch>
                  <a:fillRect t="-1217" r="-231" b="-1703"/>
                </a:stretch>
              </a:blipFill>
            </p:spPr>
            <p:txBody>
              <a:bodyPr/>
              <a:lstStyle/>
              <a:p>
                <a:r>
                  <a:rPr lang="en-US">
                    <a:noFill/>
                  </a:rPr>
                  <a:t> </a:t>
                </a:r>
              </a:p>
            </p:txBody>
          </p:sp>
        </mc:Fallback>
      </mc:AlternateContent>
      <p:sp>
        <p:nvSpPr>
          <p:cNvPr id="7" name="Rectangle: Rounded Corners 1"/>
          <p:cNvSpPr/>
          <p:nvPr/>
        </p:nvSpPr>
        <p:spPr>
          <a:xfrm>
            <a:off x="5442362" y="1761506"/>
            <a:ext cx="1986058" cy="976535"/>
          </a:xfrm>
          <a:prstGeom prst="roundRect">
            <a:avLst>
              <a:gd name="adj" fmla="val 16667"/>
            </a:avLst>
          </a:prstGeom>
          <a:noFill/>
          <a:ln w="12700" cap="flat" cmpd="sng">
            <a:solidFill>
              <a:schemeClr val="tx1"/>
            </a:solidFill>
            <a:prstDash val="solid"/>
            <a:miter lim="800000"/>
            <a:headEnd type="none" w="sm" len="sm"/>
            <a:tailEnd type="none" w="sm" len="sm"/>
          </a:ln>
        </p:spPr>
        <p:txBody>
          <a:bodyPr spcFirstLastPara="1" wrap="square" lIns="91425" tIns="45700" rIns="91425" bIns="45700" anchor="ctr" anchorCtr="0">
            <a:spAutoFit/>
          </a:bodyPr>
          <a:lstStyle/>
          <a:p>
            <a:pPr marL="273050" indent="-219075">
              <a:lnSpc>
                <a:spcPct val="107000"/>
              </a:lnSpc>
              <a:buFont typeface="Courier New" pitchFamily="49" charset="0"/>
              <a:buChar char="o"/>
            </a:pPr>
            <a:r>
              <a:rPr lang="en-US" sz="2400" dirty="0">
                <a:latin typeface="Verdana"/>
                <a:ea typeface="Verdana"/>
                <a:cs typeface="Verdana"/>
              </a:rPr>
              <a:t>warmest</a:t>
            </a:r>
            <a:endParaRPr lang="en-PH" sz="2400" dirty="0">
              <a:latin typeface="Cambria"/>
              <a:ea typeface="Times New Roman"/>
              <a:cs typeface="Times New Roman"/>
            </a:endParaRPr>
          </a:p>
          <a:p>
            <a:pPr marL="273050" indent="-219075">
              <a:lnSpc>
                <a:spcPct val="107000"/>
              </a:lnSpc>
              <a:buFont typeface="Courier New" pitchFamily="49" charset="0"/>
              <a:buChar char="o"/>
            </a:pPr>
            <a:r>
              <a:rPr lang="en-US" sz="2400" dirty="0">
                <a:latin typeface="Verdana"/>
                <a:ea typeface="Verdana"/>
                <a:cs typeface="Verdana"/>
              </a:rPr>
              <a:t>coldest</a:t>
            </a:r>
            <a:endParaRPr lang="en-PH" sz="2400" dirty="0">
              <a:latin typeface="Cambria"/>
              <a:ea typeface="Times New Roman"/>
              <a:cs typeface="Times New Roman"/>
            </a:endParaRPr>
          </a:p>
        </p:txBody>
      </p:sp>
      <p:sp>
        <p:nvSpPr>
          <p:cNvPr id="8" name="Google Shape;282;g104476d1465_1_17"/>
          <p:cNvSpPr txBox="1"/>
          <p:nvPr/>
        </p:nvSpPr>
        <p:spPr>
          <a:xfrm>
            <a:off x="870176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Tree>
    <p:extLst>
      <p:ext uri="{BB962C8B-B14F-4D97-AF65-F5344CB8AC3E}">
        <p14:creationId xmlns:p14="http://schemas.microsoft.com/office/powerpoint/2010/main" val="186512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90732"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8442" y="624061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465231" y="288746"/>
            <a:ext cx="10846615" cy="5989973"/>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a:ea typeface="Verdana"/>
                <a:cs typeface="Verdana"/>
              </a:rPr>
              <a:t>Jayden, a data analyst, is comparing the populations of four different states to the population of the United States. His data is shown in the table.</a:t>
            </a: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457200" indent="-457200">
              <a:lnSpc>
                <a:spcPct val="107000"/>
              </a:lnSpc>
              <a:buFont typeface="+mj-lt"/>
              <a:buAutoNum type="arabicPeriod" startAt="2"/>
            </a:pPr>
            <a:endParaRPr lang="en-US" sz="2400" dirty="0">
              <a:latin typeface="Verdana"/>
              <a:ea typeface="Verdana"/>
              <a:cs typeface="Times New Roman"/>
            </a:endParaRPr>
          </a:p>
          <a:p>
            <a:pPr marL="893763" indent="-441325">
              <a:lnSpc>
                <a:spcPct val="107000"/>
              </a:lnSpc>
              <a:buFont typeface="+mj-lt"/>
              <a:buAutoNum type="alphaLcPeriod"/>
            </a:pPr>
            <a:r>
              <a:rPr lang="en-US" sz="2400" dirty="0">
                <a:latin typeface="Verdana"/>
                <a:ea typeface="Verdana"/>
                <a:cs typeface="Verdana"/>
              </a:rPr>
              <a:t>Choose two states to compare. Write or describe your comparison.</a:t>
            </a:r>
            <a:endParaRPr lang="en-PH" sz="2400" dirty="0">
              <a:latin typeface="Cambria"/>
              <a:ea typeface="Times New Roman"/>
              <a:cs typeface="Times New Roman"/>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83146615"/>
                  </p:ext>
                </p:extLst>
              </p:nvPr>
            </p:nvGraphicFramePr>
            <p:xfrm>
              <a:off x="2226000" y="1701165"/>
              <a:ext cx="7740000" cy="3472688"/>
            </p:xfrm>
            <a:graphic>
              <a:graphicData uri="http://schemas.openxmlformats.org/drawingml/2006/table">
                <a:tbl>
                  <a:tblPr bandRow="1"/>
                  <a:tblGrid>
                    <a:gridCol w="1620000">
                      <a:extLst>
                        <a:ext uri="{9D8B030D-6E8A-4147-A177-3AD203B41FA5}">
                          <a16:colId xmlns:a16="http://schemas.microsoft.com/office/drawing/2014/main" xmlns="" val="20000"/>
                        </a:ext>
                      </a:extLst>
                    </a:gridCol>
                    <a:gridCol w="3060000">
                      <a:extLst>
                        <a:ext uri="{9D8B030D-6E8A-4147-A177-3AD203B41FA5}">
                          <a16:colId xmlns:a16="http://schemas.microsoft.com/office/drawing/2014/main" xmlns="" val="20001"/>
                        </a:ext>
                      </a:extLst>
                    </a:gridCol>
                    <a:gridCol w="3060000">
                      <a:extLst>
                        <a:ext uri="{9D8B030D-6E8A-4147-A177-3AD203B41FA5}">
                          <a16:colId xmlns:a16="http://schemas.microsoft.com/office/drawing/2014/main" xmlns="" val="20002"/>
                        </a:ext>
                      </a:extLst>
                    </a:gridCol>
                  </a:tblGrid>
                  <a:tr h="1228090">
                    <a:tc>
                      <a:txBody>
                        <a:bodyPr/>
                        <a:lstStyle/>
                        <a:p>
                          <a:pPr algn="ctr">
                            <a:lnSpc>
                              <a:spcPct val="107000"/>
                            </a:lnSpc>
                            <a:spcAft>
                              <a:spcPts val="800"/>
                            </a:spcAft>
                          </a:pPr>
                          <a:r>
                            <a:rPr lang="en-US" sz="2000" b="1" dirty="0">
                              <a:effectLst/>
                              <a:latin typeface="Verdana"/>
                              <a:ea typeface="Verdana"/>
                              <a:cs typeface="Verdana"/>
                            </a:rPr>
                            <a:t>State</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dirty="0">
                              <a:effectLst/>
                              <a:latin typeface="Verdana"/>
                              <a:ea typeface="Verdana"/>
                              <a:cs typeface="Verdana"/>
                            </a:rPr>
                            <a:t>Population as a Portion of the </a:t>
                          </a:r>
                          <a:br>
                            <a:rPr lang="en-US" sz="2000" b="1" dirty="0">
                              <a:effectLst/>
                              <a:latin typeface="Verdana"/>
                              <a:ea typeface="Verdana"/>
                              <a:cs typeface="Verdana"/>
                            </a:rPr>
                          </a:br>
                          <a:r>
                            <a:rPr lang="en-US" sz="2000" b="1" dirty="0">
                              <a:effectLst/>
                              <a:latin typeface="Verdana"/>
                              <a:ea typeface="Verdana"/>
                              <a:cs typeface="Verdana"/>
                            </a:rPr>
                            <a:t>U.S. Population</a:t>
                          </a:r>
                          <a:endParaRPr lang="en-PH" sz="2000" dirty="0">
                            <a:effectLst/>
                            <a:latin typeface="Cambria Math"/>
                            <a:ea typeface="Cambria Math"/>
                            <a:cs typeface="Cambria Math"/>
                          </a:endParaRPr>
                        </a:p>
                        <a:p>
                          <a:pPr algn="ctr">
                            <a:lnSpc>
                              <a:spcPct val="107000"/>
                            </a:lnSpc>
                            <a:spcAft>
                              <a:spcPts val="0"/>
                            </a:spcAft>
                          </a:pPr>
                          <a:r>
                            <a:rPr lang="en-US" sz="2000" b="1" dirty="0">
                              <a:effectLst/>
                              <a:latin typeface="Verdana"/>
                              <a:ea typeface="Verdana"/>
                              <a:cs typeface="Verdana"/>
                            </a:rPr>
                            <a:t>(decimal form)</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dirty="0">
                              <a:effectLst/>
                              <a:latin typeface="Verdana"/>
                              <a:ea typeface="Verdana"/>
                              <a:cs typeface="Verdana"/>
                            </a:rPr>
                            <a:t>Population as a Percentage of the U.S. Population</a:t>
                          </a:r>
                          <a:endParaRPr lang="en-PH" sz="2000" dirty="0">
                            <a:effectLst/>
                            <a:latin typeface="Cambria Math"/>
                            <a:ea typeface="Cambria Math"/>
                            <a:cs typeface="Cambria Math"/>
                          </a:endParaRPr>
                        </a:p>
                        <a:p>
                          <a:pPr algn="ctr">
                            <a:lnSpc>
                              <a:spcPct val="107000"/>
                            </a:lnSpc>
                            <a:spcAft>
                              <a:spcPts val="0"/>
                            </a:spcAft>
                          </a:pPr>
                          <a:r>
                            <a:rPr lang="en-US" sz="2000" b="1" dirty="0">
                              <a:effectLst/>
                              <a:latin typeface="Verdana"/>
                              <a:ea typeface="Verdana"/>
                              <a:cs typeface="Verdana"/>
                            </a:rPr>
                            <a:t>(percent form)</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55308">
                    <a:tc>
                      <a:txBody>
                        <a:bodyPr/>
                        <a:lstStyle/>
                        <a:p>
                          <a:pPr algn="ctr">
                            <a:lnSpc>
                              <a:spcPct val="107000"/>
                            </a:lnSpc>
                            <a:spcAft>
                              <a:spcPts val="800"/>
                            </a:spcAft>
                          </a:pPr>
                          <a:r>
                            <a:rPr lang="en-US" sz="2000" dirty="0">
                              <a:effectLst/>
                              <a:latin typeface="Verdana"/>
                              <a:ea typeface="Verdana"/>
                              <a:cs typeface="Verdana"/>
                            </a:rPr>
                            <a:t>California</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0.119</m:t>
                                </m:r>
                              </m:oMath>
                            </m:oMathPara>
                          </a14:m>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272159">
                    <a:tc>
                      <a:txBody>
                        <a:bodyPr/>
                        <a:lstStyle/>
                        <a:p>
                          <a:pPr algn="ctr">
                            <a:lnSpc>
                              <a:spcPct val="107000"/>
                            </a:lnSpc>
                            <a:spcAft>
                              <a:spcPts val="800"/>
                            </a:spcAft>
                          </a:pPr>
                          <a:r>
                            <a:rPr lang="en-US" sz="2000" dirty="0">
                              <a:effectLst/>
                              <a:latin typeface="Verdana"/>
                              <a:ea typeface="Verdana"/>
                              <a:cs typeface="Verdana"/>
                            </a:rPr>
                            <a:t>Florida</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6.4%</m:t>
                                </m:r>
                              </m:oMath>
                            </m:oMathPara>
                          </a14:m>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236459">
                    <a:tc>
                      <a:txBody>
                        <a:bodyPr/>
                        <a:lstStyle/>
                        <a:p>
                          <a:pPr algn="ctr">
                            <a:lnSpc>
                              <a:spcPct val="107000"/>
                            </a:lnSpc>
                            <a:spcAft>
                              <a:spcPts val="800"/>
                            </a:spcAft>
                          </a:pPr>
                          <a:r>
                            <a:rPr lang="en-US" sz="2000">
                              <a:effectLst/>
                              <a:latin typeface="Verdana"/>
                              <a:ea typeface="Verdana"/>
                              <a:cs typeface="Verdana"/>
                            </a:rPr>
                            <a:t>New York</a:t>
                          </a:r>
                          <a:endParaRPr lang="en-PH" sz="200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5.9%</m:t>
                                </m:r>
                              </m:oMath>
                            </m:oMathPara>
                          </a14:m>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37394">
                    <a:tc>
                      <a:txBody>
                        <a:bodyPr/>
                        <a:lstStyle/>
                        <a:p>
                          <a:pPr algn="ctr">
                            <a:lnSpc>
                              <a:spcPct val="107000"/>
                            </a:lnSpc>
                            <a:spcAft>
                              <a:spcPts val="800"/>
                            </a:spcAft>
                          </a:pPr>
                          <a:r>
                            <a:rPr lang="en-US" sz="2000">
                              <a:effectLst/>
                              <a:latin typeface="Verdana"/>
                              <a:ea typeface="Verdana"/>
                              <a:cs typeface="Verdana"/>
                            </a:rPr>
                            <a:t>Texas</a:t>
                          </a:r>
                          <a:endParaRPr lang="en-PH" sz="200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0.087</m:t>
                                </m:r>
                              </m:oMath>
                            </m:oMathPara>
                          </a14:m>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83146615"/>
                  </p:ext>
                </p:extLst>
              </p:nvPr>
            </p:nvGraphicFramePr>
            <p:xfrm>
              <a:off x="2226000" y="1701165"/>
              <a:ext cx="7740000" cy="3455670"/>
            </p:xfrm>
            <a:graphic>
              <a:graphicData uri="http://schemas.openxmlformats.org/drawingml/2006/table">
                <a:tbl>
                  <a:tblPr bandRow="1"/>
                  <a:tblGrid>
                    <a:gridCol w="1620000">
                      <a:extLst>
                        <a:ext uri="{9D8B030D-6E8A-4147-A177-3AD203B41FA5}">
                          <a16:colId xmlns:a16="http://schemas.microsoft.com/office/drawing/2014/main" val="20000"/>
                        </a:ext>
                      </a:extLst>
                    </a:gridCol>
                    <a:gridCol w="3060000">
                      <a:extLst>
                        <a:ext uri="{9D8B030D-6E8A-4147-A177-3AD203B41FA5}">
                          <a16:colId xmlns:a16="http://schemas.microsoft.com/office/drawing/2014/main" val="20001"/>
                        </a:ext>
                      </a:extLst>
                    </a:gridCol>
                    <a:gridCol w="3060000">
                      <a:extLst>
                        <a:ext uri="{9D8B030D-6E8A-4147-A177-3AD203B41FA5}">
                          <a16:colId xmlns:a16="http://schemas.microsoft.com/office/drawing/2014/main" val="20002"/>
                        </a:ext>
                      </a:extLst>
                    </a:gridCol>
                  </a:tblGrid>
                  <a:tr h="1378966">
                    <a:tc>
                      <a:txBody>
                        <a:bodyPr/>
                        <a:lstStyle/>
                        <a:p>
                          <a:pPr algn="ctr">
                            <a:lnSpc>
                              <a:spcPct val="107000"/>
                            </a:lnSpc>
                            <a:spcAft>
                              <a:spcPts val="800"/>
                            </a:spcAft>
                          </a:pPr>
                          <a:r>
                            <a:rPr lang="en-US" sz="2000" b="1" dirty="0">
                              <a:effectLst/>
                              <a:latin typeface="Verdana"/>
                              <a:ea typeface="Verdana"/>
                              <a:cs typeface="Verdana"/>
                            </a:rPr>
                            <a:t>State</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dirty="0">
                              <a:effectLst/>
                              <a:latin typeface="Verdana"/>
                              <a:ea typeface="Verdana"/>
                              <a:cs typeface="Verdana"/>
                            </a:rPr>
                            <a:t>Population as a Portion of the </a:t>
                          </a:r>
                          <a:br>
                            <a:rPr lang="en-US" sz="2000" b="1" dirty="0">
                              <a:effectLst/>
                              <a:latin typeface="Verdana"/>
                              <a:ea typeface="Verdana"/>
                              <a:cs typeface="Verdana"/>
                            </a:rPr>
                          </a:br>
                          <a:r>
                            <a:rPr lang="en-US" sz="2000" b="1" dirty="0">
                              <a:effectLst/>
                              <a:latin typeface="Verdana"/>
                              <a:ea typeface="Verdana"/>
                              <a:cs typeface="Verdana"/>
                            </a:rPr>
                            <a:t>U.S. Population</a:t>
                          </a:r>
                          <a:endParaRPr lang="en-PH" sz="2000" dirty="0">
                            <a:effectLst/>
                            <a:latin typeface="Cambria Math"/>
                            <a:ea typeface="Cambria Math"/>
                            <a:cs typeface="Cambria Math"/>
                          </a:endParaRPr>
                        </a:p>
                        <a:p>
                          <a:pPr algn="ctr">
                            <a:lnSpc>
                              <a:spcPct val="107000"/>
                            </a:lnSpc>
                            <a:spcAft>
                              <a:spcPts val="0"/>
                            </a:spcAft>
                          </a:pPr>
                          <a:r>
                            <a:rPr lang="en-US" sz="2000" b="1" dirty="0">
                              <a:effectLst/>
                              <a:latin typeface="Verdana"/>
                              <a:ea typeface="Verdana"/>
                              <a:cs typeface="Verdana"/>
                            </a:rPr>
                            <a:t>(decimal form)</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dirty="0">
                              <a:effectLst/>
                              <a:latin typeface="Verdana"/>
                              <a:ea typeface="Verdana"/>
                              <a:cs typeface="Verdana"/>
                            </a:rPr>
                            <a:t>Population as a Percentage of the U.S. Population</a:t>
                          </a:r>
                          <a:endParaRPr lang="en-PH" sz="2000" dirty="0">
                            <a:effectLst/>
                            <a:latin typeface="Cambria Math"/>
                            <a:ea typeface="Cambria Math"/>
                            <a:cs typeface="Cambria Math"/>
                          </a:endParaRPr>
                        </a:p>
                        <a:p>
                          <a:pPr algn="ctr">
                            <a:lnSpc>
                              <a:spcPct val="107000"/>
                            </a:lnSpc>
                            <a:spcAft>
                              <a:spcPts val="0"/>
                            </a:spcAft>
                          </a:pPr>
                          <a:r>
                            <a:rPr lang="en-US" sz="2000" b="1" dirty="0">
                              <a:effectLst/>
                              <a:latin typeface="Verdana"/>
                              <a:ea typeface="Verdana"/>
                              <a:cs typeface="Verdana"/>
                            </a:rPr>
                            <a:t>(percent form)</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19176">
                    <a:tc>
                      <a:txBody>
                        <a:bodyPr/>
                        <a:lstStyle/>
                        <a:p>
                          <a:pPr algn="ctr">
                            <a:lnSpc>
                              <a:spcPct val="107000"/>
                            </a:lnSpc>
                            <a:spcAft>
                              <a:spcPts val="800"/>
                            </a:spcAft>
                          </a:pPr>
                          <a:r>
                            <a:rPr lang="en-US" sz="2000" dirty="0">
                              <a:effectLst/>
                              <a:latin typeface="Verdana"/>
                              <a:ea typeface="Verdana"/>
                              <a:cs typeface="Verdana"/>
                            </a:rPr>
                            <a:t>California</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527" t="-266667" r="-100415" b="-297619"/>
                          </a:stretch>
                        </a:blipFill>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176">
                    <a:tc>
                      <a:txBody>
                        <a:bodyPr/>
                        <a:lstStyle/>
                        <a:p>
                          <a:pPr algn="ctr">
                            <a:lnSpc>
                              <a:spcPct val="107000"/>
                            </a:lnSpc>
                            <a:spcAft>
                              <a:spcPts val="800"/>
                            </a:spcAft>
                          </a:pPr>
                          <a:r>
                            <a:rPr lang="en-US" sz="2000" dirty="0">
                              <a:effectLst/>
                              <a:latin typeface="Verdana"/>
                              <a:ea typeface="Verdana"/>
                              <a:cs typeface="Verdana"/>
                            </a:rPr>
                            <a:t>Florida</a:t>
                          </a:r>
                          <a:endParaRPr lang="en-PH" sz="2000" dirty="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3527" t="-375610" r="-415" b="-204878"/>
                          </a:stretch>
                        </a:blipFill>
                      </a:tcPr>
                    </a:tc>
                    <a:extLst>
                      <a:ext uri="{0D108BD9-81ED-4DB2-BD59-A6C34878D82A}">
                        <a16:rowId xmlns:a16="http://schemas.microsoft.com/office/drawing/2014/main" val="10002"/>
                      </a:ext>
                    </a:extLst>
                  </a:tr>
                  <a:tr h="519176">
                    <a:tc>
                      <a:txBody>
                        <a:bodyPr/>
                        <a:lstStyle/>
                        <a:p>
                          <a:pPr algn="ctr">
                            <a:lnSpc>
                              <a:spcPct val="107000"/>
                            </a:lnSpc>
                            <a:spcAft>
                              <a:spcPts val="800"/>
                            </a:spcAft>
                          </a:pPr>
                          <a:r>
                            <a:rPr lang="en-US" sz="2000">
                              <a:effectLst/>
                              <a:latin typeface="Verdana"/>
                              <a:ea typeface="Verdana"/>
                              <a:cs typeface="Verdana"/>
                            </a:rPr>
                            <a:t>New York</a:t>
                          </a:r>
                          <a:endParaRPr lang="en-PH" sz="200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3527" t="-475610" r="-415" b="-104878"/>
                          </a:stretch>
                        </a:blipFill>
                      </a:tcPr>
                    </a:tc>
                    <a:extLst>
                      <a:ext uri="{0D108BD9-81ED-4DB2-BD59-A6C34878D82A}">
                        <a16:rowId xmlns:a16="http://schemas.microsoft.com/office/drawing/2014/main" val="10003"/>
                      </a:ext>
                    </a:extLst>
                  </a:tr>
                  <a:tr h="519176">
                    <a:tc>
                      <a:txBody>
                        <a:bodyPr/>
                        <a:lstStyle/>
                        <a:p>
                          <a:pPr algn="ctr">
                            <a:lnSpc>
                              <a:spcPct val="107000"/>
                            </a:lnSpc>
                            <a:spcAft>
                              <a:spcPts val="800"/>
                            </a:spcAft>
                          </a:pPr>
                          <a:r>
                            <a:rPr lang="en-US" sz="2000">
                              <a:effectLst/>
                              <a:latin typeface="Verdana"/>
                              <a:ea typeface="Verdana"/>
                              <a:cs typeface="Verdana"/>
                            </a:rPr>
                            <a:t>Texas</a:t>
                          </a:r>
                          <a:endParaRPr lang="en-PH" sz="2000">
                            <a:effectLst/>
                            <a:latin typeface="Cambria Math"/>
                            <a:ea typeface="Cambria Math"/>
                            <a:cs typeface="Cambria Math"/>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527" t="-575610" r="-100415" b="-4878"/>
                          </a:stretch>
                        </a:blipFill>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9" name="Google Shape;282;g104476d1465_1_17"/>
          <p:cNvSpPr txBox="1"/>
          <p:nvPr/>
        </p:nvSpPr>
        <p:spPr>
          <a:xfrm>
            <a:off x="8880216" y="64976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Tree>
    <p:extLst>
      <p:ext uri="{BB962C8B-B14F-4D97-AF65-F5344CB8AC3E}">
        <p14:creationId xmlns:p14="http://schemas.microsoft.com/office/powerpoint/2010/main" val="2507277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1" y="296971"/>
                <a:ext cx="11093195" cy="5342168"/>
              </a:xfrm>
              <a:prstGeom prst="rect">
                <a:avLst/>
              </a:prstGeom>
              <a:noFill/>
            </p:spPr>
            <p:txBody>
              <a:bodyPr wrap="square" rtlCol="0">
                <a:spAutoFit/>
              </a:bodyPr>
              <a:lstStyle/>
              <a:p>
                <a:pPr marL="893763" indent="-441325">
                  <a:lnSpc>
                    <a:spcPct val="107000"/>
                  </a:lnSpc>
                  <a:spcAft>
                    <a:spcPts val="1200"/>
                  </a:spcAft>
                  <a:buFont typeface="+mj-lt"/>
                  <a:buAutoNum type="alphaLcPeriod" startAt="2"/>
                </a:pPr>
                <a:r>
                  <a:rPr lang="en-US" sz="2400" dirty="0">
                    <a:latin typeface="Verdana"/>
                    <a:ea typeface="Verdana"/>
                    <a:cs typeface="Verdana"/>
                  </a:rPr>
                  <a:t>Olivia and Anthony’s strategies for comparing California and New York are explained below.</a:t>
                </a:r>
                <a:endParaRPr lang="en-PH" sz="2400" dirty="0">
                  <a:latin typeface="Cambria Math"/>
                  <a:ea typeface="Cambria Math"/>
                  <a:cs typeface="Cambria Math"/>
                </a:endParaRPr>
              </a:p>
              <a:p>
                <a:pPr marL="920750">
                  <a:lnSpc>
                    <a:spcPct val="115000"/>
                  </a:lnSpc>
                  <a:spcAft>
                    <a:spcPts val="1200"/>
                  </a:spcAft>
                </a:pPr>
                <a:r>
                  <a:rPr lang="en-US" sz="2400" i="1" dirty="0">
                    <a:latin typeface="Verdana"/>
                    <a:ea typeface="Verdana"/>
                    <a:cs typeface="Verdana"/>
                  </a:rPr>
                  <a:t>Olivia explained, “I know that percent represents the part per 100, so the population of New York is approximately </a:t>
                </a:r>
                <a14:m>
                  <m:oMath xmlns:m="http://schemas.openxmlformats.org/officeDocument/2006/math">
                    <m:f>
                      <m:fPr>
                        <m:ctrlPr>
                          <a:rPr lang="en-PH" sz="2400" i="1">
                            <a:latin typeface="Cambria Math"/>
                            <a:ea typeface="Cambria Math"/>
                            <a:cs typeface="Cambria Math"/>
                          </a:rPr>
                        </m:ctrlPr>
                      </m:fPr>
                      <m:num>
                        <m:r>
                          <a:rPr lang="en-US" sz="2400" i="1">
                            <a:latin typeface="Cambria Math"/>
                            <a:ea typeface="Cambria Math"/>
                            <a:cs typeface="Cambria Math"/>
                          </a:rPr>
                          <m:t>6</m:t>
                        </m:r>
                      </m:num>
                      <m:den>
                        <m:r>
                          <a:rPr lang="en-US" sz="2400" i="1">
                            <a:latin typeface="Cambria Math"/>
                            <a:ea typeface="Cambria Math"/>
                            <a:cs typeface="Cambria Math"/>
                          </a:rPr>
                          <m:t>100</m:t>
                        </m:r>
                      </m:den>
                    </m:f>
                  </m:oMath>
                </a14:m>
                <a:r>
                  <a:rPr lang="en-US" sz="2400" i="1" dirty="0">
                    <a:latin typeface="Verdana"/>
                    <a:ea typeface="Verdana"/>
                    <a:cs typeface="Verdana"/>
                  </a:rPr>
                  <a:t> of the population of the U.S. The portion of the U.S. population living in California is approximately </a:t>
                </a:r>
                <a14:m>
                  <m:oMath xmlns:m="http://schemas.openxmlformats.org/officeDocument/2006/math">
                    <m:r>
                      <a:rPr lang="en-US" sz="2400" i="1">
                        <a:latin typeface="Cambria Math"/>
                        <a:ea typeface="Cambria Math"/>
                        <a:cs typeface="Cambria Math"/>
                      </a:rPr>
                      <m:t>12</m:t>
                    </m:r>
                  </m:oMath>
                </a14:m>
                <a:r>
                  <a:rPr lang="en-US" sz="2400" i="1" dirty="0">
                    <a:latin typeface="Verdana"/>
                    <a:ea typeface="Verdana"/>
                    <a:cs typeface="Verdana"/>
                  </a:rPr>
                  <a:t> hundredths, or </a:t>
                </a:r>
                <a14:m>
                  <m:oMath xmlns:m="http://schemas.openxmlformats.org/officeDocument/2006/math">
                    <m:f>
                      <m:fPr>
                        <m:ctrlPr>
                          <a:rPr lang="en-PH" sz="2400" i="1">
                            <a:latin typeface="Cambria Math"/>
                            <a:ea typeface="Cambria Math"/>
                            <a:cs typeface="Cambria Math"/>
                          </a:rPr>
                        </m:ctrlPr>
                      </m:fPr>
                      <m:num>
                        <m:r>
                          <a:rPr lang="en-US" sz="2400" i="1">
                            <a:latin typeface="Cambria Math"/>
                            <a:ea typeface="Cambria Math"/>
                            <a:cs typeface="Cambria Math"/>
                          </a:rPr>
                          <m:t>12</m:t>
                        </m:r>
                      </m:num>
                      <m:den>
                        <m:r>
                          <a:rPr lang="en-US" sz="2400" i="1">
                            <a:latin typeface="Cambria Math"/>
                            <a:ea typeface="Cambria Math"/>
                            <a:cs typeface="Cambria Math"/>
                          </a:rPr>
                          <m:t>100</m:t>
                        </m:r>
                      </m:den>
                    </m:f>
                  </m:oMath>
                </a14:m>
                <a:r>
                  <a:rPr lang="en-US" sz="2400" i="1" dirty="0">
                    <a:latin typeface="Verdana"/>
                    <a:ea typeface="Verdana"/>
                    <a:cs typeface="Verdana"/>
                  </a:rPr>
                  <a:t>. Therefore, more people live in California than in New York.”</a:t>
                </a:r>
                <a:endParaRPr lang="en-PH" sz="2400" dirty="0">
                  <a:latin typeface="Cambria Math"/>
                  <a:ea typeface="Cambria Math"/>
                  <a:cs typeface="Cambria Math"/>
                </a:endParaRPr>
              </a:p>
              <a:p>
                <a:pPr marL="920750">
                  <a:lnSpc>
                    <a:spcPct val="115000"/>
                  </a:lnSpc>
                </a:pPr>
                <a:r>
                  <a:rPr lang="en-US" sz="2400" i="1" dirty="0">
                    <a:latin typeface="Verdana"/>
                    <a:ea typeface="Verdana"/>
                    <a:cs typeface="Verdana"/>
                  </a:rPr>
                  <a:t>Anthony explained, “I can convert </a:t>
                </a:r>
                <a14:m>
                  <m:oMath xmlns:m="http://schemas.openxmlformats.org/officeDocument/2006/math">
                    <m:r>
                      <a:rPr lang="en-US" sz="2400" i="1">
                        <a:latin typeface="Cambria Math"/>
                        <a:ea typeface="Cambria Math"/>
                        <a:cs typeface="Cambria Math"/>
                      </a:rPr>
                      <m:t>5.9%</m:t>
                    </m:r>
                  </m:oMath>
                </a14:m>
                <a:r>
                  <a:rPr lang="en-US" sz="2400" i="1" dirty="0">
                    <a:latin typeface="Verdana"/>
                    <a:ea typeface="Verdana"/>
                    <a:cs typeface="Verdana"/>
                  </a:rPr>
                  <a:t> to a decimal by dividing </a:t>
                </a:r>
                <a14:m>
                  <m:oMath xmlns:m="http://schemas.openxmlformats.org/officeDocument/2006/math">
                    <m:r>
                      <a:rPr lang="en-US" sz="2400" i="1">
                        <a:latin typeface="Cambria Math"/>
                        <a:ea typeface="Cambria Math"/>
                        <a:cs typeface="Cambria Math"/>
                      </a:rPr>
                      <m:t>5.9</m:t>
                    </m:r>
                  </m:oMath>
                </a14:m>
                <a:r>
                  <a:rPr lang="en-US" sz="2400" i="1" dirty="0">
                    <a:latin typeface="Verdana"/>
                    <a:ea typeface="Verdana"/>
                    <a:cs typeface="Verdana"/>
                  </a:rPr>
                  <a:t> by </a:t>
                </a:r>
                <a14:m>
                  <m:oMath xmlns:m="http://schemas.openxmlformats.org/officeDocument/2006/math">
                    <m:r>
                      <a:rPr lang="en-US" sz="2400" i="1">
                        <a:latin typeface="Cambria Math"/>
                        <a:ea typeface="Cambria Math"/>
                        <a:cs typeface="Cambria Math"/>
                      </a:rPr>
                      <m:t>100</m:t>
                    </m:r>
                  </m:oMath>
                </a14:m>
                <a:r>
                  <a:rPr lang="en-US" sz="2400" i="1" dirty="0">
                    <a:latin typeface="Verdana"/>
                    <a:ea typeface="Verdana"/>
                    <a:cs typeface="Verdana"/>
                  </a:rPr>
                  <a:t>. So </a:t>
                </a:r>
                <a14:m>
                  <m:oMath xmlns:m="http://schemas.openxmlformats.org/officeDocument/2006/math">
                    <m:r>
                      <a:rPr lang="en-US" sz="2400" i="1">
                        <a:latin typeface="Cambria Math"/>
                        <a:ea typeface="Cambria Math"/>
                        <a:cs typeface="Cambria Math"/>
                      </a:rPr>
                      <m:t>5.9%</m:t>
                    </m:r>
                  </m:oMath>
                </a14:m>
                <a:r>
                  <a:rPr lang="en-US" sz="2400" i="1" dirty="0">
                    <a:latin typeface="Verdana"/>
                    <a:ea typeface="Verdana"/>
                    <a:cs typeface="Verdana"/>
                  </a:rPr>
                  <a:t> can also be represented by </a:t>
                </a:r>
                <a14:m>
                  <m:oMath xmlns:m="http://schemas.openxmlformats.org/officeDocument/2006/math">
                    <m:r>
                      <a:rPr lang="en-US" sz="2400" i="1">
                        <a:latin typeface="Cambria Math"/>
                        <a:ea typeface="Cambria Math"/>
                        <a:cs typeface="Cambria Math"/>
                      </a:rPr>
                      <m:t>0.059</m:t>
                    </m:r>
                  </m:oMath>
                </a14:m>
                <a:r>
                  <a:rPr lang="en-US" sz="2400" i="1" dirty="0">
                    <a:latin typeface="Verdana"/>
                    <a:ea typeface="Verdana"/>
                    <a:cs typeface="Verdana"/>
                  </a:rPr>
                  <a:t>. I know </a:t>
                </a:r>
                <a14:m>
                  <m:oMath xmlns:m="http://schemas.openxmlformats.org/officeDocument/2006/math">
                    <m:r>
                      <a:rPr lang="en-US" sz="2400" i="1">
                        <a:latin typeface="Cambria Math"/>
                        <a:ea typeface="Cambria Math"/>
                        <a:cs typeface="Cambria Math"/>
                      </a:rPr>
                      <m:t>0.119</m:t>
                    </m:r>
                  </m:oMath>
                </a14:m>
                <a:r>
                  <a:rPr lang="en-US" sz="2400" i="1" dirty="0">
                    <a:latin typeface="Verdana"/>
                    <a:ea typeface="Verdana"/>
                    <a:cs typeface="Verdana"/>
                  </a:rPr>
                  <a:t> is greater than </a:t>
                </a:r>
                <a14:m>
                  <m:oMath xmlns:m="http://schemas.openxmlformats.org/officeDocument/2006/math">
                    <m:r>
                      <a:rPr lang="en-US" sz="2400" i="1">
                        <a:latin typeface="Cambria Math"/>
                        <a:ea typeface="Cambria Math"/>
                        <a:cs typeface="Cambria Math"/>
                      </a:rPr>
                      <m:t>0.059</m:t>
                    </m:r>
                  </m:oMath>
                </a14:m>
                <a:r>
                  <a:rPr lang="en-US" sz="2400" i="1" dirty="0">
                    <a:latin typeface="Verdana"/>
                    <a:ea typeface="Verdana"/>
                    <a:cs typeface="Verdana"/>
                  </a:rPr>
                  <a:t>. Therefore, more people live in California than in New York.”</a:t>
                </a:r>
                <a:endParaRPr lang="en-PH" sz="2400" dirty="0">
                  <a:latin typeface="Cambria Math"/>
                  <a:ea typeface="Cambria Math"/>
                  <a:cs typeface="Cambria Math"/>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1" y="296971"/>
                <a:ext cx="11093195" cy="5342168"/>
              </a:xfrm>
              <a:prstGeom prst="rect">
                <a:avLst/>
              </a:prstGeom>
              <a:blipFill>
                <a:blip r:embed="rId3"/>
                <a:stretch>
                  <a:fillRect t="-1185" b="-1185"/>
                </a:stretch>
              </a:blipFill>
            </p:spPr>
            <p:txBody>
              <a:bodyPr/>
              <a:lstStyle/>
              <a:p>
                <a:r>
                  <a:rPr lang="en-US">
                    <a:noFill/>
                  </a:rPr>
                  <a:t> </a:t>
                </a:r>
              </a:p>
            </p:txBody>
          </p:sp>
        </mc:Fallback>
      </mc:AlternateContent>
      <p:sp>
        <p:nvSpPr>
          <p:cNvPr id="278" name="Google Shape;278;g104476d1465_1_17"/>
          <p:cNvSpPr/>
          <p:nvPr/>
        </p:nvSpPr>
        <p:spPr>
          <a:xfrm>
            <a:off x="-1" y="0"/>
            <a:ext cx="297341"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8426"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2020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Tree>
    <p:extLst>
      <p:ext uri="{BB962C8B-B14F-4D97-AF65-F5344CB8AC3E}">
        <p14:creationId xmlns:p14="http://schemas.microsoft.com/office/powerpoint/2010/main" val="2728249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86326"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1358"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465231" y="296970"/>
            <a:ext cx="10682229" cy="862095"/>
          </a:xfrm>
          <a:prstGeom prst="rect">
            <a:avLst/>
          </a:prstGeom>
          <a:noFill/>
        </p:spPr>
        <p:txBody>
          <a:bodyPr wrap="square" rtlCol="0">
            <a:spAutoFit/>
          </a:bodyPr>
          <a:lstStyle/>
          <a:p>
            <a:pPr marL="914400">
              <a:lnSpc>
                <a:spcPct val="107000"/>
              </a:lnSpc>
            </a:pPr>
            <a:r>
              <a:rPr lang="en-US" sz="2400" dirty="0">
                <a:latin typeface="Verdana"/>
                <a:ea typeface="Verdana"/>
                <a:cs typeface="Verdana"/>
              </a:rPr>
              <a:t>Olivia and Anthony both used different methods to come to the same conclusion. Discuss their methods with a partner. </a:t>
            </a:r>
            <a:endParaRPr lang="en-PH" sz="2000" dirty="0">
              <a:latin typeface="Cambria Math"/>
              <a:ea typeface="Cambria Math"/>
              <a:cs typeface="Cambria Math"/>
            </a:endParaRPr>
          </a:p>
        </p:txBody>
      </p:sp>
      <p:graphicFrame>
        <p:nvGraphicFramePr>
          <p:cNvPr id="4" name="Table 3"/>
          <p:cNvGraphicFramePr>
            <a:graphicFrameLocks noGrp="1"/>
          </p:cNvGraphicFramePr>
          <p:nvPr>
            <p:extLst>
              <p:ext uri="{D42A27DB-BD31-4B8C-83A1-F6EECF244321}">
                <p14:modId xmlns:p14="http://schemas.microsoft.com/office/powerpoint/2010/main" val="4148369611"/>
              </p:ext>
            </p:extLst>
          </p:nvPr>
        </p:nvGraphicFramePr>
        <p:xfrm>
          <a:off x="2640000" y="1723825"/>
          <a:ext cx="6912000" cy="4476775"/>
        </p:xfrm>
        <a:graphic>
          <a:graphicData uri="http://schemas.openxmlformats.org/drawingml/2006/table">
            <a:tbl>
              <a:tblPr bandRow="1"/>
              <a:tblGrid>
                <a:gridCol w="3456000">
                  <a:extLst>
                    <a:ext uri="{9D8B030D-6E8A-4147-A177-3AD203B41FA5}">
                      <a16:colId xmlns:a16="http://schemas.microsoft.com/office/drawing/2014/main" xmlns="" val="20000"/>
                    </a:ext>
                  </a:extLst>
                </a:gridCol>
                <a:gridCol w="3456000">
                  <a:extLst>
                    <a:ext uri="{9D8B030D-6E8A-4147-A177-3AD203B41FA5}">
                      <a16:colId xmlns:a16="http://schemas.microsoft.com/office/drawing/2014/main" xmlns="" val="20001"/>
                    </a:ext>
                  </a:extLst>
                </a:gridCol>
              </a:tblGrid>
              <a:tr h="0">
                <a:tc>
                  <a:txBody>
                    <a:bodyPr/>
                    <a:lstStyle/>
                    <a:p>
                      <a:pPr algn="ctr">
                        <a:lnSpc>
                          <a:spcPct val="107000"/>
                        </a:lnSpc>
                        <a:spcAft>
                          <a:spcPts val="800"/>
                        </a:spcAft>
                      </a:pPr>
                      <a:r>
                        <a:rPr lang="en-US" sz="2000" b="1" dirty="0">
                          <a:effectLst/>
                          <a:latin typeface="Verdana"/>
                          <a:ea typeface="Verdana"/>
                          <a:cs typeface="Verdana"/>
                        </a:rPr>
                        <a:t>Olivia’s Method</a:t>
                      </a:r>
                      <a:endParaRPr lang="en-PH" sz="2000" dirty="0">
                        <a:effectLst/>
                        <a:latin typeface="Cambria Math"/>
                        <a:ea typeface="Cambria Math"/>
                        <a:cs typeface="Cambria Math"/>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800"/>
                        </a:spcAft>
                      </a:pPr>
                      <a:r>
                        <a:rPr lang="en-US" sz="2000" b="1" dirty="0">
                          <a:effectLst/>
                          <a:latin typeface="Verdana"/>
                          <a:ea typeface="Verdana"/>
                          <a:cs typeface="Verdana"/>
                        </a:rPr>
                        <a:t>Anthony’s Method</a:t>
                      </a:r>
                      <a:endParaRPr lang="en-PH" sz="2000" dirty="0">
                        <a:effectLst/>
                        <a:latin typeface="Cambria Math"/>
                        <a:ea typeface="Cambria Math"/>
                        <a:cs typeface="Cambria Math"/>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4076217">
                <a:tc>
                  <a:txBody>
                    <a:bodyPr/>
                    <a:lstStyle/>
                    <a:p>
                      <a:pPr algn="ctr">
                        <a:lnSpc>
                          <a:spcPct val="107000"/>
                        </a:lnSpc>
                        <a:spcAft>
                          <a:spcPts val="800"/>
                        </a:spcAft>
                      </a:pPr>
                      <a:r>
                        <a:rPr lang="en-US" sz="2000">
                          <a:effectLst/>
                          <a:latin typeface="Verdana"/>
                          <a:ea typeface="Verdana"/>
                          <a:cs typeface="Verdana"/>
                        </a:rPr>
                        <a:t> </a:t>
                      </a:r>
                      <a:endParaRPr lang="en-PH" sz="2000">
                        <a:effectLst/>
                        <a:latin typeface="Cambria Math"/>
                        <a:ea typeface="Cambria Math"/>
                        <a:cs typeface="Cambria Math"/>
                      </a:endParaRPr>
                    </a:p>
                    <a:p>
                      <a:pPr algn="ctr">
                        <a:lnSpc>
                          <a:spcPct val="107000"/>
                        </a:lnSpc>
                        <a:spcAft>
                          <a:spcPts val="800"/>
                        </a:spcAft>
                      </a:pPr>
                      <a:r>
                        <a:rPr lang="en-US" sz="2000">
                          <a:effectLst/>
                          <a:latin typeface="Verdana"/>
                          <a:ea typeface="Verdana"/>
                          <a:cs typeface="Verdana"/>
                        </a:rPr>
                        <a:t> </a:t>
                      </a:r>
                      <a:endParaRPr lang="en-PH" sz="2000">
                        <a:effectLst/>
                        <a:latin typeface="Cambria Math"/>
                        <a:ea typeface="Cambria Math"/>
                        <a:cs typeface="Cambria Math"/>
                      </a:endParaRPr>
                    </a:p>
                    <a:p>
                      <a:pPr algn="ctr">
                        <a:lnSpc>
                          <a:spcPct val="107000"/>
                        </a:lnSpc>
                        <a:spcAft>
                          <a:spcPts val="800"/>
                        </a:spcAft>
                      </a:pPr>
                      <a:r>
                        <a:rPr lang="en-US" sz="2000">
                          <a:effectLst/>
                          <a:latin typeface="Verdana"/>
                          <a:ea typeface="Verdana"/>
                          <a:cs typeface="Verdana"/>
                        </a:rPr>
                        <a:t> </a:t>
                      </a:r>
                      <a:endParaRPr lang="en-PH" sz="2000">
                        <a:effectLst/>
                        <a:latin typeface="Cambria Math"/>
                        <a:ea typeface="Cambria Math"/>
                        <a:cs typeface="Cambria Math"/>
                      </a:endParaRPr>
                    </a:p>
                    <a:p>
                      <a:pPr algn="ctr">
                        <a:lnSpc>
                          <a:spcPct val="107000"/>
                        </a:lnSpc>
                        <a:spcAft>
                          <a:spcPts val="800"/>
                        </a:spcAft>
                      </a:pPr>
                      <a:r>
                        <a:rPr lang="en-US" sz="2000">
                          <a:effectLst/>
                          <a:latin typeface="Verdana"/>
                          <a:ea typeface="Verdana"/>
                          <a:cs typeface="Verdana"/>
                        </a:rPr>
                        <a:t> </a:t>
                      </a:r>
                      <a:endParaRPr lang="en-PH" sz="2000">
                        <a:effectLst/>
                        <a:latin typeface="Cambria Math"/>
                        <a:ea typeface="Cambria Math"/>
                        <a:cs typeface="Cambria Math"/>
                      </a:endParaRPr>
                    </a:p>
                    <a:p>
                      <a:pPr algn="ctr">
                        <a:lnSpc>
                          <a:spcPct val="107000"/>
                        </a:lnSpc>
                        <a:spcAft>
                          <a:spcPts val="800"/>
                        </a:spcAft>
                      </a:pPr>
                      <a:r>
                        <a:rPr lang="en-US" sz="2000">
                          <a:effectLst/>
                          <a:latin typeface="Verdana"/>
                          <a:ea typeface="Verdana"/>
                          <a:cs typeface="Verdana"/>
                        </a:rPr>
                        <a:t> </a:t>
                      </a:r>
                      <a:endParaRPr lang="en-PH" sz="2000">
                        <a:effectLst/>
                        <a:latin typeface="Cambria Math"/>
                        <a:ea typeface="Cambria Math"/>
                        <a:cs typeface="Cambria Math"/>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Verdana"/>
                          <a:ea typeface="Verdana"/>
                          <a:cs typeface="Verdana"/>
                        </a:rPr>
                        <a:t> </a:t>
                      </a:r>
                      <a:endParaRPr lang="en-PH" sz="2000" dirty="0">
                        <a:effectLst/>
                        <a:latin typeface="Cambria Math"/>
                        <a:ea typeface="Cambria Math"/>
                        <a:cs typeface="Cambria Math"/>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0" name="Google Shape;282;g104476d1465_1_17"/>
          <p:cNvSpPr txBox="1"/>
          <p:nvPr/>
        </p:nvSpPr>
        <p:spPr>
          <a:xfrm>
            <a:off x="875313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Tree>
    <p:extLst>
      <p:ext uri="{BB962C8B-B14F-4D97-AF65-F5344CB8AC3E}">
        <p14:creationId xmlns:p14="http://schemas.microsoft.com/office/powerpoint/2010/main" val="332612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0536" y="624061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465231" y="288746"/>
            <a:ext cx="11113743" cy="5624745"/>
          </a:xfrm>
          <a:prstGeom prst="rect">
            <a:avLst/>
          </a:prstGeom>
          <a:noFill/>
        </p:spPr>
        <p:txBody>
          <a:bodyPr wrap="square" rtlCol="0">
            <a:spAutoFit/>
          </a:bodyPr>
          <a:lstStyle/>
          <a:p>
            <a:pPr marL="893763" indent="-441325">
              <a:lnSpc>
                <a:spcPct val="107000"/>
              </a:lnSpc>
              <a:buFont typeface="+mj-lt"/>
              <a:buAutoNum type="alphaLcPeriod" startAt="3"/>
              <a:tabLst>
                <a:tab pos="893763" algn="l"/>
              </a:tabLst>
            </a:pPr>
            <a:r>
              <a:rPr lang="en-US" sz="2400" dirty="0">
                <a:latin typeface="Verdana"/>
                <a:ea typeface="Verdana"/>
                <a:cs typeface="Verdana"/>
              </a:rPr>
              <a:t>Complete each inequality statement below to compare the given values. </a:t>
            </a: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r>
              <a:rPr lang="en-US" sz="2400" dirty="0">
                <a:latin typeface="Verdana"/>
                <a:ea typeface="Verdana"/>
                <a:cs typeface="Verdana"/>
              </a:rPr>
              <a:t>In which of the four states does the highest portion of the U.S. population live? </a:t>
            </a: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endParaRPr lang="en-US" sz="2400" dirty="0">
              <a:latin typeface="Verdana"/>
              <a:ea typeface="Verdana"/>
              <a:cs typeface="Verdana"/>
            </a:endParaRPr>
          </a:p>
          <a:p>
            <a:pPr marL="893763" indent="-441325">
              <a:lnSpc>
                <a:spcPct val="107000"/>
              </a:lnSpc>
              <a:buFont typeface="+mj-lt"/>
              <a:buAutoNum type="alphaLcPeriod" startAt="3"/>
              <a:tabLst>
                <a:tab pos="893763" algn="l"/>
              </a:tabLst>
            </a:pPr>
            <a:r>
              <a:rPr lang="en-US" sz="2400" dirty="0">
                <a:latin typeface="Verdana"/>
                <a:ea typeface="Verdana"/>
                <a:cs typeface="Verdana"/>
              </a:rPr>
              <a:t>In which of the four states does the smallest portion of the U.S. population live?</a:t>
            </a:r>
            <a:endParaRPr lang="en-PH" sz="2400" dirty="0">
              <a:latin typeface="Cambria"/>
              <a:ea typeface="Times New Roman"/>
              <a:cs typeface="Times New Roman"/>
            </a:endParaRPr>
          </a:p>
          <a:p>
            <a:pPr marL="342900" indent="-342900">
              <a:lnSpc>
                <a:spcPct val="107000"/>
              </a:lnSpc>
              <a:buFont typeface="+mj-lt"/>
              <a:buAutoNum type="alphaLcPeriod"/>
            </a:pPr>
            <a:endParaRPr lang="en-PH" sz="2400" dirty="0">
              <a:latin typeface="Cambria"/>
              <a:ea typeface="Times New Roman"/>
              <a:cs typeface="Times New Roman"/>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84554786"/>
                  </p:ext>
                </p:extLst>
              </p:nvPr>
            </p:nvGraphicFramePr>
            <p:xfrm>
              <a:off x="2424000" y="1513938"/>
              <a:ext cx="7344000" cy="391351"/>
            </p:xfrm>
            <a:graphic>
              <a:graphicData uri="http://schemas.openxmlformats.org/drawingml/2006/table">
                <a:tbl>
                  <a:tblPr bandRow="1"/>
                  <a:tblGrid>
                    <a:gridCol w="2448000">
                      <a:extLst>
                        <a:ext uri="{9D8B030D-6E8A-4147-A177-3AD203B41FA5}">
                          <a16:colId xmlns:a16="http://schemas.microsoft.com/office/drawing/2014/main" xmlns="" val="20000"/>
                        </a:ext>
                      </a:extLst>
                    </a:gridCol>
                    <a:gridCol w="2448000">
                      <a:extLst>
                        <a:ext uri="{9D8B030D-6E8A-4147-A177-3AD203B41FA5}">
                          <a16:colId xmlns:a16="http://schemas.microsoft.com/office/drawing/2014/main" xmlns="" val="20001"/>
                        </a:ext>
                      </a:extLst>
                    </a:gridCol>
                    <a:gridCol w="2448000">
                      <a:extLst>
                        <a:ext uri="{9D8B030D-6E8A-4147-A177-3AD203B41FA5}">
                          <a16:colId xmlns:a16="http://schemas.microsoft.com/office/drawing/2014/main" xmlns="" val="20002"/>
                        </a:ext>
                      </a:extLst>
                    </a:gridCol>
                  </a:tblGrid>
                  <a:tr h="384175">
                    <a:tc>
                      <a:txBody>
                        <a:bodyPr/>
                        <a:lstStyle/>
                        <a:p>
                          <a:pPr marL="501015" indent="-457200">
                            <a:lnSpc>
                              <a:spcPct val="107000"/>
                            </a:lnSpc>
                            <a:spcAft>
                              <a:spcPts val="800"/>
                            </a:spcAft>
                          </a:pPr>
                          <a14:m>
                            <m:oMath xmlns:m="http://schemas.openxmlformats.org/officeDocument/2006/math">
                              <m:r>
                                <a:rPr lang="en-US" sz="2400" i="1">
                                  <a:effectLst/>
                                  <a:latin typeface="Cambria Math"/>
                                  <a:ea typeface="Cambria Math"/>
                                  <a:cs typeface="Cambria Math"/>
                                </a:rPr>
                                <m:t>0.119</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6.4%</m:t>
                              </m:r>
                            </m:oMath>
                          </a14:m>
                          <a:endParaRPr lang="en-PH" sz="2400" dirty="0">
                            <a:effectLst/>
                            <a:latin typeface="Cambria Math"/>
                            <a:ea typeface="Cambria Math"/>
                            <a:cs typeface="Cambria Math"/>
                          </a:endParaRPr>
                        </a:p>
                      </a:txBody>
                      <a:tcPr marL="68580" marR="68580" marT="0" marB="0" anchor="ctr">
                        <a:lnL>
                          <a:noFill/>
                        </a:lnL>
                        <a:lnR>
                          <a:noFill/>
                        </a:lnR>
                        <a:lnT>
                          <a:noFill/>
                        </a:lnT>
                        <a:lnB>
                          <a:noFill/>
                        </a:lnB>
                      </a:tcPr>
                    </a:tc>
                    <a:tc>
                      <a:txBody>
                        <a:bodyPr/>
                        <a:lstStyle/>
                        <a:p>
                          <a:pPr marL="389255" indent="-457200" algn="ctr">
                            <a:lnSpc>
                              <a:spcPct val="107000"/>
                            </a:lnSpc>
                            <a:spcAft>
                              <a:spcPts val="800"/>
                            </a:spcAft>
                          </a:pPr>
                          <a14:m>
                            <m:oMath xmlns:m="http://schemas.openxmlformats.org/officeDocument/2006/math">
                              <m:r>
                                <a:rPr lang="en-US" sz="2400" i="1">
                                  <a:effectLst/>
                                  <a:latin typeface="Cambria Math"/>
                                  <a:ea typeface="Cambria Math"/>
                                  <a:cs typeface="Cambria Math"/>
                                </a:rPr>
                                <m:t>6.4%</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0.087</m:t>
                              </m:r>
                            </m:oMath>
                          </a14:m>
                          <a:endParaRPr lang="en-PH" sz="2400" dirty="0">
                            <a:effectLst/>
                            <a:latin typeface="Cambria Math"/>
                            <a:ea typeface="Cambria Math"/>
                            <a:cs typeface="Cambria Math"/>
                          </a:endParaRPr>
                        </a:p>
                      </a:txBody>
                      <a:tcPr marL="68580" marR="68580" marT="0" marB="0" anchor="ctr">
                        <a:lnL>
                          <a:noFill/>
                        </a:lnL>
                        <a:lnR>
                          <a:noFill/>
                        </a:lnR>
                        <a:lnT>
                          <a:noFill/>
                        </a:lnT>
                        <a:lnB>
                          <a:noFill/>
                        </a:lnB>
                      </a:tcPr>
                    </a:tc>
                    <a:tc>
                      <a:txBody>
                        <a:bodyPr/>
                        <a:lstStyle/>
                        <a:p>
                          <a:pPr marL="443865" indent="-457200" algn="r">
                            <a:lnSpc>
                              <a:spcPct val="107000"/>
                            </a:lnSpc>
                            <a:spcAft>
                              <a:spcPts val="800"/>
                            </a:spcAft>
                          </a:pPr>
                          <a14:m>
                            <m:oMath xmlns:m="http://schemas.openxmlformats.org/officeDocument/2006/math">
                              <m:r>
                                <a:rPr lang="en-US" sz="2400" i="1">
                                  <a:effectLst/>
                                  <a:latin typeface="Cambria Math"/>
                                  <a:ea typeface="Cambria Math"/>
                                  <a:cs typeface="Cambria Math"/>
                                </a:rPr>
                                <m:t>0.087</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5.9%</m:t>
                              </m:r>
                            </m:oMath>
                          </a14:m>
                          <a:endParaRPr lang="en-PH" sz="2400" dirty="0">
                            <a:effectLst/>
                            <a:latin typeface="Cambria Math"/>
                            <a:ea typeface="Cambria Math"/>
                            <a:cs typeface="Cambria Math"/>
                          </a:endParaRPr>
                        </a:p>
                      </a:txBody>
                      <a:tcPr marL="68580" marR="68580" marT="0" marB="0" anchor="ctr">
                        <a:lnL>
                          <a:noFill/>
                        </a:lnL>
                        <a:lnR>
                          <a:noFill/>
                        </a:lnR>
                        <a:lnT>
                          <a:noFill/>
                        </a:lnT>
                        <a:lnB>
                          <a:noFill/>
                        </a:lnB>
                      </a:tcPr>
                    </a:tc>
                    <a:extLst>
                      <a:ext uri="{0D108BD9-81ED-4DB2-BD59-A6C34878D82A}">
                        <a16:rowId xmlns:a16="http://schemas.microsoft.com/office/drawing/2014/main" xmlns=""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84554786"/>
                  </p:ext>
                </p:extLst>
              </p:nvPr>
            </p:nvGraphicFramePr>
            <p:xfrm>
              <a:off x="2424000" y="1513938"/>
              <a:ext cx="7344000" cy="384175"/>
            </p:xfrm>
            <a:graphic>
              <a:graphicData uri="http://schemas.openxmlformats.org/drawingml/2006/table">
                <a:tbl>
                  <a:tblPr bandRow="1"/>
                  <a:tblGrid>
                    <a:gridCol w="2448000">
                      <a:extLst>
                        <a:ext uri="{9D8B030D-6E8A-4147-A177-3AD203B41FA5}">
                          <a16:colId xmlns:a16="http://schemas.microsoft.com/office/drawing/2014/main" val="20000"/>
                        </a:ext>
                      </a:extLst>
                    </a:gridCol>
                    <a:gridCol w="2448000">
                      <a:extLst>
                        <a:ext uri="{9D8B030D-6E8A-4147-A177-3AD203B41FA5}">
                          <a16:colId xmlns:a16="http://schemas.microsoft.com/office/drawing/2014/main" val="20001"/>
                        </a:ext>
                      </a:extLst>
                    </a:gridCol>
                    <a:gridCol w="2448000">
                      <a:extLst>
                        <a:ext uri="{9D8B030D-6E8A-4147-A177-3AD203B41FA5}">
                          <a16:colId xmlns:a16="http://schemas.microsoft.com/office/drawing/2014/main" val="20002"/>
                        </a:ext>
                      </a:extLst>
                    </a:gridCol>
                  </a:tblGrid>
                  <a:tr h="384175">
                    <a:tc>
                      <a:txBody>
                        <a:bodyPr/>
                        <a:lstStyle/>
                        <a:p>
                          <a:endParaRPr lang="en-US"/>
                        </a:p>
                      </a:txBody>
                      <a:tcPr marL="68580" marR="68580" marT="0" marB="0" anchor="ctr">
                        <a:lnL>
                          <a:noFill/>
                        </a:lnL>
                        <a:lnR>
                          <a:noFill/>
                        </a:lnR>
                        <a:lnT>
                          <a:noFill/>
                        </a:lnT>
                        <a:lnB>
                          <a:noFill/>
                        </a:lnB>
                        <a:blipFill>
                          <a:blip r:embed="rId4"/>
                          <a:stretch>
                            <a:fillRect t="-25806" r="-200518" b="-41935"/>
                          </a:stretch>
                        </a:blipFill>
                      </a:tcPr>
                    </a:tc>
                    <a:tc>
                      <a:txBody>
                        <a:bodyPr/>
                        <a:lstStyle/>
                        <a:p>
                          <a:endParaRPr lang="en-US"/>
                        </a:p>
                      </a:txBody>
                      <a:tcPr marL="68580" marR="68580" marT="0" marB="0" anchor="ctr">
                        <a:lnL>
                          <a:noFill/>
                        </a:lnL>
                        <a:lnR>
                          <a:noFill/>
                        </a:lnR>
                        <a:lnT>
                          <a:noFill/>
                        </a:lnT>
                        <a:lnB>
                          <a:noFill/>
                        </a:lnB>
                        <a:blipFill>
                          <a:blip r:embed="rId4"/>
                          <a:stretch>
                            <a:fillRect l="-99485" t="-25806" r="-99485" b="-41935"/>
                          </a:stretch>
                        </a:blipFill>
                      </a:tcPr>
                    </a:tc>
                    <a:tc>
                      <a:txBody>
                        <a:bodyPr/>
                        <a:lstStyle/>
                        <a:p>
                          <a:endParaRPr lang="en-US"/>
                        </a:p>
                      </a:txBody>
                      <a:tcPr marL="68580" marR="68580" marT="0" marB="0" anchor="ctr">
                        <a:lnL>
                          <a:noFill/>
                        </a:lnL>
                        <a:lnR>
                          <a:noFill/>
                        </a:lnR>
                        <a:lnT>
                          <a:noFill/>
                        </a:lnT>
                        <a:lnB>
                          <a:noFill/>
                        </a:lnB>
                        <a:blipFill>
                          <a:blip r:embed="rId4"/>
                          <a:stretch>
                            <a:fillRect l="-200518" t="-25806" b="-41935"/>
                          </a:stretch>
                        </a:blipFill>
                      </a:tcPr>
                    </a:tc>
                    <a:extLst>
                      <a:ext uri="{0D108BD9-81ED-4DB2-BD59-A6C34878D82A}">
                        <a16:rowId xmlns:a16="http://schemas.microsoft.com/office/drawing/2014/main" val="10000"/>
                      </a:ext>
                    </a:extLst>
                  </a:tr>
                </a:tbl>
              </a:graphicData>
            </a:graphic>
          </p:graphicFrame>
        </mc:Fallback>
      </mc:AlternateContent>
      <p:sp>
        <p:nvSpPr>
          <p:cNvPr id="8" name="Google Shape;282;g104476d1465_1_17"/>
          <p:cNvSpPr txBox="1"/>
          <p:nvPr/>
        </p:nvSpPr>
        <p:spPr>
          <a:xfrm>
            <a:off x="8722310" y="64976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Tree>
    <p:extLst>
      <p:ext uri="{BB962C8B-B14F-4D97-AF65-F5344CB8AC3E}">
        <p14:creationId xmlns:p14="http://schemas.microsoft.com/office/powerpoint/2010/main" val="1312433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181"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41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89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839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2728"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325"/>
            <a:ext cx="1031056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4.3.3 Collaboration: Interpreting Inequality Statements </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593248" y="1386025"/>
                <a:ext cx="10769970" cy="4808752"/>
              </a:xfrm>
              <a:prstGeom prst="rect">
                <a:avLst/>
              </a:prstGeom>
              <a:noFill/>
            </p:spPr>
            <p:txBody>
              <a:bodyPr wrap="square" rtlCol="0">
                <a:spAutoFit/>
              </a:bodyPr>
              <a:lstStyle/>
              <a:p>
                <a:pPr>
                  <a:lnSpc>
                    <a:spcPct val="107000"/>
                  </a:lnSpc>
                  <a:spcAft>
                    <a:spcPts val="1200"/>
                  </a:spcAft>
                </a:pPr>
                <a:r>
                  <a:rPr lang="en-US" sz="2000" dirty="0">
                    <a:latin typeface="Verdana"/>
                    <a:ea typeface="Verdana"/>
                    <a:cs typeface="Verdana"/>
                  </a:rPr>
                  <a:t>An inequality statement is given.</a:t>
                </a: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a:ea typeface="Cambria Math"/>
                          <a:cs typeface="Cambria Math"/>
                        </a:rPr>
                        <m:t>−8.7 &lt; −8.4</m:t>
                      </m:r>
                    </m:oMath>
                  </m:oMathPara>
                </a14:m>
                <a:endParaRPr lang="en-PH" sz="2000" dirty="0">
                  <a:latin typeface="Cambria Math"/>
                  <a:ea typeface="Cambria Math"/>
                  <a:cs typeface="Cambria Math"/>
                </a:endParaRPr>
              </a:p>
              <a:p>
                <a:pPr algn="ctr">
                  <a:lnSpc>
                    <a:spcPct val="107000"/>
                  </a:lnSpc>
                </a:pPr>
                <a:endParaRPr lang="en-PH" sz="2000" dirty="0">
                  <a:latin typeface="Cambria Math"/>
                  <a:ea typeface="Cambria Math"/>
                  <a:cs typeface="Cambria Math"/>
                </a:endParaRPr>
              </a:p>
              <a:p>
                <a:pPr marL="457200" indent="-457200">
                  <a:lnSpc>
                    <a:spcPct val="107000"/>
                  </a:lnSpc>
                  <a:spcAft>
                    <a:spcPts val="600"/>
                  </a:spcAft>
                  <a:buFont typeface="+mj-lt"/>
                  <a:buAutoNum type="arabicPeriod"/>
                </a:pPr>
                <a:r>
                  <a:rPr lang="en-US" sz="2000" dirty="0">
                    <a:latin typeface="Verdana"/>
                    <a:ea typeface="Verdana"/>
                    <a:cs typeface="Verdana"/>
                  </a:rPr>
                  <a:t>With your partner, use the inequality statement to discuss which of the following statements are true.</a:t>
                </a:r>
                <a:endParaRPr lang="en-PH" sz="2000" dirty="0">
                  <a:latin typeface="Cambria Math"/>
                  <a:ea typeface="Cambria Math"/>
                  <a:cs typeface="Verdana"/>
                </a:endParaRPr>
              </a:p>
              <a:p>
                <a:pPr marL="809625" indent="-357188">
                  <a:buFont typeface="Wingdings"/>
                  <a:buChar char=""/>
                  <a:tabLst>
                    <a:tab pos="893763" algn="l"/>
                  </a:tabLst>
                </a:pP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 is farther to the right on the number line than </a:t>
                </a: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a:t>
                </a:r>
                <a:endParaRPr lang="en-PH" sz="2000" dirty="0">
                  <a:latin typeface="Cambria Math"/>
                  <a:ea typeface="Cambria Math"/>
                  <a:cs typeface="Cambria Math"/>
                </a:endParaRPr>
              </a:p>
              <a:p>
                <a:pPr marL="809625" indent="-357188">
                  <a:buFont typeface="Wingdings"/>
                  <a:buChar char=""/>
                  <a:tabLst>
                    <a:tab pos="893763" algn="l"/>
                  </a:tabLst>
                </a:pP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 is farther to the left on the number line than </a:t>
                </a: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a:t>
                </a:r>
                <a:endParaRPr lang="en-PH" sz="2000" dirty="0">
                  <a:latin typeface="Cambria Math"/>
                  <a:ea typeface="Cambria Math"/>
                  <a:cs typeface="Cambria Math"/>
                </a:endParaRPr>
              </a:p>
              <a:p>
                <a:pPr marL="809625" indent="-357188">
                  <a:buFont typeface="Wingdings"/>
                  <a:buChar char=""/>
                  <a:tabLst>
                    <a:tab pos="893763" algn="l"/>
                  </a:tabLst>
                </a:pP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 is less than </a:t>
                </a: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a:t>
                </a:r>
                <a:endParaRPr lang="en-PH" sz="2000" dirty="0">
                  <a:latin typeface="Cambria Math"/>
                  <a:ea typeface="Cambria Math"/>
                  <a:cs typeface="Cambria Math"/>
                </a:endParaRPr>
              </a:p>
              <a:p>
                <a:pPr marL="809625" indent="-357188">
                  <a:buFont typeface="Wingdings"/>
                  <a:buChar char=""/>
                  <a:tabLst>
                    <a:tab pos="893763" algn="l"/>
                  </a:tabLst>
                </a:pP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 is greater than </a:t>
                </a: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a:t>
                </a:r>
                <a:endParaRPr lang="en-PH" sz="2000" dirty="0">
                  <a:latin typeface="Cambria Math"/>
                  <a:ea typeface="Cambria Math"/>
                  <a:cs typeface="Cambria Math"/>
                </a:endParaRPr>
              </a:p>
              <a:p>
                <a:pPr marL="809625" indent="-357188">
                  <a:buFont typeface="Wingdings"/>
                  <a:buChar char=""/>
                  <a:tabLst>
                    <a:tab pos="893763" algn="l"/>
                  </a:tabLst>
                </a:pP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 is less than </a:t>
                </a: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a:t>
                </a:r>
                <a:endParaRPr lang="en-PH" sz="2000" dirty="0">
                  <a:latin typeface="Cambria Math"/>
                  <a:ea typeface="Cambria Math"/>
                  <a:cs typeface="Cambria Math"/>
                </a:endParaRPr>
              </a:p>
              <a:p>
                <a:pPr marL="809625" indent="-357188">
                  <a:lnSpc>
                    <a:spcPct val="107000"/>
                  </a:lnSpc>
                  <a:buFont typeface="Wingdings"/>
                  <a:buChar char=""/>
                  <a:tabLst>
                    <a:tab pos="893763" algn="l"/>
                  </a:tabLst>
                </a:pPr>
                <a14:m>
                  <m:oMath xmlns:m="http://schemas.openxmlformats.org/officeDocument/2006/math">
                    <m:r>
                      <a:rPr lang="en-US" sz="2000" i="1">
                        <a:latin typeface="Cambria Math"/>
                        <a:ea typeface="Cambria Math"/>
                        <a:cs typeface="Cambria Math"/>
                      </a:rPr>
                      <m:t>−8.4</m:t>
                    </m:r>
                  </m:oMath>
                </a14:m>
                <a:r>
                  <a:rPr lang="en-US" sz="2000" dirty="0">
                    <a:latin typeface="Verdana"/>
                    <a:ea typeface="Verdana"/>
                    <a:cs typeface="Verdana"/>
                  </a:rPr>
                  <a:t> is greater than </a:t>
                </a:r>
                <a14:m>
                  <m:oMath xmlns:m="http://schemas.openxmlformats.org/officeDocument/2006/math">
                    <m:r>
                      <a:rPr lang="en-US" sz="2000" i="1">
                        <a:latin typeface="Cambria Math"/>
                        <a:ea typeface="Cambria Math"/>
                        <a:cs typeface="Cambria Math"/>
                      </a:rPr>
                      <m:t>−8.7</m:t>
                    </m:r>
                  </m:oMath>
                </a14:m>
                <a:r>
                  <a:rPr lang="en-US" sz="2000" dirty="0">
                    <a:latin typeface="Verdana"/>
                    <a:ea typeface="Verdana"/>
                    <a:cs typeface="Verdana"/>
                  </a:rPr>
                  <a:t>.</a:t>
                </a:r>
              </a:p>
              <a:p>
                <a:pPr marL="893763" indent="-441325">
                  <a:lnSpc>
                    <a:spcPct val="107000"/>
                  </a:lnSpc>
                  <a:buFont typeface="Wingdings"/>
                  <a:buChar char=""/>
                  <a:tabLst>
                    <a:tab pos="893763" algn="l"/>
                  </a:tabLst>
                </a:pPr>
                <a:endParaRPr lang="en-US" sz="2000" dirty="0">
                  <a:latin typeface="Verdana"/>
                  <a:ea typeface="Verdana"/>
                  <a:cs typeface="Verdana"/>
                </a:endParaRPr>
              </a:p>
              <a:p>
                <a:pPr marL="457200" indent="-457200">
                  <a:lnSpc>
                    <a:spcPct val="107000"/>
                  </a:lnSpc>
                  <a:buFont typeface="+mj-lt"/>
                  <a:buAutoNum type="arabicPeriod" startAt="2"/>
                </a:pPr>
                <a:r>
                  <a:rPr lang="en-US" sz="2000" dirty="0">
                    <a:latin typeface="Verdana"/>
                    <a:ea typeface="Verdana"/>
                    <a:cs typeface="Verdana"/>
                  </a:rPr>
                  <a:t>Which value is farther from </a:t>
                </a:r>
                <a14:m>
                  <m:oMath xmlns:m="http://schemas.openxmlformats.org/officeDocument/2006/math">
                    <m:r>
                      <a:rPr lang="en-US" sz="2000" i="1">
                        <a:latin typeface="Cambria Math"/>
                        <a:ea typeface="Verdana"/>
                        <a:cs typeface="Verdana"/>
                      </a:rPr>
                      <m:t>0</m:t>
                    </m:r>
                  </m:oMath>
                </a14:m>
                <a:r>
                  <a:rPr lang="en-US" sz="2000" dirty="0">
                    <a:latin typeface="Verdana"/>
                    <a:ea typeface="Verdana"/>
                    <a:cs typeface="Verdana"/>
                  </a:rPr>
                  <a:t> on the number line? How is knowing which value is farther from </a:t>
                </a:r>
                <a14:m>
                  <m:oMath xmlns:m="http://schemas.openxmlformats.org/officeDocument/2006/math">
                    <m:r>
                      <a:rPr lang="en-US" sz="2000" i="1">
                        <a:latin typeface="Cambria Math"/>
                        <a:ea typeface="Verdana"/>
                        <a:cs typeface="Verdana"/>
                      </a:rPr>
                      <m:t>0</m:t>
                    </m:r>
                  </m:oMath>
                </a14:m>
                <a:r>
                  <a:rPr lang="en-US" sz="2000" dirty="0">
                    <a:latin typeface="Verdana"/>
                    <a:ea typeface="Verdana"/>
                    <a:cs typeface="Verdana"/>
                  </a:rPr>
                  <a:t> helpful when comparing two negative values?</a:t>
                </a:r>
                <a:endParaRPr lang="en-PH" sz="1800" dirty="0">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8" y="1386025"/>
                <a:ext cx="10769970" cy="4808752"/>
              </a:xfrm>
              <a:prstGeom prst="rect">
                <a:avLst/>
              </a:prstGeom>
              <a:blipFill>
                <a:blip r:embed="rId5"/>
                <a:stretch>
                  <a:fillRect l="-589" t="-789" r="-707" b="-1316"/>
                </a:stretch>
              </a:blipFill>
            </p:spPr>
            <p:txBody>
              <a:bodyPr/>
              <a:lstStyle/>
              <a:p>
                <a:r>
                  <a:rPr lang="en-US">
                    <a:noFill/>
                  </a:rPr>
                  <a:t> </a:t>
                </a:r>
              </a:p>
            </p:txBody>
          </p:sp>
        </mc:Fallback>
      </mc:AlternateContent>
      <p:sp>
        <p:nvSpPr>
          <p:cNvPr id="11" name="Google Shape;282;g104476d1465_1_17"/>
          <p:cNvSpPr txBox="1"/>
          <p:nvPr/>
        </p:nvSpPr>
        <p:spPr>
          <a:xfrm>
            <a:off x="880450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2455"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1667" y="277019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2959528" y="2901979"/>
            <a:ext cx="1122440" cy="1062143"/>
          </a:xfrm>
          <a:prstGeom prst="rect">
            <a:avLst/>
          </a:prstGeom>
          <a:noFill/>
          <a:ln>
            <a:noFill/>
          </a:ln>
          <a:effectLst>
            <a:outerShdw blurRad="50800" dist="38100" dir="2700000" algn="tl" rotWithShape="0">
              <a:prstClr val="black">
                <a:alpha val="40000"/>
              </a:prstClr>
            </a:outerShdw>
          </a:effectLst>
        </p:spPr>
      </p:pic>
      <p:sp>
        <p:nvSpPr>
          <p:cNvPr id="10" name="Google Shape;282;g104476d1465_1_17"/>
          <p:cNvSpPr txBox="1"/>
          <p:nvPr/>
        </p:nvSpPr>
        <p:spPr>
          <a:xfrm>
            <a:off x="8794229"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3002"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052650" y="685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4.3.4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05350" y="68550"/>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593247" y="1394251"/>
                <a:ext cx="10050779" cy="4151073"/>
              </a:xfrm>
              <a:prstGeom prst="rect">
                <a:avLst/>
              </a:prstGeom>
              <a:noFill/>
            </p:spPr>
            <p:txBody>
              <a:bodyPr wrap="square" rtlCol="0">
                <a:spAutoFit/>
              </a:bodyPr>
              <a:lstStyle/>
              <a:p>
                <a:pPr marL="457200" indent="-457200">
                  <a:lnSpc>
                    <a:spcPct val="107000"/>
                  </a:lnSpc>
                  <a:spcAft>
                    <a:spcPts val="1200"/>
                  </a:spcAft>
                  <a:buFont typeface="+mj-lt"/>
                  <a:buAutoNum type="arabicPeriod"/>
                </a:pPr>
                <a:r>
                  <a:rPr lang="en-US" sz="2400" dirty="0">
                    <a:latin typeface="Verdana" pitchFamily="34" charset="0"/>
                    <a:ea typeface="Verdana" pitchFamily="34" charset="0"/>
                    <a:cs typeface="Verdana"/>
                  </a:rPr>
                  <a:t>Explain why each inequality statement is true or false.</a:t>
                </a:r>
              </a:p>
              <a:p>
                <a:pPr marL="893763" lvl="1" indent="-436563">
                  <a:lnSpc>
                    <a:spcPct val="107000"/>
                  </a:lnSpc>
                </a:pPr>
                <a:r>
                  <a:rPr lang="en-PH" sz="2400" dirty="0">
                    <a:latin typeface="Verdana" pitchFamily="34" charset="0"/>
                    <a:ea typeface="Verdana" pitchFamily="34" charset="0"/>
                    <a:cs typeface="Cambria Math"/>
                  </a:rPr>
                  <a:t>a.	</a:t>
                </a:r>
                <a14:m>
                  <m:oMath xmlns:m="http://schemas.openxmlformats.org/officeDocument/2006/math">
                    <m:r>
                      <a:rPr lang="en-US" sz="2400" i="1">
                        <a:latin typeface="Cambria Math"/>
                        <a:ea typeface="Cambria Math"/>
                        <a:cs typeface="Cambria Math"/>
                      </a:rPr>
                      <m:t>−5.2 &lt; −7.1</m:t>
                    </m:r>
                  </m:oMath>
                </a14:m>
                <a:endParaRPr lang="en-PH" sz="2400" i="1" dirty="0">
                  <a:latin typeface="Verdana" pitchFamily="34" charset="0"/>
                  <a:ea typeface="Verdana" pitchFamily="34" charset="0"/>
                  <a:cs typeface="Cambria Math"/>
                </a:endParaRPr>
              </a:p>
              <a:p>
                <a:pPr marL="893763" lvl="1" indent="-436563">
                  <a:lnSpc>
                    <a:spcPct val="300000"/>
                  </a:lnSpc>
                </a:pPr>
                <a:r>
                  <a:rPr lang="en-US" sz="2400" dirty="0">
                    <a:latin typeface="Verdana" pitchFamily="34" charset="0"/>
                    <a:ea typeface="Verdana" pitchFamily="34" charset="0"/>
                    <a:cs typeface="Cambria Math"/>
                  </a:rPr>
                  <a:t>b.	</a:t>
                </a:r>
                <a14:m>
                  <m:oMath xmlns:m="http://schemas.openxmlformats.org/officeDocument/2006/math">
                    <m:r>
                      <a:rPr lang="en-US" sz="2400" i="1">
                        <a:latin typeface="Cambria Math"/>
                        <a:ea typeface="Cambria Math"/>
                        <a:cs typeface="Cambria Math"/>
                      </a:rPr>
                      <m:t>3.1 &gt; 38%</m:t>
                    </m:r>
                  </m:oMath>
                </a14:m>
                <a:endParaRPr lang="en-PH" sz="2400" dirty="0">
                  <a:latin typeface="Verdana" pitchFamily="34" charset="0"/>
                  <a:ea typeface="Verdana" pitchFamily="34" charset="0"/>
                  <a:cs typeface="Cambria Math"/>
                </a:endParaRPr>
              </a:p>
              <a:p>
                <a:pPr marL="893763" lvl="1" indent="-436563">
                  <a:lnSpc>
                    <a:spcPct val="300000"/>
                  </a:lnSpc>
                </a:pPr>
                <a:r>
                  <a:rPr lang="en-US" sz="2400" dirty="0">
                    <a:latin typeface="Verdana" pitchFamily="34" charset="0"/>
                    <a:ea typeface="Verdana" pitchFamily="34" charset="0"/>
                    <a:cs typeface="Cambria Math"/>
                  </a:rPr>
                  <a:t>c.	</a:t>
                </a:r>
                <a14:m>
                  <m:oMath xmlns:m="http://schemas.openxmlformats.org/officeDocument/2006/math">
                    <m:r>
                      <a:rPr lang="en-US" sz="2400" i="1">
                        <a:latin typeface="Cambria Math"/>
                        <a:ea typeface="Cambria Math"/>
                        <a:cs typeface="Cambria Math"/>
                      </a:rPr>
                      <m:t>−37% &gt; −25%</m:t>
                    </m:r>
                  </m:oMath>
                </a14:m>
                <a:endParaRPr lang="en-PH" sz="2400" dirty="0">
                  <a:latin typeface="Verdana" pitchFamily="34" charset="0"/>
                  <a:ea typeface="Verdana" pitchFamily="34" charset="0"/>
                  <a:cs typeface="Cambria Math"/>
                </a:endParaRPr>
              </a:p>
              <a:p>
                <a:pPr marL="893763" lvl="1" indent="-436563">
                  <a:lnSpc>
                    <a:spcPct val="300000"/>
                  </a:lnSpc>
                </a:pPr>
                <a:r>
                  <a:rPr lang="en-US" sz="2400" dirty="0">
                    <a:latin typeface="Verdana" pitchFamily="34" charset="0"/>
                    <a:ea typeface="Verdana" pitchFamily="34" charset="0"/>
                    <a:cs typeface="Cambria Math"/>
                  </a:rPr>
                  <a:t>d.	</a:t>
                </a:r>
                <a14:m>
                  <m:oMath xmlns:m="http://schemas.openxmlformats.org/officeDocument/2006/math">
                    <m:r>
                      <a:rPr lang="en-US" sz="2400" i="1">
                        <a:latin typeface="Cambria Math"/>
                        <a:ea typeface="Cambria Math"/>
                        <a:cs typeface="Cambria Math"/>
                      </a:rPr>
                      <m:t>−12.371 &gt; −12.58</m:t>
                    </m:r>
                  </m:oMath>
                </a14:m>
                <a:endParaRPr lang="en-PH" sz="2400" dirty="0">
                  <a:latin typeface="Verdana" pitchFamily="34" charset="0"/>
                  <a:ea typeface="Verdana" pitchFamily="34" charset="0"/>
                  <a:cs typeface="Cambria Math"/>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93247" y="1394251"/>
                <a:ext cx="10050779" cy="4151073"/>
              </a:xfrm>
              <a:prstGeom prst="rect">
                <a:avLst/>
              </a:prstGeom>
              <a:blipFill>
                <a:blip r:embed="rId5"/>
                <a:stretch>
                  <a:fillRect l="-883" t="-1220" b="-2439"/>
                </a:stretch>
              </a:blipFill>
            </p:spPr>
            <p:txBody>
              <a:bodyPr/>
              <a:lstStyle/>
              <a:p>
                <a:r>
                  <a:rPr lang="en-US">
                    <a:noFill/>
                  </a:rPr>
                  <a:t> </a:t>
                </a:r>
              </a:p>
            </p:txBody>
          </p:sp>
        </mc:Fallback>
      </mc:AlternateContent>
      <p:sp>
        <p:nvSpPr>
          <p:cNvPr id="10" name="Google Shape;282;g104476d1465_1_17"/>
          <p:cNvSpPr txBox="1"/>
          <p:nvPr/>
        </p:nvSpPr>
        <p:spPr>
          <a:xfrm>
            <a:off x="8814776"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2729" y="618696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465231" y="398473"/>
                <a:ext cx="11226759" cy="5121595"/>
              </a:xfrm>
              <a:prstGeom prst="rect">
                <a:avLst/>
              </a:prstGeom>
              <a:noFill/>
            </p:spPr>
            <p:txBody>
              <a:bodyPr wrap="square" rtlCol="0">
                <a:spAutoFit/>
              </a:bodyPr>
              <a:lstStyle/>
              <a:p>
                <a:pPr marL="457200" lvl="1" indent="-457200">
                  <a:lnSpc>
                    <a:spcPct val="107000"/>
                  </a:lnSpc>
                </a:pPr>
                <a:r>
                  <a:rPr lang="en-US" sz="2400" dirty="0">
                    <a:latin typeface="Verdana"/>
                    <a:ea typeface="Verdana"/>
                    <a:cs typeface="Verdana"/>
                  </a:rPr>
                  <a:t>2.</a:t>
                </a:r>
              </a:p>
              <a:p>
                <a:pPr marL="914400" lvl="1" indent="-457200">
                  <a:lnSpc>
                    <a:spcPct val="107000"/>
                  </a:lnSpc>
                  <a:spcAft>
                    <a:spcPts val="1200"/>
                  </a:spcAft>
                  <a:buFont typeface="+mj-lt"/>
                  <a:buAutoNum type="alphaLcPeriod"/>
                </a:pPr>
                <a:r>
                  <a:rPr lang="en-US" sz="2400" dirty="0">
                    <a:latin typeface="Verdana"/>
                    <a:ea typeface="Verdana"/>
                    <a:cs typeface="Verdana"/>
                  </a:rPr>
                  <a:t>Plot each of the following values on the number line. Label each point with its numeric value.</a:t>
                </a:r>
                <a:endParaRPr lang="en-PH" sz="2400" dirty="0">
                  <a:latin typeface="Cambria"/>
                  <a:ea typeface="Verdana"/>
                  <a:cs typeface="Times New Roman"/>
                </a:endParaRPr>
              </a:p>
              <a:p>
                <a:pPr indent="-457200">
                  <a:lnSpc>
                    <a:spcPct val="107000"/>
                  </a:lnSpc>
                </a:pPr>
                <a14:m>
                  <m:oMathPara xmlns:m="http://schemas.openxmlformats.org/officeDocument/2006/math">
                    <m:oMathParaPr>
                      <m:jc m:val="centerGroup"/>
                    </m:oMathParaPr>
                    <m:oMath xmlns:m="http://schemas.openxmlformats.org/officeDocument/2006/math">
                      <m:r>
                        <a:rPr lang="en-US" sz="2400" i="1">
                          <a:latin typeface="Cambria Math"/>
                          <a:ea typeface="Cambria Math"/>
                          <a:cs typeface="Cambria Math"/>
                        </a:rPr>
                        <m:t>0.4,   −1.5,    12%,   −0.25</m:t>
                      </m:r>
                    </m:oMath>
                  </m:oMathPara>
                </a14:m>
                <a:endParaRPr lang="en-PH" sz="2400" dirty="0">
                  <a:latin typeface="Cambria Math"/>
                  <a:ea typeface="Cambria Math"/>
                  <a:cs typeface="Cambria Math"/>
                </a:endParaRPr>
              </a:p>
              <a:p>
                <a:pPr indent="-457200">
                  <a:lnSpc>
                    <a:spcPct val="107000"/>
                  </a:lnSpc>
                </a:pPr>
                <a:endParaRPr lang="en-PH" sz="2400" dirty="0">
                  <a:latin typeface="Cambria Math"/>
                  <a:ea typeface="Cambria Math"/>
                  <a:cs typeface="Cambria Math"/>
                </a:endParaRPr>
              </a:p>
              <a:p>
                <a:pPr indent="-457200">
                  <a:lnSpc>
                    <a:spcPct val="107000"/>
                  </a:lnSpc>
                </a:pPr>
                <a:endParaRPr lang="en-PH" sz="2400" dirty="0">
                  <a:latin typeface="Cambria Math"/>
                  <a:ea typeface="Cambria Math"/>
                  <a:cs typeface="Cambria Math"/>
                </a:endParaRPr>
              </a:p>
              <a:p>
                <a:pPr indent="-457200">
                  <a:lnSpc>
                    <a:spcPct val="107000"/>
                  </a:lnSpc>
                </a:pPr>
                <a:endParaRPr lang="en-PH" sz="2400" dirty="0">
                  <a:latin typeface="Cambria Math"/>
                  <a:ea typeface="Cambria Math"/>
                  <a:cs typeface="Cambria Math"/>
                </a:endParaRPr>
              </a:p>
              <a:p>
                <a:pPr indent="-457200">
                  <a:lnSpc>
                    <a:spcPct val="107000"/>
                  </a:lnSpc>
                </a:pPr>
                <a:endParaRPr lang="en-PH" sz="2400" dirty="0">
                  <a:latin typeface="Cambria Math"/>
                  <a:ea typeface="Cambria Math"/>
                  <a:cs typeface="Cambria Math"/>
                </a:endParaRPr>
              </a:p>
              <a:p>
                <a:pPr indent="-457200">
                  <a:lnSpc>
                    <a:spcPct val="107000"/>
                  </a:lnSpc>
                </a:pPr>
                <a:endParaRPr lang="en-PH" sz="2400" dirty="0">
                  <a:latin typeface="Cambria Math"/>
                  <a:ea typeface="Cambria Math"/>
                  <a:cs typeface="Cambria Math"/>
                </a:endParaRPr>
              </a:p>
              <a:p>
                <a:pPr marL="914400" lvl="1" indent="-457200">
                  <a:lnSpc>
                    <a:spcPct val="107000"/>
                  </a:lnSpc>
                  <a:spcAft>
                    <a:spcPts val="1200"/>
                  </a:spcAft>
                  <a:buFont typeface="+mj-lt"/>
                  <a:buAutoNum type="alphaLcPeriod" startAt="2"/>
                </a:pPr>
                <a:r>
                  <a:rPr lang="en-US" sz="2400" dirty="0">
                    <a:latin typeface="Verdana"/>
                    <a:ea typeface="Verdana"/>
                    <a:cs typeface="Verdana"/>
                  </a:rPr>
                  <a:t>Complete the inequality statement to show the relationship between the values.</a:t>
                </a:r>
                <a:endParaRPr lang="en-PH" sz="2400" dirty="0">
                  <a:latin typeface="Cambria"/>
                  <a:ea typeface="Times New Roman"/>
                  <a:cs typeface="Times New Roman"/>
                </a:endParaRPr>
              </a:p>
              <a:p>
                <a:pPr marL="1658938" indent="450850">
                  <a:lnSpc>
                    <a:spcPct val="107000"/>
                  </a:lnSpc>
                </a:pPr>
                <a:r>
                  <a:rPr lang="en-US" sz="2400" dirty="0">
                    <a:latin typeface="Verdana"/>
                    <a:ea typeface="Verdana"/>
                    <a:cs typeface="Verdana"/>
                  </a:rPr>
                  <a:t>_______ </a:t>
                </a:r>
                <a14:m>
                  <m:oMath xmlns:m="http://schemas.openxmlformats.org/officeDocument/2006/math">
                    <m:r>
                      <a:rPr lang="en-US" sz="2400" i="1">
                        <a:latin typeface="Cambria Math"/>
                        <a:ea typeface="Cambria Math"/>
                        <a:cs typeface="Cambria Math"/>
                      </a:rPr>
                      <m:t>&gt;</m:t>
                    </m:r>
                  </m:oMath>
                </a14:m>
                <a:r>
                  <a:rPr lang="en-US" sz="2400" dirty="0">
                    <a:latin typeface="Verdana"/>
                    <a:ea typeface="Verdana"/>
                    <a:cs typeface="Verdana"/>
                  </a:rPr>
                  <a:t> _______  </a:t>
                </a:r>
                <a14:m>
                  <m:oMath xmlns:m="http://schemas.openxmlformats.org/officeDocument/2006/math">
                    <m:r>
                      <a:rPr lang="en-US" sz="2400" i="1">
                        <a:latin typeface="Cambria Math"/>
                        <a:ea typeface="Cambria Math"/>
                        <a:cs typeface="Cambria Math"/>
                      </a:rPr>
                      <m:t>&gt;</m:t>
                    </m:r>
                  </m:oMath>
                </a14:m>
                <a:r>
                  <a:rPr lang="en-US" sz="2400" dirty="0">
                    <a:latin typeface="Verdana"/>
                    <a:ea typeface="Verdana"/>
                    <a:cs typeface="Verdana"/>
                  </a:rPr>
                  <a:t> _______ </a:t>
                </a:r>
                <a14:m>
                  <m:oMath xmlns:m="http://schemas.openxmlformats.org/officeDocument/2006/math">
                    <m:r>
                      <a:rPr lang="en-US" sz="2400" i="1">
                        <a:latin typeface="Cambria Math"/>
                        <a:ea typeface="Cambria Math"/>
                        <a:cs typeface="Cambria Math"/>
                      </a:rPr>
                      <m:t>&gt;</m:t>
                    </m:r>
                  </m:oMath>
                </a14:m>
                <a:r>
                  <a:rPr lang="en-US" sz="2400" dirty="0">
                    <a:latin typeface="Verdana"/>
                    <a:ea typeface="Verdana"/>
                    <a:cs typeface="Verdana"/>
                  </a:rPr>
                  <a:t> _______ </a:t>
                </a:r>
                <a:endParaRPr lang="en-PH" sz="2400" dirty="0">
                  <a:latin typeface="Cambria Math"/>
                  <a:ea typeface="Cambria Math"/>
                  <a:cs typeface="Cambria Math"/>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65231" y="398473"/>
                <a:ext cx="11226759" cy="5121595"/>
              </a:xfrm>
              <a:prstGeom prst="rect">
                <a:avLst/>
              </a:prstGeom>
              <a:blipFill>
                <a:blip r:embed="rId4"/>
                <a:stretch>
                  <a:fillRect l="-791" t="-1238" b="-1485"/>
                </a:stretch>
              </a:blipFill>
            </p:spPr>
            <p:txBody>
              <a:bodyPr/>
              <a:lstStyle/>
              <a:p>
                <a:r>
                  <a:rPr lang="en-US">
                    <a:noFill/>
                  </a:rPr>
                  <a:t> </a:t>
                </a:r>
              </a:p>
            </p:txBody>
          </p:sp>
        </mc:Fallback>
      </mc:AlternateContent>
      <p:pic>
        <p:nvPicPr>
          <p:cNvPr id="6" name="Picture 5" descr="A picture containing bird&#10;&#10;Description automatically generated"/>
          <p:cNvPicPr/>
          <p:nvPr/>
        </p:nvPicPr>
        <p:blipFill rotWithShape="1">
          <a:blip r:embed="rId5" cstate="screen">
            <a:extLst>
              <a:ext uri="{28A0092B-C50C-407E-A947-70E740481C1C}">
                <a14:useLocalDpi xmlns:a14="http://schemas.microsoft.com/office/drawing/2010/main"/>
              </a:ext>
            </a:extLst>
          </a:blip>
          <a:srcRect t="26447" b="61817"/>
          <a:stretch/>
        </p:blipFill>
        <p:spPr bwMode="auto">
          <a:xfrm>
            <a:off x="3029115" y="2959270"/>
            <a:ext cx="6098990" cy="569720"/>
          </a:xfrm>
          <a:prstGeom prst="rect">
            <a:avLst/>
          </a:prstGeom>
          <a:ln>
            <a:noFill/>
          </a:ln>
          <a:extLst>
            <a:ext uri="{53640926-AAD7-44D8-BBD7-CCE9431645EC}">
              <a14:shadowObscured xmlns:a14="http://schemas.microsoft.com/office/drawing/2010/main"/>
            </a:ext>
          </a:extLst>
        </p:spPr>
      </p:pic>
      <p:sp>
        <p:nvSpPr>
          <p:cNvPr id="7" name="Google Shape;282;g104476d1465_1_17"/>
          <p:cNvSpPr txBox="1"/>
          <p:nvPr/>
        </p:nvSpPr>
        <p:spPr>
          <a:xfrm>
            <a:off x="8804503" y="644404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94"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465232" y="398473"/>
                <a:ext cx="8327136" cy="4121000"/>
              </a:xfrm>
              <a:prstGeom prst="rect">
                <a:avLst/>
              </a:prstGeom>
              <a:noFill/>
            </p:spPr>
            <p:txBody>
              <a:bodyPr wrap="square" rtlCol="0">
                <a:spAutoFit/>
              </a:bodyPr>
              <a:lstStyle/>
              <a:p>
                <a:pPr marL="514350" indent="-514350">
                  <a:lnSpc>
                    <a:spcPct val="107000"/>
                  </a:lnSpc>
                  <a:spcAft>
                    <a:spcPts val="600"/>
                  </a:spcAft>
                  <a:buFont typeface="+mj-lt"/>
                  <a:buAutoNum type="arabicPeriod" startAt="3"/>
                </a:pPr>
                <a:r>
                  <a:rPr lang="en-US" sz="2400" dirty="0">
                    <a:latin typeface="Verdana"/>
                    <a:ea typeface="Verdana"/>
                    <a:cs typeface="Verdana"/>
                  </a:rPr>
                  <a:t>Select all the values that are greater than </a:t>
                </a:r>
                <a14:m>
                  <m:oMath xmlns:m="http://schemas.openxmlformats.org/officeDocument/2006/math">
                    <m:r>
                      <a:rPr lang="en-US" sz="2400" i="1">
                        <a:latin typeface="Cambria Math"/>
                        <a:ea typeface="Times New Roman"/>
                        <a:cs typeface="Times New Roman"/>
                      </a:rPr>
                      <m:t>−5</m:t>
                    </m:r>
                  </m:oMath>
                </a14:m>
                <a:r>
                  <a:rPr lang="en-US" sz="2400" dirty="0">
                    <a:latin typeface="Verdana"/>
                    <a:ea typeface="Verdana"/>
                    <a:cs typeface="Verdana"/>
                  </a:rPr>
                  <a:t>.</a:t>
                </a:r>
                <a:endParaRPr lang="en-US" sz="2400" dirty="0">
                  <a:latin typeface="Verdana"/>
                  <a:ea typeface="Verdana"/>
                  <a:cs typeface="Times New Roman"/>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1.324</m:t>
                    </m:r>
                  </m:oMath>
                </a14:m>
                <a:endParaRPr lang="en-PH" sz="2000" dirty="0">
                  <a:latin typeface="Cambria Math"/>
                  <a:ea typeface="Cambria Math"/>
                  <a:cs typeface="Cambria Math"/>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−6.2</m:t>
                    </m:r>
                  </m:oMath>
                </a14:m>
                <a:endParaRPr lang="en-PH" sz="2000" dirty="0">
                  <a:latin typeface="Cambria Math"/>
                  <a:ea typeface="Cambria Math"/>
                  <a:cs typeface="Cambria Math"/>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−12.67</m:t>
                    </m:r>
                  </m:oMath>
                </a14:m>
                <a:endParaRPr lang="en-PH" sz="2000" dirty="0">
                  <a:latin typeface="Cambria Math"/>
                  <a:ea typeface="Cambria Math"/>
                  <a:cs typeface="Cambria Math"/>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0.231</m:t>
                    </m:r>
                  </m:oMath>
                </a14:m>
                <a:endParaRPr lang="en-PH" sz="2000" dirty="0">
                  <a:latin typeface="Cambria Math"/>
                  <a:ea typeface="Cambria Math"/>
                  <a:cs typeface="Cambria Math"/>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−1.4</m:t>
                    </m:r>
                  </m:oMath>
                </a14:m>
                <a:endParaRPr lang="en-PH" sz="2000" dirty="0">
                  <a:latin typeface="Cambria Math"/>
                  <a:ea typeface="Cambria Math"/>
                  <a:cs typeface="Cambria Math"/>
                </a:endParaRPr>
              </a:p>
              <a:p>
                <a:pPr marL="987425" indent="-450850">
                  <a:lnSpc>
                    <a:spcPct val="107000"/>
                  </a:lnSpc>
                  <a:buFont typeface="Wingdings"/>
                  <a:buChar char=""/>
                  <a:tabLst>
                    <a:tab pos="987425" algn="l"/>
                  </a:tabLst>
                </a:pPr>
                <a14:m>
                  <m:oMath xmlns:m="http://schemas.openxmlformats.org/officeDocument/2006/math">
                    <m:r>
                      <a:rPr lang="en-US" sz="2400" i="1">
                        <a:latin typeface="Cambria Math"/>
                        <a:ea typeface="Cambria Math"/>
                        <a:cs typeface="Cambria Math"/>
                      </a:rPr>
                      <m:t>−4.789</m:t>
                    </m:r>
                  </m:oMath>
                </a14:m>
                <a:endParaRPr lang="en-PH" sz="2400" dirty="0">
                  <a:latin typeface="Cambria Math"/>
                  <a:ea typeface="Cambria Math"/>
                  <a:cs typeface="Cambria Math"/>
                </a:endParaRPr>
              </a:p>
              <a:p>
                <a:pPr marL="457200" indent="-457200">
                  <a:lnSpc>
                    <a:spcPct val="107000"/>
                  </a:lnSpc>
                  <a:buFont typeface="+mj-lt"/>
                  <a:buAutoNum type="arabicPeriod" startAt="4"/>
                </a:pPr>
                <a:endParaRPr lang="en-US" sz="2400" dirty="0">
                  <a:latin typeface="Verdana"/>
                  <a:ea typeface="Verdana"/>
                  <a:cs typeface="Verdana"/>
                </a:endParaRPr>
              </a:p>
              <a:p>
                <a:pPr marL="457200" indent="-457200">
                  <a:lnSpc>
                    <a:spcPct val="107000"/>
                  </a:lnSpc>
                  <a:buFont typeface="+mj-lt"/>
                  <a:buAutoNum type="arabicPeriod" startAt="4"/>
                </a:pPr>
                <a:endParaRPr lang="en-US" sz="2400" dirty="0">
                  <a:latin typeface="Verdana"/>
                  <a:ea typeface="Verdana"/>
                  <a:cs typeface="Verdana"/>
                </a:endParaRPr>
              </a:p>
              <a:p>
                <a:pPr marL="457200" indent="-457200">
                  <a:lnSpc>
                    <a:spcPct val="107000"/>
                  </a:lnSpc>
                  <a:buFont typeface="+mj-lt"/>
                  <a:buAutoNum type="arabicPeriod" startAt="4"/>
                </a:pPr>
                <a:r>
                  <a:rPr lang="en-US" sz="2400" dirty="0">
                    <a:latin typeface="Verdana"/>
                    <a:ea typeface="Verdana"/>
                    <a:cs typeface="Verdana"/>
                  </a:rPr>
                  <a:t>Order these values from least to greatest.</a:t>
                </a:r>
                <a:endParaRPr lang="en-PH" sz="2400" dirty="0">
                  <a:latin typeface="Cambria Math"/>
                  <a:ea typeface="Cambria Math"/>
                  <a:cs typeface="Verdana"/>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65232" y="398473"/>
                <a:ext cx="8327136" cy="4121000"/>
              </a:xfrm>
              <a:prstGeom prst="rect">
                <a:avLst/>
              </a:prstGeom>
              <a:blipFill>
                <a:blip r:embed="rId4"/>
                <a:stretch>
                  <a:fillRect l="-1065" t="-1538"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91690828"/>
                  </p:ext>
                </p:extLst>
              </p:nvPr>
            </p:nvGraphicFramePr>
            <p:xfrm>
              <a:off x="1938000" y="4545699"/>
              <a:ext cx="8316000" cy="457200"/>
            </p:xfrm>
            <a:graphic>
              <a:graphicData uri="http://schemas.openxmlformats.org/drawingml/2006/table">
                <a:tbl>
                  <a:tblPr firstRow="1" bandRow="1">
                    <a:tableStyleId>{A91F0D33-8C57-4600-99A7-42BC86742BE1}</a:tableStyleId>
                  </a:tblPr>
                  <a:tblGrid>
                    <a:gridCol w="1188000">
                      <a:extLst>
                        <a:ext uri="{9D8B030D-6E8A-4147-A177-3AD203B41FA5}">
                          <a16:colId xmlns:a16="http://schemas.microsoft.com/office/drawing/2014/main" xmlns="" val="20000"/>
                        </a:ext>
                      </a:extLst>
                    </a:gridCol>
                    <a:gridCol w="1188000">
                      <a:extLst>
                        <a:ext uri="{9D8B030D-6E8A-4147-A177-3AD203B41FA5}">
                          <a16:colId xmlns:a16="http://schemas.microsoft.com/office/drawing/2014/main" xmlns="" val="20001"/>
                        </a:ext>
                      </a:extLst>
                    </a:gridCol>
                    <a:gridCol w="1188000">
                      <a:extLst>
                        <a:ext uri="{9D8B030D-6E8A-4147-A177-3AD203B41FA5}">
                          <a16:colId xmlns:a16="http://schemas.microsoft.com/office/drawing/2014/main" xmlns="" val="20002"/>
                        </a:ext>
                      </a:extLst>
                    </a:gridCol>
                    <a:gridCol w="1188000">
                      <a:extLst>
                        <a:ext uri="{9D8B030D-6E8A-4147-A177-3AD203B41FA5}">
                          <a16:colId xmlns:a16="http://schemas.microsoft.com/office/drawing/2014/main" xmlns="" val="20003"/>
                        </a:ext>
                      </a:extLst>
                    </a:gridCol>
                    <a:gridCol w="1188000">
                      <a:extLst>
                        <a:ext uri="{9D8B030D-6E8A-4147-A177-3AD203B41FA5}">
                          <a16:colId xmlns:a16="http://schemas.microsoft.com/office/drawing/2014/main" xmlns="" val="20004"/>
                        </a:ext>
                      </a:extLst>
                    </a:gridCol>
                    <a:gridCol w="1188000">
                      <a:extLst>
                        <a:ext uri="{9D8B030D-6E8A-4147-A177-3AD203B41FA5}">
                          <a16:colId xmlns:a16="http://schemas.microsoft.com/office/drawing/2014/main" xmlns="" val="20005"/>
                        </a:ext>
                      </a:extLst>
                    </a:gridCol>
                    <a:gridCol w="1188000">
                      <a:extLst>
                        <a:ext uri="{9D8B030D-6E8A-4147-A177-3AD203B41FA5}">
                          <a16:colId xmlns:a16="http://schemas.microsoft.com/office/drawing/2014/main" xmlns="" val="20006"/>
                        </a:ext>
                      </a:extLst>
                    </a:gridCol>
                  </a:tblGrid>
                  <a:tr h="370840">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0.43</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−4.2</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0</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50%</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−1.5</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−6.712</m:t>
                                </m:r>
                                <m:r>
                                  <a:rPr kumimoji="0" lang="en-PH"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kumimoji="0" lang="en-US" sz="2400" b="0" i="1" u="none" strike="noStrike" kern="0" cap="none" spc="0" normalizeH="0" baseline="0" noProof="0" smtClean="0">
                                    <a:ln>
                                      <a:noFill/>
                                    </a:ln>
                                    <a:solidFill>
                                      <a:srgbClr val="000000"/>
                                    </a:solidFill>
                                    <a:effectLst/>
                                    <a:uLnTx/>
                                    <a:uFillTx/>
                                    <a:latin typeface="Cambria Math"/>
                                    <a:ea typeface="Cambria Math"/>
                                    <a:cs typeface="Cambria Math"/>
                                    <a:sym typeface="Arial"/>
                                  </a:rPr>
                                  <m:t>19%</m:t>
                                </m:r>
                              </m:oMath>
                            </m:oMathPara>
                          </a14:m>
                          <a:endParaRPr lang="en-P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91690828"/>
                  </p:ext>
                </p:extLst>
              </p:nvPr>
            </p:nvGraphicFramePr>
            <p:xfrm>
              <a:off x="1938000" y="4545699"/>
              <a:ext cx="8316000" cy="457200"/>
            </p:xfrm>
            <a:graphic>
              <a:graphicData uri="http://schemas.openxmlformats.org/drawingml/2006/table">
                <a:tbl>
                  <a:tblPr firstRow="1" bandRow="1">
                    <a:tableStyleId>{A91F0D33-8C57-4600-99A7-42BC86742BE1}</a:tableStyleId>
                  </a:tblPr>
                  <a:tblGrid>
                    <a:gridCol w="1188000">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188000">
                      <a:extLst>
                        <a:ext uri="{9D8B030D-6E8A-4147-A177-3AD203B41FA5}">
                          <a16:colId xmlns:a16="http://schemas.microsoft.com/office/drawing/2014/main" val="20003"/>
                        </a:ext>
                      </a:extLst>
                    </a:gridCol>
                    <a:gridCol w="1188000">
                      <a:extLst>
                        <a:ext uri="{9D8B030D-6E8A-4147-A177-3AD203B41FA5}">
                          <a16:colId xmlns:a16="http://schemas.microsoft.com/office/drawing/2014/main" val="20004"/>
                        </a:ext>
                      </a:extLst>
                    </a:gridCol>
                    <a:gridCol w="1188000">
                      <a:extLst>
                        <a:ext uri="{9D8B030D-6E8A-4147-A177-3AD203B41FA5}">
                          <a16:colId xmlns:a16="http://schemas.microsoft.com/office/drawing/2014/main" val="20005"/>
                        </a:ext>
                      </a:extLst>
                    </a:gridCol>
                    <a:gridCol w="1188000">
                      <a:extLst>
                        <a:ext uri="{9D8B030D-6E8A-4147-A177-3AD203B41FA5}">
                          <a16:colId xmlns:a16="http://schemas.microsoft.com/office/drawing/2014/main" val="20006"/>
                        </a:ext>
                      </a:extLst>
                    </a:gridCol>
                  </a:tblGrid>
                  <a:tr h="457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r="-597872"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1075" r="-504301"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98936" r="-398936"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98936" r="-298936"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398936" r="-198936"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504301" r="-101075" b="-270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597872" b="-2703"/>
                          </a:stretch>
                        </a:blipFill>
                      </a:tcPr>
                    </a:tc>
                    <a:extLst>
                      <a:ext uri="{0D108BD9-81ED-4DB2-BD59-A6C34878D82A}">
                        <a16:rowId xmlns:a16="http://schemas.microsoft.com/office/drawing/2014/main" val="10000"/>
                      </a:ext>
                    </a:extLst>
                  </a:tr>
                </a:tbl>
              </a:graphicData>
            </a:graphic>
          </p:graphicFrame>
        </mc:Fallback>
      </mc:AlternateContent>
      <p:sp>
        <p:nvSpPr>
          <p:cNvPr id="8" name="Google Shape;282;g104476d1465_1_17"/>
          <p:cNvSpPr txBox="1"/>
          <p:nvPr/>
        </p:nvSpPr>
        <p:spPr>
          <a:xfrm>
            <a:off x="879236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Tree>
    <p:extLst>
      <p:ext uri="{BB962C8B-B14F-4D97-AF65-F5344CB8AC3E}">
        <p14:creationId xmlns:p14="http://schemas.microsoft.com/office/powerpoint/2010/main" val="920710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70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3003"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97139"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2976133" y="292074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1477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1358"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4800" y="-82446"/>
            <a:ext cx="105160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60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593248" y="1386150"/>
                <a:ext cx="10615858" cy="3092065"/>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Use the symbols &lt;, &gt; or = to compare each pair of values.</a:t>
                </a: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PH" sz="2000" dirty="0">
                  <a:latin typeface="Cambria Math"/>
                  <a:ea typeface="Cambria Math"/>
                  <a:cs typeface="Verdana"/>
                </a:endParaRPr>
              </a:p>
              <a:p>
                <a:pPr marL="457200" indent="-457200">
                  <a:lnSpc>
                    <a:spcPct val="107000"/>
                  </a:lnSpc>
                  <a:buFont typeface="+mj-lt"/>
                  <a:buAutoNum type="arabicPeriod"/>
                </a:pPr>
                <a:endParaRPr lang="en-PH" sz="2000" dirty="0">
                  <a:latin typeface="Cambria Math"/>
                  <a:ea typeface="Cambria Math"/>
                  <a:cs typeface="Verdana"/>
                </a:endParaRPr>
              </a:p>
              <a:p>
                <a:pPr marL="457200" indent="-457200">
                  <a:lnSpc>
                    <a:spcPct val="107000"/>
                  </a:lnSpc>
                  <a:buFont typeface="+mj-lt"/>
                  <a:buAutoNum type="arabicPeriod"/>
                </a:pPr>
                <a:r>
                  <a:rPr lang="en-US" sz="2400" dirty="0">
                    <a:latin typeface="Verdana"/>
                    <a:ea typeface="Verdana"/>
                    <a:cs typeface="Verdana"/>
                  </a:rPr>
                  <a:t>Plot the values </a:t>
                </a:r>
                <a14:m>
                  <m:oMath xmlns:m="http://schemas.openxmlformats.org/officeDocument/2006/math">
                    <m:r>
                      <a:rPr lang="en-US" sz="2400" i="1">
                        <a:latin typeface="Cambria Math"/>
                        <a:ea typeface="Times New Roman"/>
                        <a:cs typeface="Times New Roman"/>
                      </a:rPr>
                      <m:t>−2.3,  3.1,  −0.25,  0.8,</m:t>
                    </m:r>
                  </m:oMath>
                </a14:m>
                <a:r>
                  <a:rPr lang="en-US" sz="2400" dirty="0">
                    <a:latin typeface="Verdana"/>
                    <a:ea typeface="Verdana"/>
                    <a:cs typeface="Verdana"/>
                  </a:rPr>
                  <a:t> and </a:t>
                </a:r>
                <a14:m>
                  <m:oMath xmlns:m="http://schemas.openxmlformats.org/officeDocument/2006/math">
                    <m:r>
                      <a:rPr lang="en-US" sz="2400" i="1">
                        <a:latin typeface="Cambria Math"/>
                        <a:ea typeface="Times New Roman"/>
                        <a:cs typeface="Times New Roman"/>
                      </a:rPr>
                      <m:t>−1.7</m:t>
                    </m:r>
                  </m:oMath>
                </a14:m>
                <a:r>
                  <a:rPr lang="en-US" sz="2400" dirty="0">
                    <a:latin typeface="Verdana"/>
                    <a:ea typeface="Verdana"/>
                    <a:cs typeface="Verdana"/>
                  </a:rPr>
                  <a:t> on the number line. Label each point with its numeric value.</a:t>
                </a:r>
                <a:endParaRPr lang="en-PH" sz="2400" dirty="0">
                  <a:latin typeface="Cambria"/>
                  <a:ea typeface="Times New Roman"/>
                  <a:cs typeface="Times New Roman"/>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8" y="1386150"/>
                <a:ext cx="10615858" cy="3092065"/>
              </a:xfrm>
              <a:prstGeom prst="rect">
                <a:avLst/>
              </a:prstGeom>
              <a:blipFill>
                <a:blip r:embed="rId5"/>
                <a:stretch>
                  <a:fillRect l="-836" t="-1633" r="-717" b="-36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785736714"/>
                  </p:ext>
                </p:extLst>
              </p:nvPr>
            </p:nvGraphicFramePr>
            <p:xfrm>
              <a:off x="2100000" y="2380030"/>
              <a:ext cx="7992000" cy="530860"/>
            </p:xfrm>
            <a:graphic>
              <a:graphicData uri="http://schemas.openxmlformats.org/drawingml/2006/table">
                <a:tbl>
                  <a:tblPr bandRow="1"/>
                  <a:tblGrid>
                    <a:gridCol w="252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952000">
                      <a:extLst>
                        <a:ext uri="{9D8B030D-6E8A-4147-A177-3AD203B41FA5}">
                          <a16:colId xmlns:a16="http://schemas.microsoft.com/office/drawing/2014/main" xmlns="" val="20002"/>
                        </a:ext>
                      </a:extLst>
                    </a:gridCol>
                  </a:tblGrid>
                  <a:tr h="530860">
                    <a:tc>
                      <a:txBody>
                        <a:bodyPr/>
                        <a:lstStyle/>
                        <a:p>
                          <a:pPr marL="449580" indent="-466725" algn="ctr">
                            <a:lnSpc>
                              <a:spcPct val="107000"/>
                            </a:lnSpc>
                            <a:spcAft>
                              <a:spcPts val="800"/>
                            </a:spcAft>
                          </a:pPr>
                          <a14:m>
                            <m:oMath xmlns:m="http://schemas.openxmlformats.org/officeDocument/2006/math">
                              <m:r>
                                <a:rPr lang="en-US" sz="2400" i="1">
                                  <a:effectLst/>
                                  <a:latin typeface="Cambria Math"/>
                                  <a:ea typeface="Cambria Math"/>
                                  <a:cs typeface="Cambria Math"/>
                                </a:rPr>
                                <m:t>−2.4</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−1.3</m:t>
                              </m:r>
                            </m:oMath>
                          </a14:m>
                          <a:endParaRPr lang="en-PH" sz="2400" dirty="0">
                            <a:effectLst/>
                            <a:latin typeface="Cambria Math"/>
                            <a:ea typeface="Cambria Math"/>
                            <a:cs typeface="Cambria Math"/>
                          </a:endParaRPr>
                        </a:p>
                      </a:txBody>
                      <a:tcPr marL="45720" marR="45720" anchor="ctr">
                        <a:lnL>
                          <a:noFill/>
                        </a:lnL>
                        <a:lnR>
                          <a:noFill/>
                        </a:lnR>
                        <a:lnT>
                          <a:noFill/>
                        </a:lnT>
                        <a:lnB>
                          <a:noFill/>
                        </a:lnB>
                      </a:tcPr>
                    </a:tc>
                    <a:tc>
                      <a:txBody>
                        <a:bodyPr/>
                        <a:lstStyle/>
                        <a:p>
                          <a:pPr indent="-466725" algn="ctr">
                            <a:lnSpc>
                              <a:spcPct val="107000"/>
                            </a:lnSpc>
                            <a:spcAft>
                              <a:spcPts val="800"/>
                            </a:spcAft>
                          </a:pPr>
                          <a14:m>
                            <m:oMath xmlns:m="http://schemas.openxmlformats.org/officeDocument/2006/math">
                              <m:r>
                                <a:rPr lang="en-US" sz="2400" i="1" smtClean="0">
                                  <a:effectLst/>
                                  <a:latin typeface="Cambria Math"/>
                                  <a:ea typeface="Verdana"/>
                                  <a:cs typeface="Verdana"/>
                                </a:rPr>
                                <m:t>0.5</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20%</m:t>
                              </m:r>
                            </m:oMath>
                          </a14:m>
                          <a:endParaRPr lang="en-PH" sz="2400" dirty="0">
                            <a:effectLst/>
                            <a:latin typeface="Cambria Math"/>
                            <a:ea typeface="Cambria Math"/>
                            <a:cs typeface="Cambria Math"/>
                          </a:endParaRPr>
                        </a:p>
                      </a:txBody>
                      <a:tcPr marL="45720" marR="45720" anchor="ctr">
                        <a:lnL>
                          <a:noFill/>
                        </a:lnL>
                        <a:lnR>
                          <a:noFill/>
                        </a:lnR>
                        <a:lnT>
                          <a:noFill/>
                        </a:lnT>
                        <a:lnB>
                          <a:noFill/>
                        </a:lnB>
                      </a:tcPr>
                    </a:tc>
                    <a:tc>
                      <a:txBody>
                        <a:bodyPr/>
                        <a:lstStyle/>
                        <a:p>
                          <a:pPr marL="442595" indent="-466725" algn="ctr">
                            <a:lnSpc>
                              <a:spcPct val="107000"/>
                            </a:lnSpc>
                            <a:spcAft>
                              <a:spcPts val="800"/>
                            </a:spcAft>
                          </a:pPr>
                          <a14:m>
                            <m:oMath xmlns:m="http://schemas.openxmlformats.org/officeDocument/2006/math">
                              <m:r>
                                <a:rPr lang="en-US" sz="2400" i="1">
                                  <a:effectLst/>
                                  <a:latin typeface="Cambria Math"/>
                                  <a:ea typeface="Cambria Math"/>
                                  <a:cs typeface="Cambria Math"/>
                                </a:rPr>
                                <m:t>−15.21</m:t>
                              </m:r>
                            </m:oMath>
                          </a14:m>
                          <a:r>
                            <a:rPr lang="en-US" sz="2400" dirty="0">
                              <a:effectLst/>
                              <a:latin typeface="Verdana"/>
                              <a:ea typeface="Verdana"/>
                              <a:cs typeface="Verdana"/>
                            </a:rPr>
                            <a:t> ___ </a:t>
                          </a:r>
                          <a14:m>
                            <m:oMath xmlns:m="http://schemas.openxmlformats.org/officeDocument/2006/math">
                              <m:r>
                                <a:rPr lang="en-US" sz="2400" i="1">
                                  <a:effectLst/>
                                  <a:latin typeface="Cambria Math"/>
                                  <a:ea typeface="Cambria Math"/>
                                  <a:cs typeface="Cambria Math"/>
                                </a:rPr>
                                <m:t>−7.136</m:t>
                              </m:r>
                            </m:oMath>
                          </a14:m>
                          <a:endParaRPr lang="en-PH" sz="2400" dirty="0">
                            <a:effectLst/>
                            <a:latin typeface="Cambria Math"/>
                            <a:ea typeface="Cambria Math"/>
                            <a:cs typeface="Cambria Math"/>
                          </a:endParaRPr>
                        </a:p>
                      </a:txBody>
                      <a:tcPr marL="45720" marR="45720" anchor="ctr">
                        <a:lnL>
                          <a:noFill/>
                        </a:lnL>
                        <a:lnR>
                          <a:noFill/>
                        </a:lnR>
                        <a:lnT>
                          <a:noFill/>
                        </a:lnT>
                        <a:lnB>
                          <a:noFill/>
                        </a:lnB>
                      </a:tcPr>
                    </a:tc>
                    <a:extLst>
                      <a:ext uri="{0D108BD9-81ED-4DB2-BD59-A6C34878D82A}">
                        <a16:rowId xmlns:a16="http://schemas.microsoft.com/office/drawing/2014/main" xmlns="" val="1000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785736714"/>
                  </p:ext>
                </p:extLst>
              </p:nvPr>
            </p:nvGraphicFramePr>
            <p:xfrm>
              <a:off x="2100000" y="2380030"/>
              <a:ext cx="7992000" cy="530860"/>
            </p:xfrm>
            <a:graphic>
              <a:graphicData uri="http://schemas.openxmlformats.org/drawingml/2006/table">
                <a:tbl>
                  <a:tblPr bandRow="1"/>
                  <a:tblGrid>
                    <a:gridCol w="25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2952000">
                      <a:extLst>
                        <a:ext uri="{9D8B030D-6E8A-4147-A177-3AD203B41FA5}">
                          <a16:colId xmlns:a16="http://schemas.microsoft.com/office/drawing/2014/main" val="20002"/>
                        </a:ext>
                      </a:extLst>
                    </a:gridCol>
                  </a:tblGrid>
                  <a:tr h="530860">
                    <a:tc>
                      <a:txBody>
                        <a:bodyPr/>
                        <a:lstStyle/>
                        <a:p>
                          <a:endParaRPr lang="en-US"/>
                        </a:p>
                      </a:txBody>
                      <a:tcPr marL="45720" marR="45720" anchor="ctr">
                        <a:lnL>
                          <a:noFill/>
                        </a:lnL>
                        <a:lnR>
                          <a:noFill/>
                        </a:lnR>
                        <a:lnT>
                          <a:noFill/>
                        </a:lnT>
                        <a:lnB>
                          <a:noFill/>
                        </a:lnB>
                        <a:blipFill>
                          <a:blip r:embed="rId6"/>
                          <a:stretch>
                            <a:fillRect t="-4651" r="-216583" b="-16279"/>
                          </a:stretch>
                        </a:blipFill>
                      </a:tcPr>
                    </a:tc>
                    <a:tc>
                      <a:txBody>
                        <a:bodyPr/>
                        <a:lstStyle/>
                        <a:p>
                          <a:endParaRPr lang="en-US"/>
                        </a:p>
                      </a:txBody>
                      <a:tcPr marL="45720" marR="45720" anchor="ctr">
                        <a:lnL>
                          <a:noFill/>
                        </a:lnL>
                        <a:lnR>
                          <a:noFill/>
                        </a:lnR>
                        <a:lnT>
                          <a:noFill/>
                        </a:lnT>
                        <a:lnB>
                          <a:noFill/>
                        </a:lnB>
                        <a:blipFill>
                          <a:blip r:embed="rId6"/>
                          <a:stretch>
                            <a:fillRect l="-100505" t="-4651" r="-117677" b="-16279"/>
                          </a:stretch>
                        </a:blipFill>
                      </a:tcPr>
                    </a:tc>
                    <a:tc>
                      <a:txBody>
                        <a:bodyPr/>
                        <a:lstStyle/>
                        <a:p>
                          <a:endParaRPr lang="en-US"/>
                        </a:p>
                      </a:txBody>
                      <a:tcPr marL="45720" marR="45720" anchor="ctr">
                        <a:lnL>
                          <a:noFill/>
                        </a:lnL>
                        <a:lnR>
                          <a:noFill/>
                        </a:lnR>
                        <a:lnT>
                          <a:noFill/>
                        </a:lnT>
                        <a:lnB>
                          <a:noFill/>
                        </a:lnB>
                        <a:blipFill>
                          <a:blip r:embed="rId6"/>
                          <a:stretch>
                            <a:fillRect l="-170386" t="-4651" b="-16279"/>
                          </a:stretch>
                        </a:blipFill>
                      </a:tcPr>
                    </a:tc>
                    <a:extLst>
                      <a:ext uri="{0D108BD9-81ED-4DB2-BD59-A6C34878D82A}">
                        <a16:rowId xmlns:a16="http://schemas.microsoft.com/office/drawing/2014/main" val="10000"/>
                      </a:ext>
                    </a:extLst>
                  </a:tr>
                </a:tbl>
              </a:graphicData>
            </a:graphic>
          </p:graphicFrame>
        </mc:Fallback>
      </mc:AlternateContent>
      <p:pic>
        <p:nvPicPr>
          <p:cNvPr id="11" name="Picture 10" descr="A screenshot of a social media post&#10;&#10;Description automatically generated"/>
          <p:cNvPicPr/>
          <p:nvPr/>
        </p:nvPicPr>
        <p:blipFill rotWithShape="1">
          <a:blip r:embed="rId7" cstate="screen">
            <a:extLst>
              <a:ext uri="{28A0092B-C50C-407E-A947-70E740481C1C}">
                <a14:useLocalDpi xmlns:a14="http://schemas.microsoft.com/office/drawing/2010/main"/>
              </a:ext>
            </a:extLst>
          </a:blip>
          <a:srcRect t="33321" b="38234"/>
          <a:stretch/>
        </p:blipFill>
        <p:spPr bwMode="auto">
          <a:xfrm>
            <a:off x="2370512" y="4688320"/>
            <a:ext cx="7450976" cy="614964"/>
          </a:xfrm>
          <a:prstGeom prst="rect">
            <a:avLst/>
          </a:prstGeom>
          <a:ln>
            <a:noFill/>
          </a:ln>
          <a:extLst>
            <a:ext uri="{53640926-AAD7-44D8-BBD7-CCE9431645EC}">
              <a14:shadowObscured xmlns:a14="http://schemas.microsoft.com/office/drawing/2010/main"/>
            </a:ext>
          </a:extLst>
        </p:spPr>
      </p:pic>
      <p:sp>
        <p:nvSpPr>
          <p:cNvPr id="13" name="Google Shape;282;g104476d1465_1_17"/>
          <p:cNvSpPr txBox="1"/>
          <p:nvPr/>
        </p:nvSpPr>
        <p:spPr>
          <a:xfrm>
            <a:off x="87531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1311</TotalTime>
  <Words>1032</Words>
  <Application>Microsoft Office PowerPoint</Application>
  <PresentationFormat>Custom</PresentationFormat>
  <Paragraphs>237</Paragraphs>
  <Slides>22</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vt:lpstr>
      <vt:lpstr>Calibri</vt:lpstr>
      <vt:lpstr>Courier New</vt:lpstr>
      <vt:lpstr>Times New Roman</vt:lpstr>
      <vt:lpstr>Century Gothic</vt:lpstr>
      <vt:lpstr>Cambria Math</vt:lpstr>
      <vt:lpstr>Wingdings</vt:lpstr>
      <vt:lpstr>Cambria</vt:lpstr>
      <vt:lpstr>Arial Black</vt:lpstr>
      <vt:lpstr>Verdana</vt:lpstr>
      <vt:lpstr>1_Office Theme</vt:lpstr>
      <vt:lpstr>6th Grade Math  Unit 4, Lesson 3  Plotting, Ordering, and Comparing Decimals  Volume 1, pg. 147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29</cp:revision>
  <dcterms:created xsi:type="dcterms:W3CDTF">2015-03-17T18:51:18Z</dcterms:created>
  <dcterms:modified xsi:type="dcterms:W3CDTF">2022-06-05T00:38:35Z</dcterms:modified>
</cp:coreProperties>
</file>