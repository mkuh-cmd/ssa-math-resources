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5"/>
  </p:notesMasterIdLst>
  <p:sldIdLst>
    <p:sldId id="256" r:id="rId5"/>
    <p:sldId id="257" r:id="rId6"/>
    <p:sldId id="285" r:id="rId7"/>
    <p:sldId id="286" r:id="rId8"/>
    <p:sldId id="261" r:id="rId9"/>
    <p:sldId id="287" r:id="rId10"/>
    <p:sldId id="288" r:id="rId11"/>
    <p:sldId id="314" r:id="rId12"/>
    <p:sldId id="315" r:id="rId13"/>
    <p:sldId id="316" r:id="rId14"/>
    <p:sldId id="326" r:id="rId15"/>
    <p:sldId id="289" r:id="rId16"/>
    <p:sldId id="290" r:id="rId17"/>
    <p:sldId id="308" r:id="rId18"/>
    <p:sldId id="329" r:id="rId19"/>
    <p:sldId id="328" r:id="rId20"/>
    <p:sldId id="323" r:id="rId21"/>
    <p:sldId id="324" r:id="rId22"/>
    <p:sldId id="325" r:id="rId23"/>
    <p:sldId id="330" r:id="rId24"/>
    <p:sldId id="320" r:id="rId25"/>
    <p:sldId id="321" r:id="rId26"/>
    <p:sldId id="322" r:id="rId27"/>
    <p:sldId id="331" r:id="rId28"/>
    <p:sldId id="332" r:id="rId29"/>
    <p:sldId id="302" r:id="rId30"/>
    <p:sldId id="303" r:id="rId31"/>
    <p:sldId id="309" r:id="rId32"/>
    <p:sldId id="306" r:id="rId33"/>
    <p:sldId id="307" r:id="rId34"/>
  </p:sldIdLst>
  <p:sldSz cx="12192000" cy="6858000"/>
  <p:notesSz cx="6858000" cy="9144000"/>
  <p:embeddedFontLst>
    <p:embeddedFont>
      <p:font typeface="Cambria" pitchFamily="18" charset="0"/>
      <p:regular r:id="rId36"/>
      <p:bold r:id="rId37"/>
      <p:italic r:id="rId38"/>
      <p:boldItalic r:id="rId39"/>
    </p:embeddedFont>
    <p:embeddedFont>
      <p:font typeface="Verdana" pitchFamily="34" charset="0"/>
      <p:regular r:id="rId40"/>
      <p:bold r:id="rId41"/>
      <p:italic r:id="rId42"/>
      <p:boldItalic r:id="rId43"/>
    </p:embeddedFont>
    <p:embeddedFont>
      <p:font typeface="Century Gothic" pitchFamily="34" charset="0"/>
      <p:regular r:id="rId44"/>
      <p:bold r:id="rId45"/>
      <p:italic r:id="rId46"/>
      <p:boldItalic r:id="rId47"/>
    </p:embeddedFont>
    <p:embeddedFont>
      <p:font typeface="Calibri" pitchFamily="34" charset="0"/>
      <p:regular r:id="rId48"/>
      <p:bold r:id="rId49"/>
      <p:italic r:id="rId50"/>
      <p:boldItalic r:id="rId51"/>
    </p:embeddedFont>
    <p:embeddedFont>
      <p:font typeface="Arial Black" pitchFamily="34" charset="0"/>
      <p:bold r:id="rId52"/>
    </p:embeddedFont>
    <p:embeddedFont>
      <p:font typeface="Cambria Math" pitchFamily="18" charset="0"/>
      <p:regular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358" autoAdjust="0"/>
    <p:restoredTop sz="94694" autoAdjust="0"/>
  </p:normalViewPr>
  <p:slideViewPr>
    <p:cSldViewPr snapToGrid="0">
      <p:cViewPr>
        <p:scale>
          <a:sx n="115" d="100"/>
          <a:sy n="115" d="100"/>
        </p:scale>
        <p:origin x="-102"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9.fntdata"/><Relationship Id="rId52" Type="http://schemas.openxmlformats.org/officeDocument/2006/relationships/font" Target="fonts/font1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16.fntdata"/><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690498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540458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4.jp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4.png"/><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41.tiff"/><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4, Lesson 6</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Rational Numbers in Real-World Context</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161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810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4829" y="5346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1329" y="28924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31756" y="1581791"/>
            <a:ext cx="11052566" cy="4205700"/>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latin typeface="Verdana" pitchFamily="34" charset="0"/>
                <a:ea typeface="Verdana" pitchFamily="34" charset="0"/>
              </a:rPr>
              <a:t>MA.6.NSO.1.1 </a:t>
            </a:r>
          </a:p>
          <a:p>
            <a:pPr marL="444500" indent="0">
              <a:buSzPts val="1100"/>
              <a:buNone/>
            </a:pPr>
            <a:r>
              <a:rPr lang="en-US" sz="3600" dirty="0">
                <a:latin typeface="Verdana" pitchFamily="34" charset="0"/>
                <a:ea typeface="Verdana" pitchFamily="34" charset="0"/>
              </a:rPr>
              <a:t>Extend previous understanding of numbers to define rational numbers. Plot, order, and compare rational numbers.</a:t>
            </a:r>
          </a:p>
          <a:p>
            <a:pPr marL="0" indent="0">
              <a:buSzPts val="1100"/>
              <a:buNone/>
            </a:pPr>
            <a:endParaRPr lang="en-US" sz="3500" dirty="0" smtClean="0">
              <a:solidFill>
                <a:schemeClr val="tx1"/>
              </a:solidFill>
              <a:latin typeface="Verdana"/>
              <a:ea typeface="Verdana"/>
              <a:cs typeface="Verdana"/>
              <a:sym typeface="Verdana"/>
            </a:endParaRPr>
          </a:p>
          <a:p>
            <a:pPr marL="0" indent="0">
              <a:buSzPts val="1100"/>
              <a:buNone/>
            </a:pPr>
            <a:r>
              <a:rPr lang="en-US" sz="3500" dirty="0" smtClean="0">
                <a:solidFill>
                  <a:schemeClr val="tx1"/>
                </a:solidFill>
                <a:latin typeface="Verdana"/>
                <a:ea typeface="Verdana"/>
                <a:cs typeface="Verdana"/>
                <a:sym typeface="Verdana"/>
              </a:rPr>
              <a:t>MA.6.NSO.1.2 </a:t>
            </a:r>
            <a:endParaRPr lang="en-US" sz="3500" dirty="0">
              <a:solidFill>
                <a:schemeClr val="tx1"/>
              </a:solidFill>
              <a:latin typeface="Verdana"/>
              <a:ea typeface="Verdana"/>
              <a:cs typeface="Verdana"/>
              <a:sym typeface="Verdana"/>
            </a:endParaRPr>
          </a:p>
          <a:p>
            <a:pPr indent="0">
              <a:buNone/>
            </a:pPr>
            <a:r>
              <a:rPr lang="en-US" sz="3500" dirty="0">
                <a:solidFill>
                  <a:schemeClr val="tx1"/>
                </a:solidFill>
                <a:latin typeface="Verdana"/>
                <a:ea typeface="Verdana"/>
                <a:cs typeface="Verdana"/>
                <a:sym typeface="Verdana"/>
              </a:rPr>
              <a:t>Given a mathematical or real-world context, represent quantities that have opposite directions using rational numbers. Compare them on a number line and explain the meaning of zero within its context.</a:t>
            </a: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58365" y="41"/>
            <a:ext cx="104899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258365" y="1596390"/>
            <a:ext cx="998979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pic>
        <p:nvPicPr>
          <p:cNvPr id="14" name="Google Shape;281;g104476d1465_1_17"/>
          <p:cNvPicPr preferRelativeResize="0"/>
          <p:nvPr/>
        </p:nvPicPr>
        <p:blipFill>
          <a:blip r:embed="rId4">
            <a:alphaModFix/>
          </a:blip>
          <a:stretch>
            <a:fillRect/>
          </a:stretch>
        </p:blipFill>
        <p:spPr>
          <a:xfrm>
            <a:off x="431329" y="289241"/>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49651" y="41"/>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431329" y="289241"/>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32524" y="1587296"/>
            <a:ext cx="1093915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30238" indent="-623888">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determine positive and negative values in relation to real-world contexts.</a:t>
            </a:r>
          </a:p>
          <a:p>
            <a:pPr marL="630238" indent="-623888">
              <a:buClr>
                <a:srgbClr val="434343"/>
              </a:buClr>
              <a:buSzPts val="3500"/>
              <a:buFont typeface="Wingdings" pitchFamily="2" charset="2"/>
              <a:buChar char="q"/>
            </a:pPr>
            <a:endParaRPr lang="en-US" sz="3500" dirty="0">
              <a:solidFill>
                <a:schemeClr val="tx1"/>
              </a:solidFill>
              <a:latin typeface="Verdana"/>
              <a:ea typeface="Verdana"/>
              <a:cs typeface="Verdana"/>
              <a:sym typeface="Verdana"/>
            </a:endParaRPr>
          </a:p>
          <a:p>
            <a:pPr marL="630238" indent="-623888">
              <a:buClr>
                <a:srgbClr val="434343"/>
              </a:buClr>
              <a:buSzPts val="3500"/>
              <a:buFont typeface="Wingdings" pitchFamily="2" charset="2"/>
              <a:buChar char="q"/>
            </a:pPr>
            <a:r>
              <a:rPr lang="en-US" sz="3500" dirty="0">
                <a:solidFill>
                  <a:schemeClr val="tx1"/>
                </a:solidFill>
                <a:latin typeface="Verdana"/>
                <a:ea typeface="Verdana"/>
                <a:cs typeface="Verdana"/>
                <a:sym typeface="Verdana"/>
              </a:rPr>
              <a:t>I can plot negative rational values given a real-world context.</a:t>
            </a:r>
          </a:p>
        </p:txBody>
      </p:sp>
      <p:sp>
        <p:nvSpPr>
          <p:cNvPr id="9"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133528" y="287110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42328" y="275792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49653" y="118146"/>
            <a:ext cx="9918456"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4.6.1 Warm-Up: Mathematician Katherine Johnson</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431329" y="289241"/>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528868" y="1467175"/>
            <a:ext cx="10800000" cy="3477875"/>
          </a:xfrm>
          <a:prstGeom prst="rect">
            <a:avLst/>
          </a:prstGeom>
          <a:noFill/>
        </p:spPr>
        <p:txBody>
          <a:bodyPr wrap="square" rtlCol="0">
            <a:spAutoFit/>
          </a:bodyPr>
          <a:lstStyle/>
          <a:p>
            <a:pPr>
              <a:spcAft>
                <a:spcPts val="1000"/>
              </a:spcAft>
            </a:pPr>
            <a:r>
              <a:rPr lang="en-US" sz="2000" dirty="0">
                <a:latin typeface="Verdana"/>
                <a:ea typeface="Times New Roman"/>
                <a:cs typeface="Times New Roman"/>
              </a:rPr>
              <a:t>Born in 1918, Katherine Johnson </a:t>
            </a:r>
            <a:r>
              <a:rPr lang="en-US" sz="2000" dirty="0" smtClean="0">
                <a:latin typeface="Verdana"/>
                <a:ea typeface="Times New Roman"/>
                <a:cs typeface="Times New Roman"/>
              </a:rPr>
              <a:t>was </a:t>
            </a:r>
            <a:r>
              <a:rPr lang="en-US" sz="2000" dirty="0">
                <a:latin typeface="Verdana"/>
                <a:ea typeface="Times New Roman"/>
                <a:cs typeface="Times New Roman"/>
              </a:rPr>
              <a:t>always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fascinated </a:t>
            </a:r>
            <a:r>
              <a:rPr lang="en-US" sz="2000" dirty="0">
                <a:latin typeface="Verdana"/>
                <a:ea typeface="Times New Roman"/>
                <a:cs typeface="Times New Roman"/>
              </a:rPr>
              <a:t>by </a:t>
            </a:r>
            <a:r>
              <a:rPr lang="en-US" sz="2000" dirty="0" smtClean="0">
                <a:latin typeface="Verdana"/>
                <a:ea typeface="Times New Roman"/>
                <a:cs typeface="Times New Roman"/>
              </a:rPr>
              <a:t>numbers</a:t>
            </a:r>
            <a:r>
              <a:rPr lang="en-US" sz="2000" dirty="0">
                <a:latin typeface="Verdana"/>
                <a:ea typeface="Times New Roman"/>
                <a:cs typeface="Times New Roman"/>
              </a:rPr>
              <a:t>. Graduating from </a:t>
            </a:r>
            <a:br>
              <a:rPr lang="en-US" sz="2000" dirty="0">
                <a:latin typeface="Verdana"/>
                <a:ea typeface="Times New Roman"/>
                <a:cs typeface="Times New Roman"/>
              </a:rPr>
            </a:br>
            <a:r>
              <a:rPr lang="en-US" sz="2000" dirty="0">
                <a:latin typeface="Verdana"/>
                <a:ea typeface="Times New Roman"/>
                <a:cs typeface="Times New Roman"/>
              </a:rPr>
              <a:t>high school at 14 and from </a:t>
            </a:r>
            <a:r>
              <a:rPr lang="en-US" sz="2000" dirty="0" smtClean="0">
                <a:latin typeface="Verdana"/>
                <a:ea typeface="Times New Roman"/>
                <a:cs typeface="Times New Roman"/>
              </a:rPr>
              <a:t>college </a:t>
            </a:r>
            <a:r>
              <a:rPr lang="en-US" sz="2000" dirty="0">
                <a:latin typeface="Verdana"/>
                <a:ea typeface="Times New Roman"/>
                <a:cs typeface="Times New Roman"/>
              </a:rPr>
              <a:t>at 18,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she </a:t>
            </a:r>
            <a:r>
              <a:rPr lang="en-US" sz="2000" dirty="0">
                <a:latin typeface="Verdana"/>
                <a:ea typeface="Times New Roman"/>
                <a:cs typeface="Times New Roman"/>
              </a:rPr>
              <a:t>went on to </a:t>
            </a:r>
            <a:r>
              <a:rPr lang="en-US" sz="2000" dirty="0" smtClean="0">
                <a:latin typeface="Verdana"/>
                <a:ea typeface="Times New Roman"/>
                <a:cs typeface="Times New Roman"/>
              </a:rPr>
              <a:t>become </a:t>
            </a:r>
            <a:r>
              <a:rPr lang="en-US" sz="2000" dirty="0">
                <a:latin typeface="Verdana"/>
                <a:ea typeface="Times New Roman"/>
                <a:cs typeface="Times New Roman"/>
              </a:rPr>
              <a:t>one of the first African </a:t>
            </a:r>
            <a:br>
              <a:rPr lang="en-US" sz="2000" dirty="0">
                <a:latin typeface="Verdana"/>
                <a:ea typeface="Times New Roman"/>
                <a:cs typeface="Times New Roman"/>
              </a:rPr>
            </a:br>
            <a:r>
              <a:rPr lang="en-US" sz="2000" dirty="0">
                <a:latin typeface="Verdana"/>
                <a:ea typeface="Times New Roman"/>
                <a:cs typeface="Times New Roman"/>
              </a:rPr>
              <a:t>American mathematicians with </a:t>
            </a:r>
            <a:r>
              <a:rPr lang="en-US" sz="2000" dirty="0" smtClean="0">
                <a:latin typeface="Verdana"/>
                <a:ea typeface="Times New Roman"/>
                <a:cs typeface="Times New Roman"/>
              </a:rPr>
              <a:t>the </a:t>
            </a:r>
            <a:r>
              <a:rPr lang="en-US" sz="2000" dirty="0">
                <a:latin typeface="Verdana"/>
                <a:ea typeface="Times New Roman"/>
                <a:cs typeface="Times New Roman"/>
              </a:rPr>
              <a:t>job title of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a:t>
            </a:r>
            <a:r>
              <a:rPr lang="en-US" sz="2000" dirty="0">
                <a:latin typeface="Verdana"/>
                <a:ea typeface="Times New Roman"/>
                <a:cs typeface="Times New Roman"/>
              </a:rPr>
              <a:t>computer” at NASA, where she worked for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three </a:t>
            </a:r>
            <a:r>
              <a:rPr lang="en-US" sz="2000" dirty="0">
                <a:latin typeface="Verdana"/>
                <a:ea typeface="Times New Roman"/>
                <a:cs typeface="Times New Roman"/>
              </a:rPr>
              <a:t>decades. As a computer, she personally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checked </a:t>
            </a:r>
            <a:r>
              <a:rPr lang="en-US" sz="2000" dirty="0">
                <a:latin typeface="Verdana"/>
                <a:ea typeface="Times New Roman"/>
                <a:cs typeface="Times New Roman"/>
              </a:rPr>
              <a:t>the calculations made by electronic computers. Katherine calculated the launch window for America’s first human space flight. Her calculations were critical to the success of the Apollo Moon landing program and the start of NASA’s Space Shuttle program. </a:t>
            </a:r>
            <a:endParaRPr lang="en-PH" dirty="0">
              <a:latin typeface="Cambria"/>
              <a:ea typeface="Times New Roman"/>
              <a:cs typeface="Times New Roman"/>
            </a:endParaRPr>
          </a:p>
        </p:txBody>
      </p:sp>
      <p:pic>
        <p:nvPicPr>
          <p:cNvPr id="10" name="Picture 9" descr="Katherine Johnson of Hidden Figures Fame Dies at 101"/>
          <p:cNvPicPr/>
          <p:nvPr/>
        </p:nvPicPr>
        <p:blipFill>
          <a:blip r:embed="rId4">
            <a:extLst>
              <a:ext uri="{28A0092B-C50C-407E-A947-70E740481C1C}">
                <a14:useLocalDpi xmlns:a14="http://schemas.microsoft.com/office/drawing/2010/main"/>
              </a:ext>
            </a:extLst>
          </a:blip>
          <a:srcRect/>
          <a:stretch>
            <a:fillRect/>
          </a:stretch>
        </p:blipFill>
        <p:spPr bwMode="auto">
          <a:xfrm>
            <a:off x="6932114" y="1467174"/>
            <a:ext cx="4235995" cy="2101041"/>
          </a:xfrm>
          <a:prstGeom prst="rect">
            <a:avLst/>
          </a:prstGeom>
          <a:noFill/>
          <a:ln>
            <a:noFill/>
          </a:ln>
        </p:spPr>
      </p:pic>
      <p:sp>
        <p:nvSpPr>
          <p:cNvPr id="11"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 xmlns:a16="http://schemas.microsoft.com/office/drawing/2014/main" id="{2FA392D8-3ED3-7940-83A8-1451AA8A08D4}"/>
              </a:ext>
            </a:extLst>
          </p:cNvPr>
          <p:cNvSpPr txBox="1"/>
          <p:nvPr/>
        </p:nvSpPr>
        <p:spPr>
          <a:xfrm>
            <a:off x="531686" y="387229"/>
            <a:ext cx="10800000" cy="1746632"/>
          </a:xfrm>
          <a:prstGeom prst="rect">
            <a:avLst/>
          </a:prstGeom>
          <a:noFill/>
        </p:spPr>
        <p:txBody>
          <a:bodyPr wrap="square" rtlCol="0">
            <a:spAutoFit/>
          </a:bodyPr>
          <a:lstStyle/>
          <a:p>
            <a:r>
              <a:rPr lang="en-US" sz="2000" dirty="0">
                <a:latin typeface="Verdana"/>
                <a:ea typeface="Times New Roman"/>
                <a:cs typeface="Times New Roman"/>
              </a:rPr>
              <a:t>In 2015, she received the Presidential Medal of Freedom from President Obama. In its official announcement, the White House cited Katherine’s influence on every major space program from Mercury to the Shuttle Program.</a:t>
            </a:r>
          </a:p>
          <a:p>
            <a:endParaRPr lang="en-US" sz="2000" dirty="0">
              <a:latin typeface="Verdana"/>
              <a:ea typeface="Times New Roman"/>
              <a:cs typeface="Times New Roman"/>
            </a:endParaRPr>
          </a:p>
          <a:p>
            <a:pPr marL="457200" indent="-457200">
              <a:spcBef>
                <a:spcPts val="900"/>
              </a:spcBef>
              <a:buSzPct val="100000"/>
              <a:buFont typeface="+mj-lt"/>
              <a:buAutoNum type="arabicPeriod"/>
            </a:pPr>
            <a:r>
              <a:rPr lang="en-US" sz="2000" dirty="0">
                <a:latin typeface="Verdana"/>
                <a:ea typeface="Times New Roman"/>
                <a:cs typeface="Times New Roman"/>
              </a:rPr>
              <a:t>What stands out to you the most about Katherine Johnson?</a:t>
            </a:r>
            <a:endParaRPr lang="en-PH" dirty="0">
              <a:latin typeface="Cambria"/>
              <a:ea typeface="Times New Roman"/>
              <a:cs typeface="Times New Roman"/>
            </a:endParaRPr>
          </a:p>
        </p:txBody>
      </p:sp>
      <p:sp>
        <p:nvSpPr>
          <p:cNvPr id="7"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41258" y="275792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89114" y="284469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47329" y="-8226"/>
            <a:ext cx="106805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4.6.2 Collaboration: Exploring Elevation </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28821" y="28673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531101" y="1463776"/>
            <a:ext cx="10747687" cy="4524315"/>
          </a:xfrm>
          <a:prstGeom prst="rect">
            <a:avLst/>
          </a:prstGeom>
          <a:noFill/>
        </p:spPr>
        <p:txBody>
          <a:bodyPr wrap="square" rtlCol="0">
            <a:spAutoFit/>
          </a:bodyPr>
          <a:lstStyle/>
          <a:p>
            <a:r>
              <a:rPr lang="en-US" sz="2400" dirty="0">
                <a:latin typeface="Verdana"/>
                <a:ea typeface="Times New Roman"/>
                <a:cs typeface="Times New Roman"/>
              </a:rPr>
              <a:t>The picture shows </a:t>
            </a:r>
            <a:r>
              <a:rPr lang="en-US" sz="2400" dirty="0" smtClean="0">
                <a:latin typeface="Verdana"/>
                <a:ea typeface="Times New Roman"/>
                <a:cs typeface="Times New Roman"/>
              </a:rPr>
              <a:t>different </a:t>
            </a:r>
            <a:br>
              <a:rPr lang="en-US" sz="2400" dirty="0" smtClean="0">
                <a:latin typeface="Verdana"/>
                <a:ea typeface="Times New Roman"/>
                <a:cs typeface="Times New Roman"/>
              </a:rPr>
            </a:br>
            <a:r>
              <a:rPr lang="en-US" sz="2400" dirty="0" smtClean="0">
                <a:latin typeface="Verdana"/>
                <a:ea typeface="Times New Roman"/>
                <a:cs typeface="Times New Roman"/>
              </a:rPr>
              <a:t>locations relative </a:t>
            </a:r>
            <a:r>
              <a:rPr lang="en-US" sz="2400" dirty="0">
                <a:latin typeface="Verdana"/>
                <a:ea typeface="Times New Roman"/>
                <a:cs typeface="Times New Roman"/>
              </a:rPr>
              <a:t>to sea level.</a:t>
            </a:r>
          </a:p>
          <a:p>
            <a:endParaRPr lang="en-US" sz="2400" dirty="0">
              <a:latin typeface="Verdana"/>
              <a:ea typeface="Times New Roman"/>
              <a:cs typeface="Times New Roman"/>
            </a:endParaRPr>
          </a:p>
          <a:p>
            <a:endParaRPr lang="en-US" sz="2400" dirty="0">
              <a:latin typeface="Verdana"/>
              <a:ea typeface="Times New Roman"/>
              <a:cs typeface="Times New Roman"/>
            </a:endParaRPr>
          </a:p>
          <a:p>
            <a:endParaRPr lang="en-US" sz="2400" dirty="0">
              <a:latin typeface="Verdana"/>
              <a:ea typeface="Times New Roman"/>
              <a:cs typeface="Times New Roman"/>
            </a:endParaRPr>
          </a:p>
          <a:p>
            <a:endParaRPr lang="en-US" sz="2400" dirty="0">
              <a:latin typeface="Verdana"/>
              <a:ea typeface="Times New Roman"/>
              <a:cs typeface="Times New Roman"/>
            </a:endParaRPr>
          </a:p>
          <a:p>
            <a:endParaRPr lang="en-US" sz="2400" dirty="0">
              <a:latin typeface="Verdana"/>
              <a:ea typeface="Times New Roman"/>
              <a:cs typeface="Times New Roman"/>
            </a:endParaRPr>
          </a:p>
          <a:p>
            <a:endParaRPr lang="en-US" sz="2400" dirty="0" smtClean="0">
              <a:latin typeface="Verdana"/>
              <a:ea typeface="Times New Roman"/>
              <a:cs typeface="Times New Roman"/>
            </a:endParaRPr>
          </a:p>
          <a:p>
            <a:endParaRPr lang="en-US" sz="2400" dirty="0">
              <a:latin typeface="Verdana"/>
              <a:ea typeface="Times New Roman"/>
              <a:cs typeface="Times New Roman"/>
            </a:endParaRPr>
          </a:p>
          <a:p>
            <a:pPr marL="457200" indent="-457200">
              <a:buFont typeface="+mj-lt"/>
              <a:buAutoNum type="arabicPeriod"/>
            </a:pPr>
            <a:r>
              <a:rPr lang="en-US" sz="2400" dirty="0">
                <a:latin typeface="Verdana"/>
                <a:ea typeface="Times New Roman"/>
                <a:cs typeface="Times New Roman"/>
              </a:rPr>
              <a:t>Describe how the picture can be used to explain the word </a:t>
            </a:r>
            <a:r>
              <a:rPr lang="en-US" sz="2400" i="1" dirty="0">
                <a:latin typeface="Verdana"/>
                <a:ea typeface="Times New Roman"/>
                <a:cs typeface="Times New Roman"/>
              </a:rPr>
              <a:t>elevation.</a:t>
            </a:r>
            <a:endParaRPr lang="en-PH" sz="1600" dirty="0">
              <a:latin typeface="Cambria"/>
              <a:ea typeface="Times New Roman"/>
              <a:cs typeface="Times New Roman"/>
            </a:endParaRPr>
          </a:p>
          <a:p>
            <a:endParaRPr lang="en-US" sz="2400" dirty="0">
              <a:latin typeface="Verdana"/>
              <a:ea typeface="Times New Roman"/>
              <a:cs typeface="Times New Roman"/>
            </a:endParaRPr>
          </a:p>
        </p:txBody>
      </p:sp>
      <p:pic>
        <p:nvPicPr>
          <p:cNvPr id="11" name="Picture 10" descr="A picture containing chart&#10;&#10;Description automatically generated"/>
          <p:cNvPicPr/>
          <p:nvPr/>
        </p:nvPicPr>
        <p:blipFill rotWithShape="1">
          <a:blip r:embed="rId4" cstate="screen">
            <a:extLst>
              <a:ext uri="{28A0092B-C50C-407E-A947-70E740481C1C}">
                <a14:useLocalDpi xmlns:a14="http://schemas.microsoft.com/office/drawing/2010/main"/>
              </a:ext>
            </a:extLst>
          </a:blip>
          <a:srcRect t="3418" b="3078"/>
          <a:stretch/>
        </p:blipFill>
        <p:spPr>
          <a:xfrm>
            <a:off x="6302522" y="1386024"/>
            <a:ext cx="4976266" cy="3101892"/>
          </a:xfrm>
          <a:prstGeom prst="rect">
            <a:avLst/>
          </a:prstGeom>
        </p:spPr>
      </p:pic>
      <p:sp>
        <p:nvSpPr>
          <p:cNvPr id="13"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2AA35BC6-D428-FC41-BDE5-6438AB8840FC}"/>
              </a:ext>
            </a:extLst>
          </p:cNvPr>
          <p:cNvSpPr txBox="1"/>
          <p:nvPr/>
        </p:nvSpPr>
        <p:spPr>
          <a:xfrm>
            <a:off x="540563" y="384031"/>
            <a:ext cx="10990375"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Verdana"/>
                <a:cs typeface="Verdana"/>
              </a:rPr>
              <a:t>Ask two classmates for their description of the word elevation. Write their description in the table. </a:t>
            </a:r>
            <a:r>
              <a:rPr lang="en-US" sz="2400" i="1" dirty="0">
                <a:latin typeface="Verdana"/>
                <a:ea typeface="Verdana"/>
                <a:cs typeface="Verdana"/>
              </a:rPr>
              <a:t>You are the only person who should write in the first column of the table.</a:t>
            </a:r>
            <a:r>
              <a:rPr lang="en-US" sz="2400" dirty="0">
                <a:latin typeface="Verdana"/>
                <a:ea typeface="Verdana"/>
                <a:cs typeface="Verdana"/>
              </a:rPr>
              <a:t> Have your classmate initial next to your summary of their description stating that your summary is correct.</a:t>
            </a:r>
            <a:endParaRPr lang="en-PH" sz="1600" dirty="0">
              <a:latin typeface="Cambria"/>
              <a:ea typeface="Times New Roman"/>
              <a:cs typeface="Times New Roman"/>
            </a:endParaRPr>
          </a:p>
        </p:txBody>
      </p:sp>
      <p:graphicFrame>
        <p:nvGraphicFramePr>
          <p:cNvPr id="3" name="Table 2"/>
          <p:cNvGraphicFramePr>
            <a:graphicFrameLocks noGrp="1"/>
          </p:cNvGraphicFramePr>
          <p:nvPr>
            <p:extLst>
              <p:ext uri="{D42A27DB-BD31-4B8C-83A1-F6EECF244321}">
                <p14:modId xmlns:p14="http://schemas.microsoft.com/office/powerpoint/2010/main" val="2121098378"/>
              </p:ext>
            </p:extLst>
          </p:nvPr>
        </p:nvGraphicFramePr>
        <p:xfrm>
          <a:off x="2496000" y="2555048"/>
          <a:ext cx="7200000" cy="3440160"/>
        </p:xfrm>
        <a:graphic>
          <a:graphicData uri="http://schemas.openxmlformats.org/drawingml/2006/table">
            <a:tbl>
              <a:tblPr firstRow="1" firstCol="1" bandRow="1"/>
              <a:tblGrid>
                <a:gridCol w="5040000">
                  <a:extLst>
                    <a:ext uri="{9D8B030D-6E8A-4147-A177-3AD203B41FA5}">
                      <a16:colId xmlns="" xmlns:a16="http://schemas.microsoft.com/office/drawing/2014/main" val="20000"/>
                    </a:ext>
                  </a:extLst>
                </a:gridCol>
                <a:gridCol w="2160000">
                  <a:extLst>
                    <a:ext uri="{9D8B030D-6E8A-4147-A177-3AD203B41FA5}">
                      <a16:colId xmlns="" xmlns:a16="http://schemas.microsoft.com/office/drawing/2014/main" val="20001"/>
                    </a:ext>
                  </a:extLst>
                </a:gridCol>
              </a:tblGrid>
              <a:tr h="337820">
                <a:tc>
                  <a:txBody>
                    <a:bodyPr/>
                    <a:lstStyle/>
                    <a:p>
                      <a:pPr algn="ctr">
                        <a:spcAft>
                          <a:spcPts val="0"/>
                        </a:spcAft>
                      </a:pPr>
                      <a:r>
                        <a:rPr lang="en-US" sz="1800" b="1" dirty="0">
                          <a:solidFill>
                            <a:srgbClr val="000000"/>
                          </a:solidFill>
                          <a:effectLst/>
                          <a:latin typeface="Verdana"/>
                          <a:ea typeface="Times New Roman"/>
                          <a:cs typeface="Times New Roman"/>
                        </a:rPr>
                        <a:t>My Summary of _________’s </a:t>
                      </a:r>
                      <a:br>
                        <a:rPr lang="en-US" sz="1800" b="1" dirty="0">
                          <a:solidFill>
                            <a:srgbClr val="000000"/>
                          </a:solidFill>
                          <a:effectLst/>
                          <a:latin typeface="Verdana"/>
                          <a:ea typeface="Times New Roman"/>
                          <a:cs typeface="Times New Roman"/>
                        </a:rPr>
                      </a:br>
                      <a:r>
                        <a:rPr lang="en-US" sz="1800" b="1" dirty="0">
                          <a:solidFill>
                            <a:srgbClr val="000000"/>
                          </a:solidFill>
                          <a:effectLst/>
                          <a:latin typeface="Verdana"/>
                          <a:ea typeface="Times New Roman"/>
                          <a:cs typeface="Times New Roman"/>
                        </a:rPr>
                        <a:t>Description of Elevation</a:t>
                      </a: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1800" b="1" dirty="0">
                          <a:solidFill>
                            <a:srgbClr val="000000"/>
                          </a:solidFill>
                          <a:effectLst/>
                          <a:latin typeface="Verdana"/>
                          <a:ea typeface="Times New Roman"/>
                          <a:cs typeface="Times New Roman"/>
                        </a:rPr>
                        <a:t>Initials</a:t>
                      </a: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1080000">
                <a:tc>
                  <a:txBody>
                    <a:bodyPr/>
                    <a:lstStyle/>
                    <a:p>
                      <a:pPr algn="ctr">
                        <a:spcAft>
                          <a:spcPts val="0"/>
                        </a:spcAft>
                      </a:pP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37820">
                <a:tc>
                  <a:txBody>
                    <a:bodyPr/>
                    <a:lstStyle/>
                    <a:p>
                      <a:pPr algn="ctr">
                        <a:spcAft>
                          <a:spcPts val="0"/>
                        </a:spcAft>
                      </a:pPr>
                      <a:r>
                        <a:rPr lang="en-US" sz="1800" b="1" dirty="0">
                          <a:solidFill>
                            <a:srgbClr val="000000"/>
                          </a:solidFill>
                          <a:effectLst/>
                          <a:latin typeface="Verdana"/>
                          <a:ea typeface="Times New Roman"/>
                          <a:cs typeface="Times New Roman"/>
                        </a:rPr>
                        <a:t>My Summary of _________’s </a:t>
                      </a:r>
                      <a:br>
                        <a:rPr lang="en-US" sz="1800" b="1" dirty="0">
                          <a:solidFill>
                            <a:srgbClr val="000000"/>
                          </a:solidFill>
                          <a:effectLst/>
                          <a:latin typeface="Verdana"/>
                          <a:ea typeface="Times New Roman"/>
                          <a:cs typeface="Times New Roman"/>
                        </a:rPr>
                      </a:br>
                      <a:r>
                        <a:rPr lang="en-US" sz="1800" b="1" dirty="0">
                          <a:solidFill>
                            <a:srgbClr val="000000"/>
                          </a:solidFill>
                          <a:effectLst/>
                          <a:latin typeface="Verdana"/>
                          <a:ea typeface="Times New Roman"/>
                          <a:cs typeface="Times New Roman"/>
                        </a:rPr>
                        <a:t>Description of Elevation</a:t>
                      </a: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1800" b="1">
                          <a:solidFill>
                            <a:srgbClr val="000000"/>
                          </a:solidFill>
                          <a:effectLst/>
                          <a:latin typeface="Verdana"/>
                          <a:ea typeface="Times New Roman"/>
                          <a:cs typeface="Times New Roman"/>
                        </a:rPr>
                        <a:t>Initials</a:t>
                      </a:r>
                      <a:endParaRPr lang="en-PH" sz="120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0002"/>
                  </a:ext>
                </a:extLst>
              </a:tr>
              <a:tr h="1080000">
                <a:tc>
                  <a:txBody>
                    <a:bodyPr/>
                    <a:lstStyle/>
                    <a:p>
                      <a:pPr algn="ctr">
                        <a:spcAft>
                          <a:spcPts val="0"/>
                        </a:spcAft>
                      </a:pP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endParaRPr lang="en-PH" sz="12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2AA35BC6-D428-FC41-BDE5-6438AB8840FC}"/>
              </a:ext>
            </a:extLst>
          </p:cNvPr>
          <p:cNvSpPr txBox="1"/>
          <p:nvPr/>
        </p:nvSpPr>
        <p:spPr>
          <a:xfrm>
            <a:off x="663114" y="3410687"/>
            <a:ext cx="10939078" cy="2677656"/>
          </a:xfrm>
          <a:prstGeom prst="rect">
            <a:avLst/>
          </a:prstGeom>
          <a:noFill/>
        </p:spPr>
        <p:txBody>
          <a:bodyPr wrap="square" rtlCol="0">
            <a:spAutoFit/>
          </a:bodyPr>
          <a:lstStyle/>
          <a:p>
            <a:pPr marL="457200" indent="-457200">
              <a:buFont typeface="+mj-lt"/>
              <a:buAutoNum type="arabicPeriod" startAt="3"/>
            </a:pPr>
            <a:r>
              <a:rPr lang="en-US" sz="2400" dirty="0">
                <a:latin typeface="Verdana"/>
                <a:ea typeface="Verdana"/>
                <a:cs typeface="Verdana"/>
              </a:rPr>
              <a:t>Using the picture, name one thing that is below sea level.</a:t>
            </a:r>
            <a:endParaRPr lang="en-PH" sz="1600" dirty="0">
              <a:latin typeface="Cambria"/>
              <a:ea typeface="Verdana"/>
              <a:cs typeface="Times New Roman"/>
            </a:endParaRPr>
          </a:p>
          <a:p>
            <a:pPr marL="457200" indent="-457200">
              <a:buFont typeface="+mj-lt"/>
              <a:buAutoNum type="arabicPeriod" startAt="3"/>
            </a:pPr>
            <a:endParaRPr lang="en-US" sz="2400" dirty="0">
              <a:latin typeface="Verdana"/>
              <a:ea typeface="Verdana"/>
              <a:cs typeface="Verdana"/>
            </a:endParaRPr>
          </a:p>
          <a:p>
            <a:pPr marL="457200" indent="-457200">
              <a:buFont typeface="+mj-lt"/>
              <a:buAutoNum type="arabicPeriod" startAt="3"/>
            </a:pPr>
            <a:endParaRPr lang="en-US" sz="2400" dirty="0">
              <a:latin typeface="Verdana"/>
              <a:ea typeface="Verdana"/>
              <a:cs typeface="Verdana"/>
            </a:endParaRPr>
          </a:p>
          <a:p>
            <a:pPr marL="457200" indent="-457200">
              <a:buFont typeface="+mj-lt"/>
              <a:buAutoNum type="arabicPeriod" startAt="3"/>
            </a:pPr>
            <a:endParaRPr lang="en-US" sz="2400" dirty="0">
              <a:latin typeface="Verdana"/>
              <a:ea typeface="Verdana"/>
              <a:cs typeface="Verdana"/>
            </a:endParaRPr>
          </a:p>
          <a:p>
            <a:pPr marL="457200" indent="-457200">
              <a:buFont typeface="+mj-lt"/>
              <a:buAutoNum type="arabicPeriod" startAt="3"/>
            </a:pPr>
            <a:endParaRPr lang="en-US" sz="2400" dirty="0">
              <a:latin typeface="Verdana"/>
              <a:ea typeface="Verdana"/>
              <a:cs typeface="Verdana"/>
            </a:endParaRPr>
          </a:p>
          <a:p>
            <a:pPr marL="457200" indent="-457200">
              <a:buFont typeface="+mj-lt"/>
              <a:buAutoNum type="arabicPeriod" startAt="3"/>
            </a:pPr>
            <a:r>
              <a:rPr lang="en-US" sz="2400" dirty="0">
                <a:latin typeface="Verdana"/>
                <a:ea typeface="Verdana"/>
                <a:cs typeface="Verdana"/>
              </a:rPr>
              <a:t>Name one thing that is above sea level.</a:t>
            </a:r>
            <a:endParaRPr lang="en-PH" sz="1600" dirty="0">
              <a:latin typeface="Cambria"/>
              <a:ea typeface="Times New Roman"/>
              <a:cs typeface="Times New Roman"/>
            </a:endParaRPr>
          </a:p>
          <a:p>
            <a:pPr marL="457200" indent="-457200">
              <a:buFont typeface="+mj-lt"/>
              <a:buAutoNum type="arabicPeriod" startAt="3"/>
            </a:pPr>
            <a:endParaRPr lang="en-US" sz="2400" dirty="0">
              <a:latin typeface="Verdana"/>
              <a:ea typeface="Verdana"/>
              <a:cs typeface="Verdana"/>
            </a:endParaRPr>
          </a:p>
        </p:txBody>
      </p:sp>
      <p:pic>
        <p:nvPicPr>
          <p:cNvPr id="7" name="Picture 6" descr="A picture containing chart&#10;&#10;Description automatically generated">
            <a:extLst>
              <a:ext uri="{FF2B5EF4-FFF2-40B4-BE49-F238E27FC236}">
                <a16:creationId xmlns="" xmlns:a16="http://schemas.microsoft.com/office/drawing/2014/main" id="{9F95DEBF-CFF6-439B-8B65-AAEB75CB6F03}"/>
              </a:ext>
            </a:extLst>
          </p:cNvPr>
          <p:cNvPicPr/>
          <p:nvPr/>
        </p:nvPicPr>
        <p:blipFill rotWithShape="1">
          <a:blip r:embed="rId3" cstate="screen">
            <a:extLst>
              <a:ext uri="{28A0092B-C50C-407E-A947-70E740481C1C}">
                <a14:useLocalDpi xmlns:a14="http://schemas.microsoft.com/office/drawing/2010/main"/>
              </a:ext>
            </a:extLst>
          </a:blip>
          <a:srcRect t="3418" b="3078"/>
          <a:stretch/>
        </p:blipFill>
        <p:spPr>
          <a:xfrm>
            <a:off x="3447380" y="245098"/>
            <a:ext cx="5137297" cy="2894029"/>
          </a:xfrm>
          <a:prstGeom prst="rect">
            <a:avLst/>
          </a:prstGeom>
        </p:spPr>
      </p:pic>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0622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11666" y="2761970"/>
            <a:ext cx="7069891"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 xmlns:a16="http://schemas.microsoft.com/office/drawing/2014/main" id="{2AC58C8F-2DD8-F347-9ECA-58EE9E1B7E9C}"/>
              </a:ext>
            </a:extLst>
          </p:cNvPr>
          <p:cNvPicPr preferRelativeResize="0"/>
          <p:nvPr/>
        </p:nvPicPr>
        <p:blipFill rotWithShape="1">
          <a:blip r:embed="rId3">
            <a:alphaModFix/>
          </a:blip>
          <a:srcRect/>
          <a:stretch/>
        </p:blipFill>
        <p:spPr>
          <a:xfrm>
            <a:off x="3065875" y="2845745"/>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247958" y="41"/>
            <a:ext cx="105257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4.6.3 Guided Instruction: Positive and Negative Values in the Real World</a:t>
            </a:r>
          </a:p>
        </p:txBody>
      </p:sp>
      <p:pic>
        <p:nvPicPr>
          <p:cNvPr id="9" name="Google Shape;345;g103996e1364_0_321">
            <a:extLst>
              <a:ext uri="{FF2B5EF4-FFF2-40B4-BE49-F238E27FC236}">
                <a16:creationId xmlns="" xmlns:a16="http://schemas.microsoft.com/office/drawing/2014/main" id="{CBDD45DF-949B-9F42-BFF6-A7167F0CF795}"/>
              </a:ext>
            </a:extLst>
          </p:cNvPr>
          <p:cNvPicPr preferRelativeResize="0"/>
          <p:nvPr/>
        </p:nvPicPr>
        <p:blipFill rotWithShape="1">
          <a:blip r:embed="rId3">
            <a:alphaModFix/>
          </a:blip>
          <a:srcRect/>
          <a:stretch/>
        </p:blipFill>
        <p:spPr>
          <a:xfrm>
            <a:off x="436414" y="28924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 xmlns:a16="http://schemas.microsoft.com/office/drawing/2014/main" id="{C01B13E8-EC8D-E443-A329-C5E3593DD13A}"/>
                  </a:ext>
                </a:extLst>
              </p:cNvPr>
              <p:cNvSpPr txBox="1"/>
              <p:nvPr/>
            </p:nvSpPr>
            <p:spPr>
              <a:xfrm>
                <a:off x="528868" y="2566020"/>
                <a:ext cx="10525792" cy="1735540"/>
              </a:xfrm>
              <a:prstGeom prst="rect">
                <a:avLst/>
              </a:prstGeom>
              <a:noFill/>
            </p:spPr>
            <p:txBody>
              <a:bodyPr wrap="square" rtlCol="0">
                <a:spAutoFit/>
              </a:bodyPr>
              <a:lstStyle/>
              <a:p>
                <a:pPr>
                  <a:lnSpc>
                    <a:spcPct val="105000"/>
                  </a:lnSpc>
                  <a:spcBef>
                    <a:spcPts val="300"/>
                  </a:spcBef>
                  <a:spcAft>
                    <a:spcPts val="1200"/>
                  </a:spcAft>
                </a:pPr>
                <a:r>
                  <a:rPr lang="en-US" sz="2400" dirty="0">
                    <a:latin typeface="Verdana"/>
                    <a:ea typeface="Myriad Pro"/>
                    <a:cs typeface="Myriad Pro"/>
                  </a:rPr>
                  <a:t>Elevation is represented using positive and negative values.</a:t>
                </a:r>
                <a:endParaRPr lang="en-PH" sz="2400" dirty="0">
                  <a:latin typeface="Cambria"/>
                  <a:ea typeface="Times New Roman"/>
                  <a:cs typeface="Times New Roman"/>
                </a:endParaRPr>
              </a:p>
              <a:p>
                <a:pPr marL="457200" indent="-457200">
                  <a:spcAft>
                    <a:spcPts val="1200"/>
                  </a:spcAft>
                  <a:buFont typeface="+mj-lt"/>
                  <a:buAutoNum type="arabicPeriod"/>
                </a:pPr>
                <a:r>
                  <a:rPr lang="en-US" sz="2400" dirty="0">
                    <a:latin typeface="Verdana"/>
                    <a:ea typeface="Verdana"/>
                    <a:cs typeface="Verdana"/>
                  </a:rPr>
                  <a:t>If sea level is equivalent to an elevation of </a:t>
                </a:r>
                <a14:m>
                  <m:oMath xmlns:m="http://schemas.openxmlformats.org/officeDocument/2006/math">
                    <m:r>
                      <a:rPr lang="en-US" sz="2400" i="1">
                        <a:latin typeface="Cambria Math"/>
                        <a:ea typeface="Verdana"/>
                        <a:cs typeface="Verdana"/>
                      </a:rPr>
                      <m:t>0</m:t>
                    </m:r>
                  </m:oMath>
                </a14:m>
                <a:r>
                  <a:rPr lang="en-US" sz="2400" dirty="0">
                    <a:latin typeface="Verdana"/>
                    <a:ea typeface="Verdana"/>
                    <a:cs typeface="Verdana"/>
                  </a:rPr>
                  <a:t> units, then what type of value is an elevation that is below sea level?</a:t>
                </a:r>
              </a:p>
              <a:p>
                <a:pPr marL="457200" indent="-457200">
                  <a:lnSpc>
                    <a:spcPct val="105000"/>
                  </a:lnSpc>
                  <a:spcBef>
                    <a:spcPts val="300"/>
                  </a:spcBef>
                  <a:buFont typeface="+mj-lt"/>
                  <a:buAutoNum type="arabicPeriod"/>
                </a:pPr>
                <a:endParaRPr lang="en-PH" sz="1100" dirty="0">
                  <a:solidFill>
                    <a:srgbClr val="231F20"/>
                  </a:solidFill>
                  <a:latin typeface="Calibri"/>
                  <a:ea typeface="Myriad Pro"/>
                  <a:cs typeface="Myriad Pro"/>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28868" y="2566020"/>
                <a:ext cx="10525792" cy="1735540"/>
              </a:xfrm>
              <a:prstGeom prst="rect">
                <a:avLst/>
              </a:prstGeom>
              <a:blipFill rotWithShape="1">
                <a:blip r:embed="rId4"/>
                <a:stretch>
                  <a:fillRect l="-927" t="-3860"/>
                </a:stretch>
              </a:blipFill>
            </p:spPr>
            <p:txBody>
              <a:bodyPr/>
              <a:lstStyle/>
              <a:p>
                <a:r>
                  <a:rPr lang="en-PH">
                    <a:noFill/>
                  </a:rPr>
                  <a:t> </a:t>
                </a:r>
              </a:p>
            </p:txBody>
          </p:sp>
        </mc:Fallback>
      </mc:AlternateContent>
      <p:sp>
        <p:nvSpPr>
          <p:cNvPr id="8" name="Rounded Rectangle 7"/>
          <p:cNvSpPr/>
          <p:nvPr/>
        </p:nvSpPr>
        <p:spPr>
          <a:xfrm>
            <a:off x="1052650" y="1453344"/>
            <a:ext cx="10525792" cy="783148"/>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r>
              <a:rPr lang="en-US" sz="2000" b="1" i="1" dirty="0">
                <a:solidFill>
                  <a:srgbClr val="6C993C"/>
                </a:solidFill>
                <a:latin typeface="Verdana"/>
                <a:ea typeface="Times New Roman"/>
                <a:cs typeface="Times New Roman"/>
              </a:rPr>
              <a:t>Elevation</a:t>
            </a:r>
            <a:r>
              <a:rPr lang="en-US" sz="2000" dirty="0">
                <a:solidFill>
                  <a:srgbClr val="6C993C"/>
                </a:solidFill>
                <a:latin typeface="Verdana"/>
                <a:ea typeface="Times New Roman"/>
                <a:cs typeface="Times New Roman"/>
              </a:rPr>
              <a:t> is the vertical distance a location or object is from a given level, such as sea level.</a:t>
            </a:r>
            <a:endParaRPr lang="en-PH" sz="2000" dirty="0">
              <a:latin typeface="Cambria"/>
              <a:ea typeface="Times New Roman"/>
              <a:cs typeface="Times New Roman"/>
            </a:endParaRPr>
          </a:p>
        </p:txBody>
      </p:sp>
      <p:sp>
        <p:nvSpPr>
          <p:cNvPr id="11"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535836" y="385224"/>
                <a:ext cx="11303215" cy="5693675"/>
              </a:xfrm>
              <a:prstGeom prst="rect">
                <a:avLst/>
              </a:prstGeom>
              <a:noFill/>
            </p:spPr>
            <p:txBody>
              <a:bodyPr wrap="square" rtlCol="0">
                <a:spAutoFit/>
              </a:bodyPr>
              <a:lstStyle/>
              <a:p>
                <a:pPr marL="457200" indent="-457200">
                  <a:lnSpc>
                    <a:spcPct val="105000"/>
                  </a:lnSpc>
                  <a:spcBef>
                    <a:spcPts val="300"/>
                  </a:spcBef>
                  <a:spcAft>
                    <a:spcPts val="1200"/>
                  </a:spcAft>
                  <a:buFont typeface="+mj-lt"/>
                  <a:buAutoNum type="arabicPeriod" startAt="2"/>
                </a:pPr>
                <a:r>
                  <a:rPr lang="en-US" sz="2400" dirty="0">
                    <a:latin typeface="Verdana"/>
                    <a:ea typeface="Verdana"/>
                    <a:cs typeface="Verdana"/>
                  </a:rPr>
                  <a:t>Write each situation as an integer. Plot it </a:t>
                </a:r>
                <a:br>
                  <a:rPr lang="en-US" sz="2400" dirty="0">
                    <a:latin typeface="Verdana"/>
                    <a:ea typeface="Verdana"/>
                    <a:cs typeface="Verdana"/>
                  </a:rPr>
                </a:br>
                <a:r>
                  <a:rPr lang="en-US" sz="2400" dirty="0">
                    <a:latin typeface="Verdana"/>
                    <a:ea typeface="Verdana"/>
                    <a:cs typeface="Verdana"/>
                  </a:rPr>
                  <a:t>on the vertical number line.</a:t>
                </a:r>
                <a:endParaRPr lang="en-US" sz="2400" dirty="0">
                  <a:latin typeface="Verdana"/>
                  <a:ea typeface="Myriad Pro"/>
                  <a:cs typeface="Myriad Pro"/>
                </a:endParaRPr>
              </a:p>
              <a:p>
                <a:pPr marL="909638" indent="-457200">
                  <a:lnSpc>
                    <a:spcPct val="105000"/>
                  </a:lnSpc>
                  <a:spcBef>
                    <a:spcPts val="300"/>
                  </a:spcBef>
                  <a:buFont typeface="+mj-lt"/>
                  <a:buAutoNum type="alphaLcPeriod"/>
                  <a:tabLst>
                    <a:tab pos="255588" algn="l"/>
                    <a:tab pos="893763" algn="l"/>
                  </a:tabLst>
                </a:pPr>
                <a:r>
                  <a:rPr lang="en-US" sz="2400" dirty="0">
                    <a:latin typeface="Verdana"/>
                    <a:ea typeface="Myriad Pro"/>
                    <a:cs typeface="Myriad Pro"/>
                  </a:rPr>
                  <a:t>A hiker is </a:t>
                </a:r>
                <a14:m>
                  <m:oMath xmlns:m="http://schemas.openxmlformats.org/officeDocument/2006/math">
                    <m:r>
                      <a:rPr lang="en-US" sz="2400" i="1">
                        <a:latin typeface="Cambria Math"/>
                        <a:ea typeface="Myriad Pro"/>
                        <a:cs typeface="Myriad Pro"/>
                      </a:rPr>
                      <m:t>37</m:t>
                    </m:r>
                  </m:oMath>
                </a14:m>
                <a:r>
                  <a:rPr lang="en-US" sz="2400" dirty="0">
                    <a:latin typeface="Verdana"/>
                    <a:ea typeface="Myriad Pro"/>
                    <a:cs typeface="Myriad Pro"/>
                  </a:rPr>
                  <a:t> feet above sea level.</a:t>
                </a:r>
                <a:endParaRPr lang="en-PH" sz="2400" dirty="0">
                  <a:solidFill>
                    <a:srgbClr val="231F20"/>
                  </a:solidFill>
                  <a:latin typeface="Calibri"/>
                  <a:ea typeface="Myriad Pro"/>
                  <a:cs typeface="Myriad Pro"/>
                </a:endParaRPr>
              </a:p>
              <a:p>
                <a:pPr marL="909638" indent="-457200">
                  <a:lnSpc>
                    <a:spcPct val="400000"/>
                  </a:lnSpc>
                  <a:spcBef>
                    <a:spcPts val="300"/>
                  </a:spcBef>
                  <a:buFont typeface="+mj-lt"/>
                  <a:buAutoNum type="alphaLcPeriod"/>
                  <a:tabLst>
                    <a:tab pos="255588" algn="l"/>
                    <a:tab pos="893763" algn="l"/>
                  </a:tabLst>
                </a:pPr>
                <a:r>
                  <a:rPr lang="en-US" sz="2400" dirty="0">
                    <a:latin typeface="Verdana"/>
                    <a:ea typeface="Myriad Pro"/>
                    <a:cs typeface="Myriad Pro"/>
                  </a:rPr>
                  <a:t>A diver is </a:t>
                </a:r>
                <a14:m>
                  <m:oMath xmlns:m="http://schemas.openxmlformats.org/officeDocument/2006/math">
                    <m:r>
                      <a:rPr lang="en-US" sz="2400" i="1">
                        <a:latin typeface="Cambria Math"/>
                        <a:ea typeface="Myriad Pro"/>
                        <a:cs typeface="Myriad Pro"/>
                      </a:rPr>
                      <m:t>19</m:t>
                    </m:r>
                  </m:oMath>
                </a14:m>
                <a:r>
                  <a:rPr lang="en-US" sz="2400" dirty="0">
                    <a:latin typeface="Verdana"/>
                    <a:ea typeface="Myriad Pro"/>
                    <a:cs typeface="Myriad Pro"/>
                  </a:rPr>
                  <a:t> feet below sea level.  </a:t>
                </a:r>
                <a:endParaRPr lang="en-PH" sz="2400" dirty="0">
                  <a:solidFill>
                    <a:srgbClr val="231F20"/>
                  </a:solidFill>
                  <a:latin typeface="Calibri"/>
                  <a:ea typeface="Myriad Pro"/>
                  <a:cs typeface="Myriad Pro"/>
                </a:endParaRPr>
              </a:p>
              <a:p>
                <a:pPr marL="909638" indent="-457200">
                  <a:lnSpc>
                    <a:spcPct val="400000"/>
                  </a:lnSpc>
                  <a:spcBef>
                    <a:spcPts val="300"/>
                  </a:spcBef>
                  <a:buFont typeface="+mj-lt"/>
                  <a:buAutoNum type="alphaLcPeriod"/>
                  <a:tabLst>
                    <a:tab pos="255588" algn="l"/>
                    <a:tab pos="893763" algn="l"/>
                  </a:tabLst>
                </a:pPr>
                <a:r>
                  <a:rPr lang="en-US" sz="2400" dirty="0">
                    <a:latin typeface="Verdana"/>
                    <a:ea typeface="Myriad Pro"/>
                    <a:cs typeface="Myriad Pro"/>
                  </a:rPr>
                  <a:t>How are these two integers related?</a:t>
                </a:r>
                <a:endParaRPr lang="en-PH" sz="2400" dirty="0">
                  <a:solidFill>
                    <a:srgbClr val="231F20"/>
                  </a:solidFill>
                  <a:latin typeface="Calibri"/>
                  <a:ea typeface="Myriad Pro"/>
                  <a:cs typeface="Myriad Pro"/>
                </a:endParaRPr>
              </a:p>
              <a:p>
                <a:pPr marL="909638" indent="-457200">
                  <a:lnSpc>
                    <a:spcPct val="400000"/>
                  </a:lnSpc>
                  <a:spcBef>
                    <a:spcPts val="300"/>
                  </a:spcBef>
                  <a:buFont typeface="+mj-lt"/>
                  <a:buAutoNum type="alphaLcPeriod"/>
                  <a:tabLst>
                    <a:tab pos="255588" algn="l"/>
                    <a:tab pos="893763" algn="l"/>
                  </a:tabLst>
                </a:pPr>
                <a:r>
                  <a:rPr lang="en-US" sz="2400" dirty="0">
                    <a:latin typeface="Verdana"/>
                    <a:ea typeface="Myriad Pro"/>
                    <a:cs typeface="Myriad Pro"/>
                  </a:rPr>
                  <a:t>What does </a:t>
                </a:r>
                <a14:m>
                  <m:oMath xmlns:m="http://schemas.openxmlformats.org/officeDocument/2006/math">
                    <m:r>
                      <a:rPr lang="en-US" sz="2400" i="1">
                        <a:latin typeface="Cambria Math"/>
                        <a:ea typeface="Myriad Pro"/>
                        <a:cs typeface="Myriad Pro"/>
                      </a:rPr>
                      <m:t>0</m:t>
                    </m:r>
                  </m:oMath>
                </a14:m>
                <a:r>
                  <a:rPr lang="en-US" sz="2400" dirty="0">
                    <a:latin typeface="Verdana"/>
                    <a:ea typeface="Myriad Pro"/>
                    <a:cs typeface="Myriad Pro"/>
                  </a:rPr>
                  <a:t> represent in this situation?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5836" y="385224"/>
                <a:ext cx="11303215" cy="5693675"/>
              </a:xfrm>
              <a:prstGeom prst="rect">
                <a:avLst/>
              </a:prstGeom>
              <a:blipFill rotWithShape="1">
                <a:blip r:embed="rId3"/>
                <a:stretch>
                  <a:fillRect l="-863" t="-1178" b="-1392"/>
                </a:stretch>
              </a:blipFill>
            </p:spPr>
            <p:txBody>
              <a:bodyPr/>
              <a:lstStyle/>
              <a:p>
                <a:r>
                  <a:rPr lang="en-PH">
                    <a:noFill/>
                  </a:rPr>
                  <a:t> </a:t>
                </a:r>
              </a:p>
            </p:txBody>
          </p:sp>
        </mc:Fallback>
      </mc:AlternateContent>
      <p:pic>
        <p:nvPicPr>
          <p:cNvPr id="6" name="Picture 5" descr="Chart&#10;&#10;Description automatically generated"/>
          <p:cNvPicPr/>
          <p:nvPr/>
        </p:nvPicPr>
        <p:blipFill rotWithShape="1">
          <a:blip r:embed="rId4" cstate="screen">
            <a:extLst>
              <a:ext uri="{28A0092B-C50C-407E-A947-70E740481C1C}">
                <a14:useLocalDpi xmlns:a14="http://schemas.microsoft.com/office/drawing/2010/main"/>
              </a:ext>
            </a:extLst>
          </a:blip>
          <a:srcRect l="42966" r="46996"/>
          <a:stretch/>
        </p:blipFill>
        <p:spPr bwMode="auto">
          <a:xfrm>
            <a:off x="9232480" y="288745"/>
            <a:ext cx="758123" cy="5763520"/>
          </a:xfrm>
          <a:prstGeom prst="rect">
            <a:avLst/>
          </a:prstGeom>
          <a:ln>
            <a:noFill/>
          </a:ln>
          <a:extLst>
            <a:ext uri="{53640926-AAD7-44D8-BBD7-CCE9431645EC}">
              <a14:shadowObscured xmlns:a14="http://schemas.microsoft.com/office/drawing/2010/main"/>
            </a:ext>
          </a:extLst>
        </p:spPr>
      </p:pic>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393813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8AE5E1E0-A54D-BE42-84B5-F917038ADE99}"/>
                  </a:ext>
                </a:extLst>
              </p:cNvPr>
              <p:cNvSpPr txBox="1"/>
              <p:nvPr/>
            </p:nvSpPr>
            <p:spPr>
              <a:xfrm>
                <a:off x="530409" y="377523"/>
                <a:ext cx="11101334" cy="3334824"/>
              </a:xfrm>
              <a:prstGeom prst="rect">
                <a:avLst/>
              </a:prstGeom>
              <a:noFill/>
            </p:spPr>
            <p:txBody>
              <a:bodyPr wrap="square" rtlCol="0">
                <a:spAutoFit/>
              </a:bodyPr>
              <a:lstStyle/>
              <a:p>
                <a:pPr marL="457200" indent="-457200">
                  <a:lnSpc>
                    <a:spcPct val="105000"/>
                  </a:lnSpc>
                  <a:spcBef>
                    <a:spcPts val="600"/>
                  </a:spcBef>
                  <a:buFont typeface="+mj-lt"/>
                  <a:buAutoNum type="arabicPeriod" startAt="3"/>
                </a:pPr>
                <a:r>
                  <a:rPr lang="en-US" sz="2000" dirty="0">
                    <a:latin typeface="Verdana"/>
                    <a:ea typeface="Verdana"/>
                    <a:cs typeface="Verdana"/>
                  </a:rPr>
                  <a:t>Samuel L. Gravely, Jr. pioneered the way with a plethora of firsts for African Americans in the military. Gravely was the first African American Navy Vice Admiral, first African American to command a Navy warship, first African American to command a warship during combat, first African American to command a Navy fleet, and first African American to obtain Flag Rank in the military. If the Navy fleet included a submarine that was submerged </a:t>
                </a:r>
                <a14:m>
                  <m:oMath xmlns:m="http://schemas.openxmlformats.org/officeDocument/2006/math">
                    <m:r>
                      <a:rPr lang="en-US" sz="2000" i="1">
                        <a:latin typeface="Cambria Math"/>
                        <a:ea typeface="Verdana"/>
                        <a:cs typeface="Verdana"/>
                      </a:rPr>
                      <m:t>780</m:t>
                    </m:r>
                  </m:oMath>
                </a14:m>
                <a:r>
                  <a:rPr lang="en-US" sz="2000" dirty="0">
                    <a:latin typeface="Verdana"/>
                    <a:ea typeface="Verdana"/>
                    <a:cs typeface="Verdana"/>
                  </a:rPr>
                  <a:t> feet below sea level, which students’ interpretation of the situation is correct? Circle the name of the student with the correct answer. For any statement that has an error, write a corrected statement. </a:t>
                </a:r>
                <a:endParaRPr lang="en-PH" sz="2000" dirty="0">
                  <a:solidFill>
                    <a:srgbClr val="231F20"/>
                  </a:solidFill>
                  <a:latin typeface="Calibri"/>
                  <a:ea typeface="Verdana"/>
                  <a:cs typeface="Verdana"/>
                </a:endParaRPr>
              </a:p>
              <a:p>
                <a:pPr marL="457200" indent="-457200">
                  <a:lnSpc>
                    <a:spcPct val="105000"/>
                  </a:lnSpc>
                  <a:spcBef>
                    <a:spcPts val="300"/>
                  </a:spcBef>
                  <a:spcAft>
                    <a:spcPts val="1200"/>
                  </a:spcAft>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0409" y="377523"/>
                <a:ext cx="11101334" cy="3334824"/>
              </a:xfrm>
              <a:prstGeom prst="rect">
                <a:avLst/>
              </a:prstGeom>
              <a:blipFill rotWithShape="1">
                <a:blip r:embed="rId3"/>
                <a:stretch>
                  <a:fillRect l="-549" t="-1463"/>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785854630"/>
                  </p:ext>
                </p:extLst>
              </p:nvPr>
            </p:nvGraphicFramePr>
            <p:xfrm>
              <a:off x="2481076" y="3490404"/>
              <a:ext cx="7200000" cy="2067480"/>
            </p:xfrm>
            <a:graphic>
              <a:graphicData uri="http://schemas.openxmlformats.org/drawingml/2006/table">
                <a:tbl>
                  <a:tblPr firstRow="1" firstCol="1" bandRow="1"/>
                  <a:tblGrid>
                    <a:gridCol w="3600000">
                      <a:extLst>
                        <a:ext uri="{9D8B030D-6E8A-4147-A177-3AD203B41FA5}">
                          <a16:colId xmlns="" xmlns:a16="http://schemas.microsoft.com/office/drawing/2014/main" val="20000"/>
                        </a:ext>
                      </a:extLst>
                    </a:gridCol>
                    <a:gridCol w="3600000">
                      <a:extLst>
                        <a:ext uri="{9D8B030D-6E8A-4147-A177-3AD203B41FA5}">
                          <a16:colId xmlns="" xmlns:a16="http://schemas.microsoft.com/office/drawing/2014/main" val="20001"/>
                        </a:ext>
                      </a:extLst>
                    </a:gridCol>
                  </a:tblGrid>
                  <a:tr h="342265">
                    <a:tc>
                      <a:txBody>
                        <a:bodyPr/>
                        <a:lstStyle/>
                        <a:p>
                          <a:pPr algn="ctr">
                            <a:lnSpc>
                              <a:spcPct val="105000"/>
                            </a:lnSpc>
                            <a:spcBef>
                              <a:spcPts val="600"/>
                            </a:spcBef>
                            <a:spcAft>
                              <a:spcPts val="0"/>
                            </a:spcAft>
                          </a:pPr>
                          <a:r>
                            <a:rPr lang="en-US" sz="2000" b="1" dirty="0" err="1">
                              <a:solidFill>
                                <a:srgbClr val="000000"/>
                              </a:solidFill>
                              <a:effectLst/>
                              <a:latin typeface="Verdana" pitchFamily="34" charset="0"/>
                              <a:ea typeface="Verdana" pitchFamily="34" charset="0"/>
                              <a:cs typeface="Myriad Pro"/>
                            </a:rPr>
                            <a:t>Tianna</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5000"/>
                            </a:lnSpc>
                            <a:spcBef>
                              <a:spcPts val="600"/>
                            </a:spcBef>
                            <a:spcAft>
                              <a:spcPts val="0"/>
                            </a:spcAft>
                          </a:pPr>
                          <a:r>
                            <a:rPr lang="en-US" sz="2000" b="1" dirty="0" err="1">
                              <a:solidFill>
                                <a:srgbClr val="000000"/>
                              </a:solidFill>
                              <a:effectLst/>
                              <a:latin typeface="Verdana" pitchFamily="34" charset="0"/>
                              <a:ea typeface="Verdana" pitchFamily="34" charset="0"/>
                              <a:cs typeface="Myriad Pro"/>
                            </a:rPr>
                            <a:t>Keagan</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1656000">
                    <a:tc>
                      <a:txBody>
                        <a:bodyPr/>
                        <a:lstStyle/>
                        <a:p>
                          <a:pPr algn="l">
                            <a:lnSpc>
                              <a:spcPct val="105000"/>
                            </a:lnSpc>
                            <a:spcBef>
                              <a:spcPts val="300"/>
                            </a:spcBef>
                            <a:spcAft>
                              <a:spcPts val="0"/>
                            </a:spcAft>
                            <a:tabLst>
                              <a:tab pos="255905" algn="l"/>
                              <a:tab pos="457200" algn="l"/>
                            </a:tabLst>
                          </a:pPr>
                          <a:r>
                            <a:rPr lang="en-US" sz="2000" dirty="0">
                              <a:solidFill>
                                <a:srgbClr val="000000"/>
                              </a:solidFill>
                              <a:effectLst/>
                              <a:latin typeface="Verdana" pitchFamily="34" charset="0"/>
                              <a:ea typeface="Verdana" pitchFamily="34" charset="0"/>
                              <a:cs typeface="Myriad Pro"/>
                            </a:rPr>
                            <a:t>The depth of the submarine is </a:t>
                          </a:r>
                          <a14:m>
                            <m:oMath xmlns:m="http://schemas.openxmlformats.org/officeDocument/2006/math">
                              <m:r>
                                <a:rPr lang="en-US" sz="2000" i="1">
                                  <a:solidFill>
                                    <a:srgbClr val="000000"/>
                                  </a:solidFill>
                                  <a:effectLst/>
                                  <a:latin typeface="Cambria Math"/>
                                  <a:ea typeface="Myriad Pro"/>
                                  <a:cs typeface="Myriad Pro"/>
                                </a:rPr>
                                <m:t>−780</m:t>
                              </m:r>
                            </m:oMath>
                          </a14:m>
                          <a:r>
                            <a:rPr lang="en-US" sz="2000" dirty="0">
                              <a:solidFill>
                                <a:srgbClr val="000000"/>
                              </a:solidFill>
                              <a:effectLst/>
                              <a:latin typeface="Verdana" pitchFamily="34" charset="0"/>
                              <a:ea typeface="Verdana" pitchFamily="34" charset="0"/>
                              <a:cs typeface="Myriad Pro"/>
                            </a:rPr>
                            <a:t> feet below sea level.</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lnSpc>
                              <a:spcPct val="105000"/>
                            </a:lnSpc>
                            <a:spcBef>
                              <a:spcPts val="300"/>
                            </a:spcBef>
                            <a:spcAft>
                              <a:spcPts val="0"/>
                            </a:spcAft>
                            <a:tabLst>
                              <a:tab pos="255905" algn="l"/>
                            </a:tabLst>
                          </a:pPr>
                          <a14:m>
                            <m:oMath xmlns:m="http://schemas.openxmlformats.org/officeDocument/2006/math">
                              <m:r>
                                <a:rPr lang="en-US" sz="2000" i="1">
                                  <a:solidFill>
                                    <a:srgbClr val="000000"/>
                                  </a:solidFill>
                                  <a:effectLst/>
                                  <a:latin typeface="Cambria Math"/>
                                  <a:ea typeface="Myriad Pro"/>
                                  <a:cs typeface="Myriad Pro"/>
                                </a:rPr>
                                <m:t>780</m:t>
                              </m:r>
                            </m:oMath>
                          </a14:m>
                          <a:r>
                            <a:rPr lang="en-US" sz="2000" dirty="0">
                              <a:solidFill>
                                <a:srgbClr val="000000"/>
                              </a:solidFill>
                              <a:effectLst/>
                              <a:latin typeface="Verdana" pitchFamily="34" charset="0"/>
                              <a:ea typeface="Verdana" pitchFamily="34" charset="0"/>
                              <a:cs typeface="Myriad Pro"/>
                            </a:rPr>
                            <a:t> feet below sea level can be represented by the integer </a:t>
                          </a:r>
                          <a14:m>
                            <m:oMath xmlns:m="http://schemas.openxmlformats.org/officeDocument/2006/math">
                              <m:r>
                                <a:rPr lang="en-US" sz="2000" i="1">
                                  <a:solidFill>
                                    <a:srgbClr val="000000"/>
                                  </a:solidFill>
                                  <a:effectLst/>
                                  <a:latin typeface="Cambria Math"/>
                                  <a:ea typeface="Myriad Pro"/>
                                  <a:cs typeface="Myriad Pro"/>
                                </a:rPr>
                                <m:t>−780</m:t>
                              </m:r>
                            </m:oMath>
                          </a14:m>
                          <a:r>
                            <a:rPr lang="en-US" sz="2000" dirty="0">
                              <a:solidFill>
                                <a:srgbClr val="000000"/>
                              </a:solidFill>
                              <a:effectLst/>
                              <a:latin typeface="Verdana" pitchFamily="34" charset="0"/>
                              <a:ea typeface="Verdana" pitchFamily="34" charset="0"/>
                              <a:cs typeface="Myriad Pro"/>
                            </a:rPr>
                            <a:t>. </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785854630"/>
                  </p:ext>
                </p:extLst>
              </p:nvPr>
            </p:nvGraphicFramePr>
            <p:xfrm>
              <a:off x="2481076" y="3490404"/>
              <a:ext cx="7200000" cy="2067480"/>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20000"/>
                        </a:ext>
                      </a:extLst>
                    </a:gridCol>
                    <a:gridCol w="3600000">
                      <a:extLst>
                        <a:ext uri="{9D8B030D-6E8A-4147-A177-3AD203B41FA5}">
                          <a16:colId xmlns:a16="http://schemas.microsoft.com/office/drawing/2014/main" xmlns:a14="http://schemas.microsoft.com/office/drawing/2010/main" xmlns="" val="20001"/>
                        </a:ext>
                      </a:extLst>
                    </a:gridCol>
                  </a:tblGrid>
                  <a:tr h="411480">
                    <a:tc>
                      <a:txBody>
                        <a:bodyPr/>
                        <a:lstStyle/>
                        <a:p>
                          <a:pPr algn="ctr">
                            <a:lnSpc>
                              <a:spcPct val="105000"/>
                            </a:lnSpc>
                            <a:spcBef>
                              <a:spcPts val="600"/>
                            </a:spcBef>
                            <a:spcAft>
                              <a:spcPts val="0"/>
                            </a:spcAft>
                          </a:pPr>
                          <a:r>
                            <a:rPr lang="en-US" sz="2000" b="1" dirty="0" err="1">
                              <a:solidFill>
                                <a:srgbClr val="000000"/>
                              </a:solidFill>
                              <a:effectLst/>
                              <a:latin typeface="Verdana" pitchFamily="34" charset="0"/>
                              <a:ea typeface="Verdana" pitchFamily="34" charset="0"/>
                              <a:cs typeface="Myriad Pro"/>
                            </a:rPr>
                            <a:t>Tianna</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5000"/>
                            </a:lnSpc>
                            <a:spcBef>
                              <a:spcPts val="600"/>
                            </a:spcBef>
                            <a:spcAft>
                              <a:spcPts val="0"/>
                            </a:spcAft>
                          </a:pPr>
                          <a:r>
                            <a:rPr lang="en-US" sz="2000" b="1" dirty="0" err="1">
                              <a:solidFill>
                                <a:srgbClr val="000000"/>
                              </a:solidFill>
                              <a:effectLst/>
                              <a:latin typeface="Verdana" pitchFamily="34" charset="0"/>
                              <a:ea typeface="Verdana" pitchFamily="34" charset="0"/>
                              <a:cs typeface="Myriad Pro"/>
                            </a:rPr>
                            <a:t>Keagan</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1656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27206" r="-100000"/>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169" t="-27206" r="-169"/>
                          </a:stretch>
                        </a:blipFill>
                      </a:tcPr>
                    </a:tc>
                    <a:extLst>
                      <a:ext uri="{0D108BD9-81ED-4DB2-BD59-A6C34878D82A}">
                        <a16:rowId xmlns:a16="http://schemas.microsoft.com/office/drawing/2014/main" xmlns:a14="http://schemas.microsoft.com/office/drawing/2010/main" xmlns="" val="10001"/>
                      </a:ext>
                    </a:extLst>
                  </a:tr>
                </a:tbl>
              </a:graphicData>
            </a:graphic>
          </p:graphicFrame>
        </mc:Fallback>
      </mc:AlternateContent>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734842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8AE5E1E0-A54D-BE42-84B5-F917038ADE99}"/>
              </a:ext>
            </a:extLst>
          </p:cNvPr>
          <p:cNvSpPr txBox="1"/>
          <p:nvPr/>
        </p:nvSpPr>
        <p:spPr>
          <a:xfrm>
            <a:off x="536252" y="2804335"/>
            <a:ext cx="10800000" cy="1045671"/>
          </a:xfrm>
          <a:prstGeom prst="rect">
            <a:avLst/>
          </a:prstGeom>
          <a:noFill/>
        </p:spPr>
        <p:txBody>
          <a:bodyPr wrap="square" rtlCol="0">
            <a:spAutoFit/>
          </a:bodyPr>
          <a:lstStyle/>
          <a:p>
            <a:pPr marL="457200" indent="-457200">
              <a:lnSpc>
                <a:spcPct val="105000"/>
              </a:lnSpc>
              <a:spcBef>
                <a:spcPts val="300"/>
              </a:spcBef>
              <a:buFont typeface="+mj-lt"/>
              <a:buAutoNum type="arabicPeriod" startAt="4"/>
              <a:tabLst>
                <a:tab pos="255905" algn="l"/>
                <a:tab pos="457200" algn="l"/>
              </a:tabLst>
            </a:pPr>
            <a:r>
              <a:rPr lang="en-US" sz="2000" dirty="0">
                <a:solidFill>
                  <a:srgbClr val="231F20"/>
                </a:solidFill>
                <a:latin typeface="Verdana"/>
                <a:ea typeface="Verdana"/>
                <a:cs typeface="Verdana"/>
              </a:rPr>
              <a:t>The following people have money in their bank accounts. Determine the positive and negative values that represent the effect each situation has on their account balance.</a:t>
            </a:r>
            <a:endParaRPr lang="en-PH" sz="1050" dirty="0">
              <a:solidFill>
                <a:srgbClr val="231F20"/>
              </a:solidFill>
              <a:latin typeface="Calibri"/>
              <a:ea typeface="Verdana"/>
              <a:cs typeface="Verdana"/>
            </a:endParaRPr>
          </a:p>
        </p:txBody>
      </p:sp>
      <p:sp>
        <p:nvSpPr>
          <p:cNvPr id="7" name="Rounded Rectangle 6"/>
          <p:cNvSpPr/>
          <p:nvPr/>
        </p:nvSpPr>
        <p:spPr>
          <a:xfrm>
            <a:off x="536252" y="368645"/>
            <a:ext cx="11125085" cy="830821"/>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a:lnSpc>
                <a:spcPct val="107000"/>
              </a:lnSpc>
            </a:pPr>
            <a:r>
              <a:rPr lang="en-US" sz="2000" dirty="0">
                <a:solidFill>
                  <a:srgbClr val="6C993C"/>
                </a:solidFill>
                <a:latin typeface="Verdana"/>
                <a:ea typeface="Verdana"/>
                <a:cs typeface="Verdana"/>
              </a:rPr>
              <a:t>A bank </a:t>
            </a:r>
            <a:r>
              <a:rPr lang="en-US" sz="2000" b="1" i="1" dirty="0">
                <a:solidFill>
                  <a:srgbClr val="6C993C"/>
                </a:solidFill>
                <a:latin typeface="Verdana"/>
                <a:ea typeface="Verdana"/>
                <a:cs typeface="Verdana"/>
              </a:rPr>
              <a:t>deposit</a:t>
            </a:r>
            <a:r>
              <a:rPr lang="en-US" sz="2000" dirty="0">
                <a:solidFill>
                  <a:srgbClr val="6C993C"/>
                </a:solidFill>
                <a:latin typeface="Verdana"/>
                <a:ea typeface="Verdana"/>
                <a:cs typeface="Verdana"/>
              </a:rPr>
              <a:t> is the amount of money a person gives the bank for safekeeping in their account.</a:t>
            </a:r>
            <a:endParaRPr lang="en-PH" dirty="0">
              <a:latin typeface="Cambria"/>
              <a:ea typeface="Times New Roman"/>
              <a:cs typeface="Times New Roman"/>
            </a:endParaRPr>
          </a:p>
        </p:txBody>
      </p:sp>
      <p:sp>
        <p:nvSpPr>
          <p:cNvPr id="9" name="Rounded Rectangle 8"/>
          <p:cNvSpPr/>
          <p:nvPr/>
        </p:nvSpPr>
        <p:spPr>
          <a:xfrm>
            <a:off x="536253" y="1468262"/>
            <a:ext cx="11125084" cy="466466"/>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pPr>
              <a:lnSpc>
                <a:spcPct val="107000"/>
              </a:lnSpc>
            </a:pPr>
            <a:r>
              <a:rPr lang="en-US" sz="2000" dirty="0">
                <a:solidFill>
                  <a:srgbClr val="6C993C"/>
                </a:solidFill>
                <a:latin typeface="Verdana"/>
                <a:ea typeface="Verdana"/>
                <a:cs typeface="Verdana"/>
              </a:rPr>
              <a:t>A bank </a:t>
            </a:r>
            <a:r>
              <a:rPr lang="en-US" sz="2000" b="1" i="1" dirty="0">
                <a:solidFill>
                  <a:srgbClr val="6C993C"/>
                </a:solidFill>
                <a:latin typeface="Verdana"/>
                <a:ea typeface="Verdana"/>
                <a:cs typeface="Verdana"/>
              </a:rPr>
              <a:t>withdrawal</a:t>
            </a:r>
            <a:r>
              <a:rPr lang="en-US" sz="2000" dirty="0">
                <a:solidFill>
                  <a:srgbClr val="6C993C"/>
                </a:solidFill>
                <a:latin typeface="Verdana"/>
                <a:ea typeface="Verdana"/>
                <a:cs typeface="Verdana"/>
              </a:rPr>
              <a:t> is the amount of money removed from a bank account.</a:t>
            </a:r>
            <a:r>
              <a:rPr lang="en-US" sz="2000" dirty="0">
                <a:solidFill>
                  <a:srgbClr val="6C993C"/>
                </a:solidFill>
                <a:latin typeface="Cambria"/>
                <a:ea typeface="Times New Roman"/>
                <a:cs typeface="Times New Roman"/>
              </a:rPr>
              <a:t> </a:t>
            </a:r>
            <a:endParaRPr lang="en-PH" sz="2000" dirty="0">
              <a:latin typeface="Cambria"/>
              <a:ea typeface="Times New Roman"/>
              <a:cs typeface="Times New Roman"/>
            </a:endParaRPr>
          </a:p>
        </p:txBody>
      </p:sp>
      <p:sp>
        <p:nvSpPr>
          <p:cNvPr id="10" name="Rounded Rectangle 9"/>
          <p:cNvSpPr/>
          <p:nvPr/>
        </p:nvSpPr>
        <p:spPr>
          <a:xfrm>
            <a:off x="529697" y="2166669"/>
            <a:ext cx="11125084" cy="442630"/>
          </a:xfrm>
          <a:prstGeom prst="roundRect">
            <a:avLst>
              <a:gd name="adj" fmla="val 16667"/>
            </a:avLst>
          </a:prstGeom>
          <a:solidFill>
            <a:srgbClr val="E3EFD5"/>
          </a:solidFill>
          <a:ln w="12700" cap="flat" cmpd="sng">
            <a:solidFill>
              <a:srgbClr val="E3EFD5"/>
            </a:solidFill>
            <a:prstDash val="solid"/>
            <a:miter lim="800000"/>
            <a:headEnd type="none" w="sm" len="sm"/>
            <a:tailEnd type="none" w="sm" len="sm"/>
          </a:ln>
          <a:effectLst>
            <a:outerShdw blurRad="50800" dist="38100" dir="2700000" algn="tl" rotWithShape="0">
              <a:prstClr val="black">
                <a:alpha val="40000"/>
              </a:prstClr>
            </a:outerShdw>
          </a:effectLst>
        </p:spPr>
        <p:txBody>
          <a:bodyPr spcFirstLastPara="1" wrap="square" lIns="91425" tIns="45700" rIns="91425" bIns="45700" anchor="ctr" anchorCtr="0">
            <a:spAutoFit/>
          </a:bodyPr>
          <a:lstStyle/>
          <a:p>
            <a:r>
              <a:rPr lang="en-US" sz="2000" dirty="0">
                <a:solidFill>
                  <a:srgbClr val="6C993C"/>
                </a:solidFill>
                <a:latin typeface="Verdana"/>
                <a:ea typeface="Verdana"/>
                <a:cs typeface="Verdana"/>
              </a:rPr>
              <a:t>An</a:t>
            </a:r>
            <a:r>
              <a:rPr lang="en-US" sz="2000" b="1" dirty="0">
                <a:solidFill>
                  <a:srgbClr val="6C993C"/>
                </a:solidFill>
                <a:latin typeface="Verdana"/>
                <a:ea typeface="Verdana"/>
                <a:cs typeface="Verdana"/>
              </a:rPr>
              <a:t> </a:t>
            </a:r>
            <a:r>
              <a:rPr lang="en-US" sz="2000" b="1" i="1" dirty="0">
                <a:solidFill>
                  <a:srgbClr val="6C993C"/>
                </a:solidFill>
                <a:latin typeface="Verdana"/>
                <a:ea typeface="Verdana"/>
                <a:cs typeface="Verdana"/>
              </a:rPr>
              <a:t>expense</a:t>
            </a:r>
            <a:r>
              <a:rPr lang="en-US" sz="2000" b="1" dirty="0">
                <a:solidFill>
                  <a:srgbClr val="6C993C"/>
                </a:solidFill>
                <a:latin typeface="Verdana"/>
                <a:ea typeface="Verdana"/>
                <a:cs typeface="Verdana"/>
              </a:rPr>
              <a:t> </a:t>
            </a:r>
            <a:r>
              <a:rPr lang="en-US" sz="2000" dirty="0">
                <a:solidFill>
                  <a:srgbClr val="6C993C"/>
                </a:solidFill>
                <a:latin typeface="Verdana"/>
                <a:ea typeface="Verdana"/>
                <a:cs typeface="Verdana"/>
              </a:rPr>
              <a:t>is a cost or the amount of money spent.</a:t>
            </a:r>
            <a:endParaRPr lang="en-PH" dirty="0">
              <a:latin typeface="Cambria"/>
              <a:ea typeface="Times New Roman"/>
              <a:cs typeface="Times New Roman"/>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8805370"/>
                  </p:ext>
                </p:extLst>
              </p:nvPr>
            </p:nvGraphicFramePr>
            <p:xfrm>
              <a:off x="2496000" y="3936336"/>
              <a:ext cx="7200000" cy="2484000"/>
            </p:xfrm>
            <a:graphic>
              <a:graphicData uri="http://schemas.openxmlformats.org/drawingml/2006/table">
                <a:tbl>
                  <a:tblPr firstRow="1" firstCol="1" bandRow="1"/>
                  <a:tblGrid>
                    <a:gridCol w="5220000">
                      <a:extLst>
                        <a:ext uri="{9D8B030D-6E8A-4147-A177-3AD203B41FA5}">
                          <a16:colId xmlns="" xmlns:a16="http://schemas.microsoft.com/office/drawing/2014/main" val="20000"/>
                        </a:ext>
                      </a:extLst>
                    </a:gridCol>
                    <a:gridCol w="1980000">
                      <a:extLst>
                        <a:ext uri="{9D8B030D-6E8A-4147-A177-3AD203B41FA5}">
                          <a16:colId xmlns="" xmlns:a16="http://schemas.microsoft.com/office/drawing/2014/main" val="20001"/>
                        </a:ext>
                      </a:extLst>
                    </a:gridCol>
                  </a:tblGrid>
                  <a:tr h="432000">
                    <a:tc>
                      <a:txBody>
                        <a:bodyPr/>
                        <a:lstStyle/>
                        <a:p>
                          <a:pPr algn="ctr">
                            <a:lnSpc>
                              <a:spcPct val="105000"/>
                            </a:lnSpc>
                            <a:spcBef>
                              <a:spcPts val="300"/>
                            </a:spcBef>
                            <a:spcAft>
                              <a:spcPts val="0"/>
                            </a:spcAft>
                            <a:tabLst>
                              <a:tab pos="255905" algn="l"/>
                            </a:tabLst>
                          </a:pPr>
                          <a:r>
                            <a:rPr lang="en-US" sz="1800" b="1" dirty="0">
                              <a:solidFill>
                                <a:srgbClr val="000000"/>
                              </a:solidFill>
                              <a:effectLst/>
                              <a:latin typeface="Verdana" pitchFamily="34" charset="0"/>
                              <a:ea typeface="Verdana" pitchFamily="34" charset="0"/>
                              <a:cs typeface="Myriad Pro"/>
                            </a:rPr>
                            <a:t>Real-World Context</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5000"/>
                            </a:lnSpc>
                            <a:spcBef>
                              <a:spcPts val="300"/>
                            </a:spcBef>
                            <a:spcAft>
                              <a:spcPts val="0"/>
                            </a:spcAft>
                            <a:tabLst>
                              <a:tab pos="255905" algn="l"/>
                            </a:tabLst>
                          </a:pPr>
                          <a:r>
                            <a:rPr lang="en-US" sz="1800" b="1" dirty="0">
                              <a:solidFill>
                                <a:srgbClr val="000000"/>
                              </a:solidFill>
                              <a:effectLst/>
                              <a:latin typeface="Verdana" pitchFamily="34" charset="0"/>
                              <a:ea typeface="Verdana" pitchFamily="34" charset="0"/>
                              <a:cs typeface="Myriad Pro"/>
                            </a:rPr>
                            <a:t>Value</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360000">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Paul paid </a:t>
                          </a:r>
                          <a14:m>
                            <m:oMath xmlns:m="http://schemas.openxmlformats.org/officeDocument/2006/math">
                              <m:r>
                                <a:rPr lang="en-US" sz="1800" i="1">
                                  <a:solidFill>
                                    <a:srgbClr val="000000"/>
                                  </a:solidFill>
                                  <a:effectLst/>
                                  <a:latin typeface="Cambria Math"/>
                                  <a:ea typeface="Myriad Pro"/>
                                  <a:cs typeface="Myriad Pro"/>
                                </a:rPr>
                                <m:t>$190.90</m:t>
                              </m:r>
                            </m:oMath>
                          </a14:m>
                          <a:r>
                            <a:rPr lang="en-US" sz="1800" dirty="0">
                              <a:solidFill>
                                <a:srgbClr val="000000"/>
                              </a:solidFill>
                              <a:effectLst/>
                              <a:latin typeface="Verdana" pitchFamily="34" charset="0"/>
                              <a:ea typeface="Verdana" pitchFamily="34" charset="0"/>
                              <a:cs typeface="Myriad Pro"/>
                            </a:rPr>
                            <a:t> in taxes.</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60000">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Marie made a deposit of </a:t>
                          </a:r>
                          <a14:m>
                            <m:oMath xmlns:m="http://schemas.openxmlformats.org/officeDocument/2006/math">
                              <m:r>
                                <a:rPr lang="en-US" sz="1800" i="1">
                                  <a:solidFill>
                                    <a:srgbClr val="000000"/>
                                  </a:solidFill>
                                  <a:effectLst/>
                                  <a:latin typeface="Cambria Math"/>
                                  <a:ea typeface="Myriad Pro"/>
                                  <a:cs typeface="Myriad Pro"/>
                                </a:rPr>
                                <m:t>$50</m:t>
                              </m:r>
                            </m:oMath>
                          </a14:m>
                          <a:r>
                            <a:rPr lang="en-US" sz="1800" dirty="0">
                              <a:solidFill>
                                <a:srgbClr val="000000"/>
                              </a:solidFill>
                              <a:effectLst/>
                              <a:latin typeface="Verdana" pitchFamily="34" charset="0"/>
                              <a:ea typeface="Verdana" pitchFamily="34" charset="0"/>
                              <a:cs typeface="Myriad Pro"/>
                            </a:rPr>
                            <a:t>.</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60000">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Tyler made a withdrawal of </a:t>
                          </a:r>
                          <a14:m>
                            <m:oMath xmlns:m="http://schemas.openxmlformats.org/officeDocument/2006/math">
                              <m:r>
                                <a:rPr lang="en-US" sz="1800" i="1">
                                  <a:solidFill>
                                    <a:srgbClr val="000000"/>
                                  </a:solidFill>
                                  <a:effectLst/>
                                  <a:latin typeface="Cambria Math"/>
                                  <a:ea typeface="Myriad Pro"/>
                                  <a:cs typeface="Myriad Pro"/>
                                </a:rPr>
                                <m:t>$200</m:t>
                              </m:r>
                            </m:oMath>
                          </a14:m>
                          <a:r>
                            <a:rPr lang="en-US" sz="1800" dirty="0">
                              <a:solidFill>
                                <a:srgbClr val="000000"/>
                              </a:solidFill>
                              <a:effectLst/>
                              <a:latin typeface="Verdana" pitchFamily="34" charset="0"/>
                              <a:ea typeface="Verdana" pitchFamily="34" charset="0"/>
                              <a:cs typeface="Myriad Pro"/>
                            </a:rPr>
                            <a:t>.</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612000">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Hannah gets paid an income of </a:t>
                          </a:r>
                          <a14:m>
                            <m:oMath xmlns:m="http://schemas.openxmlformats.org/officeDocument/2006/math">
                              <m:r>
                                <a:rPr lang="en-US" sz="1800" i="1">
                                  <a:solidFill>
                                    <a:srgbClr val="000000"/>
                                  </a:solidFill>
                                  <a:effectLst/>
                                  <a:latin typeface="Cambria Math"/>
                                  <a:ea typeface="Myriad Pro"/>
                                  <a:cs typeface="Myriad Pro"/>
                                </a:rPr>
                                <m:t>$500</m:t>
                              </m:r>
                            </m:oMath>
                          </a14:m>
                          <a:r>
                            <a:rPr lang="en-US" sz="1800" dirty="0">
                              <a:solidFill>
                                <a:srgbClr val="000000"/>
                              </a:solidFill>
                              <a:effectLst/>
                              <a:latin typeface="Verdana" pitchFamily="34" charset="0"/>
                              <a:ea typeface="Verdana" pitchFamily="34" charset="0"/>
                              <a:cs typeface="Myriad Pro"/>
                            </a:rPr>
                            <a:t> per week that she deposits in her account.</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360000">
                    <a:tc>
                      <a:txBody>
                        <a:bodyPr/>
                        <a:lstStyle/>
                        <a:p>
                          <a:pPr algn="ctr">
                            <a:lnSpc>
                              <a:spcPct val="105000"/>
                            </a:lnSpc>
                            <a:spcBef>
                              <a:spcPts val="300"/>
                            </a:spcBef>
                            <a:spcAft>
                              <a:spcPts val="0"/>
                            </a:spcAft>
                            <a:tabLst>
                              <a:tab pos="255905" algn="l"/>
                            </a:tabLst>
                          </a:pPr>
                          <a:r>
                            <a:rPr lang="en-US" sz="1800" dirty="0" err="1">
                              <a:solidFill>
                                <a:srgbClr val="000000"/>
                              </a:solidFill>
                              <a:effectLst/>
                              <a:latin typeface="Verdana" pitchFamily="34" charset="0"/>
                              <a:ea typeface="Verdana" pitchFamily="34" charset="0"/>
                              <a:cs typeface="Myriad Pro"/>
                            </a:rPr>
                            <a:t>Kaden</a:t>
                          </a:r>
                          <a:r>
                            <a:rPr lang="en-US" sz="1800" dirty="0">
                              <a:solidFill>
                                <a:srgbClr val="000000"/>
                              </a:solidFill>
                              <a:effectLst/>
                              <a:latin typeface="Verdana" pitchFamily="34" charset="0"/>
                              <a:ea typeface="Verdana" pitchFamily="34" charset="0"/>
                              <a:cs typeface="Myriad Pro"/>
                            </a:rPr>
                            <a:t> pays </a:t>
                          </a:r>
                          <a14:m>
                            <m:oMath xmlns:m="http://schemas.openxmlformats.org/officeDocument/2006/math">
                              <m:r>
                                <a:rPr lang="en-US" sz="1800" i="1">
                                  <a:solidFill>
                                    <a:srgbClr val="000000"/>
                                  </a:solidFill>
                                  <a:effectLst/>
                                  <a:latin typeface="Cambria Math"/>
                                  <a:ea typeface="Myriad Pro"/>
                                  <a:cs typeface="Myriad Pro"/>
                                </a:rPr>
                                <m:t>$758.91</m:t>
                              </m:r>
                            </m:oMath>
                          </a14:m>
                          <a:r>
                            <a:rPr lang="en-US" sz="1800" dirty="0">
                              <a:solidFill>
                                <a:srgbClr val="000000"/>
                              </a:solidFill>
                              <a:effectLst/>
                              <a:latin typeface="Verdana" pitchFamily="34" charset="0"/>
                              <a:ea typeface="Verdana" pitchFamily="34" charset="0"/>
                              <a:cs typeface="Myriad Pro"/>
                            </a:rPr>
                            <a:t> in monthly expenses.</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8805370"/>
                  </p:ext>
                </p:extLst>
              </p:nvPr>
            </p:nvGraphicFramePr>
            <p:xfrm>
              <a:off x="2496000" y="3936336"/>
              <a:ext cx="7200000" cy="2484000"/>
            </p:xfrm>
            <a:graphic>
              <a:graphicData uri="http://schemas.openxmlformats.org/drawingml/2006/table">
                <a:tbl>
                  <a:tblPr firstRow="1" firstCol="1" bandRow="1"/>
                  <a:tblGrid>
                    <a:gridCol w="5220000">
                      <a:extLst>
                        <a:ext uri="{9D8B030D-6E8A-4147-A177-3AD203B41FA5}">
                          <a16:colId xmlns:a16="http://schemas.microsoft.com/office/drawing/2014/main" xmlns:a14="http://schemas.microsoft.com/office/drawing/2010/main" xmlns="" val="20000"/>
                        </a:ext>
                      </a:extLst>
                    </a:gridCol>
                    <a:gridCol w="1980000">
                      <a:extLst>
                        <a:ext uri="{9D8B030D-6E8A-4147-A177-3AD203B41FA5}">
                          <a16:colId xmlns:a16="http://schemas.microsoft.com/office/drawing/2014/main" xmlns:a14="http://schemas.microsoft.com/office/drawing/2010/main" xmlns="" val="20001"/>
                        </a:ext>
                      </a:extLst>
                    </a:gridCol>
                  </a:tblGrid>
                  <a:tr h="432000">
                    <a:tc>
                      <a:txBody>
                        <a:bodyPr/>
                        <a:lstStyle/>
                        <a:p>
                          <a:pPr algn="ctr">
                            <a:lnSpc>
                              <a:spcPct val="105000"/>
                            </a:lnSpc>
                            <a:spcBef>
                              <a:spcPts val="300"/>
                            </a:spcBef>
                            <a:spcAft>
                              <a:spcPts val="0"/>
                            </a:spcAft>
                            <a:tabLst>
                              <a:tab pos="255905" algn="l"/>
                            </a:tabLst>
                          </a:pPr>
                          <a:r>
                            <a:rPr lang="en-US" sz="1800" b="1" dirty="0">
                              <a:solidFill>
                                <a:srgbClr val="000000"/>
                              </a:solidFill>
                              <a:effectLst/>
                              <a:latin typeface="Verdana" pitchFamily="34" charset="0"/>
                              <a:ea typeface="Verdana" pitchFamily="34" charset="0"/>
                              <a:cs typeface="Myriad Pro"/>
                            </a:rPr>
                            <a:t>Real-World Context</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5000"/>
                            </a:lnSpc>
                            <a:spcBef>
                              <a:spcPts val="300"/>
                            </a:spcBef>
                            <a:spcAft>
                              <a:spcPts val="0"/>
                            </a:spcAft>
                            <a:tabLst>
                              <a:tab pos="255905" algn="l"/>
                            </a:tabLst>
                          </a:pPr>
                          <a:r>
                            <a:rPr lang="en-US" sz="1800" b="1" dirty="0">
                              <a:solidFill>
                                <a:srgbClr val="000000"/>
                              </a:solidFill>
                              <a:effectLst/>
                              <a:latin typeface="Verdana" pitchFamily="34" charset="0"/>
                              <a:ea typeface="Verdana" pitchFamily="34" charset="0"/>
                              <a:cs typeface="Myriad Pro"/>
                            </a:rPr>
                            <a:t>Value</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360000">
                    <a:tc>
                      <a:txBody>
                        <a:bodyPr/>
                        <a:lstStyle/>
                        <a:p>
                          <a:endParaRPr lang="en-US"/>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25424" r="-37923" b="-493220"/>
                          </a:stretch>
                        </a:blipFill>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360000">
                    <a:tc>
                      <a:txBody>
                        <a:bodyPr/>
                        <a:lstStyle/>
                        <a:p>
                          <a:endParaRPr lang="en-US"/>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25424" r="-37923" b="-393220"/>
                          </a:stretch>
                        </a:blipFill>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360000">
                    <a:tc>
                      <a:txBody>
                        <a:bodyPr/>
                        <a:lstStyle/>
                        <a:p>
                          <a:endParaRPr lang="en-US"/>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325424" r="-37923" b="-293220"/>
                          </a:stretch>
                        </a:blipFill>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612000">
                    <a:tc>
                      <a:txBody>
                        <a:bodyPr/>
                        <a:lstStyle/>
                        <a:p>
                          <a:endParaRPr lang="en-US"/>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51000" r="-37923" b="-73000"/>
                          </a:stretch>
                        </a:blipFill>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360000">
                    <a:tc>
                      <a:txBody>
                        <a:bodyPr/>
                        <a:lstStyle/>
                        <a:p>
                          <a:endParaRPr lang="en-US"/>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594915" r="-37923" b="-23729"/>
                          </a:stretch>
                        </a:blipFill>
                      </a:tcPr>
                    </a:tc>
                    <a:tc>
                      <a:txBody>
                        <a:bodyPr/>
                        <a:lstStyle/>
                        <a:p>
                          <a:pPr algn="ctr">
                            <a:lnSpc>
                              <a:spcPct val="105000"/>
                            </a:lnSpc>
                            <a:spcBef>
                              <a:spcPts val="300"/>
                            </a:spcBef>
                            <a:spcAft>
                              <a:spcPts val="0"/>
                            </a:spcAft>
                            <a:tabLst>
                              <a:tab pos="255905" algn="l"/>
                            </a:tabLst>
                          </a:pPr>
                          <a:r>
                            <a:rPr lang="en-US" sz="1800" dirty="0">
                              <a:solidFill>
                                <a:srgbClr val="000000"/>
                              </a:solidFill>
                              <a:effectLst/>
                              <a:latin typeface="Verdana" pitchFamily="34" charset="0"/>
                              <a:ea typeface="Verdana" pitchFamily="34" charset="0"/>
                              <a:cs typeface="Myriad Pro"/>
                            </a:rPr>
                            <a:t> </a:t>
                          </a:r>
                          <a:endParaRPr lang="en-PH" sz="1800" dirty="0">
                            <a:solidFill>
                              <a:srgbClr val="231F20"/>
                            </a:solidFill>
                            <a:effectLst/>
                            <a:latin typeface="Verdana" pitchFamily="34" charset="0"/>
                            <a:ea typeface="Verdana" pitchFamily="34" charset="0"/>
                            <a:cs typeface="Myriad Pro"/>
                          </a:endParaRP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12"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163</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2305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148913" y="275792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996769" y="284469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2675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48130" y="1295"/>
            <a:ext cx="109907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4.6.4 Collaboration: Above or Below Zero</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1329" y="28924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533478" y="1475456"/>
            <a:ext cx="10981568" cy="722505"/>
          </a:xfrm>
          <a:prstGeom prst="rect">
            <a:avLst/>
          </a:prstGeom>
          <a:noFill/>
        </p:spPr>
        <p:txBody>
          <a:bodyPr wrap="square" rtlCol="0">
            <a:spAutoFit/>
          </a:bodyPr>
          <a:lstStyle/>
          <a:p>
            <a:pPr marL="457200" indent="-457200">
              <a:lnSpc>
                <a:spcPct val="105000"/>
              </a:lnSpc>
              <a:spcBef>
                <a:spcPts val="300"/>
              </a:spcBef>
              <a:buFont typeface="+mj-lt"/>
              <a:buAutoNum type="arabicPeriod"/>
              <a:tabLst>
                <a:tab pos="255905" algn="l"/>
                <a:tab pos="457200" algn="l"/>
              </a:tabLst>
            </a:pPr>
            <a:r>
              <a:rPr lang="en-US" sz="2000" dirty="0">
                <a:solidFill>
                  <a:srgbClr val="231F20"/>
                </a:solidFill>
                <a:latin typeface="Verdana"/>
                <a:ea typeface="Myriad Pro"/>
                <a:cs typeface="Myriad Pro"/>
              </a:rPr>
              <a:t>Represent each change in temperature on the number line. Answer the question for each situation.</a:t>
            </a:r>
            <a:endParaRPr lang="en-PH" sz="1050" dirty="0">
              <a:solidFill>
                <a:srgbClr val="231F20"/>
              </a:solidFill>
              <a:latin typeface="Calibri"/>
              <a:ea typeface="Myriad Pro"/>
              <a:cs typeface="Myriad Pro"/>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357219894"/>
                  </p:ext>
                </p:extLst>
              </p:nvPr>
            </p:nvGraphicFramePr>
            <p:xfrm>
              <a:off x="1097478" y="2301492"/>
              <a:ext cx="7200000" cy="4320692"/>
            </p:xfrm>
            <a:graphic>
              <a:graphicData uri="http://schemas.openxmlformats.org/drawingml/2006/table">
                <a:tbl>
                  <a:tblPr firstRow="1" firstCol="1" bandRow="1"/>
                  <a:tblGrid>
                    <a:gridCol w="3600000">
                      <a:extLst>
                        <a:ext uri="{9D8B030D-6E8A-4147-A177-3AD203B41FA5}">
                          <a16:colId xmlns="" xmlns:a16="http://schemas.microsoft.com/office/drawing/2014/main" val="20000"/>
                        </a:ext>
                      </a:extLst>
                    </a:gridCol>
                    <a:gridCol w="144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tblGrid>
                  <a:tr h="4320692">
                    <a:tc>
                      <a:txBody>
                        <a:bodyPr/>
                        <a:lstStyle/>
                        <a:p>
                          <a:pPr>
                            <a:lnSpc>
                              <a:spcPct val="105000"/>
                            </a:lnSpc>
                            <a:spcBef>
                              <a:spcPts val="300"/>
                            </a:spcBef>
                            <a:spcAft>
                              <a:spcPts val="0"/>
                            </a:spcAft>
                            <a:tabLst>
                              <a:tab pos="255905" algn="l"/>
                            </a:tabLst>
                          </a:pPr>
                          <a:r>
                            <a:rPr lang="en-US" sz="2000" dirty="0">
                              <a:solidFill>
                                <a:srgbClr val="231F20"/>
                              </a:solidFill>
                              <a:effectLst/>
                              <a:latin typeface="Verdana"/>
                              <a:ea typeface="Myriad Pro"/>
                              <a:cs typeface="Myriad Pro"/>
                            </a:rPr>
                            <a:t>At noon, the temperature was </a:t>
                          </a:r>
                          <a14:m>
                            <m:oMath xmlns:m="http://schemas.openxmlformats.org/officeDocument/2006/math">
                              <m:r>
                                <a:rPr lang="en-US" sz="2000" i="1">
                                  <a:solidFill>
                                    <a:srgbClr val="231F20"/>
                                  </a:solidFill>
                                  <a:effectLst/>
                                  <a:latin typeface="Cambria Math"/>
                                  <a:ea typeface="Myriad Pro"/>
                                  <a:cs typeface="Myriad Pro"/>
                                </a:rPr>
                                <m:t>5</m:t>
                              </m:r>
                            </m:oMath>
                          </a14:m>
                          <a:r>
                            <a:rPr lang="en-US" sz="2000" dirty="0">
                              <a:solidFill>
                                <a:srgbClr val="231F20"/>
                              </a:solidFill>
                              <a:effectLst/>
                              <a:latin typeface="Verdana"/>
                              <a:ea typeface="Myriad Pro"/>
                              <a:cs typeface="Myriad Pro"/>
                            </a:rPr>
                            <a:t> degrees Celsius. </a:t>
                          </a:r>
                          <a:br>
                            <a:rPr lang="en-US" sz="2000" dirty="0">
                              <a:solidFill>
                                <a:srgbClr val="231F20"/>
                              </a:solidFill>
                              <a:effectLst/>
                              <a:latin typeface="Verdana"/>
                              <a:ea typeface="Myriad Pro"/>
                              <a:cs typeface="Myriad Pro"/>
                            </a:rPr>
                          </a:br>
                          <a:r>
                            <a:rPr lang="en-US" sz="2000" dirty="0">
                              <a:solidFill>
                                <a:srgbClr val="231F20"/>
                              </a:solidFill>
                              <a:effectLst/>
                              <a:latin typeface="Verdana"/>
                              <a:ea typeface="Myriad Pro"/>
                              <a:cs typeface="Myriad Pro"/>
                            </a:rPr>
                            <a:t>By late afternoon, the temperature had risen </a:t>
                          </a:r>
                          <a:br>
                            <a:rPr lang="en-US" sz="2000" dirty="0">
                              <a:solidFill>
                                <a:srgbClr val="231F20"/>
                              </a:solidFill>
                              <a:effectLst/>
                              <a:latin typeface="Verdana"/>
                              <a:ea typeface="Myriad Pro"/>
                              <a:cs typeface="Myriad Pro"/>
                            </a:rPr>
                          </a:br>
                          <a:r>
                            <a:rPr lang="en-US" sz="2000" dirty="0">
                              <a:solidFill>
                                <a:srgbClr val="231F20"/>
                              </a:solidFill>
                              <a:effectLst/>
                              <a:latin typeface="Verdana"/>
                              <a:ea typeface="Myriad Pro"/>
                              <a:cs typeface="Myriad Pro"/>
                            </a:rPr>
                            <a:t>by </a:t>
                          </a:r>
                          <a14:m>
                            <m:oMath xmlns:m="http://schemas.openxmlformats.org/officeDocument/2006/math">
                              <m:r>
                                <a:rPr lang="en-US" sz="2000" i="1">
                                  <a:solidFill>
                                    <a:srgbClr val="231F20"/>
                                  </a:solidFill>
                                  <a:effectLst/>
                                  <a:latin typeface="Cambria Math"/>
                                  <a:ea typeface="Myriad Pro"/>
                                  <a:cs typeface="Myriad Pro"/>
                                </a:rPr>
                                <m:t>6</m:t>
                              </m:r>
                            </m:oMath>
                          </a14:m>
                          <a:r>
                            <a:rPr lang="en-US" sz="2000" dirty="0">
                              <a:solidFill>
                                <a:srgbClr val="231F20"/>
                              </a:solidFill>
                              <a:effectLst/>
                              <a:latin typeface="Verdana"/>
                              <a:ea typeface="Myriad Pro"/>
                              <a:cs typeface="Myriad Pro"/>
                            </a:rPr>
                            <a:t> degrees Celsius. </a:t>
                          </a:r>
                          <a:endParaRPr lang="en-PH" sz="2000" dirty="0">
                            <a:solidFill>
                              <a:srgbClr val="231F20"/>
                            </a:solidFill>
                            <a:effectLst/>
                            <a:latin typeface="Calibri"/>
                            <a:ea typeface="Myriad Pro"/>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endParaRPr lang="en-US" sz="2000" dirty="0">
                            <a:solidFill>
                              <a:srgbClr val="231F20"/>
                            </a:solidFill>
                            <a:effectLst/>
                            <a:latin typeface="Verdana"/>
                            <a:ea typeface="Myriad Pro"/>
                            <a:cs typeface="Myriad Pro"/>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5000"/>
                            </a:lnSpc>
                            <a:spcBef>
                              <a:spcPts val="300"/>
                            </a:spcBef>
                            <a:spcAft>
                              <a:spcPts val="0"/>
                            </a:spcAft>
                            <a:tabLst>
                              <a:tab pos="255905" algn="l"/>
                            </a:tabLst>
                          </a:pPr>
                          <a:r>
                            <a:rPr lang="en-US" sz="2000" dirty="0">
                              <a:solidFill>
                                <a:srgbClr val="231F20"/>
                              </a:solidFill>
                              <a:effectLst/>
                              <a:latin typeface="Verdana"/>
                              <a:ea typeface="Myriad Pro"/>
                              <a:cs typeface="Myriad Pro"/>
                            </a:rPr>
                            <a:t>What was the temperature late in the afternoon?</a:t>
                          </a:r>
                          <a:endParaRPr lang="en-PH" sz="2000" dirty="0">
                            <a:solidFill>
                              <a:srgbClr val="231F20"/>
                            </a:solidFill>
                            <a:effectLst/>
                            <a:latin typeface="Calibri"/>
                            <a:ea typeface="Myriad Pro"/>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357219894"/>
                  </p:ext>
                </p:extLst>
              </p:nvPr>
            </p:nvGraphicFramePr>
            <p:xfrm>
              <a:off x="1097478" y="2301492"/>
              <a:ext cx="7200000" cy="4320692"/>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gridCol w="2160000">
                      <a:extLst>
                        <a:ext uri="{9D8B030D-6E8A-4147-A177-3AD203B41FA5}">
                          <a16:colId xmlns:a16="http://schemas.microsoft.com/office/drawing/2014/main" xmlns:a14="http://schemas.microsoft.com/office/drawing/2010/main" xmlns="" val="20002"/>
                        </a:ext>
                      </a:extLst>
                    </a:gridCol>
                  </a:tblGrid>
                  <a:tr h="4320692">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989" r="-100000" b="-141"/>
                          </a:stretch>
                        </a:blipFill>
                      </a:tcPr>
                    </a:tc>
                    <a:tc>
                      <a:txBody>
                        <a:bodyPr/>
                        <a:lstStyle/>
                        <a:p>
                          <a:pPr algn="ctr">
                            <a:lnSpc>
                              <a:spcPct val="105000"/>
                            </a:lnSpc>
                            <a:spcBef>
                              <a:spcPts val="300"/>
                            </a:spcBef>
                            <a:spcAft>
                              <a:spcPts val="0"/>
                            </a:spcAft>
                            <a:tabLst>
                              <a:tab pos="255905" algn="l"/>
                            </a:tabLst>
                          </a:pPr>
                          <a:endParaRPr lang="en-US" sz="2000" dirty="0">
                            <a:solidFill>
                              <a:srgbClr val="231F20"/>
                            </a:solidFill>
                            <a:effectLst/>
                            <a:latin typeface="Verdana"/>
                            <a:ea typeface="Myriad Pro"/>
                            <a:cs typeface="Myriad Pro"/>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5000"/>
                            </a:lnSpc>
                            <a:spcBef>
                              <a:spcPts val="300"/>
                            </a:spcBef>
                            <a:spcAft>
                              <a:spcPts val="0"/>
                            </a:spcAft>
                            <a:tabLst>
                              <a:tab pos="255905" algn="l"/>
                            </a:tabLst>
                          </a:pPr>
                          <a:r>
                            <a:rPr lang="en-US" sz="2000" dirty="0">
                              <a:solidFill>
                                <a:srgbClr val="231F20"/>
                              </a:solidFill>
                              <a:effectLst/>
                              <a:latin typeface="Verdana"/>
                              <a:ea typeface="Myriad Pro"/>
                              <a:cs typeface="Myriad Pro"/>
                            </a:rPr>
                            <a:t>What was the temperature late in the afternoon?</a:t>
                          </a:r>
                          <a:endParaRPr lang="en-PH" sz="2000" dirty="0">
                            <a:solidFill>
                              <a:srgbClr val="231F20"/>
                            </a:solidFill>
                            <a:effectLst/>
                            <a:latin typeface="Calibri"/>
                            <a:ea typeface="Myriad Pro"/>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bl>
              </a:graphicData>
            </a:graphic>
          </p:graphicFrame>
        </mc:Fallback>
      </mc:AlternateContent>
      <p:pic>
        <p:nvPicPr>
          <p:cNvPr id="5122" name="Picture 4"/>
          <p:cNvPicPr>
            <a:picLocks noChangeAspect="1" noChangeArrowheads="1"/>
          </p:cNvPicPr>
          <p:nvPr/>
        </p:nvPicPr>
        <p:blipFill>
          <a:blip r:embed="rId5" cstate="screen">
            <a:extLst>
              <a:ext uri="{28A0092B-C50C-407E-A947-70E740481C1C}">
                <a14:useLocalDpi xmlns:a14="http://schemas.microsoft.com/office/drawing/2010/main"/>
              </a:ext>
            </a:extLst>
          </a:blip>
          <a:srcRect l="45769" r="25009"/>
          <a:stretch>
            <a:fillRect/>
          </a:stretch>
        </p:blipFill>
        <p:spPr bwMode="auto">
          <a:xfrm>
            <a:off x="4847415" y="2407262"/>
            <a:ext cx="1138318" cy="4156183"/>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5356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358"/>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237186784"/>
                  </p:ext>
                </p:extLst>
              </p:nvPr>
            </p:nvGraphicFramePr>
            <p:xfrm>
              <a:off x="981520" y="375153"/>
              <a:ext cx="7200000" cy="5159818"/>
            </p:xfrm>
            <a:graphic>
              <a:graphicData uri="http://schemas.openxmlformats.org/drawingml/2006/table">
                <a:tbl>
                  <a:tblPr firstRow="1" firstCol="1" bandRow="1"/>
                  <a:tblGrid>
                    <a:gridCol w="3600000">
                      <a:extLst>
                        <a:ext uri="{9D8B030D-6E8A-4147-A177-3AD203B41FA5}">
                          <a16:colId xmlns="" xmlns:a16="http://schemas.microsoft.com/office/drawing/2014/main" val="20000"/>
                        </a:ext>
                      </a:extLst>
                    </a:gridCol>
                    <a:gridCol w="144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tblGrid>
                  <a:tr h="5159818">
                    <a:tc>
                      <a:txBody>
                        <a:bodyPr/>
                        <a:lstStyle/>
                        <a:p>
                          <a:pPr>
                            <a:lnSpc>
                              <a:spcPct val="105000"/>
                            </a:lnSpc>
                            <a:spcBef>
                              <a:spcPts val="300"/>
                            </a:spcBef>
                            <a:spcAft>
                              <a:spcPts val="0"/>
                            </a:spcAft>
                            <a:tabLst>
                              <a:tab pos="255905" algn="l"/>
                            </a:tabLst>
                          </a:pPr>
                          <a:r>
                            <a:rPr lang="en-US" sz="2000" dirty="0">
                              <a:solidFill>
                                <a:srgbClr val="231F20"/>
                              </a:solidFill>
                              <a:effectLst/>
                              <a:latin typeface="Verdana" pitchFamily="34" charset="0"/>
                              <a:ea typeface="Verdana" pitchFamily="34" charset="0"/>
                              <a:cs typeface="Myriad Pro"/>
                            </a:rPr>
                            <a:t>The temperature was </a:t>
                          </a:r>
                          <a:br>
                            <a:rPr lang="en-US" sz="2000" dirty="0">
                              <a:solidFill>
                                <a:srgbClr val="231F20"/>
                              </a:solidFill>
                              <a:effectLst/>
                              <a:latin typeface="Verdana" pitchFamily="34" charset="0"/>
                              <a:ea typeface="Verdana" pitchFamily="34" charset="0"/>
                              <a:cs typeface="Myriad Pro"/>
                            </a:rPr>
                          </a:br>
                          <a14:m>
                            <m:oMath xmlns:m="http://schemas.openxmlformats.org/officeDocument/2006/math">
                              <m:r>
                                <a:rPr lang="en-US" sz="2000" i="1">
                                  <a:solidFill>
                                    <a:srgbClr val="231F20"/>
                                  </a:solidFill>
                                  <a:effectLst/>
                                  <a:latin typeface="Cambria Math"/>
                                  <a:ea typeface="Myriad Pro"/>
                                  <a:cs typeface="Myriad Pro"/>
                                </a:rPr>
                                <m:t>8</m:t>
                              </m:r>
                            </m:oMath>
                          </a14:m>
                          <a:r>
                            <a:rPr lang="en-US" sz="2000" dirty="0">
                              <a:solidFill>
                                <a:srgbClr val="231F20"/>
                              </a:solidFill>
                              <a:effectLst/>
                              <a:latin typeface="Verdana" pitchFamily="34" charset="0"/>
                              <a:ea typeface="Verdana" pitchFamily="34" charset="0"/>
                              <a:cs typeface="Myriad Pro"/>
                            </a:rPr>
                            <a:t> degrees Celsius at midnight. By dawn, the temperature had dropped by </a:t>
                          </a:r>
                          <a14:m>
                            <m:oMath xmlns:m="http://schemas.openxmlformats.org/officeDocument/2006/math">
                              <m:r>
                                <a:rPr lang="en-US" sz="2000" i="1">
                                  <a:solidFill>
                                    <a:srgbClr val="231F20"/>
                                  </a:solidFill>
                                  <a:effectLst/>
                                  <a:latin typeface="Cambria Math"/>
                                  <a:ea typeface="Myriad Pro"/>
                                  <a:cs typeface="Myriad Pro"/>
                                </a:rPr>
                                <m:t>12</m:t>
                              </m:r>
                            </m:oMath>
                          </a14:m>
                          <a:r>
                            <a:rPr lang="en-US" sz="2000" dirty="0">
                              <a:solidFill>
                                <a:srgbClr val="231F20"/>
                              </a:solidFill>
                              <a:effectLst/>
                              <a:latin typeface="Verdana" pitchFamily="34" charset="0"/>
                              <a:ea typeface="Verdana" pitchFamily="34" charset="0"/>
                              <a:cs typeface="Myriad Pro"/>
                            </a:rPr>
                            <a:t> degrees Celsius.  </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endParaRPr lang="en-US" sz="2000" dirty="0">
                            <a:solidFill>
                              <a:srgbClr val="231F20"/>
                            </a:solidFill>
                            <a:effectLst/>
                            <a:latin typeface="Verdana" pitchFamily="34" charset="0"/>
                            <a:ea typeface="Verdana" pitchFamily="34" charset="0"/>
                            <a:cs typeface="Myriad Pro"/>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5000"/>
                            </a:lnSpc>
                            <a:spcBef>
                              <a:spcPts val="300"/>
                            </a:spcBef>
                            <a:spcAft>
                              <a:spcPts val="0"/>
                            </a:spcAft>
                            <a:tabLst>
                              <a:tab pos="255905" algn="l"/>
                            </a:tabLst>
                          </a:pPr>
                          <a:r>
                            <a:rPr lang="en-US" sz="2000" dirty="0">
                              <a:solidFill>
                                <a:srgbClr val="231F20"/>
                              </a:solidFill>
                              <a:effectLst/>
                              <a:latin typeface="Verdana" pitchFamily="34" charset="0"/>
                              <a:ea typeface="Verdana" pitchFamily="34" charset="0"/>
                              <a:cs typeface="Myriad Pro"/>
                            </a:rPr>
                            <a:t>What was the temperature at dawn?</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237186784"/>
                  </p:ext>
                </p:extLst>
              </p:nvPr>
            </p:nvGraphicFramePr>
            <p:xfrm>
              <a:off x="981520" y="375153"/>
              <a:ext cx="7200000" cy="5159818"/>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gridCol w="2160000">
                      <a:extLst>
                        <a:ext uri="{9D8B030D-6E8A-4147-A177-3AD203B41FA5}">
                          <a16:colId xmlns:a16="http://schemas.microsoft.com/office/drawing/2014/main" xmlns:a14="http://schemas.microsoft.com/office/drawing/2010/main" xmlns="" val="20002"/>
                        </a:ext>
                      </a:extLst>
                    </a:gridCol>
                  </a:tblGrid>
                  <a:tr h="5159818">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827" r="-100000"/>
                          </a:stretch>
                        </a:blipFill>
                      </a:tcPr>
                    </a:tc>
                    <a:tc>
                      <a:txBody>
                        <a:bodyPr/>
                        <a:lstStyle/>
                        <a:p>
                          <a:pPr algn="ctr">
                            <a:lnSpc>
                              <a:spcPct val="105000"/>
                            </a:lnSpc>
                            <a:spcBef>
                              <a:spcPts val="300"/>
                            </a:spcBef>
                            <a:spcAft>
                              <a:spcPts val="0"/>
                            </a:spcAft>
                            <a:tabLst>
                              <a:tab pos="255905" algn="l"/>
                            </a:tabLst>
                          </a:pPr>
                          <a:endParaRPr lang="en-US" sz="2000" dirty="0">
                            <a:solidFill>
                              <a:srgbClr val="231F20"/>
                            </a:solidFill>
                            <a:effectLst/>
                            <a:latin typeface="Verdana" pitchFamily="34" charset="0"/>
                            <a:ea typeface="Verdana" pitchFamily="34" charset="0"/>
                            <a:cs typeface="Myriad Pro"/>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5000"/>
                            </a:lnSpc>
                            <a:spcBef>
                              <a:spcPts val="300"/>
                            </a:spcBef>
                            <a:spcAft>
                              <a:spcPts val="0"/>
                            </a:spcAft>
                            <a:tabLst>
                              <a:tab pos="255905" algn="l"/>
                            </a:tabLst>
                          </a:pPr>
                          <a:r>
                            <a:rPr lang="en-US" sz="2000" dirty="0">
                              <a:solidFill>
                                <a:srgbClr val="231F20"/>
                              </a:solidFill>
                              <a:effectLst/>
                              <a:latin typeface="Verdana" pitchFamily="34" charset="0"/>
                              <a:ea typeface="Verdana" pitchFamily="34" charset="0"/>
                              <a:cs typeface="Myriad Pro"/>
                            </a:rPr>
                            <a:t>What was the temperature at dawn?</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bl>
              </a:graphicData>
            </a:graphic>
          </p:graphicFrame>
        </mc:Fallback>
      </mc:AlternateContent>
      <p:pic>
        <p:nvPicPr>
          <p:cNvPr id="6148" name="Picture 6"/>
          <p:cNvPicPr>
            <a:picLocks noChangeAspect="1" noChangeArrowheads="1"/>
          </p:cNvPicPr>
          <p:nvPr/>
        </p:nvPicPr>
        <p:blipFill>
          <a:blip r:embed="rId4" cstate="screen">
            <a:extLst>
              <a:ext uri="{28A0092B-C50C-407E-A947-70E740481C1C}">
                <a14:useLocalDpi xmlns:a14="http://schemas.microsoft.com/office/drawing/2010/main"/>
              </a:ext>
            </a:extLst>
          </a:blip>
          <a:srcRect l="45769" r="25009"/>
          <a:stretch>
            <a:fillRect/>
          </a:stretch>
        </p:blipFill>
        <p:spPr bwMode="auto">
          <a:xfrm>
            <a:off x="4649023" y="461526"/>
            <a:ext cx="1334849" cy="487375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91579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93479974"/>
                  </p:ext>
                </p:extLst>
              </p:nvPr>
            </p:nvGraphicFramePr>
            <p:xfrm>
              <a:off x="997021" y="371411"/>
              <a:ext cx="7200000" cy="4618655"/>
            </p:xfrm>
            <a:graphic>
              <a:graphicData uri="http://schemas.openxmlformats.org/drawingml/2006/table">
                <a:tbl>
                  <a:tblPr firstRow="1" firstCol="1" bandRow="1"/>
                  <a:tblGrid>
                    <a:gridCol w="3600000">
                      <a:extLst>
                        <a:ext uri="{9D8B030D-6E8A-4147-A177-3AD203B41FA5}">
                          <a16:colId xmlns="" xmlns:a16="http://schemas.microsoft.com/office/drawing/2014/main" val="20000"/>
                        </a:ext>
                      </a:extLst>
                    </a:gridCol>
                    <a:gridCol w="1440000">
                      <a:extLst>
                        <a:ext uri="{9D8B030D-6E8A-4147-A177-3AD203B41FA5}">
                          <a16:colId xmlns="" xmlns:a16="http://schemas.microsoft.com/office/drawing/2014/main" val="20001"/>
                        </a:ext>
                      </a:extLst>
                    </a:gridCol>
                    <a:gridCol w="2160000">
                      <a:extLst>
                        <a:ext uri="{9D8B030D-6E8A-4147-A177-3AD203B41FA5}">
                          <a16:colId xmlns="" xmlns:a16="http://schemas.microsoft.com/office/drawing/2014/main" val="20002"/>
                        </a:ext>
                      </a:extLst>
                    </a:gridCol>
                  </a:tblGrid>
                  <a:tr h="4618655">
                    <a:tc>
                      <a:txBody>
                        <a:bodyPr/>
                        <a:lstStyle/>
                        <a:p>
                          <a:pPr>
                            <a:lnSpc>
                              <a:spcPct val="105000"/>
                            </a:lnSpc>
                            <a:spcBef>
                              <a:spcPts val="300"/>
                            </a:spcBef>
                            <a:spcAft>
                              <a:spcPts val="0"/>
                            </a:spcAft>
                            <a:tabLst>
                              <a:tab pos="255905" algn="l"/>
                            </a:tabLst>
                          </a:pPr>
                          <a:r>
                            <a:rPr lang="en-US" sz="2000" dirty="0">
                              <a:solidFill>
                                <a:srgbClr val="231F20"/>
                              </a:solidFill>
                              <a:effectLst/>
                              <a:latin typeface="Verdana" pitchFamily="34" charset="0"/>
                              <a:ea typeface="Verdana" pitchFamily="34" charset="0"/>
                              <a:cs typeface="Myriad Pro"/>
                            </a:rPr>
                            <a:t>Water freezes at </a:t>
                          </a:r>
                          <a:br>
                            <a:rPr lang="en-US" sz="2000" dirty="0">
                              <a:solidFill>
                                <a:srgbClr val="231F20"/>
                              </a:solidFill>
                              <a:effectLst/>
                              <a:latin typeface="Verdana" pitchFamily="34" charset="0"/>
                              <a:ea typeface="Verdana" pitchFamily="34" charset="0"/>
                              <a:cs typeface="Myriad Pro"/>
                            </a:rPr>
                          </a:br>
                          <a14:m>
                            <m:oMath xmlns:m="http://schemas.openxmlformats.org/officeDocument/2006/math">
                              <m:r>
                                <a:rPr lang="en-US" sz="2000" i="1">
                                  <a:solidFill>
                                    <a:srgbClr val="231F20"/>
                                  </a:solidFill>
                                  <a:effectLst/>
                                  <a:latin typeface="Cambria Math"/>
                                  <a:ea typeface="Myriad Pro"/>
                                  <a:cs typeface="Myriad Pro"/>
                                </a:rPr>
                                <m:t>0</m:t>
                              </m:r>
                            </m:oMath>
                          </a14:m>
                          <a:r>
                            <a:rPr lang="en-US" sz="2000" dirty="0">
                              <a:solidFill>
                                <a:srgbClr val="231F20"/>
                              </a:solidFill>
                              <a:effectLst/>
                              <a:latin typeface="Verdana" pitchFamily="34" charset="0"/>
                              <a:ea typeface="Verdana" pitchFamily="34" charset="0"/>
                              <a:cs typeface="Myriad Pro"/>
                            </a:rPr>
                            <a:t> degrees Celsius, but the freezing temperature can be lowered by adding salt to the water. A student discovered that adding half a cup of salt to a gallon of water lowers its freezing temperature by </a:t>
                          </a:r>
                          <a:br>
                            <a:rPr lang="en-US" sz="2000" dirty="0">
                              <a:solidFill>
                                <a:srgbClr val="231F20"/>
                              </a:solidFill>
                              <a:effectLst/>
                              <a:latin typeface="Verdana" pitchFamily="34" charset="0"/>
                              <a:ea typeface="Verdana" pitchFamily="34" charset="0"/>
                              <a:cs typeface="Myriad Pro"/>
                            </a:rPr>
                          </a:br>
                          <a14:m>
                            <m:oMath xmlns:m="http://schemas.openxmlformats.org/officeDocument/2006/math">
                              <m:r>
                                <a:rPr lang="en-US" sz="2000" i="1">
                                  <a:solidFill>
                                    <a:srgbClr val="231F20"/>
                                  </a:solidFill>
                                  <a:effectLst/>
                                  <a:latin typeface="Cambria Math"/>
                                  <a:ea typeface="Myriad Pro"/>
                                  <a:cs typeface="Myriad Pro"/>
                                </a:rPr>
                                <m:t>7</m:t>
                              </m:r>
                            </m:oMath>
                          </a14:m>
                          <a:r>
                            <a:rPr lang="en-US" sz="2000" dirty="0">
                              <a:solidFill>
                                <a:srgbClr val="231F20"/>
                              </a:solidFill>
                              <a:effectLst/>
                              <a:latin typeface="Verdana" pitchFamily="34" charset="0"/>
                              <a:ea typeface="Verdana" pitchFamily="34" charset="0"/>
                              <a:cs typeface="Myriad Pro"/>
                            </a:rPr>
                            <a:t> degrees Celsius.</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5000"/>
                            </a:lnSpc>
                            <a:spcBef>
                              <a:spcPts val="300"/>
                            </a:spcBef>
                            <a:spcAft>
                              <a:spcPts val="0"/>
                            </a:spcAft>
                            <a:tabLst>
                              <a:tab pos="255905" algn="l"/>
                            </a:tabLst>
                          </a:pPr>
                          <a:endParaRPr lang="en-US" sz="2000" dirty="0">
                            <a:solidFill>
                              <a:srgbClr val="231F20"/>
                            </a:solidFill>
                            <a:effectLst/>
                            <a:latin typeface="Verdana" pitchFamily="34" charset="0"/>
                            <a:ea typeface="Verdana" pitchFamily="34" charset="0"/>
                            <a:cs typeface="Myriad Pro"/>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5000"/>
                            </a:lnSpc>
                            <a:spcBef>
                              <a:spcPts val="300"/>
                            </a:spcBef>
                            <a:spcAft>
                              <a:spcPts val="0"/>
                            </a:spcAft>
                            <a:tabLst>
                              <a:tab pos="255905" algn="l"/>
                            </a:tabLst>
                          </a:pPr>
                          <a:r>
                            <a:rPr lang="en-US" sz="2000" dirty="0">
                              <a:solidFill>
                                <a:srgbClr val="231F20"/>
                              </a:solidFill>
                              <a:effectLst/>
                              <a:latin typeface="Verdana" pitchFamily="34" charset="0"/>
                              <a:ea typeface="Verdana" pitchFamily="34" charset="0"/>
                              <a:cs typeface="Myriad Pro"/>
                            </a:rPr>
                            <a:t>What is the freezing temperature of the gallon of salt water?</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93479974"/>
                  </p:ext>
                </p:extLst>
              </p:nvPr>
            </p:nvGraphicFramePr>
            <p:xfrm>
              <a:off x="997021" y="371411"/>
              <a:ext cx="7200000" cy="4618655"/>
            </p:xfrm>
            <a:graphic>
              <a:graphicData uri="http://schemas.openxmlformats.org/drawingml/2006/table">
                <a:tbl>
                  <a:tblPr firstRow="1" firstCol="1" bandRow="1"/>
                  <a:tblGrid>
                    <a:gridCol w="3600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gridCol w="2160000">
                      <a:extLst>
                        <a:ext uri="{9D8B030D-6E8A-4147-A177-3AD203B41FA5}">
                          <a16:colId xmlns:a16="http://schemas.microsoft.com/office/drawing/2014/main" xmlns:a14="http://schemas.microsoft.com/office/drawing/2010/main" xmlns="" val="20002"/>
                        </a:ext>
                      </a:extLst>
                    </a:gridCol>
                  </a:tblGrid>
                  <a:tr h="4618655">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69" t="-923" r="-99831"/>
                          </a:stretch>
                        </a:blipFill>
                      </a:tcPr>
                    </a:tc>
                    <a:tc>
                      <a:txBody>
                        <a:bodyPr/>
                        <a:lstStyle/>
                        <a:p>
                          <a:pPr algn="ctr">
                            <a:lnSpc>
                              <a:spcPct val="105000"/>
                            </a:lnSpc>
                            <a:spcBef>
                              <a:spcPts val="300"/>
                            </a:spcBef>
                            <a:spcAft>
                              <a:spcPts val="0"/>
                            </a:spcAft>
                            <a:tabLst>
                              <a:tab pos="255905" algn="l"/>
                            </a:tabLst>
                          </a:pPr>
                          <a:endParaRPr lang="en-US" sz="2000" dirty="0">
                            <a:solidFill>
                              <a:srgbClr val="231F20"/>
                            </a:solidFill>
                            <a:effectLst/>
                            <a:latin typeface="Verdana" pitchFamily="34" charset="0"/>
                            <a:ea typeface="Verdana" pitchFamily="34" charset="0"/>
                            <a:cs typeface="Myriad Pro"/>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5000"/>
                            </a:lnSpc>
                            <a:spcBef>
                              <a:spcPts val="300"/>
                            </a:spcBef>
                            <a:spcAft>
                              <a:spcPts val="0"/>
                            </a:spcAft>
                            <a:tabLst>
                              <a:tab pos="255905" algn="l"/>
                            </a:tabLst>
                          </a:pPr>
                          <a:r>
                            <a:rPr lang="en-US" sz="2000" dirty="0">
                              <a:solidFill>
                                <a:srgbClr val="231F20"/>
                              </a:solidFill>
                              <a:effectLst/>
                              <a:latin typeface="Verdana" pitchFamily="34" charset="0"/>
                              <a:ea typeface="Verdana" pitchFamily="34" charset="0"/>
                              <a:cs typeface="Myriad Pro"/>
                            </a:rPr>
                            <a:t>What is the freezing temperature of the gallon of salt water?</a:t>
                          </a:r>
                          <a:endParaRPr lang="en-PH" sz="2000" dirty="0">
                            <a:solidFill>
                              <a:srgbClr val="231F20"/>
                            </a:solidFill>
                            <a:effectLst/>
                            <a:latin typeface="Verdana" pitchFamily="34" charset="0"/>
                            <a:ea typeface="Verdana" pitchFamily="34" charset="0"/>
                            <a:cs typeface="Myriad Pro"/>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bl>
              </a:graphicData>
            </a:graphic>
          </p:graphicFrame>
        </mc:Fallback>
      </mc:AlternateContent>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2AA35BC6-D428-FC41-BDE5-6438AB8840FC}"/>
                  </a:ext>
                </a:extLst>
              </p:cNvPr>
              <p:cNvSpPr txBox="1"/>
              <p:nvPr/>
            </p:nvSpPr>
            <p:spPr>
              <a:xfrm>
                <a:off x="535109" y="5137081"/>
                <a:ext cx="11078843" cy="1118255"/>
              </a:xfrm>
              <a:prstGeom prst="rect">
                <a:avLst/>
              </a:prstGeom>
              <a:noFill/>
            </p:spPr>
            <p:txBody>
              <a:bodyPr wrap="square" rtlCol="0">
                <a:spAutoFit/>
              </a:bodyPr>
              <a:lstStyle/>
              <a:p>
                <a:pPr>
                  <a:spcAft>
                    <a:spcPts val="800"/>
                  </a:spcAft>
                </a:pPr>
                <a:r>
                  <a:rPr lang="en-US" sz="2000" dirty="0">
                    <a:latin typeface="Verdana"/>
                    <a:ea typeface="Times New Roman"/>
                    <a:cs typeface="Times New Roman"/>
                  </a:rPr>
                  <a:t>Numbers below </a:t>
                </a:r>
                <a14:m>
                  <m:oMath xmlns:m="http://schemas.openxmlformats.org/officeDocument/2006/math">
                    <m:r>
                      <a:rPr lang="en-US" sz="2000" i="1">
                        <a:latin typeface="Cambria Math"/>
                        <a:ea typeface="Times New Roman"/>
                        <a:cs typeface="Times New Roman"/>
                      </a:rPr>
                      <m:t>0</m:t>
                    </m:r>
                  </m:oMath>
                </a14:m>
                <a:r>
                  <a:rPr lang="en-US" sz="2000" dirty="0">
                    <a:latin typeface="Verdana"/>
                    <a:ea typeface="Times New Roman"/>
                    <a:cs typeface="Times New Roman"/>
                  </a:rPr>
                  <a:t> are useful in contexts other than temperature.</a:t>
                </a:r>
              </a:p>
              <a:p>
                <a:pPr marL="457200" indent="-457200">
                  <a:buFont typeface="+mj-lt"/>
                  <a:buAutoNum type="arabicPeriod" startAt="2"/>
                </a:pPr>
                <a:r>
                  <a:rPr lang="en-US" sz="2000" dirty="0">
                    <a:latin typeface="Verdana"/>
                    <a:ea typeface="Times New Roman"/>
                    <a:cs typeface="Times New Roman"/>
                  </a:rPr>
                  <a:t>With your partner, discuss and list other examples where numbers below zero can be used to represent a situation.</a:t>
                </a:r>
                <a:endParaRPr lang="en-PH" sz="2000" dirty="0">
                  <a:latin typeface="Cambria"/>
                  <a:ea typeface="Times New Roman"/>
                  <a:cs typeface="Times New Roman"/>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535109" y="5137081"/>
                <a:ext cx="11078843" cy="1118255"/>
              </a:xfrm>
              <a:prstGeom prst="rect">
                <a:avLst/>
              </a:prstGeom>
              <a:blipFill rotWithShape="1">
                <a:blip r:embed="rId4"/>
                <a:stretch>
                  <a:fillRect l="-605" t="-2732" b="-8743"/>
                </a:stretch>
              </a:blipFill>
            </p:spPr>
            <p:txBody>
              <a:bodyPr/>
              <a:lstStyle/>
              <a:p>
                <a:r>
                  <a:rPr lang="en-PH">
                    <a:noFill/>
                  </a:rPr>
                  <a:t> </a:t>
                </a:r>
              </a:p>
            </p:txBody>
          </p:sp>
        </mc:Fallback>
      </mc:AlternateContent>
      <p:pic>
        <p:nvPicPr>
          <p:cNvPr id="6147" name="Picture 7"/>
          <p:cNvPicPr>
            <a:picLocks noChangeAspect="1" noChangeArrowheads="1"/>
          </p:cNvPicPr>
          <p:nvPr/>
        </p:nvPicPr>
        <p:blipFill>
          <a:blip r:embed="rId5" cstate="screen">
            <a:extLst>
              <a:ext uri="{28A0092B-C50C-407E-A947-70E740481C1C}">
                <a14:useLocalDpi xmlns:a14="http://schemas.microsoft.com/office/drawing/2010/main"/>
              </a:ext>
            </a:extLst>
          </a:blip>
          <a:srcRect l="48671" r="27425"/>
          <a:stretch>
            <a:fillRect/>
          </a:stretch>
        </p:blipFill>
        <p:spPr bwMode="auto">
          <a:xfrm>
            <a:off x="4845257" y="460746"/>
            <a:ext cx="990321" cy="4434727"/>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164</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9113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541111" y="275792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237997" y="284470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52161" y="1295"/>
            <a:ext cx="1051391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4.6.5 Try It: Representing the Real World with Positive and Negative Values</a:t>
            </a:r>
          </a:p>
        </p:txBody>
      </p:sp>
      <p:pic>
        <p:nvPicPr>
          <p:cNvPr id="9" name="Picture 2">
            <a:extLst>
              <a:ext uri="{FF2B5EF4-FFF2-40B4-BE49-F238E27FC236}">
                <a16:creationId xmlns=""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28821" y="28924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0AB6A3A1-5A0D-C84F-AC89-57E6782F43E5}"/>
                  </a:ext>
                </a:extLst>
              </p:cNvPr>
              <p:cNvSpPr txBox="1"/>
              <p:nvPr/>
            </p:nvSpPr>
            <p:spPr>
              <a:xfrm>
                <a:off x="531102" y="1473378"/>
                <a:ext cx="10973318" cy="3919343"/>
              </a:xfrm>
              <a:prstGeom prst="rect">
                <a:avLst/>
              </a:prstGeom>
              <a:noFill/>
            </p:spPr>
            <p:txBody>
              <a:bodyPr wrap="square" rtlCol="0">
                <a:spAutoFit/>
              </a:bodyPr>
              <a:lstStyle/>
              <a:p>
                <a:pPr marL="457200" indent="-457200">
                  <a:lnSpc>
                    <a:spcPct val="105000"/>
                  </a:lnSpc>
                  <a:spcBef>
                    <a:spcPts val="300"/>
                  </a:spcBef>
                  <a:spcAft>
                    <a:spcPts val="1200"/>
                  </a:spcAft>
                  <a:buFont typeface="+mj-lt"/>
                  <a:buAutoNum type="arabicPeriod"/>
                  <a:tabLst>
                    <a:tab pos="255905" algn="l"/>
                    <a:tab pos="457200" algn="l"/>
                  </a:tabLst>
                </a:pPr>
                <a:r>
                  <a:rPr lang="en-US" sz="2400" dirty="0">
                    <a:solidFill>
                      <a:srgbClr val="231F20"/>
                    </a:solidFill>
                    <a:latin typeface="Verdana" pitchFamily="34" charset="0"/>
                    <a:ea typeface="Verdana" pitchFamily="34" charset="0"/>
                    <a:cs typeface="Myriad Pro"/>
                  </a:rPr>
                  <a:t>In a bank account, every time money is added or taken out of the account, a new balance is calculated. What does each of the following mean?</a:t>
                </a:r>
                <a:endParaRPr lang="en-PH" sz="2400" dirty="0">
                  <a:solidFill>
                    <a:srgbClr val="231F20"/>
                  </a:solidFill>
                  <a:latin typeface="Verdana" pitchFamily="34" charset="0"/>
                  <a:ea typeface="Verdana" pitchFamily="34" charset="0"/>
                  <a:cs typeface="Myriad Pro"/>
                </a:endParaRPr>
              </a:p>
              <a:p>
                <a:pPr marL="893763" indent="-441325">
                  <a:lnSpc>
                    <a:spcPct val="105000"/>
                  </a:lnSpc>
                  <a:spcBef>
                    <a:spcPts val="300"/>
                  </a:spcBef>
                  <a:buFont typeface="+mj-lt"/>
                  <a:buAutoNum type="alphaLcPeriod"/>
                  <a:tabLst>
                    <a:tab pos="255905" algn="l"/>
                    <a:tab pos="457200" algn="l"/>
                  </a:tabLst>
                </a:pPr>
                <a:r>
                  <a:rPr lang="en-US" sz="2400" dirty="0">
                    <a:latin typeface="Verdana" pitchFamily="34" charset="0"/>
                    <a:ea typeface="Verdana" pitchFamily="34" charset="0"/>
                  </a:rPr>
                  <a:t>an account balance of </a:t>
                </a:r>
                <a14:m>
                  <m:oMath xmlns:m="http://schemas.openxmlformats.org/officeDocument/2006/math">
                    <m:r>
                      <a:rPr lang="en-US" sz="2400" i="1">
                        <a:latin typeface="Cambria Math"/>
                      </a:rPr>
                      <m:t>−$23.56</m:t>
                    </m:r>
                  </m:oMath>
                </a14:m>
                <a:r>
                  <a:rPr lang="en-US" sz="2400" dirty="0">
                    <a:latin typeface="Verdana" pitchFamily="34" charset="0"/>
                    <a:ea typeface="Verdana" pitchFamily="34" charset="0"/>
                  </a:rPr>
                  <a:t> </a:t>
                </a:r>
                <a:endParaRPr lang="en-PH" sz="2400" dirty="0">
                  <a:latin typeface="Verdana" pitchFamily="34" charset="0"/>
                  <a:ea typeface="Verdana" pitchFamily="34" charset="0"/>
                </a:endParaRPr>
              </a:p>
              <a:p>
                <a:pPr marL="893763" indent="-441325">
                  <a:lnSpc>
                    <a:spcPct val="300000"/>
                  </a:lnSpc>
                  <a:spcBef>
                    <a:spcPts val="300"/>
                  </a:spcBef>
                  <a:buFont typeface="+mj-lt"/>
                  <a:buAutoNum type="alphaLcPeriod"/>
                  <a:tabLst>
                    <a:tab pos="255905" algn="l"/>
                    <a:tab pos="457200" algn="l"/>
                  </a:tabLst>
                </a:pPr>
                <a:r>
                  <a:rPr lang="en-US" sz="2400" dirty="0">
                    <a:latin typeface="Verdana" pitchFamily="34" charset="0"/>
                    <a:ea typeface="Verdana" pitchFamily="34" charset="0"/>
                  </a:rPr>
                  <a:t>an account balance of </a:t>
                </a:r>
                <a14:m>
                  <m:oMath xmlns:m="http://schemas.openxmlformats.org/officeDocument/2006/math">
                    <m:r>
                      <a:rPr lang="en-US" sz="2400" i="1">
                        <a:latin typeface="Cambria Math"/>
                      </a:rPr>
                      <m:t>$143.21</m:t>
                    </m:r>
                  </m:oMath>
                </a14:m>
                <a:endParaRPr lang="en-PH" sz="2400" dirty="0">
                  <a:latin typeface="Verdana" pitchFamily="34" charset="0"/>
                  <a:ea typeface="Verdana" pitchFamily="34" charset="0"/>
                </a:endParaRPr>
              </a:p>
              <a:p>
                <a:pPr marL="893763" indent="-441325">
                  <a:lnSpc>
                    <a:spcPct val="300000"/>
                  </a:lnSpc>
                  <a:spcBef>
                    <a:spcPts val="300"/>
                  </a:spcBef>
                  <a:buFont typeface="+mj-lt"/>
                  <a:buAutoNum type="alphaLcPeriod"/>
                  <a:tabLst>
                    <a:tab pos="255905" algn="l"/>
                    <a:tab pos="457200" algn="l"/>
                  </a:tabLst>
                </a:pPr>
                <a:r>
                  <a:rPr lang="en-US" sz="2400" dirty="0">
                    <a:latin typeface="Verdana" pitchFamily="34" charset="0"/>
                    <a:ea typeface="Verdana" pitchFamily="34" charset="0"/>
                  </a:rPr>
                  <a:t>an account balance of </a:t>
                </a:r>
                <a14:m>
                  <m:oMath xmlns:m="http://schemas.openxmlformats.org/officeDocument/2006/math">
                    <m:r>
                      <a:rPr lang="en-US" sz="2400" i="1">
                        <a:latin typeface="Cambria Math"/>
                      </a:rPr>
                      <m:t>$0</m:t>
                    </m:r>
                  </m:oMath>
                </a14:m>
                <a:r>
                  <a:rPr lang="en-US" sz="2400" dirty="0">
                    <a:latin typeface="Verdana" pitchFamily="34" charset="0"/>
                    <a:ea typeface="Verdana" pitchFamily="34" charset="0"/>
                  </a:rPr>
                  <a:t> </a:t>
                </a:r>
                <a:endParaRPr lang="en-PH" sz="2400" dirty="0">
                  <a:latin typeface="Verdana" pitchFamily="34" charset="0"/>
                  <a:ea typeface="Verdana"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531102" y="1473378"/>
                <a:ext cx="10973318" cy="3919343"/>
              </a:xfrm>
              <a:prstGeom prst="rect">
                <a:avLst/>
              </a:prstGeom>
              <a:blipFill rotWithShape="1">
                <a:blip r:embed="rId4"/>
                <a:stretch>
                  <a:fillRect l="-833" t="-1711" r="-444" b="-2488"/>
                </a:stretch>
              </a:blipFill>
            </p:spPr>
            <p:txBody>
              <a:bodyPr/>
              <a:lstStyle/>
              <a:p>
                <a:r>
                  <a:rPr lang="en-PH">
                    <a:noFill/>
                  </a:rPr>
                  <a:t> </a:t>
                </a:r>
              </a:p>
            </p:txBody>
          </p:sp>
        </mc:Fallback>
      </mc:AlternateContent>
      <p:sp>
        <p:nvSpPr>
          <p:cNvPr id="12"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22347CCE-34A7-8044-BA67-B5895157AE55}"/>
                  </a:ext>
                </a:extLst>
              </p:cNvPr>
              <p:cNvSpPr txBox="1"/>
              <p:nvPr/>
            </p:nvSpPr>
            <p:spPr>
              <a:xfrm>
                <a:off x="530523" y="384223"/>
                <a:ext cx="11065708" cy="4339650"/>
              </a:xfrm>
              <a:prstGeom prst="rect">
                <a:avLst/>
              </a:prstGeom>
              <a:noFill/>
            </p:spPr>
            <p:txBody>
              <a:bodyPr wrap="square" rtlCol="0">
                <a:spAutoFit/>
              </a:bodyPr>
              <a:lstStyle/>
              <a:p>
                <a:pPr marL="457200" indent="-457200">
                  <a:spcAft>
                    <a:spcPts val="1200"/>
                  </a:spcAft>
                  <a:buFont typeface="+mj-lt"/>
                  <a:buAutoNum type="arabicPeriod" startAt="2"/>
                </a:pPr>
                <a:r>
                  <a:rPr lang="en-US" sz="2400" dirty="0">
                    <a:latin typeface="Verdana" pitchFamily="34" charset="0"/>
                    <a:ea typeface="Verdana" pitchFamily="34" charset="0"/>
                  </a:rPr>
                  <a:t>The change in position of the ball during each play of a football game is measured in yards. </a:t>
                </a:r>
              </a:p>
              <a:p>
                <a:pPr marL="893763" indent="-441325">
                  <a:spcAft>
                    <a:spcPts val="1200"/>
                  </a:spcAft>
                  <a:buFont typeface="+mj-lt"/>
                  <a:buAutoNum type="alphaLcPeriod"/>
                </a:pPr>
                <a:r>
                  <a:rPr lang="en-US" sz="2400" dirty="0">
                    <a:latin typeface="Verdana" pitchFamily="34" charset="0"/>
                    <a:ea typeface="Verdana" pitchFamily="34" charset="0"/>
                  </a:rPr>
                  <a:t>What integer best represents a gain of </a:t>
                </a:r>
                <a14:m>
                  <m:oMath xmlns:m="http://schemas.openxmlformats.org/officeDocument/2006/math">
                    <m:r>
                      <a:rPr lang="en-US" sz="2400" i="1">
                        <a:latin typeface="Cambria Math"/>
                      </a:rPr>
                      <m:t>5</m:t>
                    </m:r>
                  </m:oMath>
                </a14:m>
                <a:r>
                  <a:rPr lang="en-US" sz="2400" dirty="0">
                    <a:latin typeface="Verdana" pitchFamily="34" charset="0"/>
                    <a:ea typeface="Verdana" pitchFamily="34" charset="0"/>
                  </a:rPr>
                  <a:t> yards?</a:t>
                </a:r>
              </a:p>
              <a:p>
                <a:pPr marL="893763" indent="-441325">
                  <a:spcAft>
                    <a:spcPts val="1200"/>
                  </a:spcAft>
                  <a:buFont typeface="+mj-lt"/>
                  <a:buAutoNum type="alphaLcPeriod"/>
                </a:pPr>
                <a:endParaRPr lang="en-PH" sz="2400" dirty="0">
                  <a:latin typeface="Verdana" pitchFamily="34" charset="0"/>
                  <a:ea typeface="Verdana" pitchFamily="34" charset="0"/>
                </a:endParaRPr>
              </a:p>
              <a:p>
                <a:pPr marL="893763" indent="-441325">
                  <a:spcAft>
                    <a:spcPts val="1200"/>
                  </a:spcAft>
                  <a:buFont typeface="+mj-lt"/>
                  <a:buAutoNum type="alphaLcPeriod"/>
                </a:pPr>
                <a:r>
                  <a:rPr lang="en-US" sz="2400" dirty="0">
                    <a:latin typeface="Verdana" pitchFamily="34" charset="0"/>
                    <a:ea typeface="Verdana" pitchFamily="34" charset="0"/>
                  </a:rPr>
                  <a:t>What integer best represents a loss of </a:t>
                </a:r>
                <a14:m>
                  <m:oMath xmlns:m="http://schemas.openxmlformats.org/officeDocument/2006/math">
                    <m:r>
                      <a:rPr lang="en-US" sz="2400" i="1">
                        <a:latin typeface="Cambria Math"/>
                      </a:rPr>
                      <m:t>15</m:t>
                    </m:r>
                  </m:oMath>
                </a14:m>
                <a:r>
                  <a:rPr lang="en-US" sz="2400" dirty="0">
                    <a:latin typeface="Verdana" pitchFamily="34" charset="0"/>
                    <a:ea typeface="Verdana" pitchFamily="34" charset="0"/>
                  </a:rPr>
                  <a:t> yards?</a:t>
                </a:r>
                <a:endParaRPr lang="en-PH" sz="2400" dirty="0">
                  <a:latin typeface="Verdana" pitchFamily="34" charset="0"/>
                  <a:ea typeface="Verdana" pitchFamily="34" charset="0"/>
                </a:endParaRPr>
              </a:p>
              <a:p>
                <a:pPr marL="893763" indent="-441325">
                  <a:spcAft>
                    <a:spcPts val="1200"/>
                  </a:spcAft>
                  <a:buFont typeface="+mj-lt"/>
                  <a:buAutoNum type="alphaLcPeriod"/>
                </a:pPr>
                <a:endParaRPr lang="en-US" sz="2400" dirty="0">
                  <a:latin typeface="Verdana" pitchFamily="34" charset="0"/>
                  <a:ea typeface="Verdana" pitchFamily="34" charset="0"/>
                </a:endParaRPr>
              </a:p>
              <a:p>
                <a:pPr marL="893763" indent="-441325">
                  <a:spcAft>
                    <a:spcPts val="1200"/>
                  </a:spcAft>
                  <a:buFont typeface="+mj-lt"/>
                  <a:buAutoNum type="alphaLcPeriod"/>
                </a:pPr>
                <a:r>
                  <a:rPr lang="en-US" sz="2400" dirty="0">
                    <a:latin typeface="Verdana" pitchFamily="34" charset="0"/>
                    <a:ea typeface="Verdana" pitchFamily="34" charset="0"/>
                  </a:rPr>
                  <a:t>What does the number </a:t>
                </a:r>
                <a14:m>
                  <m:oMath xmlns:m="http://schemas.openxmlformats.org/officeDocument/2006/math">
                    <m:r>
                      <a:rPr lang="en-US" sz="2400" i="1">
                        <a:latin typeface="Cambria Math"/>
                      </a:rPr>
                      <m:t>0</m:t>
                    </m:r>
                  </m:oMath>
                </a14:m>
                <a:r>
                  <a:rPr lang="en-US" sz="2400" dirty="0">
                    <a:latin typeface="Verdana" pitchFamily="34" charset="0"/>
                    <a:ea typeface="Verdana" pitchFamily="34" charset="0"/>
                  </a:rPr>
                  <a:t> represent in this context? </a:t>
                </a:r>
                <a:endParaRPr lang="en-PH" sz="2400" dirty="0">
                  <a:latin typeface="Verdana" pitchFamily="34" charset="0"/>
                  <a:ea typeface="Verdana" pitchFamily="34" charset="0"/>
                </a:endParaRPr>
              </a:p>
              <a:p>
                <a:pPr marL="893763" indent="-441325">
                  <a:buFont typeface="+mj-lt"/>
                  <a:buAutoNum type="alphaLcPeriod"/>
                </a:pPr>
                <a:endParaRPr lang="en-US" sz="2400" dirty="0">
                  <a:latin typeface="Verdana" pitchFamily="34" charset="0"/>
                  <a:ea typeface="Verdana" pitchFamily="34" charset="0"/>
                </a:endParaRPr>
              </a:p>
              <a:p>
                <a:pPr marL="893763" indent="-441325">
                  <a:buFont typeface="+mj-lt"/>
                  <a:buAutoNum type="alphaLcPeriod"/>
                </a:pPr>
                <a:r>
                  <a:rPr lang="en-US" sz="2400" dirty="0">
                    <a:latin typeface="Verdana" pitchFamily="34" charset="0"/>
                    <a:ea typeface="Verdana" pitchFamily="34" charset="0"/>
                  </a:rPr>
                  <a:t>Plot all three values on the number line. </a:t>
                </a:r>
                <a:endParaRPr lang="en-PH" sz="2400" dirty="0">
                  <a:latin typeface="Verdana" pitchFamily="34" charset="0"/>
                  <a:ea typeface="Verdana" pitchFamily="34" charset="0"/>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530523" y="384223"/>
                <a:ext cx="11065708" cy="4339650"/>
              </a:xfrm>
              <a:prstGeom prst="rect">
                <a:avLst/>
              </a:prstGeom>
              <a:blipFill rotWithShape="1">
                <a:blip r:embed="rId3"/>
                <a:stretch>
                  <a:fillRect l="-826" t="-1124" b="-2247"/>
                </a:stretch>
              </a:blipFill>
            </p:spPr>
            <p:txBody>
              <a:bodyPr/>
              <a:lstStyle/>
              <a:p>
                <a:r>
                  <a:rPr lang="en-PH">
                    <a:noFill/>
                  </a:rPr>
                  <a:t> </a:t>
                </a:r>
              </a:p>
            </p:txBody>
          </p:sp>
        </mc:Fallback>
      </mc:AlternateContent>
      <p:pic>
        <p:nvPicPr>
          <p:cNvPr id="6" name="Picture 5"/>
          <p:cNvPicPr/>
          <p:nvPr/>
        </p:nvPicPr>
        <p:blipFill>
          <a:blip r:embed="rId4">
            <a:extLst>
              <a:ext uri="{28A0092B-C50C-407E-A947-70E740481C1C}">
                <a14:useLocalDpi xmlns:a14="http://schemas.microsoft.com/office/drawing/2010/main"/>
              </a:ext>
            </a:extLst>
          </a:blip>
          <a:stretch>
            <a:fillRect/>
          </a:stretch>
        </p:blipFill>
        <p:spPr>
          <a:xfrm>
            <a:off x="3251597" y="5294373"/>
            <a:ext cx="5623560" cy="468630"/>
          </a:xfrm>
          <a:prstGeom prst="rect">
            <a:avLst/>
          </a:prstGeom>
        </p:spPr>
      </p:pic>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165</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22347CCE-34A7-8044-BA67-B5895157AE55}"/>
                  </a:ext>
                </a:extLst>
              </p:cNvPr>
              <p:cNvSpPr txBox="1"/>
              <p:nvPr/>
            </p:nvSpPr>
            <p:spPr>
              <a:xfrm>
                <a:off x="529813" y="385218"/>
                <a:ext cx="11089459" cy="1643527"/>
              </a:xfrm>
              <a:prstGeom prst="rect">
                <a:avLst/>
              </a:prstGeom>
              <a:noFill/>
            </p:spPr>
            <p:txBody>
              <a:bodyPr wrap="square" rtlCol="0">
                <a:spAutoFit/>
              </a:bodyPr>
              <a:lstStyle/>
              <a:p>
                <a:pPr marL="457200" indent="-457200">
                  <a:lnSpc>
                    <a:spcPct val="105000"/>
                  </a:lnSpc>
                  <a:spcBef>
                    <a:spcPts val="300"/>
                  </a:spcBef>
                  <a:buSzPct val="100000"/>
                  <a:buFont typeface="+mj-lt"/>
                  <a:buAutoNum type="arabicPeriod" startAt="3"/>
                  <a:tabLst>
                    <a:tab pos="255905" algn="l"/>
                    <a:tab pos="457200" algn="l"/>
                  </a:tabLst>
                </a:pPr>
                <a:r>
                  <a:rPr lang="en-US" sz="2400" dirty="0">
                    <a:solidFill>
                      <a:srgbClr val="231F20"/>
                    </a:solidFill>
                    <a:latin typeface="Verdana"/>
                    <a:ea typeface="Myriad Pro"/>
                    <a:cs typeface="Myriad Pro"/>
                  </a:rPr>
                  <a:t>The average monthly rainfall for a city was calculated based on records kept over the past </a:t>
                </a:r>
                <a14:m>
                  <m:oMath xmlns:m="http://schemas.openxmlformats.org/officeDocument/2006/math">
                    <m:r>
                      <a:rPr lang="en-US" sz="2400" i="1">
                        <a:solidFill>
                          <a:srgbClr val="231F20"/>
                        </a:solidFill>
                        <a:latin typeface="Cambria Math"/>
                        <a:ea typeface="Myriad Pro"/>
                        <a:cs typeface="Myriad Pro"/>
                      </a:rPr>
                      <m:t>50</m:t>
                    </m:r>
                  </m:oMath>
                </a14:m>
                <a:r>
                  <a:rPr lang="en-US" sz="2400" dirty="0">
                    <a:solidFill>
                      <a:srgbClr val="231F20"/>
                    </a:solidFill>
                    <a:latin typeface="Verdana"/>
                    <a:ea typeface="Myriad Pro"/>
                    <a:cs typeface="Myriad Pro"/>
                  </a:rPr>
                  <a:t> years. The chart shows the difference between the average monthly rainfall and the rainfall amount this year for these months. </a:t>
                </a:r>
                <a:endParaRPr lang="en-PH" sz="1100" dirty="0">
                  <a:solidFill>
                    <a:srgbClr val="231F20"/>
                  </a:solidFill>
                  <a:latin typeface="Calibri"/>
                  <a:ea typeface="Myriad Pro"/>
                  <a:cs typeface="Myriad Pro"/>
                </a:endParaRPr>
              </a:p>
            </p:txBody>
          </p:sp>
        </mc:Choice>
        <mc:Fallback xmlns="">
          <p:sp>
            <p:nvSpPr>
              <p:cNvPr id="5" name="TextBox 4">
                <a:extLst>
                  <a:ext uri="{FF2B5EF4-FFF2-40B4-BE49-F238E27FC236}">
                    <a16:creationId xmlns:a16="http://schemas.microsoft.com/office/drawing/2014/main" xmlns:a14="http://schemas.microsoft.com/office/drawing/2010/main" xmlns="" id="{22347CCE-34A7-8044-BA67-B5895157AE55}"/>
                  </a:ext>
                </a:extLst>
              </p:cNvPr>
              <p:cNvSpPr txBox="1">
                <a:spLocks noRot="1" noChangeAspect="1" noMove="1" noResize="1" noEditPoints="1" noAdjustHandles="1" noChangeArrowheads="1" noChangeShapeType="1" noTextEdit="1"/>
              </p:cNvSpPr>
              <p:nvPr/>
            </p:nvSpPr>
            <p:spPr>
              <a:xfrm>
                <a:off x="529813" y="385218"/>
                <a:ext cx="11089459" cy="1643527"/>
              </a:xfrm>
              <a:prstGeom prst="rect">
                <a:avLst/>
              </a:prstGeom>
              <a:blipFill rotWithShape="1">
                <a:blip r:embed="rId3"/>
                <a:stretch>
                  <a:fillRect l="-880" t="-4074" r="-1429" b="-5185"/>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708346709"/>
                  </p:ext>
                </p:extLst>
              </p:nvPr>
            </p:nvGraphicFramePr>
            <p:xfrm>
              <a:off x="2556082" y="2156499"/>
              <a:ext cx="6840000" cy="3876040"/>
            </p:xfrm>
            <a:graphic>
              <a:graphicData uri="http://schemas.openxmlformats.org/drawingml/2006/table">
                <a:tbl>
                  <a:tblPr firstRow="1" firstCol="1" bandRow="1"/>
                  <a:tblGrid>
                    <a:gridCol w="2160000">
                      <a:extLst>
                        <a:ext uri="{9D8B030D-6E8A-4147-A177-3AD203B41FA5}">
                          <a16:colId xmlns="" xmlns:a16="http://schemas.microsoft.com/office/drawing/2014/main" val="20000"/>
                        </a:ext>
                      </a:extLst>
                    </a:gridCol>
                    <a:gridCol w="4680000">
                      <a:extLst>
                        <a:ext uri="{9D8B030D-6E8A-4147-A177-3AD203B41FA5}">
                          <a16:colId xmlns="" xmlns:a16="http://schemas.microsoft.com/office/drawing/2014/main" val="20001"/>
                        </a:ext>
                      </a:extLst>
                    </a:gridCol>
                  </a:tblGrid>
                  <a:tr h="471805">
                    <a:tc>
                      <a:txBody>
                        <a:bodyPr/>
                        <a:lstStyle/>
                        <a:p>
                          <a:pPr algn="ctr">
                            <a:spcAft>
                              <a:spcPts val="0"/>
                            </a:spcAft>
                          </a:pPr>
                          <a:r>
                            <a:rPr lang="en-US" sz="2000" b="1" dirty="0">
                              <a:effectLst/>
                              <a:latin typeface="Verdana" pitchFamily="34" charset="0"/>
                              <a:ea typeface="Verdana" pitchFamily="34" charset="0"/>
                              <a:cs typeface="Times New Roman"/>
                            </a:rPr>
                            <a:t>Month</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Difference From Monthly Average (in inches)</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0000"/>
                      </a:ext>
                    </a:extLst>
                  </a:tr>
                  <a:tr h="600037">
                    <a:tc>
                      <a:txBody>
                        <a:bodyPr/>
                        <a:lstStyle/>
                        <a:p>
                          <a:pPr algn="ctr">
                            <a:spcAft>
                              <a:spcPts val="0"/>
                            </a:spcAft>
                          </a:pPr>
                          <a:r>
                            <a:rPr lang="en-US" sz="2000" dirty="0">
                              <a:effectLst/>
                              <a:latin typeface="Verdana" pitchFamily="34" charset="0"/>
                              <a:ea typeface="Verdana" pitchFamily="34" charset="0"/>
                              <a:cs typeface="Times New Roman"/>
                            </a:rPr>
                            <a:t>January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−2</m:t>
                                </m:r>
                                <m:f>
                                  <m:fPr>
                                    <m:ctrlPr>
                                      <a:rPr lang="en-PH" sz="2000" i="1">
                                        <a:effectLst/>
                                        <a:latin typeface="Cambria Math"/>
                                        <a:ea typeface="Times New Roman"/>
                                        <a:cs typeface="Times New Roman"/>
                                      </a:rPr>
                                    </m:ctrlPr>
                                  </m:fPr>
                                  <m:num>
                                    <m:r>
                                      <a:rPr lang="en-US" sz="2000" i="1">
                                        <a:effectLst/>
                                        <a:latin typeface="Cambria Math"/>
                                        <a:ea typeface="Times New Roman"/>
                                        <a:cs typeface="Times New Roman"/>
                                      </a:rPr>
                                      <m:t>3</m:t>
                                    </m:r>
                                  </m:num>
                                  <m:den>
                                    <m:r>
                                      <a:rPr lang="en-US" sz="2000" i="1">
                                        <a:effectLst/>
                                        <a:latin typeface="Cambria Math"/>
                                        <a:ea typeface="Times New Roman"/>
                                        <a:cs typeface="Times New Roman"/>
                                      </a:rPr>
                                      <m:t>4</m:t>
                                    </m:r>
                                  </m:den>
                                </m:f>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715010">
                    <a:tc>
                      <a:txBody>
                        <a:bodyPr/>
                        <a:lstStyle/>
                        <a:p>
                          <a:pPr algn="ctr">
                            <a:spcAft>
                              <a:spcPts val="0"/>
                            </a:spcAft>
                          </a:pPr>
                          <a:r>
                            <a:rPr lang="en-US" sz="2000">
                              <a:effectLst/>
                              <a:latin typeface="Verdana" pitchFamily="34" charset="0"/>
                              <a:ea typeface="Verdana" pitchFamily="34" charset="0"/>
                              <a:cs typeface="Times New Roman"/>
                            </a:rPr>
                            <a:t>February</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1</m:t>
                                </m:r>
                                <m:f>
                                  <m:fPr>
                                    <m:ctrlPr>
                                      <a:rPr lang="en-PH" sz="2000" i="1">
                                        <a:effectLst/>
                                        <a:latin typeface="Cambria Math"/>
                                        <a:ea typeface="Times New Roman"/>
                                        <a:cs typeface="Times New Roman"/>
                                      </a:rPr>
                                    </m:ctrlPr>
                                  </m:fPr>
                                  <m:num>
                                    <m:r>
                                      <a:rPr lang="en-US" sz="2000" i="1">
                                        <a:effectLst/>
                                        <a:latin typeface="Cambria Math"/>
                                        <a:ea typeface="Times New Roman"/>
                                        <a:cs typeface="Times New Roman"/>
                                      </a:rPr>
                                      <m:t>5</m:t>
                                    </m:r>
                                  </m:num>
                                  <m:den>
                                    <m:r>
                                      <a:rPr lang="en-US" sz="2000" i="1">
                                        <a:effectLst/>
                                        <a:latin typeface="Cambria Math"/>
                                        <a:ea typeface="Times New Roman"/>
                                        <a:cs typeface="Times New Roman"/>
                                      </a:rPr>
                                      <m:t>8</m:t>
                                    </m:r>
                                  </m:den>
                                </m:f>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471805">
                    <a:tc>
                      <a:txBody>
                        <a:bodyPr/>
                        <a:lstStyle/>
                        <a:p>
                          <a:pPr algn="ctr">
                            <a:spcAft>
                              <a:spcPts val="0"/>
                            </a:spcAft>
                          </a:pPr>
                          <a:r>
                            <a:rPr lang="en-US" sz="2000" dirty="0">
                              <a:effectLst/>
                              <a:latin typeface="Verdana" pitchFamily="34" charset="0"/>
                              <a:ea typeface="Verdana" pitchFamily="34" charset="0"/>
                              <a:cs typeface="Times New Roman"/>
                            </a:rPr>
                            <a:t>March</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0</m:t>
                                </m:r>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r h="590550">
                    <a:tc>
                      <a:txBody>
                        <a:bodyPr/>
                        <a:lstStyle/>
                        <a:p>
                          <a:pPr algn="ctr">
                            <a:spcAft>
                              <a:spcPts val="0"/>
                            </a:spcAft>
                          </a:pPr>
                          <a:r>
                            <a:rPr lang="en-US" sz="2000">
                              <a:effectLst/>
                              <a:latin typeface="Verdana" pitchFamily="34" charset="0"/>
                              <a:ea typeface="Verdana" pitchFamily="34" charset="0"/>
                              <a:cs typeface="Times New Roman"/>
                            </a:rPr>
                            <a:t>April</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m:t>
                                </m:r>
                                <m:f>
                                  <m:fPr>
                                    <m:ctrlPr>
                                      <a:rPr lang="en-PH" sz="2000" i="1">
                                        <a:effectLst/>
                                        <a:latin typeface="Cambria Math"/>
                                        <a:ea typeface="Times New Roman"/>
                                        <a:cs typeface="Times New Roman"/>
                                      </a:rPr>
                                    </m:ctrlPr>
                                  </m:fPr>
                                  <m:num>
                                    <m:r>
                                      <a:rPr lang="en-US" sz="2000" i="1">
                                        <a:effectLst/>
                                        <a:latin typeface="Cambria Math"/>
                                        <a:ea typeface="Times New Roman"/>
                                        <a:cs typeface="Times New Roman"/>
                                      </a:rPr>
                                      <m:t>3</m:t>
                                    </m:r>
                                  </m:num>
                                  <m:den>
                                    <m:r>
                                      <a:rPr lang="en-US" sz="2000" i="1">
                                        <a:effectLst/>
                                        <a:latin typeface="Cambria Math"/>
                                        <a:ea typeface="Times New Roman"/>
                                        <a:cs typeface="Times New Roman"/>
                                      </a:rPr>
                                      <m:t>8</m:t>
                                    </m:r>
                                  </m:den>
                                </m:f>
                              </m:oMath>
                            </m:oMathPara>
                          </a14:m>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4"/>
                      </a:ext>
                    </a:extLst>
                  </a:tr>
                  <a:tr h="590550">
                    <a:tc>
                      <a:txBody>
                        <a:bodyPr/>
                        <a:lstStyle/>
                        <a:p>
                          <a:pPr algn="ctr">
                            <a:spcAft>
                              <a:spcPts val="0"/>
                            </a:spcAft>
                          </a:pPr>
                          <a:r>
                            <a:rPr lang="en-US" sz="2000" dirty="0">
                              <a:effectLst/>
                              <a:latin typeface="Verdana" pitchFamily="34" charset="0"/>
                              <a:ea typeface="Verdana" pitchFamily="34" charset="0"/>
                              <a:cs typeface="Times New Roman"/>
                            </a:rPr>
                            <a:t>May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Times New Roman"/>
                                    <a:cs typeface="Times New Roman"/>
                                  </a:rPr>
                                  <m:t>4</m:t>
                                </m:r>
                                <m:f>
                                  <m:fPr>
                                    <m:ctrlPr>
                                      <a:rPr lang="en-PH" sz="2000" i="1">
                                        <a:effectLst/>
                                        <a:latin typeface="Cambria Math"/>
                                        <a:ea typeface="Times New Roman"/>
                                        <a:cs typeface="Times New Roman"/>
                                      </a:rPr>
                                    </m:ctrlPr>
                                  </m:fPr>
                                  <m:num>
                                    <m:r>
                                      <a:rPr lang="en-US" sz="2000" i="1">
                                        <a:effectLst/>
                                        <a:latin typeface="Cambria Math"/>
                                        <a:ea typeface="Times New Roman"/>
                                        <a:cs typeface="Times New Roman"/>
                                      </a:rPr>
                                      <m:t>1</m:t>
                                    </m:r>
                                  </m:num>
                                  <m:den>
                                    <m:r>
                                      <a:rPr lang="en-US" sz="2000" i="1">
                                        <a:effectLst/>
                                        <a:latin typeface="Cambria Math"/>
                                        <a:ea typeface="Times New Roman"/>
                                        <a:cs typeface="Times New Roman"/>
                                      </a:rPr>
                                      <m:t>4</m:t>
                                    </m:r>
                                  </m:den>
                                </m:f>
                              </m:oMath>
                            </m:oMathPara>
                          </a14:m>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708346709"/>
                  </p:ext>
                </p:extLst>
              </p:nvPr>
            </p:nvGraphicFramePr>
            <p:xfrm>
              <a:off x="2556082" y="2156499"/>
              <a:ext cx="6840000" cy="3876040"/>
            </p:xfrm>
            <a:graphic>
              <a:graphicData uri="http://schemas.openxmlformats.org/drawingml/2006/table">
                <a:tbl>
                  <a:tblPr firstRow="1" firstCol="1" bandRow="1"/>
                  <a:tblGrid>
                    <a:gridCol w="2160000">
                      <a:extLst>
                        <a:ext uri="{9D8B030D-6E8A-4147-A177-3AD203B41FA5}">
                          <a16:colId xmlns:a16="http://schemas.microsoft.com/office/drawing/2014/main" xmlns:a14="http://schemas.microsoft.com/office/drawing/2010/main" xmlns="" val="20000"/>
                        </a:ext>
                      </a:extLst>
                    </a:gridCol>
                    <a:gridCol w="4680000">
                      <a:extLst>
                        <a:ext uri="{9D8B030D-6E8A-4147-A177-3AD203B41FA5}">
                          <a16:colId xmlns:a16="http://schemas.microsoft.com/office/drawing/2014/main" xmlns:a14="http://schemas.microsoft.com/office/drawing/2010/main" xmlns="" val="20001"/>
                        </a:ext>
                      </a:extLst>
                    </a:gridCol>
                  </a:tblGrid>
                  <a:tr h="701040">
                    <a:tc>
                      <a:txBody>
                        <a:bodyPr/>
                        <a:lstStyle/>
                        <a:p>
                          <a:pPr algn="ctr">
                            <a:spcAft>
                              <a:spcPts val="0"/>
                            </a:spcAft>
                          </a:pPr>
                          <a:r>
                            <a:rPr lang="en-US" sz="2000" b="1" dirty="0">
                              <a:effectLst/>
                              <a:latin typeface="Verdana" pitchFamily="34" charset="0"/>
                              <a:ea typeface="Verdana" pitchFamily="34" charset="0"/>
                              <a:cs typeface="Times New Roman"/>
                            </a:rPr>
                            <a:t>Month</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Times New Roman"/>
                            </a:rPr>
                            <a:t>Difference From Monthly Average (in inches)</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662051">
                    <a:tc>
                      <a:txBody>
                        <a:bodyPr/>
                        <a:lstStyle/>
                        <a:p>
                          <a:pPr algn="ctr">
                            <a:spcAft>
                              <a:spcPts val="0"/>
                            </a:spcAft>
                          </a:pPr>
                          <a:r>
                            <a:rPr lang="en-US" sz="2000" dirty="0">
                              <a:effectLst/>
                              <a:latin typeface="Verdana" pitchFamily="34" charset="0"/>
                              <a:ea typeface="Verdana" pitchFamily="34" charset="0"/>
                              <a:cs typeface="Times New Roman"/>
                            </a:rPr>
                            <a:t>January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6094" t="-110092" r="-130" b="-377982"/>
                          </a:stretch>
                        </a:blipFill>
                      </a:tcPr>
                    </a:tc>
                    <a:extLst>
                      <a:ext uri="{0D108BD9-81ED-4DB2-BD59-A6C34878D82A}">
                        <a16:rowId xmlns:a16="http://schemas.microsoft.com/office/drawing/2014/main" xmlns:a14="http://schemas.microsoft.com/office/drawing/2010/main" xmlns="" val="10001"/>
                      </a:ext>
                    </a:extLst>
                  </a:tr>
                  <a:tr h="715010">
                    <a:tc>
                      <a:txBody>
                        <a:bodyPr/>
                        <a:lstStyle/>
                        <a:p>
                          <a:pPr algn="ctr">
                            <a:spcAft>
                              <a:spcPts val="0"/>
                            </a:spcAft>
                          </a:pPr>
                          <a:r>
                            <a:rPr lang="en-US" sz="2000">
                              <a:effectLst/>
                              <a:latin typeface="Verdana" pitchFamily="34" charset="0"/>
                              <a:ea typeface="Verdana" pitchFamily="34" charset="0"/>
                              <a:cs typeface="Times New Roman"/>
                            </a:rPr>
                            <a:t>February</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6094" t="-195726" r="-130" b="-252137"/>
                          </a:stretch>
                        </a:blipFill>
                      </a:tcPr>
                    </a:tc>
                    <a:extLst>
                      <a:ext uri="{0D108BD9-81ED-4DB2-BD59-A6C34878D82A}">
                        <a16:rowId xmlns:a16="http://schemas.microsoft.com/office/drawing/2014/main" xmlns:a14="http://schemas.microsoft.com/office/drawing/2010/main" xmlns="" val="10002"/>
                      </a:ext>
                    </a:extLst>
                  </a:tr>
                  <a:tr h="471805">
                    <a:tc>
                      <a:txBody>
                        <a:bodyPr/>
                        <a:lstStyle/>
                        <a:p>
                          <a:pPr algn="ctr">
                            <a:spcAft>
                              <a:spcPts val="0"/>
                            </a:spcAft>
                          </a:pPr>
                          <a:r>
                            <a:rPr lang="en-US" sz="2000" dirty="0">
                              <a:effectLst/>
                              <a:latin typeface="Verdana" pitchFamily="34" charset="0"/>
                              <a:ea typeface="Verdana" pitchFamily="34" charset="0"/>
                              <a:cs typeface="Times New Roman"/>
                            </a:rPr>
                            <a:t>March</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6094" t="-449351" r="-130" b="-283117"/>
                          </a:stretch>
                        </a:blipFill>
                      </a:tcPr>
                    </a:tc>
                    <a:extLst>
                      <a:ext uri="{0D108BD9-81ED-4DB2-BD59-A6C34878D82A}">
                        <a16:rowId xmlns:a16="http://schemas.microsoft.com/office/drawing/2014/main" xmlns:a14="http://schemas.microsoft.com/office/drawing/2010/main" xmlns="" val="10003"/>
                      </a:ext>
                    </a:extLst>
                  </a:tr>
                  <a:tr h="664083">
                    <a:tc>
                      <a:txBody>
                        <a:bodyPr/>
                        <a:lstStyle/>
                        <a:p>
                          <a:pPr algn="ctr">
                            <a:spcAft>
                              <a:spcPts val="0"/>
                            </a:spcAft>
                          </a:pPr>
                          <a:r>
                            <a:rPr lang="en-US" sz="2000">
                              <a:effectLst/>
                              <a:latin typeface="Verdana" pitchFamily="34" charset="0"/>
                              <a:ea typeface="Verdana" pitchFamily="34" charset="0"/>
                              <a:cs typeface="Times New Roman"/>
                            </a:rPr>
                            <a:t>April</a:t>
                          </a:r>
                          <a:endParaRPr lang="en-PH" sz="200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6094" t="-388073" r="-130" b="-100000"/>
                          </a:stretch>
                        </a:blipFill>
                      </a:tcPr>
                    </a:tc>
                    <a:extLst>
                      <a:ext uri="{0D108BD9-81ED-4DB2-BD59-A6C34878D82A}">
                        <a16:rowId xmlns:a16="http://schemas.microsoft.com/office/drawing/2014/main" xmlns:a14="http://schemas.microsoft.com/office/drawing/2010/main" xmlns="" val="10004"/>
                      </a:ext>
                    </a:extLst>
                  </a:tr>
                  <a:tr h="662051">
                    <a:tc>
                      <a:txBody>
                        <a:bodyPr/>
                        <a:lstStyle/>
                        <a:p>
                          <a:pPr algn="ctr">
                            <a:spcAft>
                              <a:spcPts val="0"/>
                            </a:spcAft>
                          </a:pPr>
                          <a:r>
                            <a:rPr lang="en-US" sz="2000" dirty="0">
                              <a:effectLst/>
                              <a:latin typeface="Verdana" pitchFamily="34" charset="0"/>
                              <a:ea typeface="Verdana" pitchFamily="34" charset="0"/>
                              <a:cs typeface="Times New Roman"/>
                            </a:rPr>
                            <a:t>May</a:t>
                          </a:r>
                          <a:endParaRPr lang="en-PH" sz="2000" dirty="0">
                            <a:effectLst/>
                            <a:latin typeface="Verdana" pitchFamily="34" charset="0"/>
                            <a:ea typeface="Verdana" pitchFamily="34" charset="0"/>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6094" t="-488073" r="-130"/>
                          </a:stretch>
                        </a:blipFill>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2945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22347CCE-34A7-8044-BA67-B5895157AE55}"/>
              </a:ext>
            </a:extLst>
          </p:cNvPr>
          <p:cNvSpPr txBox="1"/>
          <p:nvPr/>
        </p:nvSpPr>
        <p:spPr>
          <a:xfrm>
            <a:off x="536255" y="376339"/>
            <a:ext cx="11089459" cy="1200329"/>
          </a:xfrm>
          <a:prstGeom prst="rect">
            <a:avLst/>
          </a:prstGeom>
          <a:noFill/>
        </p:spPr>
        <p:txBody>
          <a:bodyPr wrap="square" rtlCol="0">
            <a:spAutoFit/>
          </a:bodyPr>
          <a:lstStyle/>
          <a:p>
            <a:pPr marL="457200"/>
            <a:r>
              <a:rPr lang="en-US" sz="2400" dirty="0">
                <a:latin typeface="Verdana"/>
                <a:ea typeface="Times New Roman"/>
                <a:cs typeface="Times New Roman"/>
              </a:rPr>
              <a:t>Explain what the value in the chart means for the following months in the context of this problem. Then, plot and label each month’s value on the number line.</a:t>
            </a:r>
            <a:endParaRPr lang="en-PH" sz="1600" dirty="0">
              <a:latin typeface="Cambria"/>
              <a:ea typeface="Times New Roman"/>
              <a:cs typeface="Times New Roman"/>
            </a:endParaRPr>
          </a:p>
        </p:txBody>
      </p:sp>
      <p:graphicFrame>
        <p:nvGraphicFramePr>
          <p:cNvPr id="4" name="Table 3"/>
          <p:cNvGraphicFramePr>
            <a:graphicFrameLocks noGrp="1"/>
          </p:cNvGraphicFramePr>
          <p:nvPr>
            <p:extLst>
              <p:ext uri="{D42A27DB-BD31-4B8C-83A1-F6EECF244321}">
                <p14:modId xmlns:p14="http://schemas.microsoft.com/office/powerpoint/2010/main" val="2374408479"/>
              </p:ext>
            </p:extLst>
          </p:nvPr>
        </p:nvGraphicFramePr>
        <p:xfrm>
          <a:off x="2528570" y="1693684"/>
          <a:ext cx="7380000" cy="4320000"/>
        </p:xfrm>
        <a:graphic>
          <a:graphicData uri="http://schemas.openxmlformats.org/drawingml/2006/table">
            <a:tbl>
              <a:tblPr firstRow="1" firstCol="1" bandRow="1"/>
              <a:tblGrid>
                <a:gridCol w="2160000">
                  <a:extLst>
                    <a:ext uri="{9D8B030D-6E8A-4147-A177-3AD203B41FA5}">
                      <a16:colId xmlns="" xmlns:a16="http://schemas.microsoft.com/office/drawing/2014/main" val="20000"/>
                    </a:ext>
                  </a:extLst>
                </a:gridCol>
                <a:gridCol w="4320000">
                  <a:extLst>
                    <a:ext uri="{9D8B030D-6E8A-4147-A177-3AD203B41FA5}">
                      <a16:colId xmlns="" xmlns:a16="http://schemas.microsoft.com/office/drawing/2014/main" val="20001"/>
                    </a:ext>
                  </a:extLst>
                </a:gridCol>
                <a:gridCol w="900000">
                  <a:extLst>
                    <a:ext uri="{9D8B030D-6E8A-4147-A177-3AD203B41FA5}">
                      <a16:colId xmlns="" xmlns:a16="http://schemas.microsoft.com/office/drawing/2014/main" val="20002"/>
                    </a:ext>
                  </a:extLst>
                </a:gridCol>
              </a:tblGrid>
              <a:tr h="540000">
                <a:tc>
                  <a:txBody>
                    <a:bodyPr/>
                    <a:lstStyle/>
                    <a:p>
                      <a:pPr algn="ctr">
                        <a:spcAft>
                          <a:spcPts val="0"/>
                        </a:spcAft>
                      </a:pPr>
                      <a:r>
                        <a:rPr lang="en-US" sz="2000" b="1" dirty="0">
                          <a:effectLst/>
                          <a:latin typeface="Verdana"/>
                          <a:ea typeface="Times New Roman"/>
                          <a:cs typeface="Times New Roman"/>
                        </a:rPr>
                        <a:t>Month</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a:ea typeface="Times New Roman"/>
                          <a:cs typeface="Times New Roman"/>
                        </a:rPr>
                        <a:t>Interpretation</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rowSpan="4">
                  <a:txBody>
                    <a:bodyPr/>
                    <a:lstStyle/>
                    <a:p>
                      <a:pPr>
                        <a:spcAft>
                          <a:spcPts val="0"/>
                        </a:spcAft>
                      </a:pPr>
                      <a:endParaRPr lang="en-US" sz="2000" dirty="0">
                        <a:effectLst/>
                        <a:latin typeface="Verdana"/>
                        <a:ea typeface="Times New Roman"/>
                        <a:cs typeface="Times New Roman"/>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1260000">
                <a:tc>
                  <a:txBody>
                    <a:bodyPr/>
                    <a:lstStyle/>
                    <a:p>
                      <a:pPr algn="ctr">
                        <a:spcAft>
                          <a:spcPts val="0"/>
                        </a:spcAft>
                      </a:pPr>
                      <a:r>
                        <a:rPr lang="en-US" sz="2000" dirty="0">
                          <a:effectLst/>
                          <a:latin typeface="Verdana"/>
                          <a:ea typeface="Times New Roman"/>
                          <a:cs typeface="Times New Roman"/>
                        </a:rPr>
                        <a:t>February</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PH"/>
                    </a:p>
                  </a:txBody>
                  <a:tcPr/>
                </a:tc>
                <a:extLst>
                  <a:ext uri="{0D108BD9-81ED-4DB2-BD59-A6C34878D82A}">
                    <a16:rowId xmlns="" xmlns:a16="http://schemas.microsoft.com/office/drawing/2014/main" val="10001"/>
                  </a:ext>
                </a:extLst>
              </a:tr>
              <a:tr h="1260000">
                <a:tc>
                  <a:txBody>
                    <a:bodyPr/>
                    <a:lstStyle/>
                    <a:p>
                      <a:pPr algn="ctr">
                        <a:spcAft>
                          <a:spcPts val="0"/>
                        </a:spcAft>
                      </a:pPr>
                      <a:r>
                        <a:rPr lang="en-US" sz="2000">
                          <a:effectLst/>
                          <a:latin typeface="Verdana"/>
                          <a:ea typeface="Times New Roman"/>
                          <a:cs typeface="Times New Roman"/>
                        </a:rPr>
                        <a:t>March</a:t>
                      </a:r>
                      <a:endParaRPr lang="en-PH" sz="200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PH"/>
                    </a:p>
                  </a:txBody>
                  <a:tcPr/>
                </a:tc>
                <a:extLst>
                  <a:ext uri="{0D108BD9-81ED-4DB2-BD59-A6C34878D82A}">
                    <a16:rowId xmlns="" xmlns:a16="http://schemas.microsoft.com/office/drawing/2014/main" val="10002"/>
                  </a:ext>
                </a:extLst>
              </a:tr>
              <a:tr h="1260000">
                <a:tc>
                  <a:txBody>
                    <a:bodyPr/>
                    <a:lstStyle/>
                    <a:p>
                      <a:pPr algn="ctr">
                        <a:spcAft>
                          <a:spcPts val="0"/>
                        </a:spcAft>
                      </a:pPr>
                      <a:r>
                        <a:rPr lang="en-US" sz="2000">
                          <a:effectLst/>
                          <a:latin typeface="Verdana"/>
                          <a:ea typeface="Times New Roman"/>
                          <a:cs typeface="Times New Roman"/>
                        </a:rPr>
                        <a:t>April</a:t>
                      </a:r>
                      <a:endParaRPr lang="en-PH" sz="200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a:ea typeface="Times New Roman"/>
                          <a:cs typeface="Times New Roman"/>
                        </a:rPr>
                        <a:t> </a:t>
                      </a:r>
                      <a:endParaRPr lang="en-PH"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endParaRPr lang="en-PH"/>
                    </a:p>
                  </a:txBody>
                  <a:tcPr/>
                </a:tc>
                <a:extLst>
                  <a:ext uri="{0D108BD9-81ED-4DB2-BD59-A6C34878D82A}">
                    <a16:rowId xmlns="" xmlns:a16="http://schemas.microsoft.com/office/drawing/2014/main" val="10003"/>
                  </a:ext>
                </a:extLst>
              </a:tr>
            </a:tbl>
          </a:graphicData>
        </a:graphic>
      </p:graphicFrame>
      <p:pic>
        <p:nvPicPr>
          <p:cNvPr id="10243" name="Picture 1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t="428" b="428"/>
          <a:stretch/>
        </p:blipFill>
        <p:spPr bwMode="auto">
          <a:xfrm>
            <a:off x="9195541" y="1730760"/>
            <a:ext cx="529285" cy="4239172"/>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63068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11667" y="276197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3">
            <a:alphaModFix/>
          </a:blip>
          <a:srcRect/>
          <a:stretch/>
        </p:blipFill>
        <p:spPr>
          <a:xfrm>
            <a:off x="2959528" y="2893754"/>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248368" y="289241"/>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4.6.6 Your Turn!</a:t>
            </a:r>
          </a:p>
        </p:txBody>
      </p:sp>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3">
            <a:alphaModFix/>
          </a:blip>
          <a:srcRect/>
          <a:stretch/>
        </p:blipFill>
        <p:spPr>
          <a:xfrm>
            <a:off x="433837" y="289241"/>
            <a:ext cx="747300" cy="747300"/>
          </a:xfrm>
          <a:prstGeom prst="rect">
            <a:avLst/>
          </a:prstGeom>
          <a:noFill/>
          <a:ln>
            <a:noFill/>
          </a:ln>
        </p:spPr>
      </p:pic>
      <p:sp>
        <p:nvSpPr>
          <p:cNvPr id="12" name="TextBox 11">
            <a:extLst>
              <a:ext uri="{FF2B5EF4-FFF2-40B4-BE49-F238E27FC236}">
                <a16:creationId xmlns="" xmlns:a16="http://schemas.microsoft.com/office/drawing/2014/main" id="{759C3E41-93EC-B84D-963F-86A3B15AC1C6}"/>
              </a:ext>
            </a:extLst>
          </p:cNvPr>
          <p:cNvSpPr txBox="1"/>
          <p:nvPr/>
        </p:nvSpPr>
        <p:spPr>
          <a:xfrm>
            <a:off x="531102" y="1465928"/>
            <a:ext cx="8327136" cy="461665"/>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rPr>
              <a:t>Write a value that represents each description. </a:t>
            </a:r>
            <a:endParaRPr lang="en-PH" sz="2400" dirty="0">
              <a:latin typeface="Verdana" pitchFamily="34" charset="0"/>
              <a:ea typeface="Verdana" pitchFamily="34"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02282572"/>
                  </p:ext>
                </p:extLst>
              </p:nvPr>
            </p:nvGraphicFramePr>
            <p:xfrm>
              <a:off x="1094670" y="2125376"/>
              <a:ext cx="7200000" cy="4104288"/>
            </p:xfrm>
            <a:graphic>
              <a:graphicData uri="http://schemas.openxmlformats.org/drawingml/2006/table">
                <a:tbl>
                  <a:tblPr firstRow="1" firstCol="1" bandRow="1"/>
                  <a:tblGrid>
                    <a:gridCol w="5760000">
                      <a:extLst>
                        <a:ext uri="{9D8B030D-6E8A-4147-A177-3AD203B41FA5}">
                          <a16:colId xmlns="" xmlns:a16="http://schemas.microsoft.com/office/drawing/2014/main" val="20000"/>
                        </a:ext>
                      </a:extLst>
                    </a:gridCol>
                    <a:gridCol w="1440000">
                      <a:extLst>
                        <a:ext uri="{9D8B030D-6E8A-4147-A177-3AD203B41FA5}">
                          <a16:colId xmlns="" xmlns:a16="http://schemas.microsoft.com/office/drawing/2014/main" val="20001"/>
                        </a:ext>
                      </a:extLst>
                    </a:gridCol>
                  </a:tblGrid>
                  <a:tr h="288000">
                    <a:tc>
                      <a:txBody>
                        <a:bodyPr/>
                        <a:lstStyle/>
                        <a:p>
                          <a:pPr marL="452438" lvl="0" indent="-452438">
                            <a:lnSpc>
                              <a:spcPct val="105000"/>
                            </a:lnSpc>
                            <a:spcBef>
                              <a:spcPts val="300"/>
                            </a:spcBef>
                            <a:spcAft>
                              <a:spcPts val="0"/>
                            </a:spcAft>
                            <a:buFont typeface="+mj-lt"/>
                            <a:buAutoNum type="alphaLcPeriod"/>
                            <a:tabLst/>
                          </a:pPr>
                          <a:r>
                            <a:rPr lang="en-US" sz="2400" dirty="0">
                              <a:solidFill>
                                <a:srgbClr val="231F20"/>
                              </a:solidFill>
                              <a:effectLst/>
                              <a:latin typeface="Verdana" pitchFamily="34" charset="0"/>
                              <a:ea typeface="Verdana" pitchFamily="34" charset="0"/>
                              <a:cs typeface="Myriad Pro"/>
                            </a:rPr>
                            <a:t>an expense of </a:t>
                          </a:r>
                          <a14:m>
                            <m:oMath xmlns:m="http://schemas.openxmlformats.org/officeDocument/2006/math">
                              <m:r>
                                <a:rPr lang="en-US" sz="2400" i="1">
                                  <a:solidFill>
                                    <a:srgbClr val="231F20"/>
                                  </a:solidFill>
                                  <a:effectLst/>
                                  <a:latin typeface="Cambria Math"/>
                                  <a:ea typeface="Myriad Pro"/>
                                  <a:cs typeface="Myriad Pro"/>
                                </a:rPr>
                                <m:t>$40.23</m:t>
                              </m:r>
                            </m:oMath>
                          </a14:m>
                          <a:endParaRPr lang="en-PH" sz="2400" dirty="0">
                            <a:solidFill>
                              <a:srgbClr val="231F20"/>
                            </a:solidFill>
                            <a:effectLst/>
                            <a:latin typeface="Verdana" pitchFamily="34" charset="0"/>
                            <a:ea typeface="Verdana" pitchFamily="34" charset="0"/>
                            <a:cs typeface="Myriad Pro"/>
                          </a:endParaRPr>
                        </a:p>
                      </a:txBody>
                      <a:tcPr marL="0" marR="0" marT="0" marB="0">
                        <a:lnL>
                          <a:noFill/>
                        </a:lnL>
                        <a:lnR>
                          <a:noFill/>
                        </a:lnR>
                        <a:lnT>
                          <a:noFill/>
                        </a:lnT>
                        <a:lnB>
                          <a:noFill/>
                        </a:lnB>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0">
                    <a:tc>
                      <a:txBody>
                        <a:bodyPr/>
                        <a:lstStyle/>
                        <a:p>
                          <a:pPr marL="452438" lvl="0" indent="-452438">
                            <a:lnSpc>
                              <a:spcPct val="105000"/>
                            </a:lnSpc>
                            <a:spcBef>
                              <a:spcPts val="300"/>
                            </a:spcBef>
                            <a:spcAft>
                              <a:spcPts val="0"/>
                            </a:spcAft>
                            <a:buFont typeface="+mj-lt"/>
                            <a:buAutoNum type="alphaLcPeriod" startAt="2"/>
                            <a:tabLst>
                              <a:tab pos="255905" algn="l"/>
                            </a:tabLst>
                          </a:pPr>
                          <a:r>
                            <a:rPr lang="en-US" sz="2400" dirty="0">
                              <a:solidFill>
                                <a:srgbClr val="231F20"/>
                              </a:solidFill>
                              <a:effectLst/>
                              <a:latin typeface="Verdana" pitchFamily="34" charset="0"/>
                              <a:ea typeface="Verdana" pitchFamily="34" charset="0"/>
                              <a:cs typeface="Myriad Pro"/>
                            </a:rPr>
                            <a:t>a deposit of </a:t>
                          </a:r>
                          <a14:m>
                            <m:oMath xmlns:m="http://schemas.openxmlformats.org/officeDocument/2006/math">
                              <m:r>
                                <a:rPr lang="en-US" sz="2400" i="1">
                                  <a:solidFill>
                                    <a:srgbClr val="231F20"/>
                                  </a:solidFill>
                                  <a:effectLst/>
                                  <a:latin typeface="Cambria Math"/>
                                  <a:ea typeface="Myriad Pro"/>
                                  <a:cs typeface="Myriad Pro"/>
                                </a:rPr>
                                <m:t>$225.89</m:t>
                              </m:r>
                            </m:oMath>
                          </a14:m>
                          <a:endParaRPr lang="en-PH" sz="2400" dirty="0">
                            <a:solidFill>
                              <a:srgbClr val="231F20"/>
                            </a:solidFill>
                            <a:effectLst/>
                            <a:latin typeface="Verdana" pitchFamily="34" charset="0"/>
                            <a:ea typeface="Verdana" pitchFamily="34" charset="0"/>
                            <a:cs typeface="Myriad Pro"/>
                          </a:endParaRPr>
                        </a:p>
                      </a:txBody>
                      <a:tcPr marL="0" marR="0" marT="360000" marB="0" anchor="b">
                        <a:lnL>
                          <a:noFill/>
                        </a:lnL>
                        <a:lnR>
                          <a:noFill/>
                        </a:lnR>
                        <a:lnT>
                          <a:noFill/>
                        </a:lnT>
                        <a:lnB>
                          <a:noFill/>
                        </a:lnB>
                      </a:tcPr>
                    </a:tc>
                    <a:tc>
                      <a:txBody>
                        <a:bodyPr/>
                        <a:lstStyle/>
                        <a:p>
                          <a:pPr>
                            <a:lnSpc>
                              <a:spcPct val="105000"/>
                            </a:lnSpc>
                            <a:spcAft>
                              <a:spcPts val="0"/>
                            </a:spcAft>
                          </a:pP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0">
                    <a:tc>
                      <a:txBody>
                        <a:bodyPr/>
                        <a:lstStyle/>
                        <a:p>
                          <a:pPr marL="357188" lvl="0" indent="-357188">
                            <a:lnSpc>
                              <a:spcPct val="105000"/>
                            </a:lnSpc>
                            <a:spcBef>
                              <a:spcPts val="300"/>
                            </a:spcBef>
                            <a:spcAft>
                              <a:spcPts val="0"/>
                            </a:spcAft>
                            <a:buFont typeface="+mj-lt"/>
                            <a:buNone/>
                            <a:tabLst>
                              <a:tab pos="255588" algn="l"/>
                            </a:tabLst>
                          </a:pPr>
                          <a:r>
                            <a:rPr lang="en-US" sz="2400" dirty="0">
                              <a:solidFill>
                                <a:srgbClr val="231F20"/>
                              </a:solidFill>
                              <a:effectLst/>
                              <a:latin typeface="Verdana" pitchFamily="34" charset="0"/>
                              <a:ea typeface="Verdana" pitchFamily="34" charset="0"/>
                              <a:cs typeface="Myriad Pro"/>
                            </a:rPr>
                            <a:t>c.  </a:t>
                          </a:r>
                          <a14:m>
                            <m:oMath xmlns:m="http://schemas.openxmlformats.org/officeDocument/2006/math">
                              <m:r>
                                <a:rPr lang="en-US" sz="2400" i="1">
                                  <a:solidFill>
                                    <a:srgbClr val="231F20"/>
                                  </a:solidFill>
                                  <a:effectLst/>
                                  <a:latin typeface="Cambria Math"/>
                                  <a:ea typeface="Myriad Pro"/>
                                  <a:cs typeface="Myriad Pro"/>
                                </a:rPr>
                                <m:t>16,000</m:t>
                              </m:r>
                            </m:oMath>
                          </a14:m>
                          <a:r>
                            <a:rPr lang="en-US" sz="2400" dirty="0">
                              <a:solidFill>
                                <a:srgbClr val="231F20"/>
                              </a:solidFill>
                              <a:effectLst/>
                              <a:latin typeface="Verdana" pitchFamily="34" charset="0"/>
                              <a:ea typeface="Verdana" pitchFamily="34" charset="0"/>
                              <a:cs typeface="Myriad Pro"/>
                            </a:rPr>
                            <a:t> feet above sea level</a:t>
                          </a:r>
                          <a:endParaRPr lang="en-PH" sz="2400" dirty="0">
                            <a:solidFill>
                              <a:srgbClr val="231F20"/>
                            </a:solidFill>
                            <a:effectLst/>
                            <a:latin typeface="Verdana" pitchFamily="34" charset="0"/>
                            <a:ea typeface="Verdana" pitchFamily="34" charset="0"/>
                            <a:cs typeface="Myriad Pro"/>
                          </a:endParaRPr>
                        </a:p>
                      </a:txBody>
                      <a:tcPr marL="0" marR="0" marT="360000" marB="0" anchor="b">
                        <a:lnL>
                          <a:noFill/>
                        </a:lnL>
                        <a:lnR>
                          <a:noFill/>
                        </a:lnR>
                        <a:lnT>
                          <a:noFill/>
                        </a:lnT>
                        <a:lnB>
                          <a:noFill/>
                        </a:lnB>
                      </a:tcPr>
                    </a:tc>
                    <a:tc>
                      <a:txBody>
                        <a:bodyPr/>
                        <a:lstStyle/>
                        <a:p>
                          <a:pPr>
                            <a:lnSpc>
                              <a:spcPct val="105000"/>
                            </a:lnSpc>
                            <a:spcAft>
                              <a:spcPts val="0"/>
                            </a:spcAft>
                          </a:pPr>
                          <a:r>
                            <a:rPr lang="en-US" sz="2400" b="0" i="1">
                              <a:solidFill>
                                <a:srgbClr val="005A76"/>
                              </a:solidFill>
                              <a:effectLst/>
                              <a:latin typeface="Verdana" pitchFamily="34" charset="0"/>
                              <a:ea typeface="Verdana" pitchFamily="34" charset="0"/>
                              <a:cs typeface="Myriad Pro"/>
                            </a:rPr>
                            <a:t> </a:t>
                          </a:r>
                          <a:endParaRPr lang="en-PH" sz="2400" b="1" i="1">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0">
                    <a:tc>
                      <a:txBody>
                        <a:bodyPr/>
                        <a:lstStyle/>
                        <a:p>
                          <a:pPr marL="452438" lvl="0" indent="-452438">
                            <a:lnSpc>
                              <a:spcPct val="105000"/>
                            </a:lnSpc>
                            <a:spcBef>
                              <a:spcPts val="300"/>
                            </a:spcBef>
                            <a:spcAft>
                              <a:spcPts val="0"/>
                            </a:spcAft>
                            <a:buFont typeface="+mj-lt"/>
                            <a:buAutoNum type="alphaLcPeriod" startAt="4"/>
                            <a:tabLst>
                              <a:tab pos="255905" algn="l"/>
                            </a:tabLst>
                          </a:pPr>
                          <a:r>
                            <a:rPr lang="en-US" sz="2400" dirty="0">
                              <a:solidFill>
                                <a:srgbClr val="231F20"/>
                              </a:solidFill>
                              <a:effectLst/>
                              <a:latin typeface="Verdana" pitchFamily="34" charset="0"/>
                              <a:ea typeface="Verdana" pitchFamily="34" charset="0"/>
                              <a:cs typeface="Myriad Pro"/>
                            </a:rPr>
                            <a:t>a temperature increase of </a:t>
                          </a:r>
                          <a14:m>
                            <m:oMath xmlns:m="http://schemas.openxmlformats.org/officeDocument/2006/math">
                              <m:r>
                                <a:rPr lang="en-US" sz="2400" i="1">
                                  <a:solidFill>
                                    <a:srgbClr val="231F20"/>
                                  </a:solidFill>
                                  <a:effectLst/>
                                  <a:latin typeface="Cambria Math"/>
                                  <a:ea typeface="Myriad Pro"/>
                                  <a:cs typeface="Myriad Pro"/>
                                </a:rPr>
                                <m:t>14℉</m:t>
                              </m:r>
                            </m:oMath>
                          </a14:m>
                          <a:endParaRPr lang="en-PH" sz="2400" dirty="0">
                            <a:solidFill>
                              <a:srgbClr val="231F20"/>
                            </a:solidFill>
                            <a:effectLst/>
                            <a:latin typeface="Verdana" pitchFamily="34" charset="0"/>
                            <a:ea typeface="Verdana" pitchFamily="34" charset="0"/>
                            <a:cs typeface="Myriad Pro"/>
                          </a:endParaRPr>
                        </a:p>
                      </a:txBody>
                      <a:tcPr marL="0" marR="0" marT="360000" marB="0" anchor="b">
                        <a:lnL>
                          <a:noFill/>
                        </a:lnL>
                        <a:lnR>
                          <a:noFill/>
                        </a:lnR>
                        <a:lnT>
                          <a:noFill/>
                        </a:lnT>
                        <a:lnB>
                          <a:noFill/>
                        </a:lnB>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0">
                    <a:tc>
                      <a:txBody>
                        <a:bodyPr/>
                        <a:lstStyle/>
                        <a:p>
                          <a:pPr marL="452438" lvl="0" indent="-452438">
                            <a:lnSpc>
                              <a:spcPct val="105000"/>
                            </a:lnSpc>
                            <a:spcBef>
                              <a:spcPts val="300"/>
                            </a:spcBef>
                            <a:spcAft>
                              <a:spcPts val="0"/>
                            </a:spcAft>
                            <a:buFont typeface="+mj-lt"/>
                            <a:buAutoNum type="alphaLcPeriod" startAt="5"/>
                            <a:tabLst>
                              <a:tab pos="255905" algn="l"/>
                            </a:tabLst>
                          </a:pPr>
                          <a:r>
                            <a:rPr lang="en-US" sz="2400" dirty="0">
                              <a:solidFill>
                                <a:srgbClr val="231F20"/>
                              </a:solidFill>
                              <a:effectLst/>
                              <a:latin typeface="Verdana" pitchFamily="34" charset="0"/>
                              <a:ea typeface="Verdana" pitchFamily="34" charset="0"/>
                              <a:cs typeface="Myriad Pro"/>
                            </a:rPr>
                            <a:t>a withdrawal of </a:t>
                          </a:r>
                          <a14:m>
                            <m:oMath xmlns:m="http://schemas.openxmlformats.org/officeDocument/2006/math">
                              <m:r>
                                <a:rPr lang="en-US" sz="2400" i="1">
                                  <a:solidFill>
                                    <a:srgbClr val="231F20"/>
                                  </a:solidFill>
                                  <a:effectLst/>
                                  <a:latin typeface="Cambria Math"/>
                                  <a:ea typeface="Myriad Pro"/>
                                  <a:cs typeface="Myriad Pro"/>
                                </a:rPr>
                                <m:t>$271.49</m:t>
                              </m:r>
                            </m:oMath>
                          </a14:m>
                          <a:endParaRPr lang="en-PH" sz="2400" dirty="0">
                            <a:solidFill>
                              <a:srgbClr val="231F20"/>
                            </a:solidFill>
                            <a:effectLst/>
                            <a:latin typeface="Verdana" pitchFamily="34" charset="0"/>
                            <a:ea typeface="Verdana" pitchFamily="34" charset="0"/>
                            <a:cs typeface="Myriad Pro"/>
                          </a:endParaRPr>
                        </a:p>
                      </a:txBody>
                      <a:tcPr marL="0" marR="0" marT="360000" marB="0" anchor="b">
                        <a:lnL>
                          <a:noFill/>
                        </a:lnL>
                        <a:lnR>
                          <a:noFill/>
                        </a:lnR>
                        <a:lnT>
                          <a:noFill/>
                        </a:lnT>
                        <a:lnB>
                          <a:noFill/>
                        </a:lnB>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0">
                    <a:tc>
                      <a:txBody>
                        <a:bodyPr/>
                        <a:lstStyle/>
                        <a:p>
                          <a:pPr marL="452438" lvl="0" indent="-452438">
                            <a:lnSpc>
                              <a:spcPct val="105000"/>
                            </a:lnSpc>
                            <a:spcBef>
                              <a:spcPts val="300"/>
                            </a:spcBef>
                            <a:spcAft>
                              <a:spcPts val="0"/>
                            </a:spcAft>
                            <a:buFont typeface="+mj-lt"/>
                            <a:buAutoNum type="alphaLcPeriod" startAt="6"/>
                            <a:tabLst>
                              <a:tab pos="255905" algn="l"/>
                            </a:tabLst>
                          </a:pPr>
                          <a:r>
                            <a:rPr lang="en-US" sz="2400" dirty="0">
                              <a:solidFill>
                                <a:srgbClr val="231F20"/>
                              </a:solidFill>
                              <a:effectLst/>
                              <a:latin typeface="Verdana" pitchFamily="34" charset="0"/>
                              <a:ea typeface="Verdana" pitchFamily="34" charset="0"/>
                              <a:cs typeface="Times New Roman"/>
                            </a:rPr>
                            <a:t>a gain of </a:t>
                          </a:r>
                          <a14:m>
                            <m:oMath xmlns:m="http://schemas.openxmlformats.org/officeDocument/2006/math">
                              <m:r>
                                <a:rPr lang="en-US" sz="2400" i="1">
                                  <a:solidFill>
                                    <a:srgbClr val="231F20"/>
                                  </a:solidFill>
                                  <a:effectLst/>
                                  <a:latin typeface="Cambria Math"/>
                                  <a:ea typeface="Times New Roman"/>
                                  <a:cs typeface="Times New Roman"/>
                                </a:rPr>
                                <m:t>17</m:t>
                              </m:r>
                            </m:oMath>
                          </a14:m>
                          <a:r>
                            <a:rPr lang="en-US" sz="2400" dirty="0">
                              <a:solidFill>
                                <a:srgbClr val="231F20"/>
                              </a:solidFill>
                              <a:effectLst/>
                              <a:latin typeface="Verdana" pitchFamily="34" charset="0"/>
                              <a:ea typeface="Verdana" pitchFamily="34" charset="0"/>
                              <a:cs typeface="Times New Roman"/>
                            </a:rPr>
                            <a:t> yards</a:t>
                          </a:r>
                          <a:endParaRPr lang="en-PH" sz="2400" dirty="0">
                            <a:solidFill>
                              <a:srgbClr val="231F20"/>
                            </a:solidFill>
                            <a:effectLst/>
                            <a:latin typeface="Verdana" pitchFamily="34" charset="0"/>
                            <a:ea typeface="Verdana" pitchFamily="34" charset="0"/>
                            <a:cs typeface="Myriad Pro"/>
                          </a:endParaRPr>
                        </a:p>
                      </a:txBody>
                      <a:tcPr marL="0" marR="0" marT="360000" marB="0" anchor="b">
                        <a:lnL>
                          <a:noFill/>
                        </a:lnL>
                        <a:lnR>
                          <a:noFill/>
                        </a:lnR>
                        <a:lnT>
                          <a:noFill/>
                        </a:lnT>
                        <a:lnB>
                          <a:noFill/>
                        </a:lnB>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02282572"/>
                  </p:ext>
                </p:extLst>
              </p:nvPr>
            </p:nvGraphicFramePr>
            <p:xfrm>
              <a:off x="1094670" y="2125376"/>
              <a:ext cx="7200000" cy="4104288"/>
            </p:xfrm>
            <a:graphic>
              <a:graphicData uri="http://schemas.openxmlformats.org/drawingml/2006/table">
                <a:tbl>
                  <a:tblPr firstRow="1" firstCol="1" bandRow="1"/>
                  <a:tblGrid>
                    <a:gridCol w="5760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tblGrid>
                  <a:tr h="384048">
                    <a:tc>
                      <a:txBody>
                        <a:bodyPr/>
                        <a:lstStyle/>
                        <a:p>
                          <a:endParaRPr lang="en-US"/>
                        </a:p>
                      </a:txBody>
                      <a:tcPr marL="0" marR="0" marT="0" marB="0">
                        <a:lnL>
                          <a:noFill/>
                        </a:lnL>
                        <a:lnR>
                          <a:noFill/>
                        </a:lnR>
                        <a:lnT>
                          <a:noFill/>
                        </a:lnT>
                        <a:lnB>
                          <a:noFill/>
                        </a:lnB>
                        <a:blipFill rotWithShape="1">
                          <a:blip r:embed="rId4"/>
                          <a:stretch>
                            <a:fillRect l="-106" t="-30159" r="-24974" b="-1006349"/>
                          </a:stretch>
                        </a:blipFill>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0"/>
                      </a:ext>
                    </a:extLst>
                  </a:tr>
                  <a:tr h="744048">
                    <a:tc>
                      <a:txBody>
                        <a:bodyPr/>
                        <a:lstStyle/>
                        <a:p>
                          <a:endParaRPr lang="en-US"/>
                        </a:p>
                      </a:txBody>
                      <a:tcPr marL="0" marR="0" marT="360000" marB="0" anchor="b">
                        <a:lnL>
                          <a:noFill/>
                        </a:lnL>
                        <a:lnR>
                          <a:noFill/>
                        </a:lnR>
                        <a:lnT>
                          <a:noFill/>
                        </a:lnT>
                        <a:lnB>
                          <a:noFill/>
                        </a:lnB>
                        <a:blipFill rotWithShape="1">
                          <a:blip r:embed="rId4"/>
                          <a:stretch>
                            <a:fillRect l="-106" t="-67213" r="-24974" b="-419672"/>
                          </a:stretch>
                        </a:blipFill>
                      </a:tcPr>
                    </a:tc>
                    <a:tc>
                      <a:txBody>
                        <a:bodyPr/>
                        <a:lstStyle/>
                        <a:p>
                          <a:pPr>
                            <a:lnSpc>
                              <a:spcPct val="105000"/>
                            </a:lnSpc>
                            <a:spcAft>
                              <a:spcPts val="0"/>
                            </a:spcAft>
                          </a:pP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744048">
                    <a:tc>
                      <a:txBody>
                        <a:bodyPr/>
                        <a:lstStyle/>
                        <a:p>
                          <a:endParaRPr lang="en-US"/>
                        </a:p>
                      </a:txBody>
                      <a:tcPr marL="0" marR="0" marT="360000" marB="0" anchor="b">
                        <a:lnL>
                          <a:noFill/>
                        </a:lnL>
                        <a:lnR>
                          <a:noFill/>
                        </a:lnR>
                        <a:lnT>
                          <a:noFill/>
                        </a:lnT>
                        <a:lnB>
                          <a:noFill/>
                        </a:lnB>
                        <a:blipFill rotWithShape="1">
                          <a:blip r:embed="rId4"/>
                          <a:stretch>
                            <a:fillRect l="-106" t="-167213" r="-24974" b="-319672"/>
                          </a:stretch>
                        </a:blipFill>
                      </a:tcPr>
                    </a:tc>
                    <a:tc>
                      <a:txBody>
                        <a:bodyPr/>
                        <a:lstStyle/>
                        <a:p>
                          <a:pPr>
                            <a:lnSpc>
                              <a:spcPct val="105000"/>
                            </a:lnSpc>
                            <a:spcAft>
                              <a:spcPts val="0"/>
                            </a:spcAft>
                          </a:pPr>
                          <a:r>
                            <a:rPr lang="en-US" sz="2400" b="0" i="1">
                              <a:solidFill>
                                <a:srgbClr val="005A76"/>
                              </a:solidFill>
                              <a:effectLst/>
                              <a:latin typeface="Verdana" pitchFamily="34" charset="0"/>
                              <a:ea typeface="Verdana" pitchFamily="34" charset="0"/>
                              <a:cs typeface="Myriad Pro"/>
                            </a:rPr>
                            <a:t> </a:t>
                          </a:r>
                          <a:endParaRPr lang="en-PH" sz="2400" b="1" i="1">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744048">
                    <a:tc>
                      <a:txBody>
                        <a:bodyPr/>
                        <a:lstStyle/>
                        <a:p>
                          <a:endParaRPr lang="en-US"/>
                        </a:p>
                      </a:txBody>
                      <a:tcPr marL="0" marR="0" marT="360000" marB="0" anchor="b">
                        <a:lnL>
                          <a:noFill/>
                        </a:lnL>
                        <a:lnR>
                          <a:noFill/>
                        </a:lnR>
                        <a:lnT>
                          <a:noFill/>
                        </a:lnT>
                        <a:lnB>
                          <a:noFill/>
                        </a:lnB>
                        <a:blipFill rotWithShape="1">
                          <a:blip r:embed="rId4"/>
                          <a:stretch>
                            <a:fillRect l="-106" t="-267213" r="-24974" b="-219672"/>
                          </a:stretch>
                        </a:blipFill>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744048">
                    <a:tc>
                      <a:txBody>
                        <a:bodyPr/>
                        <a:lstStyle/>
                        <a:p>
                          <a:endParaRPr lang="en-US"/>
                        </a:p>
                      </a:txBody>
                      <a:tcPr marL="0" marR="0" marT="360000" marB="0" anchor="b">
                        <a:lnL>
                          <a:noFill/>
                        </a:lnL>
                        <a:lnR>
                          <a:noFill/>
                        </a:lnR>
                        <a:lnT>
                          <a:noFill/>
                        </a:lnT>
                        <a:lnB>
                          <a:noFill/>
                        </a:lnB>
                        <a:blipFill rotWithShape="1">
                          <a:blip r:embed="rId4"/>
                          <a:stretch>
                            <a:fillRect l="-106" t="-367213" r="-24974" b="-119672"/>
                          </a:stretch>
                        </a:blipFill>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r h="744048">
                    <a:tc>
                      <a:txBody>
                        <a:bodyPr/>
                        <a:lstStyle/>
                        <a:p>
                          <a:endParaRPr lang="en-US"/>
                        </a:p>
                      </a:txBody>
                      <a:tcPr marL="0" marR="0" marT="360000" marB="0" anchor="b">
                        <a:lnL>
                          <a:noFill/>
                        </a:lnL>
                        <a:lnR>
                          <a:noFill/>
                        </a:lnR>
                        <a:lnT>
                          <a:noFill/>
                        </a:lnT>
                        <a:lnB>
                          <a:noFill/>
                        </a:lnB>
                        <a:blipFill rotWithShape="1">
                          <a:blip r:embed="rId4"/>
                          <a:stretch>
                            <a:fillRect l="-106" t="-467213" r="-24974" b="-19672"/>
                          </a:stretch>
                        </a:blipFill>
                      </a:tcPr>
                    </a:tc>
                    <a:tc>
                      <a:txBody>
                        <a:bodyPr/>
                        <a:lstStyle/>
                        <a:p>
                          <a:pPr>
                            <a:lnSpc>
                              <a:spcPct val="105000"/>
                            </a:lnSpc>
                            <a:spcAft>
                              <a:spcPts val="0"/>
                            </a:spcAft>
                          </a:pPr>
                          <a:r>
                            <a:rPr lang="en-US" sz="2400" b="0" i="1" dirty="0">
                              <a:solidFill>
                                <a:srgbClr val="005A76"/>
                              </a:solidFill>
                              <a:effectLst/>
                              <a:latin typeface="Verdana" pitchFamily="34" charset="0"/>
                              <a:ea typeface="Verdana" pitchFamily="34" charset="0"/>
                              <a:cs typeface="Myriad Pro"/>
                            </a:rPr>
                            <a:t> </a:t>
                          </a:r>
                          <a:endParaRPr lang="en-PH" sz="2400" b="1" i="1" dirty="0">
                            <a:solidFill>
                              <a:srgbClr val="005A76"/>
                            </a:solidFill>
                            <a:effectLst/>
                            <a:latin typeface="Verdana" pitchFamily="34" charset="0"/>
                            <a:ea typeface="Verdana" pitchFamily="34" charset="0"/>
                            <a:cs typeface="Myriad Pro"/>
                          </a:endParaRPr>
                        </a:p>
                      </a:txBody>
                      <a:tcPr marL="0" marR="0" marT="36000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5"/>
                      </a:ext>
                    </a:extLst>
                  </a:tr>
                </a:tbl>
              </a:graphicData>
            </a:graphic>
          </p:graphicFrame>
        </mc:Fallback>
      </mc:AlternateContent>
      <p:sp>
        <p:nvSpPr>
          <p:cNvPr id="11"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08C67FCF-92C3-654A-BF40-5BDF7A4F9271}"/>
                  </a:ext>
                </a:extLst>
              </p:cNvPr>
              <p:cNvSpPr txBox="1"/>
              <p:nvPr/>
            </p:nvSpPr>
            <p:spPr>
              <a:xfrm>
                <a:off x="532725" y="380718"/>
                <a:ext cx="11350716" cy="4451090"/>
              </a:xfrm>
              <a:prstGeom prst="rect">
                <a:avLst/>
              </a:prstGeom>
              <a:noFill/>
            </p:spPr>
            <p:txBody>
              <a:bodyPr wrap="square" rtlCol="0">
                <a:spAutoFit/>
              </a:bodyPr>
              <a:lstStyle/>
              <a:p>
                <a:pPr marL="457200" indent="-457200">
                  <a:lnSpc>
                    <a:spcPct val="105000"/>
                  </a:lnSpc>
                  <a:spcBef>
                    <a:spcPts val="600"/>
                  </a:spcBef>
                  <a:buFont typeface="+mj-lt"/>
                  <a:buAutoNum type="arabicPeriod" startAt="2"/>
                </a:pPr>
                <a:r>
                  <a:rPr lang="en-US" sz="2400" dirty="0">
                    <a:solidFill>
                      <a:srgbClr val="231F20"/>
                    </a:solidFill>
                    <a:latin typeface="Verdana" pitchFamily="34" charset="0"/>
                    <a:ea typeface="Verdana" pitchFamily="34" charset="0"/>
                    <a:cs typeface="Myriad Pro"/>
                  </a:rPr>
                  <a:t>Read each statement and select the correct description of each situation.</a:t>
                </a:r>
                <a:endParaRPr lang="en-PH" sz="2400" dirty="0">
                  <a:solidFill>
                    <a:srgbClr val="231F20"/>
                  </a:solidFill>
                  <a:latin typeface="Verdana" pitchFamily="34" charset="0"/>
                  <a:ea typeface="Verdana" pitchFamily="34" charset="0"/>
                  <a:cs typeface="Myriad Pro"/>
                </a:endParaRPr>
              </a:p>
              <a:p>
                <a:pPr marL="893763" indent="-441325">
                  <a:lnSpc>
                    <a:spcPct val="105000"/>
                  </a:lnSpc>
                  <a:spcBef>
                    <a:spcPts val="600"/>
                  </a:spcBef>
                  <a:buFont typeface="+mj-lt"/>
                  <a:buAutoNum type="alphaLcPeriod"/>
                </a:pPr>
                <a:r>
                  <a:rPr lang="en-US" sz="2400" dirty="0">
                    <a:latin typeface="Verdana" pitchFamily="34" charset="0"/>
                    <a:ea typeface="Verdana" pitchFamily="34" charset="0"/>
                  </a:rPr>
                  <a:t>A diver is </a:t>
                </a:r>
                <a14:m>
                  <m:oMath xmlns:m="http://schemas.openxmlformats.org/officeDocument/2006/math">
                    <m:r>
                      <a:rPr lang="en-US" sz="2400">
                        <a:latin typeface="Cambria Math"/>
                      </a:rPr>
                      <m:t>60</m:t>
                    </m:r>
                  </m:oMath>
                </a14:m>
                <a:r>
                  <a:rPr lang="en-US" sz="2400" dirty="0">
                    <a:latin typeface="Verdana" pitchFamily="34" charset="0"/>
                    <a:ea typeface="Verdana" pitchFamily="34" charset="0"/>
                  </a:rPr>
                  <a:t> feet below the surface of the ocean.</a:t>
                </a:r>
              </a:p>
              <a:p>
                <a:pPr marL="893763" indent="-441325">
                  <a:lnSpc>
                    <a:spcPct val="105000"/>
                  </a:lnSpc>
                  <a:spcBef>
                    <a:spcPts val="600"/>
                  </a:spcBef>
                  <a:buFont typeface="+mj-lt"/>
                  <a:buAutoNum type="alphaLcPeriod"/>
                </a:pPr>
                <a:endParaRPr lang="en-US" sz="2400" dirty="0">
                  <a:latin typeface="Verdana" pitchFamily="34" charset="0"/>
                  <a:ea typeface="Verdana" pitchFamily="34" charset="0"/>
                </a:endParaRPr>
              </a:p>
              <a:p>
                <a:pPr marL="893763" indent="-441325">
                  <a:lnSpc>
                    <a:spcPct val="105000"/>
                  </a:lnSpc>
                  <a:spcBef>
                    <a:spcPts val="600"/>
                  </a:spcBef>
                  <a:buFont typeface="+mj-lt"/>
                  <a:buAutoNum type="alphaLcPeriod"/>
                </a:pPr>
                <a:endParaRPr lang="en-US" sz="2400" dirty="0">
                  <a:latin typeface="Verdana" pitchFamily="34" charset="0"/>
                  <a:ea typeface="Verdana" pitchFamily="34" charset="0"/>
                </a:endParaRPr>
              </a:p>
              <a:p>
                <a:pPr marL="893763" indent="-441325">
                  <a:lnSpc>
                    <a:spcPct val="105000"/>
                  </a:lnSpc>
                  <a:spcBef>
                    <a:spcPts val="600"/>
                  </a:spcBef>
                  <a:buFont typeface="+mj-lt"/>
                  <a:buAutoNum type="alphaLcPeriod"/>
                </a:pPr>
                <a:endParaRPr lang="en-US" sz="2400" dirty="0">
                  <a:latin typeface="Verdana" pitchFamily="34" charset="0"/>
                  <a:ea typeface="Verdana" pitchFamily="34" charset="0"/>
                </a:endParaRPr>
              </a:p>
              <a:p>
                <a:pPr marL="893763" indent="-441325">
                  <a:lnSpc>
                    <a:spcPct val="105000"/>
                  </a:lnSpc>
                  <a:spcBef>
                    <a:spcPts val="600"/>
                  </a:spcBef>
                  <a:buFont typeface="+mj-lt"/>
                  <a:buAutoNum type="alphaLcPeriod"/>
                </a:pPr>
                <a:endParaRPr lang="en-US" sz="2400" dirty="0">
                  <a:latin typeface="Verdana" pitchFamily="34" charset="0"/>
                  <a:ea typeface="Verdana" pitchFamily="34" charset="0"/>
                </a:endParaRPr>
              </a:p>
              <a:p>
                <a:pPr marL="893763" indent="-441325">
                  <a:lnSpc>
                    <a:spcPct val="105000"/>
                  </a:lnSpc>
                  <a:spcBef>
                    <a:spcPts val="600"/>
                  </a:spcBef>
                  <a:buFont typeface="+mj-lt"/>
                  <a:buAutoNum type="alphaLcPeriod"/>
                </a:pPr>
                <a:endParaRPr lang="en-US" sz="2400" dirty="0">
                  <a:latin typeface="Verdana" pitchFamily="34" charset="0"/>
                  <a:ea typeface="Verdana" pitchFamily="34" charset="0"/>
                </a:endParaRPr>
              </a:p>
              <a:p>
                <a:pPr marL="914400" lvl="1" indent="-457200">
                  <a:lnSpc>
                    <a:spcPct val="105000"/>
                  </a:lnSpc>
                  <a:spcBef>
                    <a:spcPts val="300"/>
                  </a:spcBef>
                  <a:buFont typeface="+mj-lt"/>
                  <a:buAutoNum type="alphaLcPeriod" startAt="2"/>
                  <a:tabLst>
                    <a:tab pos="255905" algn="l"/>
                  </a:tabLst>
                </a:pPr>
                <a:r>
                  <a:rPr lang="en-US" sz="2400" dirty="0">
                    <a:solidFill>
                      <a:srgbClr val="231F20"/>
                    </a:solidFill>
                    <a:latin typeface="Verdana"/>
                    <a:ea typeface="Myriad Pro"/>
                    <a:cs typeface="Myriad Pro"/>
                  </a:rPr>
                  <a:t>The elevation of the bottom of a boat with respect to sea level is given as </a:t>
                </a:r>
                <a14:m>
                  <m:oMath xmlns:m="http://schemas.openxmlformats.org/officeDocument/2006/math">
                    <m:r>
                      <a:rPr lang="en-US" sz="2400" i="1">
                        <a:solidFill>
                          <a:srgbClr val="231F20"/>
                        </a:solidFill>
                        <a:latin typeface="Cambria Math"/>
                        <a:ea typeface="Myriad Pro"/>
                        <a:cs typeface="Myriad Pro"/>
                      </a:rPr>
                      <m:t>−</m:t>
                    </m:r>
                    <m:r>
                      <a:rPr lang="en-US" sz="2400">
                        <a:solidFill>
                          <a:srgbClr val="231F20"/>
                        </a:solidFill>
                        <a:latin typeface="Cambria Math"/>
                        <a:ea typeface="Myriad Pro"/>
                        <a:cs typeface="Myriad Pro"/>
                      </a:rPr>
                      <m:t>5</m:t>
                    </m:r>
                  </m:oMath>
                </a14:m>
                <a:r>
                  <a:rPr lang="en-US" sz="2400" dirty="0">
                    <a:solidFill>
                      <a:srgbClr val="231F20"/>
                    </a:solidFill>
                    <a:latin typeface="Verdana"/>
                    <a:ea typeface="Myriad Pro"/>
                    <a:cs typeface="Myriad Pro"/>
                  </a:rPr>
                  <a:t> feet.</a:t>
                </a:r>
                <a:endParaRPr lang="en-PH" sz="2400" dirty="0">
                  <a:solidFill>
                    <a:srgbClr val="231F20"/>
                  </a:solidFill>
                  <a:latin typeface="Calibri"/>
                  <a:ea typeface="Myriad Pro"/>
                  <a:cs typeface="Myriad Pro"/>
                </a:endParaRPr>
              </a:p>
            </p:txBody>
          </p:sp>
        </mc:Choice>
        <mc:Fallback xmlns="">
          <p:sp>
            <p:nvSpPr>
              <p:cNvPr id="5" name="TextBox 4">
                <a:extLst>
                  <a:ext uri="{FF2B5EF4-FFF2-40B4-BE49-F238E27FC236}">
                    <a16:creationId xmlns:a16="http://schemas.microsoft.com/office/drawing/2014/main" xmlns:a14="http://schemas.microsoft.com/office/drawing/2010/main" xmlns="" id="{08C67FCF-92C3-654A-BF40-5BDF7A4F9271}"/>
                  </a:ext>
                </a:extLst>
              </p:cNvPr>
              <p:cNvSpPr txBox="1">
                <a:spLocks noRot="1" noChangeAspect="1" noMove="1" noResize="1" noEditPoints="1" noAdjustHandles="1" noChangeArrowheads="1" noChangeShapeType="1" noTextEdit="1"/>
              </p:cNvSpPr>
              <p:nvPr/>
            </p:nvSpPr>
            <p:spPr>
              <a:xfrm>
                <a:off x="532725" y="380718"/>
                <a:ext cx="11350716" cy="4451090"/>
              </a:xfrm>
              <a:prstGeom prst="rect">
                <a:avLst/>
              </a:prstGeom>
              <a:blipFill rotWithShape="1">
                <a:blip r:embed="rId3"/>
                <a:stretch>
                  <a:fillRect l="-806" t="-1505" b="-1778"/>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1500695" y="1843236"/>
                <a:ext cx="9546977" cy="901523"/>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57188" indent="-300038">
                  <a:lnSpc>
                    <a:spcPct val="105000"/>
                  </a:lnSpc>
                  <a:spcBef>
                    <a:spcPts val="300"/>
                  </a:spcBef>
                  <a:buFont typeface="Courier New" pitchFamily="49" charset="0"/>
                  <a:buChar char="o"/>
                </a:pPr>
                <a:r>
                  <a:rPr lang="en-US" sz="2200" dirty="0">
                    <a:solidFill>
                      <a:srgbClr val="000000"/>
                    </a:solidFill>
                    <a:latin typeface="Verdana" pitchFamily="34" charset="0"/>
                    <a:ea typeface="Verdana" pitchFamily="34" charset="0"/>
                    <a:cs typeface="Myriad Pro"/>
                  </a:rPr>
                  <a:t>The depth of the diver is </a:t>
                </a:r>
                <a14:m>
                  <m:oMath xmlns:m="http://schemas.openxmlformats.org/officeDocument/2006/math">
                    <m:r>
                      <a:rPr lang="en-US" sz="2200">
                        <a:solidFill>
                          <a:srgbClr val="000000"/>
                        </a:solidFill>
                        <a:latin typeface="Cambria Math"/>
                        <a:ea typeface="Myriad Pro"/>
                        <a:cs typeface="Myriad Pro"/>
                      </a:rPr>
                      <m:t>60</m:t>
                    </m:r>
                  </m:oMath>
                </a14:m>
                <a:r>
                  <a:rPr lang="en-US" sz="2200" dirty="0">
                    <a:solidFill>
                      <a:srgbClr val="000000"/>
                    </a:solidFill>
                    <a:latin typeface="Verdana" pitchFamily="34" charset="0"/>
                    <a:ea typeface="Verdana" pitchFamily="34" charset="0"/>
                    <a:cs typeface="Myriad Pro"/>
                  </a:rPr>
                  <a:t> feet below the ocean’s surface. </a:t>
                </a:r>
                <a:endParaRPr lang="en-PH" sz="2200" dirty="0">
                  <a:solidFill>
                    <a:srgbClr val="231F20"/>
                  </a:solidFill>
                  <a:latin typeface="Verdana" pitchFamily="34" charset="0"/>
                  <a:ea typeface="Verdana" pitchFamily="34" charset="0"/>
                  <a:cs typeface="Myriad Pro"/>
                </a:endParaRPr>
              </a:p>
              <a:p>
                <a:pPr marL="357188" indent="-300038">
                  <a:lnSpc>
                    <a:spcPct val="105000"/>
                  </a:lnSpc>
                  <a:spcBef>
                    <a:spcPts val="300"/>
                  </a:spcBef>
                  <a:buFont typeface="Courier New" pitchFamily="49" charset="0"/>
                  <a:buChar char="o"/>
                </a:pPr>
                <a:r>
                  <a:rPr lang="en-US" sz="2200" dirty="0">
                    <a:solidFill>
                      <a:srgbClr val="000000"/>
                    </a:solidFill>
                    <a:latin typeface="Verdana" pitchFamily="34" charset="0"/>
                    <a:ea typeface="Verdana" pitchFamily="34" charset="0"/>
                    <a:cs typeface="Myriad Pro"/>
                  </a:rPr>
                  <a:t>The diver is </a:t>
                </a:r>
                <a14:m>
                  <m:oMath xmlns:m="http://schemas.openxmlformats.org/officeDocument/2006/math">
                    <m:r>
                      <a:rPr lang="en-US" sz="2200" i="1">
                        <a:solidFill>
                          <a:srgbClr val="000000"/>
                        </a:solidFill>
                        <a:latin typeface="Cambria Math"/>
                        <a:ea typeface="Myriad Pro"/>
                        <a:cs typeface="Myriad Pro"/>
                      </a:rPr>
                      <m:t>−</m:t>
                    </m:r>
                    <m:r>
                      <a:rPr lang="en-US" sz="2200">
                        <a:solidFill>
                          <a:srgbClr val="000000"/>
                        </a:solidFill>
                        <a:latin typeface="Cambria Math"/>
                        <a:ea typeface="Myriad Pro"/>
                        <a:cs typeface="Myriad Pro"/>
                      </a:rPr>
                      <m:t>60 </m:t>
                    </m:r>
                  </m:oMath>
                </a14:m>
                <a:r>
                  <a:rPr lang="en-US" sz="2200" dirty="0">
                    <a:solidFill>
                      <a:srgbClr val="000000"/>
                    </a:solidFill>
                    <a:latin typeface="Verdana" pitchFamily="34" charset="0"/>
                    <a:ea typeface="Verdana" pitchFamily="34" charset="0"/>
                    <a:cs typeface="Myriad Pro"/>
                  </a:rPr>
                  <a:t>feet below the ocean’s surface.</a:t>
                </a:r>
                <a:r>
                  <a:rPr lang="en-US" sz="2200" dirty="0">
                    <a:solidFill>
                      <a:srgbClr val="000000"/>
                    </a:solidFill>
                    <a:latin typeface="Verdana" pitchFamily="34" charset="0"/>
                    <a:ea typeface="Verdana" pitchFamily="34" charset="0"/>
                    <a:cs typeface="Times New Roman"/>
                  </a:rPr>
                  <a:t> </a:t>
                </a:r>
                <a:endParaRPr lang="en-PH" sz="2200" dirty="0">
                  <a:latin typeface="Verdana" pitchFamily="34" charset="0"/>
                  <a:ea typeface="Verdana" pitchFamily="34" charset="0"/>
                  <a:cs typeface="Times New Roman"/>
                </a:endParaRPr>
              </a:p>
            </p:txBody>
          </p:sp>
        </mc:Choice>
        <mc:Fallback xmlns="">
          <p:sp>
            <p:nvSpPr>
              <p:cNvPr id="6" name="Rounded Rectangle 5"/>
              <p:cNvSpPr>
                <a:spLocks noRot="1" noChangeAspect="1" noMove="1" noResize="1" noEditPoints="1" noAdjustHandles="1" noChangeArrowheads="1" noChangeShapeType="1" noTextEdit="1"/>
              </p:cNvSpPr>
              <p:nvPr/>
            </p:nvSpPr>
            <p:spPr>
              <a:xfrm>
                <a:off x="1500695" y="1843236"/>
                <a:ext cx="9546977" cy="901523"/>
              </a:xfrm>
              <a:prstGeom prst="roundRect">
                <a:avLst/>
              </a:prstGeom>
              <a:blipFill rotWithShape="1">
                <a:blip r:embed="rId4"/>
                <a:stretch>
                  <a:fillRect t="-662" b="-7285"/>
                </a:stretch>
              </a:blipFill>
              <a:ln w="19050">
                <a:solidFill>
                  <a:schemeClr val="tx1"/>
                </a:solidFill>
              </a:ln>
              <a:effectLst/>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1500695" y="5019284"/>
                <a:ext cx="9546977" cy="931319"/>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57188" indent="-300038">
                  <a:lnSpc>
                    <a:spcPct val="105000"/>
                  </a:lnSpc>
                  <a:spcBef>
                    <a:spcPts val="300"/>
                  </a:spcBef>
                  <a:buFont typeface="Courier New" pitchFamily="49" charset="0"/>
                  <a:buChar char="o"/>
                </a:pPr>
                <a:r>
                  <a:rPr lang="en-US" sz="2200" dirty="0">
                    <a:solidFill>
                      <a:srgbClr val="231F20"/>
                    </a:solidFill>
                    <a:latin typeface="Verdana" pitchFamily="34" charset="0"/>
                    <a:ea typeface="Verdana" pitchFamily="34" charset="0"/>
                    <a:cs typeface="Myriad Pro"/>
                  </a:rPr>
                  <a:t>The bottom of the boat is </a:t>
                </a:r>
                <a14:m>
                  <m:oMath xmlns:m="http://schemas.openxmlformats.org/officeDocument/2006/math">
                    <m:r>
                      <a:rPr lang="en-US" sz="2200" i="1">
                        <a:solidFill>
                          <a:srgbClr val="231F20"/>
                        </a:solidFill>
                        <a:latin typeface="Cambria Math"/>
                        <a:ea typeface="Myriad Pro"/>
                        <a:cs typeface="Myriad Pro"/>
                      </a:rPr>
                      <m:t>5</m:t>
                    </m:r>
                  </m:oMath>
                </a14:m>
                <a:r>
                  <a:rPr lang="en-US" sz="2200" dirty="0">
                    <a:solidFill>
                      <a:srgbClr val="231F20"/>
                    </a:solidFill>
                    <a:latin typeface="Verdana" pitchFamily="34" charset="0"/>
                    <a:ea typeface="Verdana" pitchFamily="34" charset="0"/>
                    <a:cs typeface="Myriad Pro"/>
                  </a:rPr>
                  <a:t> feet above sea level.</a:t>
                </a:r>
                <a:endParaRPr lang="en-PH" sz="2200" dirty="0">
                  <a:solidFill>
                    <a:srgbClr val="231F20"/>
                  </a:solidFill>
                  <a:latin typeface="Verdana" pitchFamily="34" charset="0"/>
                  <a:ea typeface="Verdana" pitchFamily="34" charset="0"/>
                  <a:cs typeface="Myriad Pro"/>
                </a:endParaRPr>
              </a:p>
              <a:p>
                <a:pPr marL="357188" indent="-300038">
                  <a:lnSpc>
                    <a:spcPct val="105000"/>
                  </a:lnSpc>
                  <a:spcBef>
                    <a:spcPts val="300"/>
                  </a:spcBef>
                  <a:buFont typeface="Courier New" pitchFamily="49" charset="0"/>
                  <a:buChar char="o"/>
                </a:pPr>
                <a:r>
                  <a:rPr lang="en-US" sz="2200" dirty="0">
                    <a:solidFill>
                      <a:srgbClr val="231F20"/>
                    </a:solidFill>
                    <a:latin typeface="Verdana" pitchFamily="34" charset="0"/>
                    <a:ea typeface="Verdana" pitchFamily="34" charset="0"/>
                    <a:cs typeface="Myriad Pro"/>
                  </a:rPr>
                  <a:t>The bottom of the boat is </a:t>
                </a:r>
                <a14:m>
                  <m:oMath xmlns:m="http://schemas.openxmlformats.org/officeDocument/2006/math">
                    <m:r>
                      <a:rPr lang="en-US" sz="2200" i="1">
                        <a:solidFill>
                          <a:srgbClr val="231F20"/>
                        </a:solidFill>
                        <a:latin typeface="Cambria Math"/>
                        <a:ea typeface="Myriad Pro"/>
                        <a:cs typeface="Myriad Pro"/>
                      </a:rPr>
                      <m:t>5</m:t>
                    </m:r>
                  </m:oMath>
                </a14:m>
                <a:r>
                  <a:rPr lang="en-US" sz="2200" dirty="0">
                    <a:solidFill>
                      <a:srgbClr val="231F20"/>
                    </a:solidFill>
                    <a:latin typeface="Verdana" pitchFamily="34" charset="0"/>
                    <a:ea typeface="Verdana" pitchFamily="34" charset="0"/>
                    <a:cs typeface="Myriad Pro"/>
                  </a:rPr>
                  <a:t> feet below sea level.</a:t>
                </a:r>
                <a:r>
                  <a:rPr lang="en-US" sz="2200" dirty="0">
                    <a:latin typeface="Verdana" pitchFamily="34" charset="0"/>
                    <a:ea typeface="Verdana" pitchFamily="34" charset="0"/>
                    <a:cs typeface="Times New Roman"/>
                  </a:rPr>
                  <a:t> </a:t>
                </a:r>
                <a:endParaRPr lang="en-PH" sz="2200" dirty="0">
                  <a:latin typeface="Verdana" pitchFamily="34" charset="0"/>
                  <a:ea typeface="Verdana" pitchFamily="34" charset="0"/>
                  <a:cs typeface="Times New Roman"/>
                </a:endParaRPr>
              </a:p>
            </p:txBody>
          </p:sp>
        </mc:Choice>
        <mc:Fallback xmlns="">
          <p:sp>
            <p:nvSpPr>
              <p:cNvPr id="7" name="Rounded Rectangle 6"/>
              <p:cNvSpPr>
                <a:spLocks noRot="1" noChangeAspect="1" noMove="1" noResize="1" noEditPoints="1" noAdjustHandles="1" noChangeArrowheads="1" noChangeShapeType="1" noTextEdit="1"/>
              </p:cNvSpPr>
              <p:nvPr/>
            </p:nvSpPr>
            <p:spPr>
              <a:xfrm>
                <a:off x="1500695" y="5019284"/>
                <a:ext cx="9546977" cy="931319"/>
              </a:xfrm>
              <a:prstGeom prst="roundRect">
                <a:avLst/>
              </a:prstGeom>
              <a:blipFill rotWithShape="1">
                <a:blip r:embed="rId5"/>
                <a:stretch>
                  <a:fillRect b="-5128"/>
                </a:stretch>
              </a:blipFill>
              <a:ln w="19050">
                <a:solidFill>
                  <a:schemeClr val="tx1"/>
                </a:solidFill>
              </a:ln>
              <a:effectLst/>
            </p:spPr>
            <p:txBody>
              <a:bodyPr/>
              <a:lstStyle/>
              <a:p>
                <a:r>
                  <a:rPr lang="en-PH">
                    <a:noFill/>
                  </a:rPr>
                  <a:t> </a:t>
                </a:r>
              </a:p>
            </p:txBody>
          </p:sp>
        </mc:Fallback>
      </mc:AlternateContent>
      <p:sp>
        <p:nvSpPr>
          <p:cNvPr id="9"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797139" y="2783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2976133" y="293774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50915" y="41"/>
            <a:ext cx="1017535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4.6.7 Wrap-Up: Ticket Out </a:t>
            </a:r>
            <a:r>
              <a:rPr lang="en-US" sz="3600" b="1" dirty="0" smtClean="0">
                <a:solidFill>
                  <a:srgbClr val="3F2A67"/>
                </a:solidFill>
                <a:latin typeface="Verdana"/>
                <a:ea typeface="Verdana"/>
                <a:cs typeface="Verdana"/>
                <a:sym typeface="Verdana"/>
              </a:rPr>
              <a:t>the </a:t>
            </a:r>
            <a:r>
              <a:rPr lang="en-US" sz="3600" b="1" dirty="0">
                <a:solidFill>
                  <a:srgbClr val="3F2A67"/>
                </a:solidFill>
                <a:latin typeface="Verdana"/>
                <a:ea typeface="Verdana"/>
                <a:cs typeface="Verdana"/>
                <a:sym typeface="Verdana"/>
              </a:rPr>
              <a:t>Door</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431329" y="28924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 xmlns:a16="http://schemas.microsoft.com/office/drawing/2014/main" id="{0370EDB7-6994-3D43-ABF9-E04CBAFB9CD9}"/>
                  </a:ext>
                </a:extLst>
              </p:cNvPr>
              <p:cNvSpPr txBox="1"/>
              <p:nvPr/>
            </p:nvSpPr>
            <p:spPr>
              <a:xfrm>
                <a:off x="528706" y="1468893"/>
                <a:ext cx="11336979" cy="4373570"/>
              </a:xfrm>
              <a:prstGeom prst="rect">
                <a:avLst/>
              </a:prstGeom>
              <a:noFill/>
            </p:spPr>
            <p:txBody>
              <a:bodyPr wrap="square" rtlCol="0">
                <a:spAutoFit/>
              </a:bodyPr>
              <a:lstStyle/>
              <a:p>
                <a:pPr>
                  <a:lnSpc>
                    <a:spcPct val="105000"/>
                  </a:lnSpc>
                  <a:spcBef>
                    <a:spcPts val="300"/>
                  </a:spcBef>
                  <a:spcAft>
                    <a:spcPts val="1200"/>
                  </a:spcAft>
                  <a:tabLst>
                    <a:tab pos="255905" algn="l"/>
                  </a:tabLst>
                </a:pPr>
                <a:r>
                  <a:rPr lang="en-US" sz="2000" dirty="0">
                    <a:solidFill>
                      <a:srgbClr val="231F20"/>
                    </a:solidFill>
                    <a:latin typeface="Verdana"/>
                    <a:ea typeface="Myriad Pro"/>
                    <a:cs typeface="Myriad Pro"/>
                  </a:rPr>
                  <a:t>Keisha observes that one location is </a:t>
                </a:r>
                <a14:m>
                  <m:oMath xmlns:m="http://schemas.openxmlformats.org/officeDocument/2006/math">
                    <m:r>
                      <a:rPr lang="en-US" sz="2000">
                        <a:solidFill>
                          <a:srgbClr val="231F20"/>
                        </a:solidFill>
                        <a:latin typeface="Cambria Math"/>
                        <a:ea typeface="Myriad Pro"/>
                        <a:cs typeface="Myriad Pro"/>
                      </a:rPr>
                      <m:t>55.2</m:t>
                    </m:r>
                  </m:oMath>
                </a14:m>
                <a:r>
                  <a:rPr lang="en-US" sz="2000" dirty="0">
                    <a:solidFill>
                      <a:srgbClr val="231F20"/>
                    </a:solidFill>
                    <a:latin typeface="Verdana"/>
                    <a:ea typeface="Myriad Pro"/>
                    <a:cs typeface="Myriad Pro"/>
                  </a:rPr>
                  <a:t> feet above sea level and another is </a:t>
                </a:r>
                <a14:m>
                  <m:oMath xmlns:m="http://schemas.openxmlformats.org/officeDocument/2006/math">
                    <m:r>
                      <a:rPr lang="en-US" sz="2000" i="1">
                        <a:solidFill>
                          <a:srgbClr val="231F20"/>
                        </a:solidFill>
                        <a:latin typeface="Cambria Math"/>
                        <a:ea typeface="Myriad Pro"/>
                        <a:cs typeface="Myriad Pro"/>
                      </a:rPr>
                      <m:t>46.8</m:t>
                    </m:r>
                  </m:oMath>
                </a14:m>
                <a:r>
                  <a:rPr lang="en-US" sz="2000" dirty="0">
                    <a:solidFill>
                      <a:srgbClr val="231F20"/>
                    </a:solidFill>
                    <a:latin typeface="Verdana"/>
                    <a:ea typeface="Myriad Pro"/>
                    <a:cs typeface="Myriad Pro"/>
                  </a:rPr>
                  <a:t> feet below sea level.</a:t>
                </a:r>
                <a:endParaRPr lang="en-PH" sz="2000" dirty="0">
                  <a:solidFill>
                    <a:srgbClr val="231F20"/>
                  </a:solidFill>
                  <a:latin typeface="Calibri"/>
                  <a:ea typeface="Myriad Pro"/>
                  <a:cs typeface="Myriad Pro"/>
                </a:endParaRPr>
              </a:p>
              <a:p>
                <a:pPr marL="457200" indent="-457200">
                  <a:lnSpc>
                    <a:spcPct val="105000"/>
                  </a:lnSpc>
                  <a:spcBef>
                    <a:spcPts val="300"/>
                  </a:spcBef>
                  <a:spcAft>
                    <a:spcPts val="1200"/>
                  </a:spcAft>
                  <a:buSzPct val="100000"/>
                  <a:buFont typeface="+mj-lt"/>
                  <a:buAutoNum type="arabicPeriod"/>
                  <a:tabLst>
                    <a:tab pos="255905" algn="l"/>
                    <a:tab pos="457200" algn="l"/>
                  </a:tabLst>
                </a:pPr>
                <a:r>
                  <a:rPr lang="en-US" sz="2000" dirty="0">
                    <a:solidFill>
                      <a:srgbClr val="231F20"/>
                    </a:solidFill>
                    <a:latin typeface="Verdana"/>
                    <a:ea typeface="Myriad Pro"/>
                    <a:cs typeface="Myriad Pro"/>
                  </a:rPr>
                  <a:t>What rational number represents a location of </a:t>
                </a:r>
                <a14:m>
                  <m:oMath xmlns:m="http://schemas.openxmlformats.org/officeDocument/2006/math">
                    <m:r>
                      <a:rPr lang="en-US" sz="2000">
                        <a:solidFill>
                          <a:srgbClr val="231F20"/>
                        </a:solidFill>
                        <a:latin typeface="Cambria Math"/>
                        <a:ea typeface="Myriad Pro"/>
                        <a:cs typeface="Myriad Pro"/>
                      </a:rPr>
                      <m:t>55.2</m:t>
                    </m:r>
                  </m:oMath>
                </a14:m>
                <a:r>
                  <a:rPr lang="en-US" sz="2000" dirty="0">
                    <a:solidFill>
                      <a:srgbClr val="231F20"/>
                    </a:solidFill>
                    <a:latin typeface="Verdana"/>
                    <a:ea typeface="Myriad Pro"/>
                    <a:cs typeface="Myriad Pro"/>
                  </a:rPr>
                  <a:t> feet above sea level?</a:t>
                </a:r>
              </a:p>
              <a:p>
                <a:pPr marL="457200" indent="-457200">
                  <a:lnSpc>
                    <a:spcPct val="105000"/>
                  </a:lnSpc>
                  <a:spcBef>
                    <a:spcPts val="300"/>
                  </a:spcBef>
                  <a:spcAft>
                    <a:spcPts val="1200"/>
                  </a:spcAft>
                  <a:buSzPct val="100000"/>
                  <a:buFont typeface="+mj-lt"/>
                  <a:buAutoNum type="arabicPeriod"/>
                  <a:tabLst>
                    <a:tab pos="255905" algn="l"/>
                    <a:tab pos="457200" algn="l"/>
                  </a:tabLst>
                </a:pPr>
                <a:endParaRPr lang="en-PH" sz="2000" dirty="0">
                  <a:solidFill>
                    <a:srgbClr val="231F20"/>
                  </a:solidFill>
                  <a:latin typeface="Calibri"/>
                  <a:ea typeface="Myriad Pro"/>
                  <a:cs typeface="Myriad Pro"/>
                </a:endParaRPr>
              </a:p>
              <a:p>
                <a:pPr marL="457200" indent="-457200">
                  <a:lnSpc>
                    <a:spcPct val="105000"/>
                  </a:lnSpc>
                  <a:spcBef>
                    <a:spcPts val="300"/>
                  </a:spcBef>
                  <a:spcAft>
                    <a:spcPts val="1200"/>
                  </a:spcAft>
                  <a:buSzPct val="100000"/>
                  <a:buFont typeface="+mj-lt"/>
                  <a:buAutoNum type="arabicPeriod"/>
                  <a:tabLst>
                    <a:tab pos="255905" algn="l"/>
                    <a:tab pos="457200" algn="l"/>
                  </a:tabLst>
                </a:pPr>
                <a:r>
                  <a:rPr lang="en-US" sz="2000" dirty="0">
                    <a:solidFill>
                      <a:srgbClr val="231F20"/>
                    </a:solidFill>
                    <a:latin typeface="Verdana"/>
                    <a:ea typeface="Myriad Pro"/>
                    <a:cs typeface="Myriad Pro"/>
                  </a:rPr>
                  <a:t>What rational number represents a location of</a:t>
                </a:r>
                <a14:m>
                  <m:oMath xmlns:m="http://schemas.openxmlformats.org/officeDocument/2006/math">
                    <m:r>
                      <a:rPr lang="en-US" sz="2000" i="1">
                        <a:solidFill>
                          <a:srgbClr val="231F20"/>
                        </a:solidFill>
                        <a:latin typeface="Cambria Math"/>
                        <a:ea typeface="Myriad Pro"/>
                        <a:cs typeface="Myriad Pro"/>
                      </a:rPr>
                      <m:t> </m:t>
                    </m:r>
                    <m:r>
                      <a:rPr lang="en-US" sz="2000">
                        <a:solidFill>
                          <a:srgbClr val="231F20"/>
                        </a:solidFill>
                        <a:latin typeface="Cambria Math"/>
                        <a:ea typeface="Myriad Pro"/>
                        <a:cs typeface="Myriad Pro"/>
                      </a:rPr>
                      <m:t>46.8</m:t>
                    </m:r>
                  </m:oMath>
                </a14:m>
                <a:r>
                  <a:rPr lang="en-US" sz="2000" dirty="0">
                    <a:solidFill>
                      <a:srgbClr val="231F20"/>
                    </a:solidFill>
                    <a:latin typeface="Verdana"/>
                    <a:ea typeface="Myriad Pro"/>
                    <a:cs typeface="Myriad Pro"/>
                  </a:rPr>
                  <a:t> feet below sea level?</a:t>
                </a:r>
              </a:p>
              <a:p>
                <a:pPr marL="457200" indent="-457200">
                  <a:lnSpc>
                    <a:spcPct val="105000"/>
                  </a:lnSpc>
                  <a:spcBef>
                    <a:spcPts val="300"/>
                  </a:spcBef>
                  <a:buSzPct val="100000"/>
                  <a:buFont typeface="+mj-lt"/>
                  <a:buAutoNum type="arabicPeriod"/>
                  <a:tabLst>
                    <a:tab pos="255905" algn="l"/>
                    <a:tab pos="457200" algn="l"/>
                  </a:tabLst>
                </a:pPr>
                <a:endParaRPr lang="en-US" sz="2000" dirty="0">
                  <a:solidFill>
                    <a:srgbClr val="231F20"/>
                  </a:solidFill>
                  <a:latin typeface="Verdana"/>
                  <a:ea typeface="Myriad Pro"/>
                  <a:cs typeface="Myriad Pro"/>
                </a:endParaRPr>
              </a:p>
              <a:p>
                <a:pPr marL="457200" indent="-457200">
                  <a:lnSpc>
                    <a:spcPct val="105000"/>
                  </a:lnSpc>
                  <a:spcBef>
                    <a:spcPts val="300"/>
                  </a:spcBef>
                  <a:buSzPct val="100000"/>
                  <a:buFont typeface="+mj-lt"/>
                  <a:buAutoNum type="arabicPeriod"/>
                  <a:tabLst>
                    <a:tab pos="255905" algn="l"/>
                    <a:tab pos="457200" algn="l"/>
                  </a:tabLst>
                </a:pPr>
                <a:r>
                  <a:rPr lang="en-US" sz="2000" dirty="0">
                    <a:solidFill>
                      <a:srgbClr val="231F20"/>
                    </a:solidFill>
                    <a:latin typeface="Verdana"/>
                    <a:ea typeface="Myriad Pro"/>
                    <a:cs typeface="Myriad Pro"/>
                  </a:rPr>
                  <a:t>Plot and label each rational number on the number line.</a:t>
                </a:r>
                <a:endParaRPr lang="en-PH" sz="2000" dirty="0">
                  <a:solidFill>
                    <a:srgbClr val="231F20"/>
                  </a:solidFill>
                  <a:latin typeface="Calibri"/>
                  <a:ea typeface="Myriad Pro"/>
                  <a:cs typeface="Myriad Pro"/>
                </a:endParaRPr>
              </a:p>
              <a:p>
                <a:pPr marL="457200" indent="-457200">
                  <a:lnSpc>
                    <a:spcPct val="105000"/>
                  </a:lnSpc>
                  <a:spcBef>
                    <a:spcPts val="300"/>
                  </a:spcBef>
                  <a:buSzPct val="100000"/>
                  <a:buFont typeface="+mj-lt"/>
                  <a:buAutoNum type="arabicPeriod"/>
                  <a:tabLst>
                    <a:tab pos="255905" algn="l"/>
                    <a:tab pos="457200" algn="l"/>
                  </a:tabLst>
                </a:pPr>
                <a:endParaRPr lang="en-US" sz="2000" dirty="0">
                  <a:solidFill>
                    <a:srgbClr val="231F20"/>
                  </a:solidFill>
                  <a:latin typeface="Verdana"/>
                  <a:ea typeface="Myriad Pro"/>
                  <a:cs typeface="Myriad Pro"/>
                </a:endParaRPr>
              </a:p>
              <a:p>
                <a:pPr marL="457200" indent="-457200">
                  <a:lnSpc>
                    <a:spcPct val="105000"/>
                  </a:lnSpc>
                  <a:spcBef>
                    <a:spcPts val="300"/>
                  </a:spcBef>
                  <a:spcAft>
                    <a:spcPts val="1200"/>
                  </a:spcAft>
                  <a:buSzPct val="100000"/>
                  <a:buFont typeface="+mj-lt"/>
                  <a:buAutoNum type="arabicPeriod"/>
                  <a:tabLst>
                    <a:tab pos="255905" algn="l"/>
                    <a:tab pos="457200" algn="l"/>
                  </a:tabLst>
                </a:pPr>
                <a:endParaRPr lang="en-US" sz="2000" dirty="0">
                  <a:solidFill>
                    <a:srgbClr val="231F20"/>
                  </a:solidFill>
                  <a:latin typeface="Verdana"/>
                  <a:ea typeface="Myriad Pro"/>
                  <a:cs typeface="Myriad Pro"/>
                </a:endParaRPr>
              </a:p>
              <a:p>
                <a:pPr marL="457200" indent="-457200">
                  <a:lnSpc>
                    <a:spcPct val="105000"/>
                  </a:lnSpc>
                  <a:spcBef>
                    <a:spcPts val="300"/>
                  </a:spcBef>
                  <a:buSzPct val="100000"/>
                  <a:buFont typeface="+mj-lt"/>
                  <a:buAutoNum type="arabicPeriod"/>
                  <a:tabLst>
                    <a:tab pos="255905" algn="l"/>
                    <a:tab pos="457200" algn="l"/>
                  </a:tabLst>
                </a:pPr>
                <a:r>
                  <a:rPr lang="en-US" sz="2000" dirty="0">
                    <a:solidFill>
                      <a:srgbClr val="231F20"/>
                    </a:solidFill>
                    <a:latin typeface="Verdana"/>
                    <a:ea typeface="Myriad Pro"/>
                    <a:cs typeface="Myriad Pro"/>
                  </a:rPr>
                  <a:t>What does zero represent in this situation?</a:t>
                </a: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28706" y="1468893"/>
                <a:ext cx="11336979" cy="4373570"/>
              </a:xfrm>
              <a:prstGeom prst="rect">
                <a:avLst/>
              </a:prstGeom>
              <a:blipFill rotWithShape="1">
                <a:blip r:embed="rId4"/>
                <a:stretch>
                  <a:fillRect l="-592" t="-976" b="-1674"/>
                </a:stretch>
              </a:blipFill>
            </p:spPr>
            <p:txBody>
              <a:bodyPr/>
              <a:lstStyle/>
              <a:p>
                <a:r>
                  <a:rPr lang="en-PH">
                    <a:noFill/>
                  </a:rPr>
                  <a:t> </a:t>
                </a:r>
              </a:p>
            </p:txBody>
          </p:sp>
        </mc:Fallback>
      </mc:AlternateContent>
      <p:pic>
        <p:nvPicPr>
          <p:cNvPr id="8" name="Picture 7" descr="Chart, scatter chart&#10;&#10;Description automatically generated"/>
          <p:cNvPicPr/>
          <p:nvPr/>
        </p:nvPicPr>
        <p:blipFill rotWithShape="1">
          <a:blip r:embed="rId5" cstate="screen">
            <a:extLst>
              <a:ext uri="{28A0092B-C50C-407E-A947-70E740481C1C}">
                <a14:useLocalDpi xmlns:a14="http://schemas.microsoft.com/office/drawing/2010/main"/>
              </a:ext>
            </a:extLst>
          </a:blip>
          <a:srcRect t="50624" b="36176"/>
          <a:stretch/>
        </p:blipFill>
        <p:spPr bwMode="auto">
          <a:xfrm>
            <a:off x="1865719" y="4885142"/>
            <a:ext cx="7325249" cy="409093"/>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845534" y="6484433"/>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167</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AEB11F-2BA6-452C-9177-B057526C509A}">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041B586D-22D5-4FE3-8E0D-0715159AAE5F}">
  <ds:schemaRefs>
    <ds:schemaRef ds:uri="http://schemas.microsoft.com/sharepoint/v3/contenttype/forms"/>
  </ds:schemaRefs>
</ds:datastoreItem>
</file>

<file path=customXml/itemProps3.xml><?xml version="1.0" encoding="utf-8"?>
<ds:datastoreItem xmlns:ds="http://schemas.openxmlformats.org/officeDocument/2006/customXml" ds:itemID="{36413E53-0A8D-45C4-AEA4-859764B64B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1374</TotalTime>
  <Words>1374</Words>
  <Application>Microsoft Office PowerPoint</Application>
  <PresentationFormat>Custom</PresentationFormat>
  <Paragraphs>217</Paragraphs>
  <Slides>30</Slides>
  <Notes>30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Arial</vt:lpstr>
      <vt:lpstr>Cambria</vt:lpstr>
      <vt:lpstr>Verdana</vt:lpstr>
      <vt:lpstr>Century Gothic</vt:lpstr>
      <vt:lpstr>Myriad Pro</vt:lpstr>
      <vt:lpstr>Wingdings</vt:lpstr>
      <vt:lpstr>Calibri</vt:lpstr>
      <vt:lpstr>Arial Black</vt:lpstr>
      <vt:lpstr>Cambria Math</vt:lpstr>
      <vt:lpstr>Courier New</vt:lpstr>
      <vt:lpstr>Times New Roman</vt:lpstr>
      <vt:lpstr>1_Office Theme</vt:lpstr>
      <vt:lpstr>6th Grade Math  Unit 4, Lesson 6  Rational Numbers in Real-World Context  Volume 1, pg. 161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34</cp:revision>
  <dcterms:created xsi:type="dcterms:W3CDTF">2015-03-17T18:51:18Z</dcterms:created>
  <dcterms:modified xsi:type="dcterms:W3CDTF">2023-07-06T01:16:44Z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