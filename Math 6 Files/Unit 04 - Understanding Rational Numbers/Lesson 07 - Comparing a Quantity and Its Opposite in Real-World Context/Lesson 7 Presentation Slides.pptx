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32" r:id="rId12"/>
    <p:sldId id="320" r:id="rId13"/>
    <p:sldId id="321" r:id="rId14"/>
    <p:sldId id="322" r:id="rId15"/>
    <p:sldId id="333" r:id="rId16"/>
    <p:sldId id="329" r:id="rId17"/>
    <p:sldId id="330" r:id="rId18"/>
    <p:sldId id="302" r:id="rId19"/>
    <p:sldId id="303" r:id="rId20"/>
    <p:sldId id="309" r:id="rId21"/>
    <p:sldId id="306" r:id="rId22"/>
    <p:sldId id="307" r:id="rId23"/>
    <p:sldId id="310" r:id="rId24"/>
  </p:sldIdLst>
  <p:sldSz cx="12192000" cy="6858000"/>
  <p:notesSz cx="6858000" cy="9144000"/>
  <p:embeddedFontLst>
    <p:embeddedFont>
      <p:font typeface="Calibri" pitchFamily="34" charset="0"/>
      <p:regular r:id="rId26"/>
      <p:bold r:id="rId27"/>
      <p:italic r:id="rId28"/>
      <p:boldItalic r:id="rId29"/>
    </p:embeddedFont>
    <p:embeddedFont>
      <p:font typeface="Century Gothic" pitchFamily="34" charset="0"/>
      <p:regular r:id="rId30"/>
      <p:bold r:id="rId31"/>
      <p:italic r:id="rId32"/>
      <p:boldItalic r:id="rId33"/>
    </p:embeddedFont>
    <p:embeddedFont>
      <p:font typeface="Cambria Math" pitchFamily="18" charset="0"/>
      <p:regular r:id="rId34"/>
    </p:embeddedFont>
    <p:embeddedFont>
      <p:font typeface="Arial Black" pitchFamily="34" charset="0"/>
      <p:bold r:id="rId35"/>
    </p:embeddedFont>
    <p:embeddedFont>
      <p:font typeface="Verdana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2" autoAdjust="0"/>
    <p:restoredTop sz="94707" autoAdjust="0"/>
  </p:normalViewPr>
  <p:slideViewPr>
    <p:cSldViewPr snapToGrid="0">
      <p:cViewPr varScale="1">
        <p:scale>
          <a:sx n="83" d="100"/>
          <a:sy n="83" d="100"/>
        </p:scale>
        <p:origin x="-874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61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6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86930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6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tiff"/><Relationship Id="rId5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tiff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tiff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tiff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Comparing a Quantity and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Its Opposite in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Real-World Context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168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84198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039852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52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839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1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29802" y="1600200"/>
            <a:ext cx="1117999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MA.6.NSO.1.2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or </a:t>
            </a:r>
            <a:b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real-world context, represent quantities that have opposite direction using rational numbers. Compare them on a number line and explain the meaning of zero within its context.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135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37892"/>
            <a:ext cx="1044350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669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5313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053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9362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68161" y="1559103"/>
            <a:ext cx="1062108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2800" dirty="0">
                <a:latin typeface="Verdana"/>
                <a:ea typeface="Times New Roman"/>
                <a:cs typeface="Times New Roman"/>
              </a:rPr>
              <a:t>I can compare a quantity and its opposite on a horizontal or vertical line and explain the meaning of zero within the context.</a:t>
            </a:r>
          </a:p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endParaRPr lang="en-US" sz="2800" dirty="0">
              <a:latin typeface="Verdana"/>
              <a:ea typeface="Times New Roman"/>
              <a:cs typeface="Times New Roman"/>
            </a:endParaRPr>
          </a:p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2800" dirty="0">
                <a:latin typeface="Verdana"/>
                <a:ea typeface="Times New Roman"/>
                <a:cs typeface="Times New Roman"/>
              </a:rPr>
              <a:t>I can use the structure of a horizontal and vertical number line to plot rational numbers from a real-world context.</a:t>
            </a:r>
            <a:endParaRPr lang="en-US" sz="28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2230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163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528" y="287110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5792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6340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632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1056742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4.7.1 Warm-Up: Ordering Elevations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93248" y="1394251"/>
            <a:ext cx="109730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Times New Roman"/>
                <a:cs typeface="Times New Roman"/>
              </a:rPr>
              <a:t>Four images from locations across the United States are shown.</a:t>
            </a:r>
          </a:p>
          <a:p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Write an integer that represents each elevation.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057581"/>
              </p:ext>
            </p:extLst>
          </p:nvPr>
        </p:nvGraphicFramePr>
        <p:xfrm>
          <a:off x="2643074" y="2687166"/>
          <a:ext cx="7305676" cy="3521841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6528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528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521841"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a.</a:t>
                      </a: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algn="ctr"/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Integer: ________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b.</a:t>
                      </a: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Integer: ________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9" name="Picture 8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13" t="13402" r="11307" b="30032"/>
          <a:stretch/>
        </p:blipFill>
        <p:spPr bwMode="auto">
          <a:xfrm>
            <a:off x="2824551" y="3212689"/>
            <a:ext cx="3230044" cy="24422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03" r="3003"/>
          <a:stretch>
            <a:fillRect/>
          </a:stretch>
        </p:blipFill>
        <p:spPr bwMode="auto">
          <a:xfrm>
            <a:off x="6588314" y="3212689"/>
            <a:ext cx="3061335" cy="24422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2809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207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084" y="62108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018823" y="584139"/>
            <a:ext cx="1054987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Order the letter of the pictures from lowest elevation to highest.</a:t>
            </a:r>
          </a:p>
          <a:p>
            <a:pPr algn="ctr"/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algn="ctr"/>
            <a:r>
              <a:rPr lang="en-US" sz="2000" dirty="0">
                <a:latin typeface="Verdana"/>
                <a:ea typeface="Times New Roman"/>
                <a:cs typeface="Times New Roman"/>
              </a:rPr>
              <a:t>_____   _____   _____   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96132"/>
              </p:ext>
            </p:extLst>
          </p:nvPr>
        </p:nvGraphicFramePr>
        <p:xfrm>
          <a:off x="2400300" y="520393"/>
          <a:ext cx="7305676" cy="3536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6528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528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536600"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c.</a:t>
                      </a: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algn="ctr"/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Integer: ________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d.</a:t>
                      </a: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Integer: ________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7" name="Picture 6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371" t="11851" r="16290" b="7160"/>
          <a:stretch/>
        </p:blipFill>
        <p:spPr bwMode="auto">
          <a:xfrm>
            <a:off x="2896553" y="854710"/>
            <a:ext cx="2646045" cy="25387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178 Feet Below Sea Level - Furnace Creek - Death Valley National ...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22048" y="927736"/>
            <a:ext cx="3348355" cy="246570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82;g104476d1465_1_17"/>
          <p:cNvSpPr txBox="1"/>
          <p:nvPr/>
        </p:nvSpPr>
        <p:spPr>
          <a:xfrm>
            <a:off x="8742858" y="64679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300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41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9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1477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8435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2729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984215" y="68550"/>
            <a:ext cx="106949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4.7.2 Collaboration: A Quantity and Its Opposite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4407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24812" y="1394250"/>
                <a:ext cx="11105533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Plot the number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8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and its opposite on the number line.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do you notice about the distance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8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and its opposite from zero?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12" y="1394250"/>
                <a:ext cx="11105533" cy="3416320"/>
              </a:xfrm>
              <a:prstGeom prst="rect">
                <a:avLst/>
              </a:prstGeom>
              <a:blipFill>
                <a:blip r:embed="rId5"/>
                <a:stretch>
                  <a:fillRect l="-914" t="-1111" r="-1829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4946" y="3233806"/>
            <a:ext cx="7973846" cy="360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04503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9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45990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Complete the table for each situation given.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087870"/>
                  </p:ext>
                </p:extLst>
              </p:nvPr>
            </p:nvGraphicFramePr>
            <p:xfrm>
              <a:off x="2602806" y="1006475"/>
              <a:ext cx="7360724" cy="53949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4018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840181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840181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84018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𝟕𝟖</m:t>
                              </m:r>
                              <m:r>
                                <a:rPr lang="en-US" sz="2000" b="1" i="1" smtClean="0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.</m:t>
                              </m:r>
                              <m:r>
                                <a:rPr lang="en-US" sz="2000" b="1" i="1" smtClean="0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𝟑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Feet Above Sea Level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𝟑𝟐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Cambria Math"/>
                                </a:rPr>
                                <m:t>°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Cambria Math"/>
                                </a:rPr>
                                <m:t>𝐂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Below Zero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Withdrawal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$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𝟐𝟕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.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𝟔𝟖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Rational Number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Opposite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560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Meaning </a:t>
                          </a:r>
                          <a:b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of Zero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087870"/>
                  </p:ext>
                </p:extLst>
              </p:nvPr>
            </p:nvGraphicFramePr>
            <p:xfrm>
              <a:off x="2602806" y="1006475"/>
              <a:ext cx="7360724" cy="53949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401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401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401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4018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9315" t="-3797" r="-199315" b="-4405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690" t="-3797" r="-100690" b="-4405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690" t="-3797" r="-690" b="-4405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Rational Number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Opposite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60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Meaning </a:t>
                          </a:r>
                          <a:b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of Zero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736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8891"/>
                <a:ext cx="11058959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Omar is at the bookstore on Florida Avenue buying a book about training dogs. He also plans to visit Nolan’s Pet Shop and Rover’s Pet Shop to compare prices for a new leash for his dog. All three stores are on the same street. Nolan’s Pet Shop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7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blocks west of the bookstore. Rover’s Pet Shop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7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blocks east of the bookstore.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Model the locations of the three stores in relation to each other on the number line.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What does zero represent in this situation?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Which pet store is farther away from the bookstore? Explain how you know.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8891"/>
                <a:ext cx="11058959" cy="5016758"/>
              </a:xfrm>
              <a:prstGeom prst="rect">
                <a:avLst/>
              </a:prstGeom>
              <a:blipFill>
                <a:blip r:embed="rId3"/>
                <a:stretch>
                  <a:fillRect l="-573" t="-758"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96424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1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3901" y="3254375"/>
            <a:ext cx="8001000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839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1437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300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92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89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14776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373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106191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4.7.3 Try It: A Quantity and Its Opposite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848831" y="1501835"/>
                <a:ext cx="11026824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On the number line, plot and label a deposit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$64.87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a withdrawal for the same amount from a bank account. What does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represent in this situation?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On the number line, locate and label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17℃ 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below zero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17℃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above zero. What does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represent in this situation?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831" y="1501835"/>
                <a:ext cx="11026824" cy="3170099"/>
              </a:xfrm>
              <a:prstGeom prst="rect">
                <a:avLst/>
              </a:prstGeom>
              <a:blipFill>
                <a:blip r:embed="rId5"/>
                <a:stretch>
                  <a:fillRect l="-575" t="-1200" b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Chart, scatter chart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2969" b="33281"/>
          <a:stretch/>
        </p:blipFill>
        <p:spPr bwMode="auto">
          <a:xfrm>
            <a:off x="2621598" y="2350453"/>
            <a:ext cx="6948805" cy="10902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 descr="Chart, scatter chart&#10;&#10;Description automatically generated"/>
          <p:cNvPicPr/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536" b="34515"/>
          <a:stretch/>
        </p:blipFill>
        <p:spPr bwMode="auto">
          <a:xfrm>
            <a:off x="2621597" y="5012546"/>
            <a:ext cx="7913940" cy="7639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Google Shape;282;g104476d1465_1_17"/>
          <p:cNvSpPr txBox="1"/>
          <p:nvPr/>
        </p:nvSpPr>
        <p:spPr>
          <a:xfrm>
            <a:off x="885550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" y="-8226"/>
            <a:ext cx="316697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7965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465231" y="349704"/>
                <a:ext cx="9483519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Carlos is at the ice cream shop. His house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9.5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blocks north of the shop. The park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9.5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blocks south of the ice cream shop.</a:t>
                </a: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Plot and label all three places on the number line.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When at the ice cream shop, is Carlos closer to the park or his house?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349704"/>
                <a:ext cx="9483519" cy="3016210"/>
              </a:xfrm>
              <a:prstGeom prst="rect">
                <a:avLst/>
              </a:prstGeom>
              <a:blipFill>
                <a:blip r:embed="rId4"/>
                <a:stretch>
                  <a:fillRect l="-668" t="-126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picture containing chart&#10;&#10;Description automatically generated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164" r="32116"/>
          <a:stretch/>
        </p:blipFill>
        <p:spPr bwMode="auto">
          <a:xfrm>
            <a:off x="9948750" y="339300"/>
            <a:ext cx="1356651" cy="5861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3673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9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483776" y="349732"/>
                <a:ext cx="11126022" cy="5476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r>
                  <a:rPr lang="en-US" sz="2000" dirty="0">
                    <a:solidFill>
                      <a:srgbClr val="231F20"/>
                    </a:solidFill>
                    <a:latin typeface="Verdana"/>
                    <a:ea typeface="Myriad Pro"/>
                    <a:cs typeface="Myriad Pro"/>
                  </a:rPr>
                  <a:t>Write the rational number that represents the description, the rational number’s opposite, and the meaning of the opposite in context of the description.</a:t>
                </a: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5000"/>
                  </a:lnSpc>
                  <a:spcBef>
                    <a:spcPts val="300"/>
                  </a:spcBef>
                  <a:buSzPts val="1800"/>
                  <a:buFont typeface="+mj-lt"/>
                  <a:buAutoNum type="arabicPeriod" startAt="4"/>
                  <a:tabLst>
                    <a:tab pos="255905" algn="l"/>
                    <a:tab pos="457200" algn="l"/>
                  </a:tabLst>
                </a:pPr>
                <a:endParaRPr lang="en-PH" sz="1050" dirty="0">
                  <a:solidFill>
                    <a:srgbClr val="231F20"/>
                  </a:solidFill>
                  <a:latin typeface="Calibri"/>
                  <a:ea typeface="Myriad Pro"/>
                  <a:cs typeface="Myriad Pro"/>
                </a:endParaRPr>
              </a:p>
              <a:p>
                <a:pPr marL="457200" indent="-457200">
                  <a:lnSpc>
                    <a:spcPct val="107000"/>
                  </a:lnSpc>
                  <a:spcBef>
                    <a:spcPts val="1200"/>
                  </a:spcBef>
                  <a:buSzPts val="1800"/>
                  <a:buFont typeface="+mj-lt"/>
                  <a:buAutoNum type="arabicPeriod" startAt="5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With a partner, choose one description and describe what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 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could represent in that situation.</a:t>
                </a:r>
                <a:endParaRPr lang="en-US" sz="2000" dirty="0">
                  <a:solidFill>
                    <a:srgbClr val="231F20"/>
                  </a:solidFill>
                  <a:latin typeface="Verdana"/>
                  <a:ea typeface="Myriad Pro"/>
                  <a:cs typeface="Myriad Pro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76" y="349732"/>
                <a:ext cx="11126022" cy="5476564"/>
              </a:xfrm>
              <a:prstGeom prst="rect">
                <a:avLst/>
              </a:prstGeom>
              <a:blipFill>
                <a:blip r:embed="rId4"/>
                <a:stretch>
                  <a:fillRect l="-342" t="-694" b="-1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2648022"/>
                  </p:ext>
                </p:extLst>
              </p:nvPr>
            </p:nvGraphicFramePr>
            <p:xfrm>
              <a:off x="2509164" y="1521499"/>
              <a:ext cx="7920000" cy="3429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630429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Description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/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Rational</a:t>
                          </a:r>
                          <a:r>
                            <a:rPr lang="en-US" sz="2000" b="1" baseline="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 </a:t>
                          </a: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Number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Opposite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Meaning of</a:t>
                          </a:r>
                          <a:r>
                            <a:rPr lang="en-US" sz="2000" b="1" baseline="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 O</a:t>
                          </a: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pposite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An atom’s positive charge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7</m:t>
                              </m:r>
                            </m:oMath>
                          </a14:m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A deposit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$35.84</m:t>
                              </m:r>
                            </m:oMath>
                          </a14:m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3,540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 feet below </a:t>
                          </a:r>
                          <a:b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</a:b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sea level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A rise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41.6℃</m:t>
                              </m:r>
                            </m:oMath>
                          </a14:m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A loss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13.3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 pounds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2648022"/>
                  </p:ext>
                </p:extLst>
              </p:nvPr>
            </p:nvGraphicFramePr>
            <p:xfrm>
              <a:off x="2509164" y="1521499"/>
              <a:ext cx="7920000" cy="327723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04152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Description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/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Rational</a:t>
                          </a:r>
                          <a:r>
                            <a:rPr lang="en-US" sz="2000" b="1" baseline="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 </a:t>
                          </a: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Number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Opposite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Meaning of</a:t>
                          </a:r>
                          <a:r>
                            <a:rPr lang="en-US" sz="2000" b="1" baseline="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 O</a:t>
                          </a: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pposite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72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105357" r="-175771" b="-2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2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383333" r="-175771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41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258929" r="-1757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2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670000" r="-175771" b="-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872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745161" r="-175771" b="-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Myriad Pro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736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6907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2729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65363" y="2770195"/>
            <a:ext cx="69896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52055" y="285697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04503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05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28464" y="171889"/>
            <a:ext cx="10526325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4.7.4 Bring It Together: A Quantity and Its Opposite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69E00F9-F39F-5043-888E-B0A2D8C9AE0F}"/>
              </a:ext>
            </a:extLst>
          </p:cNvPr>
          <p:cNvSpPr txBox="1"/>
          <p:nvPr/>
        </p:nvSpPr>
        <p:spPr>
          <a:xfrm>
            <a:off x="593247" y="1386026"/>
            <a:ext cx="11061541" cy="3528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Work with a partner to write answers to the following questions.</a:t>
            </a:r>
          </a:p>
          <a:p>
            <a:pPr marL="457200" indent="-457200">
              <a:lnSpc>
                <a:spcPct val="105000"/>
              </a:lnSpc>
              <a:spcBef>
                <a:spcPts val="30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231F20"/>
                </a:solidFill>
                <a:latin typeface="Verdana"/>
                <a:ea typeface="Myriad Pro"/>
                <a:cs typeface="Myriad Pro"/>
              </a:rPr>
              <a:t>What is the relationship between any number and its opposite when plotted on a number line?</a:t>
            </a:r>
            <a:endParaRPr lang="en-PH" sz="1100" dirty="0">
              <a:solidFill>
                <a:srgbClr val="231F20"/>
              </a:solidFill>
              <a:latin typeface="Calibri"/>
              <a:ea typeface="Myriad Pro"/>
              <a:cs typeface="Myriad Pro"/>
            </a:endParaRPr>
          </a:p>
          <a:p>
            <a:pPr marL="457200" indent="-457200">
              <a:lnSpc>
                <a:spcPct val="105000"/>
              </a:lnSpc>
              <a:spcBef>
                <a:spcPts val="300"/>
              </a:spcBef>
              <a:buSzPct val="100000"/>
              <a:buFont typeface="+mj-lt"/>
              <a:buAutoNum type="arabicPeriod"/>
            </a:pPr>
            <a:endParaRPr lang="en-US" sz="2400" dirty="0">
              <a:solidFill>
                <a:srgbClr val="231F20"/>
              </a:solidFill>
              <a:latin typeface="Verdana"/>
              <a:ea typeface="Myriad Pro"/>
              <a:cs typeface="Myriad Pro"/>
            </a:endParaRPr>
          </a:p>
          <a:p>
            <a:pPr marL="457200" indent="-457200">
              <a:lnSpc>
                <a:spcPct val="105000"/>
              </a:lnSpc>
              <a:spcBef>
                <a:spcPts val="300"/>
              </a:spcBef>
              <a:buSzPct val="100000"/>
              <a:buFont typeface="+mj-lt"/>
              <a:buAutoNum type="arabicPeriod"/>
            </a:pPr>
            <a:endParaRPr lang="en-US" sz="2400" dirty="0">
              <a:solidFill>
                <a:srgbClr val="231F20"/>
              </a:solidFill>
              <a:latin typeface="Verdana"/>
              <a:ea typeface="Myriad Pro"/>
              <a:cs typeface="Myriad Pro"/>
            </a:endParaRPr>
          </a:p>
          <a:p>
            <a:pPr marL="457200" indent="-457200">
              <a:lnSpc>
                <a:spcPct val="105000"/>
              </a:lnSpc>
              <a:spcBef>
                <a:spcPts val="300"/>
              </a:spcBef>
              <a:buSzPct val="100000"/>
              <a:buFont typeface="+mj-lt"/>
              <a:buAutoNum type="arabicPeriod"/>
            </a:pPr>
            <a:endParaRPr lang="en-US" sz="2400" dirty="0">
              <a:solidFill>
                <a:srgbClr val="231F20"/>
              </a:solidFill>
              <a:latin typeface="Verdana"/>
              <a:ea typeface="Myriad Pro"/>
              <a:cs typeface="Myriad Pro"/>
            </a:endParaRPr>
          </a:p>
          <a:p>
            <a:pPr marL="457200" indent="-457200">
              <a:lnSpc>
                <a:spcPct val="105000"/>
              </a:lnSpc>
              <a:spcBef>
                <a:spcPts val="30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231F20"/>
                </a:solidFill>
                <a:latin typeface="Verdana"/>
                <a:ea typeface="Myriad Pro"/>
                <a:cs typeface="Myriad Pro"/>
              </a:rPr>
              <a:t>How can you use this relationship to locate the opposite of a given number on the number line?</a:t>
            </a:r>
            <a:r>
              <a:rPr lang="en-US" sz="2400" b="1" u="sng" dirty="0">
                <a:solidFill>
                  <a:srgbClr val="231F20"/>
                </a:solidFill>
                <a:latin typeface="Verdana"/>
                <a:ea typeface="Myriad Pro"/>
                <a:cs typeface="Myriad Pro"/>
              </a:rPr>
              <a:t> </a:t>
            </a:r>
            <a:endParaRPr lang="en-PH" sz="1100" dirty="0">
              <a:solidFill>
                <a:srgbClr val="231F20"/>
              </a:solidFill>
              <a:latin typeface="Calibri"/>
              <a:ea typeface="Myriad Pro"/>
              <a:cs typeface="Myriad Pro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51B76FA2-4101-D948-A96A-C3E92147E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928" y="34172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7223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3003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209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9528" y="289387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14777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455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4.7.5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50" y="1394250"/>
                <a:ext cx="7656898" cy="2442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SzPct val="100000"/>
                  <a:buFont typeface="+mj-lt"/>
                  <a:buAutoNum type="arabicPeriod"/>
                </a:pPr>
                <a:r>
                  <a:rPr lang="en-US" sz="2400" dirty="0" err="1">
                    <a:latin typeface="Verdana"/>
                    <a:ea typeface="Times New Roman"/>
                    <a:cs typeface="Times New Roman"/>
                  </a:rPr>
                  <a:t>Janney</a:t>
                </a: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notices that her room’s temperature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4</m:t>
                    </m:r>
                    <m:r>
                      <a:rPr lang="en-US" sz="2400">
                        <a:latin typeface="Cambria Math"/>
                        <a:ea typeface="Times New Roman"/>
                        <a:cs typeface="Times New Roman"/>
                      </a:rPr>
                      <m:t>°</m:t>
                    </m:r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Times New Roman"/>
                        <a:cs typeface="Times New Roman"/>
                      </a:rPr>
                      <m:t>F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below the recommended temperature, and Ivan’s bedroom temperature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4</m:t>
                    </m:r>
                    <m:r>
                      <a:rPr lang="en-US" sz="2400">
                        <a:latin typeface="Cambria Math"/>
                        <a:ea typeface="Times New Roman"/>
                        <a:cs typeface="Times New Roman"/>
                      </a:rPr>
                      <m:t>°</m:t>
                    </m:r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Times New Roman"/>
                        <a:cs typeface="Times New Roman"/>
                      </a:rPr>
                      <m:t>F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above the recommended temperature. Plot the values on the number line and explain what zero represents in this situation. </a:t>
                </a:r>
                <a:endParaRPr lang="en-PH" sz="2400" dirty="0">
                  <a:latin typeface="Calibri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50" y="1394250"/>
                <a:ext cx="7656898" cy="2442207"/>
              </a:xfrm>
              <a:prstGeom prst="rect">
                <a:avLst/>
              </a:prstGeom>
              <a:blipFill>
                <a:blip r:embed="rId5"/>
                <a:stretch>
                  <a:fillRect l="-1159" t="-2073" b="-4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picture containing chart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268" r="45627"/>
          <a:stretch/>
        </p:blipFill>
        <p:spPr bwMode="auto">
          <a:xfrm>
            <a:off x="8513807" y="904748"/>
            <a:ext cx="404853" cy="56244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Google Shape;282;g104476d1465_1_17"/>
          <p:cNvSpPr txBox="1"/>
          <p:nvPr/>
        </p:nvSpPr>
        <p:spPr>
          <a:xfrm>
            <a:off x="8794229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3129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398473"/>
                <a:ext cx="8327136" cy="5757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SzPct val="100000"/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Finn wants to visit his friend Simon who lives 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22.7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blocks west. He also wants to visit his grandparents who live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22.7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blocks east.</a:t>
                </a: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Plot and label the locations of Simon and Finn’s grandparents on the number line. </a:t>
                </a: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does zero represent in this situation? </a:t>
                </a:r>
                <a:endParaRPr lang="en-PH" sz="2400" dirty="0">
                  <a:latin typeface="Calibri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Does Finn live closer to his grandparents or Simon?</a:t>
                </a:r>
                <a:endParaRPr lang="en-PH" sz="2400" dirty="0">
                  <a:latin typeface="Calibri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8473"/>
                <a:ext cx="8327136" cy="5757474"/>
              </a:xfrm>
              <a:prstGeom prst="rect">
                <a:avLst/>
              </a:prstGeom>
              <a:blipFill>
                <a:blip r:embed="rId4"/>
                <a:stretch>
                  <a:fillRect l="-1065" t="-1101" b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2312278" y="2700971"/>
            <a:ext cx="8304549" cy="723854"/>
            <a:chOff x="620111" y="2700971"/>
            <a:chExt cx="8304549" cy="723854"/>
          </a:xfrm>
        </p:grpSpPr>
        <p:pic>
          <p:nvPicPr>
            <p:cNvPr id="6" name="Picture 5" descr="A picture containing diagram&#10;&#10;Description automatically generated"/>
            <p:cNvPicPr/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5416" b="32194"/>
            <a:stretch/>
          </p:blipFill>
          <p:spPr bwMode="auto">
            <a:xfrm>
              <a:off x="1442282" y="2700971"/>
              <a:ext cx="6650684" cy="72385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620111" y="2799783"/>
              <a:ext cx="8304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dirty="0">
                  <a:latin typeface="Verdana" pitchFamily="34" charset="0"/>
                  <a:ea typeface="Verdana" pitchFamily="34" charset="0"/>
                </a:rPr>
                <a:t>West								  East</a:t>
              </a:r>
            </a:p>
          </p:txBody>
        </p:sp>
      </p:grpSp>
      <p:sp>
        <p:nvSpPr>
          <p:cNvPr id="9" name="Google Shape;282;g104476d1465_1_17"/>
          <p:cNvSpPr txBox="1"/>
          <p:nvPr/>
        </p:nvSpPr>
        <p:spPr>
          <a:xfrm>
            <a:off x="8792368" y="648836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2729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83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6133" y="293774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04503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45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4.7.6 Wrap-Up: Ticket Out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93248" y="1386026"/>
            <a:ext cx="8327136" cy="222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Complete the following in the table.</a:t>
            </a:r>
            <a:endParaRPr lang="en-PH" sz="2000" dirty="0">
              <a:latin typeface="Calibri"/>
              <a:ea typeface="Times New Roman"/>
              <a:cs typeface="Times New Roman"/>
            </a:endParaRPr>
          </a:p>
          <a:p>
            <a:pPr marL="714375" indent="-357188">
              <a:lnSpc>
                <a:spcPct val="107000"/>
              </a:lnSpc>
              <a:buFont typeface="Symbol"/>
              <a:buChar char="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Write the rational number that represents the situation.</a:t>
            </a:r>
            <a:endParaRPr lang="en-PH" sz="2000" dirty="0">
              <a:latin typeface="Calibri"/>
              <a:ea typeface="Times New Roman"/>
              <a:cs typeface="Times New Roman"/>
            </a:endParaRPr>
          </a:p>
          <a:p>
            <a:pPr marL="714375" indent="-357188">
              <a:lnSpc>
                <a:spcPct val="107000"/>
              </a:lnSpc>
              <a:buFont typeface="Symbol"/>
              <a:buChar char="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Write the opposite of the rational number.</a:t>
            </a:r>
            <a:endParaRPr lang="en-PH" sz="2000" dirty="0">
              <a:latin typeface="Calibri"/>
              <a:ea typeface="Times New Roman"/>
              <a:cs typeface="Times New Roman"/>
            </a:endParaRPr>
          </a:p>
          <a:p>
            <a:pPr marL="714375" indent="-357188">
              <a:lnSpc>
                <a:spcPct val="107000"/>
              </a:lnSpc>
              <a:buFont typeface="Symbol"/>
              <a:buChar char="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Represent the rational number and its opposite on the number line with appropriate labels.</a:t>
            </a:r>
            <a:endParaRPr lang="en-PH" sz="2000" dirty="0">
              <a:latin typeface="Calibri"/>
              <a:ea typeface="Times New Roman"/>
              <a:cs typeface="Times New Roman"/>
            </a:endParaRPr>
          </a:p>
          <a:p>
            <a:pPr marL="714375" indent="-357188">
              <a:lnSpc>
                <a:spcPct val="107000"/>
              </a:lnSpc>
              <a:buFont typeface="Symbol"/>
              <a:buChar char="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Explain the meaning of zero in the situation.</a:t>
            </a:r>
            <a:endParaRPr lang="en-PH" sz="2000" dirty="0">
              <a:latin typeface="Calibri"/>
              <a:ea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2395767"/>
                  </p:ext>
                </p:extLst>
              </p:nvPr>
            </p:nvGraphicFramePr>
            <p:xfrm>
              <a:off x="2132976" y="3747802"/>
              <a:ext cx="8280000" cy="23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A Deposit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$</m:t>
                              </m:r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𝟗</m:t>
                              </m:r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.</m:t>
                              </m:r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𝟑𝟒</m:t>
                              </m:r>
                            </m:oMath>
                          </a14:m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𝟏𝟕</m:t>
                              </m:r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Cambria Math"/>
                                </a:rPr>
                                <m:t>°</m:t>
                              </m:r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Cambria Math"/>
                                </a:rPr>
                                <m:t>𝐂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 Below Zero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Rational Number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Opposite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2395767"/>
                  </p:ext>
                </p:extLst>
              </p:nvPr>
            </p:nvGraphicFramePr>
            <p:xfrm>
              <a:off x="2132976" y="3747802"/>
              <a:ext cx="8280000" cy="23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529" t="-2326" r="-73333" b="-332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2973" t="-2326" r="-1081" b="-3325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Rational Number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Opposite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Google Shape;282;g104476d1465_1_17"/>
          <p:cNvSpPr txBox="1"/>
          <p:nvPr/>
        </p:nvSpPr>
        <p:spPr>
          <a:xfrm>
            <a:off x="879422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2729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1468429"/>
                  </p:ext>
                </p:extLst>
              </p:nvPr>
            </p:nvGraphicFramePr>
            <p:xfrm>
              <a:off x="2132976" y="422857"/>
              <a:ext cx="8280000" cy="558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A Deposit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$</m:t>
                              </m:r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𝟗</m:t>
                              </m:r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.</m:t>
                              </m:r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𝟑𝟒</m:t>
                              </m:r>
                            </m:oMath>
                          </a14:m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Myriad Pro"/>
                                </a:rPr>
                                <m:t>𝟏𝟕</m:t>
                              </m:r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Cambria Math"/>
                                </a:rPr>
                                <m:t>°</m:t>
                              </m:r>
                              <m:r>
                                <a:rPr lang="en-US" sz="2000" b="1" i="1">
                                  <a:solidFill>
                                    <a:srgbClr val="231F20"/>
                                  </a:solidFill>
                                  <a:effectLst/>
                                  <a:latin typeface="Cambria Math"/>
                                  <a:ea typeface="Myriad Pro"/>
                                  <a:cs typeface="Cambria Math"/>
                                </a:rPr>
                                <m:t>𝐂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 Below Zero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88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Number Line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endParaRPr lang="en-US" sz="2000" dirty="0">
                            <a:solidFill>
                              <a:srgbClr val="231F20"/>
                            </a:solidFill>
                            <a:effectLst/>
                            <a:latin typeface="Verdana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16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Meaning of Zero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1468429"/>
                  </p:ext>
                </p:extLst>
              </p:nvPr>
            </p:nvGraphicFramePr>
            <p:xfrm>
              <a:off x="2132976" y="422857"/>
              <a:ext cx="8280000" cy="558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529" t="-2326" r="-73333" b="-925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2973" t="-2326" r="-1081" b="-925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8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Number Line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endParaRPr lang="en-US" sz="2000" dirty="0">
                            <a:solidFill>
                              <a:srgbClr val="231F20"/>
                            </a:solidFill>
                            <a:effectLst/>
                            <a:latin typeface="Verdana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60000">
                    <a:tc>
                      <a:txBody>
                        <a:bodyPr/>
                        <a:lstStyle/>
                        <a:p>
                          <a:pPr marL="228600" indent="-228600" algn="ctr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b="1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Meaning of Zero</a:t>
                          </a:r>
                          <a:endParaRPr lang="en-PH" sz="200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5000"/>
                            </a:lnSpc>
                            <a:spcBef>
                              <a:spcPts val="30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231F20"/>
                              </a:solidFill>
                              <a:effectLst/>
                              <a:latin typeface="Verdana"/>
                              <a:ea typeface="Myriad Pro"/>
                              <a:cs typeface="Myriad Pro"/>
                            </a:rPr>
                            <a:t> </a:t>
                          </a:r>
                          <a:endParaRPr lang="en-PH" sz="2000" dirty="0">
                            <a:solidFill>
                              <a:srgbClr val="231F20"/>
                            </a:solidFill>
                            <a:effectLst/>
                            <a:latin typeface="Calibri"/>
                            <a:ea typeface="Myriad Pro"/>
                            <a:cs typeface="Myriad Pro"/>
                          </a:endParaRPr>
                        </a:p>
                      </a:txBody>
                      <a:tcPr marL="45720" marR="4572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V="1">
            <a:off x="4962799" y="1963434"/>
            <a:ext cx="3046084" cy="49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7921719" y="2179121"/>
            <a:ext cx="2737482" cy="44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04503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7DE04604-25CF-4F04-A172-1760B792EDFA}"/>
</file>

<file path=customXml/itemProps2.xml><?xml version="1.0" encoding="utf-8"?>
<ds:datastoreItem xmlns:ds="http://schemas.openxmlformats.org/officeDocument/2006/customXml" ds:itemID="{CBCE3B90-ABC5-4FDC-A1EB-8A6F445524EB}"/>
</file>

<file path=customXml/itemProps3.xml><?xml version="1.0" encoding="utf-8"?>
<ds:datastoreItem xmlns:ds="http://schemas.openxmlformats.org/officeDocument/2006/customXml" ds:itemID="{2AC61263-60A4-4C4D-B910-5781516E7252}"/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875</Words>
  <Application>Microsoft Office PowerPoint</Application>
  <PresentationFormat>Custom</PresentationFormat>
  <Paragraphs>264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Symbol</vt:lpstr>
      <vt:lpstr>Calibri</vt:lpstr>
      <vt:lpstr>Myriad Pro</vt:lpstr>
      <vt:lpstr>Times New Roman</vt:lpstr>
      <vt:lpstr>Century Gothic</vt:lpstr>
      <vt:lpstr>Cambria Math</vt:lpstr>
      <vt:lpstr>Arial Black</vt:lpstr>
      <vt:lpstr>Verdana</vt:lpstr>
      <vt:lpstr>1_Office Theme</vt:lpstr>
      <vt:lpstr>6th Grade Math  Unit 4, Lesson 7  Comparing a Quantity and  Its Opposite in  Real-World Context  Volume 1, pg. 168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Bring It Together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33</cp:revision>
  <dcterms:created xsi:type="dcterms:W3CDTF">2015-03-17T18:51:18Z</dcterms:created>
  <dcterms:modified xsi:type="dcterms:W3CDTF">2022-06-05T01:00:14Z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