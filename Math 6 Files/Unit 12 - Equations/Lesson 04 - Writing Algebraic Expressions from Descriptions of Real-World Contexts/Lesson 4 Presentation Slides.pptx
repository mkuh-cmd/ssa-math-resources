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302" r:id="rId8"/>
    <p:sldId id="303" r:id="rId9"/>
    <p:sldId id="340" r:id="rId10"/>
    <p:sldId id="356" r:id="rId11"/>
    <p:sldId id="342" r:id="rId12"/>
    <p:sldId id="343" r:id="rId13"/>
    <p:sldId id="344" r:id="rId14"/>
    <p:sldId id="352" r:id="rId15"/>
    <p:sldId id="363" r:id="rId16"/>
    <p:sldId id="364" r:id="rId17"/>
    <p:sldId id="365" r:id="rId18"/>
    <p:sldId id="311" r:id="rId19"/>
    <p:sldId id="312" r:id="rId20"/>
    <p:sldId id="333" r:id="rId21"/>
    <p:sldId id="306" r:id="rId22"/>
    <p:sldId id="307" r:id="rId23"/>
  </p:sldIdLst>
  <p:sldSz cx="12192000" cy="6858000"/>
  <p:notesSz cx="6858000" cy="9144000"/>
  <p:embeddedFontLst>
    <p:embeddedFont>
      <p:font typeface="Arial Black" panose="020B0A04020102020204" pitchFamily="34" charset="0"/>
      <p:bold r:id="rId25"/>
    </p:embeddedFont>
    <p:embeddedFont>
      <p:font typeface="Calibri" panose="020F0502020204030204" pitchFamily="34" charset="0"/>
      <p:regular r:id="rId26"/>
      <p:bold r:id="rId27"/>
      <p:italic r:id="rId28"/>
      <p:boldItalic r:id="rId29"/>
    </p:embeddedFont>
    <p:embeddedFont>
      <p:font typeface="Cambria" panose="02040503050406030204" pitchFamily="18" charset="0"/>
      <p:regular r:id="rId30"/>
      <p:bold r:id="rId31"/>
      <p:italic r:id="rId32"/>
      <p:boldItalic r:id="rId33"/>
    </p:embeddedFont>
    <p:embeddedFont>
      <p:font typeface="Cambria Math" panose="02040503050406030204" pitchFamily="18" charset="0"/>
      <p:regular r:id="rId34"/>
    </p:embeddedFont>
    <p:embeddedFont>
      <p:font typeface="Century Gothic" panose="020B0502020202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0CB"/>
    <a:srgbClr val="8B2D77"/>
    <a:srgbClr val="14BAAA"/>
    <a:srgbClr val="26B7D4"/>
    <a:srgbClr val="E24E5F"/>
    <a:srgbClr val="52BDA6"/>
    <a:srgbClr val="276C46"/>
    <a:srgbClr val="C9DF6F"/>
    <a:srgbClr val="417DBF"/>
    <a:srgbClr val="3F2A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91"/>
    <p:restoredTop sz="94719"/>
  </p:normalViewPr>
  <p:slideViewPr>
    <p:cSldViewPr snapToGrid="0">
      <p:cViewPr varScale="1">
        <p:scale>
          <a:sx n="81" d="100"/>
          <a:sy n="81" d="100"/>
        </p:scale>
        <p:origin x="1248"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0601898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12684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188141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962758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5368421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543301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0632223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111473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925039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511967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0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3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12, Lesson 4</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Writing Algebraic Expressions from Descriptions of Real-World Contexts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299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5" name="Picture 4"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97002"/>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solidFill>
                <a:srgbClr val="26B7D4"/>
              </a:solidFill>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MA.6.AR.1.1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Given a mathematical or real-world context, translate written descriptions into algebraic expressions and translate algebraic expressions into written descriptions.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76284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9" name="Google Shape;282;g104476d1465_1_17">
            <a:extLst>
              <a:ext uri="{FF2B5EF4-FFF2-40B4-BE49-F238E27FC236}">
                <a16:creationId xmlns:a16="http://schemas.microsoft.com/office/drawing/2014/main" id="{AC0AE969-0A27-9545-AB11-BBE5491801C1}"/>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299</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630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547093"/>
            <a:ext cx="10515600" cy="44988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translate a real-world description into an algebraic expression.  </a:t>
            </a:r>
          </a:p>
        </p:txBody>
      </p:sp>
      <p:sp>
        <p:nvSpPr>
          <p:cNvPr id="8" name="Google Shape;282;g104476d1465_1_17">
            <a:extLst>
              <a:ext uri="{FF2B5EF4-FFF2-40B4-BE49-F238E27FC236}">
                <a16:creationId xmlns:a16="http://schemas.microsoft.com/office/drawing/2014/main" id="{AE0319DD-E1E2-064E-A3C0-1ADADEA7DC7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299</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770632"/>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70632"/>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06503EB0-E904-7143-BA20-369F935837E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299</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2156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12.4.1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4423955" y="1833817"/>
            <a:ext cx="5910948" cy="3046988"/>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do you notice about the image?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What do you wonder about the image? </a:t>
            </a:r>
          </a:p>
        </p:txBody>
      </p:sp>
      <p:sp>
        <p:nvSpPr>
          <p:cNvPr id="18" name="Google Shape;282;g104476d1465_1_17">
            <a:extLst>
              <a:ext uri="{FF2B5EF4-FFF2-40B4-BE49-F238E27FC236}">
                <a16:creationId xmlns:a16="http://schemas.microsoft.com/office/drawing/2014/main" id="{570FC961-D801-0C4E-8D4A-AEC23A74C9C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299</a:t>
            </a:r>
            <a:endParaRPr i="1" dirty="0">
              <a:latin typeface="Calibri"/>
              <a:ea typeface="Calibri"/>
              <a:cs typeface="Calibri"/>
              <a:sym typeface="Calibri"/>
            </a:endParaRPr>
          </a:p>
        </p:txBody>
      </p:sp>
      <p:pic>
        <p:nvPicPr>
          <p:cNvPr id="9" name="Picture 8" descr="A picture containing outdoor, light&#10;&#10;Description automatically generated">
            <a:extLst>
              <a:ext uri="{FF2B5EF4-FFF2-40B4-BE49-F238E27FC236}">
                <a16:creationId xmlns:a16="http://schemas.microsoft.com/office/drawing/2014/main" id="{DBCF5E9C-A2A3-B94B-BAB8-0F93D2DC589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26317" y="1523185"/>
            <a:ext cx="3187065" cy="350393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70632"/>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400" b="1" dirty="0">
                <a:solidFill>
                  <a:srgbClr val="52BDA6"/>
                </a:solidFill>
                <a:latin typeface="Verdana"/>
                <a:ea typeface="Verdana"/>
                <a:cs typeface="Verdana"/>
                <a:sym typeface="Verdana"/>
              </a:rPr>
              <a:t>Collaboration</a:t>
            </a:r>
            <a:endParaRPr sz="40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300</a:t>
            </a:r>
            <a:endParaRPr i="1" dirty="0">
              <a:latin typeface="Calibri"/>
              <a:ea typeface="Calibri"/>
              <a:cs typeface="Calibri"/>
              <a:sym typeface="Calibri"/>
            </a:endParaRPr>
          </a:p>
        </p:txBody>
      </p:sp>
      <p:pic>
        <p:nvPicPr>
          <p:cNvPr id="7" name="image5.png">
            <a:extLst>
              <a:ext uri="{FF2B5EF4-FFF2-40B4-BE49-F238E27FC236}">
                <a16:creationId xmlns:a16="http://schemas.microsoft.com/office/drawing/2014/main" id="{60100B06-3A93-D54C-A964-96E4C2C2EEA7}"/>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770632"/>
            <a:ext cx="1128534" cy="112853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43000" y="60325"/>
            <a:ext cx="801930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2BDA6"/>
                </a:solidFill>
                <a:latin typeface="Verdana"/>
                <a:ea typeface="Verdana"/>
                <a:cs typeface="Verdana"/>
                <a:sym typeface="Verdana"/>
              </a:rPr>
              <a:t>12.4.2 Collaboration: Matching Activity</a:t>
            </a:r>
          </a:p>
        </p:txBody>
      </p:sp>
      <p:sp>
        <p:nvSpPr>
          <p:cNvPr id="2" name="Rectangle 1">
            <a:extLst>
              <a:ext uri="{FF2B5EF4-FFF2-40B4-BE49-F238E27FC236}">
                <a16:creationId xmlns:a16="http://schemas.microsoft.com/office/drawing/2014/main" id="{A66A031F-2EC8-DF4C-B3F5-E7AC5B8F3239}"/>
              </a:ext>
            </a:extLst>
          </p:cNvPr>
          <p:cNvSpPr/>
          <p:nvPr/>
        </p:nvSpPr>
        <p:spPr>
          <a:xfrm>
            <a:off x="914400" y="1375713"/>
            <a:ext cx="10515600" cy="1938992"/>
          </a:xfrm>
          <a:prstGeom prst="rect">
            <a:avLst/>
          </a:prstGeom>
        </p:spPr>
        <p:txBody>
          <a:bodyPr wrap="square">
            <a:spAutoFit/>
          </a:bodyPr>
          <a:lstStyle/>
          <a:p>
            <a:pPr marL="11113">
              <a:buSzPts val="1800"/>
            </a:pPr>
            <a:r>
              <a:rPr lang="en-US" sz="2400" b="1" dirty="0">
                <a:latin typeface="Verdana" panose="020B0604030504040204" pitchFamily="34" charset="0"/>
                <a:ea typeface="Verdana" panose="020B0604030504040204" pitchFamily="34" charset="0"/>
                <a:cs typeface="Verdana" panose="020B0604030504040204" pitchFamily="34" charset="0"/>
              </a:rPr>
              <a:t>Part 1</a:t>
            </a:r>
          </a:p>
          <a:p>
            <a:pPr marL="11113">
              <a:buSzPts val="1800"/>
            </a:pPr>
            <a:r>
              <a:rPr lang="en-US" sz="2400" dirty="0">
                <a:latin typeface="Verdana" panose="020B0604030504040204" pitchFamily="34" charset="0"/>
                <a:ea typeface="Verdana" panose="020B0604030504040204" pitchFamily="34" charset="0"/>
                <a:cs typeface="Verdana" panose="020B0604030504040204" pitchFamily="34" charset="0"/>
              </a:rPr>
              <a:t>Match each written description to the appropriate bar model, where the red portion is the result of the written description.  Write the letter of the bar model beside the corresponding word description.</a:t>
            </a:r>
          </a:p>
        </p:txBody>
      </p:sp>
      <p:sp>
        <p:nvSpPr>
          <p:cNvPr id="13" name="Google Shape;282;g104476d1465_1_17">
            <a:extLst>
              <a:ext uri="{FF2B5EF4-FFF2-40B4-BE49-F238E27FC236}">
                <a16:creationId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300</a:t>
            </a:r>
            <a:endParaRPr i="1" dirty="0">
              <a:latin typeface="Calibri"/>
              <a:ea typeface="Calibri"/>
              <a:cs typeface="Calibri"/>
              <a:sym typeface="Calibri"/>
            </a:endParaRPr>
          </a:p>
        </p:txBody>
      </p:sp>
      <p:pic>
        <p:nvPicPr>
          <p:cNvPr id="12" name="image5.png">
            <a:extLst>
              <a:ext uri="{FF2B5EF4-FFF2-40B4-BE49-F238E27FC236}">
                <a16:creationId xmlns:a16="http://schemas.microsoft.com/office/drawing/2014/main" id="{04C19B76-A060-3243-AE2C-88D93DB1A19F}"/>
              </a:ext>
            </a:extLst>
          </p:cNvPr>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p:graphicFrame>
        <p:nvGraphicFramePr>
          <p:cNvPr id="3" name="Table 2">
            <a:extLst>
              <a:ext uri="{FF2B5EF4-FFF2-40B4-BE49-F238E27FC236}">
                <a16:creationId xmlns:a16="http://schemas.microsoft.com/office/drawing/2014/main" id="{D4F77930-884D-5743-93F5-8157D8B38B72}"/>
              </a:ext>
            </a:extLst>
          </p:cNvPr>
          <p:cNvGraphicFramePr>
            <a:graphicFrameLocks noGrp="1"/>
          </p:cNvGraphicFramePr>
          <p:nvPr>
            <p:extLst>
              <p:ext uri="{D42A27DB-BD31-4B8C-83A1-F6EECF244321}">
                <p14:modId xmlns:p14="http://schemas.microsoft.com/office/powerpoint/2010/main" val="1707154824"/>
              </p:ext>
            </p:extLst>
          </p:nvPr>
        </p:nvGraphicFramePr>
        <p:xfrm>
          <a:off x="2884805" y="3615277"/>
          <a:ext cx="6422390" cy="2059940"/>
        </p:xfrm>
        <a:graphic>
          <a:graphicData uri="http://schemas.openxmlformats.org/drawingml/2006/table">
            <a:tbl>
              <a:tblPr firstRow="1" firstCol="1" bandRow="1">
                <a:tableStyleId>{A91F0D33-8C57-4600-99A7-42BC86742BE1}</a:tableStyleId>
              </a:tblPr>
              <a:tblGrid>
                <a:gridCol w="4104640">
                  <a:extLst>
                    <a:ext uri="{9D8B030D-6E8A-4147-A177-3AD203B41FA5}">
                      <a16:colId xmlns:a16="http://schemas.microsoft.com/office/drawing/2014/main" val="2180688139"/>
                    </a:ext>
                  </a:extLst>
                </a:gridCol>
                <a:gridCol w="2317750">
                  <a:extLst>
                    <a:ext uri="{9D8B030D-6E8A-4147-A177-3AD203B41FA5}">
                      <a16:colId xmlns:a16="http://schemas.microsoft.com/office/drawing/2014/main" val="3559102045"/>
                    </a:ext>
                  </a:extLst>
                </a:gridCol>
              </a:tblGrid>
              <a:tr h="40830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Bar Model</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202080185"/>
                  </a:ext>
                </a:extLst>
              </a:tr>
              <a:tr h="427355">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1. Ten subtracted from a number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6862748"/>
                  </a:ext>
                </a:extLst>
              </a:tr>
              <a:tr h="408305">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2. A number divided by ten</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8874242"/>
                  </a:ext>
                </a:extLst>
              </a:tr>
              <a:tr h="427355">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3. The sum of a number and ten</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4002716"/>
                  </a:ext>
                </a:extLst>
              </a:tr>
              <a:tr h="38862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4. A number times ten</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718112"/>
                  </a:ext>
                </a:extLst>
              </a:tr>
            </a:tbl>
          </a:graphicData>
        </a:graphic>
      </p:graphicFrame>
    </p:spTree>
    <p:extLst>
      <p:ext uri="{BB962C8B-B14F-4D97-AF65-F5344CB8AC3E}">
        <p14:creationId xmlns:p14="http://schemas.microsoft.com/office/powerpoint/2010/main" val="3101299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897112" y="645767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300</a:t>
            </a:r>
            <a:endParaRPr i="1" dirty="0">
              <a:latin typeface="Calibri"/>
              <a:ea typeface="Calibri"/>
              <a:cs typeface="Calibri"/>
              <a:sym typeface="Calibri"/>
            </a:endParaRPr>
          </a:p>
        </p:txBody>
      </p:sp>
      <p:pic>
        <p:nvPicPr>
          <p:cNvPr id="5" name="Picture 4" descr="Chart&#10;&#10;Description automatically generated with medium confidence">
            <a:extLst>
              <a:ext uri="{FF2B5EF4-FFF2-40B4-BE49-F238E27FC236}">
                <a16:creationId xmlns:a16="http://schemas.microsoft.com/office/drawing/2014/main" id="{9E2B83C5-F6FB-EE47-BCA2-0DB1AF66090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13463" y="920099"/>
            <a:ext cx="7165075" cy="4481278"/>
          </a:xfrm>
          <a:prstGeom prst="rect">
            <a:avLst/>
          </a:prstGeom>
        </p:spPr>
      </p:pic>
    </p:spTree>
    <p:extLst>
      <p:ext uri="{BB962C8B-B14F-4D97-AF65-F5344CB8AC3E}">
        <p14:creationId xmlns:p14="http://schemas.microsoft.com/office/powerpoint/2010/main" val="252435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D9AF1552-9966-3643-BA84-BB4BC68EDBB5}"/>
              </a:ext>
            </a:extLst>
          </p:cNvPr>
          <p:cNvSpPr/>
          <p:nvPr/>
        </p:nvSpPr>
        <p:spPr>
          <a:xfrm>
            <a:off x="914400" y="385584"/>
            <a:ext cx="10515600" cy="1938992"/>
          </a:xfrm>
          <a:prstGeom prst="rect">
            <a:avLst/>
          </a:prstGeom>
        </p:spPr>
        <p:txBody>
          <a:bodyPr wrap="square">
            <a:spAutoFit/>
          </a:bodyPr>
          <a:lstStyle/>
          <a:p>
            <a:pPr lvl="0">
              <a:buSzPct val="100000"/>
            </a:pPr>
            <a:r>
              <a:rPr lang="en-US" sz="2400" b="1" dirty="0">
                <a:latin typeface="Verdana" panose="020B0604030504040204" pitchFamily="34" charset="0"/>
                <a:ea typeface="Times New Roman" panose="02020603050405020304" pitchFamily="18" charset="0"/>
                <a:cs typeface="Times New Roman" panose="02020603050405020304" pitchFamily="18" charset="0"/>
              </a:rPr>
              <a:t>Part 2</a:t>
            </a:r>
          </a:p>
          <a:p>
            <a:pPr lvl="0">
              <a:buSzPct val="100000"/>
            </a:pPr>
            <a:r>
              <a:rPr lang="en-US" sz="2400" dirty="0">
                <a:latin typeface="Verdana" panose="020B0604030504040204" pitchFamily="34" charset="0"/>
                <a:ea typeface="Times New Roman" panose="02020603050405020304" pitchFamily="18" charset="0"/>
                <a:cs typeface="Times New Roman" panose="02020603050405020304" pitchFamily="18" charset="0"/>
              </a:rPr>
              <a:t>Turn and talk with your partner to compare your matches. Then, work with your partner to write an algebraic expression that represents the written description and bar model.</a:t>
            </a:r>
          </a:p>
        </p:txBody>
      </p:sp>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897112" y="645767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300</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1D3105C4-C249-4647-A291-58DA4655FE04}"/>
              </a:ext>
            </a:extLst>
          </p:cNvPr>
          <p:cNvGraphicFramePr>
            <a:graphicFrameLocks noGrp="1"/>
          </p:cNvGraphicFramePr>
          <p:nvPr>
            <p:extLst>
              <p:ext uri="{D42A27DB-BD31-4B8C-83A1-F6EECF244321}">
                <p14:modId xmlns:p14="http://schemas.microsoft.com/office/powerpoint/2010/main" val="4113757457"/>
              </p:ext>
            </p:extLst>
          </p:nvPr>
        </p:nvGraphicFramePr>
        <p:xfrm>
          <a:off x="2684780" y="2637949"/>
          <a:ext cx="6822440" cy="2726690"/>
        </p:xfrm>
        <a:graphic>
          <a:graphicData uri="http://schemas.openxmlformats.org/drawingml/2006/table">
            <a:tbl>
              <a:tblPr firstRow="1" firstCol="1" bandRow="1">
                <a:tableStyleId>{A91F0D33-8C57-4600-99A7-42BC86742BE1}</a:tableStyleId>
              </a:tblPr>
              <a:tblGrid>
                <a:gridCol w="3947160">
                  <a:extLst>
                    <a:ext uri="{9D8B030D-6E8A-4147-A177-3AD203B41FA5}">
                      <a16:colId xmlns:a16="http://schemas.microsoft.com/office/drawing/2014/main" val="2370695461"/>
                    </a:ext>
                  </a:extLst>
                </a:gridCol>
                <a:gridCol w="2875280">
                  <a:extLst>
                    <a:ext uri="{9D8B030D-6E8A-4147-A177-3AD203B41FA5}">
                      <a16:colId xmlns:a16="http://schemas.microsoft.com/office/drawing/2014/main" val="4084120808"/>
                    </a:ext>
                  </a:extLst>
                </a:gridCol>
              </a:tblGrid>
              <a:tr h="54038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Algebraic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158283813"/>
                  </a:ext>
                </a:extLst>
              </a:tr>
              <a:tr h="565785">
                <a:tc>
                  <a:txBody>
                    <a:bodyPr/>
                    <a:lstStyle/>
                    <a:p>
                      <a:pPr marL="0" marR="0" algn="l">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1. Ten subtracted from a number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2734024"/>
                  </a:ext>
                </a:extLst>
              </a:tr>
              <a:tr h="540385">
                <a:tc>
                  <a:txBody>
                    <a:bodyPr/>
                    <a:lstStyle/>
                    <a:p>
                      <a:pPr marL="0" marR="0" algn="l">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2. A number divided by ten</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5112755"/>
                  </a:ext>
                </a:extLst>
              </a:tr>
              <a:tr h="565785">
                <a:tc>
                  <a:txBody>
                    <a:bodyPr/>
                    <a:lstStyle/>
                    <a:p>
                      <a:pPr marL="0" marR="0" algn="l">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3. The sum of a number and ten</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6562672"/>
                  </a:ext>
                </a:extLst>
              </a:tr>
              <a:tr h="514350">
                <a:tc>
                  <a:txBody>
                    <a:bodyPr/>
                    <a:lstStyle/>
                    <a:p>
                      <a:pPr marL="0" marR="0" algn="l">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4. A number times ten</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8748458"/>
                  </a:ext>
                </a:extLst>
              </a:tr>
            </a:tbl>
          </a:graphicData>
        </a:graphic>
      </p:graphicFrame>
    </p:spTree>
    <p:extLst>
      <p:ext uri="{BB962C8B-B14F-4D97-AF65-F5344CB8AC3E}">
        <p14:creationId xmlns:p14="http://schemas.microsoft.com/office/powerpoint/2010/main" val="2676669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id="{AE80E75D-78AE-A94E-86B4-91D469B7BFA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C031FE84-D423-CC4C-831E-2D526CB9114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770632"/>
            <a:ext cx="1156733" cy="115673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39353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62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4B5D1"/>
                </a:solidFill>
                <a:latin typeface="Verdana"/>
                <a:ea typeface="Verdana"/>
                <a:cs typeface="Verdana"/>
                <a:sym typeface="Verdana"/>
              </a:rPr>
              <a:t>12.4.3 Guided Instruction: Writing Algebraic Expressions from Descriptions of Real-World Contexts</a:t>
            </a: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B2BE9AFC-D858-8947-AE27-3738478587E3}"/>
                  </a:ext>
                </a:extLst>
              </p:cNvPr>
              <p:cNvSpPr/>
              <p:nvPr/>
            </p:nvSpPr>
            <p:spPr>
              <a:xfrm>
                <a:off x="914400" y="1331162"/>
                <a:ext cx="10515600" cy="3785652"/>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Algebraic expressions can be used to represent real-world situations.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Misty has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34</m:t>
                    </m:r>
                  </m:oMath>
                </a14:m>
                <a:r>
                  <a:rPr lang="en-US" sz="2000" dirty="0">
                    <a:latin typeface="Verdana" panose="020B0604030504040204" pitchFamily="34" charset="0"/>
                    <a:ea typeface="Verdana" panose="020B0604030504040204" pitchFamily="34" charset="0"/>
                    <a:cs typeface="Verdana" panose="020B0604030504040204" pitchFamily="34" charset="0"/>
                  </a:rPr>
                  <a:t> pairs of shoes arranged on a number of shelves. The same number of shoes are on each shelf. She has </a:t>
                </a:r>
                <a:r>
                  <a:rPr lang="en-US" sz="2000" dirty="0" err="1">
                    <a:latin typeface="Verdana" panose="020B0604030504040204" pitchFamily="34" charset="0"/>
                    <a:ea typeface="Verdana" panose="020B0604030504040204" pitchFamily="34" charset="0"/>
                    <a:cs typeface="Verdana" panose="020B0604030504040204" pitchFamily="34" charset="0"/>
                  </a:rPr>
                  <a:t>ℎ</a:t>
                </a:r>
                <a:r>
                  <a:rPr lang="en-US" sz="2000" dirty="0">
                    <a:latin typeface="Verdana" panose="020B0604030504040204" pitchFamily="34" charset="0"/>
                    <a:ea typeface="Verdana" panose="020B0604030504040204" pitchFamily="34" charset="0"/>
                    <a:cs typeface="Verdana" panose="020B0604030504040204" pitchFamily="34" charset="0"/>
                  </a:rPr>
                  <a:t> number of shelves.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Write an algebraic expression that represents this situation.</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does the algebraic expression represent?</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p:sp>
            <p:nvSpPr>
              <p:cNvPr id="2" name="Rectangle 1">
                <a:extLst>
                  <a:ext uri="{FF2B5EF4-FFF2-40B4-BE49-F238E27FC236}">
                    <a16:creationId xmlns:a16="http://schemas.microsoft.com/office/drawing/2014/main" id="{B2BE9AFC-D858-8947-AE27-3738478587E3}"/>
                  </a:ext>
                </a:extLst>
              </p:cNvPr>
              <p:cNvSpPr>
                <a:spLocks noRot="1" noChangeAspect="1" noMove="1" noResize="1" noEditPoints="1" noAdjustHandles="1" noChangeArrowheads="1" noChangeShapeType="1" noTextEdit="1"/>
              </p:cNvSpPr>
              <p:nvPr/>
            </p:nvSpPr>
            <p:spPr>
              <a:xfrm>
                <a:off x="914400" y="1331162"/>
                <a:ext cx="10515600" cy="3785652"/>
              </a:xfrm>
              <a:prstGeom prst="rect">
                <a:avLst/>
              </a:prstGeom>
              <a:blipFill>
                <a:blip r:embed="rId4"/>
                <a:stretch>
                  <a:fillRect l="-638" t="-805"/>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2" name="Picture 11" descr="Icon&#10;&#10;Description automatically generated">
            <a:extLst>
              <a:ext uri="{FF2B5EF4-FFF2-40B4-BE49-F238E27FC236}">
                <a16:creationId xmlns:a16="http://schemas.microsoft.com/office/drawing/2014/main" id="{C6C9C2DF-E989-BB45-9CB6-957F2793000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spTree>
    <p:extLst>
      <p:ext uri="{BB962C8B-B14F-4D97-AF65-F5344CB8AC3E}">
        <p14:creationId xmlns:p14="http://schemas.microsoft.com/office/powerpoint/2010/main" val="4194801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22E7CAFC-319F-CE4F-8B26-ED2749A56CDA}"/>
                  </a:ext>
                </a:extLst>
              </p:cNvPr>
              <p:cNvSpPr/>
              <p:nvPr/>
            </p:nvSpPr>
            <p:spPr>
              <a:xfrm>
                <a:off x="914400" y="902611"/>
                <a:ext cx="10515600" cy="3416320"/>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Martin buys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pounds of apples at a price per pound to make pie. Each pound costs 𝑝 dollars.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an algebraic expression to represent this situation.</a:t>
                </a: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does the algebraic expression represent?</a:t>
                </a:r>
              </a:p>
            </p:txBody>
          </p:sp>
        </mc:Choice>
        <mc:Fallback>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14400" y="902611"/>
                <a:ext cx="10515600" cy="3416320"/>
              </a:xfrm>
              <a:prstGeom prst="rect">
                <a:avLst/>
              </a:prstGeom>
              <a:blipFill>
                <a:blip r:embed="rId4"/>
                <a:stretch>
                  <a:fillRect l="-870" t="-1607" b="-3214"/>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spTree>
    <p:extLst>
      <p:ext uri="{BB962C8B-B14F-4D97-AF65-F5344CB8AC3E}">
        <p14:creationId xmlns:p14="http://schemas.microsoft.com/office/powerpoint/2010/main" val="2153346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22E7CAFC-319F-CE4F-8B26-ED2749A56CDA}"/>
                  </a:ext>
                </a:extLst>
              </p:cNvPr>
              <p:cNvSpPr/>
              <p:nvPr/>
            </p:nvSpPr>
            <p:spPr>
              <a:xfrm>
                <a:off x="914400" y="398702"/>
                <a:ext cx="10515600" cy="4524315"/>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Paige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inches taller than her brother. Paige’s brother is 𝑚 inches tall.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an algebraic expression to represent this situation.</a:t>
                </a:r>
              </a:p>
              <a:p>
                <a:pPr marL="914400" indent="-4572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What does the algebraic expression represent?</a:t>
                </a:r>
              </a:p>
              <a:p>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14400" y="398702"/>
                <a:ext cx="10515600" cy="4524315"/>
              </a:xfrm>
              <a:prstGeom prst="rect">
                <a:avLst/>
              </a:prstGeom>
              <a:blipFill>
                <a:blip r:embed="rId4"/>
                <a:stretch>
                  <a:fillRect l="-870" t="-1211"/>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spTree>
    <p:extLst>
      <p:ext uri="{BB962C8B-B14F-4D97-AF65-F5344CB8AC3E}">
        <p14:creationId xmlns:p14="http://schemas.microsoft.com/office/powerpoint/2010/main" val="370816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70632"/>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400" b="1" dirty="0">
                <a:solidFill>
                  <a:srgbClr val="52BDA6"/>
                </a:solidFill>
                <a:latin typeface="Verdana"/>
                <a:ea typeface="Verdana"/>
                <a:cs typeface="Verdana"/>
                <a:sym typeface="Verdana"/>
              </a:rPr>
              <a:t>Collaboration</a:t>
            </a:r>
            <a:endParaRPr sz="40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p:pic>
        <p:nvPicPr>
          <p:cNvPr id="7" name="image5.png">
            <a:extLst>
              <a:ext uri="{FF2B5EF4-FFF2-40B4-BE49-F238E27FC236}">
                <a16:creationId xmlns:a16="http://schemas.microsoft.com/office/drawing/2014/main" id="{60100B06-3A93-D54C-A964-96E4C2C2EEA7}"/>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770632"/>
            <a:ext cx="1128534" cy="112853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45796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43000" y="64008"/>
            <a:ext cx="8019288"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12.4.4 Collaboration: Error Analysis</a:t>
            </a:r>
          </a:p>
        </p:txBody>
      </p:sp>
      <p:sp>
        <p:nvSpPr>
          <p:cNvPr id="2" name="Rectangle 1">
            <a:extLst>
              <a:ext uri="{FF2B5EF4-FFF2-40B4-BE49-F238E27FC236}">
                <a16:creationId xmlns:a16="http://schemas.microsoft.com/office/drawing/2014/main" id="{A66A031F-2EC8-DF4C-B3F5-E7AC5B8F3239}"/>
              </a:ext>
            </a:extLst>
          </p:cNvPr>
          <p:cNvSpPr/>
          <p:nvPr/>
        </p:nvSpPr>
        <p:spPr>
          <a:xfrm>
            <a:off x="914400" y="1375713"/>
            <a:ext cx="10515600" cy="3785652"/>
          </a:xfrm>
          <a:prstGeom prst="rect">
            <a:avLst/>
          </a:prstGeom>
        </p:spPr>
        <p:txBody>
          <a:bodyPr wrap="square">
            <a:spAutoFit/>
          </a:bodyPr>
          <a:lstStyle/>
          <a:p>
            <a:pPr marL="11113">
              <a:buSzPts val="1800"/>
            </a:pPr>
            <a:r>
              <a:rPr lang="en-US" sz="2400" dirty="0">
                <a:latin typeface="Verdana" panose="020B0604030504040204" pitchFamily="34" charset="0"/>
                <a:ea typeface="Verdana" panose="020B0604030504040204" pitchFamily="34" charset="0"/>
                <a:cs typeface="Verdana" panose="020B0604030504040204" pitchFamily="34" charset="0"/>
              </a:rPr>
              <a:t>Nero was working on a matching activity where he was given written descriptions for a series of mathematical expressions. Nero had to create an algebraic expression for each description.  </a:t>
            </a:r>
          </a:p>
          <a:p>
            <a:pPr marL="11113">
              <a:buSzPts val="1800"/>
            </a:pPr>
            <a:r>
              <a:rPr lang="en-US" sz="2400" dirty="0">
                <a:latin typeface="Verdana" panose="020B0604030504040204" pitchFamily="34" charset="0"/>
                <a:ea typeface="Verdana" panose="020B0604030504040204" pitchFamily="34" charset="0"/>
                <a:cs typeface="Verdana" panose="020B0604030504040204" pitchFamily="34" charset="0"/>
              </a:rPr>
              <a:t> </a:t>
            </a:r>
          </a:p>
          <a:p>
            <a:pPr marL="468313" indent="-457200">
              <a:buSzPct val="1000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Below are three written descriptions with the algebraic expressions Nero wrote. Determine whether each expression is correct. If the expression is incorrect, explain why it isn’t correct and write the correct expression. </a:t>
            </a:r>
          </a:p>
        </p:txBody>
      </p:sp>
      <p:sp>
        <p:nvSpPr>
          <p:cNvPr id="13" name="Google Shape;282;g104476d1465_1_17">
            <a:extLst>
              <a:ext uri="{FF2B5EF4-FFF2-40B4-BE49-F238E27FC236}">
                <a16:creationId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p:pic>
        <p:nvPicPr>
          <p:cNvPr id="12" name="image5.png">
            <a:extLst>
              <a:ext uri="{FF2B5EF4-FFF2-40B4-BE49-F238E27FC236}">
                <a16:creationId xmlns:a16="http://schemas.microsoft.com/office/drawing/2014/main" id="{04C19B76-A060-3243-AE2C-88D93DB1A19F}"/>
              </a:ext>
            </a:extLst>
          </p:cNvPr>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p:spTree>
    <p:extLst>
      <p:ext uri="{BB962C8B-B14F-4D97-AF65-F5344CB8AC3E}">
        <p14:creationId xmlns:p14="http://schemas.microsoft.com/office/powerpoint/2010/main" val="3214518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4073C603-6E95-D64C-8165-D7D15A4E1FFD}"/>
                  </a:ext>
                </a:extLst>
              </p:cNvPr>
              <p:cNvGraphicFramePr>
                <a:graphicFrameLocks noGrp="1"/>
              </p:cNvGraphicFramePr>
              <p:nvPr>
                <p:extLst>
                  <p:ext uri="{D42A27DB-BD31-4B8C-83A1-F6EECF244321}">
                    <p14:modId xmlns:p14="http://schemas.microsoft.com/office/powerpoint/2010/main" val="3368484367"/>
                  </p:ext>
                </p:extLst>
              </p:nvPr>
            </p:nvGraphicFramePr>
            <p:xfrm>
              <a:off x="3386171" y="661783"/>
              <a:ext cx="5419659" cy="5534435"/>
            </p:xfrm>
            <a:graphic>
              <a:graphicData uri="http://schemas.openxmlformats.org/drawingml/2006/table">
                <a:tbl>
                  <a:tblPr firstRow="1" firstCol="1" bandRow="1">
                    <a:tableStyleId>{A91F0D33-8C57-4600-99A7-42BC86742BE1}</a:tableStyleId>
                  </a:tblPr>
                  <a:tblGrid>
                    <a:gridCol w="2560570">
                      <a:extLst>
                        <a:ext uri="{9D8B030D-6E8A-4147-A177-3AD203B41FA5}">
                          <a16:colId xmlns:a16="http://schemas.microsoft.com/office/drawing/2014/main" val="3312661510"/>
                        </a:ext>
                      </a:extLst>
                    </a:gridCol>
                    <a:gridCol w="1249146">
                      <a:extLst>
                        <a:ext uri="{9D8B030D-6E8A-4147-A177-3AD203B41FA5}">
                          <a16:colId xmlns:a16="http://schemas.microsoft.com/office/drawing/2014/main" val="2339147567"/>
                        </a:ext>
                      </a:extLst>
                    </a:gridCol>
                    <a:gridCol w="1609943">
                      <a:extLst>
                        <a:ext uri="{9D8B030D-6E8A-4147-A177-3AD203B41FA5}">
                          <a16:colId xmlns:a16="http://schemas.microsoft.com/office/drawing/2014/main" val="778560524"/>
                        </a:ext>
                      </a:extLst>
                    </a:gridCol>
                  </a:tblGrid>
                  <a:tr h="667035">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x-none" sz="1000" b="1" dirty="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Nero’s Expression</a:t>
                          </a:r>
                          <a:endParaRPr lang="x-none" sz="1000" b="1" dirty="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Correct / Incorrect</a:t>
                          </a:r>
                          <a:endParaRPr lang="x-none" sz="10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Explanation</a:t>
                          </a:r>
                          <a:endParaRPr lang="x-none" sz="1000" b="1" dirty="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550414959"/>
                      </a:ext>
                    </a:extLst>
                  </a:tr>
                  <a:tr h="1338188">
                    <a:tc>
                      <a:txBody>
                        <a:bodyPr/>
                        <a:lstStyle/>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André purchased the latest gaming bundle with </a:t>
                          </a:r>
                          <a14:m>
                            <m:oMath xmlns:m="http://schemas.openxmlformats.org/officeDocument/2006/math">
                              <m:r>
                                <a:rPr lang="en-US" sz="1400">
                                  <a:effectLst/>
                                  <a:latin typeface="Cambria Math"/>
                                </a:rPr>
                                <m:t>𝑥</m:t>
                              </m:r>
                            </m:oMath>
                          </a14:m>
                          <a:r>
                            <a:rPr lang="en-US" sz="1400" dirty="0">
                              <a:effectLst/>
                              <a:latin typeface="Verdana" panose="020B0604030504040204" pitchFamily="34" charset="0"/>
                              <a:ea typeface="Verdana" panose="020B0604030504040204" pitchFamily="34" charset="0"/>
                              <a:cs typeface="Verdana" panose="020B0604030504040204" pitchFamily="34" charset="0"/>
                            </a:rPr>
                            <a:t> new add-ons, which is </a:t>
                          </a:r>
                          <a14:m>
                            <m:oMath xmlns:m="http://schemas.openxmlformats.org/officeDocument/2006/math">
                              <m:r>
                                <a:rPr lang="en-US" sz="1400">
                                  <a:effectLst/>
                                  <a:latin typeface="Cambria Math"/>
                                </a:rPr>
                                <m:t>7</m:t>
                              </m:r>
                            </m:oMath>
                          </a14:m>
                          <a:r>
                            <a:rPr lang="en-US" sz="1400" dirty="0">
                              <a:effectLst/>
                              <a:latin typeface="Verdana" panose="020B0604030504040204" pitchFamily="34" charset="0"/>
                              <a:ea typeface="Verdana" panose="020B0604030504040204" pitchFamily="34" charset="0"/>
                              <a:cs typeface="Verdana" panose="020B0604030504040204" pitchFamily="34" charset="0"/>
                            </a:rPr>
                            <a:t> times as many as his cousin </a:t>
                          </a:r>
                          <a:r>
                            <a:rPr lang="en-US" sz="1400" dirty="0" err="1">
                              <a:effectLst/>
                              <a:latin typeface="Verdana" panose="020B0604030504040204" pitchFamily="34" charset="0"/>
                              <a:ea typeface="Verdana" panose="020B0604030504040204" pitchFamily="34" charset="0"/>
                              <a:cs typeface="Verdana" panose="020B0604030504040204" pitchFamily="34" charset="0"/>
                            </a:rPr>
                            <a:t>Jaydah</a:t>
                          </a:r>
                          <a:r>
                            <a:rPr lang="en-US" sz="1400" dirty="0">
                              <a:effectLst/>
                              <a:latin typeface="Verdana" panose="020B0604030504040204" pitchFamily="34" charset="0"/>
                              <a:ea typeface="Verdana" panose="020B0604030504040204" pitchFamily="34" charset="0"/>
                              <a:cs typeface="Verdana" panose="020B0604030504040204" pitchFamily="34" charset="0"/>
                            </a:rPr>
                            <a:t> has.</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𝑥</m:t>
                                </m:r>
                                <m:r>
                                  <a:rPr lang="en-US" sz="1400">
                                    <a:effectLst/>
                                    <a:latin typeface="Cambria Math"/>
                                  </a:rPr>
                                  <m:t>+7</m:t>
                                </m:r>
                              </m:oMath>
                            </m:oMathPara>
                          </a14:m>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930623"/>
                      </a:ext>
                    </a:extLst>
                  </a:tr>
                  <a:tr h="2223450">
                    <a:tc>
                      <a:txBody>
                        <a:bodyPr/>
                        <a:lstStyle/>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Trenton volunteers with the Future Leaders of our Youth. He was helping to collect coats for </a:t>
                          </a:r>
                          <a14:m>
                            <m:oMath xmlns:m="http://schemas.openxmlformats.org/officeDocument/2006/math">
                              <m:r>
                                <a:rPr lang="en-US" sz="1400">
                                  <a:effectLst/>
                                  <a:latin typeface="Cambria Math"/>
                                </a:rPr>
                                <m:t>5</m:t>
                              </m:r>
                            </m:oMath>
                          </a14:m>
                          <a:r>
                            <a:rPr lang="en-US" sz="1400">
                              <a:effectLst/>
                              <a:latin typeface="Verdana" panose="020B0604030504040204" pitchFamily="34" charset="0"/>
                              <a:ea typeface="Verdana" panose="020B0604030504040204" pitchFamily="34" charset="0"/>
                              <a:cs typeface="Verdana" panose="020B0604030504040204" pitchFamily="34" charset="0"/>
                            </a:rPr>
                            <a:t> families that were in need this winter. Trenton collected </a:t>
                          </a:r>
                          <a14:m>
                            <m:oMath xmlns:m="http://schemas.openxmlformats.org/officeDocument/2006/math">
                              <m:r>
                                <a:rPr lang="en-US" sz="1400">
                                  <a:effectLst/>
                                  <a:latin typeface="Cambria Math"/>
                                </a:rPr>
                                <m:t>𝑥</m:t>
                              </m:r>
                            </m:oMath>
                          </a14:m>
                          <a:r>
                            <a:rPr lang="en-US" sz="1400">
                              <a:effectLst/>
                              <a:latin typeface="Verdana" panose="020B0604030504040204" pitchFamily="34" charset="0"/>
                              <a:ea typeface="Verdana" panose="020B0604030504040204" pitchFamily="34" charset="0"/>
                              <a:cs typeface="Verdana" panose="020B0604030504040204" pitchFamily="34" charset="0"/>
                            </a:rPr>
                            <a:t> coats and wanted to break up the total number of coats equally among the families.  </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𝑥</m:t>
                                </m:r>
                                <m:r>
                                  <a:rPr lang="en-US" sz="1400">
                                    <a:effectLst/>
                                    <a:latin typeface="Cambria Math"/>
                                  </a:rPr>
                                  <m:t>−5</m:t>
                                </m:r>
                              </m:oMath>
                            </m:oMathPara>
                          </a14:m>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7026183"/>
                      </a:ext>
                    </a:extLst>
                  </a:tr>
                  <a:tr h="1305762">
                    <a:tc>
                      <a:txBody>
                        <a:bodyPr/>
                        <a:lstStyle/>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Elena created </a:t>
                          </a:r>
                          <a14:m>
                            <m:oMath xmlns:m="http://schemas.openxmlformats.org/officeDocument/2006/math">
                              <m:r>
                                <a:rPr lang="en-US" sz="1400">
                                  <a:effectLst/>
                                  <a:latin typeface="Cambria Math"/>
                                </a:rPr>
                                <m:t>2</m:t>
                              </m:r>
                            </m:oMath>
                          </a14:m>
                          <a:r>
                            <a:rPr lang="en-US" sz="1400">
                              <a:effectLst/>
                              <a:latin typeface="Verdana" panose="020B0604030504040204" pitchFamily="34" charset="0"/>
                              <a:ea typeface="Verdana" panose="020B0604030504040204" pitchFamily="34" charset="0"/>
                              <a:cs typeface="Verdana" panose="020B0604030504040204" pitchFamily="34" charset="0"/>
                            </a:rPr>
                            <a:t> more videos for her YouTube Channel. She originally had </a:t>
                          </a:r>
                          <a14:m>
                            <m:oMath xmlns:m="http://schemas.openxmlformats.org/officeDocument/2006/math">
                              <m:r>
                                <a:rPr lang="en-US" sz="1400">
                                  <a:effectLst/>
                                  <a:latin typeface="Cambria Math"/>
                                </a:rPr>
                                <m:t>𝑥</m:t>
                              </m:r>
                            </m:oMath>
                          </a14:m>
                          <a:r>
                            <a:rPr lang="en-US" sz="1400">
                              <a:effectLst/>
                              <a:latin typeface="Verdana" panose="020B0604030504040204" pitchFamily="34" charset="0"/>
                              <a:ea typeface="Verdana" panose="020B0604030504040204" pitchFamily="34" charset="0"/>
                              <a:cs typeface="Verdana" panose="020B0604030504040204" pitchFamily="34" charset="0"/>
                            </a:rPr>
                            <a:t> videos posted.  </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2+</m:t>
                                </m:r>
                                <m:r>
                                  <a:rPr lang="en-US" sz="1400">
                                    <a:effectLst/>
                                    <a:latin typeface="Cambria Math"/>
                                  </a:rPr>
                                  <m:t>𝑥</m:t>
                                </m:r>
                              </m:oMath>
                            </m:oMathPara>
                          </a14:m>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1457466"/>
                      </a:ext>
                    </a:extLst>
                  </a:tr>
                </a:tbl>
              </a:graphicData>
            </a:graphic>
          </p:graphicFrame>
        </mc:Choice>
        <mc:Fallback xmlns="">
          <p:graphicFrame>
            <p:nvGraphicFramePr>
              <p:cNvPr id="3" name="Table 2">
                <a:extLst>
                  <a:ext uri="{FF2B5EF4-FFF2-40B4-BE49-F238E27FC236}">
                    <a16:creationId xmlns:a16="http://schemas.microsoft.com/office/drawing/2014/main" id="{4073C603-6E95-D64C-8165-D7D15A4E1FFD}"/>
                  </a:ext>
                </a:extLst>
              </p:cNvPr>
              <p:cNvGraphicFramePr>
                <a:graphicFrameLocks noGrp="1"/>
              </p:cNvGraphicFramePr>
              <p:nvPr>
                <p:extLst>
                  <p:ext uri="{D42A27DB-BD31-4B8C-83A1-F6EECF244321}">
                    <p14:modId xmlns:p14="http://schemas.microsoft.com/office/powerpoint/2010/main" val="3368484367"/>
                  </p:ext>
                </p:extLst>
              </p:nvPr>
            </p:nvGraphicFramePr>
            <p:xfrm>
              <a:off x="3386171" y="661783"/>
              <a:ext cx="5419659" cy="5534435"/>
            </p:xfrm>
            <a:graphic>
              <a:graphicData uri="http://schemas.openxmlformats.org/drawingml/2006/table">
                <a:tbl>
                  <a:tblPr firstRow="1" firstCol="1" bandRow="1">
                    <a:tableStyleId>{A91F0D33-8C57-4600-99A7-42BC86742BE1}</a:tableStyleId>
                  </a:tblPr>
                  <a:tblGrid>
                    <a:gridCol w="2560570">
                      <a:extLst>
                        <a:ext uri="{9D8B030D-6E8A-4147-A177-3AD203B41FA5}">
                          <a16:colId xmlns:a16="http://schemas.microsoft.com/office/drawing/2014/main" val="3312661510"/>
                        </a:ext>
                      </a:extLst>
                    </a:gridCol>
                    <a:gridCol w="1249146">
                      <a:extLst>
                        <a:ext uri="{9D8B030D-6E8A-4147-A177-3AD203B41FA5}">
                          <a16:colId xmlns:a16="http://schemas.microsoft.com/office/drawing/2014/main" val="2339147567"/>
                        </a:ext>
                      </a:extLst>
                    </a:gridCol>
                    <a:gridCol w="1609943">
                      <a:extLst>
                        <a:ext uri="{9D8B030D-6E8A-4147-A177-3AD203B41FA5}">
                          <a16:colId xmlns:a16="http://schemas.microsoft.com/office/drawing/2014/main" val="778560524"/>
                        </a:ext>
                      </a:extLst>
                    </a:gridCol>
                  </a:tblGrid>
                  <a:tr h="667035">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x-none" sz="1000" b="1" dirty="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Nero’s Expression</a:t>
                          </a:r>
                          <a:endParaRPr lang="x-none" sz="1000" b="1" dirty="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Correct / Incorrect</a:t>
                          </a:r>
                          <a:endParaRPr lang="x-none" sz="10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Explanation</a:t>
                          </a:r>
                          <a:endParaRPr lang="x-none" sz="1000" b="1" dirty="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550414959"/>
                      </a:ext>
                    </a:extLst>
                  </a:tr>
                  <a:tr h="1338188">
                    <a:tc>
                      <a:txBody>
                        <a:bodyPr/>
                        <a:lstStyle/>
                        <a:p>
                          <a:endParaRPr lang="en-US"/>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95" t="-54286" r="-112376" b="-266667"/>
                          </a:stretch>
                        </a:blipFill>
                      </a:tcPr>
                    </a:tc>
                    <a:tc>
                      <a:txBody>
                        <a:bodyPr/>
                        <a:lstStyle/>
                        <a:p>
                          <a:endParaRPr lang="en-US"/>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5051" t="-54286" r="-129293" b="-266667"/>
                          </a:stretch>
                        </a:blipFill>
                      </a:tcPr>
                    </a:tc>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930623"/>
                      </a:ext>
                    </a:extLst>
                  </a:tr>
                  <a:tr h="2223450">
                    <a:tc>
                      <a:txBody>
                        <a:bodyPr/>
                        <a:lstStyle/>
                        <a:p>
                          <a:endParaRPr lang="en-US"/>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95" t="-92571" r="-112376" b="-60000"/>
                          </a:stretch>
                        </a:blipFill>
                      </a:tcPr>
                    </a:tc>
                    <a:tc>
                      <a:txBody>
                        <a:bodyPr/>
                        <a:lstStyle/>
                        <a:p>
                          <a:endParaRPr lang="en-US"/>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5051" t="-92571" r="-129293" b="-60000"/>
                          </a:stretch>
                        </a:blipFill>
                      </a:tcPr>
                    </a:tc>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7026183"/>
                      </a:ext>
                    </a:extLst>
                  </a:tr>
                  <a:tr h="1305762">
                    <a:tc>
                      <a:txBody>
                        <a:bodyPr/>
                        <a:lstStyle/>
                        <a:p>
                          <a:endParaRPr lang="en-US"/>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95" t="-327184" r="-112376" b="-1942"/>
                          </a:stretch>
                        </a:blipFill>
                      </a:tcPr>
                    </a:tc>
                    <a:tc>
                      <a:txBody>
                        <a:bodyPr/>
                        <a:lstStyle/>
                        <a:p>
                          <a:endParaRPr lang="en-US"/>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5051" t="-327184" r="-129293" b="-1942"/>
                          </a:stretch>
                        </a:blipFill>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55587" marR="55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1457466"/>
                      </a:ext>
                    </a:extLst>
                  </a:tr>
                </a:tbl>
              </a:graphicData>
            </a:graphic>
          </p:graphicFrame>
        </mc:Fallback>
      </mc:AlternateContent>
    </p:spTree>
    <p:extLst>
      <p:ext uri="{BB962C8B-B14F-4D97-AF65-F5344CB8AC3E}">
        <p14:creationId xmlns:p14="http://schemas.microsoft.com/office/powerpoint/2010/main" val="2451191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E24E5F"/>
                </a:solidFill>
                <a:latin typeface="Verdana"/>
                <a:ea typeface="Verdana"/>
                <a:cs typeface="Verdana"/>
                <a:sym typeface="Verdana"/>
              </a:rPr>
              <a:t>Your Turn</a:t>
            </a:r>
            <a:endParaRPr sz="4000" b="1" dirty="0">
              <a:solidFill>
                <a:srgbClr val="E24E5F"/>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2C8C0BED-1AF4-B944-96AA-2CF26F1ABF6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770632"/>
            <a:ext cx="1156228" cy="11562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42286" y="-8555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E24E5F"/>
                </a:solidFill>
                <a:latin typeface="Verdana"/>
                <a:ea typeface="Verdana"/>
                <a:cs typeface="Verdana"/>
                <a:sym typeface="Verdana"/>
              </a:rPr>
              <a:t>12.4.5 Your Turn!</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05AB5A2-AF35-B14C-AE54-D2A0628C823C}"/>
                  </a:ext>
                </a:extLst>
              </p:cNvPr>
              <p:cNvSpPr/>
              <p:nvPr/>
            </p:nvSpPr>
            <p:spPr>
              <a:xfrm>
                <a:off x="914400" y="1340982"/>
                <a:ext cx="10515600" cy="3785652"/>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Write an algebraic expression to represent each situation.</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Joe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years younger than Drew, who is 𝑛 years old.</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Jenna’s salary, 𝑠, is lowered by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$120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2" name="Rectangle 1">
                <a:extLst>
                  <a:ext uri="{FF2B5EF4-FFF2-40B4-BE49-F238E27FC236}">
                    <a16:creationId xmlns:a16="http://schemas.microsoft.com/office/drawing/2014/main" id="{B05AB5A2-AF35-B14C-AE54-D2A0628C823C}"/>
                  </a:ext>
                </a:extLst>
              </p:cNvPr>
              <p:cNvSpPr>
                <a:spLocks noRot="1" noChangeAspect="1" noMove="1" noResize="1" noEditPoints="1" noAdjustHandles="1" noChangeArrowheads="1" noChangeShapeType="1" noTextEdit="1"/>
              </p:cNvSpPr>
              <p:nvPr/>
            </p:nvSpPr>
            <p:spPr>
              <a:xfrm>
                <a:off x="914400" y="1340982"/>
                <a:ext cx="10515600" cy="3785652"/>
              </a:xfrm>
              <a:prstGeom prst="rect">
                <a:avLst/>
              </a:prstGeom>
              <a:blipFill>
                <a:blip r:embed="rId4"/>
                <a:stretch>
                  <a:fillRect l="-965" t="-1338"/>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85268C17-F7CB-D243-B65D-166A4DD9987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id="{00D9959C-BC81-7642-9A75-F49D3552473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2254" cy="752254"/>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E3DC8F22-04D2-D04F-BA67-53D9B7F3B29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8A71DEF1-087D-214F-86DF-C80090F990CE}"/>
                  </a:ext>
                </a:extLst>
              </p:cNvPr>
              <p:cNvSpPr/>
              <p:nvPr/>
            </p:nvSpPr>
            <p:spPr>
              <a:xfrm>
                <a:off x="914400" y="436782"/>
                <a:ext cx="10515600" cy="4154984"/>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Maria has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cupcakes and wants to split them among 𝑓 friends. </a:t>
                </a:r>
              </a:p>
              <a:p>
                <a:pPr marL="457200" indent="-457200">
                  <a:buFont typeface="+mj-lt"/>
                  <a:buAutoNum type="arabi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Target has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cookie packages with 𝑐 cookies in each. </a:t>
                </a:r>
              </a:p>
            </p:txBody>
          </p:sp>
        </mc:Choice>
        <mc:Fallback xmlns="">
          <p:sp>
            <p:nvSpPr>
              <p:cNvPr id="6" name="Rectangle 5">
                <a:extLst>
                  <a:ext uri="{FF2B5EF4-FFF2-40B4-BE49-F238E27FC236}">
                    <a16:creationId xmlns:a16="http://schemas.microsoft.com/office/drawing/2014/main" id="{8A71DEF1-087D-214F-86DF-C80090F990CE}"/>
                  </a:ext>
                </a:extLst>
              </p:cNvPr>
              <p:cNvSpPr>
                <a:spLocks noRot="1" noChangeAspect="1" noMove="1" noResize="1" noEditPoints="1" noAdjustHandles="1" noChangeArrowheads="1" noChangeShapeType="1" noTextEdit="1"/>
              </p:cNvSpPr>
              <p:nvPr/>
            </p:nvSpPr>
            <p:spPr>
              <a:xfrm>
                <a:off x="914400" y="436782"/>
                <a:ext cx="10515600" cy="4154984"/>
              </a:xfrm>
              <a:prstGeom prst="rect">
                <a:avLst/>
              </a:prstGeom>
              <a:blipFill>
                <a:blip r:embed="rId4"/>
                <a:stretch>
                  <a:fillRect l="-965" t="-1524"/>
                </a:stretch>
              </a:blipFill>
            </p:spPr>
            <p:txBody>
              <a:bodyPr/>
              <a:lstStyle/>
              <a:p>
                <a:r>
                  <a:rPr lang="en-US">
                    <a:noFill/>
                  </a:rPr>
                  <a:t> </a:t>
                </a:r>
              </a:p>
            </p:txBody>
          </p:sp>
        </mc:Fallback>
      </mc:AlternateContent>
    </p:spTree>
    <p:extLst>
      <p:ext uri="{BB962C8B-B14F-4D97-AF65-F5344CB8AC3E}">
        <p14:creationId xmlns:p14="http://schemas.microsoft.com/office/powerpoint/2010/main" val="155251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770632"/>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ABBAE5D4-A013-554B-AF18-FD3C50BA4B0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303</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18288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12.4.6 Wrap-Up: Growth Mindset</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0A85065-1747-6C4E-8BA4-9C1ED8A185A6}"/>
              </a:ext>
            </a:extLst>
          </p:cNvPr>
          <p:cNvSpPr/>
          <p:nvPr/>
        </p:nvSpPr>
        <p:spPr>
          <a:xfrm>
            <a:off x="914400" y="1074046"/>
            <a:ext cx="10515600" cy="83099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a note to yourself about a mistake you learned from today.</a:t>
            </a:r>
          </a:p>
        </p:txBody>
      </p:sp>
      <p:sp>
        <p:nvSpPr>
          <p:cNvPr id="11" name="Google Shape;282;g104476d1465_1_17">
            <a:extLst>
              <a:ext uri="{FF2B5EF4-FFF2-40B4-BE49-F238E27FC236}">
                <a16:creationId xmlns:a16="http://schemas.microsoft.com/office/drawing/2014/main" id="{D20425D2-BFDA-974E-9037-009E6465CCF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303</a:t>
            </a:r>
            <a:endParaRPr i="1" dirty="0">
              <a:latin typeface="Calibri"/>
              <a:ea typeface="Calibri"/>
              <a:cs typeface="Calibri"/>
              <a:sym typeface="Calibri"/>
            </a:endParaRPr>
          </a:p>
        </p:txBody>
      </p:sp>
      <p:sp>
        <p:nvSpPr>
          <p:cNvPr id="15" name="Rounded Rectangle 14">
            <a:extLst>
              <a:ext uri="{FF2B5EF4-FFF2-40B4-BE49-F238E27FC236}">
                <a16:creationId xmlns:a16="http://schemas.microsoft.com/office/drawing/2014/main" id="{70ED1F42-3B4F-0E49-A393-942151F1B915}"/>
              </a:ext>
            </a:extLst>
          </p:cNvPr>
          <p:cNvSpPr/>
          <p:nvPr/>
        </p:nvSpPr>
        <p:spPr>
          <a:xfrm>
            <a:off x="6158035" y="1984804"/>
            <a:ext cx="3293805" cy="4393111"/>
          </a:xfrm>
          <a:prstGeom prst="roundRect">
            <a:avLst>
              <a:gd name="adj" fmla="val 16667"/>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r>
              <a:rPr lang="x-none" sz="1200" i="1">
                <a:solidFill>
                  <a:srgbClr val="FF0000"/>
                </a:solidFill>
                <a:latin typeface="Verdana" panose="020B0604030504040204" pitchFamily="34" charset="0"/>
                <a:ea typeface="Verdana" panose="020B0604030504040204" pitchFamily="34" charset="0"/>
                <a:cs typeface="Verdana" panose="020B0604030504040204" pitchFamily="34" charset="0"/>
              </a:rPr>
              <a:t> </a:t>
            </a:r>
            <a:endParaRPr lang="x-none" sz="1200">
              <a:latin typeface="Cambria" panose="02040503050406030204" pitchFamily="18" charset="0"/>
              <a:ea typeface="MS Mincho" panose="02020609040205080304" pitchFamily="49" charset="-128"/>
              <a:cs typeface="Times New Roman" panose="02020603050405020304" pitchFamily="18" charset="0"/>
            </a:endParaRPr>
          </a:p>
        </p:txBody>
      </p:sp>
      <p:sp>
        <p:nvSpPr>
          <p:cNvPr id="16" name="Rounded Rectangle 15">
            <a:extLst>
              <a:ext uri="{FF2B5EF4-FFF2-40B4-BE49-F238E27FC236}">
                <a16:creationId xmlns:a16="http://schemas.microsoft.com/office/drawing/2014/main" id="{70515ADC-DC0E-4A45-A0F5-BC701387549A}"/>
              </a:ext>
            </a:extLst>
          </p:cNvPr>
          <p:cNvSpPr/>
          <p:nvPr/>
        </p:nvSpPr>
        <p:spPr>
          <a:xfrm>
            <a:off x="3495615" y="2634549"/>
            <a:ext cx="2081530" cy="2836545"/>
          </a:xfrm>
          <a:prstGeom prst="roundRect">
            <a:avLst>
              <a:gd name="adj" fmla="val 16667"/>
            </a:avLst>
          </a:prstGeom>
          <a:solidFill>
            <a:srgbClr val="DAE5F1"/>
          </a:solidFill>
          <a:ln w="9525" cap="flat" cmpd="sng">
            <a:noFill/>
            <a:prstDash val="solid"/>
            <a:round/>
            <a:headEnd type="none" w="sm" len="sm"/>
            <a:tailEnd type="none" w="sm" len="sm"/>
          </a:ln>
        </p:spPr>
        <p:txBody>
          <a:bodyPr spcFirstLastPara="1" wrap="square" lIns="91425" tIns="45700" rIns="91425" bIns="45700" anchor="ctr" anchorCtr="0">
            <a:noAutofit/>
          </a:bodyPr>
          <a:lstStyle/>
          <a:p>
            <a:pPr>
              <a:lnSpc>
                <a:spcPct val="114000"/>
              </a:lnSpc>
            </a:pPr>
            <a:r>
              <a:rPr lang="en-US" sz="1800" b="1" dirty="0">
                <a:solidFill>
                  <a:srgbClr val="DB2B2A"/>
                </a:solidFill>
                <a:latin typeface="Verdana" panose="020B0604030504040204" pitchFamily="34" charset="0"/>
                <a:ea typeface="Verdana" panose="020B0604030504040204" pitchFamily="34" charset="0"/>
                <a:cs typeface="Verdana" panose="020B0604030504040204" pitchFamily="34" charset="0"/>
              </a:rPr>
              <a:t>M</a:t>
            </a:r>
            <a:r>
              <a:rPr lang="en-US" sz="1800" b="1" dirty="0">
                <a:latin typeface="Verdana" panose="020B0604030504040204" pitchFamily="34" charset="0"/>
                <a:ea typeface="Verdana" panose="020B0604030504040204" pitchFamily="34" charset="0"/>
                <a:cs typeface="Verdana" panose="020B0604030504040204" pitchFamily="34" charset="0"/>
              </a:rPr>
              <a:t>eans</a:t>
            </a:r>
            <a:endParaRPr lang="x-none" sz="1200" dirty="0">
              <a:latin typeface="Cambria" panose="02040503050406030204" pitchFamily="18" charset="0"/>
              <a:ea typeface="MS Mincho" panose="02020609040205080304" pitchFamily="49" charset="-128"/>
              <a:cs typeface="Times New Roman" panose="02020603050405020304" pitchFamily="18" charset="0"/>
            </a:endParaRPr>
          </a:p>
          <a:p>
            <a:pPr>
              <a:lnSpc>
                <a:spcPct val="114000"/>
              </a:lnSpc>
            </a:pPr>
            <a:r>
              <a:rPr lang="en-US" sz="1800" b="1" dirty="0">
                <a:solidFill>
                  <a:srgbClr val="F25756"/>
                </a:solidFill>
                <a:latin typeface="Verdana" panose="020B0604030504040204" pitchFamily="34" charset="0"/>
                <a:ea typeface="Verdana" panose="020B0604030504040204" pitchFamily="34" charset="0"/>
                <a:cs typeface="Verdana" panose="020B0604030504040204" pitchFamily="34" charset="0"/>
              </a:rPr>
              <a:t>I</a:t>
            </a:r>
            <a:endParaRPr lang="x-none" sz="1200" dirty="0">
              <a:latin typeface="Cambria" panose="02040503050406030204" pitchFamily="18" charset="0"/>
              <a:ea typeface="MS Mincho" panose="02020609040205080304" pitchFamily="49" charset="-128"/>
              <a:cs typeface="Times New Roman" panose="02020603050405020304" pitchFamily="18" charset="0"/>
            </a:endParaRPr>
          </a:p>
          <a:p>
            <a:pPr>
              <a:lnSpc>
                <a:spcPct val="114000"/>
              </a:lnSpc>
            </a:pPr>
            <a:r>
              <a:rPr lang="en-US" sz="1800" b="1" dirty="0">
                <a:solidFill>
                  <a:srgbClr val="E99237"/>
                </a:solidFill>
                <a:latin typeface="Verdana" panose="020B0604030504040204" pitchFamily="34" charset="0"/>
                <a:ea typeface="Verdana" panose="020B0604030504040204" pitchFamily="34" charset="0"/>
                <a:cs typeface="Verdana" panose="020B0604030504040204" pitchFamily="34" charset="0"/>
              </a:rPr>
              <a:t>S</a:t>
            </a:r>
            <a:r>
              <a:rPr lang="en-US" sz="1800" b="1" dirty="0">
                <a:latin typeface="Verdana" panose="020B0604030504040204" pitchFamily="34" charset="0"/>
                <a:ea typeface="Verdana" panose="020B0604030504040204" pitchFamily="34" charset="0"/>
                <a:cs typeface="Verdana" panose="020B0604030504040204" pitchFamily="34" charset="0"/>
              </a:rPr>
              <a:t>tart</a:t>
            </a:r>
            <a:endParaRPr lang="x-none" sz="1200" dirty="0">
              <a:latin typeface="Cambria" panose="02040503050406030204" pitchFamily="18" charset="0"/>
              <a:ea typeface="MS Mincho" panose="02020609040205080304" pitchFamily="49" charset="-128"/>
              <a:cs typeface="Times New Roman" panose="02020603050405020304" pitchFamily="18" charset="0"/>
            </a:endParaRPr>
          </a:p>
          <a:p>
            <a:pPr>
              <a:lnSpc>
                <a:spcPct val="114000"/>
              </a:lnSpc>
            </a:pPr>
            <a:r>
              <a:rPr lang="en-US" sz="1800" b="1" dirty="0">
                <a:solidFill>
                  <a:srgbClr val="FACD17"/>
                </a:solidFill>
                <a:latin typeface="Verdana" panose="020B0604030504040204" pitchFamily="34" charset="0"/>
                <a:ea typeface="Verdana" panose="020B0604030504040204" pitchFamily="34" charset="0"/>
                <a:cs typeface="Verdana" panose="020B0604030504040204" pitchFamily="34" charset="0"/>
              </a:rPr>
              <a:t>T</a:t>
            </a:r>
            <a:r>
              <a:rPr lang="en-US" sz="1800" b="1" dirty="0">
                <a:latin typeface="Verdana" panose="020B0604030504040204" pitchFamily="34" charset="0"/>
                <a:ea typeface="Verdana" panose="020B0604030504040204" pitchFamily="34" charset="0"/>
                <a:cs typeface="Verdana" panose="020B0604030504040204" pitchFamily="34" charset="0"/>
              </a:rPr>
              <a:t>o </a:t>
            </a:r>
            <a:endParaRPr lang="x-none" sz="1200" dirty="0">
              <a:latin typeface="Cambria" panose="02040503050406030204" pitchFamily="18" charset="0"/>
              <a:ea typeface="MS Mincho" panose="02020609040205080304" pitchFamily="49" charset="-128"/>
              <a:cs typeface="Times New Roman" panose="02020603050405020304" pitchFamily="18" charset="0"/>
            </a:endParaRPr>
          </a:p>
          <a:p>
            <a:pPr>
              <a:lnSpc>
                <a:spcPct val="114000"/>
              </a:lnSpc>
            </a:pPr>
            <a:r>
              <a:rPr lang="en-US" sz="1800" b="1" dirty="0">
                <a:solidFill>
                  <a:srgbClr val="7BA43F"/>
                </a:solidFill>
                <a:latin typeface="Verdana" panose="020B0604030504040204" pitchFamily="34" charset="0"/>
                <a:ea typeface="Verdana" panose="020B0604030504040204" pitchFamily="34" charset="0"/>
                <a:cs typeface="Verdana" panose="020B0604030504040204" pitchFamily="34" charset="0"/>
              </a:rPr>
              <a:t>A</a:t>
            </a:r>
            <a:r>
              <a:rPr lang="en-US" sz="1800" b="1" dirty="0">
                <a:latin typeface="Verdana" panose="020B0604030504040204" pitchFamily="34" charset="0"/>
                <a:ea typeface="Verdana" panose="020B0604030504040204" pitchFamily="34" charset="0"/>
                <a:cs typeface="Verdana" panose="020B0604030504040204" pitchFamily="34" charset="0"/>
              </a:rPr>
              <a:t>cquire</a:t>
            </a:r>
            <a:endParaRPr lang="x-none" sz="1200" dirty="0">
              <a:latin typeface="Cambria" panose="02040503050406030204" pitchFamily="18" charset="0"/>
              <a:ea typeface="MS Mincho" panose="02020609040205080304" pitchFamily="49" charset="-128"/>
              <a:cs typeface="Times New Roman" panose="02020603050405020304" pitchFamily="18" charset="0"/>
            </a:endParaRPr>
          </a:p>
          <a:p>
            <a:pPr>
              <a:lnSpc>
                <a:spcPct val="114000"/>
              </a:lnSpc>
            </a:pPr>
            <a:r>
              <a:rPr lang="en-US" sz="1800" b="1" dirty="0">
                <a:solidFill>
                  <a:srgbClr val="24B7D2"/>
                </a:solidFill>
                <a:latin typeface="Verdana" panose="020B0604030504040204" pitchFamily="34" charset="0"/>
                <a:ea typeface="Verdana" panose="020B0604030504040204" pitchFamily="34" charset="0"/>
                <a:cs typeface="Verdana" panose="020B0604030504040204" pitchFamily="34" charset="0"/>
              </a:rPr>
              <a:t>K</a:t>
            </a:r>
            <a:r>
              <a:rPr lang="en-US" sz="1800" b="1" dirty="0">
                <a:latin typeface="Verdana" panose="020B0604030504040204" pitchFamily="34" charset="0"/>
                <a:ea typeface="Verdana" panose="020B0604030504040204" pitchFamily="34" charset="0"/>
                <a:cs typeface="Verdana" panose="020B0604030504040204" pitchFamily="34" charset="0"/>
              </a:rPr>
              <a:t>nowledge</a:t>
            </a:r>
            <a:endParaRPr lang="x-none" sz="1200" dirty="0">
              <a:latin typeface="Cambria" panose="02040503050406030204" pitchFamily="18" charset="0"/>
              <a:ea typeface="MS Mincho" panose="02020609040205080304" pitchFamily="49" charset="-128"/>
              <a:cs typeface="Times New Roman" panose="02020603050405020304" pitchFamily="18" charset="0"/>
            </a:endParaRPr>
          </a:p>
          <a:p>
            <a:pPr>
              <a:lnSpc>
                <a:spcPct val="114000"/>
              </a:lnSpc>
            </a:pPr>
            <a:r>
              <a:rPr lang="en-US" sz="1800" b="1" dirty="0">
                <a:solidFill>
                  <a:srgbClr val="1B74B9"/>
                </a:solidFill>
                <a:latin typeface="Verdana" panose="020B0604030504040204" pitchFamily="34" charset="0"/>
                <a:ea typeface="Verdana" panose="020B0604030504040204" pitchFamily="34" charset="0"/>
                <a:cs typeface="Verdana" panose="020B0604030504040204" pitchFamily="34" charset="0"/>
              </a:rPr>
              <a:t>E</a:t>
            </a:r>
            <a:r>
              <a:rPr lang="en-US" sz="1800" b="1" dirty="0">
                <a:latin typeface="Verdana" panose="020B0604030504040204" pitchFamily="34" charset="0"/>
                <a:ea typeface="Verdana" panose="020B0604030504040204" pitchFamily="34" charset="0"/>
                <a:cs typeface="Verdana" panose="020B0604030504040204" pitchFamily="34" charset="0"/>
              </a:rPr>
              <a:t>xperience </a:t>
            </a:r>
            <a:endParaRPr lang="x-none" sz="1200" dirty="0">
              <a:latin typeface="Cambria" panose="02040503050406030204" pitchFamily="18" charset="0"/>
              <a:ea typeface="MS Mincho" panose="02020609040205080304" pitchFamily="49" charset="-128"/>
              <a:cs typeface="Times New Roman" panose="02020603050405020304" pitchFamily="18" charset="0"/>
            </a:endParaRPr>
          </a:p>
          <a:p>
            <a:pPr>
              <a:lnSpc>
                <a:spcPct val="114000"/>
              </a:lnSpc>
            </a:pPr>
            <a:r>
              <a:rPr lang="en-US" sz="1800" b="1" dirty="0">
                <a:solidFill>
                  <a:srgbClr val="4A2B79"/>
                </a:solidFill>
                <a:latin typeface="Verdana" panose="020B0604030504040204" pitchFamily="34" charset="0"/>
                <a:ea typeface="Verdana" panose="020B0604030504040204" pitchFamily="34" charset="0"/>
                <a:cs typeface="Verdana" panose="020B0604030504040204" pitchFamily="34" charset="0"/>
              </a:rPr>
              <a:t>S</a:t>
            </a:r>
            <a:r>
              <a:rPr lang="en-US" sz="1800" b="1" dirty="0">
                <a:latin typeface="Verdana" panose="020B0604030504040204" pitchFamily="34" charset="0"/>
                <a:ea typeface="Verdana" panose="020B0604030504040204" pitchFamily="34" charset="0"/>
                <a:cs typeface="Verdana" panose="020B0604030504040204" pitchFamily="34" charset="0"/>
              </a:rPr>
              <a:t>kills</a:t>
            </a:r>
            <a:endParaRPr lang="x-none" sz="1200" dirty="0">
              <a:latin typeface="Cambria" panose="02040503050406030204" pitchFamily="18" charset="0"/>
              <a:ea typeface="MS Mincho" panose="02020609040205080304" pitchFamily="49" charset="-128"/>
              <a:cs typeface="Times New Roman" panose="02020603050405020304" pitchFamily="18" charset="0"/>
            </a:endParaRPr>
          </a:p>
          <a:p>
            <a:pPr algn="ctr">
              <a:lnSpc>
                <a:spcPct val="107000"/>
              </a:lnSpc>
              <a:spcAft>
                <a:spcPts val="1000"/>
              </a:spcAft>
            </a:pPr>
            <a:r>
              <a:rPr lang="en-US" sz="1200" dirty="0">
                <a:latin typeface="Cambria" panose="02040503050406030204" pitchFamily="18" charset="0"/>
                <a:ea typeface="MS Mincho" panose="02020609040205080304" pitchFamily="49" charset="-128"/>
                <a:cs typeface="Times New Roman" panose="02020603050405020304" pitchFamily="18" charset="0"/>
              </a:rPr>
              <a:t> </a:t>
            </a:r>
            <a:endParaRPr lang="x-none" sz="1200" dirty="0">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1561</TotalTime>
  <Words>912</Words>
  <Application>Microsoft Office PowerPoint</Application>
  <PresentationFormat>Widescreen</PresentationFormat>
  <Paragraphs>175</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Cambria</vt:lpstr>
      <vt:lpstr>Verdana</vt:lpstr>
      <vt:lpstr>Wingdings</vt:lpstr>
      <vt:lpstr>Century Gothic</vt:lpstr>
      <vt:lpstr>Calibri</vt:lpstr>
      <vt:lpstr>Arial Black</vt:lpstr>
      <vt:lpstr>Cambria Math</vt:lpstr>
      <vt:lpstr>Arial</vt:lpstr>
      <vt:lpstr>1_Office Theme</vt:lpstr>
      <vt:lpstr>6th Grade Math  Unit 12, Lesson 4  Writing Algebraic Expressions from Descriptions of Real-World Contexts  Volume 2, pg. 299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Collaboration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28</cp:revision>
  <dcterms:created xsi:type="dcterms:W3CDTF">2015-03-17T18:51:18Z</dcterms:created>
  <dcterms:modified xsi:type="dcterms:W3CDTF">2022-06-06T15:39:00Z</dcterms:modified>
</cp:coreProperties>
</file>