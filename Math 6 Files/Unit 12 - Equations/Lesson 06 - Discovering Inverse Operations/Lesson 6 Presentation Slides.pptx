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4"/>
  </p:notesMasterIdLst>
  <p:sldIdLst>
    <p:sldId id="256" r:id="rId5"/>
    <p:sldId id="257" r:id="rId6"/>
    <p:sldId id="285" r:id="rId7"/>
    <p:sldId id="286" r:id="rId8"/>
    <p:sldId id="261" r:id="rId9"/>
    <p:sldId id="287" r:id="rId10"/>
    <p:sldId id="351" r:id="rId11"/>
    <p:sldId id="302" r:id="rId12"/>
    <p:sldId id="303" r:id="rId13"/>
    <p:sldId id="340" r:id="rId14"/>
    <p:sldId id="356" r:id="rId15"/>
    <p:sldId id="357" r:id="rId16"/>
    <p:sldId id="367" r:id="rId17"/>
    <p:sldId id="342" r:id="rId18"/>
    <p:sldId id="343" r:id="rId19"/>
    <p:sldId id="344" r:id="rId20"/>
    <p:sldId id="363" r:id="rId21"/>
    <p:sldId id="364" r:id="rId22"/>
    <p:sldId id="365" r:id="rId23"/>
    <p:sldId id="366" r:id="rId24"/>
    <p:sldId id="368" r:id="rId25"/>
    <p:sldId id="369" r:id="rId26"/>
    <p:sldId id="311" r:id="rId27"/>
    <p:sldId id="312" r:id="rId28"/>
    <p:sldId id="333" r:id="rId29"/>
    <p:sldId id="361" r:id="rId30"/>
    <p:sldId id="362" r:id="rId31"/>
    <p:sldId id="306" r:id="rId32"/>
    <p:sldId id="307" r:id="rId33"/>
  </p:sldIdLst>
  <p:sldSz cx="12192000" cy="6858000"/>
  <p:notesSz cx="6858000" cy="9144000"/>
  <p:embeddedFontLst>
    <p:embeddedFont>
      <p:font typeface="Arial Black" panose="020B0A04020102020204" pitchFamily="34" charset="0"/>
      <p:bold r:id="rId35"/>
    </p:embeddedFont>
    <p:embeddedFont>
      <p:font typeface="Calibri" panose="020F0502020204030204" pitchFamily="34" charset="0"/>
      <p:regular r:id="rId36"/>
      <p:bold r:id="rId37"/>
      <p:italic r:id="rId38"/>
      <p:boldItalic r:id="rId39"/>
    </p:embeddedFont>
    <p:embeddedFont>
      <p:font typeface="Cambria" panose="02040503050406030204" pitchFamily="18" charset="0"/>
      <p:regular r:id="rId40"/>
      <p:bold r:id="rId41"/>
      <p:italic r:id="rId42"/>
      <p:boldItalic r:id="rId43"/>
    </p:embeddedFont>
    <p:embeddedFont>
      <p:font typeface="Cambria Math" panose="02040503050406030204" pitchFamily="18" charset="0"/>
      <p:regular r:id="rId44"/>
    </p:embeddedFont>
    <p:embeddedFont>
      <p:font typeface="Century Gothic" panose="020B0502020202020204" pitchFamily="34" charset="0"/>
      <p:regular r:id="rId45"/>
      <p:bold r:id="rId46"/>
      <p:italic r:id="rId47"/>
      <p:boldItalic r:id="rId48"/>
    </p:embeddedFont>
    <p:embeddedFont>
      <p:font typeface="Verdana" panose="020B060403050404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0CB"/>
    <a:srgbClr val="8B2D77"/>
    <a:srgbClr val="14BAAA"/>
    <a:srgbClr val="26B7D4"/>
    <a:srgbClr val="E24E5F"/>
    <a:srgbClr val="52BDA6"/>
    <a:srgbClr val="276C46"/>
    <a:srgbClr val="C9DF6F"/>
    <a:srgbClr val="417DBF"/>
    <a:srgbClr val="3F2A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04"/>
    <p:restoredTop sz="94719"/>
  </p:normalViewPr>
  <p:slideViewPr>
    <p:cSldViewPr snapToGrid="0">
      <p:cViewPr varScale="1">
        <p:scale>
          <a:sx n="61" d="100"/>
          <a:sy n="61" d="100"/>
        </p:scale>
        <p:origin x="84" y="3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5.fntdata"/><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4.fntdata"/><Relationship Id="rId46" Type="http://schemas.openxmlformats.org/officeDocument/2006/relationships/font" Target="fonts/font12.fntdata"/><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0.fntdata"/><Relationship Id="rId52" Type="http://schemas.openxmlformats.org/officeDocument/2006/relationships/font" Target="fonts/font1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font" Target="fonts/font17.fntdata"/><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3906314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882735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12684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7926217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7060869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188141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9627584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536842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5315635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246060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7253947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7191724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5846146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2755428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511967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3310983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0923278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4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70.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12, Lesson 6</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Discovering Inverse Operations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307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5" name="Picture 4"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97002"/>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solidFill>
                <a:srgbClr val="26B7D4"/>
              </a:solidFill>
            </a:endParaRPr>
          </a:p>
        </p:txBody>
      </p:sp>
      <p:sp>
        <p:nvSpPr>
          <p:cNvPr id="279" name="Google Shape;279;g104476d1465_1_17"/>
          <p:cNvSpPr txBox="1">
            <a:spLocks noGrp="1"/>
          </p:cNvSpPr>
          <p:nvPr>
            <p:ph type="title" idx="4294967295"/>
          </p:nvPr>
        </p:nvSpPr>
        <p:spPr>
          <a:xfrm>
            <a:off x="114300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MA.6.AR.2.2</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Write and solve one-step equations in one variable within a mathematical or real-world context using addition and subtraction, where all terms and solutions are integers.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76284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a16="http://schemas.microsoft.com/office/drawing/2014/main" id="{AC0AE969-0A27-9545-AB11-BBE5491801C1}"/>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274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547093"/>
            <a:ext cx="10515600" cy="44988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use manipulatives to discover the role of inverse operations when solving one-step addition and subtraction equations.</a:t>
            </a:r>
          </a:p>
        </p:txBody>
      </p:sp>
      <p:sp>
        <p:nvSpPr>
          <p:cNvPr id="8" name="Google Shape;282;g104476d1465_1_17">
            <a:extLst>
              <a:ext uri="{FF2B5EF4-FFF2-40B4-BE49-F238E27FC236}">
                <a16:creationId xmlns:a16="http://schemas.microsoft.com/office/drawing/2014/main" id="{AE0319DD-E1E2-064E-A3C0-1ADADEA7DC7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770632"/>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70632"/>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06503EB0-E904-7143-BA20-369F935837E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12.6.1 Warm-Up: Picture This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079F083F-A67E-0047-8E64-5125815AF3D8}"/>
                  </a:ext>
                </a:extLst>
              </p:cNvPr>
              <p:cNvSpPr/>
              <p:nvPr/>
            </p:nvSpPr>
            <p:spPr>
              <a:xfrm>
                <a:off x="914400" y="1700653"/>
                <a:ext cx="10515600" cy="2308324"/>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Dale is helping to fix the roof at his uncle’s house. They are using a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40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-foot ladder. Dale is climbing the ladder to reach the roof. He is currently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feet up the ladder.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Sketch a picture to represent this situation.</a:t>
                </a:r>
              </a:p>
            </p:txBody>
          </p:sp>
        </mc:Choice>
        <mc:Fallback xmlns="">
          <p:sp>
            <p:nvSpPr>
              <p:cNvPr id="3" name="Rectangle 2">
                <a:extLst>
                  <a:ext uri="{FF2B5EF4-FFF2-40B4-BE49-F238E27FC236}">
                    <a16:creationId xmlns:a16="http://schemas.microsoft.com/office/drawing/2014/main" id="{079F083F-A67E-0047-8E64-5125815AF3D8}"/>
                  </a:ext>
                </a:extLst>
              </p:cNvPr>
              <p:cNvSpPr>
                <a:spLocks noRot="1" noChangeAspect="1" noMove="1" noResize="1" noEditPoints="1" noAdjustHandles="1" noChangeArrowheads="1" noChangeShapeType="1" noTextEdit="1"/>
              </p:cNvSpPr>
              <p:nvPr/>
            </p:nvSpPr>
            <p:spPr>
              <a:xfrm>
                <a:off x="914400" y="1700653"/>
                <a:ext cx="10515600" cy="2308324"/>
              </a:xfrm>
              <a:prstGeom prst="rect">
                <a:avLst/>
              </a:prstGeom>
              <a:blipFill>
                <a:blip r:embed="rId5"/>
                <a:stretch>
                  <a:fillRect l="-965" t="-1639"/>
                </a:stretch>
              </a:blipFill>
            </p:spPr>
            <p:txBody>
              <a:bodyPr/>
              <a:lstStyle/>
              <a:p>
                <a:r>
                  <a:rPr lang="en-US">
                    <a:noFill/>
                  </a:rPr>
                  <a:t> </a:t>
                </a:r>
              </a:p>
            </p:txBody>
          </p:sp>
        </mc:Fallback>
      </mc:AlternateContent>
      <p:sp>
        <p:nvSpPr>
          <p:cNvPr id="18" name="Google Shape;282;g104476d1465_1_17">
            <a:extLst>
              <a:ext uri="{FF2B5EF4-FFF2-40B4-BE49-F238E27FC236}">
                <a16:creationId xmlns:a16="http://schemas.microsoft.com/office/drawing/2014/main" id="{570FC961-D801-0C4E-8D4A-AEC23A74C9C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19456"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 name="Rectangle 2">
            <a:extLst>
              <a:ext uri="{FF2B5EF4-FFF2-40B4-BE49-F238E27FC236}">
                <a16:creationId xmlns:a16="http://schemas.microsoft.com/office/drawing/2014/main" id="{079F083F-A67E-0047-8E64-5125815AF3D8}"/>
              </a:ext>
            </a:extLst>
          </p:cNvPr>
          <p:cNvSpPr/>
          <p:nvPr/>
        </p:nvSpPr>
        <p:spPr>
          <a:xfrm>
            <a:off x="914400" y="868680"/>
            <a:ext cx="10515600" cy="830997"/>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How much farther does Dale have to go to reach the roof? Include units.</a:t>
            </a:r>
          </a:p>
        </p:txBody>
      </p:sp>
      <p:sp>
        <p:nvSpPr>
          <p:cNvPr id="18" name="Google Shape;282;g104476d1465_1_17">
            <a:extLst>
              <a:ext uri="{FF2B5EF4-FFF2-40B4-BE49-F238E27FC236}">
                <a16:creationId xmlns:a16="http://schemas.microsoft.com/office/drawing/2014/main" id="{570FC961-D801-0C4E-8D4A-AEC23A74C9C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spTree>
    <p:extLst>
      <p:ext uri="{BB962C8B-B14F-4D97-AF65-F5344CB8AC3E}">
        <p14:creationId xmlns:p14="http://schemas.microsoft.com/office/powerpoint/2010/main" val="2722882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70632"/>
            <a:ext cx="4480750" cy="1325700"/>
          </a:xfrm>
          <a:prstGeom prst="rect">
            <a:avLst/>
          </a:prstGeom>
          <a:noFill/>
          <a:ln>
            <a:noFill/>
          </a:ln>
        </p:spPr>
        <p:txBody>
          <a:bodyPr spcFirstLastPara="1" wrap="square" lIns="91425" tIns="45700" rIns="91425" bIns="45700" anchor="ctr" anchorCtr="0">
            <a:noAutofit/>
          </a:bodyPr>
          <a:lstStyle/>
          <a:p>
            <a:pPr>
              <a:buClr>
                <a:schemeClr val="lt1"/>
              </a:buClr>
              <a:buSzPts val="4800"/>
            </a:pPr>
            <a:r>
              <a:rPr lang="en-US" sz="4400" b="1" dirty="0">
                <a:solidFill>
                  <a:srgbClr val="52BDA6"/>
                </a:solidFill>
                <a:latin typeface="Verdana"/>
                <a:ea typeface="Verdana"/>
                <a:cs typeface="Verdana"/>
                <a:sym typeface="Verdana"/>
              </a:rPr>
              <a:t>Exploration</a:t>
            </a:r>
            <a:endParaRPr sz="40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a16="http://schemas.microsoft.com/office/drawing/2014/main" id="{04201096-008D-9E40-8962-B6CD490C930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pic>
        <p:nvPicPr>
          <p:cNvPr id="8" name="image7.png" descr="Icon&#10;&#10;Description automatically generated">
            <a:extLst>
              <a:ext uri="{FF2B5EF4-FFF2-40B4-BE49-F238E27FC236}">
                <a16:creationId xmlns:a16="http://schemas.microsoft.com/office/drawing/2014/main" id="{B2F042F2-539C-CF49-B87A-04ABF3F2E7F9}"/>
              </a:ext>
            </a:extLst>
          </p:cNvPr>
          <p:cNvPicPr/>
          <p:nvPr/>
        </p:nvPicPr>
        <p:blipFill>
          <a:blip r:embed="rId4"/>
          <a:srcRect/>
          <a:stretch>
            <a:fillRect/>
          </a:stretch>
        </p:blipFill>
        <p:spPr>
          <a:xfrm>
            <a:off x="3054096" y="2770632"/>
            <a:ext cx="1133502" cy="1133502"/>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43000" y="88035"/>
            <a:ext cx="1051560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2BDA6"/>
                </a:solidFill>
                <a:latin typeface="Verdana"/>
                <a:ea typeface="Verdana"/>
                <a:cs typeface="Verdana"/>
                <a:sym typeface="Verdana"/>
              </a:rPr>
              <a:t>12.6.2 Exploration: Solving Equations Using Algebra Tiles</a:t>
            </a:r>
          </a:p>
        </p:txBody>
      </p:sp>
      <p:sp>
        <p:nvSpPr>
          <p:cNvPr id="2" name="Rectangle 1">
            <a:extLst>
              <a:ext uri="{FF2B5EF4-FFF2-40B4-BE49-F238E27FC236}">
                <a16:creationId xmlns:a16="http://schemas.microsoft.com/office/drawing/2014/main" id="{A66A031F-2EC8-DF4C-B3F5-E7AC5B8F3239}"/>
              </a:ext>
            </a:extLst>
          </p:cNvPr>
          <p:cNvSpPr/>
          <p:nvPr/>
        </p:nvSpPr>
        <p:spPr>
          <a:xfrm>
            <a:off x="914400" y="1375714"/>
            <a:ext cx="10515600" cy="5262979"/>
          </a:xfrm>
          <a:prstGeom prst="rect">
            <a:avLst/>
          </a:prstGeom>
        </p:spPr>
        <p:txBody>
          <a:bodyPr wrap="square">
            <a:spAutoFit/>
          </a:bodyPr>
          <a:lstStyle/>
          <a:p>
            <a:pPr marL="11113">
              <a:buSzPts val="1800"/>
            </a:pPr>
            <a:r>
              <a:rPr lang="en-US" sz="2400" dirty="0">
                <a:latin typeface="Verdana" panose="020B0604030504040204" pitchFamily="34" charset="0"/>
                <a:ea typeface="Verdana" panose="020B0604030504040204" pitchFamily="34" charset="0"/>
                <a:cs typeface="Verdana" panose="020B0604030504040204" pitchFamily="34" charset="0"/>
              </a:rPr>
              <a:t>Algebra tiles can be used to represent and solve algebraic equations. </a:t>
            </a:r>
          </a:p>
          <a:p>
            <a:pPr marL="11113">
              <a:buSzPts val="1800"/>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11113">
              <a:buSzPts val="1800"/>
            </a:pPr>
            <a:r>
              <a:rPr lang="en-US" sz="2400" dirty="0">
                <a:latin typeface="Verdana" panose="020B0604030504040204" pitchFamily="34" charset="0"/>
                <a:ea typeface="Verdana" panose="020B0604030504040204" pitchFamily="34" charset="0"/>
                <a:cs typeface="Verdana" panose="020B0604030504040204" pitchFamily="34" charset="0"/>
              </a:rPr>
              <a:t>In the model shown,       represents 1 and    represents 𝑥.</a:t>
            </a:r>
          </a:p>
          <a:p>
            <a:pPr marL="11113">
              <a:buSzPts val="1800"/>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11113">
              <a:buSzPts val="1800"/>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8313" indent="-457200">
              <a:buSzPct val="1000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steps to determine the value of       using algebra tiles are shown. </a:t>
            </a:r>
          </a:p>
          <a:p>
            <a:pPr marL="11113">
              <a:buSzPct val="100000"/>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SzPct val="1000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last step according to the description.</a:t>
            </a:r>
          </a:p>
          <a:p>
            <a:pPr marL="11113">
              <a:buSzPct val="100000"/>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11113">
              <a:buSzPts val="1800"/>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11113">
              <a:buSzPts val="1800"/>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282;g104476d1465_1_17">
            <a:extLst>
              <a:ext uri="{FF2B5EF4-FFF2-40B4-BE49-F238E27FC236}">
                <a16:creationId xmlns:a16="http://schemas.microsoft.com/office/drawing/2014/main" id="{38A626CB-082C-DB4E-B059-328DCC8AD13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pic>
        <p:nvPicPr>
          <p:cNvPr id="14" name="image7.png" descr="Icon&#10;&#10;Description automatically generated">
            <a:extLst>
              <a:ext uri="{FF2B5EF4-FFF2-40B4-BE49-F238E27FC236}">
                <a16:creationId xmlns:a16="http://schemas.microsoft.com/office/drawing/2014/main" id="{328F36E4-BB39-5B43-86D5-AC498C5A869E}"/>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50145" cy="750145"/>
          </a:xfrm>
          <a:prstGeom prst="rect">
            <a:avLst/>
          </a:prstGeom>
          <a:ln/>
        </p:spPr>
      </p:pic>
      <p:pic>
        <p:nvPicPr>
          <p:cNvPr id="15" name="Picture 14" descr="Icon&#10;&#10;Description automatically generated">
            <a:extLst>
              <a:ext uri="{FF2B5EF4-FFF2-40B4-BE49-F238E27FC236}">
                <a16:creationId xmlns:a16="http://schemas.microsoft.com/office/drawing/2014/main" id="{86DE89CC-ECCE-3E48-A7FE-473C7D3B595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353976" y="2488310"/>
            <a:ext cx="419100" cy="419100"/>
          </a:xfrm>
          <a:prstGeom prst="rect">
            <a:avLst/>
          </a:prstGeom>
        </p:spPr>
      </p:pic>
      <p:pic>
        <p:nvPicPr>
          <p:cNvPr id="16" name="Picture 15" descr="Icon&#10;&#10;Description automatically generated">
            <a:extLst>
              <a:ext uri="{FF2B5EF4-FFF2-40B4-BE49-F238E27FC236}">
                <a16:creationId xmlns:a16="http://schemas.microsoft.com/office/drawing/2014/main" id="{6FFF6EAC-CE49-3F4C-A5B4-88F88B0EC78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559565" y="2194940"/>
            <a:ext cx="361315" cy="1005840"/>
          </a:xfrm>
          <a:prstGeom prst="rect">
            <a:avLst/>
          </a:prstGeom>
        </p:spPr>
      </p:pic>
      <p:pic>
        <p:nvPicPr>
          <p:cNvPr id="17" name="Picture 16" descr="Icon&#10;&#10;Description automatically generated">
            <a:extLst>
              <a:ext uri="{FF2B5EF4-FFF2-40B4-BE49-F238E27FC236}">
                <a16:creationId xmlns:a16="http://schemas.microsoft.com/office/drawing/2014/main" id="{42082FC8-3696-B041-87EF-457D475BC92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198250" y="3413775"/>
            <a:ext cx="361315" cy="1005840"/>
          </a:xfrm>
          <a:prstGeom prst="rect">
            <a:avLst/>
          </a:prstGeom>
        </p:spPr>
      </p:pic>
    </p:spTree>
    <p:extLst>
      <p:ext uri="{BB962C8B-B14F-4D97-AF65-F5344CB8AC3E}">
        <p14:creationId xmlns:p14="http://schemas.microsoft.com/office/powerpoint/2010/main" val="3101299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19456"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pic>
        <p:nvPicPr>
          <p:cNvPr id="5" name="Picture 4" descr="Graphical user interface, application, Teams&#10;&#10;Description automatically generated">
            <a:extLst>
              <a:ext uri="{FF2B5EF4-FFF2-40B4-BE49-F238E27FC236}">
                <a16:creationId xmlns:a16="http://schemas.microsoft.com/office/drawing/2014/main" id="{2BA9D045-E3C3-0A48-B52D-C97F5CA4D8E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102384" y="712961"/>
            <a:ext cx="5987233" cy="5423729"/>
          </a:xfrm>
          <a:prstGeom prst="rect">
            <a:avLst/>
          </a:prstGeom>
        </p:spPr>
      </p:pic>
    </p:spTree>
    <p:extLst>
      <p:ext uri="{BB962C8B-B14F-4D97-AF65-F5344CB8AC3E}">
        <p14:creationId xmlns:p14="http://schemas.microsoft.com/office/powerpoint/2010/main" val="252435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D9AF1552-9966-3643-BA84-BB4BC68EDBB5}"/>
                  </a:ext>
                </a:extLst>
              </p:cNvPr>
              <p:cNvSpPr/>
              <p:nvPr/>
            </p:nvSpPr>
            <p:spPr>
              <a:xfrm>
                <a:off x="914400" y="385584"/>
                <a:ext cx="10515600" cy="4708981"/>
              </a:xfrm>
              <a:prstGeom prst="rect">
                <a:avLst/>
              </a:prstGeom>
            </p:spPr>
            <p:txBody>
              <a:bodyPr wrap="square">
                <a:spAutoFit/>
              </a:bodyPr>
              <a:lstStyle/>
              <a:p>
                <a:pPr marL="914400" indent="-457200">
                  <a:buSzPct val="1000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The expressions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are equivalent according to the given equation. Discuss with your partner whether the tiles you drew on each side of the equation mat in the last step represent an equivalent relationship. Then, write a brief summary of your discussion.</a:t>
                </a:r>
              </a:p>
              <a:p>
                <a:pPr marL="914400" indent="-457200">
                  <a:buSzPct val="1000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SzPct val="1000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SzPct val="1000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SzPct val="1000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How many blue tiles are equivalent to one teal tile?</a:t>
                </a:r>
              </a:p>
              <a:p>
                <a:pPr marL="914400" indent="-457200">
                  <a:buSzPct val="1000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SzPct val="1000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SzPct val="1000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SzPct val="1000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SzPct val="1000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SzPct val="1000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SzPct val="1000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What is the value of 𝑥 in the equation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+3=5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914400" y="385584"/>
                <a:ext cx="10515600" cy="4708981"/>
              </a:xfrm>
              <a:prstGeom prst="rect">
                <a:avLst/>
              </a:prstGeom>
              <a:blipFill>
                <a:blip r:embed="rId4"/>
                <a:stretch>
                  <a:fillRect t="-776" b="-1423"/>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spTree>
    <p:extLst>
      <p:ext uri="{BB962C8B-B14F-4D97-AF65-F5344CB8AC3E}">
        <p14:creationId xmlns:p14="http://schemas.microsoft.com/office/powerpoint/2010/main" val="2676669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D9AF1552-9966-3643-BA84-BB4BC68EDBB5}"/>
              </a:ext>
            </a:extLst>
          </p:cNvPr>
          <p:cNvSpPr/>
          <p:nvPr/>
        </p:nvSpPr>
        <p:spPr>
          <a:xfrm>
            <a:off x="1080655" y="385585"/>
            <a:ext cx="9539219" cy="830997"/>
          </a:xfrm>
          <a:prstGeom prst="rect">
            <a:avLst/>
          </a:prstGeom>
        </p:spPr>
        <p:txBody>
          <a:bodyPr wrap="square">
            <a:spAutoFit/>
          </a:bodyPr>
          <a:lstStyle/>
          <a:p>
            <a:pPr marL="457200" indent="-457200">
              <a:buSzPct val="1000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In the model shown,       represents −1 and    represents 𝑦. </a:t>
            </a:r>
          </a:p>
        </p:txBody>
      </p:sp>
      <p:sp>
        <p:nvSpPr>
          <p:cNvPr id="9" name="Google Shape;282;g104476d1465_1_17">
            <a:extLst>
              <a:ext uri="{FF2B5EF4-FFF2-40B4-BE49-F238E27FC236}">
                <a16:creationId xmlns:a16="http://schemas.microsoft.com/office/drawing/2014/main"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id="{1B24DC24-4507-0942-B33B-4CA8C5ED94C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996642" y="381983"/>
            <a:ext cx="419100" cy="419100"/>
          </a:xfrm>
          <a:prstGeom prst="rect">
            <a:avLst/>
          </a:prstGeom>
        </p:spPr>
      </p:pic>
      <p:pic>
        <p:nvPicPr>
          <p:cNvPr id="10" name="Picture 9" descr="Icon&#10;&#10;Description automatically generated">
            <a:extLst>
              <a:ext uri="{FF2B5EF4-FFF2-40B4-BE49-F238E27FC236}">
                <a16:creationId xmlns:a16="http://schemas.microsoft.com/office/drawing/2014/main" id="{13D27F57-8B4D-E84E-8E7B-E5765C7D74D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498772" y="54289"/>
            <a:ext cx="289560" cy="1005840"/>
          </a:xfrm>
          <a:prstGeom prst="rect">
            <a:avLst/>
          </a:prstGeom>
        </p:spPr>
      </p:pic>
      <p:pic>
        <p:nvPicPr>
          <p:cNvPr id="5" name="Picture 4" descr="A picture containing icon&#10;&#10;Description automatically generated">
            <a:extLst>
              <a:ext uri="{FF2B5EF4-FFF2-40B4-BE49-F238E27FC236}">
                <a16:creationId xmlns:a16="http://schemas.microsoft.com/office/drawing/2014/main" id="{9F881334-EC79-5841-A7AC-3A065AACCB7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736160" y="1482242"/>
            <a:ext cx="2719681" cy="1357745"/>
          </a:xfrm>
          <a:prstGeom prst="rect">
            <a:avLst/>
          </a:prstGeom>
        </p:spPr>
      </p:pic>
      <p:sp>
        <p:nvSpPr>
          <p:cNvPr id="12" name="Rectangle 11">
            <a:extLst>
              <a:ext uri="{FF2B5EF4-FFF2-40B4-BE49-F238E27FC236}">
                <a16:creationId xmlns:a16="http://schemas.microsoft.com/office/drawing/2014/main" id="{A30D1B45-080E-6049-B985-2C64D150A2C8}"/>
              </a:ext>
            </a:extLst>
          </p:cNvPr>
          <p:cNvSpPr/>
          <p:nvPr/>
        </p:nvSpPr>
        <p:spPr>
          <a:xfrm>
            <a:off x="914400" y="3308894"/>
            <a:ext cx="10515600" cy="830997"/>
          </a:xfrm>
          <a:prstGeom prst="rect">
            <a:avLst/>
          </a:prstGeom>
        </p:spPr>
        <p:txBody>
          <a:bodyPr wrap="square">
            <a:spAutoFit/>
          </a:bodyPr>
          <a:lstStyle/>
          <a:p>
            <a:pPr marL="914400" indent="-457200">
              <a:buSzPct val="1000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Work with your partner to determine how many red tiles are equivalent to one purple tile.</a:t>
            </a:r>
          </a:p>
        </p:txBody>
      </p:sp>
    </p:spTree>
    <p:extLst>
      <p:ext uri="{BB962C8B-B14F-4D97-AF65-F5344CB8AC3E}">
        <p14:creationId xmlns:p14="http://schemas.microsoft.com/office/powerpoint/2010/main" val="2137350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D9AF1552-9966-3643-BA84-BB4BC68EDBB5}"/>
                  </a:ext>
                </a:extLst>
              </p:cNvPr>
              <p:cNvSpPr/>
              <p:nvPr/>
            </p:nvSpPr>
            <p:spPr>
              <a:xfrm>
                <a:off x="914400" y="1036749"/>
                <a:ext cx="10515600" cy="461665"/>
              </a:xfrm>
              <a:prstGeom prst="rect">
                <a:avLst/>
              </a:prstGeom>
            </p:spPr>
            <p:txBody>
              <a:bodyPr wrap="square">
                <a:spAutoFit/>
              </a:bodyPr>
              <a:lstStyle/>
              <a:p>
                <a:pPr marL="914400" indent="-457200">
                  <a:buSzPct val="1000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value of 𝑦 in the equation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−6=−4+</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𝑦</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914400" y="1036749"/>
                <a:ext cx="10515600" cy="461665"/>
              </a:xfrm>
              <a:prstGeom prst="rect">
                <a:avLst/>
              </a:prstGeom>
              <a:blipFill>
                <a:blip r:embed="rId4"/>
                <a:stretch>
                  <a:fillRect t="-11842" b="-28947"/>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spTree>
    <p:extLst>
      <p:ext uri="{BB962C8B-B14F-4D97-AF65-F5344CB8AC3E}">
        <p14:creationId xmlns:p14="http://schemas.microsoft.com/office/powerpoint/2010/main" val="3481387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Instruction</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id="{AE80E75D-78AE-A94E-86B4-91D469B7BFA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id="{C031FE84-D423-CC4C-831E-2D526CB9114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770632"/>
            <a:ext cx="1156733" cy="115673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39353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27923"/>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4B5D1"/>
                </a:solidFill>
                <a:latin typeface="Verdana"/>
                <a:ea typeface="Verdana"/>
                <a:cs typeface="Verdana"/>
                <a:sym typeface="Verdana"/>
              </a:rPr>
              <a:t>12.6.3 Guided Instruction: Solving Equations Using Inverse Operations</a:t>
            </a:r>
          </a:p>
        </p:txBody>
      </p:sp>
      <p:sp>
        <p:nvSpPr>
          <p:cNvPr id="2" name="Rectangle 1">
            <a:extLst>
              <a:ext uri="{FF2B5EF4-FFF2-40B4-BE49-F238E27FC236}">
                <a16:creationId xmlns:a16="http://schemas.microsoft.com/office/drawing/2014/main" id="{B2BE9AFC-D858-8947-AE27-3738478587E3}"/>
              </a:ext>
            </a:extLst>
          </p:cNvPr>
          <p:cNvSpPr/>
          <p:nvPr/>
        </p:nvSpPr>
        <p:spPr>
          <a:xfrm>
            <a:off x="914400" y="1331161"/>
            <a:ext cx="10515600" cy="3046988"/>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An equation relates two equivalent expressions. When solving an equation, the mathematical sentence must remain balanced so that the two expressions remain equivalent.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what it means for an equation to remain balanced. Then, summarize your discussion.</a:t>
            </a:r>
          </a:p>
        </p:txBody>
      </p:sp>
      <p:sp>
        <p:nvSpPr>
          <p:cNvPr id="10" name="Google Shape;282;g104476d1465_1_17">
            <a:extLst>
              <a:ext uri="{FF2B5EF4-FFF2-40B4-BE49-F238E27FC236}">
                <a16:creationId xmlns:a16="http://schemas.microsoft.com/office/drawing/2014/main" id="{A0B3F56A-90D4-0546-BD18-061853EE942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2" name="Picture 11" descr="Icon&#10;&#10;Description automatically generated">
            <a:extLst>
              <a:ext uri="{FF2B5EF4-FFF2-40B4-BE49-F238E27FC236}">
                <a16:creationId xmlns:a16="http://schemas.microsoft.com/office/drawing/2014/main" id="{C6C9C2DF-E989-BB45-9CB6-957F2793000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p:spTree>
    <p:extLst>
      <p:ext uri="{BB962C8B-B14F-4D97-AF65-F5344CB8AC3E}">
        <p14:creationId xmlns:p14="http://schemas.microsoft.com/office/powerpoint/2010/main" val="4194801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22E7CAFC-319F-CE4F-8B26-ED2749A56CDA}"/>
              </a:ext>
            </a:extLst>
          </p:cNvPr>
          <p:cNvSpPr/>
          <p:nvPr/>
        </p:nvSpPr>
        <p:spPr>
          <a:xfrm>
            <a:off x="914400" y="403849"/>
            <a:ext cx="10515600" cy="830997"/>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When finding the solution to an equation, inverse operations are used to balance an equation. </a:t>
            </a:r>
          </a:p>
        </p:txBody>
      </p:sp>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grpSp>
        <p:nvGrpSpPr>
          <p:cNvPr id="7" name="Group 6">
            <a:extLst>
              <a:ext uri="{FF2B5EF4-FFF2-40B4-BE49-F238E27FC236}">
                <a16:creationId xmlns:a16="http://schemas.microsoft.com/office/drawing/2014/main" id="{5B7C1E3D-F3F7-B44C-AE64-9E8FDE51C9AD}"/>
              </a:ext>
            </a:extLst>
          </p:cNvPr>
          <p:cNvGrpSpPr/>
          <p:nvPr/>
        </p:nvGrpSpPr>
        <p:grpSpPr>
          <a:xfrm>
            <a:off x="2781300" y="1493508"/>
            <a:ext cx="7027718" cy="1005288"/>
            <a:chOff x="2031300" y="3026205"/>
            <a:chExt cx="6629400" cy="1280897"/>
          </a:xfrm>
        </p:grpSpPr>
        <p:sp>
          <p:nvSpPr>
            <p:cNvPr id="8" name="Rectangle 7">
              <a:extLst>
                <a:ext uri="{FF2B5EF4-FFF2-40B4-BE49-F238E27FC236}">
                  <a16:creationId xmlns:a16="http://schemas.microsoft.com/office/drawing/2014/main" id="{EB7DEC01-BC60-5649-8B73-DBC880463994}"/>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endParaRPr lang="x-none" sz="1200">
                <a:latin typeface="Cambria" panose="02040503050406030204" pitchFamily="18" charset="0"/>
                <a:ea typeface="MS Mincho" panose="02020609040205080304" pitchFamily="49" charset="-128"/>
                <a:cs typeface="Times New Roman" panose="02020603050405020304" pitchFamily="18" charset="0"/>
              </a:endParaRPr>
            </a:p>
          </p:txBody>
        </p:sp>
        <p:grpSp>
          <p:nvGrpSpPr>
            <p:cNvPr id="9" name="Group 8">
              <a:extLst>
                <a:ext uri="{FF2B5EF4-FFF2-40B4-BE49-F238E27FC236}">
                  <a16:creationId xmlns:a16="http://schemas.microsoft.com/office/drawing/2014/main" id="{ED1469FE-4CE8-A24E-BCEF-824000306D69}"/>
                </a:ext>
              </a:extLst>
            </p:cNvPr>
            <p:cNvGrpSpPr/>
            <p:nvPr/>
          </p:nvGrpSpPr>
          <p:grpSpPr>
            <a:xfrm>
              <a:off x="2031300" y="3026205"/>
              <a:ext cx="6629400" cy="1280892"/>
              <a:chOff x="2031300" y="3039664"/>
              <a:chExt cx="6629400" cy="1258024"/>
            </a:xfrm>
          </p:grpSpPr>
          <p:sp>
            <p:nvSpPr>
              <p:cNvPr id="11" name="Rectangle 10">
                <a:extLst>
                  <a:ext uri="{FF2B5EF4-FFF2-40B4-BE49-F238E27FC236}">
                    <a16:creationId xmlns:a16="http://schemas.microsoft.com/office/drawing/2014/main" id="{089E5144-1D58-5247-9656-B8C44290BA01}"/>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endParaRPr lang="x-none" sz="1200">
                  <a:latin typeface="Cambria" panose="02040503050406030204" pitchFamily="18" charset="0"/>
                  <a:ea typeface="MS Mincho" panose="02020609040205080304" pitchFamily="49" charset="-128"/>
                  <a:cs typeface="Times New Roman" panose="02020603050405020304" pitchFamily="18" charset="0"/>
                </a:endParaRPr>
              </a:p>
            </p:txBody>
          </p:sp>
          <p:grpSp>
            <p:nvGrpSpPr>
              <p:cNvPr id="12" name="Group 11">
                <a:extLst>
                  <a:ext uri="{FF2B5EF4-FFF2-40B4-BE49-F238E27FC236}">
                    <a16:creationId xmlns:a16="http://schemas.microsoft.com/office/drawing/2014/main" id="{A48E6563-B7EA-1B42-8439-96EE66874D0F}"/>
                  </a:ext>
                </a:extLst>
              </p:cNvPr>
              <p:cNvGrpSpPr/>
              <p:nvPr/>
            </p:nvGrpSpPr>
            <p:grpSpPr>
              <a:xfrm>
                <a:off x="2031300" y="3039664"/>
                <a:ext cx="6629400" cy="1258024"/>
                <a:chOff x="2031300" y="3150976"/>
                <a:chExt cx="6629400" cy="1258024"/>
              </a:xfrm>
            </p:grpSpPr>
            <p:sp>
              <p:nvSpPr>
                <p:cNvPr id="13" name="Rectangle 12">
                  <a:extLst>
                    <a:ext uri="{FF2B5EF4-FFF2-40B4-BE49-F238E27FC236}">
                      <a16:creationId xmlns:a16="http://schemas.microsoft.com/office/drawing/2014/main" id="{086843BA-BCB5-7B44-97DE-6669795AA79C}"/>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endParaRPr lang="x-none" sz="1200">
                    <a:latin typeface="Cambria" panose="02040503050406030204" pitchFamily="18" charset="0"/>
                    <a:ea typeface="MS Mincho" panose="02020609040205080304" pitchFamily="49" charset="-128"/>
                    <a:cs typeface="Times New Roman" panose="02020603050405020304" pitchFamily="18" charset="0"/>
                  </a:endParaRPr>
                </a:p>
              </p:txBody>
            </p:sp>
            <p:grpSp>
              <p:nvGrpSpPr>
                <p:cNvPr id="14" name="Group 13">
                  <a:extLst>
                    <a:ext uri="{FF2B5EF4-FFF2-40B4-BE49-F238E27FC236}">
                      <a16:creationId xmlns:a16="http://schemas.microsoft.com/office/drawing/2014/main" id="{5A8C3316-87C3-524C-BFCD-9AD1ED1FD6F5}"/>
                    </a:ext>
                  </a:extLst>
                </p:cNvPr>
                <p:cNvGrpSpPr/>
                <p:nvPr/>
              </p:nvGrpSpPr>
              <p:grpSpPr>
                <a:xfrm>
                  <a:off x="2031300" y="3150976"/>
                  <a:ext cx="6629400" cy="1035424"/>
                  <a:chOff x="2031300" y="3150976"/>
                  <a:chExt cx="6629400" cy="1035424"/>
                </a:xfrm>
              </p:grpSpPr>
              <p:sp>
                <p:nvSpPr>
                  <p:cNvPr id="15" name="Rectangle 14">
                    <a:extLst>
                      <a:ext uri="{FF2B5EF4-FFF2-40B4-BE49-F238E27FC236}">
                        <a16:creationId xmlns:a16="http://schemas.microsoft.com/office/drawing/2014/main" id="{64584C02-34D5-654B-ADFD-B61D9EEC507C}"/>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endParaRPr lang="x-none" sz="1200">
                      <a:latin typeface="Cambria" panose="02040503050406030204" pitchFamily="18" charset="0"/>
                      <a:ea typeface="MS Mincho" panose="02020609040205080304" pitchFamily="49" charset="-128"/>
                      <a:cs typeface="Times New Roman" panose="02020603050405020304" pitchFamily="18" charset="0"/>
                    </a:endParaRPr>
                  </a:p>
                </p:txBody>
              </p:sp>
              <p:grpSp>
                <p:nvGrpSpPr>
                  <p:cNvPr id="16" name="Group 15">
                    <a:extLst>
                      <a:ext uri="{FF2B5EF4-FFF2-40B4-BE49-F238E27FC236}">
                        <a16:creationId xmlns:a16="http://schemas.microsoft.com/office/drawing/2014/main" id="{E7BFD17A-51EA-6148-8B23-6B4B4FC7181C}"/>
                      </a:ext>
                    </a:extLst>
                  </p:cNvPr>
                  <p:cNvGrpSpPr/>
                  <p:nvPr/>
                </p:nvGrpSpPr>
                <p:grpSpPr>
                  <a:xfrm>
                    <a:off x="2031300" y="3150976"/>
                    <a:ext cx="6629400" cy="1035424"/>
                    <a:chOff x="0" y="-222624"/>
                    <a:chExt cx="6629400" cy="1035424"/>
                  </a:xfrm>
                </p:grpSpPr>
                <p:sp>
                  <p:nvSpPr>
                    <p:cNvPr id="17" name="Rectangle 16">
                      <a:extLst>
                        <a:ext uri="{FF2B5EF4-FFF2-40B4-BE49-F238E27FC236}">
                          <a16:creationId xmlns:a16="http://schemas.microsoft.com/office/drawing/2014/main" id="{CAEC4D1D-C5B2-AD47-BFE0-16A05E08C54A}"/>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endParaRPr lang="x-none" sz="1200">
                        <a:latin typeface="Cambria" panose="02040503050406030204" pitchFamily="18" charset="0"/>
                        <a:ea typeface="MS Mincho" panose="02020609040205080304" pitchFamily="49" charset="-128"/>
                        <a:cs typeface="Times New Roman" panose="02020603050405020304" pitchFamily="18" charset="0"/>
                      </a:endParaRPr>
                    </a:p>
                  </p:txBody>
                </p:sp>
                <p:sp>
                  <p:nvSpPr>
                    <p:cNvPr id="18" name="Rounded Rectangle 17">
                      <a:extLst>
                        <a:ext uri="{FF2B5EF4-FFF2-40B4-BE49-F238E27FC236}">
                          <a16:creationId xmlns:a16="http://schemas.microsoft.com/office/drawing/2014/main" id="{907C8A97-7831-6348-9BB1-248114880D7C}"/>
                        </a:ext>
                      </a:extLst>
                    </p:cNvPr>
                    <p:cNvSpPr/>
                    <p:nvPr/>
                  </p:nvSpPr>
                  <p:spPr>
                    <a:xfrm>
                      <a:off x="0" y="-222624"/>
                      <a:ext cx="6629400" cy="1035424"/>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114300">
                        <a:spcAft>
                          <a:spcPts val="1000"/>
                        </a:spcAft>
                      </a:pPr>
                      <a:r>
                        <a:rPr lang="en-US" sz="1800" dirty="0">
                          <a:solidFill>
                            <a:srgbClr val="6C9A3C"/>
                          </a:solidFill>
                          <a:latin typeface="Verdana" panose="020B0604030504040204" pitchFamily="34" charset="0"/>
                          <a:ea typeface="MS Mincho" panose="02020609040205080304" pitchFamily="49" charset="-128"/>
                          <a:cs typeface="Times New Roman" panose="02020603050405020304" pitchFamily="18" charset="0"/>
                        </a:rPr>
                        <a:t>An </a:t>
                      </a:r>
                      <a:r>
                        <a:rPr lang="en-US" sz="1800" b="1" i="1" dirty="0">
                          <a:solidFill>
                            <a:srgbClr val="6C9A3C"/>
                          </a:solidFill>
                          <a:latin typeface="Verdana" panose="020B0604030504040204" pitchFamily="34" charset="0"/>
                          <a:ea typeface="MS Mincho" panose="02020609040205080304" pitchFamily="49" charset="-128"/>
                          <a:cs typeface="Times New Roman" panose="02020603050405020304" pitchFamily="18" charset="0"/>
                        </a:rPr>
                        <a:t>inverse operation </a:t>
                      </a:r>
                      <a:r>
                        <a:rPr lang="en-US" sz="1800" dirty="0">
                          <a:solidFill>
                            <a:srgbClr val="6C9A3C"/>
                          </a:solidFill>
                          <a:latin typeface="Verdana" panose="020B0604030504040204" pitchFamily="34" charset="0"/>
                          <a:ea typeface="MS Mincho" panose="02020609040205080304" pitchFamily="49" charset="-128"/>
                          <a:cs typeface="Times New Roman" panose="02020603050405020304" pitchFamily="18" charset="0"/>
                        </a:rPr>
                        <a:t>is an operation that reverses the effect of another operation.</a:t>
                      </a:r>
                      <a:r>
                        <a:rPr lang="en-US" sz="1200" dirty="0">
                          <a:latin typeface="Cambria" panose="02040503050406030204" pitchFamily="18" charset="0"/>
                          <a:ea typeface="MS Mincho" panose="02020609040205080304" pitchFamily="49" charset="-128"/>
                          <a:cs typeface="Times New Roman" panose="02020603050405020304" pitchFamily="18" charset="0"/>
                        </a:rPr>
                        <a:t> </a:t>
                      </a:r>
                      <a:endParaRPr lang="x-none" sz="1200" dirty="0">
                        <a:latin typeface="Cambria" panose="02040503050406030204" pitchFamily="18" charset="0"/>
                        <a:ea typeface="MS Mincho" panose="02020609040205080304" pitchFamily="49" charset="-128"/>
                        <a:cs typeface="Times New Roman" panose="02020603050405020304" pitchFamily="18" charset="0"/>
                      </a:endParaRPr>
                    </a:p>
                  </p:txBody>
                </p:sp>
              </p:grpSp>
            </p:grpSp>
          </p:grpSp>
        </p:grpSp>
      </p:grpSp>
      <p:sp>
        <p:nvSpPr>
          <p:cNvPr id="19" name="Rectangle 18">
            <a:extLst>
              <a:ext uri="{FF2B5EF4-FFF2-40B4-BE49-F238E27FC236}">
                <a16:creationId xmlns:a16="http://schemas.microsoft.com/office/drawing/2014/main" id="{A456DD15-77CF-8048-9B37-F5C1314502EF}"/>
              </a:ext>
            </a:extLst>
          </p:cNvPr>
          <p:cNvSpPr/>
          <p:nvPr/>
        </p:nvSpPr>
        <p:spPr>
          <a:xfrm>
            <a:off x="914400" y="2731412"/>
            <a:ext cx="10515600" cy="1200329"/>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Using the definition of inverse operations, complete the table to indicate which operation would reverse the given operation.</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8E9DC3A-1D19-1145-BB65-97A7A11A93EF}"/>
                  </a:ext>
                </a:extLst>
              </p:cNvPr>
              <p:cNvGraphicFramePr>
                <a:graphicFrameLocks noGrp="1"/>
              </p:cNvGraphicFramePr>
              <p:nvPr>
                <p:extLst>
                  <p:ext uri="{D42A27DB-BD31-4B8C-83A1-F6EECF244321}">
                    <p14:modId xmlns:p14="http://schemas.microsoft.com/office/powerpoint/2010/main" val="2811799187"/>
                  </p:ext>
                </p:extLst>
              </p:nvPr>
            </p:nvGraphicFramePr>
            <p:xfrm>
              <a:off x="2652713" y="4342238"/>
              <a:ext cx="6886575" cy="1188720"/>
            </p:xfrm>
            <a:graphic>
              <a:graphicData uri="http://schemas.openxmlformats.org/drawingml/2006/table">
                <a:tbl>
                  <a:tblPr firstRow="1" firstCol="1" bandRow="1">
                    <a:tableStyleId>{A91F0D33-8C57-4600-99A7-42BC86742BE1}</a:tableStyleId>
                  </a:tblPr>
                  <a:tblGrid>
                    <a:gridCol w="3419475">
                      <a:extLst>
                        <a:ext uri="{9D8B030D-6E8A-4147-A177-3AD203B41FA5}">
                          <a16:colId xmlns:a16="http://schemas.microsoft.com/office/drawing/2014/main" val="409132820"/>
                        </a:ext>
                      </a:extLst>
                    </a:gridCol>
                    <a:gridCol w="3467100">
                      <a:extLst>
                        <a:ext uri="{9D8B030D-6E8A-4147-A177-3AD203B41FA5}">
                          <a16:colId xmlns:a16="http://schemas.microsoft.com/office/drawing/2014/main" val="2428801522"/>
                        </a:ext>
                      </a:extLst>
                    </a:gridCol>
                  </a:tblGrid>
                  <a:tr h="175260">
                    <a:tc>
                      <a:txBody>
                        <a:bodyPr/>
                        <a:lstStyle/>
                        <a:p>
                          <a:pPr marL="0" marR="0" algn="ctr">
                            <a:spcBef>
                              <a:spcPts val="0"/>
                            </a:spcBef>
                            <a:spcAft>
                              <a:spcPts val="0"/>
                            </a:spcAft>
                          </a:pPr>
                          <a:r>
                            <a:rPr lang="en-US" sz="1800" b="1">
                              <a:effectLst/>
                              <a:latin typeface="Verdana" panose="020B0604030504040204" pitchFamily="34" charset="0"/>
                              <a:ea typeface="MS Mincho" panose="02020609040205080304" pitchFamily="49" charset="-128"/>
                              <a:cs typeface="Times New Roman" panose="02020603050405020304" pitchFamily="18" charset="0"/>
                            </a:rPr>
                            <a:t>Operation</a:t>
                          </a:r>
                          <a:endParaRPr lang="x-none" sz="1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MS Mincho" panose="02020609040205080304" pitchFamily="49" charset="-128"/>
                              <a:cs typeface="Times New Roman" panose="02020603050405020304" pitchFamily="18" charset="0"/>
                            </a:rPr>
                            <a:t>Inverse Operation</a:t>
                          </a:r>
                          <a:endParaRPr lang="x-none" sz="1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355406488"/>
                      </a:ext>
                    </a:extLst>
                  </a:tr>
                  <a:tr h="45720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Subtraction (</a:t>
                          </a:r>
                          <a14:m>
                            <m:oMath xmlns:m="http://schemas.openxmlformats.org/officeDocument/2006/math">
                              <m:r>
                                <a:rPr lang="en-US" sz="1800">
                                  <a:effectLst/>
                                  <a:latin typeface="Cambria Math"/>
                                </a:rPr>
                                <m:t>−</m:t>
                              </m:r>
                            </m:oMath>
                          </a14:m>
                          <a:r>
                            <a:rPr lang="en-US" sz="1800">
                              <a:effectLst/>
                              <a:latin typeface="Verdana" panose="020B0604030504040204" pitchFamily="34" charset="0"/>
                              <a:ea typeface="Verdana" panose="020B0604030504040204" pitchFamily="34" charset="0"/>
                              <a:cs typeface="Verdana" panose="020B0604030504040204" pitchFamily="34" charset="0"/>
                            </a:rPr>
                            <a:t>)</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156853"/>
                      </a:ext>
                    </a:extLst>
                  </a:tr>
                  <a:tr h="45720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Addition (</a:t>
                          </a:r>
                          <a14:m>
                            <m:oMath xmlns:m="http://schemas.openxmlformats.org/officeDocument/2006/math">
                              <m:r>
                                <a:rPr lang="en-US" sz="1800">
                                  <a:effectLst/>
                                  <a:latin typeface="Cambria Math"/>
                                </a:rPr>
                                <m:t>+</m:t>
                              </m:r>
                            </m:oMath>
                          </a14:m>
                          <a:r>
                            <a:rPr lang="en-US" sz="1800">
                              <a:effectLst/>
                              <a:latin typeface="Verdana" panose="020B0604030504040204" pitchFamily="34" charset="0"/>
                              <a:ea typeface="Verdana" panose="020B0604030504040204" pitchFamily="34" charset="0"/>
                              <a:cs typeface="Verdana" panose="020B0604030504040204" pitchFamily="34" charset="0"/>
                            </a:rPr>
                            <a:t>)</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0702146"/>
                      </a:ext>
                    </a:extLst>
                  </a:tr>
                </a:tbl>
              </a:graphicData>
            </a:graphic>
          </p:graphicFrame>
        </mc:Choice>
        <mc:Fallback xmlns="">
          <p:graphicFrame>
            <p:nvGraphicFramePr>
              <p:cNvPr id="3" name="Table 2">
                <a:extLst>
                  <a:ext uri="{FF2B5EF4-FFF2-40B4-BE49-F238E27FC236}">
                    <a16:creationId xmlns:a16="http://schemas.microsoft.com/office/drawing/2014/main" id="{08E9DC3A-1D19-1145-BB65-97A7A11A93EF}"/>
                  </a:ext>
                </a:extLst>
              </p:cNvPr>
              <p:cNvGraphicFramePr>
                <a:graphicFrameLocks noGrp="1"/>
              </p:cNvGraphicFramePr>
              <p:nvPr>
                <p:extLst>
                  <p:ext uri="{D42A27DB-BD31-4B8C-83A1-F6EECF244321}">
                    <p14:modId xmlns:p14="http://schemas.microsoft.com/office/powerpoint/2010/main" val="2811799187"/>
                  </p:ext>
                </p:extLst>
              </p:nvPr>
            </p:nvGraphicFramePr>
            <p:xfrm>
              <a:off x="2652713" y="4342238"/>
              <a:ext cx="6886575" cy="1188720"/>
            </p:xfrm>
            <a:graphic>
              <a:graphicData uri="http://schemas.openxmlformats.org/drawingml/2006/table">
                <a:tbl>
                  <a:tblPr firstRow="1" firstCol="1" bandRow="1">
                    <a:tableStyleId>{A91F0D33-8C57-4600-99A7-42BC86742BE1}</a:tableStyleId>
                  </a:tblPr>
                  <a:tblGrid>
                    <a:gridCol w="3419475">
                      <a:extLst>
                        <a:ext uri="{9D8B030D-6E8A-4147-A177-3AD203B41FA5}">
                          <a16:colId xmlns:a16="http://schemas.microsoft.com/office/drawing/2014/main" val="409132820"/>
                        </a:ext>
                      </a:extLst>
                    </a:gridCol>
                    <a:gridCol w="3467100">
                      <a:extLst>
                        <a:ext uri="{9D8B030D-6E8A-4147-A177-3AD203B41FA5}">
                          <a16:colId xmlns:a16="http://schemas.microsoft.com/office/drawing/2014/main" val="2428801522"/>
                        </a:ext>
                      </a:extLst>
                    </a:gridCol>
                  </a:tblGrid>
                  <a:tr h="274320">
                    <a:tc>
                      <a:txBody>
                        <a:bodyPr/>
                        <a:lstStyle/>
                        <a:p>
                          <a:pPr marL="0" marR="0" algn="ctr">
                            <a:spcBef>
                              <a:spcPts val="0"/>
                            </a:spcBef>
                            <a:spcAft>
                              <a:spcPts val="0"/>
                            </a:spcAft>
                          </a:pPr>
                          <a:r>
                            <a:rPr lang="en-US" sz="1800" b="1">
                              <a:effectLst/>
                              <a:latin typeface="Verdana" panose="020B0604030504040204" pitchFamily="34" charset="0"/>
                              <a:ea typeface="MS Mincho" panose="02020609040205080304" pitchFamily="49" charset="-128"/>
                              <a:cs typeface="Times New Roman" panose="02020603050405020304" pitchFamily="18" charset="0"/>
                            </a:rPr>
                            <a:t>Operation</a:t>
                          </a:r>
                          <a:endParaRPr lang="x-none" sz="1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MS Mincho" panose="02020609040205080304" pitchFamily="49" charset="-128"/>
                              <a:cs typeface="Times New Roman" panose="02020603050405020304" pitchFamily="18" charset="0"/>
                            </a:rPr>
                            <a:t>Inverse Operation</a:t>
                          </a:r>
                          <a:endParaRPr lang="x-none" sz="1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355406488"/>
                      </a:ext>
                    </a:extLst>
                  </a:tr>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75000" r="-101852" b="-116667"/>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156853"/>
                      </a:ext>
                    </a:extLst>
                  </a:tr>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70270" r="-101852" b="-13514"/>
                          </a:stretch>
                        </a:blip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0702146"/>
                      </a:ext>
                    </a:extLst>
                  </a:tr>
                </a:tbl>
              </a:graphicData>
            </a:graphic>
          </p:graphicFrame>
        </mc:Fallback>
      </mc:AlternateContent>
    </p:spTree>
    <p:extLst>
      <p:ext uri="{BB962C8B-B14F-4D97-AF65-F5344CB8AC3E}">
        <p14:creationId xmlns:p14="http://schemas.microsoft.com/office/powerpoint/2010/main" val="2153346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Practice</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id="{AE80E75D-78AE-A94E-86B4-91D469B7BFA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310</a:t>
            </a:r>
            <a:endParaRPr i="1" dirty="0">
              <a:latin typeface="Calibri"/>
              <a:ea typeface="Calibri"/>
              <a:cs typeface="Calibri"/>
              <a:sym typeface="Calibri"/>
            </a:endParaRPr>
          </a:p>
        </p:txBody>
      </p:sp>
      <p:pic>
        <p:nvPicPr>
          <p:cNvPr id="8" name="image2.png" descr="Icon&#10;&#10;Description automatically generated">
            <a:extLst>
              <a:ext uri="{FF2B5EF4-FFF2-40B4-BE49-F238E27FC236}">
                <a16:creationId xmlns:a16="http://schemas.microsoft.com/office/drawing/2014/main" id="{A9F1B734-96A6-314B-A8D2-6D2722ABFB16}"/>
              </a:ext>
            </a:extLst>
          </p:cNvPr>
          <p:cNvPicPr/>
          <p:nvPr/>
        </p:nvPicPr>
        <p:blipFill>
          <a:blip r:embed="rId4"/>
          <a:srcRect/>
          <a:stretch>
            <a:fillRect/>
          </a:stretch>
        </p:blipFill>
        <p:spPr>
          <a:xfrm>
            <a:off x="3054096" y="2770632"/>
            <a:ext cx="1156733" cy="1156733"/>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73170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27923"/>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4B5D1"/>
                </a:solidFill>
                <a:latin typeface="Verdana"/>
                <a:ea typeface="Verdana"/>
                <a:cs typeface="Verdana"/>
                <a:sym typeface="Verdana"/>
              </a:rPr>
              <a:t>12.6.4 Guided Practice: Using Inverse Operations to Solve Equations</a:t>
            </a:r>
          </a:p>
        </p:txBody>
      </p:sp>
      <p:sp>
        <p:nvSpPr>
          <p:cNvPr id="2" name="Rectangle 1">
            <a:extLst>
              <a:ext uri="{FF2B5EF4-FFF2-40B4-BE49-F238E27FC236}">
                <a16:creationId xmlns:a16="http://schemas.microsoft.com/office/drawing/2014/main" id="{B2BE9AFC-D858-8947-AE27-3738478587E3}"/>
              </a:ext>
            </a:extLst>
          </p:cNvPr>
          <p:cNvSpPr/>
          <p:nvPr/>
        </p:nvSpPr>
        <p:spPr>
          <a:xfrm>
            <a:off x="914400" y="1528392"/>
            <a:ext cx="10515600" cy="2308324"/>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Balance scales are used to measure weight, or mass. When both pans are at the same height, that means the objects in the two pans weigh the same amount. In mathematics, balance scales are often used to show balanced equations where the expressions on either side of the balance are equivalent.</a:t>
            </a:r>
          </a:p>
        </p:txBody>
      </p:sp>
      <p:sp>
        <p:nvSpPr>
          <p:cNvPr id="10" name="Google Shape;282;g104476d1465_1_17">
            <a:extLst>
              <a:ext uri="{FF2B5EF4-FFF2-40B4-BE49-F238E27FC236}">
                <a16:creationId xmlns:a16="http://schemas.microsoft.com/office/drawing/2014/main" id="{A0B3F56A-90D4-0546-BD18-061853EE942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310</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9" name="image2.png" descr="Icon&#10;&#10;Description automatically generated">
            <a:extLst>
              <a:ext uri="{FF2B5EF4-FFF2-40B4-BE49-F238E27FC236}">
                <a16:creationId xmlns:a16="http://schemas.microsoft.com/office/drawing/2014/main" id="{508799EC-B441-2B4B-8111-A4F8535651F9}"/>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47301" cy="747301"/>
          </a:xfrm>
          <a:prstGeom prst="rect">
            <a:avLst/>
          </a:prstGeom>
          <a:ln/>
        </p:spPr>
      </p:pic>
    </p:spTree>
    <p:extLst>
      <p:ext uri="{BB962C8B-B14F-4D97-AF65-F5344CB8AC3E}">
        <p14:creationId xmlns:p14="http://schemas.microsoft.com/office/powerpoint/2010/main" val="821796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22E7CAFC-319F-CE4F-8B26-ED2749A56CDA}"/>
              </a:ext>
            </a:extLst>
          </p:cNvPr>
          <p:cNvSpPr/>
          <p:nvPr/>
        </p:nvSpPr>
        <p:spPr>
          <a:xfrm>
            <a:off x="914400" y="500830"/>
            <a:ext cx="10515600" cy="1015663"/>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Heidi and Pete were given the balance scale shown below, which has exactly 6 marbles in the left pan. Heidi and Pete were asked how many marbles are in one bag.</a:t>
            </a:r>
          </a:p>
        </p:txBody>
      </p:sp>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310</a:t>
            </a:r>
            <a:endParaRPr i="1" dirty="0">
              <a:latin typeface="Calibri"/>
              <a:ea typeface="Calibri"/>
              <a:cs typeface="Calibri"/>
              <a:sym typeface="Calibri"/>
            </a:endParaRPr>
          </a:p>
        </p:txBody>
      </p:sp>
      <p:pic>
        <p:nvPicPr>
          <p:cNvPr id="7" name="Picture 6" descr="Diagram&#10;&#10;Description automatically generated">
            <a:extLst>
              <a:ext uri="{FF2B5EF4-FFF2-40B4-BE49-F238E27FC236}">
                <a16:creationId xmlns:a16="http://schemas.microsoft.com/office/drawing/2014/main" id="{252707C8-827D-A74F-B59F-A982196C331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53396" y="1516492"/>
            <a:ext cx="2885209" cy="2087684"/>
          </a:xfrm>
          <a:prstGeom prst="rect">
            <a:avLst/>
          </a:prstGeom>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8DA6A0BF-84CF-F74B-BE4C-6558C1B11BCE}"/>
                  </a:ext>
                </a:extLst>
              </p:cNvPr>
              <p:cNvGraphicFramePr>
                <a:graphicFrameLocks noGrp="1"/>
              </p:cNvGraphicFramePr>
              <p:nvPr>
                <p:extLst>
                  <p:ext uri="{D42A27DB-BD31-4B8C-83A1-F6EECF244321}">
                    <p14:modId xmlns:p14="http://schemas.microsoft.com/office/powerpoint/2010/main" val="297803778"/>
                  </p:ext>
                </p:extLst>
              </p:nvPr>
            </p:nvGraphicFramePr>
            <p:xfrm>
              <a:off x="2651125" y="3796485"/>
              <a:ext cx="6889750" cy="822960"/>
            </p:xfrm>
            <a:graphic>
              <a:graphicData uri="http://schemas.openxmlformats.org/drawingml/2006/table">
                <a:tbl>
                  <a:tblPr firstRow="1" firstCol="1" bandRow="1">
                    <a:tableStyleId>{A91F0D33-8C57-4600-99A7-42BC86742BE1}</a:tableStyleId>
                  </a:tblPr>
                  <a:tblGrid>
                    <a:gridCol w="3482975">
                      <a:extLst>
                        <a:ext uri="{9D8B030D-6E8A-4147-A177-3AD203B41FA5}">
                          <a16:colId xmlns:a16="http://schemas.microsoft.com/office/drawing/2014/main" val="3556246909"/>
                        </a:ext>
                      </a:extLst>
                    </a:gridCol>
                    <a:gridCol w="3406775">
                      <a:extLst>
                        <a:ext uri="{9D8B030D-6E8A-4147-A177-3AD203B41FA5}">
                          <a16:colId xmlns:a16="http://schemas.microsoft.com/office/drawing/2014/main" val="429377344"/>
                        </a:ext>
                      </a:extLst>
                    </a:gridCol>
                  </a:tblGrid>
                  <a:tr h="0">
                    <a:tc>
                      <a:txBody>
                        <a:bodyPr/>
                        <a:lstStyle/>
                        <a:p>
                          <a:pPr marL="0" marR="21082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Heidi stated, “There is not enough information to solve this problem.”</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Pete stated, “Each bag holds </a:t>
                          </a:r>
                          <a14:m>
                            <m:oMath xmlns:m="http://schemas.openxmlformats.org/officeDocument/2006/math">
                              <m:r>
                                <a:rPr lang="en-US" sz="1800">
                                  <a:effectLst/>
                                  <a:latin typeface="Cambria Math"/>
                                </a:rPr>
                                <m:t>5</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marbles.”</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425790"/>
                      </a:ext>
                    </a:extLst>
                  </a:tr>
                </a:tbl>
              </a:graphicData>
            </a:graphic>
          </p:graphicFrame>
        </mc:Choice>
        <mc:Fallback xmlns="">
          <p:graphicFrame>
            <p:nvGraphicFramePr>
              <p:cNvPr id="3" name="Table 2">
                <a:extLst>
                  <a:ext uri="{FF2B5EF4-FFF2-40B4-BE49-F238E27FC236}">
                    <a16:creationId xmlns:a16="http://schemas.microsoft.com/office/drawing/2014/main" id="{8DA6A0BF-84CF-F74B-BE4C-6558C1B11BCE}"/>
                  </a:ext>
                </a:extLst>
              </p:cNvPr>
              <p:cNvGraphicFramePr>
                <a:graphicFrameLocks noGrp="1"/>
              </p:cNvGraphicFramePr>
              <p:nvPr>
                <p:extLst>
                  <p:ext uri="{D42A27DB-BD31-4B8C-83A1-F6EECF244321}">
                    <p14:modId xmlns:p14="http://schemas.microsoft.com/office/powerpoint/2010/main" val="297803778"/>
                  </p:ext>
                </p:extLst>
              </p:nvPr>
            </p:nvGraphicFramePr>
            <p:xfrm>
              <a:off x="2651125" y="3796485"/>
              <a:ext cx="6889750" cy="822960"/>
            </p:xfrm>
            <a:graphic>
              <a:graphicData uri="http://schemas.openxmlformats.org/drawingml/2006/table">
                <a:tbl>
                  <a:tblPr firstRow="1" firstCol="1" bandRow="1">
                    <a:tableStyleId>{A91F0D33-8C57-4600-99A7-42BC86742BE1}</a:tableStyleId>
                  </a:tblPr>
                  <a:tblGrid>
                    <a:gridCol w="3482975">
                      <a:extLst>
                        <a:ext uri="{9D8B030D-6E8A-4147-A177-3AD203B41FA5}">
                          <a16:colId xmlns:a16="http://schemas.microsoft.com/office/drawing/2014/main" val="3556246909"/>
                        </a:ext>
                      </a:extLst>
                    </a:gridCol>
                    <a:gridCol w="3406775">
                      <a:extLst>
                        <a:ext uri="{9D8B030D-6E8A-4147-A177-3AD203B41FA5}">
                          <a16:colId xmlns:a16="http://schemas.microsoft.com/office/drawing/2014/main" val="429377344"/>
                        </a:ext>
                      </a:extLst>
                    </a:gridCol>
                  </a:tblGrid>
                  <a:tr h="822960">
                    <a:tc>
                      <a:txBody>
                        <a:bodyPr/>
                        <a:lstStyle/>
                        <a:p>
                          <a:pPr marL="0" marR="21082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Heidi stated, “There is not enough information to solve this problem.”</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2602" t="-7576" r="-372" b="-18182"/>
                          </a:stretch>
                        </a:blipFill>
                      </a:tcPr>
                    </a:tc>
                    <a:extLst>
                      <a:ext uri="{0D108BD9-81ED-4DB2-BD59-A6C34878D82A}">
                        <a16:rowId xmlns:a16="http://schemas.microsoft.com/office/drawing/2014/main" val="217425790"/>
                      </a:ext>
                    </a:extLst>
                  </a:tr>
                </a:tbl>
              </a:graphicData>
            </a:graphic>
          </p:graphicFrame>
        </mc:Fallback>
      </mc:AlternateContent>
      <p:sp>
        <p:nvSpPr>
          <p:cNvPr id="9" name="Rectangle 8">
            <a:extLst>
              <a:ext uri="{FF2B5EF4-FFF2-40B4-BE49-F238E27FC236}">
                <a16:creationId xmlns:a16="http://schemas.microsoft.com/office/drawing/2014/main" id="{717666F7-1E49-3D43-864D-91BED188CB90}"/>
              </a:ext>
            </a:extLst>
          </p:cNvPr>
          <p:cNvSpPr/>
          <p:nvPr/>
        </p:nvSpPr>
        <p:spPr>
          <a:xfrm>
            <a:off x="914400" y="4988675"/>
            <a:ext cx="10515600" cy="400110"/>
          </a:xfrm>
          <a:prstGeom prst="rect">
            <a:avLst/>
          </a:prstGeom>
        </p:spPr>
        <p:txBody>
          <a:bodyPr wrap="square">
            <a:spAutoFit/>
          </a:bodyPr>
          <a:lstStyle/>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who is correct.</a:t>
            </a:r>
          </a:p>
        </p:txBody>
      </p:sp>
    </p:spTree>
    <p:extLst>
      <p:ext uri="{BB962C8B-B14F-4D97-AF65-F5344CB8AC3E}">
        <p14:creationId xmlns:p14="http://schemas.microsoft.com/office/powerpoint/2010/main" val="1209587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22E7CAFC-319F-CE4F-8B26-ED2749A56CDA}"/>
              </a:ext>
            </a:extLst>
          </p:cNvPr>
          <p:cNvSpPr/>
          <p:nvPr/>
        </p:nvSpPr>
        <p:spPr>
          <a:xfrm>
            <a:off x="914400" y="389994"/>
            <a:ext cx="10515600" cy="4893647"/>
          </a:xfrm>
          <a:prstGeom prst="rect">
            <a:avLst/>
          </a:prstGeom>
        </p:spPr>
        <p:txBody>
          <a:bodyPr wrap="square">
            <a:spAutoFit/>
          </a:bodyPr>
          <a:lstStyle/>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an algebraic equation to represent the balance scale problem Heidi and Pete were given. </a:t>
            </a:r>
          </a:p>
          <a:p>
            <a:pPr marL="914400" indent="-4572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How many marbles are in one bag?</a:t>
            </a:r>
          </a:p>
          <a:p>
            <a:pPr marL="914400" indent="-4572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buFont typeface="+mj-lt"/>
              <a:buAutoNum type="alphaL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What inverse operation can be used to solve the equation?</a:t>
            </a:r>
          </a:p>
        </p:txBody>
      </p:sp>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310</a:t>
            </a:r>
            <a:endParaRPr i="1" dirty="0">
              <a:latin typeface="Calibri"/>
              <a:ea typeface="Calibri"/>
              <a:cs typeface="Calibri"/>
              <a:sym typeface="Calibri"/>
            </a:endParaRPr>
          </a:p>
        </p:txBody>
      </p:sp>
    </p:spTree>
    <p:extLst>
      <p:ext uri="{BB962C8B-B14F-4D97-AF65-F5344CB8AC3E}">
        <p14:creationId xmlns:p14="http://schemas.microsoft.com/office/powerpoint/2010/main" val="3622450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22E7CAFC-319F-CE4F-8B26-ED2749A56CDA}"/>
              </a:ext>
            </a:extLst>
          </p:cNvPr>
          <p:cNvSpPr/>
          <p:nvPr/>
        </p:nvSpPr>
        <p:spPr>
          <a:xfrm>
            <a:off x="914400" y="389994"/>
            <a:ext cx="10515600" cy="830997"/>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The algebra tiles shown are used to model an equation.</a:t>
            </a:r>
          </a:p>
        </p:txBody>
      </p:sp>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pic>
        <p:nvPicPr>
          <p:cNvPr id="6" name="Picture 5" descr="A picture containing text, clock&#10;&#10;Description automatically generated">
            <a:extLst>
              <a:ext uri="{FF2B5EF4-FFF2-40B4-BE49-F238E27FC236}">
                <a16:creationId xmlns:a16="http://schemas.microsoft.com/office/drawing/2014/main" id="{74DE6B3B-F8D7-154A-87C4-D2A20175F41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104515" y="1220991"/>
            <a:ext cx="5982970" cy="2837815"/>
          </a:xfrm>
          <a:prstGeom prst="rect">
            <a:avLst/>
          </a:prstGeom>
        </p:spPr>
      </p:pic>
      <p:sp>
        <p:nvSpPr>
          <p:cNvPr id="7" name="Rectangle 6">
            <a:extLst>
              <a:ext uri="{FF2B5EF4-FFF2-40B4-BE49-F238E27FC236}">
                <a16:creationId xmlns:a16="http://schemas.microsoft.com/office/drawing/2014/main" id="{8E9F2600-5D95-764C-B7AA-FE070BA1C335}"/>
              </a:ext>
            </a:extLst>
          </p:cNvPr>
          <p:cNvSpPr/>
          <p:nvPr/>
        </p:nvSpPr>
        <p:spPr>
          <a:xfrm>
            <a:off x="914400" y="4283121"/>
            <a:ext cx="10515600" cy="461665"/>
          </a:xfrm>
          <a:prstGeom prst="rect">
            <a:avLst/>
          </a:prstGeom>
        </p:spPr>
        <p:txBody>
          <a:bodyPr wrap="square">
            <a:spAutoFit/>
          </a:bodyPr>
          <a:lstStyle/>
          <a:p>
            <a:pPr marL="9144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How many blue tiles are equivalent to one purple tile?</a:t>
            </a:r>
          </a:p>
        </p:txBody>
      </p:sp>
    </p:spTree>
    <p:extLst>
      <p:ext uri="{BB962C8B-B14F-4D97-AF65-F5344CB8AC3E}">
        <p14:creationId xmlns:p14="http://schemas.microsoft.com/office/powerpoint/2010/main" val="4285675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22E7CAFC-319F-CE4F-8B26-ED2749A56CDA}"/>
              </a:ext>
            </a:extLst>
          </p:cNvPr>
          <p:cNvSpPr/>
          <p:nvPr/>
        </p:nvSpPr>
        <p:spPr>
          <a:xfrm>
            <a:off x="914400" y="389994"/>
            <a:ext cx="10515600" cy="4524315"/>
          </a:xfrm>
          <a:prstGeom prst="rect">
            <a:avLst/>
          </a:prstGeom>
        </p:spPr>
        <p:txBody>
          <a:bodyPr wrap="square">
            <a:spAutoFit/>
          </a:bodyPr>
          <a:lstStyle/>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 one-variable equation to represent the tiles on the mat.	</a:t>
            </a: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What inverse operation can be used to solve the equation?</a:t>
            </a: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What value of 𝑦 makes the equation true?</a:t>
            </a:r>
          </a:p>
        </p:txBody>
      </p:sp>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spTree>
    <p:extLst>
      <p:ext uri="{BB962C8B-B14F-4D97-AF65-F5344CB8AC3E}">
        <p14:creationId xmlns:p14="http://schemas.microsoft.com/office/powerpoint/2010/main" val="114638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E24E5F"/>
                </a:solidFill>
                <a:latin typeface="Verdana"/>
                <a:ea typeface="Verdana"/>
                <a:cs typeface="Verdana"/>
                <a:sym typeface="Verdana"/>
              </a:rPr>
              <a:t>Your Turn</a:t>
            </a:r>
            <a:endParaRPr sz="4000" b="1" dirty="0">
              <a:solidFill>
                <a:srgbClr val="E24E5F"/>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2C8C0BED-1AF4-B944-96AA-2CF26F1ABF6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770632"/>
            <a:ext cx="1156228" cy="115622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9" name="Picture 8" descr="Chart, waterfall chart&#10;&#10;Description automatically generated">
            <a:extLst>
              <a:ext uri="{FF2B5EF4-FFF2-40B4-BE49-F238E27FC236}">
                <a16:creationId xmlns:a16="http://schemas.microsoft.com/office/drawing/2014/main" id="{74C30203-6AEF-6D4A-B10B-D039AF279C3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622550" y="1921402"/>
            <a:ext cx="6946900" cy="3019425"/>
          </a:xfrm>
          <a:prstGeom prst="rect">
            <a:avLst/>
          </a:prstGeom>
        </p:spPr>
      </p:pic>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E24E5F"/>
                </a:solidFill>
                <a:latin typeface="Verdana"/>
                <a:ea typeface="Verdana"/>
                <a:cs typeface="Verdana"/>
                <a:sym typeface="Verdana"/>
              </a:rPr>
              <a:t>12.6.5 Your Turn!</a:t>
            </a:r>
          </a:p>
        </p:txBody>
      </p:sp>
      <p:sp>
        <p:nvSpPr>
          <p:cNvPr id="2" name="Rectangle 1">
            <a:extLst>
              <a:ext uri="{FF2B5EF4-FFF2-40B4-BE49-F238E27FC236}">
                <a16:creationId xmlns:a16="http://schemas.microsoft.com/office/drawing/2014/main" id="{B05AB5A2-AF35-B14C-AE54-D2A0628C823C}"/>
              </a:ext>
            </a:extLst>
          </p:cNvPr>
          <p:cNvSpPr/>
          <p:nvPr/>
        </p:nvSpPr>
        <p:spPr>
          <a:xfrm>
            <a:off x="914400" y="1340983"/>
            <a:ext cx="10515600" cy="769441"/>
          </a:xfrm>
          <a:prstGeom prst="rect">
            <a:avLst/>
          </a:prstGeom>
        </p:spPr>
        <p:txBody>
          <a:bodyPr wrap="square">
            <a:spAutoFit/>
          </a:bodyPr>
          <a:lstStyle/>
          <a:p>
            <a:pPr marL="457200" indent="-457200">
              <a:buFont typeface="+mj-lt"/>
              <a:buAutoNum type="arabi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The algebra tiles shown are used to model an equation. </a:t>
            </a:r>
          </a:p>
        </p:txBody>
      </p:sp>
      <p:sp>
        <p:nvSpPr>
          <p:cNvPr id="11" name="Google Shape;282;g104476d1465_1_17">
            <a:extLst>
              <a:ext uri="{FF2B5EF4-FFF2-40B4-BE49-F238E27FC236}">
                <a16:creationId xmlns:a16="http://schemas.microsoft.com/office/drawing/2014/main" id="{85268C17-F7CB-D243-B65D-166A4DD9987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id="{00D9959C-BC81-7642-9A75-F49D3552473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52254" cy="752254"/>
          </a:xfrm>
          <a:prstGeom prst="rect">
            <a:avLst/>
          </a:prstGeom>
        </p:spPr>
      </p:pic>
      <p:sp>
        <p:nvSpPr>
          <p:cNvPr id="12" name="Rectangle 11">
            <a:extLst>
              <a:ext uri="{FF2B5EF4-FFF2-40B4-BE49-F238E27FC236}">
                <a16:creationId xmlns:a16="http://schemas.microsoft.com/office/drawing/2014/main" id="{DAE41ADD-1488-7D43-9D05-053AEDAE355E}"/>
              </a:ext>
            </a:extLst>
          </p:cNvPr>
          <p:cNvSpPr/>
          <p:nvPr/>
        </p:nvSpPr>
        <p:spPr>
          <a:xfrm>
            <a:off x="914400" y="5109419"/>
            <a:ext cx="10515600" cy="430887"/>
          </a:xfrm>
          <a:prstGeom prst="rect">
            <a:avLst/>
          </a:prstGeom>
        </p:spPr>
        <p:txBody>
          <a:bodyPr wrap="square">
            <a:spAutoFit/>
          </a:bodyPr>
          <a:lstStyle/>
          <a:p>
            <a:pPr marL="914400" indent="-457200">
              <a:buFont typeface="+mj-lt"/>
              <a:buAutoNum type="alphaL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How many red tiles are equivalent to one teal tile?</a:t>
            </a:r>
          </a:p>
        </p:txBody>
      </p:sp>
    </p:spTree>
    <p:extLst>
      <p:ext uri="{BB962C8B-B14F-4D97-AF65-F5344CB8AC3E}">
        <p14:creationId xmlns:p14="http://schemas.microsoft.com/office/powerpoint/2010/main" val="22352480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E3DC8F22-04D2-D04F-BA67-53D9B7F3B29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id="{8A71DEF1-087D-214F-86DF-C80090F990CE}"/>
              </a:ext>
            </a:extLst>
          </p:cNvPr>
          <p:cNvSpPr/>
          <p:nvPr/>
        </p:nvSpPr>
        <p:spPr>
          <a:xfrm>
            <a:off x="914400" y="372060"/>
            <a:ext cx="10515600" cy="4524315"/>
          </a:xfrm>
          <a:prstGeom prst="rect">
            <a:avLst/>
          </a:prstGeom>
        </p:spPr>
        <p:txBody>
          <a:bodyPr wrap="square">
            <a:spAutoFit/>
          </a:bodyPr>
          <a:lstStyle/>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 one-variable equation to represent the tiles on the mat.	</a:t>
            </a: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What inverse operation can be used to solve the equation?</a:t>
            </a: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What value of 𝑥 makes the equation true?</a:t>
            </a:r>
          </a:p>
        </p:txBody>
      </p:sp>
    </p:spTree>
    <p:extLst>
      <p:ext uri="{BB962C8B-B14F-4D97-AF65-F5344CB8AC3E}">
        <p14:creationId xmlns:p14="http://schemas.microsoft.com/office/powerpoint/2010/main" val="155251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7" name="Picture 6" descr="Chart&#10;&#10;Description automatically generated">
            <a:extLst>
              <a:ext uri="{FF2B5EF4-FFF2-40B4-BE49-F238E27FC236}">
                <a16:creationId xmlns:a16="http://schemas.microsoft.com/office/drawing/2014/main" id="{DB3DA85E-15F3-E64B-9521-B261827E6EE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622550" y="633625"/>
            <a:ext cx="6946900" cy="3571240"/>
          </a:xfrm>
          <a:prstGeom prst="rect">
            <a:avLst/>
          </a:prstGeom>
        </p:spPr>
      </p:pic>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E3DC8F22-04D2-D04F-BA67-53D9B7F3B29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312</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id="{8A71DEF1-087D-214F-86DF-C80090F990CE}"/>
              </a:ext>
            </a:extLst>
          </p:cNvPr>
          <p:cNvSpPr/>
          <p:nvPr/>
        </p:nvSpPr>
        <p:spPr>
          <a:xfrm>
            <a:off x="914400" y="382013"/>
            <a:ext cx="10515600" cy="461665"/>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The algebra tiles below model an equation. </a:t>
            </a:r>
          </a:p>
        </p:txBody>
      </p:sp>
      <p:sp>
        <p:nvSpPr>
          <p:cNvPr id="8" name="Rectangle 7">
            <a:extLst>
              <a:ext uri="{FF2B5EF4-FFF2-40B4-BE49-F238E27FC236}">
                <a16:creationId xmlns:a16="http://schemas.microsoft.com/office/drawing/2014/main" id="{1236C278-1DEC-6947-90C8-355F781BC1C5}"/>
              </a:ext>
            </a:extLst>
          </p:cNvPr>
          <p:cNvSpPr/>
          <p:nvPr/>
        </p:nvSpPr>
        <p:spPr>
          <a:xfrm>
            <a:off x="914400" y="4566085"/>
            <a:ext cx="10515600" cy="461665"/>
          </a:xfrm>
          <a:prstGeom prst="rect">
            <a:avLst/>
          </a:prstGeom>
        </p:spPr>
        <p:txBody>
          <a:bodyPr wrap="square">
            <a:spAutoFit/>
          </a:bodyPr>
          <a:lstStyle/>
          <a:p>
            <a:pPr marL="9144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How many blue tiles are equivalent to one purple tile?</a:t>
            </a:r>
          </a:p>
        </p:txBody>
      </p:sp>
    </p:spTree>
    <p:extLst>
      <p:ext uri="{BB962C8B-B14F-4D97-AF65-F5344CB8AC3E}">
        <p14:creationId xmlns:p14="http://schemas.microsoft.com/office/powerpoint/2010/main" val="34656787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E3DC8F22-04D2-D04F-BA67-53D9B7F3B29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312</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id="{8A71DEF1-087D-214F-86DF-C80090F990CE}"/>
              </a:ext>
            </a:extLst>
          </p:cNvPr>
          <p:cNvSpPr/>
          <p:nvPr/>
        </p:nvSpPr>
        <p:spPr>
          <a:xfrm>
            <a:off x="914400" y="326595"/>
            <a:ext cx="10515600" cy="4524315"/>
          </a:xfrm>
          <a:prstGeom prst="rect">
            <a:avLst/>
          </a:prstGeom>
        </p:spPr>
        <p:txBody>
          <a:bodyPr wrap="square">
            <a:spAutoFit/>
          </a:bodyPr>
          <a:lstStyle/>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 one-variable equation to represent the tiles on the mat.</a:t>
            </a: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What inverse operation can be used to solve the equation?</a:t>
            </a: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What value of 𝑦 makes the equation true?</a:t>
            </a:r>
          </a:p>
        </p:txBody>
      </p:sp>
    </p:spTree>
    <p:extLst>
      <p:ext uri="{BB962C8B-B14F-4D97-AF65-F5344CB8AC3E}">
        <p14:creationId xmlns:p14="http://schemas.microsoft.com/office/powerpoint/2010/main" val="2191989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770632"/>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ABBAE5D4-A013-554B-AF18-FD3C50BA4B0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312</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18544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12.6.6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50A85065-1747-6C4E-8BA4-9C1ED8A185A6}"/>
              </a:ext>
            </a:extLst>
          </p:cNvPr>
          <p:cNvSpPr/>
          <p:nvPr/>
        </p:nvSpPr>
        <p:spPr>
          <a:xfrm>
            <a:off x="914400" y="1309478"/>
            <a:ext cx="10515600" cy="83099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a short note to a friend who missed class summarizing today’s lesson.</a:t>
            </a:r>
          </a:p>
        </p:txBody>
      </p:sp>
      <p:sp>
        <p:nvSpPr>
          <p:cNvPr id="11" name="Google Shape;282;g104476d1465_1_17">
            <a:extLst>
              <a:ext uri="{FF2B5EF4-FFF2-40B4-BE49-F238E27FC236}">
                <a16:creationId xmlns:a16="http://schemas.microsoft.com/office/drawing/2014/main" id="{D20425D2-BFDA-974E-9037-009E6465CCF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312</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CC65F7-E2D5-40D6-9832-DF75AFD3C9DD}">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5212CEB5-2F95-458B-A00A-40540FAA9F14}">
  <ds:schemaRefs>
    <ds:schemaRef ds:uri="http://schemas.microsoft.com/sharepoint/v3/contenttype/forms"/>
  </ds:schemaRefs>
</ds:datastoreItem>
</file>

<file path=customXml/itemProps3.xml><?xml version="1.0" encoding="utf-8"?>
<ds:datastoreItem xmlns:ds="http://schemas.openxmlformats.org/officeDocument/2006/customXml" ds:itemID="{AD7F5DD8-C9DB-4D7C-ACB8-254F4B1825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1594</TotalTime>
  <Words>1093</Words>
  <Application>Microsoft Office PowerPoint</Application>
  <PresentationFormat>Widescreen</PresentationFormat>
  <Paragraphs>187</Paragraphs>
  <Slides>29</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Calibri</vt:lpstr>
      <vt:lpstr>Arial</vt:lpstr>
      <vt:lpstr>Century Gothic</vt:lpstr>
      <vt:lpstr>Cambria Math</vt:lpstr>
      <vt:lpstr>Arial Black</vt:lpstr>
      <vt:lpstr>Verdana</vt:lpstr>
      <vt:lpstr>Cambria</vt:lpstr>
      <vt:lpstr>Wingdings</vt:lpstr>
      <vt:lpstr>1_Office Theme</vt:lpstr>
      <vt:lpstr>6th Grade Math  Unit 12, Lesson 6  Discovering Inverse Operations  Volume 2, pg. 307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vaanmx</cp:lastModifiedBy>
  <cp:revision>30</cp:revision>
  <dcterms:created xsi:type="dcterms:W3CDTF">2015-03-17T18:51:18Z</dcterms:created>
  <dcterms:modified xsi:type="dcterms:W3CDTF">2023-07-07T08:14:47Z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ies>
</file>