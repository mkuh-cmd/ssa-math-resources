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51" r:id="rId8"/>
    <p:sldId id="345" r:id="rId9"/>
    <p:sldId id="346" r:id="rId10"/>
    <p:sldId id="347" r:id="rId11"/>
    <p:sldId id="302" r:id="rId12"/>
    <p:sldId id="303" r:id="rId13"/>
    <p:sldId id="340" r:id="rId14"/>
    <p:sldId id="356" r:id="rId15"/>
    <p:sldId id="357" r:id="rId16"/>
    <p:sldId id="342" r:id="rId17"/>
    <p:sldId id="343" r:id="rId18"/>
    <p:sldId id="306" r:id="rId19"/>
    <p:sldId id="307" r:id="rId20"/>
    <p:sldId id="358" r:id="rId21"/>
  </p:sldIdLst>
  <p:sldSz cx="12192000" cy="6858000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BDA6"/>
    <a:srgbClr val="FFD0CB"/>
    <a:srgbClr val="8B2D77"/>
    <a:srgbClr val="14BAAA"/>
    <a:srgbClr val="26B7D4"/>
    <a:srgbClr val="E24E5F"/>
    <a:srgbClr val="276C46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86"/>
    <p:restoredTop sz="94694"/>
  </p:normalViewPr>
  <p:slideViewPr>
    <p:cSldViewPr snapToGrid="0">
      <p:cViewPr varScale="1">
        <p:scale>
          <a:sx n="81" d="100"/>
          <a:sy n="81" d="100"/>
        </p:scale>
        <p:origin x="129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71682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2735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31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8913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423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2684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26217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814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758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753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10.png"/><Relationship Id="rId7" Type="http://schemas.openxmlformats.org/officeDocument/2006/relationships/hyperlink" Target="https://en.wikipedia.org/wiki/Madam_C._J._Walke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194956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5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Descriptions of Real-World Contexts from Algebraic Expressions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303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28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MA.6.AR.1.1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translate written descriptions into algebraic expressions and translate algebraic expressions into written descriptions.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76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C0AE969-0A27-9545-AB11-BBE5491801C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-9144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547093"/>
            <a:ext cx="10515600" cy="449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write a description of a real-world context from an algebraic expression.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E0319DD-E1E2-064E-A3C0-1ADADEA7DC7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6503EB0-E904-7143-BA20-369F935837E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12.5.1 Warm-Up: Self-Made Millionaire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/>
              <p:nvPr/>
            </p:nvSpPr>
            <p:spPr>
              <a:xfrm>
                <a:off x="914400" y="1386025"/>
                <a:ext cx="6121083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Madam C.J. Walker was the first African American self-made millionaire. She made her fortune by inventing and selling specialized hair products, including an innovative Edge Control product that sold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$0.35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each beginning in 1905.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6121083" cy="1938992"/>
              </a:xfrm>
              <a:prstGeom prst="rect">
                <a:avLst/>
              </a:prstGeom>
              <a:blipFill>
                <a:blip r:embed="rId5"/>
                <a:stretch>
                  <a:fillRect l="-1037" t="-1299" r="-2490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570FC961-D801-0C4E-8D4A-AEC23A74C9C3}"/>
              </a:ext>
            </a:extLst>
          </p:cNvPr>
          <p:cNvSpPr txBox="1"/>
          <p:nvPr/>
        </p:nvSpPr>
        <p:spPr>
          <a:xfrm>
            <a:off x="8897112" y="650189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Madam C. J. Walker - Wikipedia">
            <a:extLst>
              <a:ext uri="{FF2B5EF4-FFF2-40B4-BE49-F238E27FC236}">
                <a16:creationId xmlns:a16="http://schemas.microsoft.com/office/drawing/2014/main" id="{771B88FF-0A42-BF4E-8C0A-A3F4E128BE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330096" y="1386025"/>
            <a:ext cx="2722880" cy="4014470"/>
          </a:xfrm>
          <a:prstGeom prst="rect">
            <a:avLst/>
          </a:prstGeom>
        </p:spPr>
      </p:pic>
      <p:pic>
        <p:nvPicPr>
          <p:cNvPr id="10" name="Picture 9" descr="Madam C. J. Walker - Wikipedia">
            <a:extLst>
              <a:ext uri="{FF2B5EF4-FFF2-40B4-BE49-F238E27FC236}">
                <a16:creationId xmlns:a16="http://schemas.microsoft.com/office/drawing/2014/main" id="{97CDAE40-B2BE-D048-A031-2A0809D7C0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707893" y="3532984"/>
            <a:ext cx="2327590" cy="241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9F083F-A67E-0047-8E64-5125815AF3D8}"/>
              </a:ext>
            </a:extLst>
          </p:cNvPr>
          <p:cNvSpPr/>
          <p:nvPr/>
        </p:nvSpPr>
        <p:spPr>
          <a:xfrm>
            <a:off x="914400" y="1370168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an algebraic expression to describe the total revenue Madam C.J. Walker earned for selling any number of Edge Control products, 𝑒.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2882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2.png" descr="Icon&#10;&#10;Description automatically generated">
            <a:extLst>
              <a:ext uri="{FF2B5EF4-FFF2-40B4-BE49-F238E27FC236}">
                <a16:creationId xmlns:a16="http://schemas.microsoft.com/office/drawing/2014/main" id="{E3035C92-5BAA-0143-BAA1-E19EE49D3E9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70632"/>
            <a:ext cx="1151972" cy="115197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6049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279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12.5.2 Activity: Matching Real-World Contexts to Expressions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BE9AFC-D858-8947-AE27-3738478587E3}"/>
              </a:ext>
            </a:extLst>
          </p:cNvPr>
          <p:cNvSpPr/>
          <p:nvPr/>
        </p:nvSpPr>
        <p:spPr>
          <a:xfrm>
            <a:off x="914400" y="1491032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Match each real-world situation with the correct expression.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12.png" descr="Icon&#10;&#10;Description automatically generated">
            <a:extLst>
              <a:ext uri="{FF2B5EF4-FFF2-40B4-BE49-F238E27FC236}">
                <a16:creationId xmlns:a16="http://schemas.microsoft.com/office/drawing/2014/main" id="{A194E024-6EF6-3949-B37E-478438997336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11342" cy="711342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7">
                <a:extLst>
                  <a:ext uri="{FF2B5EF4-FFF2-40B4-BE49-F238E27FC236}">
                    <a16:creationId xmlns:a16="http://schemas.microsoft.com/office/drawing/2014/main" id="{0424E209-ABE4-CE40-A08D-8F73A7EA1607}"/>
                  </a:ext>
                </a:extLst>
              </p:cNvPr>
              <p:cNvSpPr txBox="1"/>
              <p:nvPr/>
            </p:nvSpPr>
            <p:spPr>
              <a:xfrm>
                <a:off x="2906624" y="2557188"/>
                <a:ext cx="3406140" cy="3643413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A. Ryan has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20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songs. His friend bought him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more songs. How many songs does Ryan have? 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B. Karen has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flowers. Helen has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20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times more flowers than Karen. How many flowers does Helen have? 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 Box 7">
                <a:extLst>
                  <a:ext uri="{FF2B5EF4-FFF2-40B4-BE49-F238E27FC236}">
                    <a16:creationId xmlns:a16="http://schemas.microsoft.com/office/drawing/2014/main" id="{0424E209-ABE4-CE40-A08D-8F73A7EA1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624" y="2557188"/>
                <a:ext cx="3406140" cy="3643413"/>
              </a:xfrm>
              <a:prstGeom prst="rect">
                <a:avLst/>
              </a:prstGeom>
              <a:blipFill>
                <a:blip r:embed="rId5"/>
                <a:stretch>
                  <a:fillRect l="-1481" t="-347"/>
                </a:stretch>
              </a:blipFill>
              <a:ln w="635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6">
                <a:extLst>
                  <a:ext uri="{FF2B5EF4-FFF2-40B4-BE49-F238E27FC236}">
                    <a16:creationId xmlns:a16="http://schemas.microsoft.com/office/drawing/2014/main" id="{BFE5B445-80EB-CC46-8A64-4800C665BD8F}"/>
                  </a:ext>
                </a:extLst>
              </p:cNvPr>
              <p:cNvSpPr txBox="1"/>
              <p:nvPr/>
            </p:nvSpPr>
            <p:spPr>
              <a:xfrm>
                <a:off x="7073188" y="2557188"/>
                <a:ext cx="2011680" cy="3643413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1.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lnSpc>
                    <a:spcPct val="115000"/>
                  </a:lnSpc>
                </a:pP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2.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+20</m:t>
                    </m:r>
                  </m:oMath>
                </a14:m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r>
                  <a:rPr lang="en-US" sz="1200" dirty="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 Box 6">
                <a:extLst>
                  <a:ext uri="{FF2B5EF4-FFF2-40B4-BE49-F238E27FC236}">
                    <a16:creationId xmlns:a16="http://schemas.microsoft.com/office/drawing/2014/main" id="{BFE5B445-80EB-CC46-8A64-4800C665B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188" y="2557188"/>
                <a:ext cx="2011680" cy="3643413"/>
              </a:xfrm>
              <a:prstGeom prst="rect">
                <a:avLst/>
              </a:prstGeom>
              <a:blipFill>
                <a:blip r:embed="rId6"/>
                <a:stretch>
                  <a:fillRect l="-2500" t="-347"/>
                </a:stretch>
              </a:blipFill>
              <a:ln w="635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72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818CE2A-F258-D84F-A7A5-C72DEF59768E}"/>
              </a:ext>
            </a:extLst>
          </p:cNvPr>
          <p:cNvGrpSpPr/>
          <p:nvPr/>
        </p:nvGrpSpPr>
        <p:grpSpPr>
          <a:xfrm>
            <a:off x="2781300" y="3562350"/>
            <a:ext cx="6629400" cy="1054100"/>
            <a:chOff x="2031300" y="3252877"/>
            <a:chExt cx="6629400" cy="10542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38DD90-22C6-6D42-A485-622722A3C230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MS Mincho" panose="02020609040205080304" pitchFamily="49" charset="-128"/>
                <a:cs typeface="Cambria" panose="02040503050406030204" pitchFamily="18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9F1D440-5B9C-4B4E-8A45-23625F62753F}"/>
                </a:ext>
              </a:extLst>
            </p:cNvPr>
            <p:cNvGrpSpPr/>
            <p:nvPr/>
          </p:nvGrpSpPr>
          <p:grpSpPr>
            <a:xfrm>
              <a:off x="2031300" y="3252878"/>
              <a:ext cx="6629400" cy="1054222"/>
              <a:chOff x="2031300" y="3262288"/>
              <a:chExt cx="6629400" cy="10354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467E219-2FE4-D644-B83B-162ECB24D328}"/>
                  </a:ext>
                </a:extLst>
              </p:cNvPr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0793E3E-FCEE-5C47-9CAA-B3CDA4192CDF}"/>
                  </a:ext>
                </a:extLst>
              </p:cNvPr>
              <p:cNvGrpSpPr/>
              <p:nvPr/>
            </p:nvGrpSpPr>
            <p:grpSpPr>
              <a:xfrm>
                <a:off x="2031300" y="3262288"/>
                <a:ext cx="6629400" cy="1035400"/>
                <a:chOff x="2031300" y="3373600"/>
                <a:chExt cx="6629400" cy="1035400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D90458C-3D33-5649-B0DB-DB9F7424CADD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endParaRP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96611E4-9B6E-424F-A8E9-845D9A5DBDC9}"/>
                    </a:ext>
                  </a:extLst>
                </p:cNvPr>
                <p:cNvGrpSpPr/>
                <p:nvPr/>
              </p:nvGrpSpPr>
              <p:grpSpPr>
                <a:xfrm>
                  <a:off x="2031300" y="3373600"/>
                  <a:ext cx="6629400" cy="812800"/>
                  <a:chOff x="2031300" y="3373600"/>
                  <a:chExt cx="6629400" cy="812800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B6F9FE92-E8FD-AC44-B707-B938B1D6007C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74D0996-1FE1-BF4B-ACFD-4C62A8644F67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</p:grp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7">
                <a:extLst>
                  <a:ext uri="{FF2B5EF4-FFF2-40B4-BE49-F238E27FC236}">
                    <a16:creationId xmlns:a16="http://schemas.microsoft.com/office/drawing/2014/main" id="{8D3AAD99-0DB9-684F-BA68-ACA10D9E6101}"/>
                  </a:ext>
                </a:extLst>
              </p:cNvPr>
              <p:cNvSpPr txBox="1"/>
              <p:nvPr/>
            </p:nvSpPr>
            <p:spPr>
              <a:xfrm>
                <a:off x="3127375" y="801859"/>
                <a:ext cx="3406140" cy="4360985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C. George earned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20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points in a card game. Bruno earned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fewer points than George. How many points did Bruno earn?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D. Maria has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20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books and wants to put an equal number of books 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bookshelves. How many books go on each shelf?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sz="1200" dirty="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 Box 7">
                <a:extLst>
                  <a:ext uri="{FF2B5EF4-FFF2-40B4-BE49-F238E27FC236}">
                    <a16:creationId xmlns:a16="http://schemas.microsoft.com/office/drawing/2014/main" id="{8D3AAD99-0DB9-684F-BA68-ACA10D9E6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375" y="801859"/>
                <a:ext cx="3406140" cy="4360985"/>
              </a:xfrm>
              <a:prstGeom prst="rect">
                <a:avLst/>
              </a:prstGeom>
              <a:blipFill>
                <a:blip r:embed="rId4"/>
                <a:stretch>
                  <a:fillRect l="-1481" t="-580" r="-1111"/>
                </a:stretch>
              </a:blipFill>
              <a:ln w="635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6">
                <a:extLst>
                  <a:ext uri="{FF2B5EF4-FFF2-40B4-BE49-F238E27FC236}">
                    <a16:creationId xmlns:a16="http://schemas.microsoft.com/office/drawing/2014/main" id="{4851708B-57EE-5F4D-88AE-51F7DE293016}"/>
                  </a:ext>
                </a:extLst>
              </p:cNvPr>
              <p:cNvSpPr txBox="1"/>
              <p:nvPr/>
            </p:nvSpPr>
            <p:spPr>
              <a:xfrm>
                <a:off x="7052945" y="801859"/>
                <a:ext cx="2011680" cy="4360985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3.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22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20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4.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20−</m:t>
                    </m:r>
                    <m:r>
                      <a:rPr lang="en-US" sz="18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sz="1200" dirty="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:endParaRPr lang="x-none" sz="12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 Box 6">
                <a:extLst>
                  <a:ext uri="{FF2B5EF4-FFF2-40B4-BE49-F238E27FC236}">
                    <a16:creationId xmlns:a16="http://schemas.microsoft.com/office/drawing/2014/main" id="{4851708B-57EE-5F4D-88AE-51F7DE293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945" y="801859"/>
                <a:ext cx="2011680" cy="4360985"/>
              </a:xfrm>
              <a:prstGeom prst="rect">
                <a:avLst/>
              </a:prstGeom>
              <a:blipFill>
                <a:blip r:embed="rId5"/>
                <a:stretch>
                  <a:fillRect l="-2500"/>
                </a:stretch>
              </a:blipFill>
              <a:ln w="635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23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4201096-008D-9E40-8962-B6CD490C930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5.png">
            <a:extLst>
              <a:ext uri="{FF2B5EF4-FFF2-40B4-BE49-F238E27FC236}">
                <a16:creationId xmlns:a16="http://schemas.microsoft.com/office/drawing/2014/main" id="{60100B06-3A93-D54C-A964-96E4C2C2EEA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770632"/>
            <a:ext cx="1128534" cy="112853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12.5.3 Collaboration: Writing Real-World Contexts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A031F-2EC8-DF4C-B3F5-E7AC5B8F3239}"/>
              </a:ext>
            </a:extLst>
          </p:cNvPr>
          <p:cNvSpPr/>
          <p:nvPr/>
        </p:nvSpPr>
        <p:spPr>
          <a:xfrm>
            <a:off x="914400" y="1306829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8313" indent="-457200">
              <a:buSzPct val="100000"/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expression, create a real-world scenario that the algebraic expression could represent. 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5.png">
            <a:extLst>
              <a:ext uri="{FF2B5EF4-FFF2-40B4-BE49-F238E27FC236}">
                <a16:creationId xmlns:a16="http://schemas.microsoft.com/office/drawing/2014/main" id="{04C19B76-A060-3243-AE2C-88D93DB1A19F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D4FACD6-0394-4141-82FF-E314B095B1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3520350"/>
                  </p:ext>
                </p:extLst>
              </p:nvPr>
            </p:nvGraphicFramePr>
            <p:xfrm>
              <a:off x="2933316" y="2369513"/>
              <a:ext cx="6325369" cy="408816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47953">
                      <a:extLst>
                        <a:ext uri="{9D8B030D-6E8A-4147-A177-3AD203B41FA5}">
                          <a16:colId xmlns:a16="http://schemas.microsoft.com/office/drawing/2014/main" val="3365793911"/>
                        </a:ext>
                      </a:extLst>
                    </a:gridCol>
                    <a:gridCol w="3542248">
                      <a:extLst>
                        <a:ext uri="{9D8B030D-6E8A-4147-A177-3AD203B41FA5}">
                          <a16:colId xmlns:a16="http://schemas.microsoft.com/office/drawing/2014/main" val="2910111533"/>
                        </a:ext>
                      </a:extLst>
                    </a:gridCol>
                    <a:gridCol w="1435168">
                      <a:extLst>
                        <a:ext uri="{9D8B030D-6E8A-4147-A177-3AD203B41FA5}">
                          <a16:colId xmlns:a16="http://schemas.microsoft.com/office/drawing/2014/main" val="3310570878"/>
                        </a:ext>
                      </a:extLst>
                    </a:gridCol>
                  </a:tblGrid>
                  <a:tr h="68628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Your Real-World Scenario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does the variable represent?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2170363"/>
                      </a:ext>
                    </a:extLst>
                  </a:tr>
                  <a:tr h="11339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>
                                    <a:effectLst/>
                                    <a:latin typeface="Cambria Math"/>
                                  </a:rPr>
                                  <m:t>𝑟</m:t>
                                </m:r>
                                <m:r>
                                  <a:rPr lang="en-US" sz="1700">
                                    <a:effectLst/>
                                    <a:latin typeface="Cambria Math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55282031"/>
                      </a:ext>
                    </a:extLst>
                  </a:tr>
                  <a:tr h="11339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>
                                    <a:effectLst/>
                                    <a:latin typeface="Cambria Math"/>
                                  </a:rPr>
                                  <m:t>21</m:t>
                                </m:r>
                                <m:r>
                                  <a:rPr lang="en-US" sz="170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5335557"/>
                      </a:ext>
                    </a:extLst>
                  </a:tr>
                  <a:tr h="11339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17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700">
                                        <a:effectLst/>
                                        <a:latin typeface="Cambria Math"/>
                                      </a:rPr>
                                      <m:t>100</m:t>
                                    </m:r>
                                  </m:num>
                                  <m:den>
                                    <m:r>
                                      <a:rPr lang="en-US" sz="17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2467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D4FACD6-0394-4141-82FF-E314B095B1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3520350"/>
                  </p:ext>
                </p:extLst>
              </p:nvPr>
            </p:nvGraphicFramePr>
            <p:xfrm>
              <a:off x="2933316" y="2369513"/>
              <a:ext cx="6325369" cy="408816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47953">
                      <a:extLst>
                        <a:ext uri="{9D8B030D-6E8A-4147-A177-3AD203B41FA5}">
                          <a16:colId xmlns:a16="http://schemas.microsoft.com/office/drawing/2014/main" val="3365793911"/>
                        </a:ext>
                      </a:extLst>
                    </a:gridCol>
                    <a:gridCol w="3542248">
                      <a:extLst>
                        <a:ext uri="{9D8B030D-6E8A-4147-A177-3AD203B41FA5}">
                          <a16:colId xmlns:a16="http://schemas.microsoft.com/office/drawing/2014/main" val="2910111533"/>
                        </a:ext>
                      </a:extLst>
                    </a:gridCol>
                    <a:gridCol w="1435168">
                      <a:extLst>
                        <a:ext uri="{9D8B030D-6E8A-4147-A177-3AD203B41FA5}">
                          <a16:colId xmlns:a16="http://schemas.microsoft.com/office/drawing/2014/main" val="3310570878"/>
                        </a:ext>
                      </a:extLst>
                    </a:gridCol>
                  </a:tblGrid>
                  <a:tr h="68628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Your Real-World Scenario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does the variable represent?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2170363"/>
                      </a:ext>
                    </a:extLst>
                  </a:tr>
                  <a:tr h="1133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65556" r="-36822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55282031"/>
                      </a:ext>
                    </a:extLst>
                  </a:tr>
                  <a:tr h="1133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67416" r="-368224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5335557"/>
                      </a:ext>
                    </a:extLst>
                  </a:tr>
                  <a:tr h="1133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64444" r="-368224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786" marR="63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2467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B841C44-CB6A-F74F-B63B-F7F8CE6D91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5010974"/>
                  </p:ext>
                </p:extLst>
              </p:nvPr>
            </p:nvGraphicFramePr>
            <p:xfrm>
              <a:off x="2695575" y="1328432"/>
              <a:ext cx="6800850" cy="3657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84935">
                      <a:extLst>
                        <a:ext uri="{9D8B030D-6E8A-4147-A177-3AD203B41FA5}">
                          <a16:colId xmlns:a16="http://schemas.microsoft.com/office/drawing/2014/main" val="526813487"/>
                        </a:ext>
                      </a:extLst>
                    </a:gridCol>
                    <a:gridCol w="3872865">
                      <a:extLst>
                        <a:ext uri="{9D8B030D-6E8A-4147-A177-3AD203B41FA5}">
                          <a16:colId xmlns:a16="http://schemas.microsoft.com/office/drawing/2014/main" val="2916376548"/>
                        </a:ext>
                      </a:extLst>
                    </a:gridCol>
                    <a:gridCol w="1543050">
                      <a:extLst>
                        <a:ext uri="{9D8B030D-6E8A-4147-A177-3AD203B41FA5}">
                          <a16:colId xmlns:a16="http://schemas.microsoft.com/office/drawing/2014/main" val="4058260229"/>
                        </a:ext>
                      </a:extLst>
                    </a:gridCol>
                  </a:tblGrid>
                  <a:tr h="1219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17+</m:t>
                                </m:r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4650782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57−</m:t>
                                </m:r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3186755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48</m:t>
                                </m:r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58157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B841C44-CB6A-F74F-B63B-F7F8CE6D91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5010974"/>
                  </p:ext>
                </p:extLst>
              </p:nvPr>
            </p:nvGraphicFramePr>
            <p:xfrm>
              <a:off x="2695575" y="1328432"/>
              <a:ext cx="6800850" cy="3657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84935">
                      <a:extLst>
                        <a:ext uri="{9D8B030D-6E8A-4147-A177-3AD203B41FA5}">
                          <a16:colId xmlns:a16="http://schemas.microsoft.com/office/drawing/2014/main" val="526813487"/>
                        </a:ext>
                      </a:extLst>
                    </a:gridCol>
                    <a:gridCol w="3872865">
                      <a:extLst>
                        <a:ext uri="{9D8B030D-6E8A-4147-A177-3AD203B41FA5}">
                          <a16:colId xmlns:a16="http://schemas.microsoft.com/office/drawing/2014/main" val="2916376548"/>
                        </a:ext>
                      </a:extLst>
                    </a:gridCol>
                    <a:gridCol w="1543050">
                      <a:extLst>
                        <a:ext uri="{9D8B030D-6E8A-4147-A177-3AD203B41FA5}">
                          <a16:colId xmlns:a16="http://schemas.microsoft.com/office/drawing/2014/main" val="4058260229"/>
                        </a:ext>
                      </a:extLst>
                    </a:gridCol>
                  </a:tblGrid>
                  <a:tr h="1219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7" t="-1042" r="-392661" b="-2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4650782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7" t="-100000" r="-392661" b="-1010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3186755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7" t="-202083" r="-392661" b="-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58157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14400" y="385584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pick four expressions from Question 1 and use them to complete the following table. 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8B4AAA-2D26-3243-AFBF-6803C2196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914513"/>
              </p:ext>
            </p:extLst>
          </p:nvPr>
        </p:nvGraphicFramePr>
        <p:xfrm>
          <a:off x="2544376" y="1545627"/>
          <a:ext cx="7103249" cy="4202817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446516">
                  <a:extLst>
                    <a:ext uri="{9D8B030D-6E8A-4147-A177-3AD203B41FA5}">
                      <a16:colId xmlns:a16="http://schemas.microsoft.com/office/drawing/2014/main" val="3538549249"/>
                    </a:ext>
                  </a:extLst>
                </a:gridCol>
                <a:gridCol w="1896190">
                  <a:extLst>
                    <a:ext uri="{9D8B030D-6E8A-4147-A177-3AD203B41FA5}">
                      <a16:colId xmlns:a16="http://schemas.microsoft.com/office/drawing/2014/main" val="533816711"/>
                    </a:ext>
                  </a:extLst>
                </a:gridCol>
                <a:gridCol w="1790734">
                  <a:extLst>
                    <a:ext uri="{9D8B030D-6E8A-4147-A177-3AD203B41FA5}">
                      <a16:colId xmlns:a16="http://schemas.microsoft.com/office/drawing/2014/main" val="1676542944"/>
                    </a:ext>
                  </a:extLst>
                </a:gridCol>
                <a:gridCol w="1969809">
                  <a:extLst>
                    <a:ext uri="{9D8B030D-6E8A-4147-A177-3AD203B41FA5}">
                      <a16:colId xmlns:a16="http://schemas.microsoft.com/office/drawing/2014/main" val="1721240766"/>
                    </a:ext>
                  </a:extLst>
                </a:gridCol>
              </a:tblGrid>
              <a:tr h="110767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Expression</a:t>
                      </a:r>
                      <a:endParaRPr lang="x-none" sz="1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Your Partner’s Scenario</a:t>
                      </a:r>
                      <a:endParaRPr lang="x-none" sz="1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Does the Expression Accurately Represent the Scenario?</a:t>
                      </a:r>
                      <a:endParaRPr lang="x-none" sz="1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Similarities Between Your and Your Partner’s Scenarios for the Expression</a:t>
                      </a:r>
                      <a:endParaRPr lang="x-none" sz="1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604206"/>
                  </a:ext>
                </a:extLst>
              </a:tr>
              <a:tr h="154757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Courier New" panose="02070309020205020404" pitchFamily="49" charset="0"/>
                        <a:buChar char="o"/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Yes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Courier New" panose="02070309020205020404" pitchFamily="49" charset="0"/>
                        <a:buChar char="o"/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 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828674"/>
                  </a:ext>
                </a:extLst>
              </a:tr>
              <a:tr h="154757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Courier New" panose="02070309020205020404" pitchFamily="49" charset="0"/>
                        <a:buChar char="o"/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Yes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Courier New" panose="02070309020205020404" pitchFamily="49" charset="0"/>
                        <a:buChar char="o"/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 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3757" marR="53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692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6669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95F646-3FDA-2C43-A824-F0DE4544B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327949"/>
              </p:ext>
            </p:extLst>
          </p:nvPr>
        </p:nvGraphicFramePr>
        <p:xfrm>
          <a:off x="2695575" y="1384935"/>
          <a:ext cx="6800850" cy="408813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384935">
                  <a:extLst>
                    <a:ext uri="{9D8B030D-6E8A-4147-A177-3AD203B41FA5}">
                      <a16:colId xmlns:a16="http://schemas.microsoft.com/office/drawing/2014/main" val="3022676733"/>
                    </a:ext>
                  </a:extLst>
                </a:gridCol>
                <a:gridCol w="1815465">
                  <a:extLst>
                    <a:ext uri="{9D8B030D-6E8A-4147-A177-3AD203B41FA5}">
                      <a16:colId xmlns:a16="http://schemas.microsoft.com/office/drawing/2014/main" val="25549804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86721176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3987436877"/>
                    </a:ext>
                  </a:extLst>
                </a:gridCol>
              </a:tblGrid>
              <a:tr h="20440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Courier New" panose="02070309020205020404" pitchFamily="49" charset="0"/>
                        <a:buChar char="o"/>
                      </a:pPr>
                      <a:r>
                        <a:rPr lang="en-US" sz="1800">
                          <a:effectLst/>
                        </a:rPr>
                        <a:t>Yes</a:t>
                      </a:r>
                      <a:endParaRPr lang="x-none" sz="1200">
                        <a:effectLst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Courier New" panose="02070309020205020404" pitchFamily="49" charset="0"/>
                        <a:buChar char="o"/>
                      </a:pPr>
                      <a:r>
                        <a:rPr lang="en-US" sz="1800">
                          <a:effectLst/>
                        </a:rPr>
                        <a:t>No  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148178"/>
                  </a:ext>
                </a:extLst>
              </a:tr>
              <a:tr h="20440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Courier New" panose="02070309020205020404" pitchFamily="49" charset="0"/>
                        <a:buChar char="o"/>
                      </a:pPr>
                      <a:r>
                        <a:rPr lang="en-US" sz="1800">
                          <a:effectLst/>
                        </a:rPr>
                        <a:t>Yes</a:t>
                      </a:r>
                      <a:endParaRPr lang="x-none" sz="1200">
                        <a:effectLst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Courier New" panose="02070309020205020404" pitchFamily="49" charset="0"/>
                        <a:buChar char="o"/>
                      </a:pPr>
                      <a:r>
                        <a:rPr lang="en-US" sz="1800">
                          <a:effectLst/>
                        </a:rPr>
                        <a:t>No  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272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350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2.png" descr="Icon&#10;&#10;Description automatically generated">
            <a:extLst>
              <a:ext uri="{FF2B5EF4-FFF2-40B4-BE49-F238E27FC236}">
                <a16:creationId xmlns:a16="http://schemas.microsoft.com/office/drawing/2014/main" id="{D25B8C84-FA7A-8043-A923-393FC268EA4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70632"/>
            <a:ext cx="1156733" cy="115673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353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2792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12.5.4 Activity: Gallery Walk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BE9AFC-D858-8947-AE27-3738478587E3}"/>
              </a:ext>
            </a:extLst>
          </p:cNvPr>
          <p:cNvSpPr/>
          <p:nvPr/>
        </p:nvSpPr>
        <p:spPr>
          <a:xfrm>
            <a:off x="914400" y="1174449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Several scenarios are displayed. For each scenario, write an algebraic expression to match.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12.png" descr="Icon&#10;&#10;Description automatically generated">
            <a:extLst>
              <a:ext uri="{FF2B5EF4-FFF2-40B4-BE49-F238E27FC236}">
                <a16:creationId xmlns:a16="http://schemas.microsoft.com/office/drawing/2014/main" id="{990EFE34-6C1C-2D44-AA4F-596BA8BD33BC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301" cy="747301"/>
          </a:xfrm>
          <a:prstGeom prst="rect">
            <a:avLst/>
          </a:prstGeom>
          <a:ln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D4880-6B2B-324C-96DF-D87C1BAC4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242943"/>
              </p:ext>
            </p:extLst>
          </p:nvPr>
        </p:nvGraphicFramePr>
        <p:xfrm>
          <a:off x="2269588" y="2106791"/>
          <a:ext cx="7679162" cy="415428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850335">
                  <a:extLst>
                    <a:ext uri="{9D8B030D-6E8A-4147-A177-3AD203B41FA5}">
                      <a16:colId xmlns:a16="http://schemas.microsoft.com/office/drawing/2014/main" val="2237354708"/>
                    </a:ext>
                  </a:extLst>
                </a:gridCol>
                <a:gridCol w="3828827">
                  <a:extLst>
                    <a:ext uri="{9D8B030D-6E8A-4147-A177-3AD203B41FA5}">
                      <a16:colId xmlns:a16="http://schemas.microsoft.com/office/drawing/2014/main" val="2086302372"/>
                    </a:ext>
                  </a:extLst>
                </a:gridCol>
              </a:tblGrid>
              <a:tr h="19021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Scenario</a:t>
                      </a:r>
                      <a:endParaRPr lang="x-none" sz="11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Expression</a:t>
                      </a:r>
                      <a:endParaRPr lang="x-none" sz="11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11024"/>
                  </a:ext>
                </a:extLst>
              </a:tr>
              <a:tr h="6466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5018752"/>
                  </a:ext>
                </a:extLst>
              </a:tr>
              <a:tr h="6466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708763"/>
                  </a:ext>
                </a:extLst>
              </a:tr>
              <a:tr h="6466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531073"/>
                  </a:ext>
                </a:extLst>
              </a:tr>
              <a:tr h="6466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626836"/>
                  </a:ext>
                </a:extLst>
              </a:tr>
              <a:tr h="6466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478297"/>
                  </a:ext>
                </a:extLst>
              </a:tr>
              <a:tr h="6466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036" marR="3703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58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801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BBAE5D4-A013-554B-AF18-FD3C50BA4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18544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12.5.5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089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/>
              <p:nvPr/>
            </p:nvSpPr>
            <p:spPr>
              <a:xfrm>
                <a:off x="914400" y="1309477"/>
                <a:ext cx="10723418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Frank has a plant that measured ℎ inches tall last week. This week the plant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tall.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the expression that represents the number of inches, ℎ, the plant grew in a week.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09477"/>
                <a:ext cx="10723418" cy="2308324"/>
              </a:xfrm>
              <a:prstGeom prst="rect">
                <a:avLst/>
              </a:prstGeom>
              <a:blipFill>
                <a:blip r:embed="rId5"/>
                <a:stretch>
                  <a:fillRect l="-853" t="-2381" r="-1080" b="-5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B0600C9-40B0-9646-9F1B-D522CB0301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066638"/>
                  </p:ext>
                </p:extLst>
              </p:nvPr>
            </p:nvGraphicFramePr>
            <p:xfrm>
              <a:off x="3437890" y="4119654"/>
              <a:ext cx="5316220" cy="3657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658110">
                      <a:extLst>
                        <a:ext uri="{9D8B030D-6E8A-4147-A177-3AD203B41FA5}">
                          <a16:colId xmlns:a16="http://schemas.microsoft.com/office/drawing/2014/main" val="2309708223"/>
                        </a:ext>
                      </a:extLst>
                    </a:gridCol>
                    <a:gridCol w="2658110">
                      <a:extLst>
                        <a:ext uri="{9D8B030D-6E8A-4147-A177-3AD203B41FA5}">
                          <a16:colId xmlns:a16="http://schemas.microsoft.com/office/drawing/2014/main" val="2809795879"/>
                        </a:ext>
                      </a:extLst>
                    </a:gridCol>
                  </a:tblGrid>
                  <a:tr h="3270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8−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668784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B0600C9-40B0-9646-9F1B-D522CB0301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066638"/>
                  </p:ext>
                </p:extLst>
              </p:nvPr>
            </p:nvGraphicFramePr>
            <p:xfrm>
              <a:off x="3437890" y="4119654"/>
              <a:ext cx="5316220" cy="3657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658110">
                      <a:extLst>
                        <a:ext uri="{9D8B030D-6E8A-4147-A177-3AD203B41FA5}">
                          <a16:colId xmlns:a16="http://schemas.microsoft.com/office/drawing/2014/main" val="2309708223"/>
                        </a:ext>
                      </a:extLst>
                    </a:gridCol>
                    <a:gridCol w="2658110">
                      <a:extLst>
                        <a:ext uri="{9D8B030D-6E8A-4147-A177-3AD203B41FA5}">
                          <a16:colId xmlns:a16="http://schemas.microsoft.com/office/drawing/2014/main" val="280979587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100000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68784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A85065-1747-6C4E-8BA4-9C1ED8A185A6}"/>
              </a:ext>
            </a:extLst>
          </p:cNvPr>
          <p:cNvSpPr/>
          <p:nvPr/>
        </p:nvSpPr>
        <p:spPr>
          <a:xfrm>
            <a:off x="914400" y="465416"/>
            <a:ext cx="1051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choice.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the expression not chosen, describe a real-world situation that the expression might represent.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07967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754</Words>
  <Application>Microsoft Office PowerPoint</Application>
  <PresentationFormat>Widescreen</PresentationFormat>
  <Paragraphs>172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Cambria</vt:lpstr>
      <vt:lpstr>Verdana</vt:lpstr>
      <vt:lpstr>Wingdings</vt:lpstr>
      <vt:lpstr>Century Gothic</vt:lpstr>
      <vt:lpstr>Calibri</vt:lpstr>
      <vt:lpstr>Arial Black</vt:lpstr>
      <vt:lpstr>Cambria Math</vt:lpstr>
      <vt:lpstr>Courier New</vt:lpstr>
      <vt:lpstr>Arial</vt:lpstr>
      <vt:lpstr>1_Office Theme</vt:lpstr>
      <vt:lpstr>6th Grade Math  Unit 12, Lesson 5  Writing Descriptions of Real-World Contexts from Algebraic Expressions  Volume 2, pg. 303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Activity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30</cp:revision>
  <dcterms:created xsi:type="dcterms:W3CDTF">2015-03-17T18:51:18Z</dcterms:created>
  <dcterms:modified xsi:type="dcterms:W3CDTF">2022-06-06T15:46:39Z</dcterms:modified>
</cp:coreProperties>
</file>