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85" r:id="rId4"/>
    <p:sldId id="286" r:id="rId5"/>
    <p:sldId id="261" r:id="rId6"/>
    <p:sldId id="287" r:id="rId7"/>
    <p:sldId id="351" r:id="rId8"/>
    <p:sldId id="342" r:id="rId9"/>
    <p:sldId id="343" r:id="rId10"/>
    <p:sldId id="344" r:id="rId11"/>
    <p:sldId id="352" r:id="rId12"/>
    <p:sldId id="353" r:id="rId13"/>
    <p:sldId id="354" r:id="rId14"/>
    <p:sldId id="355" r:id="rId15"/>
    <p:sldId id="359" r:id="rId16"/>
    <p:sldId id="360" r:id="rId17"/>
    <p:sldId id="302" r:id="rId18"/>
    <p:sldId id="303" r:id="rId19"/>
    <p:sldId id="340" r:id="rId20"/>
    <p:sldId id="356" r:id="rId21"/>
    <p:sldId id="345" r:id="rId22"/>
    <p:sldId id="346" r:id="rId23"/>
    <p:sldId id="347" r:id="rId24"/>
    <p:sldId id="358" r:id="rId25"/>
    <p:sldId id="311" r:id="rId26"/>
    <p:sldId id="312" r:id="rId27"/>
    <p:sldId id="333" r:id="rId28"/>
    <p:sldId id="306" r:id="rId29"/>
    <p:sldId id="307" r:id="rId30"/>
    <p:sldId id="361" r:id="rId31"/>
  </p:sldIdLst>
  <p:sldSz cx="12192000" cy="6858000"/>
  <p:notesSz cx="6858000" cy="9144000"/>
  <p:embeddedFontLst>
    <p:embeddedFont>
      <p:font typeface="Arial Black" panose="020B0A04020102020204" pitchFamily="34" charset="0"/>
      <p:bold r:id="rId33"/>
    </p:embeddedFont>
    <p:embeddedFont>
      <p:font typeface="Calibri" panose="020F0502020204030204" pitchFamily="34" charset="0"/>
      <p:regular r:id="rId34"/>
      <p:bold r:id="rId35"/>
      <p:italic r:id="rId36"/>
      <p:boldItalic r:id="rId37"/>
    </p:embeddedFont>
    <p:embeddedFont>
      <p:font typeface="Cambria" panose="02040503050406030204" pitchFamily="18" charset="0"/>
      <p:regular r:id="rId38"/>
      <p:bold r:id="rId39"/>
      <p:italic r:id="rId40"/>
      <p:boldItalic r:id="rId41"/>
    </p:embeddedFont>
    <p:embeddedFont>
      <p:font typeface="Cambria Math" panose="02040503050406030204" pitchFamily="18" charset="0"/>
      <p:regular r:id="rId42"/>
    </p:embeddedFont>
    <p:embeddedFont>
      <p:font typeface="Century Gothic" panose="020B0502020202020204" pitchFamily="34" charset="0"/>
      <p:regular r:id="rId43"/>
      <p:bold r:id="rId44"/>
      <p:italic r:id="rId45"/>
      <p:boldItalic r:id="rId46"/>
    </p:embeddedFont>
    <p:embeddedFont>
      <p:font typeface="Verdana" panose="020B0604030504040204" pitchFamily="34" charset="0"/>
      <p:regular r:id="rId47"/>
      <p:bold r:id="rId48"/>
      <p:italic r:id="rId49"/>
      <p:boldItalic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0CB"/>
    <a:srgbClr val="8B2D77"/>
    <a:srgbClr val="14BAAA"/>
    <a:srgbClr val="26B7D4"/>
    <a:srgbClr val="E24E5F"/>
    <a:srgbClr val="52BDA6"/>
    <a:srgbClr val="276C46"/>
    <a:srgbClr val="C9DF6F"/>
    <a:srgbClr val="417DBF"/>
    <a:srgbClr val="3F2A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87"/>
    <p:restoredTop sz="94719"/>
  </p:normalViewPr>
  <p:slideViewPr>
    <p:cSldViewPr snapToGrid="0">
      <p:cViewPr varScale="1">
        <p:scale>
          <a:sx n="46" d="100"/>
          <a:sy n="46" d="100"/>
        </p:scale>
        <p:origin x="48" y="83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font" Target="fonts/font15.fntdata"/><Relationship Id="rId50" Type="http://schemas.openxmlformats.org/officeDocument/2006/relationships/font" Target="fonts/font18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font" Target="fonts/font14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font" Target="fonts/font13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49" Type="http://schemas.openxmlformats.org/officeDocument/2006/relationships/font" Target="fonts/font17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48" Type="http://schemas.openxmlformats.org/officeDocument/2006/relationships/font" Target="fonts/font16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0154206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827350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8141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627584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368421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33010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47452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700940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851944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982760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205446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02826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268470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875314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5891369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234236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8817985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1196724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091560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80.png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12, Lesson 2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Finding an Unknown Fraction in an Equation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287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52C00464-EFA3-6346-BE43-A03DFF537B3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480" y="1597002"/>
            <a:ext cx="2973100" cy="34657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>
              <a:solidFill>
                <a:srgbClr val="26B7D4"/>
              </a:solidFill>
            </a:endParaRPr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43000" y="-91440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914400" y="1600200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MA.6.AR.2.4</a:t>
            </a:r>
          </a:p>
          <a:p>
            <a:pPr indent="0">
              <a:buNone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Determine the unknown decimal or fraction in an equation involving any of the four operations, relating three numbers, with the unknown in any position.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43000" y="12966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914400" y="1596390"/>
            <a:ext cx="10515600" cy="4762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 Demonstrate understanding by representing problems in multiple ways.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AC0AE969-0A27-9545-AB11-BBE5491801C1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43000" y="27432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914400" y="1547093"/>
            <a:ext cx="10515600" cy="4498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 typeface="Wingdings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 can determine an unknown fraction in a numeric equation with three numbers.</a:t>
            </a: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AE0319DD-E1E2-064E-A3C0-1ADADEA7DC73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4096" y="2770632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70632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06503EB0-E904-7143-BA20-369F935837E3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3000" y="6032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12.2.1 Warm-Up: How Much Rain?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79F083F-A67E-0047-8E64-5125815AF3D8}"/>
              </a:ext>
            </a:extLst>
          </p:cNvPr>
          <p:cNvSpPr/>
          <p:nvPr/>
        </p:nvSpPr>
        <p:spPr>
          <a:xfrm>
            <a:off x="914400" y="1386026"/>
            <a:ext cx="10515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José checked his rain gauge before and after a rain shower. </a:t>
            </a:r>
          </a:p>
        </p:txBody>
      </p:sp>
      <p:sp>
        <p:nvSpPr>
          <p:cNvPr id="18" name="Google Shape;282;g104476d1465_1_17">
            <a:extLst>
              <a:ext uri="{FF2B5EF4-FFF2-40B4-BE49-F238E27FC236}">
                <a16:creationId xmlns:a16="http://schemas.microsoft.com/office/drawing/2014/main" id="{570FC961-D801-0C4E-8D4A-AEC23A74C9C3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E4EA73E-4F49-6F4A-9C85-1EEB1001BD0B}"/>
              </a:ext>
            </a:extLst>
          </p:cNvPr>
          <p:cNvSpPr/>
          <p:nvPr/>
        </p:nvSpPr>
        <p:spPr>
          <a:xfrm>
            <a:off x="914399" y="2717285"/>
            <a:ext cx="492596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much rain fell during the rain shower?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E6BF55E-3F92-3343-951E-B48EAFFB1EC9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2217023"/>
            <a:ext cx="3632574" cy="4580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79F083F-A67E-0047-8E64-5125815AF3D8}"/>
              </a:ext>
            </a:extLst>
          </p:cNvPr>
          <p:cNvSpPr/>
          <p:nvPr/>
        </p:nvSpPr>
        <p:spPr>
          <a:xfrm>
            <a:off x="914400" y="1159360"/>
            <a:ext cx="10515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 the pictures to describe how you determined the amount of rain that fell during the rain shower.</a:t>
            </a:r>
          </a:p>
        </p:txBody>
      </p:sp>
      <p:sp>
        <p:nvSpPr>
          <p:cNvPr id="18" name="Google Shape;282;g104476d1465_1_17">
            <a:extLst>
              <a:ext uri="{FF2B5EF4-FFF2-40B4-BE49-F238E27FC236}">
                <a16:creationId xmlns:a16="http://schemas.microsoft.com/office/drawing/2014/main" id="{570FC961-D801-0C4E-8D4A-AEC23A74C9C3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22882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70632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26B7D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AE80E75D-78AE-A94E-86B4-91D469B7BFAD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C031FE84-D423-CC4C-831E-2D526CB9114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4096" y="2770632"/>
            <a:ext cx="1156733" cy="115673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39353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43000" y="-27923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4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12.2.2 Guided Instruction: Using Diagrams to Solve Equations with Fractions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B2BE9AFC-D858-8947-AE27-3738478587E3}"/>
                  </a:ext>
                </a:extLst>
              </p:cNvPr>
              <p:cNvSpPr/>
              <p:nvPr/>
            </p:nvSpPr>
            <p:spPr>
              <a:xfrm>
                <a:off x="914400" y="1331162"/>
                <a:ext cx="10515600" cy="29878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Diagrams are helpful tools when solving equations for unknown values. 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 road construction crew paved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num>
                      <m:den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mile, which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num>
                      <m:den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of a full paving job. The bar model represents the equation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num>
                      <m:den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9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</m:t>
                    </m:r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num>
                      <m:den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5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𝑟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where 𝑟 is the length of the whole road being paved.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B2BE9AFC-D858-8947-AE27-3738478587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331162"/>
                <a:ext cx="10515600" cy="2987869"/>
              </a:xfrm>
              <a:prstGeom prst="rect">
                <a:avLst/>
              </a:prstGeom>
              <a:blipFill>
                <a:blip r:embed="rId4"/>
                <a:stretch>
                  <a:fillRect l="-965" t="-16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A0B3F56A-90D4-0546-BD18-061853EE9422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3FB836D-7BF8-B941-8F1E-1C998C7EDD5F}"/>
              </a:ext>
            </a:extLst>
          </p:cNvPr>
          <p:cNvSpPr/>
          <p:nvPr/>
        </p:nvSpPr>
        <p:spPr>
          <a:xfrm>
            <a:off x="2146200" y="2419359"/>
            <a:ext cx="8333128" cy="101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Aft>
                <a:spcPts val="1000"/>
              </a:spcAft>
            </a:pPr>
            <a:r>
              <a:rPr lang="en-US" sz="120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x-none" sz="120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 descr="Icon&#10;&#10;Description automatically generated">
            <a:extLst>
              <a:ext uri="{FF2B5EF4-FFF2-40B4-BE49-F238E27FC236}">
                <a16:creationId xmlns:a16="http://schemas.microsoft.com/office/drawing/2014/main" id="{C6C9C2DF-E989-BB45-9CB6-957F27930002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</p:spPr>
      </p:pic>
      <p:pic>
        <p:nvPicPr>
          <p:cNvPr id="4" name="Picture 3" descr="Table&#10;&#10;Description automatically generated">
            <a:extLst>
              <a:ext uri="{FF2B5EF4-FFF2-40B4-BE49-F238E27FC236}">
                <a16:creationId xmlns:a16="http://schemas.microsoft.com/office/drawing/2014/main" id="{2432B3BC-D488-8F48-943C-EB7253E8D36F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87397" y="4700198"/>
            <a:ext cx="5851746" cy="1392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8012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2E7CAFC-319F-CE4F-8B26-ED2749A56CDA}"/>
              </a:ext>
            </a:extLst>
          </p:cNvPr>
          <p:cNvSpPr/>
          <p:nvPr/>
        </p:nvSpPr>
        <p:spPr>
          <a:xfrm>
            <a:off x="914400" y="902611"/>
            <a:ext cx="105156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Discuss with your partner how the diagram represents the information given.</a:t>
            </a:r>
          </a:p>
          <a:p>
            <a:pPr marL="9144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Describe how to use the bar model to solve the equation for 𝑟, the length of the road being paved.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00881218-B66A-864E-9C8C-BFF0BA43B327}"/>
              </a:ext>
            </a:extLst>
          </p:cNvPr>
          <p:cNvSpPr txBox="1"/>
          <p:nvPr/>
        </p:nvSpPr>
        <p:spPr>
          <a:xfrm>
            <a:off x="8897112" y="6457676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533463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22E7CAFC-319F-CE4F-8B26-ED2749A56CDA}"/>
                  </a:ext>
                </a:extLst>
              </p:cNvPr>
              <p:cNvSpPr/>
              <p:nvPr/>
            </p:nvSpPr>
            <p:spPr>
              <a:xfrm>
                <a:off x="914400" y="389994"/>
                <a:ext cx="10515600" cy="359970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How long is the road being paved?</a:t>
                </a:r>
              </a:p>
              <a:p>
                <a:pPr marL="914400" indent="-457200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914400" indent="-457200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914400" indent="-457200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914400" indent="-457200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914400" indent="-457200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914400" indent="-457200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914400" indent="-457200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914400" indent="-457200">
                  <a:buFont typeface="+mj-lt"/>
                  <a:buAutoNum type="alphaLcPeriod" startAt="4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Check your solution.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9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s-ES" sz="24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                   </m:t>
                            </m:r>
                          </m:num>
                          <m:den>
                            <m:r>
                              <a:rPr lang="es-ES" sz="24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   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22E7CAFC-319F-CE4F-8B26-ED2749A56C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389994"/>
                <a:ext cx="10515600" cy="3599703"/>
              </a:xfrm>
              <a:prstGeom prst="rect">
                <a:avLst/>
              </a:prstGeom>
              <a:blipFill>
                <a:blip r:embed="rId4"/>
                <a:stretch>
                  <a:fillRect t="-1356" b="-1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00881218-B66A-864E-9C8C-BFF0BA43B327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Text Box 10">
            <a:extLst>
              <a:ext uri="{FF2B5EF4-FFF2-40B4-BE49-F238E27FC236}">
                <a16:creationId xmlns:a16="http://schemas.microsoft.com/office/drawing/2014/main" id="{B8479BA6-D6AA-5B45-A794-28A977B4BC80}"/>
              </a:ext>
            </a:extLst>
          </p:cNvPr>
          <p:cNvSpPr txBox="1"/>
          <p:nvPr/>
        </p:nvSpPr>
        <p:spPr>
          <a:xfrm>
            <a:off x="6172200" y="3341997"/>
            <a:ext cx="765922" cy="647700"/>
          </a:xfrm>
          <a:prstGeom prst="rect">
            <a:avLst/>
          </a:prstGeom>
          <a:noFill/>
          <a:ln w="6350">
            <a:solidFill>
              <a:prstClr val="black"/>
            </a:solidFill>
            <a:prstDash val="dash"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1000"/>
              </a:spcAft>
            </a:pPr>
            <a:r>
              <a:rPr lang="en-US" sz="120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x-none" sz="120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8168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22E7CAFC-319F-CE4F-8B26-ED2749A56CDA}"/>
                  </a:ext>
                </a:extLst>
              </p:cNvPr>
              <p:cNvSpPr/>
              <p:nvPr/>
            </p:nvSpPr>
            <p:spPr>
              <a:xfrm>
                <a:off x="914400" y="332335"/>
                <a:ext cx="10515600" cy="188763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Shirlene had </a:t>
                </a:r>
                <a14:m>
                  <m:oMath xmlns:m="http://schemas.openxmlformats.org/officeDocument/2006/math">
                    <m:r>
                      <a:rPr lang="es-ES" sz="2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</m:t>
                    </m:r>
                    <m:f>
                      <m:fPr>
                        <m:ctrlP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s-E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yards of ribbon. She decided to use some for her craft project. She has </a:t>
                </a:r>
                <a14:m>
                  <m:oMath xmlns:m="http://schemas.openxmlformats.org/officeDocument/2006/math">
                    <m:r>
                      <a:rPr lang="es-ES" sz="2000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  <m:f>
                      <m:fPr>
                        <m:ctrlP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num>
                      <m:den>
                        <m:r>
                          <a:rPr lang="es-E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yards of ribbon left.</a:t>
                </a:r>
              </a:p>
              <a:p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4025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model represents the amount of ribbon Shirlene had before she started her craft project.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22E7CAFC-319F-CE4F-8B26-ED2749A56C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332335"/>
                <a:ext cx="10515600" cy="1887633"/>
              </a:xfrm>
              <a:prstGeom prst="rect">
                <a:avLst/>
              </a:prstGeom>
              <a:blipFill>
                <a:blip r:embed="rId4"/>
                <a:stretch>
                  <a:fillRect l="-603" b="-46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00881218-B66A-864E-9C8C-BFF0BA43B327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A3C08D-D3D2-5945-BFB4-D53032498FF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00207" y="2611929"/>
            <a:ext cx="8243047" cy="81289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5E2599D7-A02C-BB43-9D00-7E020DE3CF73}"/>
                  </a:ext>
                </a:extLst>
              </p:cNvPr>
              <p:cNvSpPr/>
              <p:nvPr/>
            </p:nvSpPr>
            <p:spPr>
              <a:xfrm>
                <a:off x="914400" y="3815123"/>
                <a:ext cx="10515600" cy="176016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4025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equation </a:t>
                </a:r>
                <a14:m>
                  <m:oMath xmlns:m="http://schemas.openxmlformats.org/officeDocument/2006/math">
                    <m:r>
                      <a:rPr lang="es-ES" sz="2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</m:t>
                    </m:r>
                    <m:f>
                      <m:fPr>
                        <m:ctrlP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s-E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8</m:t>
                        </m:r>
                      </m:den>
                    </m:f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s-ES" sz="2000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  <m:f>
                      <m:fPr>
                        <m:ctrlP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num>
                      <m:den>
                        <m:r>
                          <a:rPr lang="es-E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can be used to find 𝑥, the amount of ribbon used for the craft project. 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Shade the part of the model that represents the amount of ribbon Shirlene has left after her craft project.</a:t>
                </a:r>
              </a:p>
            </p:txBody>
          </p:sp>
        </mc:Choice>
        <mc:Fallback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5E2599D7-A02C-BB43-9D00-7E020DE3CF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3815123"/>
                <a:ext cx="10515600" cy="1760162"/>
              </a:xfrm>
              <a:prstGeom prst="rect">
                <a:avLst/>
              </a:prstGeom>
              <a:blipFill>
                <a:blip r:embed="rId6"/>
                <a:stretch>
                  <a:fillRect b="-5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2720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19456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22E7CAFC-319F-CE4F-8B26-ED2749A56CDA}"/>
                  </a:ext>
                </a:extLst>
              </p:cNvPr>
              <p:cNvSpPr/>
              <p:nvPr/>
            </p:nvSpPr>
            <p:spPr>
              <a:xfrm>
                <a:off x="914400" y="389993"/>
                <a:ext cx="10993582" cy="32024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What does the unshaded part of the model now represent?</a:t>
                </a: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Use the model to find the value of 𝑥 in the equation </a:t>
                </a:r>
                <a14:m>
                  <m:oMath xmlns:m="http://schemas.openxmlformats.org/officeDocument/2006/math">
                    <m:r>
                      <a:rPr lang="es-ES" sz="24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</m:t>
                    </m:r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8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s-ES" sz="2400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num>
                      <m:den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22E7CAFC-319F-CE4F-8B26-ED2749A56C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389993"/>
                <a:ext cx="10993582" cy="3202480"/>
              </a:xfrm>
              <a:prstGeom prst="rect">
                <a:avLst/>
              </a:prstGeom>
              <a:blipFill>
                <a:blip r:embed="rId4"/>
                <a:stretch>
                  <a:fillRect t="-1524" b="-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00881218-B66A-864E-9C8C-BFF0BA43B327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220019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22E7CAFC-319F-CE4F-8B26-ED2749A56CDA}"/>
                  </a:ext>
                </a:extLst>
              </p:cNvPr>
              <p:cNvSpPr/>
              <p:nvPr/>
            </p:nvSpPr>
            <p:spPr>
              <a:xfrm>
                <a:off x="914400" y="419021"/>
                <a:ext cx="10515600" cy="394037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914400" indent="-457200">
                  <a:buFont typeface="+mj-lt"/>
                  <a:buAutoNum type="alphaLcPeriod" startAt="4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How much ribbon did she use for the craft project?</a:t>
                </a: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Check your solution. </a:t>
                </a:r>
                <a14:m>
                  <m:oMath xmlns:m="http://schemas.openxmlformats.org/officeDocument/2006/math">
                    <m:r>
                      <a:rPr lang="es-ES" sz="24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</m:t>
                    </m:r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8</m:t>
                        </m:r>
                      </m:den>
                    </m:f>
                    <m:r>
                      <a:rPr lang="es-E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−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     </a:t>
                </a:r>
                <a14:m>
                  <m:oMath xmlns:m="http://schemas.openxmlformats.org/officeDocument/2006/math">
                    <m:r>
                      <a:rPr lang="es-ES" sz="2400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=2</m:t>
                    </m:r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num>
                      <m:den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22E7CAFC-319F-CE4F-8B26-ED2749A56C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419021"/>
                <a:ext cx="10515600" cy="3940374"/>
              </a:xfrm>
              <a:prstGeom prst="rect">
                <a:avLst/>
              </a:prstGeom>
              <a:blipFill>
                <a:blip r:embed="rId4"/>
                <a:stretch>
                  <a:fillRect t="-1238" b="-3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00881218-B66A-864E-9C8C-BFF0BA43B327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Text Box 11">
            <a:extLst>
              <a:ext uri="{FF2B5EF4-FFF2-40B4-BE49-F238E27FC236}">
                <a16:creationId xmlns:a16="http://schemas.microsoft.com/office/drawing/2014/main" id="{E8B19373-929F-6746-A484-1C8774769DE0}"/>
              </a:ext>
            </a:extLst>
          </p:cNvPr>
          <p:cNvSpPr txBox="1"/>
          <p:nvPr/>
        </p:nvSpPr>
        <p:spPr>
          <a:xfrm>
            <a:off x="5992090" y="3748777"/>
            <a:ext cx="891764" cy="482666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  <a:prstDash val="dash"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1000"/>
              </a:spcAft>
            </a:pPr>
            <a:r>
              <a:rPr lang="en-US" sz="120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</a:t>
            </a:r>
            <a:endParaRPr lang="x-none" sz="120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34379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22E7CAFC-319F-CE4F-8B26-ED2749A56CDA}"/>
                  </a:ext>
                </a:extLst>
              </p:cNvPr>
              <p:cNvSpPr/>
              <p:nvPr/>
            </p:nvSpPr>
            <p:spPr>
              <a:xfrm>
                <a:off x="914400" y="419022"/>
                <a:ext cx="10515600" cy="10166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Donté used milk for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batches of a recipe. He used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num>
                      <m:den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cup of milk for each batch. 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22E7CAFC-319F-CE4F-8B26-ED2749A56C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419022"/>
                <a:ext cx="10515600" cy="1016689"/>
              </a:xfrm>
              <a:prstGeom prst="rect">
                <a:avLst/>
              </a:prstGeom>
              <a:blipFill>
                <a:blip r:embed="rId4"/>
                <a:stretch>
                  <a:fillRect l="-965" r="-1448" b="-98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00881218-B66A-864E-9C8C-BFF0BA43B327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Picture 16" descr="Graphical user interface&#10;&#10;Description automatically generated with medium confidence">
            <a:extLst>
              <a:ext uri="{FF2B5EF4-FFF2-40B4-BE49-F238E27FC236}">
                <a16:creationId xmlns:a16="http://schemas.microsoft.com/office/drawing/2014/main" id="{1CC2A1FF-01A7-3F4C-B624-85F498E499B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04234" y="1755252"/>
            <a:ext cx="2303145" cy="2459990"/>
          </a:xfrm>
          <a:prstGeom prst="rect">
            <a:avLst/>
          </a:prstGeom>
        </p:spPr>
      </p:pic>
      <p:pic>
        <p:nvPicPr>
          <p:cNvPr id="18" name="Picture 17" descr="Graphical user interface&#10;&#10;Description automatically generated with medium confidence">
            <a:extLst>
              <a:ext uri="{FF2B5EF4-FFF2-40B4-BE49-F238E27FC236}">
                <a16:creationId xmlns:a16="http://schemas.microsoft.com/office/drawing/2014/main" id="{3EB4BE78-D533-1845-A05F-97A632DF98E9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24920" y="1755252"/>
            <a:ext cx="2303145" cy="2459990"/>
          </a:xfrm>
          <a:prstGeom prst="rect">
            <a:avLst/>
          </a:prstGeom>
        </p:spPr>
      </p:pic>
      <p:pic>
        <p:nvPicPr>
          <p:cNvPr id="19" name="Picture 18" descr="Graphical user interface&#10;&#10;Description automatically generated with medium confidence">
            <a:extLst>
              <a:ext uri="{FF2B5EF4-FFF2-40B4-BE49-F238E27FC236}">
                <a16:creationId xmlns:a16="http://schemas.microsoft.com/office/drawing/2014/main" id="{3600D27B-4047-6744-A6FB-DC02F7516B03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45606" y="1755252"/>
            <a:ext cx="2303145" cy="245999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AF7D335B-7F77-0944-BC3B-8F5A1BDDDF24}"/>
                  </a:ext>
                </a:extLst>
              </p:cNvPr>
              <p:cNvSpPr/>
              <p:nvPr/>
            </p:nvSpPr>
            <p:spPr>
              <a:xfrm>
                <a:off x="914400" y="4453140"/>
                <a:ext cx="10515600" cy="10166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4025">
                  <a:tabLst>
                    <a:tab pos="481013" algn="l"/>
                  </a:tabLst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equation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÷3=</m:t>
                    </m:r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num>
                      <m:den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can be used to find 𝑚, the amount of milk Donté used. </a:t>
                </a: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AF7D335B-7F77-0944-BC3B-8F5A1BDDDF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4453140"/>
                <a:ext cx="10515600" cy="1016689"/>
              </a:xfrm>
              <a:prstGeom prst="rect">
                <a:avLst/>
              </a:prstGeom>
              <a:blipFill>
                <a:blip r:embed="rId6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38275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22E7CAFC-319F-CE4F-8B26-ED2749A56CDA}"/>
                  </a:ext>
                </a:extLst>
              </p:cNvPr>
              <p:cNvSpPr/>
              <p:nvPr/>
            </p:nvSpPr>
            <p:spPr>
              <a:xfrm>
                <a:off x="914399" y="419021"/>
                <a:ext cx="10910455" cy="33529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Use the measuring cups shown to solve the equation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÷3=</m:t>
                    </m:r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num>
                      <m:den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Check your solution.             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÷3=</m:t>
                    </m:r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num>
                      <m:den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22E7CAFC-319F-CE4F-8B26-ED2749A56C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399" y="419021"/>
                <a:ext cx="10910455" cy="3352969"/>
              </a:xfrm>
              <a:prstGeom prst="rect">
                <a:avLst/>
              </a:prstGeom>
              <a:blipFill>
                <a:blip r:embed="rId4"/>
                <a:stretch>
                  <a:fillRect r="-168" b="-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00881218-B66A-864E-9C8C-BFF0BA43B327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Text Box 20">
            <a:extLst>
              <a:ext uri="{FF2B5EF4-FFF2-40B4-BE49-F238E27FC236}">
                <a16:creationId xmlns:a16="http://schemas.microsoft.com/office/drawing/2014/main" id="{0BB616FD-69AF-A24E-9C24-DAE26D012744}"/>
              </a:ext>
            </a:extLst>
          </p:cNvPr>
          <p:cNvSpPr txBox="1"/>
          <p:nvPr/>
        </p:nvSpPr>
        <p:spPr>
          <a:xfrm>
            <a:off x="5465929" y="3159028"/>
            <a:ext cx="821926" cy="612962"/>
          </a:xfrm>
          <a:prstGeom prst="rect">
            <a:avLst/>
          </a:prstGeom>
          <a:solidFill>
            <a:sysClr val="window" lastClr="FFFFFF"/>
          </a:solidFill>
          <a:ln w="6350">
            <a:solidFill>
              <a:prstClr val="black"/>
            </a:solidFill>
            <a:prstDash val="dash"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1000"/>
              </a:spcAft>
              <a:buClrTx/>
              <a:defRPr/>
            </a:pPr>
            <a:r>
              <a:rPr lang="en-US" sz="1200">
                <a:solidFill>
                  <a:sysClr val="windowText" lastClr="00000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x-none" sz="1200">
              <a:solidFill>
                <a:sysClr val="windowText" lastClr="000000"/>
              </a:solidFill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60228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70248" y="2770632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chemeClr val="lt1"/>
              </a:buClr>
              <a:buSzPts val="4800"/>
            </a:pPr>
            <a:r>
              <a:rPr lang="en-US" sz="44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4000" b="1" dirty="0">
              <a:solidFill>
                <a:srgbClr val="52BD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04201096-008D-9E40-8962-B6CD490C930F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image5.png">
            <a:extLst>
              <a:ext uri="{FF2B5EF4-FFF2-40B4-BE49-F238E27FC236}">
                <a16:creationId xmlns:a16="http://schemas.microsoft.com/office/drawing/2014/main" id="{60100B06-3A93-D54C-A964-96E4C2C2EEA7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4096" y="2770632"/>
            <a:ext cx="1128534" cy="1128534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143000" y="64008"/>
            <a:ext cx="10515600" cy="1014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4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12.2.3 Collaboration: Solving Equations with Fractions Using Reasoning and Mental Math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6A031F-2EC8-DF4C-B3F5-E7AC5B8F3239}"/>
              </a:ext>
            </a:extLst>
          </p:cNvPr>
          <p:cNvSpPr/>
          <p:nvPr/>
        </p:nvSpPr>
        <p:spPr>
          <a:xfrm>
            <a:off x="914400" y="1254690"/>
            <a:ext cx="10515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8313" indent="-457200">
              <a:buSzPct val="100000"/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Solve each equation. Check each of your solutions.</a:t>
            </a:r>
          </a:p>
        </p:txBody>
      </p:sp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8A626CB-082C-DB4E-B059-328DCC8AD138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image5.png">
            <a:extLst>
              <a:ext uri="{FF2B5EF4-FFF2-40B4-BE49-F238E27FC236}">
                <a16:creationId xmlns:a16="http://schemas.microsoft.com/office/drawing/2014/main" id="{04C19B76-A060-3243-AE2C-88D93DB1A19F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616" y="201168"/>
            <a:ext cx="750144" cy="750144"/>
          </a:xfrm>
          <a:prstGeom prst="rect">
            <a:avLst/>
          </a:prstGeom>
          <a:ln/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16762526-E313-F349-AFE5-45C31946DE4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42462686"/>
                  </p:ext>
                </p:extLst>
              </p:nvPr>
            </p:nvGraphicFramePr>
            <p:xfrm>
              <a:off x="2212975" y="2509171"/>
              <a:ext cx="7766050" cy="2984246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883025">
                      <a:extLst>
                        <a:ext uri="{9D8B030D-6E8A-4147-A177-3AD203B41FA5}">
                          <a16:colId xmlns:a16="http://schemas.microsoft.com/office/drawing/2014/main" val="2476133526"/>
                        </a:ext>
                      </a:extLst>
                    </a:gridCol>
                    <a:gridCol w="3883025">
                      <a:extLst>
                        <a:ext uri="{9D8B030D-6E8A-4147-A177-3AD203B41FA5}">
                          <a16:colId xmlns:a16="http://schemas.microsoft.com/office/drawing/2014/main" val="3825811048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16510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x-none" sz="1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x-none" sz="1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num>
                                  <m:den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x-none" sz="1200" dirty="0">
                            <a:effectLst/>
                          </a:endParaRPr>
                        </a:p>
                        <a:p>
                          <a:pPr marL="30480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x-none" sz="1200" dirty="0">
                            <a:effectLst/>
                          </a:endParaRPr>
                        </a:p>
                        <a:p>
                          <a:pPr marL="30480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x-none" sz="1200" dirty="0">
                            <a:effectLst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x-none" sz="1200" dirty="0">
                            <a:effectLst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x-none" sz="1200" dirty="0">
                            <a:effectLst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x-none" sz="1200" dirty="0">
                            <a:effectLst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x-none" sz="1200" dirty="0">
                            <a:effectLst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x-none" sz="1200" dirty="0">
                            <a:effectLst/>
                          </a:endParaRPr>
                        </a:p>
                        <a:p>
                          <a:pPr marL="30480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x-none" sz="1200" dirty="0">
                            <a:effectLst/>
                          </a:endParaRPr>
                        </a:p>
                        <a:p>
                          <a:pPr marL="30480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x-none" sz="1200" dirty="0"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  </a:t>
                          </a:r>
                          <a14:m>
                            <m:oMath xmlns:m="http://schemas.openxmlformats.org/officeDocument/2006/math"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1=</m:t>
                              </m:r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x-none" sz="18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den>
                              </m:f>
                            </m:oMath>
                          </a14:m>
                          <a:endParaRPr lang="x-none" sz="1200" dirty="0"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6795749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16762526-E313-F349-AFE5-45C31946DE4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42462686"/>
                  </p:ext>
                </p:extLst>
              </p:nvPr>
            </p:nvGraphicFramePr>
            <p:xfrm>
              <a:off x="2212975" y="2509171"/>
              <a:ext cx="7766050" cy="2984246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883025">
                      <a:extLst>
                        <a:ext uri="{9D8B030D-6E8A-4147-A177-3AD203B41FA5}">
                          <a16:colId xmlns:a16="http://schemas.microsoft.com/office/drawing/2014/main" val="2476133526"/>
                        </a:ext>
                      </a:extLst>
                    </a:gridCol>
                    <a:gridCol w="3883025">
                      <a:extLst>
                        <a:ext uri="{9D8B030D-6E8A-4147-A177-3AD203B41FA5}">
                          <a16:colId xmlns:a16="http://schemas.microsoft.com/office/drawing/2014/main" val="3825811048"/>
                        </a:ext>
                      </a:extLst>
                    </a:gridCol>
                  </a:tblGrid>
                  <a:tr h="298424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t="-847" r="-100000" b="-4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000" t="-847" b="-4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795749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FCAEDDBD-15FD-B945-9FDE-50793A71AA1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4B520244-E289-814F-ADEC-9AC0D7957B1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69541187"/>
                  </p:ext>
                </p:extLst>
              </p:nvPr>
            </p:nvGraphicFramePr>
            <p:xfrm>
              <a:off x="3141215" y="558339"/>
              <a:ext cx="5909570" cy="5718302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954785">
                      <a:extLst>
                        <a:ext uri="{9D8B030D-6E8A-4147-A177-3AD203B41FA5}">
                          <a16:colId xmlns:a16="http://schemas.microsoft.com/office/drawing/2014/main" val="1003074852"/>
                        </a:ext>
                      </a:extLst>
                    </a:gridCol>
                    <a:gridCol w="2954785">
                      <a:extLst>
                        <a:ext uri="{9D8B030D-6E8A-4147-A177-3AD203B41FA5}">
                          <a16:colId xmlns:a16="http://schemas.microsoft.com/office/drawing/2014/main" val="2702448118"/>
                        </a:ext>
                      </a:extLst>
                    </a:gridCol>
                  </a:tblGrid>
                  <a:tr h="2595379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  </a:t>
                          </a:r>
                          <a14:m>
                            <m:oMath xmlns:m="http://schemas.openxmlformats.org/officeDocument/2006/math"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÷</m:t>
                              </m:r>
                              <m:f>
                                <m:fPr>
                                  <m:ctrlPr>
                                    <a:rPr lang="x-none" sz="18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oMath>
                          </a14:m>
                          <a:endParaRPr lang="x-none" sz="1050" dirty="0">
                            <a:effectLst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x-none" sz="1050" dirty="0">
                            <a:effectLst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x-none" sz="1050" dirty="0">
                            <a:effectLst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x-none" sz="1050" dirty="0">
                            <a:effectLst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x-none" sz="1050" dirty="0">
                            <a:effectLst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x-none" sz="1050" dirty="0">
                            <a:effectLst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x-none" sz="1050" dirty="0">
                            <a:effectLst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x-none" sz="1050" dirty="0">
                            <a:effectLst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x-none" sz="1050" dirty="0">
                            <a:effectLst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x-none" sz="1050" dirty="0">
                            <a:effectLst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x-none" sz="1050" dirty="0">
                            <a:effectLst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x-none" sz="1050" dirty="0"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52186" marR="52186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x-none" sz="18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x-none" sz="18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den>
                              </m:f>
                            </m:oMath>
                          </a14:m>
                          <a:endParaRPr lang="x-none" sz="1050"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52186" marR="52186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659894847"/>
                      </a:ext>
                    </a:extLst>
                  </a:tr>
                  <a:tr h="1755959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x-none" sz="18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=3</m:t>
                              </m:r>
                              <m:f>
                                <m:fPr>
                                  <m:ctrlPr>
                                    <a:rPr lang="x-none" sz="18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</a:rPr>
                            <a:t> 	</a:t>
                          </a:r>
                          <a:endParaRPr lang="x-none" sz="1050" dirty="0">
                            <a:effectLst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x-none" sz="1050" dirty="0">
                            <a:effectLst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x-none" sz="1050" dirty="0">
                            <a:effectLst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x-none" sz="1050" dirty="0">
                            <a:effectLst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x-none" sz="1050" dirty="0">
                            <a:effectLst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x-none" sz="1050" dirty="0">
                            <a:effectLst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x-none" sz="1050" dirty="0">
                            <a:effectLst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x-none" sz="1050" dirty="0"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52186" marR="52186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  </a:t>
                          </a:r>
                          <a14:m>
                            <m:oMath xmlns:m="http://schemas.openxmlformats.org/officeDocument/2006/math"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  <m:f>
                                <m:fPr>
                                  <m:ctrlPr>
                                    <a:rPr lang="x-none" sz="18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  <m:f>
                                <m:fPr>
                                  <m:ctrlPr>
                                    <a:rPr lang="x-none" sz="18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endParaRPr lang="x-none" sz="1050" dirty="0"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52186" marR="52186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552204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4B520244-E289-814F-ADEC-9AC0D7957B1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69541187"/>
                  </p:ext>
                </p:extLst>
              </p:nvPr>
            </p:nvGraphicFramePr>
            <p:xfrm>
              <a:off x="3141215" y="558339"/>
              <a:ext cx="5909570" cy="5718302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954785">
                      <a:extLst>
                        <a:ext uri="{9D8B030D-6E8A-4147-A177-3AD203B41FA5}">
                          <a16:colId xmlns:a16="http://schemas.microsoft.com/office/drawing/2014/main" val="1003074852"/>
                        </a:ext>
                      </a:extLst>
                    </a:gridCol>
                    <a:gridCol w="2954785">
                      <a:extLst>
                        <a:ext uri="{9D8B030D-6E8A-4147-A177-3AD203B41FA5}">
                          <a16:colId xmlns:a16="http://schemas.microsoft.com/office/drawing/2014/main" val="2702448118"/>
                        </a:ext>
                      </a:extLst>
                    </a:gridCol>
                  </a:tblGrid>
                  <a:tr h="341071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2186" marR="52186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370" r="-100000" b="-674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2186" marR="52186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00000" t="-370" b="-6740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59894847"/>
                      </a:ext>
                    </a:extLst>
                  </a:tr>
                  <a:tr h="23075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2186" marR="52186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148901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2186" marR="52186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00000" t="-14890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552204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24357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9AF1552-9966-3643-BA84-BB4BC68EDBB5}"/>
              </a:ext>
            </a:extLst>
          </p:cNvPr>
          <p:cNvSpPr/>
          <p:nvPr/>
        </p:nvSpPr>
        <p:spPr>
          <a:xfrm>
            <a:off x="914400" y="385585"/>
            <a:ext cx="105156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SzPct val="100000"/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Some of the equations have equivalent solutions. Ask two classmates for a pair of equations that have equivalent solutions. In the table, record their solution and write the equations they tell you gave them that solution. </a:t>
            </a:r>
            <a:r>
              <a:rPr lang="en-US" sz="2000" i="1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You are the only person who should write in the first two columns of the table. </a:t>
            </a: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Have the person initial next to the equations they told you have equivalent solutions.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FCAEDDBD-15FD-B945-9FDE-50793A71AA1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3DA633D-97E2-084A-9232-F6030C518B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8495124"/>
              </p:ext>
            </p:extLst>
          </p:nvPr>
        </p:nvGraphicFramePr>
        <p:xfrm>
          <a:off x="2676525" y="3100547"/>
          <a:ext cx="6838950" cy="1801495"/>
        </p:xfrm>
        <a:graphic>
          <a:graphicData uri="http://schemas.openxmlformats.org/drawingml/2006/table">
            <a:tbl>
              <a:tblPr bandRow="1">
                <a:tableStyleId>{A91F0D33-8C57-4600-99A7-42BC86742BE1}</a:tableStyleId>
              </a:tblPr>
              <a:tblGrid>
                <a:gridCol w="1321067">
                  <a:extLst>
                    <a:ext uri="{9D8B030D-6E8A-4147-A177-3AD203B41FA5}">
                      <a16:colId xmlns:a16="http://schemas.microsoft.com/office/drawing/2014/main" val="824762199"/>
                    </a:ext>
                  </a:extLst>
                </a:gridCol>
                <a:gridCol w="4359331">
                  <a:extLst>
                    <a:ext uri="{9D8B030D-6E8A-4147-A177-3AD203B41FA5}">
                      <a16:colId xmlns:a16="http://schemas.microsoft.com/office/drawing/2014/main" val="228431577"/>
                    </a:ext>
                  </a:extLst>
                </a:gridCol>
                <a:gridCol w="1158552">
                  <a:extLst>
                    <a:ext uri="{9D8B030D-6E8A-4147-A177-3AD203B41FA5}">
                      <a16:colId xmlns:a16="http://schemas.microsoft.com/office/drawing/2014/main" val="2459219549"/>
                    </a:ext>
                  </a:extLst>
                </a:gridCol>
              </a:tblGrid>
              <a:tr h="41338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Solution</a:t>
                      </a:r>
                      <a:endParaRPr lang="x-none" sz="12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Equations</a:t>
                      </a:r>
                      <a:endParaRPr lang="x-none" sz="12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Initials</a:t>
                      </a:r>
                      <a:endParaRPr lang="x-none" sz="12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4488265"/>
                  </a:ext>
                </a:extLst>
              </a:tr>
              <a:tr h="69405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0342713"/>
                  </a:ext>
                </a:extLst>
              </a:tr>
              <a:tr h="69405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4978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66690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70632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26B7D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AE80E75D-78AE-A94E-86B4-91D469B7BFAD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image2.png" descr="Icon&#10;&#10;Description automatically generated">
            <a:extLst>
              <a:ext uri="{FF2B5EF4-FFF2-40B4-BE49-F238E27FC236}">
                <a16:creationId xmlns:a16="http://schemas.microsoft.com/office/drawing/2014/main" id="{09D4D09C-591B-8A49-B9D8-779082C24C6D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054096" y="2852928"/>
            <a:ext cx="1151972" cy="1151972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860496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43000" y="-27432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12.2.4 Guided Practice: Solving Equations with Fractions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B2BE9AFC-D858-8947-AE27-3738478587E3}"/>
                  </a:ext>
                </a:extLst>
              </p:cNvPr>
              <p:cNvSpPr/>
              <p:nvPr/>
            </p:nvSpPr>
            <p:spPr>
              <a:xfrm>
                <a:off x="914400" y="1491032"/>
                <a:ext cx="10515600" cy="158158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Raul made jam and filled four equal-sized jars with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2 </m:t>
                    </m:r>
                    <m:f>
                      <m:fPr>
                        <m:ctrlPr>
                          <a:rPr lang="en-U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num>
                      <m:den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cups of jam. The equation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𝑗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÷4=2 </m:t>
                    </m:r>
                    <m:f>
                      <m:fPr>
                        <m:ctrlPr>
                          <a:rPr lang="en-U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num>
                      <m:den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can be used to find the amount of jam, 𝑗, Raul made.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Draw a diagram that represents this situation.</a:t>
                </a: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B2BE9AFC-D858-8947-AE27-3738478587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491032"/>
                <a:ext cx="10515600" cy="1581587"/>
              </a:xfrm>
              <a:prstGeom prst="rect">
                <a:avLst/>
              </a:prstGeom>
              <a:blipFill>
                <a:blip r:embed="rId4"/>
                <a:stretch>
                  <a:fillRect l="-638" b="-61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A0B3F56A-90D4-0546-BD18-061853EE9422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3FB836D-7BF8-B941-8F1E-1C998C7EDD5F}"/>
              </a:ext>
            </a:extLst>
          </p:cNvPr>
          <p:cNvSpPr/>
          <p:nvPr/>
        </p:nvSpPr>
        <p:spPr>
          <a:xfrm>
            <a:off x="2146200" y="2419359"/>
            <a:ext cx="8333128" cy="101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Aft>
                <a:spcPts val="1000"/>
              </a:spcAft>
            </a:pPr>
            <a:r>
              <a:rPr lang="en-US" sz="120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x-none" sz="120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0B42EE9-95B6-3C45-A879-7B304ADA5A7A}"/>
              </a:ext>
            </a:extLst>
          </p:cNvPr>
          <p:cNvGrpSpPr/>
          <p:nvPr/>
        </p:nvGrpSpPr>
        <p:grpSpPr>
          <a:xfrm>
            <a:off x="2781300" y="3479152"/>
            <a:ext cx="6629400" cy="1054041"/>
            <a:chOff x="2031300" y="3252877"/>
            <a:chExt cx="6629400" cy="105422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5D01BEA-D688-754F-A593-7471CDED7DC6}"/>
                </a:ext>
              </a:extLst>
            </p:cNvPr>
            <p:cNvSpPr/>
            <p:nvPr/>
          </p:nvSpPr>
          <p:spPr>
            <a:xfrm>
              <a:off x="2031300" y="3252877"/>
              <a:ext cx="6629400" cy="1054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spcAft>
                  <a:spcPts val="1000"/>
                </a:spcAft>
              </a:pPr>
              <a:r>
                <a:rPr lang="en-US" sz="1200">
                  <a:latin typeface="Cambria" panose="02040503050406030204" pitchFamily="18" charset="0"/>
                  <a:ea typeface="MS Mincho" panose="02020609040205080304" pitchFamily="49" charset="-128"/>
                  <a:cs typeface="Cambria" panose="02040503050406030204" pitchFamily="18" charset="0"/>
                </a:rPr>
                <a:t> </a:t>
              </a:r>
              <a:endParaRPr lang="x-none" sz="1200">
                <a:latin typeface="Cambria" panose="02040503050406030204" pitchFamily="18" charset="0"/>
                <a:ea typeface="MS Mincho" panose="02020609040205080304" pitchFamily="49" charset="-128"/>
                <a:cs typeface="Cambria" panose="02040503050406030204" pitchFamily="18" charset="0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3D1FAB9-36B6-FC4F-98EA-161EDCCBD605}"/>
                </a:ext>
              </a:extLst>
            </p:cNvPr>
            <p:cNvGrpSpPr/>
            <p:nvPr/>
          </p:nvGrpSpPr>
          <p:grpSpPr>
            <a:xfrm>
              <a:off x="2031300" y="3252879"/>
              <a:ext cx="6629400" cy="1054222"/>
              <a:chOff x="2031300" y="3262288"/>
              <a:chExt cx="6629400" cy="103540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C47BFD8C-7383-784A-BF8E-C8FFAAAE31F6}"/>
                  </a:ext>
                </a:extLst>
              </p:cNvPr>
              <p:cNvSpPr/>
              <p:nvPr/>
            </p:nvSpPr>
            <p:spPr>
              <a:xfrm>
                <a:off x="2031300" y="3262288"/>
                <a:ext cx="6629400" cy="103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200">
                    <a:latin typeface="Cambria" panose="02040503050406030204" pitchFamily="18" charset="0"/>
                    <a:ea typeface="MS Mincho" panose="02020609040205080304" pitchFamily="49" charset="-128"/>
                    <a:cs typeface="Cambria" panose="02040503050406030204" pitchFamily="18" charset="0"/>
                  </a:rPr>
                  <a:t> </a:t>
                </a:r>
                <a:endParaRPr lang="x-none" sz="1200">
                  <a:latin typeface="Cambria" panose="02040503050406030204" pitchFamily="18" charset="0"/>
                  <a:ea typeface="MS Mincho" panose="02020609040205080304" pitchFamily="49" charset="-128"/>
                  <a:cs typeface="Cambria" panose="02040503050406030204" pitchFamily="18" charset="0"/>
                </a:endParaRPr>
              </a:p>
            </p:txBody>
          </p: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847105AA-ABE9-9448-9B28-14AA3EB06156}"/>
                  </a:ext>
                </a:extLst>
              </p:cNvPr>
              <p:cNvGrpSpPr/>
              <p:nvPr/>
            </p:nvGrpSpPr>
            <p:grpSpPr>
              <a:xfrm>
                <a:off x="2031300" y="3262288"/>
                <a:ext cx="6629400" cy="1035400"/>
                <a:chOff x="2031300" y="3373600"/>
                <a:chExt cx="6629400" cy="1035400"/>
              </a:xfrm>
            </p:grpSpPr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DF897C5E-7B64-494C-8B83-2C078C08AA48}"/>
                    </a:ext>
                  </a:extLst>
                </p:cNvPr>
                <p:cNvSpPr/>
                <p:nvPr/>
              </p:nvSpPr>
              <p:spPr>
                <a:xfrm>
                  <a:off x="2031300" y="3373600"/>
                  <a:ext cx="6629400" cy="1035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 panose="02040503050406030204" pitchFamily="18" charset="0"/>
                      <a:ea typeface="MS Mincho" panose="02020609040205080304" pitchFamily="49" charset="-128"/>
                      <a:cs typeface="Cambria" panose="02040503050406030204" pitchFamily="18" charset="0"/>
                    </a:rPr>
                    <a:t> </a:t>
                  </a:r>
                  <a:endParaRPr lang="x-none" sz="1200">
                    <a:latin typeface="Cambria" panose="02040503050406030204" pitchFamily="18" charset="0"/>
                    <a:ea typeface="MS Mincho" panose="02020609040205080304" pitchFamily="49" charset="-128"/>
                    <a:cs typeface="Cambria" panose="02040503050406030204" pitchFamily="18" charset="0"/>
                  </a:endParaRPr>
                </a:p>
              </p:txBody>
            </p:sp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F6AB7CB1-E843-4047-BA24-6EB5A8373753}"/>
                    </a:ext>
                  </a:extLst>
                </p:cNvPr>
                <p:cNvGrpSpPr/>
                <p:nvPr/>
              </p:nvGrpSpPr>
              <p:grpSpPr>
                <a:xfrm>
                  <a:off x="2031300" y="3373600"/>
                  <a:ext cx="6629400" cy="812800"/>
                  <a:chOff x="2031300" y="3373600"/>
                  <a:chExt cx="6629400" cy="812800"/>
                </a:xfrm>
              </p:grpSpPr>
              <p:sp>
                <p:nvSpPr>
                  <p:cNvPr id="20" name="Rectangle 19">
                    <a:extLst>
                      <a:ext uri="{FF2B5EF4-FFF2-40B4-BE49-F238E27FC236}">
                        <a16:creationId xmlns:a16="http://schemas.microsoft.com/office/drawing/2014/main" id="{6A1F7C8A-2D53-6049-8556-B470F585A948}"/>
                      </a:ext>
                    </a:extLst>
                  </p:cNvPr>
                  <p:cNvSpPr/>
                  <p:nvPr/>
                </p:nvSpPr>
                <p:spPr>
                  <a:xfrm>
                    <a:off x="2031300" y="3373600"/>
                    <a:ext cx="6629400" cy="812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>
                      <a:spcAft>
                        <a:spcPts val="1000"/>
                      </a:spcAft>
                    </a:pPr>
                    <a:r>
                      <a:rPr lang="en-US" sz="1200">
                        <a:latin typeface="Cambria" panose="02040503050406030204" pitchFamily="18" charset="0"/>
                        <a:ea typeface="MS Mincho" panose="02020609040205080304" pitchFamily="49" charset="-128"/>
                        <a:cs typeface="Cambria" panose="02040503050406030204" pitchFamily="18" charset="0"/>
                      </a:rPr>
                      <a:t> </a:t>
                    </a:r>
                    <a:endParaRPr lang="x-none" sz="1200">
                      <a:latin typeface="Cambria" panose="02040503050406030204" pitchFamily="18" charset="0"/>
                      <a:ea typeface="MS Mincho" panose="02020609040205080304" pitchFamily="49" charset="-128"/>
                      <a:cs typeface="Cambria" panose="02040503050406030204" pitchFamily="18" charset="0"/>
                    </a:endParaRPr>
                  </a:p>
                </p:txBody>
              </p:sp>
              <p:sp>
                <p:nvSpPr>
                  <p:cNvPr id="22" name="Rectangle 21">
                    <a:extLst>
                      <a:ext uri="{FF2B5EF4-FFF2-40B4-BE49-F238E27FC236}">
                        <a16:creationId xmlns:a16="http://schemas.microsoft.com/office/drawing/2014/main" id="{53E53AD6-3963-DE41-A0A1-7A426B6FB50D}"/>
                      </a:ext>
                    </a:extLst>
                  </p:cNvPr>
                  <p:cNvSpPr/>
                  <p:nvPr/>
                </p:nvSpPr>
                <p:spPr>
                  <a:xfrm>
                    <a:off x="2031300" y="3373600"/>
                    <a:ext cx="6629400" cy="812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>
                      <a:spcAft>
                        <a:spcPts val="1000"/>
                      </a:spcAft>
                    </a:pPr>
                    <a:r>
                      <a:rPr lang="en-US" sz="1200">
                        <a:latin typeface="Cambria" panose="02040503050406030204" pitchFamily="18" charset="0"/>
                        <a:ea typeface="MS Mincho" panose="02020609040205080304" pitchFamily="49" charset="-128"/>
                        <a:cs typeface="Cambria" panose="02040503050406030204" pitchFamily="18" charset="0"/>
                      </a:rPr>
                      <a:t> </a:t>
                    </a:r>
                    <a:endParaRPr lang="x-none" sz="1200">
                      <a:latin typeface="Cambria" panose="02040503050406030204" pitchFamily="18" charset="0"/>
                      <a:ea typeface="MS Mincho" panose="02020609040205080304" pitchFamily="49" charset="-128"/>
                      <a:cs typeface="Cambria" panose="02040503050406030204" pitchFamily="18" charset="0"/>
                    </a:endParaRPr>
                  </a:p>
                </p:txBody>
              </p:sp>
            </p:grpSp>
          </p:grpSp>
        </p:grpSp>
      </p:grpSp>
      <p:pic>
        <p:nvPicPr>
          <p:cNvPr id="25" name="image2.png" descr="Icon&#10;&#10;Description automatically generated">
            <a:extLst>
              <a:ext uri="{FF2B5EF4-FFF2-40B4-BE49-F238E27FC236}">
                <a16:creationId xmlns:a16="http://schemas.microsoft.com/office/drawing/2014/main" id="{C8AC0043-BC6B-624C-8389-47B9E0C58455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6616" y="201168"/>
            <a:ext cx="741801" cy="741801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5927290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22E7CAFC-319F-CE4F-8B26-ED2749A56CDA}"/>
                  </a:ext>
                </a:extLst>
              </p:cNvPr>
              <p:cNvSpPr/>
              <p:nvPr/>
            </p:nvSpPr>
            <p:spPr>
              <a:xfrm>
                <a:off x="914400" y="324038"/>
                <a:ext cx="10515600" cy="43091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How much jam did Raul make? Include units.</a:t>
                </a: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equation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2=</m:t>
                    </m:r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11</m:t>
                        </m:r>
                      </m:num>
                      <m:den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9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can be solved using reasoning.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How many ninths are equal to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?</a:t>
                </a:r>
              </a:p>
              <a:p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22E7CAFC-319F-CE4F-8B26-ED2749A56C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324038"/>
                <a:ext cx="10515600" cy="4309128"/>
              </a:xfrm>
              <a:prstGeom prst="rect">
                <a:avLst/>
              </a:prstGeom>
              <a:blipFill>
                <a:blip r:embed="rId4"/>
                <a:stretch>
                  <a:fillRect l="-870" t="-11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00881218-B66A-864E-9C8C-BFF0BA43B327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818CE2A-F258-D84F-A7A5-C72DEF59768E}"/>
              </a:ext>
            </a:extLst>
          </p:cNvPr>
          <p:cNvGrpSpPr/>
          <p:nvPr/>
        </p:nvGrpSpPr>
        <p:grpSpPr>
          <a:xfrm>
            <a:off x="2781300" y="3562350"/>
            <a:ext cx="6629400" cy="1054100"/>
            <a:chOff x="2031300" y="3252877"/>
            <a:chExt cx="6629400" cy="1054225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C38DD90-22C6-6D42-A485-622722A3C230}"/>
                </a:ext>
              </a:extLst>
            </p:cNvPr>
            <p:cNvSpPr/>
            <p:nvPr/>
          </p:nvSpPr>
          <p:spPr>
            <a:xfrm>
              <a:off x="2031300" y="3252877"/>
              <a:ext cx="6629400" cy="1054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spcAft>
                  <a:spcPts val="1000"/>
                </a:spcAft>
              </a:pPr>
              <a:r>
                <a:rPr lang="en-US" sz="1200">
                  <a:latin typeface="Cambria" panose="02040503050406030204" pitchFamily="18" charset="0"/>
                  <a:ea typeface="MS Mincho" panose="02020609040205080304" pitchFamily="49" charset="-128"/>
                  <a:cs typeface="Cambria" panose="02040503050406030204" pitchFamily="18" charset="0"/>
                </a:rPr>
                <a:t> </a:t>
              </a:r>
              <a:endParaRPr lang="x-none" sz="1200">
                <a:latin typeface="Cambria" panose="02040503050406030204" pitchFamily="18" charset="0"/>
                <a:ea typeface="MS Mincho" panose="02020609040205080304" pitchFamily="49" charset="-128"/>
                <a:cs typeface="Cambria" panose="02040503050406030204" pitchFamily="18" charset="0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9F1D440-5B9C-4B4E-8A45-23625F62753F}"/>
                </a:ext>
              </a:extLst>
            </p:cNvPr>
            <p:cNvGrpSpPr/>
            <p:nvPr/>
          </p:nvGrpSpPr>
          <p:grpSpPr>
            <a:xfrm>
              <a:off x="2031300" y="3252878"/>
              <a:ext cx="6629400" cy="1054222"/>
              <a:chOff x="2031300" y="3262288"/>
              <a:chExt cx="6629400" cy="1035400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467E219-2FE4-D644-B83B-162ECB24D328}"/>
                  </a:ext>
                </a:extLst>
              </p:cNvPr>
              <p:cNvSpPr/>
              <p:nvPr/>
            </p:nvSpPr>
            <p:spPr>
              <a:xfrm>
                <a:off x="2031300" y="3262288"/>
                <a:ext cx="6629400" cy="103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200">
                    <a:latin typeface="Cambria" panose="02040503050406030204" pitchFamily="18" charset="0"/>
                    <a:ea typeface="MS Mincho" panose="02020609040205080304" pitchFamily="49" charset="-128"/>
                    <a:cs typeface="Cambria" panose="02040503050406030204" pitchFamily="18" charset="0"/>
                  </a:rPr>
                  <a:t> </a:t>
                </a:r>
                <a:endParaRPr lang="x-none" sz="1200">
                  <a:latin typeface="Cambria" panose="02040503050406030204" pitchFamily="18" charset="0"/>
                  <a:ea typeface="MS Mincho" panose="02020609040205080304" pitchFamily="49" charset="-128"/>
                  <a:cs typeface="Cambria" panose="02040503050406030204" pitchFamily="18" charset="0"/>
                </a:endParaRPr>
              </a:p>
            </p:txBody>
          </p: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D0793E3E-FCEE-5C47-9CAA-B3CDA4192CDF}"/>
                  </a:ext>
                </a:extLst>
              </p:cNvPr>
              <p:cNvGrpSpPr/>
              <p:nvPr/>
            </p:nvGrpSpPr>
            <p:grpSpPr>
              <a:xfrm>
                <a:off x="2031300" y="3262288"/>
                <a:ext cx="6629400" cy="1035400"/>
                <a:chOff x="2031300" y="3373600"/>
                <a:chExt cx="6629400" cy="1035400"/>
              </a:xfrm>
            </p:grpSpPr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CD90458C-3D33-5649-B0DB-DB9F7424CADD}"/>
                    </a:ext>
                  </a:extLst>
                </p:cNvPr>
                <p:cNvSpPr/>
                <p:nvPr/>
              </p:nvSpPr>
              <p:spPr>
                <a:xfrm>
                  <a:off x="2031300" y="3373600"/>
                  <a:ext cx="6629400" cy="1035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 panose="02040503050406030204" pitchFamily="18" charset="0"/>
                      <a:ea typeface="MS Mincho" panose="02020609040205080304" pitchFamily="49" charset="-128"/>
                      <a:cs typeface="Cambria" panose="02040503050406030204" pitchFamily="18" charset="0"/>
                    </a:rPr>
                    <a:t> </a:t>
                  </a:r>
                  <a:endParaRPr lang="x-none" sz="1200">
                    <a:latin typeface="Cambria" panose="02040503050406030204" pitchFamily="18" charset="0"/>
                    <a:ea typeface="MS Mincho" panose="02020609040205080304" pitchFamily="49" charset="-128"/>
                    <a:cs typeface="Cambria" panose="02040503050406030204" pitchFamily="18" charset="0"/>
                  </a:endParaRPr>
                </a:p>
              </p:txBody>
            </p:sp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096611E4-9B6E-424F-A8E9-845D9A5DBDC9}"/>
                    </a:ext>
                  </a:extLst>
                </p:cNvPr>
                <p:cNvGrpSpPr/>
                <p:nvPr/>
              </p:nvGrpSpPr>
              <p:grpSpPr>
                <a:xfrm>
                  <a:off x="2031300" y="3373600"/>
                  <a:ext cx="6629400" cy="812800"/>
                  <a:chOff x="2031300" y="3373600"/>
                  <a:chExt cx="6629400" cy="812800"/>
                </a:xfrm>
              </p:grpSpPr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B6F9FE92-E8FD-AC44-B707-B938B1D6007C}"/>
                      </a:ext>
                    </a:extLst>
                  </p:cNvPr>
                  <p:cNvSpPr/>
                  <p:nvPr/>
                </p:nvSpPr>
                <p:spPr>
                  <a:xfrm>
                    <a:off x="2031300" y="3373600"/>
                    <a:ext cx="6629400" cy="812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>
                      <a:spcAft>
                        <a:spcPts val="1000"/>
                      </a:spcAft>
                    </a:pPr>
                    <a:r>
                      <a:rPr lang="en-US" sz="1200">
                        <a:latin typeface="Cambria" panose="02040503050406030204" pitchFamily="18" charset="0"/>
                        <a:ea typeface="MS Mincho" panose="02020609040205080304" pitchFamily="49" charset="-128"/>
                        <a:cs typeface="Cambria" panose="02040503050406030204" pitchFamily="18" charset="0"/>
                      </a:rPr>
                      <a:t> </a:t>
                    </a:r>
                    <a:endParaRPr lang="x-none" sz="1200">
                      <a:latin typeface="Cambria" panose="02040503050406030204" pitchFamily="18" charset="0"/>
                      <a:ea typeface="MS Mincho" panose="02020609040205080304" pitchFamily="49" charset="-128"/>
                      <a:cs typeface="Cambria" panose="02040503050406030204" pitchFamily="18" charset="0"/>
                    </a:endParaRPr>
                  </a:p>
                </p:txBody>
              </p:sp>
              <p:sp>
                <p:nvSpPr>
                  <p:cNvPr id="17" name="Rectangle 16">
                    <a:extLst>
                      <a:ext uri="{FF2B5EF4-FFF2-40B4-BE49-F238E27FC236}">
                        <a16:creationId xmlns:a16="http://schemas.microsoft.com/office/drawing/2014/main" id="{474D0996-1FE1-BF4B-ACFD-4C62A8644F67}"/>
                      </a:ext>
                    </a:extLst>
                  </p:cNvPr>
                  <p:cNvSpPr/>
                  <p:nvPr/>
                </p:nvSpPr>
                <p:spPr>
                  <a:xfrm>
                    <a:off x="2031300" y="3373600"/>
                    <a:ext cx="6629400" cy="812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>
                      <a:spcAft>
                        <a:spcPts val="1000"/>
                      </a:spcAft>
                    </a:pPr>
                    <a:r>
                      <a:rPr lang="en-US" sz="1200">
                        <a:latin typeface="Cambria" panose="02040503050406030204" pitchFamily="18" charset="0"/>
                        <a:ea typeface="MS Mincho" panose="02020609040205080304" pitchFamily="49" charset="-128"/>
                        <a:cs typeface="Cambria" panose="02040503050406030204" pitchFamily="18" charset="0"/>
                      </a:rPr>
                      <a:t> </a:t>
                    </a:r>
                    <a:endParaRPr lang="x-none" sz="1200">
                      <a:latin typeface="Cambria" panose="02040503050406030204" pitchFamily="18" charset="0"/>
                      <a:ea typeface="MS Mincho" panose="02020609040205080304" pitchFamily="49" charset="-128"/>
                      <a:cs typeface="Cambria" panose="02040503050406030204" pitchFamily="18" charset="0"/>
                    </a:endParaRPr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38912392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2E7CAFC-319F-CE4F-8B26-ED2749A56CDA}"/>
              </a:ext>
            </a:extLst>
          </p:cNvPr>
          <p:cNvSpPr/>
          <p:nvPr/>
        </p:nvSpPr>
        <p:spPr>
          <a:xfrm>
            <a:off x="914400" y="576072"/>
            <a:ext cx="105156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Explain how the answer to the previous question can be used to reason about the value of 𝑛.</a:t>
            </a:r>
          </a:p>
          <a:p>
            <a:pPr marL="9144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is the value of 𝑛?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00881218-B66A-864E-9C8C-BFF0BA43B327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138985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70632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44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40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8" descr="Icon&#10;&#10;Description automatically generated">
            <a:extLst>
              <a:ext uri="{FF2B5EF4-FFF2-40B4-BE49-F238E27FC236}">
                <a16:creationId xmlns:a16="http://schemas.microsoft.com/office/drawing/2014/main" id="{2C8C0BED-1AF4-B944-96AA-2CF26F1ABF6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4096" y="2770632"/>
            <a:ext cx="1156228" cy="115622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3000" y="64008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12.2.5 Your Turn!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B05AB5A2-AF35-B14C-AE54-D2A0628C823C}"/>
                  </a:ext>
                </a:extLst>
              </p:cNvPr>
              <p:cNvSpPr/>
              <p:nvPr/>
            </p:nvSpPr>
            <p:spPr>
              <a:xfrm>
                <a:off x="914400" y="1340983"/>
                <a:ext cx="10515600" cy="278165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Delia had a piece of decorative border. She cut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num>
                      <m:den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feet off to make the piece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3</m:t>
                    </m:r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feet. The situation is modeled by the equation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num>
                      <m:den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=3</m:t>
                    </m:r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where 𝑡 is the length in feet of the piece of trim before it was cut. </a:t>
                </a:r>
              </a:p>
              <a:p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Draw a diagram that represents this situation.</a:t>
                </a: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B05AB5A2-AF35-B14C-AE54-D2A0628C82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340983"/>
                <a:ext cx="10515600" cy="2781659"/>
              </a:xfrm>
              <a:prstGeom prst="rect">
                <a:avLst/>
              </a:prstGeom>
              <a:blipFill>
                <a:blip r:embed="rId4"/>
                <a:stretch>
                  <a:fillRect l="-870"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85268C17-F7CB-D243-B65D-166A4DD9987F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Picture 9" descr="Icon&#10;&#10;Description automatically generated">
            <a:extLst>
              <a:ext uri="{FF2B5EF4-FFF2-40B4-BE49-F238E27FC236}">
                <a16:creationId xmlns:a16="http://schemas.microsoft.com/office/drawing/2014/main" id="{00D9959C-BC81-7642-9A75-F49D35524737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616" y="201168"/>
            <a:ext cx="752254" cy="752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E3DC8F22-04D2-D04F-BA67-53D9B7F3B29F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71DEF1-087D-214F-86DF-C80090F990CE}"/>
              </a:ext>
            </a:extLst>
          </p:cNvPr>
          <p:cNvSpPr/>
          <p:nvPr/>
        </p:nvSpPr>
        <p:spPr>
          <a:xfrm>
            <a:off x="914400" y="1050932"/>
            <a:ext cx="10515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long was the piece of border before Delia cut it? Include units.</a:t>
            </a:r>
          </a:p>
        </p:txBody>
      </p:sp>
    </p:spTree>
    <p:extLst>
      <p:ext uri="{BB962C8B-B14F-4D97-AF65-F5344CB8AC3E}">
        <p14:creationId xmlns:p14="http://schemas.microsoft.com/office/powerpoint/2010/main" val="1552515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70632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770632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ABBAE5D4-A013-554B-AF18-FD3C50BA4B0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28438" y="-88032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12.2.6 Wrap-Up: Ticket Out 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50A85065-1747-6C4E-8BA4-9C1ED8A185A6}"/>
                  </a:ext>
                </a:extLst>
              </p:cNvPr>
              <p:cNvSpPr/>
              <p:nvPr/>
            </p:nvSpPr>
            <p:spPr>
              <a:xfrm>
                <a:off x="914400" y="1309478"/>
                <a:ext cx="10515600" cy="29844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Mr. Bing placed a new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-gallon water bottle in the office water dispenser when he arrived in the morning. At the end of the day, the bottle had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2</m:t>
                    </m:r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7</m:t>
                        </m:r>
                      </m:num>
                      <m:den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gallons remaining. The equation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5=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+2</m:t>
                    </m:r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7</m:t>
                        </m:r>
                      </m:num>
                      <m:den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can be used to find 𝑥, the gallons of water dispensed from the bottle. </a:t>
                </a: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Draw a diagram representing the situation.</a:t>
                </a: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50A85065-1747-6C4E-8BA4-9C1ED8A185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309478"/>
                <a:ext cx="10515600" cy="2984407"/>
              </a:xfrm>
              <a:prstGeom prst="rect">
                <a:avLst/>
              </a:prstGeom>
              <a:blipFill>
                <a:blip r:embed="rId5"/>
                <a:stretch>
                  <a:fillRect l="-870" t="-1840" b="-3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D20425D2-BFDA-974E-9037-009E6465CCF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0A85065-1747-6C4E-8BA4-9C1ED8A185A6}"/>
              </a:ext>
            </a:extLst>
          </p:cNvPr>
          <p:cNvSpPr/>
          <p:nvPr/>
        </p:nvSpPr>
        <p:spPr>
          <a:xfrm>
            <a:off x="914400" y="1067431"/>
            <a:ext cx="10515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How much water was dispensed from the bottle? Include units.</a:t>
            </a:r>
          </a:p>
        </p:txBody>
      </p: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D20425D2-BFDA-974E-9037-009E6465CCF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9739025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1549</TotalTime>
  <Words>1203</Words>
  <Application>Microsoft Office PowerPoint</Application>
  <PresentationFormat>Widescreen</PresentationFormat>
  <Paragraphs>231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9" baseType="lpstr">
      <vt:lpstr>Cambria</vt:lpstr>
      <vt:lpstr>Verdana</vt:lpstr>
      <vt:lpstr>Wingdings</vt:lpstr>
      <vt:lpstr>Century Gothic</vt:lpstr>
      <vt:lpstr>Calibri</vt:lpstr>
      <vt:lpstr>Arial Black</vt:lpstr>
      <vt:lpstr>Cambria Math</vt:lpstr>
      <vt:lpstr>Arial</vt:lpstr>
      <vt:lpstr>1_Office Theme</vt:lpstr>
      <vt:lpstr>6th Grade Math  Unit 12, Lesson 2  Finding an Unknown Fraction in an Equation  Volume 2, pg. 287  </vt:lpstr>
      <vt:lpstr>Benchmark</vt:lpstr>
      <vt:lpstr>PowerPoint Presentation</vt:lpstr>
      <vt:lpstr>PowerPoint Presentation</vt:lpstr>
      <vt:lpstr>Warm-Up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Collaboration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Natasha Dease</cp:lastModifiedBy>
  <cp:revision>31</cp:revision>
  <dcterms:created xsi:type="dcterms:W3CDTF">2015-03-17T18:51:18Z</dcterms:created>
  <dcterms:modified xsi:type="dcterms:W3CDTF">2022-06-06T14:54:18Z</dcterms:modified>
</cp:coreProperties>
</file>