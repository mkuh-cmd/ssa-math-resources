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Arial Black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ArialBlack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104476d14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476d1465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104476d1465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104476d1465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476d1465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04476d1465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04476d1465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>
  <p:cSld name="Text Slide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sign, seat&#10;&#10;Description automatically generated" id="87" name="Google Shape;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">
  <p:cSld name="Divider 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5.jpg" id="90" name="Google Shape;9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3">
  <p:cSld name="Divider 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6.jpg" id="95" name="Google Shape;9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">
  <p:cSld name="Divider 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2_2.jpg" id="100" name="Google Shape;10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4">
  <p:cSld name="Divider 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ation-PPT2_7.jpg" id="105" name="Google Shape;10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&#10;&#10;Description automatically generated with low confidence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4294967295" type="ctrTitle"/>
          </p:nvPr>
        </p:nvSpPr>
        <p:spPr>
          <a:xfrm>
            <a:off x="5694700" y="2054275"/>
            <a:ext cx="5031600" cy="3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1" baseline="30000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b="1" i="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8</a:t>
            </a:r>
            <a:b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One-Step Equations in One Variable Using Addition and Subtraction – Part 2</a:t>
            </a:r>
            <a:b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2800" u="none" cap="none" strike="noStrik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320</a:t>
            </a:r>
            <a:endParaRPr sz="2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t/>
            </a:r>
            <a:endParaRPr b="1" i="0" sz="2800" u="none" cap="none" strike="noStrik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417D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97002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6B7D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>
            <p:ph idx="4294967295" type="title"/>
          </p:nvPr>
        </p:nvSpPr>
        <p:spPr>
          <a:xfrm>
            <a:off x="1143000" y="1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en-US" sz="470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b="1" sz="370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29261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24" name="Google Shape;124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26" name="Google Shape;126;p20"/>
          <p:cNvSpPr txBox="1"/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MA.6.AR.2.2</a:t>
            </a:r>
            <a:endParaRPr sz="3500"/>
          </a:p>
          <a:p>
            <a:pPr indent="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one-step equations in </a:t>
            </a:r>
            <a:br>
              <a:rPr b="0" i="0" lang="en-US" sz="3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3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 variable within a mathematical or real-world context using addition and subtraction, where all terms and solutions are integers.</a:t>
            </a:r>
            <a:endParaRPr sz="3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" y="4188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34" name="Google Shape;1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35" name="Google Shape;135;p21"/>
          <p:cNvSpPr txBox="1"/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0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</a:t>
            </a:r>
            <a:br>
              <a:rPr b="1" i="0" lang="en-US" sz="30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0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and Reasoning Standards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1254475" y="1596400"/>
            <a:ext cx="10276200" cy="4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 Demonstrate understanding by representing problems in multiple ways.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45" name="Google Shape;145;p2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47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3198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47" name="Google Shape;147;p22"/>
          <p:cNvSpPr txBox="1"/>
          <p:nvPr/>
        </p:nvSpPr>
        <p:spPr>
          <a:xfrm>
            <a:off x="914400" y="1547093"/>
            <a:ext cx="10515600" cy="4498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Noto Sans Symbols"/>
              <a:buChar char="❑"/>
            </a:pPr>
            <a:r>
              <a:rPr b="0" i="0" lang="en-US" sz="35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solve addition and subtraction one-step equations.  </a:t>
            </a:r>
            <a:endParaRPr sz="3500"/>
          </a:p>
        </p:txBody>
      </p:sp>
      <p:sp>
        <p:nvSpPr>
          <p:cNvPr id="148" name="Google Shape;148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156" name="Google Shape;1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9131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57" name="Google Shape;157;p23"/>
          <p:cNvSpPr txBox="1"/>
          <p:nvPr>
            <p:ph idx="4294967295" type="title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550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b="1" sz="510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66" name="Google Shape;166;p24"/>
          <p:cNvSpPr txBox="1"/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6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12.8.1 Warm-Up: Visualizing Solutions</a:t>
            </a:r>
            <a:endParaRPr sz="3600"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34951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8" name="Google Shape;168;p24"/>
          <p:cNvSpPr/>
          <p:nvPr/>
        </p:nvSpPr>
        <p:spPr>
          <a:xfrm>
            <a:off x="914400" y="1523185"/>
            <a:ext cx="10515600" cy="267765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964" r="0" t="-18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77" name="Google Shape;177;p25"/>
          <p:cNvSpPr/>
          <p:nvPr/>
        </p:nvSpPr>
        <p:spPr>
          <a:xfrm>
            <a:off x="914400" y="449497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Find the value of 𝑛.</a:t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86" name="Google Shape;186;p26"/>
          <p:cNvSpPr txBox="1"/>
          <p:nvPr>
            <p:ph idx="4294967295" type="title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40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b="1" sz="400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28534" cy="112853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196" name="Google Shape;196;p27"/>
          <p:cNvSpPr txBox="1"/>
          <p:nvPr/>
        </p:nvSpPr>
        <p:spPr>
          <a:xfrm>
            <a:off x="1143000" y="60325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6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12.8.2 Collaboration: </a:t>
            </a:r>
            <a:br>
              <a:rPr b="1" i="0" lang="en-US" sz="36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6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Algebraic Equations from a Diagram</a:t>
            </a:r>
            <a:endParaRPr sz="3600"/>
          </a:p>
        </p:txBody>
      </p:sp>
      <p:sp>
        <p:nvSpPr>
          <p:cNvPr id="197" name="Google Shape;197;p27"/>
          <p:cNvSpPr/>
          <p:nvPr/>
        </p:nvSpPr>
        <p:spPr>
          <a:xfrm>
            <a:off x="914400" y="1375714"/>
            <a:ext cx="10515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68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Ellen and Frey were given the balance scale shown below, and told to write and solve an algebraic equation using inverse operations.   </a:t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50144" cy="75014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Diagram&#10;&#10;Description automatically generated" id="200" name="Google Shape;200;p27"/>
          <p:cNvPicPr preferRelativeResize="0"/>
          <p:nvPr/>
        </p:nvPicPr>
        <p:blipFill rotWithShape="1">
          <a:blip r:embed="rId5">
            <a:alphaModFix/>
          </a:blip>
          <a:srcRect b="0" l="0" r="0" t="14287"/>
          <a:stretch/>
        </p:blipFill>
        <p:spPr>
          <a:xfrm>
            <a:off x="2999740" y="2745208"/>
            <a:ext cx="619252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08" name="Google Shape;208;p28"/>
          <p:cNvSpPr/>
          <p:nvPr/>
        </p:nvSpPr>
        <p:spPr>
          <a:xfrm>
            <a:off x="914400" y="482566"/>
            <a:ext cx="105156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Ellen said, “There’s no way to write an algebraic equation. If we can write an algebraic equation, we do not need inverse operations to solve it.”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Frey said, “The only way to solve an algebraic equation is to use inverse operations to show the math is being reversed.”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Whose statement do you agree with and why? Explain your answer to your partner. </a:t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17" name="Google Shape;217;p29"/>
          <p:cNvSpPr/>
          <p:nvPr/>
        </p:nvSpPr>
        <p:spPr>
          <a:xfrm>
            <a:off x="914400" y="385585"/>
            <a:ext cx="1051560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Write the algebraic equation represented by the balance scale.</a:t>
            </a:r>
            <a:endParaRPr sz="24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Solve the equation and show the steps you took.  </a:t>
            </a:r>
            <a:endParaRPr sz="24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82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How many gold coins are in the bag? Compare your answer with your partner.</a:t>
            </a:r>
            <a:endParaRPr sz="2400"/>
          </a:p>
        </p:txBody>
      </p:sp>
      <p:sp>
        <p:nvSpPr>
          <p:cNvPr id="218" name="Google Shape;218;p2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321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26" name="Google Shape;226;p30"/>
          <p:cNvSpPr/>
          <p:nvPr/>
        </p:nvSpPr>
        <p:spPr>
          <a:xfrm>
            <a:off x="914400" y="385585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bar model is shown. </a:t>
            </a:r>
            <a:endParaRPr/>
          </a:p>
        </p:txBody>
      </p:sp>
      <p:sp>
        <p:nvSpPr>
          <p:cNvPr id="227" name="Google Shape;227;p3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1495350" y="2919650"/>
            <a:ext cx="10035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Write an addition equation and a subtraction equation that can be represented by the bar model.</a:t>
            </a:r>
            <a:endParaRPr/>
          </a:p>
        </p:txBody>
      </p:sp>
      <p:pic>
        <p:nvPicPr>
          <p:cNvPr id="229" name="Google Shape;22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9350" y="1075850"/>
            <a:ext cx="4745696" cy="17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9713" y="4062663"/>
            <a:ext cx="6864976" cy="10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38" name="Google Shape;238;p31"/>
          <p:cNvSpPr/>
          <p:nvPr/>
        </p:nvSpPr>
        <p:spPr>
          <a:xfrm>
            <a:off x="914400" y="385585"/>
            <a:ext cx="1051560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Describe the relationship between the two equations.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Find the value of 𝑦 using either equation.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Check your solution with your partner. Make any revisions if necessary.</a:t>
            </a:r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47" name="Google Shape;247;p32"/>
          <p:cNvSpPr txBox="1"/>
          <p:nvPr>
            <p:ph idx="4294967295" type="title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b="1" lang="en-US" sz="550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b="1" sz="510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249" name="Google Shape;24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69231" cy="116923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57" name="Google Shape;257;p33"/>
          <p:cNvSpPr txBox="1"/>
          <p:nvPr/>
        </p:nvSpPr>
        <p:spPr>
          <a:xfrm>
            <a:off x="1143000" y="-27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100" u="none" cap="none" strike="noStrik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12.8.3 Guided Practice: Solving One-Step Algebraic Equations Using Inverse Operations</a:t>
            </a:r>
            <a:endParaRPr sz="3100"/>
          </a:p>
        </p:txBody>
      </p:sp>
      <p:sp>
        <p:nvSpPr>
          <p:cNvPr id="258" name="Google Shape;258;p3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259" name="Google Shape;25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61268"/>
            <a:ext cx="747301" cy="7473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0" name="Google Shape;26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800" y="1465575"/>
            <a:ext cx="11089799" cy="3741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68" name="Google Shape;268;p34"/>
          <p:cNvSpPr/>
          <p:nvPr/>
        </p:nvSpPr>
        <p:spPr>
          <a:xfrm>
            <a:off x="914400" y="469474"/>
            <a:ext cx="105156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Solve the equation using the inverse operation to find the value of 𝑚. Show your work.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Verify that the solution is correct by substituting the value found for 𝑚 into the original equation. </a:t>
            </a:r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322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77" name="Google Shape;277;p3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425" y="279925"/>
            <a:ext cx="11245174" cy="425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86" name="Google Shape;286;p36"/>
          <p:cNvSpPr/>
          <p:nvPr/>
        </p:nvSpPr>
        <p:spPr>
          <a:xfrm>
            <a:off x="914400" y="389993"/>
            <a:ext cx="105156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is the value of 𝑑?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lphaL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Check your solution with your partner. </a:t>
            </a:r>
            <a:endParaRPr/>
          </a:p>
        </p:txBody>
      </p:sp>
      <p:sp>
        <p:nvSpPr>
          <p:cNvPr id="287" name="Google Shape;287;p3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295" name="Google Shape;295;p37"/>
          <p:cNvSpPr txBox="1"/>
          <p:nvPr>
            <p:ph idx="4294967295" type="title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40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b="1" sz="400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297" name="Google Shape;29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867969"/>
            <a:ext cx="1131023" cy="113102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05" name="Google Shape;305;p38"/>
          <p:cNvSpPr txBox="1"/>
          <p:nvPr/>
        </p:nvSpPr>
        <p:spPr>
          <a:xfrm>
            <a:off x="1143000" y="124493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6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12.8.4 Exploration: </a:t>
            </a:r>
            <a:br>
              <a:rPr b="1" i="0" lang="en-US" sz="36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36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Solving Equations Using Opposites</a:t>
            </a:r>
            <a:endParaRPr sz="3600"/>
          </a:p>
        </p:txBody>
      </p:sp>
      <p:sp>
        <p:nvSpPr>
          <p:cNvPr id="306" name="Google Shape;306;p38"/>
          <p:cNvSpPr/>
          <p:nvPr/>
        </p:nvSpPr>
        <p:spPr>
          <a:xfrm>
            <a:off x="914400" y="1371600"/>
            <a:ext cx="10515600" cy="19389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43" r="0" t="-26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308" name="Google Shape;30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" y="256818"/>
            <a:ext cx="750145" cy="75014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A picture containing chart&#10;&#10;Description automatically generated" id="309" name="Google Shape;309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1748" y="3443041"/>
            <a:ext cx="6288505" cy="2979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17" name="Google Shape;317;p39"/>
          <p:cNvSpPr/>
          <p:nvPr/>
        </p:nvSpPr>
        <p:spPr>
          <a:xfrm>
            <a:off x="914400" y="482566"/>
            <a:ext cx="1051560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Check your diagram with your partner.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3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this equation, there are no tiles that can be removed from both sides of the equation to find the value of 𝑦.</a:t>
            </a:r>
            <a:endParaRPr/>
          </a:p>
          <a:p>
            <a:pPr indent="0" lvl="0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Discuss with your partner how zero pairs could be used to find the value of 𝑦.</a:t>
            </a:r>
            <a:endParaRPr/>
          </a:p>
        </p:txBody>
      </p:sp>
      <p:sp>
        <p:nvSpPr>
          <p:cNvPr id="318" name="Google Shape;318;p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323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26" name="Google Shape;326;p40"/>
          <p:cNvSpPr/>
          <p:nvPr/>
        </p:nvSpPr>
        <p:spPr>
          <a:xfrm>
            <a:off x="914400" y="385585"/>
            <a:ext cx="105156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4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goal when solving an equation is to isolate the variable. Which tiles can be added to both sides of the equation so that all tiles other than 𝑦 on the left side of the equation can be eliminated?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4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Explain why, when tiles are added to one side of the equation, they also must be added to the other side.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7" name="Google Shape;327;p4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35" name="Google Shape;335;p41"/>
          <p:cNvSpPr/>
          <p:nvPr/>
        </p:nvSpPr>
        <p:spPr>
          <a:xfrm>
            <a:off x="914400" y="385585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6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Draw tiles on the equation mat to represent the solution to the equation. </a:t>
            </a:r>
            <a:endParaRPr/>
          </a:p>
        </p:txBody>
      </p:sp>
      <p:sp>
        <p:nvSpPr>
          <p:cNvPr id="336" name="Google Shape;336;p4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, scatter chart&#10;&#10;Description automatically generated" id="337" name="Google Shape;33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2783" y="1447800"/>
            <a:ext cx="5766435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338" name="Google Shape;33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6737" y="2724150"/>
            <a:ext cx="40640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6928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46" name="Google Shape;346;p42"/>
          <p:cNvSpPr/>
          <p:nvPr/>
        </p:nvSpPr>
        <p:spPr>
          <a:xfrm>
            <a:off x="914400" y="385585"/>
            <a:ext cx="10515600" cy="45243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4" r="0" t="-13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47" name="Google Shape;347;p4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324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55" name="Google Shape;355;p43"/>
          <p:cNvSpPr txBox="1"/>
          <p:nvPr>
            <p:ph idx="4294967295" type="title"/>
          </p:nvPr>
        </p:nvSpPr>
        <p:spPr>
          <a:xfrm>
            <a:off x="427024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40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b="1" sz="400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6" name="Google Shape;356;p4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864732"/>
            <a:ext cx="1128534" cy="112853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65" name="Google Shape;365;p44"/>
          <p:cNvSpPr txBox="1"/>
          <p:nvPr/>
        </p:nvSpPr>
        <p:spPr>
          <a:xfrm>
            <a:off x="1143000" y="60325"/>
            <a:ext cx="10515600" cy="1014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600" u="none" cap="none" strike="noStrik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12.8.5 Collaboration: Solving Equations</a:t>
            </a:r>
            <a:endParaRPr sz="3600"/>
          </a:p>
        </p:txBody>
      </p:sp>
      <p:sp>
        <p:nvSpPr>
          <p:cNvPr id="366" name="Google Shape;366;p44"/>
          <p:cNvSpPr/>
          <p:nvPr/>
        </p:nvSpPr>
        <p:spPr>
          <a:xfrm>
            <a:off x="914400" y="1120744"/>
            <a:ext cx="105156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With your partner, determine who will be Partner A and who will be Partner B.</a:t>
            </a:r>
            <a:endParaRPr/>
          </a:p>
          <a:p>
            <a:pPr indent="0" lvl="0" marL="11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-4572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Solve the equations from your designated column.</a:t>
            </a:r>
            <a:endParaRPr/>
          </a:p>
        </p:txBody>
      </p:sp>
      <p:sp>
        <p:nvSpPr>
          <p:cNvPr id="367" name="Google Shape;367;p4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01168"/>
            <a:ext cx="750144" cy="75014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69" name="Google Shape;36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0000" y="2800300"/>
            <a:ext cx="7771046" cy="365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77" name="Google Shape;377;p45"/>
          <p:cNvSpPr/>
          <p:nvPr/>
        </p:nvSpPr>
        <p:spPr>
          <a:xfrm>
            <a:off x="914400" y="482567"/>
            <a:ext cx="10515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equations in each row have the same solutions. Check your work with your partner, making revisions to your work if necessary.</a:t>
            </a:r>
            <a:endParaRPr/>
          </a:p>
        </p:txBody>
      </p:sp>
      <p:sp>
        <p:nvSpPr>
          <p:cNvPr id="378" name="Google Shape;378;p4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86" name="Google Shape;386;p46"/>
          <p:cNvSpPr txBox="1"/>
          <p:nvPr>
            <p:ph idx="4294967295" type="title"/>
          </p:nvPr>
        </p:nvSpPr>
        <p:spPr>
          <a:xfrm>
            <a:off x="4087368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440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b="1" sz="400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7" name="Google Shape;387;p46"/>
          <p:cNvSpPr txBox="1"/>
          <p:nvPr/>
        </p:nvSpPr>
        <p:spPr>
          <a:xfrm>
            <a:off x="8897112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388" name="Google Shape;38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770632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396" name="Google Shape;396;p47"/>
          <p:cNvSpPr txBox="1"/>
          <p:nvPr/>
        </p:nvSpPr>
        <p:spPr>
          <a:xfrm>
            <a:off x="114300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4400" u="none" cap="none" strike="noStrike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12.8.6 Your Turn!</a:t>
            </a:r>
            <a:endParaRPr sz="4400"/>
          </a:p>
        </p:txBody>
      </p:sp>
      <p:sp>
        <p:nvSpPr>
          <p:cNvPr id="397" name="Google Shape;397;p4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&#10;&#10;Description automatically generated" id="398" name="Google Shape;39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347043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9" name="Google Shape;39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100" y="1386025"/>
            <a:ext cx="10935474" cy="1414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07" name="Google Shape;407;p4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325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8"/>
          <p:cNvSpPr/>
          <p:nvPr/>
        </p:nvSpPr>
        <p:spPr>
          <a:xfrm>
            <a:off x="914400" y="441657"/>
            <a:ext cx="10515600" cy="4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8945" l="-964" r="0" t="-105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16" name="Google Shape;416;p49"/>
          <p:cNvSpPr txBox="1"/>
          <p:nvPr>
            <p:ph idx="4294967295" type="title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b="1" lang="en-US" sz="550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b="1" sz="510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17" name="Google Shape;41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096" y="292074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18" name="Google Shape;418;p4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326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B2D77"/>
          </a:solidFill>
          <a:ln cap="flat" cmpd="sng" w="9525">
            <a:solidFill>
              <a:srgbClr val="8B2D7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sp>
        <p:nvSpPr>
          <p:cNvPr id="426" name="Google Shape;426;p50"/>
          <p:cNvSpPr txBox="1"/>
          <p:nvPr/>
        </p:nvSpPr>
        <p:spPr>
          <a:xfrm>
            <a:off x="1143000" y="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b="1" i="0" lang="en-US" sz="3200" u="none" cap="none" strike="noStrik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12.8.7 Wrap-Up: Cool Down</a:t>
            </a:r>
            <a:endParaRPr/>
          </a:p>
        </p:txBody>
      </p:sp>
      <p:pic>
        <p:nvPicPr>
          <p:cNvPr id="427" name="Google Shape;42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" y="28919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28" name="Google Shape;428;p50"/>
          <p:cNvSpPr/>
          <p:nvPr/>
        </p:nvSpPr>
        <p:spPr>
          <a:xfrm>
            <a:off x="914400" y="1309477"/>
            <a:ext cx="10515600" cy="15696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963" r="-963" t="-32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29" name="Google Shape;429;p5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2, pg. 326</a:t>
            </a:r>
            <a:endParaRPr b="0"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