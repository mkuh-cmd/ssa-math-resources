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85" r:id="rId7"/>
    <p:sldId id="286" r:id="rId8"/>
    <p:sldId id="261" r:id="rId9"/>
    <p:sldId id="287" r:id="rId10"/>
    <p:sldId id="302" r:id="rId11"/>
    <p:sldId id="303" r:id="rId12"/>
    <p:sldId id="340" r:id="rId13"/>
    <p:sldId id="356" r:id="rId14"/>
    <p:sldId id="357" r:id="rId15"/>
    <p:sldId id="368" r:id="rId16"/>
    <p:sldId id="345" r:id="rId17"/>
    <p:sldId id="346" r:id="rId18"/>
    <p:sldId id="347" r:id="rId19"/>
    <p:sldId id="358" r:id="rId20"/>
    <p:sldId id="369" r:id="rId21"/>
    <p:sldId id="370" r:id="rId22"/>
    <p:sldId id="371" r:id="rId23"/>
    <p:sldId id="363" r:id="rId24"/>
    <p:sldId id="364" r:id="rId25"/>
    <p:sldId id="365" r:id="rId26"/>
    <p:sldId id="366" r:id="rId27"/>
    <p:sldId id="367" r:id="rId28"/>
    <p:sldId id="372" r:id="rId29"/>
    <p:sldId id="311" r:id="rId30"/>
    <p:sldId id="312" r:id="rId31"/>
    <p:sldId id="333" r:id="rId32"/>
    <p:sldId id="306" r:id="rId33"/>
    <p:sldId id="307" r:id="rId34"/>
  </p:sldIdLst>
  <p:sldSz cx="12192000" cy="6858000"/>
  <p:notesSz cx="6858000" cy="9144000"/>
  <p:embeddedFontLs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Century Gothic" pitchFamily="34" charset="0"/>
      <p:regular r:id="rId40"/>
      <p:bold r:id="rId41"/>
      <p:italic r:id="rId42"/>
      <p:boldItalic r:id="rId43"/>
    </p:embeddedFont>
    <p:embeddedFont>
      <p:font typeface="Cambria Math" pitchFamily="18" charset="0"/>
      <p:regular r:id="rId44"/>
    </p:embeddedFont>
    <p:embeddedFont>
      <p:font typeface="Cambria" pitchFamily="18" charset="0"/>
      <p:regular r:id="rId45"/>
      <p:bold r:id="rId46"/>
      <p:italic r:id="rId47"/>
      <p:boldItalic r:id="rId48"/>
    </p:embeddedFont>
    <p:embeddedFont>
      <p:font typeface="Arial Black" pitchFamily="34" charset="0"/>
      <p:bold r:id="rId49"/>
    </p:embeddedFont>
    <p:embeddedFont>
      <p:font typeface="Verdana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CB"/>
    <a:srgbClr val="8B2D77"/>
    <a:srgbClr val="14BAAA"/>
    <a:srgbClr val="26B7D4"/>
    <a:srgbClr val="E24E5F"/>
    <a:srgbClr val="52BDA6"/>
    <a:srgbClr val="276C46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196" autoAdjust="0"/>
    <p:restoredTop sz="94743" autoAdjust="0"/>
  </p:normalViewPr>
  <p:slideViewPr>
    <p:cSldViewPr snapToGrid="0">
      <p:cViewPr varScale="1">
        <p:scale>
          <a:sx n="112" d="100"/>
          <a:sy n="112" d="100"/>
        </p:scale>
        <p:origin x="-180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16.fntdata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05636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2684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2621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6265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31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913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423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179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194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6767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367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8858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217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3837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8986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6822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4713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2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9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One-Step Addition and Subtraction Equations Within Real-World Contexts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4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=""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70015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926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MA.6.AR.2.2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one-step equations in 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variable within a mathematical or 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 using addition and subtraction, where all terms and solutions are integers.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</a:t>
            </a: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96909" y="1499405"/>
            <a:ext cx="10233675" cy="4832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926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90563" indent="-690563">
              <a:buFont typeface="Wingdings" pitchFamily="2" charset="2"/>
              <a:buChar char="q"/>
            </a:pP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write and solve one-step equations in one variable within a real-world context using addition and subtraction.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AE0319DD-E1E2-064E-A3C0-1ADADEA7DC7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91717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06503EB0-E904-7143-BA20-369F935837E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914400" y="1613526"/>
                <a:ext cx="105156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Before last night, Faith had 𝑝 Instagram posts on her account. She made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more posts last night. She now has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313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Instagram posts on her account. Write an equation that can be used to find 𝑝, the number of posts Faith had on her account before last night.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13526"/>
                <a:ext cx="10515600" cy="2308324"/>
              </a:xfrm>
              <a:prstGeom prst="rect">
                <a:avLst/>
              </a:prstGeom>
              <a:blipFill>
                <a:blip r:embed="rId5"/>
                <a:stretch>
                  <a:fillRect l="-965" t="-3297" r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="" xmlns:a16="http://schemas.microsoft.com/office/drawing/2014/main" id="{570FC961-D801-0C4E-8D4A-AEC23A74C9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="" xmlns:a16="http://schemas.microsoft.com/office/drawing/2014/main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68783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12.9.2 Collaboration: Solving Equations in Real-World Contexts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914400" y="1375714"/>
                <a:ext cx="10515600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8313" indent="-45720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Kiran’s cat weighs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less than Clare’s puppy.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Clare’s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puppy weighs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pounds. </a:t>
                </a:r>
              </a:p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indent="-457200">
                  <a:buSzPct val="100000"/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 all of the equations that could be used to find the weight of Kiran’s cat.</a:t>
                </a:r>
              </a:p>
              <a:p>
                <a:pPr marL="11113">
                  <a:buSzPct val="100000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+5=14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−5=14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=14+5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=14−5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−14=5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306513" indent="-4095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+14=5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75714"/>
                <a:ext cx="10515600" cy="5262979"/>
              </a:xfrm>
              <a:prstGeom prst="rect">
                <a:avLst/>
              </a:prstGeom>
              <a:blipFill rotWithShape="1">
                <a:blip r:embed="rId4"/>
                <a:stretch>
                  <a:fillRect l="-754" t="-927" b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="" xmlns:a16="http://schemas.microsoft.com/office/drawing/2014/main" id="{04C19B76-A060-3243-AE2C-88D93DB1A19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482566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does the variable, 𝑥, represent in this situation? 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SzPts val="1800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SzPct val="100000"/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weight of Kiran’s cat?</a:t>
            </a:r>
          </a:p>
          <a:p>
            <a:pPr lvl="0">
              <a:buSzPts val="180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D9AF1552-9966-3643-BA84-BB4BC68EDBB5}"/>
                  </a:ext>
                </a:extLst>
              </p:cNvPr>
              <p:cNvSpPr/>
              <p:nvPr/>
            </p:nvSpPr>
            <p:spPr>
              <a:xfrm>
                <a:off x="914400" y="385585"/>
                <a:ext cx="10515600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ct val="100000"/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Kiegan collected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more items than his cousin Joel did for the annual toy drive. Joel collected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items.</a:t>
                </a:r>
              </a:p>
              <a:p>
                <a:pPr lvl="0">
                  <a:buSzPct val="100000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SzPct val="100000"/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Select all of the equations that could be used to find the number of items Kiegan collected.</a:t>
                </a:r>
              </a:p>
              <a:p>
                <a:pPr lvl="0">
                  <a:buSzPct val="100000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=7−12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−7=12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+7=12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=12+7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+12=7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06513" indent="-409575" defTabSz="1260475">
                  <a:buSzPct val="100000"/>
                  <a:buFont typeface="Wingdings" pitchFamily="2" charset="2"/>
                  <a:buChar char="q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−12=7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5585"/>
                <a:ext cx="10515600" cy="4524315"/>
              </a:xfrm>
              <a:prstGeom prst="rect">
                <a:avLst/>
              </a:prstGeom>
              <a:blipFill rotWithShape="1">
                <a:blip r:embed="rId4"/>
                <a:stretch>
                  <a:fillRect l="-870" t="-1213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66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4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does the variable, 𝑡, represent in this situation? </a:t>
            </a: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items did Kiegan collect for the toy drive?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735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94821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what you notice about the equations that represent the two situations. Summarize your discussion</a:t>
            </a: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265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2.png" descr="Icon&#10;&#10;Description automatically generated">
            <a:extLst>
              <a:ext uri="{FF2B5EF4-FFF2-40B4-BE49-F238E27FC236}">
                <a16:creationId xmlns="" xmlns:a16="http://schemas.microsoft.com/office/drawing/2014/main" id="{24A46926-3973-D74A-A0DB-AABBDAE1D57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0632"/>
            <a:ext cx="1151972" cy="115197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049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12.9.3 Guided Practice: Writing and Solving Real-World Equations to Find a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B2BE9AFC-D858-8947-AE27-3738478587E3}"/>
                  </a:ext>
                </a:extLst>
              </p:cNvPr>
              <p:cNvSpPr/>
              <p:nvPr/>
            </p:nvSpPr>
            <p:spPr>
              <a:xfrm>
                <a:off x="914400" y="1491031"/>
                <a:ext cx="105156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Jamal, a student at McLaughlin Middle School in Polk County, is preparing for a trip to Disney World with his mom and dad. An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adult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ticket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$139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child’s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ticket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less than an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adult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ticket. Jamal’s parents are going to spend a total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$412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before tax, on tickets.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algebraic equation to represent the relationship between the cost of a child’s ticket and the cost of an adult ticket in this situation.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91031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870" t="-1429" r="-1043" b="-32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12.png" descr="Icon&#10;&#10;Description automatically generated">
            <a:extLst>
              <a:ext uri="{FF2B5EF4-FFF2-40B4-BE49-F238E27FC236}">
                <a16:creationId xmlns="" xmlns:a16="http://schemas.microsoft.com/office/drawing/2014/main" id="{AA18E756-62FB-C64D-B9DA-A13C28A7476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49847"/>
            <a:ext cx="770160" cy="7701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72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484996"/>
            <a:ext cx="10515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does the variable in your equation represent?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the equation.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was the cost of Jamal’s ticket?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123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540414"/>
                <a:ext cx="105156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After doing some additional research, Jamal’s mom also decided to purchase the meal bundle for their trip. The meal plan price is different for adults than children. It costs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his mom and dad. The total for all three meal plans was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An equation can be written to find the unknown cost of Jamal’s meal plan.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an algebraic equation that can be used to find the cost of Jamal’s meal plan.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40414"/>
                <a:ext cx="10515600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870" t="-1429" r="-1217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89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540414"/>
            <a:ext cx="105156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does the variable in your equation represent? 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the equation.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2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much was Jamal’s meal plan?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3965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914400" y="540414"/>
                <a:ext cx="1051560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49+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107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complete the following.</a:t>
                </a:r>
              </a:p>
              <a:p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 word problem that can be represented by the equation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49+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107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does the variable represent based on the word problem you created?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40414"/>
                <a:ext cx="10515600" cy="4154984"/>
              </a:xfrm>
              <a:prstGeom prst="rect">
                <a:avLst/>
              </a:prstGeom>
              <a:blipFill rotWithShape="1">
                <a:blip r:embed="rId4"/>
                <a:stretch>
                  <a:fillRect l="-754" t="-1175" r="-232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468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2E7CAFC-319F-CE4F-8B26-ED2749A56CDA}"/>
              </a:ext>
            </a:extLst>
          </p:cNvPr>
          <p:cNvSpPr/>
          <p:nvPr/>
        </p:nvSpPr>
        <p:spPr>
          <a:xfrm>
            <a:off x="914400" y="540415"/>
            <a:ext cx="10515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value of the variable?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3"/>
            </a:pPr>
            <a:r>
              <a:rPr lang="en-US" sz="20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</a:t>
            </a:r>
            <a:r>
              <a:rPr lang="en-US" sz="20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your word problem with your partner. Use your partner’s word problem to fill in the table.  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B11D1441-0502-AD41-A84B-4256D466E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28566"/>
              </p:ext>
            </p:extLst>
          </p:nvPr>
        </p:nvGraphicFramePr>
        <p:xfrm>
          <a:off x="1517968" y="2341808"/>
          <a:ext cx="7414260" cy="3657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94560">
                  <a:extLst>
                    <a:ext uri="{9D8B030D-6E8A-4147-A177-3AD203B41FA5}">
                      <a16:colId xmlns="" xmlns:a16="http://schemas.microsoft.com/office/drawing/2014/main" val="3915460602"/>
                    </a:ext>
                  </a:extLst>
                </a:gridCol>
                <a:gridCol w="1920240">
                  <a:extLst>
                    <a:ext uri="{9D8B030D-6E8A-4147-A177-3AD203B41FA5}">
                      <a16:colId xmlns="" xmlns:a16="http://schemas.microsoft.com/office/drawing/2014/main" val="3932560712"/>
                    </a:ext>
                  </a:extLst>
                </a:gridCol>
                <a:gridCol w="1836420">
                  <a:extLst>
                    <a:ext uri="{9D8B030D-6E8A-4147-A177-3AD203B41FA5}">
                      <a16:colId xmlns="" xmlns:a16="http://schemas.microsoft.com/office/drawing/2014/main" val="3742255010"/>
                    </a:ext>
                  </a:extLst>
                </a:gridCol>
                <a:gridCol w="1463040">
                  <a:extLst>
                    <a:ext uri="{9D8B030D-6E8A-4147-A177-3AD203B41FA5}">
                      <a16:colId xmlns="" xmlns:a16="http://schemas.microsoft.com/office/drawing/2014/main" val="23801567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Word Problem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Does the Variable Represent?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Solve the Equation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Initials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37830684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63629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29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04201096-008D-9E40-8962-B6CD490C930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5.png">
            <a:extLst>
              <a:ext uri="{FF2B5EF4-FFF2-40B4-BE49-F238E27FC236}">
                <a16:creationId xmlns="" xmlns:a16="http://schemas.microsoft.com/office/drawing/2014/main" id="{60100B06-3A93-D54C-A964-96E4C2C2EE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770632"/>
            <a:ext cx="1128534" cy="112853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34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12.9.4 Collaboration: Writing and Solving Equations for Real-World Contexts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A66A031F-2EC8-DF4C-B3F5-E7AC5B8F3239}"/>
                  </a:ext>
                </a:extLst>
              </p:cNvPr>
              <p:cNvSpPr/>
              <p:nvPr/>
            </p:nvSpPr>
            <p:spPr>
              <a:xfrm>
                <a:off x="914400" y="1375713"/>
                <a:ext cx="1051560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 </a:t>
                </a:r>
              </a:p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8313" indent="-45720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PJ and Jasmine were given the following word problem.</a:t>
                </a:r>
              </a:p>
              <a:p>
                <a:pPr marL="11113">
                  <a:buSzPts val="1800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90538">
                  <a:buSzPts val="1800"/>
                </a:pP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Lexi’s school is having a food drive. At the end of today’s lunch period, Lexi collected a total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34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non-perishable items for the food drive. Lexi celebrated, as it was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more than yesterday’s lunch collection! How many total non-perishable items were collected yesterday?  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75713"/>
                <a:ext cx="10515600" cy="4154984"/>
              </a:xfrm>
              <a:prstGeom prst="rect">
                <a:avLst/>
              </a:prstGeom>
              <a:blipFill>
                <a:blip r:embed="rId4"/>
                <a:stretch>
                  <a:fillRect l="-844" t="-1220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38A626CB-082C-DB4E-B059-328DCC8AD1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5.png">
            <a:extLst>
              <a:ext uri="{FF2B5EF4-FFF2-40B4-BE49-F238E27FC236}">
                <a16:creationId xmlns="" xmlns:a16="http://schemas.microsoft.com/office/drawing/2014/main" id="{04C19B76-A060-3243-AE2C-88D93DB1A19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0144" cy="750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783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482567"/>
            <a:ext cx="10515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Jasmine told PJ they needed to solve the problem using an addition equation. PJ disagreed and said they need to use a subtraction equation. </a:t>
            </a:r>
          </a:p>
          <a:p>
            <a:pPr lvl="0">
              <a:buSzPts val="1800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SzPct val="100000"/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determine who will follow Jasmine’s suggestion and who will follow PJ’s. Then, write the equation based on whose suggestion you are assigned and solve.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2712A94E-2D81-3F4B-83AE-42DD68BC1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977033"/>
              </p:ext>
            </p:extLst>
          </p:nvPr>
        </p:nvGraphicFramePr>
        <p:xfrm>
          <a:off x="1453833" y="2784745"/>
          <a:ext cx="6886575" cy="34442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385185">
                  <a:extLst>
                    <a:ext uri="{9D8B030D-6E8A-4147-A177-3AD203B41FA5}">
                      <a16:colId xmlns="" xmlns:a16="http://schemas.microsoft.com/office/drawing/2014/main" val="4199824550"/>
                    </a:ext>
                  </a:extLst>
                </a:gridCol>
                <a:gridCol w="3501390">
                  <a:extLst>
                    <a:ext uri="{9D8B030D-6E8A-4147-A177-3AD203B41FA5}">
                      <a16:colId xmlns="" xmlns:a16="http://schemas.microsoft.com/office/drawing/2014/main" val="153086096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Jasmine’s Suggestion “Addition”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PJ’s Suggestion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“Subtraction”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07850791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9694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674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4"/>
            <a:ext cx="10515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your equations and discuss your solutions with your partner. </a:t>
            </a: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who was correct in their initial suggestion – Jasmine, PJ, both of them, or neither of them. </a:t>
            </a: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non-perishable food items were collected during Lexi’s lunch period yesterday?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863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5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image of two swimmers in a pool is shown</a:t>
            </a: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400" dirty="0" smtClean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indent="-457200">
              <a:buSzPct val="100000"/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create an addition or subtraction word problem based on the image</a:t>
            </a:r>
            <a:r>
              <a:rPr lang="en-US" sz="2400" dirty="0" smtClean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664545-6BEA-C846-A0BE-E30AD865494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0603" y="732156"/>
            <a:ext cx="5090795" cy="269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52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9AF1552-9966-3643-BA84-BB4BC68EDBB5}"/>
              </a:ext>
            </a:extLst>
          </p:cNvPr>
          <p:cNvSpPr/>
          <p:nvPr/>
        </p:nvSpPr>
        <p:spPr>
          <a:xfrm>
            <a:off x="914400" y="385585"/>
            <a:ext cx="1051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an equation to represent your scenario.</a:t>
            </a:r>
          </a:p>
          <a:p>
            <a:pPr marL="514350" indent="-51435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does the variable in your equation represent?</a:t>
            </a: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value of the variable?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FCAEDDBD-15FD-B945-9FDE-50793A71AA1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88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="" xmlns:a16="http://schemas.microsoft.com/office/drawing/2014/main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14307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9144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12.9.5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914400" y="1340982"/>
                <a:ext cx="10515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and solve an algebraic equation for each of the following.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Priya and Gerri are working on an extra-credit poster for math class. Priya has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double-tip markers, which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fewer than Gerri has. How many markers does Gerri have?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40982"/>
                <a:ext cx="10515600" cy="2677656"/>
              </a:xfrm>
              <a:prstGeom prst="rect">
                <a:avLst/>
              </a:prstGeom>
              <a:blipFill>
                <a:blip r:embed="rId4"/>
                <a:stretch>
                  <a:fillRect l="-965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="" xmlns:a16="http://schemas.microsoft.com/office/drawing/2014/main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="" xmlns:a16="http://schemas.microsoft.com/office/drawing/2014/main" id="{E3DC8F22-04D2-D04F-BA67-53D9B7F3B29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8A71DEF1-087D-214F-86DF-C80090F990CE}"/>
                  </a:ext>
                </a:extLst>
              </p:cNvPr>
              <p:cNvSpPr/>
              <p:nvPr/>
            </p:nvSpPr>
            <p:spPr>
              <a:xfrm>
                <a:off x="914400" y="421011"/>
                <a:ext cx="105156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most popular elective at Arts Academy is the improv class. Out of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students that have applied, only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accepted. How many students are not accepted?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71DEF1-087D-214F-86DF-C80090F990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1011"/>
                <a:ext cx="10515600" cy="1569660"/>
              </a:xfrm>
              <a:prstGeom prst="rect">
                <a:avLst/>
              </a:prstGeom>
              <a:blipFill rotWithShape="1">
                <a:blip r:embed="rId4"/>
                <a:stretch>
                  <a:fillRect l="-870" t="-310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247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w="9525" cap="flat" cmpd="sng">
            <a:solidFill>
              <a:srgbClr val="8B2D7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26036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821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0A85065-1747-6C4E-8BA4-9C1ED8A185A6}"/>
              </a:ext>
            </a:extLst>
          </p:cNvPr>
          <p:cNvSpPr/>
          <p:nvPr/>
        </p:nvSpPr>
        <p:spPr>
          <a:xfrm>
            <a:off x="730266" y="1076038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Shade in the arrow up to the statement that best describes your current understanding of the benchmark below: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one-step equations in one variable within a mathematical or real-world context using addition and subtraction, where all terms and solutions are integers.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48F74D11-4C10-9E42-8AF0-2616C4BD9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301650"/>
              </p:ext>
            </p:extLst>
          </p:nvPr>
        </p:nvGraphicFramePr>
        <p:xfrm>
          <a:off x="3385914" y="3094730"/>
          <a:ext cx="6020226" cy="3434508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168066">
                  <a:extLst>
                    <a:ext uri="{9D8B030D-6E8A-4147-A177-3AD203B41FA5}">
                      <a16:colId xmlns="" xmlns:a16="http://schemas.microsoft.com/office/drawing/2014/main" val="1725427053"/>
                    </a:ext>
                  </a:extLst>
                </a:gridCol>
                <a:gridCol w="5852160">
                  <a:extLst>
                    <a:ext uri="{9D8B030D-6E8A-4147-A177-3AD203B41FA5}">
                      <a16:colId xmlns="" xmlns:a16="http://schemas.microsoft.com/office/drawing/2014/main" val="2615125998"/>
                    </a:ext>
                  </a:extLst>
                </a:gridCol>
              </a:tblGrid>
              <a:tr h="959138">
                <a:tc rowSpan="4">
                  <a:txBody>
                    <a:bodyPr/>
                    <a:lstStyle/>
                    <a:p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so confident, I could explain how to write and solve one-step equations in one variable using addition or subtraction to someone else!</a:t>
                      </a:r>
                      <a:endParaRPr lang="x-none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18288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240160533"/>
                  </a:ext>
                </a:extLst>
              </a:tr>
              <a:tr h="886691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get to the right answer, but I don’t understand well enough to explain how to write and solve one-step equations in one variable yet.</a:t>
                      </a:r>
                      <a:endParaRPr lang="x-none" sz="18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18288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963949053"/>
                  </a:ext>
                </a:extLst>
              </a:tr>
              <a:tr h="512618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 some of this, but I don’t understand all of it yet.</a:t>
                      </a:r>
                      <a:endParaRPr lang="x-none" sz="18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18288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520210355"/>
                  </a:ext>
                </a:extLst>
              </a:tr>
              <a:tr h="301752">
                <a:tc v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have been trying hard, but I am finding this challenging.</a:t>
                      </a:r>
                      <a:endParaRPr lang="x-none" sz="18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1333" marR="71333" marT="35667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094910496"/>
                  </a:ext>
                </a:extLst>
              </a:tr>
            </a:tbl>
          </a:graphicData>
        </a:graphic>
      </p:graphicFrame>
      <p:sp>
        <p:nvSpPr>
          <p:cNvPr id="15" name="Arrow: Up 5">
            <a:extLst>
              <a:ext uri="{FF2B5EF4-FFF2-40B4-BE49-F238E27FC236}">
                <a16:creationId xmlns="" xmlns:a16="http://schemas.microsoft.com/office/drawing/2014/main" id="{EFEB1A70-E9BD-7542-80D6-A00F51EDE1C0}"/>
              </a:ext>
            </a:extLst>
          </p:cNvPr>
          <p:cNvSpPr/>
          <p:nvPr/>
        </p:nvSpPr>
        <p:spPr>
          <a:xfrm>
            <a:off x="2506278" y="3170043"/>
            <a:ext cx="907482" cy="3263628"/>
          </a:xfrm>
          <a:prstGeom prst="up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DA1A63-B22B-4E5A-8CDD-1CD0716C28E6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F726F5F5-C95D-4DFC-8350-DC6EB9E9B1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CE41AB-CD11-42F4-A02D-BEB7428D8F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1098</Words>
  <Application>Microsoft Office PowerPoint</Application>
  <PresentationFormat>Custom</PresentationFormat>
  <Paragraphs>245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6th Grade Math  Unit 12, Lesson 9  Writing and Solving One-Step Addition and Subtraction Equations Within Real-World Contexts  Volume 2, pg. 326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33</cp:revision>
  <dcterms:created xsi:type="dcterms:W3CDTF">2015-03-17T18:51:18Z</dcterms:created>
  <dcterms:modified xsi:type="dcterms:W3CDTF">2023-07-07T10:43:41Z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