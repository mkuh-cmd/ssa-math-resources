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342" r:id="rId8"/>
    <p:sldId id="343" r:id="rId9"/>
    <p:sldId id="344" r:id="rId10"/>
    <p:sldId id="352" r:id="rId11"/>
    <p:sldId id="353" r:id="rId12"/>
    <p:sldId id="354" r:id="rId13"/>
    <p:sldId id="355" r:id="rId14"/>
    <p:sldId id="359" r:id="rId15"/>
    <p:sldId id="345" r:id="rId16"/>
    <p:sldId id="346" r:id="rId17"/>
    <p:sldId id="347" r:id="rId18"/>
    <p:sldId id="358" r:id="rId19"/>
    <p:sldId id="311" r:id="rId20"/>
    <p:sldId id="312" r:id="rId21"/>
    <p:sldId id="333" r:id="rId22"/>
    <p:sldId id="306" r:id="rId23"/>
    <p:sldId id="307" r:id="rId24"/>
  </p:sldIdLst>
  <p:sldSz cx="12192000" cy="6858000"/>
  <p:notesSz cx="6858000" cy="9144000"/>
  <p:embeddedFontLst>
    <p:embeddedFont>
      <p:font typeface="Arial Black" panose="020B0A04020102020204" pitchFamily="34" charset="0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mbria" panose="02040503050406030204" pitchFamily="18" charset="0"/>
      <p:regular r:id="rId31"/>
      <p:bold r:id="rId32"/>
      <p:italic r:id="rId33"/>
      <p:boldItalic r:id="rId34"/>
    </p:embeddedFont>
    <p:embeddedFont>
      <p:font typeface="Cambria Math" panose="02040503050406030204" pitchFamily="18" charset="0"/>
      <p:regular r:id="rId35"/>
    </p:embeddedFont>
    <p:embeddedFont>
      <p:font typeface="Century Gothic" panose="020B0502020202020204" pitchFamily="34" charset="0"/>
      <p:regular r:id="rId36"/>
      <p:bold r:id="rId37"/>
      <p:italic r:id="rId38"/>
      <p:boldItalic r:id="rId39"/>
    </p:embeddedFont>
    <p:embeddedFont>
      <p:font typeface="Verdana" panose="020B060403050404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0CB"/>
    <a:srgbClr val="8B2D77"/>
    <a:srgbClr val="14BAAA"/>
    <a:srgbClr val="26B7D4"/>
    <a:srgbClr val="E24E5F"/>
    <a:srgbClr val="52BDA6"/>
    <a:srgbClr val="276C46"/>
    <a:srgbClr val="C9DF6F"/>
    <a:srgbClr val="417DBF"/>
    <a:srgbClr val="3F2A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91"/>
    <p:restoredTop sz="94694"/>
  </p:normalViewPr>
  <p:slideViewPr>
    <p:cSldViewPr snapToGrid="0">
      <p:cViewPr varScale="1">
        <p:scale>
          <a:sx n="78" d="100"/>
          <a:sy n="78" d="100"/>
        </p:scale>
        <p:origin x="138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706297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814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2758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68421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33010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47452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00940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51944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82760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75314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89136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34236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81798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0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0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2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12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One-Step Multiplication and Division Equations Algebraically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346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2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24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97002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26B7D4"/>
              </a:solidFill>
            </a:endParaRPr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-9144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MA.6.AR.2.3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and solve one-step equations in one variable within a mathematical or real-world context using multiplication and division, where all terms and solutions are integers.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801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596390"/>
            <a:ext cx="10515600" cy="4762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C0AE969-0A27-9545-AB11-BBE5491801C1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547093"/>
            <a:ext cx="10515600" cy="4498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solve one-step multiplication and division equations in one-variable algebraically.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E0319DD-E1E2-064E-A3C0-1ADADEA7DC7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770632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06503EB0-E904-7143-BA20-369F935837E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12.12.1 Warm-Up: Different Problems, Same Solution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79F083F-A67E-0047-8E64-5125815AF3D8}"/>
                  </a:ext>
                </a:extLst>
              </p:cNvPr>
              <p:cNvSpPr/>
              <p:nvPr/>
            </p:nvSpPr>
            <p:spPr>
              <a:xfrm>
                <a:off x="914400" y="1700654"/>
                <a:ext cx="10515600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four equations whose solutions are all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79F083F-A67E-0047-8E64-5125815AF3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700654"/>
                <a:ext cx="10515600" cy="830997"/>
              </a:xfrm>
              <a:prstGeom prst="rect">
                <a:avLst/>
              </a:prstGeom>
              <a:blipFill>
                <a:blip r:embed="rId5"/>
                <a:stretch>
                  <a:fillRect l="-965" t="-4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570FC961-D801-0C4E-8D4A-AEC23A74C9C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E80E75D-78AE-A94E-86B4-91D469B7BFA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C031FE84-D423-CC4C-831E-2D526CB911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770632"/>
            <a:ext cx="1156733" cy="11567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9353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2792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4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12.12.2 Guided Instruction: Using Inverses to Solve Equations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BE9AFC-D858-8947-AE27-3738478587E3}"/>
              </a:ext>
            </a:extLst>
          </p:cNvPr>
          <p:cNvSpPr/>
          <p:nvPr/>
        </p:nvSpPr>
        <p:spPr>
          <a:xfrm>
            <a:off x="914400" y="1331161"/>
            <a:ext cx="10515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Inverse operations are used to solve equations by isolating a variable of interest.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When solving one-step equations using visual models, the inverse operation performed on one side of the model is also performed on the other side to keep the equation balanced. 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A0B3F56A-90D4-0546-BD18-061853EE942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FB836D-7BF8-B941-8F1E-1C998C7EDD5F}"/>
              </a:ext>
            </a:extLst>
          </p:cNvPr>
          <p:cNvSpPr/>
          <p:nvPr/>
        </p:nvSpPr>
        <p:spPr>
          <a:xfrm>
            <a:off x="2146200" y="2419359"/>
            <a:ext cx="8333128" cy="101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C6C9C2DF-E989-BB45-9CB6-957F2793000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801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E7CAFC-319F-CE4F-8B26-ED2749A56CDA}"/>
              </a:ext>
            </a:extLst>
          </p:cNvPr>
          <p:cNvSpPr/>
          <p:nvPr/>
        </p:nvSpPr>
        <p:spPr>
          <a:xfrm>
            <a:off x="914400" y="902611"/>
            <a:ext cx="10515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your partner, re-visit the meaning of balanced equations. Write a brief summary explaining what it means for equations to be balanced and how balance is maintained when solving. Include examples as part of your summary.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3346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E7CAFC-319F-CE4F-8B26-ED2749A56CDA}"/>
              </a:ext>
            </a:extLst>
          </p:cNvPr>
          <p:cNvSpPr/>
          <p:nvPr/>
        </p:nvSpPr>
        <p:spPr>
          <a:xfrm>
            <a:off x="914400" y="741350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the definition of inverse operations, complete the table to indicate which operation would reverse the given operation.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43EDE87-059D-3D40-B72D-C1BAF380C8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4487015"/>
                  </p:ext>
                </p:extLst>
              </p:nvPr>
            </p:nvGraphicFramePr>
            <p:xfrm>
              <a:off x="2695575" y="2694002"/>
              <a:ext cx="6800850" cy="18110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19475">
                      <a:extLst>
                        <a:ext uri="{9D8B030D-6E8A-4147-A177-3AD203B41FA5}">
                          <a16:colId xmlns:a16="http://schemas.microsoft.com/office/drawing/2014/main" val="523702149"/>
                        </a:ext>
                      </a:extLst>
                    </a:gridCol>
                    <a:gridCol w="3381375">
                      <a:extLst>
                        <a:ext uri="{9D8B030D-6E8A-4147-A177-3AD203B41FA5}">
                          <a16:colId xmlns:a16="http://schemas.microsoft.com/office/drawing/2014/main" val="3324755421"/>
                        </a:ext>
                      </a:extLst>
                    </a:gridCol>
                  </a:tblGrid>
                  <a:tr h="2908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Operation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Inverse Operation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1418257"/>
                      </a:ext>
                    </a:extLst>
                  </a:tr>
                  <a:tr h="7600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Multiplication (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11671220"/>
                      </a:ext>
                    </a:extLst>
                  </a:tr>
                  <a:tr h="7600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Division (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÷</m:t>
                              </m:r>
                            </m:oMath>
                          </a14:m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939863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43EDE87-059D-3D40-B72D-C1BAF380C8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4487015"/>
                  </p:ext>
                </p:extLst>
              </p:nvPr>
            </p:nvGraphicFramePr>
            <p:xfrm>
              <a:off x="2695575" y="2694002"/>
              <a:ext cx="6800850" cy="18110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19475">
                      <a:extLst>
                        <a:ext uri="{9D8B030D-6E8A-4147-A177-3AD203B41FA5}">
                          <a16:colId xmlns:a16="http://schemas.microsoft.com/office/drawing/2014/main" val="523702149"/>
                        </a:ext>
                      </a:extLst>
                    </a:gridCol>
                    <a:gridCol w="3381375">
                      <a:extLst>
                        <a:ext uri="{9D8B030D-6E8A-4147-A177-3AD203B41FA5}">
                          <a16:colId xmlns:a16="http://schemas.microsoft.com/office/drawing/2014/main" val="3324755421"/>
                        </a:ext>
                      </a:extLst>
                    </a:gridCol>
                  </a:tblGrid>
                  <a:tr h="2908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Operation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Inverse Operation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1418257"/>
                      </a:ext>
                    </a:extLst>
                  </a:tr>
                  <a:tr h="7600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0" t="-48333" r="-98889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11671220"/>
                      </a:ext>
                    </a:extLst>
                  </a:tr>
                  <a:tr h="7600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0" t="-148333" r="-9888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9398635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0816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/>
              <p:nvPr/>
            </p:nvSpPr>
            <p:spPr>
              <a:xfrm>
                <a:off x="914400" y="389993"/>
                <a:ext cx="10515600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Consider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complete the following.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Discuss with your partner how to solve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operation is occurring between the variable 𝑚 and its coefficient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89993"/>
                <a:ext cx="10515600" cy="3785652"/>
              </a:xfrm>
              <a:prstGeom prst="rect">
                <a:avLst/>
              </a:prstGeom>
              <a:blipFill>
                <a:blip r:embed="rId4"/>
                <a:stretch>
                  <a:fillRect l="-870" t="-1449" b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272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/>
              <p:nvPr/>
            </p:nvSpPr>
            <p:spPr>
              <a:xfrm>
                <a:off x="914400" y="389993"/>
                <a:ext cx="10515600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 isolate the variable 𝑚 from its coefficient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what inverse operation should be performed? 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Work with your partner to determine the value of 𝑚. 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89993"/>
                <a:ext cx="10515600" cy="3416320"/>
              </a:xfrm>
              <a:prstGeom prst="rect">
                <a:avLst/>
              </a:prstGeom>
              <a:blipFill>
                <a:blip r:embed="rId4"/>
                <a:stretch>
                  <a:fillRect t="-1607" b="-3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2001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/>
              <p:nvPr/>
            </p:nvSpPr>
            <p:spPr>
              <a:xfrm>
                <a:off x="914400" y="419021"/>
                <a:ext cx="10515600" cy="37421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Consider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13=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−5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complete the following.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mathematical operation is represented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−5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inverse operation?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19021"/>
                <a:ext cx="10515600" cy="3742178"/>
              </a:xfrm>
              <a:prstGeom prst="rect">
                <a:avLst/>
              </a:prstGeom>
              <a:blipFill>
                <a:blip r:embed="rId4"/>
                <a:stretch>
                  <a:fillRect l="-870" b="-2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3437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/>
              <p:nvPr/>
            </p:nvSpPr>
            <p:spPr>
              <a:xfrm>
                <a:off x="914400" y="419021"/>
                <a:ext cx="10515600" cy="50927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Perform the inverse operation in the boxes below.</a:t>
                </a: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(13)=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value of </a:t>
                </a:r>
                <a:r>
                  <a:rPr lang="en-US" sz="20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ℎ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Discuss with your partner how to check whether or not your solution is correct. Then, check your solution.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19021"/>
                <a:ext cx="10515600" cy="5092741"/>
              </a:xfrm>
              <a:prstGeom prst="rect">
                <a:avLst/>
              </a:prstGeom>
              <a:blipFill>
                <a:blip r:embed="rId4"/>
                <a:stretch>
                  <a:fillRect t="-838" b="-1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C7D655-0CAD-9E49-A2F7-DFC4D405D23C}"/>
              </a:ext>
            </a:extLst>
          </p:cNvPr>
          <p:cNvSpPr/>
          <p:nvPr/>
        </p:nvSpPr>
        <p:spPr>
          <a:xfrm>
            <a:off x="4667049" y="1434501"/>
            <a:ext cx="765175" cy="53340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dash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F63087-ADFA-D54D-B969-290431F0DE2D}"/>
              </a:ext>
            </a:extLst>
          </p:cNvPr>
          <p:cNvSpPr/>
          <p:nvPr/>
        </p:nvSpPr>
        <p:spPr>
          <a:xfrm>
            <a:off x="7094653" y="1419261"/>
            <a:ext cx="707390" cy="55499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dash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827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3959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E80E75D-78AE-A94E-86B4-91D469B7BFA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2.png" descr="Icon&#10;&#10;Description automatically generated">
            <a:extLst>
              <a:ext uri="{FF2B5EF4-FFF2-40B4-BE49-F238E27FC236}">
                <a16:creationId xmlns:a16="http://schemas.microsoft.com/office/drawing/2014/main" id="{05AC812B-2A29-3D42-A797-33895C271B2E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770632"/>
            <a:ext cx="1151971" cy="115197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6049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1364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4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12.12.3 Guided Practice: Solving One-Step Multiplication and Division Equations Algebraically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BE9AFC-D858-8947-AE27-3738478587E3}"/>
              </a:ext>
            </a:extLst>
          </p:cNvPr>
          <p:cNvSpPr/>
          <p:nvPr/>
        </p:nvSpPr>
        <p:spPr>
          <a:xfrm>
            <a:off x="914400" y="1491031"/>
            <a:ext cx="10515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A0B3F56A-90D4-0546-BD18-061853EE942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FB836D-7BF8-B941-8F1E-1C998C7EDD5F}"/>
              </a:ext>
            </a:extLst>
          </p:cNvPr>
          <p:cNvSpPr/>
          <p:nvPr/>
        </p:nvSpPr>
        <p:spPr>
          <a:xfrm>
            <a:off x="2146200" y="2419359"/>
            <a:ext cx="8333128" cy="101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0B42EE9-95B6-3C45-A879-7B304ADA5A7A}"/>
              </a:ext>
            </a:extLst>
          </p:cNvPr>
          <p:cNvGrpSpPr/>
          <p:nvPr/>
        </p:nvGrpSpPr>
        <p:grpSpPr>
          <a:xfrm>
            <a:off x="2781300" y="3479152"/>
            <a:ext cx="6629400" cy="1054041"/>
            <a:chOff x="2031300" y="3252877"/>
            <a:chExt cx="6629400" cy="105422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5D01BEA-D688-754F-A593-7471CDED7DC6}"/>
                </a:ext>
              </a:extLst>
            </p:cNvPr>
            <p:cNvSpPr/>
            <p:nvPr/>
          </p:nvSpPr>
          <p:spPr>
            <a:xfrm>
              <a:off x="2031300" y="3252877"/>
              <a:ext cx="6629400" cy="105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 panose="02040503050406030204" pitchFamily="18" charset="0"/>
                  <a:ea typeface="MS Mincho" panose="02020609040205080304" pitchFamily="49" charset="-128"/>
                  <a:cs typeface="Cambria" panose="02040503050406030204" pitchFamily="18" charset="0"/>
                </a:rPr>
                <a:t> </a:t>
              </a:r>
              <a:endParaRPr lang="x-none" sz="1200">
                <a:latin typeface="Cambria" panose="02040503050406030204" pitchFamily="18" charset="0"/>
                <a:ea typeface="MS Mincho" panose="02020609040205080304" pitchFamily="49" charset="-128"/>
                <a:cs typeface="Cambria" panose="02040503050406030204" pitchFamily="18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3D1FAB9-36B6-FC4F-98EA-161EDCCBD605}"/>
                </a:ext>
              </a:extLst>
            </p:cNvPr>
            <p:cNvGrpSpPr/>
            <p:nvPr/>
          </p:nvGrpSpPr>
          <p:grpSpPr>
            <a:xfrm>
              <a:off x="2031300" y="3252879"/>
              <a:ext cx="6629400" cy="1054222"/>
              <a:chOff x="2031300" y="3262288"/>
              <a:chExt cx="6629400" cy="10354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47BFD8C-7383-784A-BF8E-C8FFAAAE31F6}"/>
                  </a:ext>
                </a:extLst>
              </p:cNvPr>
              <p:cNvSpPr/>
              <p:nvPr/>
            </p:nvSpPr>
            <p:spPr>
              <a:xfrm>
                <a:off x="2031300" y="3262288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MS Mincho" panose="02020609040205080304" pitchFamily="49" charset="-128"/>
                    <a:cs typeface="Cambria" panose="02040503050406030204" pitchFamily="18" charset="0"/>
                  </a:rPr>
                  <a:t> </a:t>
                </a:r>
                <a:endParaRPr lang="x-none" sz="1200">
                  <a:latin typeface="Cambria" panose="02040503050406030204" pitchFamily="18" charset="0"/>
                  <a:ea typeface="MS Mincho" panose="02020609040205080304" pitchFamily="49" charset="-128"/>
                  <a:cs typeface="Cambria" panose="020405030504060302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847105AA-ABE9-9448-9B28-14AA3EB06156}"/>
                  </a:ext>
                </a:extLst>
              </p:cNvPr>
              <p:cNvGrpSpPr/>
              <p:nvPr/>
            </p:nvGrpSpPr>
            <p:grpSpPr>
              <a:xfrm>
                <a:off x="2031300" y="3262288"/>
                <a:ext cx="6629400" cy="1035400"/>
                <a:chOff x="2031300" y="3373600"/>
                <a:chExt cx="6629400" cy="1035400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DF897C5E-7B64-494C-8B83-2C078C08AA48}"/>
                    </a:ext>
                  </a:extLst>
                </p:cNvPr>
                <p:cNvSpPr/>
                <p:nvPr/>
              </p:nvSpPr>
              <p:spPr>
                <a:xfrm>
                  <a:off x="2031300" y="3373600"/>
                  <a:ext cx="6629400" cy="1035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MS Mincho" panose="02020609040205080304" pitchFamily="49" charset="-128"/>
                      <a:cs typeface="Cambria" panose="02040503050406030204" pitchFamily="18" charset="0"/>
                    </a:rPr>
                    <a:t> </a:t>
                  </a:r>
                  <a:endParaRPr lang="x-none" sz="1200">
                    <a:latin typeface="Cambria" panose="02040503050406030204" pitchFamily="18" charset="0"/>
                    <a:ea typeface="MS Mincho" panose="02020609040205080304" pitchFamily="49" charset="-128"/>
                    <a:cs typeface="Cambria" panose="02040503050406030204" pitchFamily="18" charset="0"/>
                  </a:endParaRPr>
                </a:p>
              </p:txBody>
            </p: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F6AB7CB1-E843-4047-BA24-6EB5A8373753}"/>
                    </a:ext>
                  </a:extLst>
                </p:cNvPr>
                <p:cNvGrpSpPr/>
                <p:nvPr/>
              </p:nvGrpSpPr>
              <p:grpSpPr>
                <a:xfrm>
                  <a:off x="2031300" y="3373600"/>
                  <a:ext cx="6629400" cy="812800"/>
                  <a:chOff x="2031300" y="3373600"/>
                  <a:chExt cx="6629400" cy="812800"/>
                </a:xfrm>
              </p:grpSpPr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6A1F7C8A-2D53-6049-8556-B470F585A948}"/>
                      </a:ext>
                    </a:extLst>
                  </p:cNvPr>
                  <p:cNvSpPr/>
                  <p:nvPr/>
                </p:nvSpPr>
                <p:spPr>
                  <a:xfrm>
                    <a:off x="2031300" y="337360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MS Mincho" panose="02020609040205080304" pitchFamily="49" charset="-128"/>
                        <a:cs typeface="Cambria" panose="02040503050406030204" pitchFamily="18" charset="0"/>
                      </a:rPr>
                      <a:t> </a:t>
                    </a:r>
                    <a:endParaRPr lang="x-none" sz="1200">
                      <a:latin typeface="Cambria" panose="02040503050406030204" pitchFamily="18" charset="0"/>
                      <a:ea typeface="MS Mincho" panose="02020609040205080304" pitchFamily="49" charset="-128"/>
                      <a:cs typeface="Cambria" panose="02040503050406030204" pitchFamily="18" charset="0"/>
                    </a:endParaRPr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53E53AD6-3963-DE41-A0A1-7A426B6FB50D}"/>
                      </a:ext>
                    </a:extLst>
                  </p:cNvPr>
                  <p:cNvSpPr/>
                  <p:nvPr/>
                </p:nvSpPr>
                <p:spPr>
                  <a:xfrm>
                    <a:off x="2031300" y="337360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MS Mincho" panose="02020609040205080304" pitchFamily="49" charset="-128"/>
                        <a:cs typeface="Cambria" panose="02040503050406030204" pitchFamily="18" charset="0"/>
                      </a:rPr>
                      <a:t> </a:t>
                    </a:r>
                    <a:endParaRPr lang="x-none" sz="1200">
                      <a:latin typeface="Cambria" panose="02040503050406030204" pitchFamily="18" charset="0"/>
                      <a:ea typeface="MS Mincho" panose="02020609040205080304" pitchFamily="49" charset="-128"/>
                      <a:cs typeface="Cambria" panose="02040503050406030204" pitchFamily="18" charset="0"/>
                    </a:endParaRPr>
                  </a:p>
                </p:txBody>
              </p:sp>
            </p:grpSp>
          </p:grpSp>
        </p:grpSp>
      </p:grpSp>
      <p:pic>
        <p:nvPicPr>
          <p:cNvPr id="25" name="image2.png" descr="Icon&#10;&#10;Description automatically generated">
            <a:extLst>
              <a:ext uri="{FF2B5EF4-FFF2-40B4-BE49-F238E27FC236}">
                <a16:creationId xmlns:a16="http://schemas.microsoft.com/office/drawing/2014/main" id="{CDBAE771-FC8C-BF4A-9A93-2ED4F38721F1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41801" cy="741801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BCC7347-12E3-A047-8936-D8B8D8FBA3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3341274"/>
                  </p:ext>
                </p:extLst>
              </p:nvPr>
            </p:nvGraphicFramePr>
            <p:xfrm>
              <a:off x="2384631" y="2169637"/>
              <a:ext cx="7727389" cy="38633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445022">
                      <a:extLst>
                        <a:ext uri="{9D8B030D-6E8A-4147-A177-3AD203B41FA5}">
                          <a16:colId xmlns:a16="http://schemas.microsoft.com/office/drawing/2014/main" val="201764809"/>
                        </a:ext>
                      </a:extLst>
                    </a:gridCol>
                    <a:gridCol w="2482037">
                      <a:extLst>
                        <a:ext uri="{9D8B030D-6E8A-4147-A177-3AD203B41FA5}">
                          <a16:colId xmlns:a16="http://schemas.microsoft.com/office/drawing/2014/main" val="3487737807"/>
                        </a:ext>
                      </a:extLst>
                    </a:gridCol>
                    <a:gridCol w="2536129">
                      <a:extLst>
                        <a:ext uri="{9D8B030D-6E8A-4147-A177-3AD203B41FA5}">
                          <a16:colId xmlns:a16="http://schemas.microsoft.com/office/drawing/2014/main" val="3544258206"/>
                        </a:ext>
                      </a:extLst>
                    </a:gridCol>
                    <a:gridCol w="1264201">
                      <a:extLst>
                        <a:ext uri="{9D8B030D-6E8A-4147-A177-3AD203B41FA5}">
                          <a16:colId xmlns:a16="http://schemas.microsoft.com/office/drawing/2014/main" val="4038851226"/>
                        </a:ext>
                      </a:extLst>
                    </a:gridCol>
                  </a:tblGrid>
                  <a:tr h="7543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 of How to Solve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Work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Solution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309798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6</m:t>
                                </m:r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=18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Divide both sides of the equation by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6.</m:t>
                              </m:r>
                            </m:oMath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81506317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/>
                                      </a:rPr>
                                      <m:t>h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=7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469546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BCC7347-12E3-A047-8936-D8B8D8FBA3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3341274"/>
                  </p:ext>
                </p:extLst>
              </p:nvPr>
            </p:nvGraphicFramePr>
            <p:xfrm>
              <a:off x="2384631" y="2169637"/>
              <a:ext cx="7727389" cy="38633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445022">
                      <a:extLst>
                        <a:ext uri="{9D8B030D-6E8A-4147-A177-3AD203B41FA5}">
                          <a16:colId xmlns:a16="http://schemas.microsoft.com/office/drawing/2014/main" val="201764809"/>
                        </a:ext>
                      </a:extLst>
                    </a:gridCol>
                    <a:gridCol w="2482037">
                      <a:extLst>
                        <a:ext uri="{9D8B030D-6E8A-4147-A177-3AD203B41FA5}">
                          <a16:colId xmlns:a16="http://schemas.microsoft.com/office/drawing/2014/main" val="3487737807"/>
                        </a:ext>
                      </a:extLst>
                    </a:gridCol>
                    <a:gridCol w="2536129">
                      <a:extLst>
                        <a:ext uri="{9D8B030D-6E8A-4147-A177-3AD203B41FA5}">
                          <a16:colId xmlns:a16="http://schemas.microsoft.com/office/drawing/2014/main" val="3544258206"/>
                        </a:ext>
                      </a:extLst>
                    </a:gridCol>
                    <a:gridCol w="1264201">
                      <a:extLst>
                        <a:ext uri="{9D8B030D-6E8A-4147-A177-3AD203B41FA5}">
                          <a16:colId xmlns:a16="http://schemas.microsoft.com/office/drawing/2014/main" val="4038851226"/>
                        </a:ext>
                      </a:extLst>
                    </a:gridCol>
                  </a:tblGrid>
                  <a:tr h="7543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 of How to Solve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Work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Solution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309798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49593" r="-435965" b="-1008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163" t="-49593" r="-153571" b="-1008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81506317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49593" r="-435965" b="-8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4695464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92729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8086607-A237-F945-B5BF-2484D60BFC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3431879"/>
                  </p:ext>
                </p:extLst>
              </p:nvPr>
            </p:nvGraphicFramePr>
            <p:xfrm>
              <a:off x="2490885" y="952789"/>
              <a:ext cx="7210231" cy="435133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348313">
                      <a:extLst>
                        <a:ext uri="{9D8B030D-6E8A-4147-A177-3AD203B41FA5}">
                          <a16:colId xmlns:a16="http://schemas.microsoft.com/office/drawing/2014/main" val="3854099382"/>
                        </a:ext>
                      </a:extLst>
                    </a:gridCol>
                    <a:gridCol w="2315926">
                      <a:extLst>
                        <a:ext uri="{9D8B030D-6E8A-4147-A177-3AD203B41FA5}">
                          <a16:colId xmlns:a16="http://schemas.microsoft.com/office/drawing/2014/main" val="3369659684"/>
                        </a:ext>
                      </a:extLst>
                    </a:gridCol>
                    <a:gridCol w="2366398">
                      <a:extLst>
                        <a:ext uri="{9D8B030D-6E8A-4147-A177-3AD203B41FA5}">
                          <a16:colId xmlns:a16="http://schemas.microsoft.com/office/drawing/2014/main" val="2210037419"/>
                        </a:ext>
                      </a:extLst>
                    </a:gridCol>
                    <a:gridCol w="1179594">
                      <a:extLst>
                        <a:ext uri="{9D8B030D-6E8A-4147-A177-3AD203B41FA5}">
                          <a16:colId xmlns:a16="http://schemas.microsoft.com/office/drawing/2014/main" val="871524454"/>
                        </a:ext>
                      </a:extLst>
                    </a:gridCol>
                  </a:tblGrid>
                  <a:tr h="145044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>
                                    <a:effectLst/>
                                    <a:latin typeface="Cambria Math"/>
                                  </a:rPr>
                                  <m:t>−36=</m:t>
                                </m:r>
                                <m:f>
                                  <m:fPr>
                                    <m:ctrlPr>
                                      <a:rPr lang="x-none" sz="17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700"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num>
                                  <m:den>
                                    <m:r>
                                      <a:rPr lang="en-US" sz="1700">
                                        <a:effectLst/>
                                        <a:latin typeface="Cambria Math"/>
                                      </a:rPr>
                                      <m:t>−6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990" marR="639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990" marR="639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990" marR="639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990" marR="639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27842339"/>
                      </a:ext>
                    </a:extLst>
                  </a:tr>
                  <a:tr h="145044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x-none" sz="17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1700">
                                        <a:effectLst/>
                                        <a:latin typeface="Cambria Math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1700">
                                        <a:effectLst/>
                                        <a:latin typeface="Cambria Math"/>
                                      </a:rPr>
                                      <m:t>32</m:t>
                                    </m:r>
                                  </m:e>
                                </m:sPre>
                                <m:r>
                                  <a:rPr lang="en-US" sz="1700">
                                    <a:effectLst/>
                                    <a:latin typeface="Cambria Math"/>
                                  </a:rPr>
                                  <m:t>=8</m:t>
                                </m:r>
                                <m:r>
                                  <a:rPr lang="en-US" sz="1700"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990" marR="639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990" marR="639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990" marR="639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990" marR="639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7272619"/>
                      </a:ext>
                    </a:extLst>
                  </a:tr>
                  <a:tr h="145044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>
                                    <a:effectLst/>
                                    <a:latin typeface="Cambria Math"/>
                                  </a:rPr>
                                  <m:t>4=−</m:t>
                                </m:r>
                                <m:f>
                                  <m:fPr>
                                    <m:ctrlPr>
                                      <a:rPr lang="x-none" sz="17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700">
                                        <a:effectLst/>
                                        <a:latin typeface="Cambria Math"/>
                                      </a:rPr>
                                      <m:t>𝑏</m:t>
                                    </m:r>
                                  </m:num>
                                  <m:den>
                                    <m:r>
                                      <a:rPr lang="en-US" sz="1700">
                                        <a:effectLst/>
                                        <a:latin typeface="Cambria Math"/>
                                      </a:rPr>
                                      <m:t>12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990" marR="639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990" marR="639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990" marR="639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990" marR="639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88212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8086607-A237-F945-B5BF-2484D60BFC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3431879"/>
                  </p:ext>
                </p:extLst>
              </p:nvPr>
            </p:nvGraphicFramePr>
            <p:xfrm>
              <a:off x="2490885" y="952789"/>
              <a:ext cx="7210231" cy="435133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348313">
                      <a:extLst>
                        <a:ext uri="{9D8B030D-6E8A-4147-A177-3AD203B41FA5}">
                          <a16:colId xmlns:a16="http://schemas.microsoft.com/office/drawing/2014/main" val="3854099382"/>
                        </a:ext>
                      </a:extLst>
                    </a:gridCol>
                    <a:gridCol w="2315926">
                      <a:extLst>
                        <a:ext uri="{9D8B030D-6E8A-4147-A177-3AD203B41FA5}">
                          <a16:colId xmlns:a16="http://schemas.microsoft.com/office/drawing/2014/main" val="3369659684"/>
                        </a:ext>
                      </a:extLst>
                    </a:gridCol>
                    <a:gridCol w="2366398">
                      <a:extLst>
                        <a:ext uri="{9D8B030D-6E8A-4147-A177-3AD203B41FA5}">
                          <a16:colId xmlns:a16="http://schemas.microsoft.com/office/drawing/2014/main" val="2210037419"/>
                        </a:ext>
                      </a:extLst>
                    </a:gridCol>
                    <a:gridCol w="1179594">
                      <a:extLst>
                        <a:ext uri="{9D8B030D-6E8A-4147-A177-3AD203B41FA5}">
                          <a16:colId xmlns:a16="http://schemas.microsoft.com/office/drawing/2014/main" val="871524454"/>
                        </a:ext>
                      </a:extLst>
                    </a:gridCol>
                  </a:tblGrid>
                  <a:tr h="14504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990" marR="639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43" t="-877" r="-437736" b="-2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990" marR="639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990" marR="639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990" marR="639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27842339"/>
                      </a:ext>
                    </a:extLst>
                  </a:tr>
                  <a:tr h="14504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990" marR="639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43" t="-100000" r="-437736" b="-10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990" marR="639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990" marR="639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990" marR="639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7272619"/>
                      </a:ext>
                    </a:extLst>
                  </a:tr>
                  <a:tr h="14504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990" marR="639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43" t="-201754" r="-437736" b="-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990" marR="639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990" marR="639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3990" marR="639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8821295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91239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E7CAFC-319F-CE4F-8B26-ED2749A56CDA}"/>
              </a:ext>
            </a:extLst>
          </p:cNvPr>
          <p:cNvSpPr/>
          <p:nvPr/>
        </p:nvSpPr>
        <p:spPr>
          <a:xfrm>
            <a:off x="914400" y="956051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your partner, verify each solution is correct using substitution. 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3898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40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2C8C0BED-1AF4-B944-96AA-2CF26F1ABF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770632"/>
            <a:ext cx="1156228" cy="1156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12.12.4 Your Turn!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5AB5A2-AF35-B14C-AE54-D2A0628C823C}"/>
              </a:ext>
            </a:extLst>
          </p:cNvPr>
          <p:cNvSpPr/>
          <p:nvPr/>
        </p:nvSpPr>
        <p:spPr>
          <a:xfrm>
            <a:off x="914400" y="1340983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Solve each equation algebraically. Show your work.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85268C17-F7CB-D243-B65D-166A4DD9987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00D9959C-BC81-7642-9A75-F49D3552473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52254" cy="7522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455B314-131D-BA46-96A4-09EA5B281E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5342537"/>
                  </p:ext>
                </p:extLst>
              </p:nvPr>
            </p:nvGraphicFramePr>
            <p:xfrm>
              <a:off x="2724150" y="2446814"/>
              <a:ext cx="6743700" cy="310896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359150">
                      <a:extLst>
                        <a:ext uri="{9D8B030D-6E8A-4147-A177-3AD203B41FA5}">
                          <a16:colId xmlns:a16="http://schemas.microsoft.com/office/drawing/2014/main" val="920910655"/>
                        </a:ext>
                      </a:extLst>
                    </a:gridCol>
                    <a:gridCol w="3384550">
                      <a:extLst>
                        <a:ext uri="{9D8B030D-6E8A-4147-A177-3AD203B41FA5}">
                          <a16:colId xmlns:a16="http://schemas.microsoft.com/office/drawing/2014/main" val="3127360272"/>
                        </a:ext>
                      </a:extLst>
                    </a:gridCol>
                  </a:tblGrid>
                  <a:tr h="3108960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/>
                          </a:pPr>
                          <a:r>
                            <a:rPr lang="x-none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>
                                      <a:effectLst/>
                                      <a:latin typeface="Cambria Math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US" sz="1800">
                                      <a:effectLst/>
                                      <a:latin typeface="Cambria Math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=10</m:t>
                              </m:r>
                            </m:oMath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2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−11=</m:t>
                              </m:r>
                              <m:f>
                                <m:fPr>
                                  <m:ctrlPr>
                                    <a:rPr lang="x-none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>
                                      <a:effectLst/>
                                      <a:latin typeface="Cambria Math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1800">
                                      <a:effectLst/>
                                      <a:latin typeface="Cambria Math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811264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455B314-131D-BA46-96A4-09EA5B281E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5342537"/>
                  </p:ext>
                </p:extLst>
              </p:nvPr>
            </p:nvGraphicFramePr>
            <p:xfrm>
              <a:off x="2724150" y="2446814"/>
              <a:ext cx="6743700" cy="310896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359150">
                      <a:extLst>
                        <a:ext uri="{9D8B030D-6E8A-4147-A177-3AD203B41FA5}">
                          <a16:colId xmlns:a16="http://schemas.microsoft.com/office/drawing/2014/main" val="920910655"/>
                        </a:ext>
                      </a:extLst>
                    </a:gridCol>
                    <a:gridCol w="3384550">
                      <a:extLst>
                        <a:ext uri="{9D8B030D-6E8A-4147-A177-3AD203B41FA5}">
                          <a16:colId xmlns:a16="http://schemas.microsoft.com/office/drawing/2014/main" val="3127360272"/>
                        </a:ext>
                      </a:extLst>
                    </a:gridCol>
                  </a:tblGrid>
                  <a:tr h="3108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77" t="-1220" r="-101132" b="-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9625" t="-1220" r="-375" b="-4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112641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3DC8F22-04D2-D04F-BA67-53D9B7F3B29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21AA5C6-7F51-DB44-9DE5-A70EF328DF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6216307"/>
                  </p:ext>
                </p:extLst>
              </p:nvPr>
            </p:nvGraphicFramePr>
            <p:xfrm>
              <a:off x="3426423" y="714591"/>
              <a:ext cx="5887872" cy="542881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932847">
                      <a:extLst>
                        <a:ext uri="{9D8B030D-6E8A-4147-A177-3AD203B41FA5}">
                          <a16:colId xmlns:a16="http://schemas.microsoft.com/office/drawing/2014/main" val="4123350203"/>
                        </a:ext>
                      </a:extLst>
                    </a:gridCol>
                    <a:gridCol w="2955025">
                      <a:extLst>
                        <a:ext uri="{9D8B030D-6E8A-4147-A177-3AD203B41FA5}">
                          <a16:colId xmlns:a16="http://schemas.microsoft.com/office/drawing/2014/main" val="1254182518"/>
                        </a:ext>
                      </a:extLst>
                    </a:gridCol>
                  </a:tblGrid>
                  <a:tr h="2714409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3"/>
                          </a:pPr>
                          <a:r>
                            <a:rPr lang="en-US" sz="16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>
                                  <a:effectLst/>
                                  <a:latin typeface="Cambria Math"/>
                                </a:rPr>
                                <m:t>−12</m:t>
                              </m:r>
                              <m:r>
                                <a:rPr lang="en-US" sz="1600">
                                  <a:effectLst/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US" sz="1600">
                                  <a:effectLst/>
                                  <a:latin typeface="Cambria Math"/>
                                </a:rPr>
                                <m:t>=−84</m:t>
                              </m:r>
                            </m:oMath>
                          </a14:m>
                          <a:endParaRPr lang="x-none" sz="1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9877" marR="5987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4"/>
                          </a:pPr>
                          <a:r>
                            <a:rPr lang="en-US" sz="16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>
                                  <a:effectLst/>
                                  <a:latin typeface="Cambria Math"/>
                                </a:rPr>
                                <m:t>−42=6</m:t>
                              </m:r>
                              <m:r>
                                <a:rPr lang="en-US" sz="1600">
                                  <a:effectLst/>
                                  <a:latin typeface="Cambria Math"/>
                                </a:rPr>
                                <m:t>𝑥</m:t>
                              </m:r>
                            </m:oMath>
                          </a14:m>
                          <a:endParaRPr lang="x-none" sz="1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9877" marR="5987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11470269"/>
                      </a:ext>
                    </a:extLst>
                  </a:tr>
                  <a:tr h="2714409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5"/>
                          </a:pPr>
                          <a:r>
                            <a:rPr lang="en-US" sz="16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>
                                  <a:effectLst/>
                                  <a:latin typeface="Cambria Math"/>
                                </a:rPr>
                                <m:t>18</m:t>
                              </m:r>
                              <m:r>
                                <a:rPr lang="en-US" sz="1600">
                                  <a:effectLst/>
                                  <a:latin typeface="Cambria Math"/>
                                </a:rPr>
                                <m:t>𝑐</m:t>
                              </m:r>
                              <m:r>
                                <a:rPr lang="en-US" sz="1600">
                                  <a:effectLst/>
                                  <a:latin typeface="Cambria Math"/>
                                </a:rPr>
                                <m:t>=72</m:t>
                              </m:r>
                            </m:oMath>
                          </a14:m>
                          <a:endParaRPr lang="x-none" sz="1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9877" marR="5987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6"/>
                          </a:pPr>
                          <a:r>
                            <a:rPr lang="x-none" sz="16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16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>
                                      <a:effectLst/>
                                      <a:latin typeface="Cambria Math"/>
                                    </a:rPr>
                                    <m:t>𝑟</m:t>
                                  </m:r>
                                </m:num>
                                <m:den>
                                  <m:r>
                                    <a:rPr lang="en-US" sz="1600">
                                      <a:effectLst/>
                                      <a:latin typeface="Cambria Math"/>
                                    </a:rPr>
                                    <m:t>6</m:t>
                                  </m:r>
                                </m:den>
                              </m:f>
                              <m:r>
                                <a:rPr lang="en-US" sz="1600">
                                  <a:effectLst/>
                                  <a:latin typeface="Cambria Math"/>
                                </a:rPr>
                                <m:t>=36</m:t>
                              </m:r>
                            </m:oMath>
                          </a14:m>
                          <a:endParaRPr lang="x-none" sz="1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9877" marR="5987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596617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21AA5C6-7F51-DB44-9DE5-A70EF328DF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6216307"/>
                  </p:ext>
                </p:extLst>
              </p:nvPr>
            </p:nvGraphicFramePr>
            <p:xfrm>
              <a:off x="3426423" y="714591"/>
              <a:ext cx="5887872" cy="542881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932847">
                      <a:extLst>
                        <a:ext uri="{9D8B030D-6E8A-4147-A177-3AD203B41FA5}">
                          <a16:colId xmlns:a16="http://schemas.microsoft.com/office/drawing/2014/main" val="4123350203"/>
                        </a:ext>
                      </a:extLst>
                    </a:gridCol>
                    <a:gridCol w="2955025">
                      <a:extLst>
                        <a:ext uri="{9D8B030D-6E8A-4147-A177-3AD203B41FA5}">
                          <a16:colId xmlns:a16="http://schemas.microsoft.com/office/drawing/2014/main" val="1254182518"/>
                        </a:ext>
                      </a:extLst>
                    </a:gridCol>
                  </a:tblGrid>
                  <a:tr h="27144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877" marR="5987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336" r="-100862" b="-1004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877" marR="5987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9571" t="-2336" r="-429" b="-1004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1470269"/>
                      </a:ext>
                    </a:extLst>
                  </a:tr>
                  <a:tr h="27144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877" marR="5987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02336" r="-100862" b="-4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877" marR="5987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9571" t="-102336" r="-429" b="-4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6617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770632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BBAE5D4-A013-554B-AF18-FD3C50BA4B0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-18544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12.12.5 Wrap-Up: Error Analysis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0A85065-1747-6C4E-8BA4-9C1ED8A185A6}"/>
              </a:ext>
            </a:extLst>
          </p:cNvPr>
          <p:cNvSpPr/>
          <p:nvPr/>
        </p:nvSpPr>
        <p:spPr>
          <a:xfrm>
            <a:off x="914400" y="1309477"/>
            <a:ext cx="10515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While checking her homework from last night, Lola noticed she got the following problem incorrect. Examine Lola’s work and write a note to her detailing how she can correct her mistake.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D20425D2-BFDA-974E-9037-009E6465CCF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Diagram, schematic&#10;&#10;Description automatically generated">
            <a:extLst>
              <a:ext uri="{FF2B5EF4-FFF2-40B4-BE49-F238E27FC236}">
                <a16:creationId xmlns:a16="http://schemas.microsoft.com/office/drawing/2014/main" id="{363AAF0D-BAA5-254F-B14C-841D1E69CFE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0114" y="3424826"/>
            <a:ext cx="2291773" cy="187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1470</TotalTime>
  <Words>759</Words>
  <Application>Microsoft Office PowerPoint</Application>
  <PresentationFormat>Widescreen</PresentationFormat>
  <Paragraphs>163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Cambria</vt:lpstr>
      <vt:lpstr>Verdana</vt:lpstr>
      <vt:lpstr>Wingdings</vt:lpstr>
      <vt:lpstr>Century Gothic</vt:lpstr>
      <vt:lpstr>Calibri</vt:lpstr>
      <vt:lpstr>Arial Black</vt:lpstr>
      <vt:lpstr>Cambria Math</vt:lpstr>
      <vt:lpstr>Arial</vt:lpstr>
      <vt:lpstr>1_Office Theme</vt:lpstr>
      <vt:lpstr>6th Grade Math  Unit 12, Lesson 12  Solving One-Step Multiplication and Division Equations Algebraically  Volume 2, pg. 346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30</cp:revision>
  <dcterms:created xsi:type="dcterms:W3CDTF">2015-03-17T18:51:18Z</dcterms:created>
  <dcterms:modified xsi:type="dcterms:W3CDTF">2022-06-06T18:59:25Z</dcterms:modified>
</cp:coreProperties>
</file>