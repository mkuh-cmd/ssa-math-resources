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5" r:id="rId4"/>
    <p:sldId id="286" r:id="rId5"/>
    <p:sldId id="261" r:id="rId6"/>
    <p:sldId id="287" r:id="rId7"/>
    <p:sldId id="351" r:id="rId8"/>
    <p:sldId id="345" r:id="rId9"/>
    <p:sldId id="346" r:id="rId10"/>
    <p:sldId id="347" r:id="rId11"/>
    <p:sldId id="358" r:id="rId12"/>
    <p:sldId id="342" r:id="rId13"/>
    <p:sldId id="343" r:id="rId14"/>
    <p:sldId id="344" r:id="rId15"/>
    <p:sldId id="352" r:id="rId16"/>
    <p:sldId id="353" r:id="rId17"/>
    <p:sldId id="354" r:id="rId18"/>
    <p:sldId id="355" r:id="rId19"/>
    <p:sldId id="359" r:id="rId20"/>
    <p:sldId id="360" r:id="rId21"/>
    <p:sldId id="302" r:id="rId22"/>
    <p:sldId id="303" r:id="rId23"/>
    <p:sldId id="340" r:id="rId24"/>
    <p:sldId id="356" r:id="rId25"/>
    <p:sldId id="357" r:id="rId26"/>
    <p:sldId id="311" r:id="rId27"/>
    <p:sldId id="312" r:id="rId28"/>
    <p:sldId id="333" r:id="rId29"/>
    <p:sldId id="361" r:id="rId30"/>
    <p:sldId id="362" r:id="rId31"/>
    <p:sldId id="306" r:id="rId32"/>
    <p:sldId id="307" r:id="rId33"/>
  </p:sldIdLst>
  <p:sldSz cx="12192000" cy="6858000"/>
  <p:notesSz cx="6858000" cy="9144000"/>
  <p:embeddedFontLst>
    <p:embeddedFont>
      <p:font typeface="Calibri" pitchFamily="34" charset="0"/>
      <p:regular r:id="rId35"/>
      <p:bold r:id="rId36"/>
      <p:italic r:id="rId37"/>
      <p:boldItalic r:id="rId38"/>
    </p:embeddedFont>
    <p:embeddedFont>
      <p:font typeface="Century Gothic" pitchFamily="34" charset="0"/>
      <p:regular r:id="rId39"/>
      <p:bold r:id="rId40"/>
      <p:italic r:id="rId41"/>
      <p:boldItalic r:id="rId42"/>
    </p:embeddedFont>
    <p:embeddedFont>
      <p:font typeface="Cambria Math" pitchFamily="18" charset="0"/>
      <p:regular r:id="rId43"/>
    </p:embeddedFont>
    <p:embeddedFont>
      <p:font typeface="Cambria" pitchFamily="18" charset="0"/>
      <p:regular r:id="rId44"/>
      <p:bold r:id="rId45"/>
      <p:italic r:id="rId46"/>
      <p:boldItalic r:id="rId47"/>
    </p:embeddedFont>
    <p:embeddedFont>
      <p:font typeface="Arial Black" pitchFamily="34" charset="0"/>
      <p:bold r:id="rId48"/>
    </p:embeddedFont>
    <p:embeddedFont>
      <p:font typeface="Verdana" pitchFamily="34" charset="0"/>
      <p:regular r:id="rId49"/>
      <p:bold r:id="rId50"/>
      <p:italic r:id="rId51"/>
      <p:boldItalic r:id="rId52"/>
    </p:embeddedFont>
    <p:embeddedFont>
      <p:font typeface="MS Mincho" pitchFamily="49" charset="-128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CB"/>
    <a:srgbClr val="8B2D77"/>
    <a:srgbClr val="14BAAA"/>
    <a:srgbClr val="26B7D4"/>
    <a:srgbClr val="E24E5F"/>
    <a:srgbClr val="52BDA6"/>
    <a:srgbClr val="276C46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0979"/>
    <p:restoredTop sz="94645"/>
  </p:normalViewPr>
  <p:slideViewPr>
    <p:cSldViewPr snapToGrid="0">
      <p:cViewPr varScale="1">
        <p:scale>
          <a:sx n="68" d="100"/>
          <a:sy n="68" d="100"/>
        </p:scale>
        <p:origin x="-126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70065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3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179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2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301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745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094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194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276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0544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621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1098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2327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emf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an Unknown Decimal in an Equation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281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MA.6.AR.2.4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unknown decimal or fraction in an equation involving any of the four operations, relating three numbers, with the unknown in any position.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determine an unknown decimal in a numeric equation with three numbers.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12.1.1 Warm-Up: What Is STEM?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914399" y="1700653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Science, Technology, Engineering, and Mathematics (STEM) is a way of thinking and doing. STEM skills are useful to almost every career.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individual does not need to be a master in all four areas of STEM to be successful; teamwork plays an important role. Playing to a person’s strengths and working as a team creates a greater impact than working alone. 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914400" y="554241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a time where it was better for you to work as a team than alone.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two jobs that involve working as a team but are in different fields of STEM.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88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1.png" descr="Icon&#10;&#10;Description automatically generated">
            <a:extLst>
              <a:ext uri="{FF2B5EF4-FFF2-40B4-BE49-F238E27FC236}">
                <a16:creationId xmlns:a16="http://schemas.microsoft.com/office/drawing/2014/main" xmlns="" id="{2D120C7E-9E33-D34B-80EE-2AB7A5D16E8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1972" cy="115197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12.1.2 Refresher: The Unknown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2BE9AFC-D858-8947-AE27-3738478587E3}"/>
              </a:ext>
            </a:extLst>
          </p:cNvPr>
          <p:cNvSpPr/>
          <p:nvPr/>
        </p:nvSpPr>
        <p:spPr>
          <a:xfrm>
            <a:off x="914400" y="1491032"/>
            <a:ext cx="1051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complete the following.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math,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variables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are used to represent unknown values.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11.png" descr="Icon&#10;&#10;Description automatically generated">
            <a:extLst>
              <a:ext uri="{FF2B5EF4-FFF2-40B4-BE49-F238E27FC236}">
                <a16:creationId xmlns:a16="http://schemas.microsoft.com/office/drawing/2014/main" xmlns="" id="{93548F94-44B3-764F-AC49-82279FD80634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1801" cy="741801"/>
          </a:xfrm>
          <a:prstGeom prst="rect">
            <a:avLst/>
          </a:prstGeom>
          <a:ln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10B42EE9-95B6-3C45-A879-7B304ADA5A7A}"/>
              </a:ext>
            </a:extLst>
          </p:cNvPr>
          <p:cNvGrpSpPr/>
          <p:nvPr/>
        </p:nvGrpSpPr>
        <p:grpSpPr>
          <a:xfrm>
            <a:off x="2781300" y="2868018"/>
            <a:ext cx="6629400" cy="1665176"/>
            <a:chOff x="2031300" y="2641636"/>
            <a:chExt cx="6629400" cy="166546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5D01BEA-D688-754F-A593-7471CDED7DC6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73D1FAB9-36B6-FC4F-98EA-161EDCCBD605}"/>
                </a:ext>
              </a:extLst>
            </p:cNvPr>
            <p:cNvGrpSpPr/>
            <p:nvPr/>
          </p:nvGrpSpPr>
          <p:grpSpPr>
            <a:xfrm>
              <a:off x="2031300" y="2641636"/>
              <a:ext cx="6629400" cy="1665465"/>
              <a:chOff x="2031300" y="2661958"/>
              <a:chExt cx="6629400" cy="16357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C47BFD8C-7383-784A-BF8E-C8FFAAAE31F6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xmlns="" id="{847105AA-ABE9-9448-9B28-14AA3EB06156}"/>
                  </a:ext>
                </a:extLst>
              </p:cNvPr>
              <p:cNvGrpSpPr/>
              <p:nvPr/>
            </p:nvGrpSpPr>
            <p:grpSpPr>
              <a:xfrm>
                <a:off x="2031300" y="2661958"/>
                <a:ext cx="6629400" cy="1635730"/>
                <a:chOff x="2031300" y="2773270"/>
                <a:chExt cx="6629400" cy="163573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xmlns="" id="{DF897C5E-7B64-494C-8B83-2C078C08AA48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xmlns="" id="{F6AB7CB1-E843-4047-BA24-6EB5A8373753}"/>
                    </a:ext>
                  </a:extLst>
                </p:cNvPr>
                <p:cNvGrpSpPr/>
                <p:nvPr/>
              </p:nvGrpSpPr>
              <p:grpSpPr>
                <a:xfrm>
                  <a:off x="2031300" y="2773270"/>
                  <a:ext cx="6629400" cy="1413130"/>
                  <a:chOff x="2031300" y="2773270"/>
                  <a:chExt cx="6629400" cy="1413130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xmlns="" id="{6A1F7C8A-2D53-6049-8556-B470F585A94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xmlns="" id="{38E7A944-5FAB-C849-9BB3-42466D89D1C9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2773270"/>
                    <a:ext cx="6629400" cy="1413130"/>
                    <a:chOff x="0" y="-600330"/>
                    <a:chExt cx="6629400" cy="1413130"/>
                  </a:xfrm>
                </p:grpSpPr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xmlns="" id="{53E53AD6-3963-DE41-A0A1-7A426B6FB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  <p:sp>
                  <p:nvSpPr>
                    <p:cNvPr id="23" name="Rounded Rectangle 22">
                      <a:extLst>
                        <a:ext uri="{FF2B5EF4-FFF2-40B4-BE49-F238E27FC236}">
                          <a16:creationId xmlns:a16="http://schemas.microsoft.com/office/drawing/2014/main" xmlns="" id="{2E3EAE06-2C49-0441-893D-05B309BC8B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600330"/>
                      <a:ext cx="6629400" cy="103542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In an algebraic expression, a </a:t>
                      </a:r>
                      <a:r>
                        <a:rPr lang="en-US" sz="1800" b="1" i="1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variable</a:t>
                      </a:r>
                      <a:r>
                        <a:rPr lang="en-US" sz="1800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 is a letter that represents a number.</a:t>
                      </a:r>
                      <a:endParaRPr lang="x-none" sz="1200" dirty="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CC038226-CDAE-F642-ABF7-1331AEAA9F69}"/>
              </a:ext>
            </a:extLst>
          </p:cNvPr>
          <p:cNvSpPr/>
          <p:nvPr/>
        </p:nvSpPr>
        <p:spPr>
          <a:xfrm>
            <a:off x="914400" y="4306815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variable(s) in each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BB397E3F-161B-A742-959A-88F87FE0FC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7679063"/>
                  </p:ext>
                </p:extLst>
              </p:nvPr>
            </p:nvGraphicFramePr>
            <p:xfrm>
              <a:off x="2212975" y="5240141"/>
              <a:ext cx="7766050" cy="4679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8260">
                      <a:extLst>
                        <a:ext uri="{9D8B030D-6E8A-4147-A177-3AD203B41FA5}">
                          <a16:colId xmlns:a16="http://schemas.microsoft.com/office/drawing/2014/main" xmlns="" val="989177515"/>
                        </a:ext>
                      </a:extLst>
                    </a:gridCol>
                    <a:gridCol w="2588895">
                      <a:extLst>
                        <a:ext uri="{9D8B030D-6E8A-4147-A177-3AD203B41FA5}">
                          <a16:colId xmlns:a16="http://schemas.microsoft.com/office/drawing/2014/main" xmlns="" val="3039679583"/>
                        </a:ext>
                      </a:extLst>
                    </a:gridCol>
                    <a:gridCol w="2588895">
                      <a:extLst>
                        <a:ext uri="{9D8B030D-6E8A-4147-A177-3AD203B41FA5}">
                          <a16:colId xmlns:a16="http://schemas.microsoft.com/office/drawing/2014/main" xmlns="" val="247542325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02066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B397E3F-161B-A742-959A-88F87FE0FC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7679063"/>
                  </p:ext>
                </p:extLst>
              </p:nvPr>
            </p:nvGraphicFramePr>
            <p:xfrm>
              <a:off x="2212975" y="5240141"/>
              <a:ext cx="7766050" cy="4679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8260">
                      <a:extLst>
                        <a:ext uri="{9D8B030D-6E8A-4147-A177-3AD203B41FA5}">
                          <a16:colId xmlns:a16="http://schemas.microsoft.com/office/drawing/2014/main" val="989177515"/>
                        </a:ext>
                      </a:extLst>
                    </a:gridCol>
                    <a:gridCol w="2588895">
                      <a:extLst>
                        <a:ext uri="{9D8B030D-6E8A-4147-A177-3AD203B41FA5}">
                          <a16:colId xmlns:a16="http://schemas.microsoft.com/office/drawing/2014/main" val="3039679583"/>
                        </a:ext>
                      </a:extLst>
                    </a:gridCol>
                    <a:gridCol w="2588895">
                      <a:extLst>
                        <a:ext uri="{9D8B030D-6E8A-4147-A177-3AD203B41FA5}">
                          <a16:colId xmlns:a16="http://schemas.microsoft.com/office/drawing/2014/main" val="2475423251"/>
                        </a:ext>
                      </a:extLst>
                    </a:gridCol>
                  </a:tblGrid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200000" b="-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100000" b="-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b="-1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0662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14400" y="956051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Variables are found in algebraic equations.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E2151FA-3DAF-4542-B60F-D6139E7AFB5E}"/>
              </a:ext>
            </a:extLst>
          </p:cNvPr>
          <p:cNvGrpSpPr/>
          <p:nvPr/>
        </p:nvGrpSpPr>
        <p:grpSpPr>
          <a:xfrm>
            <a:off x="2460162" y="2108816"/>
            <a:ext cx="7271676" cy="1186774"/>
            <a:chOff x="1710162" y="3120121"/>
            <a:chExt cx="7271676" cy="118698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ADD70A35-9A5D-2F45-BEBE-602347186942}"/>
                </a:ext>
              </a:extLst>
            </p:cNvPr>
            <p:cNvGrpSpPr/>
            <p:nvPr/>
          </p:nvGrpSpPr>
          <p:grpSpPr>
            <a:xfrm>
              <a:off x="1710162" y="3120121"/>
              <a:ext cx="7271676" cy="1186981"/>
              <a:chOff x="1710162" y="3120121"/>
              <a:chExt cx="7271676" cy="1186981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37CAEE01-78B6-FB40-905A-ECDB9BAF35AA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xmlns="" id="{DBB48D8B-64A1-CE41-820D-B0D0DD40CE07}"/>
                  </a:ext>
                </a:extLst>
              </p:cNvPr>
              <p:cNvGrpSpPr/>
              <p:nvPr/>
            </p:nvGrpSpPr>
            <p:grpSpPr>
              <a:xfrm>
                <a:off x="1710162" y="3120121"/>
                <a:ext cx="7271676" cy="1186979"/>
                <a:chOff x="1710162" y="3131901"/>
                <a:chExt cx="7271676" cy="1165787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xmlns="" id="{A5FE3D20-B650-3949-B3AD-B514807CB68D}"/>
                    </a:ext>
                  </a:extLst>
                </p:cNvPr>
                <p:cNvSpPr/>
                <p:nvPr/>
              </p:nvSpPr>
              <p:spPr>
                <a:xfrm>
                  <a:off x="2031300" y="3262288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xmlns="" id="{A4D234BC-D1D3-024C-9F06-5B65664AA7FD}"/>
                    </a:ext>
                  </a:extLst>
                </p:cNvPr>
                <p:cNvGrpSpPr/>
                <p:nvPr/>
              </p:nvGrpSpPr>
              <p:grpSpPr>
                <a:xfrm>
                  <a:off x="1710162" y="3131901"/>
                  <a:ext cx="7271676" cy="1165787"/>
                  <a:chOff x="1710162" y="3243213"/>
                  <a:chExt cx="7271676" cy="1165787"/>
                </a:xfrm>
              </p:grpSpPr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xmlns="" id="{0A0BA97D-BB42-3946-9172-3D446966AAB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1035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xmlns="" id="{9738B435-D439-E941-9043-4BF360BE4C36}"/>
                      </a:ext>
                    </a:extLst>
                  </p:cNvPr>
                  <p:cNvGrpSpPr/>
                  <p:nvPr/>
                </p:nvGrpSpPr>
                <p:grpSpPr>
                  <a:xfrm>
                    <a:off x="1710162" y="3243213"/>
                    <a:ext cx="7271676" cy="1035424"/>
                    <a:chOff x="1710162" y="3243213"/>
                    <a:chExt cx="7271676" cy="1035424"/>
                  </a:xfrm>
                </p:grpSpPr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xmlns="" id="{A5E651AC-D5D4-2B41-92D4-5DB0C2F5D2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37360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xmlns="" id="{163626BE-213C-EE45-9B36-F9F7413416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0162" y="3243213"/>
                      <a:ext cx="7271676" cy="1035424"/>
                      <a:chOff x="-321138" y="-130387"/>
                      <a:chExt cx="7271676" cy="1035424"/>
                    </a:xfrm>
                  </p:grpSpPr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xmlns="" id="{9F12E827-697B-5942-A666-B449B86A52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rPr>
                          <a:t> </a:t>
                        </a:r>
                        <a:endParaRPr lang="x-none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endParaRPr>
                      </a:p>
                    </p:txBody>
                  </p:sp>
                  <p:sp>
                    <p:nvSpPr>
                      <p:cNvPr id="29" name="Rounded Rectangle 28">
                        <a:extLst>
                          <a:ext uri="{FF2B5EF4-FFF2-40B4-BE49-F238E27FC236}">
                            <a16:creationId xmlns:a16="http://schemas.microsoft.com/office/drawing/2014/main" xmlns="" id="{BF1F65E2-4D96-914D-8C7B-5ED629FBE9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321138" y="-130387"/>
                        <a:ext cx="7271676" cy="1035424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E2EED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742950">
                          <a:spcAft>
                            <a:spcPts val="1000"/>
                          </a:spcAft>
                        </a:pPr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An </a:t>
                        </a:r>
                        <a:r>
                          <a:rPr lang="en-US" sz="1800" b="1" i="1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equation</a:t>
                        </a:r>
                        <a:r>
                          <a:rPr lang="en-US" sz="1800" dirty="0">
                            <a:solidFill>
                              <a:srgbClr val="6C993D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 is a mathematical relation statement where two equivalent expressions or values are separated by an equal sign.</a:t>
                        </a:r>
                        <a:endParaRPr lang="x-none" sz="1200" dirty="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endParaRPr>
                      </a:p>
                    </p:txBody>
                  </p:sp>
                  <p:pic>
                    <p:nvPicPr>
                      <p:cNvPr id="30" name="Shape 13" descr="Icon&#10;&#10;Description automatically generated">
                        <a:extLst>
                          <a:ext uri="{FF2B5EF4-FFF2-40B4-BE49-F238E27FC236}">
                            <a16:creationId xmlns:a16="http://schemas.microsoft.com/office/drawing/2014/main" xmlns="" id="{71301503-600C-0046-A69F-957B161F397F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 cstate="screen">
                        <a:alphaModFix/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/>
                    </p:blipFill>
                    <p:spPr>
                      <a:xfrm>
                        <a:off x="-114935" y="-22050"/>
                        <a:ext cx="5397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</p:pic>
                </p:grpSp>
              </p:grp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818CE2A-F258-D84F-A7A5-C72DEF59768E}"/>
              </a:ext>
            </a:extLst>
          </p:cNvPr>
          <p:cNvGrpSpPr/>
          <p:nvPr/>
        </p:nvGrpSpPr>
        <p:grpSpPr>
          <a:xfrm>
            <a:off x="2460162" y="3562350"/>
            <a:ext cx="7271676" cy="1054100"/>
            <a:chOff x="1710162" y="3252877"/>
            <a:chExt cx="7271676" cy="1054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1C38DD90-22C6-6D42-A485-622722A3C230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MS Mincho" panose="02020609040205080304" pitchFamily="49" charset="-128"/>
                <a:cs typeface="Cambria" panose="020405030504060302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B9F1D440-5B9C-4B4E-8A45-23625F62753F}"/>
                </a:ext>
              </a:extLst>
            </p:cNvPr>
            <p:cNvGrpSpPr/>
            <p:nvPr/>
          </p:nvGrpSpPr>
          <p:grpSpPr>
            <a:xfrm>
              <a:off x="1710162" y="3252878"/>
              <a:ext cx="7271676" cy="1054222"/>
              <a:chOff x="1710162" y="3262288"/>
              <a:chExt cx="7271676" cy="10354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7467E219-2FE4-D644-B83B-162ECB24D328}"/>
                  </a:ext>
                </a:extLst>
              </p:cNvPr>
              <p:cNvSpPr/>
              <p:nvPr/>
            </p:nvSpPr>
            <p:spPr>
              <a:xfrm>
                <a:off x="2031300" y="3262288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xmlns="" id="{D0793E3E-FCEE-5C47-9CAA-B3CDA4192CDF}"/>
                  </a:ext>
                </a:extLst>
              </p:cNvPr>
              <p:cNvGrpSpPr/>
              <p:nvPr/>
            </p:nvGrpSpPr>
            <p:grpSpPr>
              <a:xfrm>
                <a:off x="1710162" y="3262288"/>
                <a:ext cx="7271676" cy="1035400"/>
                <a:chOff x="1710162" y="3373600"/>
                <a:chExt cx="7271676" cy="103540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xmlns="" id="{CD90458C-3D33-5649-B0DB-DB9F7424CADD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103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xmlns="" id="{096611E4-9B6E-424F-A8E9-845D9A5DBDC9}"/>
                    </a:ext>
                  </a:extLst>
                </p:cNvPr>
                <p:cNvGrpSpPr/>
                <p:nvPr/>
              </p:nvGrpSpPr>
              <p:grpSpPr>
                <a:xfrm>
                  <a:off x="1710162" y="3373600"/>
                  <a:ext cx="7271676" cy="935495"/>
                  <a:chOff x="1710162" y="3373600"/>
                  <a:chExt cx="7271676" cy="93549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xmlns="" id="{B6F9FE92-E8FD-AC44-B707-B938B1D6007C}"/>
                      </a:ext>
                    </a:extLst>
                  </p:cNvPr>
                  <p:cNvSpPr/>
                  <p:nvPr/>
                </p:nvSpPr>
                <p:spPr>
                  <a:xfrm>
                    <a:off x="2031300" y="337360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xmlns="" id="{CF003D4D-609C-2241-A0EA-DE2E56018B1E}"/>
                      </a:ext>
                    </a:extLst>
                  </p:cNvPr>
                  <p:cNvGrpSpPr/>
                  <p:nvPr/>
                </p:nvGrpSpPr>
                <p:grpSpPr>
                  <a:xfrm>
                    <a:off x="1710162" y="3373600"/>
                    <a:ext cx="7271676" cy="935495"/>
                    <a:chOff x="-321138" y="0"/>
                    <a:chExt cx="7271676" cy="935495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xmlns="" id="{474D0996-1FE1-BF4B-ACFD-4C62A8644F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812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  <p:sp>
                  <p:nvSpPr>
                    <p:cNvPr id="18" name="Rounded Rectangle 17">
                      <a:extLst>
                        <a:ext uri="{FF2B5EF4-FFF2-40B4-BE49-F238E27FC236}">
                          <a16:creationId xmlns:a16="http://schemas.microsoft.com/office/drawing/2014/main" xmlns="" id="{5E190FD0-6782-0E44-B239-2547334F7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21138" y="0"/>
                      <a:ext cx="7271676" cy="93549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57150"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An </a:t>
                      </a:r>
                      <a:r>
                        <a:rPr lang="en-US" sz="1800" b="1" i="1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algebraic equation</a:t>
                      </a:r>
                      <a:r>
                        <a:rPr lang="en-US" sz="1800" dirty="0">
                          <a:solidFill>
                            <a:srgbClr val="6C9A3C"/>
                          </a:solidFill>
                          <a:latin typeface="Verdana" panose="020B0604030504040204" pitchFamily="34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 is an equation with at least one variable.</a:t>
                      </a:r>
                      <a:endParaRPr lang="x-none" sz="1200" dirty="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956051"/>
                <a:ext cx="10515600" cy="1724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the algebraic equations.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6+8=14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+7=13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+8=12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956051"/>
                <a:ext cx="10515600" cy="1724511"/>
              </a:xfrm>
              <a:prstGeom prst="rect">
                <a:avLst/>
              </a:prstGeom>
              <a:blipFill>
                <a:blip r:embed="rId4"/>
                <a:stretch>
                  <a:fillRect l="-965" t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9483280D-775F-B345-8A05-B1E0135DD3AA}"/>
              </a:ext>
            </a:extLst>
          </p:cNvPr>
          <p:cNvGrpSpPr/>
          <p:nvPr/>
        </p:nvGrpSpPr>
        <p:grpSpPr>
          <a:xfrm>
            <a:off x="2442700" y="3219860"/>
            <a:ext cx="7306601" cy="1915160"/>
            <a:chOff x="1709504" y="3275735"/>
            <a:chExt cx="7306943" cy="191529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9F60E99D-688A-A44B-9B36-F6406287749B}"/>
                </a:ext>
              </a:extLst>
            </p:cNvPr>
            <p:cNvGrpSpPr/>
            <p:nvPr/>
          </p:nvGrpSpPr>
          <p:grpSpPr>
            <a:xfrm>
              <a:off x="1709504" y="3275735"/>
              <a:ext cx="7306943" cy="1915297"/>
              <a:chOff x="1709504" y="3275735"/>
              <a:chExt cx="7306943" cy="1915297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id="{334515D2-FD75-7249-BA88-20B8003C59E7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xmlns="" id="{76E9FDC4-0AD5-8444-9125-0F98CE265AC1}"/>
                  </a:ext>
                </a:extLst>
              </p:cNvPr>
              <p:cNvGrpSpPr/>
              <p:nvPr/>
            </p:nvGrpSpPr>
            <p:grpSpPr>
              <a:xfrm>
                <a:off x="1709504" y="3275735"/>
                <a:ext cx="7306943" cy="1915297"/>
                <a:chOff x="1709504" y="3275735"/>
                <a:chExt cx="7306943" cy="1915297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xmlns="" id="{5C75DDE4-6416-F444-A181-6EBE4E638A7B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xmlns="" id="{B6DB3665-B804-6846-8B4A-8D343C3F126F}"/>
                    </a:ext>
                  </a:extLst>
                </p:cNvPr>
                <p:cNvGrpSpPr/>
                <p:nvPr/>
              </p:nvGrpSpPr>
              <p:grpSpPr>
                <a:xfrm>
                  <a:off x="1709504" y="3275735"/>
                  <a:ext cx="7306943" cy="1915297"/>
                  <a:chOff x="1709504" y="3275735"/>
                  <a:chExt cx="7306943" cy="1915297"/>
                </a:xfrm>
              </p:grpSpPr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xmlns="" id="{37F1FFD8-ED8A-8549-8E12-2371BAAECEF4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endParaRPr>
                  </a:p>
                </p:txBody>
              </p: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xmlns="" id="{95DCF1BB-9A33-1E40-8E15-B4709E3CF6A3}"/>
                      </a:ext>
                    </a:extLst>
                  </p:cNvPr>
                  <p:cNvGrpSpPr/>
                  <p:nvPr/>
                </p:nvGrpSpPr>
                <p:grpSpPr>
                  <a:xfrm>
                    <a:off x="1709504" y="3275735"/>
                    <a:ext cx="7306943" cy="1915297"/>
                    <a:chOff x="1709504" y="3275735"/>
                    <a:chExt cx="7306943" cy="1915297"/>
                  </a:xfrm>
                </p:grpSpPr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xmlns="" id="{1E187D74-C7F1-5049-B3FE-9E02915D84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  <a:endParaRPr lang="x-none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p:txBody>
                </p:sp>
                <p:grpSp>
                  <p:nvGrpSpPr>
                    <p:cNvPr id="40" name="Group 39">
                      <a:extLst>
                        <a:ext uri="{FF2B5EF4-FFF2-40B4-BE49-F238E27FC236}">
                          <a16:creationId xmlns:a16="http://schemas.microsoft.com/office/drawing/2014/main" xmlns="" id="{4DBBD507-5E26-0B49-A7A3-CFDC1184A1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09504" y="3275735"/>
                      <a:ext cx="7306943" cy="1915297"/>
                      <a:chOff x="-321796" y="0"/>
                      <a:chExt cx="7306943" cy="1915297"/>
                    </a:xfrm>
                  </p:grpSpPr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xmlns="" id="{381E728F-8A0A-384B-9BB9-305F7D39AB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rPr>
                          <a:t> </a:t>
                        </a:r>
                        <a:endParaRPr lang="x-none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endParaRPr>
                      </a:p>
                    </p:txBody>
                  </p:sp>
                  <p:grpSp>
                    <p:nvGrpSpPr>
                      <p:cNvPr id="42" name="Group 41">
                        <a:extLst>
                          <a:ext uri="{FF2B5EF4-FFF2-40B4-BE49-F238E27FC236}">
                            <a16:creationId xmlns:a16="http://schemas.microsoft.com/office/drawing/2014/main" xmlns="" id="{35D9ECEF-8AD0-C34D-A9FD-7D3830A465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321796" y="0"/>
                        <a:ext cx="7306943" cy="1915297"/>
                        <a:chOff x="-321796" y="0"/>
                        <a:chExt cx="7306943" cy="1915297"/>
                      </a:xfrm>
                    </p:grpSpPr>
                    <p:sp>
                      <p:nvSpPr>
                        <p:cNvPr id="44" name="Rectangle 43">
                          <a:extLst>
                            <a:ext uri="{FF2B5EF4-FFF2-40B4-BE49-F238E27FC236}">
                              <a16:creationId xmlns:a16="http://schemas.microsoft.com/office/drawing/2014/main" xmlns="" id="{2F59E1C0-925D-B542-96D8-2101DB5F00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6629400" cy="786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MS Mincho" panose="02020609040205080304" pitchFamily="49" charset="-128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p:txBody>
                    </p:sp>
                    <p:sp>
                      <p:nvSpPr>
                        <p:cNvPr id="45" name="Rectangle 44">
                          <a:extLst>
                            <a:ext uri="{FF2B5EF4-FFF2-40B4-BE49-F238E27FC236}">
                              <a16:creationId xmlns:a16="http://schemas.microsoft.com/office/drawing/2014/main" xmlns="" id="{C4660B87-0ED1-7B42-BF52-28DF16038F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6629400" cy="786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MS Mincho" panose="02020609040205080304" pitchFamily="49" charset="-128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p:txBody>
                    </p:sp>
                    <p:sp>
                      <p:nvSpPr>
                        <p:cNvPr id="46" name="Rounded Rectangle 45">
                          <a:extLst>
                            <a:ext uri="{FF2B5EF4-FFF2-40B4-BE49-F238E27FC236}">
                              <a16:creationId xmlns:a16="http://schemas.microsoft.com/office/drawing/2014/main" xmlns="" id="{C31A2737-2091-8E4F-A559-0787112758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321796" y="0"/>
                          <a:ext cx="7306943" cy="1915297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B8E6F5"/>
                        </a:solid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685800"/>
                          <a:r>
                            <a:rPr lang="en-US" sz="1800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</a:t>
                          </a:r>
                          <a:r>
                            <a:rPr lang="en-US" sz="1800" b="1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solve</a:t>
                          </a:r>
                          <a:r>
                            <a:rPr lang="en-US" sz="1800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 equation means to find the solution.</a:t>
                          </a:r>
                          <a:endParaRPr lang="x-none" sz="1200" dirty="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  <a:p>
                          <a:pPr marL="685800"/>
                          <a:r>
                            <a:rPr lang="en-US" sz="1800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  <a:p>
                          <a:pPr marL="685800"/>
                          <a:r>
                            <a:rPr lang="en-US" sz="1800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</a:t>
                          </a:r>
                          <a:r>
                            <a:rPr lang="en-US" sz="1800" b="1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solution(s)</a:t>
                          </a:r>
                          <a:r>
                            <a:rPr lang="en-US" sz="1800" dirty="0">
                              <a:solidFill>
                                <a:srgbClr val="00619E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an algebraic equation is (are) the value(s) of the variable(s) that makes the equation true.</a:t>
                          </a:r>
                          <a:r>
                            <a:rPr lang="en-US" sz="1200" dirty="0">
                              <a:solidFill>
                                <a:srgbClr val="00619E"/>
                              </a:solidFill>
                              <a:latin typeface="Cambria" panose="02040503050406030204" pitchFamily="18" charset="0"/>
                              <a:ea typeface="MS Mincho" panose="02020609040205080304" pitchFamily="49" charset="-128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1200" dirty="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p:txBody>
                    </p:sp>
                  </p:grpSp>
                  <p:pic>
                    <p:nvPicPr>
                      <p:cNvPr id="43" name="Shape 31" descr="Icon&#10;&#10;Description automatically generated">
                        <a:extLst>
                          <a:ext uri="{FF2B5EF4-FFF2-40B4-BE49-F238E27FC236}">
                            <a16:creationId xmlns:a16="http://schemas.microsoft.com/office/drawing/2014/main" xmlns="" id="{27D9AA00-980B-CF49-8A1E-8BFFE79E074F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5" cstate="screen">
                        <a:alphaModFix/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/>
                    </p:blipFill>
                    <p:spPr>
                      <a:xfrm>
                        <a:off x="-107045" y="174251"/>
                        <a:ext cx="5397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</p:pic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41389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xmlns="" id="{C031FE84-D423-CC4C-831E-2D526CB91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733" cy="1156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4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12.1.3 Guided Instruction: Solving Equations Using Reasoning and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914400" y="1331161"/>
                <a:ext cx="105156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some equations, the solution can be found mentally or by using reasoning.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to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−12.1=35.3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found using reasoning.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find the value of 𝑛 in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−12.1=35.3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31161"/>
                <a:ext cx="10515600" cy="3785652"/>
              </a:xfrm>
              <a:prstGeom prst="rect">
                <a:avLst/>
              </a:prstGeom>
              <a:blipFill>
                <a:blip r:embed="rId4"/>
                <a:stretch>
                  <a:fillRect l="-870" t="-1288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xmlns="" id="{C6C9C2DF-E989-BB45-9CB6-957F2793000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14400" y="902612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equation is rewritten vertically with a box in the place of the variable. Write the solution in the box and check whether it makes the equation true.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xmlns="" id="{C6308192-B510-D040-9096-8263FEE31C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3916" y="2597214"/>
            <a:ext cx="1484168" cy="16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4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515600" cy="3232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Diagrams can also be helpful to find a solution. 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Olivia gave equal amounts of money to each of her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children. Olivia gave each child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$16.75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bar model represents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𝑚 is the total amount of money Olivia gave all of her children.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515600" cy="3232680"/>
              </a:xfrm>
              <a:prstGeom prst="rect">
                <a:avLst/>
              </a:prstGeom>
              <a:blipFill>
                <a:blip r:embed="rId4"/>
                <a:stretch>
                  <a:fillRect l="-870" t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44FAD7A3-2ADF-5245-A656-894A6E25B6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864578"/>
                  </p:ext>
                </p:extLst>
              </p:nvPr>
            </p:nvGraphicFramePr>
            <p:xfrm>
              <a:off x="3076575" y="4067354"/>
              <a:ext cx="6038850" cy="97282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12104">
                      <a:extLst>
                        <a:ext uri="{9D8B030D-6E8A-4147-A177-3AD203B41FA5}">
                          <a16:colId xmlns:a16="http://schemas.microsoft.com/office/drawing/2014/main" xmlns="" val="3903078103"/>
                        </a:ext>
                      </a:extLst>
                    </a:gridCol>
                    <a:gridCol w="2012738">
                      <a:extLst>
                        <a:ext uri="{9D8B030D-6E8A-4147-A177-3AD203B41FA5}">
                          <a16:colId xmlns:a16="http://schemas.microsoft.com/office/drawing/2014/main" xmlns="" val="3919331882"/>
                        </a:ext>
                      </a:extLst>
                    </a:gridCol>
                    <a:gridCol w="2014008">
                      <a:extLst>
                        <a:ext uri="{9D8B030D-6E8A-4147-A177-3AD203B41FA5}">
                          <a16:colId xmlns:a16="http://schemas.microsoft.com/office/drawing/2014/main" xmlns="" val="185293487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16.75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0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16.75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0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16.75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0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01334524"/>
                      </a:ext>
                    </a:extLst>
                  </a:tr>
                  <a:tr h="477520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86499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4FAD7A3-2ADF-5245-A656-894A6E25B6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1864578"/>
                  </p:ext>
                </p:extLst>
              </p:nvPr>
            </p:nvGraphicFramePr>
            <p:xfrm>
              <a:off x="3076575" y="4067354"/>
              <a:ext cx="6038850" cy="97282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12104">
                      <a:extLst>
                        <a:ext uri="{9D8B030D-6E8A-4147-A177-3AD203B41FA5}">
                          <a16:colId xmlns:a16="http://schemas.microsoft.com/office/drawing/2014/main" val="3903078103"/>
                        </a:ext>
                      </a:extLst>
                    </a:gridCol>
                    <a:gridCol w="2012738">
                      <a:extLst>
                        <a:ext uri="{9D8B030D-6E8A-4147-A177-3AD203B41FA5}">
                          <a16:colId xmlns:a16="http://schemas.microsoft.com/office/drawing/2014/main" val="3919331882"/>
                        </a:ext>
                      </a:extLst>
                    </a:gridCol>
                    <a:gridCol w="2014008">
                      <a:extLst>
                        <a:ext uri="{9D8B030D-6E8A-4147-A177-3AD203B41FA5}">
                          <a16:colId xmlns:a16="http://schemas.microsoft.com/office/drawing/2014/main" val="185293487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9" t="-2564" r="-2006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266" t="-2564" r="-10189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2564" r="-12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334524"/>
                      </a:ext>
                    </a:extLst>
                  </a:tr>
                  <a:tr h="47752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0" t="-105263" r="-420" b="-26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4997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81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356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515600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can the bar model be used to find the total amount of money Olivia gave all of her children, 𝑚?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number can be divided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get a result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 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515600" cy="3046988"/>
              </a:xfrm>
              <a:prstGeom prst="rect">
                <a:avLst/>
              </a:prstGeom>
              <a:blipFill>
                <a:blip r:embed="rId4"/>
                <a:stretch>
                  <a:fillRect t="-16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xmlns="" id="{42D3B985-8A99-2E4B-B39B-F2D36B8305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5603" y="4476672"/>
            <a:ext cx="2900795" cy="10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389993"/>
                <a:ext cx="10515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five equal-sized paperclips are placed end-to-end, the total length is 16 centimeters.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16=5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used to find the length of one paperclip, 𝑝.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rectangle represents the total length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paperclips.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9993"/>
                <a:ext cx="10515600" cy="2677656"/>
              </a:xfrm>
              <a:prstGeom prst="rect">
                <a:avLst/>
              </a:prstGeom>
              <a:blipFill>
                <a:blip r:embed="rId4"/>
                <a:stretch>
                  <a:fillRect l="-965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A1946F3-954C-434E-B872-4780B75F0979}"/>
              </a:ext>
            </a:extLst>
          </p:cNvPr>
          <p:cNvSpPr/>
          <p:nvPr/>
        </p:nvSpPr>
        <p:spPr>
          <a:xfrm>
            <a:off x="2857903" y="3596217"/>
            <a:ext cx="5312410" cy="447675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A460B1B-A0B4-0F40-8D7E-9FFDAF1E0D2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75" t="12670" r="35119" b="72356"/>
          <a:stretch/>
        </p:blipFill>
        <p:spPr bwMode="auto">
          <a:xfrm>
            <a:off x="2748280" y="4085457"/>
            <a:ext cx="6946900" cy="1028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22001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1"/>
                <a:ext cx="10795000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can the picture be used to find the value of 𝑝 in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16=5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number can be multiplied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result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16=5</m:t>
                      </m:r>
                      <m:d>
                        <m:dPr>
                          <m:ctrlPr>
                            <a:rPr lang="x-none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</m:oMath>
                  </m:oMathPara>
                </a14:m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each paperclip?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1"/>
                <a:ext cx="10795000" cy="4708981"/>
              </a:xfrm>
              <a:prstGeom prst="rect">
                <a:avLst/>
              </a:prstGeom>
              <a:blipFill>
                <a:blip r:embed="rId4"/>
                <a:stretch>
                  <a:fillRect t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D619AA9-76D9-0842-B586-EB46B96C0C78}"/>
              </a:ext>
            </a:extLst>
          </p:cNvPr>
          <p:cNvSpPr/>
          <p:nvPr/>
        </p:nvSpPr>
        <p:spPr>
          <a:xfrm>
            <a:off x="6474238" y="2924175"/>
            <a:ext cx="409575" cy="3524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</a:t>
            </a:r>
            <a:endParaRPr lang="x-none" sz="1200">
              <a:latin typeface="Cambria" panose="02040503050406030204" pitchFamily="18" charset="0"/>
              <a:ea typeface="MS Mincho" panose="02020609040205080304" pitchFamily="49" charset="-128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37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1"/>
                <a:ext cx="10515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Myla challenged herself to walk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each day. This morning she walked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1.68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miles. This situation can be represented by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3.5=1.68+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𝑥 is the number of miles Myla still needs to walk today to meet her goal.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Each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10 </m:t>
                    </m:r>
                    <m:r>
                      <a:rPr lang="en-US" sz="2400" i="1" dirty="0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grid represents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1"/>
                <a:ext cx="10515600" cy="2677656"/>
              </a:xfrm>
              <a:prstGeom prst="rect">
                <a:avLst/>
              </a:prstGeom>
              <a:blipFill rotWithShape="1">
                <a:blip r:embed="rId4"/>
                <a:stretch>
                  <a:fillRect l="-870" t="-2050" b="-41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8D9E827-5C0C-5040-922C-D8445733D45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78" t="20305" r="2013" b="6853"/>
          <a:stretch/>
        </p:blipFill>
        <p:spPr bwMode="auto">
          <a:xfrm>
            <a:off x="2481003" y="3761324"/>
            <a:ext cx="1600200" cy="16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15F72841-1E23-454B-BE44-63DBC5483EC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78" t="20305" r="2013" b="6853"/>
          <a:stretch/>
        </p:blipFill>
        <p:spPr bwMode="auto">
          <a:xfrm>
            <a:off x="4365221" y="3761324"/>
            <a:ext cx="1600200" cy="16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2F112E65-25B5-194C-BD8D-3221F81C5C1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78" t="20305" r="2013" b="6853"/>
          <a:stretch/>
        </p:blipFill>
        <p:spPr bwMode="auto">
          <a:xfrm>
            <a:off x="6221730" y="3761324"/>
            <a:ext cx="1600200" cy="16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0D19C13-78C4-6843-BA1C-F25CF6E7085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78" t="20305" r="2013" b="6853"/>
          <a:stretch/>
        </p:blipFill>
        <p:spPr bwMode="auto">
          <a:xfrm>
            <a:off x="8105948" y="3761324"/>
            <a:ext cx="1600200" cy="16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382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419022"/>
                <a:ext cx="10515600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to use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10 </m:t>
                    </m:r>
                    <m:r>
                      <a:rPr lang="en-US" sz="2000" i="1" dirty="0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grids to represent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3.5=1.68+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number can be added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1.68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Check your solution.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9022"/>
                <a:ext cx="10515600" cy="4401205"/>
              </a:xfrm>
              <a:prstGeom prst="rect">
                <a:avLst/>
              </a:prstGeom>
              <a:blipFill rotWithShape="1">
                <a:blip r:embed="rId4"/>
                <a:stretch>
                  <a:fillRect t="-831" b="-1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3897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Shape, rectangle, square&#10;&#10;Description automatically generated">
            <a:extLst>
              <a:ext uri="{FF2B5EF4-FFF2-40B4-BE49-F238E27FC236}">
                <a16:creationId xmlns:a16="http://schemas.microsoft.com/office/drawing/2014/main" xmlns="" id="{E65814A9-6C7F-C944-9430-9843ADA668F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6944" y="4978942"/>
            <a:ext cx="1106632" cy="122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22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:a16="http://schemas.microsoft.com/office/drawing/2014/main" xmlns="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12.1.4 Collaboration: Solving Equations Using Reasoning &amp;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66A031F-2EC8-DF4C-B3F5-E7AC5B8F3239}"/>
                  </a:ext>
                </a:extLst>
              </p:cNvPr>
              <p:cNvSpPr/>
              <p:nvPr/>
            </p:nvSpPr>
            <p:spPr>
              <a:xfrm>
                <a:off x="914400" y="1375713"/>
                <a:ext cx="105156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solve the following problems using reasoning and diagrams. </a:t>
                </a:r>
              </a:p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Vincent had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liters (L) of water. He poured some into the mixing bowl and had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0.35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 left.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75713"/>
                <a:ext cx="10515600" cy="1938992"/>
              </a:xfrm>
              <a:prstGeom prst="rect">
                <a:avLst/>
              </a:prstGeom>
              <a:blipFill>
                <a:blip r:embed="rId4"/>
                <a:stretch>
                  <a:fillRect l="-844" t="-2597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:a16="http://schemas.microsoft.com/office/drawing/2014/main" xmlns="" id="{04C19B76-A060-3243-AE2C-88D93DB1A19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65DC29FA-E066-4C4B-9E4C-7B3EE74B90C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62" t="11532" r="8302" b="15412"/>
          <a:stretch/>
        </p:blipFill>
        <p:spPr bwMode="auto">
          <a:xfrm>
            <a:off x="3137292" y="3348132"/>
            <a:ext cx="3059436" cy="28410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23AFAEAC-5A03-CD4F-A4A5-678AFE7FA21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53" t="11315" r="8849" b="14503"/>
          <a:stretch/>
        </p:blipFill>
        <p:spPr bwMode="auto">
          <a:xfrm>
            <a:off x="6130290" y="3336726"/>
            <a:ext cx="3019780" cy="28638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AF1552-9966-3643-BA84-BB4BC68EDBB5}"/>
              </a:ext>
            </a:extLst>
          </p:cNvPr>
          <p:cNvSpPr/>
          <p:nvPr/>
        </p:nvSpPr>
        <p:spPr>
          <a:xfrm>
            <a:off x="914400" y="482567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bar model shown represents this situation.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xmlns="" id="{A7253F0F-9771-E142-BF32-A175A3B20E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0109" y="1179759"/>
            <a:ext cx="6671782" cy="16050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95E8A95-06F3-9E49-903E-A98CB74D0D16}"/>
              </a:ext>
            </a:extLst>
          </p:cNvPr>
          <p:cNvSpPr/>
          <p:nvPr/>
        </p:nvSpPr>
        <p:spPr>
          <a:xfrm>
            <a:off x="914400" y="3141933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SzPct val="100000"/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bar model represents Vincent’s situation. Then, write a brief summary of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D9AF1552-9966-3643-BA84-BB4BC68EDBB5}"/>
                  </a:ext>
                </a:extLst>
              </p:cNvPr>
              <p:cNvSpPr/>
              <p:nvPr/>
            </p:nvSpPr>
            <p:spPr>
              <a:xfrm>
                <a:off x="914400" y="385584"/>
                <a:ext cx="10515600" cy="4039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SzPct val="100000"/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0.9−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=0.35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also be used to represent this situation. Find the value of 𝑤, the amount of water Vincent poured into the mixing bowl.</a:t>
                </a: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SzPct val="100000"/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Josephine told her brother she would give him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money they made from hosting a lemonade stand at their school carnival. She gave her brother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$24.25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This situation can be represented by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=24.25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𝑥, the amount of money they made at the lemonade stand. </a:t>
                </a:r>
                <a:endParaRPr lang="en-US" sz="16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5584"/>
                <a:ext cx="10515600" cy="4039311"/>
              </a:xfrm>
              <a:prstGeom prst="rect">
                <a:avLst/>
              </a:prstGeom>
              <a:blipFill>
                <a:blip r:embed="rId4"/>
                <a:stretch>
                  <a:fillRect l="-638" t="-905" b="-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AF1552-9966-3643-BA84-BB4BC68EDBB5}"/>
              </a:ext>
            </a:extLst>
          </p:cNvPr>
          <p:cNvSpPr/>
          <p:nvPr/>
        </p:nvSpPr>
        <p:spPr>
          <a:xfrm>
            <a:off x="914400" y="385585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SzPct val="100000"/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bar model shown to represent the situation.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3D922F2-A078-6747-B7A4-C32CC8F7184A}"/>
              </a:ext>
            </a:extLst>
          </p:cNvPr>
          <p:cNvSpPr/>
          <p:nvPr/>
        </p:nvSpPr>
        <p:spPr>
          <a:xfrm>
            <a:off x="914400" y="3572131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value of 𝑥, the amount of money they made at the lemonade stand.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59C3A4A-58BD-6044-AC8D-ED98D765F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32534"/>
              </p:ext>
            </p:extLst>
          </p:nvPr>
        </p:nvGraphicFramePr>
        <p:xfrm>
          <a:off x="2652713" y="1198622"/>
          <a:ext cx="6886575" cy="9144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16300">
                  <a:extLst>
                    <a:ext uri="{9D8B030D-6E8A-4147-A177-3AD203B41FA5}">
                      <a16:colId xmlns:a16="http://schemas.microsoft.com/office/drawing/2014/main" xmlns="" val="3215714873"/>
                    </a:ext>
                  </a:extLst>
                </a:gridCol>
                <a:gridCol w="3470275">
                  <a:extLst>
                    <a:ext uri="{9D8B030D-6E8A-4147-A177-3AD203B41FA5}">
                      <a16:colId xmlns:a16="http://schemas.microsoft.com/office/drawing/2014/main" xmlns="" val="362160874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46950495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6166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50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-855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12.1.5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914400" y="1340982"/>
                <a:ext cx="105156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DeAndré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paid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$58.54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a game at Store A, which was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$9.21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less than the price of the game at Store B. This situation can be represented by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58.54=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−9.21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𝑏 is the price of the game at Store B.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bar model diagram to represent this situation.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40982"/>
                <a:ext cx="10515600" cy="2308324"/>
              </a:xfrm>
              <a:prstGeom prst="rect">
                <a:avLst/>
              </a:prstGeom>
              <a:blipFill>
                <a:blip r:embed="rId4"/>
                <a:stretch>
                  <a:fillRect l="-870" t="-2375" r="-1449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xmlns="" id="{9EB4780D-786F-3646-9DFC-340634C6615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891" y="4131698"/>
            <a:ext cx="6456218" cy="15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71DEF1-087D-214F-86DF-C80090F990CE}"/>
              </a:ext>
            </a:extLst>
          </p:cNvPr>
          <p:cNvSpPr/>
          <p:nvPr/>
        </p:nvSpPr>
        <p:spPr>
          <a:xfrm>
            <a:off x="914400" y="1050932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value of 𝑏.</a:t>
            </a: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8A71DEF1-087D-214F-86DF-C80090F990CE}"/>
                  </a:ext>
                </a:extLst>
              </p:cNvPr>
              <p:cNvSpPr/>
              <p:nvPr/>
            </p:nvSpPr>
            <p:spPr>
              <a:xfrm>
                <a:off x="914400" y="382012"/>
                <a:ext cx="105156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Bottle A contains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ounces of water, which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amount of water in Bottle B. This situation can be represented by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6=0.25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𝑤 is the number of ounces of water in Bottle B.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bar model to represent this situation.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A71DEF1-087D-214F-86DF-C80090F990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2012"/>
                <a:ext cx="10515600" cy="2308324"/>
              </a:xfrm>
              <a:prstGeom prst="rect">
                <a:avLst/>
              </a:prstGeom>
              <a:blipFill>
                <a:blip r:embed="rId4"/>
                <a:stretch>
                  <a:fillRect l="-870" t="-2381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4AFB641-0734-D14E-8D8A-23CF1E158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419206"/>
              </p:ext>
            </p:extLst>
          </p:nvPr>
        </p:nvGraphicFramePr>
        <p:xfrm>
          <a:off x="2221523" y="3571737"/>
          <a:ext cx="6858000" cy="9144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82916241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xmlns="" val="4161227544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xmlns="" val="27680177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xmlns="" val="162353101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xmlns="" val="15840874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Bottle A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1255780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Bottle B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2255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678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71DEF1-087D-214F-86DF-C80090F990CE}"/>
              </a:ext>
            </a:extLst>
          </p:cNvPr>
          <p:cNvSpPr/>
          <p:nvPr/>
        </p:nvSpPr>
        <p:spPr>
          <a:xfrm>
            <a:off x="914400" y="950050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value of 𝑤.</a:t>
            </a:r>
          </a:p>
        </p:txBody>
      </p:sp>
    </p:spTree>
    <p:extLst>
      <p:ext uri="{BB962C8B-B14F-4D97-AF65-F5344CB8AC3E}">
        <p14:creationId xmlns:p14="http://schemas.microsoft.com/office/powerpoint/2010/main" val="2191989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A85065-1747-6C4E-8BA4-9C1ED8A185A6}"/>
              </a:ext>
            </a:extLst>
          </p:cNvPr>
          <p:cNvSpPr/>
          <p:nvPr/>
        </p:nvSpPr>
        <p:spPr>
          <a:xfrm>
            <a:off x="914400" y="1309478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learning pyramid.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xmlns="" id="{745D0A81-C09C-B24B-AF7B-7234751F5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085735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question I would like to have answered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xmlns="" id="{049A263A-D630-0347-9FBA-9B147B688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mistake I learned from today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xmlns="" id="{7E248EDB-2C5C-AE43-A07D-C1EF4EA72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27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not sure about … YET!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xmlns="" id="{7EFE6E41-E257-754A-A022-401F8B10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4769300"/>
            <a:ext cx="501926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confident I know is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1191</Words>
  <Application>Microsoft Office PowerPoint</Application>
  <PresentationFormat>Custom</PresentationFormat>
  <Paragraphs>238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MS Mincho</vt:lpstr>
      <vt:lpstr>1_Office Theme</vt:lpstr>
      <vt:lpstr>6th Grade Math  Unit 12, Lesson 1  Finding an Unknown Decimal in an Equation  Volume 2, pg. 281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30</cp:revision>
  <dcterms:created xsi:type="dcterms:W3CDTF">2015-03-17T18:51:18Z</dcterms:created>
  <dcterms:modified xsi:type="dcterms:W3CDTF">2022-07-09T03:08:04Z</dcterms:modified>
</cp:coreProperties>
</file>