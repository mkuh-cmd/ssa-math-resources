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57" r:id="rId3"/>
    <p:sldId id="285" r:id="rId4"/>
    <p:sldId id="286" r:id="rId5"/>
    <p:sldId id="261" r:id="rId6"/>
    <p:sldId id="287" r:id="rId7"/>
    <p:sldId id="351" r:id="rId8"/>
    <p:sldId id="345" r:id="rId9"/>
    <p:sldId id="346" r:id="rId10"/>
    <p:sldId id="347" r:id="rId11"/>
    <p:sldId id="342" r:id="rId12"/>
    <p:sldId id="343" r:id="rId13"/>
    <p:sldId id="344" r:id="rId14"/>
    <p:sldId id="352" r:id="rId15"/>
    <p:sldId id="353" r:id="rId16"/>
    <p:sldId id="354" r:id="rId17"/>
    <p:sldId id="355" r:id="rId18"/>
    <p:sldId id="359" r:id="rId19"/>
    <p:sldId id="360" r:id="rId20"/>
    <p:sldId id="367" r:id="rId21"/>
    <p:sldId id="368" r:id="rId22"/>
    <p:sldId id="369" r:id="rId23"/>
    <p:sldId id="302" r:id="rId24"/>
    <p:sldId id="303" r:id="rId25"/>
    <p:sldId id="340" r:id="rId26"/>
    <p:sldId id="356" r:id="rId27"/>
    <p:sldId id="357" r:id="rId28"/>
    <p:sldId id="363" r:id="rId29"/>
    <p:sldId id="364" r:id="rId30"/>
    <p:sldId id="365" r:id="rId31"/>
    <p:sldId id="366" r:id="rId32"/>
    <p:sldId id="306" r:id="rId33"/>
    <p:sldId id="307" r:id="rId34"/>
    <p:sldId id="370" r:id="rId35"/>
  </p:sldIdLst>
  <p:sldSz cx="12192000" cy="6858000"/>
  <p:notesSz cx="6858000" cy="9144000"/>
  <p:embeddedFontLst>
    <p:embeddedFont>
      <p:font typeface="Calibri" pitchFamily="34" charset="0"/>
      <p:regular r:id="rId37"/>
      <p:bold r:id="rId38"/>
      <p:italic r:id="rId39"/>
      <p:boldItalic r:id="rId40"/>
    </p:embeddedFont>
    <p:embeddedFont>
      <p:font typeface="Century Gothic" pitchFamily="34" charset="0"/>
      <p:regular r:id="rId41"/>
      <p:bold r:id="rId42"/>
      <p:italic r:id="rId43"/>
      <p:boldItalic r:id="rId44"/>
    </p:embeddedFont>
    <p:embeddedFont>
      <p:font typeface="Cambria Math" pitchFamily="18" charset="0"/>
      <p:regular r:id="rId45"/>
    </p:embeddedFont>
    <p:embeddedFont>
      <p:font typeface="Cambria" pitchFamily="18" charset="0"/>
      <p:regular r:id="rId46"/>
      <p:bold r:id="rId47"/>
      <p:italic r:id="rId48"/>
      <p:boldItalic r:id="rId49"/>
    </p:embeddedFont>
    <p:embeddedFont>
      <p:font typeface="Arial Black" pitchFamily="34" charset="0"/>
      <p:bold r:id="rId50"/>
    </p:embeddedFont>
    <p:embeddedFont>
      <p:font typeface="Verdana"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0CB"/>
    <a:srgbClr val="8B2D77"/>
    <a:srgbClr val="14BAAA"/>
    <a:srgbClr val="26B7D4"/>
    <a:srgbClr val="E24E5F"/>
    <a:srgbClr val="52BDA6"/>
    <a:srgbClr val="276C46"/>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6123"/>
    <p:restoredTop sz="94719"/>
  </p:normalViewPr>
  <p:slideViewPr>
    <p:cSldViewPr snapToGrid="0">
      <p:cViewPr varScale="1">
        <p:scale>
          <a:sx n="68" d="100"/>
          <a:sy n="68" d="100"/>
        </p:scale>
        <p:origin x="-126" y="-10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88882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658913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23423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18814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270094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85194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98276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20544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70789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72517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743425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6363367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8016979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598846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7897278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3674254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9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Writing Algebraic Expressions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5" name="Picture 4" descr="Logo&#10;&#10;Description automatically generated">
            <a:extLst>
              <a:ext uri="{FF2B5EF4-FFF2-40B4-BE49-F238E27FC236}">
                <a16:creationId xmlns:a16="http://schemas.microsoft.com/office/drawing/2014/main" xmlns=""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MA.6.AR.1.1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Given a mathematical or real-world context, translate written descriptions into algebraic expressions and translate algebraic expressions into written descriptions.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914400" y="1596390"/>
            <a:ext cx="10515600" cy="47628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914400" y="1545336"/>
            <a:ext cx="1051560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translate a written description into an algebraic expression.</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12.3.1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914400" y="1243453"/>
                <a:ext cx="10515600" cy="230832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Two diagrams are shown. One represents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3+5=8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The other represents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5⋅3=15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49263"/>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by writing the equation that matches each diagram in the space provided and labeling the length of each diagram.</a:t>
                </a: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914400" y="1243453"/>
                <a:ext cx="10515600" cy="2308324"/>
              </a:xfrm>
              <a:prstGeom prst="rect">
                <a:avLst/>
              </a:prstGeom>
              <a:blipFill>
                <a:blip r:embed="rId5"/>
                <a:stretch>
                  <a:fillRect l="-965" t="-1639" b="-5464"/>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pic>
        <p:nvPicPr>
          <p:cNvPr id="4" name="Picture 3" descr="Box and whisker chart&#10;&#10;Description automatically generated with medium confidence">
            <a:extLst>
              <a:ext uri="{FF2B5EF4-FFF2-40B4-BE49-F238E27FC236}">
                <a16:creationId xmlns:a16="http://schemas.microsoft.com/office/drawing/2014/main" xmlns="" id="{46385D13-28C5-C346-AAC2-2BC588A2305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408218" y="3830370"/>
            <a:ext cx="5375564" cy="2091639"/>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755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914400" y="554241"/>
                <a:ext cx="10515600" cy="378565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Draw a diagram that represents each equation.</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4+3=7</m:t>
                    </m:r>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4⋅3=12</m:t>
                    </m:r>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914400" y="554241"/>
                <a:ext cx="10515600" cy="3785652"/>
              </a:xfrm>
              <a:prstGeom prst="rect">
                <a:avLst/>
              </a:prstGeom>
              <a:blipFill>
                <a:blip r:embed="rId4"/>
                <a:stretch>
                  <a:fillRect l="-870" t="-1288" b="-2576"/>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293</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pic>
        <p:nvPicPr>
          <p:cNvPr id="7" name="image11.png" descr="Icon&#10;&#10;Description automatically generated">
            <a:extLst>
              <a:ext uri="{FF2B5EF4-FFF2-40B4-BE49-F238E27FC236}">
                <a16:creationId xmlns:a16="http://schemas.microsoft.com/office/drawing/2014/main" xmlns="" id="{2D120C7E-9E33-D34B-80EE-2AB7A5D16E87}"/>
              </a:ext>
            </a:extLst>
          </p:cNvPr>
          <p:cNvPicPr/>
          <p:nvPr/>
        </p:nvPicPr>
        <p:blipFill>
          <a:blip r:embed="rId4"/>
          <a:srcRect/>
          <a:stretch>
            <a:fillRect/>
          </a:stretch>
        </p:blipFill>
        <p:spPr>
          <a:xfrm>
            <a:off x="3054096" y="2770632"/>
            <a:ext cx="1151972" cy="115197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279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12.3.2 Refresher: Sums, Differences, Products, and Quotients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B2BE9AFC-D858-8947-AE27-3738478587E3}"/>
                  </a:ext>
                </a:extLst>
              </p:cNvPr>
              <p:cNvSpPr/>
              <p:nvPr/>
            </p:nvSpPr>
            <p:spPr>
              <a:xfrm>
                <a:off x="914400" y="1491031"/>
                <a:ext cx="10515600" cy="4093428"/>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m:t>
                    </m:r>
                  </m:oMath>
                </a14:m>
                <a:r>
                  <a:rPr lang="en-US" sz="2000" dirty="0">
                    <a:latin typeface="Verdana" panose="020B0604030504040204" pitchFamily="34" charset="0"/>
                    <a:ea typeface="Verdana" panose="020B0604030504040204" pitchFamily="34" charset="0"/>
                    <a:cs typeface="Verdana" panose="020B0604030504040204" pitchFamily="34" charset="0"/>
                  </a:rPr>
                  <a:t> because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4+6=10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because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8−3=5</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B2BE9AFC-D858-8947-AE27-3738478587E3}"/>
                  </a:ext>
                </a:extLst>
              </p:cNvPr>
              <p:cNvSpPr>
                <a:spLocks noRot="1" noChangeAspect="1" noMove="1" noResize="1" noEditPoints="1" noAdjustHandles="1" noChangeArrowheads="1" noChangeShapeType="1" noTextEdit="1"/>
              </p:cNvSpPr>
              <p:nvPr/>
            </p:nvSpPr>
            <p:spPr>
              <a:xfrm>
                <a:off x="914400" y="1491031"/>
                <a:ext cx="10515600" cy="4093428"/>
              </a:xfrm>
              <a:prstGeom prst="rect">
                <a:avLst/>
              </a:prstGeom>
              <a:blipFill>
                <a:blip r:embed="rId4"/>
                <a:stretch>
                  <a:fillRect l="-603" t="-92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image11.png" descr="Icon&#10;&#10;Description automatically generated">
            <a:extLst>
              <a:ext uri="{FF2B5EF4-FFF2-40B4-BE49-F238E27FC236}">
                <a16:creationId xmlns:a16="http://schemas.microsoft.com/office/drawing/2014/main" xmlns="" id="{93548F94-44B3-764F-AC49-82279FD8063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1801" cy="741801"/>
          </a:xfrm>
          <a:prstGeom prst="rect">
            <a:avLst/>
          </a:prstGeom>
          <a:ln/>
        </p:spPr>
      </p:pic>
      <p:pic>
        <p:nvPicPr>
          <p:cNvPr id="4" name="Picture 3" descr="Text&#10;&#10;Description automatically generated">
            <a:extLst>
              <a:ext uri="{FF2B5EF4-FFF2-40B4-BE49-F238E27FC236}">
                <a16:creationId xmlns:a16="http://schemas.microsoft.com/office/drawing/2014/main" xmlns="" id="{80374674-46C1-F64F-BBA4-E15C3A5DE79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19606" y="2018339"/>
            <a:ext cx="1568067" cy="1224973"/>
          </a:xfrm>
          <a:prstGeom prst="rect">
            <a:avLst/>
          </a:prstGeom>
        </p:spPr>
      </p:pic>
      <p:pic>
        <p:nvPicPr>
          <p:cNvPr id="25" name="Picture 24" descr="Text&#10;&#10;Description automatically generated">
            <a:extLst>
              <a:ext uri="{FF2B5EF4-FFF2-40B4-BE49-F238E27FC236}">
                <a16:creationId xmlns:a16="http://schemas.microsoft.com/office/drawing/2014/main" xmlns="" id="{92ED9D29-D0B5-114F-B6AE-2AC1A81BC8E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19606" y="3801399"/>
            <a:ext cx="1568067" cy="1224973"/>
          </a:xfrm>
          <a:prstGeom prst="rect">
            <a:avLst/>
          </a:prstGeom>
        </p:spPr>
      </p:pic>
    </p:spTree>
    <p:extLst>
      <p:ext uri="{BB962C8B-B14F-4D97-AF65-F5344CB8AC3E}">
        <p14:creationId xmlns:p14="http://schemas.microsoft.com/office/powerpoint/2010/main" val="592729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14400" y="956051"/>
                <a:ext cx="10515600" cy="283064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because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32</m:t>
                        </m:r>
                      </m:num>
                      <m:den>
                        <m:r>
                          <a:rPr lang="es-ES" sz="2400" i="1" dirty="0">
                            <a:latin typeface="Cambria Math" panose="02040503050406030204" pitchFamily="18" charset="0"/>
                            <a:cs typeface="Times New Roman" panose="02020603050405020304" pitchFamily="18" charset="0"/>
                          </a:rPr>
                          <m:t>2</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=16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The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because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7×9=63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14400" y="956051"/>
                <a:ext cx="10515600" cy="2830647"/>
              </a:xfrm>
              <a:prstGeom prst="rect">
                <a:avLst/>
              </a:prstGeom>
              <a:blipFill>
                <a:blip r:embed="rId4"/>
                <a:stretch>
                  <a:fillRect l="-96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pic>
        <p:nvPicPr>
          <p:cNvPr id="8" name="Picture 7" descr="Text&#10;&#10;Description automatically generated">
            <a:extLst>
              <a:ext uri="{FF2B5EF4-FFF2-40B4-BE49-F238E27FC236}">
                <a16:creationId xmlns:a16="http://schemas.microsoft.com/office/drawing/2014/main" xmlns="" id="{80374674-46C1-F64F-BBA4-E15C3A5DE79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30621" y="793366"/>
            <a:ext cx="1568067" cy="1224973"/>
          </a:xfrm>
          <a:prstGeom prst="rect">
            <a:avLst/>
          </a:prstGeom>
        </p:spPr>
      </p:pic>
      <p:pic>
        <p:nvPicPr>
          <p:cNvPr id="9" name="Picture 8" descr="Text&#10;&#10;Description automatically generated">
            <a:extLst>
              <a:ext uri="{FF2B5EF4-FFF2-40B4-BE49-F238E27FC236}">
                <a16:creationId xmlns:a16="http://schemas.microsoft.com/office/drawing/2014/main" xmlns="" id="{92ED9D29-D0B5-114F-B6AE-2AC1A81BC8E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30621" y="2576426"/>
            <a:ext cx="1568067" cy="1224973"/>
          </a:xfrm>
          <a:prstGeom prst="rect">
            <a:avLst/>
          </a:prstGeom>
        </p:spPr>
      </p:pic>
    </p:spTree>
    <p:extLst>
      <p:ext uri="{BB962C8B-B14F-4D97-AF65-F5344CB8AC3E}">
        <p14:creationId xmlns:p14="http://schemas.microsoft.com/office/powerpoint/2010/main" val="3891239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279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12.3.3 Guided Instruction: Making Sense with Models</a:t>
            </a:r>
          </a:p>
        </p:txBody>
      </p:sp>
      <p:sp>
        <p:nvSpPr>
          <p:cNvPr id="2" name="Rectangle 1">
            <a:extLst>
              <a:ext uri="{FF2B5EF4-FFF2-40B4-BE49-F238E27FC236}">
                <a16:creationId xmlns:a16="http://schemas.microsoft.com/office/drawing/2014/main" xmlns="" id="{B2BE9AFC-D858-8947-AE27-3738478587E3}"/>
              </a:ext>
            </a:extLst>
          </p:cNvPr>
          <p:cNvSpPr/>
          <p:nvPr/>
        </p:nvSpPr>
        <p:spPr>
          <a:xfrm>
            <a:off x="914400" y="3017131"/>
            <a:ext cx="10515600" cy="2677656"/>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An expression 	               have an equal sign or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inequality symbol.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C6C9C2DF-E989-BB45-9CB6-957F2793000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grpSp>
        <p:nvGrpSpPr>
          <p:cNvPr id="9" name="Group 8">
            <a:extLst>
              <a:ext uri="{FF2B5EF4-FFF2-40B4-BE49-F238E27FC236}">
                <a16:creationId xmlns:a16="http://schemas.microsoft.com/office/drawing/2014/main" xmlns="" id="{61C95944-2B34-FD4F-BB1B-105133E75C59}"/>
              </a:ext>
            </a:extLst>
          </p:cNvPr>
          <p:cNvGrpSpPr/>
          <p:nvPr/>
        </p:nvGrpSpPr>
        <p:grpSpPr>
          <a:xfrm>
            <a:off x="2729039" y="1502035"/>
            <a:ext cx="7167450" cy="1239597"/>
            <a:chOff x="1979039" y="2738936"/>
            <a:chExt cx="7167450" cy="1568166"/>
          </a:xfrm>
        </p:grpSpPr>
        <p:sp>
          <p:nvSpPr>
            <p:cNvPr id="13" name="Rectangle 12">
              <a:extLst>
                <a:ext uri="{FF2B5EF4-FFF2-40B4-BE49-F238E27FC236}">
                  <a16:creationId xmlns:a16="http://schemas.microsoft.com/office/drawing/2014/main" xmlns="" id="{7FA4A940-8AA2-AD4C-9DB6-08B43830818C}"/>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xmlns="" id="{C0FA69F5-339E-804E-A6CA-82E487F8C1ED}"/>
                </a:ext>
              </a:extLst>
            </p:cNvPr>
            <p:cNvGrpSpPr/>
            <p:nvPr/>
          </p:nvGrpSpPr>
          <p:grpSpPr>
            <a:xfrm>
              <a:off x="1979039" y="2738936"/>
              <a:ext cx="7167450" cy="1568165"/>
              <a:chOff x="1979039" y="2757521"/>
              <a:chExt cx="7167450" cy="1540167"/>
            </a:xfrm>
          </p:grpSpPr>
          <p:sp>
            <p:nvSpPr>
              <p:cNvPr id="15" name="Rectangle 14">
                <a:extLst>
                  <a:ext uri="{FF2B5EF4-FFF2-40B4-BE49-F238E27FC236}">
                    <a16:creationId xmlns:a16="http://schemas.microsoft.com/office/drawing/2014/main" xmlns="" id="{735B9BFF-E18D-DF45-8EBE-1F6AC2B91CAE}"/>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xmlns="" id="{60C398EF-49CF-6F43-A3C6-1FC3E36F710E}"/>
                  </a:ext>
                </a:extLst>
              </p:cNvPr>
              <p:cNvGrpSpPr/>
              <p:nvPr/>
            </p:nvGrpSpPr>
            <p:grpSpPr>
              <a:xfrm>
                <a:off x="1979039" y="2757521"/>
                <a:ext cx="7167450" cy="1540167"/>
                <a:chOff x="1979039" y="2868833"/>
                <a:chExt cx="7167450" cy="1540167"/>
              </a:xfrm>
            </p:grpSpPr>
            <p:sp>
              <p:nvSpPr>
                <p:cNvPr id="17" name="Rectangle 16">
                  <a:extLst>
                    <a:ext uri="{FF2B5EF4-FFF2-40B4-BE49-F238E27FC236}">
                      <a16:creationId xmlns:a16="http://schemas.microsoft.com/office/drawing/2014/main" xmlns="" id="{7C1BFBC0-C046-3F4F-AB11-79A92DB47ECA}"/>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xmlns="" id="{91CF8B67-FCC1-0A48-B3FF-E06A71D82C81}"/>
                    </a:ext>
                  </a:extLst>
                </p:cNvPr>
                <p:cNvGrpSpPr/>
                <p:nvPr/>
              </p:nvGrpSpPr>
              <p:grpSpPr>
                <a:xfrm>
                  <a:off x="1979039" y="2868833"/>
                  <a:ext cx="7167450" cy="1317567"/>
                  <a:chOff x="1979039" y="2868833"/>
                  <a:chExt cx="7167450" cy="1317567"/>
                </a:xfrm>
              </p:grpSpPr>
              <p:sp>
                <p:nvSpPr>
                  <p:cNvPr id="19" name="Rectangle 18">
                    <a:extLst>
                      <a:ext uri="{FF2B5EF4-FFF2-40B4-BE49-F238E27FC236}">
                        <a16:creationId xmlns:a16="http://schemas.microsoft.com/office/drawing/2014/main" xmlns="" id="{18F1AF88-32F2-5546-846E-434A588046C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xmlns="" id="{D9B7391D-A2F9-3E43-AE58-A7D1C4E8071F}"/>
                      </a:ext>
                    </a:extLst>
                  </p:cNvPr>
                  <p:cNvGrpSpPr/>
                  <p:nvPr/>
                </p:nvGrpSpPr>
                <p:grpSpPr>
                  <a:xfrm>
                    <a:off x="1979039" y="2868833"/>
                    <a:ext cx="7167450" cy="1317567"/>
                    <a:chOff x="-52261" y="-504767"/>
                    <a:chExt cx="7167450" cy="1317567"/>
                  </a:xfrm>
                </p:grpSpPr>
                <p:sp>
                  <p:nvSpPr>
                    <p:cNvPr id="21" name="Rectangle 20">
                      <a:extLst>
                        <a:ext uri="{FF2B5EF4-FFF2-40B4-BE49-F238E27FC236}">
                          <a16:creationId xmlns:a16="http://schemas.microsoft.com/office/drawing/2014/main" xmlns="" id="{517A26BA-002F-4C40-B4F1-04D5F316F586}"/>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2" name="Rounded Rectangle 21">
                      <a:extLst>
                        <a:ext uri="{FF2B5EF4-FFF2-40B4-BE49-F238E27FC236}">
                          <a16:creationId xmlns:a16="http://schemas.microsoft.com/office/drawing/2014/main" xmlns="" id="{F7AFCC46-C80C-5547-967A-A7CE781A016B}"/>
                        </a:ext>
                      </a:extLst>
                    </p:cNvPr>
                    <p:cNvSpPr/>
                    <p:nvPr/>
                  </p:nvSpPr>
                  <p:spPr>
                    <a:xfrm>
                      <a:off x="-52261" y="-504767"/>
                      <a:ext cx="7167450" cy="1309692"/>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114300">
                        <a:spcAft>
                          <a:spcPts val="10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algebraic expression</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 mathematical statement containing numbers, operators, and at least one unknown, represented by </a:t>
                      </a:r>
                      <a:r>
                        <a:rPr lang="en-US" sz="1800" i="1" dirty="0">
                          <a:solidFill>
                            <a:srgbClr val="6C993D"/>
                          </a:solidFill>
                          <a:latin typeface="Verdana" panose="020B0604030504040204" pitchFamily="34" charset="0"/>
                          <a:ea typeface="Verdana" panose="020B0604030504040204" pitchFamily="34" charset="0"/>
                          <a:cs typeface="Verdana" panose="020B0604030504040204" pitchFamily="34" charset="0"/>
                        </a:rPr>
                        <a:t>a</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variable.</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grpSp>
      </p:grpSp>
      <p:pic>
        <p:nvPicPr>
          <p:cNvPr id="4" name="Picture 3" descr="Shape&#10;&#10;Description automatically generated with low confidence">
            <a:extLst>
              <a:ext uri="{FF2B5EF4-FFF2-40B4-BE49-F238E27FC236}">
                <a16:creationId xmlns:a16="http://schemas.microsoft.com/office/drawing/2014/main" xmlns="" id="{6F96042F-2667-DA43-9468-F9B1FFEA959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07285" y="3473458"/>
            <a:ext cx="1949416" cy="1042015"/>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406494"/>
            <a:ext cx="10515600" cy="156966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Bar models help connect the action of a problem to an algebraic expression.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lgn="ctr"/>
            <a:r>
              <a:rPr lang="en-US" sz="2400" b="1" dirty="0">
                <a:latin typeface="Verdana" panose="020B0604030504040204" pitchFamily="34" charset="0"/>
                <a:ea typeface="Times New Roman" panose="02020603050405020304" pitchFamily="18" charset="0"/>
                <a:cs typeface="Times New Roman" panose="02020603050405020304" pitchFamily="18" charset="0"/>
              </a:rPr>
              <a:t>Part-Part-Whole Model</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294</a:t>
            </a:r>
            <a:endParaRPr i="1" dirty="0">
              <a:latin typeface="Calibri"/>
              <a:ea typeface="Calibri"/>
              <a:cs typeface="Calibri"/>
              <a:sym typeface="Calibri"/>
            </a:endParaRPr>
          </a:p>
        </p:txBody>
      </p:sp>
      <p:pic>
        <p:nvPicPr>
          <p:cNvPr id="4" name="Picture 3" descr="Diagram&#10;&#10;Description automatically generated">
            <a:extLst>
              <a:ext uri="{FF2B5EF4-FFF2-40B4-BE49-F238E27FC236}">
                <a16:creationId xmlns:a16="http://schemas.microsoft.com/office/drawing/2014/main" xmlns="" id="{04CCE04E-CEF0-6A4A-ADD1-D5073B9982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68930" y="2125754"/>
            <a:ext cx="6705600" cy="1091463"/>
          </a:xfrm>
          <a:prstGeom prst="rect">
            <a:avLst/>
          </a:prstGeom>
        </p:spPr>
      </p:pic>
      <p:sp>
        <p:nvSpPr>
          <p:cNvPr id="9" name="Rectangle 8">
            <a:extLst>
              <a:ext uri="{FF2B5EF4-FFF2-40B4-BE49-F238E27FC236}">
                <a16:creationId xmlns:a16="http://schemas.microsoft.com/office/drawing/2014/main" xmlns="" id="{573FCC5A-A679-4842-A94C-505CF75D245B}"/>
              </a:ext>
            </a:extLst>
          </p:cNvPr>
          <p:cNvSpPr/>
          <p:nvPr/>
        </p:nvSpPr>
        <p:spPr>
          <a:xfrm>
            <a:off x="914400" y="3787004"/>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part-part-whole model can be used to show the following actions.</a:t>
            </a:r>
          </a:p>
        </p:txBody>
      </p:sp>
      <p:graphicFrame>
        <p:nvGraphicFramePr>
          <p:cNvPr id="6" name="Table 5">
            <a:extLst>
              <a:ext uri="{FF2B5EF4-FFF2-40B4-BE49-F238E27FC236}">
                <a16:creationId xmlns:a16="http://schemas.microsoft.com/office/drawing/2014/main" xmlns="" id="{B9E7C6F4-79C5-2B43-977D-9FB82CE7FE57}"/>
              </a:ext>
            </a:extLst>
          </p:cNvPr>
          <p:cNvGraphicFramePr>
            <a:graphicFrameLocks noGrp="1"/>
          </p:cNvGraphicFramePr>
          <p:nvPr>
            <p:extLst>
              <p:ext uri="{D42A27DB-BD31-4B8C-83A1-F6EECF244321}">
                <p14:modId xmlns:p14="http://schemas.microsoft.com/office/powerpoint/2010/main" val="3838394346"/>
              </p:ext>
            </p:extLst>
          </p:nvPr>
        </p:nvGraphicFramePr>
        <p:xfrm>
          <a:off x="2687956" y="4895493"/>
          <a:ext cx="6886575" cy="1257300"/>
        </p:xfrm>
        <a:graphic>
          <a:graphicData uri="http://schemas.openxmlformats.org/drawingml/2006/table">
            <a:tbl>
              <a:tblPr firstRow="1" firstCol="1" bandRow="1">
                <a:tableStyleId>{A91F0D33-8C57-4600-99A7-42BC86742BE1}</a:tableStyleId>
              </a:tblPr>
              <a:tblGrid>
                <a:gridCol w="3401060">
                  <a:extLst>
                    <a:ext uri="{9D8B030D-6E8A-4147-A177-3AD203B41FA5}">
                      <a16:colId xmlns:a16="http://schemas.microsoft.com/office/drawing/2014/main" xmlns="" val="3592615805"/>
                    </a:ext>
                  </a:extLst>
                </a:gridCol>
                <a:gridCol w="3485515">
                  <a:extLst>
                    <a:ext uri="{9D8B030D-6E8A-4147-A177-3AD203B41FA5}">
                      <a16:colId xmlns:a16="http://schemas.microsoft.com/office/drawing/2014/main" xmlns="" val="1824808740"/>
                    </a:ext>
                  </a:extLst>
                </a:gridCol>
              </a:tblGrid>
              <a:tr h="0">
                <a:tc>
                  <a:txBody>
                    <a:bodyPr/>
                    <a:lstStyle/>
                    <a:p>
                      <a:pPr marL="0" marR="0" algn="ctr">
                        <a:spcBef>
                          <a:spcPts val="0"/>
                        </a:spcBef>
                        <a:spcAft>
                          <a:spcPts val="0"/>
                        </a:spcAft>
                        <a:tabLst>
                          <a:tab pos="2562225" algn="l"/>
                        </a:tabLst>
                      </a:pPr>
                      <a:r>
                        <a:rPr lang="en-US" sz="1800" b="1" dirty="0">
                          <a:effectLst/>
                          <a:latin typeface="Verdana" panose="020B0604030504040204" pitchFamily="34" charset="0"/>
                          <a:ea typeface="Verdana" panose="020B0604030504040204" pitchFamily="34" charset="0"/>
                          <a:cs typeface="Verdana" panose="020B0604030504040204" pitchFamily="34" charset="0"/>
                        </a:rPr>
                        <a:t>Action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Equation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520001327"/>
                  </a:ext>
                </a:extLst>
              </a:tr>
              <a:tr h="43434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Combining or joining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Part A + Part B = Whole</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23357916"/>
                  </a:ext>
                </a:extLst>
              </a:tr>
              <a:tr h="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Taking away or separating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Whole – Part A = Part B</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Whole – Part B = Part A</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11280822"/>
                  </a:ext>
                </a:extLst>
              </a:tr>
            </a:tbl>
          </a:graphicData>
        </a:graphic>
      </p:graphicFrame>
    </p:spTree>
    <p:extLst>
      <p:ext uri="{BB962C8B-B14F-4D97-AF65-F5344CB8AC3E}">
        <p14:creationId xmlns:p14="http://schemas.microsoft.com/office/powerpoint/2010/main" val="2153346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389994"/>
            <a:ext cx="1051560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t>
            </a:r>
            <a:r>
              <a:rPr lang="en-US" sz="2400" dirty="0">
                <a:solidFill>
                  <a:schemeClr val="accent1">
                    <a:lumMod val="75000"/>
                  </a:schemeClr>
                </a:solidFill>
                <a:latin typeface="Verdana" panose="020B0604030504040204" pitchFamily="34" charset="0"/>
                <a:ea typeface="Times New Roman" panose="02020603050405020304" pitchFamily="18" charset="0"/>
                <a:cs typeface="Times New Roman" panose="02020603050405020304" pitchFamily="18" charset="0"/>
              </a:rPr>
              <a:t>The sum of a number and three</a:t>
            </a:r>
            <a:r>
              <a:rPr lang="en-US" sz="2400" dirty="0">
                <a:latin typeface="Verdana" panose="020B0604030504040204" pitchFamily="34" charset="0"/>
                <a:ea typeface="Times New Roman" panose="02020603050405020304" pitchFamily="18" charset="0"/>
                <a:cs typeface="Times New Roman" panose="02020603050405020304" pitchFamily="18" charset="0"/>
              </a:rPr>
              <a:t>” can be shown as the length of the whole bar where one part is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𝒏</a:t>
            </a:r>
            <a:r>
              <a:rPr lang="en-US" sz="2400" dirty="0">
                <a:latin typeface="Verdana" panose="020B0604030504040204" pitchFamily="34" charset="0"/>
                <a:ea typeface="Times New Roman" panose="02020603050405020304" pitchFamily="18" charset="0"/>
                <a:cs typeface="Times New Roman" panose="02020603050405020304" pitchFamily="18" charset="0"/>
              </a:rPr>
              <a:t> and the other part is </a:t>
            </a:r>
            <a:r>
              <a:rPr lang="en-US" sz="2400" dirty="0">
                <a:solidFill>
                  <a:srgbClr val="FFC000"/>
                </a:solidFill>
                <a:latin typeface="Verdana" panose="020B0604030504040204" pitchFamily="34" charset="0"/>
                <a:ea typeface="Times New Roman" panose="02020603050405020304" pitchFamily="18" charset="0"/>
                <a:cs typeface="Times New Roman" panose="02020603050405020304" pitchFamily="18" charset="0"/>
              </a:rPr>
              <a:t>𝟑</a:t>
            </a:r>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295</a:t>
            </a:r>
            <a:endParaRPr i="1" dirty="0">
              <a:latin typeface="Calibri"/>
              <a:ea typeface="Calibri"/>
              <a:cs typeface="Calibri"/>
              <a:sym typeface="Calibri"/>
            </a:endParaRPr>
          </a:p>
        </p:txBody>
      </p:sp>
      <p:sp>
        <p:nvSpPr>
          <p:cNvPr id="11" name="Text Box 29">
            <a:extLst>
              <a:ext uri="{FF2B5EF4-FFF2-40B4-BE49-F238E27FC236}">
                <a16:creationId xmlns:a16="http://schemas.microsoft.com/office/drawing/2014/main" xmlns="" id="{A2F8E2C7-2EEF-D34E-8283-77A07E6ECB76}"/>
              </a:ext>
            </a:extLst>
          </p:cNvPr>
          <p:cNvSpPr txBox="1"/>
          <p:nvPr/>
        </p:nvSpPr>
        <p:spPr>
          <a:xfrm>
            <a:off x="2309700" y="1774681"/>
            <a:ext cx="7639050" cy="3714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b="1">
                <a:solidFill>
                  <a:srgbClr val="0070C0"/>
                </a:solidFill>
                <a:latin typeface="Verdana" panose="020B0604030504040204" pitchFamily="34" charset="0"/>
                <a:ea typeface="Times New Roman" panose="02020603050405020304" pitchFamily="18" charset="0"/>
                <a:cs typeface="Times New Roman" panose="02020603050405020304" pitchFamily="18" charset="0"/>
              </a:rPr>
              <a:t>The sum of a number and three</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F2579C31-6E44-3747-A95D-F603BC8606E9}"/>
                  </a:ext>
                </a:extLst>
              </p:cNvPr>
              <p:cNvGraphicFramePr>
                <a:graphicFrameLocks noGrp="1"/>
              </p:cNvGraphicFramePr>
              <p:nvPr>
                <p:extLst>
                  <p:ext uri="{D42A27DB-BD31-4B8C-83A1-F6EECF244321}">
                    <p14:modId xmlns:p14="http://schemas.microsoft.com/office/powerpoint/2010/main" val="472430334"/>
                  </p:ext>
                </p:extLst>
              </p:nvPr>
            </p:nvGraphicFramePr>
            <p:xfrm>
              <a:off x="2666048" y="2330514"/>
              <a:ext cx="6859905" cy="423545"/>
            </p:xfrm>
            <a:graphic>
              <a:graphicData uri="http://schemas.openxmlformats.org/drawingml/2006/table">
                <a:tbl>
                  <a:tblPr firstRow="1" firstCol="1" bandRow="1">
                    <a:tableStyleId>{A91F0D33-8C57-4600-99A7-42BC86742BE1}</a:tableStyleId>
                  </a:tblPr>
                  <a:tblGrid>
                    <a:gridCol w="3856990">
                      <a:extLst>
                        <a:ext uri="{9D8B030D-6E8A-4147-A177-3AD203B41FA5}">
                          <a16:colId xmlns:a16="http://schemas.microsoft.com/office/drawing/2014/main" xmlns="" val="1573730166"/>
                        </a:ext>
                      </a:extLst>
                    </a:gridCol>
                    <a:gridCol w="3002915">
                      <a:extLst>
                        <a:ext uri="{9D8B030D-6E8A-4147-A177-3AD203B41FA5}">
                          <a16:colId xmlns:a16="http://schemas.microsoft.com/office/drawing/2014/main" xmlns="" val="1225828701"/>
                        </a:ext>
                      </a:extLst>
                    </a:gridCol>
                  </a:tblGrid>
                  <a:tr h="42354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𝑛</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xmlns="" val="1242368680"/>
                      </a:ext>
                    </a:extLst>
                  </a:tr>
                </a:tbl>
              </a:graphicData>
            </a:graphic>
          </p:graphicFrame>
        </mc:Choice>
        <mc:Fallback xmlns="">
          <p:graphicFrame>
            <p:nvGraphicFramePr>
              <p:cNvPr id="7" name="Table 6">
                <a:extLst>
                  <a:ext uri="{FF2B5EF4-FFF2-40B4-BE49-F238E27FC236}">
                    <a16:creationId xmlns:a16="http://schemas.microsoft.com/office/drawing/2014/main" id="{F2579C31-6E44-3747-A95D-F603BC8606E9}"/>
                  </a:ext>
                </a:extLst>
              </p:cNvPr>
              <p:cNvGraphicFramePr>
                <a:graphicFrameLocks noGrp="1"/>
              </p:cNvGraphicFramePr>
              <p:nvPr>
                <p:extLst>
                  <p:ext uri="{D42A27DB-BD31-4B8C-83A1-F6EECF244321}">
                    <p14:modId xmlns:p14="http://schemas.microsoft.com/office/powerpoint/2010/main" val="472430334"/>
                  </p:ext>
                </p:extLst>
              </p:nvPr>
            </p:nvGraphicFramePr>
            <p:xfrm>
              <a:off x="2666048" y="2330514"/>
              <a:ext cx="6859905" cy="423545"/>
            </p:xfrm>
            <a:graphic>
              <a:graphicData uri="http://schemas.openxmlformats.org/drawingml/2006/table">
                <a:tbl>
                  <a:tblPr firstRow="1" firstCol="1" bandRow="1">
                    <a:tableStyleId>{A91F0D33-8C57-4600-99A7-42BC86742BE1}</a:tableStyleId>
                  </a:tblPr>
                  <a:tblGrid>
                    <a:gridCol w="3856990">
                      <a:extLst>
                        <a:ext uri="{9D8B030D-6E8A-4147-A177-3AD203B41FA5}">
                          <a16:colId xmlns:a16="http://schemas.microsoft.com/office/drawing/2014/main" val="1573730166"/>
                        </a:ext>
                      </a:extLst>
                    </a:gridCol>
                    <a:gridCol w="3002915">
                      <a:extLst>
                        <a:ext uri="{9D8B030D-6E8A-4147-A177-3AD203B41FA5}">
                          <a16:colId xmlns:a16="http://schemas.microsoft.com/office/drawing/2014/main" val="1225828701"/>
                        </a:ext>
                      </a:extLst>
                    </a:gridCol>
                  </a:tblGrid>
                  <a:tr h="42354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941" r="-78033" b="-294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8692" t="-2941" r="-422" b="-2941"/>
                          </a:stretch>
                        </a:blipFill>
                      </a:tcPr>
                    </a:tc>
                    <a:extLst>
                      <a:ext uri="{0D108BD9-81ED-4DB2-BD59-A6C34878D82A}">
                        <a16:rowId xmlns:a16="http://schemas.microsoft.com/office/drawing/2014/main" val="1242368680"/>
                      </a:ext>
                    </a:extLst>
                  </a:tr>
                </a:tbl>
              </a:graphicData>
            </a:graphic>
          </p:graphicFrame>
        </mc:Fallback>
      </mc:AlternateContent>
      <p:sp>
        <p:nvSpPr>
          <p:cNvPr id="12" name="Rectangle 11">
            <a:extLst>
              <a:ext uri="{FF2B5EF4-FFF2-40B4-BE49-F238E27FC236}">
                <a16:creationId xmlns:a16="http://schemas.microsoft.com/office/drawing/2014/main" xmlns="" id="{2E52CCD0-77B7-8148-A272-6603958D60B6}"/>
              </a:ext>
            </a:extLst>
          </p:cNvPr>
          <p:cNvSpPr/>
          <p:nvPr/>
        </p:nvSpPr>
        <p:spPr>
          <a:xfrm>
            <a:off x="914400" y="3354867"/>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for “The sum of a number and three.”</a:t>
            </a:r>
          </a:p>
        </p:txBody>
      </p:sp>
    </p:spTree>
    <p:extLst>
      <p:ext uri="{BB962C8B-B14F-4D97-AF65-F5344CB8AC3E}">
        <p14:creationId xmlns:p14="http://schemas.microsoft.com/office/powerpoint/2010/main" val="37081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389993"/>
            <a:ext cx="10515600" cy="1569660"/>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a:t>
            </a:r>
            <a:r>
              <a:rPr lang="en-US" sz="24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The difference of ten and a number</a:t>
            </a:r>
            <a:r>
              <a:rPr lang="en-US" sz="2400" dirty="0">
                <a:latin typeface="Verdana" panose="020B0604030504040204" pitchFamily="34" charset="0"/>
                <a:ea typeface="Times New Roman" panose="02020603050405020304" pitchFamily="18" charset="0"/>
                <a:cs typeface="Times New Roman" panose="02020603050405020304" pitchFamily="18" charset="0"/>
              </a:rPr>
              <a:t>” can be shown where the whole bar is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𝟏𝟎</a:t>
            </a:r>
            <a:r>
              <a:rPr lang="en-US" sz="2400" dirty="0">
                <a:latin typeface="Verdana" panose="020B0604030504040204" pitchFamily="34" charset="0"/>
                <a:ea typeface="Times New Roman" panose="02020603050405020304" pitchFamily="18" charset="0"/>
                <a:cs typeface="Times New Roman" panose="02020603050405020304" pitchFamily="18" charset="0"/>
              </a:rPr>
              <a:t> and one part is a number represented by a variable, </a:t>
            </a:r>
            <a:r>
              <a:rPr lang="en-US" sz="2400" dirty="0">
                <a:solidFill>
                  <a:srgbClr val="FFC000"/>
                </a:solidFill>
                <a:latin typeface="Verdana" panose="020B0604030504040204" pitchFamily="34" charset="0"/>
                <a:ea typeface="Times New Roman" panose="02020603050405020304" pitchFamily="18" charset="0"/>
                <a:cs typeface="Times New Roman" panose="02020603050405020304" pitchFamily="18" charset="0"/>
              </a:rPr>
              <a:t>𝒙</a:t>
            </a:r>
            <a:r>
              <a:rPr lang="en-US" sz="2400" dirty="0">
                <a:latin typeface="Verdana" panose="020B0604030504040204" pitchFamily="34" charset="0"/>
                <a:ea typeface="Times New Roman" panose="02020603050405020304" pitchFamily="18" charset="0"/>
                <a:cs typeface="Times New Roman" panose="02020603050405020304" pitchFamily="18" charset="0"/>
              </a:rPr>
              <a:t>.  The difference is the other part. </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 Box 36">
                <a:extLst>
                  <a:ext uri="{FF2B5EF4-FFF2-40B4-BE49-F238E27FC236}">
                    <a16:creationId xmlns:a16="http://schemas.microsoft.com/office/drawing/2014/main" xmlns="" id="{B1D43D25-6ABC-404D-ABFA-AA4D7FAD0DCC}"/>
                  </a:ext>
                </a:extLst>
              </p:cNvPr>
              <p:cNvSpPr txBox="1"/>
              <p:nvPr/>
            </p:nvSpPr>
            <p:spPr>
              <a:xfrm>
                <a:off x="3026411" y="3231199"/>
                <a:ext cx="352425" cy="35242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solidFill>
                            <a:srgbClr val="F79646"/>
                          </a:solidFill>
                          <a:latin typeface="Cambria Math" panose="02040503050406030204" pitchFamily="18" charset="0"/>
                          <a:ea typeface="Times New Roman" panose="02020603050405020304" pitchFamily="18" charset="0"/>
                          <a:cs typeface="Times New Roman" panose="02020603050405020304" pitchFamily="18" charset="0"/>
                        </a:rPr>
                        <m:t>𝒙</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7" name="Text Box 36">
                <a:extLst>
                  <a:ext uri="{FF2B5EF4-FFF2-40B4-BE49-F238E27FC236}">
                    <a16:creationId xmlns:a16="http://schemas.microsoft.com/office/drawing/2014/main" id="{B1D43D25-6ABC-404D-ABFA-AA4D7FAD0DCC}"/>
                  </a:ext>
                </a:extLst>
              </p:cNvPr>
              <p:cNvSpPr txBox="1">
                <a:spLocks noRot="1" noChangeAspect="1" noMove="1" noResize="1" noEditPoints="1" noAdjustHandles="1" noChangeArrowheads="1" noChangeShapeType="1" noTextEdit="1"/>
              </p:cNvSpPr>
              <p:nvPr/>
            </p:nvSpPr>
            <p:spPr>
              <a:xfrm>
                <a:off x="3026411" y="3231199"/>
                <a:ext cx="352425" cy="352425"/>
              </a:xfrm>
              <a:prstGeom prst="rect">
                <a:avLst/>
              </a:prstGeom>
              <a:blipFill>
                <a:blip r:embed="rId4"/>
                <a:stretch>
                  <a:fillRect/>
                </a:stretch>
              </a:blipFill>
              <a:ln w="6350">
                <a:noFill/>
              </a:ln>
            </p:spPr>
            <p:txBody>
              <a:bodyPr/>
              <a:lstStyle/>
              <a:p>
                <a:r>
                  <a:rPr lang="en-US">
                    <a:noFill/>
                  </a:rPr>
                  <a:t> </a:t>
                </a:r>
              </a:p>
            </p:txBody>
          </p:sp>
        </mc:Fallback>
      </mc:AlternateContent>
      <p:sp>
        <p:nvSpPr>
          <p:cNvPr id="8" name="Text Box 38">
            <a:extLst>
              <a:ext uri="{FF2B5EF4-FFF2-40B4-BE49-F238E27FC236}">
                <a16:creationId xmlns:a16="http://schemas.microsoft.com/office/drawing/2014/main" xmlns="" id="{5645C7FF-C1CD-5746-9936-55D9F979BB09}"/>
              </a:ext>
            </a:extLst>
          </p:cNvPr>
          <p:cNvSpPr txBox="1"/>
          <p:nvPr/>
        </p:nvSpPr>
        <p:spPr>
          <a:xfrm>
            <a:off x="4474210" y="3243899"/>
            <a:ext cx="4691380" cy="38290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a:solidFill>
                  <a:srgbClr val="8064A2"/>
                </a:solidFill>
                <a:latin typeface="Verdana" panose="020B0604030504040204" pitchFamily="34" charset="0"/>
                <a:ea typeface="Times New Roman" panose="02020603050405020304" pitchFamily="18" charset="0"/>
                <a:cs typeface="Times New Roman" panose="02020603050405020304" pitchFamily="18" charset="0"/>
              </a:rPr>
              <a:t>The difference of ten and number</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5" name="Picture 4" descr="Diagram&#10;&#10;Description automatically generated with medium confidence">
            <a:extLst>
              <a:ext uri="{FF2B5EF4-FFF2-40B4-BE49-F238E27FC236}">
                <a16:creationId xmlns:a16="http://schemas.microsoft.com/office/drawing/2014/main" xmlns="" id="{7B793C87-D712-EC4A-96CF-91ACC4F0119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16678" y="2219415"/>
            <a:ext cx="6972822" cy="939600"/>
          </a:xfrm>
          <a:prstGeom prst="rect">
            <a:avLst/>
          </a:prstGeom>
        </p:spPr>
      </p:pic>
      <p:sp>
        <p:nvSpPr>
          <p:cNvPr id="11" name="Rectangle 10">
            <a:extLst>
              <a:ext uri="{FF2B5EF4-FFF2-40B4-BE49-F238E27FC236}">
                <a16:creationId xmlns:a16="http://schemas.microsoft.com/office/drawing/2014/main" xmlns="" id="{511BF872-9030-3846-9240-1796563A63C7}"/>
              </a:ext>
            </a:extLst>
          </p:cNvPr>
          <p:cNvSpPr/>
          <p:nvPr/>
        </p:nvSpPr>
        <p:spPr>
          <a:xfrm>
            <a:off x="914400" y="4227703"/>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for “The difference of ten and a number.”</a:t>
            </a:r>
          </a:p>
        </p:txBody>
      </p:sp>
    </p:spTree>
    <p:extLst>
      <p:ext uri="{BB962C8B-B14F-4D97-AF65-F5344CB8AC3E}">
        <p14:creationId xmlns:p14="http://schemas.microsoft.com/office/powerpoint/2010/main" val="17027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393192"/>
            <a:ext cx="10515600" cy="1569660"/>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a:t>
            </a:r>
            <a:r>
              <a:rPr lang="en-US" sz="2400" dirty="0">
                <a:solidFill>
                  <a:schemeClr val="accent5"/>
                </a:solidFill>
                <a:latin typeface="Verdana" panose="020B0604030504040204" pitchFamily="34" charset="0"/>
                <a:ea typeface="Times New Roman" panose="02020603050405020304" pitchFamily="18" charset="0"/>
                <a:cs typeface="Times New Roman" panose="02020603050405020304" pitchFamily="18" charset="0"/>
              </a:rPr>
              <a:t>Five subtracted from a number</a:t>
            </a:r>
            <a:r>
              <a:rPr lang="en-US" sz="2400" dirty="0">
                <a:latin typeface="Verdana" panose="020B0604030504040204" pitchFamily="34" charset="0"/>
                <a:ea typeface="Times New Roman" panose="02020603050405020304" pitchFamily="18" charset="0"/>
                <a:cs typeface="Times New Roman" panose="02020603050405020304" pitchFamily="18" charset="0"/>
              </a:rPr>
              <a:t>” is shown with the whole bar as a number represented by a variable, </a:t>
            </a:r>
            <a:r>
              <a:rPr lang="en-US" sz="24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𝒎</a:t>
            </a:r>
            <a:r>
              <a:rPr lang="en-US" sz="2400" dirty="0">
                <a:latin typeface="Verdana" panose="020B0604030504040204" pitchFamily="34" charset="0"/>
                <a:ea typeface="Times New Roman" panose="02020603050405020304" pitchFamily="18" charset="0"/>
                <a:cs typeface="Times New Roman" panose="02020603050405020304" pitchFamily="18" charset="0"/>
              </a:rPr>
              <a:t>, and one part is </a:t>
            </a:r>
            <a:r>
              <a:rPr lang="en-US" sz="2400" dirty="0">
                <a:solidFill>
                  <a:srgbClr val="FFC000"/>
                </a:solidFill>
                <a:latin typeface="Verdana" panose="020B0604030504040204" pitchFamily="34" charset="0"/>
                <a:ea typeface="Times New Roman" panose="02020603050405020304" pitchFamily="18" charset="0"/>
                <a:cs typeface="Times New Roman" panose="02020603050405020304" pitchFamily="18" charset="0"/>
              </a:rPr>
              <a:t>𝟓</a:t>
            </a:r>
            <a:r>
              <a:rPr lang="en-US" sz="2400" dirty="0">
                <a:latin typeface="Verdana" panose="020B0604030504040204" pitchFamily="34" charset="0"/>
                <a:ea typeface="Times New Roman" panose="02020603050405020304" pitchFamily="18" charset="0"/>
                <a:cs typeface="Times New Roman" panose="02020603050405020304" pitchFamily="18" charset="0"/>
              </a:rPr>
              <a:t>.  The other part is the result of </a:t>
            </a:r>
            <a:r>
              <a:rPr lang="en-US" sz="2400" dirty="0">
                <a:solidFill>
                  <a:srgbClr val="FFC000"/>
                </a:solidFill>
                <a:latin typeface="Verdana" panose="020B0604030504040204" pitchFamily="34" charset="0"/>
                <a:ea typeface="Times New Roman" panose="02020603050405020304" pitchFamily="18" charset="0"/>
                <a:cs typeface="Times New Roman" panose="02020603050405020304" pitchFamily="18" charset="0"/>
              </a:rPr>
              <a:t>𝟓</a:t>
            </a:r>
            <a:r>
              <a:rPr lang="en-US" sz="2400" dirty="0">
                <a:latin typeface="Verdana" panose="020B0604030504040204" pitchFamily="34" charset="0"/>
                <a:ea typeface="Times New Roman" panose="02020603050405020304" pitchFamily="18" charset="0"/>
                <a:cs typeface="Times New Roman" panose="02020603050405020304" pitchFamily="18" charset="0"/>
              </a:rPr>
              <a:t> being subtracted from the number, </a:t>
            </a:r>
            <a:r>
              <a:rPr lang="en-US" sz="2400" dirty="0">
                <a:solidFill>
                  <a:srgbClr val="7030A0"/>
                </a:solidFill>
                <a:latin typeface="Verdana" panose="020B0604030504040204" pitchFamily="34" charset="0"/>
                <a:ea typeface="Times New Roman" panose="02020603050405020304" pitchFamily="18" charset="0"/>
                <a:cs typeface="Times New Roman" panose="02020603050405020304" pitchFamily="18" charset="0"/>
              </a:rPr>
              <a:t>𝒎</a:t>
            </a:r>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 Box 65">
                <a:extLst>
                  <a:ext uri="{FF2B5EF4-FFF2-40B4-BE49-F238E27FC236}">
                    <a16:creationId xmlns:a16="http://schemas.microsoft.com/office/drawing/2014/main" xmlns="" id="{805F08D1-1A14-E447-845E-4286E601DDF7}"/>
                  </a:ext>
                </a:extLst>
              </p:cNvPr>
              <p:cNvSpPr txBox="1"/>
              <p:nvPr/>
            </p:nvSpPr>
            <p:spPr>
              <a:xfrm>
                <a:off x="3511117" y="3168650"/>
                <a:ext cx="358775"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solidFill>
                            <a:srgbClr val="F79646"/>
                          </a:solidFill>
                          <a:latin typeface="Cambria Math" panose="02040503050406030204" pitchFamily="18" charset="0"/>
                          <a:ea typeface="Times New Roman" panose="02020603050405020304" pitchFamily="18" charset="0"/>
                          <a:cs typeface="Times New Roman" panose="02020603050405020304" pitchFamily="18" charset="0"/>
                        </a:rPr>
                        <m:t>𝟓</m:t>
                      </m:r>
                    </m:oMath>
                  </m:oMathPara>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Text Box 65">
                <a:extLst>
                  <a:ext uri="{FF2B5EF4-FFF2-40B4-BE49-F238E27FC236}">
                    <a16:creationId xmlns:a16="http://schemas.microsoft.com/office/drawing/2014/main" id="{805F08D1-1A14-E447-845E-4286E601DDF7}"/>
                  </a:ext>
                </a:extLst>
              </p:cNvPr>
              <p:cNvSpPr txBox="1">
                <a:spLocks noRot="1" noChangeAspect="1" noMove="1" noResize="1" noEditPoints="1" noAdjustHandles="1" noChangeArrowheads="1" noChangeShapeType="1" noTextEdit="1"/>
              </p:cNvSpPr>
              <p:nvPr/>
            </p:nvSpPr>
            <p:spPr>
              <a:xfrm>
                <a:off x="3511117" y="3168650"/>
                <a:ext cx="358775" cy="419100"/>
              </a:xfrm>
              <a:prstGeom prst="rect">
                <a:avLst/>
              </a:prstGeom>
              <a:blipFill>
                <a:blip r:embed="rId4"/>
                <a:stretch>
                  <a:fillRect/>
                </a:stretch>
              </a:blipFill>
              <a:ln w="6350">
                <a:noFill/>
              </a:ln>
            </p:spPr>
            <p:txBody>
              <a:bodyPr/>
              <a:lstStyle/>
              <a:p>
                <a:r>
                  <a:rPr lang="en-US">
                    <a:noFill/>
                  </a:rPr>
                  <a:t> </a:t>
                </a:r>
              </a:p>
            </p:txBody>
          </p:sp>
        </mc:Fallback>
      </mc:AlternateContent>
      <p:sp>
        <p:nvSpPr>
          <p:cNvPr id="12" name="Text Box 69">
            <a:extLst>
              <a:ext uri="{FF2B5EF4-FFF2-40B4-BE49-F238E27FC236}">
                <a16:creationId xmlns:a16="http://schemas.microsoft.com/office/drawing/2014/main" xmlns="" id="{D5382E76-4028-C54E-8CC5-2E0C7DE66162}"/>
              </a:ext>
            </a:extLst>
          </p:cNvPr>
          <p:cNvSpPr txBox="1"/>
          <p:nvPr/>
        </p:nvSpPr>
        <p:spPr>
          <a:xfrm>
            <a:off x="4909251" y="3079750"/>
            <a:ext cx="4773930" cy="6985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600" b="1" dirty="0">
                <a:solidFill>
                  <a:srgbClr val="4F81BD"/>
                </a:solidFill>
                <a:latin typeface="Verdana" panose="020B0604030504040204" pitchFamily="34" charset="0"/>
                <a:ea typeface="Times New Roman" panose="02020603050405020304" pitchFamily="18" charset="0"/>
                <a:cs typeface="Times New Roman" panose="02020603050405020304" pitchFamily="18" charset="0"/>
              </a:rPr>
              <a:t>The result of five subtracted from a number</a:t>
            </a:r>
            <a:endParaRPr lang="x-none" sz="11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FB9C4D0C-0054-2B4F-BDDF-52C28DA313A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08819" y="2189019"/>
            <a:ext cx="7174363" cy="816418"/>
          </a:xfrm>
          <a:prstGeom prst="rect">
            <a:avLst/>
          </a:prstGeom>
        </p:spPr>
      </p:pic>
      <p:sp>
        <p:nvSpPr>
          <p:cNvPr id="13" name="Rectangle 12">
            <a:extLst>
              <a:ext uri="{FF2B5EF4-FFF2-40B4-BE49-F238E27FC236}">
                <a16:creationId xmlns:a16="http://schemas.microsoft.com/office/drawing/2014/main" xmlns="" id="{CBDD393E-44F9-A649-B33C-2DE259B18F43}"/>
              </a:ext>
            </a:extLst>
          </p:cNvPr>
          <p:cNvSpPr/>
          <p:nvPr/>
        </p:nvSpPr>
        <p:spPr>
          <a:xfrm>
            <a:off x="914400" y="4006030"/>
            <a:ext cx="10515600" cy="156966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The algebraic expression for “Five subtracted from a number, 𝑚” is __________________________.</a:t>
            </a:r>
          </a:p>
        </p:txBody>
      </p:sp>
    </p:spTree>
    <p:extLst>
      <p:ext uri="{BB962C8B-B14F-4D97-AF65-F5344CB8AC3E}">
        <p14:creationId xmlns:p14="http://schemas.microsoft.com/office/powerpoint/2010/main" val="922001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419021"/>
            <a:ext cx="10515600" cy="1938992"/>
          </a:xfrm>
          <a:prstGeom prst="rect">
            <a:avLst/>
          </a:prstGeom>
        </p:spPr>
        <p:txBody>
          <a:bodyPr wrap="square">
            <a:spAutoFit/>
          </a:bodyPr>
          <a:lstStyle/>
          <a:p>
            <a:pPr algn="ctr"/>
            <a:r>
              <a:rPr lang="en-US" sz="2400" b="1" dirty="0">
                <a:latin typeface="Verdana" panose="020B0604030504040204" pitchFamily="34" charset="0"/>
                <a:ea typeface="Times New Roman" panose="02020603050405020304" pitchFamily="18" charset="0"/>
                <a:cs typeface="Times New Roman" panose="02020603050405020304" pitchFamily="18" charset="0"/>
              </a:rPr>
              <a:t>Addition/Subtraction Comparison Model</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Comparison models are much like part-part-whole models. They show how much more or less one value is than another.</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295</a:t>
            </a:r>
            <a:endParaRPr i="1" dirty="0">
              <a:latin typeface="Calibri"/>
              <a:ea typeface="Calibri"/>
              <a:cs typeface="Calibri"/>
              <a:sym typeface="Calibri"/>
            </a:endParaRPr>
          </a:p>
        </p:txBody>
      </p:sp>
      <p:pic>
        <p:nvPicPr>
          <p:cNvPr id="4" name="Picture 3" descr="Text&#10;&#10;Description automatically generated">
            <a:extLst>
              <a:ext uri="{FF2B5EF4-FFF2-40B4-BE49-F238E27FC236}">
                <a16:creationId xmlns:a16="http://schemas.microsoft.com/office/drawing/2014/main" xmlns="" id="{DAA06D32-783F-A243-98E8-2AEEBDD3B0E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42309" y="2761061"/>
            <a:ext cx="7107382" cy="1327528"/>
          </a:xfrm>
          <a:prstGeom prst="rect">
            <a:avLst/>
          </a:prstGeom>
        </p:spPr>
      </p:pic>
      <p:sp>
        <p:nvSpPr>
          <p:cNvPr id="9" name="Rectangle 8">
            <a:extLst>
              <a:ext uri="{FF2B5EF4-FFF2-40B4-BE49-F238E27FC236}">
                <a16:creationId xmlns:a16="http://schemas.microsoft.com/office/drawing/2014/main" xmlns="" id="{1C0610BD-5572-D840-BCFD-9FA0E5DF257D}"/>
              </a:ext>
            </a:extLst>
          </p:cNvPr>
          <p:cNvSpPr/>
          <p:nvPr/>
        </p:nvSpPr>
        <p:spPr>
          <a:xfrm>
            <a:off x="4511803" y="4491638"/>
            <a:ext cx="5605895" cy="1015663"/>
          </a:xfrm>
          <a:prstGeom prst="rect">
            <a:avLst/>
          </a:prstGeom>
        </p:spPr>
        <p:txBody>
          <a:bodyPr wrap="square">
            <a:spAutoFit/>
          </a:bodyPr>
          <a:lstStyle/>
          <a:p>
            <a:pPr algn="ctr"/>
            <a:r>
              <a:rPr lang="en-US" sz="2000" dirty="0">
                <a:latin typeface="Verdana" panose="020B0604030504040204" pitchFamily="34" charset="0"/>
                <a:ea typeface="Times New Roman" panose="02020603050405020304" pitchFamily="18" charset="0"/>
                <a:cs typeface="Times New Roman" panose="02020603050405020304" pitchFamily="18" charset="0"/>
              </a:rPr>
              <a:t>How much </a:t>
            </a:r>
            <a:r>
              <a:rPr lang="en-US" sz="2000" b="1" dirty="0">
                <a:latin typeface="Verdana" panose="020B0604030504040204" pitchFamily="34" charset="0"/>
                <a:ea typeface="Times New Roman" panose="02020603050405020304" pitchFamily="18" charset="0"/>
                <a:cs typeface="Times New Roman" panose="02020603050405020304" pitchFamily="18" charset="0"/>
              </a:rPr>
              <a:t>more</a:t>
            </a:r>
            <a:r>
              <a:rPr lang="en-US" sz="2000" dirty="0">
                <a:latin typeface="Verdana" panose="020B0604030504040204" pitchFamily="34" charset="0"/>
                <a:ea typeface="Times New Roman" panose="02020603050405020304" pitchFamily="18" charset="0"/>
                <a:cs typeface="Times New Roman" panose="02020603050405020304" pitchFamily="18" charset="0"/>
              </a:rPr>
              <a:t> Value A is </a:t>
            </a:r>
            <a:r>
              <a:rPr lang="en-US" sz="2000" b="1" dirty="0">
                <a:latin typeface="Verdana" panose="020B0604030504040204" pitchFamily="34" charset="0"/>
                <a:ea typeface="Times New Roman" panose="02020603050405020304" pitchFamily="18" charset="0"/>
                <a:cs typeface="Times New Roman" panose="02020603050405020304" pitchFamily="18" charset="0"/>
              </a:rPr>
              <a:t>than</a:t>
            </a:r>
            <a:r>
              <a:rPr lang="en-US" sz="2000" dirty="0">
                <a:latin typeface="Verdana" panose="020B0604030504040204" pitchFamily="34" charset="0"/>
                <a:ea typeface="Times New Roman" panose="02020603050405020304" pitchFamily="18" charset="0"/>
                <a:cs typeface="Times New Roman" panose="02020603050405020304" pitchFamily="18" charset="0"/>
              </a:rPr>
              <a:t> Value B, or </a:t>
            </a:r>
          </a:p>
          <a:p>
            <a:pPr algn="ctr"/>
            <a:r>
              <a:rPr lang="en-US" sz="2000" dirty="0">
                <a:latin typeface="Verdana" panose="020B0604030504040204" pitchFamily="34" charset="0"/>
                <a:ea typeface="Times New Roman" panose="02020603050405020304" pitchFamily="18" charset="0"/>
                <a:cs typeface="Times New Roman" panose="02020603050405020304" pitchFamily="18" charset="0"/>
              </a:rPr>
              <a:t>How much </a:t>
            </a:r>
            <a:r>
              <a:rPr lang="en-US" sz="2000" b="1" dirty="0">
                <a:latin typeface="Verdana" panose="020B0604030504040204" pitchFamily="34" charset="0"/>
                <a:ea typeface="Times New Roman" panose="02020603050405020304" pitchFamily="18" charset="0"/>
                <a:cs typeface="Times New Roman" panose="02020603050405020304" pitchFamily="18" charset="0"/>
              </a:rPr>
              <a:t>less</a:t>
            </a:r>
            <a:r>
              <a:rPr lang="en-US" sz="2000" dirty="0">
                <a:latin typeface="Verdana" panose="020B0604030504040204" pitchFamily="34" charset="0"/>
                <a:ea typeface="Times New Roman" panose="02020603050405020304" pitchFamily="18" charset="0"/>
                <a:cs typeface="Times New Roman" panose="02020603050405020304" pitchFamily="18" charset="0"/>
              </a:rPr>
              <a:t> Value B is </a:t>
            </a:r>
            <a:r>
              <a:rPr lang="en-US" sz="2000" b="1" dirty="0">
                <a:latin typeface="Verdana" panose="020B0604030504040204" pitchFamily="34" charset="0"/>
                <a:ea typeface="Times New Roman" panose="02020603050405020304" pitchFamily="18" charset="0"/>
                <a:cs typeface="Times New Roman" panose="02020603050405020304" pitchFamily="18" charset="0"/>
              </a:rPr>
              <a:t>than</a:t>
            </a:r>
            <a:r>
              <a:rPr lang="en-US" sz="2000" dirty="0">
                <a:latin typeface="Verdana" panose="020B0604030504040204" pitchFamily="34" charset="0"/>
                <a:ea typeface="Times New Roman" panose="02020603050405020304" pitchFamily="18" charset="0"/>
                <a:cs typeface="Times New Roman" panose="02020603050405020304" pitchFamily="18" charset="0"/>
              </a:rPr>
              <a:t> Value A </a:t>
            </a:r>
          </a:p>
        </p:txBody>
      </p:sp>
    </p:spTree>
    <p:extLst>
      <p:ext uri="{BB962C8B-B14F-4D97-AF65-F5344CB8AC3E}">
        <p14:creationId xmlns:p14="http://schemas.microsoft.com/office/powerpoint/2010/main" val="3573437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419022"/>
            <a:ext cx="10515600" cy="830997"/>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for the bar model shown.</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1" name="Text Box 74">
                <a:extLst>
                  <a:ext uri="{FF2B5EF4-FFF2-40B4-BE49-F238E27FC236}">
                    <a16:creationId xmlns:a16="http://schemas.microsoft.com/office/drawing/2014/main" xmlns="" id="{CB869386-E013-B646-BE67-28925FC45A4D}"/>
                  </a:ext>
                </a:extLst>
              </p:cNvPr>
              <p:cNvSpPr txBox="1"/>
              <p:nvPr/>
            </p:nvSpPr>
            <p:spPr>
              <a:xfrm>
                <a:off x="7467889" y="2672557"/>
                <a:ext cx="247650" cy="43751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b="1" i="1">
                          <a:solidFill>
                            <a:srgbClr val="8064A2"/>
                          </a:solidFill>
                          <a:latin typeface="Cambria Math" panose="02040503050406030204" pitchFamily="18" charset="0"/>
                          <a:ea typeface="Times New Roman" panose="02020603050405020304" pitchFamily="18" charset="0"/>
                          <a:cs typeface="Times New Roman" panose="02020603050405020304" pitchFamily="18" charset="0"/>
                        </a:rPr>
                        <m:t>𝟖</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1" name="Text Box 74">
                <a:extLst>
                  <a:ext uri="{FF2B5EF4-FFF2-40B4-BE49-F238E27FC236}">
                    <a16:creationId xmlns:a16="http://schemas.microsoft.com/office/drawing/2014/main" id="{CB869386-E013-B646-BE67-28925FC45A4D}"/>
                  </a:ext>
                </a:extLst>
              </p:cNvPr>
              <p:cNvSpPr txBox="1">
                <a:spLocks noRot="1" noChangeAspect="1" noMove="1" noResize="1" noEditPoints="1" noAdjustHandles="1" noChangeArrowheads="1" noChangeShapeType="1" noTextEdit="1"/>
              </p:cNvSpPr>
              <p:nvPr/>
            </p:nvSpPr>
            <p:spPr>
              <a:xfrm>
                <a:off x="7467889" y="2672557"/>
                <a:ext cx="247650" cy="437515"/>
              </a:xfrm>
              <a:prstGeom prst="rect">
                <a:avLst/>
              </a:prstGeom>
              <a:blipFill>
                <a:blip r:embed="rId4"/>
                <a:stretch>
                  <a:fillRect r="-20000"/>
                </a:stretch>
              </a:blipFill>
              <a:ln w="6350">
                <a:noFill/>
              </a:ln>
            </p:spPr>
            <p:txBody>
              <a:bodyPr/>
              <a:lstStyle/>
              <a:p>
                <a:r>
                  <a:rPr lang="en-US">
                    <a:noFill/>
                  </a:rPr>
                  <a:t> </a:t>
                </a:r>
              </a:p>
            </p:txBody>
          </p:sp>
        </mc:Fallback>
      </mc:AlternateContent>
      <p:sp>
        <p:nvSpPr>
          <p:cNvPr id="12" name="Text Box 75">
            <a:extLst>
              <a:ext uri="{FF2B5EF4-FFF2-40B4-BE49-F238E27FC236}">
                <a16:creationId xmlns:a16="http://schemas.microsoft.com/office/drawing/2014/main" xmlns="" id="{9D4EEEC1-BF81-374D-8E9C-B400B96BA13F}"/>
              </a:ext>
            </a:extLst>
          </p:cNvPr>
          <p:cNvSpPr txBox="1"/>
          <p:nvPr/>
        </p:nvSpPr>
        <p:spPr>
          <a:xfrm>
            <a:off x="2633806" y="2620010"/>
            <a:ext cx="3075940" cy="68516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b="1" dirty="0">
                <a:solidFill>
                  <a:srgbClr val="4F81BD"/>
                </a:solidFill>
                <a:latin typeface="Verdana" panose="020B0604030504040204" pitchFamily="34" charset="0"/>
                <a:ea typeface="Times New Roman" panose="02020603050405020304" pitchFamily="18" charset="0"/>
                <a:cs typeface="Times New Roman" panose="02020603050405020304" pitchFamily="18" charset="0"/>
              </a:rPr>
              <a:t>Eight less than a number</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3FC181C8-CB2A-3845-9CB4-EACC5304D83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13368" y="1666582"/>
            <a:ext cx="6816725" cy="808168"/>
          </a:xfrm>
          <a:prstGeom prst="rect">
            <a:avLst/>
          </a:prstGeom>
        </p:spPr>
      </p:pic>
      <p:sp>
        <p:nvSpPr>
          <p:cNvPr id="17" name="Rectangle 16">
            <a:extLst>
              <a:ext uri="{FF2B5EF4-FFF2-40B4-BE49-F238E27FC236}">
                <a16:creationId xmlns:a16="http://schemas.microsoft.com/office/drawing/2014/main" xmlns="" id="{7BDEE3BE-98D8-F043-AE4A-F7598B013876}"/>
              </a:ext>
            </a:extLst>
          </p:cNvPr>
          <p:cNvSpPr/>
          <p:nvPr/>
        </p:nvSpPr>
        <p:spPr>
          <a:xfrm>
            <a:off x="2633806" y="3978306"/>
            <a:ext cx="6454776"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Algebraic expression:  _____________</a:t>
            </a:r>
          </a:p>
        </p:txBody>
      </p:sp>
    </p:spTree>
    <p:extLst>
      <p:ext uri="{BB962C8B-B14F-4D97-AF65-F5344CB8AC3E}">
        <p14:creationId xmlns:p14="http://schemas.microsoft.com/office/powerpoint/2010/main" val="783827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280476"/>
            <a:ext cx="10515600" cy="1323439"/>
          </a:xfrm>
          <a:prstGeom prst="rect">
            <a:avLst/>
          </a:prstGeom>
        </p:spPr>
        <p:txBody>
          <a:bodyPr wrap="square">
            <a:spAutoFit/>
          </a:bodyPr>
          <a:lstStyle/>
          <a:p>
            <a:pPr algn="ctr"/>
            <a:r>
              <a:rPr lang="en-US" sz="2000" b="1" dirty="0">
                <a:latin typeface="Verdana" panose="020B0604030504040204" pitchFamily="34" charset="0"/>
                <a:ea typeface="Times New Roman" panose="02020603050405020304" pitchFamily="18" charset="0"/>
                <a:cs typeface="Times New Roman" panose="02020603050405020304" pitchFamily="18" charset="0"/>
              </a:rPr>
              <a:t>Equal Parts – Whole Model</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Equal Parts – Whole Model shows the whole sectioned into equal parts. </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296</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0B0A88FA-4164-5242-922E-9195907F564C}"/>
              </a:ext>
            </a:extLst>
          </p:cNvPr>
          <p:cNvGraphicFramePr>
            <a:graphicFrameLocks noGrp="1"/>
          </p:cNvGraphicFramePr>
          <p:nvPr>
            <p:extLst>
              <p:ext uri="{D42A27DB-BD31-4B8C-83A1-F6EECF244321}">
                <p14:modId xmlns:p14="http://schemas.microsoft.com/office/powerpoint/2010/main" val="930061878"/>
              </p:ext>
            </p:extLst>
          </p:nvPr>
        </p:nvGraphicFramePr>
        <p:xfrm>
          <a:off x="2652713" y="1912029"/>
          <a:ext cx="6886575" cy="548640"/>
        </p:xfrm>
        <a:graphic>
          <a:graphicData uri="http://schemas.openxmlformats.org/drawingml/2006/table">
            <a:tbl>
              <a:tblPr firstRow="1" firstCol="1" bandRow="1">
                <a:tableStyleId>{A91F0D33-8C57-4600-99A7-42BC86742BE1}</a:tableStyleId>
              </a:tblPr>
              <a:tblGrid>
                <a:gridCol w="813435">
                  <a:extLst>
                    <a:ext uri="{9D8B030D-6E8A-4147-A177-3AD203B41FA5}">
                      <a16:colId xmlns:a16="http://schemas.microsoft.com/office/drawing/2014/main" xmlns="" val="2200180829"/>
                    </a:ext>
                  </a:extLst>
                </a:gridCol>
                <a:gridCol w="867410">
                  <a:extLst>
                    <a:ext uri="{9D8B030D-6E8A-4147-A177-3AD203B41FA5}">
                      <a16:colId xmlns:a16="http://schemas.microsoft.com/office/drawing/2014/main" xmlns="" val="4186366472"/>
                    </a:ext>
                  </a:extLst>
                </a:gridCol>
                <a:gridCol w="867410">
                  <a:extLst>
                    <a:ext uri="{9D8B030D-6E8A-4147-A177-3AD203B41FA5}">
                      <a16:colId xmlns:a16="http://schemas.microsoft.com/office/drawing/2014/main" xmlns="" val="1111882630"/>
                    </a:ext>
                  </a:extLst>
                </a:gridCol>
                <a:gridCol w="868045">
                  <a:extLst>
                    <a:ext uri="{9D8B030D-6E8A-4147-A177-3AD203B41FA5}">
                      <a16:colId xmlns:a16="http://schemas.microsoft.com/office/drawing/2014/main" xmlns="" val="2084551400"/>
                    </a:ext>
                  </a:extLst>
                </a:gridCol>
                <a:gridCol w="867410">
                  <a:extLst>
                    <a:ext uri="{9D8B030D-6E8A-4147-A177-3AD203B41FA5}">
                      <a16:colId xmlns:a16="http://schemas.microsoft.com/office/drawing/2014/main" xmlns="" val="556707085"/>
                    </a:ext>
                  </a:extLst>
                </a:gridCol>
                <a:gridCol w="867410">
                  <a:extLst>
                    <a:ext uri="{9D8B030D-6E8A-4147-A177-3AD203B41FA5}">
                      <a16:colId xmlns:a16="http://schemas.microsoft.com/office/drawing/2014/main" xmlns="" val="856485591"/>
                    </a:ext>
                  </a:extLst>
                </a:gridCol>
                <a:gridCol w="867410">
                  <a:extLst>
                    <a:ext uri="{9D8B030D-6E8A-4147-A177-3AD203B41FA5}">
                      <a16:colId xmlns:a16="http://schemas.microsoft.com/office/drawing/2014/main" xmlns="" val="3301416283"/>
                    </a:ext>
                  </a:extLst>
                </a:gridCol>
                <a:gridCol w="868045">
                  <a:extLst>
                    <a:ext uri="{9D8B030D-6E8A-4147-A177-3AD203B41FA5}">
                      <a16:colId xmlns:a16="http://schemas.microsoft.com/office/drawing/2014/main" xmlns="" val="1018392465"/>
                    </a:ext>
                  </a:extLst>
                </a:gridCol>
              </a:tblGrid>
              <a:tr h="0">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Equal Part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Equal Part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Equal Part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472660100"/>
                  </a:ext>
                </a:extLst>
              </a:tr>
            </a:tbl>
          </a:graphicData>
        </a:graphic>
      </p:graphicFrame>
      <p:sp>
        <p:nvSpPr>
          <p:cNvPr id="8" name="Left Brace 7">
            <a:extLst>
              <a:ext uri="{FF2B5EF4-FFF2-40B4-BE49-F238E27FC236}">
                <a16:creationId xmlns:a16="http://schemas.microsoft.com/office/drawing/2014/main" xmlns="" id="{D5CA6211-5A65-C041-A51F-04FFF8BD812B}"/>
              </a:ext>
            </a:extLst>
          </p:cNvPr>
          <p:cNvSpPr/>
          <p:nvPr/>
        </p:nvSpPr>
        <p:spPr>
          <a:xfrm rot="16200000">
            <a:off x="5938751" y="-765582"/>
            <a:ext cx="346075" cy="6887210"/>
          </a:xfrm>
          <a:prstGeom prst="leftBrace">
            <a:avLst>
              <a:gd name="adj1" fmla="val 47477"/>
              <a:gd name="adj2" fmla="val 50000"/>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Text Box 81">
            <a:extLst>
              <a:ext uri="{FF2B5EF4-FFF2-40B4-BE49-F238E27FC236}">
                <a16:creationId xmlns:a16="http://schemas.microsoft.com/office/drawing/2014/main" xmlns="" id="{EB0C738C-3EC9-6C4D-91E6-2EDC523A09B7}"/>
              </a:ext>
            </a:extLst>
          </p:cNvPr>
          <p:cNvSpPr txBox="1"/>
          <p:nvPr/>
        </p:nvSpPr>
        <p:spPr>
          <a:xfrm>
            <a:off x="5606329" y="2852330"/>
            <a:ext cx="923925" cy="4381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a:latin typeface="Verdana" panose="020B0604030504040204" pitchFamily="34" charset="0"/>
                <a:ea typeface="Times New Roman" panose="02020603050405020304" pitchFamily="18" charset="0"/>
                <a:cs typeface="Times New Roman" panose="02020603050405020304" pitchFamily="18" charset="0"/>
              </a:rPr>
              <a:t>Whole</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xmlns="" id="{8EA00CBC-CEC8-5747-A088-52E95B77585C}"/>
              </a:ext>
            </a:extLst>
          </p:cNvPr>
          <p:cNvSpPr/>
          <p:nvPr/>
        </p:nvSpPr>
        <p:spPr>
          <a:xfrm>
            <a:off x="914400" y="3397748"/>
            <a:ext cx="10515600"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equal parts–whole model can be used to show the following actions.</a:t>
            </a:r>
          </a:p>
        </p:txBody>
      </p:sp>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xmlns="" id="{F66E712F-BB7E-4644-8B31-FEA841DAEC64}"/>
                  </a:ext>
                </a:extLst>
              </p:cNvPr>
              <p:cNvGraphicFramePr>
                <a:graphicFrameLocks noGrp="1"/>
              </p:cNvGraphicFramePr>
              <p:nvPr>
                <p:extLst>
                  <p:ext uri="{D42A27DB-BD31-4B8C-83A1-F6EECF244321}">
                    <p14:modId xmlns:p14="http://schemas.microsoft.com/office/powerpoint/2010/main" val="150811693"/>
                  </p:ext>
                </p:extLst>
              </p:nvPr>
            </p:nvGraphicFramePr>
            <p:xfrm>
              <a:off x="2652713" y="4345763"/>
              <a:ext cx="6886575" cy="1933575"/>
            </p:xfrm>
            <a:graphic>
              <a:graphicData uri="http://schemas.openxmlformats.org/drawingml/2006/table">
                <a:tbl>
                  <a:tblPr firstRow="1" firstCol="1" bandRow="1">
                    <a:tableStyleId>{A91F0D33-8C57-4600-99A7-42BC86742BE1}</a:tableStyleId>
                  </a:tblPr>
                  <a:tblGrid>
                    <a:gridCol w="2857500">
                      <a:extLst>
                        <a:ext uri="{9D8B030D-6E8A-4147-A177-3AD203B41FA5}">
                          <a16:colId xmlns:a16="http://schemas.microsoft.com/office/drawing/2014/main" xmlns="" val="1753381298"/>
                        </a:ext>
                      </a:extLst>
                    </a:gridCol>
                    <a:gridCol w="4029075">
                      <a:extLst>
                        <a:ext uri="{9D8B030D-6E8A-4147-A177-3AD203B41FA5}">
                          <a16:colId xmlns:a16="http://schemas.microsoft.com/office/drawing/2014/main" xmlns="" val="245127431"/>
                        </a:ext>
                      </a:extLst>
                    </a:gridCol>
                  </a:tblGrid>
                  <a:tr h="0">
                    <a:tc>
                      <a:txBody>
                        <a:bodyPr/>
                        <a:lstStyle/>
                        <a:p>
                          <a:pPr marL="0" marR="0" algn="ctr">
                            <a:spcBef>
                              <a:spcPts val="0"/>
                            </a:spcBef>
                            <a:spcAft>
                              <a:spcPts val="0"/>
                            </a:spcAft>
                            <a:tabLst>
                              <a:tab pos="2562225" algn="l"/>
                            </a:tabLst>
                          </a:pPr>
                          <a:r>
                            <a:rPr lang="en-US" sz="1600" b="1" dirty="0">
                              <a:effectLst/>
                              <a:latin typeface="Verdana" panose="020B0604030504040204" pitchFamily="34" charset="0"/>
                              <a:ea typeface="Verdana" panose="020B0604030504040204" pitchFamily="34" charset="0"/>
                              <a:cs typeface="Verdana" panose="020B0604030504040204" pitchFamily="34" charset="0"/>
                            </a:rPr>
                            <a:t>Action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Equation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240530576"/>
                      </a:ext>
                    </a:extLst>
                  </a:tr>
                  <a:tr h="714375">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Repeated addition (multiplication)</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Equal part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equal part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whole</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Equal part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number of parts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whole</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95138363"/>
                      </a:ext>
                    </a:extLst>
                  </a:tr>
                  <a:tr h="43942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Equal sharing</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Whole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number of parts </a:t>
                          </a:r>
                          <a14:m>
                            <m:oMath xmlns:m="http://schemas.openxmlformats.org/officeDocument/2006/math">
                              <m:r>
                                <a:rPr lang="en-US" sz="1600">
                                  <a:effectLst/>
                                  <a:latin typeface="Cambria Math" panose="02040503050406030204" pitchFamily="18" charset="0"/>
                                </a:rPr>
                                <m:t>=</m:t>
                              </m:r>
                            </m:oMath>
                          </a14:m>
                          <a:r>
                            <a:rPr lang="en-US" sz="1600">
                              <a:effectLst/>
                              <a:latin typeface="Verdana" panose="020B0604030504040204" pitchFamily="34" charset="0"/>
                              <a:ea typeface="Verdana" panose="020B0604030504040204" pitchFamily="34" charset="0"/>
                              <a:cs typeface="Verdana" panose="020B0604030504040204" pitchFamily="34" charset="0"/>
                            </a:rPr>
                            <a:t> equal part</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82954025"/>
                      </a:ext>
                    </a:extLst>
                  </a:tr>
                  <a:tr h="43942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Partitioning</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Whole </a:t>
                          </a:r>
                          <a14:m>
                            <m:oMath xmlns:m="http://schemas.openxmlformats.org/officeDocument/2006/math">
                              <m:r>
                                <a:rPr lang="en-US" sz="1600">
                                  <a:effectLst/>
                                  <a:latin typeface="Cambria Math" panose="02040503050406030204" pitchFamily="18" charset="0"/>
                                </a:rPr>
                                <m:t>÷</m:t>
                              </m:r>
                            </m:oMath>
                          </a14:m>
                          <a:r>
                            <a:rPr lang="en-US" sz="1600" dirty="0">
                              <a:effectLst/>
                              <a:latin typeface="Verdana" panose="020B0604030504040204" pitchFamily="34" charset="0"/>
                              <a:ea typeface="Verdana" panose="020B0604030504040204" pitchFamily="34" charset="0"/>
                              <a:cs typeface="Verdana" panose="020B0604030504040204" pitchFamily="34" charset="0"/>
                            </a:rPr>
                            <a:t> equal part </a:t>
                          </a:r>
                          <a14:m>
                            <m:oMath xmlns:m="http://schemas.openxmlformats.org/officeDocument/2006/math">
                              <m:r>
                                <a:rPr lang="en-US" sz="1600">
                                  <a:effectLst/>
                                  <a:latin typeface="Cambria Math" panose="02040503050406030204" pitchFamily="18" charset="0"/>
                                </a:rPr>
                                <m:t>=</m:t>
                              </m:r>
                            </m:oMath>
                          </a14:m>
                          <a:r>
                            <a:rPr lang="en-US" sz="1600" dirty="0">
                              <a:effectLst/>
                              <a:latin typeface="Verdana" panose="020B0604030504040204" pitchFamily="34" charset="0"/>
                              <a:ea typeface="Verdana" panose="020B0604030504040204" pitchFamily="34" charset="0"/>
                              <a:cs typeface="Verdana" panose="020B0604030504040204" pitchFamily="34" charset="0"/>
                            </a:rPr>
                            <a:t> number of parts</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233700424"/>
                      </a:ext>
                    </a:extLst>
                  </a:tr>
                </a:tbl>
              </a:graphicData>
            </a:graphic>
          </p:graphicFrame>
        </mc:Choice>
        <mc:Fallback xmlns="">
          <p:graphicFrame>
            <p:nvGraphicFramePr>
              <p:cNvPr id="17" name="Table 16">
                <a:extLst>
                  <a:ext uri="{FF2B5EF4-FFF2-40B4-BE49-F238E27FC236}">
                    <a16:creationId xmlns:a16="http://schemas.microsoft.com/office/drawing/2014/main" id="{F66E712F-BB7E-4644-8B31-FEA841DAEC64}"/>
                  </a:ext>
                </a:extLst>
              </p:cNvPr>
              <p:cNvGraphicFramePr>
                <a:graphicFrameLocks noGrp="1"/>
              </p:cNvGraphicFramePr>
              <p:nvPr>
                <p:extLst>
                  <p:ext uri="{D42A27DB-BD31-4B8C-83A1-F6EECF244321}">
                    <p14:modId xmlns:p14="http://schemas.microsoft.com/office/powerpoint/2010/main" val="150811693"/>
                  </p:ext>
                </p:extLst>
              </p:nvPr>
            </p:nvGraphicFramePr>
            <p:xfrm>
              <a:off x="2652713" y="4345763"/>
              <a:ext cx="6886575" cy="1933575"/>
            </p:xfrm>
            <a:graphic>
              <a:graphicData uri="http://schemas.openxmlformats.org/drawingml/2006/table">
                <a:tbl>
                  <a:tblPr firstRow="1" firstCol="1" bandRow="1">
                    <a:tableStyleId>{A91F0D33-8C57-4600-99A7-42BC86742BE1}</a:tableStyleId>
                  </a:tblPr>
                  <a:tblGrid>
                    <a:gridCol w="2857500">
                      <a:extLst>
                        <a:ext uri="{9D8B030D-6E8A-4147-A177-3AD203B41FA5}">
                          <a16:colId xmlns:a16="http://schemas.microsoft.com/office/drawing/2014/main" val="1753381298"/>
                        </a:ext>
                      </a:extLst>
                    </a:gridCol>
                    <a:gridCol w="4029075">
                      <a:extLst>
                        <a:ext uri="{9D8B030D-6E8A-4147-A177-3AD203B41FA5}">
                          <a16:colId xmlns:a16="http://schemas.microsoft.com/office/drawing/2014/main" val="245127431"/>
                        </a:ext>
                      </a:extLst>
                    </a:gridCol>
                  </a:tblGrid>
                  <a:tr h="243840">
                    <a:tc>
                      <a:txBody>
                        <a:bodyPr/>
                        <a:lstStyle/>
                        <a:p>
                          <a:pPr marL="0" marR="0" algn="ctr">
                            <a:spcBef>
                              <a:spcPts val="0"/>
                            </a:spcBef>
                            <a:spcAft>
                              <a:spcPts val="0"/>
                            </a:spcAft>
                            <a:tabLst>
                              <a:tab pos="2562225" algn="l"/>
                            </a:tabLst>
                          </a:pPr>
                          <a:r>
                            <a:rPr lang="en-US" sz="1600" b="1" dirty="0">
                              <a:effectLst/>
                              <a:latin typeface="Verdana" panose="020B0604030504040204" pitchFamily="34" charset="0"/>
                              <a:ea typeface="Verdana" panose="020B0604030504040204" pitchFamily="34" charset="0"/>
                              <a:cs typeface="Verdana" panose="020B0604030504040204" pitchFamily="34" charset="0"/>
                            </a:rPr>
                            <a:t>Action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Equation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240530576"/>
                      </a:ext>
                    </a:extLst>
                  </a:tr>
                  <a:tr h="714375">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Repeated addition (multiplication)</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1069" t="-43860" r="-314" b="-152632"/>
                          </a:stretch>
                        </a:blipFill>
                      </a:tcPr>
                    </a:tc>
                    <a:extLst>
                      <a:ext uri="{0D108BD9-81ED-4DB2-BD59-A6C34878D82A}">
                        <a16:rowId xmlns:a16="http://schemas.microsoft.com/office/drawing/2014/main" val="795138363"/>
                      </a:ext>
                    </a:extLst>
                  </a:tr>
                  <a:tr h="48768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Equal sharing</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1069" t="-215789" r="-314" b="-128947"/>
                          </a:stretch>
                        </a:blipFill>
                      </a:tcPr>
                    </a:tc>
                    <a:extLst>
                      <a:ext uri="{0D108BD9-81ED-4DB2-BD59-A6C34878D82A}">
                        <a16:rowId xmlns:a16="http://schemas.microsoft.com/office/drawing/2014/main" val="4182954025"/>
                      </a:ext>
                    </a:extLst>
                  </a:tr>
                  <a:tr h="487680">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Partitioning</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1069" t="-307692" r="-314" b="-25641"/>
                          </a:stretch>
                        </a:blipFill>
                      </a:tcPr>
                    </a:tc>
                    <a:extLst>
                      <a:ext uri="{0D108BD9-81ED-4DB2-BD59-A6C34878D82A}">
                        <a16:rowId xmlns:a16="http://schemas.microsoft.com/office/drawing/2014/main" val="1233700424"/>
                      </a:ext>
                    </a:extLst>
                  </a:tr>
                </a:tbl>
              </a:graphicData>
            </a:graphic>
          </p:graphicFrame>
        </mc:Fallback>
      </mc:AlternateContent>
    </p:spTree>
    <p:extLst>
      <p:ext uri="{BB962C8B-B14F-4D97-AF65-F5344CB8AC3E}">
        <p14:creationId xmlns:p14="http://schemas.microsoft.com/office/powerpoint/2010/main" val="2296022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488295"/>
            <a:ext cx="10515600" cy="1200329"/>
          </a:xfrm>
          <a:prstGeom prst="rect">
            <a:avLst/>
          </a:prstGeom>
        </p:spPr>
        <p:txBody>
          <a:bodyPr wrap="square">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“The product of nine and a number” can be shown as 9 equal parts with size of “a number” represented with the variable, 𝑎.</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2582D620-6873-404B-8927-BF53F57C355B}"/>
                  </a:ext>
                </a:extLst>
              </p:cNvPr>
              <p:cNvGraphicFramePr>
                <a:graphicFrameLocks noGrp="1"/>
              </p:cNvGraphicFramePr>
              <p:nvPr>
                <p:extLst>
                  <p:ext uri="{D42A27DB-BD31-4B8C-83A1-F6EECF244321}">
                    <p14:modId xmlns:p14="http://schemas.microsoft.com/office/powerpoint/2010/main" val="2046488612"/>
                  </p:ext>
                </p:extLst>
              </p:nvPr>
            </p:nvGraphicFramePr>
            <p:xfrm>
              <a:off x="2652713" y="2289306"/>
              <a:ext cx="6886575" cy="459105"/>
            </p:xfrm>
            <a:graphic>
              <a:graphicData uri="http://schemas.openxmlformats.org/drawingml/2006/table">
                <a:tbl>
                  <a:tblPr firstRow="1" firstCol="1" bandRow="1">
                    <a:tableStyleId>{A91F0D33-8C57-4600-99A7-42BC86742BE1}</a:tableStyleId>
                  </a:tblPr>
                  <a:tblGrid>
                    <a:gridCol w="716280">
                      <a:extLst>
                        <a:ext uri="{9D8B030D-6E8A-4147-A177-3AD203B41FA5}">
                          <a16:colId xmlns:a16="http://schemas.microsoft.com/office/drawing/2014/main" xmlns="" val="3938259103"/>
                        </a:ext>
                      </a:extLst>
                    </a:gridCol>
                    <a:gridCol w="770890">
                      <a:extLst>
                        <a:ext uri="{9D8B030D-6E8A-4147-A177-3AD203B41FA5}">
                          <a16:colId xmlns:a16="http://schemas.microsoft.com/office/drawing/2014/main" xmlns="" val="584494509"/>
                        </a:ext>
                      </a:extLst>
                    </a:gridCol>
                    <a:gridCol w="770890">
                      <a:extLst>
                        <a:ext uri="{9D8B030D-6E8A-4147-A177-3AD203B41FA5}">
                          <a16:colId xmlns:a16="http://schemas.microsoft.com/office/drawing/2014/main" xmlns="" val="1025193726"/>
                        </a:ext>
                      </a:extLst>
                    </a:gridCol>
                    <a:gridCol w="770890">
                      <a:extLst>
                        <a:ext uri="{9D8B030D-6E8A-4147-A177-3AD203B41FA5}">
                          <a16:colId xmlns:a16="http://schemas.microsoft.com/office/drawing/2014/main" xmlns="" val="466049363"/>
                        </a:ext>
                      </a:extLst>
                    </a:gridCol>
                    <a:gridCol w="771525">
                      <a:extLst>
                        <a:ext uri="{9D8B030D-6E8A-4147-A177-3AD203B41FA5}">
                          <a16:colId xmlns:a16="http://schemas.microsoft.com/office/drawing/2014/main" xmlns="" val="3208006822"/>
                        </a:ext>
                      </a:extLst>
                    </a:gridCol>
                    <a:gridCol w="771525">
                      <a:extLst>
                        <a:ext uri="{9D8B030D-6E8A-4147-A177-3AD203B41FA5}">
                          <a16:colId xmlns:a16="http://schemas.microsoft.com/office/drawing/2014/main" xmlns="" val="3956289303"/>
                        </a:ext>
                      </a:extLst>
                    </a:gridCol>
                    <a:gridCol w="771525">
                      <a:extLst>
                        <a:ext uri="{9D8B030D-6E8A-4147-A177-3AD203B41FA5}">
                          <a16:colId xmlns:a16="http://schemas.microsoft.com/office/drawing/2014/main" xmlns="" val="1349871705"/>
                        </a:ext>
                      </a:extLst>
                    </a:gridCol>
                    <a:gridCol w="771525">
                      <a:extLst>
                        <a:ext uri="{9D8B030D-6E8A-4147-A177-3AD203B41FA5}">
                          <a16:colId xmlns:a16="http://schemas.microsoft.com/office/drawing/2014/main" xmlns="" val="2370981563"/>
                        </a:ext>
                      </a:extLst>
                    </a:gridCol>
                    <a:gridCol w="771525">
                      <a:extLst>
                        <a:ext uri="{9D8B030D-6E8A-4147-A177-3AD203B41FA5}">
                          <a16:colId xmlns:a16="http://schemas.microsoft.com/office/drawing/2014/main" xmlns="" val="2016700354"/>
                        </a:ext>
                      </a:extLst>
                    </a:gridCol>
                  </a:tblGrid>
                  <a:tr h="45910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𝑎</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1212159003"/>
                      </a:ext>
                    </a:extLst>
                  </a:tr>
                </a:tbl>
              </a:graphicData>
            </a:graphic>
          </p:graphicFrame>
        </mc:Choice>
        <mc:Fallback xmlns="">
          <p:graphicFrame>
            <p:nvGraphicFramePr>
              <p:cNvPr id="4" name="Table 3">
                <a:extLst>
                  <a:ext uri="{FF2B5EF4-FFF2-40B4-BE49-F238E27FC236}">
                    <a16:creationId xmlns:a16="http://schemas.microsoft.com/office/drawing/2014/main" id="{2582D620-6873-404B-8927-BF53F57C355B}"/>
                  </a:ext>
                </a:extLst>
              </p:cNvPr>
              <p:cNvGraphicFramePr>
                <a:graphicFrameLocks noGrp="1"/>
              </p:cNvGraphicFramePr>
              <p:nvPr>
                <p:extLst>
                  <p:ext uri="{D42A27DB-BD31-4B8C-83A1-F6EECF244321}">
                    <p14:modId xmlns:p14="http://schemas.microsoft.com/office/powerpoint/2010/main" val="2046488612"/>
                  </p:ext>
                </p:extLst>
              </p:nvPr>
            </p:nvGraphicFramePr>
            <p:xfrm>
              <a:off x="2652713" y="2289306"/>
              <a:ext cx="6886575" cy="459105"/>
            </p:xfrm>
            <a:graphic>
              <a:graphicData uri="http://schemas.openxmlformats.org/drawingml/2006/table">
                <a:tbl>
                  <a:tblPr firstRow="1" firstCol="1" bandRow="1">
                    <a:tableStyleId>{A91F0D33-8C57-4600-99A7-42BC86742BE1}</a:tableStyleId>
                  </a:tblPr>
                  <a:tblGrid>
                    <a:gridCol w="716280">
                      <a:extLst>
                        <a:ext uri="{9D8B030D-6E8A-4147-A177-3AD203B41FA5}">
                          <a16:colId xmlns:a16="http://schemas.microsoft.com/office/drawing/2014/main" val="3938259103"/>
                        </a:ext>
                      </a:extLst>
                    </a:gridCol>
                    <a:gridCol w="770890">
                      <a:extLst>
                        <a:ext uri="{9D8B030D-6E8A-4147-A177-3AD203B41FA5}">
                          <a16:colId xmlns:a16="http://schemas.microsoft.com/office/drawing/2014/main" val="584494509"/>
                        </a:ext>
                      </a:extLst>
                    </a:gridCol>
                    <a:gridCol w="770890">
                      <a:extLst>
                        <a:ext uri="{9D8B030D-6E8A-4147-A177-3AD203B41FA5}">
                          <a16:colId xmlns:a16="http://schemas.microsoft.com/office/drawing/2014/main" val="1025193726"/>
                        </a:ext>
                      </a:extLst>
                    </a:gridCol>
                    <a:gridCol w="770890">
                      <a:extLst>
                        <a:ext uri="{9D8B030D-6E8A-4147-A177-3AD203B41FA5}">
                          <a16:colId xmlns:a16="http://schemas.microsoft.com/office/drawing/2014/main" val="466049363"/>
                        </a:ext>
                      </a:extLst>
                    </a:gridCol>
                    <a:gridCol w="771525">
                      <a:extLst>
                        <a:ext uri="{9D8B030D-6E8A-4147-A177-3AD203B41FA5}">
                          <a16:colId xmlns:a16="http://schemas.microsoft.com/office/drawing/2014/main" val="3208006822"/>
                        </a:ext>
                      </a:extLst>
                    </a:gridCol>
                    <a:gridCol w="771525">
                      <a:extLst>
                        <a:ext uri="{9D8B030D-6E8A-4147-A177-3AD203B41FA5}">
                          <a16:colId xmlns:a16="http://schemas.microsoft.com/office/drawing/2014/main" val="3956289303"/>
                        </a:ext>
                      </a:extLst>
                    </a:gridCol>
                    <a:gridCol w="771525">
                      <a:extLst>
                        <a:ext uri="{9D8B030D-6E8A-4147-A177-3AD203B41FA5}">
                          <a16:colId xmlns:a16="http://schemas.microsoft.com/office/drawing/2014/main" val="1349871705"/>
                        </a:ext>
                      </a:extLst>
                    </a:gridCol>
                    <a:gridCol w="771525">
                      <a:extLst>
                        <a:ext uri="{9D8B030D-6E8A-4147-A177-3AD203B41FA5}">
                          <a16:colId xmlns:a16="http://schemas.microsoft.com/office/drawing/2014/main" val="2370981563"/>
                        </a:ext>
                      </a:extLst>
                    </a:gridCol>
                    <a:gridCol w="771525">
                      <a:extLst>
                        <a:ext uri="{9D8B030D-6E8A-4147-A177-3AD203B41FA5}">
                          <a16:colId xmlns:a16="http://schemas.microsoft.com/office/drawing/2014/main" val="2016700354"/>
                        </a:ext>
                      </a:extLst>
                    </a:gridCol>
                  </a:tblGrid>
                  <a:tr h="45910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703" r="-856140"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5000" t="-2703" r="-713333"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1803" t="-2703" r="-6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91803" t="-2703" r="-5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91803" t="-2703" r="-4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1803" t="-2703" r="-3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91803" t="-2703" r="-2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91803" t="-2703" r="-10163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91803" t="-2703" r="-1639" b="-2703"/>
                          </a:stretch>
                        </a:blipFill>
                      </a:tcPr>
                    </a:tc>
                    <a:extLst>
                      <a:ext uri="{0D108BD9-81ED-4DB2-BD59-A6C34878D82A}">
                        <a16:rowId xmlns:a16="http://schemas.microsoft.com/office/drawing/2014/main" val="1212159003"/>
                      </a:ext>
                    </a:extLst>
                  </a:tr>
                </a:tbl>
              </a:graphicData>
            </a:graphic>
          </p:graphicFrame>
        </mc:Fallback>
      </mc:AlternateContent>
      <p:sp>
        <p:nvSpPr>
          <p:cNvPr id="12" name="Rectangle 11">
            <a:extLst>
              <a:ext uri="{FF2B5EF4-FFF2-40B4-BE49-F238E27FC236}">
                <a16:creationId xmlns:a16="http://schemas.microsoft.com/office/drawing/2014/main" xmlns="" id="{03CE2F94-75C4-A548-9B02-0D4ED94ED6D8}"/>
              </a:ext>
            </a:extLst>
          </p:cNvPr>
          <p:cNvSpPr/>
          <p:nvPr/>
        </p:nvSpPr>
        <p:spPr>
          <a:xfrm>
            <a:off x="914400" y="3051385"/>
            <a:ext cx="10515600" cy="1938992"/>
          </a:xfrm>
          <a:prstGeom prst="rect">
            <a:avLst/>
          </a:prstGeom>
        </p:spPr>
        <p:txBody>
          <a:bodyPr wrap="square">
            <a:spAutoFit/>
          </a:bodyPr>
          <a:lstStyle/>
          <a:p>
            <a:pPr algn="ctr"/>
            <a:r>
              <a:rPr lang="en-US" sz="2400" dirty="0">
                <a:latin typeface="Verdana" panose="020B0604030504040204" pitchFamily="34" charset="0"/>
                <a:ea typeface="Times New Roman" panose="02020603050405020304" pitchFamily="18" charset="0"/>
                <a:cs typeface="Times New Roman" panose="02020603050405020304" pitchFamily="18" charset="0"/>
              </a:rPr>
              <a:t>The product of nine and a number</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Write an algebraic expression for “the product of nine and a number.”</a:t>
            </a:r>
          </a:p>
        </p:txBody>
      </p:sp>
    </p:spTree>
    <p:extLst>
      <p:ext uri="{BB962C8B-B14F-4D97-AF65-F5344CB8AC3E}">
        <p14:creationId xmlns:p14="http://schemas.microsoft.com/office/powerpoint/2010/main" val="3387279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488294"/>
            <a:ext cx="10515600" cy="1569660"/>
          </a:xfrm>
          <a:prstGeom prst="rect">
            <a:avLst/>
          </a:prstGeom>
        </p:spPr>
        <p:txBody>
          <a:bodyPr wrap="square">
            <a:spAutoFit/>
          </a:bodyPr>
          <a:lstStyle/>
          <a:p>
            <a:pPr marL="457200" indent="-457200">
              <a:buFont typeface="+mj-lt"/>
              <a:buAutoNum type="arabicPeriod" startAt="7"/>
            </a:pPr>
            <a:r>
              <a:rPr lang="en-US" sz="2400" dirty="0">
                <a:latin typeface="Verdana" panose="020B0604030504040204" pitchFamily="34" charset="0"/>
                <a:ea typeface="Times New Roman" panose="02020603050405020304" pitchFamily="18" charset="0"/>
                <a:cs typeface="Times New Roman" panose="02020603050405020304" pitchFamily="18" charset="0"/>
              </a:rPr>
              <a:t>“The quotient of a number and two” could be shown as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a number</a:t>
            </a:r>
            <a:r>
              <a:rPr lang="en-US" sz="2400" dirty="0">
                <a:latin typeface="Verdana" panose="020B0604030504040204" pitchFamily="34" charset="0"/>
                <a:ea typeface="Times New Roman" panose="02020603050405020304" pitchFamily="18" charset="0"/>
                <a:cs typeface="Times New Roman" panose="02020603050405020304" pitchFamily="18" charset="0"/>
              </a:rPr>
              <a:t>” represented by the variable,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𝒑</a:t>
            </a:r>
            <a:r>
              <a:rPr lang="en-US" sz="2400" dirty="0">
                <a:latin typeface="Verdana" panose="020B0604030504040204" pitchFamily="34" charset="0"/>
                <a:ea typeface="Times New Roman" panose="02020603050405020304" pitchFamily="18" charset="0"/>
                <a:cs typeface="Times New Roman" panose="02020603050405020304" pitchFamily="18" charset="0"/>
              </a:rPr>
              <a:t>, sectioned off into two equal parts. The quotient is the size of each equal part. </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296</a:t>
            </a:r>
            <a:endParaRPr i="1" dirty="0">
              <a:latin typeface="Calibri"/>
              <a:ea typeface="Calibri"/>
              <a:cs typeface="Calibri"/>
              <a:sym typeface="Calibri"/>
            </a:endParaRPr>
          </a:p>
        </p:txBody>
      </p:sp>
      <p:sp>
        <p:nvSpPr>
          <p:cNvPr id="8" name="Left Brace 7">
            <a:extLst>
              <a:ext uri="{FF2B5EF4-FFF2-40B4-BE49-F238E27FC236}">
                <a16:creationId xmlns:a16="http://schemas.microsoft.com/office/drawing/2014/main" xmlns="" id="{F4B4A0A4-75FF-D946-B751-BDD0B250E3D3}"/>
              </a:ext>
            </a:extLst>
          </p:cNvPr>
          <p:cNvSpPr/>
          <p:nvPr/>
        </p:nvSpPr>
        <p:spPr>
          <a:xfrm rot="5400000">
            <a:off x="5803266" y="-134301"/>
            <a:ext cx="285115" cy="6821805"/>
          </a:xfrm>
          <a:prstGeom prst="leftBrace">
            <a:avLst/>
          </a:prstGeom>
          <a:ln>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9" name="Text Box 86">
                <a:extLst>
                  <a:ext uri="{FF2B5EF4-FFF2-40B4-BE49-F238E27FC236}">
                    <a16:creationId xmlns:a16="http://schemas.microsoft.com/office/drawing/2014/main" xmlns="" id="{9990DC24-5E5F-F049-BB47-D8E66A59F237}"/>
                  </a:ext>
                </a:extLst>
              </p:cNvPr>
              <p:cNvSpPr txBox="1"/>
              <p:nvPr/>
            </p:nvSpPr>
            <p:spPr>
              <a:xfrm>
                <a:off x="5151755" y="2735899"/>
                <a:ext cx="1888490" cy="4000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dirty="0">
                    <a:solidFill>
                      <a:srgbClr val="9BBB59"/>
                    </a:solidFill>
                    <a:latin typeface="Verdana" panose="020B0604030504040204" pitchFamily="34" charset="0"/>
                    <a:ea typeface="Times New Roman" panose="02020603050405020304" pitchFamily="18" charset="0"/>
                    <a:cs typeface="Times New Roman" panose="02020603050405020304" pitchFamily="18" charset="0"/>
                  </a:rPr>
                  <a:t>A number,</a:t>
                </a:r>
                <a:r>
                  <a:rPr lang="en-US" sz="1800" b="1" dirty="0">
                    <a:solidFill>
                      <a:srgbClr val="9BBB59"/>
                    </a:solidFill>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b="1" i="1">
                        <a:solidFill>
                          <a:srgbClr val="9BBB59"/>
                        </a:solidFill>
                        <a:latin typeface="Cambria Math" panose="02040503050406030204" pitchFamily="18" charset="0"/>
                        <a:ea typeface="Times New Roman" panose="02020603050405020304" pitchFamily="18" charset="0"/>
                        <a:cs typeface="Times New Roman" panose="02020603050405020304" pitchFamily="18" charset="0"/>
                      </a:rPr>
                      <m:t>𝒑</m:t>
                    </m:r>
                  </m:oMath>
                </a14:m>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9" name="Text Box 86">
                <a:extLst>
                  <a:ext uri="{FF2B5EF4-FFF2-40B4-BE49-F238E27FC236}">
                    <a16:creationId xmlns:a16="http://schemas.microsoft.com/office/drawing/2014/main" id="{9990DC24-5E5F-F049-BB47-D8E66A59F237}"/>
                  </a:ext>
                </a:extLst>
              </p:cNvPr>
              <p:cNvSpPr txBox="1">
                <a:spLocks noRot="1" noChangeAspect="1" noMove="1" noResize="1" noEditPoints="1" noAdjustHandles="1" noChangeArrowheads="1" noChangeShapeType="1" noTextEdit="1"/>
              </p:cNvSpPr>
              <p:nvPr/>
            </p:nvSpPr>
            <p:spPr>
              <a:xfrm>
                <a:off x="5151755" y="2735899"/>
                <a:ext cx="1888490" cy="400050"/>
              </a:xfrm>
              <a:prstGeom prst="rect">
                <a:avLst/>
              </a:prstGeom>
              <a:blipFill>
                <a:blip r:embed="rId4"/>
                <a:stretch>
                  <a:fillRect l="-2667" t="-6250" b="-18750"/>
                </a:stretch>
              </a:blipFill>
              <a:ln w="6350">
                <a:noFill/>
              </a:ln>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xmlns="" id="{8E7B523C-BA86-784C-946E-E893875C52F6}"/>
              </a:ext>
            </a:extLst>
          </p:cNvPr>
          <p:cNvGraphicFramePr>
            <a:graphicFrameLocks noGrp="1"/>
          </p:cNvGraphicFramePr>
          <p:nvPr>
            <p:extLst>
              <p:ext uri="{D42A27DB-BD31-4B8C-83A1-F6EECF244321}">
                <p14:modId xmlns:p14="http://schemas.microsoft.com/office/powerpoint/2010/main" val="445273521"/>
              </p:ext>
            </p:extLst>
          </p:nvPr>
        </p:nvGraphicFramePr>
        <p:xfrm>
          <a:off x="2507932" y="3595396"/>
          <a:ext cx="6875780" cy="514350"/>
        </p:xfrm>
        <a:graphic>
          <a:graphicData uri="http://schemas.openxmlformats.org/drawingml/2006/table">
            <a:tbl>
              <a:tblPr firstRow="1" firstCol="1" bandRow="1">
                <a:tableStyleId>{A91F0D33-8C57-4600-99A7-42BC86742BE1}</a:tableStyleId>
              </a:tblPr>
              <a:tblGrid>
                <a:gridCol w="3495040">
                  <a:extLst>
                    <a:ext uri="{9D8B030D-6E8A-4147-A177-3AD203B41FA5}">
                      <a16:colId xmlns:a16="http://schemas.microsoft.com/office/drawing/2014/main" xmlns="" val="2132606847"/>
                    </a:ext>
                  </a:extLst>
                </a:gridCol>
                <a:gridCol w="3380740">
                  <a:extLst>
                    <a:ext uri="{9D8B030D-6E8A-4147-A177-3AD203B41FA5}">
                      <a16:colId xmlns:a16="http://schemas.microsoft.com/office/drawing/2014/main" xmlns="" val="3442380925"/>
                    </a:ext>
                  </a:extLst>
                </a:gridCol>
              </a:tblGrid>
              <a:tr h="514350">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quotient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quotient</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3951140321"/>
                  </a:ext>
                </a:extLst>
              </a:tr>
            </a:tbl>
          </a:graphicData>
        </a:graphic>
      </p:graphicFrame>
    </p:spTree>
    <p:extLst>
      <p:ext uri="{BB962C8B-B14F-4D97-AF65-F5344CB8AC3E}">
        <p14:creationId xmlns:p14="http://schemas.microsoft.com/office/powerpoint/2010/main" val="1500512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914400" y="488294"/>
                <a:ext cx="10515600" cy="156966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quotient of a number and two” could also be shown as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a number</a:t>
                </a:r>
                <a:r>
                  <a:rPr lang="en-US" sz="2400" dirty="0">
                    <a:latin typeface="Verdana" panose="020B0604030504040204" pitchFamily="34" charset="0"/>
                    <a:ea typeface="Times New Roman" panose="02020603050405020304" pitchFamily="18" charset="0"/>
                    <a:cs typeface="Times New Roman" panose="02020603050405020304" pitchFamily="18" charset="0"/>
                  </a:rPr>
                  <a:t>” represented by the variable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𝒑</a:t>
                </a:r>
                <a:r>
                  <a:rPr lang="en-US" sz="2400" dirty="0">
                    <a:latin typeface="Verdana" panose="020B0604030504040204" pitchFamily="34" charset="0"/>
                    <a:ea typeface="Times New Roman" panose="02020603050405020304" pitchFamily="18" charset="0"/>
                    <a:cs typeface="Times New Roman" panose="02020603050405020304" pitchFamily="18" charset="0"/>
                  </a:rPr>
                  <a:t>, sectioned off into equal parts with size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units. The quotient is the number of equal parts.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914400" y="488294"/>
                <a:ext cx="10515600" cy="1569660"/>
              </a:xfrm>
              <a:prstGeom prst="rect">
                <a:avLst/>
              </a:prstGeom>
              <a:blipFill>
                <a:blip r:embed="rId4"/>
                <a:stretch>
                  <a:fillRect l="-965" t="-3200" b="-7200"/>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296</a:t>
            </a:r>
            <a:endParaRPr i="1" dirty="0">
              <a:latin typeface="Calibri"/>
              <a:ea typeface="Calibri"/>
              <a:cs typeface="Calibri"/>
              <a:sym typeface="Calibri"/>
            </a:endParaRPr>
          </a:p>
        </p:txBody>
      </p:sp>
      <p:sp>
        <p:nvSpPr>
          <p:cNvPr id="11" name="Left Brace 10">
            <a:extLst>
              <a:ext uri="{FF2B5EF4-FFF2-40B4-BE49-F238E27FC236}">
                <a16:creationId xmlns:a16="http://schemas.microsoft.com/office/drawing/2014/main" xmlns="" id="{43213223-1190-FF49-9DF2-34959555257A}"/>
              </a:ext>
            </a:extLst>
          </p:cNvPr>
          <p:cNvSpPr/>
          <p:nvPr/>
        </p:nvSpPr>
        <p:spPr>
          <a:xfrm rot="5400000">
            <a:off x="5838826" y="-505315"/>
            <a:ext cx="285115" cy="6843395"/>
          </a:xfrm>
          <a:prstGeom prst="leftBrace">
            <a:avLst/>
          </a:prstGeom>
          <a:noFill/>
          <a:ln w="25400" cap="flat" cmpd="sng" algn="ctr">
            <a:solidFill>
              <a:schemeClr val="tx1"/>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2" name="Text Box 89">
                <a:extLst>
                  <a:ext uri="{FF2B5EF4-FFF2-40B4-BE49-F238E27FC236}">
                    <a16:creationId xmlns:a16="http://schemas.microsoft.com/office/drawing/2014/main" xmlns="" id="{9C9EDE01-AC6B-064F-A8A0-D9FE531E80D2}"/>
                  </a:ext>
                </a:extLst>
              </p:cNvPr>
              <p:cNvSpPr txBox="1"/>
              <p:nvPr/>
            </p:nvSpPr>
            <p:spPr>
              <a:xfrm>
                <a:off x="5202555" y="2373140"/>
                <a:ext cx="1786890" cy="3962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800" b="1">
                    <a:solidFill>
                      <a:srgbClr val="9BBB59"/>
                    </a:solidFill>
                    <a:latin typeface="Verdana" panose="020B0604030504040204" pitchFamily="34" charset="0"/>
                    <a:ea typeface="Times New Roman" panose="02020603050405020304" pitchFamily="18" charset="0"/>
                    <a:cs typeface="Times New Roman" panose="02020603050405020304" pitchFamily="18" charset="0"/>
                  </a:rPr>
                  <a:t>A number,</a:t>
                </a:r>
                <a:r>
                  <a:rPr lang="en-US" sz="1800" b="1">
                    <a:solidFill>
                      <a:srgbClr val="9BBB59"/>
                    </a:solidFill>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b="1" i="1">
                        <a:solidFill>
                          <a:srgbClr val="9BBB59"/>
                        </a:solidFill>
                        <a:latin typeface="Cambria Math" panose="02040503050406030204" pitchFamily="18" charset="0"/>
                        <a:ea typeface="Times New Roman" panose="02020603050405020304" pitchFamily="18" charset="0"/>
                        <a:cs typeface="Times New Roman" panose="02020603050405020304" pitchFamily="18" charset="0"/>
                      </a:rPr>
                      <m:t>𝒑</m:t>
                    </m:r>
                  </m:oMath>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2" name="Text Box 89">
                <a:extLst>
                  <a:ext uri="{FF2B5EF4-FFF2-40B4-BE49-F238E27FC236}">
                    <a16:creationId xmlns:a16="http://schemas.microsoft.com/office/drawing/2014/main" id="{9C9EDE01-AC6B-064F-A8A0-D9FE531E80D2}"/>
                  </a:ext>
                </a:extLst>
              </p:cNvPr>
              <p:cNvSpPr txBox="1">
                <a:spLocks noRot="1" noChangeAspect="1" noMove="1" noResize="1" noEditPoints="1" noAdjustHandles="1" noChangeArrowheads="1" noChangeShapeType="1" noTextEdit="1"/>
              </p:cNvSpPr>
              <p:nvPr/>
            </p:nvSpPr>
            <p:spPr>
              <a:xfrm>
                <a:off x="5202555" y="2373140"/>
                <a:ext cx="1786890" cy="396240"/>
              </a:xfrm>
              <a:prstGeom prst="rect">
                <a:avLst/>
              </a:prstGeom>
              <a:blipFill>
                <a:blip r:embed="rId5"/>
                <a:stretch>
                  <a:fillRect l="-2817" t="-6250" b="-1875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FBE28BB7-BB86-8D48-8F59-7D6F2F6DC288}"/>
                  </a:ext>
                </a:extLst>
              </p:cNvPr>
              <p:cNvGraphicFramePr>
                <a:graphicFrameLocks noGrp="1"/>
              </p:cNvGraphicFramePr>
              <p:nvPr>
                <p:extLst>
                  <p:ext uri="{D42A27DB-BD31-4B8C-83A1-F6EECF244321}">
                    <p14:modId xmlns:p14="http://schemas.microsoft.com/office/powerpoint/2010/main" val="3889451669"/>
                  </p:ext>
                </p:extLst>
              </p:nvPr>
            </p:nvGraphicFramePr>
            <p:xfrm>
              <a:off x="2559686" y="3170927"/>
              <a:ext cx="6886575" cy="314325"/>
            </p:xfrm>
            <a:graphic>
              <a:graphicData uri="http://schemas.openxmlformats.org/drawingml/2006/table">
                <a:tbl>
                  <a:tblPr firstRow="1" firstCol="1" bandRow="1">
                    <a:tableStyleId>{A91F0D33-8C57-4600-99A7-42BC86742BE1}</a:tableStyleId>
                  </a:tblPr>
                  <a:tblGrid>
                    <a:gridCol w="523875">
                      <a:extLst>
                        <a:ext uri="{9D8B030D-6E8A-4147-A177-3AD203B41FA5}">
                          <a16:colId xmlns:a16="http://schemas.microsoft.com/office/drawing/2014/main" xmlns="" val="277663151"/>
                        </a:ext>
                      </a:extLst>
                    </a:gridCol>
                    <a:gridCol w="577850">
                      <a:extLst>
                        <a:ext uri="{9D8B030D-6E8A-4147-A177-3AD203B41FA5}">
                          <a16:colId xmlns:a16="http://schemas.microsoft.com/office/drawing/2014/main" xmlns="" val="2179213426"/>
                        </a:ext>
                      </a:extLst>
                    </a:gridCol>
                    <a:gridCol w="577850">
                      <a:extLst>
                        <a:ext uri="{9D8B030D-6E8A-4147-A177-3AD203B41FA5}">
                          <a16:colId xmlns:a16="http://schemas.microsoft.com/office/drawing/2014/main" xmlns="" val="2641171664"/>
                        </a:ext>
                      </a:extLst>
                    </a:gridCol>
                    <a:gridCol w="577850">
                      <a:extLst>
                        <a:ext uri="{9D8B030D-6E8A-4147-A177-3AD203B41FA5}">
                          <a16:colId xmlns:a16="http://schemas.microsoft.com/office/drawing/2014/main" xmlns="" val="508620553"/>
                        </a:ext>
                      </a:extLst>
                    </a:gridCol>
                    <a:gridCol w="578485">
                      <a:extLst>
                        <a:ext uri="{9D8B030D-6E8A-4147-A177-3AD203B41FA5}">
                          <a16:colId xmlns:a16="http://schemas.microsoft.com/office/drawing/2014/main" xmlns="" val="2634350617"/>
                        </a:ext>
                      </a:extLst>
                    </a:gridCol>
                    <a:gridCol w="578485">
                      <a:extLst>
                        <a:ext uri="{9D8B030D-6E8A-4147-A177-3AD203B41FA5}">
                          <a16:colId xmlns:a16="http://schemas.microsoft.com/office/drawing/2014/main" xmlns="" val="3594796450"/>
                        </a:ext>
                      </a:extLst>
                    </a:gridCol>
                    <a:gridCol w="578485">
                      <a:extLst>
                        <a:ext uri="{9D8B030D-6E8A-4147-A177-3AD203B41FA5}">
                          <a16:colId xmlns:a16="http://schemas.microsoft.com/office/drawing/2014/main" xmlns="" val="67420048"/>
                        </a:ext>
                      </a:extLst>
                    </a:gridCol>
                    <a:gridCol w="578485">
                      <a:extLst>
                        <a:ext uri="{9D8B030D-6E8A-4147-A177-3AD203B41FA5}">
                          <a16:colId xmlns:a16="http://schemas.microsoft.com/office/drawing/2014/main" xmlns="" val="1394275177"/>
                        </a:ext>
                      </a:extLst>
                    </a:gridCol>
                    <a:gridCol w="579120">
                      <a:extLst>
                        <a:ext uri="{9D8B030D-6E8A-4147-A177-3AD203B41FA5}">
                          <a16:colId xmlns:a16="http://schemas.microsoft.com/office/drawing/2014/main" xmlns="" val="2286150150"/>
                        </a:ext>
                      </a:extLst>
                    </a:gridCol>
                    <a:gridCol w="578485">
                      <a:extLst>
                        <a:ext uri="{9D8B030D-6E8A-4147-A177-3AD203B41FA5}">
                          <a16:colId xmlns:a16="http://schemas.microsoft.com/office/drawing/2014/main" xmlns="" val="3793940652"/>
                        </a:ext>
                      </a:extLst>
                    </a:gridCol>
                    <a:gridCol w="578485">
                      <a:extLst>
                        <a:ext uri="{9D8B030D-6E8A-4147-A177-3AD203B41FA5}">
                          <a16:colId xmlns:a16="http://schemas.microsoft.com/office/drawing/2014/main" xmlns="" val="568082824"/>
                        </a:ext>
                      </a:extLst>
                    </a:gridCol>
                    <a:gridCol w="579120">
                      <a:extLst>
                        <a:ext uri="{9D8B030D-6E8A-4147-A177-3AD203B41FA5}">
                          <a16:colId xmlns:a16="http://schemas.microsoft.com/office/drawing/2014/main" xmlns="" val="849191811"/>
                        </a:ext>
                      </a:extLst>
                    </a:gridCol>
                  </a:tblGrid>
                  <a:tr h="31432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xmlns="" val="1693076046"/>
                      </a:ext>
                    </a:extLst>
                  </a:tr>
                </a:tbl>
              </a:graphicData>
            </a:graphic>
          </p:graphicFrame>
        </mc:Choice>
        <mc:Fallback xmlns="">
          <p:graphicFrame>
            <p:nvGraphicFramePr>
              <p:cNvPr id="4" name="Table 3">
                <a:extLst>
                  <a:ext uri="{FF2B5EF4-FFF2-40B4-BE49-F238E27FC236}">
                    <a16:creationId xmlns:a16="http://schemas.microsoft.com/office/drawing/2014/main" id="{FBE28BB7-BB86-8D48-8F59-7D6F2F6DC288}"/>
                  </a:ext>
                </a:extLst>
              </p:cNvPr>
              <p:cNvGraphicFramePr>
                <a:graphicFrameLocks noGrp="1"/>
              </p:cNvGraphicFramePr>
              <p:nvPr>
                <p:extLst>
                  <p:ext uri="{D42A27DB-BD31-4B8C-83A1-F6EECF244321}">
                    <p14:modId xmlns:p14="http://schemas.microsoft.com/office/powerpoint/2010/main" val="3889451669"/>
                  </p:ext>
                </p:extLst>
              </p:nvPr>
            </p:nvGraphicFramePr>
            <p:xfrm>
              <a:off x="2559686" y="3170927"/>
              <a:ext cx="6886575" cy="314325"/>
            </p:xfrm>
            <a:graphic>
              <a:graphicData uri="http://schemas.openxmlformats.org/drawingml/2006/table">
                <a:tbl>
                  <a:tblPr firstRow="1" firstCol="1" bandRow="1">
                    <a:tableStyleId>{A91F0D33-8C57-4600-99A7-42BC86742BE1}</a:tableStyleId>
                  </a:tblPr>
                  <a:tblGrid>
                    <a:gridCol w="523875">
                      <a:extLst>
                        <a:ext uri="{9D8B030D-6E8A-4147-A177-3AD203B41FA5}">
                          <a16:colId xmlns:a16="http://schemas.microsoft.com/office/drawing/2014/main" val="277663151"/>
                        </a:ext>
                      </a:extLst>
                    </a:gridCol>
                    <a:gridCol w="577850">
                      <a:extLst>
                        <a:ext uri="{9D8B030D-6E8A-4147-A177-3AD203B41FA5}">
                          <a16:colId xmlns:a16="http://schemas.microsoft.com/office/drawing/2014/main" val="2179213426"/>
                        </a:ext>
                      </a:extLst>
                    </a:gridCol>
                    <a:gridCol w="577850">
                      <a:extLst>
                        <a:ext uri="{9D8B030D-6E8A-4147-A177-3AD203B41FA5}">
                          <a16:colId xmlns:a16="http://schemas.microsoft.com/office/drawing/2014/main" val="2641171664"/>
                        </a:ext>
                      </a:extLst>
                    </a:gridCol>
                    <a:gridCol w="577850">
                      <a:extLst>
                        <a:ext uri="{9D8B030D-6E8A-4147-A177-3AD203B41FA5}">
                          <a16:colId xmlns:a16="http://schemas.microsoft.com/office/drawing/2014/main" val="508620553"/>
                        </a:ext>
                      </a:extLst>
                    </a:gridCol>
                    <a:gridCol w="578485">
                      <a:extLst>
                        <a:ext uri="{9D8B030D-6E8A-4147-A177-3AD203B41FA5}">
                          <a16:colId xmlns:a16="http://schemas.microsoft.com/office/drawing/2014/main" val="2634350617"/>
                        </a:ext>
                      </a:extLst>
                    </a:gridCol>
                    <a:gridCol w="578485">
                      <a:extLst>
                        <a:ext uri="{9D8B030D-6E8A-4147-A177-3AD203B41FA5}">
                          <a16:colId xmlns:a16="http://schemas.microsoft.com/office/drawing/2014/main" val="3594796450"/>
                        </a:ext>
                      </a:extLst>
                    </a:gridCol>
                    <a:gridCol w="578485">
                      <a:extLst>
                        <a:ext uri="{9D8B030D-6E8A-4147-A177-3AD203B41FA5}">
                          <a16:colId xmlns:a16="http://schemas.microsoft.com/office/drawing/2014/main" val="67420048"/>
                        </a:ext>
                      </a:extLst>
                    </a:gridCol>
                    <a:gridCol w="578485">
                      <a:extLst>
                        <a:ext uri="{9D8B030D-6E8A-4147-A177-3AD203B41FA5}">
                          <a16:colId xmlns:a16="http://schemas.microsoft.com/office/drawing/2014/main" val="1394275177"/>
                        </a:ext>
                      </a:extLst>
                    </a:gridCol>
                    <a:gridCol w="579120">
                      <a:extLst>
                        <a:ext uri="{9D8B030D-6E8A-4147-A177-3AD203B41FA5}">
                          <a16:colId xmlns:a16="http://schemas.microsoft.com/office/drawing/2014/main" val="2286150150"/>
                        </a:ext>
                      </a:extLst>
                    </a:gridCol>
                    <a:gridCol w="578485">
                      <a:extLst>
                        <a:ext uri="{9D8B030D-6E8A-4147-A177-3AD203B41FA5}">
                          <a16:colId xmlns:a16="http://schemas.microsoft.com/office/drawing/2014/main" val="3793940652"/>
                        </a:ext>
                      </a:extLst>
                    </a:gridCol>
                    <a:gridCol w="578485">
                      <a:extLst>
                        <a:ext uri="{9D8B030D-6E8A-4147-A177-3AD203B41FA5}">
                          <a16:colId xmlns:a16="http://schemas.microsoft.com/office/drawing/2014/main" val="568082824"/>
                        </a:ext>
                      </a:extLst>
                    </a:gridCol>
                    <a:gridCol w="579120">
                      <a:extLst>
                        <a:ext uri="{9D8B030D-6E8A-4147-A177-3AD203B41FA5}">
                          <a16:colId xmlns:a16="http://schemas.microsoft.com/office/drawing/2014/main" val="849191811"/>
                        </a:ext>
                      </a:extLst>
                    </a:gridCol>
                  </a:tblGrid>
                  <a:tr h="31432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439" r="-1226829"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1304" r="-993478"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95556" r="-915556"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9130" r="-795652"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89130" r="-695652"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00000" r="-611111"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86957" r="-497826"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02222" r="-408889"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84783" r="-300000"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84783" r="-200000"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6667" r="-104444" b="-384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82609" r="-2174" b="-3846"/>
                          </a:stretch>
                        </a:blipFill>
                      </a:tcPr>
                    </a:tc>
                    <a:extLst>
                      <a:ext uri="{0D108BD9-81ED-4DB2-BD59-A6C34878D82A}">
                        <a16:rowId xmlns:a16="http://schemas.microsoft.com/office/drawing/2014/main" val="1693076046"/>
                      </a:ext>
                    </a:extLst>
                  </a:tr>
                </a:tbl>
              </a:graphicData>
            </a:graphic>
          </p:graphicFrame>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xmlns="" id="{9D83740B-0247-AE47-B6C5-72C83A65B1C1}"/>
                  </a:ext>
                </a:extLst>
              </p:cNvPr>
              <p:cNvSpPr/>
              <p:nvPr/>
            </p:nvSpPr>
            <p:spPr>
              <a:xfrm>
                <a:off x="914400" y="4145895"/>
                <a:ext cx="10515600"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algebraic expression for “The quotient of a number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3" name="Rectangle 12">
                <a:extLst>
                  <a:ext uri="{FF2B5EF4-FFF2-40B4-BE49-F238E27FC236}">
                    <a16:creationId xmlns:a16="http://schemas.microsoft.com/office/drawing/2014/main" id="{9D83740B-0247-AE47-B6C5-72C83A65B1C1}"/>
                  </a:ext>
                </a:extLst>
              </p:cNvPr>
              <p:cNvSpPr>
                <a:spLocks noRot="1" noChangeAspect="1" noMove="1" noResize="1" noEditPoints="1" noAdjustHandles="1" noChangeArrowheads="1" noChangeShapeType="1" noTextEdit="1"/>
              </p:cNvSpPr>
              <p:nvPr/>
            </p:nvSpPr>
            <p:spPr>
              <a:xfrm>
                <a:off x="914400" y="4145895"/>
                <a:ext cx="10515600" cy="830997"/>
              </a:xfrm>
              <a:prstGeom prst="rect">
                <a:avLst/>
              </a:prstGeom>
              <a:blipFill>
                <a:blip r:embed="rId7"/>
                <a:stretch>
                  <a:fillRect l="-965" t="-6061" b="-15152"/>
                </a:stretch>
              </a:blipFill>
            </p:spPr>
            <p:txBody>
              <a:bodyPr/>
              <a:lstStyle/>
              <a:p>
                <a:r>
                  <a:rPr lang="en-US">
                    <a:noFill/>
                  </a:rPr>
                  <a:t> </a:t>
                </a:r>
              </a:p>
            </p:txBody>
          </p:sp>
        </mc:Fallback>
      </mc:AlternateContent>
    </p:spTree>
    <p:extLst>
      <p:ext uri="{BB962C8B-B14F-4D97-AF65-F5344CB8AC3E}">
        <p14:creationId xmlns:p14="http://schemas.microsoft.com/office/powerpoint/2010/main" val="4287538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297</a:t>
            </a:r>
            <a:endParaRPr i="1" dirty="0">
              <a:latin typeface="Calibri"/>
              <a:ea typeface="Calibri"/>
              <a:cs typeface="Calibri"/>
              <a:sym typeface="Calibri"/>
            </a:endParaRPr>
          </a:p>
        </p:txBody>
      </p:sp>
      <p:pic>
        <p:nvPicPr>
          <p:cNvPr id="7" name="image5.png">
            <a:extLst>
              <a:ext uri="{FF2B5EF4-FFF2-40B4-BE49-F238E27FC236}">
                <a16:creationId xmlns:a16="http://schemas.microsoft.com/office/drawing/2014/main" xmlns=""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770632"/>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43000" y="60325"/>
            <a:ext cx="105156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12.3.4 Collaboration: Matching Models and Writing Expressions</a:t>
            </a:r>
          </a:p>
        </p:txBody>
      </p:sp>
      <p:sp>
        <p:nvSpPr>
          <p:cNvPr id="2" name="Rectangle 1">
            <a:extLst>
              <a:ext uri="{FF2B5EF4-FFF2-40B4-BE49-F238E27FC236}">
                <a16:creationId xmlns:a16="http://schemas.microsoft.com/office/drawing/2014/main" xmlns="" id="{A66A031F-2EC8-DF4C-B3F5-E7AC5B8F3239}"/>
              </a:ext>
            </a:extLst>
          </p:cNvPr>
          <p:cNvSpPr/>
          <p:nvPr/>
        </p:nvSpPr>
        <p:spPr>
          <a:xfrm>
            <a:off x="914400" y="1375713"/>
            <a:ext cx="10515600" cy="3416320"/>
          </a:xfrm>
          <a:prstGeom prst="rect">
            <a:avLst/>
          </a:prstGeom>
        </p:spPr>
        <p:txBody>
          <a:bodyPr wrap="square">
            <a:spAutoFit/>
          </a:bodyPr>
          <a:lstStyle/>
          <a:p>
            <a:pPr marL="11113">
              <a:buSzPts val="1800"/>
            </a:pPr>
            <a:r>
              <a:rPr lang="en-US" sz="2400" b="1" dirty="0">
                <a:latin typeface="Verdana" panose="020B0604030504040204" pitchFamily="34" charset="0"/>
                <a:ea typeface="Verdana" panose="020B0604030504040204" pitchFamily="34" charset="0"/>
                <a:cs typeface="Verdana" panose="020B0604030504040204" pitchFamily="34" charset="0"/>
              </a:rPr>
              <a:t>Part 1</a:t>
            </a:r>
          </a:p>
          <a:p>
            <a:pPr marL="11113">
              <a:buSzPts val="1800"/>
            </a:pPr>
            <a:r>
              <a:rPr lang="en-US" sz="2400" dirty="0" smtClean="0">
                <a:latin typeface="Verdana" panose="020B0604030504040204" pitchFamily="34" charset="0"/>
                <a:ea typeface="Verdana" panose="020B0604030504040204" pitchFamily="34" charset="0"/>
                <a:cs typeface="Verdana" panose="020B0604030504040204" pitchFamily="34" charset="0"/>
              </a:rPr>
              <a:t>Work with your partner to match each written description to the appropriate bar model, where the red portion is the result of the written description. Some models will be used more than once.</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Complete the table with the letter of the appropriate bar model. Then, write the algebraic expression that matches the word description and bar model.</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297</a:t>
            </a:r>
            <a:endParaRPr i="1" dirty="0">
              <a:latin typeface="Calibri"/>
              <a:ea typeface="Calibri"/>
              <a:cs typeface="Calibri"/>
              <a:sym typeface="Calibri"/>
            </a:endParaRPr>
          </a:p>
        </p:txBody>
      </p:sp>
      <p:pic>
        <p:nvPicPr>
          <p:cNvPr id="12" name="image5.png">
            <a:extLst>
              <a:ext uri="{FF2B5EF4-FFF2-40B4-BE49-F238E27FC236}">
                <a16:creationId xmlns:a16="http://schemas.microsoft.com/office/drawing/2014/main" xmlns="" id="{04C19B76-A060-3243-AE2C-88D93DB1A19F}"/>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297</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DCF51437-623A-344A-82D6-3BC2C6AACF94}"/>
              </a:ext>
            </a:extLst>
          </p:cNvPr>
          <p:cNvGraphicFramePr>
            <a:graphicFrameLocks noGrp="1"/>
          </p:cNvGraphicFramePr>
          <p:nvPr>
            <p:extLst>
              <p:ext uri="{D42A27DB-BD31-4B8C-83A1-F6EECF244321}">
                <p14:modId xmlns:p14="http://schemas.microsoft.com/office/powerpoint/2010/main" val="161362408"/>
              </p:ext>
            </p:extLst>
          </p:nvPr>
        </p:nvGraphicFramePr>
        <p:xfrm>
          <a:off x="2267930" y="283452"/>
          <a:ext cx="7656140" cy="2468880"/>
        </p:xfrm>
        <a:graphic>
          <a:graphicData uri="http://schemas.openxmlformats.org/drawingml/2006/table">
            <a:tbl>
              <a:tblPr firstRow="1" firstCol="1" bandRow="1">
                <a:tableStyleId>{A91F0D33-8C57-4600-99A7-42BC86742BE1}</a:tableStyleId>
              </a:tblPr>
              <a:tblGrid>
                <a:gridCol w="4397426">
                  <a:extLst>
                    <a:ext uri="{9D8B030D-6E8A-4147-A177-3AD203B41FA5}">
                      <a16:colId xmlns:a16="http://schemas.microsoft.com/office/drawing/2014/main" xmlns="" val="2417149219"/>
                    </a:ext>
                  </a:extLst>
                </a:gridCol>
                <a:gridCol w="1001758">
                  <a:extLst>
                    <a:ext uri="{9D8B030D-6E8A-4147-A177-3AD203B41FA5}">
                      <a16:colId xmlns:a16="http://schemas.microsoft.com/office/drawing/2014/main" xmlns="" val="383053890"/>
                    </a:ext>
                  </a:extLst>
                </a:gridCol>
                <a:gridCol w="2256956">
                  <a:extLst>
                    <a:ext uri="{9D8B030D-6E8A-4147-A177-3AD203B41FA5}">
                      <a16:colId xmlns:a16="http://schemas.microsoft.com/office/drawing/2014/main" xmlns="" val="2476732441"/>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Bar 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Algebraic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4107837014"/>
                  </a:ext>
                </a:extLst>
              </a:tr>
              <a:tr h="0">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The difference of a number and four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26227582"/>
                  </a:ext>
                </a:extLst>
              </a:tr>
              <a:tr h="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Four decreased by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93392735"/>
                  </a:ext>
                </a:extLst>
              </a:tr>
              <a:tr h="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Four more than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30484789"/>
                  </a:ext>
                </a:extLst>
              </a:tr>
              <a:tr h="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number subtracted from four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0536653"/>
                  </a:ext>
                </a:extLst>
              </a:tr>
              <a:tr h="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number increased by four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6402451"/>
                  </a:ext>
                </a:extLst>
              </a:tr>
              <a:tr h="0">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Four less than a number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43066362"/>
                  </a:ext>
                </a:extLst>
              </a:tr>
              <a:tr h="0">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The sum of four and a number</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58922482"/>
                  </a:ext>
                </a:extLst>
              </a:tr>
            </a:tbl>
          </a:graphicData>
        </a:graphic>
      </p:graphicFrame>
      <p:pic>
        <p:nvPicPr>
          <p:cNvPr id="2" name="Picture 1">
            <a:extLst>
              <a:ext uri="{FF2B5EF4-FFF2-40B4-BE49-F238E27FC236}">
                <a16:creationId xmlns:a16="http://schemas.microsoft.com/office/drawing/2014/main" xmlns="" id="{557AF551-172D-334B-ACE4-94FF2F9A25F4}"/>
              </a:ext>
            </a:extLst>
          </p:cNvPr>
          <p:cNvPicPr>
            <a:picLocks noChangeAspect="1"/>
          </p:cNvPicPr>
          <p:nvPr/>
        </p:nvPicPr>
        <p:blipFill>
          <a:blip r:embed="rId4"/>
          <a:stretch>
            <a:fillRect/>
          </a:stretch>
        </p:blipFill>
        <p:spPr>
          <a:xfrm>
            <a:off x="3167908" y="2849165"/>
            <a:ext cx="5856185" cy="3608511"/>
          </a:xfrm>
          <a:prstGeom prst="rect">
            <a:avLst/>
          </a:prstGeom>
        </p:spPr>
      </p:pic>
    </p:spTree>
    <p:extLst>
      <p:ext uri="{BB962C8B-B14F-4D97-AF65-F5344CB8AC3E}">
        <p14:creationId xmlns:p14="http://schemas.microsoft.com/office/powerpoint/2010/main" val="25243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914400" y="731947"/>
            <a:ext cx="10515600" cy="3416320"/>
          </a:xfrm>
          <a:prstGeom prst="rect">
            <a:avLst/>
          </a:prstGeom>
        </p:spPr>
        <p:txBody>
          <a:bodyPr wrap="square">
            <a:spAutoFit/>
          </a:bodyPr>
          <a:lstStyle/>
          <a:p>
            <a:pPr lvl="0">
              <a:buSzPct val="100000"/>
            </a:pPr>
            <a:r>
              <a:rPr lang="en-US" sz="2400" b="1" dirty="0">
                <a:latin typeface="Verdana" panose="020B0604030504040204" pitchFamily="34" charset="0"/>
                <a:ea typeface="Times New Roman" panose="02020603050405020304" pitchFamily="18" charset="0"/>
                <a:cs typeface="Times New Roman" panose="02020603050405020304" pitchFamily="18" charset="0"/>
              </a:rPr>
              <a:t>Part 2</a:t>
            </a:r>
          </a:p>
          <a:p>
            <a:pPr lvl="0">
              <a:buSzPct val="100000"/>
            </a:pPr>
            <a:r>
              <a:rPr lang="en-US" sz="2400" dirty="0">
                <a:latin typeface="Verdana" panose="020B0604030504040204" pitchFamily="34" charset="0"/>
                <a:ea typeface="Times New Roman" panose="02020603050405020304" pitchFamily="18" charset="0"/>
                <a:cs typeface="Times New Roman" panose="02020603050405020304" pitchFamily="18" charset="0"/>
              </a:rPr>
              <a:t>Work with a different partner to match each written description to the appropriate bar model, where the red portion is the result of the written description. Some models may be used more than once.  </a:t>
            </a:r>
          </a:p>
          <a:p>
            <a:pPr lvl="0">
              <a:buSzPct val="100000"/>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lvl="0">
              <a:buSzPct val="100000"/>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with the letter of the appropriate bar model. Then, write the algebraic expression that matches the word description and bar model.</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297</a:t>
            </a:r>
            <a:endParaRPr i="1" dirty="0">
              <a:latin typeface="Calibri"/>
              <a:ea typeface="Calibri"/>
              <a:cs typeface="Calibri"/>
              <a:sym typeface="Calibri"/>
            </a:endParaRPr>
          </a:p>
        </p:txBody>
      </p:sp>
    </p:spTree>
    <p:extLst>
      <p:ext uri="{BB962C8B-B14F-4D97-AF65-F5344CB8AC3E}">
        <p14:creationId xmlns:p14="http://schemas.microsoft.com/office/powerpoint/2010/main" val="2676669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297</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56744B0A-73C9-2B49-B0E4-DB4115AA44C1}"/>
              </a:ext>
            </a:extLst>
          </p:cNvPr>
          <p:cNvGraphicFramePr>
            <a:graphicFrameLocks noGrp="1"/>
          </p:cNvGraphicFramePr>
          <p:nvPr>
            <p:extLst>
              <p:ext uri="{D42A27DB-BD31-4B8C-83A1-F6EECF244321}">
                <p14:modId xmlns:p14="http://schemas.microsoft.com/office/powerpoint/2010/main" val="2205853211"/>
              </p:ext>
            </p:extLst>
          </p:nvPr>
        </p:nvGraphicFramePr>
        <p:xfrm>
          <a:off x="2108603" y="362485"/>
          <a:ext cx="7974794" cy="2615493"/>
        </p:xfrm>
        <a:graphic>
          <a:graphicData uri="http://schemas.openxmlformats.org/drawingml/2006/table">
            <a:tbl>
              <a:tblPr firstRow="1" firstCol="1" bandRow="1">
                <a:tableStyleId>{A91F0D33-8C57-4600-99A7-42BC86742BE1}</a:tableStyleId>
              </a:tblPr>
              <a:tblGrid>
                <a:gridCol w="4994783">
                  <a:extLst>
                    <a:ext uri="{9D8B030D-6E8A-4147-A177-3AD203B41FA5}">
                      <a16:colId xmlns:a16="http://schemas.microsoft.com/office/drawing/2014/main" xmlns="" val="1083196945"/>
                    </a:ext>
                  </a:extLst>
                </a:gridCol>
                <a:gridCol w="977474">
                  <a:extLst>
                    <a:ext uri="{9D8B030D-6E8A-4147-A177-3AD203B41FA5}">
                      <a16:colId xmlns:a16="http://schemas.microsoft.com/office/drawing/2014/main" xmlns="" val="3207359670"/>
                    </a:ext>
                  </a:extLst>
                </a:gridCol>
                <a:gridCol w="2002537">
                  <a:extLst>
                    <a:ext uri="{9D8B030D-6E8A-4147-A177-3AD203B41FA5}">
                      <a16:colId xmlns:a16="http://schemas.microsoft.com/office/drawing/2014/main" xmlns="" val="1209024859"/>
                    </a:ext>
                  </a:extLst>
                </a:gridCol>
              </a:tblGrid>
              <a:tr h="4737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Written Description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Bar Model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Algebraic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479775698"/>
                  </a:ext>
                </a:extLst>
              </a:tr>
              <a:tr h="3365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number tripled</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65069491"/>
                  </a:ext>
                </a:extLst>
              </a:tr>
              <a:tr h="373308">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number equally shared into three parts</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13525704"/>
                  </a:ext>
                </a:extLst>
              </a:tr>
              <a:tr h="3365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Three times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93329956"/>
                  </a:ext>
                </a:extLst>
              </a:tr>
              <a:tr h="3365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The quotient of three and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2061045"/>
                  </a:ext>
                </a:extLst>
              </a:tr>
              <a:tr h="347345">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The product of three and a number</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01372641"/>
                  </a:ext>
                </a:extLst>
              </a:tr>
              <a:tr h="336550">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 number divided by three</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97139762"/>
                  </a:ext>
                </a:extLst>
              </a:tr>
            </a:tbl>
          </a:graphicData>
        </a:graphic>
      </p:graphicFrame>
      <p:pic>
        <p:nvPicPr>
          <p:cNvPr id="6" name="Picture 5" descr="Diagram&#10;&#10;Description automatically generated with medium confidence">
            <a:extLst>
              <a:ext uri="{FF2B5EF4-FFF2-40B4-BE49-F238E27FC236}">
                <a16:creationId xmlns:a16="http://schemas.microsoft.com/office/drawing/2014/main" xmlns="" id="{E59914EB-66E4-9D4F-ADEC-D096EAAB12F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650673" y="3171678"/>
            <a:ext cx="4890655" cy="3092297"/>
          </a:xfrm>
          <a:prstGeom prst="rect">
            <a:avLst/>
          </a:prstGeom>
        </p:spPr>
      </p:pic>
    </p:spTree>
    <p:extLst>
      <p:ext uri="{BB962C8B-B14F-4D97-AF65-F5344CB8AC3E}">
        <p14:creationId xmlns:p14="http://schemas.microsoft.com/office/powerpoint/2010/main" val="2137350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pic>
        <p:nvPicPr>
          <p:cNvPr id="8" name="image2.png" descr="Icon&#10;&#10;Description automatically generated">
            <a:extLst>
              <a:ext uri="{FF2B5EF4-FFF2-40B4-BE49-F238E27FC236}">
                <a16:creationId xmlns:a16="http://schemas.microsoft.com/office/drawing/2014/main" xmlns="" id="{1F4FDDE5-F217-F84A-AC09-DD14207078AD}"/>
              </a:ext>
            </a:extLst>
          </p:cNvPr>
          <p:cNvPicPr/>
          <p:nvPr/>
        </p:nvPicPr>
        <p:blipFill>
          <a:blip r:embed="rId4"/>
          <a:srcRect/>
          <a:stretch>
            <a:fillRect/>
          </a:stretch>
        </p:blipFill>
        <p:spPr>
          <a:xfrm>
            <a:off x="3054096" y="2770632"/>
            <a:ext cx="1156733" cy="11588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9705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43000" y="-279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4B5D1"/>
                </a:solidFill>
                <a:latin typeface="Verdana"/>
                <a:ea typeface="Verdana"/>
                <a:cs typeface="Verdana"/>
                <a:sym typeface="Verdana"/>
              </a:rPr>
              <a:t>12.3.5 Guided Practice: Writing Algebraic Expressions from Written Descriptions</a:t>
            </a:r>
          </a:p>
        </p:txBody>
      </p:sp>
      <p:sp>
        <p:nvSpPr>
          <p:cNvPr id="2" name="Rectangle 1">
            <a:extLst>
              <a:ext uri="{FF2B5EF4-FFF2-40B4-BE49-F238E27FC236}">
                <a16:creationId xmlns:a16="http://schemas.microsoft.com/office/drawing/2014/main" xmlns="" id="{B2BE9AFC-D858-8947-AE27-3738478587E3}"/>
              </a:ext>
            </a:extLst>
          </p:cNvPr>
          <p:cNvSpPr/>
          <p:nvPr/>
        </p:nvSpPr>
        <p:spPr>
          <a:xfrm>
            <a:off x="914400" y="1331161"/>
            <a:ext cx="10515600" cy="378565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Sketch a bar model and write an algebraic expression for each written description.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product of a number and five</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Three tenths less than a number</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image2.png" descr="Icon&#10;&#10;Description automatically generated">
            <a:extLst>
              <a:ext uri="{FF2B5EF4-FFF2-40B4-BE49-F238E27FC236}">
                <a16:creationId xmlns:a16="http://schemas.microsoft.com/office/drawing/2014/main" xmlns="" id="{F13962E3-88BF-4B49-B661-498533B9770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300" cy="747300"/>
          </a:xfrm>
          <a:prstGeom prst="rect">
            <a:avLst/>
          </a:prstGeom>
          <a:ln/>
        </p:spPr>
      </p:pic>
    </p:spTree>
    <p:extLst>
      <p:ext uri="{BB962C8B-B14F-4D97-AF65-F5344CB8AC3E}">
        <p14:creationId xmlns:p14="http://schemas.microsoft.com/office/powerpoint/2010/main" val="1429207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902611"/>
            <a:ext cx="10515600" cy="4154984"/>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quotient of a number and twelve</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A number doubled</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difference of fifteen and a number</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spTree>
    <p:extLst>
      <p:ext uri="{BB962C8B-B14F-4D97-AF65-F5344CB8AC3E}">
        <p14:creationId xmlns:p14="http://schemas.microsoft.com/office/powerpoint/2010/main" val="2210986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914400" y="1068867"/>
            <a:ext cx="10515600"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your expressions and bar models with your partner. Make any revisions if necessary.</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spTree>
    <p:extLst>
      <p:ext uri="{BB962C8B-B14F-4D97-AF65-F5344CB8AC3E}">
        <p14:creationId xmlns:p14="http://schemas.microsoft.com/office/powerpoint/2010/main" val="3677437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770632"/>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43000" y="-18544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12.3.6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914400" y="1309478"/>
            <a:ext cx="10515600" cy="120032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Choose the emoji that reflects your understanding of translating a written description into an algebraic expression. </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pic>
        <p:nvPicPr>
          <p:cNvPr id="15" name="image4.png" descr="Chart&#10;&#10;Description automatically generated">
            <a:extLst>
              <a:ext uri="{FF2B5EF4-FFF2-40B4-BE49-F238E27FC236}">
                <a16:creationId xmlns:a16="http://schemas.microsoft.com/office/drawing/2014/main" xmlns="" id="{2DF4B662-846A-5541-AA52-D82A504E8DA2}"/>
              </a:ext>
            </a:extLst>
          </p:cNvPr>
          <p:cNvPicPr/>
          <p:nvPr/>
        </p:nvPicPr>
        <p:blipFill>
          <a:blip r:embed="rId5" cstate="screen">
            <a:extLst>
              <a:ext uri="{28A0092B-C50C-407E-A947-70E740481C1C}">
                <a14:useLocalDpi xmlns:a14="http://schemas.microsoft.com/office/drawing/2010/main"/>
              </a:ext>
            </a:extLst>
          </a:blip>
          <a:srcRect t="46060" b="42611"/>
          <a:stretch>
            <a:fillRect/>
          </a:stretch>
        </p:blipFill>
        <p:spPr>
          <a:xfrm>
            <a:off x="2678430" y="4230375"/>
            <a:ext cx="6835140" cy="506730"/>
          </a:xfrm>
          <a:prstGeom prst="rect">
            <a:avLst/>
          </a:prstGeom>
          <a:ln/>
        </p:spPr>
      </p:pic>
      <p:pic>
        <p:nvPicPr>
          <p:cNvPr id="4" name="Picture 3" descr="A group of yellow smiley faces&#10;&#10;Description automatically generated with low confidence">
            <a:extLst>
              <a:ext uri="{FF2B5EF4-FFF2-40B4-BE49-F238E27FC236}">
                <a16:creationId xmlns:a16="http://schemas.microsoft.com/office/drawing/2014/main" xmlns="" id="{A22C3E75-B77C-C440-8823-AA041ED166A0}"/>
              </a:ext>
            </a:extLst>
          </p:cNvPr>
          <p:cNvPicPr>
            <a:picLocks noChangeAspect="1"/>
          </p:cNvPicPr>
          <p:nvPr/>
        </p:nvPicPr>
        <p:blipFill>
          <a:blip r:embed="rId6"/>
          <a:stretch>
            <a:fillRect/>
          </a:stretch>
        </p:blipFill>
        <p:spPr>
          <a:xfrm>
            <a:off x="2726237" y="2890914"/>
            <a:ext cx="6739527" cy="1076172"/>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B2D77"/>
          </a:solidFill>
          <a:ln w="9525" cap="flat" cmpd="sng">
            <a:solidFill>
              <a:srgbClr val="8B2D7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914400" y="1321200"/>
            <a:ext cx="10515600" cy="3046988"/>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a:latin typeface="Verdana" panose="020B0604030504040204" pitchFamily="34" charset="0"/>
                <a:ea typeface="Verdana" panose="020B0604030504040204" pitchFamily="34" charset="0"/>
                <a:cs typeface="Verdana" panose="020B0604030504040204" pitchFamily="34" charset="0"/>
              </a:rPr>
              <a:t>I </a:t>
            </a:r>
            <a:r>
              <a:rPr lang="en-US" sz="2400" dirty="0">
                <a:latin typeface="Verdana" panose="020B0604030504040204" pitchFamily="34" charset="0"/>
                <a:ea typeface="Verdana" panose="020B0604030504040204" pitchFamily="34" charset="0"/>
                <a:cs typeface="Verdana" panose="020B0604030504040204" pitchFamily="34" charset="0"/>
              </a:rPr>
              <a:t>chose this emoji </a:t>
            </a:r>
            <a:r>
              <a:rPr lang="en-US" sz="2400">
                <a:latin typeface="Verdana" panose="020B0604030504040204" pitchFamily="34" charset="0"/>
                <a:ea typeface="Verdana" panose="020B0604030504040204" pitchFamily="34" charset="0"/>
                <a:cs typeface="Verdana" panose="020B0604030504040204" pitchFamily="34" charset="0"/>
              </a:rPr>
              <a:t>because ____________________</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dirty="0">
                <a:latin typeface="Verdana" panose="020B0604030504040204" pitchFamily="34" charset="0"/>
                <a:ea typeface="Verdana" panose="020B0604030504040204" pitchFamily="34" charset="0"/>
                <a:cs typeface="Verdana" panose="020B0604030504040204" pitchFamily="34" charset="0"/>
              </a:rPr>
              <a:t>__________________________________________</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dirty="0">
                <a:latin typeface="Verdana" panose="020B0604030504040204" pitchFamily="34" charset="0"/>
                <a:ea typeface="Verdana" panose="020B0604030504040204" pitchFamily="34" charset="0"/>
                <a:cs typeface="Verdana" panose="020B0604030504040204" pitchFamily="34" charset="0"/>
              </a:rPr>
              <a:t>__________________________________________									</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298</a:t>
            </a:r>
            <a:endParaRPr i="1" dirty="0">
              <a:latin typeface="Calibri"/>
              <a:ea typeface="Calibri"/>
              <a:cs typeface="Calibri"/>
              <a:sym typeface="Calibri"/>
            </a:endParaRPr>
          </a:p>
        </p:txBody>
      </p:sp>
    </p:spTree>
    <p:extLst>
      <p:ext uri="{BB962C8B-B14F-4D97-AF65-F5344CB8AC3E}">
        <p14:creationId xmlns:p14="http://schemas.microsoft.com/office/powerpoint/2010/main" val="2817269639"/>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1686</TotalTime>
  <Words>1200</Words>
  <Application>Microsoft Office PowerPoint</Application>
  <PresentationFormat>Custom</PresentationFormat>
  <Paragraphs>313</Paragraphs>
  <Slides>34</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Calibri</vt:lpstr>
      <vt:lpstr>Times New Roman</vt:lpstr>
      <vt:lpstr>Century Gothic</vt:lpstr>
      <vt:lpstr>Wingdings</vt:lpstr>
      <vt:lpstr>Cambria Math</vt:lpstr>
      <vt:lpstr>Cambria</vt:lpstr>
      <vt:lpstr>Arial Black</vt:lpstr>
      <vt:lpstr>Verdana</vt:lpstr>
      <vt:lpstr>1_Office Theme</vt:lpstr>
      <vt:lpstr>6th Grade Math  Unit 12, Lesson 3  Writing Algebraic Expressions  Volume 2, pg. 293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2022-07-09T05:23:05Z</dcterms:modified>
</cp:coreProperties>
</file>