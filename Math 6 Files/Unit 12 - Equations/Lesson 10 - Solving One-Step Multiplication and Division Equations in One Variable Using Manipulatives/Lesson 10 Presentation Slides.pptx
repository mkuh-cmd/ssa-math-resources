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6858000" cx="12192000"/>
  <p:notesSz cx="6858000" cy="9144000"/>
  <p:embeddedFontLst>
    <p:embeddedFont>
      <p:font typeface="Arial Black"/>
      <p:regular r:id="rId40"/>
    </p:embeddedFont>
    <p:embeddedFont>
      <p:font typeface="Cambria Math"/>
      <p:regular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7B1B05B-8CB7-4469-A0B3-E33BA2B031F5}">
  <a:tblStyle styleId="{57B1B05B-8CB7-4469-A0B3-E33BA2B031F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F1B44E26-EED4-47C9-8811-952C1F4C731D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rialBlack-regular.fntdata"/><Relationship Id="rId20" Type="http://schemas.openxmlformats.org/officeDocument/2006/relationships/slide" Target="slides/slide14.xml"/><Relationship Id="rId41" Type="http://schemas.openxmlformats.org/officeDocument/2006/relationships/font" Target="fonts/CambriaMath-regular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4476d1465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104476d14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04476d1465_1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104476d1465_1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g104476d1465_1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04476d1465_1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104476d1465_1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g104476d1465_1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p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p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p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9" name="Google Shape;319;p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p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0" name="Google Shape;340;p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0" name="Google Shape;350;p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3" name="Google Shape;363;p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3" name="Google Shape;373;p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3" name="Google Shape;383;p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6" name="Google Shape;396;p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" name="Google Shape;406;p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8" name="Google Shape;418;p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p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2" name="Google Shape;432;p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1" name="Google Shape;441;p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1" name="Google Shape;451;p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" type="body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9" name="Google Shape;49;p8"/>
          <p:cNvSpPr txBox="1"/>
          <p:nvPr>
            <p:ph idx="2" type="body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3" type="body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1" name="Google Shape;51;p8"/>
          <p:cNvSpPr txBox="1"/>
          <p:nvPr>
            <p:ph idx="4" type="body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1" type="body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3" name="Google Shape;63;p10"/>
          <p:cNvSpPr txBox="1"/>
          <p:nvPr>
            <p:ph idx="2" type="body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4" name="Google Shape;64;p10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1"/>
          <p:cNvSpPr/>
          <p:nvPr>
            <p:ph idx="2" type="pic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/>
          <p:nvPr>
            <p:ph idx="1" type="body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Slide">
  <p:cSld name="Text Slide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text, sign, seat&#10;&#10;Description automatically generated" id="87" name="Google Shape;8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4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2">
  <p:cSld name="Divider 2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ation-PPT22_5.jpg" id="90" name="Google Shape;9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5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xt&#10;&#10;Description automatically generated with low confidence" id="93" name="Google Shape;9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3">
  <p:cSld name="Divider 3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ation-PPT22_6.jpg" id="95" name="Google Shape;9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xt&#10;&#10;Description automatically generated with low confidence" id="98" name="Google Shape;9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1">
  <p:cSld name="Divider 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ation-PPT22_2.jpg" id="100" name="Google Shape;100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xt&#10;&#10;Description automatically generated with low confidence" id="103" name="Google Shape;10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4">
  <p:cSld name="Divider 4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ation-PPT2_7.jpg" id="105" name="Google Shape;10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8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xt&#10;&#10;Description automatically generated with low confidence" id="108" name="Google Shape;10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9.png"/><Relationship Id="rId5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22.png"/><Relationship Id="rId5" Type="http://schemas.openxmlformats.org/officeDocument/2006/relationships/image" Target="../media/image18.png"/><Relationship Id="rId6" Type="http://schemas.openxmlformats.org/officeDocument/2006/relationships/image" Target="../media/image41.png"/><Relationship Id="rId7" Type="http://schemas.openxmlformats.org/officeDocument/2006/relationships/image" Target="../media/image4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image" Target="../media/image24.png"/><Relationship Id="rId5" Type="http://schemas.openxmlformats.org/officeDocument/2006/relationships/image" Target="../media/image23.png"/><Relationship Id="rId6" Type="http://schemas.openxmlformats.org/officeDocument/2006/relationships/image" Target="../media/image31.png"/><Relationship Id="rId7" Type="http://schemas.openxmlformats.org/officeDocument/2006/relationships/image" Target="../media/image3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image" Target="../media/image2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Relationship Id="rId4" Type="http://schemas.openxmlformats.org/officeDocument/2006/relationships/image" Target="../media/image32.png"/><Relationship Id="rId5" Type="http://schemas.openxmlformats.org/officeDocument/2006/relationships/image" Target="../media/image3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Relationship Id="rId4" Type="http://schemas.openxmlformats.org/officeDocument/2006/relationships/image" Target="../media/image3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Relationship Id="rId4" Type="http://schemas.openxmlformats.org/officeDocument/2006/relationships/image" Target="../media/image44.png"/><Relationship Id="rId5" Type="http://schemas.openxmlformats.org/officeDocument/2006/relationships/image" Target="../media/image33.png"/><Relationship Id="rId6" Type="http://schemas.openxmlformats.org/officeDocument/2006/relationships/image" Target="../media/image3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Relationship Id="rId4" Type="http://schemas.openxmlformats.org/officeDocument/2006/relationships/image" Target="../media/image39.png"/><Relationship Id="rId5" Type="http://schemas.openxmlformats.org/officeDocument/2006/relationships/image" Target="../media/image3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Relationship Id="rId4" Type="http://schemas.openxmlformats.org/officeDocument/2006/relationships/image" Target="../media/image3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Relationship Id="rId4" Type="http://schemas.openxmlformats.org/officeDocument/2006/relationships/image" Target="../media/image42.png"/><Relationship Id="rId5" Type="http://schemas.openxmlformats.org/officeDocument/2006/relationships/image" Target="../media/image34.png"/><Relationship Id="rId6" Type="http://schemas.openxmlformats.org/officeDocument/2006/relationships/image" Target="../media/image46.png"/><Relationship Id="rId7" Type="http://schemas.openxmlformats.org/officeDocument/2006/relationships/image" Target="../media/image4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png"/><Relationship Id="rId4" Type="http://schemas.openxmlformats.org/officeDocument/2006/relationships/image" Target="../media/image47.png"/><Relationship Id="rId5" Type="http://schemas.openxmlformats.org/officeDocument/2006/relationships/image" Target="../media/image1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Relationship Id="rId4" Type="http://schemas.openxmlformats.org/officeDocument/2006/relationships/image" Target="../media/image4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idx="4294967295" type="ctrTitle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i="0" lang="en-US" sz="3200" u="none" cap="none" strike="noStrik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b="1" baseline="30000" i="0" lang="en-US" sz="3200" u="none" cap="none" strike="noStrik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b="1" i="0" lang="en-US" sz="3200" u="none" cap="none" strike="noStrik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b="1" i="0" lang="en-US" sz="3200" u="none" cap="none" strike="noStrik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b="1" i="0" sz="3200" u="none" cap="none" strike="noStrike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</a:pPr>
            <a:r>
              <a:rPr b="1" i="0" lang="en-US" sz="3200" u="none" cap="none" strike="noStrik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12, Lesson 10</a:t>
            </a:r>
            <a:br>
              <a:rPr b="1" i="0" lang="en-US" sz="3200" u="none" cap="none" strike="noStrik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b="1" i="0" lang="en-US" sz="3200" u="none" cap="none" strike="noStrik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3200" u="none" cap="none" strike="noStrik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Solving One-Step Multiplication and Division Equations in One Variable Using Manipulatives</a:t>
            </a:r>
            <a:br>
              <a:rPr b="1" i="0" lang="en-US" sz="3200" u="none" cap="none" strike="noStrik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b="1" i="0" lang="en-US" sz="3200" u="none" cap="none" strike="noStrik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2000" u="none" cap="none" strike="noStrik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332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</a:pPr>
            <a:r>
              <a:t/>
            </a:r>
            <a:endParaRPr b="1" i="0" sz="2800" u="none" cap="none" strike="noStrike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417D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9"/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115" name="Google Shape;11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597002"/>
            <a:ext cx="2973100" cy="346578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26B7D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0"/>
          <p:cNvSpPr txBox="1"/>
          <p:nvPr>
            <p:ph idx="4294967295" type="title"/>
          </p:nvPr>
        </p:nvSpPr>
        <p:spPr>
          <a:xfrm>
            <a:off x="1143000" y="-9144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b="1" lang="en-US" sz="470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b="1" sz="370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3" name="Google Shape;12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124" name="Google Shape;124;p20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332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126" name="Google Shape;126;p20"/>
          <p:cNvSpPr txBox="1"/>
          <p:nvPr/>
        </p:nvSpPr>
        <p:spPr>
          <a:xfrm>
            <a:off x="914400" y="160020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MA.6.AR.2.3</a:t>
            </a:r>
            <a:endParaRPr/>
          </a:p>
          <a:p>
            <a:pPr indent="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Write and solve one-step equations in one variable within a mathematical or real-world context using multiplication and division, where all terms and solutions are integers.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pic>
        <p:nvPicPr>
          <p:cNvPr id="134" name="Google Shape;13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135" name="Google Shape;135;p21"/>
          <p:cNvSpPr txBox="1"/>
          <p:nvPr/>
        </p:nvSpPr>
        <p:spPr>
          <a:xfrm>
            <a:off x="1143000" y="12966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</a:pPr>
            <a:r>
              <a:rPr b="1" i="0" lang="en-US" sz="3000" u="none" cap="none" strike="noStrike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  <a:endParaRPr/>
          </a:p>
        </p:txBody>
      </p:sp>
      <p:sp>
        <p:nvSpPr>
          <p:cNvPr id="136" name="Google Shape;136;p21"/>
          <p:cNvSpPr txBox="1"/>
          <p:nvPr/>
        </p:nvSpPr>
        <p:spPr>
          <a:xfrm>
            <a:off x="914400" y="1455367"/>
            <a:ext cx="10515600" cy="4762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MA.K12.MTR.1.1 Actively participate in effortful learning both individually and collectively.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MA.K12.MTR.2.1 Demonstrate understanding by representing problems in multiple ways.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MA.K12.MTR.4.1 Engage in discussions that reflect on the mathematical thinking of self and others.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MA.K12.MTR.5.1 Use patterns and structure to help understand and connect mathematical concepts.</a:t>
            </a:r>
            <a:endParaRPr/>
          </a:p>
        </p:txBody>
      </p:sp>
      <p:sp>
        <p:nvSpPr>
          <p:cNvPr id="137" name="Google Shape;137;p21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332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145" name="Google Shape;145;p22"/>
          <p:cNvSpPr txBox="1"/>
          <p:nvPr/>
        </p:nvSpPr>
        <p:spPr>
          <a:xfrm>
            <a:off x="1143000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</a:pPr>
            <a:r>
              <a:rPr b="1" i="0" lang="en-US" sz="4700" u="none" cap="none" strike="noStrike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  <a:endParaRPr/>
          </a:p>
        </p:txBody>
      </p:sp>
      <p:pic>
        <p:nvPicPr>
          <p:cNvPr id="146" name="Google Shape;14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47" name="Google Shape;147;p22"/>
          <p:cNvSpPr txBox="1"/>
          <p:nvPr/>
        </p:nvSpPr>
        <p:spPr>
          <a:xfrm>
            <a:off x="914400" y="1547093"/>
            <a:ext cx="10515600" cy="44988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 can solve one-step multiplication and division equations using manipulatives.</a:t>
            </a:r>
            <a:endParaRPr/>
          </a:p>
        </p:txBody>
      </p:sp>
      <p:sp>
        <p:nvSpPr>
          <p:cNvPr id="148" name="Google Shape;148;p22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332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pic>
        <p:nvPicPr>
          <p:cNvPr id="156" name="Google Shape;15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54096" y="2770632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57" name="Google Shape;157;p23"/>
          <p:cNvSpPr txBox="1"/>
          <p:nvPr>
            <p:ph idx="4294967295" type="title"/>
          </p:nvPr>
        </p:nvSpPr>
        <p:spPr>
          <a:xfrm>
            <a:off x="4087368" y="2770632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b="1" lang="en-US" sz="550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b="1" sz="510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8" name="Google Shape;158;p23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333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166" name="Google Shape;166;p24"/>
          <p:cNvSpPr txBox="1"/>
          <p:nvPr/>
        </p:nvSpPr>
        <p:spPr>
          <a:xfrm>
            <a:off x="1143000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</a:pPr>
            <a:r>
              <a:rPr b="1" i="0" lang="en-US" sz="3200" u="none" cap="none" strike="noStrike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12.10.1 Warm-Up: Math Fail</a:t>
            </a:r>
            <a:endParaRPr/>
          </a:p>
        </p:txBody>
      </p:sp>
      <p:pic>
        <p:nvPicPr>
          <p:cNvPr id="167" name="Google Shape;16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68" name="Google Shape;168;p24"/>
          <p:cNvSpPr/>
          <p:nvPr/>
        </p:nvSpPr>
        <p:spPr>
          <a:xfrm>
            <a:off x="2146201" y="1386026"/>
            <a:ext cx="832257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This children’s book has published a “math fail.”</a:t>
            </a:r>
            <a:endParaRPr/>
          </a:p>
        </p:txBody>
      </p:sp>
      <p:sp>
        <p:nvSpPr>
          <p:cNvPr id="169" name="Google Shape;169;p24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333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24"/>
          <p:cNvPicPr preferRelativeResize="0"/>
          <p:nvPr/>
        </p:nvPicPr>
        <p:blipFill rotWithShape="1">
          <a:blip r:embed="rId5">
            <a:alphaModFix/>
          </a:blip>
          <a:srcRect b="13973" l="0" r="0" t="15043"/>
          <a:stretch/>
        </p:blipFill>
        <p:spPr>
          <a:xfrm>
            <a:off x="3982489" y="2061620"/>
            <a:ext cx="4227022" cy="3070874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4"/>
          <p:cNvSpPr/>
          <p:nvPr/>
        </p:nvSpPr>
        <p:spPr>
          <a:xfrm>
            <a:off x="2146201" y="5389989"/>
            <a:ext cx="832257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Explain the error shown in this image.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179" name="Google Shape;179;p25"/>
          <p:cNvSpPr txBox="1"/>
          <p:nvPr>
            <p:ph idx="4294967295" type="title"/>
          </p:nvPr>
        </p:nvSpPr>
        <p:spPr>
          <a:xfrm>
            <a:off x="427024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b="1" lang="en-US" sz="440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b="1" sz="400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0" name="Google Shape;180;p25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333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&#10;&#10;Description automatically generated" id="181" name="Google Shape;18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54096" y="2770632"/>
            <a:ext cx="1131013" cy="1131013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189" name="Google Shape;189;p26"/>
          <p:cNvSpPr txBox="1"/>
          <p:nvPr/>
        </p:nvSpPr>
        <p:spPr>
          <a:xfrm>
            <a:off x="1143000" y="60325"/>
            <a:ext cx="8019300" cy="10148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</a:pPr>
            <a:r>
              <a:rPr b="1" i="0" lang="en-US" sz="2400" u="none" cap="none" strike="noStrike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12.10.2 Exploration: Exploring Relationships</a:t>
            </a:r>
            <a:endParaRPr/>
          </a:p>
        </p:txBody>
      </p:sp>
      <p:sp>
        <p:nvSpPr>
          <p:cNvPr id="190" name="Google Shape;190;p26"/>
          <p:cNvSpPr/>
          <p:nvPr/>
        </p:nvSpPr>
        <p:spPr>
          <a:xfrm>
            <a:off x="914400" y="1375714"/>
            <a:ext cx="10515600" cy="470898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602" r="-964" t="-80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91" name="Google Shape;191;p26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333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&#10;&#10;Description automatically generated" id="192" name="Google Shape;192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6616" y="201168"/>
            <a:ext cx="750145" cy="75014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/>
          <p:nvPr/>
        </p:nvSpPr>
        <p:spPr>
          <a:xfrm>
            <a:off x="7963892" y="2931905"/>
            <a:ext cx="393700" cy="31686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201" name="Google Shape;201;p27"/>
          <p:cNvSpPr/>
          <p:nvPr/>
        </p:nvSpPr>
        <p:spPr>
          <a:xfrm>
            <a:off x="914400" y="894387"/>
            <a:ext cx="105156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This situation can also be represented using a balance scale. The rectangles represent Nadia’s friends and the ovals represent the bracelets.</a:t>
            </a:r>
            <a:endParaRPr/>
          </a:p>
        </p:txBody>
      </p:sp>
      <p:sp>
        <p:nvSpPr>
          <p:cNvPr id="202" name="Google Shape;202;p2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333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agram&#10;&#10;Description automatically generated" id="203" name="Google Shape;20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68648" y="2552643"/>
            <a:ext cx="5254704" cy="2989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8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0" name="Google Shape;21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211" name="Google Shape;211;p28"/>
          <p:cNvSpPr/>
          <p:nvPr/>
        </p:nvSpPr>
        <p:spPr>
          <a:xfrm>
            <a:off x="914400" y="385584"/>
            <a:ext cx="10515600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lphaLcPeriod" startAt="3"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Using the rectangles and ovals, sketch an image that demonstrates how many bracelets each friend will receive.</a:t>
            </a:r>
            <a:endParaRPr/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lphaLcPeriod" startAt="3"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What operation does your sketch demonstrate?</a:t>
            </a:r>
            <a:endParaRPr/>
          </a:p>
        </p:txBody>
      </p:sp>
      <p:sp>
        <p:nvSpPr>
          <p:cNvPr id="212" name="Google Shape;212;p28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334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9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220" name="Google Shape;220;p29"/>
          <p:cNvSpPr/>
          <p:nvPr/>
        </p:nvSpPr>
        <p:spPr>
          <a:xfrm>
            <a:off x="914400" y="385585"/>
            <a:ext cx="10515600" cy="5632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lphaLcPeriod" startAt="5"/>
            </a:pPr>
            <a:r>
              <a:rPr b="0" i="0" lang="en-US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How many bracelets will each friend receive?</a:t>
            </a:r>
            <a:endParaRPr/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lphaLcPeriod" startAt="5"/>
            </a:pPr>
            <a:r>
              <a:rPr b="0" i="0" lang="en-US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Discuss what you notice about the operation included in the equation and the operation you used to find the number of bracelets each friend will receive. Summarize your discussion.</a:t>
            </a:r>
            <a:endParaRPr/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Recall that when solving an equation, the mathematical sentence must remain balanced so that the two expressions remain equivalent. </a:t>
            </a:r>
            <a:endParaRPr/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1" name="Google Shape;221;p2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334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8" name="Google Shape;22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229" name="Google Shape;229;p30"/>
          <p:cNvSpPr/>
          <p:nvPr/>
        </p:nvSpPr>
        <p:spPr>
          <a:xfrm>
            <a:off x="914400" y="385584"/>
            <a:ext cx="10515600" cy="193899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5227" l="-602" r="0" t="-196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30" name="Google Shape;230;p30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334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&#10;&#10;Description automatically generated" id="231" name="Google Shape;231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25281" y="797768"/>
            <a:ext cx="406400" cy="1130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&#10;&#10;Description automatically generated" id="232" name="Google Shape;232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14750" y="1508968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table&#10;&#10;Description automatically generated" id="233" name="Google Shape;233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33763" y="2574383"/>
            <a:ext cx="5324475" cy="3486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0" name="Google Shape;24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241" name="Google Shape;241;p31"/>
          <p:cNvSpPr/>
          <p:nvPr/>
        </p:nvSpPr>
        <p:spPr>
          <a:xfrm>
            <a:off x="914400" y="1258422"/>
            <a:ext cx="10515600" cy="83099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4924" l="-964" r="0" t="-596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42" name="Google Shape;242;p31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334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9" name="Google Shape;24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250" name="Google Shape;250;p32"/>
          <p:cNvSpPr/>
          <p:nvPr/>
        </p:nvSpPr>
        <p:spPr>
          <a:xfrm>
            <a:off x="709684" y="925911"/>
            <a:ext cx="5386316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lphaLcPeriod" startAt="2"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The algebra tiles are arranged on the equation mat into equal-sized groups on both sides of the equation. How many groups were created? </a:t>
            </a:r>
            <a:endParaRPr/>
          </a:p>
        </p:txBody>
      </p:sp>
      <p:sp>
        <p:nvSpPr>
          <p:cNvPr id="251" name="Google Shape;251;p32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335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diagram&#10;&#10;Description automatically generated" id="252" name="Google Shape;25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04301" y="697410"/>
            <a:ext cx="3530600" cy="507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3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9" name="Google Shape;25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260" name="Google Shape;260;p33"/>
          <p:cNvSpPr/>
          <p:nvPr/>
        </p:nvSpPr>
        <p:spPr>
          <a:xfrm>
            <a:off x="914400" y="482566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lphaLcPeriod" startAt="3"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Use algebra tiles to sketch the solution of the equation.</a:t>
            </a:r>
            <a:endParaRPr/>
          </a:p>
        </p:txBody>
      </p:sp>
      <p:sp>
        <p:nvSpPr>
          <p:cNvPr id="261" name="Google Shape;261;p33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335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rt, scatter chart&#10;&#10;Description automatically generated" id="262" name="Google Shape;262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77765" y="1396965"/>
            <a:ext cx="4436471" cy="304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3"/>
          <p:cNvSpPr/>
          <p:nvPr/>
        </p:nvSpPr>
        <p:spPr>
          <a:xfrm>
            <a:off x="914400" y="4763621"/>
            <a:ext cx="10515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lphaLcPeriod" startAt="4"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What is the value of 𝑥?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0" name="Google Shape;27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271" name="Google Shape;271;p34"/>
          <p:cNvSpPr/>
          <p:nvPr/>
        </p:nvSpPr>
        <p:spPr>
          <a:xfrm>
            <a:off x="914400" y="482565"/>
            <a:ext cx="10515600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 startAt="3"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Inverse operations can be helpful in solving equations.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lphaLcPeriod"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Draw an arrow to match each operation on the left with its inverse operation on the right.</a:t>
            </a:r>
            <a:endParaRPr/>
          </a:p>
        </p:txBody>
      </p:sp>
      <p:sp>
        <p:nvSpPr>
          <p:cNvPr id="272" name="Google Shape;272;p34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335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3" name="Google Shape;273;p34"/>
          <p:cNvGraphicFramePr/>
          <p:nvPr/>
        </p:nvGraphicFramePr>
        <p:xfrm>
          <a:off x="2899255" y="2948348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{57B1B05B-8CB7-4469-A0B3-E33BA2B031F5}</a:tableStyleId>
              </a:tblPr>
              <a:tblGrid>
                <a:gridCol w="2832950"/>
                <a:gridCol w="3727575"/>
              </a:tblGrid>
              <a:tr h="596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division</a:t>
                      </a:r>
                      <a:endParaRPr sz="14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89450" marL="89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division</a:t>
                      </a:r>
                      <a:endParaRPr sz="14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89450" marL="89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6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addition</a:t>
                      </a:r>
                      <a:endParaRPr sz="14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89450" marL="89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addition</a:t>
                      </a:r>
                      <a:endParaRPr sz="14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89450" marL="89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6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subtraction</a:t>
                      </a:r>
                      <a:endParaRPr sz="14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89450" marL="89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subtraction</a:t>
                      </a:r>
                      <a:endParaRPr sz="14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89450" marL="89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6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multiplication</a:t>
                      </a:r>
                      <a:endParaRPr sz="14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89450" marL="89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multiplication</a:t>
                      </a:r>
                      <a:endParaRPr sz="14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89450" marL="89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5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0" name="Google Shape;28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281" name="Google Shape;281;p35"/>
          <p:cNvSpPr/>
          <p:nvPr/>
        </p:nvSpPr>
        <p:spPr>
          <a:xfrm>
            <a:off x="914400" y="482565"/>
            <a:ext cx="10515600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lphaLcPeriod" startAt="2"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Explain what it means for operations to be inverses.</a:t>
            </a:r>
            <a:endParaRPr/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lphaLcPeriod" startAt="2"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Which inverse operations were used to solve the equations in this exploration?</a:t>
            </a:r>
            <a:endParaRPr/>
          </a:p>
        </p:txBody>
      </p:sp>
      <p:sp>
        <p:nvSpPr>
          <p:cNvPr id="282" name="Google Shape;282;p35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335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6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9" name="Google Shape;28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290" name="Google Shape;290;p36"/>
          <p:cNvSpPr txBox="1"/>
          <p:nvPr>
            <p:ph idx="4294967295" type="title"/>
          </p:nvPr>
        </p:nvSpPr>
        <p:spPr>
          <a:xfrm>
            <a:off x="408736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96969"/>
              <a:buNone/>
            </a:pPr>
            <a:r>
              <a:rPr b="1" lang="en-US" sz="550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b="1" sz="510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1" name="Google Shape;291;p36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336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&#10;&#10;Description automatically generated" id="292" name="Google Shape;292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54096" y="2770632"/>
            <a:ext cx="1156733" cy="1156733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9" name="Google Shape;29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300" name="Google Shape;300;p37"/>
          <p:cNvSpPr txBox="1"/>
          <p:nvPr/>
        </p:nvSpPr>
        <p:spPr>
          <a:xfrm>
            <a:off x="1143000" y="-2792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</a:pPr>
            <a:r>
              <a:rPr b="1" i="0" lang="en-US" sz="2400" u="none" cap="none" strike="noStrike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12.10.3 Guided Instruction: Modeling the Inverse of Division</a:t>
            </a:r>
            <a:endParaRPr/>
          </a:p>
        </p:txBody>
      </p:sp>
      <p:sp>
        <p:nvSpPr>
          <p:cNvPr id="301" name="Google Shape;301;p37"/>
          <p:cNvSpPr/>
          <p:nvPr/>
        </p:nvSpPr>
        <p:spPr>
          <a:xfrm>
            <a:off x="914400" y="1331161"/>
            <a:ext cx="10515600" cy="33782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602" r="0" t="-74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02" name="Google Shape;302;p3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336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7"/>
          <p:cNvSpPr/>
          <p:nvPr/>
        </p:nvSpPr>
        <p:spPr>
          <a:xfrm>
            <a:off x="2146200" y="2419359"/>
            <a:ext cx="8333128" cy="1019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 </a:t>
            </a:r>
            <a:endParaRPr b="0" i="0" sz="12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descr="Icon&#10;&#10;Description automatically generated" id="304" name="Google Shape;304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chart&#10;&#10;Description automatically generated" id="305" name="Google Shape;305;p37"/>
          <p:cNvPicPr preferRelativeResize="0"/>
          <p:nvPr/>
        </p:nvPicPr>
        <p:blipFill rotWithShape="1">
          <a:blip r:embed="rId6">
            <a:alphaModFix/>
          </a:blip>
          <a:srcRect b="68799" l="64899" r="7861" t="17191"/>
          <a:stretch/>
        </p:blipFill>
        <p:spPr>
          <a:xfrm>
            <a:off x="2535606" y="3020277"/>
            <a:ext cx="1114425" cy="3035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calendar&#10;&#10;Description automatically generated" id="306" name="Google Shape;306;p37"/>
          <p:cNvPicPr preferRelativeResize="0"/>
          <p:nvPr/>
        </p:nvPicPr>
        <p:blipFill rotWithShape="1">
          <a:blip r:embed="rId7">
            <a:alphaModFix/>
          </a:blip>
          <a:srcRect b="70588" l="58866" r="11883" t="22561"/>
          <a:stretch/>
        </p:blipFill>
        <p:spPr>
          <a:xfrm>
            <a:off x="3303588" y="4887617"/>
            <a:ext cx="5584825" cy="940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8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3" name="Google Shape;31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314" name="Google Shape;314;p38"/>
          <p:cNvSpPr/>
          <p:nvPr/>
        </p:nvSpPr>
        <p:spPr>
          <a:xfrm>
            <a:off x="914400" y="902611"/>
            <a:ext cx="10515600" cy="212468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964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15" name="Google Shape;315;p38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336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9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2" name="Google Shape;32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323" name="Google Shape;323;p39"/>
          <p:cNvSpPr/>
          <p:nvPr/>
        </p:nvSpPr>
        <p:spPr>
          <a:xfrm>
            <a:off x="914400" y="389994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lphaLcPeriod" startAt="2"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The image models the relationship discussed that can be used to determine the value of 𝑥.</a:t>
            </a:r>
            <a:endParaRPr/>
          </a:p>
        </p:txBody>
      </p:sp>
      <p:sp>
        <p:nvSpPr>
          <p:cNvPr id="324" name="Google Shape;324;p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336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ical user interface&#10;&#10;Description automatically generated with medium confidence" id="325" name="Google Shape;325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68015" y="1345683"/>
            <a:ext cx="5855970" cy="2976245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9"/>
          <p:cNvSpPr/>
          <p:nvPr/>
        </p:nvSpPr>
        <p:spPr>
          <a:xfrm>
            <a:off x="1946910" y="4781885"/>
            <a:ext cx="854964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Explain how this representation can be used to determine the value of            .</a:t>
            </a:r>
            <a:endParaRPr/>
          </a:p>
        </p:txBody>
      </p:sp>
      <p:pic>
        <p:nvPicPr>
          <p:cNvPr descr="A picture containing chart&#10;&#10;Description automatically generated" id="327" name="Google Shape;327;p39"/>
          <p:cNvPicPr preferRelativeResize="0"/>
          <p:nvPr/>
        </p:nvPicPr>
        <p:blipFill rotWithShape="1">
          <a:blip r:embed="rId5">
            <a:alphaModFix/>
          </a:blip>
          <a:srcRect b="68799" l="64899" r="7861" t="17191"/>
          <a:stretch/>
        </p:blipFill>
        <p:spPr>
          <a:xfrm>
            <a:off x="5664518" y="5242831"/>
            <a:ext cx="1114425" cy="303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0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4" name="Google Shape;33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335" name="Google Shape;335;p40"/>
          <p:cNvSpPr/>
          <p:nvPr/>
        </p:nvSpPr>
        <p:spPr>
          <a:xfrm>
            <a:off x="914400" y="389994"/>
            <a:ext cx="10515600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lphaLcPeriod" startAt="3"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What is the value of 𝑥?</a:t>
            </a:r>
            <a:endParaRPr/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lphaLcPeriod" startAt="3"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Complete the statements by writing operations on each blank.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 </a:t>
            </a:r>
            <a:endParaRPr/>
          </a:p>
          <a:p>
            <a:pPr indent="0" lvl="0" marL="4540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The original equation involved the operation _____________________. Its inverse operation, _____________________, was used to solve the equation.</a:t>
            </a:r>
            <a:endParaRPr/>
          </a:p>
        </p:txBody>
      </p:sp>
      <p:sp>
        <p:nvSpPr>
          <p:cNvPr id="336" name="Google Shape;336;p40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336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1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3" name="Google Shape;34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344" name="Google Shape;344;p41"/>
          <p:cNvSpPr txBox="1"/>
          <p:nvPr>
            <p:ph idx="4294967295" type="title"/>
          </p:nvPr>
        </p:nvSpPr>
        <p:spPr>
          <a:xfrm>
            <a:off x="408736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96969"/>
              <a:buNone/>
            </a:pPr>
            <a:r>
              <a:rPr b="1" lang="en-US" sz="550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b="1" sz="510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45" name="Google Shape;345;p41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337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&#10;&#10;Description automatically generated" id="346" name="Google Shape;346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54096" y="2770632"/>
            <a:ext cx="1151972" cy="1151972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3" name="Google Shape;35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354" name="Google Shape;354;p42"/>
          <p:cNvSpPr txBox="1"/>
          <p:nvPr/>
        </p:nvSpPr>
        <p:spPr>
          <a:xfrm>
            <a:off x="1143000" y="-2792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</a:pPr>
            <a:r>
              <a:rPr b="1" i="0" lang="en-US" sz="3200" u="none" cap="none" strike="noStrike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12.10.4 Guided Practice: Solving Equations Using Manipulatives</a:t>
            </a:r>
            <a:endParaRPr/>
          </a:p>
        </p:txBody>
      </p:sp>
      <p:sp>
        <p:nvSpPr>
          <p:cNvPr id="355" name="Google Shape;355;p42"/>
          <p:cNvSpPr/>
          <p:nvPr/>
        </p:nvSpPr>
        <p:spPr>
          <a:xfrm>
            <a:off x="914400" y="1198352"/>
            <a:ext cx="10515600" cy="101566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602" r="-360" t="-370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56" name="Google Shape;356;p42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337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42"/>
          <p:cNvSpPr/>
          <p:nvPr/>
        </p:nvSpPr>
        <p:spPr>
          <a:xfrm>
            <a:off x="2146200" y="2419359"/>
            <a:ext cx="8333128" cy="1019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 </a:t>
            </a:r>
            <a:endParaRPr b="0" i="0" sz="12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descr="Icon&#10;&#10;Description automatically generated" id="358" name="Google Shape;358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6616" y="201168"/>
            <a:ext cx="746338" cy="746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4400" y="1947775"/>
            <a:ext cx="8702826" cy="482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3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6" name="Google Shape;36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367" name="Google Shape;367;p43"/>
          <p:cNvSpPr/>
          <p:nvPr/>
        </p:nvSpPr>
        <p:spPr>
          <a:xfrm>
            <a:off x="914400" y="235614"/>
            <a:ext cx="10515600" cy="111812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602" r="0" t="-112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68" name="Google Shape;368;p43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337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9" name="Google Shape;369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4400" y="1353755"/>
            <a:ext cx="8651955" cy="535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4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6" name="Google Shape;37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377" name="Google Shape;377;p44"/>
          <p:cNvSpPr txBox="1"/>
          <p:nvPr>
            <p:ph idx="4294967295" type="title"/>
          </p:nvPr>
        </p:nvSpPr>
        <p:spPr>
          <a:xfrm>
            <a:off x="4087368" y="2770632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b="1" lang="en-US" sz="440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b="1" sz="400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78" name="Google Shape;378;p44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338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&#10;&#10;Description automatically generated" id="379" name="Google Shape;379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54096" y="2770632"/>
            <a:ext cx="1156228" cy="115622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5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6" name="Google Shape;38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387" name="Google Shape;387;p45"/>
          <p:cNvSpPr txBox="1"/>
          <p:nvPr/>
        </p:nvSpPr>
        <p:spPr>
          <a:xfrm>
            <a:off x="1128438" y="-7766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</a:pPr>
            <a:r>
              <a:rPr b="1" i="0" lang="en-US" sz="3600" u="none" cap="none" strike="noStrike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12.10.5 Your Turn!</a:t>
            </a:r>
            <a:endParaRPr/>
          </a:p>
        </p:txBody>
      </p:sp>
      <p:sp>
        <p:nvSpPr>
          <p:cNvPr id="388" name="Google Shape;388;p45"/>
          <p:cNvSpPr/>
          <p:nvPr/>
        </p:nvSpPr>
        <p:spPr>
          <a:xfrm>
            <a:off x="914400" y="1340982"/>
            <a:ext cx="10515600" cy="40011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4239" l="-602" r="0" t="-908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89" name="Google Shape;389;p45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338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&#10;&#10;Description automatically generated" id="390" name="Google Shape;390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6616" y="201168"/>
            <a:ext cx="752254" cy="7522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rt&#10;&#10;Description automatically generated" id="391" name="Google Shape;391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07385" y="1741093"/>
            <a:ext cx="5777230" cy="3090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14400" y="5026299"/>
            <a:ext cx="11019501" cy="57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6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9" name="Google Shape;39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400" name="Google Shape;400;p46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338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46"/>
          <p:cNvSpPr/>
          <p:nvPr/>
        </p:nvSpPr>
        <p:spPr>
          <a:xfrm>
            <a:off x="914400" y="538313"/>
            <a:ext cx="10515600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lphaLcPeriod"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Explain whether you agree with Miranda.</a:t>
            </a:r>
            <a:endParaRPr/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lphaLcPeriod"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Sketch the next step in determining the solution to the equation.</a:t>
            </a:r>
            <a:endParaRPr/>
          </a:p>
        </p:txBody>
      </p:sp>
      <p:pic>
        <p:nvPicPr>
          <p:cNvPr descr="Chart, scatter chart&#10;&#10;Description automatically generated" id="402" name="Google Shape;402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27616" y="3215970"/>
            <a:ext cx="4511329" cy="31001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9" name="Google Shape;409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410" name="Google Shape;410;p4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338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47"/>
          <p:cNvSpPr/>
          <p:nvPr/>
        </p:nvSpPr>
        <p:spPr>
          <a:xfrm>
            <a:off x="914400" y="382012"/>
            <a:ext cx="10515600" cy="306814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602" r="0" t="-165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graphicFrame>
        <p:nvGraphicFramePr>
          <p:cNvPr id="412" name="Google Shape;412;p47"/>
          <p:cNvGraphicFramePr/>
          <p:nvPr/>
        </p:nvGraphicFramePr>
        <p:xfrm>
          <a:off x="3391177" y="3486462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{57B1B05B-8CB7-4469-A0B3-E33BA2B031F5}</a:tableStyleId>
              </a:tblPr>
              <a:tblGrid>
                <a:gridCol w="1233875"/>
                <a:gridCol w="57098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2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Chart, scatter chart&#10;&#10;Description automatically generated" id="413" name="Google Shape;413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27419" y="3347028"/>
            <a:ext cx="4004332" cy="316392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4" name="Google Shape;414;p47"/>
          <p:cNvGraphicFramePr/>
          <p:nvPr/>
        </p:nvGraphicFramePr>
        <p:xfrm>
          <a:off x="3480575" y="3486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{F1B44E26-EED4-47C9-8811-952C1F4C731D}</a:tableStyleId>
              </a:tblPr>
              <a:tblGrid>
                <a:gridCol w="1228725"/>
                <a:gridCol w="5715000"/>
              </a:tblGrid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Step </a:t>
                      </a:r>
                      <a:r>
                        <a:rPr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</a:t>
                      </a:r>
                      <a:endParaRPr sz="18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 sz="1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8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1" name="Google Shape;421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422" name="Google Shape;422;p48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339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3" name="Google Shape;423;p48"/>
          <p:cNvGraphicFramePr/>
          <p:nvPr/>
        </p:nvGraphicFramePr>
        <p:xfrm>
          <a:off x="3391177" y="369876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{57B1B05B-8CB7-4469-A0B3-E33BA2B031F5}</a:tableStyleId>
              </a:tblPr>
              <a:tblGrid>
                <a:gridCol w="1233875"/>
                <a:gridCol w="57098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2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Chart, scatter chart&#10;&#10;Description automatically generated" id="424" name="Google Shape;424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7419" y="230442"/>
            <a:ext cx="4004332" cy="316392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25" name="Google Shape;425;p48"/>
          <p:cNvGraphicFramePr/>
          <p:nvPr/>
        </p:nvGraphicFramePr>
        <p:xfrm>
          <a:off x="3391177" y="3597985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{57B1B05B-8CB7-4469-A0B3-E33BA2B031F5}</a:tableStyleId>
              </a:tblPr>
              <a:tblGrid>
                <a:gridCol w="1233875"/>
                <a:gridCol w="57098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2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Chart, scatter chart&#10;&#10;Description automatically generated" id="426" name="Google Shape;426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7419" y="3458551"/>
            <a:ext cx="4004332" cy="316392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27" name="Google Shape;427;p48"/>
          <p:cNvGraphicFramePr/>
          <p:nvPr/>
        </p:nvGraphicFramePr>
        <p:xfrm>
          <a:off x="2840200" y="735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{F1B44E26-EED4-47C9-8811-952C1F4C731D}</a:tableStyleId>
              </a:tblPr>
              <a:tblGrid>
                <a:gridCol w="1228725"/>
                <a:gridCol w="5715000"/>
              </a:tblGrid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Step </a:t>
                      </a: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 sz="1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28" name="Google Shape;428;p48"/>
          <p:cNvGraphicFramePr/>
          <p:nvPr/>
        </p:nvGraphicFramePr>
        <p:xfrm>
          <a:off x="2840200" y="3596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{F1B44E26-EED4-47C9-8811-952C1F4C731D}</a:tableStyleId>
              </a:tblPr>
              <a:tblGrid>
                <a:gridCol w="1228725"/>
                <a:gridCol w="5715000"/>
              </a:tblGrid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Step </a:t>
                      </a: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 sz="1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9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436" name="Google Shape;436;p4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339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49"/>
          <p:cNvSpPr/>
          <p:nvPr/>
        </p:nvSpPr>
        <p:spPr>
          <a:xfrm>
            <a:off x="914400" y="1102449"/>
            <a:ext cx="825400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lphaLcPeriod" startAt="2"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What is the value of 𝑥 according to your sketch?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0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4" name="Google Shape;44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445" name="Google Shape;445;p50"/>
          <p:cNvSpPr txBox="1"/>
          <p:nvPr>
            <p:ph idx="4294967295" type="title"/>
          </p:nvPr>
        </p:nvSpPr>
        <p:spPr>
          <a:xfrm>
            <a:off x="408736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b="1" lang="en-US" sz="550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b="1" sz="510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46" name="Google Shape;446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54096" y="2770632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447" name="Google Shape;447;p50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339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4" name="Google Shape;454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455" name="Google Shape;455;p51"/>
          <p:cNvSpPr txBox="1"/>
          <p:nvPr/>
        </p:nvSpPr>
        <p:spPr>
          <a:xfrm>
            <a:off x="1143000" y="-18544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</a:pPr>
            <a:r>
              <a:rPr b="1" i="0" lang="en-US" sz="2800" u="none" cap="none" strike="noStrike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12.10.6 Wrap-Up: Cool Down</a:t>
            </a:r>
            <a:endParaRPr/>
          </a:p>
        </p:txBody>
      </p:sp>
      <p:pic>
        <p:nvPicPr>
          <p:cNvPr id="456" name="Google Shape;456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457" name="Google Shape;457;p51"/>
          <p:cNvSpPr/>
          <p:nvPr/>
        </p:nvSpPr>
        <p:spPr>
          <a:xfrm>
            <a:off x="914400" y="1309478"/>
            <a:ext cx="10515600" cy="317009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-602" r="0" t="-11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58" name="Google Shape;458;p51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339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