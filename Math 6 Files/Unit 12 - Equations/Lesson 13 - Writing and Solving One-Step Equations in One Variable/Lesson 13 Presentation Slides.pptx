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embeddedFontLst>
    <p:embeddedFont>
      <p:font typeface="Arial Black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F433C1-9DCC-49E9-83B0-4588B6A9F545}">
  <a:tblStyle styleId="{DCF433C1-9DCC-49E9-83B0-4588B6A9F5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ArialBlack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104476d14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04476d1465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104476d1465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104476d1465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4476d1465_1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104476d1465_1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104476d1465_1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g"/><Relationship Id="rId3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3" type="body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8"/>
          <p:cNvSpPr txBox="1"/>
          <p:nvPr>
            <p:ph idx="4" type="body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">
  <p:cSld name="Text Slide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sign, seat&#10;&#10;Description automatically generated" id="87" name="Google Shape;8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">
  <p:cSld name="Divider 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2_5.jpg" id="90" name="Google Shape;9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3">
  <p:cSld name="Divider 3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2_6.jpg" id="95" name="Google Shape;9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98" name="Google Shape;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">
  <p:cSld name="Divider 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2_2.jpg" id="100" name="Google Shape;10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4">
  <p:cSld name="Divider 4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_7.jpg" id="105" name="Google Shape;10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108" name="Google Shape;1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42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Relationship Id="rId7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33.png"/><Relationship Id="rId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idx="4294967295" type="ctrTitle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i="0" lang="en-US" sz="36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b="1" baseline="30000" i="0" lang="en-US" sz="36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b="1" i="0" lang="en-US" sz="36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b="1" i="0" lang="en-US" sz="36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b="1" i="0" sz="3600" u="none" cap="none" strike="noStrike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rPr b="1" i="0" lang="en-US" sz="34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13</a:t>
            </a:r>
            <a:br>
              <a:rPr b="1" i="0" lang="en-US" sz="36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b="1" i="0" lang="en-US" sz="36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36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and Solving One-Step Equations in One Variable</a:t>
            </a:r>
            <a:br>
              <a:rPr b="1" i="0" lang="en-US" sz="36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b="1" i="0" lang="en-US" sz="36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24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350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417D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15" name="Google Shape;1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97002"/>
            <a:ext cx="2973100" cy="346578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6B7D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 txBox="1"/>
          <p:nvPr>
            <p:ph idx="4294967295" type="title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b="1" lang="en-US" sz="470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b="1" sz="370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24" name="Google Shape;124;p2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350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26" name="Google Shape;126;p20"/>
          <p:cNvSpPr txBox="1"/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MA.6.AR.2.2</a:t>
            </a:r>
            <a:endParaRPr/>
          </a:p>
          <a:p>
            <a:pPr indent="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and solve one-step equations in one variable within a mathematical or real-world context using addition and subtraction, where all terms and solutions are integers. </a:t>
            </a:r>
            <a:endParaRPr/>
          </a:p>
          <a:p>
            <a:pPr indent="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MA.6.AR.2.3</a:t>
            </a:r>
            <a:endParaRPr/>
          </a:p>
          <a:p>
            <a:pPr indent="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and solve one-step equations in one variable within a mathematical or real-world context using multiplication and division, where all terms and solutions are integers.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34" name="Google Shape;1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35" name="Google Shape;135;p21"/>
          <p:cNvSpPr txBox="1"/>
          <p:nvPr/>
        </p:nvSpPr>
        <p:spPr>
          <a:xfrm>
            <a:off x="1143000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30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914400" y="1455367"/>
            <a:ext cx="10515600" cy="4762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 Demonstrate understanding by representing problems in multiple ways.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350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45" name="Google Shape;145;p22"/>
          <p:cNvSpPr txBox="1"/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4700" u="none" cap="none" strike="noStrik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/>
          </a:p>
        </p:txBody>
      </p:sp>
      <p:pic>
        <p:nvPicPr>
          <p:cNvPr id="146" name="Google Shape;1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47" name="Google Shape;147;p22"/>
          <p:cNvSpPr txBox="1"/>
          <p:nvPr/>
        </p:nvSpPr>
        <p:spPr>
          <a:xfrm>
            <a:off x="914400" y="1547093"/>
            <a:ext cx="10515600" cy="4498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can write and solve one-step equations in one variable within a real-world context using multiplication and division.</a:t>
            </a:r>
            <a:endParaRPr/>
          </a:p>
          <a:p>
            <a:pPr indent="-1333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can solve one-step equations in one variable using addition and subtraction.</a:t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350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56" name="Google Shape;15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57" name="Google Shape;157;p23"/>
          <p:cNvSpPr txBox="1"/>
          <p:nvPr>
            <p:ph idx="4294967295" type="title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-US" sz="550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b="1" sz="510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351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66" name="Google Shape;166;p24"/>
          <p:cNvSpPr txBox="1"/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3200" u="none" cap="none" strike="noStrik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12.13.1 Warm-Up: One-Step Equations</a:t>
            </a:r>
            <a:endParaRPr/>
          </a:p>
        </p:txBody>
      </p:sp>
      <p:pic>
        <p:nvPicPr>
          <p:cNvPr id="167" name="Google Shape;1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68" name="Google Shape;168;p24"/>
          <p:cNvSpPr/>
          <p:nvPr/>
        </p:nvSpPr>
        <p:spPr>
          <a:xfrm>
            <a:off x="914400" y="1523186"/>
            <a:ext cx="10515600" cy="83099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5151" l="-964" r="-1446" t="-60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351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pe, square&#10;&#10;Description automatically generated" id="170" name="Google Shape;17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20049" y="2554888"/>
            <a:ext cx="4951902" cy="3702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78" name="Google Shape;178;p25"/>
          <p:cNvSpPr txBox="1"/>
          <p:nvPr>
            <p:ph idx="4294967295" type="title"/>
          </p:nvPr>
        </p:nvSpPr>
        <p:spPr>
          <a:xfrm>
            <a:off x="427024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-US" sz="440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b="1" sz="400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351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128534" cy="112853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88" name="Google Shape;188;p26"/>
          <p:cNvSpPr txBox="1"/>
          <p:nvPr/>
        </p:nvSpPr>
        <p:spPr>
          <a:xfrm>
            <a:off x="1143000" y="60325"/>
            <a:ext cx="10515600" cy="1014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2400" u="none" cap="none" strike="noStrik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12.13.2 Collaboration: Relating Real-World Contexts to Equations</a:t>
            </a: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914400" y="1375714"/>
            <a:ext cx="1051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68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Four equations are shown. </a:t>
            </a:r>
            <a:endParaRPr/>
          </a:p>
        </p:txBody>
      </p:sp>
      <p:sp>
        <p:nvSpPr>
          <p:cNvPr id="190" name="Google Shape;190;p2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351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201168"/>
            <a:ext cx="750144" cy="75014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6"/>
          <p:cNvSpPr/>
          <p:nvPr/>
        </p:nvSpPr>
        <p:spPr>
          <a:xfrm>
            <a:off x="3403600" y="2137950"/>
            <a:ext cx="5384800" cy="1104900"/>
          </a:xfrm>
          <a:prstGeom prst="roundRect">
            <a:avLst>
              <a:gd fmla="val 16667" name="adj"/>
            </a:avLst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914400" y="3689422"/>
            <a:ext cx="105156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Discuss with your partner which of the equations correctly represents each situation below, where 𝑥 represents the unknown quantity. Then, write the matching equation in the space provided.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01" name="Google Shape;201;p2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351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4250" y="1181100"/>
            <a:ext cx="8410575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10" name="Google Shape;210;p28"/>
          <p:cNvSpPr txBox="1"/>
          <p:nvPr>
            <p:ph idx="4294967295" type="title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b="1" lang="en-US" sz="550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b="1" sz="510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1" name="Google Shape;211;p2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212" name="Google Shape;21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156733" cy="115673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20" name="Google Shape;220;p29"/>
          <p:cNvSpPr txBox="1"/>
          <p:nvPr/>
        </p:nvSpPr>
        <p:spPr>
          <a:xfrm>
            <a:off x="1143000" y="-2792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20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12.13.3 Guided Instruction: Solving One-Step Equations Representing Real-World Contexts Using Multiplication and Division</a:t>
            </a:r>
            <a:endParaRPr/>
          </a:p>
        </p:txBody>
      </p:sp>
      <p:sp>
        <p:nvSpPr>
          <p:cNvPr id="221" name="Google Shape;221;p29"/>
          <p:cNvSpPr/>
          <p:nvPr/>
        </p:nvSpPr>
        <p:spPr>
          <a:xfrm>
            <a:off x="914400" y="1331161"/>
            <a:ext cx="10515600" cy="26776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43" r="0" t="-188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22" name="Google Shape;222;p2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9"/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endParaRPr b="0" i="0" sz="12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Icon&#10;&#10;Description automatically generated" id="224" name="Google Shape;22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32" name="Google Shape;232;p30"/>
          <p:cNvSpPr/>
          <p:nvPr/>
        </p:nvSpPr>
        <p:spPr>
          <a:xfrm>
            <a:off x="914400" y="528540"/>
            <a:ext cx="1051560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eriod" startAt="2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Write an equation that can be used to find 𝑤, the number of firefighters the town can employ.</a:t>
            </a:r>
            <a:endParaRPr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eriod" startAt="2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What is the value of 𝑤? </a:t>
            </a:r>
            <a:endParaRPr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eriod" startAt="2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Explain what the solution means in the context of the problem.</a:t>
            </a:r>
            <a:endParaRPr/>
          </a:p>
        </p:txBody>
      </p:sp>
      <p:sp>
        <p:nvSpPr>
          <p:cNvPr id="233" name="Google Shape;233;p3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41" name="Google Shape;241;p31"/>
          <p:cNvSpPr/>
          <p:nvPr/>
        </p:nvSpPr>
        <p:spPr>
          <a:xfrm>
            <a:off x="914400" y="389993"/>
            <a:ext cx="10515600" cy="48329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64" r="0" t="-104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42" name="Google Shape;242;p3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50" name="Google Shape;250;p32"/>
          <p:cNvSpPr/>
          <p:nvPr/>
        </p:nvSpPr>
        <p:spPr>
          <a:xfrm>
            <a:off x="914400" y="389994"/>
            <a:ext cx="1051560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L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Discuss with your partner which student — Dino, Callahan, or Bristol — wrote the correct equation to solve for the total number of samples submitted. 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L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Solve one of the equations and then use a different equation to check your work. 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L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Explain how the answer makes sense in terms of the context.</a:t>
            </a:r>
            <a:endParaRPr/>
          </a:p>
        </p:txBody>
      </p:sp>
      <p:sp>
        <p:nvSpPr>
          <p:cNvPr id="251" name="Google Shape;251;p3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59" name="Google Shape;259;p33"/>
          <p:cNvSpPr txBox="1"/>
          <p:nvPr>
            <p:ph idx="4294967295" type="title"/>
          </p:nvPr>
        </p:nvSpPr>
        <p:spPr>
          <a:xfrm>
            <a:off x="3855625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b="1" lang="en-US" sz="550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b="1" sz="510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353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261" name="Google Shape;26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161768" cy="116176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69" name="Google Shape;269;p34"/>
          <p:cNvSpPr txBox="1"/>
          <p:nvPr/>
        </p:nvSpPr>
        <p:spPr>
          <a:xfrm>
            <a:off x="1143000" y="-1406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24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12.13.4 Guided Practice: Solving Multiplication and Division Equations for Real-World Contexts</a:t>
            </a:r>
            <a:endParaRPr/>
          </a:p>
        </p:txBody>
      </p:sp>
      <p:sp>
        <p:nvSpPr>
          <p:cNvPr id="270" name="Google Shape;270;p34"/>
          <p:cNvSpPr/>
          <p:nvPr/>
        </p:nvSpPr>
        <p:spPr>
          <a:xfrm>
            <a:off x="914400" y="1491032"/>
            <a:ext cx="10515600" cy="31700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02" r="0" t="-119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71" name="Google Shape;271;p3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353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endParaRPr b="0" i="0" sz="12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73" name="Google Shape;273;p34"/>
          <p:cNvGrpSpPr/>
          <p:nvPr/>
        </p:nvGrpSpPr>
        <p:grpSpPr>
          <a:xfrm>
            <a:off x="2781300" y="3479152"/>
            <a:ext cx="6629400" cy="1054041"/>
            <a:chOff x="2031300" y="3252877"/>
            <a:chExt cx="6629400" cy="1054225"/>
          </a:xfrm>
        </p:grpSpPr>
        <p:sp>
          <p:nvSpPr>
            <p:cNvPr id="274" name="Google Shape;274;p34"/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 </a:t>
              </a:r>
              <a:endParaRPr b="0" i="0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275" name="Google Shape;275;p34"/>
            <p:cNvGrpSpPr/>
            <p:nvPr/>
          </p:nvGrpSpPr>
          <p:grpSpPr>
            <a:xfrm>
              <a:off x="2031300" y="3252879"/>
              <a:ext cx="6629400" cy="1054222"/>
              <a:chOff x="2031300" y="3262288"/>
              <a:chExt cx="6629400" cy="1035400"/>
            </a:xfrm>
          </p:grpSpPr>
          <p:sp>
            <p:nvSpPr>
              <p:cNvPr id="276" name="Google Shape;276;p34"/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 </a:t>
                </a:r>
                <a:endParaRPr b="0" i="0" sz="1200" u="none" cap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  <p:grpSp>
            <p:nvGrpSpPr>
              <p:cNvPr id="277" name="Google Shape;277;p34"/>
              <p:cNvGrpSpPr/>
              <p:nvPr/>
            </p:nvGrpSpPr>
            <p:grpSpPr>
              <a:xfrm>
                <a:off x="2031300" y="3262288"/>
                <a:ext cx="6629400" cy="1035400"/>
                <a:chOff x="2031300" y="3373600"/>
                <a:chExt cx="6629400" cy="1035400"/>
              </a:xfrm>
            </p:grpSpPr>
            <p:sp>
              <p:nvSpPr>
                <p:cNvPr id="278" name="Google Shape;278;p34"/>
                <p:cNvSpPr/>
                <p:nvPr/>
              </p:nvSpPr>
              <p:spPr>
                <a:xfrm>
                  <a:off x="2031300" y="3373600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0"/>
                    </a:spcAft>
                    <a:buNone/>
                  </a:pPr>
                  <a:r>
                    <a:rPr b="0" i="0" lang="en-US" sz="1200" u="none" cap="none" strike="noStrike">
                      <a:solidFill>
                        <a:srgbClr val="000000"/>
                      </a:solidFill>
                      <a:latin typeface="Cambria"/>
                      <a:ea typeface="Cambria"/>
                      <a:cs typeface="Cambria"/>
                      <a:sym typeface="Cambria"/>
                    </a:rPr>
                    <a:t> </a:t>
                  </a:r>
                  <a:endParaRPr b="0" i="0" sz="1200" u="none" cap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endParaRPr>
                </a:p>
              </p:txBody>
            </p:sp>
            <p:grpSp>
              <p:nvGrpSpPr>
                <p:cNvPr id="279" name="Google Shape;279;p34"/>
                <p:cNvGrpSpPr/>
                <p:nvPr/>
              </p:nvGrpSpPr>
              <p:grpSpPr>
                <a:xfrm>
                  <a:off x="2031300" y="3373600"/>
                  <a:ext cx="6629400" cy="812800"/>
                  <a:chOff x="2031300" y="3373600"/>
                  <a:chExt cx="6629400" cy="812800"/>
                </a:xfrm>
              </p:grpSpPr>
              <p:sp>
                <p:nvSpPr>
                  <p:cNvPr id="280" name="Google Shape;280;p34"/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  <a:buNone/>
                    </a:pPr>
                    <a:r>
                      <a:rPr b="0" i="0" lang="en-US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a:t> </a:t>
                    </a:r>
                    <a:endParaRPr b="0" i="0" sz="1200" u="none" cap="none" strike="noStrike">
                      <a:solidFill>
                        <a:srgbClr val="000000"/>
                      </a:solidFill>
                      <a:latin typeface="Cambria"/>
                      <a:ea typeface="Cambria"/>
                      <a:cs typeface="Cambria"/>
                      <a:sym typeface="Cambria"/>
                    </a:endParaRPr>
                  </a:p>
                </p:txBody>
              </p:sp>
              <p:sp>
                <p:nvSpPr>
                  <p:cNvPr id="281" name="Google Shape;281;p34"/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  <a:buNone/>
                    </a:pPr>
                    <a:r>
                      <a:rPr b="0" i="0" lang="en-US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a:t> </a:t>
                    </a:r>
                    <a:endParaRPr b="0" i="0" sz="1200" u="none" cap="none" strike="noStrike">
                      <a:solidFill>
                        <a:srgbClr val="000000"/>
                      </a:solidFill>
                      <a:latin typeface="Cambria"/>
                      <a:ea typeface="Cambria"/>
                      <a:cs typeface="Cambria"/>
                      <a:sym typeface="Cambria"/>
                    </a:endParaRPr>
                  </a:p>
                </p:txBody>
              </p:sp>
            </p:grpSp>
          </p:grpSp>
        </p:grpSp>
      </p:grpSp>
      <p:pic>
        <p:nvPicPr>
          <p:cNvPr descr="Icon&#10;&#10;Description automatically generated" id="282" name="Google Shape;28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616" y="201168"/>
            <a:ext cx="741801" cy="7418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3" name="Google Shape;283;p34"/>
          <p:cNvGraphicFramePr/>
          <p:nvPr/>
        </p:nvGraphicFramePr>
        <p:xfrm>
          <a:off x="2695575" y="427506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{DCF433C1-9DCC-49E9-83B0-4588B6A9F545}</a:tableStyleId>
              </a:tblPr>
              <a:tblGrid>
                <a:gridCol w="3416300"/>
                <a:gridCol w="33845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Division Equation</a:t>
                      </a:r>
                      <a:endParaRPr b="1" sz="12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Multiplication Equation</a:t>
                      </a:r>
                      <a:endParaRPr b="1" sz="12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</a:tr>
              <a:tr h="856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91" name="Google Shape;291;p35"/>
          <p:cNvSpPr/>
          <p:nvPr/>
        </p:nvSpPr>
        <p:spPr>
          <a:xfrm>
            <a:off x="914400" y="374159"/>
            <a:ext cx="10515600" cy="415498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38" l="-964" r="-843" t="-15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2" name="Google Shape;292;p35"/>
          <p:cNvSpPr txBox="1"/>
          <p:nvPr/>
        </p:nvSpPr>
        <p:spPr>
          <a:xfrm>
            <a:off x="8897112" y="645670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353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p35"/>
          <p:cNvGraphicFramePr/>
          <p:nvPr/>
        </p:nvGraphicFramePr>
        <p:xfrm>
          <a:off x="2992755" y="4799405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{DCF433C1-9DCC-49E9-83B0-4588B6A9F545}</a:tableStyleId>
              </a:tblPr>
              <a:tblGrid>
                <a:gridCol w="3416300"/>
                <a:gridCol w="33845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Division Equation</a:t>
                      </a:r>
                      <a:endParaRPr b="1" sz="12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Multiplication Equation</a:t>
                      </a:r>
                      <a:endParaRPr b="1" sz="12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</a:tr>
              <a:tr h="856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01" name="Google Shape;301;p3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353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" y="346449"/>
            <a:ext cx="10616702" cy="3882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10" name="Google Shape;310;p37"/>
          <p:cNvSpPr txBox="1"/>
          <p:nvPr>
            <p:ph idx="4294967295" type="title"/>
          </p:nvPr>
        </p:nvSpPr>
        <p:spPr>
          <a:xfrm>
            <a:off x="427024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-US" sz="480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b="1" sz="440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1" name="Google Shape;311;p3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354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128534" cy="112853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20" name="Google Shape;320;p38"/>
          <p:cNvSpPr txBox="1"/>
          <p:nvPr/>
        </p:nvSpPr>
        <p:spPr>
          <a:xfrm>
            <a:off x="1143000" y="64008"/>
            <a:ext cx="8019300" cy="1014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3200" u="none" cap="none" strike="noStrik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12.13.5 Try It: Mixed Review</a:t>
            </a:r>
            <a:endParaRPr/>
          </a:p>
        </p:txBody>
      </p:sp>
      <p:sp>
        <p:nvSpPr>
          <p:cNvPr id="321" name="Google Shape;321;p38"/>
          <p:cNvSpPr/>
          <p:nvPr/>
        </p:nvSpPr>
        <p:spPr>
          <a:xfrm>
            <a:off x="914400" y="1375714"/>
            <a:ext cx="10515600" cy="224676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02" r="0" t="-168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22" name="Google Shape;322;p3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354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616" y="201168"/>
            <a:ext cx="750145" cy="75014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8"/>
          <p:cNvSpPr/>
          <p:nvPr/>
        </p:nvSpPr>
        <p:spPr>
          <a:xfrm>
            <a:off x="3212371" y="3923054"/>
            <a:ext cx="2580409" cy="157479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4030" l="-48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25" name="Google Shape;325;p38"/>
          <p:cNvSpPr/>
          <p:nvPr/>
        </p:nvSpPr>
        <p:spPr>
          <a:xfrm>
            <a:off x="6108178" y="3923055"/>
            <a:ext cx="2580409" cy="20084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48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33" name="Google Shape;333;p39"/>
          <p:cNvSpPr/>
          <p:nvPr/>
        </p:nvSpPr>
        <p:spPr>
          <a:xfrm>
            <a:off x="914400" y="484632"/>
            <a:ext cx="105156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eriod" startAt="2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Pick one of the equations you selected and solve the problem. Show your reasoning.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2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Aliyah and Tiana want to bake 3 carrot cakes. Each carrot cake needs 2 cups of salted butter.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How much butter will they need to bake all 3 cakes? Select all that apply.</a:t>
            </a:r>
            <a:endParaRPr/>
          </a:p>
        </p:txBody>
      </p:sp>
      <p:sp>
        <p:nvSpPr>
          <p:cNvPr id="334" name="Google Shape;334;p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354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9"/>
          <p:cNvSpPr/>
          <p:nvPr/>
        </p:nvSpPr>
        <p:spPr>
          <a:xfrm>
            <a:off x="3212371" y="4268218"/>
            <a:ext cx="2580409" cy="203357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105" l="-48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36" name="Google Shape;336;p39"/>
          <p:cNvSpPr/>
          <p:nvPr/>
        </p:nvSpPr>
        <p:spPr>
          <a:xfrm>
            <a:off x="6108178" y="4268219"/>
            <a:ext cx="2580409" cy="173855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48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6305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44" name="Google Shape;344;p40"/>
          <p:cNvSpPr/>
          <p:nvPr/>
        </p:nvSpPr>
        <p:spPr>
          <a:xfrm>
            <a:off x="914400" y="482566"/>
            <a:ext cx="105156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eriod" startAt="2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Select one of the equations you selected and solve the problem. Show your reasoning.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3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Solve each equation for the variable. Verify your answers.</a:t>
            </a:r>
            <a:endParaRPr/>
          </a:p>
        </p:txBody>
      </p:sp>
      <p:sp>
        <p:nvSpPr>
          <p:cNvPr id="345" name="Google Shape;345;p4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354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9750" y="3497288"/>
            <a:ext cx="8006934" cy="280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54" name="Google Shape;354;p4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354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4275" y="895075"/>
            <a:ext cx="8048625" cy="55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2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63" name="Google Shape;363;p42"/>
          <p:cNvSpPr txBox="1"/>
          <p:nvPr>
            <p:ph idx="4294967295" type="title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-US" sz="550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b="1" sz="510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64" name="Google Shape;36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65" name="Google Shape;365;p4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355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73" name="Google Shape;373;p43"/>
          <p:cNvSpPr txBox="1"/>
          <p:nvPr/>
        </p:nvSpPr>
        <p:spPr>
          <a:xfrm>
            <a:off x="1143000" y="-18288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12.13.6 Wrap-Up: Reflection</a:t>
            </a:r>
            <a:endParaRPr/>
          </a:p>
        </p:txBody>
      </p:sp>
      <p:pic>
        <p:nvPicPr>
          <p:cNvPr id="374" name="Google Shape;37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75" name="Google Shape;375;p43"/>
          <p:cNvSpPr/>
          <p:nvPr/>
        </p:nvSpPr>
        <p:spPr>
          <a:xfrm>
            <a:off x="914400" y="1004677"/>
            <a:ext cx="105156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Circle the icon that best describes your understanding of each learning objective. </a:t>
            </a:r>
            <a:endParaRPr/>
          </a:p>
        </p:txBody>
      </p:sp>
      <p:sp>
        <p:nvSpPr>
          <p:cNvPr id="376" name="Google Shape;376;p4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355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able&#10;&#10;Description automatically generated" id="377" name="Google Shape;37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3654" y="1882339"/>
            <a:ext cx="5104693" cy="463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