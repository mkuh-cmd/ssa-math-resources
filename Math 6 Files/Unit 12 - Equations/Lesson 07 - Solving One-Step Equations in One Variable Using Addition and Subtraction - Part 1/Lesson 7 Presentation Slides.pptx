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12192000"/>
  <p:notesSz cx="6858000" cy="9144000"/>
  <p:embeddedFontLst>
    <p:embeddedFont>
      <p:font typeface="Arial Black"/>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7F7EE2-9108-44D5-80AB-6710C30C7EFF}">
  <a:tblStyle styleId="{4B7F7EE2-9108-44D5-80AB-6710C30C7EF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ArialBlack-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04476d146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104476d1465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4476d1465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104476d1465_1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g104476d1465_1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04476d1465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104476d1465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104476d1465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 name="Google Shape;383;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5" name="Google Shape;415;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3"/>
          <p:cNvSpPr txBox="1"/>
          <p:nvPr>
            <p:ph type="ctrTitle"/>
          </p:nvPr>
        </p:nvSpPr>
        <p:spPr>
          <a:xfrm>
            <a:off x="5299677" y="1070919"/>
            <a:ext cx="6526000" cy="3618000"/>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4" name="Google Shape;24;p4"/>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5"/>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6"/>
          <p:cNvSpPr txBox="1"/>
          <p:nvPr>
            <p:ph type="title"/>
          </p:nvPr>
        </p:nvSpPr>
        <p:spPr>
          <a:xfrm>
            <a:off x="831851" y="1709739"/>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831851" y="4589464"/>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6" name="Google Shape;36;p6"/>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7"/>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7"/>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8"/>
          <p:cNvSpPr txBox="1"/>
          <p:nvPr>
            <p:ph type="title"/>
          </p:nvPr>
        </p:nvSpPr>
        <p:spPr>
          <a:xfrm>
            <a:off x="839788"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 type="body"/>
          </p:nvPr>
        </p:nvSpPr>
        <p:spPr>
          <a:xfrm>
            <a:off x="839789" y="1681163"/>
            <a:ext cx="51576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9" name="Google Shape;49;p8"/>
          <p:cNvSpPr txBox="1"/>
          <p:nvPr>
            <p:ph idx="2" type="body"/>
          </p:nvPr>
        </p:nvSpPr>
        <p:spPr>
          <a:xfrm>
            <a:off x="839789" y="2505075"/>
            <a:ext cx="51576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8"/>
          <p:cNvSpPr txBox="1"/>
          <p:nvPr>
            <p:ph idx="3" type="body"/>
          </p:nvPr>
        </p:nvSpPr>
        <p:spPr>
          <a:xfrm>
            <a:off x="6172200" y="1681163"/>
            <a:ext cx="51832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1" name="Google Shape;51;p8"/>
          <p:cNvSpPr txBox="1"/>
          <p:nvPr>
            <p:ph idx="4" type="body"/>
          </p:nvPr>
        </p:nvSpPr>
        <p:spPr>
          <a:xfrm>
            <a:off x="6172200" y="2505075"/>
            <a:ext cx="51832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 name="Google Shape;52;p8"/>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9"/>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0"/>
          <p:cNvSpPr txBox="1"/>
          <p:nvPr>
            <p:ph type="title"/>
          </p:nvPr>
        </p:nvSpPr>
        <p:spPr>
          <a:xfrm>
            <a:off x="839788" y="457200"/>
            <a:ext cx="39324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
          <p:cNvSpPr txBox="1"/>
          <p:nvPr>
            <p:ph idx="1" type="body"/>
          </p:nvPr>
        </p:nvSpPr>
        <p:spPr>
          <a:xfrm>
            <a:off x="5183188" y="987426"/>
            <a:ext cx="6172400" cy="48735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3" name="Google Shape;63;p10"/>
          <p:cNvSpPr txBox="1"/>
          <p:nvPr>
            <p:ph idx="2" type="body"/>
          </p:nvPr>
        </p:nvSpPr>
        <p:spPr>
          <a:xfrm>
            <a:off x="839788" y="2057400"/>
            <a:ext cx="39324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4" name="Google Shape;64;p10"/>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1"/>
          <p:cNvSpPr txBox="1"/>
          <p:nvPr>
            <p:ph type="title"/>
          </p:nvPr>
        </p:nvSpPr>
        <p:spPr>
          <a:xfrm>
            <a:off x="839788" y="457200"/>
            <a:ext cx="39324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
          <p:cNvSpPr/>
          <p:nvPr>
            <p:ph idx="2" type="pic"/>
          </p:nvPr>
        </p:nvSpPr>
        <p:spPr>
          <a:xfrm>
            <a:off x="5183188" y="987426"/>
            <a:ext cx="6172400" cy="4873500"/>
          </a:xfrm>
          <a:prstGeom prst="rect">
            <a:avLst/>
          </a:prstGeom>
          <a:noFill/>
          <a:ln>
            <a:noFill/>
          </a:ln>
        </p:spPr>
      </p:sp>
      <p:sp>
        <p:nvSpPr>
          <p:cNvPr id="70" name="Google Shape;70;p11"/>
          <p:cNvSpPr txBox="1"/>
          <p:nvPr>
            <p:ph idx="1" type="body"/>
          </p:nvPr>
        </p:nvSpPr>
        <p:spPr>
          <a:xfrm>
            <a:off x="839788" y="2057400"/>
            <a:ext cx="39324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1" name="Google Shape;71;p1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2"/>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12"/>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3"/>
          <p:cNvSpPr txBox="1"/>
          <p:nvPr>
            <p:ph type="title"/>
          </p:nvPr>
        </p:nvSpPr>
        <p:spPr>
          <a:xfrm rot="5400000">
            <a:off x="7133450" y="1956675"/>
            <a:ext cx="5811900" cy="2628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 type="body"/>
          </p:nvPr>
        </p:nvSpPr>
        <p:spPr>
          <a:xfrm rot="5400000">
            <a:off x="1799350" y="-596125"/>
            <a:ext cx="5811900" cy="7734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3" name="Google Shape;83;p1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p:cSld name="Text Slide">
    <p:bg>
      <p:bgPr>
        <a:solidFill>
          <a:schemeClr val="lt1"/>
        </a:solidFill>
      </p:bgPr>
    </p:bg>
    <p:spTree>
      <p:nvGrpSpPr>
        <p:cNvPr id="86" name="Shape 86"/>
        <p:cNvGrpSpPr/>
        <p:nvPr/>
      </p:nvGrpSpPr>
      <p:grpSpPr>
        <a:xfrm>
          <a:off x="0" y="0"/>
          <a:ext cx="0" cy="0"/>
          <a:chOff x="0" y="0"/>
          <a:chExt cx="0" cy="0"/>
        </a:xfrm>
      </p:grpSpPr>
      <p:pic>
        <p:nvPicPr>
          <p:cNvPr descr="A picture containing text, sign, seat&#10;&#10;Description automatically generated" id="87" name="Google Shape;87;p14"/>
          <p:cNvPicPr preferRelativeResize="0"/>
          <p:nvPr/>
        </p:nvPicPr>
        <p:blipFill rotWithShape="1">
          <a:blip r:embed="rId2">
            <a:alphaModFix/>
          </a:blip>
          <a:srcRect b="0" l="0" r="0" t="0"/>
          <a:stretch/>
        </p:blipFill>
        <p:spPr>
          <a:xfrm>
            <a:off x="8576869" y="5603082"/>
            <a:ext cx="3413760" cy="1828800"/>
          </a:xfrm>
          <a:prstGeom prst="rect">
            <a:avLst/>
          </a:prstGeom>
          <a:noFill/>
          <a:ln>
            <a:noFill/>
          </a:ln>
        </p:spPr>
      </p:pic>
      <p:sp>
        <p:nvSpPr>
          <p:cNvPr id="88" name="Google Shape;88;p14"/>
          <p:cNvSpPr/>
          <p:nvPr/>
        </p:nvSpPr>
        <p:spPr>
          <a:xfrm>
            <a:off x="0" y="0"/>
            <a:ext cx="198000" cy="6858000"/>
          </a:xfrm>
          <a:prstGeom prst="rect">
            <a:avLst/>
          </a:prstGeom>
          <a:solidFill>
            <a:srgbClr val="2776B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p:cSld name="Divider 2">
    <p:spTree>
      <p:nvGrpSpPr>
        <p:cNvPr id="89" name="Shape 89"/>
        <p:cNvGrpSpPr/>
        <p:nvPr/>
      </p:nvGrpSpPr>
      <p:grpSpPr>
        <a:xfrm>
          <a:off x="0" y="0"/>
          <a:ext cx="0" cy="0"/>
          <a:chOff x="0" y="0"/>
          <a:chExt cx="0" cy="0"/>
        </a:xfrm>
      </p:grpSpPr>
      <p:pic>
        <p:nvPicPr>
          <p:cNvPr descr="ANation-PPT22_5.jpg" id="90" name="Google Shape;90;p15"/>
          <p:cNvPicPr preferRelativeResize="0"/>
          <p:nvPr/>
        </p:nvPicPr>
        <p:blipFill rotWithShape="1">
          <a:blip r:embed="rId2">
            <a:alphaModFix/>
          </a:blip>
          <a:srcRect b="0" l="0" r="0" t="0"/>
          <a:stretch/>
        </p:blipFill>
        <p:spPr>
          <a:xfrm>
            <a:off x="1" y="1"/>
            <a:ext cx="12191999" cy="6858001"/>
          </a:xfrm>
          <a:prstGeom prst="rect">
            <a:avLst/>
          </a:prstGeom>
          <a:noFill/>
          <a:ln>
            <a:noFill/>
          </a:ln>
        </p:spPr>
      </p:pic>
      <p:sp>
        <p:nvSpPr>
          <p:cNvPr id="91" name="Google Shape;91;p15"/>
          <p:cNvSpPr/>
          <p:nvPr/>
        </p:nvSpPr>
        <p:spPr>
          <a:xfrm>
            <a:off x="1" y="0"/>
            <a:ext cx="2012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2" name="Google Shape;92;p15"/>
          <p:cNvSpPr/>
          <p:nvPr/>
        </p:nvSpPr>
        <p:spPr>
          <a:xfrm>
            <a:off x="4851172" y="0"/>
            <a:ext cx="73408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Text&#10;&#10;Description automatically generated with low confidence" id="93" name="Google Shape;93;p15"/>
          <p:cNvPicPr preferRelativeResize="0"/>
          <p:nvPr/>
        </p:nvPicPr>
        <p:blipFill rotWithShape="1">
          <a:blip r:embed="rId3">
            <a:alphaModFix/>
          </a:blip>
          <a:srcRect b="0" l="0" r="0" t="0"/>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3">
  <p:cSld name="Divider 3">
    <p:spTree>
      <p:nvGrpSpPr>
        <p:cNvPr id="94" name="Shape 94"/>
        <p:cNvGrpSpPr/>
        <p:nvPr/>
      </p:nvGrpSpPr>
      <p:grpSpPr>
        <a:xfrm>
          <a:off x="0" y="0"/>
          <a:ext cx="0" cy="0"/>
          <a:chOff x="0" y="0"/>
          <a:chExt cx="0" cy="0"/>
        </a:xfrm>
      </p:grpSpPr>
      <p:pic>
        <p:nvPicPr>
          <p:cNvPr descr="ANation-PPT22_6.jpg" id="95" name="Google Shape;95;p16"/>
          <p:cNvPicPr preferRelativeResize="0"/>
          <p:nvPr/>
        </p:nvPicPr>
        <p:blipFill rotWithShape="1">
          <a:blip r:embed="rId2">
            <a:alphaModFix/>
          </a:blip>
          <a:srcRect b="0" l="0" r="0" t="0"/>
          <a:stretch/>
        </p:blipFill>
        <p:spPr>
          <a:xfrm>
            <a:off x="1" y="1"/>
            <a:ext cx="12191999" cy="6858001"/>
          </a:xfrm>
          <a:prstGeom prst="rect">
            <a:avLst/>
          </a:prstGeom>
          <a:noFill/>
          <a:ln>
            <a:noFill/>
          </a:ln>
        </p:spPr>
      </p:pic>
      <p:sp>
        <p:nvSpPr>
          <p:cNvPr id="96" name="Google Shape;96;p16"/>
          <p:cNvSpPr/>
          <p:nvPr/>
        </p:nvSpPr>
        <p:spPr>
          <a:xfrm>
            <a:off x="1" y="0"/>
            <a:ext cx="2012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7" name="Google Shape;97;p16"/>
          <p:cNvSpPr/>
          <p:nvPr/>
        </p:nvSpPr>
        <p:spPr>
          <a:xfrm>
            <a:off x="4851172" y="0"/>
            <a:ext cx="73408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Text&#10;&#10;Description automatically generated with low confidence" id="98" name="Google Shape;98;p16"/>
          <p:cNvPicPr preferRelativeResize="0"/>
          <p:nvPr/>
        </p:nvPicPr>
        <p:blipFill rotWithShape="1">
          <a:blip r:embed="rId3">
            <a:alphaModFix/>
          </a:blip>
          <a:srcRect b="0" l="0" r="0" t="0"/>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1">
  <p:cSld name="Divider 1">
    <p:spTree>
      <p:nvGrpSpPr>
        <p:cNvPr id="99" name="Shape 99"/>
        <p:cNvGrpSpPr/>
        <p:nvPr/>
      </p:nvGrpSpPr>
      <p:grpSpPr>
        <a:xfrm>
          <a:off x="0" y="0"/>
          <a:ext cx="0" cy="0"/>
          <a:chOff x="0" y="0"/>
          <a:chExt cx="0" cy="0"/>
        </a:xfrm>
      </p:grpSpPr>
      <p:pic>
        <p:nvPicPr>
          <p:cNvPr descr="ANation-PPT22_2.jpg" id="100" name="Google Shape;100;p17"/>
          <p:cNvPicPr preferRelativeResize="0"/>
          <p:nvPr/>
        </p:nvPicPr>
        <p:blipFill rotWithShape="1">
          <a:blip r:embed="rId2">
            <a:alphaModFix/>
          </a:blip>
          <a:srcRect b="0" l="0" r="0" t="0"/>
          <a:stretch/>
        </p:blipFill>
        <p:spPr>
          <a:xfrm>
            <a:off x="1" y="1"/>
            <a:ext cx="12191999" cy="6858001"/>
          </a:xfrm>
          <a:prstGeom prst="rect">
            <a:avLst/>
          </a:prstGeom>
          <a:noFill/>
          <a:ln>
            <a:noFill/>
          </a:ln>
        </p:spPr>
      </p:pic>
      <p:sp>
        <p:nvSpPr>
          <p:cNvPr id="101" name="Google Shape;101;p17"/>
          <p:cNvSpPr/>
          <p:nvPr/>
        </p:nvSpPr>
        <p:spPr>
          <a:xfrm>
            <a:off x="1" y="0"/>
            <a:ext cx="2012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2" name="Google Shape;102;p17"/>
          <p:cNvSpPr/>
          <p:nvPr/>
        </p:nvSpPr>
        <p:spPr>
          <a:xfrm>
            <a:off x="4851172" y="0"/>
            <a:ext cx="73408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Text&#10;&#10;Description automatically generated with low confidence" id="103" name="Google Shape;103;p17"/>
          <p:cNvPicPr preferRelativeResize="0"/>
          <p:nvPr/>
        </p:nvPicPr>
        <p:blipFill rotWithShape="1">
          <a:blip r:embed="rId3">
            <a:alphaModFix/>
          </a:blip>
          <a:srcRect b="0" l="0" r="0" t="0"/>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4">
  <p:cSld name="Divider 4">
    <p:spTree>
      <p:nvGrpSpPr>
        <p:cNvPr id="104" name="Shape 104"/>
        <p:cNvGrpSpPr/>
        <p:nvPr/>
      </p:nvGrpSpPr>
      <p:grpSpPr>
        <a:xfrm>
          <a:off x="0" y="0"/>
          <a:ext cx="0" cy="0"/>
          <a:chOff x="0" y="0"/>
          <a:chExt cx="0" cy="0"/>
        </a:xfrm>
      </p:grpSpPr>
      <p:pic>
        <p:nvPicPr>
          <p:cNvPr descr="ANation-PPT2_7.jpg" id="105" name="Google Shape;105;p18"/>
          <p:cNvPicPr preferRelativeResize="0"/>
          <p:nvPr/>
        </p:nvPicPr>
        <p:blipFill rotWithShape="1">
          <a:blip r:embed="rId2">
            <a:alphaModFix/>
          </a:blip>
          <a:srcRect b="0" l="0" r="0" t="0"/>
          <a:stretch/>
        </p:blipFill>
        <p:spPr>
          <a:xfrm>
            <a:off x="1" y="1"/>
            <a:ext cx="12191999" cy="6858001"/>
          </a:xfrm>
          <a:prstGeom prst="rect">
            <a:avLst/>
          </a:prstGeom>
          <a:noFill/>
          <a:ln>
            <a:noFill/>
          </a:ln>
        </p:spPr>
      </p:pic>
      <p:sp>
        <p:nvSpPr>
          <p:cNvPr id="106" name="Google Shape;106;p18"/>
          <p:cNvSpPr/>
          <p:nvPr/>
        </p:nvSpPr>
        <p:spPr>
          <a:xfrm>
            <a:off x="1" y="0"/>
            <a:ext cx="2012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p18"/>
          <p:cNvSpPr/>
          <p:nvPr/>
        </p:nvSpPr>
        <p:spPr>
          <a:xfrm>
            <a:off x="4851172" y="0"/>
            <a:ext cx="73408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Text&#10;&#10;Description automatically generated with low confidence" id="108" name="Google Shape;108;p18"/>
          <p:cNvPicPr preferRelativeResize="0"/>
          <p:nvPr/>
        </p:nvPicPr>
        <p:blipFill rotWithShape="1">
          <a:blip r:embed="rId3">
            <a:alphaModFix/>
          </a:blip>
          <a:srcRect b="0" l="0" r="0" t="0"/>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50.png"/><Relationship Id="rId6" Type="http://schemas.openxmlformats.org/officeDocument/2006/relationships/image" Target="../media/image22.png"/><Relationship Id="rId7"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8.png"/><Relationship Id="rId9" Type="http://schemas.openxmlformats.org/officeDocument/2006/relationships/image" Target="../media/image28.png"/><Relationship Id="rId5" Type="http://schemas.openxmlformats.org/officeDocument/2006/relationships/image" Target="../media/image21.png"/><Relationship Id="rId6" Type="http://schemas.openxmlformats.org/officeDocument/2006/relationships/image" Target="../media/image29.png"/><Relationship Id="rId7" Type="http://schemas.openxmlformats.org/officeDocument/2006/relationships/image" Target="../media/image20.png"/><Relationship Id="rId8"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0.png"/><Relationship Id="rId5"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7.png"/><Relationship Id="rId5"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54.png"/><Relationship Id="rId6"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3.png"/><Relationship Id="rId5"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image" Target="../media/image46.png"/><Relationship Id="rId6"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58.png"/><Relationship Id="rId5" Type="http://schemas.openxmlformats.org/officeDocument/2006/relationships/image" Target="../media/image5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2.png"/><Relationship Id="rId5"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56.png"/><Relationship Id="rId5"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idx="4294967295" type="ctrTitle"/>
          </p:nvPr>
        </p:nvSpPr>
        <p:spPr>
          <a:xfrm>
            <a:off x="5742834" y="2054277"/>
            <a:ext cx="4925167" cy="319445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300"/>
              <a:buFont typeface="Calibri"/>
              <a:buNone/>
            </a:pPr>
            <a:r>
              <a:rPr b="1" i="0" lang="en-US" sz="3200" u="none" cap="none" strike="noStrike">
                <a:solidFill>
                  <a:srgbClr val="417DBF"/>
                </a:solidFill>
                <a:latin typeface="Verdana"/>
                <a:ea typeface="Verdana"/>
                <a:cs typeface="Verdana"/>
                <a:sym typeface="Verdana"/>
              </a:rPr>
              <a:t>6</a:t>
            </a:r>
            <a:r>
              <a:rPr b="1" baseline="30000" i="0" lang="en-US" sz="3200" u="none" cap="none" strike="noStrike">
                <a:solidFill>
                  <a:srgbClr val="417DBF"/>
                </a:solidFill>
                <a:latin typeface="Verdana"/>
                <a:ea typeface="Verdana"/>
                <a:cs typeface="Verdana"/>
                <a:sym typeface="Verdana"/>
              </a:rPr>
              <a:t>th</a:t>
            </a:r>
            <a:r>
              <a:rPr b="1" i="0" lang="en-US" sz="3200" u="none" cap="none" strike="noStrike">
                <a:solidFill>
                  <a:srgbClr val="417DBF"/>
                </a:solidFill>
                <a:latin typeface="Verdana"/>
                <a:ea typeface="Verdana"/>
                <a:cs typeface="Verdana"/>
                <a:sym typeface="Verdana"/>
              </a:rPr>
              <a:t> Grade Math</a:t>
            </a:r>
            <a:br>
              <a:rPr b="1" i="0" lang="en-US" sz="3200" u="none" cap="none" strike="noStrike">
                <a:solidFill>
                  <a:srgbClr val="417DBF"/>
                </a:solidFill>
                <a:latin typeface="Verdana"/>
                <a:ea typeface="Verdana"/>
                <a:cs typeface="Verdana"/>
                <a:sym typeface="Verdana"/>
              </a:rPr>
            </a:br>
            <a:endParaRPr b="1" i="0" sz="3200" u="none" cap="none" strike="noStrike">
              <a:solidFill>
                <a:srgbClr val="417DBF"/>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3300"/>
              <a:buFont typeface="Calibri"/>
              <a:buNone/>
            </a:pPr>
            <a:r>
              <a:rPr b="1" i="0" lang="en-US" sz="3200" u="none" cap="none" strike="noStrike">
                <a:solidFill>
                  <a:srgbClr val="417DBF"/>
                </a:solidFill>
                <a:latin typeface="Verdana"/>
                <a:ea typeface="Verdana"/>
                <a:cs typeface="Verdana"/>
                <a:sym typeface="Verdana"/>
              </a:rPr>
              <a:t>Unit 12, Lesson 7</a:t>
            </a:r>
            <a:br>
              <a:rPr b="1" i="0" lang="en-US" sz="3200" u="none" cap="none" strike="noStrike">
                <a:solidFill>
                  <a:srgbClr val="417DBF"/>
                </a:solidFill>
                <a:latin typeface="Verdana"/>
                <a:ea typeface="Verdana"/>
                <a:cs typeface="Verdana"/>
                <a:sym typeface="Verdana"/>
              </a:rPr>
            </a:br>
            <a:br>
              <a:rPr b="1" i="0" lang="en-US" sz="3200" u="none" cap="none" strike="noStrike">
                <a:solidFill>
                  <a:srgbClr val="417DBF"/>
                </a:solidFill>
                <a:latin typeface="Verdana"/>
                <a:ea typeface="Verdana"/>
                <a:cs typeface="Verdana"/>
                <a:sym typeface="Verdana"/>
              </a:rPr>
            </a:br>
            <a:r>
              <a:rPr b="1" i="0" lang="en-US" sz="3200" u="none" cap="none" strike="noStrike">
                <a:solidFill>
                  <a:srgbClr val="417DBF"/>
                </a:solidFill>
                <a:latin typeface="Verdana"/>
                <a:ea typeface="Verdana"/>
                <a:cs typeface="Verdana"/>
                <a:sym typeface="Verdana"/>
              </a:rPr>
              <a:t>Solving One-Step Equations in One Variable Using Addition and Subtraction – Part 1</a:t>
            </a:r>
            <a:br>
              <a:rPr b="1" i="0" lang="en-US" sz="3200" u="none" cap="none" strike="noStrike">
                <a:solidFill>
                  <a:srgbClr val="417DBF"/>
                </a:solidFill>
                <a:latin typeface="Verdana"/>
                <a:ea typeface="Verdana"/>
                <a:cs typeface="Verdana"/>
                <a:sym typeface="Verdana"/>
              </a:rPr>
            </a:br>
            <a:br>
              <a:rPr b="1" i="0" lang="en-US" sz="3200" u="none" cap="none" strike="noStrike">
                <a:solidFill>
                  <a:srgbClr val="417DBF"/>
                </a:solidFill>
                <a:latin typeface="Verdana"/>
                <a:ea typeface="Verdana"/>
                <a:cs typeface="Verdana"/>
                <a:sym typeface="Verdana"/>
              </a:rPr>
            </a:br>
            <a:r>
              <a:rPr b="1" i="0" lang="en-US" sz="2000" u="none" cap="none" strike="noStrike">
                <a:solidFill>
                  <a:srgbClr val="417DBF"/>
                </a:solidFill>
                <a:latin typeface="Verdana"/>
                <a:ea typeface="Verdana"/>
                <a:cs typeface="Verdana"/>
                <a:sym typeface="Verdana"/>
              </a:rPr>
              <a:t>Volume 2, pg. 313</a:t>
            </a:r>
            <a:endParaRPr/>
          </a:p>
          <a:p>
            <a:pPr indent="0" lvl="0" marL="0" marR="0" rtl="0" algn="ctr">
              <a:lnSpc>
                <a:spcPct val="100000"/>
              </a:lnSpc>
              <a:spcBef>
                <a:spcPts val="0"/>
              </a:spcBef>
              <a:spcAft>
                <a:spcPts val="0"/>
              </a:spcAft>
              <a:buClr>
                <a:srgbClr val="000000"/>
              </a:buClr>
              <a:buSzPts val="3300"/>
              <a:buFont typeface="Calibri"/>
              <a:buNone/>
            </a:pPr>
            <a:r>
              <a:t/>
            </a:r>
            <a:endParaRPr b="1" i="0" sz="2800" u="none" cap="none" strike="noStrike">
              <a:solidFill>
                <a:srgbClr val="417DBF"/>
              </a:solidFill>
              <a:latin typeface="Verdana"/>
              <a:ea typeface="Verdana"/>
              <a:cs typeface="Verdana"/>
              <a:sym typeface="Verdana"/>
            </a:endParaRPr>
          </a:p>
          <a:p>
            <a:pPr indent="0" lvl="0" marL="0" marR="0" rtl="0" algn="ctr">
              <a:lnSpc>
                <a:spcPct val="75000"/>
              </a:lnSpc>
              <a:spcBef>
                <a:spcPts val="0"/>
              </a:spcBef>
              <a:spcAft>
                <a:spcPts val="0"/>
              </a:spcAft>
              <a:buClr>
                <a:schemeClr val="dk1"/>
              </a:buClr>
              <a:buSzPts val="3300"/>
              <a:buFont typeface="Calibri"/>
              <a:buNone/>
            </a:pPr>
            <a:r>
              <a:t/>
            </a:r>
            <a:endParaRPr b="0" i="0" sz="2400" u="none" cap="none" strike="noStrike">
              <a:solidFill>
                <a:srgbClr val="417DBF"/>
              </a:solidFill>
              <a:latin typeface="Calibri"/>
              <a:ea typeface="Calibri"/>
              <a:cs typeface="Calibri"/>
              <a:sym typeface="Calibri"/>
            </a:endParaRPr>
          </a:p>
        </p:txBody>
      </p:sp>
      <p:sp>
        <p:nvSpPr>
          <p:cNvPr id="114" name="Google Shape;114;p19"/>
          <p:cNvSpPr/>
          <p:nvPr/>
        </p:nvSpPr>
        <p:spPr>
          <a:xfrm>
            <a:off x="0" y="0"/>
            <a:ext cx="4094106"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Logo&#10;&#10;Description automatically generated" id="115" name="Google Shape;115;p19"/>
          <p:cNvPicPr preferRelativeResize="0"/>
          <p:nvPr/>
        </p:nvPicPr>
        <p:blipFill rotWithShape="1">
          <a:blip r:embed="rId3">
            <a:alphaModFix/>
          </a:blip>
          <a:srcRect b="0" l="0" r="0" t="0"/>
          <a:stretch/>
        </p:blipFill>
        <p:spPr>
          <a:xfrm>
            <a:off x="411480" y="1597002"/>
            <a:ext cx="2973100" cy="3465785"/>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26B7D4"/>
              </a:solidFill>
              <a:latin typeface="Arial"/>
              <a:ea typeface="Arial"/>
              <a:cs typeface="Arial"/>
              <a:sym typeface="Arial"/>
            </a:endParaRPr>
          </a:p>
        </p:txBody>
      </p:sp>
      <p:sp>
        <p:nvSpPr>
          <p:cNvPr id="122" name="Google Shape;122;p20"/>
          <p:cNvSpPr txBox="1"/>
          <p:nvPr>
            <p:ph idx="4294967295" type="title"/>
          </p:nvPr>
        </p:nvSpPr>
        <p:spPr>
          <a:xfrm>
            <a:off x="1143000" y="-91440"/>
            <a:ext cx="75099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None/>
            </a:pPr>
            <a:r>
              <a:rPr b="1" lang="en-US" sz="4700">
                <a:solidFill>
                  <a:srgbClr val="54B5D1"/>
                </a:solidFill>
                <a:latin typeface="Verdana"/>
                <a:ea typeface="Verdana"/>
                <a:cs typeface="Verdana"/>
                <a:sym typeface="Verdana"/>
              </a:rPr>
              <a:t>Benchmark</a:t>
            </a:r>
            <a:endParaRPr b="1" sz="3700">
              <a:solidFill>
                <a:srgbClr val="54B5D1"/>
              </a:solidFill>
              <a:latin typeface="Verdana"/>
              <a:ea typeface="Verdana"/>
              <a:cs typeface="Verdana"/>
              <a:sym typeface="Verdana"/>
            </a:endParaRPr>
          </a:p>
        </p:txBody>
      </p:sp>
      <p:pic>
        <p:nvPicPr>
          <p:cNvPr id="123" name="Google Shape;123;p20"/>
          <p:cNvPicPr preferRelativeResize="0"/>
          <p:nvPr/>
        </p:nvPicPr>
        <p:blipFill rotWithShape="1">
          <a:blip r:embed="rId3">
            <a:alphaModFix/>
          </a:blip>
          <a:srcRect b="0" l="0" r="0" t="0"/>
          <a:stretch/>
        </p:blipFill>
        <p:spPr>
          <a:xfrm>
            <a:off x="356616" y="201168"/>
            <a:ext cx="747300" cy="747300"/>
          </a:xfrm>
          <a:prstGeom prst="rect">
            <a:avLst/>
          </a:prstGeom>
          <a:noFill/>
          <a:ln>
            <a:noFill/>
          </a:ln>
          <a:effectLst>
            <a:outerShdw blurRad="57150" rotWithShape="0" algn="bl" dir="5400000" dist="19050">
              <a:srgbClr val="000000">
                <a:alpha val="49803"/>
              </a:srgbClr>
            </a:outerShdw>
          </a:effectLst>
        </p:spPr>
      </p:pic>
      <p:sp>
        <p:nvSpPr>
          <p:cNvPr id="124" name="Google Shape;124;p20"/>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313</a:t>
            </a:r>
            <a:endParaRPr b="0" i="1" sz="1400" u="none" cap="none" strike="noStrike">
              <a:solidFill>
                <a:srgbClr val="000000"/>
              </a:solidFill>
              <a:latin typeface="Calibri"/>
              <a:ea typeface="Calibri"/>
              <a:cs typeface="Calibri"/>
              <a:sym typeface="Calibri"/>
            </a:endParaRPr>
          </a:p>
        </p:txBody>
      </p:sp>
      <p:pic>
        <p:nvPicPr>
          <p:cNvPr id="125" name="Google Shape;125;p20"/>
          <p:cNvPicPr preferRelativeResize="0"/>
          <p:nvPr/>
        </p:nvPicPr>
        <p:blipFill rotWithShape="1">
          <a:blip r:embed="rId4">
            <a:alphaModFix/>
          </a:blip>
          <a:srcRect b="0" l="0" r="0" t="0"/>
          <a:stretch/>
        </p:blipFill>
        <p:spPr>
          <a:xfrm>
            <a:off x="11530584" y="6200599"/>
            <a:ext cx="563850" cy="657276"/>
          </a:xfrm>
          <a:prstGeom prst="rect">
            <a:avLst/>
          </a:prstGeom>
          <a:noFill/>
          <a:ln>
            <a:noFill/>
          </a:ln>
          <a:effectLst>
            <a:outerShdw blurRad="57150" rotWithShape="0" algn="bl" dir="5400000" dist="19050">
              <a:srgbClr val="000000">
                <a:alpha val="49803"/>
              </a:srgbClr>
            </a:outerShdw>
          </a:effectLst>
        </p:spPr>
      </p:pic>
      <p:sp>
        <p:nvSpPr>
          <p:cNvPr id="126" name="Google Shape;126;p20"/>
          <p:cNvSpPr txBox="1"/>
          <p:nvPr/>
        </p:nvSpPr>
        <p:spPr>
          <a:xfrm>
            <a:off x="914400" y="1600200"/>
            <a:ext cx="10515600" cy="4205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750"/>
              </a:spcBef>
              <a:spcAft>
                <a:spcPts val="0"/>
              </a:spcAft>
              <a:buClr>
                <a:schemeClr val="dk1"/>
              </a:buClr>
              <a:buSzPts val="1100"/>
              <a:buFont typeface="Arial"/>
              <a:buNone/>
            </a:pPr>
            <a:r>
              <a:rPr b="0" i="0" lang="en-US" sz="2400" u="none" cap="none" strike="noStrike">
                <a:solidFill>
                  <a:schemeClr val="dk1"/>
                </a:solidFill>
                <a:latin typeface="Verdana"/>
                <a:ea typeface="Verdana"/>
                <a:cs typeface="Verdana"/>
                <a:sym typeface="Verdana"/>
              </a:rPr>
              <a:t>MA.6.AR.2.2</a:t>
            </a:r>
            <a:endParaRPr/>
          </a:p>
          <a:p>
            <a:pPr indent="0" lvl="0" marL="457200" marR="0" rtl="0" algn="l">
              <a:lnSpc>
                <a:spcPct val="90000"/>
              </a:lnSpc>
              <a:spcBef>
                <a:spcPts val="750"/>
              </a:spcBef>
              <a:spcAft>
                <a:spcPts val="0"/>
              </a:spcAft>
              <a:buClr>
                <a:schemeClr val="dk1"/>
              </a:buClr>
              <a:buSzPts val="2100"/>
              <a:buFont typeface="Arial"/>
              <a:buNone/>
            </a:pPr>
            <a:r>
              <a:rPr b="0" i="0" lang="en-US" sz="2400" u="none" cap="none" strike="noStrike">
                <a:solidFill>
                  <a:schemeClr val="dk1"/>
                </a:solidFill>
                <a:latin typeface="Verdana"/>
                <a:ea typeface="Verdana"/>
                <a:cs typeface="Verdana"/>
                <a:sym typeface="Verdana"/>
              </a:rPr>
              <a:t>Write and solve one-step equations in one variable within a mathematical or real-world context using addition and subtraction, where all terms and solutions are integers.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3" name="Google Shape;133;p21"/>
          <p:cNvPicPr preferRelativeResize="0"/>
          <p:nvPr/>
        </p:nvPicPr>
        <p:blipFill rotWithShape="1">
          <a:blip r:embed="rId3">
            <a:alphaModFix/>
          </a:blip>
          <a:srcRect b="0" l="0" r="0" t="0"/>
          <a:stretch/>
        </p:blipFill>
        <p:spPr>
          <a:xfrm>
            <a:off x="356616" y="201168"/>
            <a:ext cx="747300" cy="747300"/>
          </a:xfrm>
          <a:prstGeom prst="rect">
            <a:avLst/>
          </a:prstGeom>
          <a:noFill/>
          <a:ln>
            <a:noFill/>
          </a:ln>
          <a:effectLst>
            <a:outerShdw blurRad="57150" rotWithShape="0" algn="bl" dir="5400000" dist="19050">
              <a:srgbClr val="000000">
                <a:alpha val="49803"/>
              </a:srgbClr>
            </a:outerShdw>
          </a:effectLst>
        </p:spPr>
      </p:pic>
      <p:pic>
        <p:nvPicPr>
          <p:cNvPr id="134" name="Google Shape;134;p21"/>
          <p:cNvPicPr preferRelativeResize="0"/>
          <p:nvPr/>
        </p:nvPicPr>
        <p:blipFill rotWithShape="1">
          <a:blip r:embed="rId4">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35" name="Google Shape;135;p21"/>
          <p:cNvSpPr txBox="1"/>
          <p:nvPr/>
        </p:nvSpPr>
        <p:spPr>
          <a:xfrm>
            <a:off x="1143000" y="129667"/>
            <a:ext cx="105156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3000" u="none" cap="none" strike="noStrike">
                <a:solidFill>
                  <a:srgbClr val="54B5D1"/>
                </a:solidFill>
                <a:latin typeface="Verdana"/>
                <a:ea typeface="Verdana"/>
                <a:cs typeface="Verdana"/>
                <a:sym typeface="Verdana"/>
              </a:rPr>
              <a:t>Integrated Mathematical Thinking and Reasoning Standards</a:t>
            </a:r>
            <a:endParaRPr/>
          </a:p>
        </p:txBody>
      </p:sp>
      <p:sp>
        <p:nvSpPr>
          <p:cNvPr id="136" name="Google Shape;136;p21"/>
          <p:cNvSpPr txBox="1"/>
          <p:nvPr/>
        </p:nvSpPr>
        <p:spPr>
          <a:xfrm>
            <a:off x="914400" y="1596391"/>
            <a:ext cx="10515600" cy="40674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Verdana"/>
                <a:ea typeface="Verdana"/>
                <a:cs typeface="Verdana"/>
                <a:sym typeface="Verdana"/>
              </a:rPr>
              <a:t>MA.K12.MTR.1.1 Actively participate in effortful learning both individually and collectively.</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000" u="none" cap="none" strike="noStrike">
                <a:solidFill>
                  <a:schemeClr val="dk1"/>
                </a:solidFill>
                <a:latin typeface="Verdana"/>
                <a:ea typeface="Verdana"/>
                <a:cs typeface="Verdana"/>
                <a:sym typeface="Verdana"/>
              </a:rPr>
              <a:t>MA.K12.MTR.2.1 Demonstrate understanding by representing problems in multiple ways.</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000" u="none" cap="none" strike="noStrike">
                <a:solidFill>
                  <a:schemeClr val="dk1"/>
                </a:solidFill>
                <a:latin typeface="Verdana"/>
                <a:ea typeface="Verdana"/>
                <a:cs typeface="Verdana"/>
                <a:sym typeface="Verdana"/>
              </a:rPr>
              <a:t>MA.K12.MTR.4.1 Engage in discussions that reflect on the mathematical thinking of self and others.</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000" u="none" cap="none" strike="noStrike">
                <a:solidFill>
                  <a:schemeClr val="dk1"/>
                </a:solidFill>
                <a:latin typeface="Verdana"/>
                <a:ea typeface="Verdana"/>
                <a:cs typeface="Verdana"/>
                <a:sym typeface="Verdana"/>
              </a:rPr>
              <a:t>MA.K12.MTR.5.1 Use patterns and structure to help understand and connect mathematical concepts.</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000" u="none" cap="none" strike="noStrike">
                <a:solidFill>
                  <a:schemeClr val="dk1"/>
                </a:solidFill>
                <a:latin typeface="Verdana"/>
                <a:ea typeface="Verdana"/>
                <a:cs typeface="Verdana"/>
                <a:sym typeface="Verdana"/>
              </a:rPr>
              <a:t>MA.K12.MTR.6.1 Assess the reasonableness of solutions.</a:t>
            </a:r>
            <a:endParaRPr/>
          </a:p>
        </p:txBody>
      </p:sp>
      <p:sp>
        <p:nvSpPr>
          <p:cNvPr id="137" name="Google Shape;137;p21"/>
          <p:cNvSpPr txBox="1"/>
          <p:nvPr/>
        </p:nvSpPr>
        <p:spPr>
          <a:xfrm>
            <a:off x="8897112" y="6455664"/>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313</a:t>
            </a:r>
            <a:endParaRPr b="0" i="1"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highlight>
                <a:srgbClr val="FFFF00"/>
              </a:highlight>
              <a:latin typeface="Arial"/>
              <a:ea typeface="Arial"/>
              <a:cs typeface="Arial"/>
              <a:sym typeface="Arial"/>
            </a:endParaRPr>
          </a:p>
        </p:txBody>
      </p:sp>
      <p:pic>
        <p:nvPicPr>
          <p:cNvPr id="144" name="Google Shape;144;p22"/>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45" name="Google Shape;145;p22"/>
          <p:cNvSpPr txBox="1"/>
          <p:nvPr/>
        </p:nvSpPr>
        <p:spPr>
          <a:xfrm>
            <a:off x="1143000" y="30660"/>
            <a:ext cx="79584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4700" u="none" cap="none" strike="noStrike">
                <a:solidFill>
                  <a:srgbClr val="52BDA6"/>
                </a:solidFill>
                <a:latin typeface="Verdana"/>
                <a:ea typeface="Verdana"/>
                <a:cs typeface="Verdana"/>
                <a:sym typeface="Verdana"/>
              </a:rPr>
              <a:t>Learning Target</a:t>
            </a:r>
            <a:endParaRPr/>
          </a:p>
        </p:txBody>
      </p:sp>
      <p:pic>
        <p:nvPicPr>
          <p:cNvPr id="146" name="Google Shape;146;p22"/>
          <p:cNvPicPr preferRelativeResize="0"/>
          <p:nvPr/>
        </p:nvPicPr>
        <p:blipFill rotWithShape="1">
          <a:blip r:embed="rId4">
            <a:alphaModFix/>
          </a:blip>
          <a:srcRect b="0" l="0" r="0" t="0"/>
          <a:stretch/>
        </p:blipFill>
        <p:spPr>
          <a:xfrm>
            <a:off x="356616" y="201168"/>
            <a:ext cx="747300" cy="747300"/>
          </a:xfrm>
          <a:prstGeom prst="rect">
            <a:avLst/>
          </a:prstGeom>
          <a:noFill/>
          <a:ln>
            <a:noFill/>
          </a:ln>
          <a:effectLst>
            <a:outerShdw blurRad="50800" rotWithShape="0" algn="tl" dir="2700000" dist="38100">
              <a:srgbClr val="000000">
                <a:alpha val="40000"/>
              </a:srgbClr>
            </a:outerShdw>
          </a:effectLst>
        </p:spPr>
      </p:pic>
      <p:sp>
        <p:nvSpPr>
          <p:cNvPr id="147" name="Google Shape;147;p22"/>
          <p:cNvSpPr txBox="1"/>
          <p:nvPr/>
        </p:nvSpPr>
        <p:spPr>
          <a:xfrm>
            <a:off x="914400" y="1547093"/>
            <a:ext cx="10515600" cy="449886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Noto Sans Symbols"/>
              <a:buChar char="❑"/>
            </a:pPr>
            <a:r>
              <a:rPr b="0" i="0" lang="en-US" sz="2400" u="none" cap="none" strike="noStrike">
                <a:solidFill>
                  <a:srgbClr val="000000"/>
                </a:solidFill>
                <a:latin typeface="Verdana"/>
                <a:ea typeface="Verdana"/>
                <a:cs typeface="Verdana"/>
                <a:sym typeface="Verdana"/>
              </a:rPr>
              <a:t> I can solve addition and subtraction one-step equations in one variable using manipulatives, drawings, and number lines to show the inverse operations. </a:t>
            </a:r>
            <a:endParaRPr/>
          </a:p>
        </p:txBody>
      </p:sp>
      <p:sp>
        <p:nvSpPr>
          <p:cNvPr id="148" name="Google Shape;148;p22"/>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313</a:t>
            </a:r>
            <a:endParaRPr b="0" i="1"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55" name="Google Shape;155;p23"/>
          <p:cNvPicPr preferRelativeResize="0"/>
          <p:nvPr/>
        </p:nvPicPr>
        <p:blipFill rotWithShape="1">
          <a:blip r:embed="rId3">
            <a:alphaModFix/>
          </a:blip>
          <a:srcRect b="0" l="0" r="0" t="0"/>
          <a:stretch/>
        </p:blipFill>
        <p:spPr>
          <a:xfrm>
            <a:off x="11530584" y="6199632"/>
            <a:ext cx="563850" cy="657276"/>
          </a:xfrm>
          <a:prstGeom prst="rect">
            <a:avLst/>
          </a:prstGeom>
          <a:noFill/>
          <a:ln>
            <a:noFill/>
          </a:ln>
          <a:effectLst>
            <a:outerShdw blurRad="57150" rotWithShape="0" algn="bl" dir="5400000" dist="19050">
              <a:srgbClr val="000000">
                <a:alpha val="49803"/>
              </a:srgbClr>
            </a:outerShdw>
          </a:effectLst>
        </p:spPr>
      </p:pic>
      <p:pic>
        <p:nvPicPr>
          <p:cNvPr id="156" name="Google Shape;156;p23"/>
          <p:cNvPicPr preferRelativeResize="0"/>
          <p:nvPr/>
        </p:nvPicPr>
        <p:blipFill rotWithShape="1">
          <a:blip r:embed="rId4">
            <a:alphaModFix/>
          </a:blip>
          <a:srcRect b="0" l="0" r="0" t="0"/>
          <a:stretch/>
        </p:blipFill>
        <p:spPr>
          <a:xfrm>
            <a:off x="3054096" y="2770632"/>
            <a:ext cx="1031750" cy="1031750"/>
          </a:xfrm>
          <a:prstGeom prst="rect">
            <a:avLst/>
          </a:prstGeom>
          <a:noFill/>
          <a:ln>
            <a:noFill/>
          </a:ln>
          <a:effectLst>
            <a:outerShdw blurRad="50800" rotWithShape="0" algn="tl" dir="2700000" dist="38100">
              <a:srgbClr val="000000">
                <a:alpha val="40000"/>
              </a:srgbClr>
            </a:outerShdw>
          </a:effectLst>
        </p:spPr>
      </p:pic>
      <p:sp>
        <p:nvSpPr>
          <p:cNvPr id="157" name="Google Shape;157;p23"/>
          <p:cNvSpPr txBox="1"/>
          <p:nvPr>
            <p:ph idx="4294967295" type="title"/>
          </p:nvPr>
        </p:nvSpPr>
        <p:spPr>
          <a:xfrm>
            <a:off x="4087368" y="2770632"/>
            <a:ext cx="4048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800"/>
              <a:buNone/>
            </a:pPr>
            <a:r>
              <a:rPr b="1" lang="en-US" sz="5500">
                <a:solidFill>
                  <a:srgbClr val="3F2A67"/>
                </a:solidFill>
                <a:latin typeface="Verdana"/>
                <a:ea typeface="Verdana"/>
                <a:cs typeface="Verdana"/>
                <a:sym typeface="Verdana"/>
              </a:rPr>
              <a:t>Warm-Up</a:t>
            </a:r>
            <a:endParaRPr b="1" sz="5100">
              <a:solidFill>
                <a:srgbClr val="3F2A67"/>
              </a:solidFill>
              <a:latin typeface="Verdana"/>
              <a:ea typeface="Verdana"/>
              <a:cs typeface="Verdana"/>
              <a:sym typeface="Verdana"/>
            </a:endParaRPr>
          </a:p>
        </p:txBody>
      </p:sp>
      <p:sp>
        <p:nvSpPr>
          <p:cNvPr id="158" name="Google Shape;158;p23"/>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313</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65" name="Google Shape;165;p24"/>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66" name="Google Shape;166;p24"/>
          <p:cNvSpPr txBox="1"/>
          <p:nvPr/>
        </p:nvSpPr>
        <p:spPr>
          <a:xfrm>
            <a:off x="1143000" y="60325"/>
            <a:ext cx="105156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3200" u="none" cap="none" strike="noStrike">
                <a:solidFill>
                  <a:srgbClr val="3F2A67"/>
                </a:solidFill>
                <a:latin typeface="Verdana"/>
                <a:ea typeface="Verdana"/>
                <a:cs typeface="Verdana"/>
                <a:sym typeface="Verdana"/>
              </a:rPr>
              <a:t>12.7.1 Warm-Up: Are They Inverses?</a:t>
            </a:r>
            <a:endParaRPr/>
          </a:p>
        </p:txBody>
      </p:sp>
      <p:pic>
        <p:nvPicPr>
          <p:cNvPr id="167" name="Google Shape;167;p24"/>
          <p:cNvPicPr preferRelativeResize="0"/>
          <p:nvPr/>
        </p:nvPicPr>
        <p:blipFill rotWithShape="1">
          <a:blip r:embed="rId4">
            <a:alphaModFix/>
          </a:blip>
          <a:srcRect b="0" l="0" r="0" t="0"/>
          <a:stretch/>
        </p:blipFill>
        <p:spPr>
          <a:xfrm>
            <a:off x="356616" y="201168"/>
            <a:ext cx="747300" cy="747300"/>
          </a:xfrm>
          <a:prstGeom prst="rect">
            <a:avLst/>
          </a:prstGeom>
          <a:noFill/>
          <a:ln>
            <a:noFill/>
          </a:ln>
          <a:effectLst>
            <a:outerShdw blurRad="50800" rotWithShape="0" algn="tl" dir="2700000" dist="38100">
              <a:srgbClr val="000000">
                <a:alpha val="40000"/>
              </a:srgbClr>
            </a:outerShdw>
          </a:effectLst>
        </p:spPr>
      </p:pic>
      <p:sp>
        <p:nvSpPr>
          <p:cNvPr id="168" name="Google Shape;168;p24"/>
          <p:cNvSpPr/>
          <p:nvPr/>
        </p:nvSpPr>
        <p:spPr>
          <a:xfrm>
            <a:off x="914400" y="1532141"/>
            <a:ext cx="10515600" cy="10156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Verdana"/>
                <a:ea typeface="Verdana"/>
                <a:cs typeface="Verdana"/>
                <a:sym typeface="Verdana"/>
              </a:rPr>
              <a:t>Angelica and Felipe were working on a project in art class. They were given the images below and instructed to explain whether or not the images are inverses.</a:t>
            </a:r>
            <a:endParaRPr/>
          </a:p>
        </p:txBody>
      </p:sp>
      <p:sp>
        <p:nvSpPr>
          <p:cNvPr id="169" name="Google Shape;169;p24"/>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313</a:t>
            </a:r>
            <a:endParaRPr b="0" i="1" sz="1400" u="none" cap="none" strike="noStrike">
              <a:solidFill>
                <a:srgbClr val="000000"/>
              </a:solidFill>
              <a:latin typeface="Calibri"/>
              <a:ea typeface="Calibri"/>
              <a:cs typeface="Calibri"/>
              <a:sym typeface="Calibri"/>
            </a:endParaRPr>
          </a:p>
        </p:txBody>
      </p:sp>
      <p:graphicFrame>
        <p:nvGraphicFramePr>
          <p:cNvPr id="170" name="Google Shape;170;p24"/>
          <p:cNvGraphicFramePr/>
          <p:nvPr/>
        </p:nvGraphicFramePr>
        <p:xfrm>
          <a:off x="2660015" y="2982775"/>
          <a:ext cx="3000000" cy="3000000"/>
        </p:xfrm>
        <a:graphic>
          <a:graphicData uri="http://schemas.openxmlformats.org/drawingml/2006/table">
            <a:tbl>
              <a:tblPr bandRow="1" firstCol="1" firstRow="1">
                <a:noFill/>
                <a:tableStyleId>{4B7F7EE2-9108-44D5-80AB-6710C30C7EFF}</a:tableStyleId>
              </a:tblPr>
              <a:tblGrid>
                <a:gridCol w="3753475"/>
                <a:gridCol w="3118475"/>
              </a:tblGrid>
              <a:tr h="297175">
                <a:tc>
                  <a:txBody>
                    <a:bodyPr/>
                    <a:lstStyle/>
                    <a:p>
                      <a:pPr indent="0" lvl="0" marL="0" marR="0" rtl="0" algn="ctr">
                        <a:lnSpc>
                          <a:spcPct val="100000"/>
                        </a:lnSpc>
                        <a:spcBef>
                          <a:spcPts val="0"/>
                        </a:spcBef>
                        <a:spcAft>
                          <a:spcPts val="0"/>
                        </a:spcAft>
                        <a:buNone/>
                      </a:pPr>
                      <a:r>
                        <a:rPr b="1" lang="en-US" sz="1800" u="none" cap="none" strike="noStrike">
                          <a:latin typeface="Verdana"/>
                          <a:ea typeface="Verdana"/>
                          <a:cs typeface="Verdana"/>
                          <a:sym typeface="Verdana"/>
                        </a:rPr>
                        <a:t>Image 1</a:t>
                      </a:r>
                      <a:endParaRPr b="1"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c>
                  <a:txBody>
                    <a:bodyPr/>
                    <a:lstStyle/>
                    <a:p>
                      <a:pPr indent="0" lvl="0" marL="0" marR="0" rtl="0" algn="ctr">
                        <a:lnSpc>
                          <a:spcPct val="100000"/>
                        </a:lnSpc>
                        <a:spcBef>
                          <a:spcPts val="0"/>
                        </a:spcBef>
                        <a:spcAft>
                          <a:spcPts val="0"/>
                        </a:spcAft>
                        <a:buNone/>
                      </a:pPr>
                      <a:r>
                        <a:rPr b="1" lang="en-US" sz="1800" u="none" cap="none" strike="noStrike">
                          <a:latin typeface="Verdana"/>
                          <a:ea typeface="Verdana"/>
                          <a:cs typeface="Verdana"/>
                          <a:sym typeface="Verdana"/>
                        </a:rPr>
                        <a:t>Image 2</a:t>
                      </a:r>
                      <a:endParaRPr b="1"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r>
              <a:tr h="2192025">
                <a:tc>
                  <a:txBody>
                    <a:bodyPr/>
                    <a:lstStyle/>
                    <a:p>
                      <a:pPr indent="0" lvl="0" marL="0" marR="0" rtl="0" algn="ctr">
                        <a:lnSpc>
                          <a:spcPct val="100000"/>
                        </a:lnSpc>
                        <a:spcBef>
                          <a:spcPts val="0"/>
                        </a:spcBef>
                        <a:spcAft>
                          <a:spcPts val="0"/>
                        </a:spcAft>
                        <a:buNone/>
                      </a:pPr>
                      <a:r>
                        <a:rPr lang="en-US" sz="1800" u="none" cap="none" strike="noStrike">
                          <a:latin typeface="Verdana"/>
                          <a:ea typeface="Verdana"/>
                          <a:cs typeface="Verdana"/>
                          <a:sym typeface="Verdana"/>
                        </a:rPr>
                        <a:t> </a:t>
                      </a:r>
                      <a:endParaRPr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u="none" cap="none" strike="noStrike">
                          <a:latin typeface="Verdana"/>
                          <a:ea typeface="Verdana"/>
                          <a:cs typeface="Verdana"/>
                          <a:sym typeface="Verdana"/>
                        </a:rPr>
                        <a:t> </a:t>
                      </a:r>
                      <a:endParaRPr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Icon&#10;&#10;Description automatically generated" id="171" name="Google Shape;171;p24"/>
          <p:cNvPicPr preferRelativeResize="0"/>
          <p:nvPr/>
        </p:nvPicPr>
        <p:blipFill rotWithShape="1">
          <a:blip r:embed="rId5">
            <a:alphaModFix/>
          </a:blip>
          <a:srcRect b="0" l="0" r="0" t="0"/>
          <a:stretch/>
        </p:blipFill>
        <p:spPr>
          <a:xfrm>
            <a:off x="2754027" y="3420860"/>
            <a:ext cx="3553460" cy="1905000"/>
          </a:xfrm>
          <a:prstGeom prst="rect">
            <a:avLst/>
          </a:prstGeom>
          <a:noFill/>
          <a:ln>
            <a:noFill/>
          </a:ln>
        </p:spPr>
      </p:pic>
      <p:pic>
        <p:nvPicPr>
          <p:cNvPr descr="Logo, company name&#10;&#10;Description automatically generated" id="172" name="Google Shape;172;p24"/>
          <p:cNvPicPr preferRelativeResize="0"/>
          <p:nvPr/>
        </p:nvPicPr>
        <p:blipFill rotWithShape="1">
          <a:blip r:embed="rId6">
            <a:alphaModFix/>
          </a:blip>
          <a:srcRect b="0" l="0" r="0" t="0"/>
          <a:stretch/>
        </p:blipFill>
        <p:spPr>
          <a:xfrm>
            <a:off x="6820397" y="3357360"/>
            <a:ext cx="2236470" cy="203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79" name="Google Shape;179;p25"/>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80" name="Google Shape;180;p25"/>
          <p:cNvSpPr/>
          <p:nvPr/>
        </p:nvSpPr>
        <p:spPr>
          <a:xfrm>
            <a:off x="914400" y="376821"/>
            <a:ext cx="10515600" cy="489364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Verdana"/>
                <a:ea typeface="Verdana"/>
                <a:cs typeface="Verdana"/>
                <a:sym typeface="Verdana"/>
              </a:rPr>
              <a:t>Angelica said, “This was just like inverse operations from math class. Inverse means to do the reverse.”</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Verdana"/>
                <a:ea typeface="Verdana"/>
                <a:cs typeface="Verdana"/>
                <a:sym typeface="Verdana"/>
              </a:rPr>
              <a:t>Felipe responded, “But the second image is a smaller image inside of the same image, so it is not a picture of inverses.”	</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Verdana"/>
                <a:ea typeface="Verdana"/>
                <a:cs typeface="Verdana"/>
                <a:sym typeface="Verdana"/>
              </a:rPr>
              <a:t>Explain whether you agree with Angelica, Felipe, or both.</a:t>
            </a:r>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Verdana"/>
                <a:ea typeface="Verdana"/>
                <a:cs typeface="Verdana"/>
                <a:sym typeface="Verdana"/>
              </a:rPr>
              <a:t>How do you see inverses represented in either image?</a:t>
            </a:r>
            <a:endParaRPr/>
          </a:p>
        </p:txBody>
      </p:sp>
      <p:sp>
        <p:nvSpPr>
          <p:cNvPr id="181" name="Google Shape;181;p25"/>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313</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88" name="Google Shape;188;p26"/>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89" name="Google Shape;189;p26"/>
          <p:cNvSpPr txBox="1"/>
          <p:nvPr>
            <p:ph idx="4294967295" type="title"/>
          </p:nvPr>
        </p:nvSpPr>
        <p:spPr>
          <a:xfrm>
            <a:off x="4069080" y="2766145"/>
            <a:ext cx="4480750" cy="1325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96969"/>
              <a:buNone/>
            </a:pPr>
            <a:r>
              <a:rPr b="1" lang="en-US" sz="5500">
                <a:solidFill>
                  <a:srgbClr val="26B7D4"/>
                </a:solidFill>
                <a:latin typeface="Verdana"/>
                <a:ea typeface="Verdana"/>
                <a:cs typeface="Verdana"/>
                <a:sym typeface="Verdana"/>
              </a:rPr>
              <a:t>Guided Instruction</a:t>
            </a:r>
            <a:endParaRPr b="1" sz="5100">
              <a:solidFill>
                <a:srgbClr val="26B7D4"/>
              </a:solidFill>
              <a:latin typeface="Verdana"/>
              <a:ea typeface="Verdana"/>
              <a:cs typeface="Verdana"/>
              <a:sym typeface="Verdana"/>
            </a:endParaRPr>
          </a:p>
        </p:txBody>
      </p:sp>
      <p:sp>
        <p:nvSpPr>
          <p:cNvPr id="190" name="Google Shape;190;p26"/>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314</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191" name="Google Shape;191;p26"/>
          <p:cNvPicPr preferRelativeResize="0"/>
          <p:nvPr/>
        </p:nvPicPr>
        <p:blipFill rotWithShape="1">
          <a:blip r:embed="rId4">
            <a:alphaModFix/>
          </a:blip>
          <a:srcRect b="0" l="0" r="0" t="0"/>
          <a:stretch/>
        </p:blipFill>
        <p:spPr>
          <a:xfrm>
            <a:off x="3054096" y="2838137"/>
            <a:ext cx="1156733" cy="1156733"/>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7"/>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98" name="Google Shape;198;p27"/>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99" name="Google Shape;199;p27"/>
          <p:cNvSpPr txBox="1"/>
          <p:nvPr/>
        </p:nvSpPr>
        <p:spPr>
          <a:xfrm>
            <a:off x="1143000" y="-27923"/>
            <a:ext cx="105156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2400" u="none" cap="none" strike="noStrike">
                <a:solidFill>
                  <a:srgbClr val="54B5D1"/>
                </a:solidFill>
                <a:latin typeface="Verdana"/>
                <a:ea typeface="Verdana"/>
                <a:cs typeface="Verdana"/>
                <a:sym typeface="Verdana"/>
              </a:rPr>
              <a:t>12.7.2 Guided Instruction: Solving Equations with Inverse Operations</a:t>
            </a:r>
            <a:endParaRPr/>
          </a:p>
        </p:txBody>
      </p:sp>
      <p:sp>
        <p:nvSpPr>
          <p:cNvPr id="200" name="Google Shape;200;p27"/>
          <p:cNvSpPr/>
          <p:nvPr/>
        </p:nvSpPr>
        <p:spPr>
          <a:xfrm>
            <a:off x="914400" y="1331161"/>
            <a:ext cx="10515600" cy="19389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Verdana"/>
                <a:ea typeface="Verdana"/>
                <a:cs typeface="Verdana"/>
                <a:sym typeface="Verdana"/>
              </a:rPr>
              <a:t>Bar models and balance scales are useful tools for representing equations. </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Verdana"/>
                <a:ea typeface="Verdana"/>
                <a:cs typeface="Verdana"/>
                <a:sym typeface="Verdana"/>
              </a:rPr>
              <a:t> </a:t>
            </a:r>
            <a:endParaRPr/>
          </a:p>
          <a:p>
            <a:pPr indent="-457200" lvl="0" marL="457200" marR="0" rtl="0" algn="l">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Verdana"/>
                <a:ea typeface="Verdana"/>
                <a:cs typeface="Verdana"/>
                <a:sym typeface="Verdana"/>
              </a:rPr>
              <a:t>In the bar model shown, each palm tree represents 1 unit. </a:t>
            </a:r>
            <a:endParaRPr/>
          </a:p>
        </p:txBody>
      </p:sp>
      <p:sp>
        <p:nvSpPr>
          <p:cNvPr id="201" name="Google Shape;201;p27"/>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314</a:t>
            </a:r>
            <a:endParaRPr b="0" i="1" sz="1400" u="none" cap="none" strike="noStrike">
              <a:solidFill>
                <a:srgbClr val="000000"/>
              </a:solidFill>
              <a:latin typeface="Calibri"/>
              <a:ea typeface="Calibri"/>
              <a:cs typeface="Calibri"/>
              <a:sym typeface="Calibri"/>
            </a:endParaRPr>
          </a:p>
        </p:txBody>
      </p:sp>
      <p:sp>
        <p:nvSpPr>
          <p:cNvPr id="202" name="Google Shape;202;p27"/>
          <p:cNvSpPr/>
          <p:nvPr/>
        </p:nvSpPr>
        <p:spPr>
          <a:xfrm>
            <a:off x="2146200" y="2419359"/>
            <a:ext cx="8333128" cy="101927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1000"/>
              </a:spcAft>
              <a:buNone/>
            </a:pPr>
            <a:r>
              <a:rPr b="0" i="0" lang="en-US" sz="1200" u="none" cap="none" strike="noStrike">
                <a:solidFill>
                  <a:srgbClr val="000000"/>
                </a:solidFill>
                <a:latin typeface="Cambria"/>
                <a:ea typeface="Cambria"/>
                <a:cs typeface="Cambria"/>
                <a:sym typeface="Cambria"/>
              </a:rPr>
              <a:t> </a:t>
            </a:r>
            <a:endParaRPr b="0" i="0" sz="1200" u="none" cap="none" strike="noStrike">
              <a:solidFill>
                <a:srgbClr val="000000"/>
              </a:solidFill>
              <a:latin typeface="Cambria"/>
              <a:ea typeface="Cambria"/>
              <a:cs typeface="Cambria"/>
              <a:sym typeface="Cambria"/>
            </a:endParaRPr>
          </a:p>
        </p:txBody>
      </p:sp>
      <p:pic>
        <p:nvPicPr>
          <p:cNvPr descr="Icon&#10;&#10;Description automatically generated" id="203" name="Google Shape;203;p27"/>
          <p:cNvPicPr preferRelativeResize="0"/>
          <p:nvPr/>
        </p:nvPicPr>
        <p:blipFill rotWithShape="1">
          <a:blip r:embed="rId4">
            <a:alphaModFix/>
          </a:blip>
          <a:srcRect b="0" l="0" r="0" t="0"/>
          <a:stretch/>
        </p:blipFill>
        <p:spPr>
          <a:xfrm>
            <a:off x="356616" y="201168"/>
            <a:ext cx="747300" cy="747300"/>
          </a:xfrm>
          <a:prstGeom prst="rect">
            <a:avLst/>
          </a:prstGeom>
          <a:noFill/>
          <a:ln>
            <a:noFill/>
          </a:ln>
        </p:spPr>
      </p:pic>
      <p:pic>
        <p:nvPicPr>
          <p:cNvPr descr="A picture containing text&#10;&#10;Description automatically generated" id="204" name="Google Shape;204;p27"/>
          <p:cNvPicPr preferRelativeResize="0"/>
          <p:nvPr/>
        </p:nvPicPr>
        <p:blipFill rotWithShape="1">
          <a:blip r:embed="rId5">
            <a:alphaModFix/>
          </a:blip>
          <a:srcRect b="0" l="0" r="0" t="0"/>
          <a:stretch/>
        </p:blipFill>
        <p:spPr>
          <a:xfrm>
            <a:off x="3673523" y="3438636"/>
            <a:ext cx="4844955" cy="138573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11" name="Google Shape;211;p28"/>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12" name="Google Shape;212;p28"/>
          <p:cNvSpPr/>
          <p:nvPr/>
        </p:nvSpPr>
        <p:spPr>
          <a:xfrm>
            <a:off x="914400" y="902611"/>
            <a:ext cx="10515600" cy="3785652"/>
          </a:xfrm>
          <a:prstGeom prst="rect">
            <a:avLst/>
          </a:prstGeom>
          <a:blipFill rotWithShape="1">
            <a:blip r:embed="rId4">
              <a:alphaModFix/>
            </a:blip>
            <a:stretch>
              <a:fillRect b="-2006" l="-964" r="-843" t="-133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13" name="Google Shape;213;p28"/>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314</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20" name="Google Shape;220;p29"/>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21" name="Google Shape;221;p29"/>
          <p:cNvSpPr/>
          <p:nvPr/>
        </p:nvSpPr>
        <p:spPr>
          <a:xfrm>
            <a:off x="914400" y="389994"/>
            <a:ext cx="10515600" cy="8309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rabicPeriod" startAt="2"/>
            </a:pPr>
            <a:r>
              <a:rPr b="0" i="0" lang="en-US" sz="2400" u="none" cap="none" strike="noStrike">
                <a:solidFill>
                  <a:srgbClr val="000000"/>
                </a:solidFill>
                <a:latin typeface="Verdana"/>
                <a:ea typeface="Verdana"/>
                <a:cs typeface="Verdana"/>
                <a:sym typeface="Verdana"/>
              </a:rPr>
              <a:t>The bar model shown can be used to represent either an addition or subtraction equation.</a:t>
            </a:r>
            <a:endParaRPr/>
          </a:p>
        </p:txBody>
      </p:sp>
      <p:sp>
        <p:nvSpPr>
          <p:cNvPr id="222" name="Google Shape;222;p29"/>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314</a:t>
            </a:r>
            <a:endParaRPr b="0" i="1" sz="1400" u="none" cap="none" strike="noStrike">
              <a:solidFill>
                <a:srgbClr val="000000"/>
              </a:solidFill>
              <a:latin typeface="Calibri"/>
              <a:ea typeface="Calibri"/>
              <a:cs typeface="Calibri"/>
              <a:sym typeface="Calibri"/>
            </a:endParaRPr>
          </a:p>
        </p:txBody>
      </p:sp>
      <p:grpSp>
        <p:nvGrpSpPr>
          <p:cNvPr id="223" name="Google Shape;223;p29"/>
          <p:cNvGrpSpPr/>
          <p:nvPr/>
        </p:nvGrpSpPr>
        <p:grpSpPr>
          <a:xfrm>
            <a:off x="4340543" y="1807320"/>
            <a:ext cx="3510915" cy="786764"/>
            <a:chOff x="0" y="0"/>
            <a:chExt cx="3511171" cy="786806"/>
          </a:xfrm>
        </p:grpSpPr>
        <p:sp>
          <p:nvSpPr>
            <p:cNvPr id="224" name="Google Shape;224;p29"/>
            <p:cNvSpPr txBox="1"/>
            <p:nvPr/>
          </p:nvSpPr>
          <p:spPr>
            <a:xfrm>
              <a:off x="0" y="0"/>
              <a:ext cx="3511171" cy="393700"/>
            </a:xfrm>
            <a:prstGeom prst="rect">
              <a:avLst/>
            </a:prstGeom>
            <a:blipFill rotWithShape="1">
              <a:blip r:embed="rId4">
                <a:alphaModFix/>
              </a:blip>
              <a:stretch>
                <a:fillRect b="0" l="0" r="0" t="0"/>
              </a:stretch>
            </a:blip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25" name="Google Shape;225;p29"/>
            <p:cNvSpPr txBox="1"/>
            <p:nvPr/>
          </p:nvSpPr>
          <p:spPr>
            <a:xfrm>
              <a:off x="0" y="393106"/>
              <a:ext cx="1257300" cy="393700"/>
            </a:xfrm>
            <a:prstGeom prst="rect">
              <a:avLst/>
            </a:prstGeom>
            <a:blipFill rotWithShape="1">
              <a:blip r:embed="rId5">
                <a:alphaModFix/>
              </a:blip>
              <a:stretch>
                <a:fillRect b="-12498" l="0" r="0" t="0"/>
              </a:stretch>
            </a:blip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26" name="Google Shape;226;p29"/>
            <p:cNvSpPr txBox="1"/>
            <p:nvPr/>
          </p:nvSpPr>
          <p:spPr>
            <a:xfrm>
              <a:off x="1239141" y="393106"/>
              <a:ext cx="2272030" cy="393700"/>
            </a:xfrm>
            <a:prstGeom prst="rect">
              <a:avLst/>
            </a:prstGeom>
            <a:blipFill rotWithShape="1">
              <a:blip r:embed="rId6">
                <a:alphaModFix/>
              </a:blip>
              <a:stretch>
                <a:fillRect b="0" l="0" r="0" t="0"/>
              </a:stretch>
            </a:blip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grpSp>
      <p:sp>
        <p:nvSpPr>
          <p:cNvPr id="227" name="Google Shape;227;p29"/>
          <p:cNvSpPr/>
          <p:nvPr/>
        </p:nvSpPr>
        <p:spPr>
          <a:xfrm>
            <a:off x="914400" y="3064955"/>
            <a:ext cx="10515600" cy="8309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a:pPr>
            <a:r>
              <a:rPr b="0" i="0" lang="en-US" sz="2400" u="none" cap="none" strike="noStrike">
                <a:solidFill>
                  <a:srgbClr val="000000"/>
                </a:solidFill>
                <a:latin typeface="Verdana"/>
                <a:ea typeface="Verdana"/>
                <a:cs typeface="Verdana"/>
                <a:sym typeface="Verdana"/>
              </a:rPr>
              <a:t>Circle the addition equation that matches the diagram.</a:t>
            </a:r>
            <a:endParaRPr/>
          </a:p>
        </p:txBody>
      </p:sp>
      <p:graphicFrame>
        <p:nvGraphicFramePr>
          <p:cNvPr id="228" name="Google Shape;228;p29"/>
          <p:cNvGraphicFramePr/>
          <p:nvPr/>
        </p:nvGraphicFramePr>
        <p:xfrm>
          <a:off x="2212975" y="4366821"/>
          <a:ext cx="3000000" cy="3000000"/>
        </p:xfrm>
        <a:graphic>
          <a:graphicData uri="http://schemas.openxmlformats.org/drawingml/2006/table">
            <a:tbl>
              <a:tblPr bandRow="1" firstCol="1" firstRow="1">
                <a:noFill/>
                <a:tableStyleId>{4B7F7EE2-9108-44D5-80AB-6710C30C7EFF}</a:tableStyleId>
              </a:tblPr>
              <a:tblGrid>
                <a:gridCol w="2588250"/>
                <a:gridCol w="2588900"/>
                <a:gridCol w="2588900"/>
              </a:tblGrid>
              <a:tr h="304800">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29" name="Google Shape;229;p29"/>
          <p:cNvPicPr preferRelativeResize="0"/>
          <p:nvPr/>
        </p:nvPicPr>
        <p:blipFill>
          <a:blip r:embed="rId7">
            <a:alphaModFix/>
          </a:blip>
          <a:stretch>
            <a:fillRect/>
          </a:stretch>
        </p:blipFill>
        <p:spPr>
          <a:xfrm>
            <a:off x="375600" y="3895953"/>
            <a:ext cx="10606419" cy="1985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36" name="Google Shape;236;p30"/>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37" name="Google Shape;237;p30"/>
          <p:cNvSpPr/>
          <p:nvPr/>
        </p:nvSpPr>
        <p:spPr>
          <a:xfrm>
            <a:off x="914400" y="389994"/>
            <a:ext cx="10515600" cy="4708981"/>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Arial"/>
              <a:buAutoNum type="alphaLcPeriod" startAt="2"/>
            </a:pPr>
            <a:r>
              <a:rPr b="0" i="0" lang="en-US" sz="2000" u="none" cap="none" strike="noStrike">
                <a:solidFill>
                  <a:srgbClr val="000000"/>
                </a:solidFill>
                <a:latin typeface="Verdana"/>
                <a:ea typeface="Verdana"/>
                <a:cs typeface="Verdana"/>
                <a:sym typeface="Verdana"/>
              </a:rPr>
              <a:t>Write an equivalent equation using the inverse operation.</a:t>
            </a:r>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000"/>
              <a:buFont typeface="Arial"/>
              <a:buAutoNum type="alphaLcPeriod" startAt="2"/>
            </a:pPr>
            <a:r>
              <a:rPr b="0" i="0" lang="en-US" sz="2000" u="none" cap="none" strike="noStrike">
                <a:solidFill>
                  <a:srgbClr val="000000"/>
                </a:solidFill>
                <a:latin typeface="Verdana"/>
                <a:ea typeface="Verdana"/>
                <a:cs typeface="Verdana"/>
                <a:sym typeface="Verdana"/>
              </a:rPr>
              <a:t>Justify to your partner that the equation you wrote is an equivalent equation.</a:t>
            </a:r>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000"/>
              <a:buFont typeface="Arial"/>
              <a:buAutoNum type="alphaLcPeriod" startAt="2"/>
            </a:pPr>
            <a:r>
              <a:rPr b="0" i="0" lang="en-US" sz="2000" u="none" cap="none" strike="noStrike">
                <a:solidFill>
                  <a:srgbClr val="000000"/>
                </a:solidFill>
                <a:latin typeface="Verdana"/>
                <a:ea typeface="Verdana"/>
                <a:cs typeface="Verdana"/>
                <a:sym typeface="Verdana"/>
              </a:rPr>
              <a:t>What is the value of the variable, 𝑥?</a:t>
            </a:r>
            <a:endParaRPr/>
          </a:p>
        </p:txBody>
      </p:sp>
      <p:sp>
        <p:nvSpPr>
          <p:cNvPr id="238" name="Google Shape;238;p30"/>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314</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1"/>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45" name="Google Shape;245;p31"/>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46" name="Google Shape;246;p31"/>
          <p:cNvSpPr/>
          <p:nvPr/>
        </p:nvSpPr>
        <p:spPr>
          <a:xfrm>
            <a:off x="914400" y="389993"/>
            <a:ext cx="10515600" cy="156966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rabicPeriod" startAt="3"/>
            </a:pPr>
            <a:r>
              <a:rPr b="0" i="0" lang="en-US" sz="2400" u="none" cap="none" strike="noStrike">
                <a:solidFill>
                  <a:srgbClr val="000000"/>
                </a:solidFill>
                <a:latin typeface="Verdana"/>
                <a:ea typeface="Verdana"/>
                <a:cs typeface="Verdana"/>
                <a:sym typeface="Verdana"/>
              </a:rPr>
              <a:t>Two balance scales are shown. The scale on the left is unbalanced. To balance the scale, an unknown value, 𝑥, needs to be added to the </a:t>
            </a:r>
            <a:r>
              <a:rPr lang="en-US" sz="2400">
                <a:latin typeface="Verdana"/>
                <a:ea typeface="Verdana"/>
                <a:cs typeface="Verdana"/>
                <a:sym typeface="Verdana"/>
              </a:rPr>
              <a:t>right </a:t>
            </a:r>
            <a:r>
              <a:rPr b="0" i="0" lang="en-US" sz="2400" u="none" cap="none" strike="noStrike">
                <a:solidFill>
                  <a:srgbClr val="000000"/>
                </a:solidFill>
                <a:latin typeface="Verdana"/>
                <a:ea typeface="Verdana"/>
                <a:cs typeface="Verdana"/>
                <a:sym typeface="Verdana"/>
              </a:rPr>
              <a:t>side of the scale. </a:t>
            </a:r>
            <a:endParaRPr/>
          </a:p>
        </p:txBody>
      </p:sp>
      <p:sp>
        <p:nvSpPr>
          <p:cNvPr id="247" name="Google Shape;247;p31"/>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315</a:t>
            </a:r>
            <a:endParaRPr b="0" i="1" sz="1400" u="none" cap="none" strike="noStrike">
              <a:solidFill>
                <a:srgbClr val="000000"/>
              </a:solidFill>
              <a:latin typeface="Calibri"/>
              <a:ea typeface="Calibri"/>
              <a:cs typeface="Calibri"/>
              <a:sym typeface="Calibri"/>
            </a:endParaRPr>
          </a:p>
        </p:txBody>
      </p:sp>
      <p:grpSp>
        <p:nvGrpSpPr>
          <p:cNvPr id="248" name="Google Shape;248;p31"/>
          <p:cNvGrpSpPr/>
          <p:nvPr/>
        </p:nvGrpSpPr>
        <p:grpSpPr>
          <a:xfrm>
            <a:off x="2932098" y="2548848"/>
            <a:ext cx="2752090" cy="2349500"/>
            <a:chOff x="0" y="0"/>
            <a:chExt cx="2752090" cy="2349500"/>
          </a:xfrm>
        </p:grpSpPr>
        <p:pic>
          <p:nvPicPr>
            <p:cNvPr descr="Shape&#10;&#10;Description automatically generated" id="249" name="Google Shape;249;p31"/>
            <p:cNvPicPr preferRelativeResize="0"/>
            <p:nvPr/>
          </p:nvPicPr>
          <p:blipFill rotWithShape="1">
            <a:blip r:embed="rId4">
              <a:alphaModFix/>
            </a:blip>
            <a:srcRect b="0" l="0" r="0" t="0"/>
            <a:stretch/>
          </p:blipFill>
          <p:spPr>
            <a:xfrm>
              <a:off x="0" y="0"/>
              <a:ext cx="2752090" cy="2349500"/>
            </a:xfrm>
            <a:prstGeom prst="rect">
              <a:avLst/>
            </a:prstGeom>
            <a:noFill/>
            <a:ln>
              <a:noFill/>
            </a:ln>
          </p:spPr>
        </p:pic>
        <p:sp>
          <p:nvSpPr>
            <p:cNvPr id="250" name="Google Shape;250;p31"/>
            <p:cNvSpPr/>
            <p:nvPr/>
          </p:nvSpPr>
          <p:spPr>
            <a:xfrm>
              <a:off x="228600" y="546100"/>
              <a:ext cx="495300" cy="57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1" name="Google Shape;251;p31"/>
            <p:cNvSpPr/>
            <p:nvPr/>
          </p:nvSpPr>
          <p:spPr>
            <a:xfrm>
              <a:off x="1625600" y="114300"/>
              <a:ext cx="774700" cy="57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252" name="Google Shape;252;p31"/>
          <p:cNvSpPr txBox="1"/>
          <p:nvPr/>
        </p:nvSpPr>
        <p:spPr>
          <a:xfrm rot="-763949">
            <a:off x="4759013" y="2849403"/>
            <a:ext cx="317500" cy="471170"/>
          </a:xfrm>
          <a:prstGeom prst="rect">
            <a:avLst/>
          </a:prstGeom>
          <a:blipFill rotWithShape="1">
            <a:blip r:embed="rId5">
              <a:alphaModFix/>
            </a:blip>
            <a:stretch>
              <a:fillRect b="-2325" l="0" r="-17644"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53" name="Google Shape;253;p31"/>
          <p:cNvSpPr txBox="1"/>
          <p:nvPr/>
        </p:nvSpPr>
        <p:spPr>
          <a:xfrm rot="-763949">
            <a:off x="3208343" y="3191034"/>
            <a:ext cx="478790" cy="485775"/>
          </a:xfrm>
          <a:prstGeom prst="rect">
            <a:avLst/>
          </a:prstGeom>
          <a:blipFill rotWithShape="1">
            <a:blip r:embed="rId6">
              <a:alphaModFix/>
            </a:blip>
            <a:stretch>
              <a:fillRect b="0" l="0" r="-14892"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grpSp>
        <p:nvGrpSpPr>
          <p:cNvPr id="254" name="Google Shape;254;p31"/>
          <p:cNvGrpSpPr/>
          <p:nvPr/>
        </p:nvGrpSpPr>
        <p:grpSpPr>
          <a:xfrm>
            <a:off x="6585888" y="2820207"/>
            <a:ext cx="2959100" cy="2006600"/>
            <a:chOff x="0" y="0"/>
            <a:chExt cx="3378200" cy="2349500"/>
          </a:xfrm>
        </p:grpSpPr>
        <p:pic>
          <p:nvPicPr>
            <p:cNvPr descr="A picture containing text, device&#10;&#10;Description automatically generated" id="255" name="Google Shape;255;p31"/>
            <p:cNvPicPr preferRelativeResize="0"/>
            <p:nvPr/>
          </p:nvPicPr>
          <p:blipFill rotWithShape="1">
            <a:blip r:embed="rId7">
              <a:alphaModFix/>
            </a:blip>
            <a:srcRect b="0" l="0" r="0" t="0"/>
            <a:stretch/>
          </p:blipFill>
          <p:spPr>
            <a:xfrm>
              <a:off x="0" y="0"/>
              <a:ext cx="3378200" cy="2349500"/>
            </a:xfrm>
            <a:prstGeom prst="rect">
              <a:avLst/>
            </a:prstGeom>
            <a:noFill/>
            <a:ln>
              <a:noFill/>
            </a:ln>
          </p:spPr>
        </p:pic>
        <p:sp>
          <p:nvSpPr>
            <p:cNvPr id="256" name="Google Shape;256;p31"/>
            <p:cNvSpPr/>
            <p:nvPr/>
          </p:nvSpPr>
          <p:spPr>
            <a:xfrm>
              <a:off x="254000" y="101600"/>
              <a:ext cx="1092200" cy="57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7" name="Google Shape;257;p31"/>
            <p:cNvSpPr/>
            <p:nvPr/>
          </p:nvSpPr>
          <p:spPr>
            <a:xfrm>
              <a:off x="2159000" y="88900"/>
              <a:ext cx="1092200" cy="57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258" name="Google Shape;258;p31"/>
          <p:cNvSpPr txBox="1"/>
          <p:nvPr/>
        </p:nvSpPr>
        <p:spPr>
          <a:xfrm>
            <a:off x="8366744" y="2820207"/>
            <a:ext cx="1066800" cy="469900"/>
          </a:xfrm>
          <a:prstGeom prst="rect">
            <a:avLst/>
          </a:prstGeom>
          <a:blipFill rotWithShape="1">
            <a:blip r:embed="rId8">
              <a:alphaModFix/>
            </a:blip>
            <a:stretch>
              <a:fillRect b="-263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59" name="Google Shape;259;p31"/>
          <p:cNvSpPr txBox="1"/>
          <p:nvPr/>
        </p:nvSpPr>
        <p:spPr>
          <a:xfrm>
            <a:off x="6918944" y="2820207"/>
            <a:ext cx="478790" cy="482600"/>
          </a:xfrm>
          <a:prstGeom prst="rect">
            <a:avLst/>
          </a:prstGeom>
          <a:blipFill rotWithShape="1">
            <a:blip r:embed="rId9">
              <a:alphaModFix/>
            </a:blip>
            <a:stretch>
              <a:fillRect b="0" l="-5127" r="-17948"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2"/>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66" name="Google Shape;266;p32"/>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67" name="Google Shape;267;p32"/>
          <p:cNvSpPr/>
          <p:nvPr/>
        </p:nvSpPr>
        <p:spPr>
          <a:xfrm>
            <a:off x="914400" y="419022"/>
            <a:ext cx="10515600" cy="1015663"/>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Arial"/>
              <a:buAutoNum type="alphaLcPeriod"/>
            </a:pPr>
            <a:r>
              <a:rPr b="0" i="0" lang="en-US" sz="2000" u="none" cap="none" strike="noStrike">
                <a:solidFill>
                  <a:srgbClr val="000000"/>
                </a:solidFill>
                <a:latin typeface="Verdana"/>
                <a:ea typeface="Verdana"/>
                <a:cs typeface="Verdana"/>
                <a:sym typeface="Verdana"/>
              </a:rPr>
              <a:t>The equation represented by the balance scale on the right is shown. Use inverse operations to find the value of 𝑥 by completing the steps shown. </a:t>
            </a:r>
            <a:endParaRPr/>
          </a:p>
        </p:txBody>
      </p:sp>
      <p:sp>
        <p:nvSpPr>
          <p:cNvPr id="268" name="Google Shape;268;p32"/>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315</a:t>
            </a:r>
            <a:endParaRPr b="0" i="1" sz="1400" u="none" cap="none" strike="noStrike">
              <a:solidFill>
                <a:srgbClr val="000000"/>
              </a:solidFill>
              <a:latin typeface="Calibri"/>
              <a:ea typeface="Calibri"/>
              <a:cs typeface="Calibri"/>
              <a:sym typeface="Calibri"/>
            </a:endParaRPr>
          </a:p>
        </p:txBody>
      </p:sp>
      <p:graphicFrame>
        <p:nvGraphicFramePr>
          <p:cNvPr id="269" name="Google Shape;269;p32"/>
          <p:cNvGraphicFramePr/>
          <p:nvPr/>
        </p:nvGraphicFramePr>
        <p:xfrm>
          <a:off x="3320801" y="1814922"/>
          <a:ext cx="3000000" cy="3000000"/>
        </p:xfrm>
        <a:graphic>
          <a:graphicData uri="http://schemas.openxmlformats.org/drawingml/2006/table">
            <a:tbl>
              <a:tblPr bandRow="1" firstCol="1" firstRow="1">
                <a:noFill/>
                <a:tableStyleId>{4B7F7EE2-9108-44D5-80AB-6710C30C7EFF}</a:tableStyleId>
              </a:tblPr>
              <a:tblGrid>
                <a:gridCol w="5101775"/>
              </a:tblGrid>
              <a:tr h="274325">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48650">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48650">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70" name="Google Shape;270;p32"/>
          <p:cNvSpPr/>
          <p:nvPr/>
        </p:nvSpPr>
        <p:spPr>
          <a:xfrm>
            <a:off x="914400" y="3885552"/>
            <a:ext cx="10515600" cy="40011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Arial"/>
              <a:buAutoNum type="alphaLcPeriod" startAt="2"/>
            </a:pPr>
            <a:r>
              <a:rPr b="0" i="0" lang="en-US" sz="2000" u="none" cap="none" strike="noStrike">
                <a:solidFill>
                  <a:srgbClr val="000000"/>
                </a:solidFill>
                <a:latin typeface="Verdana"/>
                <a:ea typeface="Verdana"/>
                <a:cs typeface="Verdana"/>
                <a:sym typeface="Verdana"/>
              </a:rPr>
              <a:t>Rewrite the original equation, substituting the solution for 𝑥. </a:t>
            </a:r>
            <a:endParaRPr/>
          </a:p>
        </p:txBody>
      </p:sp>
      <p:pic>
        <p:nvPicPr>
          <p:cNvPr id="271" name="Google Shape;271;p32"/>
          <p:cNvPicPr preferRelativeResize="0"/>
          <p:nvPr/>
        </p:nvPicPr>
        <p:blipFill>
          <a:blip r:embed="rId4">
            <a:alphaModFix/>
          </a:blip>
          <a:stretch>
            <a:fillRect/>
          </a:stretch>
        </p:blipFill>
        <p:spPr>
          <a:xfrm>
            <a:off x="2396850" y="1313104"/>
            <a:ext cx="5101775" cy="23752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3"/>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78" name="Google Shape;278;p33"/>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79" name="Google Shape;279;p33"/>
          <p:cNvSpPr/>
          <p:nvPr/>
        </p:nvSpPr>
        <p:spPr>
          <a:xfrm>
            <a:off x="914400" y="419021"/>
            <a:ext cx="10515600" cy="3046988"/>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3"/>
            </a:pPr>
            <a:r>
              <a:rPr b="0" i="0" lang="en-US" sz="2400" u="none" cap="none" strike="noStrike">
                <a:solidFill>
                  <a:srgbClr val="000000"/>
                </a:solidFill>
                <a:latin typeface="Verdana"/>
                <a:ea typeface="Verdana"/>
                <a:cs typeface="Verdana"/>
                <a:sym typeface="Verdana"/>
              </a:rPr>
              <a:t>Explain how to use the equation in Part B to confirm that your solution is correct.  </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400" u="none" cap="none" strike="noStrike">
                <a:solidFill>
                  <a:srgbClr val="000000"/>
                </a:solidFill>
                <a:latin typeface="Verdana"/>
                <a:ea typeface="Verdana"/>
                <a:cs typeface="Verdana"/>
                <a:sym typeface="Verdana"/>
              </a:rPr>
              <a:t> </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Verdana"/>
                <a:ea typeface="Verdana"/>
                <a:cs typeface="Verdana"/>
                <a:sym typeface="Verdana"/>
              </a:rPr>
              <a:t>Inverse operations can be used to find the value of the variable in an algebraic equation by creating equivalent equations. </a:t>
            </a:r>
            <a:endParaRPr/>
          </a:p>
        </p:txBody>
      </p:sp>
      <p:sp>
        <p:nvSpPr>
          <p:cNvPr id="280" name="Google Shape;280;p33"/>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315</a:t>
            </a:r>
            <a:endParaRPr b="0" i="1" sz="1400" u="none" cap="none" strike="noStrike">
              <a:solidFill>
                <a:srgbClr val="000000"/>
              </a:solidFill>
              <a:latin typeface="Calibri"/>
              <a:ea typeface="Calibri"/>
              <a:cs typeface="Calibri"/>
              <a:sym typeface="Calibri"/>
            </a:endParaRPr>
          </a:p>
        </p:txBody>
      </p:sp>
      <p:grpSp>
        <p:nvGrpSpPr>
          <p:cNvPr id="281" name="Google Shape;281;p33"/>
          <p:cNvGrpSpPr/>
          <p:nvPr/>
        </p:nvGrpSpPr>
        <p:grpSpPr>
          <a:xfrm>
            <a:off x="2781300" y="3904618"/>
            <a:ext cx="6629400" cy="1857375"/>
            <a:chOff x="0" y="0"/>
            <a:chExt cx="6629400" cy="1857983"/>
          </a:xfrm>
        </p:grpSpPr>
        <p:sp>
          <p:nvSpPr>
            <p:cNvPr id="282" name="Google Shape;282;p33"/>
            <p:cNvSpPr/>
            <p:nvPr/>
          </p:nvSpPr>
          <p:spPr>
            <a:xfrm>
              <a:off x="0" y="0"/>
              <a:ext cx="6629400" cy="1857983"/>
            </a:xfrm>
            <a:prstGeom prst="roundRect">
              <a:avLst>
                <a:gd fmla="val 16667" name="adj"/>
              </a:avLst>
            </a:prstGeom>
            <a:blipFill rotWithShape="1">
              <a:blip r:embed="rId4">
                <a:alphaModFix/>
              </a:blip>
              <a:stretch>
                <a:fillRect b="0" l="0" r="0" t="0"/>
              </a:stretch>
            </a:blip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pic>
          <p:nvPicPr>
            <p:cNvPr descr="Icon&#10;&#10;Description automatically generated" id="283" name="Google Shape;283;p33"/>
            <p:cNvPicPr preferRelativeResize="0"/>
            <p:nvPr/>
          </p:nvPicPr>
          <p:blipFill rotWithShape="1">
            <a:blip r:embed="rId5">
              <a:alphaModFix/>
            </a:blip>
            <a:srcRect b="0" l="0" r="0" t="0"/>
            <a:stretch/>
          </p:blipFill>
          <p:spPr>
            <a:xfrm>
              <a:off x="165370" y="165371"/>
              <a:ext cx="539750" cy="539115"/>
            </a:xfrm>
            <a:prstGeom prst="rect">
              <a:avLst/>
            </a:prstGeom>
            <a:noFill/>
            <a:ln>
              <a:noFill/>
            </a:ln>
            <a:effectLst>
              <a:outerShdw blurRad="50800" rotWithShape="0" algn="tl" dir="2700000" dist="38100">
                <a:srgbClr val="000000">
                  <a:alpha val="40000"/>
                </a:srgbClr>
              </a:outerShdw>
            </a:effectLst>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4"/>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90" name="Google Shape;290;p34"/>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91" name="Google Shape;291;p34"/>
          <p:cNvSpPr/>
          <p:nvPr/>
        </p:nvSpPr>
        <p:spPr>
          <a:xfrm>
            <a:off x="914400" y="419022"/>
            <a:ext cx="10515600" cy="4524315"/>
          </a:xfrm>
          <a:prstGeom prst="rect">
            <a:avLst/>
          </a:prstGeom>
          <a:blipFill rotWithShape="1">
            <a:blip r:embed="rId4">
              <a:alphaModFix/>
            </a:blip>
            <a:stretch>
              <a:fillRect b="0" l="-964" r="0" t="-11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92" name="Google Shape;292;p34"/>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315</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99" name="Google Shape;299;p35"/>
          <p:cNvPicPr preferRelativeResize="0"/>
          <p:nvPr/>
        </p:nvPicPr>
        <p:blipFill rotWithShape="1">
          <a:blip r:embed="rId3">
            <a:alphaModFix/>
          </a:blip>
          <a:srcRect b="0" l="0" r="0" t="0"/>
          <a:stretch/>
        </p:blipFill>
        <p:spPr>
          <a:xfrm>
            <a:off x="11530584" y="6199632"/>
            <a:ext cx="563850" cy="657276"/>
          </a:xfrm>
          <a:prstGeom prst="rect">
            <a:avLst/>
          </a:prstGeom>
          <a:noFill/>
          <a:ln>
            <a:noFill/>
          </a:ln>
          <a:effectLst>
            <a:outerShdw blurRad="57150" rotWithShape="0" algn="bl" dir="5400000" dist="19050">
              <a:srgbClr val="000000">
                <a:alpha val="49803"/>
              </a:srgbClr>
            </a:outerShdw>
          </a:effectLst>
        </p:spPr>
      </p:pic>
      <p:sp>
        <p:nvSpPr>
          <p:cNvPr id="300" name="Google Shape;300;p35"/>
          <p:cNvSpPr/>
          <p:nvPr/>
        </p:nvSpPr>
        <p:spPr>
          <a:xfrm>
            <a:off x="914400" y="419021"/>
            <a:ext cx="10515600" cy="3785652"/>
          </a:xfrm>
          <a:prstGeom prst="rect">
            <a:avLst/>
          </a:prstGeom>
          <a:blipFill rotWithShape="1">
            <a:blip r:embed="rId4">
              <a:alphaModFix/>
            </a:blip>
            <a:stretch>
              <a:fillRect b="-2675" l="-964" r="0" t="-133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01" name="Google Shape;301;p35"/>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315</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p:nvPr/>
        </p:nvSpPr>
        <p:spPr>
          <a:xfrm>
            <a:off x="0" y="-405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08" name="Google Shape;308;p36"/>
          <p:cNvPicPr preferRelativeResize="0"/>
          <p:nvPr/>
        </p:nvPicPr>
        <p:blipFill rotWithShape="1">
          <a:blip r:embed="rId3">
            <a:alphaModFix/>
          </a:blip>
          <a:srcRect b="0" l="0" r="0" t="0"/>
          <a:stretch/>
        </p:blipFill>
        <p:spPr>
          <a:xfrm>
            <a:off x="11530584" y="6199632"/>
            <a:ext cx="563850" cy="657276"/>
          </a:xfrm>
          <a:prstGeom prst="rect">
            <a:avLst/>
          </a:prstGeom>
          <a:noFill/>
          <a:ln>
            <a:noFill/>
          </a:ln>
          <a:effectLst>
            <a:outerShdw blurRad="57150" rotWithShape="0" algn="bl" dir="5400000" dist="19050">
              <a:srgbClr val="000000">
                <a:alpha val="49803"/>
              </a:srgbClr>
            </a:outerShdw>
          </a:effectLst>
        </p:spPr>
      </p:pic>
      <p:sp>
        <p:nvSpPr>
          <p:cNvPr id="309" name="Google Shape;309;p36"/>
          <p:cNvSpPr txBox="1"/>
          <p:nvPr>
            <p:ph idx="4294967295" type="title"/>
          </p:nvPr>
        </p:nvSpPr>
        <p:spPr>
          <a:xfrm>
            <a:off x="4087368" y="2770632"/>
            <a:ext cx="4480750" cy="1325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96969"/>
              <a:buNone/>
            </a:pPr>
            <a:r>
              <a:rPr b="1" lang="en-US" sz="5500">
                <a:solidFill>
                  <a:srgbClr val="26B7D4"/>
                </a:solidFill>
                <a:latin typeface="Verdana"/>
                <a:ea typeface="Verdana"/>
                <a:cs typeface="Verdana"/>
                <a:sym typeface="Verdana"/>
              </a:rPr>
              <a:t>Guided Practice</a:t>
            </a:r>
            <a:endParaRPr b="1" sz="5100">
              <a:solidFill>
                <a:srgbClr val="26B7D4"/>
              </a:solidFill>
              <a:latin typeface="Verdana"/>
              <a:ea typeface="Verdana"/>
              <a:cs typeface="Verdana"/>
              <a:sym typeface="Verdana"/>
            </a:endParaRPr>
          </a:p>
        </p:txBody>
      </p:sp>
      <p:sp>
        <p:nvSpPr>
          <p:cNvPr id="310" name="Google Shape;310;p36"/>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316</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311" name="Google Shape;311;p36"/>
          <p:cNvPicPr preferRelativeResize="0"/>
          <p:nvPr/>
        </p:nvPicPr>
        <p:blipFill rotWithShape="1">
          <a:blip r:embed="rId4">
            <a:alphaModFix/>
          </a:blip>
          <a:srcRect b="0" l="0" r="0" t="0"/>
          <a:stretch/>
        </p:blipFill>
        <p:spPr>
          <a:xfrm>
            <a:off x="3054096" y="2770632"/>
            <a:ext cx="1151972" cy="1151972"/>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7"/>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18" name="Google Shape;318;p37"/>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19" name="Google Shape;319;p37"/>
          <p:cNvSpPr txBox="1"/>
          <p:nvPr/>
        </p:nvSpPr>
        <p:spPr>
          <a:xfrm>
            <a:off x="1143000" y="-27923"/>
            <a:ext cx="105156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2800" u="none" cap="none" strike="noStrike">
                <a:solidFill>
                  <a:srgbClr val="54B5D1"/>
                </a:solidFill>
                <a:latin typeface="Verdana"/>
                <a:ea typeface="Verdana"/>
                <a:cs typeface="Verdana"/>
                <a:sym typeface="Verdana"/>
              </a:rPr>
              <a:t>12.7.3 Guided Practice: Solving Equations with Inverse Operations</a:t>
            </a:r>
            <a:endParaRPr/>
          </a:p>
        </p:txBody>
      </p:sp>
      <p:sp>
        <p:nvSpPr>
          <p:cNvPr id="320" name="Google Shape;320;p37"/>
          <p:cNvSpPr/>
          <p:nvPr/>
        </p:nvSpPr>
        <p:spPr>
          <a:xfrm>
            <a:off x="914400" y="1491031"/>
            <a:ext cx="10515600" cy="19389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Verdana"/>
                <a:ea typeface="Verdana"/>
                <a:cs typeface="Verdana"/>
                <a:sym typeface="Verdana"/>
              </a:rPr>
              <a:t>Work with your partner to complete the following.</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000" u="none" cap="none" strike="noStrike">
                <a:solidFill>
                  <a:srgbClr val="000000"/>
                </a:solidFill>
                <a:latin typeface="Verdana"/>
                <a:ea typeface="Verdana"/>
                <a:cs typeface="Verdana"/>
                <a:sym typeface="Verdana"/>
              </a:rPr>
              <a:t>An equation can also be represented using a balanced hanger. A hanger stays balanced when the weights on both sides are equal. As the weights are changed, the hanger will stay balanced as long as both sides are changed in the same way.</a:t>
            </a:r>
            <a:endParaRPr/>
          </a:p>
        </p:txBody>
      </p:sp>
      <p:sp>
        <p:nvSpPr>
          <p:cNvPr id="321" name="Google Shape;321;p37"/>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316</a:t>
            </a:r>
            <a:endParaRPr b="0" i="1" sz="1400" u="none" cap="none" strike="noStrike">
              <a:solidFill>
                <a:srgbClr val="000000"/>
              </a:solidFill>
              <a:latin typeface="Calibri"/>
              <a:ea typeface="Calibri"/>
              <a:cs typeface="Calibri"/>
              <a:sym typeface="Calibri"/>
            </a:endParaRPr>
          </a:p>
        </p:txBody>
      </p:sp>
      <p:sp>
        <p:nvSpPr>
          <p:cNvPr id="322" name="Google Shape;322;p37"/>
          <p:cNvSpPr/>
          <p:nvPr/>
        </p:nvSpPr>
        <p:spPr>
          <a:xfrm>
            <a:off x="2146200" y="2419359"/>
            <a:ext cx="8333128" cy="101927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1000"/>
              </a:spcAft>
              <a:buNone/>
            </a:pPr>
            <a:r>
              <a:rPr b="0" i="0" lang="en-US" sz="1200" u="none" cap="none" strike="noStrike">
                <a:solidFill>
                  <a:srgbClr val="000000"/>
                </a:solidFill>
                <a:latin typeface="Cambria"/>
                <a:ea typeface="Cambria"/>
                <a:cs typeface="Cambria"/>
                <a:sym typeface="Cambria"/>
              </a:rPr>
              <a:t> </a:t>
            </a:r>
            <a:endParaRPr b="0" i="0" sz="1200" u="none" cap="none" strike="noStrike">
              <a:solidFill>
                <a:srgbClr val="000000"/>
              </a:solidFill>
              <a:latin typeface="Cambria"/>
              <a:ea typeface="Cambria"/>
              <a:cs typeface="Cambria"/>
              <a:sym typeface="Cambria"/>
            </a:endParaRPr>
          </a:p>
        </p:txBody>
      </p:sp>
      <p:grpSp>
        <p:nvGrpSpPr>
          <p:cNvPr id="323" name="Google Shape;323;p37"/>
          <p:cNvGrpSpPr/>
          <p:nvPr/>
        </p:nvGrpSpPr>
        <p:grpSpPr>
          <a:xfrm>
            <a:off x="2781300" y="3479152"/>
            <a:ext cx="6629400" cy="1054041"/>
            <a:chOff x="2031300" y="3252877"/>
            <a:chExt cx="6629400" cy="1054225"/>
          </a:xfrm>
        </p:grpSpPr>
        <p:sp>
          <p:nvSpPr>
            <p:cNvPr id="324" name="Google Shape;324;p37"/>
            <p:cNvSpPr/>
            <p:nvPr/>
          </p:nvSpPr>
          <p:spPr>
            <a:xfrm>
              <a:off x="2031300" y="3252877"/>
              <a:ext cx="6629400" cy="105422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1000"/>
                </a:spcAft>
                <a:buNone/>
              </a:pPr>
              <a:r>
                <a:rPr b="0" i="0" lang="en-US" sz="1200" u="none" cap="none" strike="noStrike">
                  <a:solidFill>
                    <a:srgbClr val="000000"/>
                  </a:solidFill>
                  <a:latin typeface="Cambria"/>
                  <a:ea typeface="Cambria"/>
                  <a:cs typeface="Cambria"/>
                  <a:sym typeface="Cambria"/>
                </a:rPr>
                <a:t> </a:t>
              </a:r>
              <a:endParaRPr b="0" i="0" sz="1200" u="none" cap="none" strike="noStrike">
                <a:solidFill>
                  <a:srgbClr val="000000"/>
                </a:solidFill>
                <a:latin typeface="Cambria"/>
                <a:ea typeface="Cambria"/>
                <a:cs typeface="Cambria"/>
                <a:sym typeface="Cambria"/>
              </a:endParaRPr>
            </a:p>
          </p:txBody>
        </p:sp>
        <p:grpSp>
          <p:nvGrpSpPr>
            <p:cNvPr id="325" name="Google Shape;325;p37"/>
            <p:cNvGrpSpPr/>
            <p:nvPr/>
          </p:nvGrpSpPr>
          <p:grpSpPr>
            <a:xfrm>
              <a:off x="2031300" y="3252879"/>
              <a:ext cx="6629400" cy="1054222"/>
              <a:chOff x="2031300" y="3262288"/>
              <a:chExt cx="6629400" cy="1035400"/>
            </a:xfrm>
          </p:grpSpPr>
          <p:sp>
            <p:nvSpPr>
              <p:cNvPr id="326" name="Google Shape;326;p37"/>
              <p:cNvSpPr/>
              <p:nvPr/>
            </p:nvSpPr>
            <p:spPr>
              <a:xfrm>
                <a:off x="2031300" y="3262288"/>
                <a:ext cx="6629400" cy="103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1000"/>
                  </a:spcAft>
                  <a:buNone/>
                </a:pPr>
                <a:r>
                  <a:rPr b="0" i="0" lang="en-US" sz="1200" u="none" cap="none" strike="noStrike">
                    <a:solidFill>
                      <a:srgbClr val="000000"/>
                    </a:solidFill>
                    <a:latin typeface="Cambria"/>
                    <a:ea typeface="Cambria"/>
                    <a:cs typeface="Cambria"/>
                    <a:sym typeface="Cambria"/>
                  </a:rPr>
                  <a:t> </a:t>
                </a:r>
                <a:endParaRPr b="0" i="0" sz="1200" u="none" cap="none" strike="noStrike">
                  <a:solidFill>
                    <a:srgbClr val="000000"/>
                  </a:solidFill>
                  <a:latin typeface="Cambria"/>
                  <a:ea typeface="Cambria"/>
                  <a:cs typeface="Cambria"/>
                  <a:sym typeface="Cambria"/>
                </a:endParaRPr>
              </a:p>
            </p:txBody>
          </p:sp>
          <p:grpSp>
            <p:nvGrpSpPr>
              <p:cNvPr id="327" name="Google Shape;327;p37"/>
              <p:cNvGrpSpPr/>
              <p:nvPr/>
            </p:nvGrpSpPr>
            <p:grpSpPr>
              <a:xfrm>
                <a:off x="2031300" y="3262288"/>
                <a:ext cx="6629400" cy="1035400"/>
                <a:chOff x="2031300" y="3373600"/>
                <a:chExt cx="6629400" cy="1035400"/>
              </a:xfrm>
            </p:grpSpPr>
            <p:sp>
              <p:nvSpPr>
                <p:cNvPr id="328" name="Google Shape;328;p37"/>
                <p:cNvSpPr/>
                <p:nvPr/>
              </p:nvSpPr>
              <p:spPr>
                <a:xfrm>
                  <a:off x="2031300" y="3373600"/>
                  <a:ext cx="6629400" cy="103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1000"/>
                    </a:spcAft>
                    <a:buNone/>
                  </a:pPr>
                  <a:r>
                    <a:rPr b="0" i="0" lang="en-US" sz="1200" u="none" cap="none" strike="noStrike">
                      <a:solidFill>
                        <a:srgbClr val="000000"/>
                      </a:solidFill>
                      <a:latin typeface="Cambria"/>
                      <a:ea typeface="Cambria"/>
                      <a:cs typeface="Cambria"/>
                      <a:sym typeface="Cambria"/>
                    </a:rPr>
                    <a:t> </a:t>
                  </a:r>
                  <a:endParaRPr b="0" i="0" sz="1200" u="none" cap="none" strike="noStrike">
                    <a:solidFill>
                      <a:srgbClr val="000000"/>
                    </a:solidFill>
                    <a:latin typeface="Cambria"/>
                    <a:ea typeface="Cambria"/>
                    <a:cs typeface="Cambria"/>
                    <a:sym typeface="Cambria"/>
                  </a:endParaRPr>
                </a:p>
              </p:txBody>
            </p:sp>
            <p:grpSp>
              <p:nvGrpSpPr>
                <p:cNvPr id="329" name="Google Shape;329;p37"/>
                <p:cNvGrpSpPr/>
                <p:nvPr/>
              </p:nvGrpSpPr>
              <p:grpSpPr>
                <a:xfrm>
                  <a:off x="2031300" y="3373600"/>
                  <a:ext cx="6629400" cy="812800"/>
                  <a:chOff x="2031300" y="3373600"/>
                  <a:chExt cx="6629400" cy="812800"/>
                </a:xfrm>
              </p:grpSpPr>
              <p:sp>
                <p:nvSpPr>
                  <p:cNvPr id="330" name="Google Shape;330;p37"/>
                  <p:cNvSpPr/>
                  <p:nvPr/>
                </p:nvSpPr>
                <p:spPr>
                  <a:xfrm>
                    <a:off x="2031300" y="3373600"/>
                    <a:ext cx="6629400" cy="812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1000"/>
                      </a:spcAft>
                      <a:buNone/>
                    </a:pPr>
                    <a:r>
                      <a:rPr b="0" i="0" lang="en-US" sz="1200" u="none" cap="none" strike="noStrike">
                        <a:solidFill>
                          <a:srgbClr val="000000"/>
                        </a:solidFill>
                        <a:latin typeface="Cambria"/>
                        <a:ea typeface="Cambria"/>
                        <a:cs typeface="Cambria"/>
                        <a:sym typeface="Cambria"/>
                      </a:rPr>
                      <a:t> </a:t>
                    </a:r>
                    <a:endParaRPr b="0" i="0" sz="1200" u="none" cap="none" strike="noStrike">
                      <a:solidFill>
                        <a:srgbClr val="000000"/>
                      </a:solidFill>
                      <a:latin typeface="Cambria"/>
                      <a:ea typeface="Cambria"/>
                      <a:cs typeface="Cambria"/>
                      <a:sym typeface="Cambria"/>
                    </a:endParaRPr>
                  </a:p>
                </p:txBody>
              </p:sp>
              <p:sp>
                <p:nvSpPr>
                  <p:cNvPr id="331" name="Google Shape;331;p37"/>
                  <p:cNvSpPr/>
                  <p:nvPr/>
                </p:nvSpPr>
                <p:spPr>
                  <a:xfrm>
                    <a:off x="2031300" y="3373600"/>
                    <a:ext cx="6629400" cy="812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1000"/>
                      </a:spcAft>
                      <a:buNone/>
                    </a:pPr>
                    <a:r>
                      <a:rPr b="0" i="0" lang="en-US" sz="1200" u="none" cap="none" strike="noStrike">
                        <a:solidFill>
                          <a:srgbClr val="000000"/>
                        </a:solidFill>
                        <a:latin typeface="Cambria"/>
                        <a:ea typeface="Cambria"/>
                        <a:cs typeface="Cambria"/>
                        <a:sym typeface="Cambria"/>
                      </a:rPr>
                      <a:t> </a:t>
                    </a:r>
                    <a:endParaRPr b="0" i="0" sz="1200" u="none" cap="none" strike="noStrike">
                      <a:solidFill>
                        <a:srgbClr val="000000"/>
                      </a:solidFill>
                      <a:latin typeface="Cambria"/>
                      <a:ea typeface="Cambria"/>
                      <a:cs typeface="Cambria"/>
                      <a:sym typeface="Cambria"/>
                    </a:endParaRPr>
                  </a:p>
                </p:txBody>
              </p:sp>
            </p:grpSp>
          </p:grpSp>
        </p:grpSp>
      </p:grpSp>
      <p:pic>
        <p:nvPicPr>
          <p:cNvPr descr="Icon&#10;&#10;Description automatically generated" id="332" name="Google Shape;332;p37"/>
          <p:cNvPicPr preferRelativeResize="0"/>
          <p:nvPr/>
        </p:nvPicPr>
        <p:blipFill rotWithShape="1">
          <a:blip r:embed="rId4">
            <a:alphaModFix/>
          </a:blip>
          <a:srcRect b="0" l="0" r="0" t="0"/>
          <a:stretch/>
        </p:blipFill>
        <p:spPr>
          <a:xfrm>
            <a:off x="356616" y="201168"/>
            <a:ext cx="741801" cy="741801"/>
          </a:xfrm>
          <a:prstGeom prst="rect">
            <a:avLst/>
          </a:prstGeom>
          <a:noFill/>
          <a:ln>
            <a:noFill/>
          </a:ln>
        </p:spPr>
      </p:pic>
      <p:sp>
        <p:nvSpPr>
          <p:cNvPr id="333" name="Google Shape;333;p37"/>
          <p:cNvSpPr/>
          <p:nvPr/>
        </p:nvSpPr>
        <p:spPr>
          <a:xfrm>
            <a:off x="2025740" y="3947629"/>
            <a:ext cx="4070261" cy="163121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Verdana"/>
                <a:ea typeface="Verdana"/>
                <a:cs typeface="Verdana"/>
                <a:sym typeface="Verdana"/>
              </a:rPr>
              <a:t>The hanger diagram represents a balanced equation because both sides of the hanger are level. </a:t>
            </a:r>
            <a:endParaRPr/>
          </a:p>
        </p:txBody>
      </p:sp>
      <p:pic>
        <p:nvPicPr>
          <p:cNvPr descr="Shape&#10;&#10;Description automatically generated" id="334" name="Google Shape;334;p37"/>
          <p:cNvPicPr preferRelativeResize="0"/>
          <p:nvPr/>
        </p:nvPicPr>
        <p:blipFill rotWithShape="1">
          <a:blip r:embed="rId5">
            <a:alphaModFix/>
          </a:blip>
          <a:srcRect b="0" l="0" r="0" t="0"/>
          <a:stretch/>
        </p:blipFill>
        <p:spPr>
          <a:xfrm>
            <a:off x="6561730" y="3594845"/>
            <a:ext cx="2848970" cy="276086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8"/>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41" name="Google Shape;341;p38"/>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42" name="Google Shape;342;p38"/>
          <p:cNvSpPr/>
          <p:nvPr/>
        </p:nvSpPr>
        <p:spPr>
          <a:xfrm>
            <a:off x="914400" y="410140"/>
            <a:ext cx="10515600" cy="1200329"/>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a:pPr>
            <a:r>
              <a:rPr b="0" i="0" lang="en-US" sz="2400" u="none" cap="none" strike="noStrike">
                <a:solidFill>
                  <a:srgbClr val="000000"/>
                </a:solidFill>
                <a:latin typeface="Verdana"/>
                <a:ea typeface="Verdana"/>
                <a:cs typeface="Verdana"/>
                <a:sym typeface="Verdana"/>
              </a:rPr>
              <a:t>Fill in the values for each equation using the hanger diagram. Then, solve for the unknown value, 𝑤.  </a:t>
            </a:r>
            <a:endParaRPr/>
          </a:p>
        </p:txBody>
      </p:sp>
      <p:sp>
        <p:nvSpPr>
          <p:cNvPr id="343" name="Google Shape;343;p38"/>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316</a:t>
            </a:r>
            <a:endParaRPr b="0" i="1" sz="1400" u="none" cap="none" strike="noStrike">
              <a:solidFill>
                <a:srgbClr val="000000"/>
              </a:solidFill>
              <a:latin typeface="Calibri"/>
              <a:ea typeface="Calibri"/>
              <a:cs typeface="Calibri"/>
              <a:sym typeface="Calibri"/>
            </a:endParaRPr>
          </a:p>
        </p:txBody>
      </p:sp>
      <p:pic>
        <p:nvPicPr>
          <p:cNvPr descr="Shape&#10;&#10;Description automatically generated" id="344" name="Google Shape;344;p38"/>
          <p:cNvPicPr preferRelativeResize="0"/>
          <p:nvPr/>
        </p:nvPicPr>
        <p:blipFill rotWithShape="1">
          <a:blip r:embed="rId4">
            <a:alphaModFix/>
          </a:blip>
          <a:srcRect b="0" l="0" r="0" t="0"/>
          <a:stretch/>
        </p:blipFill>
        <p:spPr>
          <a:xfrm>
            <a:off x="4024898" y="1760563"/>
            <a:ext cx="4142204" cy="2466229"/>
          </a:xfrm>
          <a:prstGeom prst="rect">
            <a:avLst/>
          </a:prstGeom>
          <a:noFill/>
          <a:ln>
            <a:noFill/>
          </a:ln>
        </p:spPr>
      </p:pic>
      <p:sp>
        <p:nvSpPr>
          <p:cNvPr id="345" name="Google Shape;345;p38"/>
          <p:cNvSpPr/>
          <p:nvPr/>
        </p:nvSpPr>
        <p:spPr>
          <a:xfrm>
            <a:off x="914400" y="4507992"/>
            <a:ext cx="10515600" cy="8309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Rewrite the original equation replacing the variable, 𝑤, with the solution to check your work.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9"/>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52" name="Google Shape;352;p39"/>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53" name="Google Shape;353;p39"/>
          <p:cNvSpPr/>
          <p:nvPr/>
        </p:nvSpPr>
        <p:spPr>
          <a:xfrm>
            <a:off x="914400" y="410140"/>
            <a:ext cx="10515600" cy="40011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Arial"/>
              <a:buAutoNum type="arabicPeriod" startAt="2"/>
            </a:pPr>
            <a:r>
              <a:rPr b="0" i="0" lang="en-US" sz="2000" u="none" cap="none" strike="noStrike">
                <a:solidFill>
                  <a:srgbClr val="000000"/>
                </a:solidFill>
                <a:latin typeface="Verdana"/>
                <a:ea typeface="Verdana"/>
                <a:cs typeface="Verdana"/>
                <a:sym typeface="Verdana"/>
              </a:rPr>
              <a:t>The bar model represents an equation.</a:t>
            </a:r>
            <a:endParaRPr/>
          </a:p>
        </p:txBody>
      </p:sp>
      <p:sp>
        <p:nvSpPr>
          <p:cNvPr id="354" name="Google Shape;354;p39"/>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316</a:t>
            </a:r>
            <a:endParaRPr b="0" i="1" sz="1400" u="none" cap="none" strike="noStrike">
              <a:solidFill>
                <a:srgbClr val="000000"/>
              </a:solidFill>
              <a:latin typeface="Calibri"/>
              <a:ea typeface="Calibri"/>
              <a:cs typeface="Calibri"/>
              <a:sym typeface="Calibri"/>
            </a:endParaRPr>
          </a:p>
        </p:txBody>
      </p:sp>
      <p:grpSp>
        <p:nvGrpSpPr>
          <p:cNvPr id="355" name="Google Shape;355;p39"/>
          <p:cNvGrpSpPr/>
          <p:nvPr/>
        </p:nvGrpSpPr>
        <p:grpSpPr>
          <a:xfrm>
            <a:off x="4682173" y="1292169"/>
            <a:ext cx="2827655" cy="943610"/>
            <a:chOff x="0" y="0"/>
            <a:chExt cx="2828130" cy="944020"/>
          </a:xfrm>
        </p:grpSpPr>
        <p:sp>
          <p:nvSpPr>
            <p:cNvPr id="356" name="Google Shape;356;p39"/>
            <p:cNvSpPr txBox="1"/>
            <p:nvPr/>
          </p:nvSpPr>
          <p:spPr>
            <a:xfrm>
              <a:off x="0" y="0"/>
              <a:ext cx="2023110" cy="485775"/>
            </a:xfrm>
            <a:prstGeom prst="rect">
              <a:avLst/>
            </a:prstGeom>
            <a:blipFill rotWithShape="1">
              <a:blip r:embed="rId4">
                <a:alphaModFix/>
              </a:blip>
              <a:stretch>
                <a:fillRect b="0" l="0" r="0" t="0"/>
              </a:stretch>
            </a:blip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57" name="Google Shape;357;p39"/>
            <p:cNvSpPr txBox="1"/>
            <p:nvPr/>
          </p:nvSpPr>
          <p:spPr>
            <a:xfrm>
              <a:off x="1880075" y="0"/>
              <a:ext cx="948055" cy="485775"/>
            </a:xfrm>
            <a:prstGeom prst="rect">
              <a:avLst/>
            </a:prstGeom>
            <a:blipFill rotWithShape="1">
              <a:blip r:embed="rId5">
                <a:alphaModFix/>
              </a:blip>
              <a:stretch>
                <a:fillRect b="0" l="0" r="0" t="0"/>
              </a:stretch>
            </a:blip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58" name="Google Shape;358;p39"/>
            <p:cNvSpPr txBox="1"/>
            <p:nvPr/>
          </p:nvSpPr>
          <p:spPr>
            <a:xfrm>
              <a:off x="0" y="478565"/>
              <a:ext cx="2827655" cy="465455"/>
            </a:xfrm>
            <a:prstGeom prst="rect">
              <a:avLst/>
            </a:prstGeom>
            <a:blipFill rotWithShape="1">
              <a:blip r:embed="rId6">
                <a:alphaModFix/>
              </a:blip>
              <a:stretch>
                <a:fillRect b="0" l="0" r="0" t="0"/>
              </a:stretch>
            </a:blip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grpSp>
      <p:sp>
        <p:nvSpPr>
          <p:cNvPr id="359" name="Google Shape;359;p39"/>
          <p:cNvSpPr/>
          <p:nvPr/>
        </p:nvSpPr>
        <p:spPr>
          <a:xfrm>
            <a:off x="914400" y="2771204"/>
            <a:ext cx="10515600" cy="255454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Arial"/>
              <a:buAutoNum type="alphaLcPeriod"/>
            </a:pPr>
            <a:r>
              <a:rPr b="0" i="0" lang="en-US" sz="2000" u="none" cap="none" strike="noStrike">
                <a:solidFill>
                  <a:srgbClr val="000000"/>
                </a:solidFill>
                <a:latin typeface="Verdana"/>
                <a:ea typeface="Verdana"/>
                <a:cs typeface="Verdana"/>
                <a:sym typeface="Verdana"/>
              </a:rPr>
              <a:t>Write an addition equation represented by the bar model. </a:t>
            </a:r>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000"/>
              <a:buFont typeface="Arial"/>
              <a:buAutoNum type="alphaLcPeriod"/>
            </a:pPr>
            <a:r>
              <a:rPr b="0" i="0" lang="en-US" sz="2000" u="none" cap="none" strike="noStrike">
                <a:solidFill>
                  <a:srgbClr val="000000"/>
                </a:solidFill>
                <a:latin typeface="Verdana"/>
                <a:ea typeface="Verdana"/>
                <a:cs typeface="Verdana"/>
                <a:sym typeface="Verdana"/>
              </a:rPr>
              <a:t>When solving an algebraic equation, the inverse operation can be applied to both sides of the equation. What inverse operation can be used to solve this equation?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66" name="Google Shape;366;p40"/>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67" name="Google Shape;367;p40"/>
          <p:cNvSpPr/>
          <p:nvPr/>
        </p:nvSpPr>
        <p:spPr>
          <a:xfrm>
            <a:off x="914400" y="410140"/>
            <a:ext cx="10515600" cy="341632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3"/>
            </a:pPr>
            <a:r>
              <a:rPr b="0" i="0" lang="en-US" sz="2400" u="none" cap="none" strike="noStrike">
                <a:solidFill>
                  <a:srgbClr val="000000"/>
                </a:solidFill>
                <a:latin typeface="Verdana"/>
                <a:ea typeface="Verdana"/>
                <a:cs typeface="Verdana"/>
                <a:sym typeface="Verdana"/>
              </a:rPr>
              <a:t>Write the equivalent equation using inverse operations.</a:t>
            </a:r>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400"/>
              <a:buFont typeface="Arial"/>
              <a:buAutoNum type="alphaLcPeriod" startAt="3"/>
            </a:pPr>
            <a:r>
              <a:rPr b="0" i="0" lang="en-US" sz="2400" u="none" cap="none" strike="noStrike">
                <a:solidFill>
                  <a:srgbClr val="000000"/>
                </a:solidFill>
                <a:latin typeface="Verdana"/>
                <a:ea typeface="Verdana"/>
                <a:cs typeface="Verdana"/>
                <a:sym typeface="Verdana"/>
              </a:rPr>
              <a:t>What is the value of the variable, 𝑥?</a:t>
            </a:r>
            <a:endParaRPr/>
          </a:p>
        </p:txBody>
      </p:sp>
      <p:sp>
        <p:nvSpPr>
          <p:cNvPr id="368" name="Google Shape;368;p40"/>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316</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1"/>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75" name="Google Shape;375;p41"/>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76" name="Google Shape;376;p41"/>
          <p:cNvSpPr/>
          <p:nvPr/>
        </p:nvSpPr>
        <p:spPr>
          <a:xfrm>
            <a:off x="746175" y="461890"/>
            <a:ext cx="10515600" cy="1938900"/>
          </a:xfrm>
          <a:prstGeom prst="rect">
            <a:avLst/>
          </a:prstGeom>
          <a:blipFill rotWithShape="1">
            <a:blip r:embed="rId4">
              <a:alphaModFix/>
            </a:blip>
            <a:stretch>
              <a:fillRect b="-6535" l="-964" r="0" t="-261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77" name="Google Shape;377;p41"/>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317</a:t>
            </a:r>
            <a:endParaRPr b="0" i="1" sz="1400" u="none" cap="none" strike="noStrike">
              <a:solidFill>
                <a:srgbClr val="000000"/>
              </a:solidFill>
              <a:latin typeface="Calibri"/>
              <a:ea typeface="Calibri"/>
              <a:cs typeface="Calibri"/>
              <a:sym typeface="Calibri"/>
            </a:endParaRPr>
          </a:p>
        </p:txBody>
      </p:sp>
      <p:pic>
        <p:nvPicPr>
          <p:cNvPr id="378" name="Google Shape;378;p41"/>
          <p:cNvPicPr preferRelativeResize="0"/>
          <p:nvPr/>
        </p:nvPicPr>
        <p:blipFill rotWithShape="1">
          <a:blip r:embed="rId5">
            <a:alphaModFix/>
          </a:blip>
          <a:srcRect b="0" l="0" r="0" t="0"/>
          <a:stretch/>
        </p:blipFill>
        <p:spPr>
          <a:xfrm>
            <a:off x="3121978" y="2828119"/>
            <a:ext cx="5948045" cy="355600"/>
          </a:xfrm>
          <a:prstGeom prst="rect">
            <a:avLst/>
          </a:prstGeom>
          <a:noFill/>
          <a:ln>
            <a:noFill/>
          </a:ln>
        </p:spPr>
      </p:pic>
      <p:sp>
        <p:nvSpPr>
          <p:cNvPr id="379" name="Google Shape;379;p41"/>
          <p:cNvSpPr/>
          <p:nvPr/>
        </p:nvSpPr>
        <p:spPr>
          <a:xfrm>
            <a:off x="914400" y="3890320"/>
            <a:ext cx="10515600" cy="46166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What is the value of the variable, 𝑛?</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2"/>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86" name="Google Shape;386;p42"/>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87" name="Google Shape;387;p42"/>
          <p:cNvSpPr txBox="1"/>
          <p:nvPr>
            <p:ph idx="4294967295" type="title"/>
          </p:nvPr>
        </p:nvSpPr>
        <p:spPr>
          <a:xfrm>
            <a:off x="4087368" y="2770632"/>
            <a:ext cx="439693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None/>
            </a:pPr>
            <a:r>
              <a:rPr b="1" lang="en-US" sz="4400">
                <a:solidFill>
                  <a:srgbClr val="E24E5F"/>
                </a:solidFill>
                <a:latin typeface="Verdana"/>
                <a:ea typeface="Verdana"/>
                <a:cs typeface="Verdana"/>
                <a:sym typeface="Verdana"/>
              </a:rPr>
              <a:t>Your Turn</a:t>
            </a:r>
            <a:endParaRPr b="1" sz="4000">
              <a:solidFill>
                <a:srgbClr val="E24E5F"/>
              </a:solidFill>
              <a:latin typeface="Verdana"/>
              <a:ea typeface="Verdana"/>
              <a:cs typeface="Verdana"/>
              <a:sym typeface="Verdana"/>
            </a:endParaRPr>
          </a:p>
        </p:txBody>
      </p:sp>
      <p:sp>
        <p:nvSpPr>
          <p:cNvPr id="388" name="Google Shape;388;p42"/>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317</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389" name="Google Shape;389;p42"/>
          <p:cNvPicPr preferRelativeResize="0"/>
          <p:nvPr/>
        </p:nvPicPr>
        <p:blipFill rotWithShape="1">
          <a:blip r:embed="rId4">
            <a:alphaModFix/>
          </a:blip>
          <a:srcRect b="0" l="0" r="0" t="0"/>
          <a:stretch/>
        </p:blipFill>
        <p:spPr>
          <a:xfrm>
            <a:off x="3054096" y="2770632"/>
            <a:ext cx="1156228" cy="1156228"/>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3"/>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96" name="Google Shape;396;p43"/>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97" name="Google Shape;397;p43"/>
          <p:cNvSpPr txBox="1"/>
          <p:nvPr/>
        </p:nvSpPr>
        <p:spPr>
          <a:xfrm>
            <a:off x="1143000" y="-91440"/>
            <a:ext cx="80193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3600" u="none" cap="none" strike="noStrike">
                <a:solidFill>
                  <a:srgbClr val="E24E5F"/>
                </a:solidFill>
                <a:latin typeface="Verdana"/>
                <a:ea typeface="Verdana"/>
                <a:cs typeface="Verdana"/>
                <a:sym typeface="Verdana"/>
              </a:rPr>
              <a:t>12.7.4 Your Turn!</a:t>
            </a:r>
            <a:endParaRPr/>
          </a:p>
        </p:txBody>
      </p:sp>
      <p:sp>
        <p:nvSpPr>
          <p:cNvPr id="398" name="Google Shape;398;p43"/>
          <p:cNvSpPr/>
          <p:nvPr/>
        </p:nvSpPr>
        <p:spPr>
          <a:xfrm>
            <a:off x="914400" y="1340982"/>
            <a:ext cx="10515600" cy="1569660"/>
          </a:xfrm>
          <a:prstGeom prst="rect">
            <a:avLst/>
          </a:prstGeom>
          <a:blipFill rotWithShape="1">
            <a:blip r:embed="rId4">
              <a:alphaModFix/>
            </a:blip>
            <a:stretch>
              <a:fillRect b="-8868" l="-964" r="0" t="-32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99" name="Google Shape;399;p43"/>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317</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400" name="Google Shape;400;p43"/>
          <p:cNvPicPr preferRelativeResize="0"/>
          <p:nvPr/>
        </p:nvPicPr>
        <p:blipFill rotWithShape="1">
          <a:blip r:embed="rId5">
            <a:alphaModFix/>
          </a:blip>
          <a:srcRect b="0" l="0" r="0" t="0"/>
          <a:stretch/>
        </p:blipFill>
        <p:spPr>
          <a:xfrm>
            <a:off x="356616" y="201168"/>
            <a:ext cx="752254" cy="752254"/>
          </a:xfrm>
          <a:prstGeom prst="rect">
            <a:avLst/>
          </a:prstGeom>
          <a:noFill/>
          <a:ln>
            <a:noFill/>
          </a:ln>
        </p:spPr>
      </p:pic>
      <p:graphicFrame>
        <p:nvGraphicFramePr>
          <p:cNvPr id="401" name="Google Shape;401;p43"/>
          <p:cNvGraphicFramePr/>
          <p:nvPr/>
        </p:nvGraphicFramePr>
        <p:xfrm>
          <a:off x="2670175" y="3312558"/>
          <a:ext cx="3000000" cy="3000000"/>
        </p:xfrm>
        <a:graphic>
          <a:graphicData uri="http://schemas.openxmlformats.org/drawingml/2006/table">
            <a:tbl>
              <a:tblPr bandRow="1" firstCol="1" firstRow="1">
                <a:noFill/>
                <a:tableStyleId>{4B7F7EE2-9108-44D5-80AB-6710C30C7EFF}</a:tableStyleId>
              </a:tblPr>
              <a:tblGrid>
                <a:gridCol w="6851650"/>
              </a:tblGrid>
              <a:tr h="914400">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14400">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14400">
                <a:tc>
                  <a:txBody>
                    <a:bodyPr/>
                    <a:lstStyle/>
                    <a:p>
                      <a:pPr indent="0" lvl="0" marL="0" marR="0" rtl="0" algn="l">
                        <a:lnSpc>
                          <a:spcPct val="100000"/>
                        </a:lnSpc>
                        <a:spcBef>
                          <a:spcPts val="0"/>
                        </a:spcBef>
                        <a:spcAft>
                          <a:spcPts val="0"/>
                        </a:spcAft>
                        <a:buNone/>
                      </a:pPr>
                      <a:r>
                        <a:t/>
                      </a:r>
                      <a:endParaRPr sz="1400" u="none" cap="none" strike="noStrike"/>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402" name="Google Shape;402;p43"/>
          <p:cNvPicPr preferRelativeResize="0"/>
          <p:nvPr/>
        </p:nvPicPr>
        <p:blipFill>
          <a:blip r:embed="rId6">
            <a:alphaModFix/>
          </a:blip>
          <a:stretch>
            <a:fillRect/>
          </a:stretch>
        </p:blipFill>
        <p:spPr>
          <a:xfrm>
            <a:off x="2521032" y="3429000"/>
            <a:ext cx="6164424" cy="3028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4"/>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09" name="Google Shape;409;p44"/>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10" name="Google Shape;410;p44"/>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317</a:t>
            </a:r>
            <a:endParaRPr b="0" i="1" sz="1400" u="none" cap="none" strike="noStrike">
              <a:solidFill>
                <a:srgbClr val="000000"/>
              </a:solidFill>
              <a:latin typeface="Calibri"/>
              <a:ea typeface="Calibri"/>
              <a:cs typeface="Calibri"/>
              <a:sym typeface="Calibri"/>
            </a:endParaRPr>
          </a:p>
        </p:txBody>
      </p:sp>
      <p:sp>
        <p:nvSpPr>
          <p:cNvPr id="411" name="Google Shape;411;p44"/>
          <p:cNvSpPr/>
          <p:nvPr/>
        </p:nvSpPr>
        <p:spPr>
          <a:xfrm>
            <a:off x="914400" y="586907"/>
            <a:ext cx="10515600" cy="341632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Which inverse operation was used to solve the equation?</a:t>
            </a:r>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Check your solution.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5"/>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18" name="Google Shape;418;p45"/>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19" name="Google Shape;419;p45"/>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318</a:t>
            </a:r>
            <a:endParaRPr b="0" i="1" sz="1400" u="none" cap="none" strike="noStrike">
              <a:solidFill>
                <a:srgbClr val="000000"/>
              </a:solidFill>
              <a:latin typeface="Calibri"/>
              <a:ea typeface="Calibri"/>
              <a:cs typeface="Calibri"/>
              <a:sym typeface="Calibri"/>
            </a:endParaRPr>
          </a:p>
        </p:txBody>
      </p:sp>
      <p:sp>
        <p:nvSpPr>
          <p:cNvPr id="420" name="Google Shape;420;p45"/>
          <p:cNvSpPr/>
          <p:nvPr/>
        </p:nvSpPr>
        <p:spPr>
          <a:xfrm>
            <a:off x="914400" y="382013"/>
            <a:ext cx="10515600" cy="46166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rabicPeriod" startAt="2"/>
            </a:pPr>
            <a:r>
              <a:rPr b="0" i="0" lang="en-US" sz="2400" u="none" cap="none" strike="noStrike">
                <a:solidFill>
                  <a:srgbClr val="000000"/>
                </a:solidFill>
                <a:latin typeface="Verdana"/>
                <a:ea typeface="Verdana"/>
                <a:cs typeface="Verdana"/>
                <a:sym typeface="Verdana"/>
              </a:rPr>
              <a:t>The hanger diagram represents an equation. </a:t>
            </a:r>
            <a:endParaRPr/>
          </a:p>
        </p:txBody>
      </p:sp>
      <p:sp>
        <p:nvSpPr>
          <p:cNvPr id="421" name="Google Shape;421;p45"/>
          <p:cNvSpPr/>
          <p:nvPr/>
        </p:nvSpPr>
        <p:spPr>
          <a:xfrm>
            <a:off x="1968999" y="1432890"/>
            <a:ext cx="4509138" cy="1200329"/>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a:pPr>
            <a:r>
              <a:rPr b="0" i="0" lang="en-US" sz="2400" u="none" cap="none" strike="noStrike">
                <a:solidFill>
                  <a:srgbClr val="000000"/>
                </a:solidFill>
                <a:latin typeface="Verdana"/>
                <a:ea typeface="Verdana"/>
                <a:cs typeface="Verdana"/>
                <a:sym typeface="Verdana"/>
              </a:rPr>
              <a:t>Write the equation represented by the hanger diagram.  </a:t>
            </a:r>
            <a:endParaRPr/>
          </a:p>
        </p:txBody>
      </p:sp>
      <p:pic>
        <p:nvPicPr>
          <p:cNvPr descr="A picture containing shape&#10;&#10;Description automatically generated" id="422" name="Google Shape;422;p45"/>
          <p:cNvPicPr preferRelativeResize="0"/>
          <p:nvPr/>
        </p:nvPicPr>
        <p:blipFill rotWithShape="1">
          <a:blip r:embed="rId4">
            <a:alphaModFix/>
          </a:blip>
          <a:srcRect b="0" l="0" r="0" t="0"/>
          <a:stretch/>
        </p:blipFill>
        <p:spPr>
          <a:xfrm>
            <a:off x="6878279" y="919717"/>
            <a:ext cx="2338705" cy="2244090"/>
          </a:xfrm>
          <a:prstGeom prst="rect">
            <a:avLst/>
          </a:prstGeom>
          <a:noFill/>
          <a:ln>
            <a:noFill/>
          </a:ln>
        </p:spPr>
      </p:pic>
      <p:sp>
        <p:nvSpPr>
          <p:cNvPr id="423" name="Google Shape;423;p45"/>
          <p:cNvSpPr/>
          <p:nvPr/>
        </p:nvSpPr>
        <p:spPr>
          <a:xfrm>
            <a:off x="1968999" y="3875839"/>
            <a:ext cx="4509138" cy="46166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What is the value of 𝑦?</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6"/>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30" name="Google Shape;430;p46"/>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31" name="Google Shape;431;p46"/>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318</a:t>
            </a:r>
            <a:endParaRPr b="0" i="1" sz="1400" u="none" cap="none" strike="noStrike">
              <a:solidFill>
                <a:srgbClr val="000000"/>
              </a:solidFill>
              <a:latin typeface="Calibri"/>
              <a:ea typeface="Calibri"/>
              <a:cs typeface="Calibri"/>
              <a:sym typeface="Calibri"/>
            </a:endParaRPr>
          </a:p>
        </p:txBody>
      </p:sp>
      <p:sp>
        <p:nvSpPr>
          <p:cNvPr id="432" name="Google Shape;432;p46"/>
          <p:cNvSpPr/>
          <p:nvPr/>
        </p:nvSpPr>
        <p:spPr>
          <a:xfrm>
            <a:off x="914400" y="376844"/>
            <a:ext cx="10515600" cy="46166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rabicPeriod" startAt="3"/>
            </a:pPr>
            <a:r>
              <a:rPr b="0" i="0" lang="en-US" sz="2400" u="none" cap="none" strike="noStrike">
                <a:solidFill>
                  <a:srgbClr val="000000"/>
                </a:solidFill>
                <a:latin typeface="Verdana"/>
                <a:ea typeface="Verdana"/>
                <a:cs typeface="Verdana"/>
                <a:sym typeface="Verdana"/>
              </a:rPr>
              <a:t>Two bar model diagrams are shown.</a:t>
            </a:r>
            <a:endParaRPr/>
          </a:p>
        </p:txBody>
      </p:sp>
      <p:pic>
        <p:nvPicPr>
          <p:cNvPr descr="Table&#10;&#10;Description automatically generated" id="433" name="Google Shape;433;p46"/>
          <p:cNvPicPr preferRelativeResize="0"/>
          <p:nvPr/>
        </p:nvPicPr>
        <p:blipFill rotWithShape="1">
          <a:blip r:embed="rId4">
            <a:alphaModFix/>
          </a:blip>
          <a:srcRect b="0" l="0" r="0" t="0"/>
          <a:stretch/>
        </p:blipFill>
        <p:spPr>
          <a:xfrm>
            <a:off x="2900064" y="1251440"/>
            <a:ext cx="6445795" cy="1573647"/>
          </a:xfrm>
          <a:prstGeom prst="rect">
            <a:avLst/>
          </a:prstGeom>
          <a:noFill/>
          <a:ln>
            <a:noFill/>
          </a:ln>
        </p:spPr>
      </p:pic>
      <p:sp>
        <p:nvSpPr>
          <p:cNvPr id="434" name="Google Shape;434;p46"/>
          <p:cNvSpPr/>
          <p:nvPr/>
        </p:nvSpPr>
        <p:spPr>
          <a:xfrm>
            <a:off x="914400" y="3297464"/>
            <a:ext cx="10515600" cy="8309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a:pPr>
            <a:r>
              <a:rPr b="0" i="0" lang="en-US" sz="2400" u="none" cap="none" strike="noStrike">
                <a:solidFill>
                  <a:srgbClr val="000000"/>
                </a:solidFill>
                <a:latin typeface="Verdana"/>
                <a:ea typeface="Verdana"/>
                <a:cs typeface="Verdana"/>
                <a:sym typeface="Verdana"/>
              </a:rPr>
              <a:t>Write an algebraic equation for each diagram box diagram.</a:t>
            </a:r>
            <a:endParaRPr/>
          </a:p>
        </p:txBody>
      </p:sp>
      <p:pic>
        <p:nvPicPr>
          <p:cNvPr id="435" name="Google Shape;435;p46"/>
          <p:cNvPicPr preferRelativeResize="0"/>
          <p:nvPr/>
        </p:nvPicPr>
        <p:blipFill>
          <a:blip r:embed="rId5">
            <a:alphaModFix/>
          </a:blip>
          <a:stretch>
            <a:fillRect/>
          </a:stretch>
        </p:blipFill>
        <p:spPr>
          <a:xfrm>
            <a:off x="2271419" y="3786099"/>
            <a:ext cx="7801558" cy="2671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7"/>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42" name="Google Shape;442;p47"/>
          <p:cNvPicPr preferRelativeResize="0"/>
          <p:nvPr/>
        </p:nvPicPr>
        <p:blipFill rotWithShape="1">
          <a:blip r:embed="rId3">
            <a:alphaModFix/>
          </a:blip>
          <a:srcRect b="0" l="0" r="0" t="0"/>
          <a:stretch/>
        </p:blipFill>
        <p:spPr>
          <a:xfrm>
            <a:off x="11530584" y="6199632"/>
            <a:ext cx="563850" cy="657276"/>
          </a:xfrm>
          <a:prstGeom prst="rect">
            <a:avLst/>
          </a:prstGeom>
          <a:noFill/>
          <a:ln>
            <a:noFill/>
          </a:ln>
          <a:effectLst>
            <a:outerShdw blurRad="57150" rotWithShape="0" algn="bl" dir="5400000" dist="19050">
              <a:srgbClr val="000000">
                <a:alpha val="49803"/>
              </a:srgbClr>
            </a:outerShdw>
          </a:effectLst>
        </p:spPr>
      </p:pic>
      <p:sp>
        <p:nvSpPr>
          <p:cNvPr id="443" name="Google Shape;443;p47"/>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318</a:t>
            </a:r>
            <a:endParaRPr b="0" i="1" sz="1400" u="none" cap="none" strike="noStrike">
              <a:solidFill>
                <a:srgbClr val="000000"/>
              </a:solidFill>
              <a:latin typeface="Calibri"/>
              <a:ea typeface="Calibri"/>
              <a:cs typeface="Calibri"/>
              <a:sym typeface="Calibri"/>
            </a:endParaRPr>
          </a:p>
        </p:txBody>
      </p:sp>
      <p:sp>
        <p:nvSpPr>
          <p:cNvPr id="444" name="Google Shape;444;p47"/>
          <p:cNvSpPr/>
          <p:nvPr/>
        </p:nvSpPr>
        <p:spPr>
          <a:xfrm>
            <a:off x="914400" y="376844"/>
            <a:ext cx="10515600" cy="8309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Find the value of variable, 𝑚, for each algebraic equation.</a:t>
            </a:r>
            <a:endParaRPr/>
          </a:p>
        </p:txBody>
      </p:sp>
      <p:sp>
        <p:nvSpPr>
          <p:cNvPr id="445" name="Google Shape;445;p47"/>
          <p:cNvSpPr/>
          <p:nvPr/>
        </p:nvSpPr>
        <p:spPr>
          <a:xfrm>
            <a:off x="914400" y="3665954"/>
            <a:ext cx="10515600" cy="8309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3"/>
            </a:pPr>
            <a:r>
              <a:rPr b="0" i="0" lang="en-US" sz="2400" u="none" cap="none" strike="noStrike">
                <a:solidFill>
                  <a:srgbClr val="000000"/>
                </a:solidFill>
                <a:latin typeface="Verdana"/>
                <a:ea typeface="Verdana"/>
                <a:cs typeface="Verdana"/>
                <a:sym typeface="Verdana"/>
              </a:rPr>
              <a:t>Discuss with your partner what you notice about the two equations. Summarize your discussion. </a:t>
            </a:r>
            <a:endParaRPr/>
          </a:p>
        </p:txBody>
      </p:sp>
      <p:pic>
        <p:nvPicPr>
          <p:cNvPr id="446" name="Google Shape;446;p47"/>
          <p:cNvPicPr preferRelativeResize="0"/>
          <p:nvPr/>
        </p:nvPicPr>
        <p:blipFill>
          <a:blip r:embed="rId4">
            <a:alphaModFix/>
          </a:blip>
          <a:stretch>
            <a:fillRect/>
          </a:stretch>
        </p:blipFill>
        <p:spPr>
          <a:xfrm>
            <a:off x="1472250" y="1284055"/>
            <a:ext cx="8024443" cy="2305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8"/>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53" name="Google Shape;453;p48"/>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54" name="Google Shape;454;p48"/>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319</a:t>
            </a:r>
            <a:endParaRPr b="0" i="1" sz="1400" u="none" cap="none" strike="noStrike">
              <a:solidFill>
                <a:srgbClr val="000000"/>
              </a:solidFill>
              <a:latin typeface="Calibri"/>
              <a:ea typeface="Calibri"/>
              <a:cs typeface="Calibri"/>
              <a:sym typeface="Calibri"/>
            </a:endParaRPr>
          </a:p>
        </p:txBody>
      </p:sp>
      <p:sp>
        <p:nvSpPr>
          <p:cNvPr id="455" name="Google Shape;455;p48"/>
          <p:cNvSpPr/>
          <p:nvPr/>
        </p:nvSpPr>
        <p:spPr>
          <a:xfrm>
            <a:off x="914400" y="376843"/>
            <a:ext cx="10515600" cy="1569660"/>
          </a:xfrm>
          <a:prstGeom prst="rect">
            <a:avLst/>
          </a:prstGeom>
          <a:blipFill rotWithShape="1">
            <a:blip r:embed="rId4">
              <a:alphaModFix/>
            </a:blip>
            <a:stretch>
              <a:fillRect b="0" l="-964" r="0" t="-31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pic>
        <p:nvPicPr>
          <p:cNvPr descr="A picture containing rectangle&#10;&#10;Description automatically generated" id="456" name="Google Shape;456;p48"/>
          <p:cNvPicPr preferRelativeResize="0"/>
          <p:nvPr/>
        </p:nvPicPr>
        <p:blipFill rotWithShape="1">
          <a:blip r:embed="rId5">
            <a:alphaModFix/>
          </a:blip>
          <a:srcRect b="22968" l="0" r="0" t="55251"/>
          <a:stretch/>
        </p:blipFill>
        <p:spPr>
          <a:xfrm>
            <a:off x="2660650" y="2293228"/>
            <a:ext cx="6870700" cy="879475"/>
          </a:xfrm>
          <a:prstGeom prst="rect">
            <a:avLst/>
          </a:prstGeom>
          <a:noFill/>
          <a:ln>
            <a:noFill/>
          </a:ln>
        </p:spPr>
      </p:pic>
      <p:sp>
        <p:nvSpPr>
          <p:cNvPr id="457" name="Google Shape;457;p48"/>
          <p:cNvSpPr/>
          <p:nvPr/>
        </p:nvSpPr>
        <p:spPr>
          <a:xfrm>
            <a:off x="914400" y="3747841"/>
            <a:ext cx="10515600" cy="46166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What is the value of the variable, 𝑥?</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9"/>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64" name="Google Shape;464;p49"/>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65" name="Google Shape;465;p49"/>
          <p:cNvSpPr txBox="1"/>
          <p:nvPr>
            <p:ph idx="4294967295" type="title"/>
          </p:nvPr>
        </p:nvSpPr>
        <p:spPr>
          <a:xfrm>
            <a:off x="4087368" y="2779776"/>
            <a:ext cx="448075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800"/>
              <a:buNone/>
            </a:pPr>
            <a:r>
              <a:rPr b="1" lang="en-US" sz="5500">
                <a:solidFill>
                  <a:srgbClr val="3F2A67"/>
                </a:solidFill>
                <a:latin typeface="Verdana"/>
                <a:ea typeface="Verdana"/>
                <a:cs typeface="Verdana"/>
                <a:sym typeface="Verdana"/>
              </a:rPr>
              <a:t>Wrap-Up</a:t>
            </a:r>
            <a:endParaRPr b="1" sz="5100">
              <a:solidFill>
                <a:srgbClr val="3F2A67"/>
              </a:solidFill>
              <a:latin typeface="Verdana"/>
              <a:ea typeface="Verdana"/>
              <a:cs typeface="Verdana"/>
              <a:sym typeface="Verdana"/>
            </a:endParaRPr>
          </a:p>
        </p:txBody>
      </p:sp>
      <p:pic>
        <p:nvPicPr>
          <p:cNvPr id="466" name="Google Shape;466;p49"/>
          <p:cNvPicPr preferRelativeResize="0"/>
          <p:nvPr/>
        </p:nvPicPr>
        <p:blipFill rotWithShape="1">
          <a:blip r:embed="rId4">
            <a:alphaModFix/>
          </a:blip>
          <a:srcRect b="0" l="0" r="0" t="0"/>
          <a:stretch/>
        </p:blipFill>
        <p:spPr>
          <a:xfrm>
            <a:off x="3054096" y="2770632"/>
            <a:ext cx="1005840" cy="1016513"/>
          </a:xfrm>
          <a:prstGeom prst="rect">
            <a:avLst/>
          </a:prstGeom>
          <a:noFill/>
          <a:ln>
            <a:noFill/>
          </a:ln>
          <a:effectLst>
            <a:outerShdw blurRad="50800" rotWithShape="0" algn="tl" dir="2700000" dist="38100">
              <a:srgbClr val="000000">
                <a:alpha val="40000"/>
              </a:srgbClr>
            </a:outerShdw>
          </a:effectLst>
        </p:spPr>
      </p:pic>
      <p:sp>
        <p:nvSpPr>
          <p:cNvPr id="467" name="Google Shape;467;p49"/>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319</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0"/>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74" name="Google Shape;474;p50"/>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75" name="Google Shape;475;p50"/>
          <p:cNvSpPr txBox="1"/>
          <p:nvPr/>
        </p:nvSpPr>
        <p:spPr>
          <a:xfrm>
            <a:off x="1143000" y="-185440"/>
            <a:ext cx="80193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2800" u="none" cap="none" strike="noStrike">
                <a:solidFill>
                  <a:srgbClr val="3F2A67"/>
                </a:solidFill>
                <a:latin typeface="Verdana"/>
                <a:ea typeface="Verdana"/>
                <a:cs typeface="Verdana"/>
                <a:sym typeface="Verdana"/>
              </a:rPr>
              <a:t>12.7.5 Wrap-Up: Reflection</a:t>
            </a:r>
            <a:endParaRPr/>
          </a:p>
        </p:txBody>
      </p:sp>
      <p:pic>
        <p:nvPicPr>
          <p:cNvPr id="476" name="Google Shape;476;p50"/>
          <p:cNvPicPr preferRelativeResize="0"/>
          <p:nvPr/>
        </p:nvPicPr>
        <p:blipFill rotWithShape="1">
          <a:blip r:embed="rId4">
            <a:alphaModFix/>
          </a:blip>
          <a:srcRect b="0" l="0" r="0" t="0"/>
          <a:stretch/>
        </p:blipFill>
        <p:spPr>
          <a:xfrm>
            <a:off x="356616" y="201168"/>
            <a:ext cx="747300" cy="747300"/>
          </a:xfrm>
          <a:prstGeom prst="rect">
            <a:avLst/>
          </a:prstGeom>
          <a:noFill/>
          <a:ln>
            <a:noFill/>
          </a:ln>
          <a:effectLst>
            <a:outerShdw blurRad="50800" rotWithShape="0" algn="tl" dir="2700000" dist="38100">
              <a:srgbClr val="000000">
                <a:alpha val="40000"/>
              </a:srgbClr>
            </a:outerShdw>
          </a:effectLst>
        </p:spPr>
      </p:pic>
      <p:sp>
        <p:nvSpPr>
          <p:cNvPr id="477" name="Google Shape;477;p50"/>
          <p:cNvSpPr/>
          <p:nvPr/>
        </p:nvSpPr>
        <p:spPr>
          <a:xfrm>
            <a:off x="914400" y="1140260"/>
            <a:ext cx="10515600" cy="1015663"/>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Verdana"/>
                <a:ea typeface="Verdana"/>
                <a:cs typeface="Verdana"/>
                <a:sym typeface="Verdana"/>
              </a:rPr>
              <a:t>Plot a point to indicate how you feel about today’s learning target: “I can use diagrams and inverse operations when solving one-step addition and subtraction equations.”</a:t>
            </a:r>
            <a:endParaRPr/>
          </a:p>
        </p:txBody>
      </p:sp>
      <p:sp>
        <p:nvSpPr>
          <p:cNvPr id="478" name="Google Shape;478;p50"/>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319</a:t>
            </a:r>
            <a:endParaRPr b="0" i="1" sz="1400" u="none" cap="none" strike="noStrike">
              <a:solidFill>
                <a:srgbClr val="000000"/>
              </a:solidFill>
              <a:latin typeface="Calibri"/>
              <a:ea typeface="Calibri"/>
              <a:cs typeface="Calibri"/>
              <a:sym typeface="Calibri"/>
            </a:endParaRPr>
          </a:p>
        </p:txBody>
      </p:sp>
      <p:pic>
        <p:nvPicPr>
          <p:cNvPr descr="A close up of a flower&#10;&#10;Description automatically generated" id="479" name="Google Shape;479;p50"/>
          <p:cNvPicPr preferRelativeResize="0"/>
          <p:nvPr/>
        </p:nvPicPr>
        <p:blipFill rotWithShape="1">
          <a:blip r:embed="rId5">
            <a:alphaModFix/>
          </a:blip>
          <a:srcRect b="0" l="0" r="0" t="0"/>
          <a:stretch/>
        </p:blipFill>
        <p:spPr>
          <a:xfrm>
            <a:off x="3992686" y="2276475"/>
            <a:ext cx="4206628" cy="406064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