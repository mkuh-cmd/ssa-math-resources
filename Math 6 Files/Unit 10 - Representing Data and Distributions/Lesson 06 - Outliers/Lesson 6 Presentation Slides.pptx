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8"/>
  </p:notesMasterIdLst>
  <p:sldIdLst>
    <p:sldId id="256" r:id="rId5"/>
    <p:sldId id="257" r:id="rId6"/>
    <p:sldId id="285" r:id="rId7"/>
    <p:sldId id="286" r:id="rId8"/>
    <p:sldId id="261" r:id="rId9"/>
    <p:sldId id="287" r:id="rId10"/>
    <p:sldId id="311" r:id="rId11"/>
    <p:sldId id="312" r:id="rId12"/>
    <p:sldId id="313" r:id="rId13"/>
    <p:sldId id="332" r:id="rId14"/>
    <p:sldId id="333" r:id="rId15"/>
    <p:sldId id="329" r:id="rId16"/>
    <p:sldId id="330" r:id="rId17"/>
    <p:sldId id="334" r:id="rId18"/>
    <p:sldId id="323" r:id="rId19"/>
    <p:sldId id="324" r:id="rId20"/>
    <p:sldId id="325" r:id="rId21"/>
    <p:sldId id="336" r:id="rId22"/>
    <p:sldId id="302" r:id="rId23"/>
    <p:sldId id="303" r:id="rId24"/>
    <p:sldId id="309" r:id="rId25"/>
    <p:sldId id="306" r:id="rId26"/>
    <p:sldId id="307" r:id="rId27"/>
  </p:sldIdLst>
  <p:sldSz cx="12192000" cy="6858000"/>
  <p:notesSz cx="6858000" cy="9144000"/>
  <p:embeddedFontLst>
    <p:embeddedFont>
      <p:font typeface="Calibri" pitchFamily="34" charset="0"/>
      <p:regular r:id="rId29"/>
      <p:bold r:id="rId30"/>
      <p:italic r:id="rId31"/>
      <p:boldItalic r:id="rId32"/>
    </p:embeddedFont>
    <p:embeddedFont>
      <p:font typeface="Century Gothic" pitchFamily="34" charset="0"/>
      <p:regular r:id="rId33"/>
      <p:bold r:id="rId34"/>
      <p:italic r:id="rId35"/>
      <p:boldItalic r:id="rId36"/>
    </p:embeddedFont>
    <p:embeddedFont>
      <p:font typeface="Cambria Math" pitchFamily="18" charset="0"/>
      <p:regular r:id="rId37"/>
    </p:embeddedFont>
    <p:embeddedFont>
      <p:font typeface="Arial Black" pitchFamily="34" charset="0"/>
      <p:bold r:id="rId38"/>
    </p:embeddedFont>
    <p:embeddedFont>
      <p:font typeface="Verdana"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23"/>
    <p:restoredTop sz="94719"/>
  </p:normalViewPr>
  <p:slideViewPr>
    <p:cSldViewPr snapToGrid="0">
      <p:cViewPr>
        <p:scale>
          <a:sx n="115" d="100"/>
          <a:sy n="115" d="100"/>
        </p:scale>
        <p:origin x="-10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font" Target="fonts/font14.fntdata"/><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41"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6349839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682936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308148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346874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106570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540458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379572" y="2054276"/>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6</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Outliers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225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xmlns=""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5138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730265" y="1472879"/>
            <a:ext cx="10740245"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MA.6.DP.1.6</a:t>
            </a:r>
          </a:p>
          <a:p>
            <a:pPr marL="622300" indent="0">
              <a:buNone/>
            </a:pPr>
            <a:r>
              <a:rPr lang="en-US" sz="2400" dirty="0">
                <a:latin typeface="Verdana" panose="020B0604030504040204" pitchFamily="34" charset="0"/>
                <a:ea typeface="Verdana" panose="020B0604030504040204" pitchFamily="34" charset="0"/>
                <a:cs typeface="Verdana" panose="020B0604030504040204" pitchFamily="34" charset="0"/>
              </a:rPr>
              <a:t>Given a real-world scenario, determine and describe how changes in data values impact measures of center and variation.</a:t>
            </a:r>
          </a:p>
          <a:p>
            <a:pPr marL="95250" indent="0">
              <a:buNone/>
            </a:pPr>
            <a:r>
              <a:rPr lang="en-US" sz="2400" dirty="0"/>
              <a:t/>
            </a:r>
            <a:br>
              <a:rPr lang="en-US" sz="2400" dirty="0"/>
            </a:br>
            <a:endParaRPr lang="en-US" sz="24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77521" y="-88032"/>
            <a:ext cx="1043604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730266" y="1206738"/>
            <a:ext cx="1108224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a:extLst>
              <a:ext uri="{FF2B5EF4-FFF2-40B4-BE49-F238E27FC236}">
                <a16:creationId xmlns:a16="http://schemas.microsoft.com/office/drawing/2014/main" xmlns="" id="{0291CEFE-D196-9148-822C-8ABD8FCFE84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225</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58888"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30265" y="1461304"/>
            <a:ext cx="1080969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44500" indent="-438150">
              <a:buClr>
                <a:srgbClr val="434343"/>
              </a:buClr>
              <a:buSzPct val="1000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determine how data is impacted by an outlier.</a:t>
            </a:r>
          </a:p>
          <a:p>
            <a:pPr marL="444500" indent="-438150">
              <a:buClr>
                <a:srgbClr val="434343"/>
              </a:buClr>
              <a:buSzPct val="100000"/>
              <a:buFont typeface="Wingdings" pitchFamily="2" charset="2"/>
              <a:buChar char="q"/>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444500" indent="-438150">
              <a:buClr>
                <a:srgbClr val="434343"/>
              </a:buClr>
              <a:buSzPct val="1000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relate the impact of an outlier to which measures of center and variation best describe a distribution.</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282;g104476d1465_1_17">
            <a:extLst>
              <a:ext uri="{FF2B5EF4-FFF2-40B4-BE49-F238E27FC236}">
                <a16:creationId xmlns:a16="http://schemas.microsoft.com/office/drawing/2014/main" xmlns="" id="{A4BEE76A-74C9-634D-86E8-4E13EA1A080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225</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189171"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226</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28438" y="0"/>
            <a:ext cx="970546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10.6.1 Warm-Up: You Tell the Story</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524238" y="1444863"/>
            <a:ext cx="10913866" cy="1323439"/>
          </a:xfrm>
          <a:prstGeom prst="rect">
            <a:avLst/>
          </a:prstGeom>
          <a:noFill/>
        </p:spPr>
        <p:txBody>
          <a:bodyPr wrap="square" rtlCol="0">
            <a:spAutoFit/>
          </a:bodyPr>
          <a:lstStyle/>
          <a:p>
            <a:pPr marL="457200" indent="-457200" fontAlgn="base">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Robbie goes into a restaurant and orders a deli sandwich and a cola for lunch. Afterward, he pays the bill, tips his waitress, and goes outside. He slowly takes in his surroundings. The sky is black and the city streets are deserted. What happened? </a:t>
            </a:r>
          </a:p>
        </p:txBody>
      </p:sp>
      <p:sp>
        <p:nvSpPr>
          <p:cNvPr id="9" name="Google Shape;282;g104476d1465_1_17">
            <a:extLst>
              <a:ext uri="{FF2B5EF4-FFF2-40B4-BE49-F238E27FC236}">
                <a16:creationId xmlns:a16="http://schemas.microsoft.com/office/drawing/2014/main" xmlns="" id="{32A74936-3DD7-C842-A2D4-1E181522B3D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226</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51215" y="2766150"/>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226</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42286" y="-85555"/>
            <a:ext cx="1032082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10.6.2 Exploration: Data Values</a:t>
            </a: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152D1D4D-DCB8-A246-B186-D40316579D77}"/>
              </a:ext>
            </a:extLst>
          </p:cNvPr>
          <p:cNvSpPr txBox="1"/>
          <p:nvPr/>
        </p:nvSpPr>
        <p:spPr>
          <a:xfrm>
            <a:off x="596046" y="1353417"/>
            <a:ext cx="10934538" cy="193899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Twenty students timed how long it took each of them to solve a puzzle. Below is a list of their solution times, in minutes, and a dot plot displaying the data.</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r>
              <a:rPr lang="en-US" sz="2000" dirty="0">
                <a:latin typeface="Cambria Math" pitchFamily="18" charset="0"/>
                <a:ea typeface="Cambria Math" pitchFamily="18" charset="0"/>
                <a:cs typeface="Verdana" panose="020B0604030504040204" pitchFamily="34" charset="0"/>
              </a:rPr>
              <a:t>2, 6, 7, 7, 8, 8, 8, 9, 9, 9, 9, 9 ,9, 9, 10, 10, 11, 11, 11, 12</a:t>
            </a:r>
          </a:p>
        </p:txBody>
      </p:sp>
      <p:pic>
        <p:nvPicPr>
          <p:cNvPr id="3" name="Picture 2">
            <a:extLst>
              <a:ext uri="{FF2B5EF4-FFF2-40B4-BE49-F238E27FC236}">
                <a16:creationId xmlns:a16="http://schemas.microsoft.com/office/drawing/2014/main" xmlns="" id="{0502A2A7-E740-7C4A-B62C-7C67ECA045A8}"/>
              </a:ext>
            </a:extLst>
          </p:cNvPr>
          <p:cNvPicPr>
            <a:picLocks noChangeAspect="1"/>
          </p:cNvPicPr>
          <p:nvPr/>
        </p:nvPicPr>
        <p:blipFill>
          <a:blip r:embed="rId5"/>
          <a:stretch>
            <a:fillRect/>
          </a:stretch>
        </p:blipFill>
        <p:spPr>
          <a:xfrm>
            <a:off x="3535209" y="3565592"/>
            <a:ext cx="5121581" cy="2646764"/>
          </a:xfrm>
          <a:prstGeom prst="rect">
            <a:avLst/>
          </a:prstGeom>
        </p:spPr>
      </p:pic>
      <p:sp>
        <p:nvSpPr>
          <p:cNvPr id="9" name="Google Shape;282;g104476d1465_1_17">
            <a:extLst>
              <a:ext uri="{FF2B5EF4-FFF2-40B4-BE49-F238E27FC236}">
                <a16:creationId xmlns:a16="http://schemas.microsoft.com/office/drawing/2014/main" xmlns="" id="{9C3AF52F-4D5A-6542-8CCC-75B902C8E05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226</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8" name="Picture 7">
            <a:extLst>
              <a:ext uri="{FF2B5EF4-FFF2-40B4-BE49-F238E27FC236}">
                <a16:creationId xmlns:a16="http://schemas.microsoft.com/office/drawing/2014/main" xmlns="" id="{0502A2A7-E740-7C4A-B62C-7C67ECA045A8}"/>
              </a:ext>
            </a:extLst>
          </p:cNvPr>
          <p:cNvPicPr>
            <a:picLocks noChangeAspect="1"/>
          </p:cNvPicPr>
          <p:nvPr/>
        </p:nvPicPr>
        <p:blipFill>
          <a:blip r:embed="rId3"/>
          <a:stretch>
            <a:fillRect/>
          </a:stretch>
        </p:blipFill>
        <p:spPr>
          <a:xfrm>
            <a:off x="6690928" y="165445"/>
            <a:ext cx="5121581" cy="2646764"/>
          </a:xfrm>
          <a:prstGeom prst="rect">
            <a:avLst/>
          </a:prstGeom>
        </p:spPr>
      </p:pic>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B74EB5C6-2FDE-474B-866F-02AD6706D73C}"/>
              </a:ext>
            </a:extLst>
          </p:cNvPr>
          <p:cNvSpPr txBox="1"/>
          <p:nvPr/>
        </p:nvSpPr>
        <p:spPr>
          <a:xfrm>
            <a:off x="520568" y="396264"/>
            <a:ext cx="10780704" cy="5324535"/>
          </a:xfrm>
          <a:prstGeom prst="rect">
            <a:avLst/>
          </a:prstGeom>
          <a:noFill/>
        </p:spPr>
        <p:txBody>
          <a:bodyPr wrap="square" rtlCol="0">
            <a:spAutoFit/>
          </a:bodyPr>
          <a:lstStyle/>
          <a:p>
            <a:pPr marL="900113"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Describe the distribution of data.</a:t>
            </a:r>
          </a:p>
          <a:p>
            <a:pPr marL="90011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011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0113"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Determine the mean of the data set.</a:t>
            </a:r>
            <a:r>
              <a:rPr lang="en-US" sz="2000" i="1" dirty="0">
                <a:latin typeface="Verdana" panose="020B0604030504040204" pitchFamily="34" charset="0"/>
                <a:ea typeface="Verdana" panose="020B0604030504040204" pitchFamily="34" charset="0"/>
                <a:cs typeface="Verdana" panose="020B0604030504040204" pitchFamily="34" charset="0"/>
              </a:rPr>
              <a:t> </a:t>
            </a:r>
            <a:br>
              <a:rPr lang="en-US" sz="2000" i="1"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Then, draw an arrow  (↑) below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number line that points to this value.</a:t>
            </a:r>
          </a:p>
          <a:p>
            <a:pPr marL="90011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011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0113"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Determine the median of the data set.</a:t>
            </a:r>
            <a:r>
              <a:rPr lang="en-US" sz="2000" i="1" dirty="0">
                <a:latin typeface="Verdana" panose="020B0604030504040204" pitchFamily="34" charset="0"/>
                <a:ea typeface="Verdana" panose="020B0604030504040204" pitchFamily="34" charset="0"/>
                <a:cs typeface="Verdana" panose="020B0604030504040204" pitchFamily="34" charset="0"/>
              </a:rPr>
              <a:t> </a:t>
            </a:r>
            <a:br>
              <a:rPr lang="en-US" sz="2000" i="1"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Then, circle the value on the number line that represents this value.</a:t>
            </a:r>
          </a:p>
          <a:p>
            <a:pPr marL="90011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011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0113"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what you notice about the mean and the median of the data. Summarize your discussion.</a:t>
            </a:r>
          </a:p>
          <a:p>
            <a:pPr marL="90011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0113"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0113"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range of the data?</a:t>
            </a:r>
          </a:p>
        </p:txBody>
      </p:sp>
      <p:sp>
        <p:nvSpPr>
          <p:cNvPr id="6" name="Google Shape;282;g104476d1465_1_17">
            <a:extLst>
              <a:ext uri="{FF2B5EF4-FFF2-40B4-BE49-F238E27FC236}">
                <a16:creationId xmlns:a16="http://schemas.microsoft.com/office/drawing/2014/main" xmlns="" id="{7B04F007-EDF9-E34F-8DFF-E9EC15CBC6D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226</a:t>
            </a:r>
            <a:endParaRPr i="1" dirty="0">
              <a:latin typeface="Calibri"/>
              <a:ea typeface="Calibri"/>
              <a:cs typeface="Calibri"/>
              <a:sym typeface="Calibri"/>
            </a:endParaRPr>
          </a:p>
        </p:txBody>
      </p:sp>
    </p:spTree>
    <p:extLst>
      <p:ext uri="{BB962C8B-B14F-4D97-AF65-F5344CB8AC3E}">
        <p14:creationId xmlns:p14="http://schemas.microsoft.com/office/powerpoint/2010/main" val="687834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1" name="Picture 10">
            <a:extLst>
              <a:ext uri="{FF2B5EF4-FFF2-40B4-BE49-F238E27FC236}">
                <a16:creationId xmlns:a16="http://schemas.microsoft.com/office/drawing/2014/main" xmlns="" id="{0502A2A7-E740-7C4A-B62C-7C67ECA045A8}"/>
              </a:ext>
            </a:extLst>
          </p:cNvPr>
          <p:cNvPicPr>
            <a:picLocks noChangeAspect="1"/>
          </p:cNvPicPr>
          <p:nvPr/>
        </p:nvPicPr>
        <p:blipFill>
          <a:blip r:embed="rId3"/>
          <a:stretch>
            <a:fillRect/>
          </a:stretch>
        </p:blipFill>
        <p:spPr>
          <a:xfrm>
            <a:off x="6690928" y="165445"/>
            <a:ext cx="5121581" cy="2646764"/>
          </a:xfrm>
          <a:prstGeom prst="rect">
            <a:avLst/>
          </a:prstGeom>
        </p:spPr>
      </p:pic>
      <p:sp>
        <p:nvSpPr>
          <p:cNvPr id="278" name="Google Shape;278;g104476d1465_1_17"/>
          <p:cNvSpPr/>
          <p:nvPr/>
        </p:nvSpPr>
        <p:spPr>
          <a:xfrm>
            <a:off x="-2681"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graphicFrame>
        <p:nvGraphicFramePr>
          <p:cNvPr id="2" name="Table 1">
            <a:extLst>
              <a:ext uri="{FF2B5EF4-FFF2-40B4-BE49-F238E27FC236}">
                <a16:creationId xmlns:a16="http://schemas.microsoft.com/office/drawing/2014/main" xmlns="" id="{AAF76EE4-6F11-EA40-A8C9-C1ECD05B04EA}"/>
              </a:ext>
            </a:extLst>
          </p:cNvPr>
          <p:cNvGraphicFramePr>
            <a:graphicFrameLocks noGrp="1"/>
          </p:cNvGraphicFramePr>
          <p:nvPr>
            <p:extLst>
              <p:ext uri="{D42A27DB-BD31-4B8C-83A1-F6EECF244321}">
                <p14:modId xmlns:p14="http://schemas.microsoft.com/office/powerpoint/2010/main" val="1011385267"/>
              </p:ext>
            </p:extLst>
          </p:nvPr>
        </p:nvGraphicFramePr>
        <p:xfrm>
          <a:off x="888379" y="1081975"/>
          <a:ext cx="5915025" cy="1118870"/>
        </p:xfrm>
        <a:graphic>
          <a:graphicData uri="http://schemas.openxmlformats.org/drawingml/2006/table">
            <a:tbl>
              <a:tblPr/>
              <a:tblGrid>
                <a:gridCol w="1962150">
                  <a:extLst>
                    <a:ext uri="{9D8B030D-6E8A-4147-A177-3AD203B41FA5}">
                      <a16:colId xmlns:a16="http://schemas.microsoft.com/office/drawing/2014/main" xmlns="" val="2275798282"/>
                    </a:ext>
                  </a:extLst>
                </a:gridCol>
                <a:gridCol w="1962150">
                  <a:extLst>
                    <a:ext uri="{9D8B030D-6E8A-4147-A177-3AD203B41FA5}">
                      <a16:colId xmlns:a16="http://schemas.microsoft.com/office/drawing/2014/main" xmlns="" val="4267629977"/>
                    </a:ext>
                  </a:extLst>
                </a:gridCol>
                <a:gridCol w="1990725">
                  <a:extLst>
                    <a:ext uri="{9D8B030D-6E8A-4147-A177-3AD203B41FA5}">
                      <a16:colId xmlns:a16="http://schemas.microsoft.com/office/drawing/2014/main" xmlns="" val="1935217873"/>
                    </a:ext>
                  </a:extLst>
                </a:gridCol>
              </a:tblGrid>
              <a:tr h="439420">
                <a:tc>
                  <a:txBody>
                    <a:bodyPr/>
                    <a:lstStyle/>
                    <a:p>
                      <a:pPr algn="ctr" rtl="0" fontAlgn="ctr">
                        <a:spcBef>
                          <a:spcPts val="0"/>
                        </a:spcBef>
                        <a:spcAft>
                          <a:spcPts val="0"/>
                        </a:spcAft>
                      </a:pPr>
                      <a:r>
                        <a:rPr lang="en-US" sz="1800" b="1" i="0" u="none" strike="noStrike" dirty="0">
                          <a:solidFill>
                            <a:srgbClr val="000000"/>
                          </a:solidFill>
                          <a:effectLst/>
                          <a:latin typeface="Verdana" panose="020B0604030504040204" pitchFamily="34" charset="0"/>
                        </a:rPr>
                        <a:t>Q1</a:t>
                      </a: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spcBef>
                          <a:spcPts val="0"/>
                        </a:spcBef>
                        <a:spcAft>
                          <a:spcPts val="0"/>
                        </a:spcAft>
                      </a:pPr>
                      <a:r>
                        <a:rPr lang="en-US" sz="1800" b="1" i="0" u="none" strike="noStrike">
                          <a:solidFill>
                            <a:srgbClr val="000000"/>
                          </a:solidFill>
                          <a:effectLst/>
                          <a:latin typeface="Verdana" panose="020B0604030504040204" pitchFamily="34" charset="0"/>
                        </a:rPr>
                        <a:t>Q3</a:t>
                      </a: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spcBef>
                          <a:spcPts val="0"/>
                        </a:spcBef>
                        <a:spcAft>
                          <a:spcPts val="0"/>
                        </a:spcAft>
                      </a:pPr>
                      <a:r>
                        <a:rPr lang="en-US" sz="1800" b="1" i="0" u="none" strike="noStrike">
                          <a:solidFill>
                            <a:srgbClr val="000000"/>
                          </a:solidFill>
                          <a:effectLst/>
                          <a:latin typeface="Verdana" panose="020B0604030504040204" pitchFamily="34" charset="0"/>
                        </a:rPr>
                        <a:t>IQR</a:t>
                      </a: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3150091799"/>
                  </a:ext>
                </a:extLst>
              </a:tr>
              <a:tr h="679450">
                <a:tc>
                  <a:txBody>
                    <a:bodyPr/>
                    <a:lstStyle/>
                    <a:p>
                      <a:pPr fontAlgn="ctr"/>
                      <a:r>
                        <a:rPr lang="en-US">
                          <a:effectLst/>
                        </a:rPr>
                        <a:t/>
                      </a:r>
                      <a:br>
                        <a:rPr lang="en-US">
                          <a:effectLst/>
                        </a:rPr>
                      </a:b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r>
                        <a:rPr lang="en-US" dirty="0">
                          <a:effectLst/>
                        </a:rPr>
                        <a:t/>
                      </a:r>
                      <a:br>
                        <a:rPr lang="en-US" dirty="0">
                          <a:effectLst/>
                        </a:rPr>
                      </a:b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r>
                        <a:rPr lang="en-US" dirty="0">
                          <a:effectLst/>
                        </a:rPr>
                        <a:t/>
                      </a:r>
                      <a:br>
                        <a:rPr lang="en-US" dirty="0">
                          <a:effectLst/>
                        </a:rPr>
                      </a:b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54728050"/>
                  </a:ext>
                </a:extLst>
              </a:tr>
            </a:tbl>
          </a:graphicData>
        </a:graphic>
      </p:graphicFrame>
      <p:sp>
        <p:nvSpPr>
          <p:cNvPr id="3" name="Rectangle 1">
            <a:extLst>
              <a:ext uri="{FF2B5EF4-FFF2-40B4-BE49-F238E27FC236}">
                <a16:creationId xmlns:a16="http://schemas.microsoft.com/office/drawing/2014/main" xmlns="" id="{1E934CCB-A3BD-5F48-A106-481C93974E86}"/>
              </a:ext>
            </a:extLst>
          </p:cNvPr>
          <p:cNvSpPr>
            <a:spLocks noChangeArrowheads="1"/>
          </p:cNvSpPr>
          <p:nvPr/>
        </p:nvSpPr>
        <p:spPr bwMode="auto">
          <a:xfrm>
            <a:off x="2007766" y="928087"/>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xmlns="" id="{7B1EA6C9-1F27-7340-B0D0-128B1DF8C9AD}"/>
              </a:ext>
            </a:extLst>
          </p:cNvPr>
          <p:cNvSpPr txBox="1"/>
          <p:nvPr/>
        </p:nvSpPr>
        <p:spPr>
          <a:xfrm>
            <a:off x="530353" y="3140327"/>
            <a:ext cx="11245951" cy="193899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Imagine that the fastest time of 2 minutes was removed from the data set. Discuss with your partner what effect, if any, removing this value has on the values of center and variation (mean, median, range, IQR). Summarize your discussion.</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How does the shape of the graph change after 2 is removed? </a:t>
            </a:r>
          </a:p>
        </p:txBody>
      </p:sp>
      <p:sp>
        <p:nvSpPr>
          <p:cNvPr id="9" name="Google Shape;282;g104476d1465_1_17">
            <a:extLst>
              <a:ext uri="{FF2B5EF4-FFF2-40B4-BE49-F238E27FC236}">
                <a16:creationId xmlns:a16="http://schemas.microsoft.com/office/drawing/2014/main" xmlns="" id="{DBE5992A-1587-674A-B08E-F8B75A45688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227</a:t>
            </a:r>
            <a:endParaRPr i="1" dirty="0">
              <a:latin typeface="Calibri"/>
              <a:ea typeface="Calibri"/>
              <a:cs typeface="Calibri"/>
              <a:sym typeface="Calibri"/>
            </a:endParaRPr>
          </a:p>
        </p:txBody>
      </p:sp>
      <p:sp>
        <p:nvSpPr>
          <p:cNvPr id="12" name="TextBox 11">
            <a:extLst>
              <a:ext uri="{FF2B5EF4-FFF2-40B4-BE49-F238E27FC236}">
                <a16:creationId xmlns:a16="http://schemas.microsoft.com/office/drawing/2014/main" xmlns="" id="{B74EB5C6-2FDE-474B-866F-02AD6706D73C}"/>
              </a:ext>
            </a:extLst>
          </p:cNvPr>
          <p:cNvSpPr txBox="1"/>
          <p:nvPr/>
        </p:nvSpPr>
        <p:spPr>
          <a:xfrm>
            <a:off x="530353" y="400785"/>
            <a:ext cx="8176470" cy="707886"/>
          </a:xfrm>
          <a:prstGeom prst="rect">
            <a:avLst/>
          </a:prstGeom>
          <a:noFill/>
        </p:spPr>
        <p:txBody>
          <a:bodyPr wrap="square" rtlCol="0">
            <a:spAutoFit/>
          </a:bodyPr>
          <a:lstStyle/>
          <a:p>
            <a:pPr marL="808038" indent="-363538">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Find the interquartile range (IQR).</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952665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B74EB5C6-2FDE-474B-866F-02AD6706D73C}"/>
              </a:ext>
            </a:extLst>
          </p:cNvPr>
          <p:cNvSpPr txBox="1"/>
          <p:nvPr/>
        </p:nvSpPr>
        <p:spPr>
          <a:xfrm>
            <a:off x="569365" y="399089"/>
            <a:ext cx="8327136" cy="144655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4.</a:t>
            </a:r>
            <a:r>
              <a:rPr lang="en-US" sz="24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Compare the new values with the original values.</a:t>
            </a: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a:extLst>
              <a:ext uri="{FF2B5EF4-FFF2-40B4-BE49-F238E27FC236}">
                <a16:creationId xmlns:a16="http://schemas.microsoft.com/office/drawing/2014/main" xmlns="" id="{A64088E2-4F33-C149-B9F2-780991955BBE}"/>
              </a:ext>
            </a:extLst>
          </p:cNvPr>
          <p:cNvGraphicFramePr>
            <a:graphicFrameLocks noGrp="1"/>
          </p:cNvGraphicFramePr>
          <p:nvPr>
            <p:extLst>
              <p:ext uri="{D42A27DB-BD31-4B8C-83A1-F6EECF244321}">
                <p14:modId xmlns:p14="http://schemas.microsoft.com/office/powerpoint/2010/main" val="1249492889"/>
              </p:ext>
            </p:extLst>
          </p:nvPr>
        </p:nvGraphicFramePr>
        <p:xfrm>
          <a:off x="2599029" y="1126890"/>
          <a:ext cx="6617335" cy="3547745"/>
        </p:xfrm>
        <a:graphic>
          <a:graphicData uri="http://schemas.openxmlformats.org/drawingml/2006/table">
            <a:tbl>
              <a:tblPr/>
              <a:tblGrid>
                <a:gridCol w="1200150">
                  <a:extLst>
                    <a:ext uri="{9D8B030D-6E8A-4147-A177-3AD203B41FA5}">
                      <a16:colId xmlns:a16="http://schemas.microsoft.com/office/drawing/2014/main" xmlns="" val="1498340272"/>
                    </a:ext>
                  </a:extLst>
                </a:gridCol>
                <a:gridCol w="2016760">
                  <a:extLst>
                    <a:ext uri="{9D8B030D-6E8A-4147-A177-3AD203B41FA5}">
                      <a16:colId xmlns:a16="http://schemas.microsoft.com/office/drawing/2014/main" xmlns="" val="37954873"/>
                    </a:ext>
                  </a:extLst>
                </a:gridCol>
                <a:gridCol w="1666875">
                  <a:extLst>
                    <a:ext uri="{9D8B030D-6E8A-4147-A177-3AD203B41FA5}">
                      <a16:colId xmlns:a16="http://schemas.microsoft.com/office/drawing/2014/main" xmlns="" val="3426371411"/>
                    </a:ext>
                  </a:extLst>
                </a:gridCol>
                <a:gridCol w="1733550">
                  <a:extLst>
                    <a:ext uri="{9D8B030D-6E8A-4147-A177-3AD203B41FA5}">
                      <a16:colId xmlns:a16="http://schemas.microsoft.com/office/drawing/2014/main" xmlns="" val="2920459796"/>
                    </a:ext>
                  </a:extLst>
                </a:gridCol>
              </a:tblGrid>
              <a:tr h="663575">
                <a:tc>
                  <a:txBody>
                    <a:bodyPr/>
                    <a:lstStyle/>
                    <a:p>
                      <a:pPr fontAlgn="ctr"/>
                      <a:r>
                        <a:rPr lang="en-US" dirty="0">
                          <a:effectLst/>
                        </a:rPr>
                        <a:t/>
                      </a:r>
                      <a:br>
                        <a:rPr lang="en-US" dirty="0">
                          <a:effectLst/>
                        </a:rPr>
                      </a:b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spcBef>
                          <a:spcPts val="0"/>
                        </a:spcBef>
                        <a:spcAft>
                          <a:spcPts val="0"/>
                        </a:spcAft>
                      </a:pPr>
                      <a:r>
                        <a:rPr lang="en-US" sz="1800" b="1" i="0" u="none" strike="noStrike" dirty="0">
                          <a:solidFill>
                            <a:srgbClr val="000000"/>
                          </a:solidFill>
                          <a:effectLst/>
                          <a:latin typeface="Verdana" panose="020B0604030504040204" pitchFamily="34" charset="0"/>
                        </a:rPr>
                        <a:t>Original Value</a:t>
                      </a: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spcBef>
                          <a:spcPts val="0"/>
                        </a:spcBef>
                        <a:spcAft>
                          <a:spcPts val="0"/>
                        </a:spcAft>
                      </a:pPr>
                      <a:r>
                        <a:rPr lang="en-US" sz="1800" b="0" i="0" u="none" strike="noStrike" dirty="0">
                          <a:solidFill>
                            <a:srgbClr val="000000"/>
                          </a:solidFill>
                          <a:effectLst/>
                          <a:latin typeface="Cambria Math" panose="02040503050406030204" pitchFamily="18" charset="0"/>
                        </a:rPr>
                        <a:t>&gt;, &lt;, =</a:t>
                      </a: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spcBef>
                          <a:spcPts val="0"/>
                        </a:spcBef>
                        <a:spcAft>
                          <a:spcPts val="0"/>
                        </a:spcAft>
                      </a:pPr>
                      <a:r>
                        <a:rPr lang="en-US" sz="1800" b="1" i="0" u="none" strike="noStrike" dirty="0">
                          <a:solidFill>
                            <a:srgbClr val="000000"/>
                          </a:solidFill>
                          <a:effectLst/>
                          <a:latin typeface="Verdana" panose="020B0604030504040204" pitchFamily="34" charset="0"/>
                        </a:rPr>
                        <a:t>New Value after </a:t>
                      </a:r>
                      <a:r>
                        <a:rPr lang="en-US" sz="1800" b="1" i="0" u="none" strike="noStrike" dirty="0">
                          <a:solidFill>
                            <a:srgbClr val="000000"/>
                          </a:solidFill>
                          <a:effectLst/>
                          <a:latin typeface="Cambria Math" panose="02040503050406030204" pitchFamily="18" charset="0"/>
                        </a:rPr>
                        <a:t>2</a:t>
                      </a:r>
                      <a:r>
                        <a:rPr lang="en-US" sz="1800" b="0" i="0" u="none" strike="noStrike" dirty="0">
                          <a:solidFill>
                            <a:srgbClr val="000000"/>
                          </a:solidFill>
                          <a:effectLst/>
                          <a:latin typeface="Cambria Math" panose="02040503050406030204" pitchFamily="18" charset="0"/>
                        </a:rPr>
                        <a:t> </a:t>
                      </a:r>
                      <a:r>
                        <a:rPr lang="en-US" sz="1800" b="1" i="0" u="none" strike="noStrike" dirty="0">
                          <a:solidFill>
                            <a:srgbClr val="000000"/>
                          </a:solidFill>
                          <a:effectLst/>
                          <a:latin typeface="Verdana" panose="020B0604030504040204" pitchFamily="34" charset="0"/>
                        </a:rPr>
                        <a:t>is Removed</a:t>
                      </a: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967320561"/>
                  </a:ext>
                </a:extLst>
              </a:tr>
              <a:tr h="663575">
                <a:tc>
                  <a:txBody>
                    <a:bodyPr/>
                    <a:lstStyle/>
                    <a:p>
                      <a:pPr algn="ctr" rtl="0" fontAlgn="ctr">
                        <a:spcBef>
                          <a:spcPts val="0"/>
                        </a:spcBef>
                        <a:spcAft>
                          <a:spcPts val="0"/>
                        </a:spcAft>
                      </a:pPr>
                      <a:r>
                        <a:rPr lang="en-US" sz="1800" b="1" i="0" u="none" strike="noStrike">
                          <a:solidFill>
                            <a:srgbClr val="000000"/>
                          </a:solidFill>
                          <a:effectLst/>
                          <a:latin typeface="Verdana" panose="020B0604030504040204" pitchFamily="34" charset="0"/>
                        </a:rPr>
                        <a:t>Mean</a:t>
                      </a: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fontAlgn="ctr"/>
                      <a:r>
                        <a:rPr lang="en-US">
                          <a:effectLst/>
                        </a:rPr>
                        <a:t/>
                      </a:r>
                      <a:br>
                        <a:rPr lang="en-US">
                          <a:effectLst/>
                        </a:rPr>
                      </a:b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r>
                        <a:rPr lang="en-US">
                          <a:effectLst/>
                        </a:rPr>
                        <a:t/>
                      </a:r>
                      <a:br>
                        <a:rPr lang="en-US">
                          <a:effectLst/>
                        </a:rPr>
                      </a:b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r>
                        <a:rPr lang="en-US" dirty="0">
                          <a:effectLst/>
                        </a:rPr>
                        <a:t/>
                      </a:r>
                      <a:br>
                        <a:rPr lang="en-US" dirty="0">
                          <a:effectLst/>
                        </a:rPr>
                      </a:b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44466482"/>
                  </a:ext>
                </a:extLst>
              </a:tr>
              <a:tr h="642620">
                <a:tc>
                  <a:txBody>
                    <a:bodyPr/>
                    <a:lstStyle/>
                    <a:p>
                      <a:pPr algn="ctr" rtl="0" fontAlgn="ctr">
                        <a:spcBef>
                          <a:spcPts val="0"/>
                        </a:spcBef>
                        <a:spcAft>
                          <a:spcPts val="0"/>
                        </a:spcAft>
                      </a:pPr>
                      <a:r>
                        <a:rPr lang="en-US" sz="1800" b="1" i="0" u="none" strike="noStrike">
                          <a:solidFill>
                            <a:srgbClr val="000000"/>
                          </a:solidFill>
                          <a:effectLst/>
                          <a:latin typeface="Verdana" panose="020B0604030504040204" pitchFamily="34" charset="0"/>
                        </a:rPr>
                        <a:t>Median</a:t>
                      </a: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fontAlgn="ctr"/>
                      <a:r>
                        <a:rPr lang="en-US">
                          <a:effectLst/>
                        </a:rPr>
                        <a:t/>
                      </a:r>
                      <a:br>
                        <a:rPr lang="en-US">
                          <a:effectLst/>
                        </a:rPr>
                      </a:b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r>
                        <a:rPr lang="en-US">
                          <a:effectLst/>
                        </a:rPr>
                        <a:t/>
                      </a:r>
                      <a:br>
                        <a:rPr lang="en-US">
                          <a:effectLst/>
                        </a:rPr>
                      </a:b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r>
                        <a:rPr lang="en-US">
                          <a:effectLst/>
                        </a:rPr>
                        <a:t/>
                      </a:r>
                      <a:br>
                        <a:rPr lang="en-US">
                          <a:effectLst/>
                        </a:rPr>
                      </a:b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64816577"/>
                  </a:ext>
                </a:extLst>
              </a:tr>
              <a:tr h="663575">
                <a:tc>
                  <a:txBody>
                    <a:bodyPr/>
                    <a:lstStyle/>
                    <a:p>
                      <a:pPr algn="ctr" rtl="0" fontAlgn="ctr">
                        <a:spcBef>
                          <a:spcPts val="0"/>
                        </a:spcBef>
                        <a:spcAft>
                          <a:spcPts val="0"/>
                        </a:spcAft>
                      </a:pPr>
                      <a:r>
                        <a:rPr lang="en-US" sz="1800" b="1" i="0" u="none" strike="noStrike">
                          <a:solidFill>
                            <a:srgbClr val="000000"/>
                          </a:solidFill>
                          <a:effectLst/>
                          <a:latin typeface="Verdana" panose="020B0604030504040204" pitchFamily="34" charset="0"/>
                        </a:rPr>
                        <a:t>Range</a:t>
                      </a: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fontAlgn="ctr"/>
                      <a:r>
                        <a:rPr lang="en-US">
                          <a:effectLst/>
                        </a:rPr>
                        <a:t/>
                      </a:r>
                      <a:br>
                        <a:rPr lang="en-US">
                          <a:effectLst/>
                        </a:rPr>
                      </a:b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r>
                        <a:rPr lang="en-US">
                          <a:effectLst/>
                        </a:rPr>
                        <a:t/>
                      </a:r>
                      <a:br>
                        <a:rPr lang="en-US">
                          <a:effectLst/>
                        </a:rPr>
                      </a:b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r>
                        <a:rPr lang="en-US">
                          <a:effectLst/>
                        </a:rPr>
                        <a:t/>
                      </a:r>
                      <a:br>
                        <a:rPr lang="en-US">
                          <a:effectLst/>
                        </a:rPr>
                      </a:b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75183361"/>
                  </a:ext>
                </a:extLst>
              </a:tr>
              <a:tr h="663575">
                <a:tc>
                  <a:txBody>
                    <a:bodyPr/>
                    <a:lstStyle/>
                    <a:p>
                      <a:pPr algn="ctr" rtl="0" fontAlgn="ctr">
                        <a:spcBef>
                          <a:spcPts val="0"/>
                        </a:spcBef>
                        <a:spcAft>
                          <a:spcPts val="0"/>
                        </a:spcAft>
                      </a:pPr>
                      <a:r>
                        <a:rPr lang="en-US" sz="1800" b="1" i="0" u="none" strike="noStrike">
                          <a:solidFill>
                            <a:srgbClr val="000000"/>
                          </a:solidFill>
                          <a:effectLst/>
                          <a:latin typeface="Verdana" panose="020B0604030504040204" pitchFamily="34" charset="0"/>
                        </a:rPr>
                        <a:t>IQR</a:t>
                      </a: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fontAlgn="ctr"/>
                      <a:r>
                        <a:rPr lang="en-US" dirty="0">
                          <a:effectLst/>
                        </a:rPr>
                        <a:t/>
                      </a:r>
                      <a:br>
                        <a:rPr lang="en-US" dirty="0">
                          <a:effectLst/>
                        </a:rPr>
                      </a:b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r>
                        <a:rPr lang="en-US">
                          <a:effectLst/>
                        </a:rPr>
                        <a:t/>
                      </a:r>
                      <a:br>
                        <a:rPr lang="en-US">
                          <a:effectLst/>
                        </a:rPr>
                      </a:b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r>
                        <a:rPr lang="en-US" dirty="0">
                          <a:effectLst/>
                        </a:rPr>
                        <a:t/>
                      </a:r>
                      <a:br>
                        <a:rPr lang="en-US" dirty="0">
                          <a:effectLst/>
                        </a:rPr>
                      </a:b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753459197"/>
                  </a:ext>
                </a:extLst>
              </a:tr>
            </a:tbl>
          </a:graphicData>
        </a:graphic>
      </p:graphicFrame>
      <p:sp>
        <p:nvSpPr>
          <p:cNvPr id="3" name="Rectangle 1">
            <a:extLst>
              <a:ext uri="{FF2B5EF4-FFF2-40B4-BE49-F238E27FC236}">
                <a16:creationId xmlns:a16="http://schemas.microsoft.com/office/drawing/2014/main" xmlns="" id="{6D0FB211-A71C-9948-9342-9102C5602251}"/>
              </a:ext>
            </a:extLst>
          </p:cNvPr>
          <p:cNvSpPr>
            <a:spLocks noChangeArrowheads="1"/>
          </p:cNvSpPr>
          <p:nvPr/>
        </p:nvSpPr>
        <p:spPr bwMode="auto">
          <a:xfrm>
            <a:off x="2506664" y="1197075"/>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Google Shape;282;g104476d1465_1_17">
            <a:extLst>
              <a:ext uri="{FF2B5EF4-FFF2-40B4-BE49-F238E27FC236}">
                <a16:creationId xmlns:a16="http://schemas.microsoft.com/office/drawing/2014/main" xmlns="" id="{DB14A20B-CBBB-C242-8A7E-7B8854DFF845}"/>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227</a:t>
            </a:r>
            <a:endParaRPr i="1" dirty="0">
              <a:latin typeface="Calibri"/>
              <a:ea typeface="Calibri"/>
              <a:cs typeface="Calibri"/>
              <a:sym typeface="Calibri"/>
            </a:endParaRPr>
          </a:p>
        </p:txBody>
      </p:sp>
    </p:spTree>
    <p:extLst>
      <p:ext uri="{BB962C8B-B14F-4D97-AF65-F5344CB8AC3E}">
        <p14:creationId xmlns:p14="http://schemas.microsoft.com/office/powerpoint/2010/main" val="2115708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06240" y="2766150"/>
            <a:ext cx="7441266"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a16="http://schemas.microsoft.com/office/drawing/2014/main" xmlns=""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Google Shape;282;g104476d1465_1_17">
            <a:extLst>
              <a:ext uri="{FF2B5EF4-FFF2-40B4-BE49-F238E27FC236}">
                <a16:creationId xmlns:a16="http://schemas.microsoft.com/office/drawing/2014/main" xmlns="" id="{40A4BFA0-7205-6D41-8A28-3584D7630E5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spTree>
    <p:extLst>
      <p:ext uri="{BB962C8B-B14F-4D97-AF65-F5344CB8AC3E}">
        <p14:creationId xmlns:p14="http://schemas.microsoft.com/office/powerpoint/2010/main" val="2456065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6424" y="54313"/>
            <a:ext cx="107289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54B5D1"/>
                </a:solidFill>
                <a:latin typeface="Verdana"/>
                <a:ea typeface="Verdana"/>
                <a:cs typeface="Verdana"/>
                <a:sym typeface="Verdana"/>
              </a:rPr>
              <a:t>10.6.3 Bring It Together: </a:t>
            </a:r>
            <a:br>
              <a:rPr lang="en-US" sz="4300" b="1" dirty="0">
                <a:solidFill>
                  <a:srgbClr val="54B5D1"/>
                </a:solidFill>
                <a:latin typeface="Verdana"/>
                <a:ea typeface="Verdana"/>
                <a:cs typeface="Verdana"/>
                <a:sym typeface="Verdana"/>
              </a:rPr>
            </a:br>
            <a:r>
              <a:rPr lang="en-US" sz="4300" b="1" dirty="0">
                <a:solidFill>
                  <a:srgbClr val="54B5D1"/>
                </a:solidFill>
                <a:latin typeface="Verdana"/>
                <a:ea typeface="Verdana"/>
                <a:cs typeface="Verdana"/>
                <a:sym typeface="Verdana"/>
              </a:rPr>
              <a:t>Outlier Effects </a:t>
            </a:r>
          </a:p>
        </p:txBody>
      </p:sp>
      <p:sp>
        <p:nvSpPr>
          <p:cNvPr id="8" name="TextBox 7">
            <a:extLst>
              <a:ext uri="{FF2B5EF4-FFF2-40B4-BE49-F238E27FC236}">
                <a16:creationId xmlns:a16="http://schemas.microsoft.com/office/drawing/2014/main" xmlns="" id="{669E00F9-F39F-5043-888E-B0A2D8C9AE0F}"/>
              </a:ext>
            </a:extLst>
          </p:cNvPr>
          <p:cNvSpPr txBox="1"/>
          <p:nvPr/>
        </p:nvSpPr>
        <p:spPr>
          <a:xfrm>
            <a:off x="527334" y="1486545"/>
            <a:ext cx="9885306" cy="3170099"/>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 to describe the effect the outlier, </a:t>
            </a:r>
            <a:r>
              <a:rPr lang="en-US" sz="2000" dirty="0">
                <a:latin typeface="Cambria Math" pitchFamily="18" charset="0"/>
                <a:ea typeface="Cambria Math" pitchFamily="18" charset="0"/>
                <a:cs typeface="Verdana" panose="020B0604030504040204" pitchFamily="34" charset="0"/>
              </a:rPr>
              <a:t>2</a:t>
            </a:r>
            <a:r>
              <a:rPr lang="en-US" sz="2000" dirty="0">
                <a:latin typeface="Verdana" panose="020B0604030504040204" pitchFamily="34" charset="0"/>
                <a:ea typeface="Verdana" panose="020B0604030504040204" pitchFamily="34" charset="0"/>
                <a:cs typeface="Verdana" panose="020B0604030504040204" pitchFamily="34" charset="0"/>
              </a:rPr>
              <a:t>, has on each measure of center or variation. </a:t>
            </a:r>
          </a:p>
          <a:p>
            <a:pPr marL="628650" indent="-285750" fontAlgn="base">
              <a:lnSpc>
                <a:spcPct val="200000"/>
              </a:lnSpc>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does not have a significant effect on the</a:t>
            </a:r>
          </a:p>
          <a:p>
            <a:pPr marL="628650" indent="-285750" fontAlgn="base">
              <a:lnSpc>
                <a:spcPct val="200000"/>
              </a:lnSpc>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will change, often significantly, the value of the </a:t>
            </a:r>
          </a:p>
          <a:p>
            <a:pPr marL="628650" indent="-285750" fontAlgn="base">
              <a:lnSpc>
                <a:spcPct val="200000"/>
              </a:lnSpc>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does not have a significant effect on the</a:t>
            </a:r>
          </a:p>
        </p:txBody>
      </p:sp>
      <p:pic>
        <p:nvPicPr>
          <p:cNvPr id="10" name="Picture 2" descr="Icon&#10;&#10;Description automatically generated">
            <a:extLst>
              <a:ext uri="{FF2B5EF4-FFF2-40B4-BE49-F238E27FC236}">
                <a16:creationId xmlns:a16="http://schemas.microsoft.com/office/drawing/2014/main" xmlns="" id="{2375E889-EE73-6348-B442-A413C5A27F4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xmlns="" id="{DF8808E9-12A8-7544-B907-F141404ABC9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902056" y="2112771"/>
            <a:ext cx="1536700" cy="830008"/>
          </a:xfrm>
          <a:prstGeom prst="rect">
            <a:avLst/>
          </a:prstGeom>
        </p:spPr>
      </p:pic>
      <p:pic>
        <p:nvPicPr>
          <p:cNvPr id="9" name="Picture 8">
            <a:extLst>
              <a:ext uri="{FF2B5EF4-FFF2-40B4-BE49-F238E27FC236}">
                <a16:creationId xmlns:a16="http://schemas.microsoft.com/office/drawing/2014/main" xmlns="" id="{323A04AE-DAF6-D940-B0D9-F70FC5FD9B6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751973" y="3303780"/>
            <a:ext cx="1536700" cy="830008"/>
          </a:xfrm>
          <a:prstGeom prst="rect">
            <a:avLst/>
          </a:prstGeom>
        </p:spPr>
      </p:pic>
      <p:pic>
        <p:nvPicPr>
          <p:cNvPr id="4" name="Picture 3">
            <a:extLst>
              <a:ext uri="{FF2B5EF4-FFF2-40B4-BE49-F238E27FC236}">
                <a16:creationId xmlns:a16="http://schemas.microsoft.com/office/drawing/2014/main" xmlns="" id="{E2A2D2F0-044E-384F-BCDF-14E7E171E361}"/>
              </a:ext>
            </a:extLst>
          </p:cNvPr>
          <p:cNvPicPr>
            <a:picLocks noChangeAspect="1"/>
          </p:cNvPicPr>
          <p:nvPr/>
        </p:nvPicPr>
        <p:blipFill>
          <a:blip r:embed="rId6"/>
          <a:stretch>
            <a:fillRect/>
          </a:stretch>
        </p:blipFill>
        <p:spPr>
          <a:xfrm>
            <a:off x="9870585" y="3963571"/>
            <a:ext cx="1758950" cy="869950"/>
          </a:xfrm>
          <a:prstGeom prst="rect">
            <a:avLst/>
          </a:prstGeom>
        </p:spPr>
      </p:pic>
      <p:sp>
        <p:nvSpPr>
          <p:cNvPr id="11" name="Google Shape;282;g104476d1465_1_17">
            <a:extLst>
              <a:ext uri="{FF2B5EF4-FFF2-40B4-BE49-F238E27FC236}">
                <a16:creationId xmlns:a16="http://schemas.microsoft.com/office/drawing/2014/main" xmlns="" id="{ED2403CE-5EA1-E044-97BE-AAE2EAF245C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spTree>
    <p:extLst>
      <p:ext uri="{BB962C8B-B14F-4D97-AF65-F5344CB8AC3E}">
        <p14:creationId xmlns:p14="http://schemas.microsoft.com/office/powerpoint/2010/main" val="3399856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B74EB5C6-2FDE-474B-866F-02AD6706D73C}"/>
              </a:ext>
            </a:extLst>
          </p:cNvPr>
          <p:cNvSpPr txBox="1"/>
          <p:nvPr/>
        </p:nvSpPr>
        <p:spPr>
          <a:xfrm>
            <a:off x="535434" y="374089"/>
            <a:ext cx="10089452" cy="1015663"/>
          </a:xfrm>
          <a:prstGeom prst="rect">
            <a:avLst/>
          </a:prstGeom>
          <a:noFill/>
        </p:spPr>
        <p:txBody>
          <a:bodyPr wrap="square" rtlCol="0">
            <a:spAutoFit/>
          </a:bodyPr>
          <a:lstStyle/>
          <a:p>
            <a:pPr marL="685800" indent="-342900" fontAlgn="base">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will change, often significantly, the value of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a:t>
            </a:r>
          </a:p>
        </p:txBody>
      </p:sp>
      <p:pic>
        <p:nvPicPr>
          <p:cNvPr id="6" name="Picture 5">
            <a:extLst>
              <a:ext uri="{FF2B5EF4-FFF2-40B4-BE49-F238E27FC236}">
                <a16:creationId xmlns:a16="http://schemas.microsoft.com/office/drawing/2014/main" xmlns="" id="{ACEA2153-02B9-FA43-9A02-ED4139C169D2}"/>
              </a:ext>
            </a:extLst>
          </p:cNvPr>
          <p:cNvPicPr>
            <a:picLocks noChangeAspect="1"/>
          </p:cNvPicPr>
          <p:nvPr/>
        </p:nvPicPr>
        <p:blipFill>
          <a:blip r:embed="rId4"/>
          <a:stretch>
            <a:fillRect/>
          </a:stretch>
        </p:blipFill>
        <p:spPr>
          <a:xfrm>
            <a:off x="1777533" y="800980"/>
            <a:ext cx="1758950" cy="869950"/>
          </a:xfrm>
          <a:prstGeom prst="rect">
            <a:avLst/>
          </a:prstGeom>
        </p:spPr>
      </p:pic>
      <p:sp>
        <p:nvSpPr>
          <p:cNvPr id="4" name="Rectangle 3">
            <a:extLst>
              <a:ext uri="{FF2B5EF4-FFF2-40B4-BE49-F238E27FC236}">
                <a16:creationId xmlns:a16="http://schemas.microsoft.com/office/drawing/2014/main" xmlns="" id="{723ADE15-327A-2048-A642-7B1F1F3CAE17}"/>
              </a:ext>
            </a:extLst>
          </p:cNvPr>
          <p:cNvSpPr/>
          <p:nvPr/>
        </p:nvSpPr>
        <p:spPr>
          <a:xfrm>
            <a:off x="5978820" y="3275113"/>
            <a:ext cx="234360" cy="307777"/>
          </a:xfrm>
          <a:prstGeom prst="rect">
            <a:avLst/>
          </a:prstGeom>
        </p:spPr>
        <p:txBody>
          <a:bodyPr wrap="none">
            <a:spAutoFit/>
          </a:bodyPr>
          <a:lstStyle/>
          <a:p>
            <a:r>
              <a:rPr lang="en-US" dirty="0"/>
              <a:t> </a:t>
            </a:r>
          </a:p>
        </p:txBody>
      </p:sp>
      <p:sp>
        <p:nvSpPr>
          <p:cNvPr id="7" name="Rectangle 6">
            <a:extLst>
              <a:ext uri="{FF2B5EF4-FFF2-40B4-BE49-F238E27FC236}">
                <a16:creationId xmlns:a16="http://schemas.microsoft.com/office/drawing/2014/main" xmlns="" id="{053D09D7-F44C-8B44-B80E-3DD5064DF20F}"/>
              </a:ext>
            </a:extLst>
          </p:cNvPr>
          <p:cNvSpPr/>
          <p:nvPr/>
        </p:nvSpPr>
        <p:spPr>
          <a:xfrm>
            <a:off x="5981225" y="3275113"/>
            <a:ext cx="229550" cy="307777"/>
          </a:xfrm>
          <a:prstGeom prst="rect">
            <a:avLst/>
          </a:prstGeom>
        </p:spPr>
        <p:txBody>
          <a:bodyPr wrap="none">
            <a:spAutoFit/>
          </a:bodyPr>
          <a:lstStyle/>
          <a:p>
            <a:r>
              <a:rPr lang="en-US" dirty="0">
                <a:latin typeface="Times-Roman" pitchFamily="2" charset="0"/>
              </a:rPr>
              <a:t> </a:t>
            </a:r>
            <a:endParaRPr lang="en-US" dirty="0"/>
          </a:p>
        </p:txBody>
      </p:sp>
      <p:sp>
        <p:nvSpPr>
          <p:cNvPr id="13" name="Rounded Rectangle 12">
            <a:extLst>
              <a:ext uri="{FF2B5EF4-FFF2-40B4-BE49-F238E27FC236}">
                <a16:creationId xmlns:a16="http://schemas.microsoft.com/office/drawing/2014/main" xmlns="" id="{855C667B-12C1-4A43-9B6C-1C54CBE11177}"/>
              </a:ext>
            </a:extLst>
          </p:cNvPr>
          <p:cNvSpPr/>
          <p:nvPr/>
        </p:nvSpPr>
        <p:spPr>
          <a:xfrm>
            <a:off x="2657008" y="3236411"/>
            <a:ext cx="6877983" cy="2326833"/>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indent="742950">
              <a:lnSpc>
                <a:spcPct val="107000"/>
              </a:lnSpc>
              <a:spcAft>
                <a:spcPts val="800"/>
              </a:spcAft>
            </a:pPr>
            <a:endParaRPr lang="en-US" sz="18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742950" indent="742950">
              <a:lnSpc>
                <a:spcPct val="107000"/>
              </a:lnSpc>
              <a:spcAft>
                <a:spcPts val="800"/>
              </a:spcAft>
            </a:pPr>
            <a:endParaRPr lang="en-US" sz="18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742950" indent="-23813">
              <a:lnSpc>
                <a:spcPct val="107000"/>
              </a:lnSpc>
              <a:spcAft>
                <a:spcPts val="800"/>
              </a:spcAft>
            </a:pPr>
            <a:r>
              <a:rPr lang="en-US" sz="1800" dirty="0">
                <a:solidFill>
                  <a:srgbClr val="00619E"/>
                </a:solidFill>
                <a:latin typeface="Verdana" panose="020B0604030504040204" pitchFamily="34" charset="0"/>
                <a:ea typeface="Verdana" panose="020B0604030504040204" pitchFamily="34" charset="0"/>
                <a:cs typeface="Verdana" panose="020B0604030504040204" pitchFamily="34" charset="0"/>
              </a:rPr>
              <a:t>When outliers are present or a distribution is skewed, the ____________ is the preferred measure of center and the _________ is the preferred measure of variation to describe the distribution.</a:t>
            </a: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a:p>
            <a:pPr marL="742950" indent="742950">
              <a:lnSpc>
                <a:spcPct val="107000"/>
              </a:lnSpc>
              <a:spcAft>
                <a:spcPts val="800"/>
              </a:spcAft>
            </a:pP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a:p>
            <a:pPr marL="742950" indent="3714750">
              <a:lnSpc>
                <a:spcPct val="107000"/>
              </a:lnSpc>
              <a:spcAft>
                <a:spcPts val="800"/>
              </a:spcAft>
            </a:pPr>
            <a:r>
              <a:rPr lang="en-US" sz="1600" dirty="0">
                <a:latin typeface="Cambria Math" panose="02040503050406030204" pitchFamily="18" charset="0"/>
                <a:ea typeface="Cambria Math" panose="02040503050406030204" pitchFamily="18" charset="0"/>
                <a:cs typeface="Cambria Math" panose="02040503050406030204" pitchFamily="18" charset="0"/>
              </a:rPr>
              <a:t> </a:t>
            </a:r>
          </a:p>
        </p:txBody>
      </p:sp>
      <p:pic>
        <p:nvPicPr>
          <p:cNvPr id="14" name="image10.png" descr="Icon&#10;&#10;Description automatically generated">
            <a:extLst>
              <a:ext uri="{FF2B5EF4-FFF2-40B4-BE49-F238E27FC236}">
                <a16:creationId xmlns:a16="http://schemas.microsoft.com/office/drawing/2014/main" xmlns="" id="{5EE24C7C-8F62-064C-AC0D-4A421D6A354F}"/>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2834720" y="3653150"/>
            <a:ext cx="539750" cy="539115"/>
          </a:xfrm>
          <a:prstGeom prst="rect">
            <a:avLst/>
          </a:prstGeom>
          <a:ln/>
          <a:effectLst>
            <a:outerShdw blurRad="50800" dist="38100" dir="2700000" algn="tl" rotWithShape="0">
              <a:prstClr val="black">
                <a:alpha val="40000"/>
              </a:prstClr>
            </a:outerShdw>
          </a:effectLst>
        </p:spPr>
      </p:pic>
      <p:sp>
        <p:nvSpPr>
          <p:cNvPr id="11" name="Google Shape;282;g104476d1465_1_17">
            <a:extLst>
              <a:ext uri="{FF2B5EF4-FFF2-40B4-BE49-F238E27FC236}">
                <a16:creationId xmlns:a16="http://schemas.microsoft.com/office/drawing/2014/main" xmlns="" id="{44D53B09-2117-8D42-9D54-06F990A1977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spTree>
    <p:extLst>
      <p:ext uri="{BB962C8B-B14F-4D97-AF65-F5344CB8AC3E}">
        <p14:creationId xmlns:p14="http://schemas.microsoft.com/office/powerpoint/2010/main" val="275499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707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36505" y="2772500"/>
            <a:ext cx="7560385"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xmlns="" id="{248F23D7-8AFE-994D-8011-B3663417F08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39840" y="-86778"/>
            <a:ext cx="1034641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10.6.4 Guided Practice: Data Outliers</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31D40250-DEDD-2C41-8538-3D4DD18CCC4A}"/>
                  </a:ext>
                </a:extLst>
              </p:cNvPr>
              <p:cNvSpPr txBox="1"/>
              <p:nvPr/>
            </p:nvSpPr>
            <p:spPr>
              <a:xfrm>
                <a:off x="527334" y="1309142"/>
                <a:ext cx="10854738" cy="1692771"/>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Zane and </a:t>
                </a:r>
                <a14:m>
                  <m:oMath xmlns:m="http://schemas.openxmlformats.org/officeDocument/2006/math">
                    <m:r>
                      <a:rPr lang="en-US" sz="2000" i="1">
                        <a:latin typeface="Cambria Math" panose="02040503050406030204" pitchFamily="18"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of his friends listed how far, in miles, they live from the school and created a histogram.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14:m>
                  <m:oMath xmlns:m="http://schemas.openxmlformats.org/officeDocument/2006/math">
                    <m:r>
                      <a:rPr lang="en-US" sz="2000" i="1">
                        <a:latin typeface="Cambria Math" panose="02040503050406030204" pitchFamily="18" charset="0"/>
                      </a:rPr>
                      <m:t>0.4, 0.5, 1, 1, 2.4, 2.7, 3, 3.2, 4, 4.2, 4.4, 5, 9.5</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 xmlns:a16="http://schemas.microsoft.com/office/drawing/2014/main" xmlns:a14="http://schemas.microsoft.com/office/drawing/2010/main" id="{31D40250-DEDD-2C41-8538-3D4DD18CCC4A}"/>
                  </a:ext>
                </a:extLst>
              </p:cNvPr>
              <p:cNvSpPr txBox="1">
                <a:spLocks noRot="1" noChangeAspect="1" noMove="1" noResize="1" noEditPoints="1" noAdjustHandles="1" noChangeArrowheads="1" noChangeShapeType="1" noTextEdit="1"/>
              </p:cNvSpPr>
              <p:nvPr/>
            </p:nvSpPr>
            <p:spPr>
              <a:xfrm>
                <a:off x="527334" y="1309142"/>
                <a:ext cx="10854738" cy="1692771"/>
              </a:xfrm>
              <a:prstGeom prst="rect">
                <a:avLst/>
              </a:prstGeom>
              <a:blipFill rotWithShape="1">
                <a:blip r:embed="rId5"/>
                <a:stretch>
                  <a:fillRect l="-618" t="-2166" r="-1348"/>
                </a:stretch>
              </a:blipFill>
            </p:spPr>
            <p:txBody>
              <a:bodyPr/>
              <a:lstStyle/>
              <a:p>
                <a:r>
                  <a:rPr lang="en-PH">
                    <a:noFill/>
                  </a:rPr>
                  <a:t> </a:t>
                </a:r>
              </a:p>
            </p:txBody>
          </p:sp>
        </mc:Fallback>
      </mc:AlternateContent>
      <p:pic>
        <p:nvPicPr>
          <p:cNvPr id="4" name="Picture 3">
            <a:extLst>
              <a:ext uri="{FF2B5EF4-FFF2-40B4-BE49-F238E27FC236}">
                <a16:creationId xmlns:a16="http://schemas.microsoft.com/office/drawing/2014/main" xmlns="" id="{D8202FDF-5459-F74D-A26A-53257019632B}"/>
              </a:ext>
            </a:extLst>
          </p:cNvPr>
          <p:cNvPicPr>
            <a:picLocks noChangeAspect="1"/>
          </p:cNvPicPr>
          <p:nvPr/>
        </p:nvPicPr>
        <p:blipFill>
          <a:blip r:embed="rId6"/>
          <a:stretch>
            <a:fillRect/>
          </a:stretch>
        </p:blipFill>
        <p:spPr>
          <a:xfrm>
            <a:off x="3659597" y="2838757"/>
            <a:ext cx="5128839" cy="3618919"/>
          </a:xfrm>
          <a:prstGeom prst="rect">
            <a:avLst/>
          </a:prstGeom>
        </p:spPr>
      </p:pic>
      <p:sp>
        <p:nvSpPr>
          <p:cNvPr id="13" name="Google Shape;282;g104476d1465_1_17">
            <a:extLst>
              <a:ext uri="{FF2B5EF4-FFF2-40B4-BE49-F238E27FC236}">
                <a16:creationId xmlns:a16="http://schemas.microsoft.com/office/drawing/2014/main" xmlns="" id="{10CBF350-C9FA-584A-958F-13FA49130145}"/>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xmlns="" id="{A3BC97A7-8575-5A46-8E72-A886A83AEC7E}"/>
                  </a:ext>
                </a:extLst>
              </p:cNvPr>
              <p:cNvSpPr txBox="1"/>
              <p:nvPr/>
            </p:nvSpPr>
            <p:spPr>
              <a:xfrm>
                <a:off x="529800" y="3929510"/>
                <a:ext cx="11424752" cy="2554545"/>
              </a:xfrm>
              <a:prstGeom prst="rect">
                <a:avLst/>
              </a:prstGeom>
              <a:noFill/>
            </p:spPr>
            <p:txBody>
              <a:bodyPr wrap="square" rtlCol="0">
                <a:spAutoFit/>
              </a:bodyPr>
              <a:lstStyle/>
              <a:p>
                <a:pPr marL="896938" indent="-4445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height of the bar for the interval </a:t>
                </a:r>
                <a14:m>
                  <m:oMath xmlns:m="http://schemas.openxmlformats.org/officeDocument/2006/math">
                    <m:r>
                      <a:rPr lang="en-US" sz="2000" i="1">
                        <a:latin typeface="Cambria Math" panose="02040503050406030204" pitchFamily="18" charset="0"/>
                      </a:rPr>
                      <m:t>9.4−10.4</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896938" indent="-4445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445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445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mean and the median distance from school.</a:t>
                </a:r>
              </a:p>
              <a:p>
                <a:pPr marL="896938" indent="-4445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445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445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what effect that </a:t>
                </a:r>
                <a:r>
                  <a:rPr lang="en-US" sz="2000" dirty="0" smtClean="0">
                    <a:latin typeface="Verdana" panose="020B0604030504040204" pitchFamily="34" charset="0"/>
                    <a:ea typeface="Verdana" panose="020B0604030504040204" pitchFamily="34" charset="0"/>
                    <a:cs typeface="Verdana" panose="020B0604030504040204" pitchFamily="34" charset="0"/>
                  </a:rPr>
                  <a:t>outlier has </a:t>
                </a:r>
                <a:r>
                  <a:rPr lang="en-US" sz="2000" dirty="0">
                    <a:latin typeface="Verdana" panose="020B0604030504040204" pitchFamily="34" charset="0"/>
                    <a:ea typeface="Verdana" panose="020B0604030504040204" pitchFamily="34" charset="0"/>
                    <a:cs typeface="Verdana" panose="020B0604030504040204" pitchFamily="34" charset="0"/>
                  </a:rPr>
                  <a:t>on the mean, median, range, and interquartile range of the data. Summarize your conclusions.</a:t>
                </a:r>
              </a:p>
            </p:txBody>
          </p:sp>
        </mc:Choice>
        <mc:Fallback>
          <p:sp>
            <p:nvSpPr>
              <p:cNvPr id="5" name="TextBox 4">
                <a:extLst>
                  <a:ext uri="{FF2B5EF4-FFF2-40B4-BE49-F238E27FC236}">
                    <a16:creationId xmlns:a16="http://schemas.microsoft.com/office/drawing/2014/main" xmlns:a14="http://schemas.microsoft.com/office/drawing/2010/main" xmlns="" id="{A3BC97A7-8575-5A46-8E72-A886A83AEC7E}"/>
                  </a:ext>
                </a:extLst>
              </p:cNvPr>
              <p:cNvSpPr txBox="1">
                <a:spLocks noRot="1" noChangeAspect="1" noMove="1" noResize="1" noEditPoints="1" noAdjustHandles="1" noChangeArrowheads="1" noChangeShapeType="1" noTextEdit="1"/>
              </p:cNvSpPr>
              <p:nvPr/>
            </p:nvSpPr>
            <p:spPr>
              <a:xfrm>
                <a:off x="529800" y="3929510"/>
                <a:ext cx="11424752" cy="2554545"/>
              </a:xfrm>
              <a:prstGeom prst="rect">
                <a:avLst/>
              </a:prstGeom>
              <a:blipFill rotWithShape="1">
                <a:blip r:embed="rId4"/>
                <a:stretch>
                  <a:fillRect t="-1432" b="-3341"/>
                </a:stretch>
              </a:blipFill>
            </p:spPr>
            <p:txBody>
              <a:bodyPr/>
              <a:lstStyle/>
              <a:p>
                <a:r>
                  <a:rPr lang="en-PH">
                    <a:noFill/>
                  </a:rPr>
                  <a:t> </a:t>
                </a:r>
              </a:p>
            </p:txBody>
          </p:sp>
        </mc:Fallback>
      </mc:AlternateContent>
      <p:sp>
        <p:nvSpPr>
          <p:cNvPr id="6" name="Google Shape;282;g104476d1465_1_17">
            <a:extLst>
              <a:ext uri="{FF2B5EF4-FFF2-40B4-BE49-F238E27FC236}">
                <a16:creationId xmlns:a16="http://schemas.microsoft.com/office/drawing/2014/main" xmlns="" id="{3FB1B341-3CF9-C142-8079-666F5BDD7E5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pic>
        <p:nvPicPr>
          <p:cNvPr id="8" name="Picture 7">
            <a:extLst>
              <a:ext uri="{FF2B5EF4-FFF2-40B4-BE49-F238E27FC236}">
                <a16:creationId xmlns:a16="http://schemas.microsoft.com/office/drawing/2014/main" xmlns="" id="{D8202FDF-5459-F74D-A26A-53257019632B}"/>
              </a:ext>
            </a:extLst>
          </p:cNvPr>
          <p:cNvPicPr>
            <a:picLocks noChangeAspect="1"/>
          </p:cNvPicPr>
          <p:nvPr/>
        </p:nvPicPr>
        <p:blipFill>
          <a:blip r:embed="rId5"/>
          <a:stretch>
            <a:fillRect/>
          </a:stretch>
        </p:blipFill>
        <p:spPr>
          <a:xfrm>
            <a:off x="3659597" y="122190"/>
            <a:ext cx="5128839" cy="3618919"/>
          </a:xfrm>
          <a:prstGeom prst="rect">
            <a:avLst/>
          </a:prstGeom>
        </p:spPr>
      </p:pic>
    </p:spTree>
    <p:extLst>
      <p:ext uri="{BB962C8B-B14F-4D97-AF65-F5344CB8AC3E}">
        <p14:creationId xmlns:p14="http://schemas.microsoft.com/office/powerpoint/2010/main" val="1918385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A3BC97A7-8575-5A46-8E72-A886A83AEC7E}"/>
                  </a:ext>
                </a:extLst>
              </p:cNvPr>
              <p:cNvSpPr txBox="1"/>
              <p:nvPr/>
            </p:nvSpPr>
            <p:spPr>
              <a:xfrm>
                <a:off x="543946" y="378357"/>
                <a:ext cx="10861200" cy="6247864"/>
              </a:xfrm>
              <a:prstGeom prst="rect">
                <a:avLst/>
              </a:prstGeom>
              <a:noFill/>
            </p:spPr>
            <p:txBody>
              <a:bodyPr wrap="square" rtlCol="0">
                <a:spAutoFit/>
              </a:bodyPr>
              <a:lstStyle/>
              <a:p>
                <a:pPr marL="896938" lvl="0" indent="-433388">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Noelle is Zane’s friend who lived </a:t>
                </a:r>
                <a14:m>
                  <m:oMath xmlns:m="http://schemas.openxmlformats.org/officeDocument/2006/math">
                    <m:r>
                      <a:rPr lang="en-US" sz="2000" i="1">
                        <a:latin typeface="Cambria Math" panose="02040503050406030204" pitchFamily="18" charset="0"/>
                      </a:rPr>
                      <m:t>9.5</m:t>
                    </m:r>
                  </m:oMath>
                </a14:m>
                <a:r>
                  <a:rPr lang="en-US" sz="2000" dirty="0">
                    <a:latin typeface="Verdana" panose="020B0604030504040204" pitchFamily="34" charset="0"/>
                    <a:ea typeface="Verdana" panose="020B0604030504040204" pitchFamily="34" charset="0"/>
                    <a:cs typeface="Verdana" panose="020B0604030504040204" pitchFamily="34" charset="0"/>
                  </a:rPr>
                  <a:t> miles away from the school. She recently moved closer, and now only lives </a:t>
                </a:r>
                <a14:m>
                  <m:oMath xmlns:m="http://schemas.openxmlformats.org/officeDocument/2006/math">
                    <m:r>
                      <a:rPr lang="en-US" sz="2000" i="1">
                        <a:latin typeface="Cambria Math" panose="02040503050406030204" pitchFamily="18" charset="0"/>
                      </a:rPr>
                      <m:t>5.5</m:t>
                    </m:r>
                  </m:oMath>
                </a14:m>
                <a:r>
                  <a:rPr lang="en-US" sz="2000" dirty="0">
                    <a:latin typeface="Verdana" panose="020B0604030504040204" pitchFamily="34" charset="0"/>
                    <a:ea typeface="Verdana" panose="020B0604030504040204" pitchFamily="34" charset="0"/>
                    <a:cs typeface="Verdana" panose="020B0604030504040204" pitchFamily="34" charset="0"/>
                  </a:rPr>
                  <a:t> miles away from the school.</a:t>
                </a:r>
              </a:p>
              <a:p>
                <a:pPr marL="896938" indent="-433388"/>
                <a:r>
                  <a:rPr lang="en-US" sz="2000" dirty="0">
                    <a:latin typeface="Verdana" panose="020B0604030504040204" pitchFamily="34" charset="0"/>
                    <a:ea typeface="Verdana" panose="020B0604030504040204" pitchFamily="34" charset="0"/>
                    <a:cs typeface="Verdana" panose="020B0604030504040204" pitchFamily="34" charset="0"/>
                  </a:rPr>
                  <a:t> </a:t>
                </a:r>
              </a:p>
              <a:p>
                <a:pPr marL="896938" defTabSz="1339850"/>
                <a:r>
                  <a:rPr lang="en-US" sz="2000" dirty="0">
                    <a:latin typeface="Verdana" panose="020B0604030504040204" pitchFamily="34" charset="0"/>
                    <a:ea typeface="Verdana" panose="020B0604030504040204" pitchFamily="34" charset="0"/>
                    <a:cs typeface="Verdana" panose="020B0604030504040204" pitchFamily="34" charset="0"/>
                  </a:rPr>
                  <a:t>The data set with Noelle’s new distance from school, in purple, is shown.     </a:t>
                </a:r>
              </a:p>
              <a:p>
                <a:pPr marL="896938" indent="-433388"/>
                <a:r>
                  <a:rPr lang="en-US" sz="2000" dirty="0">
                    <a:latin typeface="Verdana" panose="020B0604030504040204" pitchFamily="34" charset="0"/>
                    <a:ea typeface="Verdana" panose="020B0604030504040204" pitchFamily="34" charset="0"/>
                    <a:cs typeface="Verdana" panose="020B0604030504040204" pitchFamily="34" charset="0"/>
                  </a:rPr>
                  <a:t> </a:t>
                </a:r>
              </a:p>
              <a:p>
                <a:pPr algn="ct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0.4, 0.5, 1, 1, 2.4, 2.7, 3, 3.2, 4, 4.2, 4.4, 5, 5.5</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33388"/>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a:r>
                  <a:rPr lang="en-US" sz="2000" dirty="0">
                    <a:latin typeface="Verdana" panose="020B0604030504040204" pitchFamily="34" charset="0"/>
                    <a:ea typeface="Verdana" panose="020B0604030504040204" pitchFamily="34" charset="0"/>
                    <a:cs typeface="Verdana" panose="020B0604030504040204" pitchFamily="34" charset="0"/>
                  </a:rPr>
                  <a:t>Would Noelle’s new distance from school have similar effects on the data? Explain your reasoning.</a:t>
                </a:r>
              </a:p>
              <a:p>
                <a:pPr marL="896938" indent="-433388"/>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33388"/>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33388">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What measure of center best describes the typical distance Zane’s friends live from school?</a:t>
                </a:r>
              </a:p>
              <a:p>
                <a:pPr marL="896938" indent="-433388">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33388">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33388">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What measure of variation best describes the spread of the data distribution?</a:t>
                </a:r>
              </a:p>
              <a:p>
                <a:pPr marL="896938" indent="-433388">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33388"/>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33388"/>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 xmlns:a16="http://schemas.microsoft.com/office/drawing/2014/main" xmlns:a14="http://schemas.microsoft.com/office/drawing/2010/main" id="{A3BC97A7-8575-5A46-8E72-A886A83AEC7E}"/>
                  </a:ext>
                </a:extLst>
              </p:cNvPr>
              <p:cNvSpPr txBox="1">
                <a:spLocks noRot="1" noChangeAspect="1" noMove="1" noResize="1" noEditPoints="1" noAdjustHandles="1" noChangeArrowheads="1" noChangeShapeType="1" noTextEdit="1"/>
              </p:cNvSpPr>
              <p:nvPr/>
            </p:nvSpPr>
            <p:spPr>
              <a:xfrm>
                <a:off x="543946" y="378357"/>
                <a:ext cx="10861200" cy="6247864"/>
              </a:xfrm>
              <a:prstGeom prst="rect">
                <a:avLst/>
              </a:prstGeom>
              <a:blipFill rotWithShape="1">
                <a:blip r:embed="rId4"/>
                <a:stretch>
                  <a:fillRect t="-585" r="-337"/>
                </a:stretch>
              </a:blipFill>
            </p:spPr>
            <p:txBody>
              <a:bodyPr/>
              <a:lstStyle/>
              <a:p>
                <a:r>
                  <a:rPr lang="en-PH">
                    <a:noFill/>
                  </a:rPr>
                  <a:t> </a:t>
                </a:r>
              </a:p>
            </p:txBody>
          </p:sp>
        </mc:Fallback>
      </mc:AlternateContent>
      <p:sp>
        <p:nvSpPr>
          <p:cNvPr id="6" name="Google Shape;282;g104476d1465_1_17">
            <a:extLst>
              <a:ext uri="{FF2B5EF4-FFF2-40B4-BE49-F238E27FC236}">
                <a16:creationId xmlns:a16="http://schemas.microsoft.com/office/drawing/2014/main" xmlns="" id="{224BB060-1644-744D-A3A6-08A1FC1A0F2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229</a:t>
            </a:r>
            <a:endParaRPr i="1" dirty="0">
              <a:latin typeface="Calibri"/>
              <a:ea typeface="Calibri"/>
              <a:cs typeface="Calibri"/>
              <a:sym typeface="Calibri"/>
            </a:endParaRPr>
          </a:p>
        </p:txBody>
      </p:sp>
    </p:spTree>
    <p:extLst>
      <p:ext uri="{BB962C8B-B14F-4D97-AF65-F5344CB8AC3E}">
        <p14:creationId xmlns:p14="http://schemas.microsoft.com/office/powerpoint/2010/main" val="449848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55986"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3054096" y="2852928"/>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EE3C8BB3-D8AE-154C-9B2D-B1D7451436F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229</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10.6.5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759C3E41-93EC-B84D-963F-86A3B15AC1C6}"/>
                  </a:ext>
                </a:extLst>
              </p:cNvPr>
              <p:cNvSpPr txBox="1"/>
              <p:nvPr/>
            </p:nvSpPr>
            <p:spPr>
              <a:xfrm>
                <a:off x="608425" y="1238491"/>
                <a:ext cx="10922159" cy="440120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Zoe needed exact change to purchase a snack and a drink from the vending machine. She asked her friends how much change, in dollars, they had and listed the results.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0.15, 0.15, 0.20, 0.25, 0.25, 0.30, 0.30, 0.30, 0.35, 0.75, 0.85</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data?</a:t>
                </a:r>
              </a:p>
              <a:p>
                <a:pPr marL="917575"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Will the mean be higher, lower, or approximately the same as the median? Explain your reasoning or justify your answer by showing your work.</a:t>
                </a:r>
              </a:p>
              <a:p>
                <a:pPr marL="917575"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Describe the impact of removing </a:t>
                </a:r>
                <a14:m>
                  <m:oMath xmlns:m="http://schemas.openxmlformats.org/officeDocument/2006/math">
                    <m:r>
                      <a:rPr lang="en-US" sz="2000" i="1">
                        <a:latin typeface="Cambria Math" panose="02040503050406030204" pitchFamily="18" charset="0"/>
                      </a:rPr>
                      <m:t>0.85</m:t>
                    </m:r>
                  </m:oMath>
                </a14:m>
                <a:r>
                  <a:rPr lang="en-US" sz="2000" dirty="0">
                    <a:latin typeface="Verdana" panose="020B0604030504040204" pitchFamily="34" charset="0"/>
                    <a:ea typeface="Verdana" panose="020B0604030504040204" pitchFamily="34" charset="0"/>
                    <a:cs typeface="Verdana" panose="020B0604030504040204" pitchFamily="34" charset="0"/>
                  </a:rPr>
                  <a:t> from the data set.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 xmlns:a16="http://schemas.microsoft.com/office/drawing/2014/main" xmlns:a14="http://schemas.microsoft.com/office/drawing/2010/main" id="{759C3E41-93EC-B84D-963F-86A3B15AC1C6}"/>
                  </a:ext>
                </a:extLst>
              </p:cNvPr>
              <p:cNvSpPr txBox="1">
                <a:spLocks noRot="1" noChangeAspect="1" noMove="1" noResize="1" noEditPoints="1" noAdjustHandles="1" noChangeArrowheads="1" noChangeShapeType="1" noTextEdit="1"/>
              </p:cNvSpPr>
              <p:nvPr/>
            </p:nvSpPr>
            <p:spPr>
              <a:xfrm>
                <a:off x="608425" y="1238491"/>
                <a:ext cx="10922159" cy="4401205"/>
              </a:xfrm>
              <a:prstGeom prst="rect">
                <a:avLst/>
              </a:prstGeom>
              <a:blipFill rotWithShape="1">
                <a:blip r:embed="rId5"/>
                <a:stretch>
                  <a:fillRect l="-614" t="-831" b="-1524"/>
                </a:stretch>
              </a:blipFill>
            </p:spPr>
            <p:txBody>
              <a:bodyPr/>
              <a:lstStyle/>
              <a:p>
                <a:r>
                  <a:rPr lang="en-PH">
                    <a:noFill/>
                  </a:rPr>
                  <a:t> </a:t>
                </a:r>
              </a:p>
            </p:txBody>
          </p:sp>
        </mc:Fallback>
      </mc:AlternateContent>
      <p:sp>
        <p:nvSpPr>
          <p:cNvPr id="8" name="Google Shape;282;g104476d1465_1_17">
            <a:extLst>
              <a:ext uri="{FF2B5EF4-FFF2-40B4-BE49-F238E27FC236}">
                <a16:creationId xmlns:a16="http://schemas.microsoft.com/office/drawing/2014/main" xmlns="" id="{24F33657-6C05-5142-B670-297E3535B7B5}"/>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229</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994415AB-1A1A-704F-A9BB-7A4F14F164A9}"/>
                  </a:ext>
                </a:extLst>
              </p:cNvPr>
              <p:cNvSpPr txBox="1"/>
              <p:nvPr/>
            </p:nvSpPr>
            <p:spPr>
              <a:xfrm>
                <a:off x="533530" y="1023507"/>
                <a:ext cx="11078462" cy="4093428"/>
              </a:xfrm>
              <a:prstGeom prst="rect">
                <a:avLst/>
              </a:prstGeom>
              <a:noFill/>
            </p:spPr>
            <p:txBody>
              <a:bodyPr wrap="square" rtlCol="0">
                <a:spAutoFit/>
              </a:bodyPr>
              <a:lstStyle/>
              <a:p>
                <a:pPr marL="917575"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The values </a:t>
                </a:r>
                <a14:m>
                  <m:oMath xmlns:m="http://schemas.openxmlformats.org/officeDocument/2006/math">
                    <m:r>
                      <a:rPr lang="en-US" sz="2000" i="1">
                        <a:latin typeface="Cambria Math" panose="02040503050406030204" pitchFamily="18" charset="0"/>
                      </a:rPr>
                      <m:t>0.85 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rPr>
                      <m:t>0.75</m:t>
                    </m:r>
                  </m:oMath>
                </a14:m>
                <a:r>
                  <a:rPr lang="en-US" sz="2000" dirty="0">
                    <a:latin typeface="Verdana" panose="020B0604030504040204" pitchFamily="34" charset="0"/>
                    <a:ea typeface="Verdana" panose="020B0604030504040204" pitchFamily="34" charset="0"/>
                    <a:cs typeface="Verdana" panose="020B0604030504040204" pitchFamily="34" charset="0"/>
                  </a:rPr>
                  <a:t> are outliers in this data set. What happens to the range if </a:t>
                </a:r>
                <a14:m>
                  <m:oMath xmlns:m="http://schemas.openxmlformats.org/officeDocument/2006/math">
                    <m:r>
                      <a:rPr lang="en-US" sz="2000" i="1">
                        <a:latin typeface="Cambria Math" panose="02040503050406030204" pitchFamily="18" charset="0"/>
                      </a:rPr>
                      <m:t>0.85 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rPr>
                      <m:t>0.75</m:t>
                    </m:r>
                  </m:oMath>
                </a14:m>
                <a:r>
                  <a:rPr lang="en-US" sz="2000" dirty="0">
                    <a:latin typeface="Verdana" panose="020B0604030504040204" pitchFamily="34" charset="0"/>
                    <a:ea typeface="Verdana" panose="020B0604030504040204" pitchFamily="34" charset="0"/>
                    <a:cs typeface="Verdana" panose="020B0604030504040204" pitchFamily="34" charset="0"/>
                  </a:rPr>
                  <a:t> were both removed from the data set?</a:t>
                </a:r>
              </a:p>
              <a:p>
                <a:pPr marL="460375"/>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The IQR of the full data set is </a:t>
                </a:r>
                <a:r>
                  <a:rPr lang="en-US" dirty="0"/>
                  <a:t>_________. </a:t>
                </a:r>
              </a:p>
              <a:p>
                <a:pPr marL="460375"/>
                <a:r>
                  <a:rPr lang="en-US" sz="2000" dirty="0">
                    <a:latin typeface="Verdana" panose="020B0604030504040204" pitchFamily="34" charset="0"/>
                    <a:ea typeface="Verdana" panose="020B0604030504040204" pitchFamily="34" charset="0"/>
                    <a:cs typeface="Verdana" panose="020B0604030504040204" pitchFamily="34" charset="0"/>
                  </a:rPr>
                  <a:t>    </a:t>
                </a:r>
              </a:p>
              <a:p>
                <a:pPr marL="541338"/>
                <a:r>
                  <a:rPr lang="en-US" sz="2000" dirty="0">
                    <a:latin typeface="Verdana" panose="020B0604030504040204" pitchFamily="34" charset="0"/>
                    <a:ea typeface="Verdana" panose="020B0604030504040204" pitchFamily="34" charset="0"/>
                    <a:cs typeface="Verdana" panose="020B0604030504040204" pitchFamily="34" charset="0"/>
                  </a:rPr>
                  <a:t>    The IQR with 0.85 and 0.75 removed is </a:t>
                </a:r>
                <a:r>
                  <a:rPr lang="en-US" dirty="0"/>
                  <a:t>__________.</a:t>
                </a:r>
                <a:r>
                  <a:rPr lang="en-US" sz="2000" dirty="0"/>
                  <a:t> </a:t>
                </a:r>
              </a:p>
              <a:p>
                <a:pPr marL="460375"/>
                <a:endParaRPr lang="en-US" sz="2000" dirty="0"/>
              </a:p>
              <a:p>
                <a:pPr marL="460375"/>
                <a:endParaRPr lang="en-US" sz="2000" dirty="0"/>
              </a:p>
              <a:p>
                <a:pPr marL="460375"/>
                <a:endParaRPr lang="en-US" sz="2000" dirty="0"/>
              </a:p>
              <a:p>
                <a:pPr marL="917575" indent="-457200">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Is there a big difference between the IQR of the original data set and the modified data set?</a:t>
                </a:r>
              </a:p>
            </p:txBody>
          </p:sp>
        </mc:Choice>
        <mc:Fallback xmlns="">
          <p:sp>
            <p:nvSpPr>
              <p:cNvPr id="6" name="TextBox 5">
                <a:extLst>
                  <a:ext uri="{FF2B5EF4-FFF2-40B4-BE49-F238E27FC236}">
                    <a16:creationId xmlns="" xmlns:a16="http://schemas.microsoft.com/office/drawing/2014/main" xmlns:a14="http://schemas.microsoft.com/office/drawing/2010/main" id="{994415AB-1A1A-704F-A9BB-7A4F14F164A9}"/>
                  </a:ext>
                </a:extLst>
              </p:cNvPr>
              <p:cNvSpPr txBox="1">
                <a:spLocks noRot="1" noChangeAspect="1" noMove="1" noResize="1" noEditPoints="1" noAdjustHandles="1" noChangeArrowheads="1" noChangeShapeType="1" noTextEdit="1"/>
              </p:cNvSpPr>
              <p:nvPr/>
            </p:nvSpPr>
            <p:spPr>
              <a:xfrm>
                <a:off x="533530" y="1023507"/>
                <a:ext cx="11078462" cy="4093428"/>
              </a:xfrm>
              <a:prstGeom prst="rect">
                <a:avLst/>
              </a:prstGeom>
              <a:blipFill rotWithShape="1">
                <a:blip r:embed="rId4"/>
                <a:stretch>
                  <a:fillRect t="-894" b="-1788"/>
                </a:stretch>
              </a:blipFill>
            </p:spPr>
            <p:txBody>
              <a:bodyPr/>
              <a:lstStyle/>
              <a:p>
                <a:r>
                  <a:rPr lang="en-PH">
                    <a:noFill/>
                  </a:rPr>
                  <a:t> </a:t>
                </a:r>
              </a:p>
            </p:txBody>
          </p:sp>
        </mc:Fallback>
      </mc:AlternateContent>
      <p:sp>
        <p:nvSpPr>
          <p:cNvPr id="7" name="Google Shape;282;g104476d1465_1_17">
            <a:extLst>
              <a:ext uri="{FF2B5EF4-FFF2-40B4-BE49-F238E27FC236}">
                <a16:creationId xmlns:a16="http://schemas.microsoft.com/office/drawing/2014/main" xmlns="" id="{E945ACAD-A339-7D47-B5AC-1F6A795BDD7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B43DBC73-B7FC-472A-A39F-8BE4CED3386C}"/>
                  </a:ext>
                </a:extLst>
              </p:cNvPr>
              <p:cNvSpPr txBox="1"/>
              <p:nvPr/>
            </p:nvSpPr>
            <p:spPr>
              <a:xfrm>
                <a:off x="2859246" y="356336"/>
                <a:ext cx="6473508"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0.15, 0.15, 0.20, 0.25, 0.25, 0.30, 0.30, 0.30, 0.35, 0.75, 0.85</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TextBox 7">
                <a:extLst>
                  <a:ext uri="{FF2B5EF4-FFF2-40B4-BE49-F238E27FC236}">
                    <a16:creationId xmlns="" xmlns:a16="http://schemas.microsoft.com/office/drawing/2014/main" xmlns:a14="http://schemas.microsoft.com/office/drawing/2010/main" id="{B43DBC73-B7FC-472A-A39F-8BE4CED3386C}"/>
                  </a:ext>
                </a:extLst>
              </p:cNvPr>
              <p:cNvSpPr txBox="1">
                <a:spLocks noRot="1" noChangeAspect="1" noMove="1" noResize="1" noEditPoints="1" noAdjustHandles="1" noChangeArrowheads="1" noChangeShapeType="1" noTextEdit="1"/>
              </p:cNvSpPr>
              <p:nvPr/>
            </p:nvSpPr>
            <p:spPr>
              <a:xfrm>
                <a:off x="2859246" y="356336"/>
                <a:ext cx="6473508" cy="400110"/>
              </a:xfrm>
              <a:prstGeom prst="rect">
                <a:avLst/>
              </a:prstGeom>
              <a:blipFill rotWithShape="1">
                <a:blip r:embed="rId5"/>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843614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230</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57205"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03916"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10.6.6 Wrap-Up: Cool Down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p:sp>
        <p:nvSpPr>
          <p:cNvPr id="12" name="TextBox 11">
            <a:extLst>
              <a:ext uri="{FF2B5EF4-FFF2-40B4-BE49-F238E27FC236}">
                <a16:creationId xmlns:a16="http://schemas.microsoft.com/office/drawing/2014/main" xmlns="" id="{0370EDB7-6994-3D43-ABF9-E04CBAFB9CD9}"/>
              </a:ext>
            </a:extLst>
          </p:cNvPr>
          <p:cNvSpPr txBox="1"/>
          <p:nvPr/>
        </p:nvSpPr>
        <p:spPr>
          <a:xfrm>
            <a:off x="730266" y="1223553"/>
            <a:ext cx="11157771" cy="4708981"/>
          </a:xfrm>
          <a:prstGeom prst="rect">
            <a:avLst/>
          </a:prstGeom>
          <a:noFill/>
        </p:spPr>
        <p:txBody>
          <a:bodyPr wrap="square" rtlCol="0">
            <a:spAutoFit/>
          </a:bodyPr>
          <a:lstStyle/>
          <a:p>
            <a:pPr marL="444500" indent="-4445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has a significant effect on which measures of center and spread? Select all that apply.</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688975" indent="-328613">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Mean</a:t>
            </a:r>
          </a:p>
          <a:p>
            <a:pPr marL="688975" indent="-328613">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Median</a:t>
            </a:r>
          </a:p>
          <a:p>
            <a:pPr marL="688975" indent="-328613">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Interquartile Range</a:t>
            </a:r>
          </a:p>
          <a:p>
            <a:pPr marL="688975" indent="-328613">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Range</a:t>
            </a:r>
          </a:p>
          <a:p>
            <a:pPr marL="285750" indent="-285750">
              <a:buFont typeface="Wingdings" pitchFamily="2" charset="2"/>
              <a:buChar char="§"/>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data set has an outlier that is significantly less than most of the other values.</a:t>
            </a:r>
          </a:p>
          <a:p>
            <a:pPr marL="4572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1688" lvl="3" indent="-45720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how this impacts the measures selected in number 1.</a:t>
            </a:r>
          </a:p>
          <a:p>
            <a:pPr marL="801688" lvl="3"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1688" lvl="3" indent="-457200">
              <a:buFont typeface="Arial"/>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Which measures of center and variation would you use to best describe the data?</a:t>
            </a:r>
          </a:p>
        </p:txBody>
      </p:sp>
      <p:sp>
        <p:nvSpPr>
          <p:cNvPr id="10" name="Google Shape;310;g104476d1465_1_39">
            <a:extLst>
              <a:ext uri="{FF2B5EF4-FFF2-40B4-BE49-F238E27FC236}">
                <a16:creationId xmlns:a16="http://schemas.microsoft.com/office/drawing/2014/main" xmlns="" id="{D21D24BE-CFA2-D94C-8B3C-F9FF02D1EA2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230</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F96A40-7450-49CD-B2F1-C776E289D26C}">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BFFD7704-3C58-4B6A-8C4D-62BEDAEB8FDE}">
  <ds:schemaRefs>
    <ds:schemaRef ds:uri="http://schemas.microsoft.com/sharepoint/v3/contenttype/forms"/>
  </ds:schemaRefs>
</ds:datastoreItem>
</file>

<file path=customXml/itemProps3.xml><?xml version="1.0" encoding="utf-8"?>
<ds:datastoreItem xmlns:ds="http://schemas.openxmlformats.org/officeDocument/2006/customXml" ds:itemID="{F92871C4-AF6B-463A-A2E2-93AF1ECD8E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1434</TotalTime>
  <Words>947</Words>
  <Application>Microsoft Office PowerPoint</Application>
  <PresentationFormat>Custom</PresentationFormat>
  <Paragraphs>195</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Times-Roman</vt:lpstr>
      <vt:lpstr>Calibri</vt:lpstr>
      <vt:lpstr>Century Gothic</vt:lpstr>
      <vt:lpstr>Wingdings</vt:lpstr>
      <vt:lpstr>Cambria Math</vt:lpstr>
      <vt:lpstr>Arial Black</vt:lpstr>
      <vt:lpstr>Verdana</vt:lpstr>
      <vt:lpstr>1_Office Theme</vt:lpstr>
      <vt:lpstr>6th Grade Math  Unit 10, Lesson 6  Outliers  Volume 2, pg. 225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24</cp:revision>
  <dcterms:created xsi:type="dcterms:W3CDTF">2015-03-17T18:51:18Z</dcterms:created>
  <dcterms:modified xsi:type="dcterms:W3CDTF">2023-07-07T09:42:30Z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ies>
</file>