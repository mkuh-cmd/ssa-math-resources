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85" r:id="rId7"/>
    <p:sldId id="286" r:id="rId8"/>
    <p:sldId id="261" r:id="rId9"/>
    <p:sldId id="287" r:id="rId10"/>
    <p:sldId id="311" r:id="rId11"/>
    <p:sldId id="312" r:id="rId12"/>
    <p:sldId id="288" r:id="rId13"/>
    <p:sldId id="313" r:id="rId14"/>
    <p:sldId id="324" r:id="rId15"/>
    <p:sldId id="325" r:id="rId16"/>
    <p:sldId id="320" r:id="rId17"/>
    <p:sldId id="321" r:id="rId18"/>
    <p:sldId id="322" r:id="rId19"/>
    <p:sldId id="302" r:id="rId20"/>
    <p:sldId id="303" r:id="rId21"/>
    <p:sldId id="309" r:id="rId22"/>
    <p:sldId id="306" r:id="rId23"/>
    <p:sldId id="307" r:id="rId24"/>
  </p:sldIdLst>
  <p:sldSz cx="12192000" cy="6858000"/>
  <p:notesSz cx="6858000" cy="9144000"/>
  <p:embeddedFontLs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Century Gothic" pitchFamily="34" charset="0"/>
      <p:regular r:id="rId30"/>
      <p:bold r:id="rId31"/>
      <p:italic r:id="rId32"/>
      <p:boldItalic r:id="rId33"/>
    </p:embeddedFont>
    <p:embeddedFont>
      <p:font typeface="Cambria Math" pitchFamily="18" charset="0"/>
      <p:regular r:id="rId34"/>
    </p:embeddedFont>
    <p:embeddedFont>
      <p:font typeface="Arial Black" pitchFamily="34" charset="0"/>
      <p:bold r:id="rId35"/>
    </p:embeddedFont>
    <p:embeddedFont>
      <p:font typeface="Verdana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/>
    <p:restoredTop sz="94719"/>
  </p:normalViewPr>
  <p:slideViewPr>
    <p:cSldViewPr snapToGrid="0">
      <p:cViewPr>
        <p:scale>
          <a:sx n="115" d="100"/>
          <a:sy n="115" d="100"/>
        </p:scale>
        <p:origin x="-10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17676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007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6488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3406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300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4323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5957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9604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703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367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8299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7142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3126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619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f"/><Relationship Id="rId3" Type="http://schemas.openxmlformats.org/officeDocument/2006/relationships/image" Target="../media/image10.png"/><Relationship Id="rId7" Type="http://schemas.openxmlformats.org/officeDocument/2006/relationships/image" Target="../media/image14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tif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tiff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tiff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80567" y="2054276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Measures of Center and Spread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677" y="1829054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9442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MA.6.DP.1.6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scenario, determine and describe how changes in data values impact measures of center and variation.</a:t>
            </a: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7987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405004"/>
            <a:ext cx="1096554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3084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200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356540"/>
            <a:ext cx="110825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44500" indent="-4445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which measures of center and variation best describe a distribution.</a:t>
            </a: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87794"/>
            <a:ext cx="1006507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10.7.1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5" y="1165802"/>
                <a:ext cx="111463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dot plot, histogram, and box plot summarize the hours of battery life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cell phones that are constantly streaming videos.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165802"/>
                <a:ext cx="11146301" cy="707886"/>
              </a:xfrm>
              <a:prstGeom prst="rect">
                <a:avLst/>
              </a:prstGeom>
              <a:blipFill>
                <a:blip r:embed="rId5"/>
                <a:stretch>
                  <a:fillRect l="-569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2A82B0-B31D-724D-953E-04F2CE2F389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757"/>
          <a:stretch/>
        </p:blipFill>
        <p:spPr bwMode="auto">
          <a:xfrm>
            <a:off x="2146201" y="2052219"/>
            <a:ext cx="3245485" cy="14427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38D56A4-B75E-A541-A13E-BD5B56A1DE82}"/>
              </a:ext>
            </a:extLst>
          </p:cNvPr>
          <p:cNvSpPr txBox="1"/>
          <p:nvPr/>
        </p:nvSpPr>
        <p:spPr>
          <a:xfrm>
            <a:off x="2312253" y="3445328"/>
            <a:ext cx="3079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Battery Life (in hours)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47A1B2C-FF5D-DE4E-A178-DC61B899A86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941" b="53194"/>
          <a:stretch/>
        </p:blipFill>
        <p:spPr bwMode="auto">
          <a:xfrm>
            <a:off x="6529501" y="2358289"/>
            <a:ext cx="3164205" cy="1136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4705DFC-01BD-1E43-9DE4-0ABC48F5FF35}"/>
              </a:ext>
            </a:extLst>
          </p:cNvPr>
          <p:cNvSpPr txBox="1"/>
          <p:nvPr/>
        </p:nvSpPr>
        <p:spPr>
          <a:xfrm>
            <a:off x="6675724" y="3377919"/>
            <a:ext cx="3079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Battery Life (in hours)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3DD234A3-0C58-834B-B273-9D6609A3916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2254" y="3943473"/>
            <a:ext cx="2791855" cy="21032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7BF48B2-FD59-4349-8BA2-2218F7222292}"/>
              </a:ext>
            </a:extLst>
          </p:cNvPr>
          <p:cNvSpPr txBox="1"/>
          <p:nvPr/>
        </p:nvSpPr>
        <p:spPr>
          <a:xfrm>
            <a:off x="2060449" y="6046745"/>
            <a:ext cx="3164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Battery Life (in hours)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EAFD13A-73AB-CA4A-A510-56E4B3F56286}"/>
              </a:ext>
            </a:extLst>
          </p:cNvPr>
          <p:cNvSpPr txBox="1"/>
          <p:nvPr/>
        </p:nvSpPr>
        <p:spPr>
          <a:xfrm>
            <a:off x="6529501" y="4167096"/>
            <a:ext cx="4641742" cy="2039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34820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20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8870" y="-85555"/>
            <a:ext cx="1050669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10.7.2 Exploration: Measures of Center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732742" y="1382286"/>
            <a:ext cx="1122888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histogram of the lengths of female sharks.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Shark Length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xmlns="" id="{776129BB-03EB-3E44-9E71-FC8C45D8240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2494" y="2364248"/>
            <a:ext cx="4759002" cy="4157997"/>
          </a:xfrm>
          <a:prstGeom prst="rect">
            <a:avLst/>
          </a:prstGeom>
        </p:spPr>
      </p:pic>
      <p:sp>
        <p:nvSpPr>
          <p:cNvPr id="11" name="Text Box 1">
            <a:extLst>
              <a:ext uri="{FF2B5EF4-FFF2-40B4-BE49-F238E27FC236}">
                <a16:creationId xmlns:a16="http://schemas.microsoft.com/office/drawing/2014/main" xmlns="" id="{AA4FC757-C797-B44D-A29A-3F6E128D3536}"/>
              </a:ext>
            </a:extLst>
          </p:cNvPr>
          <p:cNvSpPr txBox="1"/>
          <p:nvPr/>
        </p:nvSpPr>
        <p:spPr>
          <a:xfrm>
            <a:off x="5162656" y="6301740"/>
            <a:ext cx="2634000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Length (in inches)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xmlns="" id="{E71D2D3E-9973-ED44-9D0B-45240243E518}"/>
              </a:ext>
            </a:extLst>
          </p:cNvPr>
          <p:cNvSpPr txBox="1"/>
          <p:nvPr/>
        </p:nvSpPr>
        <p:spPr>
          <a:xfrm rot="16200000">
            <a:off x="2995246" y="3909941"/>
            <a:ext cx="1510665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Frequency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2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0853" y="376387"/>
            <a:ext cx="115735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445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shape of the histogram.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896938" indent="-44450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value on the horizontal axis of the graph that shows the approximate location of the median of the data.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arrow (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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on the graph to indicate the approximate location of the mean of the data.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23782" y="402559"/>
                <a:ext cx="11376837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7675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answers to B and C with your partner’s answers. Discuss your reasoning and, if necessary, make changes.</a:t>
                </a:r>
              </a:p>
              <a:p>
                <a:pPr marL="914400" indent="-447675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mean and the median of this histogram are located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15−15.5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Discuss with your partner which measure most accurately describes the center of the histogram. Summarize your discussion. </a:t>
                </a:r>
              </a:p>
              <a:p>
                <a:pPr marL="914400" indent="-447675">
                  <a:buFont typeface="+mj-lt"/>
                  <a:buAutoNum type="alphaLcPeriod" startAt="5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5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5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5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5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82" y="402559"/>
                <a:ext cx="11376837" cy="5324535"/>
              </a:xfrm>
              <a:prstGeom prst="rect">
                <a:avLst/>
              </a:prstGeom>
              <a:blipFill rotWithShape="1">
                <a:blip r:embed="rId4"/>
                <a:stretch>
                  <a:fillRect t="-68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35BF0E13-66C5-7D41-8062-55FDD43825B0}"/>
              </a:ext>
            </a:extLst>
          </p:cNvPr>
          <p:cNvGrpSpPr/>
          <p:nvPr/>
        </p:nvGrpSpPr>
        <p:grpSpPr>
          <a:xfrm>
            <a:off x="2127969" y="1232071"/>
            <a:ext cx="7802763" cy="1624191"/>
            <a:chOff x="857937" y="2799971"/>
            <a:chExt cx="7802763" cy="16241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B3833BA9-FD1C-0D49-9286-DBFA4292288A}"/>
                </a:ext>
              </a:extLst>
            </p:cNvPr>
            <p:cNvGrpSpPr/>
            <p:nvPr/>
          </p:nvGrpSpPr>
          <p:grpSpPr>
            <a:xfrm>
              <a:off x="857937" y="2799971"/>
              <a:ext cx="7802763" cy="1624191"/>
              <a:chOff x="857937" y="2799971"/>
              <a:chExt cx="7802763" cy="162419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833384A1-B474-6141-9268-1CA604C40ED0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xmlns="" id="{6FA72613-BCD3-C045-B480-FD7FE38145DE}"/>
                  </a:ext>
                </a:extLst>
              </p:cNvPr>
              <p:cNvGrpSpPr/>
              <p:nvPr/>
            </p:nvGrpSpPr>
            <p:grpSpPr>
              <a:xfrm>
                <a:off x="857937" y="2799971"/>
                <a:ext cx="7802763" cy="1624191"/>
                <a:chOff x="857937" y="2799971"/>
                <a:chExt cx="7802763" cy="162419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ABB6E974-0C61-D845-B9F5-8CCA861744B8}"/>
                    </a:ext>
                  </a:extLst>
                </p:cNvPr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xmlns="" id="{6EA3242D-7BB8-E54B-B163-9580B89C4915}"/>
                    </a:ext>
                  </a:extLst>
                </p:cNvPr>
                <p:cNvGrpSpPr/>
                <p:nvPr/>
              </p:nvGrpSpPr>
              <p:grpSpPr>
                <a:xfrm>
                  <a:off x="857937" y="2799971"/>
                  <a:ext cx="7802763" cy="1624191"/>
                  <a:chOff x="857937" y="2799971"/>
                  <a:chExt cx="7802763" cy="1624191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xmlns="" id="{505C629F-BA88-FB46-BA98-FA8D0D2ABABE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xmlns="" id="{9EE02FB4-BE57-9647-AD2A-7EEABBA52F7A}"/>
                      </a:ext>
                    </a:extLst>
                  </p:cNvPr>
                  <p:cNvGrpSpPr/>
                  <p:nvPr/>
                </p:nvGrpSpPr>
                <p:grpSpPr>
                  <a:xfrm>
                    <a:off x="857937" y="2799971"/>
                    <a:ext cx="7802763" cy="1624191"/>
                    <a:chOff x="-1173363" y="-475764"/>
                    <a:chExt cx="7802763" cy="1624191"/>
                  </a:xfrm>
                </p:grpSpPr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xmlns="" id="{D31BCD0A-62C2-B04D-9F06-5C0E615F4D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xmlns="" id="{447F16DE-D227-9844-9875-DCDC134CEB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173363" y="-475764"/>
                      <a:ext cx="7802763" cy="1624191"/>
                      <a:chOff x="-1173363" y="-475764"/>
                      <a:chExt cx="7802763" cy="1624191"/>
                    </a:xfrm>
                  </p:grpSpPr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xmlns="" id="{DBC56575-CCD3-8D4F-BF81-4EAB7587FC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xmlns="" id="{2E7D7944-36C3-6548-95CF-1EF914DEAB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0" name="Rounded Rectangle 19">
                        <a:extLst>
                          <a:ext uri="{FF2B5EF4-FFF2-40B4-BE49-F238E27FC236}">
                            <a16:creationId xmlns:a16="http://schemas.microsoft.com/office/drawing/2014/main" xmlns="" id="{F1288C32-BA8C-3F4E-959E-3E51D26AB5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173363" y="-475764"/>
                        <a:ext cx="7551901" cy="1624191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B8E6F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685800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In a symmetrical graph, the mean and the median are located in the middle of the graph, approximately in the same location.</a:t>
                        </a:r>
                        <a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a:t> </a:t>
                        </a:r>
                      </a:p>
                    </p:txBody>
                  </p:sp>
                </p:grpSp>
                <p:pic>
                  <p:nvPicPr>
                    <p:cNvPr id="17" name="Shape 27" descr="Icon&#10;&#10;Description automatically generated">
                      <a:extLst>
                        <a:ext uri="{FF2B5EF4-FFF2-40B4-BE49-F238E27FC236}">
                          <a16:creationId xmlns:a16="http://schemas.microsoft.com/office/drawing/2014/main" xmlns="" id="{0019F21A-12DD-1C47-93E9-39C2BE1B017B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5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-1042122" y="-203419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25EF141F-4DF4-8B4D-B185-4DCA7F1293DE}"/>
              </a:ext>
            </a:extLst>
          </p:cNvPr>
          <p:cNvGrpSpPr/>
          <p:nvPr/>
        </p:nvGrpSpPr>
        <p:grpSpPr>
          <a:xfrm>
            <a:off x="2127969" y="4382179"/>
            <a:ext cx="7656126" cy="1750963"/>
            <a:chOff x="1517937" y="2533297"/>
            <a:chExt cx="7656126" cy="175096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05E2EC96-7810-1241-9179-1ABE2DAE9541}"/>
                </a:ext>
              </a:extLst>
            </p:cNvPr>
            <p:cNvGrpSpPr/>
            <p:nvPr/>
          </p:nvGrpSpPr>
          <p:grpSpPr>
            <a:xfrm>
              <a:off x="1517937" y="2533297"/>
              <a:ext cx="7656126" cy="1750963"/>
              <a:chOff x="1517937" y="2533297"/>
              <a:chExt cx="7656126" cy="175096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id="{E322E07F-CA65-1A48-9F59-3FE8E16E96E8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xmlns="" id="{41C78537-0584-394A-846D-A2B7D041E71D}"/>
                  </a:ext>
                </a:extLst>
              </p:cNvPr>
              <p:cNvGrpSpPr/>
              <p:nvPr/>
            </p:nvGrpSpPr>
            <p:grpSpPr>
              <a:xfrm>
                <a:off x="1517937" y="2533297"/>
                <a:ext cx="7656126" cy="1750963"/>
                <a:chOff x="1517937" y="2533297"/>
                <a:chExt cx="7656126" cy="1750963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xmlns="" id="{F6838D9D-5385-1248-A562-23EA7E42BC4D}"/>
                    </a:ext>
                  </a:extLst>
                </p:cNvPr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xmlns="" id="{0E43178F-6238-9F48-906C-E6D1616A1866}"/>
                    </a:ext>
                  </a:extLst>
                </p:cNvPr>
                <p:cNvGrpSpPr/>
                <p:nvPr/>
              </p:nvGrpSpPr>
              <p:grpSpPr>
                <a:xfrm>
                  <a:off x="1517937" y="2533297"/>
                  <a:ext cx="7656126" cy="1750963"/>
                  <a:chOff x="1517937" y="2533297"/>
                  <a:chExt cx="7656126" cy="1750963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xmlns="" id="{326118A2-0592-5042-A805-0ECA93663C03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xmlns="" id="{38B36183-9FAD-814F-84B7-FCDB3E05315B}"/>
                      </a:ext>
                    </a:extLst>
                  </p:cNvPr>
                  <p:cNvGrpSpPr/>
                  <p:nvPr/>
                </p:nvGrpSpPr>
                <p:grpSpPr>
                  <a:xfrm>
                    <a:off x="1517937" y="2533297"/>
                    <a:ext cx="7656126" cy="1750963"/>
                    <a:chOff x="-513363" y="-742438"/>
                    <a:chExt cx="7656126" cy="1750963"/>
                  </a:xfrm>
                </p:grpSpPr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xmlns="" id="{F44D310D-69EC-D242-8A8A-074F9678D1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xmlns="" id="{FEAC3897-D7C7-074F-926F-0E5E22D94B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513363" y="-742438"/>
                      <a:ext cx="7656126" cy="1624191"/>
                      <a:chOff x="-513363" y="-742438"/>
                      <a:chExt cx="7656126" cy="1624191"/>
                    </a:xfrm>
                  </p:grpSpPr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xmlns="" id="{42752312-ACFF-BA40-ADA6-A771881218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xmlns="" id="{E1C2C965-D2EC-3443-81A4-453E66D8D4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34" name="Rounded Rectangle 33">
                        <a:extLst>
                          <a:ext uri="{FF2B5EF4-FFF2-40B4-BE49-F238E27FC236}">
                            <a16:creationId xmlns:a16="http://schemas.microsoft.com/office/drawing/2014/main" xmlns="" id="{FC9F48E3-7BCB-6641-84EA-9113678236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513363" y="-742438"/>
                        <a:ext cx="7656126" cy="1624191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B8E6F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742950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In a symmetrical graph with no outliers, the __________ is the preferred measure of center and the ___________ is the preferred measure of variation to describe the distribution.</a:t>
                        </a:r>
                        <a:endPara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endParaRPr>
                      </a:p>
                    </p:txBody>
                  </p:sp>
                </p:grpSp>
                <p:pic>
                  <p:nvPicPr>
                    <p:cNvPr id="31" name="Shape 27" descr="Icon&#10;&#10;Description automatically generated">
                      <a:extLst>
                        <a:ext uri="{FF2B5EF4-FFF2-40B4-BE49-F238E27FC236}">
                          <a16:creationId xmlns:a16="http://schemas.microsoft.com/office/drawing/2014/main" xmlns="" id="{E2AAF064-3876-9E49-89B9-D4E505D479B4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5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-382122" y="-579475"/>
                      <a:ext cx="539750" cy="53949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78844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74EB5C6-2FDE-474B-866F-02AD6706D73C}"/>
              </a:ext>
            </a:extLst>
          </p:cNvPr>
          <p:cNvSpPr txBox="1"/>
          <p:nvPr/>
        </p:nvSpPr>
        <p:spPr>
          <a:xfrm>
            <a:off x="554853" y="375850"/>
            <a:ext cx="11213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 histogram displays the number of points per game scored by a college basketball player during the 2008 season.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0DF883C-FC33-C84E-BC8D-B6A293B6D0A9}"/>
              </a:ext>
            </a:extLst>
          </p:cNvPr>
          <p:cNvGrpSpPr/>
          <p:nvPr/>
        </p:nvGrpSpPr>
        <p:grpSpPr>
          <a:xfrm>
            <a:off x="1080743" y="1457617"/>
            <a:ext cx="4471131" cy="4742015"/>
            <a:chOff x="1700202" y="1481335"/>
            <a:chExt cx="4471131" cy="47420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F46035E8-2ACA-F841-8978-B77930A7AB8B}"/>
                </a:ext>
              </a:extLst>
            </p:cNvPr>
            <p:cNvSpPr/>
            <p:nvPr/>
          </p:nvSpPr>
          <p:spPr>
            <a:xfrm>
              <a:off x="2354458" y="1481335"/>
              <a:ext cx="3390900" cy="5562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2008 Points per Game</a:t>
              </a:r>
              <a:endParaRPr lang="en-US" sz="20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pic>
          <p:nvPicPr>
            <p:cNvPr id="10" name="Picture 9" descr="Chart, histogram&#10;&#10;Description automatically generated">
              <a:extLst>
                <a:ext uri="{FF2B5EF4-FFF2-40B4-BE49-F238E27FC236}">
                  <a16:creationId xmlns:a16="http://schemas.microsoft.com/office/drawing/2014/main" xmlns="" id="{B33F87F9-8E90-304A-B1CE-004F80981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41623" y="1946012"/>
              <a:ext cx="4029710" cy="369316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51313D5E-B8A3-EC4F-AB75-8DF133E18560}"/>
                </a:ext>
              </a:extLst>
            </p:cNvPr>
            <p:cNvSpPr/>
            <p:nvPr/>
          </p:nvSpPr>
          <p:spPr>
            <a:xfrm>
              <a:off x="1700202" y="2912318"/>
              <a:ext cx="431621" cy="16133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vert="vert270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Frequency</a:t>
              </a:r>
              <a:endParaRPr lang="en-US" sz="20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4FF197F9-1929-A645-96F6-9EE8D4A2ED72}"/>
                </a:ext>
              </a:extLst>
            </p:cNvPr>
            <p:cNvSpPr txBox="1"/>
            <p:nvPr/>
          </p:nvSpPr>
          <p:spPr>
            <a:xfrm>
              <a:off x="3211989" y="5818816"/>
              <a:ext cx="1204912" cy="4045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Points</a:t>
              </a:r>
              <a:endParaRPr lang="en-US" sz="20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B4D5602-961B-0A45-8B9B-7000DA644636}"/>
              </a:ext>
            </a:extLst>
          </p:cNvPr>
          <p:cNvSpPr txBox="1"/>
          <p:nvPr/>
        </p:nvSpPr>
        <p:spPr>
          <a:xfrm>
            <a:off x="6409417" y="1210597"/>
            <a:ext cx="54884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shape of the histogram.</a:t>
            </a:r>
          </a:p>
          <a:p>
            <a:pPr marL="342900" indent="-342900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value on the horizontal axis of the graph that shows the approximate location of the median of this data. </a:t>
            </a:r>
          </a:p>
          <a:p>
            <a:pPr marL="342900" indent="-342900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arrow (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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on the graph to indicate the approximate location of the mean of the data.</a:t>
            </a:r>
          </a:p>
        </p:txBody>
      </p:sp>
    </p:spTree>
    <p:extLst>
      <p:ext uri="{BB962C8B-B14F-4D97-AF65-F5344CB8AC3E}">
        <p14:creationId xmlns:p14="http://schemas.microsoft.com/office/powerpoint/2010/main" val="2296740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35018" y="383130"/>
                <a:ext cx="1127749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7675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 symmetrical graph, the mean is the preferred measure of center to use. The histogram for points scored is skewed. Discuss with your partner why the mean would not be a good representation of the center for points scored. Summarize your discussion.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this graph, the median is located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15−20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mean is in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20−25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interval. Which measure most accurately describes the center of the histogram?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measure of variation should be used to describe the distribution?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18" y="383130"/>
                <a:ext cx="11277491" cy="3785652"/>
              </a:xfrm>
              <a:prstGeom prst="rect">
                <a:avLst/>
              </a:prstGeom>
              <a:blipFill rotWithShape="1">
                <a:blip r:embed="rId4"/>
                <a:stretch>
                  <a:fillRect t="-966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69">
            <a:extLst>
              <a:ext uri="{FF2B5EF4-FFF2-40B4-BE49-F238E27FC236}">
                <a16:creationId xmlns:a16="http://schemas.microsoft.com/office/drawing/2014/main" xmlns="" id="{F6A50ADF-02AE-8740-9B1C-3F4904B15CED}"/>
              </a:ext>
            </a:extLst>
          </p:cNvPr>
          <p:cNvSpPr/>
          <p:nvPr/>
        </p:nvSpPr>
        <p:spPr>
          <a:xfrm>
            <a:off x="2189592" y="4256277"/>
            <a:ext cx="7688686" cy="1611195"/>
          </a:xfrm>
          <a:prstGeom prst="roundRect">
            <a:avLst/>
          </a:prstGeom>
          <a:solidFill>
            <a:srgbClr val="B8E7F5"/>
          </a:solidFill>
          <a:ln>
            <a:solidFill>
              <a:srgbClr val="B7E7F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a skewed graph or a graph with outliers, the ____________ is the preferred measure of center and the _____________ is the preferred measure of variation to describe the distribution.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8" name="Shape 27" descr="Icon&#10;&#10;Description automatically generated">
            <a:extLst>
              <a:ext uri="{FF2B5EF4-FFF2-40B4-BE49-F238E27FC236}">
                <a16:creationId xmlns:a16="http://schemas.microsoft.com/office/drawing/2014/main" xmlns="" id="{14268051-29CF-AC4D-B0F2-318A7C582642}"/>
              </a:ext>
            </a:extLst>
          </p:cNvPr>
          <p:cNvPicPr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3722" y="4375534"/>
            <a:ext cx="539750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958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61913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260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14796" y="-8677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10.7.3 Try It: Measures of Center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22007" y="1077518"/>
                <a:ext cx="1079959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Nelson is interested in how much storage space his downloaded music takes up. The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sizes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randomly selected files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listed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megabytes (MB), and displayed in a histogram.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/>
                  <a:t> </a:t>
                </a:r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1, 1.3, 1.3, 1.9, 1.9, 2.1, 2.2, 2.4, 2.5, 2.7, 3, 4.4, 4.7, 5, 5.6, 6, 7.5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" y="1077518"/>
                <a:ext cx="10799593" cy="1631216"/>
              </a:xfrm>
              <a:prstGeom prst="rect">
                <a:avLst/>
              </a:prstGeom>
              <a:blipFill rotWithShape="1">
                <a:blip r:embed="rId5"/>
                <a:stretch>
                  <a:fillRect l="-621" t="-187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3B27D52-C67C-1541-8E34-622A89430D9D}"/>
              </a:ext>
            </a:extLst>
          </p:cNvPr>
          <p:cNvSpPr/>
          <p:nvPr/>
        </p:nvSpPr>
        <p:spPr>
          <a:xfrm>
            <a:off x="3354972" y="3812565"/>
            <a:ext cx="533400" cy="16334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C73E766-BD9D-424E-85D9-D7A7761E0390}"/>
              </a:ext>
            </a:extLst>
          </p:cNvPr>
          <p:cNvSpPr/>
          <p:nvPr/>
        </p:nvSpPr>
        <p:spPr>
          <a:xfrm>
            <a:off x="5295897" y="6301740"/>
            <a:ext cx="2217543" cy="5562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Size (in MB)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7" name="Picture 16" descr="Chart, histogram&#10;&#10;Description automatically generated">
            <a:extLst>
              <a:ext uri="{FF2B5EF4-FFF2-40B4-BE49-F238E27FC236}">
                <a16:creationId xmlns:a16="http://schemas.microsoft.com/office/drawing/2014/main" xmlns="" id="{69AB2D1E-EB7B-DB47-9964-73DF26926C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202"/>
          <a:stretch/>
        </p:blipFill>
        <p:spPr bwMode="auto">
          <a:xfrm>
            <a:off x="3846860" y="3054494"/>
            <a:ext cx="4762500" cy="314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1244608-D55B-844A-A427-E4F9A9D46D11}"/>
              </a:ext>
            </a:extLst>
          </p:cNvPr>
          <p:cNvSpPr/>
          <p:nvPr/>
        </p:nvSpPr>
        <p:spPr>
          <a:xfrm>
            <a:off x="4147863" y="6004831"/>
            <a:ext cx="4513610" cy="55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1        2.3     3.6       4.9       6.2     7.5      8.8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75F67DF7-0B34-FA4D-BC28-55E9929C3922}"/>
              </a:ext>
            </a:extLst>
          </p:cNvPr>
          <p:cNvSpPr/>
          <p:nvPr/>
        </p:nvSpPr>
        <p:spPr>
          <a:xfrm>
            <a:off x="5408960" y="3078905"/>
            <a:ext cx="3200400" cy="5562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Song Size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18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533919" y="379057"/>
            <a:ext cx="1099719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445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shape of the histogram.</a:t>
            </a: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measure of center best describes the center of the histogram? </a:t>
            </a: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choice of center. </a:t>
            </a: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>
              <a:buFont typeface="+mj-lt"/>
              <a:buAutoNum type="alphaLcPeriod"/>
            </a:pP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4450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619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71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</a:p>
        </p:txBody>
      </p:sp>
    </p:spTree>
    <p:extLst>
      <p:ext uri="{BB962C8B-B14F-4D97-AF65-F5344CB8AC3E}">
        <p14:creationId xmlns:p14="http://schemas.microsoft.com/office/powerpoint/2010/main" val="337993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28438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10.7.4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26080" y="1117940"/>
            <a:ext cx="11125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which measures of center and variation best describe each data set. </a:t>
            </a: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78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</a:p>
        </p:txBody>
      </p:sp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xmlns="" id="{CE6F7D76-07F6-124F-AED7-BE5298FE7F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1698" y="-8225"/>
            <a:ext cx="5187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46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72413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9384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10.7.5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75669" y="1348942"/>
            <a:ext cx="109549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line to indicate where your current learning is related to each target.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which measures of center and variation best describe a distribution.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3FFED61E-EE57-5742-8D13-F9BA97CA6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85563"/>
              </p:ext>
            </p:extLst>
          </p:nvPr>
        </p:nvGraphicFramePr>
        <p:xfrm>
          <a:off x="2060448" y="3239231"/>
          <a:ext cx="8327136" cy="65227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61315">
                  <a:extLst>
                    <a:ext uri="{9D8B030D-6E8A-4147-A177-3AD203B41FA5}">
                      <a16:colId xmlns:a16="http://schemas.microsoft.com/office/drawing/2014/main" xmlns="" val="3093525815"/>
                    </a:ext>
                  </a:extLst>
                </a:gridCol>
                <a:gridCol w="2990109">
                  <a:extLst>
                    <a:ext uri="{9D8B030D-6E8A-4147-A177-3AD203B41FA5}">
                      <a16:colId xmlns:a16="http://schemas.microsoft.com/office/drawing/2014/main" xmlns="" val="2227525208"/>
                    </a:ext>
                  </a:extLst>
                </a:gridCol>
                <a:gridCol w="2775712">
                  <a:extLst>
                    <a:ext uri="{9D8B030D-6E8A-4147-A177-3AD203B41FA5}">
                      <a16:colId xmlns:a16="http://schemas.microsoft.com/office/drawing/2014/main" xmlns="" val="963595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need help.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can’t get started.</a:t>
                      </a:r>
                      <a:endParaRPr lang="en-US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getting there, but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need more practice.</a:t>
                      </a:r>
                      <a:endParaRPr lang="en-US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understand this,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I feel confident.</a:t>
                      </a:r>
                      <a:endParaRPr lang="en-US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3780903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4E44458B-3019-D341-B76B-29E0050EB9A2}"/>
              </a:ext>
            </a:extLst>
          </p:cNvPr>
          <p:cNvCxnSpPr>
            <a:cxnSpLocks/>
          </p:cNvCxnSpPr>
          <p:nvPr/>
        </p:nvCxnSpPr>
        <p:spPr>
          <a:xfrm>
            <a:off x="2060448" y="4122485"/>
            <a:ext cx="832713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3827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A0D3EE-6B94-4933-8B53-0454DE19A8DB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22C4A79E-ADFD-411F-85E3-8A87532E29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11DD4-D88F-4D84-8FD0-9D8A57BF3F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738</Words>
  <Application>Microsoft Office PowerPoint</Application>
  <PresentationFormat>Custom</PresentationFormat>
  <Paragraphs>172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Century Gothic</vt:lpstr>
      <vt:lpstr>Wingdings</vt:lpstr>
      <vt:lpstr>Cambria Math</vt:lpstr>
      <vt:lpstr>Arial Black</vt:lpstr>
      <vt:lpstr>Verdana</vt:lpstr>
      <vt:lpstr>1_Office Theme</vt:lpstr>
      <vt:lpstr>6th Grade Math  Unit 10, Lesson 7  Measures of Center and Spread  Volume 2, pg. 231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18</cp:revision>
  <dcterms:created xsi:type="dcterms:W3CDTF">2015-03-17T18:51:18Z</dcterms:created>
  <dcterms:modified xsi:type="dcterms:W3CDTF">2023-07-07T09:46:16Z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