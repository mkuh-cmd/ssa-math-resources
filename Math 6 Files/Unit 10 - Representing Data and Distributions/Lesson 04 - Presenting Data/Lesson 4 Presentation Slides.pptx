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2"/>
  </p:notesMasterIdLst>
  <p:sldIdLst>
    <p:sldId id="256" r:id="rId2"/>
    <p:sldId id="257" r:id="rId3"/>
    <p:sldId id="285" r:id="rId4"/>
    <p:sldId id="286" r:id="rId5"/>
    <p:sldId id="261" r:id="rId6"/>
    <p:sldId id="287" r:id="rId7"/>
    <p:sldId id="317" r:id="rId8"/>
    <p:sldId id="318" r:id="rId9"/>
    <p:sldId id="306" r:id="rId10"/>
    <p:sldId id="307" r:id="rId11"/>
  </p:sldIdLst>
  <p:sldSz cx="12192000" cy="6858000"/>
  <p:notesSz cx="6858000" cy="9144000"/>
  <p:embeddedFontLst>
    <p:embeddedFont>
      <p:font typeface="Century Gothic" pitchFamily="34" charset="0"/>
      <p:regular r:id="rId13"/>
      <p:bold r:id="rId14"/>
      <p:italic r:id="rId15"/>
      <p:boldItalic r:id="rId16"/>
    </p:embeddedFont>
    <p:embeddedFont>
      <p:font typeface="Arial Black" pitchFamily="34" charset="0"/>
      <p:bold r:id="rId17"/>
    </p:embeddedFont>
    <p:embeddedFont>
      <p:font typeface="Verdana" pitchFamily="34" charset="0"/>
      <p:regular r:id="rId18"/>
      <p:bold r:id="rId19"/>
      <p:italic r:id="rId20"/>
      <p:boldItalic r:id="rId21"/>
    </p:embeddedFont>
    <p:embeddedFont>
      <p:font typeface="Calibri" pitchFamily="34"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F3165"/>
    <a:srgbClr val="C9DF6F"/>
    <a:srgbClr val="417DBF"/>
    <a:srgbClr val="3F2A67"/>
    <a:srgbClr val="E24E5F"/>
    <a:srgbClr val="26B7D4"/>
    <a:srgbClr val="54B5D1"/>
    <a:srgbClr val="33BEA6"/>
    <a:srgbClr val="2DA48F"/>
    <a:srgbClr val="52BD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801"/>
    <p:restoredTop sz="94719"/>
  </p:normalViewPr>
  <p:slideViewPr>
    <p:cSldViewPr snapToGrid="0">
      <p:cViewPr varScale="1">
        <p:scale>
          <a:sx n="105" d="100"/>
          <a:sy n="105" d="100"/>
        </p:scale>
        <p:origin x="-462"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9.fntdata"/><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font" Target="fonts/font13.fntdata"/><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2.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00265176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3163861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16545688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extLst>
      <p:ext uri="{BB962C8B-B14F-4D97-AF65-F5344CB8AC3E}">
        <p14:creationId xmlns:p14="http://schemas.microsoft.com/office/powerpoint/2010/main" val="17703381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156145051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440844" y="2054276"/>
            <a:ext cx="5168900"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6</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10, Lesson 4</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Presenting Data</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219</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xmlns="" id="{566F1422-A32C-7745-9E85-5AF7B9DBC697}"/>
              </a:ext>
            </a:extLst>
          </p:cNvPr>
          <p:cNvSpPr/>
          <p:nvPr/>
        </p:nvSpPr>
        <p:spPr>
          <a:xfrm>
            <a:off x="0" y="0"/>
            <a:ext cx="4094106" cy="6870701"/>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4" name="Picture 3" descr="Logo&#10;&#10;Description automatically generated">
            <a:extLst>
              <a:ext uri="{FF2B5EF4-FFF2-40B4-BE49-F238E27FC236}">
                <a16:creationId xmlns:a16="http://schemas.microsoft.com/office/drawing/2014/main" xmlns="" id="{ADCE3FE7-B71C-E44E-AEBC-574B47F8940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83677" y="1829054"/>
            <a:ext cx="3126752" cy="3644900"/>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p>
        </p:txBody>
      </p:sp>
      <p:sp>
        <p:nvSpPr>
          <p:cNvPr id="279" name="Google Shape;279;g104476d1465_1_17"/>
          <p:cNvSpPr txBox="1">
            <a:spLocks noGrp="1"/>
          </p:cNvSpPr>
          <p:nvPr>
            <p:ph type="title" idx="4294967295"/>
          </p:nvPr>
        </p:nvSpPr>
        <p:spPr>
          <a:xfrm>
            <a:off x="1121850" y="-88032"/>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Benchmarks</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219</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xmlns="" id="{527A9F9F-07B8-ED47-B967-E5507C67DBC5}"/>
              </a:ext>
            </a:extLst>
          </p:cNvPr>
          <p:cNvSpPr txBox="1">
            <a:spLocks/>
          </p:cNvSpPr>
          <p:nvPr/>
        </p:nvSpPr>
        <p:spPr>
          <a:xfrm>
            <a:off x="730266" y="1237668"/>
            <a:ext cx="11105563" cy="4995450"/>
          </a:xfrm>
          <a:prstGeom prst="rect">
            <a:avLst/>
          </a:prstGeom>
          <a:noFill/>
          <a:ln>
            <a:noFill/>
          </a:ln>
        </p:spPr>
        <p:txBody>
          <a:bodyPr spcFirstLastPara="1" wrap="square" lIns="91425" tIns="45700" rIns="91425" bIns="45700" anchor="t" anchorCtr="0">
            <a:normAutofit lnSpcReduction="10000"/>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120650" indent="0">
              <a:buSzPts val="1100"/>
              <a:buNone/>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MA.6.DP.1.1</a:t>
            </a:r>
          </a:p>
          <a:p>
            <a:pPr marL="471488" indent="0">
              <a:buNone/>
            </a:pPr>
            <a:r>
              <a:rPr lang="en-US" sz="1800" dirty="0">
                <a:latin typeface="Verdana" panose="020B0604030504040204" pitchFamily="34" charset="0"/>
                <a:ea typeface="Verdana" panose="020B0604030504040204" pitchFamily="34" charset="0"/>
                <a:cs typeface="Verdana" panose="020B0604030504040204" pitchFamily="34" charset="0"/>
              </a:rPr>
              <a:t>Recognize and formulate a statistical question that would generate numerical data.</a:t>
            </a:r>
            <a:endParaRPr lang="en-US" sz="1800" i="1" dirty="0">
              <a:latin typeface="Verdana" panose="020B0604030504040204" pitchFamily="34" charset="0"/>
              <a:ea typeface="Verdana" panose="020B0604030504040204" pitchFamily="34" charset="0"/>
              <a:cs typeface="Verdana" panose="020B0604030504040204" pitchFamily="34" charset="0"/>
            </a:endParaRPr>
          </a:p>
          <a:p>
            <a:pPr marL="95250" indent="0">
              <a:buNone/>
            </a:pPr>
            <a:r>
              <a:rPr lang="en-US" sz="1800" dirty="0">
                <a:latin typeface="Verdana" panose="020B0604030504040204" pitchFamily="34" charset="0"/>
                <a:ea typeface="Verdana" panose="020B0604030504040204" pitchFamily="34" charset="0"/>
                <a:cs typeface="Verdana" panose="020B0604030504040204" pitchFamily="34" charset="0"/>
              </a:rPr>
              <a:t> </a:t>
            </a:r>
            <a:endParaRPr lang="en-US" sz="1800" i="1" dirty="0">
              <a:latin typeface="Verdana" panose="020B0604030504040204" pitchFamily="34" charset="0"/>
              <a:ea typeface="Verdana" panose="020B0604030504040204" pitchFamily="34" charset="0"/>
              <a:cs typeface="Verdana" panose="020B0604030504040204" pitchFamily="34" charset="0"/>
            </a:endParaRPr>
          </a:p>
          <a:p>
            <a:pPr marL="95250" indent="0">
              <a:buNone/>
            </a:pPr>
            <a:r>
              <a:rPr lang="en-US" sz="1800" dirty="0">
                <a:latin typeface="Verdana" panose="020B0604030504040204" pitchFamily="34" charset="0"/>
                <a:ea typeface="Verdana" panose="020B0604030504040204" pitchFamily="34" charset="0"/>
                <a:cs typeface="Verdana" panose="020B0604030504040204" pitchFamily="34" charset="0"/>
              </a:rPr>
              <a:t>MA.6.DP.1.3 </a:t>
            </a:r>
          </a:p>
          <a:p>
            <a:pPr marL="471488" indent="0">
              <a:buNone/>
            </a:pPr>
            <a:r>
              <a:rPr lang="en-US" sz="1800" dirty="0">
                <a:latin typeface="Verdana" panose="020B0604030504040204" pitchFamily="34" charset="0"/>
                <a:ea typeface="Verdana" panose="020B0604030504040204" pitchFamily="34" charset="0"/>
                <a:cs typeface="Verdana" panose="020B0604030504040204" pitchFamily="34" charset="0"/>
              </a:rPr>
              <a:t>Given a box plot within a real-world context, determine the minimum, the lower quartile, the median, the upper quartile, and the maximum. Use this summary of the data to describe the spread and distribution of the data.</a:t>
            </a:r>
            <a:endParaRPr lang="en-US" sz="1800" i="1" dirty="0">
              <a:latin typeface="Verdana" panose="020B0604030504040204" pitchFamily="34" charset="0"/>
              <a:ea typeface="Verdana" panose="020B0604030504040204" pitchFamily="34" charset="0"/>
              <a:cs typeface="Verdana" panose="020B0604030504040204" pitchFamily="34" charset="0"/>
            </a:endParaRPr>
          </a:p>
          <a:p>
            <a:pPr marL="95250" indent="0">
              <a:buNone/>
            </a:pPr>
            <a:r>
              <a:rPr lang="en-US" sz="1800" dirty="0">
                <a:latin typeface="Verdana" panose="020B0604030504040204" pitchFamily="34" charset="0"/>
                <a:ea typeface="Verdana" panose="020B0604030504040204" pitchFamily="34" charset="0"/>
                <a:cs typeface="Verdana" panose="020B0604030504040204" pitchFamily="34" charset="0"/>
              </a:rPr>
              <a:t> </a:t>
            </a:r>
            <a:endParaRPr lang="en-US" sz="1800" i="1" dirty="0">
              <a:latin typeface="Verdana" panose="020B0604030504040204" pitchFamily="34" charset="0"/>
              <a:ea typeface="Verdana" panose="020B0604030504040204" pitchFamily="34" charset="0"/>
              <a:cs typeface="Verdana" panose="020B0604030504040204" pitchFamily="34" charset="0"/>
            </a:endParaRPr>
          </a:p>
          <a:p>
            <a:pPr marL="95250" indent="0">
              <a:buNone/>
            </a:pPr>
            <a:r>
              <a:rPr lang="en-US" sz="1800" dirty="0">
                <a:latin typeface="Verdana" panose="020B0604030504040204" pitchFamily="34" charset="0"/>
                <a:ea typeface="Verdana" panose="020B0604030504040204" pitchFamily="34" charset="0"/>
                <a:cs typeface="Verdana" panose="020B0604030504040204" pitchFamily="34" charset="0"/>
              </a:rPr>
              <a:t>MA.6.DP.1.4 </a:t>
            </a:r>
          </a:p>
          <a:p>
            <a:pPr marL="471488" indent="0">
              <a:buNone/>
            </a:pPr>
            <a:r>
              <a:rPr lang="en-US" sz="1800" dirty="0">
                <a:latin typeface="Verdana" panose="020B0604030504040204" pitchFamily="34" charset="0"/>
                <a:ea typeface="Verdana" panose="020B0604030504040204" pitchFamily="34" charset="0"/>
                <a:cs typeface="Verdana" panose="020B0604030504040204" pitchFamily="34" charset="0"/>
              </a:rPr>
              <a:t>Given a histogram or line plot within a real-world context, qualitatively describe and interpret the spread and distribution of the data, including any symmetry, skewness, gaps, clusters, outliers, and the range.</a:t>
            </a:r>
            <a:endParaRPr lang="en-US" sz="1800" i="1" dirty="0">
              <a:latin typeface="Verdana" panose="020B0604030504040204" pitchFamily="34" charset="0"/>
              <a:ea typeface="Verdana" panose="020B0604030504040204" pitchFamily="34" charset="0"/>
              <a:cs typeface="Verdana" panose="020B0604030504040204" pitchFamily="34" charset="0"/>
            </a:endParaRPr>
          </a:p>
          <a:p>
            <a:pPr marL="95250" indent="0">
              <a:buNone/>
            </a:pPr>
            <a:r>
              <a:rPr lang="en-US" sz="1800" i="1" dirty="0">
                <a:latin typeface="Verdana" panose="020B0604030504040204" pitchFamily="34" charset="0"/>
                <a:ea typeface="Verdana" panose="020B0604030504040204" pitchFamily="34" charset="0"/>
                <a:cs typeface="Verdana" panose="020B0604030504040204" pitchFamily="34" charset="0"/>
              </a:rPr>
              <a:t> </a:t>
            </a:r>
          </a:p>
          <a:p>
            <a:pPr marL="95250" indent="0">
              <a:buNone/>
            </a:pPr>
            <a:r>
              <a:rPr lang="en-US" sz="1800" dirty="0">
                <a:latin typeface="Verdana" panose="020B0604030504040204" pitchFamily="34" charset="0"/>
                <a:ea typeface="Verdana" panose="020B0604030504040204" pitchFamily="34" charset="0"/>
                <a:cs typeface="Verdana" panose="020B0604030504040204" pitchFamily="34" charset="0"/>
              </a:rPr>
              <a:t>MA.6.DP.1.5 </a:t>
            </a:r>
          </a:p>
          <a:p>
            <a:pPr marL="471488" indent="0">
              <a:buNone/>
            </a:pPr>
            <a:r>
              <a:rPr lang="en-US" sz="1800" dirty="0">
                <a:latin typeface="Verdana" panose="020B0604030504040204" pitchFamily="34" charset="0"/>
                <a:ea typeface="Verdana" panose="020B0604030504040204" pitchFamily="34" charset="0"/>
                <a:cs typeface="Verdana" panose="020B0604030504040204" pitchFamily="34" charset="0"/>
              </a:rPr>
              <a:t>Create box plots and histograms to represent sets of numerical data within real-world contexts.</a:t>
            </a:r>
            <a:endParaRPr lang="en-US" sz="1800" i="1" dirty="0">
              <a:latin typeface="Verdana" panose="020B0604030504040204" pitchFamily="34" charset="0"/>
              <a:ea typeface="Verdana" panose="020B0604030504040204" pitchFamily="34" charset="0"/>
              <a:cs typeface="Verdana" panose="020B060403050404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xmlns="" id="{08B3C7FF-E6D0-2145-9A84-003D15672764}"/>
              </a:ext>
            </a:extLst>
          </p:cNvPr>
          <p:cNvSpPr txBox="1">
            <a:spLocks/>
          </p:cNvSpPr>
          <p:nvPr/>
        </p:nvSpPr>
        <p:spPr>
          <a:xfrm>
            <a:off x="1237332" y="0"/>
            <a:ext cx="1050603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0" name="Google Shape;282;g104476d1465_1_17">
            <a:extLst>
              <a:ext uri="{FF2B5EF4-FFF2-40B4-BE49-F238E27FC236}">
                <a16:creationId xmlns:a16="http://schemas.microsoft.com/office/drawing/2014/main" xmlns="" id="{E701C7D4-7BD4-5F4C-ACEB-5781D00837A2}"/>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219</a:t>
            </a:r>
          </a:p>
        </p:txBody>
      </p:sp>
      <p:sp>
        <p:nvSpPr>
          <p:cNvPr id="11" name="Google Shape;296;g103996e1364_0_10">
            <a:extLst>
              <a:ext uri="{FF2B5EF4-FFF2-40B4-BE49-F238E27FC236}">
                <a16:creationId xmlns:a16="http://schemas.microsoft.com/office/drawing/2014/main" xmlns="" id="{A6E18E39-B007-D647-9935-55A748533A45}"/>
              </a:ext>
            </a:extLst>
          </p:cNvPr>
          <p:cNvSpPr txBox="1">
            <a:spLocks/>
          </p:cNvSpPr>
          <p:nvPr/>
        </p:nvSpPr>
        <p:spPr>
          <a:xfrm>
            <a:off x="730265" y="1326150"/>
            <a:ext cx="10506029"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2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a:buSzPts val="523"/>
            </a:pPr>
            <a:endParaRPr lang="en-US" sz="2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25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2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xmlns="" id="{5771FBFA-7311-BB45-8AFF-04B380531EE6}"/>
              </a:ext>
            </a:extLst>
          </p:cNvPr>
          <p:cNvSpPr txBox="1">
            <a:spLocks/>
          </p:cNvSpPr>
          <p:nvPr/>
        </p:nvSpPr>
        <p:spPr>
          <a:xfrm>
            <a:off x="1158888" y="-88032"/>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xmlns="" id="{81DC7EB0-4FED-FC45-BAEC-D699ED5C2169}"/>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xmlns="" id="{3ECD2D46-55D5-C547-91DD-0801CE9D6AD7}"/>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219</a:t>
            </a:r>
          </a:p>
        </p:txBody>
      </p:sp>
      <p:sp>
        <p:nvSpPr>
          <p:cNvPr id="14" name="Google Shape;302;g103996e1364_0_16">
            <a:extLst>
              <a:ext uri="{FF2B5EF4-FFF2-40B4-BE49-F238E27FC236}">
                <a16:creationId xmlns:a16="http://schemas.microsoft.com/office/drawing/2014/main" xmlns="" id="{9B7C98EC-F13C-9146-B728-D7044DB4247D}"/>
              </a:ext>
            </a:extLst>
          </p:cNvPr>
          <p:cNvSpPr txBox="1">
            <a:spLocks/>
          </p:cNvSpPr>
          <p:nvPr/>
        </p:nvSpPr>
        <p:spPr>
          <a:xfrm>
            <a:off x="730266" y="1237668"/>
            <a:ext cx="10302846"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457200">
              <a:buFont typeface="Wingdings" pitchFamily="2" charset="2"/>
              <a:buChar char="q"/>
            </a:pPr>
            <a:r>
              <a:rPr lang="en-US" sz="2000" dirty="0">
                <a:latin typeface="Verdana" panose="020B0604030504040204" pitchFamily="34" charset="0"/>
                <a:ea typeface="Verdana" panose="020B0604030504040204" pitchFamily="34" charset="0"/>
                <a:cs typeface="Verdana" panose="020B0604030504040204" pitchFamily="34" charset="0"/>
              </a:rPr>
              <a:t>I can explain data using multiple representations.</a:t>
            </a:r>
            <a:endParaRPr lang="en-US" sz="2000" i="1"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3054096" y="2852928"/>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179937" y="2766150"/>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xmlns="" id="{B595484E-1C62-AC4F-B448-37E60F77A8C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220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237332" y="29503"/>
            <a:ext cx="1059805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10.4.1 Warm-Up: Presentation Preparation</a:t>
            </a:r>
          </a:p>
        </p:txBody>
      </p:sp>
      <p:pic>
        <p:nvPicPr>
          <p:cNvPr id="13" name="Google Shape;326;g103996e1364_0_25">
            <a:extLst>
              <a:ext uri="{FF2B5EF4-FFF2-40B4-BE49-F238E27FC236}">
                <a16:creationId xmlns:a16="http://schemas.microsoft.com/office/drawing/2014/main" xmlns="" id="{0B25478F-1F7B-DF44-A9BD-898178E878B3}"/>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xmlns="" id="{5B627696-920F-B441-B5C1-01510F09761A}"/>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220</a:t>
            </a:r>
          </a:p>
        </p:txBody>
      </p:sp>
      <p:sp>
        <p:nvSpPr>
          <p:cNvPr id="2" name="TextBox 1">
            <a:extLst>
              <a:ext uri="{FF2B5EF4-FFF2-40B4-BE49-F238E27FC236}">
                <a16:creationId xmlns:a16="http://schemas.microsoft.com/office/drawing/2014/main" xmlns="" id="{E1D7562E-134F-D14B-AF1A-DF40E11EF758}"/>
              </a:ext>
            </a:extLst>
          </p:cNvPr>
          <p:cNvSpPr txBox="1"/>
          <p:nvPr/>
        </p:nvSpPr>
        <p:spPr>
          <a:xfrm>
            <a:off x="730266" y="1333669"/>
            <a:ext cx="10797338" cy="707886"/>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Meet with your group from the prior lesson to finalize your data displays for the group presentations. </a:t>
            </a:r>
            <a:endParaRPr lang="en-US" sz="2000" i="1"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3758696" y="2766150"/>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Activity</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xmlns="" id="{B595484E-1C62-AC4F-B448-37E60F77A8C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220</a:t>
            </a:r>
          </a:p>
        </p:txBody>
      </p:sp>
      <p:pic>
        <p:nvPicPr>
          <p:cNvPr id="5122" name="Picture 2" descr="Icon&#10;&#10;Description automatically generated">
            <a:extLst>
              <a:ext uri="{FF2B5EF4-FFF2-40B4-BE49-F238E27FC236}">
                <a16:creationId xmlns:a16="http://schemas.microsoft.com/office/drawing/2014/main" xmlns="" id="{217F3A92-AA2C-4D41-A73D-4DC6608D6820}"/>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054096" y="285292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27492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239840" y="-86778"/>
            <a:ext cx="9661041"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10.4.2 Activity: Presenting Data</a:t>
            </a:r>
          </a:p>
        </p:txBody>
      </p:sp>
      <p:sp>
        <p:nvSpPr>
          <p:cNvPr id="15" name="Google Shape;282;g104476d1465_1_17">
            <a:extLst>
              <a:ext uri="{FF2B5EF4-FFF2-40B4-BE49-F238E27FC236}">
                <a16:creationId xmlns:a16="http://schemas.microsoft.com/office/drawing/2014/main" xmlns="" id="{5B627696-920F-B441-B5C1-01510F09761A}"/>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220</a:t>
            </a:r>
          </a:p>
        </p:txBody>
      </p:sp>
      <p:pic>
        <p:nvPicPr>
          <p:cNvPr id="9" name="Picture 2" descr="Icon&#10;&#10;Description automatically generated">
            <a:extLst>
              <a:ext uri="{FF2B5EF4-FFF2-40B4-BE49-F238E27FC236}">
                <a16:creationId xmlns:a16="http://schemas.microsoft.com/office/drawing/2014/main" xmlns="" id="{37999C4E-6AE0-FA43-BC73-665C08EC572F}"/>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56616" y="201168"/>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xmlns="" id="{A3547ABD-563B-A148-B65C-C7679A7B43D4}"/>
              </a:ext>
            </a:extLst>
          </p:cNvPr>
          <p:cNvSpPr txBox="1"/>
          <p:nvPr/>
        </p:nvSpPr>
        <p:spPr>
          <a:xfrm>
            <a:off x="731519" y="1266259"/>
            <a:ext cx="11073487" cy="4031873"/>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Assign a group member to ask each question below for the presentation. </a:t>
            </a:r>
          </a:p>
          <a:p>
            <a:endParaRPr lang="en-US" sz="800"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What conclusion did you reach about the class?</a:t>
            </a:r>
            <a:endParaRPr lang="en-US" sz="8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800"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Do the displays clearly demonstrate this conclusion?</a:t>
            </a:r>
          </a:p>
          <a:p>
            <a:pPr marL="457200" indent="-457200">
              <a:buFont typeface="+mj-lt"/>
              <a:buAutoNum type="arabicPeriod"/>
            </a:pPr>
            <a:endParaRPr lang="en-US" sz="800"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Are there any unusual features in the data?</a:t>
            </a:r>
          </a:p>
          <a:p>
            <a:pPr marL="457200" indent="-457200">
              <a:buFont typeface="+mj-lt"/>
              <a:buAutoNum type="arabicPeriod"/>
            </a:pPr>
            <a:endParaRPr lang="en-US" sz="800"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Is there anything else that the group noticed from the data displays?</a:t>
            </a:r>
          </a:p>
          <a:p>
            <a:pPr marL="457200" indent="-457200">
              <a:buFont typeface="+mj-lt"/>
              <a:buAutoNum type="arabicPeriod"/>
            </a:pPr>
            <a:endParaRPr lang="en-US" sz="800"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Explain which type of graph, box plot or histogram, was more useful to display the data from your group survey.</a:t>
            </a:r>
          </a:p>
          <a:p>
            <a:pPr marL="457200" indent="-457200">
              <a:buFont typeface="+mj-lt"/>
              <a:buAutoNum type="arabicPeriod"/>
            </a:pPr>
            <a:endParaRPr lang="en-US" sz="800"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Explain if the data collected is truthful. If the data was not truthful, explain what could have been done to ensure the data collected from the survey was truthful.</a:t>
            </a:r>
          </a:p>
          <a:p>
            <a:pPr marL="457200" indent="-457200">
              <a:buFont typeface="+mj-lt"/>
              <a:buAutoNum type="arabicPeriod"/>
            </a:pPr>
            <a:endParaRPr lang="en-US" sz="800"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Is there anything else that the group wonders about the results?</a:t>
            </a:r>
            <a:endParaRPr lang="en-US" sz="2000" i="1"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3669712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221</a:t>
            </a: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3711960" y="2698334"/>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xmlns="" id="{DE95225C-59B5-E847-AFA2-B83DCFFA10D8}"/>
              </a:ext>
            </a:extLst>
          </p:cNvPr>
          <p:cNvPicPr preferRelativeResize="0"/>
          <p:nvPr/>
        </p:nvPicPr>
        <p:blipFill rotWithShape="1">
          <a:blip r:embed="rId4">
            <a:alphaModFix/>
          </a:blip>
          <a:srcRect/>
          <a:stretch/>
        </p:blipFill>
        <p:spPr>
          <a:xfrm>
            <a:off x="3054096" y="2852928"/>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8407509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221</a:t>
            </a: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xmlns="" id="{68C03D65-F0BF-3F41-B52A-024F47388982}"/>
              </a:ext>
            </a:extLst>
          </p:cNvPr>
          <p:cNvSpPr txBox="1">
            <a:spLocks/>
          </p:cNvSpPr>
          <p:nvPr/>
        </p:nvSpPr>
        <p:spPr>
          <a:xfrm>
            <a:off x="1128438" y="-88032"/>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10.4.3 Wrap-Up: Cool Down</a:t>
            </a:r>
          </a:p>
        </p:txBody>
      </p:sp>
      <p:pic>
        <p:nvPicPr>
          <p:cNvPr id="9" name="Google Shape;458;g103996e1364_0_463">
            <a:extLst>
              <a:ext uri="{FF2B5EF4-FFF2-40B4-BE49-F238E27FC236}">
                <a16:creationId xmlns:a16="http://schemas.microsoft.com/office/drawing/2014/main" xmlns="" id="{EEA44D6C-2366-AC41-B1B5-EDDC34786A66}"/>
              </a:ext>
            </a:extLst>
          </p:cNvPr>
          <p:cNvPicPr preferRelativeResize="0"/>
          <p:nvPr/>
        </p:nvPicPr>
        <p:blipFill rotWithShape="1">
          <a:blip r:embed="rId4">
            <a:alphaModFix/>
          </a:blip>
          <a:srcRect/>
          <a:stretch/>
        </p:blipFill>
        <p:spPr>
          <a:xfrm>
            <a:off x="356616" y="201168"/>
            <a:ext cx="747300" cy="747300"/>
          </a:xfrm>
          <a:prstGeom prst="rect">
            <a:avLst/>
          </a:prstGeom>
          <a:noFill/>
          <a:ln>
            <a:noFill/>
          </a:ln>
        </p:spPr>
      </p:pic>
      <p:sp>
        <p:nvSpPr>
          <p:cNvPr id="12" name="TextBox 11">
            <a:extLst>
              <a:ext uri="{FF2B5EF4-FFF2-40B4-BE49-F238E27FC236}">
                <a16:creationId xmlns:a16="http://schemas.microsoft.com/office/drawing/2014/main" xmlns="" id="{0370EDB7-6994-3D43-ABF9-E04CBAFB9CD9}"/>
              </a:ext>
            </a:extLst>
          </p:cNvPr>
          <p:cNvSpPr txBox="1"/>
          <p:nvPr/>
        </p:nvSpPr>
        <p:spPr>
          <a:xfrm>
            <a:off x="730266" y="1314107"/>
            <a:ext cx="11280224" cy="4401205"/>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What is an advantage of using graphs to present findings?</a:t>
            </a: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Are there disadvantages of using graphs to present findings? Explain.  </a:t>
            </a:r>
          </a:p>
          <a:p>
            <a:pPr marL="457200" indent="-457200">
              <a:buFont typeface="+mj-lt"/>
              <a:buAutoNum type="arabicPeriod"/>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What new information did you learn about the class today from the different survey results?</a:t>
            </a:r>
            <a:endParaRPr lang="en-US" sz="2000" i="1"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4051829991"/>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2300</TotalTime>
  <Words>317</Words>
  <Application>Microsoft Office PowerPoint</Application>
  <PresentationFormat>Custom</PresentationFormat>
  <Paragraphs>77</Paragraphs>
  <Slides>10</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Century Gothic</vt:lpstr>
      <vt:lpstr>Wingdings</vt:lpstr>
      <vt:lpstr>Arial Black</vt:lpstr>
      <vt:lpstr>Verdana</vt:lpstr>
      <vt:lpstr>Calibri</vt:lpstr>
      <vt:lpstr>1_Office Theme</vt:lpstr>
      <vt:lpstr>6th Grade Math  Unit 10, Lesson 4  Presenting Data  Volume 2, pg. 219  </vt:lpstr>
      <vt:lpstr>Benchmarks</vt:lpstr>
      <vt:lpstr>PowerPoint Presentation</vt:lpstr>
      <vt:lpstr>PowerPoint Presentation</vt:lpstr>
      <vt:lpstr>Warm-Up</vt:lpstr>
      <vt:lpstr>PowerPoint Presentation</vt:lpstr>
      <vt:lpstr>Activity</vt:lpstr>
      <vt:lpstr>PowerPoint Presentation</vt:lpstr>
      <vt:lpstr>Wrap-Up</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Sensei</cp:lastModifiedBy>
  <cp:revision>16</cp:revision>
  <dcterms:created xsi:type="dcterms:W3CDTF">2015-03-17T18:51:18Z</dcterms:created>
  <dcterms:modified xsi:type="dcterms:W3CDTF">2022-06-06T02:58:00Z</dcterms:modified>
</cp:coreProperties>
</file>