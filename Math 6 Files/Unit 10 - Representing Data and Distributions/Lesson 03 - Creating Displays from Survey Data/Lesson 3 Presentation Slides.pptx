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85" r:id="rId4"/>
    <p:sldId id="286" r:id="rId5"/>
    <p:sldId id="261" r:id="rId6"/>
    <p:sldId id="287" r:id="rId7"/>
    <p:sldId id="314" r:id="rId8"/>
    <p:sldId id="315" r:id="rId9"/>
    <p:sldId id="316" r:id="rId10"/>
    <p:sldId id="317" r:id="rId11"/>
    <p:sldId id="318" r:id="rId12"/>
    <p:sldId id="288" r:id="rId13"/>
    <p:sldId id="319" r:id="rId14"/>
    <p:sldId id="306" r:id="rId15"/>
    <p:sldId id="307" r:id="rId16"/>
  </p:sldIdLst>
  <p:sldSz cx="12192000" cy="6858000"/>
  <p:notesSz cx="6858000" cy="9144000"/>
  <p:embeddedFontLst>
    <p:embeddedFont>
      <p:font typeface="Cambria Math" pitchFamily="18" charset="0"/>
      <p:regular r:id="rId18"/>
    </p:embeddedFont>
    <p:embeddedFont>
      <p:font typeface="Arial Black" pitchFamily="34" charset="0"/>
      <p:bold r:id="rId19"/>
    </p:embeddedFont>
    <p:embeddedFont>
      <p:font typeface="Verdana" pitchFamily="34" charset="0"/>
      <p:regular r:id="rId20"/>
      <p:bold r:id="rId21"/>
      <p:italic r:id="rId22"/>
      <p:boldItalic r:id="rId23"/>
    </p:embeddedFont>
    <p:embeddedFont>
      <p:font typeface="Calibri" pitchFamily="34" charset="0"/>
      <p:regular r:id="rId24"/>
      <p:bold r:id="rId25"/>
      <p:italic r:id="rId26"/>
      <p:boldItalic r:id="rId27"/>
    </p:embeddedFont>
    <p:embeddedFont>
      <p:font typeface="Century Gothic"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39"/>
    <p:restoredTop sz="94754"/>
  </p:normalViewPr>
  <p:slideViewPr>
    <p:cSldViewPr snapToGrid="0">
      <p:cViewPr>
        <p:scale>
          <a:sx n="96" d="100"/>
          <a:sy n="96" d="100"/>
        </p:scale>
        <p:origin x="-822" y="-2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3451285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4251304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352859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125763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33455733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2230015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10.png"/><Relationship Id="rId3" Type="http://schemas.openxmlformats.org/officeDocument/2006/relationships/image" Target="../media/image17.png"/><Relationship Id="rId7" Type="http://schemas.openxmlformats.org/officeDocument/2006/relationships/image" Target="../media/image19.png"/><Relationship Id="rId12"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7.svg"/><Relationship Id="rId11" Type="http://schemas.openxmlformats.org/officeDocument/2006/relationships/image" Target="../media/image21.png"/><Relationship Id="rId10" Type="http://schemas.openxmlformats.org/officeDocument/2006/relationships/image" Target="../media/image21.svg"/><Relationship Id="rId4" Type="http://schemas.openxmlformats.org/officeDocument/2006/relationships/image" Target="../media/image18.png"/><Relationship Id="rId9"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49901" y="2054277"/>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10, Lesson 3</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Creating Displays from Survey Data</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216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35870" y="1726293"/>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5068" y="-8225"/>
            <a:ext cx="8810282" cy="1325700"/>
          </a:xfrm>
          <a:prstGeom prst="rect">
            <a:avLst/>
          </a:prstGeom>
          <a:noFill/>
          <a:ln>
            <a:noFill/>
          </a:ln>
        </p:spPr>
        <p:txBody>
          <a:bodyPr spcFirstLastPara="1" wrap="square" lIns="91425" tIns="45700" rIns="91425" bIns="45700" anchor="ctr" anchorCtr="0">
            <a:normAutofit/>
          </a:bodyPr>
          <a:lstStyle/>
          <a:p>
            <a:pPr>
              <a:buSzPts val="5400"/>
            </a:pPr>
            <a:r>
              <a:rPr lang="en-US" sz="4400" b="1" dirty="0">
                <a:solidFill>
                  <a:srgbClr val="54B5D1"/>
                </a:solidFill>
                <a:latin typeface="Verdana"/>
                <a:ea typeface="Verdana"/>
                <a:cs typeface="Verdana"/>
                <a:sym typeface="Verdana"/>
              </a:rPr>
              <a:t>Benchmarks</a:t>
            </a:r>
            <a:endParaRPr sz="36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544718" y="193321"/>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544717" y="1156962"/>
            <a:ext cx="11320711" cy="5464174"/>
          </a:xfrm>
          <a:prstGeom prst="rect">
            <a:avLst/>
          </a:prstGeom>
          <a:noFill/>
          <a:ln>
            <a:noFill/>
          </a:ln>
        </p:spPr>
        <p:txBody>
          <a:bodyPr spcFirstLastPara="1" wrap="square" lIns="91425" tIns="45700" rIns="91425" bIns="45700" anchor="t" anchorCtr="0">
            <a:normAutofit fontScale="70000" lnSpcReduction="2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MA.6.DP.1.1</a:t>
            </a:r>
          </a:p>
          <a:p>
            <a:pPr indent="0">
              <a:buNone/>
            </a:pPr>
            <a:r>
              <a:rPr lang="en-US" sz="3000" dirty="0">
                <a:latin typeface="Verdana" panose="020B0604030504040204" pitchFamily="34" charset="0"/>
                <a:ea typeface="Verdana" panose="020B0604030504040204" pitchFamily="34" charset="0"/>
                <a:cs typeface="Verdana" panose="020B0604030504040204" pitchFamily="34" charset="0"/>
              </a:rPr>
              <a:t>Recognize and formulate a statistical question that would generate numerical data.</a:t>
            </a:r>
          </a:p>
          <a:p>
            <a:pPr indent="0">
              <a:buNone/>
            </a:pPr>
            <a:endParaRPr lang="en-US" sz="3000" dirty="0">
              <a:latin typeface="Verdana" panose="020B0604030504040204" pitchFamily="34" charset="0"/>
              <a:ea typeface="Verdana" panose="020B0604030504040204" pitchFamily="34" charset="0"/>
              <a:cs typeface="Verdana" panose="020B0604030504040204" pitchFamily="34" charset="0"/>
            </a:endParaRPr>
          </a:p>
          <a:p>
            <a:pPr indent="-441325">
              <a:buNone/>
            </a:pPr>
            <a:r>
              <a:rPr lang="en-US" sz="3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MA.6.DP.1.3</a:t>
            </a:r>
          </a:p>
          <a:p>
            <a:pPr indent="7938">
              <a:buNone/>
            </a:pPr>
            <a:r>
              <a:rPr lang="en-US" sz="3000" dirty="0">
                <a:latin typeface="Verdana" panose="020B0604030504040204" pitchFamily="34" charset="0"/>
                <a:ea typeface="Verdana" panose="020B0604030504040204" pitchFamily="34" charset="0"/>
                <a:cs typeface="Verdana" panose="020B0604030504040204" pitchFamily="34" charset="0"/>
              </a:rPr>
              <a:t>Given a box plot within a real-world context, determine the minimum, the lower quartile, the median, the upper quartile, and the maximum. Use this summary of the data to describe the spread and distribution of the data. </a:t>
            </a:r>
          </a:p>
          <a:p>
            <a:pPr indent="7938">
              <a:buNone/>
            </a:pPr>
            <a:endParaRPr lang="en-US" sz="3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indent="-441325">
              <a:buNone/>
            </a:pPr>
            <a:r>
              <a:rPr lang="en-US" sz="3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MA.6.DP.1.4</a:t>
            </a:r>
          </a:p>
          <a:p>
            <a:pPr indent="7938">
              <a:buNone/>
            </a:pPr>
            <a:r>
              <a:rPr lang="en-US" sz="3000" dirty="0">
                <a:latin typeface="Verdana" panose="020B0604030504040204" pitchFamily="34" charset="0"/>
                <a:ea typeface="Verdana" panose="020B0604030504040204" pitchFamily="34" charset="0"/>
                <a:cs typeface="Verdana" panose="020B0604030504040204" pitchFamily="34" charset="0"/>
              </a:rPr>
              <a:t>Given a histogram or line plot within a real-world context, qualitatively describe and interpret the spread and distribution of the data, including any symmetry, skewness, gaps, clusters, outliers, and the range.</a:t>
            </a:r>
          </a:p>
          <a:p>
            <a:pPr indent="7938">
              <a:buNone/>
            </a:pPr>
            <a:endParaRPr lang="en-US" sz="3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indent="-441325">
              <a:buNone/>
            </a:pPr>
            <a:r>
              <a:rPr lang="en-US" sz="3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MA.6.DP.1.5</a:t>
            </a:r>
          </a:p>
          <a:p>
            <a:pPr indent="7938">
              <a:buNone/>
            </a:pPr>
            <a:r>
              <a:rPr lang="en-US" sz="3000" dirty="0">
                <a:latin typeface="Verdana" panose="020B0604030504040204" pitchFamily="34" charset="0"/>
                <a:ea typeface="Verdana" panose="020B0604030504040204" pitchFamily="34" charset="0"/>
                <a:cs typeface="Verdana" panose="020B0604030504040204" pitchFamily="34" charset="0"/>
              </a:rPr>
              <a:t>Create box plots and histograms to represent sets of numerical data within real world contexts.</a:t>
            </a:r>
            <a:endParaRPr lang="en-US" sz="3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indent="-441325">
              <a:buNone/>
            </a:pPr>
            <a:endParaRPr lang="en-US" sz="29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indent="0">
              <a:buNone/>
            </a:pPr>
            <a:endParaRPr lang="en-US"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472350" y="129667"/>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219649" y="41672"/>
            <a:ext cx="9709607" cy="9232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859971" y="1596390"/>
            <a:ext cx="1084217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9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9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9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9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9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9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9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216</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304741" y="30660"/>
            <a:ext cx="923423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3">
            <a:alphaModFix/>
          </a:blip>
          <a:stretch>
            <a:fillRect/>
          </a:stretch>
        </p:blipFill>
        <p:spPr>
          <a:xfrm>
            <a:off x="557441" y="232774"/>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976566" y="1600200"/>
            <a:ext cx="923423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6575" indent="-520700">
              <a:buFont typeface="Wingdings" pitchFamily="2" charset="2"/>
              <a:buChar char="q"/>
            </a:pPr>
            <a:r>
              <a:rPr lang="en-US" sz="3500" dirty="0"/>
              <a:t>I can create a statistical question and collect survey data.</a:t>
            </a:r>
          </a:p>
          <a:p>
            <a:pPr marL="536575" indent="-520700">
              <a:buFont typeface="Wingdings" pitchFamily="2" charset="2"/>
              <a:buChar char="q"/>
            </a:pPr>
            <a:r>
              <a:rPr lang="en-US" sz="3500" dirty="0"/>
              <a:t>I can determine ways to collect truthful data.</a:t>
            </a:r>
          </a:p>
          <a:p>
            <a:pPr marL="536575" indent="-520700">
              <a:buFont typeface="Wingdings" pitchFamily="2" charset="2"/>
              <a:buChar char="q"/>
            </a:pPr>
            <a:r>
              <a:rPr lang="en-US" sz="3500" dirty="0"/>
              <a:t>I can create box plots and histograms to display data.</a:t>
            </a:r>
          </a:p>
          <a:p>
            <a:pPr marL="536575" indent="-520700">
              <a:buFont typeface="Wingdings" pitchFamily="2" charset="2"/>
              <a:buChar char="q"/>
            </a:pPr>
            <a:r>
              <a:rPr lang="en-US" sz="3500" dirty="0"/>
              <a:t>I can describe and interpret data displays representing a real-world context.</a:t>
            </a:r>
          </a:p>
        </p:txBody>
      </p:sp>
      <p:sp>
        <p:nvSpPr>
          <p:cNvPr id="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216</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217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48824" y="60325"/>
            <a:ext cx="1064165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10.3.1 Warm-Up: Creating Statistical Questions</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3">
            <a:alphaModFix/>
          </a:blip>
          <a:stretch>
            <a:fillRect/>
          </a:stretch>
        </p:blipFill>
        <p:spPr>
          <a:xfrm>
            <a:off x="401524" y="153943"/>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 xmlns:a16="http://schemas.microsoft.com/office/drawing/2014/main" id="{E1D7562E-134F-D14B-AF1A-DF40E11EF758}"/>
              </a:ext>
            </a:extLst>
          </p:cNvPr>
          <p:cNvSpPr txBox="1"/>
          <p:nvPr/>
        </p:nvSpPr>
        <p:spPr>
          <a:xfrm>
            <a:off x="523934" y="1386026"/>
            <a:ext cx="10737101" cy="4708981"/>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Create three statistical questions that could be used in a class survey to collect quantitative data.</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1.</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2.</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3.</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9"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217</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217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394853" y="-35505"/>
            <a:ext cx="1075049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10.3.2 Collaboration: Determining Ways to Collect Truthful Data</a:t>
            </a:r>
          </a:p>
        </p:txBody>
      </p:sp>
      <p:pic>
        <p:nvPicPr>
          <p:cNvPr id="9" name="Picture 2">
            <a:extLst>
              <a:ext uri="{FF2B5EF4-FFF2-40B4-BE49-F238E27FC236}">
                <a16:creationId xmlns=""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45045" y="18498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E44DF7DE-9172-3E4E-B74A-7A51585FB6EA}"/>
              </a:ext>
            </a:extLst>
          </p:cNvPr>
          <p:cNvSpPr txBox="1"/>
          <p:nvPr/>
        </p:nvSpPr>
        <p:spPr>
          <a:xfrm>
            <a:off x="535715" y="1386025"/>
            <a:ext cx="10675624" cy="132343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Form a group of 3-4 classmates and discuss the questions everyone in your group created in the Warm</a:t>
            </a:r>
            <a:r>
              <a:rPr lang="en-US" sz="2000" i="1" dirty="0">
                <a:latin typeface="Verdana" panose="020B0604030504040204" pitchFamily="34" charset="0"/>
                <a:ea typeface="Verdana" panose="020B0604030504040204" pitchFamily="34" charset="0"/>
                <a:cs typeface="Verdana" panose="020B0604030504040204" pitchFamily="34" charset="0"/>
              </a:rPr>
              <a:t>-</a:t>
            </a:r>
            <a:r>
              <a:rPr lang="en-US" sz="2000" dirty="0">
                <a:latin typeface="Verdana" panose="020B0604030504040204" pitchFamily="34" charset="0"/>
                <a:ea typeface="Verdana" panose="020B0604030504040204" pitchFamily="34" charset="0"/>
                <a:cs typeface="Verdana" panose="020B0604030504040204" pitchFamily="34" charset="0"/>
              </a:rPr>
              <a:t>Up.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Choose the best three statistical questions that will produce quantitative data. </a:t>
            </a:r>
          </a:p>
        </p:txBody>
      </p:sp>
      <p:graphicFrame>
        <p:nvGraphicFramePr>
          <p:cNvPr id="2" name="Table 1">
            <a:extLst>
              <a:ext uri="{FF2B5EF4-FFF2-40B4-BE49-F238E27FC236}">
                <a16:creationId xmlns="" xmlns:a16="http://schemas.microsoft.com/office/drawing/2014/main" id="{19F1FD72-5163-0143-89DD-74F0A8371DBB}"/>
              </a:ext>
            </a:extLst>
          </p:cNvPr>
          <p:cNvGraphicFramePr>
            <a:graphicFrameLocks noGrp="1"/>
          </p:cNvGraphicFramePr>
          <p:nvPr>
            <p:extLst>
              <p:ext uri="{D42A27DB-BD31-4B8C-83A1-F6EECF244321}">
                <p14:modId xmlns:p14="http://schemas.microsoft.com/office/powerpoint/2010/main" val="881296497"/>
              </p:ext>
            </p:extLst>
          </p:nvPr>
        </p:nvGraphicFramePr>
        <p:xfrm>
          <a:off x="2126408" y="3113071"/>
          <a:ext cx="7271900" cy="3256925"/>
        </p:xfrm>
        <a:graphic>
          <a:graphicData uri="http://schemas.openxmlformats.org/drawingml/2006/table">
            <a:tbl>
              <a:tblPr firstRow="1" firstCol="1" bandRow="1">
                <a:tableStyleId>{A91F0D33-8C57-4600-99A7-42BC86742BE1}</a:tableStyleId>
              </a:tblPr>
              <a:tblGrid>
                <a:gridCol w="4101337">
                  <a:extLst>
                    <a:ext uri="{9D8B030D-6E8A-4147-A177-3AD203B41FA5}">
                      <a16:colId xmlns="" xmlns:a16="http://schemas.microsoft.com/office/drawing/2014/main" val="3743693896"/>
                    </a:ext>
                  </a:extLst>
                </a:gridCol>
                <a:gridCol w="3170563">
                  <a:extLst>
                    <a:ext uri="{9D8B030D-6E8A-4147-A177-3AD203B41FA5}">
                      <a16:colId xmlns="" xmlns:a16="http://schemas.microsoft.com/office/drawing/2014/main" val="699870576"/>
                    </a:ext>
                  </a:extLst>
                </a:gridCol>
              </a:tblGrid>
              <a:tr h="770133">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Statistical Question</a:t>
                      </a:r>
                    </a:p>
                  </a:txBody>
                  <a:tcPr marL="59329" marR="5932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Ways to Collect Truthful Data</a:t>
                      </a:r>
                    </a:p>
                  </a:txBody>
                  <a:tcPr marL="59329" marR="5932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 xmlns:a16="http://schemas.microsoft.com/office/drawing/2014/main" val="4168749935"/>
                  </a:ext>
                </a:extLst>
              </a:tr>
              <a:tr h="820296">
                <a:tc>
                  <a:txBody>
                    <a:bodyPr/>
                    <a:lstStyle/>
                    <a:p>
                      <a:pPr marL="342900" marR="0" lvl="0" indent="-342900">
                        <a:lnSpc>
                          <a:spcPct val="107000"/>
                        </a:lnSpc>
                        <a:spcBef>
                          <a:spcPts val="0"/>
                        </a:spcBef>
                        <a:spcAft>
                          <a:spcPts val="0"/>
                        </a:spcAft>
                        <a:buFont typeface="+mj-lt"/>
                        <a:buAutoNum type="arabicPeriod"/>
                      </a:pPr>
                      <a:r>
                        <a:rPr lang="en-US" sz="1600" dirty="0">
                          <a:effectLst/>
                          <a:latin typeface="Verdana" pitchFamily="34" charset="0"/>
                          <a:ea typeface="Verdana" pitchFamily="34" charset="0"/>
                        </a:rPr>
                        <a:t> </a:t>
                      </a:r>
                      <a:endParaRPr lang="en-US" sz="1400" dirty="0">
                        <a:effectLst/>
                        <a:latin typeface="Verdana" pitchFamily="34" charset="0"/>
                        <a:ea typeface="Verdana" pitchFamily="34" charset="0"/>
                        <a:cs typeface="Cambria Math" panose="02040503050406030204" pitchFamily="18" charset="0"/>
                      </a:endParaRPr>
                    </a:p>
                  </a:txBody>
                  <a:tcPr marL="59329" marR="593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itchFamily="34" charset="0"/>
                          <a:ea typeface="Verdana" pitchFamily="34" charset="0"/>
                        </a:rPr>
                        <a:t> </a:t>
                      </a:r>
                      <a:endParaRPr lang="en-US" sz="1400" dirty="0">
                        <a:effectLst/>
                        <a:latin typeface="Verdana" pitchFamily="34" charset="0"/>
                        <a:ea typeface="Verdana" pitchFamily="34" charset="0"/>
                        <a:cs typeface="Cambria Math" panose="02040503050406030204" pitchFamily="18" charset="0"/>
                      </a:endParaRPr>
                    </a:p>
                  </a:txBody>
                  <a:tcPr marL="59329" marR="593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501173762"/>
                  </a:ext>
                </a:extLst>
              </a:tr>
              <a:tr h="846200">
                <a:tc>
                  <a:txBody>
                    <a:bodyPr/>
                    <a:lstStyle/>
                    <a:p>
                      <a:pPr marL="342900" marR="0" lvl="0" indent="-342900">
                        <a:lnSpc>
                          <a:spcPct val="107000"/>
                        </a:lnSpc>
                        <a:spcBef>
                          <a:spcPts val="0"/>
                        </a:spcBef>
                        <a:spcAft>
                          <a:spcPts val="0"/>
                        </a:spcAft>
                        <a:buFont typeface="+mj-lt"/>
                        <a:buAutoNum type="arabicPeriod" startAt="2"/>
                      </a:pPr>
                      <a:r>
                        <a:rPr lang="en-US" sz="1600" dirty="0">
                          <a:effectLst/>
                          <a:latin typeface="Verdana" pitchFamily="34" charset="0"/>
                          <a:ea typeface="Verdana" pitchFamily="34" charset="0"/>
                        </a:rPr>
                        <a:t> </a:t>
                      </a:r>
                      <a:endParaRPr lang="en-US" sz="1400" dirty="0">
                        <a:effectLst/>
                        <a:latin typeface="Verdana" pitchFamily="34" charset="0"/>
                        <a:ea typeface="Verdana" pitchFamily="34" charset="0"/>
                        <a:cs typeface="Cambria Math" panose="02040503050406030204" pitchFamily="18" charset="0"/>
                      </a:endParaRPr>
                    </a:p>
                  </a:txBody>
                  <a:tcPr marL="59329" marR="593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itchFamily="34" charset="0"/>
                          <a:ea typeface="Verdana" pitchFamily="34" charset="0"/>
                        </a:rPr>
                        <a:t> </a:t>
                      </a:r>
                      <a:endParaRPr lang="en-US" sz="1400" dirty="0">
                        <a:effectLst/>
                        <a:latin typeface="Verdana" pitchFamily="34" charset="0"/>
                        <a:ea typeface="Verdana" pitchFamily="34" charset="0"/>
                        <a:cs typeface="Cambria Math" panose="02040503050406030204" pitchFamily="18" charset="0"/>
                      </a:endParaRPr>
                    </a:p>
                  </a:txBody>
                  <a:tcPr marL="59329" marR="593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959582265"/>
                  </a:ext>
                </a:extLst>
              </a:tr>
              <a:tr h="820296">
                <a:tc>
                  <a:txBody>
                    <a:bodyPr/>
                    <a:lstStyle/>
                    <a:p>
                      <a:pPr marL="342900" marR="0" lvl="0" indent="-342900">
                        <a:lnSpc>
                          <a:spcPct val="107000"/>
                        </a:lnSpc>
                        <a:spcBef>
                          <a:spcPts val="0"/>
                        </a:spcBef>
                        <a:spcAft>
                          <a:spcPts val="0"/>
                        </a:spcAft>
                        <a:buFont typeface="+mj-lt"/>
                        <a:buAutoNum type="arabicPeriod" startAt="3"/>
                      </a:pPr>
                      <a:r>
                        <a:rPr lang="en-US" sz="1600" dirty="0">
                          <a:effectLst/>
                          <a:latin typeface="Verdana" pitchFamily="34" charset="0"/>
                          <a:ea typeface="Verdana" pitchFamily="34" charset="0"/>
                        </a:rPr>
                        <a:t> </a:t>
                      </a:r>
                      <a:endParaRPr lang="en-US" sz="1400" dirty="0">
                        <a:effectLst/>
                        <a:latin typeface="Verdana" pitchFamily="34" charset="0"/>
                        <a:ea typeface="Verdana" pitchFamily="34" charset="0"/>
                        <a:cs typeface="Cambria Math" panose="02040503050406030204" pitchFamily="18" charset="0"/>
                      </a:endParaRPr>
                    </a:p>
                  </a:txBody>
                  <a:tcPr marL="59329" marR="593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effectLst/>
                          <a:latin typeface="Verdana" pitchFamily="34" charset="0"/>
                          <a:ea typeface="Verdana" pitchFamily="34" charset="0"/>
                        </a:rPr>
                        <a:t> </a:t>
                      </a:r>
                      <a:endParaRPr lang="en-US" sz="1400" dirty="0">
                        <a:effectLst/>
                        <a:latin typeface="Verdana" pitchFamily="34" charset="0"/>
                        <a:ea typeface="Verdana" pitchFamily="34" charset="0"/>
                        <a:cs typeface="Cambria Math" panose="02040503050406030204" pitchFamily="18" charset="0"/>
                      </a:endParaRPr>
                    </a:p>
                  </a:txBody>
                  <a:tcPr marL="59329" marR="59329"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192724348"/>
                  </a:ext>
                </a:extLst>
              </a:tr>
            </a:tbl>
          </a:graphicData>
        </a:graphic>
      </p:graphicFrame>
      <p:sp>
        <p:nvSpPr>
          <p:cNvPr id="11"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217</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 xmlns:a16="http://schemas.microsoft.com/office/drawing/2014/main" id="{2AA35BC6-D428-FC41-BDE5-6438AB8840FC}"/>
              </a:ext>
            </a:extLst>
          </p:cNvPr>
          <p:cNvSpPr txBox="1"/>
          <p:nvPr/>
        </p:nvSpPr>
        <p:spPr>
          <a:xfrm>
            <a:off x="515949" y="387001"/>
            <a:ext cx="11468750" cy="440120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With your group, discuss ways to collect truthful data for each of the questions. Summarize your discussion in the table for each statistical question.</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Explain what makes these good statistical questions.</a:t>
            </a:r>
          </a:p>
          <a:p>
            <a:pPr marL="457200" indent="-457200">
              <a:buFont typeface="+mj-lt"/>
              <a:buAutoNum type="arabicPeriod" startAt="3"/>
            </a:pPr>
            <a:endParaRPr lang="en-US" sz="2000" b="1"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b="1"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b="1"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b="1" i="1"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000" b="1" i="1" dirty="0">
              <a:latin typeface="Verdana" panose="020B0604030504040204" pitchFamily="34" charset="0"/>
              <a:ea typeface="Verdana" panose="020B0604030504040204" pitchFamily="34" charset="0"/>
              <a:cs typeface="Verdana" panose="020B0604030504040204" pitchFamily="34" charset="0"/>
            </a:endParaRPr>
          </a:p>
          <a:p>
            <a:pPr lvl="0"/>
            <a:r>
              <a:rPr lang="en-US" sz="2000" b="1"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217</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 xmlns:a16="http://schemas.microsoft.com/office/drawing/2014/main" id="{217F3A92-AA2C-4D41-A73D-4DC6608D68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218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56718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371525" y="264444"/>
            <a:ext cx="9026036"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10.3.3 Activity: Class Survey</a:t>
            </a:r>
          </a:p>
        </p:txBody>
      </p:sp>
      <p:pic>
        <p:nvPicPr>
          <p:cNvPr id="9" name="Picture 2" descr="Icon&#10;&#10;Description automatically generated">
            <a:extLst>
              <a:ext uri="{FF2B5EF4-FFF2-40B4-BE49-F238E27FC236}">
                <a16:creationId xmlns="" xmlns:a16="http://schemas.microsoft.com/office/drawing/2014/main" id="{37999C4E-6AE0-FA43-BC73-665C08EC572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21717" y="18498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A3547ABD-563B-A148-B65C-C7679A7B43D4}"/>
              </a:ext>
            </a:extLst>
          </p:cNvPr>
          <p:cNvSpPr txBox="1"/>
          <p:nvPr/>
        </p:nvSpPr>
        <p:spPr>
          <a:xfrm>
            <a:off x="513522" y="1386026"/>
            <a:ext cx="9625584" cy="3170099"/>
          </a:xfrm>
          <a:prstGeom prst="rect">
            <a:avLst/>
          </a:prstGeom>
          <a:noFill/>
        </p:spPr>
        <p:txBody>
          <a:bodyPr wrap="square" rtlCol="0">
            <a:spAutoFit/>
          </a:bodyPr>
          <a:lstStyle/>
          <a:p>
            <a:r>
              <a:rPr lang="en-US" sz="2000" b="1" dirty="0">
                <a:latin typeface="Verdana" panose="020B0604030504040204" pitchFamily="34" charset="0"/>
                <a:ea typeface="Verdana" panose="020B0604030504040204" pitchFamily="34" charset="0"/>
                <a:cs typeface="Verdana" panose="020B0604030504040204" pitchFamily="34" charset="0"/>
              </a:rPr>
              <a:t>Data Collection Directions: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As a group, choose one question to survey the class.</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Write your group’s question in the top of the data chart.</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Place the data chart in a location easily accessible by your classmates. Your teacher may have further instructions.</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Follow your teacher’s directions to answer each group’s question.</a:t>
            </a:r>
          </a:p>
        </p:txBody>
      </p:sp>
      <p:sp>
        <p:nvSpPr>
          <p:cNvPr id="11"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218</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05651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aphicFrame>
        <p:nvGraphicFramePr>
          <p:cNvPr id="2" name="Table 1">
            <a:extLst>
              <a:ext uri="{FF2B5EF4-FFF2-40B4-BE49-F238E27FC236}">
                <a16:creationId xmlns="" xmlns:a16="http://schemas.microsoft.com/office/drawing/2014/main" id="{450FCDB9-3916-D448-A571-C6E3C365BD3F}"/>
              </a:ext>
            </a:extLst>
          </p:cNvPr>
          <p:cNvGraphicFramePr>
            <a:graphicFrameLocks noGrp="1"/>
          </p:cNvGraphicFramePr>
          <p:nvPr>
            <p:extLst>
              <p:ext uri="{D42A27DB-BD31-4B8C-83A1-F6EECF244321}">
                <p14:modId xmlns:p14="http://schemas.microsoft.com/office/powerpoint/2010/main" val="1277726104"/>
              </p:ext>
            </p:extLst>
          </p:nvPr>
        </p:nvGraphicFramePr>
        <p:xfrm>
          <a:off x="2455818" y="182881"/>
          <a:ext cx="6252753" cy="6274801"/>
        </p:xfrm>
        <a:graphic>
          <a:graphicData uri="http://schemas.openxmlformats.org/drawingml/2006/table">
            <a:tbl>
              <a:tblPr bandRow="1">
                <a:tableStyleId>{A91F0D33-8C57-4600-99A7-42BC86742BE1}</a:tableStyleId>
              </a:tblPr>
              <a:tblGrid>
                <a:gridCol w="1794361">
                  <a:extLst>
                    <a:ext uri="{9D8B030D-6E8A-4147-A177-3AD203B41FA5}">
                      <a16:colId xmlns="" xmlns:a16="http://schemas.microsoft.com/office/drawing/2014/main" val="1894394239"/>
                    </a:ext>
                  </a:extLst>
                </a:gridCol>
                <a:gridCol w="1383395">
                  <a:extLst>
                    <a:ext uri="{9D8B030D-6E8A-4147-A177-3AD203B41FA5}">
                      <a16:colId xmlns="" xmlns:a16="http://schemas.microsoft.com/office/drawing/2014/main" val="3400165344"/>
                    </a:ext>
                  </a:extLst>
                </a:gridCol>
                <a:gridCol w="1574986">
                  <a:extLst>
                    <a:ext uri="{9D8B030D-6E8A-4147-A177-3AD203B41FA5}">
                      <a16:colId xmlns="" xmlns:a16="http://schemas.microsoft.com/office/drawing/2014/main" val="3778498266"/>
                    </a:ext>
                  </a:extLst>
                </a:gridCol>
                <a:gridCol w="1500011">
                  <a:extLst>
                    <a:ext uri="{9D8B030D-6E8A-4147-A177-3AD203B41FA5}">
                      <a16:colId xmlns="" xmlns:a16="http://schemas.microsoft.com/office/drawing/2014/main" val="3884728443"/>
                    </a:ext>
                  </a:extLst>
                </a:gridCol>
              </a:tblGrid>
              <a:tr h="1257247">
                <a:tc gridSpan="4">
                  <a:txBody>
                    <a:bodyPr/>
                    <a:lstStyle/>
                    <a:p>
                      <a:pPr marL="0" marR="0" algn="ctr">
                        <a:lnSpc>
                          <a:spcPct val="107000"/>
                        </a:lnSpc>
                        <a:spcBef>
                          <a:spcPts val="0"/>
                        </a:spcBef>
                        <a:spcAft>
                          <a:spcPts val="800"/>
                        </a:spcAft>
                      </a:pPr>
                      <a:r>
                        <a:rPr lang="en-US" sz="2000" b="1" dirty="0">
                          <a:effectLst/>
                          <a:latin typeface="Verdana" pitchFamily="34" charset="0"/>
                          <a:ea typeface="Verdana" pitchFamily="34" charset="0"/>
                        </a:rPr>
                        <a:t>My Group’s Statistical Question:</a:t>
                      </a:r>
                    </a:p>
                    <a:p>
                      <a:pPr marL="0" marR="0" algn="ctr">
                        <a:lnSpc>
                          <a:spcPct val="107000"/>
                        </a:lnSpc>
                        <a:spcBef>
                          <a:spcPts val="0"/>
                        </a:spcBef>
                        <a:spcAft>
                          <a:spcPts val="800"/>
                        </a:spcAft>
                      </a:pPr>
                      <a:r>
                        <a:rPr lang="en-US" sz="2000" b="1" dirty="0">
                          <a:effectLst/>
                          <a:latin typeface="Verdana" pitchFamily="34" charset="0"/>
                          <a:ea typeface="Verdana" pitchFamily="34" charset="0"/>
                        </a:rPr>
                        <a:t> </a:t>
                      </a:r>
                    </a:p>
                    <a:p>
                      <a:pPr marL="0" marR="0" algn="ctr">
                        <a:lnSpc>
                          <a:spcPct val="107000"/>
                        </a:lnSpc>
                        <a:spcBef>
                          <a:spcPts val="0"/>
                        </a:spcBef>
                        <a:spcAft>
                          <a:spcPts val="800"/>
                        </a:spcAft>
                      </a:pPr>
                      <a:r>
                        <a:rPr lang="en-US" sz="2000" b="1" dirty="0">
                          <a:effectLst/>
                          <a:latin typeface="Verdana" pitchFamily="34" charset="0"/>
                          <a:ea typeface="Verdana" pitchFamily="34" charset="0"/>
                        </a:rPr>
                        <a:t> </a:t>
                      </a:r>
                      <a:endParaRPr lang="en-US" sz="2000" b="1" dirty="0">
                        <a:effectLst/>
                        <a:latin typeface="Verdana" pitchFamily="34" charset="0"/>
                        <a:ea typeface="Verdana" pitchFamily="34"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4110468596"/>
                  </a:ext>
                </a:extLst>
              </a:tr>
              <a:tr h="334568">
                <a:tc>
                  <a:txBody>
                    <a:bodyPr/>
                    <a:lstStyle/>
                    <a:p>
                      <a:pPr marL="0" marR="0" algn="ctr">
                        <a:lnSpc>
                          <a:spcPct val="107000"/>
                        </a:lnSpc>
                        <a:spcBef>
                          <a:spcPts val="0"/>
                        </a:spcBef>
                        <a:spcAft>
                          <a:spcPts val="800"/>
                        </a:spcAft>
                      </a:pPr>
                      <a:r>
                        <a:rPr lang="en-US" sz="2000" b="1">
                          <a:effectLst/>
                          <a:latin typeface="Verdana" pitchFamily="34" charset="0"/>
                          <a:ea typeface="Verdana" pitchFamily="34" charset="0"/>
                        </a:rPr>
                        <a:t>Name</a:t>
                      </a:r>
                      <a:endParaRPr lang="en-US" sz="2000" b="1">
                        <a:effectLst/>
                        <a:latin typeface="Verdana" pitchFamily="34" charset="0"/>
                        <a:ea typeface="Verdana" pitchFamily="34"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itchFamily="34" charset="0"/>
                          <a:ea typeface="Verdana" pitchFamily="34" charset="0"/>
                        </a:rPr>
                        <a:t>Answer</a:t>
                      </a:r>
                      <a:endParaRPr lang="en-US" sz="2000" b="1" dirty="0">
                        <a:effectLst/>
                        <a:latin typeface="Verdana" pitchFamily="34" charset="0"/>
                        <a:ea typeface="Verdana" pitchFamily="34"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itchFamily="34" charset="0"/>
                          <a:ea typeface="Verdana" pitchFamily="34" charset="0"/>
                        </a:rPr>
                        <a:t>Name</a:t>
                      </a:r>
                      <a:endParaRPr lang="en-US" sz="2000" b="1" dirty="0">
                        <a:effectLst/>
                        <a:latin typeface="Verdana" pitchFamily="34" charset="0"/>
                        <a:ea typeface="Verdana" pitchFamily="34"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itchFamily="34" charset="0"/>
                          <a:ea typeface="Verdana" pitchFamily="34" charset="0"/>
                        </a:rPr>
                        <a:t>Answer</a:t>
                      </a:r>
                      <a:endParaRPr lang="en-US" sz="2000" b="1" dirty="0">
                        <a:effectLst/>
                        <a:latin typeface="Verdana" pitchFamily="34" charset="0"/>
                        <a:ea typeface="Verdana" pitchFamily="34"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 xmlns:a16="http://schemas.microsoft.com/office/drawing/2014/main" val="61561367"/>
                  </a:ext>
                </a:extLst>
              </a:tr>
              <a:tr h="334499">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1.</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15.</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996489137"/>
                  </a:ext>
                </a:extLst>
              </a:tr>
              <a:tr h="334499">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2.</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16.</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946246037"/>
                  </a:ext>
                </a:extLst>
              </a:tr>
              <a:tr h="334499">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3.</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17.</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236301666"/>
                  </a:ext>
                </a:extLst>
              </a:tr>
              <a:tr h="334499">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4.</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18.</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749956754"/>
                  </a:ext>
                </a:extLst>
              </a:tr>
              <a:tr h="334499">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5.</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19.</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894052421"/>
                  </a:ext>
                </a:extLst>
              </a:tr>
              <a:tr h="334499">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6.</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20.</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157703454"/>
                  </a:ext>
                </a:extLst>
              </a:tr>
              <a:tr h="334499">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7.</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21.</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82480490"/>
                  </a:ext>
                </a:extLst>
              </a:tr>
              <a:tr h="334499">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8.</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22.</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839425277"/>
                  </a:ext>
                </a:extLst>
              </a:tr>
              <a:tr h="334499">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9.</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23.</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588907304"/>
                  </a:ext>
                </a:extLst>
              </a:tr>
              <a:tr h="334499">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10.</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24.</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661319780"/>
                  </a:ext>
                </a:extLst>
              </a:tr>
              <a:tr h="334499">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11.</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25.</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094238182"/>
                  </a:ext>
                </a:extLst>
              </a:tr>
              <a:tr h="334499">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12.</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26.</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293673821"/>
                  </a:ext>
                </a:extLst>
              </a:tr>
              <a:tr h="334499">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13.</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27.</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303060345"/>
                  </a:ext>
                </a:extLst>
              </a:tr>
              <a:tr h="334499">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14.</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a:effectLst/>
                          <a:latin typeface="Cambria Math" panose="02040503050406030204" pitchFamily="18" charset="0"/>
                          <a:ea typeface="Cambria Math" panose="02040503050406030204" pitchFamily="18" charset="0"/>
                        </a:rPr>
                        <a:t> </a:t>
                      </a:r>
                      <a:endParaRPr lang="en-US"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latin typeface="Cambria Math" panose="02040503050406030204" pitchFamily="18" charset="0"/>
                          <a:ea typeface="Cambria Math" panose="02040503050406030204" pitchFamily="18" charset="0"/>
                        </a:rPr>
                        <a:t>28.</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800"/>
                        </a:spcAft>
                      </a:pPr>
                      <a:r>
                        <a:rPr lang="en-US" sz="2000" dirty="0">
                          <a:effectLst/>
                        </a:rPr>
                        <a:t> </a:t>
                      </a:r>
                      <a:endParaRPr lang="en-US"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39056" marR="3905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98451793"/>
                  </a:ext>
                </a:extLst>
              </a:tr>
            </a:tbl>
          </a:graphicData>
        </a:graphic>
      </p:graphicFrame>
      <p:sp>
        <p:nvSpPr>
          <p:cNvPr id="6"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218</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 xmlns:a16="http://schemas.microsoft.com/office/drawing/2014/main" id="{B6C08EE3-8247-C14E-9600-35165D5C8679}"/>
              </a:ext>
            </a:extLst>
          </p:cNvPr>
          <p:cNvSpPr txBox="1"/>
          <p:nvPr/>
        </p:nvSpPr>
        <p:spPr>
          <a:xfrm>
            <a:off x="525827" y="354152"/>
            <a:ext cx="10842172" cy="2862322"/>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Once the results are collected from the whole class, work with your group to create a presentation displaying the data from your survey results. </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b="1" dirty="0">
                <a:latin typeface="Verdana" panose="020B0604030504040204" pitchFamily="34" charset="0"/>
                <a:ea typeface="Verdana" panose="020B0604030504040204" pitchFamily="34" charset="0"/>
                <a:cs typeface="Verdana" panose="020B0604030504040204" pitchFamily="34" charset="0"/>
              </a:rPr>
              <a:t>Data Display Directions:</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804863" indent="-347663">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Present the data in a neat, organized table.</a:t>
            </a:r>
          </a:p>
          <a:p>
            <a:pPr marL="804863" indent="-347663">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Find the five-number summary and create a box plot.</a:t>
            </a:r>
          </a:p>
          <a:p>
            <a:pPr marL="804863" indent="-347663">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Create a frequency table and a histogram.</a:t>
            </a:r>
          </a:p>
          <a:p>
            <a:pPr marL="804863" indent="-347663">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Describe the distributions shape, center, spread, and unusual features. </a:t>
            </a:r>
          </a:p>
          <a:p>
            <a:pPr marL="804863" indent="-347663">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Summarize the class’ results using statistical terminology. </a:t>
            </a:r>
          </a:p>
        </p:txBody>
      </p:sp>
      <p:sp>
        <p:nvSpPr>
          <p:cNvPr id="6"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218</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32731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219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76676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247679" y="-180586"/>
            <a:ext cx="929583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10.3.4 Wrap-Up: Reflection</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3">
            <a:alphaModFix/>
          </a:blip>
          <a:srcRect/>
          <a:stretch/>
        </p:blipFill>
        <p:spPr>
          <a:xfrm>
            <a:off x="410712" y="92982"/>
            <a:ext cx="747300" cy="747300"/>
          </a:xfrm>
          <a:prstGeom prst="rect">
            <a:avLst/>
          </a:prstGeom>
          <a:noFill/>
          <a:ln>
            <a:noFill/>
          </a:ln>
        </p:spPr>
      </p:pic>
      <p:sp>
        <p:nvSpPr>
          <p:cNvPr id="12" name="TextBox 11">
            <a:extLst>
              <a:ext uri="{FF2B5EF4-FFF2-40B4-BE49-F238E27FC236}">
                <a16:creationId xmlns="" xmlns:a16="http://schemas.microsoft.com/office/drawing/2014/main" id="{0370EDB7-6994-3D43-ABF9-E04CBAFB9CD9}"/>
              </a:ext>
            </a:extLst>
          </p:cNvPr>
          <p:cNvSpPr txBox="1"/>
          <p:nvPr/>
        </p:nvSpPr>
        <p:spPr>
          <a:xfrm>
            <a:off x="566057" y="1107068"/>
            <a:ext cx="9839204" cy="400110"/>
          </a:xfrm>
          <a:prstGeom prst="rect">
            <a:avLst/>
          </a:prstGeom>
          <a:noFill/>
        </p:spPr>
        <p:txBody>
          <a:bodyPr wrap="square" rtlCol="0">
            <a:spAutoFit/>
          </a:bodyPr>
          <a:lstStyle/>
          <a:p>
            <a:pPr marL="457200" lvl="3"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Circle the icon that best describes your understanding of each topic. </a:t>
            </a:r>
          </a:p>
        </p:txBody>
      </p:sp>
      <p:sp>
        <p:nvSpPr>
          <p:cNvPr id="30" name="TextBox 29">
            <a:extLst>
              <a:ext uri="{FF2B5EF4-FFF2-40B4-BE49-F238E27FC236}">
                <a16:creationId xmlns="" xmlns:a16="http://schemas.microsoft.com/office/drawing/2014/main" id="{83590023-E14A-7D4F-BC41-7A07ADD91668}"/>
              </a:ext>
            </a:extLst>
          </p:cNvPr>
          <p:cNvSpPr txBox="1"/>
          <p:nvPr/>
        </p:nvSpPr>
        <p:spPr>
          <a:xfrm>
            <a:off x="1948808" y="1812573"/>
            <a:ext cx="1812472" cy="400110"/>
          </a:xfrm>
          <a:prstGeom prst="rect">
            <a:avLst/>
          </a:prstGeom>
          <a:noFill/>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 need help. </a:t>
            </a:r>
          </a:p>
        </p:txBody>
      </p:sp>
      <p:pic>
        <p:nvPicPr>
          <p:cNvPr id="31" name="Graphic 7" descr="Marketing">
            <a:extLst>
              <a:ext uri="{FF2B5EF4-FFF2-40B4-BE49-F238E27FC236}">
                <a16:creationId xmlns="" xmlns:a16="http://schemas.microsoft.com/office/drawing/2014/main" id="{ABA2F2CF-632A-244B-8094-32F0A39DBB9E}"/>
              </a:ext>
            </a:extLst>
          </p:cNvPr>
          <p:cNvPicPr/>
          <p:nvPr/>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6"/>
              </a:ext>
            </a:extLst>
          </a:blip>
          <a:stretch>
            <a:fillRect/>
          </a:stretch>
        </p:blipFill>
        <p:spPr>
          <a:xfrm>
            <a:off x="1506604" y="1803354"/>
            <a:ext cx="523875" cy="523875"/>
          </a:xfrm>
          <a:prstGeom prst="rect">
            <a:avLst/>
          </a:prstGeom>
        </p:spPr>
      </p:pic>
      <p:sp>
        <p:nvSpPr>
          <p:cNvPr id="33" name="TextBox 32">
            <a:extLst>
              <a:ext uri="{FF2B5EF4-FFF2-40B4-BE49-F238E27FC236}">
                <a16:creationId xmlns="" xmlns:a16="http://schemas.microsoft.com/office/drawing/2014/main" id="{FBD03D40-26F0-D14A-A317-7A0509F495AF}"/>
              </a:ext>
            </a:extLst>
          </p:cNvPr>
          <p:cNvSpPr txBox="1"/>
          <p:nvPr/>
        </p:nvSpPr>
        <p:spPr>
          <a:xfrm>
            <a:off x="4884863" y="1852229"/>
            <a:ext cx="1306286" cy="400110"/>
          </a:xfrm>
          <a:prstGeom prst="rect">
            <a:avLst/>
          </a:prstGeom>
          <a:noFill/>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 got it. </a:t>
            </a:r>
          </a:p>
        </p:txBody>
      </p:sp>
      <p:pic>
        <p:nvPicPr>
          <p:cNvPr id="34" name="Graphic 8" descr="Thumbs up sign">
            <a:extLst>
              <a:ext uri="{FF2B5EF4-FFF2-40B4-BE49-F238E27FC236}">
                <a16:creationId xmlns="" xmlns:a16="http://schemas.microsoft.com/office/drawing/2014/main" id="{422993BD-7AAD-0B43-9C43-E91B35F27ECA}"/>
              </a:ext>
            </a:extLst>
          </p:cNvPr>
          <p:cNvPicPr/>
          <p:nvPr/>
        </p:nvPicPr>
        <p:blipFill>
          <a:blip r:embed="rId7" cstate="screen">
            <a:extLst>
              <a:ext uri="{28A0092B-C50C-407E-A947-70E740481C1C}">
                <a14:useLocalDpi xmlns:a14="http://schemas.microsoft.com/office/drawing/2010/main"/>
              </a:ext>
              <a:ext uri="{96DAC541-7B7A-43D3-8B79-37D633B846F1}">
                <asvg:svgBlip xmlns="" xmlns:asvg="http://schemas.microsoft.com/office/drawing/2016/SVG/main" r:embed="rId8"/>
              </a:ext>
            </a:extLst>
          </a:blip>
          <a:stretch>
            <a:fillRect/>
          </a:stretch>
        </p:blipFill>
        <p:spPr>
          <a:xfrm>
            <a:off x="4419499" y="1765877"/>
            <a:ext cx="457200" cy="457200"/>
          </a:xfrm>
          <a:prstGeom prst="rect">
            <a:avLst/>
          </a:prstGeom>
        </p:spPr>
      </p:pic>
      <p:sp>
        <p:nvSpPr>
          <p:cNvPr id="38" name="TextBox 37">
            <a:extLst>
              <a:ext uri="{FF2B5EF4-FFF2-40B4-BE49-F238E27FC236}">
                <a16:creationId xmlns="" xmlns:a16="http://schemas.microsoft.com/office/drawing/2014/main" id="{908CD264-B7F8-4145-9479-A82C41BE9948}"/>
              </a:ext>
            </a:extLst>
          </p:cNvPr>
          <p:cNvSpPr txBox="1"/>
          <p:nvPr/>
        </p:nvSpPr>
        <p:spPr>
          <a:xfrm>
            <a:off x="6665627" y="1848038"/>
            <a:ext cx="3506956" cy="410946"/>
          </a:xfrm>
          <a:prstGeom prst="rect">
            <a:avLst/>
          </a:prstGeom>
          <a:noFill/>
        </p:spPr>
        <p:txBody>
          <a:bodyPr wrap="square">
            <a:spAutoFit/>
          </a:bodyPr>
          <a:lstStyle/>
          <a:p>
            <a:pPr algn="ctr">
              <a:lnSpc>
                <a:spcPct val="115000"/>
              </a:lnSpc>
            </a:pPr>
            <a:r>
              <a:rPr lang="en-US" sz="2000" dirty="0">
                <a:latin typeface="Verdana" panose="020B0604030504040204" pitchFamily="34" charset="0"/>
                <a:ea typeface="Verdana" panose="020B0604030504040204" pitchFamily="34" charset="0"/>
                <a:cs typeface="Verdana" panose="020B0604030504040204" pitchFamily="34" charset="0"/>
              </a:rPr>
              <a:t>I could help someone.</a:t>
            </a:r>
          </a:p>
        </p:txBody>
      </p:sp>
      <p:pic>
        <p:nvPicPr>
          <p:cNvPr id="39" name="Graphic 9" descr="Shooting star">
            <a:extLst>
              <a:ext uri="{FF2B5EF4-FFF2-40B4-BE49-F238E27FC236}">
                <a16:creationId xmlns="" xmlns:a16="http://schemas.microsoft.com/office/drawing/2014/main" id="{14D1A5C8-AFA9-0F42-87AF-B548DC0DB1F3}"/>
              </a:ext>
            </a:extLst>
          </p:cNvPr>
          <p:cNvPicPr/>
          <p:nvPr/>
        </p:nvPicPr>
        <p:blipFill>
          <a:blip r:embed="rId9" cstate="screen">
            <a:extLst>
              <a:ext uri="{28A0092B-C50C-407E-A947-70E740481C1C}">
                <a14:useLocalDpi xmlns:a14="http://schemas.microsoft.com/office/drawing/2010/main"/>
              </a:ext>
              <a:ext uri="{96DAC541-7B7A-43D3-8B79-37D633B846F1}">
                <asvg:svgBlip xmlns="" xmlns:asvg="http://schemas.microsoft.com/office/drawing/2016/SVG/main" r:embed="rId10"/>
              </a:ext>
            </a:extLst>
          </a:blip>
          <a:stretch>
            <a:fillRect/>
          </a:stretch>
        </p:blipFill>
        <p:spPr>
          <a:xfrm>
            <a:off x="6524755" y="1812574"/>
            <a:ext cx="447675" cy="447675"/>
          </a:xfrm>
          <a:prstGeom prst="rect">
            <a:avLst/>
          </a:prstGeom>
        </p:spPr>
      </p:pic>
      <p:graphicFrame>
        <p:nvGraphicFramePr>
          <p:cNvPr id="35" name="Table 34">
            <a:extLst>
              <a:ext uri="{FF2B5EF4-FFF2-40B4-BE49-F238E27FC236}">
                <a16:creationId xmlns="" xmlns:a16="http://schemas.microsoft.com/office/drawing/2014/main" id="{79A01875-75F8-4343-B32D-E4773FFF6AAE}"/>
              </a:ext>
            </a:extLst>
          </p:cNvPr>
          <p:cNvGraphicFramePr>
            <a:graphicFrameLocks noGrp="1"/>
          </p:cNvGraphicFramePr>
          <p:nvPr>
            <p:extLst>
              <p:ext uri="{D42A27DB-BD31-4B8C-83A1-F6EECF244321}">
                <p14:modId xmlns:p14="http://schemas.microsoft.com/office/powerpoint/2010/main" val="3729576800"/>
              </p:ext>
            </p:extLst>
          </p:nvPr>
        </p:nvGraphicFramePr>
        <p:xfrm>
          <a:off x="1206392" y="2539209"/>
          <a:ext cx="8772652" cy="3579365"/>
        </p:xfrm>
        <a:graphic>
          <a:graphicData uri="http://schemas.openxmlformats.org/drawingml/2006/table">
            <a:tbl>
              <a:tblPr firstRow="1" firstCol="1" bandRow="1">
                <a:tableStyleId>{A91F0D33-8C57-4600-99A7-42BC86742BE1}</a:tableStyleId>
              </a:tblPr>
              <a:tblGrid>
                <a:gridCol w="5660171">
                  <a:extLst>
                    <a:ext uri="{9D8B030D-6E8A-4147-A177-3AD203B41FA5}">
                      <a16:colId xmlns="" xmlns:a16="http://schemas.microsoft.com/office/drawing/2014/main" val="1388129788"/>
                    </a:ext>
                  </a:extLst>
                </a:gridCol>
                <a:gridCol w="3112481">
                  <a:extLst>
                    <a:ext uri="{9D8B030D-6E8A-4147-A177-3AD203B41FA5}">
                      <a16:colId xmlns="" xmlns:a16="http://schemas.microsoft.com/office/drawing/2014/main" val="1801915607"/>
                    </a:ext>
                  </a:extLst>
                </a:gridCol>
              </a:tblGrid>
              <a:tr h="575665">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Determining ways to collect truthful data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080667391"/>
                  </a:ext>
                </a:extLst>
              </a:tr>
              <a:tr h="575665">
                <a:tc>
                  <a:txBody>
                    <a:bodyPr/>
                    <a:lstStyle/>
                    <a:p>
                      <a:pPr marL="0" marR="0" algn="ctr">
                        <a:lnSpc>
                          <a:spcPct val="115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Finding a five-number summary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387208012"/>
                  </a:ext>
                </a:extLst>
              </a:tr>
              <a:tr h="575665">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Creating a box plot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868029939"/>
                  </a:ext>
                </a:extLst>
              </a:tr>
              <a:tr h="575665">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Creating a frequency table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781998255"/>
                  </a:ext>
                </a:extLst>
              </a:tr>
              <a:tr h="575665">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Creating a histogram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759342627"/>
                  </a:ext>
                </a:extLst>
              </a:tr>
              <a:tr h="575665">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Describing data displayed on a box plot, frequency table, and histogram</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23099872"/>
                  </a:ext>
                </a:extLst>
              </a:tr>
            </a:tbl>
          </a:graphicData>
        </a:graphic>
      </p:graphicFrame>
      <p:pic>
        <p:nvPicPr>
          <p:cNvPr id="78" name="Graphic 21" descr="Marketing">
            <a:extLst>
              <a:ext uri="{FF2B5EF4-FFF2-40B4-BE49-F238E27FC236}">
                <a16:creationId xmlns="" xmlns:a16="http://schemas.microsoft.com/office/drawing/2014/main" id="{9F33FE76-94C0-FF4B-88DE-2BDEC11781A7}"/>
              </a:ext>
            </a:extLst>
          </p:cNvPr>
          <p:cNvPicPr/>
          <p:nvPr/>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6"/>
              </a:ext>
            </a:extLst>
          </a:blip>
          <a:stretch>
            <a:fillRect/>
          </a:stretch>
        </p:blipFill>
        <p:spPr>
          <a:xfrm>
            <a:off x="6972427" y="2614835"/>
            <a:ext cx="523875" cy="523875"/>
          </a:xfrm>
          <a:prstGeom prst="rect">
            <a:avLst/>
          </a:prstGeom>
        </p:spPr>
      </p:pic>
      <p:pic>
        <p:nvPicPr>
          <p:cNvPr id="79" name="Graphic 21" descr="Marketing">
            <a:extLst>
              <a:ext uri="{FF2B5EF4-FFF2-40B4-BE49-F238E27FC236}">
                <a16:creationId xmlns="" xmlns:a16="http://schemas.microsoft.com/office/drawing/2014/main" id="{F5B8BE78-2558-6743-AEDD-1D874629F571}"/>
              </a:ext>
            </a:extLst>
          </p:cNvPr>
          <p:cNvPicPr/>
          <p:nvPr/>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6"/>
              </a:ext>
            </a:extLst>
          </a:blip>
          <a:stretch>
            <a:fillRect/>
          </a:stretch>
        </p:blipFill>
        <p:spPr>
          <a:xfrm>
            <a:off x="6972429" y="3162888"/>
            <a:ext cx="523875" cy="523875"/>
          </a:xfrm>
          <a:prstGeom prst="rect">
            <a:avLst/>
          </a:prstGeom>
        </p:spPr>
      </p:pic>
      <p:pic>
        <p:nvPicPr>
          <p:cNvPr id="80" name="Graphic 21" descr="Marketing">
            <a:extLst>
              <a:ext uri="{FF2B5EF4-FFF2-40B4-BE49-F238E27FC236}">
                <a16:creationId xmlns="" xmlns:a16="http://schemas.microsoft.com/office/drawing/2014/main" id="{3E9671DC-9824-A34B-985A-B788360BF62D}"/>
              </a:ext>
            </a:extLst>
          </p:cNvPr>
          <p:cNvPicPr/>
          <p:nvPr/>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6"/>
              </a:ext>
            </a:extLst>
          </a:blip>
          <a:stretch>
            <a:fillRect/>
          </a:stretch>
        </p:blipFill>
        <p:spPr>
          <a:xfrm>
            <a:off x="6972428" y="3762774"/>
            <a:ext cx="523875" cy="523875"/>
          </a:xfrm>
          <a:prstGeom prst="rect">
            <a:avLst/>
          </a:prstGeom>
        </p:spPr>
      </p:pic>
      <p:pic>
        <p:nvPicPr>
          <p:cNvPr id="81" name="Graphic 21" descr="Marketing">
            <a:extLst>
              <a:ext uri="{FF2B5EF4-FFF2-40B4-BE49-F238E27FC236}">
                <a16:creationId xmlns="" xmlns:a16="http://schemas.microsoft.com/office/drawing/2014/main" id="{11A9F139-3074-8B4E-B8D8-DFA941C91119}"/>
              </a:ext>
            </a:extLst>
          </p:cNvPr>
          <p:cNvPicPr/>
          <p:nvPr/>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6"/>
              </a:ext>
            </a:extLst>
          </a:blip>
          <a:stretch>
            <a:fillRect/>
          </a:stretch>
        </p:blipFill>
        <p:spPr>
          <a:xfrm>
            <a:off x="6972426" y="4365897"/>
            <a:ext cx="523875" cy="523875"/>
          </a:xfrm>
          <a:prstGeom prst="rect">
            <a:avLst/>
          </a:prstGeom>
        </p:spPr>
      </p:pic>
      <p:pic>
        <p:nvPicPr>
          <p:cNvPr id="82" name="Graphic 21" descr="Marketing">
            <a:extLst>
              <a:ext uri="{FF2B5EF4-FFF2-40B4-BE49-F238E27FC236}">
                <a16:creationId xmlns="" xmlns:a16="http://schemas.microsoft.com/office/drawing/2014/main" id="{6F79DC1B-1AE1-3048-8B14-26E1E3A4EDF3}"/>
              </a:ext>
            </a:extLst>
          </p:cNvPr>
          <p:cNvPicPr/>
          <p:nvPr/>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6"/>
              </a:ext>
            </a:extLst>
          </a:blip>
          <a:stretch>
            <a:fillRect/>
          </a:stretch>
        </p:blipFill>
        <p:spPr>
          <a:xfrm>
            <a:off x="6972425" y="4923180"/>
            <a:ext cx="523875" cy="523875"/>
          </a:xfrm>
          <a:prstGeom prst="rect">
            <a:avLst/>
          </a:prstGeom>
        </p:spPr>
      </p:pic>
      <p:pic>
        <p:nvPicPr>
          <p:cNvPr id="83" name="Graphic 21" descr="Marketing">
            <a:extLst>
              <a:ext uri="{FF2B5EF4-FFF2-40B4-BE49-F238E27FC236}">
                <a16:creationId xmlns="" xmlns:a16="http://schemas.microsoft.com/office/drawing/2014/main" id="{A9A19AA3-145E-BD4C-B9C2-D5DD1D8D4341}"/>
              </a:ext>
            </a:extLst>
          </p:cNvPr>
          <p:cNvPicPr/>
          <p:nvPr/>
        </p:nvPicPr>
        <p:blipFill>
          <a:blip r:embed="rId4" cstate="screen">
            <a:extLst>
              <a:ext uri="{28A0092B-C50C-407E-A947-70E740481C1C}">
                <a14:useLocalDpi xmlns:a14="http://schemas.microsoft.com/office/drawing/2010/main"/>
              </a:ext>
              <a:ext uri="{96DAC541-7B7A-43D3-8B79-37D633B846F1}">
                <asvg:svgBlip xmlns="" xmlns:asvg="http://schemas.microsoft.com/office/drawing/2016/SVG/main" r:embed="rId6"/>
              </a:ext>
            </a:extLst>
          </a:blip>
          <a:stretch>
            <a:fillRect/>
          </a:stretch>
        </p:blipFill>
        <p:spPr>
          <a:xfrm>
            <a:off x="6972424" y="5521812"/>
            <a:ext cx="523875" cy="523875"/>
          </a:xfrm>
          <a:prstGeom prst="rect">
            <a:avLst/>
          </a:prstGeom>
        </p:spPr>
      </p:pic>
      <p:pic>
        <p:nvPicPr>
          <p:cNvPr id="84" name="Graphic 20" descr="Thumbs up sign">
            <a:extLst>
              <a:ext uri="{FF2B5EF4-FFF2-40B4-BE49-F238E27FC236}">
                <a16:creationId xmlns="" xmlns:a16="http://schemas.microsoft.com/office/drawing/2014/main" id="{38FC1237-AD26-8245-9CA9-6104D4BAC7D7}"/>
              </a:ext>
            </a:extLst>
          </p:cNvPr>
          <p:cNvPicPr/>
          <p:nvPr/>
        </p:nvPicPr>
        <p:blipFill>
          <a:blip r:embed="rId7" cstate="screen">
            <a:extLst>
              <a:ext uri="{28A0092B-C50C-407E-A947-70E740481C1C}">
                <a14:useLocalDpi xmlns:a14="http://schemas.microsoft.com/office/drawing/2010/main"/>
              </a:ext>
              <a:ext uri="{96DAC541-7B7A-43D3-8B79-37D633B846F1}">
                <asvg:svgBlip xmlns="" xmlns:asvg="http://schemas.microsoft.com/office/drawing/2016/SVG/main" r:embed="rId8"/>
              </a:ext>
            </a:extLst>
          </a:blip>
          <a:stretch>
            <a:fillRect/>
          </a:stretch>
        </p:blipFill>
        <p:spPr>
          <a:xfrm>
            <a:off x="8165063" y="2632304"/>
            <a:ext cx="457200" cy="457200"/>
          </a:xfrm>
          <a:prstGeom prst="rect">
            <a:avLst/>
          </a:prstGeom>
        </p:spPr>
      </p:pic>
      <p:pic>
        <p:nvPicPr>
          <p:cNvPr id="85" name="Graphic 20" descr="Thumbs up sign">
            <a:extLst>
              <a:ext uri="{FF2B5EF4-FFF2-40B4-BE49-F238E27FC236}">
                <a16:creationId xmlns="" xmlns:a16="http://schemas.microsoft.com/office/drawing/2014/main" id="{EC79E0CC-E55A-D340-A502-4598B744B820}"/>
              </a:ext>
            </a:extLst>
          </p:cNvPr>
          <p:cNvPicPr/>
          <p:nvPr/>
        </p:nvPicPr>
        <p:blipFill>
          <a:blip r:embed="rId7" cstate="screen">
            <a:extLst>
              <a:ext uri="{28A0092B-C50C-407E-A947-70E740481C1C}">
                <a14:useLocalDpi xmlns:a14="http://schemas.microsoft.com/office/drawing/2010/main"/>
              </a:ext>
              <a:ext uri="{96DAC541-7B7A-43D3-8B79-37D633B846F1}">
                <asvg:svgBlip xmlns="" xmlns:asvg="http://schemas.microsoft.com/office/drawing/2016/SVG/main" r:embed="rId8"/>
              </a:ext>
            </a:extLst>
          </a:blip>
          <a:stretch>
            <a:fillRect/>
          </a:stretch>
        </p:blipFill>
        <p:spPr>
          <a:xfrm>
            <a:off x="8165063" y="3182599"/>
            <a:ext cx="457200" cy="457200"/>
          </a:xfrm>
          <a:prstGeom prst="rect">
            <a:avLst/>
          </a:prstGeom>
        </p:spPr>
      </p:pic>
      <p:pic>
        <p:nvPicPr>
          <p:cNvPr id="86" name="Graphic 20" descr="Thumbs up sign">
            <a:extLst>
              <a:ext uri="{FF2B5EF4-FFF2-40B4-BE49-F238E27FC236}">
                <a16:creationId xmlns="" xmlns:a16="http://schemas.microsoft.com/office/drawing/2014/main" id="{A567C911-A8FB-E54C-9AF7-B284BB7CBDDB}"/>
              </a:ext>
            </a:extLst>
          </p:cNvPr>
          <p:cNvPicPr/>
          <p:nvPr/>
        </p:nvPicPr>
        <p:blipFill>
          <a:blip r:embed="rId7" cstate="screen">
            <a:extLst>
              <a:ext uri="{28A0092B-C50C-407E-A947-70E740481C1C}">
                <a14:useLocalDpi xmlns:a14="http://schemas.microsoft.com/office/drawing/2010/main"/>
              </a:ext>
              <a:ext uri="{96DAC541-7B7A-43D3-8B79-37D633B846F1}">
                <asvg:svgBlip xmlns="" xmlns:asvg="http://schemas.microsoft.com/office/drawing/2016/SVG/main" r:embed="rId8"/>
              </a:ext>
            </a:extLst>
          </a:blip>
          <a:stretch>
            <a:fillRect/>
          </a:stretch>
        </p:blipFill>
        <p:spPr>
          <a:xfrm>
            <a:off x="8165063" y="3773584"/>
            <a:ext cx="457200" cy="457200"/>
          </a:xfrm>
          <a:prstGeom prst="rect">
            <a:avLst/>
          </a:prstGeom>
        </p:spPr>
      </p:pic>
      <p:pic>
        <p:nvPicPr>
          <p:cNvPr id="37" name="Picture 36">
            <a:extLst>
              <a:ext uri="{FF2B5EF4-FFF2-40B4-BE49-F238E27FC236}">
                <a16:creationId xmlns="" xmlns:a16="http://schemas.microsoft.com/office/drawing/2014/main" id="{BAD56DC3-1C3C-584E-B067-A10F1D689551}"/>
              </a:ext>
            </a:extLst>
          </p:cNvPr>
          <p:cNvPicPr>
            <a:picLocks noChangeAspect="1"/>
          </p:cNvPicPr>
          <p:nvPr/>
        </p:nvPicPr>
        <p:blipFill>
          <a:blip r:embed="rId11"/>
          <a:stretch>
            <a:fillRect/>
          </a:stretch>
        </p:blipFill>
        <p:spPr>
          <a:xfrm>
            <a:off x="8165063" y="4363887"/>
            <a:ext cx="457200" cy="457200"/>
          </a:xfrm>
          <a:prstGeom prst="rect">
            <a:avLst/>
          </a:prstGeom>
        </p:spPr>
      </p:pic>
      <p:pic>
        <p:nvPicPr>
          <p:cNvPr id="89" name="Graphic 20" descr="Thumbs up sign">
            <a:extLst>
              <a:ext uri="{FF2B5EF4-FFF2-40B4-BE49-F238E27FC236}">
                <a16:creationId xmlns="" xmlns:a16="http://schemas.microsoft.com/office/drawing/2014/main" id="{D4DAA411-89A1-E74E-A408-A9DAD7336301}"/>
              </a:ext>
            </a:extLst>
          </p:cNvPr>
          <p:cNvPicPr/>
          <p:nvPr/>
        </p:nvPicPr>
        <p:blipFill>
          <a:blip r:embed="rId7" cstate="screen">
            <a:extLst>
              <a:ext uri="{28A0092B-C50C-407E-A947-70E740481C1C}">
                <a14:useLocalDpi xmlns:a14="http://schemas.microsoft.com/office/drawing/2010/main"/>
              </a:ext>
              <a:ext uri="{96DAC541-7B7A-43D3-8B79-37D633B846F1}">
                <asvg:svgBlip xmlns="" xmlns:asvg="http://schemas.microsoft.com/office/drawing/2016/SVG/main" r:embed="rId8"/>
              </a:ext>
            </a:extLst>
          </a:blip>
          <a:stretch>
            <a:fillRect/>
          </a:stretch>
        </p:blipFill>
        <p:spPr>
          <a:xfrm>
            <a:off x="8165063" y="4914182"/>
            <a:ext cx="457200" cy="457200"/>
          </a:xfrm>
          <a:prstGeom prst="rect">
            <a:avLst/>
          </a:prstGeom>
        </p:spPr>
      </p:pic>
      <p:pic>
        <p:nvPicPr>
          <p:cNvPr id="90" name="Graphic 20" descr="Thumbs up sign">
            <a:extLst>
              <a:ext uri="{FF2B5EF4-FFF2-40B4-BE49-F238E27FC236}">
                <a16:creationId xmlns="" xmlns:a16="http://schemas.microsoft.com/office/drawing/2014/main" id="{A94727B9-399F-3E45-A257-A9AA2BDA1CFF}"/>
              </a:ext>
            </a:extLst>
          </p:cNvPr>
          <p:cNvPicPr/>
          <p:nvPr/>
        </p:nvPicPr>
        <p:blipFill>
          <a:blip r:embed="rId7" cstate="screen">
            <a:extLst>
              <a:ext uri="{28A0092B-C50C-407E-A947-70E740481C1C}">
                <a14:useLocalDpi xmlns:a14="http://schemas.microsoft.com/office/drawing/2010/main"/>
              </a:ext>
              <a:ext uri="{96DAC541-7B7A-43D3-8B79-37D633B846F1}">
                <asvg:svgBlip xmlns="" xmlns:asvg="http://schemas.microsoft.com/office/drawing/2016/SVG/main" r:embed="rId8"/>
              </a:ext>
            </a:extLst>
          </a:blip>
          <a:stretch>
            <a:fillRect/>
          </a:stretch>
        </p:blipFill>
        <p:spPr>
          <a:xfrm>
            <a:off x="8165063" y="5555148"/>
            <a:ext cx="457200" cy="457200"/>
          </a:xfrm>
          <a:prstGeom prst="rect">
            <a:avLst/>
          </a:prstGeom>
        </p:spPr>
      </p:pic>
      <p:pic>
        <p:nvPicPr>
          <p:cNvPr id="91" name="Graphic 10" descr="Shooting star">
            <a:extLst>
              <a:ext uri="{FF2B5EF4-FFF2-40B4-BE49-F238E27FC236}">
                <a16:creationId xmlns="" xmlns:a16="http://schemas.microsoft.com/office/drawing/2014/main" id="{AAF9B6F5-B857-884B-AF30-2BADDC1FF939}"/>
              </a:ext>
            </a:extLst>
          </p:cNvPr>
          <p:cNvPicPr/>
          <p:nvPr/>
        </p:nvPicPr>
        <p:blipFill>
          <a:blip r:embed="rId9" cstate="screen">
            <a:extLst>
              <a:ext uri="{28A0092B-C50C-407E-A947-70E740481C1C}">
                <a14:useLocalDpi xmlns:a14="http://schemas.microsoft.com/office/drawing/2010/main"/>
              </a:ext>
              <a:ext uri="{96DAC541-7B7A-43D3-8B79-37D633B846F1}">
                <asvg:svgBlip xmlns="" xmlns:asvg="http://schemas.microsoft.com/office/drawing/2016/SVG/main" r:embed="rId10"/>
              </a:ext>
            </a:extLst>
          </a:blip>
          <a:stretch>
            <a:fillRect/>
          </a:stretch>
        </p:blipFill>
        <p:spPr>
          <a:xfrm>
            <a:off x="9382593" y="2614835"/>
            <a:ext cx="447675" cy="447675"/>
          </a:xfrm>
          <a:prstGeom prst="rect">
            <a:avLst/>
          </a:prstGeom>
        </p:spPr>
      </p:pic>
      <p:pic>
        <p:nvPicPr>
          <p:cNvPr id="92" name="Graphic 10" descr="Shooting star">
            <a:extLst>
              <a:ext uri="{FF2B5EF4-FFF2-40B4-BE49-F238E27FC236}">
                <a16:creationId xmlns="" xmlns:a16="http://schemas.microsoft.com/office/drawing/2014/main" id="{A574646C-BA61-FF41-95CC-7BC4FF5F3FF0}"/>
              </a:ext>
            </a:extLst>
          </p:cNvPr>
          <p:cNvPicPr/>
          <p:nvPr/>
        </p:nvPicPr>
        <p:blipFill>
          <a:blip r:embed="rId12" cstate="screen">
            <a:extLst>
              <a:ext uri="{28A0092B-C50C-407E-A947-70E740481C1C}">
                <a14:useLocalDpi xmlns:a14="http://schemas.microsoft.com/office/drawing/2010/main"/>
              </a:ext>
              <a:ext uri="{96DAC541-7B7A-43D3-8B79-37D633B846F1}">
                <asvg:svgBlip xmlns="" xmlns:asvg="http://schemas.microsoft.com/office/drawing/2016/SVG/main" r:embed="rId10"/>
              </a:ext>
            </a:extLst>
          </a:blip>
          <a:stretch>
            <a:fillRect/>
          </a:stretch>
        </p:blipFill>
        <p:spPr>
          <a:xfrm>
            <a:off x="9382592" y="3179524"/>
            <a:ext cx="447675" cy="523874"/>
          </a:xfrm>
          <a:prstGeom prst="rect">
            <a:avLst/>
          </a:prstGeom>
        </p:spPr>
      </p:pic>
      <p:pic>
        <p:nvPicPr>
          <p:cNvPr id="93" name="Graphic 10" descr="Shooting star">
            <a:extLst>
              <a:ext uri="{FF2B5EF4-FFF2-40B4-BE49-F238E27FC236}">
                <a16:creationId xmlns="" xmlns:a16="http://schemas.microsoft.com/office/drawing/2014/main" id="{DD4FFAD2-B606-794C-BDC8-1A68D5D00BCF}"/>
              </a:ext>
            </a:extLst>
          </p:cNvPr>
          <p:cNvPicPr/>
          <p:nvPr/>
        </p:nvPicPr>
        <p:blipFill>
          <a:blip r:embed="rId9" cstate="screen">
            <a:extLst>
              <a:ext uri="{28A0092B-C50C-407E-A947-70E740481C1C}">
                <a14:useLocalDpi xmlns:a14="http://schemas.microsoft.com/office/drawing/2010/main"/>
              </a:ext>
              <a:ext uri="{96DAC541-7B7A-43D3-8B79-37D633B846F1}">
                <asvg:svgBlip xmlns="" xmlns:asvg="http://schemas.microsoft.com/office/drawing/2016/SVG/main" r:embed="rId10"/>
              </a:ext>
            </a:extLst>
          </a:blip>
          <a:stretch>
            <a:fillRect/>
          </a:stretch>
        </p:blipFill>
        <p:spPr>
          <a:xfrm>
            <a:off x="9382591" y="3778347"/>
            <a:ext cx="447675" cy="447675"/>
          </a:xfrm>
          <a:prstGeom prst="rect">
            <a:avLst/>
          </a:prstGeom>
        </p:spPr>
      </p:pic>
      <p:pic>
        <p:nvPicPr>
          <p:cNvPr id="94" name="Graphic 10" descr="Shooting star">
            <a:extLst>
              <a:ext uri="{FF2B5EF4-FFF2-40B4-BE49-F238E27FC236}">
                <a16:creationId xmlns="" xmlns:a16="http://schemas.microsoft.com/office/drawing/2014/main" id="{31E1BC88-26D4-D246-8EE5-908A30352CDF}"/>
              </a:ext>
            </a:extLst>
          </p:cNvPr>
          <p:cNvPicPr/>
          <p:nvPr/>
        </p:nvPicPr>
        <p:blipFill>
          <a:blip r:embed="rId9" cstate="screen">
            <a:extLst>
              <a:ext uri="{28A0092B-C50C-407E-A947-70E740481C1C}">
                <a14:useLocalDpi xmlns:a14="http://schemas.microsoft.com/office/drawing/2010/main"/>
              </a:ext>
              <a:ext uri="{96DAC541-7B7A-43D3-8B79-37D633B846F1}">
                <asvg:svgBlip xmlns="" xmlns:asvg="http://schemas.microsoft.com/office/drawing/2016/SVG/main" r:embed="rId10"/>
              </a:ext>
            </a:extLst>
          </a:blip>
          <a:stretch>
            <a:fillRect/>
          </a:stretch>
        </p:blipFill>
        <p:spPr>
          <a:xfrm>
            <a:off x="9382590" y="4346418"/>
            <a:ext cx="447675" cy="447675"/>
          </a:xfrm>
          <a:prstGeom prst="rect">
            <a:avLst/>
          </a:prstGeom>
        </p:spPr>
      </p:pic>
      <p:pic>
        <p:nvPicPr>
          <p:cNvPr id="95" name="Graphic 10" descr="Shooting star">
            <a:extLst>
              <a:ext uri="{FF2B5EF4-FFF2-40B4-BE49-F238E27FC236}">
                <a16:creationId xmlns="" xmlns:a16="http://schemas.microsoft.com/office/drawing/2014/main" id="{16BFB2E0-A5C0-1B4A-A899-BBB4A0B27F7C}"/>
              </a:ext>
            </a:extLst>
          </p:cNvPr>
          <p:cNvPicPr/>
          <p:nvPr/>
        </p:nvPicPr>
        <p:blipFill>
          <a:blip r:embed="rId9" cstate="screen">
            <a:extLst>
              <a:ext uri="{28A0092B-C50C-407E-A947-70E740481C1C}">
                <a14:useLocalDpi xmlns:a14="http://schemas.microsoft.com/office/drawing/2010/main"/>
              </a:ext>
              <a:ext uri="{96DAC541-7B7A-43D3-8B79-37D633B846F1}">
                <asvg:svgBlip xmlns="" xmlns:asvg="http://schemas.microsoft.com/office/drawing/2016/SVG/main" r:embed="rId10"/>
              </a:ext>
            </a:extLst>
          </a:blip>
          <a:stretch>
            <a:fillRect/>
          </a:stretch>
        </p:blipFill>
        <p:spPr>
          <a:xfrm>
            <a:off x="9382589" y="4918945"/>
            <a:ext cx="447675" cy="447675"/>
          </a:xfrm>
          <a:prstGeom prst="rect">
            <a:avLst/>
          </a:prstGeom>
        </p:spPr>
      </p:pic>
      <p:pic>
        <p:nvPicPr>
          <p:cNvPr id="96" name="Graphic 10" descr="Shooting star">
            <a:extLst>
              <a:ext uri="{FF2B5EF4-FFF2-40B4-BE49-F238E27FC236}">
                <a16:creationId xmlns="" xmlns:a16="http://schemas.microsoft.com/office/drawing/2014/main" id="{F10D68CF-C7E2-9F40-887C-CFC9796617A3}"/>
              </a:ext>
            </a:extLst>
          </p:cNvPr>
          <p:cNvPicPr/>
          <p:nvPr/>
        </p:nvPicPr>
        <p:blipFill>
          <a:blip r:embed="rId9" cstate="screen">
            <a:extLst>
              <a:ext uri="{28A0092B-C50C-407E-A947-70E740481C1C}">
                <a14:useLocalDpi xmlns:a14="http://schemas.microsoft.com/office/drawing/2010/main"/>
              </a:ext>
              <a:ext uri="{96DAC541-7B7A-43D3-8B79-37D633B846F1}">
                <asvg:svgBlip xmlns="" xmlns:asvg="http://schemas.microsoft.com/office/drawing/2016/SVG/main" r:embed="rId10"/>
              </a:ext>
            </a:extLst>
          </a:blip>
          <a:stretch>
            <a:fillRect/>
          </a:stretch>
        </p:blipFill>
        <p:spPr>
          <a:xfrm>
            <a:off x="9382588" y="5505167"/>
            <a:ext cx="447675" cy="447675"/>
          </a:xfrm>
          <a:prstGeom prst="rect">
            <a:avLst/>
          </a:prstGeom>
        </p:spPr>
      </p:pic>
      <p:sp>
        <p:nvSpPr>
          <p:cNvPr id="36"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40" name="Google Shape;282;g104476d1465_1_17"/>
          <p:cNvSpPr txBox="1"/>
          <p:nvPr/>
        </p:nvSpPr>
        <p:spPr>
          <a:xfrm>
            <a:off x="7314749" y="6498771"/>
            <a:ext cx="433253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dirty="0" smtClean="0">
                <a:latin typeface="Calibri"/>
                <a:ea typeface="Calibri"/>
                <a:cs typeface="Calibri"/>
                <a:sym typeface="Calibri"/>
              </a:rPr>
              <a:t>219</a:t>
            </a:r>
            <a:endParaRPr i="1" dirty="0">
              <a:latin typeface="Calibri"/>
              <a:ea typeface="Calibri"/>
              <a:cs typeface="Calibri"/>
              <a:sym typeface="Calibri"/>
            </a:endParaRPr>
          </a:p>
        </p:txBody>
      </p:sp>
      <p:pic>
        <p:nvPicPr>
          <p:cNvPr id="41" name="Google Shape;283;g104476d1465_1_17"/>
          <p:cNvPicPr preferRelativeResize="0"/>
          <p:nvPr/>
        </p:nvPicPr>
        <p:blipFill>
          <a:blip r:embed="rId13" cstate="screen">
            <a:alphaModFix/>
            <a:extLst>
              <a:ext uri="{28A0092B-C50C-407E-A947-70E740481C1C}">
                <a14:useLocalDpi xmlns:a14="http://schemas.microsoft.com/office/drawing/2010/main"/>
              </a:ext>
            </a:extLst>
          </a:blip>
          <a:stretch>
            <a:fillRect/>
          </a:stretch>
        </p:blipFill>
        <p:spPr>
          <a:xfrm>
            <a:off x="11583503" y="6156189"/>
            <a:ext cx="563850" cy="602971"/>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5072342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1297</TotalTime>
  <Words>620</Words>
  <Application>Microsoft Office PowerPoint</Application>
  <PresentationFormat>Custom</PresentationFormat>
  <Paragraphs>195</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Wingdings</vt:lpstr>
      <vt:lpstr>Cambria Math</vt:lpstr>
      <vt:lpstr>Arial Black</vt:lpstr>
      <vt:lpstr>Verdana</vt:lpstr>
      <vt:lpstr>Calibri</vt:lpstr>
      <vt:lpstr>Century Gothic</vt:lpstr>
      <vt:lpstr>1_Office Theme</vt:lpstr>
      <vt:lpstr>6th Grade Math  Unit 10, Lesson 3  Creating Displays from Survey Data  Volume 2, pg. 216  </vt:lpstr>
      <vt:lpstr>Benchmarks</vt:lpstr>
      <vt:lpstr>PowerPoint Presentation</vt:lpstr>
      <vt:lpstr>PowerPoint Presentation</vt:lpstr>
      <vt:lpstr>Warm-Up</vt:lpstr>
      <vt:lpstr>PowerPoint Presentation</vt:lpstr>
      <vt:lpstr>Collaboration</vt:lpstr>
      <vt:lpstr>PowerPoint Presentation</vt:lpstr>
      <vt:lpstr>PowerPoint Presentation</vt:lpstr>
      <vt:lpstr>Activity</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17</cp:revision>
  <dcterms:created xsi:type="dcterms:W3CDTF">2015-03-17T18:51:18Z</dcterms:created>
  <dcterms:modified xsi:type="dcterms:W3CDTF">2022-06-07T06:41:23Z</dcterms:modified>
</cp:coreProperties>
</file>