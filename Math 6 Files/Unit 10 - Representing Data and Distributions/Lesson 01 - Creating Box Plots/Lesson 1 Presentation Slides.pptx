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41"/>
  </p:notesMasterIdLst>
  <p:sldIdLst>
    <p:sldId id="256" r:id="rId5"/>
    <p:sldId id="257" r:id="rId6"/>
    <p:sldId id="285" r:id="rId7"/>
    <p:sldId id="286" r:id="rId8"/>
    <p:sldId id="261" r:id="rId9"/>
    <p:sldId id="287" r:id="rId10"/>
    <p:sldId id="326" r:id="rId11"/>
    <p:sldId id="327" r:id="rId12"/>
    <p:sldId id="328" r:id="rId13"/>
    <p:sldId id="333" r:id="rId14"/>
    <p:sldId id="332" r:id="rId15"/>
    <p:sldId id="334" r:id="rId16"/>
    <p:sldId id="343" r:id="rId17"/>
    <p:sldId id="289" r:id="rId18"/>
    <p:sldId id="290" r:id="rId19"/>
    <p:sldId id="308" r:id="rId20"/>
    <p:sldId id="337" r:id="rId21"/>
    <p:sldId id="335" r:id="rId22"/>
    <p:sldId id="336" r:id="rId23"/>
    <p:sldId id="338" r:id="rId24"/>
    <p:sldId id="323" r:id="rId25"/>
    <p:sldId id="324" r:id="rId26"/>
    <p:sldId id="325" r:id="rId27"/>
    <p:sldId id="320" r:id="rId28"/>
    <p:sldId id="321" r:id="rId29"/>
    <p:sldId id="322" r:id="rId30"/>
    <p:sldId id="339" r:id="rId31"/>
    <p:sldId id="302" r:id="rId32"/>
    <p:sldId id="303" r:id="rId33"/>
    <p:sldId id="309" r:id="rId34"/>
    <p:sldId id="340" r:id="rId35"/>
    <p:sldId id="341" r:id="rId36"/>
    <p:sldId id="342" r:id="rId37"/>
    <p:sldId id="306" r:id="rId38"/>
    <p:sldId id="307" r:id="rId39"/>
    <p:sldId id="310" r:id="rId40"/>
  </p:sldIdLst>
  <p:sldSz cx="12192000" cy="6858000"/>
  <p:notesSz cx="6858000" cy="9144000"/>
  <p:embeddedFontLst>
    <p:embeddedFont>
      <p:font typeface="Calibri" pitchFamily="34" charset="0"/>
      <p:regular r:id="rId42"/>
      <p:bold r:id="rId43"/>
      <p:italic r:id="rId44"/>
      <p:boldItalic r:id="rId45"/>
    </p:embeddedFont>
    <p:embeddedFont>
      <p:font typeface="Century Gothic" pitchFamily="34" charset="0"/>
      <p:regular r:id="rId46"/>
      <p:bold r:id="rId47"/>
      <p:italic r:id="rId48"/>
      <p:boldItalic r:id="rId49"/>
    </p:embeddedFont>
    <p:embeddedFont>
      <p:font typeface="Cambria Math" pitchFamily="18" charset="0"/>
      <p:regular r:id="rId50"/>
    </p:embeddedFont>
    <p:embeddedFont>
      <p:font typeface="Arial Black" pitchFamily="34" charset="0"/>
      <p:bold r:id="rId51"/>
    </p:embeddedFont>
    <p:embeddedFont>
      <p:font typeface="Verdana"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60"/>
    <p:restoredTop sz="94701"/>
  </p:normalViewPr>
  <p:slideViewPr>
    <p:cSldViewPr snapToGrid="0">
      <p:cViewPr varScale="1">
        <p:scale>
          <a:sx n="112" d="100"/>
          <a:sy n="112" d="100"/>
        </p:scale>
        <p:origin x="-180"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5.fntdata"/><Relationship Id="rId59"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notesMaster" Target="notesMasters/notesMaster1.xml"/><Relationship Id="rId54"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8.fntdata"/><Relationship Id="rId57"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48" Type="http://schemas.openxmlformats.org/officeDocument/2006/relationships/font" Target="fonts/font7.fntdata"/><Relationship Id="rId56" Type="http://customschemas.google.com/relationships/presentationmetadata" Target="metadata"/><Relationship Id="rId8" Type="http://schemas.openxmlformats.org/officeDocument/2006/relationships/slide" Target="slides/slide4.xml"/><Relationship Id="rId51" Type="http://schemas.openxmlformats.org/officeDocument/2006/relationships/font" Target="fonts/font10.fntdata"/><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6665222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707788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572334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036775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471666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649291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996644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678165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3181758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144186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3717677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785380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142244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2316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97717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1777132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491706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956802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32934340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2101046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473951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3489986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12644295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25543962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8812865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8951443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39574110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19134643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20315930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extLst>
      <p:ext uri="{BB962C8B-B14F-4D97-AF65-F5344CB8AC3E}">
        <p14:creationId xmlns:p14="http://schemas.microsoft.com/office/powerpoint/2010/main" val="31239163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extLst>
      <p:ext uri="{BB962C8B-B14F-4D97-AF65-F5344CB8AC3E}">
        <p14:creationId xmlns:p14="http://schemas.microsoft.com/office/powerpoint/2010/main" val="5774848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tiff"/></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0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2.tiff"/><Relationship Id="rId4" Type="http://schemas.openxmlformats.org/officeDocument/2006/relationships/image" Target="../media/image31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6.tiff"/><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Creating Box Plots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203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1281" y="-12701"/>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xmlns=""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4984" y="1606550"/>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2200" y="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263443"/>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66057" y="1325700"/>
            <a:ext cx="10722429" cy="48170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MA.6.DP.1.3</a:t>
            </a:r>
          </a:p>
          <a:p>
            <a:pPr marL="409575" indent="0">
              <a:buNone/>
            </a:pPr>
            <a:r>
              <a:rPr lang="en-US" sz="2800" dirty="0">
                <a:latin typeface="Verdana" panose="020B0604030504040204" pitchFamily="34" charset="0"/>
                <a:ea typeface="Verdana" panose="020B0604030504040204" pitchFamily="34" charset="0"/>
                <a:cs typeface="Verdana" panose="020B0604030504040204" pitchFamily="34" charset="0"/>
              </a:rPr>
              <a:t>Given a box plot within a real-world context, determine the minimum, the lower quartile, the median, the upper quartile and the maximum. Use this summary of the data to describe the spread and distribution of the data.</a:t>
            </a:r>
          </a:p>
          <a:p>
            <a:pPr marL="409575" indent="0">
              <a:buNone/>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09575" indent="-334963">
              <a:buNone/>
            </a:pPr>
            <a:r>
              <a:rPr lang="en-US" sz="2800" dirty="0">
                <a:latin typeface="Verdana" panose="020B0604030504040204" pitchFamily="34" charset="0"/>
                <a:ea typeface="Verdana" panose="020B0604030504040204" pitchFamily="34" charset="0"/>
                <a:cs typeface="Verdana" panose="020B0604030504040204" pitchFamily="34" charset="0"/>
              </a:rPr>
              <a:t>MA.6.DP.1.5</a:t>
            </a:r>
          </a:p>
          <a:p>
            <a:pPr marL="409575" indent="0">
              <a:buNone/>
            </a:pPr>
            <a:r>
              <a:rPr lang="en-US" sz="2800" dirty="0">
                <a:latin typeface="Verdana" panose="020B0604030504040204" pitchFamily="34" charset="0"/>
                <a:ea typeface="Verdana" panose="020B0604030504040204" pitchFamily="34" charset="0"/>
                <a:cs typeface="Verdana" panose="020B0604030504040204" pitchFamily="34" charset="0"/>
              </a:rPr>
              <a:t>Create box plots and histograms to represent sets of numerical data within real-world contexts</a:t>
            </a:r>
            <a:r>
              <a:rPr lang="en-US" sz="2800" b="1" dirty="0">
                <a:latin typeface="Verdana" panose="020B0604030504040204" pitchFamily="34" charset="0"/>
                <a:ea typeface="Verdana" panose="020B0604030504040204" pitchFamily="34" charset="0"/>
                <a:cs typeface="Verdana" panose="020B0604030504040204" pitchFamily="34" charset="0"/>
              </a:rPr>
              <a:t>.</a:t>
            </a:r>
            <a:r>
              <a:rPr lang="en-US" sz="2800" dirty="0">
                <a:latin typeface="Verdana" panose="020B0604030504040204" pitchFamily="34" charset="0"/>
                <a:ea typeface="Verdana" panose="020B0604030504040204" pitchFamily="34" charset="0"/>
                <a:cs typeface="Verdana" panose="020B0604030504040204" pitchFamily="34" charset="0"/>
              </a:rPr>
              <a:t> </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428808" y="252557"/>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76108" y="0"/>
            <a:ext cx="1144043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729343" y="1325700"/>
            <a:ext cx="11636828" cy="447639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203</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2200" y="-121740"/>
            <a:ext cx="943677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354900" y="1674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653143" y="1203960"/>
            <a:ext cx="9557657" cy="4601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41338" indent="-534988">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find key values given a box plot within a real‑world context.</a:t>
            </a:r>
          </a:p>
          <a:p>
            <a:pPr marL="541338" indent="-534988">
              <a:buClr>
                <a:srgbClr val="434343"/>
              </a:buClr>
              <a:buSzPts val="3500"/>
              <a:buFont typeface="Verdana"/>
              <a:buChar char="❏"/>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541338" indent="-534988">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create a box plot to represent data. </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203</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378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41824" y="-91715"/>
            <a:ext cx="93973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10.1.1 Warm-Up: Sleep</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394524"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E1D7562E-134F-D14B-AF1A-DF40E11EF758}"/>
                  </a:ext>
                </a:extLst>
              </p:cNvPr>
              <p:cNvSpPr txBox="1"/>
              <p:nvPr/>
            </p:nvSpPr>
            <p:spPr>
              <a:xfrm>
                <a:off x="522514" y="1233986"/>
                <a:ext cx="9865070" cy="4154984"/>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Ten sixth-grade students were asked how much sleep, in hours, they usually get on a school night. Their responses are shown.</a:t>
                </a:r>
                <a:endParaRPr lang="en-US" sz="24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6, 7, 6.5, 7.5, 8, 8.5, 7, 6.5, 5, 7</m:t>
                      </m:r>
                    </m:oMath>
                  </m:oMathPara>
                </a14:m>
                <a:endParaRPr lang="en-US" sz="2000" dirty="0"/>
              </a:p>
              <a:p>
                <a:endParaRPr lang="en-US" sz="2000" dirty="0"/>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Calculate the median number of hours of sleep for the students.</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Calculate the range for number of hours of sleep for the students.</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dirty="0"/>
              </a:p>
              <a:p>
                <a:endParaRPr lang="en-US" sz="2000" dirty="0"/>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22514" y="1233986"/>
                <a:ext cx="9865070" cy="4154984"/>
              </a:xfrm>
              <a:prstGeom prst="rect">
                <a:avLst/>
              </a:prstGeom>
              <a:blipFill>
                <a:blip r:embed="rId5"/>
                <a:stretch>
                  <a:fillRect l="-680" t="-733"/>
                </a:stretch>
              </a:blipFill>
            </p:spPr>
            <p:txBody>
              <a:bodyPr/>
              <a:lstStyle/>
              <a:p>
                <a:r>
                  <a:rPr lang="en-US">
                    <a:noFill/>
                  </a:rPr>
                  <a:t> </a:t>
                </a:r>
              </a:p>
            </p:txBody>
          </p:sp>
        </mc:Fallback>
      </mc:AlternateContent>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203</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pic>
        <p:nvPicPr>
          <p:cNvPr id="11266" name="Picture 2" descr="Icon&#10;&#10;Description automatically generated">
            <a:extLst>
              <a:ext uri="{FF2B5EF4-FFF2-40B4-BE49-F238E27FC236}">
                <a16:creationId xmlns:a16="http://schemas.microsoft.com/office/drawing/2014/main" xmlns="" id="{8E68AE2B-31C4-664C-9668-81B7C1673C9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92434"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204</a:t>
            </a:r>
          </a:p>
        </p:txBody>
      </p:sp>
    </p:spTree>
    <p:extLst>
      <p:ext uri="{BB962C8B-B14F-4D97-AF65-F5344CB8AC3E}">
        <p14:creationId xmlns:p14="http://schemas.microsoft.com/office/powerpoint/2010/main" val="3151955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60818" y="-85979"/>
            <a:ext cx="937833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10.1.2 Refresher: Box Plots</a:t>
            </a:r>
          </a:p>
        </p:txBody>
      </p:sp>
      <p:pic>
        <p:nvPicPr>
          <p:cNvPr id="9" name="Picture 2" descr="Icon&#10;&#10;Description automatically generated">
            <a:extLst>
              <a:ext uri="{FF2B5EF4-FFF2-40B4-BE49-F238E27FC236}">
                <a16:creationId xmlns:a16="http://schemas.microsoft.com/office/drawing/2014/main" xmlns="" id="{522B94A7-8145-AF4C-A130-4689EF537FB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11010" y="20196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2DC51FF2-AD43-3B4B-B9DE-330920D33388}"/>
              </a:ext>
            </a:extLst>
          </p:cNvPr>
          <p:cNvSpPr txBox="1"/>
          <p:nvPr/>
        </p:nvSpPr>
        <p:spPr>
          <a:xfrm>
            <a:off x="511629" y="1239721"/>
            <a:ext cx="9875955" cy="405506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blank box plot is shown. Label the blue boxes below using the words found in the bank.</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dirty="0"/>
              <a:t>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DF24F199-DC5B-C649-80A5-8144C0912230}"/>
                  </a:ext>
                </a:extLst>
              </p:cNvPr>
              <p:cNvGraphicFramePr>
                <a:graphicFrameLocks noGrp="1"/>
              </p:cNvGraphicFramePr>
              <p:nvPr>
                <p:extLst>
                  <p:ext uri="{D42A27DB-BD31-4B8C-83A1-F6EECF244321}">
                    <p14:modId xmlns:p14="http://schemas.microsoft.com/office/powerpoint/2010/main" val="1446656317"/>
                  </p:ext>
                </p:extLst>
              </p:nvPr>
            </p:nvGraphicFramePr>
            <p:xfrm>
              <a:off x="2411609" y="2255746"/>
              <a:ext cx="8264403" cy="701040"/>
            </p:xfrm>
            <a:graphic>
              <a:graphicData uri="http://schemas.openxmlformats.org/drawingml/2006/table">
                <a:tbl>
                  <a:tblPr firstRow="1" firstCol="1" bandRow="1">
                    <a:tableStyleId>{A91F0D33-8C57-4600-99A7-42BC86742BE1}</a:tableStyleId>
                  </a:tblPr>
                  <a:tblGrid>
                    <a:gridCol w="8264403">
                      <a:extLst>
                        <a:ext uri="{9D8B030D-6E8A-4147-A177-3AD203B41FA5}">
                          <a16:colId xmlns:a16="http://schemas.microsoft.com/office/drawing/2014/main" xmlns="" val="1270114836"/>
                        </a:ext>
                      </a:extLst>
                    </a:gridCol>
                  </a:tblGrid>
                  <a:tr h="0">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median          first quartile (</a:t>
                          </a:r>
                          <a14:m>
                            <m:oMath xmlns:m="http://schemas.openxmlformats.org/officeDocument/2006/math">
                              <m:sSub>
                                <m:sSubPr>
                                  <m:ctrlPr>
                                    <a:rPr lang="en-US" sz="2000" i="1">
                                      <a:effectLst/>
                                      <a:latin typeface="Cambria Math"/>
                                    </a:rPr>
                                  </m:ctrlPr>
                                </m:sSubPr>
                                <m:e>
                                  <m:r>
                                    <m:rPr>
                                      <m:sty m:val="p"/>
                                    </m:rPr>
                                    <a:rPr lang="en-US" sz="2000">
                                      <a:effectLst/>
                                      <a:latin typeface="Cambria Math" panose="02040503050406030204" pitchFamily="18" charset="0"/>
                                    </a:rPr>
                                    <m:t>Q</m:t>
                                  </m:r>
                                </m:e>
                                <m:sub>
                                  <m:r>
                                    <a:rPr lang="en-US" sz="2000">
                                      <a:effectLst/>
                                      <a:latin typeface="Cambria Math" panose="02040503050406030204" pitchFamily="18" charset="0"/>
                                    </a:rPr>
                                    <m:t>1</m:t>
                                  </m:r>
                                </m:sub>
                              </m:sSub>
                            </m:oMath>
                          </a14:m>
                          <a:r>
                            <a:rPr lang="en-US" sz="2000" dirty="0">
                              <a:effectLst/>
                              <a:latin typeface="Verdana" panose="020B0604030504040204" pitchFamily="34" charset="0"/>
                              <a:ea typeface="Verdana" panose="020B0604030504040204" pitchFamily="34" charset="0"/>
                              <a:cs typeface="Verdana" panose="020B0604030504040204" pitchFamily="34" charset="0"/>
                            </a:rPr>
                            <a:t>)          minimum (min)</a:t>
                          </a:r>
                        </a:p>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third quartile (</a:t>
                          </a:r>
                          <a14:m>
                            <m:oMath xmlns:m="http://schemas.openxmlformats.org/officeDocument/2006/math">
                              <m:sSub>
                                <m:sSubPr>
                                  <m:ctrlPr>
                                    <a:rPr lang="en-US" sz="2000" i="1">
                                      <a:effectLst/>
                                      <a:latin typeface="Cambria Math"/>
                                    </a:rPr>
                                  </m:ctrlPr>
                                </m:sSubPr>
                                <m:e>
                                  <m:r>
                                    <m:rPr>
                                      <m:sty m:val="p"/>
                                    </m:rPr>
                                    <a:rPr lang="en-US" sz="2000">
                                      <a:effectLst/>
                                      <a:latin typeface="Cambria Math" panose="02040503050406030204" pitchFamily="18" charset="0"/>
                                    </a:rPr>
                                    <m:t>Q</m:t>
                                  </m:r>
                                </m:e>
                                <m:sub>
                                  <m:r>
                                    <a:rPr lang="en-US" sz="2000">
                                      <a:effectLst/>
                                      <a:latin typeface="Cambria Math" panose="02040503050406030204" pitchFamily="18" charset="0"/>
                                    </a:rPr>
                                    <m:t>3</m:t>
                                  </m:r>
                                </m:sub>
                              </m:sSub>
                            </m:oMath>
                          </a14:m>
                          <a:r>
                            <a:rPr lang="en-US" sz="2000" dirty="0">
                              <a:effectLst/>
                              <a:latin typeface="Verdana" panose="020B0604030504040204" pitchFamily="34" charset="0"/>
                              <a:ea typeface="Verdana" panose="020B0604030504040204" pitchFamily="34" charset="0"/>
                              <a:cs typeface="Verdana" panose="020B0604030504040204" pitchFamily="34" charset="0"/>
                            </a:rPr>
                            <a:t>)          maximum (max)</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33120177"/>
                      </a:ext>
                    </a:extLst>
                  </a:tr>
                </a:tbl>
              </a:graphicData>
            </a:graphic>
          </p:graphicFrame>
        </mc:Choice>
        <mc:Fallback xmlns="">
          <p:graphicFrame>
            <p:nvGraphicFramePr>
              <p:cNvPr id="2" name="Table 1">
                <a:extLst>
                  <a:ext uri="{FF2B5EF4-FFF2-40B4-BE49-F238E27FC236}">
                    <a16:creationId xmlns:a16="http://schemas.microsoft.com/office/drawing/2014/main" id="{DF24F199-DC5B-C649-80A5-8144C0912230}"/>
                  </a:ext>
                </a:extLst>
              </p:cNvPr>
              <p:cNvGraphicFramePr>
                <a:graphicFrameLocks noGrp="1"/>
              </p:cNvGraphicFramePr>
              <p:nvPr>
                <p:extLst>
                  <p:ext uri="{D42A27DB-BD31-4B8C-83A1-F6EECF244321}">
                    <p14:modId xmlns:p14="http://schemas.microsoft.com/office/powerpoint/2010/main" val="1446656317"/>
                  </p:ext>
                </p:extLst>
              </p:nvPr>
            </p:nvGraphicFramePr>
            <p:xfrm>
              <a:off x="2411609" y="2255746"/>
              <a:ext cx="8264403" cy="669163"/>
            </p:xfrm>
            <a:graphic>
              <a:graphicData uri="http://schemas.openxmlformats.org/drawingml/2006/table">
                <a:tbl>
                  <a:tblPr firstRow="1" firstCol="1" bandRow="1">
                    <a:tableStyleId>{A91F0D33-8C57-4600-99A7-42BC86742BE1}</a:tableStyleId>
                  </a:tblPr>
                  <a:tblGrid>
                    <a:gridCol w="8264403">
                      <a:extLst>
                        <a:ext uri="{9D8B030D-6E8A-4147-A177-3AD203B41FA5}">
                          <a16:colId xmlns:a16="http://schemas.microsoft.com/office/drawing/2014/main" val="1270114836"/>
                        </a:ext>
                      </a:extLst>
                    </a:gridCol>
                  </a:tblGrid>
                  <a:tr h="669163">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 t="-10000" r="-147" b="-23636"/>
                          </a:stretch>
                        </a:blipFill>
                      </a:tcPr>
                    </a:tc>
                    <a:extLst>
                      <a:ext uri="{0D108BD9-81ED-4DB2-BD59-A6C34878D82A}">
                        <a16:rowId xmlns:a16="http://schemas.microsoft.com/office/drawing/2014/main" val="2533120177"/>
                      </a:ext>
                    </a:extLst>
                  </a:tr>
                </a:tbl>
              </a:graphicData>
            </a:graphic>
          </p:graphicFrame>
        </mc:Fallback>
      </mc:AlternateContent>
      <p:pic>
        <p:nvPicPr>
          <p:cNvPr id="11" name="image5.png" descr="Box and whisker chart&#10;&#10;Description automatically generated">
            <a:extLst>
              <a:ext uri="{FF2B5EF4-FFF2-40B4-BE49-F238E27FC236}">
                <a16:creationId xmlns:a16="http://schemas.microsoft.com/office/drawing/2014/main" xmlns="" id="{B8B22328-A28A-134E-8540-0CC1294E44E7}"/>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2685415" y="3077610"/>
            <a:ext cx="6821170" cy="1536192"/>
          </a:xfrm>
          <a:prstGeom prst="rect">
            <a:avLst/>
          </a:prstGeom>
          <a:ln/>
        </p:spPr>
      </p:pic>
      <p:sp>
        <p:nvSpPr>
          <p:cNvPr id="13" name="Rounded Rectangle 12">
            <a:extLst>
              <a:ext uri="{FF2B5EF4-FFF2-40B4-BE49-F238E27FC236}">
                <a16:creationId xmlns:a16="http://schemas.microsoft.com/office/drawing/2014/main" xmlns="" id="{8E84C00F-0706-4B41-B3EA-D3127FBD483E}"/>
              </a:ext>
            </a:extLst>
          </p:cNvPr>
          <p:cNvSpPr/>
          <p:nvPr/>
        </p:nvSpPr>
        <p:spPr>
          <a:xfrm>
            <a:off x="2847847" y="4240501"/>
            <a:ext cx="725805" cy="514985"/>
          </a:xfrm>
          <a:prstGeom prst="roundRect">
            <a:avLst>
              <a:gd name="adj" fmla="val 16667"/>
            </a:avLst>
          </a:prstGeom>
          <a:noFill/>
          <a:ln w="12700" cap="flat" cmpd="sng">
            <a:solidFill>
              <a:srgbClr val="0022FF"/>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4" name="Rounded Rectangle 13">
            <a:extLst>
              <a:ext uri="{FF2B5EF4-FFF2-40B4-BE49-F238E27FC236}">
                <a16:creationId xmlns:a16="http://schemas.microsoft.com/office/drawing/2014/main" xmlns="" id="{EA082042-ED86-E245-B734-81F8F64D68EC}"/>
              </a:ext>
            </a:extLst>
          </p:cNvPr>
          <p:cNvSpPr/>
          <p:nvPr/>
        </p:nvSpPr>
        <p:spPr>
          <a:xfrm>
            <a:off x="4091749" y="4240502"/>
            <a:ext cx="725805" cy="514985"/>
          </a:xfrm>
          <a:prstGeom prst="roundRect">
            <a:avLst>
              <a:gd name="adj" fmla="val 16667"/>
            </a:avLst>
          </a:prstGeom>
          <a:noFill/>
          <a:ln w="12700" cap="flat" cmpd="sng">
            <a:solidFill>
              <a:srgbClr val="0022FF"/>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5" name="Rounded Rectangle 14">
            <a:extLst>
              <a:ext uri="{FF2B5EF4-FFF2-40B4-BE49-F238E27FC236}">
                <a16:creationId xmlns:a16="http://schemas.microsoft.com/office/drawing/2014/main" xmlns="" id="{F138FC33-1913-9C4E-B57D-D88204D07D15}"/>
              </a:ext>
            </a:extLst>
          </p:cNvPr>
          <p:cNvSpPr/>
          <p:nvPr/>
        </p:nvSpPr>
        <p:spPr>
          <a:xfrm>
            <a:off x="5145883" y="4240501"/>
            <a:ext cx="725805" cy="514985"/>
          </a:xfrm>
          <a:prstGeom prst="roundRect">
            <a:avLst>
              <a:gd name="adj" fmla="val 16667"/>
            </a:avLst>
          </a:prstGeom>
          <a:noFill/>
          <a:ln w="12700" cap="flat" cmpd="sng">
            <a:solidFill>
              <a:srgbClr val="0022FF"/>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6" name="Rounded Rectangle 15">
            <a:extLst>
              <a:ext uri="{FF2B5EF4-FFF2-40B4-BE49-F238E27FC236}">
                <a16:creationId xmlns:a16="http://schemas.microsoft.com/office/drawing/2014/main" xmlns="" id="{F6BA1A1A-2EAE-D349-AEC9-69858C7937E0}"/>
              </a:ext>
            </a:extLst>
          </p:cNvPr>
          <p:cNvSpPr/>
          <p:nvPr/>
        </p:nvSpPr>
        <p:spPr>
          <a:xfrm>
            <a:off x="6718114" y="4240500"/>
            <a:ext cx="725805" cy="514985"/>
          </a:xfrm>
          <a:prstGeom prst="roundRect">
            <a:avLst>
              <a:gd name="adj" fmla="val 16667"/>
            </a:avLst>
          </a:prstGeom>
          <a:noFill/>
          <a:ln w="12700" cap="flat" cmpd="sng">
            <a:solidFill>
              <a:srgbClr val="0022FF"/>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7" name="Rounded Rectangle 16">
            <a:extLst>
              <a:ext uri="{FF2B5EF4-FFF2-40B4-BE49-F238E27FC236}">
                <a16:creationId xmlns:a16="http://schemas.microsoft.com/office/drawing/2014/main" xmlns="" id="{ABE38129-9CBC-F147-A640-76F4668CD55C}"/>
              </a:ext>
            </a:extLst>
          </p:cNvPr>
          <p:cNvSpPr/>
          <p:nvPr/>
        </p:nvSpPr>
        <p:spPr>
          <a:xfrm>
            <a:off x="8746968" y="4240499"/>
            <a:ext cx="725805" cy="514985"/>
          </a:xfrm>
          <a:prstGeom prst="roundRect">
            <a:avLst>
              <a:gd name="adj" fmla="val 16667"/>
            </a:avLst>
          </a:prstGeom>
          <a:noFill/>
          <a:ln w="12700" cap="flat" cmpd="sng">
            <a:solidFill>
              <a:srgbClr val="0022FF"/>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20"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204</a:t>
            </a:r>
          </a:p>
        </p:txBody>
      </p:sp>
    </p:spTree>
    <p:extLst>
      <p:ext uri="{BB962C8B-B14F-4D97-AF65-F5344CB8AC3E}">
        <p14:creationId xmlns:p14="http://schemas.microsoft.com/office/powerpoint/2010/main" val="2932987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F16EAAB6-B932-C047-9261-EF734547974E}"/>
              </a:ext>
            </a:extLst>
          </p:cNvPr>
          <p:cNvSpPr txBox="1"/>
          <p:nvPr/>
        </p:nvSpPr>
        <p:spPr>
          <a:xfrm>
            <a:off x="539847" y="396224"/>
            <a:ext cx="11495314" cy="3385542"/>
          </a:xfrm>
          <a:prstGeom prst="rect">
            <a:avLst/>
          </a:prstGeom>
          <a:noFill/>
        </p:spPr>
        <p:txBody>
          <a:bodyPr wrap="square" rtlCol="0">
            <a:spAutoFit/>
          </a:bodyPr>
          <a:lstStyle/>
          <a:p>
            <a:pPr marL="444500" lvl="3" indent="-4445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pPr marL="342900" lvl="3"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44500"/>
            <a:r>
              <a:rPr lang="en-US" sz="2000" dirty="0">
                <a:latin typeface="Verdana" panose="020B0604030504040204" pitchFamily="34" charset="0"/>
                <a:ea typeface="Verdana" panose="020B0604030504040204" pitchFamily="34" charset="0"/>
                <a:cs typeface="Verdana" panose="020B0604030504040204" pitchFamily="34" charset="0"/>
              </a:rPr>
              <a:t>The __________________________ is a measure of spread determined by finding the distance between the first quartile and the third quartile. It measures the spread of the middle ____________ of the data.</a:t>
            </a:r>
          </a:p>
          <a:p>
            <a:pPr marL="444500"/>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444500"/>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444500"/>
            <a:r>
              <a:rPr lang="en-US" sz="2000" dirty="0">
                <a:latin typeface="Verdana" panose="020B0604030504040204" pitchFamily="34" charset="0"/>
                <a:ea typeface="Verdana" panose="020B0604030504040204" pitchFamily="34" charset="0"/>
                <a:cs typeface="Verdana" panose="020B0604030504040204" pitchFamily="34" charset="0"/>
              </a:rPr>
              <a:t>The ______________ is another measure of spread determined by finding the difference between the largest data value and the smallest data value.</a:t>
            </a:r>
          </a:p>
          <a:p>
            <a:pPr marL="444500"/>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dirty="0"/>
              <a:t> </a:t>
            </a:r>
            <a:endParaRPr lang="en-US" sz="1200" dirty="0"/>
          </a:p>
        </p:txBody>
      </p:sp>
      <p:pic>
        <p:nvPicPr>
          <p:cNvPr id="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204</a:t>
            </a:r>
          </a:p>
        </p:txBody>
      </p:sp>
    </p:spTree>
    <p:extLst>
      <p:ext uri="{BB962C8B-B14F-4D97-AF65-F5344CB8AC3E}">
        <p14:creationId xmlns:p14="http://schemas.microsoft.com/office/powerpoint/2010/main" val="2275152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F16EAAB6-B932-C047-9261-EF734547974E}"/>
                  </a:ext>
                </a:extLst>
              </p:cNvPr>
              <p:cNvSpPr txBox="1"/>
              <p:nvPr/>
            </p:nvSpPr>
            <p:spPr>
              <a:xfrm>
                <a:off x="529913" y="442473"/>
                <a:ext cx="11821886" cy="2246769"/>
              </a:xfrm>
              <a:prstGeom prst="rect">
                <a:avLst/>
              </a:prstGeom>
              <a:noFill/>
            </p:spPr>
            <p:txBody>
              <a:bodyPr wrap="square" rtlCol="0">
                <a:spAutoFit/>
              </a:bodyPr>
              <a:lstStyle/>
              <a:p>
                <a:pPr marL="457200" lvl="3"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a:t>
                </a:r>
              </a:p>
              <a:p>
                <a:pPr lvl="3"/>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____</a:t>
                </a:r>
                <a14:m>
                  <m:oMath xmlns:m="http://schemas.openxmlformats.org/officeDocument/2006/math">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of the data falls between the minimum and the first quartile (</a:t>
                </a:r>
                <a14:m>
                  <m:oMath xmlns:m="http://schemas.openxmlformats.org/officeDocument/2006/math">
                    <m:sSub>
                      <m:sSubPr>
                        <m:ctrlPr>
                          <a:rPr lang="en-US" sz="2000" i="1">
                            <a:latin typeface="Cambria Math"/>
                          </a:rPr>
                        </m:ctrlPr>
                      </m:sSubPr>
                      <m:e>
                        <m:r>
                          <m:rPr>
                            <m:sty m:val="p"/>
                          </m:rPr>
                          <a:rPr lang="en-US" sz="2000">
                            <a:latin typeface="Cambria Math" panose="02040503050406030204" pitchFamily="18" charset="0"/>
                          </a:rPr>
                          <m:t>Q</m:t>
                        </m:r>
                      </m:e>
                      <m:sub>
                        <m:r>
                          <a:rPr lang="en-US" sz="2000" i="1">
                            <a:latin typeface="Cambria Math" panose="02040503050406030204" pitchFamily="18" charset="0"/>
                          </a:rPr>
                          <m:t>1</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____</a:t>
                </a:r>
                <a14:m>
                  <m:oMath xmlns:m="http://schemas.openxmlformats.org/officeDocument/2006/math">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of the data falls between the minimum and the third quartile (</a:t>
                </a:r>
                <a14:m>
                  <m:oMath xmlns:m="http://schemas.openxmlformats.org/officeDocument/2006/math">
                    <m:sSub>
                      <m:sSubPr>
                        <m:ctrlPr>
                          <a:rPr lang="en-US" sz="2000" i="1">
                            <a:latin typeface="Cambria Math"/>
                          </a:rPr>
                        </m:ctrlPr>
                      </m:sSubPr>
                      <m:e>
                        <m:r>
                          <m:rPr>
                            <m:sty m:val="p"/>
                          </m:rPr>
                          <a:rPr lang="en-US" sz="2000">
                            <a:latin typeface="Cambria Math" panose="02040503050406030204" pitchFamily="18" charset="0"/>
                          </a:rPr>
                          <m:t>Q</m:t>
                        </m:r>
                      </m:e>
                      <m:sub>
                        <m:r>
                          <a:rPr lang="en-US" sz="2000" i="1">
                            <a:latin typeface="Cambria Math" panose="02040503050406030204" pitchFamily="18" charset="0"/>
                          </a:rPr>
                          <m:t>3</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____</a:t>
                </a:r>
                <a14:m>
                  <m:oMath xmlns:m="http://schemas.openxmlformats.org/officeDocument/2006/math">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of the data falls between the first quartile (</a:t>
                </a:r>
                <a14:m>
                  <m:oMath xmlns:m="http://schemas.openxmlformats.org/officeDocument/2006/math">
                    <m:sSub>
                      <m:sSubPr>
                        <m:ctrlPr>
                          <a:rPr lang="en-US" sz="2000" i="1">
                            <a:latin typeface="Cambria Math"/>
                          </a:rPr>
                        </m:ctrlPr>
                      </m:sSubPr>
                      <m:e>
                        <m:r>
                          <m:rPr>
                            <m:sty m:val="p"/>
                          </m:rPr>
                          <a:rPr lang="en-US" sz="2000">
                            <a:latin typeface="Cambria Math" panose="02040503050406030204" pitchFamily="18" charset="0"/>
                          </a:rPr>
                          <m:t>Q</m:t>
                        </m:r>
                      </m:e>
                      <m:sub>
                        <m:r>
                          <a:rPr lang="en-US" sz="2000" i="1">
                            <a:latin typeface="Cambria Math" panose="02040503050406030204" pitchFamily="18" charset="0"/>
                          </a:rPr>
                          <m:t>1</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and the third quartile (</a:t>
                </a:r>
                <a14:m>
                  <m:oMath xmlns:m="http://schemas.openxmlformats.org/officeDocument/2006/math">
                    <m:sSub>
                      <m:sSubPr>
                        <m:ctrlPr>
                          <a:rPr lang="en-US" sz="2000" i="1">
                            <a:latin typeface="Cambria Math"/>
                          </a:rPr>
                        </m:ctrlPr>
                      </m:sSubPr>
                      <m:e>
                        <m:r>
                          <m:rPr>
                            <m:sty m:val="p"/>
                          </m:rPr>
                          <a:rPr lang="en-US" sz="2000">
                            <a:latin typeface="Cambria Math" panose="02040503050406030204" pitchFamily="18" charset="0"/>
                          </a:rPr>
                          <m:t>Q</m:t>
                        </m:r>
                      </m:e>
                      <m:sub>
                        <m:r>
                          <a:rPr lang="en-US" sz="2000" i="1">
                            <a:latin typeface="Cambria Math" panose="02040503050406030204" pitchFamily="18" charset="0"/>
                          </a:rPr>
                          <m:t>3</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 xmlns:a16="http://schemas.microsoft.com/office/drawing/2014/main" xmlns:a14="http://schemas.microsoft.com/office/drawing/2010/main" id="{F16EAAB6-B932-C047-9261-EF734547974E}"/>
                  </a:ext>
                </a:extLst>
              </p:cNvPr>
              <p:cNvSpPr txBox="1">
                <a:spLocks noRot="1" noChangeAspect="1" noMove="1" noResize="1" noEditPoints="1" noAdjustHandles="1" noChangeArrowheads="1" noChangeShapeType="1" noTextEdit="1"/>
              </p:cNvSpPr>
              <p:nvPr/>
            </p:nvSpPr>
            <p:spPr>
              <a:xfrm>
                <a:off x="529913" y="442473"/>
                <a:ext cx="11821886" cy="2246769"/>
              </a:xfrm>
              <a:prstGeom prst="rect">
                <a:avLst/>
              </a:prstGeom>
              <a:blipFill rotWithShape="1">
                <a:blip r:embed="rId3"/>
                <a:stretch>
                  <a:fillRect l="-567" t="-1630" b="-4076"/>
                </a:stretch>
              </a:blipFill>
            </p:spPr>
            <p:txBody>
              <a:bodyPr/>
              <a:lstStyle/>
              <a:p>
                <a:r>
                  <a:rPr lang="en-PH">
                    <a:noFill/>
                  </a:rPr>
                  <a:t> </a:t>
                </a:r>
              </a:p>
            </p:txBody>
          </p:sp>
        </mc:Fallback>
      </mc:AlternateContent>
      <p:pic>
        <p:nvPicPr>
          <p:cNvPr id="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204</a:t>
            </a:r>
          </a:p>
        </p:txBody>
      </p:sp>
    </p:spTree>
    <p:extLst>
      <p:ext uri="{BB962C8B-B14F-4D97-AF65-F5344CB8AC3E}">
        <p14:creationId xmlns:p14="http://schemas.microsoft.com/office/powerpoint/2010/main" val="638769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F16EAAB6-B932-C047-9261-EF734547974E}"/>
              </a:ext>
            </a:extLst>
          </p:cNvPr>
          <p:cNvSpPr txBox="1"/>
          <p:nvPr/>
        </p:nvSpPr>
        <p:spPr>
          <a:xfrm>
            <a:off x="537945" y="385808"/>
            <a:ext cx="9845911" cy="5632311"/>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The box plot shows the distribution of the daily number of people who were at a large community pool in July 2018. </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pPr algn="ctr"/>
            <a:r>
              <a:rPr lang="en-US" sz="2000" b="1" dirty="0">
                <a:latin typeface="Verdana" panose="020B0604030504040204" pitchFamily="34" charset="0"/>
                <a:ea typeface="Verdana" panose="020B0604030504040204" pitchFamily="34" charset="0"/>
                <a:cs typeface="Verdana" panose="020B0604030504040204" pitchFamily="34" charset="0"/>
              </a:rPr>
              <a:t>Number of Patrons at Community Pool </a:t>
            </a:r>
          </a:p>
          <a:p>
            <a:pPr algn="ctr"/>
            <a:endParaRPr lang="en-US" sz="20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0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0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0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0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000" b="1"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median number of people at the pool each day?</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maximum number of people?</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What is the minimum number of people?</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Chart, shape&#10;&#10;Description automatically generated">
            <a:extLst>
              <a:ext uri="{FF2B5EF4-FFF2-40B4-BE49-F238E27FC236}">
                <a16:creationId xmlns:a16="http://schemas.microsoft.com/office/drawing/2014/main" xmlns="" id="{6AE91702-B8EA-F043-B007-F2E32C51A6E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2556727" y="1693644"/>
            <a:ext cx="5808345" cy="1453515"/>
          </a:xfrm>
          <a:prstGeom prst="rect">
            <a:avLst/>
          </a:prstGeom>
          <a:ln>
            <a:noFill/>
          </a:ln>
          <a:extLst>
            <a:ext uri="{53640926-AAD7-44D8-BBD7-CCE9431645EC}">
              <a14:shadowObscured xmlns:a14="http://schemas.microsoft.com/office/drawing/2010/main"/>
            </a:ext>
          </a:extLst>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204</a:t>
            </a:r>
          </a:p>
        </p:txBody>
      </p:sp>
    </p:spTree>
    <p:extLst>
      <p:ext uri="{BB962C8B-B14F-4D97-AF65-F5344CB8AC3E}">
        <p14:creationId xmlns:p14="http://schemas.microsoft.com/office/powerpoint/2010/main" val="2752790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8AE5E1E0-A54D-BE42-84B5-F917038ADE99}"/>
                  </a:ext>
                </a:extLst>
              </p:cNvPr>
              <p:cNvSpPr txBox="1"/>
              <p:nvPr/>
            </p:nvSpPr>
            <p:spPr>
              <a:xfrm>
                <a:off x="541834" y="359767"/>
                <a:ext cx="11484428" cy="4708981"/>
              </a:xfrm>
              <a:prstGeom prst="rect">
                <a:avLst/>
              </a:prstGeom>
              <a:noFill/>
            </p:spPr>
            <p:txBody>
              <a:bodyPr wrap="square" rtlCol="0">
                <a:spAutoFit/>
              </a:bodyPr>
              <a:lstStyle/>
              <a:p>
                <a:pPr marL="914400" indent="-447675">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r>
                  <a:rPr lang="en-US" sz="2000" b="1" dirty="0">
                    <a:latin typeface="Verdana" panose="020B0604030504040204" pitchFamily="34" charset="0"/>
                    <a:ea typeface="Verdana" panose="020B0604030504040204" pitchFamily="34" charset="0"/>
                    <a:cs typeface="Verdana" panose="020B0604030504040204" pitchFamily="34" charset="0"/>
                  </a:rPr>
                  <a:t>Number of Patrons at Community Pool </a:t>
                </a:r>
              </a:p>
              <a:p>
                <a:pPr marL="914400" indent="-447675">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Determine the value of the first quartile (</a:t>
                </a:r>
                <a14:m>
                  <m:oMath xmlns:m="http://schemas.openxmlformats.org/officeDocument/2006/math">
                    <m:sSub>
                      <m:sSubPr>
                        <m:ctrlPr>
                          <a:rPr lang="en-US" sz="2000" i="1">
                            <a:latin typeface="Cambria Math"/>
                          </a:rPr>
                        </m:ctrlPr>
                      </m:sSubPr>
                      <m:e>
                        <m:r>
                          <m:rPr>
                            <m:sty m:val="p"/>
                          </m:rPr>
                          <a:rPr lang="en-US" sz="2000">
                            <a:latin typeface="Cambria Math" panose="02040503050406030204" pitchFamily="18" charset="0"/>
                          </a:rPr>
                          <m:t>Q</m:t>
                        </m:r>
                      </m:e>
                      <m:sub>
                        <m:r>
                          <a:rPr lang="en-US" sz="2000" i="1">
                            <a:latin typeface="Cambria Math" panose="02040503050406030204" pitchFamily="18" charset="0"/>
                          </a:rPr>
                          <m:t>1</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from the box plot.</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Determine the value of the third quartile (</a:t>
                </a:r>
                <a14:m>
                  <m:oMath xmlns:m="http://schemas.openxmlformats.org/officeDocument/2006/math">
                    <m:sSub>
                      <m:sSubPr>
                        <m:ctrlPr>
                          <a:rPr lang="en-US" sz="2000" i="1">
                            <a:latin typeface="Cambria Math"/>
                          </a:rPr>
                        </m:ctrlPr>
                      </m:sSubPr>
                      <m:e>
                        <m:r>
                          <m:rPr>
                            <m:sty m:val="p"/>
                          </m:rPr>
                          <a:rPr lang="en-US" sz="2000">
                            <a:latin typeface="Cambria Math" panose="02040503050406030204" pitchFamily="18" charset="0"/>
                          </a:rPr>
                          <m:t>Q</m:t>
                        </m:r>
                      </m:e>
                      <m:sub>
                        <m:r>
                          <a:rPr lang="en-US" sz="2000" i="1">
                            <a:latin typeface="Cambria Math" panose="02040503050406030204" pitchFamily="18" charset="0"/>
                          </a:rPr>
                          <m:t>3</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from the box plot.</a:t>
                </a:r>
              </a:p>
            </p:txBody>
          </p:sp>
        </mc:Choice>
        <mc:Fallback xmlns="">
          <p:sp>
            <p:nvSpPr>
              <p:cNvPr id="5" name="TextBox 4">
                <a:extLst>
                  <a:ext uri="{FF2B5EF4-FFF2-40B4-BE49-F238E27FC236}">
                    <a16:creationId xmlns="" xmlns:a16="http://schemas.microsoft.com/office/drawing/2014/main" xmlns:a14="http://schemas.microsoft.com/office/drawing/2010/main" id="{8AE5E1E0-A54D-BE42-84B5-F917038ADE99}"/>
                  </a:ext>
                </a:extLst>
              </p:cNvPr>
              <p:cNvSpPr txBox="1">
                <a:spLocks noRot="1" noChangeAspect="1" noMove="1" noResize="1" noEditPoints="1" noAdjustHandles="1" noChangeArrowheads="1" noChangeShapeType="1" noTextEdit="1"/>
              </p:cNvSpPr>
              <p:nvPr/>
            </p:nvSpPr>
            <p:spPr>
              <a:xfrm>
                <a:off x="541834" y="359767"/>
                <a:ext cx="11484428" cy="4708981"/>
              </a:xfrm>
              <a:prstGeom prst="rect">
                <a:avLst/>
              </a:prstGeom>
              <a:blipFill rotWithShape="1">
                <a:blip r:embed="rId3"/>
                <a:stretch>
                  <a:fillRect b="-1425"/>
                </a:stretch>
              </a:blipFill>
            </p:spPr>
            <p:txBody>
              <a:bodyPr/>
              <a:lstStyle/>
              <a:p>
                <a:r>
                  <a:rPr lang="en-PH">
                    <a:noFill/>
                  </a:rPr>
                  <a:t> </a:t>
                </a:r>
              </a:p>
            </p:txBody>
          </p:sp>
        </mc:Fallback>
      </mc:AlternateContent>
      <p:pic>
        <p:nvPicPr>
          <p:cNvPr id="8" name="Picture 7" descr="Chart, shape&#10;&#10;Description automatically generated">
            <a:extLst>
              <a:ext uri="{FF2B5EF4-FFF2-40B4-BE49-F238E27FC236}">
                <a16:creationId xmlns:a16="http://schemas.microsoft.com/office/drawing/2014/main" xmlns="" id="{5A903213-7E1B-4648-915C-7F1D0D88779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bwMode="auto">
          <a:xfrm>
            <a:off x="3379875" y="1184593"/>
            <a:ext cx="5808345" cy="1453515"/>
          </a:xfrm>
          <a:prstGeom prst="rect">
            <a:avLst/>
          </a:prstGeom>
          <a:ln>
            <a:noFill/>
          </a:ln>
          <a:extLst>
            <a:ext uri="{53640926-AAD7-44D8-BBD7-CCE9431645EC}">
              <a14:shadowObscured xmlns:a14="http://schemas.microsoft.com/office/drawing/2010/main"/>
            </a:ext>
          </a:extLst>
        </p:spPr>
      </p:pic>
      <p:pic>
        <p:nvPicPr>
          <p:cNvPr id="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204</a:t>
            </a:r>
          </a:p>
        </p:txBody>
      </p:sp>
    </p:spTree>
    <p:extLst>
      <p:ext uri="{BB962C8B-B14F-4D97-AF65-F5344CB8AC3E}">
        <p14:creationId xmlns:p14="http://schemas.microsoft.com/office/powerpoint/2010/main" val="772351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204</a:t>
            </a:r>
          </a:p>
        </p:txBody>
      </p:sp>
      <mc:AlternateContent xmlns:mc="http://schemas.openxmlformats.org/markup-compatibility/2006" xmlns:a14="http://schemas.microsoft.com/office/drawing/2010/main">
        <mc:Choice Requires="a14">
          <p:sp>
            <p:nvSpPr>
              <p:cNvPr id="7" name="Rectangle: Rounded Corners 114">
                <a:extLst>
                  <a:ext uri="{FF2B5EF4-FFF2-40B4-BE49-F238E27FC236}">
                    <a16:creationId xmlns:a16="http://schemas.microsoft.com/office/drawing/2014/main" xmlns="" id="{FBBFADB0-0CDD-2547-B4A0-6B9D13A77CAE}"/>
                  </a:ext>
                </a:extLst>
              </p:cNvPr>
              <p:cNvSpPr/>
              <p:nvPr/>
            </p:nvSpPr>
            <p:spPr>
              <a:xfrm>
                <a:off x="1263512" y="2328485"/>
                <a:ext cx="9959660" cy="1666572"/>
              </a:xfrm>
              <a:prstGeom prst="roundRect">
                <a:avLst/>
              </a:prstGeom>
              <a:solidFill>
                <a:srgbClr val="B7E7F5"/>
              </a:solidFill>
              <a:ln>
                <a:solidFill>
                  <a:srgbClr val="B9E5F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685800">
                  <a:lnSpc>
                    <a:spcPct val="107000"/>
                  </a:lnSpc>
                </a:pPr>
                <a:r>
                  <a:rPr lang="en-US" sz="2000" dirty="0">
                    <a:solidFill>
                      <a:srgbClr val="00609E"/>
                    </a:solidFill>
                    <a:latin typeface="Verdana" panose="020B0604030504040204" pitchFamily="34" charset="0"/>
                    <a:ea typeface="Verdana" panose="020B0604030504040204" pitchFamily="34" charset="0"/>
                    <a:cs typeface="Verdana" panose="020B0604030504040204" pitchFamily="34" charset="0"/>
                  </a:rPr>
                  <a:t>The </a:t>
                </a:r>
                <a:r>
                  <a:rPr lang="en-US" sz="2000" b="1" dirty="0">
                    <a:solidFill>
                      <a:srgbClr val="00609E"/>
                    </a:solidFill>
                    <a:latin typeface="Verdana" panose="020B0604030504040204" pitchFamily="34" charset="0"/>
                    <a:ea typeface="Verdana" panose="020B0604030504040204" pitchFamily="34" charset="0"/>
                    <a:cs typeface="Verdana" panose="020B0604030504040204" pitchFamily="34" charset="0"/>
                  </a:rPr>
                  <a:t>five-number summary</a:t>
                </a:r>
                <a:r>
                  <a:rPr lang="en-US" sz="2000" dirty="0">
                    <a:solidFill>
                      <a:srgbClr val="00609E"/>
                    </a:solidFill>
                    <a:latin typeface="Verdana" panose="020B0604030504040204" pitchFamily="34" charset="0"/>
                    <a:ea typeface="Verdana" panose="020B0604030504040204" pitchFamily="34" charset="0"/>
                    <a:cs typeface="Verdana" panose="020B0604030504040204" pitchFamily="34" charset="0"/>
                  </a:rPr>
                  <a:t> are the values of the minimum, first quartile (</a:t>
                </a:r>
                <a14:m>
                  <m:oMath xmlns:m="http://schemas.openxmlformats.org/officeDocument/2006/math">
                    <m:sSub>
                      <m:sSubPr>
                        <m:ctrlPr>
                          <a:rPr lang="en-US" sz="2000" i="1">
                            <a:solidFill>
                              <a:srgbClr val="00609E"/>
                            </a:solidFill>
                            <a:latin typeface="Cambria Math"/>
                            <a:ea typeface="Cambria Math" panose="02040503050406030204" pitchFamily="18" charset="0"/>
                            <a:cs typeface="Cambria Math" panose="02040503050406030204" pitchFamily="18" charset="0"/>
                          </a:rPr>
                        </m:ctrlPr>
                      </m:sSubPr>
                      <m:e>
                        <m:r>
                          <m:rPr>
                            <m:sty m:val="p"/>
                          </m:rPr>
                          <a:rPr lang="en-US" sz="2000">
                            <a:solidFill>
                              <a:srgbClr val="00609E"/>
                            </a:solidFill>
                            <a:latin typeface="Cambria Math" panose="02040503050406030204" pitchFamily="18" charset="0"/>
                            <a:ea typeface="Cambria Math" panose="02040503050406030204" pitchFamily="18" charset="0"/>
                            <a:cs typeface="Cambria Math" panose="02040503050406030204" pitchFamily="18" charset="0"/>
                          </a:rPr>
                          <m:t>Q</m:t>
                        </m:r>
                      </m:e>
                      <m:sub>
                        <m:r>
                          <a:rPr lang="en-US" sz="2000" i="1">
                            <a:solidFill>
                              <a:srgbClr val="00609E"/>
                            </a:solidFill>
                            <a:latin typeface="Cambria Math" panose="02040503050406030204" pitchFamily="18" charset="0"/>
                            <a:ea typeface="Cambria Math" panose="02040503050406030204" pitchFamily="18" charset="0"/>
                            <a:cs typeface="Cambria Math" panose="02040503050406030204" pitchFamily="18" charset="0"/>
                          </a:rPr>
                          <m:t>1</m:t>
                        </m:r>
                      </m:sub>
                    </m:sSub>
                  </m:oMath>
                </a14:m>
                <a:r>
                  <a:rPr lang="en-US" sz="2000" dirty="0">
                    <a:solidFill>
                      <a:srgbClr val="00609E"/>
                    </a:solidFill>
                    <a:latin typeface="Verdana" panose="020B0604030504040204" pitchFamily="34" charset="0"/>
                    <a:ea typeface="Verdana" panose="020B0604030504040204" pitchFamily="34" charset="0"/>
                    <a:cs typeface="Verdana" panose="020B0604030504040204" pitchFamily="34" charset="0"/>
                  </a:rPr>
                  <a:t>), median, third quartile (</a:t>
                </a:r>
                <a14:m>
                  <m:oMath xmlns:m="http://schemas.openxmlformats.org/officeDocument/2006/math">
                    <m:sSub>
                      <m:sSubPr>
                        <m:ctrlPr>
                          <a:rPr lang="en-US" sz="2000" i="1">
                            <a:solidFill>
                              <a:srgbClr val="00609E"/>
                            </a:solidFill>
                            <a:latin typeface="Cambria Math"/>
                            <a:ea typeface="Cambria Math" panose="02040503050406030204" pitchFamily="18" charset="0"/>
                            <a:cs typeface="Cambria Math" panose="02040503050406030204" pitchFamily="18" charset="0"/>
                          </a:rPr>
                        </m:ctrlPr>
                      </m:sSubPr>
                      <m:e>
                        <m:r>
                          <m:rPr>
                            <m:sty m:val="p"/>
                          </m:rPr>
                          <a:rPr lang="en-US" sz="2000">
                            <a:solidFill>
                              <a:srgbClr val="00609E"/>
                            </a:solidFill>
                            <a:latin typeface="Cambria Math" panose="02040503050406030204" pitchFamily="18" charset="0"/>
                            <a:ea typeface="Cambria Math" panose="02040503050406030204" pitchFamily="18" charset="0"/>
                            <a:cs typeface="Cambria Math" panose="02040503050406030204" pitchFamily="18" charset="0"/>
                          </a:rPr>
                          <m:t>Q</m:t>
                        </m:r>
                      </m:e>
                      <m:sub>
                        <m:r>
                          <a:rPr lang="en-US" sz="2000" i="1">
                            <a:solidFill>
                              <a:srgbClr val="00609E"/>
                            </a:solidFill>
                            <a:latin typeface="Cambria Math" panose="02040503050406030204" pitchFamily="18" charset="0"/>
                            <a:ea typeface="Cambria Math" panose="02040503050406030204" pitchFamily="18" charset="0"/>
                            <a:cs typeface="Cambria Math" panose="02040503050406030204" pitchFamily="18" charset="0"/>
                          </a:rPr>
                          <m:t>3</m:t>
                        </m:r>
                      </m:sub>
                    </m:sSub>
                  </m:oMath>
                </a14:m>
                <a:r>
                  <a:rPr lang="en-US" sz="2000" dirty="0">
                    <a:solidFill>
                      <a:srgbClr val="00609E"/>
                    </a:solidFill>
                    <a:latin typeface="Verdana" panose="020B0604030504040204" pitchFamily="34" charset="0"/>
                    <a:ea typeface="Verdana" panose="020B0604030504040204" pitchFamily="34" charset="0"/>
                    <a:cs typeface="Verdana" panose="020B0604030504040204" pitchFamily="34" charset="0"/>
                  </a:rPr>
                  <a:t>), and the maximum.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lnSpc>
                    <a:spcPct val="107000"/>
                  </a:lnSpc>
                </a:pPr>
                <a:r>
                  <a:rPr lang="en-US" sz="2000" dirty="0">
                    <a:solidFill>
                      <a:srgbClr val="00609E"/>
                    </a:solidFill>
                    <a:latin typeface="Verdana" panose="020B0604030504040204" pitchFamily="34" charset="0"/>
                    <a:ea typeface="Verdana" panose="020B0604030504040204" pitchFamily="34" charset="0"/>
                    <a:cs typeface="Verdana" panose="020B0604030504040204" pitchFamily="34" charset="0"/>
                  </a:rPr>
                  <a:t>These are the values used to create a box plot to represent a data set.</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lgn="ctr">
                  <a:lnSpc>
                    <a:spcPct val="107000"/>
                  </a:lnSpc>
                  <a:spcAft>
                    <a:spcPts val="800"/>
                  </a:spcAft>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7" name="Rectangle: Rounded Corners 114">
                <a:extLst>
                  <a:ext uri="{FF2B5EF4-FFF2-40B4-BE49-F238E27FC236}">
                    <a16:creationId xmlns:a16="http://schemas.microsoft.com/office/drawing/2014/main" id="{FBBFADB0-0CDD-2547-B4A0-6B9D13A77CAE}"/>
                  </a:ext>
                </a:extLst>
              </p:cNvPr>
              <p:cNvSpPr>
                <a:spLocks noRot="1" noChangeAspect="1" noMove="1" noResize="1" noEditPoints="1" noAdjustHandles="1" noChangeArrowheads="1" noChangeShapeType="1" noTextEdit="1"/>
              </p:cNvSpPr>
              <p:nvPr/>
            </p:nvSpPr>
            <p:spPr>
              <a:xfrm>
                <a:off x="1263512" y="2328485"/>
                <a:ext cx="9959660" cy="1666572"/>
              </a:xfrm>
              <a:prstGeom prst="roundRect">
                <a:avLst/>
              </a:prstGeom>
              <a:blipFill>
                <a:blip r:embed="rId4"/>
                <a:stretch>
                  <a:fillRect/>
                </a:stretch>
              </a:blipFill>
              <a:ln>
                <a:solidFill>
                  <a:srgbClr val="B9E5F5"/>
                </a:solid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9" name="Shape 27" descr="Icon&#10;&#10;Description automatically generated">
            <a:extLst>
              <a:ext uri="{FF2B5EF4-FFF2-40B4-BE49-F238E27FC236}">
                <a16:creationId xmlns:a16="http://schemas.microsoft.com/office/drawing/2014/main" xmlns="" id="{52D6A8EC-013D-E94B-85C0-5633425D2AAC}"/>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1420489" y="2476916"/>
            <a:ext cx="539750" cy="539115"/>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20871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205</a:t>
            </a:r>
          </a:p>
        </p:txBody>
      </p:sp>
    </p:spTree>
    <p:extLst>
      <p:ext uri="{BB962C8B-B14F-4D97-AF65-F5344CB8AC3E}">
        <p14:creationId xmlns:p14="http://schemas.microsoft.com/office/powerpoint/2010/main" val="3665968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48824" y="-85979"/>
            <a:ext cx="110291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10.1.3 Guided Instruction: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The Five-Number Summary</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3">
            <a:alphaModFix/>
          </a:blip>
          <a:srcRect/>
          <a:stretch/>
        </p:blipFill>
        <p:spPr>
          <a:xfrm>
            <a:off x="401524" y="20322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C01B13E8-EC8D-E443-A329-C5E3593DD13A}"/>
                  </a:ext>
                </a:extLst>
              </p:cNvPr>
              <p:cNvSpPr txBox="1"/>
              <p:nvPr/>
            </p:nvSpPr>
            <p:spPr>
              <a:xfrm>
                <a:off x="576943" y="1386025"/>
                <a:ext cx="9810641" cy="501675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ages of </a:t>
                </a:r>
                <a14:m>
                  <m:oMath xmlns:m="http://schemas.openxmlformats.org/officeDocument/2006/math">
                    <m:r>
                      <a:rPr lang="en-US" sz="2000" i="1">
                        <a:latin typeface="Cambria Math" panose="02040503050406030204" pitchFamily="18"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customers who attended a special event at a local restaurant are shown in order from least to greatest.</a:t>
                </a: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7, 8, 9, 10 10, 11, 12, 15, 16, 20, 20,</m:t>
                      </m:r>
                    </m:oMath>
                  </m:oMathPara>
                </a14:m>
                <a:endParaRPr lang="en-US" sz="2000" dirty="0"/>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 22, 23, 24, 28, 30, 33, 35, 38, 42</m:t>
                      </m:r>
                    </m:oMath>
                  </m:oMathPara>
                </a14:m>
                <a:endParaRPr lang="en-US" sz="2000" dirty="0"/>
              </a:p>
              <a:p>
                <a:pPr marL="457200" indent="-457200" algn="ctr">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five-number summary of the data set.</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indent="914400"/>
                <a:r>
                  <a:rPr lang="en-US" sz="2000" dirty="0">
                    <a:latin typeface="Verdana" panose="020B0604030504040204" pitchFamily="34" charset="0"/>
                    <a:ea typeface="Verdana" panose="020B0604030504040204" pitchFamily="34" charset="0"/>
                    <a:cs typeface="Verdana" panose="020B0604030504040204" pitchFamily="34" charset="0"/>
                  </a:rPr>
                  <a:t>Minimum: _____________</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indent="914400"/>
                <a:r>
                  <a:rPr lang="en-US" sz="2000" dirty="0">
                    <a:latin typeface="Verdana" panose="020B0604030504040204" pitchFamily="34" charset="0"/>
                    <a:ea typeface="Verdana" panose="020B0604030504040204" pitchFamily="34" charset="0"/>
                    <a:cs typeface="Verdana" panose="020B0604030504040204" pitchFamily="34" charset="0"/>
                  </a:rPr>
                  <a:t>First quartile: _____________</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indent="914400"/>
                <a:r>
                  <a:rPr lang="en-US" sz="2000" dirty="0">
                    <a:latin typeface="Verdana" panose="020B0604030504040204" pitchFamily="34" charset="0"/>
                    <a:ea typeface="Verdana" panose="020B0604030504040204" pitchFamily="34" charset="0"/>
                    <a:cs typeface="Verdana" panose="020B0604030504040204" pitchFamily="34" charset="0"/>
                  </a:rPr>
                  <a:t>Median: _____________</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indent="914400"/>
                <a:r>
                  <a:rPr lang="en-US" sz="2000" dirty="0">
                    <a:latin typeface="Verdana" panose="020B0604030504040204" pitchFamily="34" charset="0"/>
                    <a:ea typeface="Verdana" panose="020B0604030504040204" pitchFamily="34" charset="0"/>
                    <a:cs typeface="Verdana" panose="020B0604030504040204" pitchFamily="34" charset="0"/>
                  </a:rPr>
                  <a:t>Third quartile: _____________</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indent="914400"/>
                <a:r>
                  <a:rPr lang="en-US" sz="2000" dirty="0">
                    <a:latin typeface="Verdana" panose="020B0604030504040204" pitchFamily="34" charset="0"/>
                    <a:ea typeface="Verdana" panose="020B0604030504040204" pitchFamily="34" charset="0"/>
                    <a:cs typeface="Verdana" panose="020B0604030504040204" pitchFamily="34" charset="0"/>
                  </a:rPr>
                  <a:t>Maximum: _____________</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76943" y="1386025"/>
                <a:ext cx="9810641" cy="5016758"/>
              </a:xfrm>
              <a:prstGeom prst="rect">
                <a:avLst/>
              </a:prstGeom>
              <a:blipFill>
                <a:blip r:embed="rId5"/>
                <a:stretch>
                  <a:fillRect l="-684" t="-729" b="-1215"/>
                </a:stretch>
              </a:blipFill>
            </p:spPr>
            <p:txBody>
              <a:bodyPr/>
              <a:lstStyle/>
              <a:p>
                <a:r>
                  <a:rPr lang="en-US">
                    <a:noFill/>
                  </a:rPr>
                  <a:t> </a:t>
                </a:r>
              </a:p>
            </p:txBody>
          </p:sp>
        </mc:Fallback>
      </mc:AlternateContent>
      <p:sp>
        <p:nvSpPr>
          <p:cNvPr id="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205</a:t>
            </a:r>
          </a:p>
        </p:txBody>
      </p:sp>
    </p:spTree>
    <p:extLst>
      <p:ext uri="{BB962C8B-B14F-4D97-AF65-F5344CB8AC3E}">
        <p14:creationId xmlns:p14="http://schemas.microsoft.com/office/powerpoint/2010/main" val="408387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8AE5E1E0-A54D-BE42-84B5-F917038ADE99}"/>
              </a:ext>
            </a:extLst>
          </p:cNvPr>
          <p:cNvSpPr txBox="1"/>
          <p:nvPr/>
        </p:nvSpPr>
        <p:spPr>
          <a:xfrm>
            <a:off x="541750" y="412821"/>
            <a:ext cx="9802368" cy="707886"/>
          </a:xfrm>
          <a:prstGeom prst="rect">
            <a:avLst/>
          </a:prstGeom>
          <a:noFill/>
        </p:spPr>
        <p:txBody>
          <a:bodyPr wrap="square" rtlCol="0">
            <a:spAutoFit/>
          </a:bodyPr>
          <a:lstStyle/>
          <a:p>
            <a:pPr marL="917575" indent="-452438">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if the data the restaurant collected is reflective of the ages of customers who ate at the restaurant.</a:t>
            </a:r>
          </a:p>
        </p:txBody>
      </p:sp>
      <p:sp>
        <p:nvSpPr>
          <p:cNvPr id="6" name="Rectangle: Rounded Corners 114">
            <a:extLst>
              <a:ext uri="{FF2B5EF4-FFF2-40B4-BE49-F238E27FC236}">
                <a16:creationId xmlns:a16="http://schemas.microsoft.com/office/drawing/2014/main" xmlns="" id="{5F7FEC87-0AE6-A34D-A8CD-323FF83EE9DB}"/>
              </a:ext>
            </a:extLst>
          </p:cNvPr>
          <p:cNvSpPr/>
          <p:nvPr/>
        </p:nvSpPr>
        <p:spPr>
          <a:xfrm>
            <a:off x="3027250" y="3036686"/>
            <a:ext cx="6921500" cy="1138872"/>
          </a:xfrm>
          <a:prstGeom prst="roundRect">
            <a:avLst/>
          </a:prstGeom>
          <a:solidFill>
            <a:srgbClr val="B7E7F5"/>
          </a:solidFill>
          <a:ln>
            <a:solidFill>
              <a:srgbClr val="B9E5F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685800">
              <a:lnSpc>
                <a:spcPct val="107000"/>
              </a:lnSpc>
            </a:pPr>
            <a:r>
              <a:rPr lang="en-US" sz="2000" b="1" dirty="0">
                <a:solidFill>
                  <a:srgbClr val="00609E"/>
                </a:solidFill>
                <a:latin typeface="Verdana" panose="020B0604030504040204" pitchFamily="34" charset="0"/>
                <a:ea typeface="Verdana" panose="020B0604030504040204" pitchFamily="34" charset="0"/>
                <a:cs typeface="Verdana" panose="020B0604030504040204" pitchFamily="34" charset="0"/>
              </a:rPr>
              <a:t>Truthful data</a:t>
            </a:r>
            <a:r>
              <a:rPr lang="en-US" sz="2000" dirty="0">
                <a:solidFill>
                  <a:srgbClr val="00609E"/>
                </a:solidFill>
                <a:latin typeface="Verdana" panose="020B0604030504040204" pitchFamily="34" charset="0"/>
                <a:ea typeface="Verdana" panose="020B0604030504040204" pitchFamily="34" charset="0"/>
                <a:cs typeface="Verdana" panose="020B0604030504040204" pitchFamily="34" charset="0"/>
              </a:rPr>
              <a:t> is data that is random, representative of the population, and has a large sample size.</a:t>
            </a:r>
            <a:endParaRPr lang="en-US" sz="2000" dirty="0">
              <a:latin typeface="Cambria Math" panose="02040503050406030204" pitchFamily="18" charset="0"/>
              <a:ea typeface="Cambria Math" panose="02040503050406030204" pitchFamily="18" charset="0"/>
              <a:cs typeface="Cambria Math" panose="02040503050406030204" pitchFamily="18" charset="0"/>
            </a:endParaRPr>
          </a:p>
          <a:p>
            <a:pPr marL="685800" algn="ctr">
              <a:lnSpc>
                <a:spcPct val="107000"/>
              </a:lnSpc>
              <a:spcAft>
                <a:spcPts val="800"/>
              </a:spcAft>
            </a:pPr>
            <a:r>
              <a:rPr lang="en-US" sz="1800" dirty="0">
                <a:solidFill>
                  <a:srgbClr val="000000"/>
                </a:solidFill>
                <a:latin typeface="Verdana" panose="020B0604030504040204" pitchFamily="34" charset="0"/>
                <a:ea typeface="Cambria Math" panose="02040503050406030204" pitchFamily="18" charset="0"/>
                <a:cs typeface="Cambria Math" panose="02040503050406030204" pitchFamily="18" charset="0"/>
              </a:rPr>
              <a:t> </a:t>
            </a: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7" name="Shape 27" descr="Icon&#10;&#10;Description automatically generated">
            <a:extLst>
              <a:ext uri="{FF2B5EF4-FFF2-40B4-BE49-F238E27FC236}">
                <a16:creationId xmlns:a16="http://schemas.microsoft.com/office/drawing/2014/main" xmlns="" id="{C3E73463-DE4F-6B4E-9B67-7A410929D0D8}"/>
              </a:ext>
            </a:extLst>
          </p:cNvPr>
          <p:cNvPicPr/>
          <p:nvPr/>
        </p:nvPicPr>
        <p:blipFill rotWithShape="1">
          <a:blip r:embed="rId3" cstate="screen">
            <a:alphaModFix/>
            <a:extLst>
              <a:ext uri="{28A0092B-C50C-407E-A947-70E740481C1C}">
                <a14:useLocalDpi xmlns:a14="http://schemas.microsoft.com/office/drawing/2010/main"/>
              </a:ext>
            </a:extLst>
          </a:blip>
          <a:srcRect/>
          <a:stretch/>
        </p:blipFill>
        <p:spPr>
          <a:xfrm>
            <a:off x="3133973" y="3336564"/>
            <a:ext cx="539750" cy="539115"/>
          </a:xfrm>
          <a:prstGeom prst="rect">
            <a:avLst/>
          </a:prstGeom>
          <a:noFill/>
          <a:ln>
            <a:noFill/>
          </a:ln>
          <a:effectLst>
            <a:outerShdw blurRad="50800" dist="38100" dir="2700000" algn="tl" rotWithShape="0">
              <a:prstClr val="black">
                <a:alpha val="40000"/>
              </a:prstClr>
            </a:outerShdw>
          </a:effec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205</a:t>
            </a:r>
          </a:p>
        </p:txBody>
      </p:sp>
    </p:spTree>
    <p:extLst>
      <p:ext uri="{BB962C8B-B14F-4D97-AF65-F5344CB8AC3E}">
        <p14:creationId xmlns:p14="http://schemas.microsoft.com/office/powerpoint/2010/main" val="1613202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A3BC97A7-8575-5A46-8E72-A886A83AEC7E}"/>
              </a:ext>
            </a:extLst>
          </p:cNvPr>
          <p:cNvSpPr txBox="1"/>
          <p:nvPr/>
        </p:nvSpPr>
        <p:spPr>
          <a:xfrm>
            <a:off x="555172" y="386281"/>
            <a:ext cx="7041504" cy="255454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birth weights, in ounces, of golden retriever puppies born at a kennel were recorded for the past month. The data is recorded in the table.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A dog sitting in the grass&#10;&#10;Description automatically generated with low confidence">
            <a:extLst>
              <a:ext uri="{FF2B5EF4-FFF2-40B4-BE49-F238E27FC236}">
                <a16:creationId xmlns:a16="http://schemas.microsoft.com/office/drawing/2014/main" xmlns="" id="{EEC8F872-EC60-E34B-9002-2B67018DFB7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22003" y="317777"/>
            <a:ext cx="2496196" cy="2776937"/>
          </a:xfrm>
          <a:prstGeom prst="rect">
            <a:avLst/>
          </a:prstGeom>
        </p:spPr>
      </p:pic>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8CC8609A-F7D5-D14E-8C7E-35270911E7AC}"/>
                  </a:ext>
                </a:extLst>
              </p:cNvPr>
              <p:cNvGraphicFramePr>
                <a:graphicFrameLocks noGrp="1"/>
              </p:cNvGraphicFramePr>
              <p:nvPr>
                <p:extLst>
                  <p:ext uri="{D42A27DB-BD31-4B8C-83A1-F6EECF244321}">
                    <p14:modId xmlns:p14="http://schemas.microsoft.com/office/powerpoint/2010/main" val="2435762787"/>
                  </p:ext>
                </p:extLst>
              </p:nvPr>
            </p:nvGraphicFramePr>
            <p:xfrm>
              <a:off x="2428597" y="1851401"/>
              <a:ext cx="3638552" cy="1049020"/>
            </p:xfrm>
            <a:graphic>
              <a:graphicData uri="http://schemas.openxmlformats.org/drawingml/2006/table">
                <a:tbl>
                  <a:tblPr bandRow="1">
                    <a:tableStyleId>{A91F0D33-8C57-4600-99A7-42BC86742BE1}</a:tableStyleId>
                  </a:tblPr>
                  <a:tblGrid>
                    <a:gridCol w="404213">
                      <a:extLst>
                        <a:ext uri="{9D8B030D-6E8A-4147-A177-3AD203B41FA5}">
                          <a16:colId xmlns:a16="http://schemas.microsoft.com/office/drawing/2014/main" xmlns="" val="1013906379"/>
                        </a:ext>
                      </a:extLst>
                    </a:gridCol>
                    <a:gridCol w="404213">
                      <a:extLst>
                        <a:ext uri="{9D8B030D-6E8A-4147-A177-3AD203B41FA5}">
                          <a16:colId xmlns:a16="http://schemas.microsoft.com/office/drawing/2014/main" xmlns="" val="3802836734"/>
                        </a:ext>
                      </a:extLst>
                    </a:gridCol>
                    <a:gridCol w="404213">
                      <a:extLst>
                        <a:ext uri="{9D8B030D-6E8A-4147-A177-3AD203B41FA5}">
                          <a16:colId xmlns:a16="http://schemas.microsoft.com/office/drawing/2014/main" xmlns="" val="2156197616"/>
                        </a:ext>
                      </a:extLst>
                    </a:gridCol>
                    <a:gridCol w="404213">
                      <a:extLst>
                        <a:ext uri="{9D8B030D-6E8A-4147-A177-3AD203B41FA5}">
                          <a16:colId xmlns:a16="http://schemas.microsoft.com/office/drawing/2014/main" xmlns="" val="3816659728"/>
                        </a:ext>
                      </a:extLst>
                    </a:gridCol>
                    <a:gridCol w="404213">
                      <a:extLst>
                        <a:ext uri="{9D8B030D-6E8A-4147-A177-3AD203B41FA5}">
                          <a16:colId xmlns:a16="http://schemas.microsoft.com/office/drawing/2014/main" xmlns="" val="1454761632"/>
                        </a:ext>
                      </a:extLst>
                    </a:gridCol>
                    <a:gridCol w="404213">
                      <a:extLst>
                        <a:ext uri="{9D8B030D-6E8A-4147-A177-3AD203B41FA5}">
                          <a16:colId xmlns:a16="http://schemas.microsoft.com/office/drawing/2014/main" xmlns="" val="2604031584"/>
                        </a:ext>
                      </a:extLst>
                    </a:gridCol>
                    <a:gridCol w="404213">
                      <a:extLst>
                        <a:ext uri="{9D8B030D-6E8A-4147-A177-3AD203B41FA5}">
                          <a16:colId xmlns:a16="http://schemas.microsoft.com/office/drawing/2014/main" xmlns="" val="1905127045"/>
                        </a:ext>
                      </a:extLst>
                    </a:gridCol>
                    <a:gridCol w="404213">
                      <a:extLst>
                        <a:ext uri="{9D8B030D-6E8A-4147-A177-3AD203B41FA5}">
                          <a16:colId xmlns:a16="http://schemas.microsoft.com/office/drawing/2014/main" xmlns="" val="1133507880"/>
                        </a:ext>
                      </a:extLst>
                    </a:gridCol>
                    <a:gridCol w="404848">
                      <a:extLst>
                        <a:ext uri="{9D8B030D-6E8A-4147-A177-3AD203B41FA5}">
                          <a16:colId xmlns:a16="http://schemas.microsoft.com/office/drawing/2014/main" xmlns="" val="119701418"/>
                        </a:ext>
                      </a:extLst>
                    </a:gridCol>
                  </a:tblGrid>
                  <a:tr h="35369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13</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14</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15</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15</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xmlns="" val="501474467"/>
                      </a:ext>
                    </a:extLst>
                  </a:tr>
                  <a:tr h="34163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xmlns="" val="1628311266"/>
                      </a:ext>
                    </a:extLst>
                  </a:tr>
                  <a:tr h="35369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19</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gridSpan="2">
                      <a:txBody>
                        <a:bodyPr/>
                        <a:lstStyle/>
                        <a:p>
                          <a:pPr marL="0" marR="0" algn="ctr">
                            <a:lnSpc>
                              <a:spcPct val="107000"/>
                            </a:lnSpc>
                            <a:spcBef>
                              <a:spcPts val="0"/>
                            </a:spcBef>
                            <a:spcAft>
                              <a:spcPts val="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xmlns="" val="836304663"/>
                      </a:ext>
                    </a:extLst>
                  </a:tr>
                </a:tbl>
              </a:graphicData>
            </a:graphic>
          </p:graphicFrame>
        </mc:Choice>
        <mc:Fallback xmlns="">
          <p:graphicFrame>
            <p:nvGraphicFramePr>
              <p:cNvPr id="2" name="Table 1">
                <a:extLst>
                  <a:ext uri="{FF2B5EF4-FFF2-40B4-BE49-F238E27FC236}">
                    <a16:creationId xmlns:a16="http://schemas.microsoft.com/office/drawing/2014/main" id="{8CC8609A-F7D5-D14E-8C7E-35270911E7AC}"/>
                  </a:ext>
                </a:extLst>
              </p:cNvPr>
              <p:cNvGraphicFramePr>
                <a:graphicFrameLocks noGrp="1"/>
              </p:cNvGraphicFramePr>
              <p:nvPr>
                <p:extLst>
                  <p:ext uri="{D42A27DB-BD31-4B8C-83A1-F6EECF244321}">
                    <p14:modId xmlns:p14="http://schemas.microsoft.com/office/powerpoint/2010/main" val="2435762787"/>
                  </p:ext>
                </p:extLst>
              </p:nvPr>
            </p:nvGraphicFramePr>
            <p:xfrm>
              <a:off x="2428597" y="1851401"/>
              <a:ext cx="3638552" cy="1049020"/>
            </p:xfrm>
            <a:graphic>
              <a:graphicData uri="http://schemas.openxmlformats.org/drawingml/2006/table">
                <a:tbl>
                  <a:tblPr bandRow="1">
                    <a:tableStyleId>{A91F0D33-8C57-4600-99A7-42BC86742BE1}</a:tableStyleId>
                  </a:tblPr>
                  <a:tblGrid>
                    <a:gridCol w="404213">
                      <a:extLst>
                        <a:ext uri="{9D8B030D-6E8A-4147-A177-3AD203B41FA5}">
                          <a16:colId xmlns:a16="http://schemas.microsoft.com/office/drawing/2014/main" val="1013906379"/>
                        </a:ext>
                      </a:extLst>
                    </a:gridCol>
                    <a:gridCol w="404213">
                      <a:extLst>
                        <a:ext uri="{9D8B030D-6E8A-4147-A177-3AD203B41FA5}">
                          <a16:colId xmlns:a16="http://schemas.microsoft.com/office/drawing/2014/main" val="3802836734"/>
                        </a:ext>
                      </a:extLst>
                    </a:gridCol>
                    <a:gridCol w="404213">
                      <a:extLst>
                        <a:ext uri="{9D8B030D-6E8A-4147-A177-3AD203B41FA5}">
                          <a16:colId xmlns:a16="http://schemas.microsoft.com/office/drawing/2014/main" val="2156197616"/>
                        </a:ext>
                      </a:extLst>
                    </a:gridCol>
                    <a:gridCol w="404213">
                      <a:extLst>
                        <a:ext uri="{9D8B030D-6E8A-4147-A177-3AD203B41FA5}">
                          <a16:colId xmlns:a16="http://schemas.microsoft.com/office/drawing/2014/main" val="3816659728"/>
                        </a:ext>
                      </a:extLst>
                    </a:gridCol>
                    <a:gridCol w="404213">
                      <a:extLst>
                        <a:ext uri="{9D8B030D-6E8A-4147-A177-3AD203B41FA5}">
                          <a16:colId xmlns:a16="http://schemas.microsoft.com/office/drawing/2014/main" val="1454761632"/>
                        </a:ext>
                      </a:extLst>
                    </a:gridCol>
                    <a:gridCol w="404213">
                      <a:extLst>
                        <a:ext uri="{9D8B030D-6E8A-4147-A177-3AD203B41FA5}">
                          <a16:colId xmlns:a16="http://schemas.microsoft.com/office/drawing/2014/main" val="2604031584"/>
                        </a:ext>
                      </a:extLst>
                    </a:gridCol>
                    <a:gridCol w="404213">
                      <a:extLst>
                        <a:ext uri="{9D8B030D-6E8A-4147-A177-3AD203B41FA5}">
                          <a16:colId xmlns:a16="http://schemas.microsoft.com/office/drawing/2014/main" val="1905127045"/>
                        </a:ext>
                      </a:extLst>
                    </a:gridCol>
                    <a:gridCol w="404213">
                      <a:extLst>
                        <a:ext uri="{9D8B030D-6E8A-4147-A177-3AD203B41FA5}">
                          <a16:colId xmlns:a16="http://schemas.microsoft.com/office/drawing/2014/main" val="1133507880"/>
                        </a:ext>
                      </a:extLst>
                    </a:gridCol>
                    <a:gridCol w="404848">
                      <a:extLst>
                        <a:ext uri="{9D8B030D-6E8A-4147-A177-3AD203B41FA5}">
                          <a16:colId xmlns:a16="http://schemas.microsoft.com/office/drawing/2014/main" val="119701418"/>
                        </a:ext>
                      </a:extLst>
                    </a:gridCol>
                  </a:tblGrid>
                  <a:tr h="353695">
                    <a:tc>
                      <a:txBody>
                        <a:bodyPr/>
                        <a:lstStyle/>
                        <a:p>
                          <a:endParaRPr lang="en-US"/>
                        </a:p>
                      </a:txBody>
                      <a:tcPr marL="68580" marR="68580" marT="0" marB="0" anchor="ctr">
                        <a:blipFill>
                          <a:blip r:embed="rId5"/>
                          <a:stretch>
                            <a:fillRect l="-1515" t="-1724" r="-807576" b="-201724"/>
                          </a:stretch>
                        </a:blipFill>
                      </a:tcPr>
                    </a:tc>
                    <a:tc>
                      <a:txBody>
                        <a:bodyPr/>
                        <a:lstStyle/>
                        <a:p>
                          <a:endParaRPr lang="en-US"/>
                        </a:p>
                      </a:txBody>
                      <a:tcPr marL="68580" marR="68580" marT="0" marB="0" anchor="ctr">
                        <a:blipFill>
                          <a:blip r:embed="rId5"/>
                          <a:stretch>
                            <a:fillRect l="-100000" t="-1724" r="-695522" b="-201724"/>
                          </a:stretch>
                        </a:blipFill>
                      </a:tcPr>
                    </a:tc>
                    <a:tc>
                      <a:txBody>
                        <a:bodyPr/>
                        <a:lstStyle/>
                        <a:p>
                          <a:endParaRPr lang="en-US"/>
                        </a:p>
                      </a:txBody>
                      <a:tcPr marL="68580" marR="68580" marT="0" marB="0" anchor="ctr">
                        <a:blipFill>
                          <a:blip r:embed="rId5"/>
                          <a:stretch>
                            <a:fillRect l="-203030" t="-1724" r="-606061" b="-201724"/>
                          </a:stretch>
                        </a:blipFill>
                      </a:tcPr>
                    </a:tc>
                    <a:tc>
                      <a:txBody>
                        <a:bodyPr/>
                        <a:lstStyle/>
                        <a:p>
                          <a:endParaRPr lang="en-US"/>
                        </a:p>
                      </a:txBody>
                      <a:tcPr marL="68580" marR="68580" marT="0" marB="0" anchor="ctr">
                        <a:blipFill>
                          <a:blip r:embed="rId5"/>
                          <a:stretch>
                            <a:fillRect l="-298507" t="-1724" r="-497015" b="-201724"/>
                          </a:stretch>
                        </a:blipFill>
                      </a:tcPr>
                    </a:tc>
                    <a:tc>
                      <a:txBody>
                        <a:bodyPr/>
                        <a:lstStyle/>
                        <a:p>
                          <a:endParaRPr lang="en-US"/>
                        </a:p>
                      </a:txBody>
                      <a:tcPr marL="68580" marR="68580" marT="0" marB="0" anchor="ctr">
                        <a:blipFill>
                          <a:blip r:embed="rId5"/>
                          <a:stretch>
                            <a:fillRect l="-404545" t="-1724" r="-404545" b="-201724"/>
                          </a:stretch>
                        </a:blipFill>
                      </a:tcPr>
                    </a:tc>
                    <a:tc>
                      <a:txBody>
                        <a:bodyPr/>
                        <a:lstStyle/>
                        <a:p>
                          <a:endParaRPr lang="en-US"/>
                        </a:p>
                      </a:txBody>
                      <a:tcPr marL="68580" marR="68580" marT="0" marB="0" anchor="ctr">
                        <a:blipFill>
                          <a:blip r:embed="rId5"/>
                          <a:stretch>
                            <a:fillRect l="-497015" t="-1724" r="-298507" b="-201724"/>
                          </a:stretch>
                        </a:blipFill>
                      </a:tcPr>
                    </a:tc>
                    <a:tc>
                      <a:txBody>
                        <a:bodyPr/>
                        <a:lstStyle/>
                        <a:p>
                          <a:endParaRPr lang="en-US"/>
                        </a:p>
                      </a:txBody>
                      <a:tcPr marL="68580" marR="68580" marT="0" marB="0" anchor="ctr">
                        <a:blipFill>
                          <a:blip r:embed="rId5"/>
                          <a:stretch>
                            <a:fillRect l="-606061" t="-1724" r="-203030" b="-201724"/>
                          </a:stretch>
                        </a:blipFill>
                      </a:tcPr>
                    </a:tc>
                    <a:tc>
                      <a:txBody>
                        <a:bodyPr/>
                        <a:lstStyle/>
                        <a:p>
                          <a:endParaRPr lang="en-US"/>
                        </a:p>
                      </a:txBody>
                      <a:tcPr marL="68580" marR="68580" marT="0" marB="0" anchor="ctr">
                        <a:blipFill>
                          <a:blip r:embed="rId5"/>
                          <a:stretch>
                            <a:fillRect l="-706061" t="-1724" r="-103030" b="-201724"/>
                          </a:stretch>
                        </a:blipFill>
                      </a:tcPr>
                    </a:tc>
                    <a:tc>
                      <a:txBody>
                        <a:bodyPr/>
                        <a:lstStyle/>
                        <a:p>
                          <a:endParaRPr lang="en-US"/>
                        </a:p>
                      </a:txBody>
                      <a:tcPr marL="68580" marR="68580" marT="0" marB="0" anchor="ctr">
                        <a:blipFill>
                          <a:blip r:embed="rId5"/>
                          <a:stretch>
                            <a:fillRect l="-794030" t="-1724" r="-1493" b="-201724"/>
                          </a:stretch>
                        </a:blipFill>
                      </a:tcPr>
                    </a:tc>
                    <a:extLst>
                      <a:ext uri="{0D108BD9-81ED-4DB2-BD59-A6C34878D82A}">
                        <a16:rowId xmlns:a16="http://schemas.microsoft.com/office/drawing/2014/main" val="501474467"/>
                      </a:ext>
                    </a:extLst>
                  </a:tr>
                  <a:tr h="341630">
                    <a:tc>
                      <a:txBody>
                        <a:bodyPr/>
                        <a:lstStyle/>
                        <a:p>
                          <a:endParaRPr lang="en-US"/>
                        </a:p>
                      </a:txBody>
                      <a:tcPr marL="68580" marR="68580" marT="0" marB="0" anchor="ctr">
                        <a:blipFill>
                          <a:blip r:embed="rId5"/>
                          <a:stretch>
                            <a:fillRect l="-1515" t="-103509" r="-807576" b="-105263"/>
                          </a:stretch>
                        </a:blipFill>
                      </a:tcPr>
                    </a:tc>
                    <a:tc>
                      <a:txBody>
                        <a:bodyPr/>
                        <a:lstStyle/>
                        <a:p>
                          <a:endParaRPr lang="en-US"/>
                        </a:p>
                      </a:txBody>
                      <a:tcPr marL="68580" marR="68580" marT="0" marB="0" anchor="ctr">
                        <a:blipFill>
                          <a:blip r:embed="rId5"/>
                          <a:stretch>
                            <a:fillRect l="-100000" t="-103509" r="-695522" b="-105263"/>
                          </a:stretch>
                        </a:blipFill>
                      </a:tcPr>
                    </a:tc>
                    <a:tc>
                      <a:txBody>
                        <a:bodyPr/>
                        <a:lstStyle/>
                        <a:p>
                          <a:endParaRPr lang="en-US"/>
                        </a:p>
                      </a:txBody>
                      <a:tcPr marL="68580" marR="68580" marT="0" marB="0" anchor="ctr">
                        <a:blipFill>
                          <a:blip r:embed="rId5"/>
                          <a:stretch>
                            <a:fillRect l="-203030" t="-103509" r="-606061" b="-105263"/>
                          </a:stretch>
                        </a:blipFill>
                      </a:tcPr>
                    </a:tc>
                    <a:tc>
                      <a:txBody>
                        <a:bodyPr/>
                        <a:lstStyle/>
                        <a:p>
                          <a:endParaRPr lang="en-US"/>
                        </a:p>
                      </a:txBody>
                      <a:tcPr marL="68580" marR="68580" marT="0" marB="0" anchor="ctr">
                        <a:blipFill>
                          <a:blip r:embed="rId5"/>
                          <a:stretch>
                            <a:fillRect l="-298507" t="-103509" r="-497015" b="-105263"/>
                          </a:stretch>
                        </a:blipFill>
                      </a:tcPr>
                    </a:tc>
                    <a:tc>
                      <a:txBody>
                        <a:bodyPr/>
                        <a:lstStyle/>
                        <a:p>
                          <a:endParaRPr lang="en-US"/>
                        </a:p>
                      </a:txBody>
                      <a:tcPr marL="68580" marR="68580" marT="0" marB="0" anchor="ctr">
                        <a:blipFill>
                          <a:blip r:embed="rId5"/>
                          <a:stretch>
                            <a:fillRect l="-404545" t="-103509" r="-404545" b="-105263"/>
                          </a:stretch>
                        </a:blipFill>
                      </a:tcPr>
                    </a:tc>
                    <a:tc>
                      <a:txBody>
                        <a:bodyPr/>
                        <a:lstStyle/>
                        <a:p>
                          <a:endParaRPr lang="en-US"/>
                        </a:p>
                      </a:txBody>
                      <a:tcPr marL="68580" marR="68580" marT="0" marB="0" anchor="ctr">
                        <a:blipFill>
                          <a:blip r:embed="rId5"/>
                          <a:stretch>
                            <a:fillRect l="-497015" t="-103509" r="-298507" b="-105263"/>
                          </a:stretch>
                        </a:blipFill>
                      </a:tcPr>
                    </a:tc>
                    <a:tc>
                      <a:txBody>
                        <a:bodyPr/>
                        <a:lstStyle/>
                        <a:p>
                          <a:endParaRPr lang="en-US"/>
                        </a:p>
                      </a:txBody>
                      <a:tcPr marL="68580" marR="68580" marT="0" marB="0" anchor="ctr">
                        <a:blipFill>
                          <a:blip r:embed="rId5"/>
                          <a:stretch>
                            <a:fillRect l="-606061" t="-103509" r="-203030" b="-105263"/>
                          </a:stretch>
                        </a:blipFill>
                      </a:tcPr>
                    </a:tc>
                    <a:tc>
                      <a:txBody>
                        <a:bodyPr/>
                        <a:lstStyle/>
                        <a:p>
                          <a:endParaRPr lang="en-US"/>
                        </a:p>
                      </a:txBody>
                      <a:tcPr marL="68580" marR="68580" marT="0" marB="0" anchor="ctr">
                        <a:blipFill>
                          <a:blip r:embed="rId5"/>
                          <a:stretch>
                            <a:fillRect l="-706061" t="-103509" r="-103030" b="-105263"/>
                          </a:stretch>
                        </a:blipFill>
                      </a:tcPr>
                    </a:tc>
                    <a:tc>
                      <a:txBody>
                        <a:bodyPr/>
                        <a:lstStyle/>
                        <a:p>
                          <a:endParaRPr lang="en-US"/>
                        </a:p>
                      </a:txBody>
                      <a:tcPr marL="68580" marR="68580" marT="0" marB="0" anchor="ctr">
                        <a:blipFill>
                          <a:blip r:embed="rId5"/>
                          <a:stretch>
                            <a:fillRect l="-794030" t="-103509" r="-1493" b="-105263"/>
                          </a:stretch>
                        </a:blipFill>
                      </a:tcPr>
                    </a:tc>
                    <a:extLst>
                      <a:ext uri="{0D108BD9-81ED-4DB2-BD59-A6C34878D82A}">
                        <a16:rowId xmlns:a16="http://schemas.microsoft.com/office/drawing/2014/main" val="1628311266"/>
                      </a:ext>
                    </a:extLst>
                  </a:tr>
                  <a:tr h="353695">
                    <a:tc>
                      <a:txBody>
                        <a:bodyPr/>
                        <a:lstStyle/>
                        <a:p>
                          <a:endParaRPr lang="en-US"/>
                        </a:p>
                      </a:txBody>
                      <a:tcPr marL="68580" marR="68580" marT="0" marB="0" anchor="ctr">
                        <a:blipFill>
                          <a:blip r:embed="rId5"/>
                          <a:stretch>
                            <a:fillRect l="-1515" t="-200000" r="-807576" b="-3448"/>
                          </a:stretch>
                        </a:blipFill>
                      </a:tcPr>
                    </a:tc>
                    <a:tc>
                      <a:txBody>
                        <a:bodyPr/>
                        <a:lstStyle/>
                        <a:p>
                          <a:endParaRPr lang="en-US"/>
                        </a:p>
                      </a:txBody>
                      <a:tcPr marL="68580" marR="68580" marT="0" marB="0" anchor="ctr">
                        <a:blipFill>
                          <a:blip r:embed="rId5"/>
                          <a:stretch>
                            <a:fillRect l="-100000" t="-200000" r="-695522" b="-3448"/>
                          </a:stretch>
                        </a:blipFill>
                      </a:tcPr>
                    </a:tc>
                    <a:tc>
                      <a:txBody>
                        <a:bodyPr/>
                        <a:lstStyle/>
                        <a:p>
                          <a:endParaRPr lang="en-US"/>
                        </a:p>
                      </a:txBody>
                      <a:tcPr marL="68580" marR="68580" marT="0" marB="0" anchor="ctr">
                        <a:blipFill>
                          <a:blip r:embed="rId5"/>
                          <a:stretch>
                            <a:fillRect l="-203030" t="-200000" r="-606061" b="-3448"/>
                          </a:stretch>
                        </a:blipFill>
                      </a:tcPr>
                    </a:tc>
                    <a:tc>
                      <a:txBody>
                        <a:bodyPr/>
                        <a:lstStyle/>
                        <a:p>
                          <a:endParaRPr lang="en-US"/>
                        </a:p>
                      </a:txBody>
                      <a:tcPr marL="68580" marR="68580" marT="0" marB="0" anchor="ctr">
                        <a:blipFill>
                          <a:blip r:embed="rId5"/>
                          <a:stretch>
                            <a:fillRect l="-298507" t="-200000" r="-497015" b="-3448"/>
                          </a:stretch>
                        </a:blipFill>
                      </a:tcPr>
                    </a:tc>
                    <a:tc>
                      <a:txBody>
                        <a:bodyPr/>
                        <a:lstStyle/>
                        <a:p>
                          <a:endParaRPr lang="en-US"/>
                        </a:p>
                      </a:txBody>
                      <a:tcPr marL="68580" marR="68580" marT="0" marB="0" anchor="ctr">
                        <a:blipFill>
                          <a:blip r:embed="rId5"/>
                          <a:stretch>
                            <a:fillRect l="-404545" t="-200000" r="-404545" b="-3448"/>
                          </a:stretch>
                        </a:blipFill>
                      </a:tcPr>
                    </a:tc>
                    <a:tc>
                      <a:txBody>
                        <a:bodyPr/>
                        <a:lstStyle/>
                        <a:p>
                          <a:endParaRPr lang="en-US"/>
                        </a:p>
                      </a:txBody>
                      <a:tcPr marL="68580" marR="68580" marT="0" marB="0" anchor="ctr">
                        <a:blipFill>
                          <a:blip r:embed="rId5"/>
                          <a:stretch>
                            <a:fillRect l="-497015" t="-200000" r="-298507" b="-3448"/>
                          </a:stretch>
                        </a:blipFill>
                      </a:tcPr>
                    </a:tc>
                    <a:tc>
                      <a:txBody>
                        <a:bodyPr/>
                        <a:lstStyle/>
                        <a:p>
                          <a:endParaRPr lang="en-US"/>
                        </a:p>
                      </a:txBody>
                      <a:tcPr marL="68580" marR="68580" marT="0" marB="0" anchor="ctr">
                        <a:blipFill>
                          <a:blip r:embed="rId5"/>
                          <a:stretch>
                            <a:fillRect l="-606061" t="-200000" r="-203030" b="-3448"/>
                          </a:stretch>
                        </a:blipFill>
                      </a:tcPr>
                    </a:tc>
                    <a:tc gridSpan="2">
                      <a:txBody>
                        <a:bodyPr/>
                        <a:lstStyle/>
                        <a:p>
                          <a:pPr marL="0" marR="0" algn="ctr">
                            <a:lnSpc>
                              <a:spcPct val="107000"/>
                            </a:lnSpc>
                            <a:spcBef>
                              <a:spcPts val="0"/>
                            </a:spcBef>
                            <a:spcAft>
                              <a:spcPts val="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836304663"/>
                      </a:ext>
                    </a:extLst>
                  </a:tr>
                </a:tbl>
              </a:graphicData>
            </a:graphic>
          </p:graphicFrame>
        </mc:Fallback>
      </mc:AlternateContent>
      <p:sp>
        <p:nvSpPr>
          <p:cNvPr id="9" name="TextBox 8">
            <a:extLst>
              <a:ext uri="{FF2B5EF4-FFF2-40B4-BE49-F238E27FC236}">
                <a16:creationId xmlns:a16="http://schemas.microsoft.com/office/drawing/2014/main" xmlns="" id="{C88AA6A3-CD74-0341-BC29-6E5708FFBCAD}"/>
              </a:ext>
            </a:extLst>
          </p:cNvPr>
          <p:cNvSpPr txBox="1"/>
          <p:nvPr/>
        </p:nvSpPr>
        <p:spPr>
          <a:xfrm>
            <a:off x="555172" y="3248603"/>
            <a:ext cx="7358743" cy="3785652"/>
          </a:xfrm>
          <a:prstGeom prst="rect">
            <a:avLst/>
          </a:prstGeom>
          <a:noFill/>
        </p:spPr>
        <p:txBody>
          <a:bodyPr wrap="square">
            <a:spAutoFit/>
          </a:bodyPr>
          <a:lstStyle/>
          <a:p>
            <a:pPr marL="914400" lvl="1" indent="-50482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five-number summary of the data set.</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Minimum: _____________</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858838" indent="55563"/>
            <a:r>
              <a:rPr lang="en-US" sz="2000" dirty="0">
                <a:latin typeface="Verdana" panose="020B0604030504040204" pitchFamily="34" charset="0"/>
                <a:ea typeface="Verdana" panose="020B0604030504040204" pitchFamily="34" charset="0"/>
                <a:cs typeface="Verdana" panose="020B0604030504040204" pitchFamily="34" charset="0"/>
              </a:rPr>
              <a:t>First quartile: _____________</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Median: _____________</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Third quartile: _____________</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Maximum: _____________</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205</a:t>
            </a:r>
          </a:p>
        </p:txBody>
      </p:sp>
    </p:spTree>
    <p:extLst>
      <p:ext uri="{BB962C8B-B14F-4D97-AF65-F5344CB8AC3E}">
        <p14:creationId xmlns:p14="http://schemas.microsoft.com/office/powerpoint/2010/main" val="3791894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0558"/>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A3BC97A7-8575-5A46-8E72-A886A83AEC7E}"/>
              </a:ext>
            </a:extLst>
          </p:cNvPr>
          <p:cNvSpPr txBox="1"/>
          <p:nvPr/>
        </p:nvSpPr>
        <p:spPr>
          <a:xfrm>
            <a:off x="540375" y="386282"/>
            <a:ext cx="10570029" cy="6032421"/>
          </a:xfrm>
          <a:prstGeom prst="rect">
            <a:avLst/>
          </a:prstGeom>
          <a:noFill/>
        </p:spPr>
        <p:txBody>
          <a:bodyPr wrap="square" rtlCol="0">
            <a:spAutoFit/>
          </a:bodyPr>
          <a:lstStyle/>
          <a:p>
            <a:pPr marL="914400" lvl="1" indent="-44767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the data may not be a true representation of the birth weight of all puppies.</a:t>
            </a: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44500" indent="-4445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What differences did you notice when calculating the five-number summary for the two different data sets?</a:t>
            </a:r>
          </a:p>
          <a:p>
            <a:r>
              <a:rPr lang="en-US" dirty="0"/>
              <a:t/>
            </a:r>
            <a:br>
              <a:rPr lang="en-US" dirty="0"/>
            </a:br>
            <a:endParaRPr lang="en-US" sz="1200" dirty="0"/>
          </a:p>
          <a:p>
            <a:pPr marL="466725" lvl="1"/>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lvl="1"/>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lvl="1"/>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lvl="1"/>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lvl="1"/>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lvl="1"/>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205</a:t>
            </a:r>
          </a:p>
        </p:txBody>
      </p:sp>
    </p:spTree>
    <p:extLst>
      <p:ext uri="{BB962C8B-B14F-4D97-AF65-F5344CB8AC3E}">
        <p14:creationId xmlns:p14="http://schemas.microsoft.com/office/powerpoint/2010/main" val="2346538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A3BC97A7-8575-5A46-8E72-A886A83AEC7E}"/>
              </a:ext>
            </a:extLst>
          </p:cNvPr>
          <p:cNvSpPr txBox="1"/>
          <p:nvPr/>
        </p:nvSpPr>
        <p:spPr>
          <a:xfrm>
            <a:off x="500743" y="386281"/>
            <a:ext cx="9758825" cy="5632311"/>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An illustration of the five-number summary for an even data set is shown.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An illustration of the five-number summary for an odd data set is shown.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nvGrpSpPr>
          <p:cNvPr id="6" name="Group 5">
            <a:extLst>
              <a:ext uri="{FF2B5EF4-FFF2-40B4-BE49-F238E27FC236}">
                <a16:creationId xmlns:a16="http://schemas.microsoft.com/office/drawing/2014/main" xmlns="" id="{12F8E3C7-6412-0C4D-8CCE-1EDA8FE1EC9D}"/>
              </a:ext>
            </a:extLst>
          </p:cNvPr>
          <p:cNvGrpSpPr/>
          <p:nvPr/>
        </p:nvGrpSpPr>
        <p:grpSpPr>
          <a:xfrm>
            <a:off x="3695700" y="1153668"/>
            <a:ext cx="4800600" cy="1943100"/>
            <a:chOff x="2945700" y="2808450"/>
            <a:chExt cx="4800600" cy="1943100"/>
          </a:xfrm>
        </p:grpSpPr>
        <p:grpSp>
          <p:nvGrpSpPr>
            <p:cNvPr id="7" name="Group 6">
              <a:extLst>
                <a:ext uri="{FF2B5EF4-FFF2-40B4-BE49-F238E27FC236}">
                  <a16:creationId xmlns:a16="http://schemas.microsoft.com/office/drawing/2014/main" xmlns="" id="{DE373452-62E3-0F42-8AE6-A5F423ED5EBA}"/>
                </a:ext>
              </a:extLst>
            </p:cNvPr>
            <p:cNvGrpSpPr/>
            <p:nvPr/>
          </p:nvGrpSpPr>
          <p:grpSpPr>
            <a:xfrm>
              <a:off x="2945700" y="2808450"/>
              <a:ext cx="4800600" cy="1943100"/>
              <a:chOff x="0" y="0"/>
              <a:chExt cx="4800600" cy="1943100"/>
            </a:xfrm>
          </p:grpSpPr>
          <p:sp>
            <p:nvSpPr>
              <p:cNvPr id="8" name="Rectangle 7">
                <a:extLst>
                  <a:ext uri="{FF2B5EF4-FFF2-40B4-BE49-F238E27FC236}">
                    <a16:creationId xmlns:a16="http://schemas.microsoft.com/office/drawing/2014/main" xmlns="" id="{AB657EB7-B2CD-164C-8515-2784591907C0}"/>
                  </a:ext>
                </a:extLst>
              </p:cNvPr>
              <p:cNvSpPr/>
              <p:nvPr/>
            </p:nvSpPr>
            <p:spPr>
              <a:xfrm>
                <a:off x="0" y="0"/>
                <a:ext cx="4800600" cy="1943100"/>
              </a:xfrm>
              <a:prstGeom prst="rect">
                <a:avLst/>
              </a:prstGeom>
              <a:noFill/>
              <a:ln>
                <a:noFill/>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cxnSp>
            <p:nvCxnSpPr>
              <p:cNvPr id="9" name="Straight Arrow Connector 8">
                <a:extLst>
                  <a:ext uri="{FF2B5EF4-FFF2-40B4-BE49-F238E27FC236}">
                    <a16:creationId xmlns:a16="http://schemas.microsoft.com/office/drawing/2014/main" xmlns="" id="{2B094100-9313-4347-8D4C-CB0E5F4A9C9C}"/>
                  </a:ext>
                </a:extLst>
              </p:cNvPr>
              <p:cNvCxnSpPr/>
              <p:nvPr/>
            </p:nvCxnSpPr>
            <p:spPr>
              <a:xfrm rot="10800000">
                <a:off x="1143000" y="1143000"/>
                <a:ext cx="0" cy="342900"/>
              </a:xfrm>
              <a:prstGeom prst="straightConnector1">
                <a:avLst/>
              </a:prstGeom>
              <a:noFill/>
              <a:ln w="12700" cap="flat" cmpd="sng">
                <a:solidFill>
                  <a:srgbClr val="000000"/>
                </a:solidFill>
                <a:prstDash val="solid"/>
                <a:miter lim="800000"/>
                <a:headEnd type="none" w="sm" len="sm"/>
                <a:tailEnd type="stealth" w="med" len="med"/>
              </a:ln>
            </p:spPr>
          </p:cxnSp>
          <p:cxnSp>
            <p:nvCxnSpPr>
              <p:cNvPr id="10" name="Straight Arrow Connector 9">
                <a:extLst>
                  <a:ext uri="{FF2B5EF4-FFF2-40B4-BE49-F238E27FC236}">
                    <a16:creationId xmlns:a16="http://schemas.microsoft.com/office/drawing/2014/main" xmlns="" id="{815B99C6-8E16-AC4C-842C-66FA1E94975E}"/>
                  </a:ext>
                </a:extLst>
              </p:cNvPr>
              <p:cNvCxnSpPr/>
              <p:nvPr/>
            </p:nvCxnSpPr>
            <p:spPr>
              <a:xfrm rot="10800000">
                <a:off x="3657600" y="1143000"/>
                <a:ext cx="0" cy="342900"/>
              </a:xfrm>
              <a:prstGeom prst="straightConnector1">
                <a:avLst/>
              </a:prstGeom>
              <a:noFill/>
              <a:ln w="12700" cap="flat" cmpd="sng">
                <a:solidFill>
                  <a:srgbClr val="000000"/>
                </a:solidFill>
                <a:prstDash val="solid"/>
                <a:miter lim="800000"/>
                <a:headEnd type="none" w="sm" len="sm"/>
                <a:tailEnd type="stealth" w="med" len="med"/>
              </a:ln>
            </p:spPr>
          </p:cxnSp>
          <p:cxnSp>
            <p:nvCxnSpPr>
              <p:cNvPr id="11" name="Straight Arrow Connector 10">
                <a:extLst>
                  <a:ext uri="{FF2B5EF4-FFF2-40B4-BE49-F238E27FC236}">
                    <a16:creationId xmlns:a16="http://schemas.microsoft.com/office/drawing/2014/main" xmlns="" id="{6F6E065E-1ECF-E641-ADC2-96A9AEE65F9C}"/>
                  </a:ext>
                </a:extLst>
              </p:cNvPr>
              <p:cNvCxnSpPr/>
              <p:nvPr/>
            </p:nvCxnSpPr>
            <p:spPr>
              <a:xfrm rot="10800000">
                <a:off x="2400300" y="1143000"/>
                <a:ext cx="0" cy="342900"/>
              </a:xfrm>
              <a:prstGeom prst="straightConnector1">
                <a:avLst/>
              </a:prstGeom>
              <a:noFill/>
              <a:ln w="12700" cap="flat" cmpd="sng">
                <a:solidFill>
                  <a:srgbClr val="000000"/>
                </a:solidFill>
                <a:prstDash val="solid"/>
                <a:miter lim="800000"/>
                <a:headEnd type="none" w="sm" len="sm"/>
                <a:tailEnd type="stealth" w="med" len="med"/>
              </a:ln>
            </p:spPr>
          </p:cxnSp>
          <p:sp>
            <p:nvSpPr>
              <p:cNvPr id="13" name="Rounded Rectangle 12">
                <a:extLst>
                  <a:ext uri="{FF2B5EF4-FFF2-40B4-BE49-F238E27FC236}">
                    <a16:creationId xmlns:a16="http://schemas.microsoft.com/office/drawing/2014/main" xmlns="" id="{EAF4F7BA-DBD0-CC44-8B5F-F265A857360B}"/>
                  </a:ext>
                </a:extLst>
              </p:cNvPr>
              <p:cNvSpPr/>
              <p:nvPr/>
            </p:nvSpPr>
            <p:spPr>
              <a:xfrm>
                <a:off x="5715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4" name="Rounded Rectangle 13">
                <a:extLst>
                  <a:ext uri="{FF2B5EF4-FFF2-40B4-BE49-F238E27FC236}">
                    <a16:creationId xmlns:a16="http://schemas.microsoft.com/office/drawing/2014/main" xmlns="" id="{A22DD579-E8EE-EE44-94C3-E1B47A32655A}"/>
                  </a:ext>
                </a:extLst>
              </p:cNvPr>
              <p:cNvSpPr/>
              <p:nvPr/>
            </p:nvSpPr>
            <p:spPr>
              <a:xfrm>
                <a:off x="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5" name="Rounded Rectangle 14">
                <a:extLst>
                  <a:ext uri="{FF2B5EF4-FFF2-40B4-BE49-F238E27FC236}">
                    <a16:creationId xmlns:a16="http://schemas.microsoft.com/office/drawing/2014/main" xmlns="" id="{E06AA80F-596B-604E-A595-86A763D1452D}"/>
                  </a:ext>
                </a:extLst>
              </p:cNvPr>
              <p:cNvSpPr/>
              <p:nvPr/>
            </p:nvSpPr>
            <p:spPr>
              <a:xfrm>
                <a:off x="43434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6" name="Rounded Rectangle 15">
                <a:extLst>
                  <a:ext uri="{FF2B5EF4-FFF2-40B4-BE49-F238E27FC236}">
                    <a16:creationId xmlns:a16="http://schemas.microsoft.com/office/drawing/2014/main" xmlns="" id="{FAA89ADD-226E-F043-B565-A5DB6AC941C4}"/>
                  </a:ext>
                </a:extLst>
              </p:cNvPr>
              <p:cNvSpPr/>
              <p:nvPr/>
            </p:nvSpPr>
            <p:spPr>
              <a:xfrm>
                <a:off x="37719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7" name="Rounded Rectangle 16">
                <a:extLst>
                  <a:ext uri="{FF2B5EF4-FFF2-40B4-BE49-F238E27FC236}">
                    <a16:creationId xmlns:a16="http://schemas.microsoft.com/office/drawing/2014/main" xmlns="" id="{81823C3C-7EFB-8E41-8C5B-4C72CAFED229}"/>
                  </a:ext>
                </a:extLst>
              </p:cNvPr>
              <p:cNvSpPr/>
              <p:nvPr/>
            </p:nvSpPr>
            <p:spPr>
              <a:xfrm>
                <a:off x="30861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8" name="Rounded Rectangle 17">
                <a:extLst>
                  <a:ext uri="{FF2B5EF4-FFF2-40B4-BE49-F238E27FC236}">
                    <a16:creationId xmlns:a16="http://schemas.microsoft.com/office/drawing/2014/main" xmlns="" id="{C1149A2D-5FA6-5148-BB04-7E6C2012BD57}"/>
                  </a:ext>
                </a:extLst>
              </p:cNvPr>
              <p:cNvSpPr/>
              <p:nvPr/>
            </p:nvSpPr>
            <p:spPr>
              <a:xfrm>
                <a:off x="25146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9" name="Rounded Rectangle 18">
                <a:extLst>
                  <a:ext uri="{FF2B5EF4-FFF2-40B4-BE49-F238E27FC236}">
                    <a16:creationId xmlns:a16="http://schemas.microsoft.com/office/drawing/2014/main" xmlns="" id="{8D7E1FAD-DA66-E247-BB53-81E0EAD37AD3}"/>
                  </a:ext>
                </a:extLst>
              </p:cNvPr>
              <p:cNvSpPr/>
              <p:nvPr/>
            </p:nvSpPr>
            <p:spPr>
              <a:xfrm>
                <a:off x="18288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20" name="Rounded Rectangle 19">
                <a:extLst>
                  <a:ext uri="{FF2B5EF4-FFF2-40B4-BE49-F238E27FC236}">
                    <a16:creationId xmlns:a16="http://schemas.microsoft.com/office/drawing/2014/main" xmlns="" id="{46F6D895-0E3B-BA42-B6E8-B1429CA85669}"/>
                  </a:ext>
                </a:extLst>
              </p:cNvPr>
              <p:cNvSpPr/>
              <p:nvPr/>
            </p:nvSpPr>
            <p:spPr>
              <a:xfrm>
                <a:off x="12573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21" name="Rectangle 20">
                <a:extLst>
                  <a:ext uri="{FF2B5EF4-FFF2-40B4-BE49-F238E27FC236}">
                    <a16:creationId xmlns:a16="http://schemas.microsoft.com/office/drawing/2014/main" xmlns="" id="{D970FFB9-9BF9-EC40-AE39-B58910CD06E2}"/>
                  </a:ext>
                </a:extLst>
              </p:cNvPr>
              <p:cNvSpPr/>
              <p:nvPr/>
            </p:nvSpPr>
            <p:spPr>
              <a:xfrm>
                <a:off x="914400" y="1485900"/>
                <a:ext cx="457200" cy="457200"/>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22" name="Rectangle 21">
                <a:extLst>
                  <a:ext uri="{FF2B5EF4-FFF2-40B4-BE49-F238E27FC236}">
                    <a16:creationId xmlns:a16="http://schemas.microsoft.com/office/drawing/2014/main" xmlns="" id="{F3DCFC93-60BC-A842-A676-E575F2A6CAD9}"/>
                  </a:ext>
                </a:extLst>
              </p:cNvPr>
              <p:cNvSpPr/>
              <p:nvPr/>
            </p:nvSpPr>
            <p:spPr>
              <a:xfrm>
                <a:off x="3429000" y="1485900"/>
                <a:ext cx="457200" cy="457200"/>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23" name="Rectangle 22">
                <a:extLst>
                  <a:ext uri="{FF2B5EF4-FFF2-40B4-BE49-F238E27FC236}">
                    <a16:creationId xmlns:a16="http://schemas.microsoft.com/office/drawing/2014/main" xmlns="" id="{C36F95BD-B063-6640-AAFE-66C4E8494D7A}"/>
                  </a:ext>
                </a:extLst>
              </p:cNvPr>
              <p:cNvSpPr/>
              <p:nvPr/>
            </p:nvSpPr>
            <p:spPr>
              <a:xfrm>
                <a:off x="1943100" y="1485900"/>
                <a:ext cx="1143000" cy="457200"/>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r>
                  <a:rPr lang="en-US" sz="1800">
                    <a:latin typeface="Verdana" panose="020B0604030504040204" pitchFamily="34" charset="0"/>
                    <a:ea typeface="Verdana" panose="020B0604030504040204" pitchFamily="34" charset="0"/>
                    <a:cs typeface="Verdana" panose="020B0604030504040204" pitchFamily="34" charset="0"/>
                  </a:rPr>
                  <a:t>Median</a:t>
                </a:r>
                <a:endParaRPr lang="en-US" sz="1600">
                  <a:latin typeface="Cambria Math" panose="02040503050406030204" pitchFamily="18" charset="0"/>
                  <a:ea typeface="Cambria Math" panose="02040503050406030204" pitchFamily="18" charset="0"/>
                  <a:cs typeface="Cambria Math" panose="02040503050406030204" pitchFamily="18" charset="0"/>
                </a:endParaRPr>
              </a:p>
            </p:txBody>
          </p:sp>
          <p:sp>
            <p:nvSpPr>
              <p:cNvPr id="24" name="Left Bracket 23">
                <a:extLst>
                  <a:ext uri="{FF2B5EF4-FFF2-40B4-BE49-F238E27FC236}">
                    <a16:creationId xmlns:a16="http://schemas.microsoft.com/office/drawing/2014/main" xmlns="" id="{DE15BE5D-CFEC-5D48-AF01-449391D28744}"/>
                  </a:ext>
                </a:extLst>
              </p:cNvPr>
              <p:cNvSpPr/>
              <p:nvPr/>
            </p:nvSpPr>
            <p:spPr>
              <a:xfrm rot="5400000">
                <a:off x="1063625" y="-720725"/>
                <a:ext cx="159384" cy="2286000"/>
              </a:xfrm>
              <a:prstGeom prst="leftBracket">
                <a:avLst>
                  <a:gd name="adj" fmla="val 8333"/>
                </a:avLst>
              </a:prstGeom>
              <a:noFill/>
              <a:ln w="127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25" name="Left Bracket 24">
                <a:extLst>
                  <a:ext uri="{FF2B5EF4-FFF2-40B4-BE49-F238E27FC236}">
                    <a16:creationId xmlns:a16="http://schemas.microsoft.com/office/drawing/2014/main" xmlns="" id="{FF5E3E6B-236E-8645-87C2-EA319237C910}"/>
                  </a:ext>
                </a:extLst>
              </p:cNvPr>
              <p:cNvSpPr/>
              <p:nvPr/>
            </p:nvSpPr>
            <p:spPr>
              <a:xfrm rot="5400000">
                <a:off x="3578225" y="-720725"/>
                <a:ext cx="158750" cy="2286000"/>
              </a:xfrm>
              <a:prstGeom prst="leftBracket">
                <a:avLst>
                  <a:gd name="adj" fmla="val 8333"/>
                </a:avLst>
              </a:prstGeom>
              <a:noFill/>
              <a:ln w="127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26" name="Rectangle 25">
                <a:extLst>
                  <a:ext uri="{FF2B5EF4-FFF2-40B4-BE49-F238E27FC236}">
                    <a16:creationId xmlns:a16="http://schemas.microsoft.com/office/drawing/2014/main" xmlns="" id="{3B7DC2BB-A01B-5746-850F-558141008A7E}"/>
                  </a:ext>
                </a:extLst>
              </p:cNvPr>
              <p:cNvSpPr/>
              <p:nvPr/>
            </p:nvSpPr>
            <p:spPr>
              <a:xfrm>
                <a:off x="114300" y="0"/>
                <a:ext cx="2057400" cy="342900"/>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US" sz="1800" dirty="0">
                    <a:latin typeface="Verdana" panose="020B0604030504040204" pitchFamily="34" charset="0"/>
                    <a:ea typeface="Verdana" panose="020B0604030504040204" pitchFamily="34" charset="0"/>
                    <a:cs typeface="Verdana" panose="020B0604030504040204" pitchFamily="34" charset="0"/>
                  </a:rPr>
                  <a:t>Lower Half</a:t>
                </a: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27" name="Rectangle 26">
                <a:extLst>
                  <a:ext uri="{FF2B5EF4-FFF2-40B4-BE49-F238E27FC236}">
                    <a16:creationId xmlns:a16="http://schemas.microsoft.com/office/drawing/2014/main" xmlns="" id="{802BED07-DA6C-F747-97E6-6BEE453F9DCF}"/>
                  </a:ext>
                </a:extLst>
              </p:cNvPr>
              <p:cNvSpPr/>
              <p:nvPr/>
            </p:nvSpPr>
            <p:spPr>
              <a:xfrm>
                <a:off x="2628900" y="0"/>
                <a:ext cx="2057400" cy="457200"/>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US" sz="1800">
                    <a:latin typeface="Verdana" panose="020B0604030504040204" pitchFamily="34" charset="0"/>
                    <a:ea typeface="Verdana" panose="020B0604030504040204" pitchFamily="34" charset="0"/>
                    <a:cs typeface="Verdana" panose="020B0604030504040204" pitchFamily="34" charset="0"/>
                  </a:rPr>
                  <a:t>Upper Half</a:t>
                </a:r>
                <a:endParaRPr lang="en-US" sz="1600">
                  <a:latin typeface="Cambria Math" panose="02040503050406030204" pitchFamily="18" charset="0"/>
                  <a:ea typeface="Cambria Math" panose="02040503050406030204" pitchFamily="18" charset="0"/>
                  <a:cs typeface="Cambria Math" panose="02040503050406030204" pitchFamily="18" charset="0"/>
                </a:endParaRPr>
              </a:p>
            </p:txBody>
          </p:sp>
        </p:grpSp>
      </p:grpSp>
      <p:grpSp>
        <p:nvGrpSpPr>
          <p:cNvPr id="28" name="Group 27">
            <a:extLst>
              <a:ext uri="{FF2B5EF4-FFF2-40B4-BE49-F238E27FC236}">
                <a16:creationId xmlns:a16="http://schemas.microsoft.com/office/drawing/2014/main" xmlns="" id="{7A4A221C-2CC9-8F4A-BBD5-EE54AE2CD40A}"/>
              </a:ext>
            </a:extLst>
          </p:cNvPr>
          <p:cNvGrpSpPr/>
          <p:nvPr/>
        </p:nvGrpSpPr>
        <p:grpSpPr>
          <a:xfrm>
            <a:off x="3009900" y="4172450"/>
            <a:ext cx="6172200" cy="2176145"/>
            <a:chOff x="2259900" y="2691928"/>
            <a:chExt cx="6172200" cy="2176145"/>
          </a:xfrm>
        </p:grpSpPr>
        <p:grpSp>
          <p:nvGrpSpPr>
            <p:cNvPr id="29" name="Group 28">
              <a:extLst>
                <a:ext uri="{FF2B5EF4-FFF2-40B4-BE49-F238E27FC236}">
                  <a16:creationId xmlns:a16="http://schemas.microsoft.com/office/drawing/2014/main" xmlns="" id="{3CCE9AFB-7666-A749-91E7-8154861CD116}"/>
                </a:ext>
              </a:extLst>
            </p:cNvPr>
            <p:cNvGrpSpPr/>
            <p:nvPr/>
          </p:nvGrpSpPr>
          <p:grpSpPr>
            <a:xfrm>
              <a:off x="2259900" y="2691928"/>
              <a:ext cx="6172200" cy="2176145"/>
              <a:chOff x="0" y="0"/>
              <a:chExt cx="6172200" cy="1934351"/>
            </a:xfrm>
          </p:grpSpPr>
          <p:sp>
            <p:nvSpPr>
              <p:cNvPr id="30" name="Rectangle 29">
                <a:extLst>
                  <a:ext uri="{FF2B5EF4-FFF2-40B4-BE49-F238E27FC236}">
                    <a16:creationId xmlns:a16="http://schemas.microsoft.com/office/drawing/2014/main" xmlns="" id="{2A10C953-E7A4-EF4E-8391-C94BB97FD4A8}"/>
                  </a:ext>
                </a:extLst>
              </p:cNvPr>
              <p:cNvSpPr/>
              <p:nvPr/>
            </p:nvSpPr>
            <p:spPr>
              <a:xfrm>
                <a:off x="0" y="0"/>
                <a:ext cx="6172200" cy="1934350"/>
              </a:xfrm>
              <a:prstGeom prst="rect">
                <a:avLst/>
              </a:prstGeom>
              <a:noFill/>
              <a:ln>
                <a:noFill/>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31" name="Rounded Rectangle 30">
                <a:extLst>
                  <a:ext uri="{FF2B5EF4-FFF2-40B4-BE49-F238E27FC236}">
                    <a16:creationId xmlns:a16="http://schemas.microsoft.com/office/drawing/2014/main" xmlns="" id="{3C5E77AD-2FE7-6646-AD43-299C60AB573B}"/>
                  </a:ext>
                </a:extLst>
              </p:cNvPr>
              <p:cNvSpPr/>
              <p:nvPr/>
            </p:nvSpPr>
            <p:spPr>
              <a:xfrm>
                <a:off x="40005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cxnSp>
            <p:nvCxnSpPr>
              <p:cNvPr id="32" name="Straight Arrow Connector 31">
                <a:extLst>
                  <a:ext uri="{FF2B5EF4-FFF2-40B4-BE49-F238E27FC236}">
                    <a16:creationId xmlns:a16="http://schemas.microsoft.com/office/drawing/2014/main" xmlns="" id="{8255212F-1047-2A47-8187-6C9F89389E5D}"/>
                  </a:ext>
                </a:extLst>
              </p:cNvPr>
              <p:cNvCxnSpPr/>
              <p:nvPr/>
            </p:nvCxnSpPr>
            <p:spPr>
              <a:xfrm rot="10800000">
                <a:off x="4800600" y="1143000"/>
                <a:ext cx="0" cy="342900"/>
              </a:xfrm>
              <a:prstGeom prst="straightConnector1">
                <a:avLst/>
              </a:prstGeom>
              <a:noFill/>
              <a:ln w="12700" cap="flat" cmpd="sng">
                <a:solidFill>
                  <a:srgbClr val="000000"/>
                </a:solidFill>
                <a:prstDash val="solid"/>
                <a:miter lim="800000"/>
                <a:headEnd type="none" w="sm" len="sm"/>
                <a:tailEnd type="stealth" w="med" len="med"/>
              </a:ln>
            </p:spPr>
          </p:cxnSp>
          <p:cxnSp>
            <p:nvCxnSpPr>
              <p:cNvPr id="33" name="Straight Arrow Connector 32">
                <a:extLst>
                  <a:ext uri="{FF2B5EF4-FFF2-40B4-BE49-F238E27FC236}">
                    <a16:creationId xmlns:a16="http://schemas.microsoft.com/office/drawing/2014/main" xmlns="" id="{2D99C9CA-91AC-F745-888D-6C4D52B92DF7}"/>
                  </a:ext>
                </a:extLst>
              </p:cNvPr>
              <p:cNvCxnSpPr/>
              <p:nvPr/>
            </p:nvCxnSpPr>
            <p:spPr>
              <a:xfrm rot="10800000">
                <a:off x="3086100" y="1143000"/>
                <a:ext cx="0" cy="342900"/>
              </a:xfrm>
              <a:prstGeom prst="straightConnector1">
                <a:avLst/>
              </a:prstGeom>
              <a:noFill/>
              <a:ln w="12700" cap="flat" cmpd="sng">
                <a:solidFill>
                  <a:srgbClr val="000000"/>
                </a:solidFill>
                <a:prstDash val="solid"/>
                <a:miter lim="800000"/>
                <a:headEnd type="none" w="sm" len="sm"/>
                <a:tailEnd type="stealth" w="med" len="med"/>
              </a:ln>
            </p:spPr>
          </p:cxnSp>
          <p:cxnSp>
            <p:nvCxnSpPr>
              <p:cNvPr id="34" name="Straight Arrow Connector 33">
                <a:extLst>
                  <a:ext uri="{FF2B5EF4-FFF2-40B4-BE49-F238E27FC236}">
                    <a16:creationId xmlns:a16="http://schemas.microsoft.com/office/drawing/2014/main" xmlns="" id="{79798E2F-5D96-4B4B-833B-95766189C15C}"/>
                  </a:ext>
                </a:extLst>
              </p:cNvPr>
              <p:cNvCxnSpPr/>
              <p:nvPr/>
            </p:nvCxnSpPr>
            <p:spPr>
              <a:xfrm rot="10800000">
                <a:off x="1371600" y="1143000"/>
                <a:ext cx="0" cy="342900"/>
              </a:xfrm>
              <a:prstGeom prst="straightConnector1">
                <a:avLst/>
              </a:prstGeom>
              <a:noFill/>
              <a:ln w="12700" cap="flat" cmpd="sng">
                <a:solidFill>
                  <a:srgbClr val="000000"/>
                </a:solidFill>
                <a:prstDash val="solid"/>
                <a:miter lim="800000"/>
                <a:headEnd type="none" w="sm" len="sm"/>
                <a:tailEnd type="stealth" w="med" len="med"/>
              </a:ln>
            </p:spPr>
          </p:cxnSp>
          <p:sp>
            <p:nvSpPr>
              <p:cNvPr id="35" name="Rounded Rectangle 34">
                <a:extLst>
                  <a:ext uri="{FF2B5EF4-FFF2-40B4-BE49-F238E27FC236}">
                    <a16:creationId xmlns:a16="http://schemas.microsoft.com/office/drawing/2014/main" xmlns="" id="{BA3EE037-67EF-B440-935F-65FD047315C6}"/>
                  </a:ext>
                </a:extLst>
              </p:cNvPr>
              <p:cNvSpPr/>
              <p:nvPr/>
            </p:nvSpPr>
            <p:spPr>
              <a:xfrm>
                <a:off x="11430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36" name="Rounded Rectangle 35">
                <a:extLst>
                  <a:ext uri="{FF2B5EF4-FFF2-40B4-BE49-F238E27FC236}">
                    <a16:creationId xmlns:a16="http://schemas.microsoft.com/office/drawing/2014/main" xmlns="" id="{54E1C32A-00F4-BE4A-90D6-3800F9C95CCE}"/>
                  </a:ext>
                </a:extLst>
              </p:cNvPr>
              <p:cNvSpPr/>
              <p:nvPr/>
            </p:nvSpPr>
            <p:spPr>
              <a:xfrm>
                <a:off x="17145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37" name="Rounded Rectangle 36">
                <a:extLst>
                  <a:ext uri="{FF2B5EF4-FFF2-40B4-BE49-F238E27FC236}">
                    <a16:creationId xmlns:a16="http://schemas.microsoft.com/office/drawing/2014/main" xmlns="" id="{04BC3A1D-6EF5-6643-A402-20BB34FB1554}"/>
                  </a:ext>
                </a:extLst>
              </p:cNvPr>
              <p:cNvSpPr/>
              <p:nvPr/>
            </p:nvSpPr>
            <p:spPr>
              <a:xfrm>
                <a:off x="22860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38" name="Rounded Rectangle 37">
                <a:extLst>
                  <a:ext uri="{FF2B5EF4-FFF2-40B4-BE49-F238E27FC236}">
                    <a16:creationId xmlns:a16="http://schemas.microsoft.com/office/drawing/2014/main" xmlns="" id="{F3473821-985C-BD40-9EA4-1FFC7976B51A}"/>
                  </a:ext>
                </a:extLst>
              </p:cNvPr>
              <p:cNvSpPr/>
              <p:nvPr/>
            </p:nvSpPr>
            <p:spPr>
              <a:xfrm>
                <a:off x="51435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39" name="Rounded Rectangle 38">
                <a:extLst>
                  <a:ext uri="{FF2B5EF4-FFF2-40B4-BE49-F238E27FC236}">
                    <a16:creationId xmlns:a16="http://schemas.microsoft.com/office/drawing/2014/main" xmlns="" id="{45D981F2-0C32-FC42-9636-A25E293A7B8C}"/>
                  </a:ext>
                </a:extLst>
              </p:cNvPr>
              <p:cNvSpPr/>
              <p:nvPr/>
            </p:nvSpPr>
            <p:spPr>
              <a:xfrm>
                <a:off x="45720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40" name="Rounded Rectangle 39">
                <a:extLst>
                  <a:ext uri="{FF2B5EF4-FFF2-40B4-BE49-F238E27FC236}">
                    <a16:creationId xmlns:a16="http://schemas.microsoft.com/office/drawing/2014/main" xmlns="" id="{A5765E87-5EC4-DF47-B777-87F45B8428C3}"/>
                  </a:ext>
                </a:extLst>
              </p:cNvPr>
              <p:cNvSpPr/>
              <p:nvPr/>
            </p:nvSpPr>
            <p:spPr>
              <a:xfrm>
                <a:off x="34290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41" name="Rounded Rectangle 40">
                <a:extLst>
                  <a:ext uri="{FF2B5EF4-FFF2-40B4-BE49-F238E27FC236}">
                    <a16:creationId xmlns:a16="http://schemas.microsoft.com/office/drawing/2014/main" xmlns="" id="{815B0C58-C919-4941-8FD1-70CACFE56CF1}"/>
                  </a:ext>
                </a:extLst>
              </p:cNvPr>
              <p:cNvSpPr/>
              <p:nvPr/>
            </p:nvSpPr>
            <p:spPr>
              <a:xfrm>
                <a:off x="28575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42" name="Rounded Rectangle 41">
                <a:extLst>
                  <a:ext uri="{FF2B5EF4-FFF2-40B4-BE49-F238E27FC236}">
                    <a16:creationId xmlns:a16="http://schemas.microsoft.com/office/drawing/2014/main" xmlns="" id="{B8535BD1-44BE-EA4F-9886-2E52C25862C9}"/>
                  </a:ext>
                </a:extLst>
              </p:cNvPr>
              <p:cNvSpPr/>
              <p:nvPr/>
            </p:nvSpPr>
            <p:spPr>
              <a:xfrm>
                <a:off x="5715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43" name="Rounded Rectangle 42">
                <a:extLst>
                  <a:ext uri="{FF2B5EF4-FFF2-40B4-BE49-F238E27FC236}">
                    <a16:creationId xmlns:a16="http://schemas.microsoft.com/office/drawing/2014/main" xmlns="" id="{DCAB3520-A022-2C4F-A80F-BE5F243B65A3}"/>
                  </a:ext>
                </a:extLst>
              </p:cNvPr>
              <p:cNvSpPr/>
              <p:nvPr/>
            </p:nvSpPr>
            <p:spPr>
              <a:xfrm>
                <a:off x="571500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44" name="Rounded Rectangle 43">
                <a:extLst>
                  <a:ext uri="{FF2B5EF4-FFF2-40B4-BE49-F238E27FC236}">
                    <a16:creationId xmlns:a16="http://schemas.microsoft.com/office/drawing/2014/main" xmlns="" id="{0592F161-4176-8546-B4C1-0C29EF28F9F4}"/>
                  </a:ext>
                </a:extLst>
              </p:cNvPr>
              <p:cNvSpPr/>
              <p:nvPr/>
            </p:nvSpPr>
            <p:spPr>
              <a:xfrm>
                <a:off x="0" y="685800"/>
                <a:ext cx="457200" cy="342900"/>
              </a:xfrm>
              <a:prstGeom prst="roundRect">
                <a:avLst>
                  <a:gd name="adj" fmla="val 16667"/>
                </a:avLst>
              </a:prstGeom>
              <a:noFill/>
              <a:ln w="9525"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45" name="Rectangle 44">
                <a:extLst>
                  <a:ext uri="{FF2B5EF4-FFF2-40B4-BE49-F238E27FC236}">
                    <a16:creationId xmlns:a16="http://schemas.microsoft.com/office/drawing/2014/main" xmlns="" id="{E44D9954-A6D7-F74B-831E-2ED930D90614}"/>
                  </a:ext>
                </a:extLst>
              </p:cNvPr>
              <p:cNvSpPr/>
              <p:nvPr/>
            </p:nvSpPr>
            <p:spPr>
              <a:xfrm>
                <a:off x="1143000" y="1485900"/>
                <a:ext cx="457200" cy="342900"/>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46" name="Rectangle 45">
                <a:extLst>
                  <a:ext uri="{FF2B5EF4-FFF2-40B4-BE49-F238E27FC236}">
                    <a16:creationId xmlns:a16="http://schemas.microsoft.com/office/drawing/2014/main" xmlns="" id="{B811F53D-15B0-B04E-B249-2798A80AD8D6}"/>
                  </a:ext>
                </a:extLst>
              </p:cNvPr>
              <p:cNvSpPr/>
              <p:nvPr/>
            </p:nvSpPr>
            <p:spPr>
              <a:xfrm>
                <a:off x="4572000" y="1485900"/>
                <a:ext cx="457200" cy="342900"/>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47" name="Rectangle 46">
                <a:extLst>
                  <a:ext uri="{FF2B5EF4-FFF2-40B4-BE49-F238E27FC236}">
                    <a16:creationId xmlns:a16="http://schemas.microsoft.com/office/drawing/2014/main" xmlns="" id="{7EE1F8E3-D548-B844-95C3-6EC1146B3C59}"/>
                  </a:ext>
                </a:extLst>
              </p:cNvPr>
              <p:cNvSpPr/>
              <p:nvPr/>
            </p:nvSpPr>
            <p:spPr>
              <a:xfrm>
                <a:off x="2628900" y="1485900"/>
                <a:ext cx="1155700" cy="448451"/>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r>
                  <a:rPr lang="en-US" sz="1800">
                    <a:latin typeface="Verdana" panose="020B0604030504040204" pitchFamily="34" charset="0"/>
                    <a:ea typeface="Verdana" panose="020B0604030504040204" pitchFamily="34" charset="0"/>
                    <a:cs typeface="Verdana" panose="020B0604030504040204" pitchFamily="34" charset="0"/>
                  </a:rPr>
                  <a:t>Median</a:t>
                </a:r>
                <a:endParaRPr lang="en-US" sz="1600">
                  <a:latin typeface="Cambria Math" panose="02040503050406030204" pitchFamily="18" charset="0"/>
                  <a:ea typeface="Cambria Math" panose="02040503050406030204" pitchFamily="18" charset="0"/>
                  <a:cs typeface="Cambria Math" panose="02040503050406030204" pitchFamily="18" charset="0"/>
                </a:endParaRPr>
              </a:p>
            </p:txBody>
          </p:sp>
          <p:sp>
            <p:nvSpPr>
              <p:cNvPr id="48" name="Left Bracket 47">
                <a:extLst>
                  <a:ext uri="{FF2B5EF4-FFF2-40B4-BE49-F238E27FC236}">
                    <a16:creationId xmlns:a16="http://schemas.microsoft.com/office/drawing/2014/main" xmlns="" id="{5AF5CF81-C28C-1145-B9A0-332785EE3571}"/>
                  </a:ext>
                </a:extLst>
              </p:cNvPr>
              <p:cNvSpPr/>
              <p:nvPr/>
            </p:nvSpPr>
            <p:spPr>
              <a:xfrm rot="5400000">
                <a:off x="1314450" y="-971550"/>
                <a:ext cx="114935" cy="2742565"/>
              </a:xfrm>
              <a:prstGeom prst="leftBracket">
                <a:avLst>
                  <a:gd name="adj" fmla="val 8333"/>
                </a:avLst>
              </a:prstGeom>
              <a:noFill/>
              <a:ln w="127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49" name="Left Bracket 48">
                <a:extLst>
                  <a:ext uri="{FF2B5EF4-FFF2-40B4-BE49-F238E27FC236}">
                    <a16:creationId xmlns:a16="http://schemas.microsoft.com/office/drawing/2014/main" xmlns="" id="{04DF2A6D-3424-A34D-B185-81FB4C5D8609}"/>
                  </a:ext>
                </a:extLst>
              </p:cNvPr>
              <p:cNvSpPr/>
              <p:nvPr/>
            </p:nvSpPr>
            <p:spPr>
              <a:xfrm rot="5400000">
                <a:off x="4742815" y="-970915"/>
                <a:ext cx="114935" cy="2742565"/>
              </a:xfrm>
              <a:prstGeom prst="leftBracket">
                <a:avLst>
                  <a:gd name="adj" fmla="val 8333"/>
                </a:avLst>
              </a:prstGeom>
              <a:noFill/>
              <a:ln w="127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50" name="Rectangle 49">
                <a:extLst>
                  <a:ext uri="{FF2B5EF4-FFF2-40B4-BE49-F238E27FC236}">
                    <a16:creationId xmlns:a16="http://schemas.microsoft.com/office/drawing/2014/main" xmlns="" id="{5BF14BA2-1B19-8B4A-8DF6-B9D24F75288D}"/>
                  </a:ext>
                </a:extLst>
              </p:cNvPr>
              <p:cNvSpPr/>
              <p:nvPr/>
            </p:nvSpPr>
            <p:spPr>
              <a:xfrm>
                <a:off x="342900" y="0"/>
                <a:ext cx="2057400" cy="342900"/>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US" sz="1800">
                    <a:latin typeface="Verdana" panose="020B0604030504040204" pitchFamily="34" charset="0"/>
                    <a:ea typeface="Verdana" panose="020B0604030504040204" pitchFamily="34" charset="0"/>
                    <a:cs typeface="Verdana" panose="020B0604030504040204" pitchFamily="34" charset="0"/>
                  </a:rPr>
                  <a:t>Lower Half</a:t>
                </a:r>
                <a:endParaRPr lang="en-US" sz="1600">
                  <a:latin typeface="Cambria Math" panose="02040503050406030204" pitchFamily="18" charset="0"/>
                  <a:ea typeface="Cambria Math" panose="02040503050406030204" pitchFamily="18" charset="0"/>
                  <a:cs typeface="Cambria Math" panose="02040503050406030204" pitchFamily="18" charset="0"/>
                </a:endParaRPr>
              </a:p>
            </p:txBody>
          </p:sp>
          <p:sp>
            <p:nvSpPr>
              <p:cNvPr id="51" name="Rectangle 50">
                <a:extLst>
                  <a:ext uri="{FF2B5EF4-FFF2-40B4-BE49-F238E27FC236}">
                    <a16:creationId xmlns:a16="http://schemas.microsoft.com/office/drawing/2014/main" xmlns="" id="{DE94D06B-908F-5545-A68F-DF27B8220A27}"/>
                  </a:ext>
                </a:extLst>
              </p:cNvPr>
              <p:cNvSpPr/>
              <p:nvPr/>
            </p:nvSpPr>
            <p:spPr>
              <a:xfrm>
                <a:off x="3771900" y="0"/>
                <a:ext cx="2057400" cy="457200"/>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US" sz="1800">
                    <a:latin typeface="Verdana" panose="020B0604030504040204" pitchFamily="34" charset="0"/>
                    <a:ea typeface="Verdana" panose="020B0604030504040204" pitchFamily="34" charset="0"/>
                    <a:cs typeface="Verdana" panose="020B0604030504040204" pitchFamily="34" charset="0"/>
                  </a:rPr>
                  <a:t>Upper Half</a:t>
                </a:r>
                <a:endParaRPr lang="en-US" sz="1600">
                  <a:latin typeface="Cambria Math" panose="02040503050406030204" pitchFamily="18" charset="0"/>
                  <a:ea typeface="Cambria Math" panose="02040503050406030204" pitchFamily="18" charset="0"/>
                  <a:cs typeface="Cambria Math" panose="02040503050406030204" pitchFamily="18" charset="0"/>
                </a:endParaRPr>
              </a:p>
            </p:txBody>
          </p:sp>
        </p:grpSp>
      </p:grpSp>
      <p:pic>
        <p:nvPicPr>
          <p:cNvPr id="5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53"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206</a:t>
            </a:r>
          </a:p>
        </p:txBody>
      </p:sp>
    </p:spTree>
    <p:extLst>
      <p:ext uri="{BB962C8B-B14F-4D97-AF65-F5344CB8AC3E}">
        <p14:creationId xmlns:p14="http://schemas.microsoft.com/office/powerpoint/2010/main" val="550339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A3BC97A7-8575-5A46-8E72-A886A83AEC7E}"/>
              </a:ext>
            </a:extLst>
          </p:cNvPr>
          <p:cNvSpPr txBox="1"/>
          <p:nvPr/>
        </p:nvSpPr>
        <p:spPr>
          <a:xfrm>
            <a:off x="539515" y="413970"/>
            <a:ext cx="10993918" cy="923330"/>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your observations and any questions you have about the illustrations. </a:t>
            </a:r>
          </a:p>
          <a:p>
            <a:r>
              <a:rPr lang="en-US" i="1" dirty="0"/>
              <a:t> </a:t>
            </a:r>
            <a:endParaRPr lang="en-US" dirty="0"/>
          </a:p>
        </p:txBody>
      </p:sp>
      <p:pic>
        <p:nvPicPr>
          <p:cNvPr id="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a:t>
            </a:r>
            <a:r>
              <a:rPr lang="en-US" i="1">
                <a:latin typeface="Calibri"/>
                <a:ea typeface="Calibri"/>
                <a:cs typeface="Calibri"/>
                <a:sym typeface="Calibri"/>
              </a:rPr>
              <a:t>206</a:t>
            </a:r>
            <a:endParaRPr lang="en-US" i="1" dirty="0">
              <a:latin typeface="Calibri"/>
              <a:ea typeface="Calibri"/>
              <a:cs typeface="Calibri"/>
              <a:sym typeface="Calibri"/>
            </a:endParaRPr>
          </a:p>
        </p:txBody>
      </p:sp>
    </p:spTree>
    <p:extLst>
      <p:ext uri="{BB962C8B-B14F-4D97-AF65-F5344CB8AC3E}">
        <p14:creationId xmlns:p14="http://schemas.microsoft.com/office/powerpoint/2010/main" val="1153086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2825"/>
            <a:ext cx="2731200" cy="68707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a:t>
            </a:r>
            <a:r>
              <a:rPr lang="en-US" i="1">
                <a:latin typeface="Calibri"/>
                <a:ea typeface="Calibri"/>
                <a:cs typeface="Calibri"/>
                <a:sym typeface="Calibri"/>
              </a:rPr>
              <a:t>206</a:t>
            </a:r>
            <a:endParaRPr lang="en-US" i="1" dirty="0">
              <a:latin typeface="Calibri"/>
              <a:ea typeface="Calibri"/>
              <a:cs typeface="Calibri"/>
              <a:sym typeface="Calibri"/>
            </a:endParaRPr>
          </a:p>
        </p:txBody>
      </p:sp>
    </p:spTree>
    <p:extLst>
      <p:ext uri="{BB962C8B-B14F-4D97-AF65-F5344CB8AC3E}">
        <p14:creationId xmlns:p14="http://schemas.microsoft.com/office/powerpoint/2010/main" val="2836662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41824" y="-37211"/>
            <a:ext cx="1075626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10.1.4 Guided Practice: Creating a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Box Plot</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2016" y="25073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31D40250-DEDD-2C41-8538-3D4DD18CCC4A}"/>
              </a:ext>
            </a:extLst>
          </p:cNvPr>
          <p:cNvSpPr txBox="1"/>
          <p:nvPr/>
        </p:nvSpPr>
        <p:spPr>
          <a:xfrm>
            <a:off x="582404" y="1386026"/>
            <a:ext cx="10951028" cy="4093428"/>
          </a:xfrm>
          <a:prstGeom prst="rect">
            <a:avLst/>
          </a:prstGeom>
          <a:noFill/>
        </p:spPr>
        <p:txBody>
          <a:bodyPr wrap="square" rtlCol="0">
            <a:spAutoFit/>
          </a:bodyPr>
          <a:lstStyle/>
          <a:p>
            <a:pPr marL="457200" lvl="3"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Using the data and five-number summary on the birth weight, in ounces, of the golden retriever puppies born at a kennel in the last month, create a box plot from the steps listed. </a:t>
            </a:r>
          </a:p>
          <a:p>
            <a:pPr marL="457200" lvl="3"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3"/>
            <a:endParaRPr lang="en-US" sz="2000" dirty="0">
              <a:latin typeface="Verdana" panose="020B0604030504040204" pitchFamily="34" charset="0"/>
              <a:ea typeface="Verdana" panose="020B0604030504040204" pitchFamily="34" charset="0"/>
              <a:cs typeface="Verdana" panose="020B0604030504040204" pitchFamily="34" charset="0"/>
            </a:endParaRPr>
          </a:p>
          <a:p>
            <a:pPr lvl="3"/>
            <a:r>
              <a:rPr lang="en-US" sz="2000" dirty="0">
                <a:latin typeface="Verdana" panose="020B0604030504040204" pitchFamily="34" charset="0"/>
                <a:ea typeface="Verdana" panose="020B0604030504040204" pitchFamily="34" charset="0"/>
                <a:cs typeface="Verdana" panose="020B0604030504040204" pitchFamily="34" charset="0"/>
              </a:rPr>
              <a:t>Step 1: Label the axis by starting at a number slightly less than the minimum. Increase by the same interval, making sure each interval is equally spaced, until you reach (or pass) the maximum. </a:t>
            </a:r>
          </a:p>
          <a:p>
            <a:pPr lvl="3"/>
            <a:endParaRPr lang="en-US" sz="2000" dirty="0">
              <a:latin typeface="Verdana" panose="020B0604030504040204" pitchFamily="34" charset="0"/>
              <a:ea typeface="Verdana" panose="020B0604030504040204" pitchFamily="34" charset="0"/>
              <a:cs typeface="Verdana" panose="020B0604030504040204" pitchFamily="34" charset="0"/>
            </a:endParaRPr>
          </a:p>
          <a:p>
            <a:pPr lvl="3"/>
            <a:endParaRPr lang="en-US" sz="2000" dirty="0">
              <a:latin typeface="Verdana" panose="020B0604030504040204" pitchFamily="34" charset="0"/>
              <a:ea typeface="Verdana" panose="020B0604030504040204" pitchFamily="34" charset="0"/>
              <a:cs typeface="Verdana" panose="020B0604030504040204" pitchFamily="34" charset="0"/>
            </a:endParaRPr>
          </a:p>
          <a:p>
            <a:pPr lvl="3"/>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F39F9729-1D95-A241-91B6-ECDC563EFC96}"/>
                  </a:ext>
                </a:extLst>
              </p:cNvPr>
              <p:cNvGraphicFramePr>
                <a:graphicFrameLocks noGrp="1"/>
              </p:cNvGraphicFramePr>
              <p:nvPr>
                <p:extLst>
                  <p:ext uri="{D42A27DB-BD31-4B8C-83A1-F6EECF244321}">
                    <p14:modId xmlns:p14="http://schemas.microsoft.com/office/powerpoint/2010/main" val="2341969605"/>
                  </p:ext>
                </p:extLst>
              </p:nvPr>
            </p:nvGraphicFramePr>
            <p:xfrm>
              <a:off x="4246128" y="2450592"/>
              <a:ext cx="3514725" cy="978408"/>
            </p:xfrm>
            <a:graphic>
              <a:graphicData uri="http://schemas.openxmlformats.org/drawingml/2006/table">
                <a:tbl>
                  <a:tblPr bandRow="1">
                    <a:tableStyleId>{A91F0D33-8C57-4600-99A7-42BC86742BE1}</a:tableStyleId>
                  </a:tblPr>
                  <a:tblGrid>
                    <a:gridCol w="390525">
                      <a:extLst>
                        <a:ext uri="{9D8B030D-6E8A-4147-A177-3AD203B41FA5}">
                          <a16:colId xmlns:a16="http://schemas.microsoft.com/office/drawing/2014/main" xmlns="" val="2759315094"/>
                        </a:ext>
                      </a:extLst>
                    </a:gridCol>
                    <a:gridCol w="390525">
                      <a:extLst>
                        <a:ext uri="{9D8B030D-6E8A-4147-A177-3AD203B41FA5}">
                          <a16:colId xmlns:a16="http://schemas.microsoft.com/office/drawing/2014/main" xmlns="" val="2748154496"/>
                        </a:ext>
                      </a:extLst>
                    </a:gridCol>
                    <a:gridCol w="390525">
                      <a:extLst>
                        <a:ext uri="{9D8B030D-6E8A-4147-A177-3AD203B41FA5}">
                          <a16:colId xmlns:a16="http://schemas.microsoft.com/office/drawing/2014/main" xmlns="" val="4058578311"/>
                        </a:ext>
                      </a:extLst>
                    </a:gridCol>
                    <a:gridCol w="390525">
                      <a:extLst>
                        <a:ext uri="{9D8B030D-6E8A-4147-A177-3AD203B41FA5}">
                          <a16:colId xmlns:a16="http://schemas.microsoft.com/office/drawing/2014/main" xmlns="" val="2328873865"/>
                        </a:ext>
                      </a:extLst>
                    </a:gridCol>
                    <a:gridCol w="390525">
                      <a:extLst>
                        <a:ext uri="{9D8B030D-6E8A-4147-A177-3AD203B41FA5}">
                          <a16:colId xmlns:a16="http://schemas.microsoft.com/office/drawing/2014/main" xmlns="" val="377984629"/>
                        </a:ext>
                      </a:extLst>
                    </a:gridCol>
                    <a:gridCol w="390525">
                      <a:extLst>
                        <a:ext uri="{9D8B030D-6E8A-4147-A177-3AD203B41FA5}">
                          <a16:colId xmlns:a16="http://schemas.microsoft.com/office/drawing/2014/main" xmlns="" val="1149767448"/>
                        </a:ext>
                      </a:extLst>
                    </a:gridCol>
                    <a:gridCol w="390525">
                      <a:extLst>
                        <a:ext uri="{9D8B030D-6E8A-4147-A177-3AD203B41FA5}">
                          <a16:colId xmlns:a16="http://schemas.microsoft.com/office/drawing/2014/main" xmlns="" val="2877156721"/>
                        </a:ext>
                      </a:extLst>
                    </a:gridCol>
                    <a:gridCol w="390525">
                      <a:extLst>
                        <a:ext uri="{9D8B030D-6E8A-4147-A177-3AD203B41FA5}">
                          <a16:colId xmlns:a16="http://schemas.microsoft.com/office/drawing/2014/main" xmlns="" val="1582039241"/>
                        </a:ext>
                      </a:extLst>
                    </a:gridCol>
                    <a:gridCol w="390525">
                      <a:extLst>
                        <a:ext uri="{9D8B030D-6E8A-4147-A177-3AD203B41FA5}">
                          <a16:colId xmlns:a16="http://schemas.microsoft.com/office/drawing/2014/main" xmlns="" val="3976313557"/>
                        </a:ext>
                      </a:extLst>
                    </a:gridCol>
                  </a:tblGrid>
                  <a:tr h="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13</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14</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15</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15</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extLst>
                      <a:ext uri="{0D108BD9-81ED-4DB2-BD59-A6C34878D82A}">
                        <a16:rowId xmlns:a16="http://schemas.microsoft.com/office/drawing/2014/main" xmlns="" val="3173884654"/>
                      </a:ext>
                    </a:extLst>
                  </a:tr>
                  <a:tr h="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extLst>
                      <a:ext uri="{0D108BD9-81ED-4DB2-BD59-A6C34878D82A}">
                        <a16:rowId xmlns:a16="http://schemas.microsoft.com/office/drawing/2014/main" xmlns="" val="747677406"/>
                      </a:ext>
                    </a:extLst>
                  </a:tr>
                  <a:tr h="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19</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gridSpan="2">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 </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xmlns="" val="1289714635"/>
                      </a:ext>
                    </a:extLst>
                  </a:tr>
                </a:tbl>
              </a:graphicData>
            </a:graphic>
          </p:graphicFrame>
        </mc:Choice>
        <mc:Fallback xmlns="">
          <p:graphicFrame>
            <p:nvGraphicFramePr>
              <p:cNvPr id="2" name="Table 1">
                <a:extLst>
                  <a:ext uri="{FF2B5EF4-FFF2-40B4-BE49-F238E27FC236}">
                    <a16:creationId xmlns="" xmlns:a16="http://schemas.microsoft.com/office/drawing/2014/main" xmlns:a14="http://schemas.microsoft.com/office/drawing/2010/main" id="{F39F9729-1D95-A241-91B6-ECDC563EFC96}"/>
                  </a:ext>
                </a:extLst>
              </p:cNvPr>
              <p:cNvGraphicFramePr>
                <a:graphicFrameLocks noGrp="1"/>
              </p:cNvGraphicFramePr>
              <p:nvPr>
                <p:extLst>
                  <p:ext uri="{D42A27DB-BD31-4B8C-83A1-F6EECF244321}">
                    <p14:modId xmlns:p14="http://schemas.microsoft.com/office/powerpoint/2010/main" val="2341969605"/>
                  </p:ext>
                </p:extLst>
              </p:nvPr>
            </p:nvGraphicFramePr>
            <p:xfrm>
              <a:off x="4246128" y="2450592"/>
              <a:ext cx="3514725" cy="978408"/>
            </p:xfrm>
            <a:graphic>
              <a:graphicData uri="http://schemas.openxmlformats.org/drawingml/2006/table">
                <a:tbl>
                  <a:tblPr bandRow="1">
                    <a:tableStyleId>{A91F0D33-8C57-4600-99A7-42BC86742BE1}</a:tableStyleId>
                  </a:tblPr>
                  <a:tblGrid>
                    <a:gridCol w="390525">
                      <a:extLst>
                        <a:ext uri="{9D8B030D-6E8A-4147-A177-3AD203B41FA5}">
                          <a16:colId xmlns="" xmlns:a16="http://schemas.microsoft.com/office/drawing/2014/main" xmlns:a14="http://schemas.microsoft.com/office/drawing/2010/main" val="2759315094"/>
                        </a:ext>
                      </a:extLst>
                    </a:gridCol>
                    <a:gridCol w="390525">
                      <a:extLst>
                        <a:ext uri="{9D8B030D-6E8A-4147-A177-3AD203B41FA5}">
                          <a16:colId xmlns="" xmlns:a16="http://schemas.microsoft.com/office/drawing/2014/main" xmlns:a14="http://schemas.microsoft.com/office/drawing/2010/main" val="2748154496"/>
                        </a:ext>
                      </a:extLst>
                    </a:gridCol>
                    <a:gridCol w="390525">
                      <a:extLst>
                        <a:ext uri="{9D8B030D-6E8A-4147-A177-3AD203B41FA5}">
                          <a16:colId xmlns="" xmlns:a16="http://schemas.microsoft.com/office/drawing/2014/main" xmlns:a14="http://schemas.microsoft.com/office/drawing/2010/main" val="4058578311"/>
                        </a:ext>
                      </a:extLst>
                    </a:gridCol>
                    <a:gridCol w="390525">
                      <a:extLst>
                        <a:ext uri="{9D8B030D-6E8A-4147-A177-3AD203B41FA5}">
                          <a16:colId xmlns="" xmlns:a16="http://schemas.microsoft.com/office/drawing/2014/main" xmlns:a14="http://schemas.microsoft.com/office/drawing/2010/main" val="2328873865"/>
                        </a:ext>
                      </a:extLst>
                    </a:gridCol>
                    <a:gridCol w="390525">
                      <a:extLst>
                        <a:ext uri="{9D8B030D-6E8A-4147-A177-3AD203B41FA5}">
                          <a16:colId xmlns="" xmlns:a16="http://schemas.microsoft.com/office/drawing/2014/main" xmlns:a14="http://schemas.microsoft.com/office/drawing/2010/main" val="377984629"/>
                        </a:ext>
                      </a:extLst>
                    </a:gridCol>
                    <a:gridCol w="390525">
                      <a:extLst>
                        <a:ext uri="{9D8B030D-6E8A-4147-A177-3AD203B41FA5}">
                          <a16:colId xmlns="" xmlns:a16="http://schemas.microsoft.com/office/drawing/2014/main" xmlns:a14="http://schemas.microsoft.com/office/drawing/2010/main" val="1149767448"/>
                        </a:ext>
                      </a:extLst>
                    </a:gridCol>
                    <a:gridCol w="390525">
                      <a:extLst>
                        <a:ext uri="{9D8B030D-6E8A-4147-A177-3AD203B41FA5}">
                          <a16:colId xmlns="" xmlns:a16="http://schemas.microsoft.com/office/drawing/2014/main" xmlns:a14="http://schemas.microsoft.com/office/drawing/2010/main" val="2877156721"/>
                        </a:ext>
                      </a:extLst>
                    </a:gridCol>
                    <a:gridCol w="390525">
                      <a:extLst>
                        <a:ext uri="{9D8B030D-6E8A-4147-A177-3AD203B41FA5}">
                          <a16:colId xmlns="" xmlns:a16="http://schemas.microsoft.com/office/drawing/2014/main" xmlns:a14="http://schemas.microsoft.com/office/drawing/2010/main" val="1582039241"/>
                        </a:ext>
                      </a:extLst>
                    </a:gridCol>
                    <a:gridCol w="390525">
                      <a:extLst>
                        <a:ext uri="{9D8B030D-6E8A-4147-A177-3AD203B41FA5}">
                          <a16:colId xmlns="" xmlns:a16="http://schemas.microsoft.com/office/drawing/2014/main" xmlns:a14="http://schemas.microsoft.com/office/drawing/2010/main" val="3976313557"/>
                        </a:ext>
                      </a:extLst>
                    </a:gridCol>
                  </a:tblGrid>
                  <a:tr h="326136">
                    <a:tc>
                      <a:txBody>
                        <a:bodyPr/>
                        <a:lstStyle/>
                        <a:p>
                          <a:endParaRPr lang="en-US"/>
                        </a:p>
                      </a:txBody>
                      <a:tcPr marL="68580" marR="68580" marT="0" marB="0">
                        <a:blipFill rotWithShape="1">
                          <a:blip r:embed="rId4"/>
                          <a:stretch>
                            <a:fillRect l="-1563" r="-801563" b="-198148"/>
                          </a:stretch>
                        </a:blipFill>
                      </a:tcPr>
                    </a:tc>
                    <a:tc>
                      <a:txBody>
                        <a:bodyPr/>
                        <a:lstStyle/>
                        <a:p>
                          <a:endParaRPr lang="en-US"/>
                        </a:p>
                      </a:txBody>
                      <a:tcPr marL="68580" marR="68580" marT="0" marB="0">
                        <a:blipFill rotWithShape="1">
                          <a:blip r:embed="rId4"/>
                          <a:stretch>
                            <a:fillRect l="-101563" r="-701563" b="-198148"/>
                          </a:stretch>
                        </a:blipFill>
                      </a:tcPr>
                    </a:tc>
                    <a:tc>
                      <a:txBody>
                        <a:bodyPr/>
                        <a:lstStyle/>
                        <a:p>
                          <a:endParaRPr lang="en-US"/>
                        </a:p>
                      </a:txBody>
                      <a:tcPr marL="68580" marR="68580" marT="0" marB="0">
                        <a:blipFill rotWithShape="1">
                          <a:blip r:embed="rId4"/>
                          <a:stretch>
                            <a:fillRect l="-201563" r="-601563" b="-198148"/>
                          </a:stretch>
                        </a:blipFill>
                      </a:tcPr>
                    </a:tc>
                    <a:tc>
                      <a:txBody>
                        <a:bodyPr/>
                        <a:lstStyle/>
                        <a:p>
                          <a:endParaRPr lang="en-US"/>
                        </a:p>
                      </a:txBody>
                      <a:tcPr marL="68580" marR="68580" marT="0" marB="0">
                        <a:blipFill rotWithShape="1">
                          <a:blip r:embed="rId4"/>
                          <a:stretch>
                            <a:fillRect l="-301563" r="-501563" b="-198148"/>
                          </a:stretch>
                        </a:blipFill>
                      </a:tcPr>
                    </a:tc>
                    <a:tc>
                      <a:txBody>
                        <a:bodyPr/>
                        <a:lstStyle/>
                        <a:p>
                          <a:endParaRPr lang="en-US"/>
                        </a:p>
                      </a:txBody>
                      <a:tcPr marL="68580" marR="68580" marT="0" marB="0">
                        <a:blipFill rotWithShape="1">
                          <a:blip r:embed="rId4"/>
                          <a:stretch>
                            <a:fillRect l="-401563" r="-401563" b="-198148"/>
                          </a:stretch>
                        </a:blipFill>
                      </a:tcPr>
                    </a:tc>
                    <a:tc>
                      <a:txBody>
                        <a:bodyPr/>
                        <a:lstStyle/>
                        <a:p>
                          <a:endParaRPr lang="en-US"/>
                        </a:p>
                      </a:txBody>
                      <a:tcPr marL="68580" marR="68580" marT="0" marB="0">
                        <a:blipFill rotWithShape="1">
                          <a:blip r:embed="rId4"/>
                          <a:stretch>
                            <a:fillRect l="-501563" r="-301563" b="-198148"/>
                          </a:stretch>
                        </a:blipFill>
                      </a:tcPr>
                    </a:tc>
                    <a:tc>
                      <a:txBody>
                        <a:bodyPr/>
                        <a:lstStyle/>
                        <a:p>
                          <a:endParaRPr lang="en-US"/>
                        </a:p>
                      </a:txBody>
                      <a:tcPr marL="68580" marR="68580" marT="0" marB="0">
                        <a:blipFill rotWithShape="1">
                          <a:blip r:embed="rId4"/>
                          <a:stretch>
                            <a:fillRect l="-601563" r="-201563" b="-198148"/>
                          </a:stretch>
                        </a:blipFill>
                      </a:tcPr>
                    </a:tc>
                    <a:tc>
                      <a:txBody>
                        <a:bodyPr/>
                        <a:lstStyle/>
                        <a:p>
                          <a:endParaRPr lang="en-US"/>
                        </a:p>
                      </a:txBody>
                      <a:tcPr marL="68580" marR="68580" marT="0" marB="0">
                        <a:blipFill rotWithShape="1">
                          <a:blip r:embed="rId4"/>
                          <a:stretch>
                            <a:fillRect l="-701563" r="-101563" b="-198148"/>
                          </a:stretch>
                        </a:blipFill>
                      </a:tcPr>
                    </a:tc>
                    <a:tc>
                      <a:txBody>
                        <a:bodyPr/>
                        <a:lstStyle/>
                        <a:p>
                          <a:endParaRPr lang="en-US"/>
                        </a:p>
                      </a:txBody>
                      <a:tcPr marL="68580" marR="68580" marT="0" marB="0">
                        <a:blipFill rotWithShape="1">
                          <a:blip r:embed="rId4"/>
                          <a:stretch>
                            <a:fillRect l="-801563" r="-1563" b="-198148"/>
                          </a:stretch>
                        </a:blipFill>
                      </a:tcPr>
                    </a:tc>
                    <a:extLst>
                      <a:ext uri="{0D108BD9-81ED-4DB2-BD59-A6C34878D82A}">
                        <a16:rowId xmlns="" xmlns:a16="http://schemas.microsoft.com/office/drawing/2014/main" xmlns:a14="http://schemas.microsoft.com/office/drawing/2010/main" val="3173884654"/>
                      </a:ext>
                    </a:extLst>
                  </a:tr>
                  <a:tr h="326136">
                    <a:tc>
                      <a:txBody>
                        <a:bodyPr/>
                        <a:lstStyle/>
                        <a:p>
                          <a:endParaRPr lang="en-US"/>
                        </a:p>
                      </a:txBody>
                      <a:tcPr marL="68580" marR="68580" marT="0" marB="0">
                        <a:blipFill rotWithShape="1">
                          <a:blip r:embed="rId4"/>
                          <a:stretch>
                            <a:fillRect l="-1563" t="-101887" r="-801563" b="-101887"/>
                          </a:stretch>
                        </a:blipFill>
                      </a:tcPr>
                    </a:tc>
                    <a:tc>
                      <a:txBody>
                        <a:bodyPr/>
                        <a:lstStyle/>
                        <a:p>
                          <a:endParaRPr lang="en-US"/>
                        </a:p>
                      </a:txBody>
                      <a:tcPr marL="68580" marR="68580" marT="0" marB="0">
                        <a:blipFill rotWithShape="1">
                          <a:blip r:embed="rId4"/>
                          <a:stretch>
                            <a:fillRect l="-101563" t="-101887" r="-701563" b="-101887"/>
                          </a:stretch>
                        </a:blipFill>
                      </a:tcPr>
                    </a:tc>
                    <a:tc>
                      <a:txBody>
                        <a:bodyPr/>
                        <a:lstStyle/>
                        <a:p>
                          <a:endParaRPr lang="en-US"/>
                        </a:p>
                      </a:txBody>
                      <a:tcPr marL="68580" marR="68580" marT="0" marB="0">
                        <a:blipFill rotWithShape="1">
                          <a:blip r:embed="rId4"/>
                          <a:stretch>
                            <a:fillRect l="-201563" t="-101887" r="-601563" b="-101887"/>
                          </a:stretch>
                        </a:blipFill>
                      </a:tcPr>
                    </a:tc>
                    <a:tc>
                      <a:txBody>
                        <a:bodyPr/>
                        <a:lstStyle/>
                        <a:p>
                          <a:endParaRPr lang="en-US"/>
                        </a:p>
                      </a:txBody>
                      <a:tcPr marL="68580" marR="68580" marT="0" marB="0">
                        <a:blipFill rotWithShape="1">
                          <a:blip r:embed="rId4"/>
                          <a:stretch>
                            <a:fillRect l="-301563" t="-101887" r="-501563" b="-101887"/>
                          </a:stretch>
                        </a:blipFill>
                      </a:tcPr>
                    </a:tc>
                    <a:tc>
                      <a:txBody>
                        <a:bodyPr/>
                        <a:lstStyle/>
                        <a:p>
                          <a:endParaRPr lang="en-US"/>
                        </a:p>
                      </a:txBody>
                      <a:tcPr marL="68580" marR="68580" marT="0" marB="0">
                        <a:blipFill rotWithShape="1">
                          <a:blip r:embed="rId4"/>
                          <a:stretch>
                            <a:fillRect l="-401563" t="-101887" r="-401563" b="-101887"/>
                          </a:stretch>
                        </a:blipFill>
                      </a:tcPr>
                    </a:tc>
                    <a:tc>
                      <a:txBody>
                        <a:bodyPr/>
                        <a:lstStyle/>
                        <a:p>
                          <a:endParaRPr lang="en-US"/>
                        </a:p>
                      </a:txBody>
                      <a:tcPr marL="68580" marR="68580" marT="0" marB="0">
                        <a:blipFill rotWithShape="1">
                          <a:blip r:embed="rId4"/>
                          <a:stretch>
                            <a:fillRect l="-501563" t="-101887" r="-301563" b="-101887"/>
                          </a:stretch>
                        </a:blipFill>
                      </a:tcPr>
                    </a:tc>
                    <a:tc>
                      <a:txBody>
                        <a:bodyPr/>
                        <a:lstStyle/>
                        <a:p>
                          <a:endParaRPr lang="en-US"/>
                        </a:p>
                      </a:txBody>
                      <a:tcPr marL="68580" marR="68580" marT="0" marB="0">
                        <a:blipFill rotWithShape="1">
                          <a:blip r:embed="rId4"/>
                          <a:stretch>
                            <a:fillRect l="-601563" t="-101887" r="-201563" b="-101887"/>
                          </a:stretch>
                        </a:blipFill>
                      </a:tcPr>
                    </a:tc>
                    <a:tc>
                      <a:txBody>
                        <a:bodyPr/>
                        <a:lstStyle/>
                        <a:p>
                          <a:endParaRPr lang="en-US"/>
                        </a:p>
                      </a:txBody>
                      <a:tcPr marL="68580" marR="68580" marT="0" marB="0">
                        <a:blipFill rotWithShape="1">
                          <a:blip r:embed="rId4"/>
                          <a:stretch>
                            <a:fillRect l="-701563" t="-101887" r="-101563" b="-101887"/>
                          </a:stretch>
                        </a:blipFill>
                      </a:tcPr>
                    </a:tc>
                    <a:tc>
                      <a:txBody>
                        <a:bodyPr/>
                        <a:lstStyle/>
                        <a:p>
                          <a:endParaRPr lang="en-US"/>
                        </a:p>
                      </a:txBody>
                      <a:tcPr marL="68580" marR="68580" marT="0" marB="0">
                        <a:blipFill rotWithShape="1">
                          <a:blip r:embed="rId4"/>
                          <a:stretch>
                            <a:fillRect l="-801563" t="-101887" r="-1563" b="-101887"/>
                          </a:stretch>
                        </a:blipFill>
                      </a:tcPr>
                    </a:tc>
                    <a:extLst>
                      <a:ext uri="{0D108BD9-81ED-4DB2-BD59-A6C34878D82A}">
                        <a16:rowId xmlns="" xmlns:a16="http://schemas.microsoft.com/office/drawing/2014/main" xmlns:a14="http://schemas.microsoft.com/office/drawing/2010/main" val="747677406"/>
                      </a:ext>
                    </a:extLst>
                  </a:tr>
                  <a:tr h="326136">
                    <a:tc>
                      <a:txBody>
                        <a:bodyPr/>
                        <a:lstStyle/>
                        <a:p>
                          <a:endParaRPr lang="en-US"/>
                        </a:p>
                      </a:txBody>
                      <a:tcPr marL="68580" marR="68580" marT="0" marB="0">
                        <a:blipFill rotWithShape="1">
                          <a:blip r:embed="rId4"/>
                          <a:stretch>
                            <a:fillRect l="-1563" t="-198148" r="-801563"/>
                          </a:stretch>
                        </a:blipFill>
                      </a:tcPr>
                    </a:tc>
                    <a:tc>
                      <a:txBody>
                        <a:bodyPr/>
                        <a:lstStyle/>
                        <a:p>
                          <a:endParaRPr lang="en-US"/>
                        </a:p>
                      </a:txBody>
                      <a:tcPr marL="68580" marR="68580" marT="0" marB="0">
                        <a:blipFill rotWithShape="1">
                          <a:blip r:embed="rId4"/>
                          <a:stretch>
                            <a:fillRect l="-101563" t="-198148" r="-701563"/>
                          </a:stretch>
                        </a:blipFill>
                      </a:tcPr>
                    </a:tc>
                    <a:tc>
                      <a:txBody>
                        <a:bodyPr/>
                        <a:lstStyle/>
                        <a:p>
                          <a:endParaRPr lang="en-US"/>
                        </a:p>
                      </a:txBody>
                      <a:tcPr marL="68580" marR="68580" marT="0" marB="0">
                        <a:blipFill rotWithShape="1">
                          <a:blip r:embed="rId4"/>
                          <a:stretch>
                            <a:fillRect l="-201563" t="-198148" r="-601563"/>
                          </a:stretch>
                        </a:blipFill>
                      </a:tcPr>
                    </a:tc>
                    <a:tc>
                      <a:txBody>
                        <a:bodyPr/>
                        <a:lstStyle/>
                        <a:p>
                          <a:endParaRPr lang="en-US"/>
                        </a:p>
                      </a:txBody>
                      <a:tcPr marL="68580" marR="68580" marT="0" marB="0">
                        <a:blipFill rotWithShape="1">
                          <a:blip r:embed="rId4"/>
                          <a:stretch>
                            <a:fillRect l="-301563" t="-198148" r="-501563"/>
                          </a:stretch>
                        </a:blipFill>
                      </a:tcPr>
                    </a:tc>
                    <a:tc>
                      <a:txBody>
                        <a:bodyPr/>
                        <a:lstStyle/>
                        <a:p>
                          <a:endParaRPr lang="en-US"/>
                        </a:p>
                      </a:txBody>
                      <a:tcPr marL="68580" marR="68580" marT="0" marB="0">
                        <a:blipFill rotWithShape="1">
                          <a:blip r:embed="rId4"/>
                          <a:stretch>
                            <a:fillRect l="-401563" t="-198148" r="-401563"/>
                          </a:stretch>
                        </a:blipFill>
                      </a:tcPr>
                    </a:tc>
                    <a:tc>
                      <a:txBody>
                        <a:bodyPr/>
                        <a:lstStyle/>
                        <a:p>
                          <a:endParaRPr lang="en-US"/>
                        </a:p>
                      </a:txBody>
                      <a:tcPr marL="68580" marR="68580" marT="0" marB="0">
                        <a:blipFill rotWithShape="1">
                          <a:blip r:embed="rId4"/>
                          <a:stretch>
                            <a:fillRect l="-501563" t="-198148" r="-301563"/>
                          </a:stretch>
                        </a:blipFill>
                      </a:tcPr>
                    </a:tc>
                    <a:tc>
                      <a:txBody>
                        <a:bodyPr/>
                        <a:lstStyle/>
                        <a:p>
                          <a:endParaRPr lang="en-US"/>
                        </a:p>
                      </a:txBody>
                      <a:tcPr marL="68580" marR="68580" marT="0" marB="0">
                        <a:blipFill rotWithShape="1">
                          <a:blip r:embed="rId4"/>
                          <a:stretch>
                            <a:fillRect l="-601563" t="-198148" r="-201563"/>
                          </a:stretch>
                        </a:blipFill>
                      </a:tcPr>
                    </a:tc>
                    <a:tc gridSpan="2">
                      <a:txBody>
                        <a:bodyPr/>
                        <a:lstStyle/>
                        <a:p>
                          <a:endParaRPr lang="en-US"/>
                        </a:p>
                      </a:txBody>
                      <a:tcPr marL="68580" marR="68580" marT="0" marB="0">
                        <a:blipFill rotWithShape="1">
                          <a:blip r:embed="rId4"/>
                          <a:stretch>
                            <a:fillRect l="-350781" t="-198148" r="-781"/>
                          </a:stretch>
                        </a:blipFill>
                      </a:tcPr>
                    </a:tc>
                    <a:tc hMerge="1">
                      <a:txBody>
                        <a:bodyPr/>
                        <a:lstStyle/>
                        <a:p>
                          <a:endParaRPr lang="en-US"/>
                        </a:p>
                      </a:txBody>
                      <a:tcPr/>
                    </a:tc>
                    <a:extLst>
                      <a:ext uri="{0D108BD9-81ED-4DB2-BD59-A6C34878D82A}">
                        <a16:rowId xmlns="" xmlns:a16="http://schemas.microsoft.com/office/drawing/2014/main" xmlns:a14="http://schemas.microsoft.com/office/drawing/2010/main" val="1289714635"/>
                      </a:ext>
                    </a:extLst>
                  </a:tr>
                </a:tbl>
              </a:graphicData>
            </a:graphic>
          </p:graphicFrame>
        </mc:Fallback>
      </mc:AlternateContent>
      <p:cxnSp>
        <p:nvCxnSpPr>
          <p:cNvPr id="9" name="Straight Arrow Connector 8">
            <a:extLst>
              <a:ext uri="{FF2B5EF4-FFF2-40B4-BE49-F238E27FC236}">
                <a16:creationId xmlns:a16="http://schemas.microsoft.com/office/drawing/2014/main" xmlns="" id="{2E070D3B-5D27-344F-996C-7CAEB9FE0AFE}"/>
              </a:ext>
            </a:extLst>
          </p:cNvPr>
          <p:cNvCxnSpPr/>
          <p:nvPr/>
        </p:nvCxnSpPr>
        <p:spPr>
          <a:xfrm>
            <a:off x="3032189" y="5721350"/>
            <a:ext cx="6383655" cy="25400"/>
          </a:xfrm>
          <a:prstGeom prst="straightConnector1">
            <a:avLst/>
          </a:prstGeom>
          <a:noFill/>
          <a:ln w="9525" cap="flat" cmpd="sng">
            <a:solidFill>
              <a:schemeClr val="dk1"/>
            </a:solidFill>
            <a:prstDash val="solid"/>
            <a:miter lim="800000"/>
            <a:headEnd type="triangle" w="med" len="med"/>
            <a:tailEnd type="triangle" w="med" len="med"/>
          </a:ln>
        </p:spPr>
      </p:cxn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a:t>
            </a:r>
            <a:r>
              <a:rPr lang="en-US" i="1">
                <a:latin typeface="Calibri"/>
                <a:ea typeface="Calibri"/>
                <a:cs typeface="Calibri"/>
                <a:sym typeface="Calibri"/>
              </a:rPr>
              <a:t>206</a:t>
            </a:r>
            <a:endParaRPr lang="en-US" i="1" dirty="0">
              <a:latin typeface="Calibri"/>
              <a:ea typeface="Calibri"/>
              <a:cs typeface="Calibri"/>
              <a:sym typeface="Calibri"/>
            </a:endParaRPr>
          </a:p>
        </p:txBody>
      </p:sp>
    </p:spTree>
    <p:extLst>
      <p:ext uri="{BB962C8B-B14F-4D97-AF65-F5344CB8AC3E}">
        <p14:creationId xmlns:p14="http://schemas.microsoft.com/office/powerpoint/2010/main" val="1677453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A3BC97A7-8575-5A46-8E72-A886A83AEC7E}"/>
                  </a:ext>
                </a:extLst>
              </p:cNvPr>
              <p:cNvSpPr txBox="1"/>
              <p:nvPr/>
            </p:nvSpPr>
            <p:spPr>
              <a:xfrm>
                <a:off x="548407" y="386282"/>
                <a:ext cx="10668000" cy="409342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Step 2: Place a dot above the axis for each value of the five-number summary.</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Step 3: Draw the box from </a:t>
                </a:r>
                <a14:m>
                  <m:oMath xmlns:m="http://schemas.openxmlformats.org/officeDocument/2006/math">
                    <m:sSub>
                      <m:sSubPr>
                        <m:ctrlPr>
                          <a:rPr lang="en-US" sz="2000" i="1">
                            <a:latin typeface="Cambria Math"/>
                          </a:rPr>
                        </m:ctrlPr>
                      </m:sSubPr>
                      <m:e>
                        <m:r>
                          <m:rPr>
                            <m:sty m:val="p"/>
                          </m:rPr>
                          <a:rPr lang="en-US" sz="2000">
                            <a:latin typeface="Cambria Math" panose="02040503050406030204" pitchFamily="18" charset="0"/>
                          </a:rPr>
                          <m:t>Q</m:t>
                        </m:r>
                      </m:e>
                      <m:sub>
                        <m:r>
                          <a:rPr lang="en-US" sz="2000" i="1">
                            <a:latin typeface="Cambria Math" panose="02040503050406030204" pitchFamily="18" charset="0"/>
                          </a:rPr>
                          <m:t>1</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sSub>
                      <m:sSubPr>
                        <m:ctrlPr>
                          <a:rPr lang="en-US" sz="2000" i="1">
                            <a:latin typeface="Cambria Math"/>
                          </a:rPr>
                        </m:ctrlPr>
                      </m:sSubPr>
                      <m:e>
                        <m:r>
                          <m:rPr>
                            <m:sty m:val="p"/>
                          </m:rPr>
                          <a:rPr lang="en-US" sz="2000">
                            <a:latin typeface="Cambria Math" panose="02040503050406030204" pitchFamily="18" charset="0"/>
                          </a:rPr>
                          <m:t>Q</m:t>
                        </m:r>
                      </m:e>
                      <m:sub>
                        <m:r>
                          <a:rPr lang="en-US" sz="2000" i="1">
                            <a:latin typeface="Cambria Math" panose="02040503050406030204" pitchFamily="18" charset="0"/>
                          </a:rPr>
                          <m:t>3</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with a line inside the box to represent the median.</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Step 4: Connect the minimum and the maximum to each side of the box with a line.</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Step 5: Include a title and a label for the axis.</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lvl="3"/>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Compare your box plots with your partner. Make any revisions if necessary.</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5" name="TextBox 4">
                <a:extLst>
                  <a:ext uri="{FF2B5EF4-FFF2-40B4-BE49-F238E27FC236}">
                    <a16:creationId xmlns="" xmlns:a16="http://schemas.microsoft.com/office/drawing/2014/main" xmlns:a14="http://schemas.microsoft.com/office/drawing/2010/main" id="{A3BC97A7-8575-5A46-8E72-A886A83AEC7E}"/>
                  </a:ext>
                </a:extLst>
              </p:cNvPr>
              <p:cNvSpPr txBox="1">
                <a:spLocks noRot="1" noChangeAspect="1" noMove="1" noResize="1" noEditPoints="1" noAdjustHandles="1" noChangeArrowheads="1" noChangeShapeType="1" noTextEdit="1"/>
              </p:cNvSpPr>
              <p:nvPr/>
            </p:nvSpPr>
            <p:spPr>
              <a:xfrm>
                <a:off x="548407" y="386282"/>
                <a:ext cx="10668000" cy="4093428"/>
              </a:xfrm>
              <a:prstGeom prst="rect">
                <a:avLst/>
              </a:prstGeom>
              <a:blipFill rotWithShape="1">
                <a:blip r:embed="rId3"/>
                <a:stretch>
                  <a:fillRect l="-629" t="-744"/>
                </a:stretch>
              </a:blipFill>
            </p:spPr>
            <p:txBody>
              <a:bodyPr/>
              <a:lstStyle/>
              <a:p>
                <a:r>
                  <a:rPr lang="en-PH">
                    <a:noFill/>
                  </a:rPr>
                  <a:t> </a:t>
                </a:r>
              </a:p>
            </p:txBody>
          </p:sp>
        </mc:Fallback>
      </mc:AlternateContent>
      <p:pic>
        <p:nvPicPr>
          <p:cNvPr id="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a:t>
            </a:r>
            <a:r>
              <a:rPr lang="en-US" i="1">
                <a:latin typeface="Calibri"/>
                <a:ea typeface="Calibri"/>
                <a:cs typeface="Calibri"/>
                <a:sym typeface="Calibri"/>
              </a:rPr>
              <a:t>206</a:t>
            </a:r>
            <a:endParaRPr lang="en-US" i="1" dirty="0">
              <a:latin typeface="Calibri"/>
              <a:ea typeface="Calibri"/>
              <a:cs typeface="Calibri"/>
              <a:sym typeface="Calibri"/>
            </a:endParaRPr>
          </a:p>
        </p:txBody>
      </p:sp>
    </p:spTree>
    <p:extLst>
      <p:ext uri="{BB962C8B-B14F-4D97-AF65-F5344CB8AC3E}">
        <p14:creationId xmlns:p14="http://schemas.microsoft.com/office/powerpoint/2010/main" val="3597994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207</a:t>
            </a:r>
          </a:p>
        </p:txBody>
      </p:sp>
    </p:spTree>
    <p:extLst>
      <p:ext uri="{BB962C8B-B14F-4D97-AF65-F5344CB8AC3E}">
        <p14:creationId xmlns:p14="http://schemas.microsoft.com/office/powerpoint/2010/main" val="1158704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41824" y="-146504"/>
            <a:ext cx="93973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10.1.5 Try It: Creating a Box Plot</a:t>
            </a: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2016" y="14144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0AB6A3A1-5A0D-C84F-AC89-57E6782F43E5}"/>
                  </a:ext>
                </a:extLst>
              </p:cNvPr>
              <p:cNvSpPr txBox="1"/>
              <p:nvPr/>
            </p:nvSpPr>
            <p:spPr>
              <a:xfrm>
                <a:off x="566057" y="1386026"/>
                <a:ext cx="10678886" cy="317009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ages of the </a:t>
                </a:r>
                <a14:m>
                  <m:oMath xmlns:m="http://schemas.openxmlformats.org/officeDocument/2006/math">
                    <m:r>
                      <a:rPr lang="en-US" sz="2000">
                        <a:latin typeface="Cambria Math" panose="02040503050406030204" pitchFamily="18" charset="0"/>
                      </a:rPr>
                      <m:t>21</m:t>
                    </m:r>
                  </m:oMath>
                </a14:m>
                <a:r>
                  <a:rPr lang="en-US" sz="2000" dirty="0">
                    <a:latin typeface="Verdana" panose="020B0604030504040204" pitchFamily="34" charset="0"/>
                    <a:ea typeface="Verdana" panose="020B0604030504040204" pitchFamily="34" charset="0"/>
                    <a:cs typeface="Verdana" panose="020B0604030504040204" pitchFamily="34" charset="0"/>
                  </a:rPr>
                  <a:t> restaurant customers who attended a special event at a local restaurant are shown.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27, 28, 39, 18, 18, 21, 32, 25, 46, 40, 40, </m:t>
                      </m:r>
                    </m:oMath>
                  </m:oMathPara>
                </a14:m>
                <a:endParaRPr lang="en-US" sz="2000" dirty="0"/>
              </a:p>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22, 23, 24, 28, 30, 33, 35, 38, 42, 57</m:t>
                      </m:r>
                    </m:oMath>
                  </m:oMathPara>
                </a14:m>
                <a:endParaRPr lang="en-US" sz="2000" dirty="0"/>
              </a:p>
              <a:p>
                <a:r>
                  <a:rPr lang="en-US" sz="2000" i="1" dirty="0"/>
                  <a:t> </a:t>
                </a:r>
              </a:p>
              <a:p>
                <a:pPr marL="914400" indent="-4476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Determine the five-number summary for the data set. </a:t>
                </a:r>
              </a:p>
              <a:p>
                <a:endParaRPr lang="en-US" sz="2000" dirty="0"/>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566057" y="1386026"/>
                <a:ext cx="10678886" cy="3170099"/>
              </a:xfrm>
              <a:prstGeom prst="rect">
                <a:avLst/>
              </a:prstGeom>
              <a:blipFill>
                <a:blip r:embed="rId5"/>
                <a:stretch>
                  <a:fillRect l="-628" t="-1154"/>
                </a:stretch>
              </a:blipFill>
            </p:spPr>
            <p:txBody>
              <a:bodyPr/>
              <a:lstStyle/>
              <a:p>
                <a:r>
                  <a:rPr lang="en-US">
                    <a:noFill/>
                  </a:rPr>
                  <a:t> </a:t>
                </a:r>
              </a:p>
            </p:txBody>
          </p:sp>
        </mc:Fallback>
      </mc:AlternateContent>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207</a:t>
            </a:r>
          </a:p>
        </p:txBody>
      </p:sp>
    </p:spTree>
    <p:extLst>
      <p:ext uri="{BB962C8B-B14F-4D97-AF65-F5344CB8AC3E}">
        <p14:creationId xmlns:p14="http://schemas.microsoft.com/office/powerpoint/2010/main" val="1668332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22347CCE-34A7-8044-BA67-B5895157AE55}"/>
                  </a:ext>
                </a:extLst>
              </p:cNvPr>
              <p:cNvSpPr txBox="1"/>
              <p:nvPr/>
            </p:nvSpPr>
            <p:spPr>
              <a:xfrm>
                <a:off x="435429" y="349706"/>
                <a:ext cx="9824139" cy="6247864"/>
              </a:xfrm>
              <a:prstGeom prst="rect">
                <a:avLst/>
              </a:prstGeom>
              <a:noFill/>
            </p:spPr>
            <p:txBody>
              <a:bodyPr wrap="square" rtlCol="0">
                <a:spAutoFit/>
              </a:bodyPr>
              <a:lstStyle/>
              <a:p>
                <a:pPr marL="914400" lvl="1" indent="-44767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Create a box plot using the data and five-number summary for the </a:t>
                </a:r>
                <a14:m>
                  <m:oMath xmlns:m="http://schemas.openxmlformats.org/officeDocument/2006/math">
                    <m:r>
                      <a:rPr lang="en-US" sz="2000" i="1">
                        <a:latin typeface="Cambria Math" panose="02040503050406030204" pitchFamily="18" charset="0"/>
                      </a:rPr>
                      <m:t>21</m:t>
                    </m:r>
                  </m:oMath>
                </a14:m>
                <a:r>
                  <a:rPr lang="en-US" sz="2000" dirty="0">
                    <a:latin typeface="Verdana" panose="020B0604030504040204" pitchFamily="34" charset="0"/>
                    <a:ea typeface="Verdana" panose="020B0604030504040204" pitchFamily="34" charset="0"/>
                    <a:cs typeface="Verdana" panose="020B0604030504040204" pitchFamily="34" charset="0"/>
                  </a:rPr>
                  <a:t> restaurant customers. </a:t>
                </a: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Does the length of each part of the box plot need to be the same?</a:t>
                </a: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22347CCE-34A7-8044-BA67-B5895157AE55}"/>
                  </a:ext>
                </a:extLst>
              </p:cNvPr>
              <p:cNvSpPr txBox="1">
                <a:spLocks noRot="1" noChangeAspect="1" noMove="1" noResize="1" noEditPoints="1" noAdjustHandles="1" noChangeArrowheads="1" noChangeShapeType="1" noTextEdit="1"/>
              </p:cNvSpPr>
              <p:nvPr/>
            </p:nvSpPr>
            <p:spPr>
              <a:xfrm>
                <a:off x="435429" y="349706"/>
                <a:ext cx="9824139" cy="6247864"/>
              </a:xfrm>
              <a:prstGeom prst="rect">
                <a:avLst/>
              </a:prstGeom>
              <a:blipFill>
                <a:blip r:embed="rId4"/>
                <a:stretch>
                  <a:fillRect t="-585"/>
                </a:stretch>
              </a:blipFill>
            </p:spPr>
            <p:txBody>
              <a:bodyPr/>
              <a:lstStyle/>
              <a:p>
                <a:r>
                  <a:rPr lang="en-US">
                    <a:noFill/>
                  </a:rPr>
                  <a:t> </a:t>
                </a:r>
              </a:p>
            </p:txBody>
          </p:sp>
        </mc:Fallback>
      </mc:AlternateContent>
      <p:pic>
        <p:nvPicPr>
          <p:cNvPr id="6" name="Picture 5" descr="Chart, line chart, scatter chart&#10;&#10;Description automatically generated">
            <a:extLst>
              <a:ext uri="{FF2B5EF4-FFF2-40B4-BE49-F238E27FC236}">
                <a16:creationId xmlns:a16="http://schemas.microsoft.com/office/drawing/2014/main" xmlns="" id="{540EC76D-E5B3-7746-BAE7-ACA1B46B212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32433" y="1366202"/>
            <a:ext cx="8023719" cy="2710498"/>
          </a:xfrm>
          <a:prstGeom prst="rect">
            <a:avLst/>
          </a:prstGeom>
        </p:spPr>
      </p:pic>
      <p:pic>
        <p:nvPicPr>
          <p:cNvPr id="7"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207</a:t>
            </a:r>
          </a:p>
        </p:txBody>
      </p:sp>
    </p:spTree>
    <p:extLst>
      <p:ext uri="{BB962C8B-B14F-4D97-AF65-F5344CB8AC3E}">
        <p14:creationId xmlns:p14="http://schemas.microsoft.com/office/powerpoint/2010/main" val="1750209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22347CCE-34A7-8044-BA67-B5895157AE55}"/>
              </a:ext>
            </a:extLst>
          </p:cNvPr>
          <p:cNvSpPr txBox="1"/>
          <p:nvPr/>
        </p:nvSpPr>
        <p:spPr>
          <a:xfrm>
            <a:off x="462861" y="517587"/>
            <a:ext cx="8327136" cy="5940088"/>
          </a:xfrm>
          <a:prstGeom prst="rect">
            <a:avLst/>
          </a:prstGeom>
          <a:noFill/>
        </p:spPr>
        <p:txBody>
          <a:bodyPr wrap="square" rtlCol="0">
            <a:spAutoFit/>
          </a:bodyPr>
          <a:lstStyle/>
          <a:p>
            <a:pPr marL="917575" lvl="1" indent="-452438">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Why is the actual length of each part not equal, even though they each represent </a:t>
            </a:r>
            <a:r>
              <a:rPr lang="en-US" sz="2000" dirty="0">
                <a:latin typeface="Cambria Math" panose="02040503050406030204" pitchFamily="18" charset="0"/>
                <a:ea typeface="Cambria Math" panose="02040503050406030204" pitchFamily="18" charset="0"/>
                <a:cs typeface="Verdana" panose="020B0604030504040204" pitchFamily="34" charset="0"/>
              </a:rPr>
              <a:t>25%</a:t>
            </a:r>
            <a:r>
              <a:rPr lang="en-US" sz="2000" dirty="0">
                <a:latin typeface="Verdana" panose="020B0604030504040204" pitchFamily="34" charset="0"/>
                <a:ea typeface="Verdana" panose="020B0604030504040204" pitchFamily="34" charset="0"/>
                <a:cs typeface="Verdana" panose="020B0604030504040204" pitchFamily="34" charset="0"/>
              </a:rPr>
              <a:t> of the data?</a:t>
            </a: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What is the interquartile range for the data?</a:t>
            </a: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lvl="1" indent="-452438">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What is the range?</a:t>
            </a:r>
          </a:p>
          <a:p>
            <a:r>
              <a:rPr lang="en-US" dirty="0"/>
              <a:t/>
            </a:r>
            <a:br>
              <a:rPr lang="en-US" dirty="0"/>
            </a:br>
            <a:r>
              <a:rPr lang="en-US" dirty="0"/>
              <a:t> </a:t>
            </a:r>
            <a:endParaRPr lang="en-US" sz="1200" dirty="0"/>
          </a:p>
          <a:p>
            <a:pPr lvl="1"/>
            <a:endParaRPr lang="en-US" sz="1200" dirty="0"/>
          </a:p>
        </p:txBody>
      </p:sp>
      <p:pic>
        <p:nvPicPr>
          <p:cNvPr id="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207</a:t>
            </a:r>
          </a:p>
        </p:txBody>
      </p:sp>
    </p:spTree>
    <p:extLst>
      <p:ext uri="{BB962C8B-B14F-4D97-AF65-F5344CB8AC3E}">
        <p14:creationId xmlns:p14="http://schemas.microsoft.com/office/powerpoint/2010/main" val="3342860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208</a:t>
            </a:r>
          </a:p>
        </p:txBody>
      </p:sp>
    </p:spTree>
    <p:extLst>
      <p:ext uri="{BB962C8B-B14F-4D97-AF65-F5344CB8AC3E}">
        <p14:creationId xmlns:p14="http://schemas.microsoft.com/office/powerpoint/2010/main" val="4187097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41824" y="182150"/>
            <a:ext cx="9397326"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10.1.6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394524" y="169182"/>
            <a:ext cx="747300" cy="747300"/>
          </a:xfrm>
          <a:prstGeom prst="rect">
            <a:avLst/>
          </a:prstGeom>
          <a:noFill/>
          <a:ln>
            <a:noFill/>
          </a:ln>
        </p:spPr>
      </p:pic>
      <p:sp>
        <p:nvSpPr>
          <p:cNvPr id="12" name="TextBox 11">
            <a:extLst>
              <a:ext uri="{FF2B5EF4-FFF2-40B4-BE49-F238E27FC236}">
                <a16:creationId xmlns:a16="http://schemas.microsoft.com/office/drawing/2014/main" xmlns="" id="{759C3E41-93EC-B84D-963F-86A3B15AC1C6}"/>
              </a:ext>
            </a:extLst>
          </p:cNvPr>
          <p:cNvSpPr txBox="1"/>
          <p:nvPr/>
        </p:nvSpPr>
        <p:spPr>
          <a:xfrm>
            <a:off x="546090" y="1386026"/>
            <a:ext cx="9993060" cy="461664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Tom Brady is considered by most to be one of the best NFL quarterbacks of all time. The five-number summary for his pass-completion percentages from 2000 to 2009 is shown.</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the data used to determine the five-number summary for Tom Brady’s pass completion is more truthful than the data for golden retriever puppies, or the ages of the restaurant customers who attended a special event.</a:t>
            </a:r>
          </a:p>
          <a:p>
            <a:r>
              <a:rPr lang="en-US" dirty="0"/>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A55BBF4B-7528-A645-AE6D-8F8D5B0945C4}"/>
                  </a:ext>
                </a:extLst>
              </p:cNvPr>
              <p:cNvGraphicFramePr>
                <a:graphicFrameLocks noGrp="1"/>
              </p:cNvGraphicFramePr>
              <p:nvPr>
                <p:extLst>
                  <p:ext uri="{D42A27DB-BD31-4B8C-83A1-F6EECF244321}">
                    <p14:modId xmlns:p14="http://schemas.microsoft.com/office/powerpoint/2010/main" val="1950974805"/>
                  </p:ext>
                </p:extLst>
              </p:nvPr>
            </p:nvGraphicFramePr>
            <p:xfrm>
              <a:off x="2060449" y="2598897"/>
              <a:ext cx="7834569" cy="1052195"/>
            </p:xfrm>
            <a:graphic>
              <a:graphicData uri="http://schemas.openxmlformats.org/drawingml/2006/table">
                <a:tbl>
                  <a:tblPr firstRow="1" firstCol="1" bandRow="1">
                    <a:tableStyleId>{A91F0D33-8C57-4600-99A7-42BC86742BE1}</a:tableStyleId>
                  </a:tblPr>
                  <a:tblGrid>
                    <a:gridCol w="1516252">
                      <a:extLst>
                        <a:ext uri="{9D8B030D-6E8A-4147-A177-3AD203B41FA5}">
                          <a16:colId xmlns:a16="http://schemas.microsoft.com/office/drawing/2014/main" xmlns="" val="1118813485"/>
                        </a:ext>
                      </a:extLst>
                    </a:gridCol>
                    <a:gridCol w="1582301">
                      <a:extLst>
                        <a:ext uri="{9D8B030D-6E8A-4147-A177-3AD203B41FA5}">
                          <a16:colId xmlns:a16="http://schemas.microsoft.com/office/drawing/2014/main" xmlns="" val="1465912068"/>
                        </a:ext>
                      </a:extLst>
                    </a:gridCol>
                    <a:gridCol w="1578672">
                      <a:extLst>
                        <a:ext uri="{9D8B030D-6E8A-4147-A177-3AD203B41FA5}">
                          <a16:colId xmlns:a16="http://schemas.microsoft.com/office/drawing/2014/main" xmlns="" val="1300500233"/>
                        </a:ext>
                      </a:extLst>
                    </a:gridCol>
                    <a:gridCol w="1578672">
                      <a:extLst>
                        <a:ext uri="{9D8B030D-6E8A-4147-A177-3AD203B41FA5}">
                          <a16:colId xmlns:a16="http://schemas.microsoft.com/office/drawing/2014/main" xmlns="" val="2627005560"/>
                        </a:ext>
                      </a:extLst>
                    </a:gridCol>
                    <a:gridCol w="1578672">
                      <a:extLst>
                        <a:ext uri="{9D8B030D-6E8A-4147-A177-3AD203B41FA5}">
                          <a16:colId xmlns:a16="http://schemas.microsoft.com/office/drawing/2014/main" xmlns="" val="173403544"/>
                        </a:ext>
                      </a:extLst>
                    </a:gridCol>
                  </a:tblGrid>
                  <a:tr h="53911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Minimum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Maximum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000" b="1" i="1">
                                        <a:effectLst/>
                                        <a:latin typeface="Cambria Math"/>
                                      </a:rPr>
                                    </m:ctrlPr>
                                  </m:sSubPr>
                                  <m:e>
                                    <m:r>
                                      <a:rPr lang="en-US" sz="2000" b="1" smtClean="0">
                                        <a:effectLst/>
                                        <a:latin typeface="Cambria Math" panose="02040503050406030204" pitchFamily="18" charset="0"/>
                                      </a:rPr>
                                      <m:t>𝐐</m:t>
                                    </m:r>
                                  </m:e>
                                  <m:sub>
                                    <m:r>
                                      <a:rPr lang="en-US" sz="2000" b="1" smtClean="0">
                                        <a:effectLst/>
                                        <a:latin typeface="Cambria Math" panose="02040503050406030204" pitchFamily="18" charset="0"/>
                                      </a:rPr>
                                      <m:t>𝟏</m:t>
                                    </m:r>
                                  </m:sub>
                                </m:sSub>
                              </m:oMath>
                            </m:oMathPara>
                          </a14:m>
                          <a:endParaRPr lang="en-US" sz="20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000" b="1" i="1">
                                        <a:effectLst/>
                                        <a:latin typeface="Cambria Math"/>
                                      </a:rPr>
                                    </m:ctrlPr>
                                  </m:sSubPr>
                                  <m:e>
                                    <m:r>
                                      <a:rPr lang="en-US" sz="2000" b="1" smtClean="0">
                                        <a:effectLst/>
                                        <a:latin typeface="Cambria Math" panose="02040503050406030204" pitchFamily="18" charset="0"/>
                                      </a:rPr>
                                      <m:t>𝐐</m:t>
                                    </m:r>
                                  </m:e>
                                  <m:sub>
                                    <m:r>
                                      <a:rPr lang="en-US" sz="2000" b="1" smtClean="0">
                                        <a:effectLst/>
                                        <a:latin typeface="Cambria Math" panose="02040503050406030204" pitchFamily="18" charset="0"/>
                                      </a:rPr>
                                      <m:t>𝟑</m:t>
                                    </m:r>
                                  </m:sub>
                                </m:sSub>
                              </m:oMath>
                            </m:oMathPara>
                          </a14:m>
                          <a:endParaRPr lang="en-US" sz="20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Median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610285187"/>
                      </a:ext>
                    </a:extLst>
                  </a:tr>
                  <a:tr h="51308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60.2</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68.9</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61.8</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65.7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63.3</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8307429"/>
                      </a:ext>
                    </a:extLst>
                  </a:tr>
                </a:tbl>
              </a:graphicData>
            </a:graphic>
          </p:graphicFrame>
        </mc:Choice>
        <mc:Fallback xmlns="">
          <p:graphicFrame>
            <p:nvGraphicFramePr>
              <p:cNvPr id="2" name="Table 1">
                <a:extLst>
                  <a:ext uri="{FF2B5EF4-FFF2-40B4-BE49-F238E27FC236}">
                    <a16:creationId xmlns:a16="http://schemas.microsoft.com/office/drawing/2014/main" id="{A55BBF4B-7528-A645-AE6D-8F8D5B0945C4}"/>
                  </a:ext>
                </a:extLst>
              </p:cNvPr>
              <p:cNvGraphicFramePr>
                <a:graphicFrameLocks noGrp="1"/>
              </p:cNvGraphicFramePr>
              <p:nvPr>
                <p:extLst>
                  <p:ext uri="{D42A27DB-BD31-4B8C-83A1-F6EECF244321}">
                    <p14:modId xmlns:p14="http://schemas.microsoft.com/office/powerpoint/2010/main" val="1950974805"/>
                  </p:ext>
                </p:extLst>
              </p:nvPr>
            </p:nvGraphicFramePr>
            <p:xfrm>
              <a:off x="2060449" y="2598897"/>
              <a:ext cx="7834569" cy="1052195"/>
            </p:xfrm>
            <a:graphic>
              <a:graphicData uri="http://schemas.openxmlformats.org/drawingml/2006/table">
                <a:tbl>
                  <a:tblPr firstRow="1" firstCol="1" bandRow="1">
                    <a:tableStyleId>{A91F0D33-8C57-4600-99A7-42BC86742BE1}</a:tableStyleId>
                  </a:tblPr>
                  <a:tblGrid>
                    <a:gridCol w="1516252">
                      <a:extLst>
                        <a:ext uri="{9D8B030D-6E8A-4147-A177-3AD203B41FA5}">
                          <a16:colId xmlns:a16="http://schemas.microsoft.com/office/drawing/2014/main" val="1118813485"/>
                        </a:ext>
                      </a:extLst>
                    </a:gridCol>
                    <a:gridCol w="1582301">
                      <a:extLst>
                        <a:ext uri="{9D8B030D-6E8A-4147-A177-3AD203B41FA5}">
                          <a16:colId xmlns:a16="http://schemas.microsoft.com/office/drawing/2014/main" val="1465912068"/>
                        </a:ext>
                      </a:extLst>
                    </a:gridCol>
                    <a:gridCol w="1578672">
                      <a:extLst>
                        <a:ext uri="{9D8B030D-6E8A-4147-A177-3AD203B41FA5}">
                          <a16:colId xmlns:a16="http://schemas.microsoft.com/office/drawing/2014/main" val="1300500233"/>
                        </a:ext>
                      </a:extLst>
                    </a:gridCol>
                    <a:gridCol w="1578672">
                      <a:extLst>
                        <a:ext uri="{9D8B030D-6E8A-4147-A177-3AD203B41FA5}">
                          <a16:colId xmlns:a16="http://schemas.microsoft.com/office/drawing/2014/main" val="2627005560"/>
                        </a:ext>
                      </a:extLst>
                    </a:gridCol>
                    <a:gridCol w="1578672">
                      <a:extLst>
                        <a:ext uri="{9D8B030D-6E8A-4147-A177-3AD203B41FA5}">
                          <a16:colId xmlns:a16="http://schemas.microsoft.com/office/drawing/2014/main" val="173403544"/>
                        </a:ext>
                      </a:extLst>
                    </a:gridCol>
                  </a:tblGrid>
                  <a:tr h="53911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Minimum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Maximum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7297" t="-1124" r="-200772" b="-9775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7297" t="-1124" r="-100772" b="-97753"/>
                          </a:stretch>
                        </a:blip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Median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10285187"/>
                      </a:ext>
                    </a:extLst>
                  </a:tr>
                  <a:tr h="51308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3" t="-107143" r="-417269" b="-3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6538" t="-107143" r="-299615" b="-3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7297" t="-107143" r="-200772" b="-3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7297" t="-107143" r="-100772" b="-3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97297" t="-107143" r="-772" b="-3571"/>
                          </a:stretch>
                        </a:blipFill>
                      </a:tcPr>
                    </a:tc>
                    <a:extLst>
                      <a:ext uri="{0D108BD9-81ED-4DB2-BD59-A6C34878D82A}">
                        <a16:rowId xmlns:a16="http://schemas.microsoft.com/office/drawing/2014/main" val="418307429"/>
                      </a:ext>
                    </a:extLst>
                  </a:tr>
                </a:tbl>
              </a:graphicData>
            </a:graphic>
          </p:graphicFrame>
        </mc:Fallback>
      </mc:AlternateContent>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a:t>
            </a:r>
            <a:r>
              <a:rPr lang="en-US" i="1">
                <a:latin typeface="Calibri"/>
                <a:ea typeface="Calibri"/>
                <a:cs typeface="Calibri"/>
                <a:sym typeface="Calibri"/>
              </a:rPr>
              <a:t>208</a:t>
            </a:r>
            <a:endParaRPr lang="en-US" i="1" dirty="0">
              <a:latin typeface="Calibri"/>
              <a:ea typeface="Calibri"/>
              <a:cs typeface="Calibri"/>
              <a:sym typeface="Calibri"/>
            </a:endParaRPr>
          </a:p>
        </p:txBody>
      </p:sp>
    </p:spTree>
    <p:extLst>
      <p:ext uri="{BB962C8B-B14F-4D97-AF65-F5344CB8AC3E}">
        <p14:creationId xmlns:p14="http://schemas.microsoft.com/office/powerpoint/2010/main" val="3178846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08C67FCF-92C3-654A-BF40-5BDF7A4F9271}"/>
              </a:ext>
            </a:extLst>
          </p:cNvPr>
          <p:cNvSpPr txBox="1"/>
          <p:nvPr/>
        </p:nvSpPr>
        <p:spPr>
          <a:xfrm>
            <a:off x="424543" y="398473"/>
            <a:ext cx="9835025" cy="5940088"/>
          </a:xfrm>
          <a:prstGeom prst="rect">
            <a:avLst/>
          </a:prstGeom>
          <a:noFill/>
        </p:spPr>
        <p:txBody>
          <a:bodyPr wrap="square" rtlCol="0">
            <a:spAutoFit/>
          </a:bodyPr>
          <a:lstStyle/>
          <a:p>
            <a:pPr marL="914400"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Use the five-number summary to draw and label a box plot of the data set.</a:t>
            </a:r>
          </a:p>
          <a:p>
            <a:pPr marL="466725"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indent="-57150" algn="ctr"/>
            <a:r>
              <a:rPr lang="en-US" sz="2000" b="1" dirty="0">
                <a:latin typeface="Verdana" panose="020B0604030504040204" pitchFamily="34" charset="0"/>
                <a:ea typeface="Verdana" panose="020B0604030504040204" pitchFamily="34" charset="0"/>
                <a:cs typeface="Verdana" panose="020B0604030504040204" pitchFamily="34" charset="0"/>
              </a:rPr>
              <a:t>Tom Brady’s Completion Percentages 2000-2009</a:t>
            </a:r>
            <a:r>
              <a:rPr lang="en-US" sz="2000" dirty="0">
                <a:latin typeface="Verdana" panose="020B0604030504040204" pitchFamily="34" charset="0"/>
                <a:ea typeface="Verdana" panose="020B0604030504040204" pitchFamily="34" charset="0"/>
                <a:cs typeface="Verdana" panose="020B0604030504040204" pitchFamily="34" charset="0"/>
              </a:rPr>
              <a:t> </a:t>
            </a:r>
          </a:p>
          <a:p>
            <a:pPr marL="466725"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indent="-449263"/>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Chart, scatter chart&#10;&#10;Description automatically generated">
            <a:extLst>
              <a:ext uri="{FF2B5EF4-FFF2-40B4-BE49-F238E27FC236}">
                <a16:creationId xmlns:a16="http://schemas.microsoft.com/office/drawing/2014/main" xmlns="" id="{03118A3E-62EA-6C45-9331-E1303C69E47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2094994" y="3745834"/>
            <a:ext cx="6901180" cy="69469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xmlns="" id="{19A30C4F-7505-4242-83CE-DE4F0AC3D20B}"/>
                  </a:ext>
                </a:extLst>
              </p:cNvPr>
              <p:cNvGraphicFramePr>
                <a:graphicFrameLocks noGrp="1"/>
              </p:cNvGraphicFramePr>
              <p:nvPr>
                <p:extLst>
                  <p:ext uri="{D42A27DB-BD31-4B8C-83A1-F6EECF244321}">
                    <p14:modId xmlns:p14="http://schemas.microsoft.com/office/powerpoint/2010/main" val="2450411385"/>
                  </p:ext>
                </p:extLst>
              </p:nvPr>
            </p:nvGraphicFramePr>
            <p:xfrm>
              <a:off x="2218408" y="677454"/>
              <a:ext cx="7834569" cy="1052195"/>
            </p:xfrm>
            <a:graphic>
              <a:graphicData uri="http://schemas.openxmlformats.org/drawingml/2006/table">
                <a:tbl>
                  <a:tblPr firstRow="1" firstCol="1" bandRow="1">
                    <a:tableStyleId>{A91F0D33-8C57-4600-99A7-42BC86742BE1}</a:tableStyleId>
                  </a:tblPr>
                  <a:tblGrid>
                    <a:gridCol w="1516252">
                      <a:extLst>
                        <a:ext uri="{9D8B030D-6E8A-4147-A177-3AD203B41FA5}">
                          <a16:colId xmlns:a16="http://schemas.microsoft.com/office/drawing/2014/main" xmlns="" val="1118813485"/>
                        </a:ext>
                      </a:extLst>
                    </a:gridCol>
                    <a:gridCol w="1582301">
                      <a:extLst>
                        <a:ext uri="{9D8B030D-6E8A-4147-A177-3AD203B41FA5}">
                          <a16:colId xmlns:a16="http://schemas.microsoft.com/office/drawing/2014/main" xmlns="" val="1465912068"/>
                        </a:ext>
                      </a:extLst>
                    </a:gridCol>
                    <a:gridCol w="1578672">
                      <a:extLst>
                        <a:ext uri="{9D8B030D-6E8A-4147-A177-3AD203B41FA5}">
                          <a16:colId xmlns:a16="http://schemas.microsoft.com/office/drawing/2014/main" xmlns="" val="1300500233"/>
                        </a:ext>
                      </a:extLst>
                    </a:gridCol>
                    <a:gridCol w="1578672">
                      <a:extLst>
                        <a:ext uri="{9D8B030D-6E8A-4147-A177-3AD203B41FA5}">
                          <a16:colId xmlns:a16="http://schemas.microsoft.com/office/drawing/2014/main" xmlns="" val="2627005560"/>
                        </a:ext>
                      </a:extLst>
                    </a:gridCol>
                    <a:gridCol w="1578672">
                      <a:extLst>
                        <a:ext uri="{9D8B030D-6E8A-4147-A177-3AD203B41FA5}">
                          <a16:colId xmlns:a16="http://schemas.microsoft.com/office/drawing/2014/main" xmlns="" val="173403544"/>
                        </a:ext>
                      </a:extLst>
                    </a:gridCol>
                  </a:tblGrid>
                  <a:tr h="53911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Minimum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Maximum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000" b="1" i="1">
                                        <a:effectLst/>
                                        <a:latin typeface="Cambria Math"/>
                                      </a:rPr>
                                    </m:ctrlPr>
                                  </m:sSubPr>
                                  <m:e>
                                    <m:r>
                                      <a:rPr lang="en-US" sz="2000" b="1" smtClean="0">
                                        <a:effectLst/>
                                        <a:latin typeface="Cambria Math" panose="02040503050406030204" pitchFamily="18" charset="0"/>
                                      </a:rPr>
                                      <m:t>𝐐</m:t>
                                    </m:r>
                                  </m:e>
                                  <m:sub>
                                    <m:r>
                                      <a:rPr lang="en-US" sz="2000" b="1" smtClean="0">
                                        <a:effectLst/>
                                        <a:latin typeface="Cambria Math" panose="02040503050406030204" pitchFamily="18" charset="0"/>
                                      </a:rPr>
                                      <m:t>𝟏</m:t>
                                    </m:r>
                                  </m:sub>
                                </m:sSub>
                              </m:oMath>
                            </m:oMathPara>
                          </a14:m>
                          <a:endParaRPr lang="en-US" sz="20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000" b="1" i="1">
                                        <a:effectLst/>
                                        <a:latin typeface="Cambria Math"/>
                                      </a:rPr>
                                    </m:ctrlPr>
                                  </m:sSubPr>
                                  <m:e>
                                    <m:r>
                                      <a:rPr lang="en-US" sz="2000" b="1" smtClean="0">
                                        <a:effectLst/>
                                        <a:latin typeface="Cambria Math" panose="02040503050406030204" pitchFamily="18" charset="0"/>
                                      </a:rPr>
                                      <m:t>𝐐</m:t>
                                    </m:r>
                                  </m:e>
                                  <m:sub>
                                    <m:r>
                                      <a:rPr lang="en-US" sz="2000" b="1" smtClean="0">
                                        <a:effectLst/>
                                        <a:latin typeface="Cambria Math" panose="02040503050406030204" pitchFamily="18" charset="0"/>
                                      </a:rPr>
                                      <m:t>𝟑</m:t>
                                    </m:r>
                                  </m:sub>
                                </m:sSub>
                              </m:oMath>
                            </m:oMathPara>
                          </a14:m>
                          <a:endParaRPr lang="en-US" sz="20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Median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610285187"/>
                      </a:ext>
                    </a:extLst>
                  </a:tr>
                  <a:tr h="51308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60.2</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68.9</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61.8</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65.7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63.3</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8307429"/>
                      </a:ext>
                    </a:extLst>
                  </a:tr>
                </a:tbl>
              </a:graphicData>
            </a:graphic>
          </p:graphicFrame>
        </mc:Choice>
        <mc:Fallback xmlns="">
          <p:graphicFrame>
            <p:nvGraphicFramePr>
              <p:cNvPr id="7" name="Table 6">
                <a:extLst>
                  <a:ext uri="{FF2B5EF4-FFF2-40B4-BE49-F238E27FC236}">
                    <a16:creationId xmlns:a16="http://schemas.microsoft.com/office/drawing/2014/main" id="{19A30C4F-7505-4242-83CE-DE4F0AC3D20B}"/>
                  </a:ext>
                </a:extLst>
              </p:cNvPr>
              <p:cNvGraphicFramePr>
                <a:graphicFrameLocks noGrp="1"/>
              </p:cNvGraphicFramePr>
              <p:nvPr>
                <p:extLst>
                  <p:ext uri="{D42A27DB-BD31-4B8C-83A1-F6EECF244321}">
                    <p14:modId xmlns:p14="http://schemas.microsoft.com/office/powerpoint/2010/main" val="2450411385"/>
                  </p:ext>
                </p:extLst>
              </p:nvPr>
            </p:nvGraphicFramePr>
            <p:xfrm>
              <a:off x="2218408" y="677454"/>
              <a:ext cx="7834569" cy="1052195"/>
            </p:xfrm>
            <a:graphic>
              <a:graphicData uri="http://schemas.openxmlformats.org/drawingml/2006/table">
                <a:tbl>
                  <a:tblPr firstRow="1" firstCol="1" bandRow="1">
                    <a:tableStyleId>{A91F0D33-8C57-4600-99A7-42BC86742BE1}</a:tableStyleId>
                  </a:tblPr>
                  <a:tblGrid>
                    <a:gridCol w="1516252">
                      <a:extLst>
                        <a:ext uri="{9D8B030D-6E8A-4147-A177-3AD203B41FA5}">
                          <a16:colId xmlns:a16="http://schemas.microsoft.com/office/drawing/2014/main" val="1118813485"/>
                        </a:ext>
                      </a:extLst>
                    </a:gridCol>
                    <a:gridCol w="1582301">
                      <a:extLst>
                        <a:ext uri="{9D8B030D-6E8A-4147-A177-3AD203B41FA5}">
                          <a16:colId xmlns:a16="http://schemas.microsoft.com/office/drawing/2014/main" val="1465912068"/>
                        </a:ext>
                      </a:extLst>
                    </a:gridCol>
                    <a:gridCol w="1578672">
                      <a:extLst>
                        <a:ext uri="{9D8B030D-6E8A-4147-A177-3AD203B41FA5}">
                          <a16:colId xmlns:a16="http://schemas.microsoft.com/office/drawing/2014/main" val="1300500233"/>
                        </a:ext>
                      </a:extLst>
                    </a:gridCol>
                    <a:gridCol w="1578672">
                      <a:extLst>
                        <a:ext uri="{9D8B030D-6E8A-4147-A177-3AD203B41FA5}">
                          <a16:colId xmlns:a16="http://schemas.microsoft.com/office/drawing/2014/main" val="2627005560"/>
                        </a:ext>
                      </a:extLst>
                    </a:gridCol>
                    <a:gridCol w="1578672">
                      <a:extLst>
                        <a:ext uri="{9D8B030D-6E8A-4147-A177-3AD203B41FA5}">
                          <a16:colId xmlns:a16="http://schemas.microsoft.com/office/drawing/2014/main" val="173403544"/>
                        </a:ext>
                      </a:extLst>
                    </a:gridCol>
                  </a:tblGrid>
                  <a:tr h="53911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Minimum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Maximum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6911" t="-1124" r="-201158" b="-96629"/>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769" t="-1124" r="-100385" b="-96629"/>
                          </a:stretch>
                        </a:blip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Median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10285187"/>
                      </a:ext>
                    </a:extLst>
                  </a:tr>
                  <a:tr h="51308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2" t="-107143" r="-417671" b="-238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6154" t="-107143" r="-300000" b="-238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6911" t="-107143" r="-201158" b="-238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769" t="-107143" r="-100385" b="-238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97297" t="-107143" r="-772" b="-2381"/>
                          </a:stretch>
                        </a:blipFill>
                      </a:tcPr>
                    </a:tc>
                    <a:extLst>
                      <a:ext uri="{0D108BD9-81ED-4DB2-BD59-A6C34878D82A}">
                        <a16:rowId xmlns:a16="http://schemas.microsoft.com/office/drawing/2014/main" val="418307429"/>
                      </a:ext>
                    </a:extLst>
                  </a:tr>
                </a:tbl>
              </a:graphicData>
            </a:graphic>
          </p:graphicFrame>
        </mc:Fallback>
      </mc:AlternateContent>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a:t>
            </a:r>
            <a:r>
              <a:rPr lang="en-US" i="1">
                <a:latin typeface="Calibri"/>
                <a:ea typeface="Calibri"/>
                <a:cs typeface="Calibri"/>
                <a:sym typeface="Calibri"/>
              </a:rPr>
              <a:t>208</a:t>
            </a:r>
            <a:endParaRPr lang="en-US" i="1" dirty="0">
              <a:latin typeface="Calibri"/>
              <a:ea typeface="Calibri"/>
              <a:cs typeface="Calibri"/>
              <a:sym typeface="Calibri"/>
            </a:endParaRPr>
          </a:p>
        </p:txBody>
      </p:sp>
    </p:spTree>
    <p:extLst>
      <p:ext uri="{BB962C8B-B14F-4D97-AF65-F5344CB8AC3E}">
        <p14:creationId xmlns:p14="http://schemas.microsoft.com/office/powerpoint/2010/main" val="348639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4CE9D117-FAE6-F74F-940B-9CD1479755BE}"/>
                  </a:ext>
                </a:extLst>
              </p:cNvPr>
              <p:cNvSpPr txBox="1"/>
              <p:nvPr/>
            </p:nvSpPr>
            <p:spPr>
              <a:xfrm>
                <a:off x="478971" y="422858"/>
                <a:ext cx="9780597" cy="6155531"/>
              </a:xfrm>
              <a:prstGeom prst="rect">
                <a:avLst/>
              </a:prstGeom>
              <a:noFill/>
            </p:spPr>
            <p:txBody>
              <a:bodyPr wrap="square" rtlCol="0">
                <a:spAutoFit/>
              </a:bodyPr>
              <a:lstStyle/>
              <a:p>
                <a:pPr marL="914400" indent="-447675">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how you chose the scale for which to label the axis. Also, determine an alternative scale that could be used to make the box plot. </a:t>
                </a:r>
              </a:p>
              <a:p>
                <a:pPr marL="914400" indent="-447675">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What scale would you use if the data values ranged from </a:t>
                </a:r>
                <a14:m>
                  <m:oMath xmlns:m="http://schemas.openxmlformats.org/officeDocument/2006/math">
                    <m:r>
                      <a:rPr lang="en-US" sz="2000" i="1">
                        <a:latin typeface="Cambria Math" panose="02040503050406030204" pitchFamily="18" charset="0"/>
                      </a:rPr>
                      <m:t>10.3</m:t>
                    </m:r>
                  </m:oMath>
                </a14:m>
                <a:r>
                  <a:rPr lang="en-US" sz="20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000" i="1">
                        <a:latin typeface="Cambria Math" panose="02040503050406030204" pitchFamily="18" charset="0"/>
                      </a:rPr>
                      <m:t>48.4</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447675">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7675">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Label the number line with your scale from Part D. Then, compare it with your partner. </a:t>
                </a:r>
              </a:p>
              <a:p>
                <a:r>
                  <a:rPr lang="en-US" sz="2000" i="1" dirty="0">
                    <a:latin typeface="Verdana" panose="020B0604030504040204" pitchFamily="34" charset="0"/>
                    <a:ea typeface="Verdana" panose="020B0604030504040204" pitchFamily="34" charset="0"/>
                    <a:cs typeface="Verdana" panose="020B0604030504040204" pitchFamily="34" charset="0"/>
                  </a:rPr>
                  <a:t> </a:t>
                </a: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dirty="0"/>
              </a:p>
            </p:txBody>
          </p:sp>
        </mc:Choice>
        <mc:Fallback xmlns="">
          <p:sp>
            <p:nvSpPr>
              <p:cNvPr id="5" name="TextBox 4">
                <a:extLst>
                  <a:ext uri="{FF2B5EF4-FFF2-40B4-BE49-F238E27FC236}">
                    <a16:creationId xmlns:a16="http://schemas.microsoft.com/office/drawing/2014/main" id="{4CE9D117-FAE6-F74F-940B-9CD1479755BE}"/>
                  </a:ext>
                </a:extLst>
              </p:cNvPr>
              <p:cNvSpPr txBox="1">
                <a:spLocks noRot="1" noChangeAspect="1" noMove="1" noResize="1" noEditPoints="1" noAdjustHandles="1" noChangeArrowheads="1" noChangeShapeType="1" noTextEdit="1"/>
              </p:cNvSpPr>
              <p:nvPr/>
            </p:nvSpPr>
            <p:spPr>
              <a:xfrm>
                <a:off x="478971" y="422858"/>
                <a:ext cx="9780597" cy="6155531"/>
              </a:xfrm>
              <a:prstGeom prst="rect">
                <a:avLst/>
              </a:prstGeom>
              <a:blipFill>
                <a:blip r:embed="rId4"/>
                <a:stretch>
                  <a:fillRect t="-594"/>
                </a:stretch>
              </a:blipFill>
            </p:spPr>
            <p:txBody>
              <a:bodyPr/>
              <a:lstStyle/>
              <a:p>
                <a:r>
                  <a:rPr lang="en-US">
                    <a:noFill/>
                  </a:rPr>
                  <a:t> </a:t>
                </a:r>
              </a:p>
            </p:txBody>
          </p:sp>
        </mc:Fallback>
      </mc:AlternateContent>
      <p:pic>
        <p:nvPicPr>
          <p:cNvPr id="6" name="Picture 5" descr="Shape, rectangle&#10;&#10;Description automatically generated">
            <a:extLst>
              <a:ext uri="{FF2B5EF4-FFF2-40B4-BE49-F238E27FC236}">
                <a16:creationId xmlns:a16="http://schemas.microsoft.com/office/drawing/2014/main" xmlns="" id="{3E08BF78-074E-884F-B50F-69B2661D190A}"/>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bwMode="auto">
          <a:xfrm>
            <a:off x="2319868" y="5289187"/>
            <a:ext cx="7628883" cy="889000"/>
          </a:xfrm>
          <a:prstGeom prst="rect">
            <a:avLst/>
          </a:prstGeom>
          <a:ln>
            <a:noFill/>
          </a:ln>
          <a:extLst>
            <a:ext uri="{53640926-AAD7-44D8-BBD7-CCE9431645EC}">
              <a14:shadowObscured xmlns:a14="http://schemas.microsoft.com/office/drawing/2010/main"/>
            </a:ext>
          </a:extLst>
        </p:spPr>
      </p:pic>
      <p:pic>
        <p:nvPicPr>
          <p:cNvPr id="7"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a:t>
            </a:r>
            <a:r>
              <a:rPr lang="en-US" i="1">
                <a:latin typeface="Calibri"/>
                <a:ea typeface="Calibri"/>
                <a:cs typeface="Calibri"/>
                <a:sym typeface="Calibri"/>
              </a:rPr>
              <a:t>208</a:t>
            </a:r>
            <a:endParaRPr lang="en-US" i="1" dirty="0">
              <a:latin typeface="Calibri"/>
              <a:ea typeface="Calibri"/>
              <a:cs typeface="Calibri"/>
              <a:sym typeface="Calibri"/>
            </a:endParaRPr>
          </a:p>
        </p:txBody>
      </p:sp>
    </p:spTree>
    <p:extLst>
      <p:ext uri="{BB962C8B-B14F-4D97-AF65-F5344CB8AC3E}">
        <p14:creationId xmlns:p14="http://schemas.microsoft.com/office/powerpoint/2010/main" val="7461628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xmlns="" id="{4CE9D117-FAE6-F74F-940B-9CD1479755BE}"/>
              </a:ext>
            </a:extLst>
          </p:cNvPr>
          <p:cNvSpPr txBox="1"/>
          <p:nvPr/>
        </p:nvSpPr>
        <p:spPr>
          <a:xfrm>
            <a:off x="598714" y="422858"/>
            <a:ext cx="9660854" cy="513986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Tom Brady’s pass-completion percentages from 2009 to 2019 are listed in the table.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Create a box plot of Tom Brady’s pass-completion </a:t>
            </a:r>
            <a:r>
              <a:rPr lang="en-US" sz="2000" dirty="0" smtClean="0">
                <a:latin typeface="Verdana" panose="020B0604030504040204" pitchFamily="34" charset="0"/>
                <a:ea typeface="Verdana" panose="020B0604030504040204" pitchFamily="34" charset="0"/>
                <a:cs typeface="Verdana" panose="020B0604030504040204" pitchFamily="34" charset="0"/>
              </a:rPr>
              <a:t>percentages.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r>
              <a:rPr lang="en-US" sz="2000" b="1" dirty="0">
                <a:latin typeface="Verdana" panose="020B0604030504040204" pitchFamily="34" charset="0"/>
                <a:ea typeface="Verdana" panose="020B0604030504040204" pitchFamily="34" charset="0"/>
                <a:cs typeface="Verdana" panose="020B0604030504040204" pitchFamily="34" charset="0"/>
              </a:rPr>
              <a:t>Tom Brady’s Pass-Completion Percentages 2009-2019</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dirty="0"/>
          </a:p>
          <a:p>
            <a:pPr lvl="0"/>
            <a:endParaRPr lang="en-US" dirty="0"/>
          </a:p>
        </p:txBody>
      </p:sp>
      <p:pic>
        <p:nvPicPr>
          <p:cNvPr id="7" name="Picture 6" descr="Chart, scatter chart&#10;&#10;Description automatically generated">
            <a:extLst>
              <a:ext uri="{FF2B5EF4-FFF2-40B4-BE49-F238E27FC236}">
                <a16:creationId xmlns:a16="http://schemas.microsoft.com/office/drawing/2014/main" xmlns="" id="{AF1A341F-4627-C046-810D-F248736A409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2004586" y="4447371"/>
            <a:ext cx="6849110" cy="754380"/>
          </a:xfrm>
          <a:prstGeom prst="rect">
            <a:avLst/>
          </a:prstGeom>
          <a:ln>
            <a:noFill/>
          </a:ln>
          <a:extLst>
            <a:ext uri="{53640926-AAD7-44D8-BBD7-CCE9431645EC}">
              <a14:shadowObscured xmlns:a14="http://schemas.microsoft.com/office/drawing/2010/main"/>
            </a:ext>
          </a:extLst>
        </p:spPr>
      </p:pic>
      <p:sp>
        <p:nvSpPr>
          <p:cNvPr id="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209</a:t>
            </a: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xmlns="" id="{D53B346D-45B7-8841-BF51-46E61374C694}"/>
                  </a:ext>
                </a:extLst>
              </p:cNvPr>
              <p:cNvGraphicFramePr>
                <a:graphicFrameLocks noGrp="1"/>
              </p:cNvGraphicFramePr>
              <p:nvPr>
                <p:extLst>
                  <p:ext uri="{D42A27DB-BD31-4B8C-83A1-F6EECF244321}">
                    <p14:modId xmlns:p14="http://schemas.microsoft.com/office/powerpoint/2010/main" val="86854715"/>
                  </p:ext>
                </p:extLst>
              </p:nvPr>
            </p:nvGraphicFramePr>
            <p:xfrm>
              <a:off x="3043126" y="1232559"/>
              <a:ext cx="6905625" cy="1710944"/>
            </p:xfrm>
            <a:graphic>
              <a:graphicData uri="http://schemas.openxmlformats.org/drawingml/2006/table">
                <a:tbl>
                  <a:tblPr bandRow="1">
                    <a:tableStyleId>{A91F0D33-8C57-4600-99A7-42BC86742BE1}</a:tableStyleId>
                  </a:tblPr>
                  <a:tblGrid>
                    <a:gridCol w="1003935">
                      <a:extLst>
                        <a:ext uri="{9D8B030D-6E8A-4147-A177-3AD203B41FA5}">
                          <a16:colId xmlns:a16="http://schemas.microsoft.com/office/drawing/2014/main" xmlns="" val="420787570"/>
                        </a:ext>
                      </a:extLst>
                    </a:gridCol>
                    <a:gridCol w="983615">
                      <a:extLst>
                        <a:ext uri="{9D8B030D-6E8A-4147-A177-3AD203B41FA5}">
                          <a16:colId xmlns:a16="http://schemas.microsoft.com/office/drawing/2014/main" xmlns="" val="4014944539"/>
                        </a:ext>
                      </a:extLst>
                    </a:gridCol>
                    <a:gridCol w="983615">
                      <a:extLst>
                        <a:ext uri="{9D8B030D-6E8A-4147-A177-3AD203B41FA5}">
                          <a16:colId xmlns:a16="http://schemas.microsoft.com/office/drawing/2014/main" xmlns="" val="1892727548"/>
                        </a:ext>
                      </a:extLst>
                    </a:gridCol>
                    <a:gridCol w="983615">
                      <a:extLst>
                        <a:ext uri="{9D8B030D-6E8A-4147-A177-3AD203B41FA5}">
                          <a16:colId xmlns:a16="http://schemas.microsoft.com/office/drawing/2014/main" xmlns="" val="1551947572"/>
                        </a:ext>
                      </a:extLst>
                    </a:gridCol>
                    <a:gridCol w="983615">
                      <a:extLst>
                        <a:ext uri="{9D8B030D-6E8A-4147-A177-3AD203B41FA5}">
                          <a16:colId xmlns:a16="http://schemas.microsoft.com/office/drawing/2014/main" xmlns="" val="307652629"/>
                        </a:ext>
                      </a:extLst>
                    </a:gridCol>
                    <a:gridCol w="983615">
                      <a:extLst>
                        <a:ext uri="{9D8B030D-6E8A-4147-A177-3AD203B41FA5}">
                          <a16:colId xmlns:a16="http://schemas.microsoft.com/office/drawing/2014/main" xmlns="" val="3731497292"/>
                        </a:ext>
                      </a:extLst>
                    </a:gridCol>
                    <a:gridCol w="983615">
                      <a:extLst>
                        <a:ext uri="{9D8B030D-6E8A-4147-A177-3AD203B41FA5}">
                          <a16:colId xmlns:a16="http://schemas.microsoft.com/office/drawing/2014/main" xmlns="" val="2031536192"/>
                        </a:ext>
                      </a:extLst>
                    </a:gridCol>
                  </a:tblGrid>
                  <a:tr h="377190">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Year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2009</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2010</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2011</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2012</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Cambria Math" pitchFamily="18" charset="0"/>
                              <a:ea typeface="Cambria Math" pitchFamily="18" charset="0"/>
                            </a:rPr>
                            <a:t>2013</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Cambria Math" pitchFamily="18" charset="0"/>
                              <a:ea typeface="Cambria Math" pitchFamily="18" charset="0"/>
                            </a:rPr>
                            <a:t>2014</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30598525"/>
                      </a:ext>
                    </a:extLst>
                  </a:tr>
                  <a:tr h="394970">
                    <a:tc>
                      <a:txBody>
                        <a:bodyPr/>
                        <a:lstStyle/>
                        <a:p>
                          <a:pPr marL="0" marR="0" algn="ctr">
                            <a:lnSpc>
                              <a:spcPct val="107000"/>
                            </a:lnSpc>
                            <a:spcBef>
                              <a:spcPts val="0"/>
                            </a:spcBef>
                            <a:spcAft>
                              <a:spcPts val="800"/>
                            </a:spcAft>
                          </a:pPr>
                          <a:r>
                            <a:rPr lang="en-US" sz="2000" b="1">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65.7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65.9</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65.6</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63.0</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60.5</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64.1</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39492723"/>
                      </a:ext>
                    </a:extLst>
                  </a:tr>
                  <a:tr h="377190">
                    <a:tc>
                      <a:txBody>
                        <a:bodyPr/>
                        <a:lstStyle/>
                        <a:p>
                          <a:pPr marL="0" marR="0" algn="ctr">
                            <a:lnSpc>
                              <a:spcPct val="107000"/>
                            </a:lnSpc>
                            <a:spcBef>
                              <a:spcPts val="0"/>
                            </a:spcBef>
                            <a:spcAft>
                              <a:spcPts val="800"/>
                            </a:spcAft>
                          </a:pPr>
                          <a:r>
                            <a:rPr lang="en-US" sz="2000" b="1">
                              <a:effectLst/>
                              <a:latin typeface="Verdana" panose="020B0604030504040204" pitchFamily="34" charset="0"/>
                              <a:ea typeface="Verdana" panose="020B0604030504040204" pitchFamily="34" charset="0"/>
                              <a:cs typeface="Verdana" panose="020B0604030504040204" pitchFamily="34" charset="0"/>
                            </a:rPr>
                            <a:t>Year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2015</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2016</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2017</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2018</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2019</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613526156"/>
                      </a:ext>
                    </a:extLst>
                  </a:tr>
                  <a:tr h="377190">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64.4</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67.4</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66.3</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65.8</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60.8</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533046778"/>
                      </a:ext>
                    </a:extLst>
                  </a:tr>
                </a:tbl>
              </a:graphicData>
            </a:graphic>
          </p:graphicFrame>
        </mc:Choice>
        <mc:Fallback xmlns="">
          <p:graphicFrame>
            <p:nvGraphicFramePr>
              <p:cNvPr id="11" name="Table 10">
                <a:extLst>
                  <a:ext uri="{FF2B5EF4-FFF2-40B4-BE49-F238E27FC236}">
                    <a16:creationId xmlns:a16="http://schemas.microsoft.com/office/drawing/2014/main" xmlns="" xmlns:a14="http://schemas.microsoft.com/office/drawing/2010/main" id="{D53B346D-45B7-8841-BF51-46E61374C694}"/>
                  </a:ext>
                </a:extLst>
              </p:cNvPr>
              <p:cNvGraphicFramePr>
                <a:graphicFrameLocks noGrp="1"/>
              </p:cNvGraphicFramePr>
              <p:nvPr>
                <p:extLst>
                  <p:ext uri="{D42A27DB-BD31-4B8C-83A1-F6EECF244321}">
                    <p14:modId xmlns:p14="http://schemas.microsoft.com/office/powerpoint/2010/main" val="86854715"/>
                  </p:ext>
                </p:extLst>
              </p:nvPr>
            </p:nvGraphicFramePr>
            <p:xfrm>
              <a:off x="3043126" y="1232559"/>
              <a:ext cx="6905625" cy="1710944"/>
            </p:xfrm>
            <a:graphic>
              <a:graphicData uri="http://schemas.openxmlformats.org/drawingml/2006/table">
                <a:tbl>
                  <a:tblPr bandRow="1">
                    <a:tableStyleId>{A91F0D33-8C57-4600-99A7-42BC86742BE1}</a:tableStyleId>
                  </a:tblPr>
                  <a:tblGrid>
                    <a:gridCol w="1003935">
                      <a:extLst>
                        <a:ext uri="{9D8B030D-6E8A-4147-A177-3AD203B41FA5}">
                          <a16:colId xmlns:a16="http://schemas.microsoft.com/office/drawing/2014/main" xmlns="" xmlns:a14="http://schemas.microsoft.com/office/drawing/2010/main" val="420787570"/>
                        </a:ext>
                      </a:extLst>
                    </a:gridCol>
                    <a:gridCol w="983615">
                      <a:extLst>
                        <a:ext uri="{9D8B030D-6E8A-4147-A177-3AD203B41FA5}">
                          <a16:colId xmlns:a16="http://schemas.microsoft.com/office/drawing/2014/main" xmlns="" xmlns:a14="http://schemas.microsoft.com/office/drawing/2010/main" val="4014944539"/>
                        </a:ext>
                      </a:extLst>
                    </a:gridCol>
                    <a:gridCol w="983615">
                      <a:extLst>
                        <a:ext uri="{9D8B030D-6E8A-4147-A177-3AD203B41FA5}">
                          <a16:colId xmlns:a16="http://schemas.microsoft.com/office/drawing/2014/main" xmlns="" xmlns:a14="http://schemas.microsoft.com/office/drawing/2010/main" val="1892727548"/>
                        </a:ext>
                      </a:extLst>
                    </a:gridCol>
                    <a:gridCol w="983615">
                      <a:extLst>
                        <a:ext uri="{9D8B030D-6E8A-4147-A177-3AD203B41FA5}">
                          <a16:colId xmlns:a16="http://schemas.microsoft.com/office/drawing/2014/main" xmlns="" xmlns:a14="http://schemas.microsoft.com/office/drawing/2010/main" val="1551947572"/>
                        </a:ext>
                      </a:extLst>
                    </a:gridCol>
                    <a:gridCol w="983615">
                      <a:extLst>
                        <a:ext uri="{9D8B030D-6E8A-4147-A177-3AD203B41FA5}">
                          <a16:colId xmlns:a16="http://schemas.microsoft.com/office/drawing/2014/main" xmlns="" xmlns:a14="http://schemas.microsoft.com/office/drawing/2010/main" val="307652629"/>
                        </a:ext>
                      </a:extLst>
                    </a:gridCol>
                    <a:gridCol w="983615">
                      <a:extLst>
                        <a:ext uri="{9D8B030D-6E8A-4147-A177-3AD203B41FA5}">
                          <a16:colId xmlns:a16="http://schemas.microsoft.com/office/drawing/2014/main" xmlns="" xmlns:a14="http://schemas.microsoft.com/office/drawing/2010/main" val="3731497292"/>
                        </a:ext>
                      </a:extLst>
                    </a:gridCol>
                    <a:gridCol w="983615">
                      <a:extLst>
                        <a:ext uri="{9D8B030D-6E8A-4147-A177-3AD203B41FA5}">
                          <a16:colId xmlns:a16="http://schemas.microsoft.com/office/drawing/2014/main" xmlns="" xmlns:a14="http://schemas.microsoft.com/office/drawing/2010/main" val="2031536192"/>
                        </a:ext>
                      </a:extLst>
                    </a:gridCol>
                  </a:tblGrid>
                  <a:tr h="427736">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Year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2484" t="-18571" r="-501863" b="-32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202484" t="-18571" r="-401863" b="-32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300617" t="-18571" r="-299383" b="-32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403106" t="-18571" r="-201242" b="-320000"/>
                          </a:stretch>
                        </a:blipFill>
                      </a:tcPr>
                    </a:tc>
                    <a:tc>
                      <a:txBody>
                        <a:bodyPr/>
                        <a:lstStyle/>
                        <a:p>
                          <a:pPr marL="0" marR="0" algn="ctr">
                            <a:lnSpc>
                              <a:spcPct val="107000"/>
                            </a:lnSpc>
                            <a:spcBef>
                              <a:spcPts val="0"/>
                            </a:spcBef>
                            <a:spcAft>
                              <a:spcPts val="800"/>
                            </a:spcAft>
                          </a:pPr>
                          <a:r>
                            <a:rPr lang="en-US" sz="2000" dirty="0">
                              <a:effectLst/>
                              <a:latin typeface="Cambria Math" pitchFamily="18" charset="0"/>
                              <a:ea typeface="Cambria Math" pitchFamily="18" charset="0"/>
                            </a:rPr>
                            <a:t>2013</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Cambria Math" pitchFamily="18" charset="0"/>
                              <a:ea typeface="Cambria Math" pitchFamily="18" charset="0"/>
                            </a:rPr>
                            <a:t>2014</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xmlns:a14="http://schemas.microsoft.com/office/drawing/2010/main" val="1530598525"/>
                      </a:ext>
                    </a:extLst>
                  </a:tr>
                  <a:tr h="427736">
                    <a:tc>
                      <a:txBody>
                        <a:bodyPr/>
                        <a:lstStyle/>
                        <a:p>
                          <a:pPr marL="0" marR="0" algn="ctr">
                            <a:lnSpc>
                              <a:spcPct val="107000"/>
                            </a:lnSpc>
                            <a:spcBef>
                              <a:spcPts val="0"/>
                            </a:spcBef>
                            <a:spcAft>
                              <a:spcPts val="800"/>
                            </a:spcAft>
                          </a:pPr>
                          <a:r>
                            <a:rPr lang="en-US" sz="2000" b="1">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2484" t="-116901" r="-501863" b="-21549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202484" t="-116901" r="-401863" b="-21549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300617" t="-116901" r="-299383" b="-21549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403106" t="-116901" r="-201242" b="-21549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500000" t="-116901" r="-100000" b="-21549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603727" t="-116901" r="-621" b="-215493"/>
                          </a:stretch>
                        </a:blipFill>
                      </a:tcPr>
                    </a:tc>
                    <a:extLst>
                      <a:ext uri="{0D108BD9-81ED-4DB2-BD59-A6C34878D82A}">
                        <a16:rowId xmlns:a16="http://schemas.microsoft.com/office/drawing/2014/main" xmlns="" xmlns:a14="http://schemas.microsoft.com/office/drawing/2010/main" val="3539492723"/>
                      </a:ext>
                    </a:extLst>
                  </a:tr>
                  <a:tr h="427736">
                    <a:tc>
                      <a:txBody>
                        <a:bodyPr/>
                        <a:lstStyle/>
                        <a:p>
                          <a:pPr marL="0" marR="0" algn="ctr">
                            <a:lnSpc>
                              <a:spcPct val="107000"/>
                            </a:lnSpc>
                            <a:spcBef>
                              <a:spcPts val="0"/>
                            </a:spcBef>
                            <a:spcAft>
                              <a:spcPts val="800"/>
                            </a:spcAft>
                          </a:pPr>
                          <a:r>
                            <a:rPr lang="en-US" sz="2000" b="1">
                              <a:effectLst/>
                              <a:latin typeface="Verdana" panose="020B0604030504040204" pitchFamily="34" charset="0"/>
                              <a:ea typeface="Verdana" panose="020B0604030504040204" pitchFamily="34" charset="0"/>
                              <a:cs typeface="Verdana" panose="020B0604030504040204" pitchFamily="34" charset="0"/>
                            </a:rPr>
                            <a:t>Year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2484" t="-220000" r="-501863" b="-11857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202484" t="-220000" r="-401863" b="-11857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300617" t="-220000" r="-299383" b="-11857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403106" t="-220000" r="-201242" b="-11857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500000" t="-220000" r="-100000" b="-118571"/>
                          </a:stretch>
                        </a:blipFill>
                      </a:tcPr>
                    </a:tc>
                    <a:tc>
                      <a:txBody>
                        <a:bodyPr/>
                        <a:lstStyle/>
                        <a:p>
                          <a:pPr marL="0" marR="0" algn="ctr">
                            <a:lnSpc>
                              <a:spcPct val="107000"/>
                            </a:lnSpc>
                            <a:spcBef>
                              <a:spcPts val="0"/>
                            </a:spcBef>
                            <a:spcAft>
                              <a:spcPts val="800"/>
                            </a:spcAft>
                          </a:pP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xmlns:a14="http://schemas.microsoft.com/office/drawing/2010/main" val="1613526156"/>
                      </a:ext>
                    </a:extLst>
                  </a:tr>
                  <a:tr h="427736">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2484" t="-320000" r="-501863" b="-1857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202484" t="-320000" r="-401863" b="-1857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300617" t="-320000" r="-299383" b="-1857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403106" t="-320000" r="-201242" b="-1857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500000" t="-320000" r="-100000" b="-18571"/>
                          </a:stretch>
                        </a:blipFill>
                      </a:tcPr>
                    </a:tc>
                    <a:tc>
                      <a:txBody>
                        <a:bodyPr/>
                        <a:lstStyle/>
                        <a:p>
                          <a:pPr marL="0" marR="0" algn="ctr">
                            <a:lnSpc>
                              <a:spcPct val="107000"/>
                            </a:lnSpc>
                            <a:spcBef>
                              <a:spcPts val="0"/>
                            </a:spcBef>
                            <a:spcAft>
                              <a:spcPts val="800"/>
                            </a:spcAft>
                          </a:pP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xmlns:a14="http://schemas.microsoft.com/office/drawing/2010/main" val="533046778"/>
                      </a:ext>
                    </a:extLst>
                  </a:tr>
                </a:tbl>
              </a:graphicData>
            </a:graphic>
          </p:graphicFrame>
        </mc:Fallback>
      </mc:AlternateContent>
    </p:spTree>
    <p:extLst>
      <p:ext uri="{BB962C8B-B14F-4D97-AF65-F5344CB8AC3E}">
        <p14:creationId xmlns:p14="http://schemas.microsoft.com/office/powerpoint/2010/main" val="2865250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4CE9D117-FAE6-F74F-940B-9CD1479755BE}"/>
              </a:ext>
            </a:extLst>
          </p:cNvPr>
          <p:cNvSpPr txBox="1"/>
          <p:nvPr/>
        </p:nvSpPr>
        <p:spPr>
          <a:xfrm>
            <a:off x="515336" y="361876"/>
            <a:ext cx="9334282" cy="2769989"/>
          </a:xfrm>
          <a:prstGeom prst="rect">
            <a:avLst/>
          </a:prstGeom>
          <a:noFill/>
        </p:spPr>
        <p:txBody>
          <a:bodyPr wrap="square" rtlCol="0">
            <a:spAutoFit/>
          </a:bodyPr>
          <a:lstStyle/>
          <a:p>
            <a:pPr marL="917575" indent="-452438">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Determine the interquartile range for Tom Brady’s pass-completion </a:t>
            </a:r>
            <a:r>
              <a:rPr lang="en-US" sz="2000" dirty="0" smtClean="0">
                <a:latin typeface="Verdana" panose="020B0604030504040204" pitchFamily="34" charset="0"/>
                <a:ea typeface="Verdana" panose="020B0604030504040204" pitchFamily="34" charset="0"/>
                <a:cs typeface="Verdana" panose="020B0604030504040204" pitchFamily="34" charset="0"/>
              </a:rPr>
              <a:t>percentages.</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range of pass-completion percentages?</a:t>
            </a:r>
          </a:p>
          <a:p>
            <a:endParaRPr lang="en-US" dirty="0"/>
          </a:p>
        </p:txBody>
      </p:sp>
      <p:pic>
        <p:nvPicPr>
          <p:cNvPr id="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209</a:t>
            </a:r>
          </a:p>
        </p:txBody>
      </p:sp>
    </p:spTree>
    <p:extLst>
      <p:ext uri="{BB962C8B-B14F-4D97-AF65-F5344CB8AC3E}">
        <p14:creationId xmlns:p14="http://schemas.microsoft.com/office/powerpoint/2010/main" val="32805536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209</a:t>
            </a:r>
          </a:p>
        </p:txBody>
      </p:sp>
    </p:spTree>
    <p:extLst>
      <p:ext uri="{BB962C8B-B14F-4D97-AF65-F5344CB8AC3E}">
        <p14:creationId xmlns:p14="http://schemas.microsoft.com/office/powerpoint/2010/main" val="7688061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5538"/>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412600" y="-82571"/>
            <a:ext cx="92087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10.1.7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665300" y="206629"/>
            <a:ext cx="747300" cy="747300"/>
          </a:xfrm>
          <a:prstGeom prst="rect">
            <a:avLst/>
          </a:prstGeom>
          <a:noFill/>
          <a:ln>
            <a:noFill/>
          </a:ln>
        </p:spPr>
      </p:pic>
      <p:sp>
        <p:nvSpPr>
          <p:cNvPr id="12" name="TextBox 11">
            <a:extLst>
              <a:ext uri="{FF2B5EF4-FFF2-40B4-BE49-F238E27FC236}">
                <a16:creationId xmlns:a16="http://schemas.microsoft.com/office/drawing/2014/main" xmlns="" id="{0370EDB7-6994-3D43-ABF9-E04CBAFB9CD9}"/>
              </a:ext>
            </a:extLst>
          </p:cNvPr>
          <p:cNvSpPr txBox="1"/>
          <p:nvPr/>
        </p:nvSpPr>
        <p:spPr>
          <a:xfrm>
            <a:off x="665299" y="1386026"/>
            <a:ext cx="10710271" cy="338554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Place an </a:t>
            </a:r>
            <a:r>
              <a:rPr lang="en-US" sz="2000" b="1" dirty="0">
                <a:latin typeface="Verdana" panose="020B0604030504040204" pitchFamily="34" charset="0"/>
                <a:ea typeface="Verdana" panose="020B0604030504040204" pitchFamily="34" charset="0"/>
                <a:cs typeface="Verdana" panose="020B0604030504040204" pitchFamily="34" charset="0"/>
              </a:rPr>
              <a:t>X</a:t>
            </a:r>
            <a:r>
              <a:rPr lang="en-US" sz="2000" dirty="0">
                <a:latin typeface="Verdana" panose="020B0604030504040204" pitchFamily="34" charset="0"/>
                <a:ea typeface="Verdana" panose="020B0604030504040204" pitchFamily="34" charset="0"/>
                <a:cs typeface="Verdana" panose="020B0604030504040204" pitchFamily="34" charset="0"/>
              </a:rPr>
              <a:t> on the line to indicate your understanding of creating box plots. Then provide a brief explanation or evidence to support your self-assessment.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 can find the five-number summary of a data set.</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dirty="0"/>
          </a:p>
        </p:txBody>
      </p:sp>
      <p:graphicFrame>
        <p:nvGraphicFramePr>
          <p:cNvPr id="2" name="Table 1">
            <a:extLst>
              <a:ext uri="{FF2B5EF4-FFF2-40B4-BE49-F238E27FC236}">
                <a16:creationId xmlns:a16="http://schemas.microsoft.com/office/drawing/2014/main" xmlns="" id="{F674F2F7-D0A9-7A40-B878-B8B2DA60C80B}"/>
              </a:ext>
            </a:extLst>
          </p:cNvPr>
          <p:cNvGraphicFramePr>
            <a:graphicFrameLocks noGrp="1"/>
          </p:cNvGraphicFramePr>
          <p:nvPr>
            <p:extLst>
              <p:ext uri="{D42A27DB-BD31-4B8C-83A1-F6EECF244321}">
                <p14:modId xmlns:p14="http://schemas.microsoft.com/office/powerpoint/2010/main" val="4180912600"/>
              </p:ext>
            </p:extLst>
          </p:nvPr>
        </p:nvGraphicFramePr>
        <p:xfrm>
          <a:off x="2060448" y="3547283"/>
          <a:ext cx="8071104" cy="753872"/>
        </p:xfrm>
        <a:graphic>
          <a:graphicData uri="http://schemas.openxmlformats.org/drawingml/2006/table">
            <a:tbl>
              <a:tblPr bandRow="1">
                <a:tableStyleId>{A91F0D33-8C57-4600-99A7-42BC86742BE1}</a:tableStyleId>
              </a:tblPr>
              <a:tblGrid>
                <a:gridCol w="2587271">
                  <a:extLst>
                    <a:ext uri="{9D8B030D-6E8A-4147-A177-3AD203B41FA5}">
                      <a16:colId xmlns:a16="http://schemas.microsoft.com/office/drawing/2014/main" xmlns="" val="3047660159"/>
                    </a:ext>
                  </a:extLst>
                </a:gridCol>
                <a:gridCol w="2793218">
                  <a:extLst>
                    <a:ext uri="{9D8B030D-6E8A-4147-A177-3AD203B41FA5}">
                      <a16:colId xmlns:a16="http://schemas.microsoft.com/office/drawing/2014/main" xmlns="" val="1816211910"/>
                    </a:ext>
                  </a:extLst>
                </a:gridCol>
                <a:gridCol w="2690615">
                  <a:extLst>
                    <a:ext uri="{9D8B030D-6E8A-4147-A177-3AD203B41FA5}">
                      <a16:colId xmlns:a16="http://schemas.microsoft.com/office/drawing/2014/main" xmlns="" val="1984623300"/>
                    </a:ext>
                  </a:extLst>
                </a:gridCol>
              </a:tblGrid>
              <a:tr h="468630">
                <a:tc>
                  <a:txBody>
                    <a:bodyPr/>
                    <a:lstStyle/>
                    <a:p>
                      <a:pPr marL="0" marR="50165"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 need help.</a:t>
                      </a:r>
                    </a:p>
                    <a:p>
                      <a:pPr marL="0" marR="50165"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 can’t get started.</a:t>
                      </a: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34290"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I’m getting there.</a:t>
                      </a: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34290"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 understand</a:t>
                      </a:r>
                    </a:p>
                    <a:p>
                      <a:pPr marL="0" marR="34290"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and have evidence.</a:t>
                      </a: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957140792"/>
                  </a:ext>
                </a:extLst>
              </a:tr>
            </a:tbl>
          </a:graphicData>
        </a:graphic>
      </p:graphicFrame>
      <p:cxnSp>
        <p:nvCxnSpPr>
          <p:cNvPr id="10" name="Straight Arrow Connector 9">
            <a:extLst>
              <a:ext uri="{FF2B5EF4-FFF2-40B4-BE49-F238E27FC236}">
                <a16:creationId xmlns:a16="http://schemas.microsoft.com/office/drawing/2014/main" xmlns="" id="{30DB7142-5BF8-5243-9916-83F1FE4C35AC}"/>
              </a:ext>
            </a:extLst>
          </p:cNvPr>
          <p:cNvCxnSpPr>
            <a:cxnSpLocks/>
          </p:cNvCxnSpPr>
          <p:nvPr/>
        </p:nvCxnSpPr>
        <p:spPr>
          <a:xfrm>
            <a:off x="2060448" y="4706201"/>
            <a:ext cx="8071104" cy="0"/>
          </a:xfrm>
          <a:prstGeom prst="straightConnector1">
            <a:avLst/>
          </a:prstGeom>
          <a:noFill/>
          <a:ln w="9525" cap="flat" cmpd="sng">
            <a:solidFill>
              <a:schemeClr val="dk1"/>
            </a:solidFill>
            <a:prstDash val="solid"/>
            <a:miter lim="800000"/>
            <a:headEnd type="triangle" w="med" len="med"/>
            <a:tailEnd type="triangle" w="med" len="med"/>
          </a:ln>
        </p:spPr>
      </p:cxn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209</a:t>
            </a:r>
          </a:p>
        </p:txBody>
      </p:sp>
    </p:spTree>
    <p:extLst>
      <p:ext uri="{BB962C8B-B14F-4D97-AF65-F5344CB8AC3E}">
        <p14:creationId xmlns:p14="http://schemas.microsoft.com/office/powerpoint/2010/main" val="55384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4CE9D117-FAE6-F74F-940B-9CD1479755BE}"/>
              </a:ext>
            </a:extLst>
          </p:cNvPr>
          <p:cNvSpPr txBox="1"/>
          <p:nvPr/>
        </p:nvSpPr>
        <p:spPr>
          <a:xfrm>
            <a:off x="557603" y="422858"/>
            <a:ext cx="9258082" cy="5632311"/>
          </a:xfrm>
          <a:prstGeom prst="rect">
            <a:avLst/>
          </a:prstGeom>
          <a:noFill/>
        </p:spPr>
        <p:txBody>
          <a:bodyPr wrap="square" rtlCol="0">
            <a:spAutoFit/>
          </a:bodyPr>
          <a:lstStyle/>
          <a:p>
            <a:pPr marL="444500" lvl="3" indent="-4445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I can create an axis with the appropriate scale.</a:t>
            </a:r>
          </a:p>
          <a:p>
            <a:pPr marL="342900" lvl="3" indent="-3429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lvl="3" indent="-3429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lvl="3" indent="-3429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3"/>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lvl="3" indent="-3429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lvl="3" indent="-3429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lvl="3" indent="-3429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lvl="3" indent="-3429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lvl="3" indent="-3429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lvl="3" indent="-3429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I can find and interpret the interquartile range.</a:t>
            </a:r>
          </a:p>
          <a:p>
            <a:pPr marL="457200" lvl="3"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a:extLst>
              <a:ext uri="{FF2B5EF4-FFF2-40B4-BE49-F238E27FC236}">
                <a16:creationId xmlns:a16="http://schemas.microsoft.com/office/drawing/2014/main" xmlns="" id="{5D59D520-5D47-3D47-8D38-5C36521A4B03}"/>
              </a:ext>
            </a:extLst>
          </p:cNvPr>
          <p:cNvGraphicFramePr>
            <a:graphicFrameLocks noGrp="1"/>
          </p:cNvGraphicFramePr>
          <p:nvPr>
            <p:extLst>
              <p:ext uri="{D42A27DB-BD31-4B8C-83A1-F6EECF244321}">
                <p14:modId xmlns:p14="http://schemas.microsoft.com/office/powerpoint/2010/main" val="2503722569"/>
              </p:ext>
            </p:extLst>
          </p:nvPr>
        </p:nvGraphicFramePr>
        <p:xfrm>
          <a:off x="1765917" y="1396151"/>
          <a:ext cx="8049768" cy="753872"/>
        </p:xfrm>
        <a:graphic>
          <a:graphicData uri="http://schemas.openxmlformats.org/drawingml/2006/table">
            <a:tbl>
              <a:tblPr bandRow="1">
                <a:tableStyleId>{A91F0D33-8C57-4600-99A7-42BC86742BE1}</a:tableStyleId>
              </a:tblPr>
              <a:tblGrid>
                <a:gridCol w="2580432">
                  <a:extLst>
                    <a:ext uri="{9D8B030D-6E8A-4147-A177-3AD203B41FA5}">
                      <a16:colId xmlns:a16="http://schemas.microsoft.com/office/drawing/2014/main" xmlns="" val="3527629258"/>
                    </a:ext>
                  </a:extLst>
                </a:gridCol>
                <a:gridCol w="2785835">
                  <a:extLst>
                    <a:ext uri="{9D8B030D-6E8A-4147-A177-3AD203B41FA5}">
                      <a16:colId xmlns:a16="http://schemas.microsoft.com/office/drawing/2014/main" xmlns="" val="2816445154"/>
                    </a:ext>
                  </a:extLst>
                </a:gridCol>
                <a:gridCol w="2683501">
                  <a:extLst>
                    <a:ext uri="{9D8B030D-6E8A-4147-A177-3AD203B41FA5}">
                      <a16:colId xmlns:a16="http://schemas.microsoft.com/office/drawing/2014/main" xmlns="" val="1862655742"/>
                    </a:ext>
                  </a:extLst>
                </a:gridCol>
              </a:tblGrid>
              <a:tr h="468630">
                <a:tc>
                  <a:txBody>
                    <a:bodyPr/>
                    <a:lstStyle/>
                    <a:p>
                      <a:pPr marL="0" marR="50165"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 need help.</a:t>
                      </a:r>
                    </a:p>
                    <a:p>
                      <a:pPr marL="0" marR="50165"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 can’t get started.</a:t>
                      </a: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34290"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I’m getting there.</a:t>
                      </a: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34290"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 understand</a:t>
                      </a:r>
                    </a:p>
                    <a:p>
                      <a:pPr marL="0" marR="34290"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and have evidence.</a:t>
                      </a: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3588990258"/>
                  </a:ext>
                </a:extLst>
              </a:tr>
            </a:tbl>
          </a:graphicData>
        </a:graphic>
      </p:graphicFrame>
      <p:graphicFrame>
        <p:nvGraphicFramePr>
          <p:cNvPr id="3" name="Table 2">
            <a:extLst>
              <a:ext uri="{FF2B5EF4-FFF2-40B4-BE49-F238E27FC236}">
                <a16:creationId xmlns:a16="http://schemas.microsoft.com/office/drawing/2014/main" xmlns="" id="{20DC6133-62D9-364B-99A6-A722A4661DB9}"/>
              </a:ext>
            </a:extLst>
          </p:cNvPr>
          <p:cNvGraphicFramePr>
            <a:graphicFrameLocks noGrp="1"/>
          </p:cNvGraphicFramePr>
          <p:nvPr>
            <p:extLst>
              <p:ext uri="{D42A27DB-BD31-4B8C-83A1-F6EECF244321}">
                <p14:modId xmlns:p14="http://schemas.microsoft.com/office/powerpoint/2010/main" val="2337916912"/>
              </p:ext>
            </p:extLst>
          </p:nvPr>
        </p:nvGraphicFramePr>
        <p:xfrm>
          <a:off x="1744581" y="4645472"/>
          <a:ext cx="8049768" cy="753872"/>
        </p:xfrm>
        <a:graphic>
          <a:graphicData uri="http://schemas.openxmlformats.org/drawingml/2006/table">
            <a:tbl>
              <a:tblPr bandRow="1">
                <a:tableStyleId>{A91F0D33-8C57-4600-99A7-42BC86742BE1}</a:tableStyleId>
              </a:tblPr>
              <a:tblGrid>
                <a:gridCol w="2580432">
                  <a:extLst>
                    <a:ext uri="{9D8B030D-6E8A-4147-A177-3AD203B41FA5}">
                      <a16:colId xmlns:a16="http://schemas.microsoft.com/office/drawing/2014/main" xmlns="" val="3826370201"/>
                    </a:ext>
                  </a:extLst>
                </a:gridCol>
                <a:gridCol w="2785835">
                  <a:extLst>
                    <a:ext uri="{9D8B030D-6E8A-4147-A177-3AD203B41FA5}">
                      <a16:colId xmlns:a16="http://schemas.microsoft.com/office/drawing/2014/main" xmlns="" val="3970395877"/>
                    </a:ext>
                  </a:extLst>
                </a:gridCol>
                <a:gridCol w="2683501">
                  <a:extLst>
                    <a:ext uri="{9D8B030D-6E8A-4147-A177-3AD203B41FA5}">
                      <a16:colId xmlns:a16="http://schemas.microsoft.com/office/drawing/2014/main" xmlns="" val="3529445237"/>
                    </a:ext>
                  </a:extLst>
                </a:gridCol>
              </a:tblGrid>
              <a:tr h="468630">
                <a:tc>
                  <a:txBody>
                    <a:bodyPr/>
                    <a:lstStyle/>
                    <a:p>
                      <a:pPr marL="0" marR="50165"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 need help.</a:t>
                      </a:r>
                    </a:p>
                    <a:p>
                      <a:pPr marL="0" marR="50165"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 can’t get started.</a:t>
                      </a: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34290"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I’m getting there.</a:t>
                      </a: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34290"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 understand</a:t>
                      </a:r>
                    </a:p>
                    <a:p>
                      <a:pPr marL="0" marR="34290" algn="ctr">
                        <a:lnSpc>
                          <a:spcPct val="107000"/>
                        </a:lnSpc>
                        <a:spcBef>
                          <a:spcPts val="0"/>
                        </a:spcBef>
                        <a:spcAft>
                          <a:spcPts val="800"/>
                        </a:spcAft>
                        <a:tabLst>
                          <a:tab pos="51816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and have evidence.</a:t>
                      </a: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3341673836"/>
                  </a:ext>
                </a:extLst>
              </a:tr>
            </a:tbl>
          </a:graphicData>
        </a:graphic>
      </p:graphicFrame>
      <p:cxnSp>
        <p:nvCxnSpPr>
          <p:cNvPr id="8" name="Straight Arrow Connector 7">
            <a:extLst>
              <a:ext uri="{FF2B5EF4-FFF2-40B4-BE49-F238E27FC236}">
                <a16:creationId xmlns:a16="http://schemas.microsoft.com/office/drawing/2014/main" xmlns="" id="{B71A29F4-A2F2-1D4F-9393-F44442956E20}"/>
              </a:ext>
            </a:extLst>
          </p:cNvPr>
          <p:cNvCxnSpPr>
            <a:cxnSpLocks/>
          </p:cNvCxnSpPr>
          <p:nvPr/>
        </p:nvCxnSpPr>
        <p:spPr>
          <a:xfrm>
            <a:off x="1744581" y="2471001"/>
            <a:ext cx="8071104" cy="0"/>
          </a:xfrm>
          <a:prstGeom prst="straightConnector1">
            <a:avLst/>
          </a:prstGeom>
          <a:noFill/>
          <a:ln w="9525" cap="flat" cmpd="sng">
            <a:solidFill>
              <a:schemeClr val="dk1"/>
            </a:solidFill>
            <a:prstDash val="solid"/>
            <a:miter lim="800000"/>
            <a:headEnd type="triangle" w="med" len="med"/>
            <a:tailEnd type="triangle" w="med" len="med"/>
          </a:ln>
        </p:spPr>
      </p:cxnSp>
      <p:cxnSp>
        <p:nvCxnSpPr>
          <p:cNvPr id="9" name="Straight Arrow Connector 8">
            <a:extLst>
              <a:ext uri="{FF2B5EF4-FFF2-40B4-BE49-F238E27FC236}">
                <a16:creationId xmlns:a16="http://schemas.microsoft.com/office/drawing/2014/main" xmlns="" id="{5D459E6E-FDE3-1943-95A3-4D206DB5DF61}"/>
              </a:ext>
            </a:extLst>
          </p:cNvPr>
          <p:cNvCxnSpPr>
            <a:cxnSpLocks/>
          </p:cNvCxnSpPr>
          <p:nvPr/>
        </p:nvCxnSpPr>
        <p:spPr>
          <a:xfrm>
            <a:off x="1744581" y="5805658"/>
            <a:ext cx="8071104" cy="0"/>
          </a:xfrm>
          <a:prstGeom prst="straightConnector1">
            <a:avLst/>
          </a:prstGeom>
          <a:noFill/>
          <a:ln w="9525" cap="flat" cmpd="sng">
            <a:solidFill>
              <a:schemeClr val="dk1"/>
            </a:solidFill>
            <a:prstDash val="solid"/>
            <a:miter lim="800000"/>
            <a:headEnd type="triangle" w="med" len="med"/>
            <a:tailEnd type="triangle" w="med" len="med"/>
          </a:ln>
        </p:spPr>
      </p:cxn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xmlns="" id="{647643F2-AA27-F54D-9B18-929351C91D74}"/>
              </a:ext>
            </a:extLst>
          </p:cNvPr>
          <p:cNvSpPr txBox="1"/>
          <p:nvPr/>
        </p:nvSpPr>
        <p:spPr>
          <a:xfrm>
            <a:off x="7314749" y="6487885"/>
            <a:ext cx="4218683" cy="400079"/>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209</a:t>
            </a:r>
          </a:p>
        </p:txBody>
      </p:sp>
    </p:spTree>
    <p:extLst>
      <p:ext uri="{BB962C8B-B14F-4D97-AF65-F5344CB8AC3E}">
        <p14:creationId xmlns:p14="http://schemas.microsoft.com/office/powerpoint/2010/main" val="144533139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DD775B9-5E6C-4149-9387-0B6FF604F23D}">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F076934D-D769-4E6F-9AFC-8C66515D5CD0}">
  <ds:schemaRefs>
    <ds:schemaRef ds:uri="http://schemas.microsoft.com/sharepoint/v3/contenttype/forms"/>
  </ds:schemaRefs>
</ds:datastoreItem>
</file>

<file path=customXml/itemProps3.xml><?xml version="1.0" encoding="utf-8"?>
<ds:datastoreItem xmlns:ds="http://schemas.openxmlformats.org/officeDocument/2006/customXml" ds:itemID="{02B3A5B8-2202-4C75-B4F5-B919E39D9B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4027</TotalTime>
  <Words>1571</Words>
  <Application>Microsoft Office PowerPoint</Application>
  <PresentationFormat>Custom</PresentationFormat>
  <Paragraphs>539</Paragraphs>
  <Slides>36</Slides>
  <Notes>36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Century Gothic</vt:lpstr>
      <vt:lpstr>Cambria Math</vt:lpstr>
      <vt:lpstr>Arial Black</vt:lpstr>
      <vt:lpstr>Verdana</vt:lpstr>
      <vt:lpstr>1_Office Theme</vt:lpstr>
      <vt:lpstr>6th Grade Math  Unit 10, Lesson 1  Creating Box Plots  Volume 2, pg. 203  </vt:lpstr>
      <vt:lpstr>Benchmarks</vt:lpstr>
      <vt:lpstr>PowerPoint Presentation</vt:lpstr>
      <vt:lpstr>PowerPoint Presentation</vt:lpstr>
      <vt:lpstr>Warm-Up</vt:lpstr>
      <vt:lpstr>PowerPoint Presentation</vt:lpstr>
      <vt:lpstr>Refresher</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Try It</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22</cp:revision>
  <dcterms:created xsi:type="dcterms:W3CDTF">2015-03-17T18:51:18Z</dcterms:created>
  <dcterms:modified xsi:type="dcterms:W3CDTF">2023-07-07T09:12:15Z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