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6"/>
  </p:notesMasterIdLst>
  <p:sldIdLst>
    <p:sldId id="256" r:id="rId5"/>
    <p:sldId id="257" r:id="rId6"/>
    <p:sldId id="285" r:id="rId7"/>
    <p:sldId id="286" r:id="rId8"/>
    <p:sldId id="261" r:id="rId9"/>
    <p:sldId id="287" r:id="rId10"/>
    <p:sldId id="314" r:id="rId11"/>
    <p:sldId id="315" r:id="rId12"/>
    <p:sldId id="316" r:id="rId13"/>
    <p:sldId id="332" r:id="rId14"/>
    <p:sldId id="334" r:id="rId15"/>
    <p:sldId id="335" r:id="rId16"/>
    <p:sldId id="336" r:id="rId17"/>
    <p:sldId id="317" r:id="rId18"/>
    <p:sldId id="318" r:id="rId19"/>
    <p:sldId id="337" r:id="rId20"/>
    <p:sldId id="302" r:id="rId21"/>
    <p:sldId id="303" r:id="rId22"/>
    <p:sldId id="309" r:id="rId23"/>
    <p:sldId id="306" r:id="rId24"/>
    <p:sldId id="307" r:id="rId25"/>
  </p:sldIdLst>
  <p:sldSz cx="12192000" cy="6858000"/>
  <p:notesSz cx="6858000" cy="9144000"/>
  <p:embeddedFontLst>
    <p:embeddedFont>
      <p:font typeface="Calibri" pitchFamily="34" charset="0"/>
      <p:regular r:id="rId27"/>
      <p:bold r:id="rId28"/>
      <p:italic r:id="rId29"/>
      <p:boldItalic r:id="rId30"/>
    </p:embeddedFont>
    <p:embeddedFont>
      <p:font typeface="Century Gothic" pitchFamily="34" charset="0"/>
      <p:regular r:id="rId31"/>
      <p:bold r:id="rId32"/>
      <p:italic r:id="rId33"/>
      <p:boldItalic r:id="rId34"/>
    </p:embeddedFont>
    <p:embeddedFont>
      <p:font typeface="Cambria Math" pitchFamily="18" charset="0"/>
      <p:regular r:id="rId35"/>
    </p:embeddedFont>
    <p:embeddedFont>
      <p:font typeface="Arial Black" pitchFamily="34" charset="0"/>
      <p:bold r:id="rId36"/>
    </p:embeddedFont>
    <p:embeddedFont>
      <p:font typeface="Verdana"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8"/>
    <p:restoredTop sz="94719"/>
  </p:normalViewPr>
  <p:slideViewPr>
    <p:cSldViewPr snapToGrid="0">
      <p:cViewPr>
        <p:scale>
          <a:sx n="115" d="100"/>
          <a:sy n="115" d="100"/>
        </p:scale>
        <p:origin x="-10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75248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779867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80343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4083293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461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75187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540458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tiff"/><Relationship Id="rId4" Type="http://schemas.openxmlformats.org/officeDocument/2006/relationships/image" Target="../media/image15.tiff"/></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8.tiff"/><Relationship Id="rId4" Type="http://schemas.openxmlformats.org/officeDocument/2006/relationships/image" Target="../media/image17.tiff"/></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90511" y="2054276"/>
            <a:ext cx="516890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5</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Matching Data Displays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221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730265" y="1237668"/>
            <a:ext cx="1097199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MA.6.DP.1.5</a:t>
            </a:r>
          </a:p>
          <a:p>
            <a:pPr indent="0">
              <a:buNone/>
            </a:pPr>
            <a:r>
              <a:rPr lang="en-US" sz="3200" dirty="0">
                <a:solidFill>
                  <a:schemeClr val="tx1"/>
                </a:solidFill>
                <a:latin typeface="Verdana"/>
                <a:ea typeface="Verdana"/>
                <a:cs typeface="Verdana"/>
                <a:sym typeface="Verdana"/>
              </a:rPr>
              <a:t>Create box plots and histograms to represent sets of numerical data within real-world contexts.</a:t>
            </a:r>
            <a:endParaRPr lang="en-US" sz="20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42076" y="-10274"/>
            <a:ext cx="104956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730265" y="1326150"/>
            <a:ext cx="1098227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 xmlns:a16="http://schemas.microsoft.com/office/drawing/2014/main" id="{55C2DF95-3BD5-9946-8E63-620B677CCE4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221</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730265" y="1326150"/>
            <a:ext cx="110644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200" dirty="0">
                <a:solidFill>
                  <a:schemeClr val="tx1"/>
                </a:solidFill>
                <a:latin typeface="Verdana"/>
                <a:ea typeface="Verdana"/>
                <a:cs typeface="Verdana"/>
                <a:sym typeface="Verdana"/>
              </a:rPr>
              <a:t>I can match displays of data to the appropriate data set.</a:t>
            </a:r>
          </a:p>
        </p:txBody>
      </p:sp>
      <p:sp>
        <p:nvSpPr>
          <p:cNvPr id="8" name="Google Shape;282;g104476d1465_1_17">
            <a:extLst>
              <a:ext uri="{FF2B5EF4-FFF2-40B4-BE49-F238E27FC236}">
                <a16:creationId xmlns="" xmlns:a16="http://schemas.microsoft.com/office/drawing/2014/main" id="{F4B16910-5849-8749-AE9B-F835710B9B6F}"/>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05953"/>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C89DA112-E3EB-AC40-903B-E5A1362486C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28438"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10.5.1 Warm-Up: Bell Work</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 xmlns:a16="http://schemas.microsoft.com/office/drawing/2014/main" id="{E1D7562E-134F-D14B-AF1A-DF40E11EF758}"/>
                  </a:ext>
                </a:extLst>
              </p:cNvPr>
              <p:cNvSpPr txBox="1"/>
              <p:nvPr/>
            </p:nvSpPr>
            <p:spPr>
              <a:xfrm>
                <a:off x="730266" y="1208592"/>
                <a:ext cx="11187756" cy="4630563"/>
              </a:xfrm>
              <a:prstGeom prst="rect">
                <a:avLst/>
              </a:prstGeom>
              <a:noFill/>
            </p:spPr>
            <p:txBody>
              <a:bodyPr wrap="square" rtlCol="0">
                <a:spAutoFit/>
              </a:bodyPr>
              <a:lstStyle/>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During the 2020 NBA Season, Jimmy Butler played in the championship game against the Los Angeles Lakers. The total points scored by Jimmy Butler for the conference semifinals, conference finals, and championship games are listed below.</a:t>
                </a:r>
              </a:p>
              <a:p>
                <a:pPr marL="342900" indent="-342900">
                  <a:lnSpc>
                    <a:spcPct val="107000"/>
                  </a:lnSpc>
                  <a:buFont typeface="+mj-lt"/>
                  <a:buAutoNum type="arabicPeriod"/>
                </a:pPr>
                <a:endParaRPr lang="en-US" sz="2000" i="1" dirty="0">
                  <a:latin typeface="Cambria Math" panose="02040503050406030204" pitchFamily="18" charset="0"/>
                  <a:ea typeface="Verdana" panose="020B0604030504040204" pitchFamily="34" charset="0"/>
                  <a:cs typeface="Verdana" panose="020B0604030504040204" pitchFamily="34" charset="0"/>
                </a:endParaRPr>
              </a:p>
              <a:p>
                <a:pPr marL="474663" indent="341313">
                  <a:lnSpc>
                    <a:spcPct val="107000"/>
                  </a:lnSpc>
                  <a:spcBef>
                    <a:spcPts val="800"/>
                  </a:spcBef>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12, 35, 22, 40, 25, 23, 22, 17, 24, 17, 14, 20, 17, 17, 30, 13, 40</m:t>
                      </m:r>
                    </m:oMath>
                  </m:oMathPara>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Bef>
                    <a:spcPts val="800"/>
                  </a:spcBef>
                </a:pP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19050">
                  <a:lnSpc>
                    <a:spcPct val="107000"/>
                  </a:lnSpc>
                  <a:spcBef>
                    <a:spcPts val="800"/>
                  </a:spcBef>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 Determine the five-number summary for the data set. </a:t>
                </a:r>
              </a:p>
              <a:p>
                <a:pPr marL="342900">
                  <a:lnSpc>
                    <a:spcPct val="107000"/>
                  </a:lnSpc>
                  <a:spcBef>
                    <a:spcPts val="800"/>
                  </a:spcBef>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19050">
                  <a:lnSpc>
                    <a:spcPct val="107000"/>
                  </a:lnSpc>
                  <a:spcBef>
                    <a:spcPts val="800"/>
                  </a:spcBef>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a:lnSpc>
                    <a:spcPct val="107000"/>
                  </a:lnSpc>
                  <a:spcBef>
                    <a:spcPts val="800"/>
                  </a:spcBef>
                </a:pPr>
                <a:r>
                  <a:rPr lang="en-US" sz="2000" dirty="0">
                    <a:latin typeface="Verdana" panose="020B0604030504040204" pitchFamily="34" charset="0"/>
                    <a:ea typeface="Verdana" panose="020B0604030504040204" pitchFamily="34" charset="0"/>
                    <a:cs typeface="Verdana" panose="020B0604030504040204" pitchFamily="34" charset="0"/>
                  </a:rPr>
                  <a:t>b. Determine the range.</a:t>
                </a:r>
                <a:endParaRPr lang="en-US" sz="1800" dirty="0">
                  <a:latin typeface="Verdana" panose="020B0604030504040204" pitchFamily="34" charset="0"/>
                  <a:ea typeface="Verdana" panose="020B0604030504040204" pitchFamily="34" charset="0"/>
                  <a:cs typeface="Verdana" panose="020B0604030504040204" pitchFamily="34" charset="0"/>
                </a:endParaRPr>
              </a:p>
              <a:p>
                <a:pPr>
                  <a:lnSpc>
                    <a:spcPct val="107000"/>
                  </a:lnSpc>
                  <a:spcBef>
                    <a:spcPts val="800"/>
                  </a:spcBef>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730266" y="1208592"/>
                <a:ext cx="11187756" cy="4630563"/>
              </a:xfrm>
              <a:prstGeom prst="rect">
                <a:avLst/>
              </a:prstGeom>
              <a:blipFill>
                <a:blip r:embed="rId5"/>
                <a:stretch>
                  <a:fillRect l="-567" t="-1096"/>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667061EA-C506-7B49-9F14-C36E08180240}"/>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8" name="image2.png" descr="Icon&#10;&#10;Description automatically generated">
            <a:extLst>
              <a:ext uri="{FF2B5EF4-FFF2-40B4-BE49-F238E27FC236}">
                <a16:creationId xmlns="" xmlns:a16="http://schemas.microsoft.com/office/drawing/2014/main" id="{78DF274A-0DC3-6040-B571-46559795A685}"/>
              </a:ext>
            </a:extLst>
          </p:cNvPr>
          <p:cNvPicPr>
            <a:picLocks noChangeAspect="1"/>
          </p:cNvPicPr>
          <p:nvPr/>
        </p:nvPicPr>
        <p:blipFill>
          <a:blip r:embed="rId4"/>
          <a:srcRect/>
          <a:stretch>
            <a:fillRect/>
          </a:stretch>
        </p:blipFill>
        <p:spPr>
          <a:xfrm>
            <a:off x="3054096" y="2852928"/>
            <a:ext cx="1152144" cy="1152144"/>
          </a:xfrm>
          <a:prstGeom prst="rect">
            <a:avLst/>
          </a:prstGeom>
          <a:noFill/>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 xmlns:a16="http://schemas.microsoft.com/office/drawing/2014/main" id="{DD8DA2A2-74C0-1146-A96D-A51D8D5C49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239840" y="0"/>
            <a:ext cx="1025694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10.5.2 Exploration: Matching Displays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E44DF7DE-9172-3E4E-B74A-7A51585FB6EA}"/>
                  </a:ext>
                </a:extLst>
              </p:cNvPr>
              <p:cNvSpPr txBox="1"/>
              <p:nvPr/>
            </p:nvSpPr>
            <p:spPr>
              <a:xfrm>
                <a:off x="518456" y="1488651"/>
                <a:ext cx="11135132" cy="3356368"/>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u="sng"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A middle school band director collects the ages of each clarinet player in the band, shown below.</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10, 10, 11, 11, 11, 12, 12, 12, 13, 13, 14 </m:t>
                      </m:r>
                    </m:oMath>
                  </m:oMathPara>
                </a14:m>
                <a:endParaRPr lang="en-US" sz="2000" i="1"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Determine the five-number summary and IQR for the ages of the clarinet players in the band.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518456" y="1488651"/>
                <a:ext cx="11135132" cy="3356368"/>
              </a:xfrm>
              <a:prstGeom prst="rect">
                <a:avLst/>
              </a:prstGeom>
              <a:blipFill rotWithShape="1">
                <a:blip r:embed="rId4"/>
                <a:stretch>
                  <a:fillRect l="-547" t="-1089" b="-2359"/>
                </a:stretch>
              </a:blipFill>
            </p:spPr>
            <p:txBody>
              <a:bodyPr/>
              <a:lstStyle/>
              <a:p>
                <a:r>
                  <a:rPr lang="en-PH">
                    <a:noFill/>
                  </a:rPr>
                  <a:t> </a:t>
                </a:r>
              </a:p>
            </p:txBody>
          </p:sp>
        </mc:Fallback>
      </mc:AlternateContent>
      <p:pic>
        <p:nvPicPr>
          <p:cNvPr id="11" name="image2.png" descr="Icon&#10;&#10;Description automatically generated">
            <a:extLst>
              <a:ext uri="{FF2B5EF4-FFF2-40B4-BE49-F238E27FC236}">
                <a16:creationId xmlns="" xmlns:a16="http://schemas.microsoft.com/office/drawing/2014/main" id="{9EB878F3-9FC8-AB4B-9F25-3B1E29BCD071}"/>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noFill/>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 xmlns:a16="http://schemas.microsoft.com/office/drawing/2014/main" id="{39F2AAC6-7258-1C45-B4E8-A505450B8F6B}"/>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2AA35BC6-D428-FC41-BDE5-6438AB8840FC}"/>
              </a:ext>
            </a:extLst>
          </p:cNvPr>
          <p:cNvSpPr txBox="1"/>
          <p:nvPr/>
        </p:nvSpPr>
        <p:spPr>
          <a:xfrm>
            <a:off x="574358" y="387596"/>
            <a:ext cx="10865753" cy="404534"/>
          </a:xfrm>
          <a:prstGeom prst="rect">
            <a:avLst/>
          </a:prstGeom>
          <a:noFill/>
        </p:spPr>
        <p:txBody>
          <a:bodyPr wrap="square" rtlCol="0">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Which box plot accurately displays the ages of the clarinet players?</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graphicFrame>
        <p:nvGraphicFramePr>
          <p:cNvPr id="2" name="Table 1">
            <a:extLst>
              <a:ext uri="{FF2B5EF4-FFF2-40B4-BE49-F238E27FC236}">
                <a16:creationId xmlns="" xmlns:a16="http://schemas.microsoft.com/office/drawing/2014/main" id="{23C7867E-04AF-A543-BC29-F8D7198BF4CC}"/>
              </a:ext>
            </a:extLst>
          </p:cNvPr>
          <p:cNvGraphicFramePr>
            <a:graphicFrameLocks noGrp="1"/>
          </p:cNvGraphicFramePr>
          <p:nvPr>
            <p:extLst>
              <p:ext uri="{D42A27DB-BD31-4B8C-83A1-F6EECF244321}">
                <p14:modId xmlns:p14="http://schemas.microsoft.com/office/powerpoint/2010/main" val="2390240185"/>
              </p:ext>
            </p:extLst>
          </p:nvPr>
        </p:nvGraphicFramePr>
        <p:xfrm>
          <a:off x="2640610" y="1064974"/>
          <a:ext cx="6858000" cy="1925320"/>
        </p:xfrm>
        <a:graphic>
          <a:graphicData uri="http://schemas.openxmlformats.org/drawingml/2006/table">
            <a:tbl>
              <a:tblPr bandRow="1"/>
              <a:tblGrid>
                <a:gridCol w="3429000">
                  <a:extLst>
                    <a:ext uri="{9D8B030D-6E8A-4147-A177-3AD203B41FA5}">
                      <a16:colId xmlns="" xmlns:a16="http://schemas.microsoft.com/office/drawing/2014/main" val="518087874"/>
                    </a:ext>
                  </a:extLst>
                </a:gridCol>
                <a:gridCol w="3429000">
                  <a:extLst>
                    <a:ext uri="{9D8B030D-6E8A-4147-A177-3AD203B41FA5}">
                      <a16:colId xmlns="" xmlns:a16="http://schemas.microsoft.com/office/drawing/2014/main" val="4071143556"/>
                    </a:ext>
                  </a:extLst>
                </a:gridCol>
              </a:tblGrid>
              <a:tr h="428625">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Box plot A</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Box plot B</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3864730163"/>
                  </a:ext>
                </a:extLst>
              </a:tr>
              <a:tr h="1496695">
                <a:tc>
                  <a:txBody>
                    <a:bodyPr/>
                    <a:lstStyle/>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21891253"/>
                  </a:ext>
                </a:extLst>
              </a:tr>
            </a:tbl>
          </a:graphicData>
        </a:graphic>
      </p:graphicFrame>
      <p:pic>
        <p:nvPicPr>
          <p:cNvPr id="1026" name="Picture 8">
            <a:extLst>
              <a:ext uri="{FF2B5EF4-FFF2-40B4-BE49-F238E27FC236}">
                <a16:creationId xmlns="" xmlns:a16="http://schemas.microsoft.com/office/drawing/2014/main" id="{63448187-3622-CF48-92A6-32B551AA0BF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t="11839" b="52654"/>
          <a:stretch>
            <a:fillRect/>
          </a:stretch>
        </p:blipFill>
        <p:spPr bwMode="auto">
          <a:xfrm>
            <a:off x="2806835" y="1560988"/>
            <a:ext cx="32004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9">
            <a:extLst>
              <a:ext uri="{FF2B5EF4-FFF2-40B4-BE49-F238E27FC236}">
                <a16:creationId xmlns="" xmlns:a16="http://schemas.microsoft.com/office/drawing/2014/main" id="{934A0F47-6E27-EF41-B64A-5B1F18FC8074}"/>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t="11565" b="52345"/>
          <a:stretch>
            <a:fillRect/>
          </a:stretch>
        </p:blipFill>
        <p:spPr bwMode="auto">
          <a:xfrm>
            <a:off x="6184767" y="1560988"/>
            <a:ext cx="3200400" cy="1016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F6FE91E7-8996-9F4F-BE5C-C2C93F1959E8}"/>
              </a:ext>
            </a:extLst>
          </p:cNvPr>
          <p:cNvSpPr txBox="1"/>
          <p:nvPr/>
        </p:nvSpPr>
        <p:spPr>
          <a:xfrm>
            <a:off x="574358" y="4640809"/>
            <a:ext cx="8251673" cy="392480"/>
          </a:xfrm>
          <a:prstGeom prst="rect">
            <a:avLst/>
          </a:prstGeom>
          <a:noFill/>
        </p:spPr>
        <p:txBody>
          <a:bodyPr wrap="square">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3. Discuss your choice with your partner and summarize. </a:t>
            </a: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11" name="Google Shape;282;g104476d1465_1_17">
            <a:extLst>
              <a:ext uri="{FF2B5EF4-FFF2-40B4-BE49-F238E27FC236}">
                <a16:creationId xmlns="" xmlns:a16="http://schemas.microsoft.com/office/drawing/2014/main" id="{FB1AE9F4-F4DC-264C-90E0-35490A433CD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spTree>
    <p:extLst>
      <p:ext uri="{BB962C8B-B14F-4D97-AF65-F5344CB8AC3E}">
        <p14:creationId xmlns:p14="http://schemas.microsoft.com/office/powerpoint/2010/main" val="1251846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5" name="TextBox 4">
                <a:extLst>
                  <a:ext uri="{FF2B5EF4-FFF2-40B4-BE49-F238E27FC236}">
                    <a16:creationId xmlns="" xmlns:a16="http://schemas.microsoft.com/office/drawing/2014/main" id="{2AA35BC6-D428-FC41-BDE5-6438AB8840FC}"/>
                  </a:ext>
                </a:extLst>
              </p:cNvPr>
              <p:cNvSpPr txBox="1"/>
              <p:nvPr/>
            </p:nvSpPr>
            <p:spPr>
              <a:xfrm>
                <a:off x="546064" y="359693"/>
                <a:ext cx="11266445" cy="2709781"/>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In a box plot, whiskers extend from each quartile to the minimum or maximum. The left whisker represents the bottom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 of the data and the right whisker represents the top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25%</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a:lnSpc>
                    <a:spcPct val="107000"/>
                  </a:lnSpc>
                </a:pP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914400" indent="-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4.  Discuss with your partner how the location of the median and the length of the whiskers can be used to determine the shape of the distribution. Summarize your discussion.</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5" name="TextBox 4">
                <a:extLst>
                  <a:ext uri="{FF2B5EF4-FFF2-40B4-BE49-F238E27FC236}">
                    <a16:creationId xmlns:a16="http://schemas.microsoft.com/office/drawing/2014/main" xmlns:a14="http://schemas.microsoft.com/office/drawing/2010/main" xmlns="" id="{2AA35BC6-D428-FC41-BDE5-6438AB8840FC}"/>
                  </a:ext>
                </a:extLst>
              </p:cNvPr>
              <p:cNvSpPr txBox="1">
                <a:spLocks noRot="1" noChangeAspect="1" noMove="1" noResize="1" noEditPoints="1" noAdjustHandles="1" noChangeArrowheads="1" noChangeShapeType="1" noTextEdit="1"/>
              </p:cNvSpPr>
              <p:nvPr/>
            </p:nvSpPr>
            <p:spPr>
              <a:xfrm>
                <a:off x="546064" y="359693"/>
                <a:ext cx="11266445" cy="2709781"/>
              </a:xfrm>
              <a:prstGeom prst="rect">
                <a:avLst/>
              </a:prstGeom>
              <a:blipFill rotWithShape="1">
                <a:blip r:embed="rId4"/>
                <a:stretch>
                  <a:fillRect l="-595" t="-1348" b="-2697"/>
                </a:stretch>
              </a:blipFill>
            </p:spPr>
            <p:txBody>
              <a:bodyPr/>
              <a:lstStyle/>
              <a:p>
                <a:r>
                  <a:rPr lang="en-PH">
                    <a:noFill/>
                  </a:rPr>
                  <a:t> </a:t>
                </a:r>
              </a:p>
            </p:txBody>
          </p:sp>
        </mc:Fallback>
      </mc:AlternateContent>
      <p:sp>
        <p:nvSpPr>
          <p:cNvPr id="14" name="Google Shape;282;g104476d1465_1_17">
            <a:extLst>
              <a:ext uri="{FF2B5EF4-FFF2-40B4-BE49-F238E27FC236}">
                <a16:creationId xmlns="" xmlns:a16="http://schemas.microsoft.com/office/drawing/2014/main" id="{E8C4CEC9-4AAB-0140-B592-0547FD173793}"/>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223</a:t>
            </a:r>
            <a:endParaRPr i="1" dirty="0">
              <a:latin typeface="Calibri"/>
              <a:ea typeface="Calibri"/>
              <a:cs typeface="Calibri"/>
              <a:sym typeface="Calibri"/>
            </a:endParaRPr>
          </a:p>
        </p:txBody>
      </p:sp>
    </p:spTree>
    <p:extLst>
      <p:ext uri="{BB962C8B-B14F-4D97-AF65-F5344CB8AC3E}">
        <p14:creationId xmlns:p14="http://schemas.microsoft.com/office/powerpoint/2010/main" val="911090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2AA35BC6-D428-FC41-BDE5-6438AB8840FC}"/>
              </a:ext>
            </a:extLst>
          </p:cNvPr>
          <p:cNvSpPr txBox="1"/>
          <p:nvPr/>
        </p:nvSpPr>
        <p:spPr>
          <a:xfrm>
            <a:off x="545897" y="378556"/>
            <a:ext cx="8251673" cy="847733"/>
          </a:xfrm>
          <a:prstGeom prst="rect">
            <a:avLst/>
          </a:prstGeom>
          <a:noFill/>
        </p:spPr>
        <p:txBody>
          <a:bodyPr wrap="square" rtlCol="0">
            <a:spAutoFit/>
          </a:bodyPr>
          <a:lstStyle/>
          <a:p>
            <a:pPr lvl="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5. Create a frequency table of the data set</a:t>
            </a:r>
            <a:r>
              <a:rPr lang="en-US" sz="2400" dirty="0">
                <a:latin typeface="Verdana" panose="020B0604030504040204" pitchFamily="34" charset="0"/>
                <a:ea typeface="Verdana" panose="020B0604030504040204" pitchFamily="34" charset="0"/>
                <a:cs typeface="Verdana" panose="020B0604030504040204" pitchFamily="34" charset="0"/>
              </a:rPr>
              <a:t>.</a:t>
            </a:r>
            <a:endParaRPr lang="en-US" sz="2400" i="1"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3" name="Table 2">
            <a:extLst>
              <a:ext uri="{FF2B5EF4-FFF2-40B4-BE49-F238E27FC236}">
                <a16:creationId xmlns="" xmlns:a16="http://schemas.microsoft.com/office/drawing/2014/main" id="{3964B79C-D442-1B4F-BF07-E99E0717E46A}"/>
              </a:ext>
            </a:extLst>
          </p:cNvPr>
          <p:cNvGraphicFramePr>
            <a:graphicFrameLocks noGrp="1"/>
          </p:cNvGraphicFramePr>
          <p:nvPr>
            <p:extLst>
              <p:ext uri="{D42A27DB-BD31-4B8C-83A1-F6EECF244321}">
                <p14:modId xmlns:p14="http://schemas.microsoft.com/office/powerpoint/2010/main" val="2962409497"/>
              </p:ext>
            </p:extLst>
          </p:nvPr>
        </p:nvGraphicFramePr>
        <p:xfrm>
          <a:off x="3457924" y="1129432"/>
          <a:ext cx="5146040" cy="2782189"/>
        </p:xfrm>
        <a:graphic>
          <a:graphicData uri="http://schemas.openxmlformats.org/drawingml/2006/table">
            <a:tbl>
              <a:tblPr firstRow="1" firstCol="1" bandRow="1"/>
              <a:tblGrid>
                <a:gridCol w="2573020">
                  <a:extLst>
                    <a:ext uri="{9D8B030D-6E8A-4147-A177-3AD203B41FA5}">
                      <a16:colId xmlns="" xmlns:a16="http://schemas.microsoft.com/office/drawing/2014/main" val="4161275905"/>
                    </a:ext>
                  </a:extLst>
                </a:gridCol>
                <a:gridCol w="2573020">
                  <a:extLst>
                    <a:ext uri="{9D8B030D-6E8A-4147-A177-3AD203B41FA5}">
                      <a16:colId xmlns="" xmlns:a16="http://schemas.microsoft.com/office/drawing/2014/main" val="3103231473"/>
                    </a:ext>
                  </a:extLst>
                </a:gridCol>
              </a:tblGrid>
              <a:tr h="536575">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Range</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Clarinet Players</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1781396591"/>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92071358"/>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1422043"/>
                  </a:ext>
                </a:extLst>
              </a:tr>
              <a:tr h="422275">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422393811"/>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18971886"/>
                  </a:ext>
                </a:extLst>
              </a:tr>
              <a:tr h="443230">
                <a:tc>
                  <a:txBody>
                    <a:bodyPr/>
                    <a:lstStyle/>
                    <a:p>
                      <a:pPr marL="0" marR="0">
                        <a:lnSpc>
                          <a:spcPct val="107000"/>
                        </a:lnSpc>
                        <a:spcBef>
                          <a:spcPts val="0"/>
                        </a:spcBef>
                        <a:spcAft>
                          <a:spcPts val="0"/>
                        </a:spcAft>
                      </a:pPr>
                      <a:r>
                        <a:rPr lang="en-US" sz="1800" i="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2265173261"/>
                  </a:ext>
                </a:extLst>
              </a:tr>
            </a:tbl>
          </a:graphicData>
        </a:graphic>
      </p:graphicFrame>
      <p:sp>
        <p:nvSpPr>
          <p:cNvPr id="11" name="Google Shape;282;g104476d1465_1_17">
            <a:extLst>
              <a:ext uri="{FF2B5EF4-FFF2-40B4-BE49-F238E27FC236}">
                <a16:creationId xmlns="" xmlns:a16="http://schemas.microsoft.com/office/drawing/2014/main" id="{34596551-E920-C647-9DD9-5DB46572FC5D}"/>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223</a:t>
            </a:r>
            <a:endParaRPr i="1" dirty="0">
              <a:latin typeface="Calibri"/>
              <a:ea typeface="Calibri"/>
              <a:cs typeface="Calibri"/>
              <a:sym typeface="Calibri"/>
            </a:endParaRPr>
          </a:p>
        </p:txBody>
      </p:sp>
    </p:spTree>
    <p:extLst>
      <p:ext uri="{BB962C8B-B14F-4D97-AF65-F5344CB8AC3E}">
        <p14:creationId xmlns:p14="http://schemas.microsoft.com/office/powerpoint/2010/main" val="117994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2AA35BC6-D428-FC41-BDE5-6438AB8840FC}"/>
              </a:ext>
            </a:extLst>
          </p:cNvPr>
          <p:cNvSpPr txBox="1"/>
          <p:nvPr/>
        </p:nvSpPr>
        <p:spPr>
          <a:xfrm>
            <a:off x="541160" y="396222"/>
            <a:ext cx="8251673" cy="781881"/>
          </a:xfrm>
          <a:prstGeom prst="rect">
            <a:avLst/>
          </a:prstGeom>
          <a:noFill/>
        </p:spPr>
        <p:txBody>
          <a:bodyPr wrap="square" rtlCol="0">
            <a:spAutoFit/>
          </a:bodyPr>
          <a:lstStyle/>
          <a:p>
            <a:pPr lvl="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6. Which histogram most accurately displays the data?</a:t>
            </a:r>
            <a:r>
              <a:rPr lang="en-US" sz="2000" dirty="0"/>
              <a:t> </a:t>
            </a:r>
            <a:endParaRPr lang="en-US" sz="2000" i="1"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endParaRPr lang="en-US" sz="2400" i="1" dirty="0">
              <a:latin typeface="Verdana" panose="020B0604030504040204" pitchFamily="34" charset="0"/>
              <a:ea typeface="Verdana" panose="020B0604030504040204" pitchFamily="34" charset="0"/>
              <a:cs typeface="Verdana" panose="020B0604030504040204" pitchFamily="34" charset="0"/>
            </a:endParaRPr>
          </a:p>
        </p:txBody>
      </p:sp>
      <p:graphicFrame>
        <p:nvGraphicFramePr>
          <p:cNvPr id="2" name="Table 1">
            <a:extLst>
              <a:ext uri="{FF2B5EF4-FFF2-40B4-BE49-F238E27FC236}">
                <a16:creationId xmlns="" xmlns:a16="http://schemas.microsoft.com/office/drawing/2014/main" id="{3F546CAA-AD88-2E43-ACF8-D546F2E687B1}"/>
              </a:ext>
            </a:extLst>
          </p:cNvPr>
          <p:cNvGraphicFramePr>
            <a:graphicFrameLocks noGrp="1"/>
          </p:cNvGraphicFramePr>
          <p:nvPr>
            <p:extLst>
              <p:ext uri="{D42A27DB-BD31-4B8C-83A1-F6EECF244321}">
                <p14:modId xmlns:p14="http://schemas.microsoft.com/office/powerpoint/2010/main" val="1007225969"/>
              </p:ext>
            </p:extLst>
          </p:nvPr>
        </p:nvGraphicFramePr>
        <p:xfrm>
          <a:off x="2671128" y="1096608"/>
          <a:ext cx="6849745" cy="3430905"/>
        </p:xfrm>
        <a:graphic>
          <a:graphicData uri="http://schemas.openxmlformats.org/drawingml/2006/table">
            <a:tbl>
              <a:tblPr firstRow="1" firstCol="1" bandRow="1"/>
              <a:tblGrid>
                <a:gridCol w="3424555">
                  <a:extLst>
                    <a:ext uri="{9D8B030D-6E8A-4147-A177-3AD203B41FA5}">
                      <a16:colId xmlns="" xmlns:a16="http://schemas.microsoft.com/office/drawing/2014/main" val="3211882393"/>
                    </a:ext>
                  </a:extLst>
                </a:gridCol>
                <a:gridCol w="3425190">
                  <a:extLst>
                    <a:ext uri="{9D8B030D-6E8A-4147-A177-3AD203B41FA5}">
                      <a16:colId xmlns="" xmlns:a16="http://schemas.microsoft.com/office/drawing/2014/main" val="3774810744"/>
                    </a:ext>
                  </a:extLst>
                </a:gridCol>
              </a:tblGrid>
              <a:tr h="294005">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Histogram A</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1800" b="1" i="0">
                          <a:solidFill>
                            <a:srgbClr val="000000"/>
                          </a:solidFill>
                          <a:effectLst/>
                          <a:latin typeface="Verdana" panose="020B0604030504040204" pitchFamily="34" charset="0"/>
                          <a:ea typeface="Verdana" panose="020B0604030504040204" pitchFamily="34" charset="0"/>
                          <a:cs typeface="Verdana" panose="020B0604030504040204" pitchFamily="34" charset="0"/>
                        </a:rPr>
                        <a:t>Histogram B</a:t>
                      </a:r>
                      <a:endParaRPr lang="en-US" sz="1600" i="1">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3087072583"/>
                  </a:ext>
                </a:extLst>
              </a:tr>
              <a:tr h="3136900">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of Clarinet Players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(in years)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b="1"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of Clarinet Players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r>
                        <a:rPr lang="en-US" sz="1600" i="1" dirty="0">
                          <a:effectLst/>
                          <a:latin typeface="Cambria Math" panose="02040503050406030204" pitchFamily="18" charset="0"/>
                        </a:rPr>
                        <a:t> </a:t>
                      </a: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endParaRPr lang="en-US" sz="1600" i="1" dirty="0">
                        <a:solidFill>
                          <a:srgbClr val="000000"/>
                        </a:solidFill>
                        <a:effectLst/>
                        <a:latin typeface="Cambria Math" panose="02040503050406030204" pitchFamily="18"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600" i="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Age (in years)</a:t>
                      </a:r>
                      <a:endParaRPr lang="en-US" sz="16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73163780"/>
                  </a:ext>
                </a:extLst>
              </a:tr>
            </a:tbl>
          </a:graphicData>
        </a:graphic>
      </p:graphicFrame>
      <p:pic>
        <p:nvPicPr>
          <p:cNvPr id="5123" name="Picture 1">
            <a:extLst>
              <a:ext uri="{FF2B5EF4-FFF2-40B4-BE49-F238E27FC236}">
                <a16:creationId xmlns="" xmlns:a16="http://schemas.microsoft.com/office/drawing/2014/main" id="{02C39C24-EA91-BD45-8C19-C9B2E5A766A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b="14833"/>
          <a:stretch>
            <a:fillRect/>
          </a:stretch>
        </p:blipFill>
        <p:spPr bwMode="auto">
          <a:xfrm>
            <a:off x="3023827" y="1833777"/>
            <a:ext cx="2984500" cy="21844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1">
            <a:extLst>
              <a:ext uri="{FF2B5EF4-FFF2-40B4-BE49-F238E27FC236}">
                <a16:creationId xmlns="" xmlns:a16="http://schemas.microsoft.com/office/drawing/2014/main" id="{45FB97AE-DE18-0F4B-B886-79FA6DB2BF74}"/>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b="15071"/>
          <a:stretch>
            <a:fillRect/>
          </a:stretch>
        </p:blipFill>
        <p:spPr bwMode="auto">
          <a:xfrm>
            <a:off x="6413482" y="1833777"/>
            <a:ext cx="3035300" cy="21844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0">
            <a:extLst>
              <a:ext uri="{FF2B5EF4-FFF2-40B4-BE49-F238E27FC236}">
                <a16:creationId xmlns="" xmlns:a16="http://schemas.microsoft.com/office/drawing/2014/main" id="{AE6D5F16-57C6-8F4A-9CD1-DB56A0EF645C}"/>
              </a:ext>
            </a:extLst>
          </p:cNvPr>
          <p:cNvSpPr txBox="1"/>
          <p:nvPr/>
        </p:nvSpPr>
        <p:spPr>
          <a:xfrm rot="16200000">
            <a:off x="2227422" y="3023485"/>
            <a:ext cx="1254125" cy="3667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dirty="0">
                <a:latin typeface="Verdana" panose="020B0604030504040204" pitchFamily="34" charset="0"/>
                <a:ea typeface="Cambria Math" panose="02040503050406030204" pitchFamily="18" charset="0"/>
                <a:cs typeface="Cambria Math" panose="02040503050406030204" pitchFamily="18" charset="0"/>
              </a:rPr>
              <a:t>Frequency</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Text Box 12">
            <a:extLst>
              <a:ext uri="{FF2B5EF4-FFF2-40B4-BE49-F238E27FC236}">
                <a16:creationId xmlns="" xmlns:a16="http://schemas.microsoft.com/office/drawing/2014/main" id="{1AD52B3E-A00E-1248-AF54-14071925D4F5}"/>
              </a:ext>
            </a:extLst>
          </p:cNvPr>
          <p:cNvSpPr txBox="1"/>
          <p:nvPr/>
        </p:nvSpPr>
        <p:spPr>
          <a:xfrm rot="16200000">
            <a:off x="5603064" y="2915075"/>
            <a:ext cx="1254125" cy="366712"/>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1600" dirty="0">
                <a:latin typeface="Verdana" panose="020B0604030504040204" pitchFamily="34" charset="0"/>
                <a:ea typeface="Cambria Math" panose="02040503050406030204" pitchFamily="18" charset="0"/>
                <a:cs typeface="Cambria Math" panose="02040503050406030204" pitchFamily="18" charset="0"/>
              </a:rPr>
              <a:t>Frequency</a:t>
            </a:r>
            <a:endParaRPr lang="en-US" sz="16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3" name="Google Shape;282;g104476d1465_1_17">
            <a:extLst>
              <a:ext uri="{FF2B5EF4-FFF2-40B4-BE49-F238E27FC236}">
                <a16:creationId xmlns="" xmlns:a16="http://schemas.microsoft.com/office/drawing/2014/main" id="{3A49F479-C9D7-C34B-B0E5-5E4753B6DA5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223</a:t>
            </a:r>
            <a:endParaRPr i="1" dirty="0">
              <a:latin typeface="Calibri"/>
              <a:ea typeface="Calibri"/>
              <a:cs typeface="Calibri"/>
              <a:sym typeface="Calibri"/>
            </a:endParaRPr>
          </a:p>
        </p:txBody>
      </p:sp>
    </p:spTree>
    <p:extLst>
      <p:ext uri="{BB962C8B-B14F-4D97-AF65-F5344CB8AC3E}">
        <p14:creationId xmlns:p14="http://schemas.microsoft.com/office/powerpoint/2010/main" val="2952375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2AA35BC6-D428-FC41-BDE5-6438AB8840FC}"/>
              </a:ext>
            </a:extLst>
          </p:cNvPr>
          <p:cNvSpPr txBox="1"/>
          <p:nvPr/>
        </p:nvSpPr>
        <p:spPr>
          <a:xfrm>
            <a:off x="574679" y="391123"/>
            <a:ext cx="11519755" cy="4015010"/>
          </a:xfrm>
          <a:prstGeom prst="rect">
            <a:avLst/>
          </a:prstGeom>
          <a:noFill/>
        </p:spPr>
        <p:txBody>
          <a:bodyPr wrap="square" rtlCol="0">
            <a:spAutoFit/>
          </a:bodyPr>
          <a:lstStyle/>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7.  Discuss which characteristics of the histogram you used to make your selection.</a:t>
            </a:r>
          </a:p>
          <a:p>
            <a:pPr lvl="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8.  Describe the shape of the histogram you chose, including any gaps, outliers, or clusters.</a:t>
            </a: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a:lnSpc>
                <a:spcPct val="107000"/>
              </a:lnSpc>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indent="-460375">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9.  Compare the box plot selected for the data with the histogram selected. Discuss which display better represents the data. Summarize your discussion.</a:t>
            </a:r>
          </a:p>
          <a:p>
            <a:pPr marL="460375" indent="-460375">
              <a:lnSpc>
                <a:spcPct val="107000"/>
              </a:lnSpc>
            </a:pPr>
            <a:endParaRPr lang="en-US" sz="2000" i="1" dirty="0">
              <a:latin typeface="Verdana" panose="020B0604030504040204" pitchFamily="34" charset="0"/>
              <a:ea typeface="Verdana" panose="020B0604030504040204" pitchFamily="34" charset="0"/>
              <a:cs typeface="Verdana" panose="020B0604030504040204" pitchFamily="34" charset="0"/>
            </a:endParaRPr>
          </a:p>
        </p:txBody>
      </p:sp>
      <p:sp>
        <p:nvSpPr>
          <p:cNvPr id="13" name="Google Shape;282;g104476d1465_1_17">
            <a:extLst>
              <a:ext uri="{FF2B5EF4-FFF2-40B4-BE49-F238E27FC236}">
                <a16:creationId xmlns="" xmlns:a16="http://schemas.microsoft.com/office/drawing/2014/main" id="{BCB7EA78-51BC-3346-B48C-A1DE2F651F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223</a:t>
            </a:r>
            <a:endParaRPr i="1" dirty="0">
              <a:latin typeface="Calibri"/>
              <a:ea typeface="Calibri"/>
              <a:cs typeface="Calibri"/>
              <a:sym typeface="Calibri"/>
            </a:endParaRPr>
          </a:p>
        </p:txBody>
      </p:sp>
    </p:spTree>
    <p:extLst>
      <p:ext uri="{BB962C8B-B14F-4D97-AF65-F5344CB8AC3E}">
        <p14:creationId xmlns:p14="http://schemas.microsoft.com/office/powerpoint/2010/main" val="2096979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7424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 xmlns:a16="http://schemas.microsoft.com/office/drawing/2014/main" id="{BEE11549-E9F1-EB43-80B1-473F1328A12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06424" y="-8677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10.5.3 Activity: Card Sort</a:t>
            </a:r>
          </a:p>
        </p:txBody>
      </p:sp>
      <p:pic>
        <p:nvPicPr>
          <p:cNvPr id="9" name="Picture 2" descr="Icon&#10;&#10;Description automatically generated">
            <a:extLst>
              <a:ext uri="{FF2B5EF4-FFF2-40B4-BE49-F238E27FC236}">
                <a16:creationId xmlns=""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A3547ABD-563B-A148-B65C-C7679A7B43D4}"/>
              </a:ext>
            </a:extLst>
          </p:cNvPr>
          <p:cNvSpPr txBox="1"/>
          <p:nvPr/>
        </p:nvSpPr>
        <p:spPr>
          <a:xfrm>
            <a:off x="731520" y="1238922"/>
            <a:ext cx="11042664" cy="2380460"/>
          </a:xfrm>
          <a:prstGeom prst="rect">
            <a:avLst/>
          </a:prstGeom>
          <a:noFill/>
        </p:spPr>
        <p:txBody>
          <a:bodyPr wrap="square" rtlCol="0">
            <a:spAutoFit/>
          </a:bodyPr>
          <a:lstStyle/>
          <a:p>
            <a:pPr marL="458788" indent="-446088">
              <a:lnSpc>
                <a:spcPct val="107000"/>
              </a:lnSpc>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An arborist visited a pine tree farm and took measurements of the tree heights, in feet, in three different fields. He dropped his paperwork and all of the data he collected got mixed up.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Complete the table to match each histogram with its corresponding data set and box plot. Write the number and letter from the card that corresponds to each match.</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1" name="Google Shape;282;g104476d1465_1_17">
            <a:extLst>
              <a:ext uri="{FF2B5EF4-FFF2-40B4-BE49-F238E27FC236}">
                <a16:creationId xmlns="" xmlns:a16="http://schemas.microsoft.com/office/drawing/2014/main" id="{60153E24-0B6B-B344-A7AE-0CEB9EDB72E5}"/>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TextBox 4">
            <a:extLst>
              <a:ext uri="{FF2B5EF4-FFF2-40B4-BE49-F238E27FC236}">
                <a16:creationId xmlns="" xmlns:a16="http://schemas.microsoft.com/office/drawing/2014/main" id="{B6C08EE3-8247-C14E-9600-35165D5C8679}"/>
              </a:ext>
            </a:extLst>
          </p:cNvPr>
          <p:cNvSpPr txBox="1"/>
          <p:nvPr/>
        </p:nvSpPr>
        <p:spPr>
          <a:xfrm>
            <a:off x="520376" y="5923921"/>
            <a:ext cx="11115748" cy="404534"/>
          </a:xfrm>
          <a:prstGeom prst="rect">
            <a:avLst/>
          </a:prstGeom>
          <a:noFill/>
        </p:spPr>
        <p:txBody>
          <a:bodyPr wrap="square" rtlCol="0">
            <a:spAutoFit/>
          </a:bodyPr>
          <a:lstStyle/>
          <a:p>
            <a:pPr marL="458788" indent="-446088">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2.  Compare your answers with your partner. Make any revisions, if needed.</a:t>
            </a:r>
            <a:endParaRPr lang="en-US" sz="1800" i="1"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6" name="Picture 5" descr="Chart, histogram&#10;&#10;Description automatically generated">
            <a:extLst>
              <a:ext uri="{FF2B5EF4-FFF2-40B4-BE49-F238E27FC236}">
                <a16:creationId xmlns="" xmlns:a16="http://schemas.microsoft.com/office/drawing/2014/main" id="{FAA10F34-0CCD-134A-A169-687B87A0C24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356733" y="78437"/>
            <a:ext cx="5849928" cy="5828847"/>
          </a:xfrm>
          <a:prstGeom prst="rect">
            <a:avLst/>
          </a:prstGeom>
        </p:spPr>
      </p:pic>
      <p:sp>
        <p:nvSpPr>
          <p:cNvPr id="22" name="Google Shape;282;g104476d1465_1_17">
            <a:extLst>
              <a:ext uri="{FF2B5EF4-FFF2-40B4-BE49-F238E27FC236}">
                <a16:creationId xmlns="" xmlns:a16="http://schemas.microsoft.com/office/drawing/2014/main" id="{F299FEE3-679A-F645-88DD-1A0F738E632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3486405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40058" y="272114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 xmlns:a16="http://schemas.microsoft.com/office/drawing/2014/main" id="{C9CF31BF-5A6E-804F-8563-483EA42EC11C}"/>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28438"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10.5.4 Your Turn!</a:t>
            </a:r>
          </a:p>
        </p:txBody>
      </p:sp>
      <p:pic>
        <p:nvPicPr>
          <p:cNvPr id="9"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mc:AlternateContent xmlns:mc="http://schemas.openxmlformats.org/markup-compatibility/2006">
        <mc:Choice xmlns:a14="http://schemas.microsoft.com/office/drawing/2010/main" Requires="a14">
          <p:sp>
            <p:nvSpPr>
              <p:cNvPr id="12" name="TextBox 11">
                <a:extLst>
                  <a:ext uri="{FF2B5EF4-FFF2-40B4-BE49-F238E27FC236}">
                    <a16:creationId xmlns="" xmlns:a16="http://schemas.microsoft.com/office/drawing/2014/main" id="{759C3E41-93EC-B84D-963F-86A3B15AC1C6}"/>
                  </a:ext>
                </a:extLst>
              </p:cNvPr>
              <p:cNvSpPr txBox="1"/>
              <p:nvPr/>
            </p:nvSpPr>
            <p:spPr>
              <a:xfrm>
                <a:off x="499765" y="1150376"/>
                <a:ext cx="11033644" cy="2051139"/>
              </a:xfrm>
              <a:prstGeom prst="rect">
                <a:avLst/>
              </a:prstGeom>
              <a:noFill/>
            </p:spPr>
            <p:txBody>
              <a:bodyPr wrap="square" rtlCol="0">
                <a:spAutoFit/>
              </a:bodyPr>
              <a:lstStyle/>
              <a:p>
                <a:pPr marL="342900" indent="-342900">
                  <a:lnSpc>
                    <a:spcPct val="107000"/>
                  </a:lnSpc>
                  <a:buFont typeface="+mj-lt"/>
                  <a:buAutoNum type="arabicPeriod"/>
                </a:pPr>
                <a:r>
                  <a:rPr lang="en-US" sz="2000" dirty="0" smtClean="0">
                    <a:latin typeface="Verdana" panose="020B0604030504040204" pitchFamily="34" charset="0"/>
                    <a:ea typeface="Verdana" panose="020B0604030504040204" pitchFamily="34" charset="0"/>
                    <a:cs typeface="Verdana" panose="020B0604030504040204" pitchFamily="34" charset="0"/>
                  </a:rPr>
                  <a:t>A horticulturist is researching sunflowers to find out the lengths of the petals on a sunflower. She gathers information from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sunflowers and measures the length of the petals, in inches, on each flower.</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Cambria Math" panose="02040503050406030204" pitchFamily="18" charset="0"/>
                        </a:rPr>
                        <m:t>6.8, 6.</m:t>
                      </m:r>
                      <m:r>
                        <a:rPr lang="en-US" sz="2000" b="0" i="1" smtClean="0">
                          <a:latin typeface="Cambria Math"/>
                          <a:ea typeface="Cambria Math" panose="02040503050406030204" pitchFamily="18" charset="0"/>
                          <a:cs typeface="Cambria Math" panose="02040503050406030204" pitchFamily="18" charset="0"/>
                        </a:rPr>
                        <m:t>4</m:t>
                      </m:r>
                      <m:r>
                        <a:rPr lang="en-US" sz="2000" i="1">
                          <a:latin typeface="Cambria Math" panose="02040503050406030204" pitchFamily="18" charset="0"/>
                          <a:ea typeface="Cambria Math" panose="02040503050406030204" pitchFamily="18" charset="0"/>
                          <a:cs typeface="Cambria Math" panose="02040503050406030204" pitchFamily="18" charset="0"/>
                        </a:rPr>
                        <m:t>, 6.2, 3.5, 3.6, 4.1, 3.</m:t>
                      </m:r>
                      <m:r>
                        <a:rPr lang="en-US" sz="2000" b="0" i="1" smtClean="0">
                          <a:latin typeface="Cambria Math"/>
                          <a:ea typeface="Cambria Math" panose="02040503050406030204" pitchFamily="18" charset="0"/>
                          <a:cs typeface="Cambria Math" panose="02040503050406030204" pitchFamily="18" charset="0"/>
                        </a:rPr>
                        <m:t>9</m:t>
                      </m:r>
                      <m:r>
                        <a:rPr lang="en-US" sz="2000" i="1">
                          <a:latin typeface="Cambria Math" panose="02040503050406030204" pitchFamily="18" charset="0"/>
                          <a:ea typeface="Cambria Math" panose="02040503050406030204" pitchFamily="18" charset="0"/>
                          <a:cs typeface="Cambria Math" panose="02040503050406030204" pitchFamily="18" charset="0"/>
                        </a:rPr>
                        <m:t>, 4.5, 6.7, 7.2, 8.1, 9.8</m:t>
                      </m:r>
                    </m:oMath>
                  </m:oMathPara>
                </a14:m>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 </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12" name="TextBox 11">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499765" y="1150376"/>
                <a:ext cx="11033644" cy="2051139"/>
              </a:xfrm>
              <a:prstGeom prst="rect">
                <a:avLst/>
              </a:prstGeom>
              <a:blipFill rotWithShape="1">
                <a:blip r:embed="rId5"/>
                <a:stretch>
                  <a:fillRect l="-608" t="-2083" r="-939"/>
                </a:stretch>
              </a:blipFill>
            </p:spPr>
            <p:txBody>
              <a:bodyPr/>
              <a:lstStyle/>
              <a:p>
                <a:r>
                  <a:rPr lang="en-PH">
                    <a:noFill/>
                  </a:rPr>
                  <a:t> </a:t>
                </a:r>
              </a:p>
            </p:txBody>
          </p:sp>
        </mc:Fallback>
      </mc:AlternateContent>
      <p:sp>
        <p:nvSpPr>
          <p:cNvPr id="10" name="Google Shape;282;g104476d1465_1_17">
            <a:extLst>
              <a:ext uri="{FF2B5EF4-FFF2-40B4-BE49-F238E27FC236}">
                <a16:creationId xmlns="" xmlns:a16="http://schemas.microsoft.com/office/drawing/2014/main" id="{292911BB-2072-7E4C-896A-51694AA942A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descr="Chart, histogram&#10;&#10;Description automatically generated">
            <a:extLst>
              <a:ext uri="{FF2B5EF4-FFF2-40B4-BE49-F238E27FC236}">
                <a16:creationId xmlns="" xmlns:a16="http://schemas.microsoft.com/office/drawing/2014/main" id="{BFF3611F-F401-FF4B-B02A-2D59D675A81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4178" y="1061853"/>
            <a:ext cx="6183645" cy="4955460"/>
          </a:xfrm>
          <a:prstGeom prst="rect">
            <a:avLst/>
          </a:prstGeom>
        </p:spPr>
      </p:pic>
      <p:sp>
        <p:nvSpPr>
          <p:cNvPr id="9" name="TextBox 8">
            <a:extLst>
              <a:ext uri="{FF2B5EF4-FFF2-40B4-BE49-F238E27FC236}">
                <a16:creationId xmlns="" xmlns:a16="http://schemas.microsoft.com/office/drawing/2014/main" id="{FCF7785E-113F-7040-908D-72DED930BAAB}"/>
              </a:ext>
            </a:extLst>
          </p:cNvPr>
          <p:cNvSpPr txBox="1"/>
          <p:nvPr/>
        </p:nvSpPr>
        <p:spPr>
          <a:xfrm>
            <a:off x="511095" y="390403"/>
            <a:ext cx="10707088" cy="404534"/>
          </a:xfrm>
          <a:prstGeom prst="rect">
            <a:avLst/>
          </a:prstGeom>
          <a:noFill/>
        </p:spPr>
        <p:txBody>
          <a:bodyPr wrap="square">
            <a:spAutoFit/>
          </a:bodyPr>
          <a:lstStyle/>
          <a:p>
            <a:pPr marL="457200">
              <a:lnSpc>
                <a:spcPct val="107000"/>
              </a:lnSpc>
            </a:pPr>
            <a:r>
              <a:rPr lang="en-US" sz="2000" dirty="0">
                <a:latin typeface="Verdana" panose="020B0604030504040204" pitchFamily="34" charset="0"/>
                <a:ea typeface="Verdana" panose="020B0604030504040204" pitchFamily="34" charset="0"/>
                <a:cs typeface="Verdana" panose="020B0604030504040204" pitchFamily="34" charset="0"/>
              </a:rPr>
              <a:t>Circle the boxplot and the histogram that best display the data set.</a:t>
            </a:r>
            <a:endParaRPr lang="en-US" sz="2000" i="1" dirty="0">
              <a:latin typeface="Cambria Math" panose="02040503050406030204" pitchFamily="18" charset="0"/>
              <a:ea typeface="Cambria Math" panose="02040503050406030204" pitchFamily="18" charset="0"/>
              <a:cs typeface="Cambria Math" panose="02040503050406030204" pitchFamily="18" charset="0"/>
            </a:endParaRPr>
          </a:p>
        </p:txBody>
      </p:sp>
      <p:sp>
        <p:nvSpPr>
          <p:cNvPr id="10" name="Google Shape;282;g104476d1465_1_17">
            <a:extLst>
              <a:ext uri="{FF2B5EF4-FFF2-40B4-BE49-F238E27FC236}">
                <a16:creationId xmlns="" xmlns:a16="http://schemas.microsoft.com/office/drawing/2014/main" id="{AE8EAA02-61A0-2A44-8AC6-9A3AA1E6D92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224</a:t>
            </a:r>
            <a:endParaRPr i="1" dirty="0">
              <a:latin typeface="Calibri"/>
              <a:ea typeface="Calibri"/>
              <a:cs typeface="Calibri"/>
              <a:sym typeface="Calibri"/>
            </a:endParaRPr>
          </a:p>
        </p:txBody>
      </p:sp>
    </p:spTree>
    <p:extLst>
      <p:ext uri="{BB962C8B-B14F-4D97-AF65-F5344CB8AC3E}">
        <p14:creationId xmlns:p14="http://schemas.microsoft.com/office/powerpoint/2010/main" val="843614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70861"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 xmlns:a16="http://schemas.microsoft.com/office/drawing/2014/main" id="{5D9A019F-DE5F-1640-9730-7E53943D6888}"/>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225</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03916" y="279372"/>
            <a:ext cx="10033419"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10.5.5 Wrap-Up: Growth Mindset</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12" name="TextBox 11">
            <a:extLst>
              <a:ext uri="{FF2B5EF4-FFF2-40B4-BE49-F238E27FC236}">
                <a16:creationId xmlns="" xmlns:a16="http://schemas.microsoft.com/office/drawing/2014/main" id="{0370EDB7-6994-3D43-ABF9-E04CBAFB9CD9}"/>
              </a:ext>
            </a:extLst>
          </p:cNvPr>
          <p:cNvSpPr txBox="1"/>
          <p:nvPr/>
        </p:nvSpPr>
        <p:spPr>
          <a:xfrm>
            <a:off x="554518" y="1086092"/>
            <a:ext cx="8327136" cy="400110"/>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1. Complete the table as you reflect on today’s lesson.</a:t>
            </a:r>
          </a:p>
        </p:txBody>
      </p:sp>
      <p:graphicFrame>
        <p:nvGraphicFramePr>
          <p:cNvPr id="2" name="Table 1">
            <a:extLst>
              <a:ext uri="{FF2B5EF4-FFF2-40B4-BE49-F238E27FC236}">
                <a16:creationId xmlns="" xmlns:a16="http://schemas.microsoft.com/office/drawing/2014/main" id="{2D0FC2EE-1822-A541-8B44-4C374DCF6CAB}"/>
              </a:ext>
            </a:extLst>
          </p:cNvPr>
          <p:cNvGraphicFramePr>
            <a:graphicFrameLocks noGrp="1"/>
          </p:cNvGraphicFramePr>
          <p:nvPr>
            <p:extLst>
              <p:ext uri="{D42A27DB-BD31-4B8C-83A1-F6EECF244321}">
                <p14:modId xmlns:p14="http://schemas.microsoft.com/office/powerpoint/2010/main" val="3834993005"/>
              </p:ext>
            </p:extLst>
          </p:nvPr>
        </p:nvGraphicFramePr>
        <p:xfrm>
          <a:off x="2447365" y="1587011"/>
          <a:ext cx="6587057" cy="4748914"/>
        </p:xfrm>
        <a:graphic>
          <a:graphicData uri="http://schemas.openxmlformats.org/drawingml/2006/table">
            <a:tbl>
              <a:tblPr firstRow="1" bandRow="1"/>
              <a:tblGrid>
                <a:gridCol w="3552836">
                  <a:extLst>
                    <a:ext uri="{9D8B030D-6E8A-4147-A177-3AD203B41FA5}">
                      <a16:colId xmlns="" xmlns:a16="http://schemas.microsoft.com/office/drawing/2014/main" val="2358868618"/>
                    </a:ext>
                  </a:extLst>
                </a:gridCol>
                <a:gridCol w="3034221">
                  <a:extLst>
                    <a:ext uri="{9D8B030D-6E8A-4147-A177-3AD203B41FA5}">
                      <a16:colId xmlns="" xmlns:a16="http://schemas.microsoft.com/office/drawing/2014/main" val="1190614101"/>
                    </a:ext>
                  </a:extLst>
                </a:gridCol>
              </a:tblGrid>
              <a:tr h="839540">
                <a:tc>
                  <a:txBody>
                    <a:bodyPr/>
                    <a:lstStyle/>
                    <a:p>
                      <a:pPr marL="0" marR="0">
                        <a:lnSpc>
                          <a:spcPct val="107000"/>
                        </a:lnSpc>
                        <a:spcBef>
                          <a:spcPts val="0"/>
                        </a:spcBef>
                        <a:spcAft>
                          <a:spcPts val="0"/>
                        </a:spcAft>
                      </a:pPr>
                      <a:r>
                        <a:rPr lang="en-GB" sz="2000" b="1" i="0" dirty="0">
                          <a:effectLst/>
                          <a:latin typeface="Verdana" panose="020B0604030504040204" pitchFamily="34" charset="0"/>
                          <a:ea typeface="Times New Roman" panose="02020603050405020304" pitchFamily="18" charset="0"/>
                          <a:cs typeface="Times New Roman" panose="02020603050405020304" pitchFamily="18" charset="0"/>
                        </a:rPr>
                        <a:t>Which mindset did I demonstrate?</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GB" sz="2000" b="1" i="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Choose the best description.</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2623931668"/>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use the partner discussions as learning opportunities? </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157003093"/>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work on problems that challenged me?</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60362265"/>
                  </a:ext>
                </a:extLst>
              </a:tr>
              <a:tr h="1170599">
                <a:tc>
                  <a:txBody>
                    <a:bodyPr/>
                    <a:lstStyle/>
                    <a:p>
                      <a:pPr marL="0" marR="0">
                        <a:lnSpc>
                          <a:spcPct val="107000"/>
                        </a:lnSpc>
                        <a:spcBef>
                          <a:spcPts val="0"/>
                        </a:spcBef>
                        <a:spcAft>
                          <a:spcPts val="0"/>
                        </a:spcAft>
                      </a:pPr>
                      <a:r>
                        <a:rPr lang="en-GB" sz="2000" i="0" dirty="0">
                          <a:effectLst/>
                          <a:latin typeface="Verdana" panose="020B0604030504040204" pitchFamily="34" charset="0"/>
                          <a:ea typeface="Times New Roman" panose="02020603050405020304" pitchFamily="18" charset="0"/>
                          <a:cs typeface="Times New Roman" panose="02020603050405020304" pitchFamily="18" charset="0"/>
                        </a:rPr>
                        <a:t>Did I use strategies to “un-stick” myself when I found the problems difficult?</a:t>
                      </a:r>
                      <a:endParaRPr lang="en-US" sz="2000" i="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Cambria Math" panose="02040503050406030204" pitchFamily="18" charset="0"/>
                          <a:cs typeface="Calibri" panose="020F0502020204030204" pitchFamily="34" charset="0"/>
                        </a:rPr>
                        <a:t>Never</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solidFill>
                            <a:srgbClr val="000000"/>
                          </a:solidFill>
                          <a:effectLst/>
                          <a:latin typeface="Verdana" panose="020B0604030504040204" pitchFamily="34" charset="0"/>
                          <a:ea typeface="Verdana" panose="020B0604030504040204" pitchFamily="34" charset="0"/>
                          <a:cs typeface="Calibri" panose="020F0502020204030204" pitchFamily="34" charset="0"/>
                        </a:rPr>
                        <a:t>Sometimes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Usually</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p>
                      <a:pPr marL="342900" marR="0" lvl="0" indent="-342900">
                        <a:lnSpc>
                          <a:spcPct val="107000"/>
                        </a:lnSpc>
                        <a:spcBef>
                          <a:spcPts val="0"/>
                        </a:spcBef>
                        <a:spcAft>
                          <a:spcPts val="0"/>
                        </a:spcAft>
                        <a:buFont typeface="Courier New" panose="02070309020205020404" pitchFamily="49" charset="0"/>
                        <a:buChar char="o"/>
                      </a:pPr>
                      <a:r>
                        <a:rPr lang="en-US" sz="1800" i="0" dirty="0">
                          <a:effectLst/>
                          <a:latin typeface="Verdana" panose="020B0604030504040204" pitchFamily="34" charset="0"/>
                          <a:ea typeface="Verdana" panose="020B0604030504040204" pitchFamily="34" charset="0"/>
                          <a:cs typeface="Verdana" panose="020B0604030504040204" pitchFamily="34" charset="0"/>
                        </a:rPr>
                        <a:t>Always</a:t>
                      </a:r>
                      <a:endParaRPr lang="en-US" sz="1800" i="1"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85619" marR="85619" marT="42809" marB="42809"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397980125"/>
                  </a:ext>
                </a:extLst>
              </a:tr>
            </a:tbl>
          </a:graphicData>
        </a:graphic>
      </p:graphicFrame>
      <p:sp>
        <p:nvSpPr>
          <p:cNvPr id="10" name="Google Shape;282;g104476d1465_1_17">
            <a:extLst>
              <a:ext uri="{FF2B5EF4-FFF2-40B4-BE49-F238E27FC236}">
                <a16:creationId xmlns="" xmlns:a16="http://schemas.microsoft.com/office/drawing/2014/main" id="{6B23DCC3-8A12-754F-B5D3-CB9A65DA6223}"/>
              </a:ext>
            </a:extLst>
          </p:cNvPr>
          <p:cNvSpPr txBox="1"/>
          <p:nvPr/>
        </p:nvSpPr>
        <p:spPr>
          <a:xfrm>
            <a:off x="8897112" y="64576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225</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5CF51FF-54D5-47EF-866C-E3BC209991B0}">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84D98778-92F6-4732-8A9F-E0EF210007EE}">
  <ds:schemaRefs>
    <ds:schemaRef ds:uri="http://schemas.microsoft.com/sharepoint/v3/contenttype/forms"/>
  </ds:schemaRefs>
</ds:datastoreItem>
</file>

<file path=customXml/itemProps3.xml><?xml version="1.0" encoding="utf-8"?>
<ds:datastoreItem xmlns:ds="http://schemas.openxmlformats.org/officeDocument/2006/customXml" ds:itemID="{457599E2-BF5A-4B1D-93F3-81C6137EFE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1282</TotalTime>
  <Words>653</Words>
  <Application>Microsoft Office PowerPoint</Application>
  <PresentationFormat>Custom</PresentationFormat>
  <Paragraphs>173</Paragraphs>
  <Slides>21</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Calibri</vt:lpstr>
      <vt:lpstr>Courier New</vt:lpstr>
      <vt:lpstr>Times New Roman</vt:lpstr>
      <vt:lpstr>Century Gothic</vt:lpstr>
      <vt:lpstr>Cambria Math</vt:lpstr>
      <vt:lpstr>Arial Black</vt:lpstr>
      <vt:lpstr>Verdana</vt:lpstr>
      <vt:lpstr>1_Office Theme</vt:lpstr>
      <vt:lpstr>6th Grade Math  Unit 10, Lesson 5  Matching Data Displays  Volume 2, pg. 221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18</cp:revision>
  <dcterms:created xsi:type="dcterms:W3CDTF">2015-03-17T18:51:18Z</dcterms:created>
  <dcterms:modified xsi:type="dcterms:W3CDTF">2023-07-07T09:24:35Z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