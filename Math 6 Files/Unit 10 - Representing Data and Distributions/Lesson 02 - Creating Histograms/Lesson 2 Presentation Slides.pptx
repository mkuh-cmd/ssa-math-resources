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35" r:id="rId11"/>
    <p:sldId id="336" r:id="rId12"/>
    <p:sldId id="337" r:id="rId13"/>
    <p:sldId id="339" r:id="rId14"/>
    <p:sldId id="338" r:id="rId15"/>
    <p:sldId id="344" r:id="rId16"/>
    <p:sldId id="323" r:id="rId17"/>
    <p:sldId id="324" r:id="rId18"/>
    <p:sldId id="340" r:id="rId19"/>
    <p:sldId id="325" r:id="rId20"/>
    <p:sldId id="343" r:id="rId21"/>
    <p:sldId id="341" r:id="rId22"/>
    <p:sldId id="342" r:id="rId23"/>
    <p:sldId id="302" r:id="rId24"/>
    <p:sldId id="303" r:id="rId25"/>
    <p:sldId id="309" r:id="rId26"/>
    <p:sldId id="306" r:id="rId27"/>
    <p:sldId id="307" r:id="rId28"/>
  </p:sldIdLst>
  <p:sldSz cx="12192000" cy="6858000"/>
  <p:notesSz cx="6858000" cy="9144000"/>
  <p:embeddedFontLst>
    <p:embeddedFont>
      <p:font typeface="Arial Black" panose="020B0A04020102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56"/>
    <p:restoredTop sz="94645"/>
  </p:normalViewPr>
  <p:slideViewPr>
    <p:cSldViewPr snapToGrid="0">
      <p:cViewPr varScale="1">
        <p:scale>
          <a:sx n="59" d="100"/>
          <a:sy n="59" d="100"/>
        </p:scale>
        <p:origin x="21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Portion Size (grams)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1986</c:v>
                </c:pt>
                <c:pt idx="1">
                  <c:v>1991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162</c:v>
                </c:pt>
                <c:pt idx="1">
                  <c:v>169</c:v>
                </c:pt>
                <c:pt idx="2">
                  <c:v>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E3-7447-A715-3CF1B646C6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Calorie 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1986</c:v>
                </c:pt>
                <c:pt idx="1">
                  <c:v>1991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326</c:v>
                </c:pt>
                <c:pt idx="1">
                  <c:v>341</c:v>
                </c:pt>
                <c:pt idx="2">
                  <c:v>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E3-7447-A715-3CF1B646C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9971712"/>
        <c:axId val="129973248"/>
      </c:barChart>
      <c:catAx>
        <c:axId val="129971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73248"/>
        <c:crosses val="autoZero"/>
        <c:auto val="1"/>
        <c:lblAlgn val="ctr"/>
        <c:lblOffset val="100"/>
        <c:noMultiLvlLbl val="0"/>
      </c:catAx>
      <c:valAx>
        <c:axId val="129973248"/>
        <c:scaling>
          <c:orientation val="minMax"/>
          <c:max val="4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71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1430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5685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835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713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032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583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5568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6890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127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561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8693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3688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777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0939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4955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24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6422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4266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5598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6633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4192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429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Creating Histograms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210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677" y="1484089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86992" y="-126186"/>
            <a:ext cx="891415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92" y="1630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40229" y="1600200"/>
            <a:ext cx="94705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MA.6.DP.1.5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box plots and histograms to represent sets of numerical data within real-world contexts.</a:t>
            </a:r>
            <a:endParaRPr lang="en-US" sz="35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65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08765" y="-57102"/>
            <a:ext cx="1172346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64029" y="1596390"/>
            <a:ext cx="95467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3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3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17656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56" y="2001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42257" y="1600200"/>
            <a:ext cx="112026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349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create a histogram to represent data.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5335" y="-124372"/>
            <a:ext cx="113050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10.2.1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35" y="1648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32187" y="1386025"/>
            <a:ext cx="107677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portion size and calorie count of fast-food menu items have changed over time.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two things you notice about the graph?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one thing you wonder about the graph?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8F4597B-D55B-B746-8C52-987603EC51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0223611"/>
              </p:ext>
            </p:extLst>
          </p:nvPr>
        </p:nvGraphicFramePr>
        <p:xfrm>
          <a:off x="3689793" y="2092854"/>
          <a:ext cx="4900718" cy="2672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8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3" y="-85979"/>
            <a:ext cx="114094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10.2.2 Guided Instruction: Elements of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Creating Histograms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524" y="7774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35514" y="1386025"/>
                <a:ext cx="950584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earthworm farmer set up several containers of a certain species of earthworm so he could learn about their lengths. The farmer measured the lengths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earthworms in one of the containers. Each length was measured in millimeters and recorded in the table.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collect the pieces needed to create a histogram.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66725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range of the data is ___________.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14" y="1386025"/>
                <a:ext cx="9505841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706" t="-776" b="-12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B4055AA-194C-3D44-B66C-D73788018D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3941772"/>
                  </p:ext>
                </p:extLst>
              </p:nvPr>
            </p:nvGraphicFramePr>
            <p:xfrm>
              <a:off x="2853598" y="3171520"/>
              <a:ext cx="6048378" cy="109728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55571">
                      <a:extLst>
                        <a:ext uri="{9D8B030D-6E8A-4147-A177-3AD203B41FA5}">
                          <a16:colId xmlns:a16="http://schemas.microsoft.com/office/drawing/2014/main" val="1920910399"/>
                        </a:ext>
                      </a:extLst>
                    </a:gridCol>
                    <a:gridCol w="755571">
                      <a:extLst>
                        <a:ext uri="{9D8B030D-6E8A-4147-A177-3AD203B41FA5}">
                          <a16:colId xmlns:a16="http://schemas.microsoft.com/office/drawing/2014/main" val="1959283442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:a16="http://schemas.microsoft.com/office/drawing/2014/main" val="1183066301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:a16="http://schemas.microsoft.com/office/drawing/2014/main" val="662795295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:a16="http://schemas.microsoft.com/office/drawing/2014/main" val="634438293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:a16="http://schemas.microsoft.com/office/drawing/2014/main" val="4033265497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:a16="http://schemas.microsoft.com/office/drawing/2014/main" val="31974262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:a16="http://schemas.microsoft.com/office/drawing/2014/main" val="576705819"/>
                        </a:ext>
                      </a:extLst>
                    </a:gridCol>
                  </a:tblGrid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6.5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11.2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19.6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20.1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23.8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6411928"/>
                      </a:ext>
                    </a:extLst>
                  </a:tr>
                  <a:tr h="3581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25.7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26.2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27.5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27.5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29.9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6249327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41.4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42.3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48.8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54.4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60.6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77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2957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B4055AA-194C-3D44-B66C-D73788018D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3941772"/>
                  </p:ext>
                </p:extLst>
              </p:nvPr>
            </p:nvGraphicFramePr>
            <p:xfrm>
              <a:off x="2853598" y="3171520"/>
              <a:ext cx="6048378" cy="109728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5557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920910399"/>
                        </a:ext>
                      </a:extLst>
                    </a:gridCol>
                    <a:gridCol w="75557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959283442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183066301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662795295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634438293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033265497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974262"/>
                        </a:ext>
                      </a:extLst>
                    </a:gridCol>
                    <a:gridCol w="7562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576705819"/>
                        </a:ext>
                      </a:extLst>
                    </a:gridCol>
                  </a:tblGrid>
                  <a:tr h="3695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7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r="-6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r="-5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r="-4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r="-3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000" r="-2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0000" r="-100806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00000" r="-806" b="-1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576411928"/>
                      </a:ext>
                    </a:extLst>
                  </a:tr>
                  <a:tr h="3581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5172" r="-7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05172" r="-6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05172" r="-5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105172" r="-4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t="-105172" r="-3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000" t="-105172" r="-2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0000" t="-105172" r="-100806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00000" t="-105172" r="-806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396249327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95082" r="-7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95082" r="-6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95082" r="-5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195082" r="-4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t="-195082" r="-3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000" t="-195082" r="-2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0000" t="-195082" r="-10080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00000" t="-195082" r="-806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8229575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3995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64294" y="368644"/>
                <a:ext cx="11358417" cy="5031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interval width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dividing the range and the number of intervals desired.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𝑅𝑎𝑛𝑔𝑒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𝐼𝑛𝑡𝑒𝑟𝑣𝑎𝑙𝑠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𝐼𝑛𝑡𝑒𝑟𝑣𝑎𝑙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𝑊𝑖𝑑𝑡h</m:t>
                      </m:r>
                    </m:oMath>
                  </m:oMathPara>
                </a14:m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three different numbers of intervals you could use with your partner, and how using a different number of intervals would affect the histogram.</a:t>
                </a:r>
              </a:p>
              <a:p>
                <a:pPr marL="917575" indent="-450850">
                  <a:buFont typeface="+mj-lt"/>
                  <a:buAutoNum type="alphaL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0850">
                  <a:buFont typeface="+mj-lt"/>
                  <a:buAutoNum type="alphaL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this histogram, use six intervals. Divide the range by _____ and round up to the nearest whole number. This gives an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interval width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_______.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94" y="368644"/>
                <a:ext cx="11358417" cy="5031377"/>
              </a:xfrm>
              <a:prstGeom prst="rect">
                <a:avLst/>
              </a:prstGeom>
              <a:blipFill rotWithShape="1">
                <a:blip r:embed="rId3"/>
                <a:stretch>
                  <a:fillRect l="-590" t="-60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791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95814" y="1823263"/>
                <a:ext cx="11356699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steps below to create a frequency table to represent the data.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085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 </a:t>
                </a:r>
              </a:p>
              <a:p>
                <a:pPr marL="917575" indent="-450850">
                  <a:buFont typeface="+mj-lt"/>
                  <a:buAutoNum type="alphaLcPeriod" startAt="4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minimum value is _______, so create the first interval that starts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(or less).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921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get the highest value in the interval, add the interval width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first interval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6−18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second interval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18−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085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discuss if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included in both intervals. Explain your conclusion.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14" y="1823263"/>
                <a:ext cx="11356699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590" t="-744" b="-163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1">
            <a:extLst>
              <a:ext uri="{FF2B5EF4-FFF2-40B4-BE49-F238E27FC236}">
                <a16:creationId xmlns:a16="http://schemas.microsoft.com/office/drawing/2014/main" id="{19C61388-9D98-4A40-B506-6CB181378F73}"/>
              </a:ext>
            </a:extLst>
          </p:cNvPr>
          <p:cNvSpPr/>
          <p:nvPr/>
        </p:nvSpPr>
        <p:spPr>
          <a:xfrm>
            <a:off x="2913521" y="361342"/>
            <a:ext cx="6978797" cy="1139307"/>
          </a:xfrm>
          <a:prstGeom prst="roundRect">
            <a:avLst/>
          </a:prstGeom>
          <a:solidFill>
            <a:srgbClr val="E2EED5"/>
          </a:solidFill>
          <a:ln>
            <a:solidFill>
              <a:srgbClr val="E2EF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frequency table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 is a table that shows how often each item, number, or range of numbers occurs in a set of data.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6C993D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 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8" name="Shape 15" descr="Icon&#10;&#10;Description automatically generated">
            <a:extLst>
              <a:ext uri="{FF2B5EF4-FFF2-40B4-BE49-F238E27FC236}">
                <a16:creationId xmlns:a16="http://schemas.microsoft.com/office/drawing/2014/main" id="{E98A64BA-AE22-6F42-867D-64A4F657A802}"/>
              </a:ext>
            </a:extLst>
          </p:cNvPr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0541" y="578261"/>
            <a:ext cx="548640" cy="5492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867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371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52316" y="386281"/>
            <a:ext cx="967173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0" indent="-436563">
              <a:buFont typeface="+mj-lt"/>
              <a:buAutoNum type="alphaL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Length (mm)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column of the table shown to indicate the intervals.</a:t>
            </a: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 startAt="6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0750" indent="-460375">
              <a:buFont typeface="+mj-lt"/>
              <a:buAutoNum type="alphaL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determine the frequency values and fill in 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column of the table.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7CAC31C-C935-8F48-8265-8B46F3EFE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124433"/>
                  </p:ext>
                </p:extLst>
              </p:nvPr>
            </p:nvGraphicFramePr>
            <p:xfrm>
              <a:off x="3574462" y="1343438"/>
              <a:ext cx="4972050" cy="288031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486025">
                      <a:extLst>
                        <a:ext uri="{9D8B030D-6E8A-4147-A177-3AD203B41FA5}">
                          <a16:colId xmlns:a16="http://schemas.microsoft.com/office/drawing/2014/main" val="3015875139"/>
                        </a:ext>
                      </a:extLst>
                    </a:gridCol>
                    <a:gridCol w="2486025">
                      <a:extLst>
                        <a:ext uri="{9D8B030D-6E8A-4147-A177-3AD203B41FA5}">
                          <a16:colId xmlns:a16="http://schemas.microsoft.com/office/drawing/2014/main" val="2397821938"/>
                        </a:ext>
                      </a:extLst>
                    </a:gridCol>
                  </a:tblGrid>
                  <a:tr h="31389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 (mm)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Frequency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770560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685800" marR="0" indent="5080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6−18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5846831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73660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18−                   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0485084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1997397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328295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3562684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328295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6530528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92856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7CAC31C-C935-8F48-8265-8B46F3EFE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124433"/>
                  </p:ext>
                </p:extLst>
              </p:nvPr>
            </p:nvGraphicFramePr>
            <p:xfrm>
              <a:off x="3574462" y="1343438"/>
              <a:ext cx="4972050" cy="2892552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48602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015875139"/>
                        </a:ext>
                      </a:extLst>
                    </a:gridCol>
                    <a:gridCol w="248602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397821938"/>
                        </a:ext>
                      </a:extLst>
                    </a:gridCol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 (mm)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Frequency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177770560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95714" r="-100000" b="-5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295846831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95714" r="-100000" b="-4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830485084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311997397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328295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13562684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328295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806530528"/>
                      </a:ext>
                    </a:extLst>
                  </a:tr>
                  <a:tr h="42773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highlight>
                                <a:srgbClr val="FFFFFF"/>
                              </a:highlight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6928560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58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39422" y="386282"/>
            <a:ext cx="96935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a histogram, the bars touch. The variable measured is placed on the horizontal axis, and frequency is placed on the vertical axis.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 startAt="8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horizontal and vertical axis of the grid below. Then, use the grid to create the histogram to display the lengths of earthworms in millimeters.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4533671A-15CE-AF44-97EB-EC3BC448EC6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3258" y="2537252"/>
            <a:ext cx="5543182" cy="3836439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28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11629" y="386281"/>
            <a:ext cx="974793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same data could be displayed in this histogram.</a:t>
            </a: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the differences you notice about this histogram from the one you created.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histogram better displays the data.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12628B48-98BD-3F44-AC9F-8EE3F7B5F7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4858" y="821477"/>
            <a:ext cx="5802284" cy="351615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504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32660" y="386281"/>
            <a:ext cx="102595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indent="-4619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the reasons they listed for which histogram better displays the data. Record their choice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the person initial next to your summary stating that your summary was correct. </a:t>
            </a: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E73178-DCFB-1448-A9F7-49974D3AC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40382"/>
              </p:ext>
            </p:extLst>
          </p:nvPr>
        </p:nvGraphicFramePr>
        <p:xfrm>
          <a:off x="2108242" y="2623051"/>
          <a:ext cx="7944735" cy="311387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830227">
                  <a:extLst>
                    <a:ext uri="{9D8B030D-6E8A-4147-A177-3AD203B41FA5}">
                      <a16:colId xmlns:a16="http://schemas.microsoft.com/office/drawing/2014/main" val="3986321826"/>
                    </a:ext>
                  </a:extLst>
                </a:gridCol>
                <a:gridCol w="4720295">
                  <a:extLst>
                    <a:ext uri="{9D8B030D-6E8A-4147-A177-3AD203B41FA5}">
                      <a16:colId xmlns:a16="http://schemas.microsoft.com/office/drawing/2014/main" val="2788667290"/>
                    </a:ext>
                  </a:extLst>
                </a:gridCol>
                <a:gridCol w="1394213">
                  <a:extLst>
                    <a:ext uri="{9D8B030D-6E8A-4147-A177-3AD203B41FA5}">
                      <a16:colId xmlns:a16="http://schemas.microsoft.com/office/drawing/2014/main" val="743316733"/>
                    </a:ext>
                  </a:extLst>
                </a:gridCol>
              </a:tblGrid>
              <a:tr h="7027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Histogram Choice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  <a:endParaRPr lang="en-US" sz="2000" b="1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623189"/>
                  </a:ext>
                </a:extLst>
              </a:tr>
              <a:tr h="12055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706583"/>
                  </a:ext>
                </a:extLst>
              </a:tr>
              <a:tr h="12055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368018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6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55986" y="381842"/>
            <a:ext cx="10036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indent="-4619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whether the data has the characteristics that will result in truthful data.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4831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825"/>
            <a:ext cx="2731200" cy="68707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736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24449" y="-37211"/>
            <a:ext cx="108913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10.2.3 Guided Practice: </a:t>
            </a:r>
            <a:b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Creating Histograms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4642" y="13970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13850" y="1386026"/>
                <a:ext cx="11049125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data shows the number of Snapchats sent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seventh-grade students in one day.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/>
                  <a:t> </a:t>
                </a:r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99, 97, 94, 88, 84, 81, 80, 77, 71, 63, 60, 54</m:t>
                      </m:r>
                    </m:oMath>
                  </m:oMathPara>
                </a14:m>
                <a:endParaRPr lang="en-US" sz="2000" i="1" dirty="0"/>
              </a:p>
              <a:p>
                <a:r>
                  <a:rPr lang="en-US" sz="2000" dirty="0"/>
                  <a:t> </a:t>
                </a:r>
                <a:endParaRPr lang="en-US" sz="2000" i="1" dirty="0"/>
              </a:p>
              <a:p>
                <a:pPr marL="4603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following to create a frequency table and a histogram to represent the number of Snapchats sent by seventh-grade students in one day.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intervals are appropriate to use for this histogram?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> </a:t>
                </a:r>
                <a:endParaRPr lang="en-US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50" y="1386026"/>
                <a:ext cx="11049125" cy="4308872"/>
              </a:xfrm>
              <a:prstGeom prst="rect">
                <a:avLst/>
              </a:prstGeom>
              <a:blipFill rotWithShape="1">
                <a:blip r:embed="rId4"/>
                <a:stretch>
                  <a:fillRect l="-552" t="-849" r="-38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1920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26299" y="386282"/>
            <a:ext cx="100363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indent="-4619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three possible interval widths.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one of the possible interval widths, create the frequency table and histogram of the data. Make sure to label both the horizontal and vertical axis of the histogram.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65E961-7B4E-7D46-87FE-24C318214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773809"/>
              </p:ext>
            </p:extLst>
          </p:nvPr>
        </p:nvGraphicFramePr>
        <p:xfrm>
          <a:off x="4044131" y="2797425"/>
          <a:ext cx="3707931" cy="369836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723209">
                  <a:extLst>
                    <a:ext uri="{9D8B030D-6E8A-4147-A177-3AD203B41FA5}">
                      <a16:colId xmlns:a16="http://schemas.microsoft.com/office/drawing/2014/main" val="1363312450"/>
                    </a:ext>
                  </a:extLst>
                </a:gridCol>
                <a:gridCol w="1984722">
                  <a:extLst>
                    <a:ext uri="{9D8B030D-6E8A-4147-A177-3AD203B41FA5}">
                      <a16:colId xmlns:a16="http://schemas.microsoft.com/office/drawing/2014/main" val="1010217128"/>
                    </a:ext>
                  </a:extLst>
                </a:gridCol>
              </a:tblGrid>
              <a:tr h="393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Snapchats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Frequency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959874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144582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595137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406760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14576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726203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886463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082224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509647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highlight>
                            <a:srgbClr val="FFFFFF"/>
                          </a:highlight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555587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9092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29760" y="386282"/>
            <a:ext cx="1115325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indent="-4619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a classmate who used a different interval width and compare your histograms. Summarize your discussion on what you notice about the two different graphs.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DB281F9-166A-2A4B-A02B-B2CAD5161E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7828" y="386282"/>
            <a:ext cx="6316345" cy="447484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280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538368" y="398473"/>
                <a:ext cx="1113576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Raisa used data she collected about the resting heart rates, in beats per minute (bpm), of 22 classmates to create a histogram. The heart rates are listed below.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/>
                  <a:t> </a:t>
                </a:r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89   87   85   84   90   79   83   85   86   88   84   81   88   85   83</m:t>
                      </m:r>
                    </m:oMath>
                  </m:oMathPara>
                </a14:m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83   86   82   83   86   82   84</m:t>
                      </m:r>
                    </m:oMath>
                  </m:oMathPara>
                </a14:m>
                <a:endParaRPr lang="en-US" sz="2000" i="1" dirty="0"/>
              </a:p>
              <a:p>
                <a:r>
                  <a:rPr lang="en-US" sz="2000" dirty="0"/>
                  <a:t> </a:t>
                </a:r>
              </a:p>
              <a:p>
                <a:endParaRPr lang="en-US" sz="2000" i="1" dirty="0"/>
              </a:p>
              <a:p>
                <a:pPr marL="4603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She created a frequency table and used it to make a histogram. The frequency table and histogram Raisa created are shown below. Unfortunately, Raisa noticed the data she collected was not accurately displayed.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68" y="398473"/>
                <a:ext cx="11135768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547" t="-1051" r="-657" b="-210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6551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44286" y="398473"/>
            <a:ext cx="97152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511175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0750" lvl="1" indent="-460375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Raisa did wrong.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73E1665-C012-4642-8F54-A0EE62C97E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858908"/>
                  </p:ext>
                </p:extLst>
              </p:nvPr>
            </p:nvGraphicFramePr>
            <p:xfrm>
              <a:off x="2418228" y="404128"/>
              <a:ext cx="3129345" cy="3805363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403478">
                      <a:extLst>
                        <a:ext uri="{9D8B030D-6E8A-4147-A177-3AD203B41FA5}">
                          <a16:colId xmlns:a16="http://schemas.microsoft.com/office/drawing/2014/main" val="315184005"/>
                        </a:ext>
                      </a:extLst>
                    </a:gridCol>
                    <a:gridCol w="1725867">
                      <a:extLst>
                        <a:ext uri="{9D8B030D-6E8A-4147-A177-3AD203B41FA5}">
                          <a16:colId xmlns:a16="http://schemas.microsoft.com/office/drawing/2014/main" val="32200065"/>
                        </a:ext>
                      </a:extLst>
                    </a:gridCol>
                  </a:tblGrid>
                  <a:tr h="10276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Heart Rate (</a:t>
                          </a: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bpm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Frequency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257668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79−81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5203940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81−83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7787036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83−85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7933829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85−87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38016319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87−89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9581064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89−91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50706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73E1665-C012-4642-8F54-A0EE62C97E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858908"/>
                  </p:ext>
                </p:extLst>
              </p:nvPr>
            </p:nvGraphicFramePr>
            <p:xfrm>
              <a:off x="2418228" y="404128"/>
              <a:ext cx="3129345" cy="3805363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40347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5184005"/>
                        </a:ext>
                      </a:extLst>
                    </a:gridCol>
                    <a:gridCol w="172586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2200065"/>
                        </a:ext>
                      </a:extLst>
                    </a:gridCol>
                  </a:tblGrid>
                  <a:tr h="10276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Heart Rate (</a:t>
                          </a: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bpm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Frequency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167257668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5" t="-231579" r="-123478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625" t="-231579" r="-353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265203940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5" t="-331579" r="-12347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625" t="-331579" r="-353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97787036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5" t="-431579" r="-12347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625" t="-431579" r="-353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977933829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5" t="-531579" r="-12347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625" t="-531579" r="-35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538016319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5" t="-631579" r="-12347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625" t="-631579" r="-35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269581064"/>
                      </a:ext>
                    </a:extLst>
                  </a:tr>
                  <a:tr h="462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5" t="-731579" r="-12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625" t="-731579" r="-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17507062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C7BE654-AC59-D147-8B29-9859965DF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3366" y="806646"/>
            <a:ext cx="4019610" cy="3088191"/>
          </a:xfrm>
          <a:prstGeom prst="rect">
            <a:avLst/>
          </a:prstGeom>
        </p:spPr>
      </p:pic>
      <p:sp>
        <p:nvSpPr>
          <p:cNvPr id="8" name="Text Box 13">
            <a:extLst>
              <a:ext uri="{FF2B5EF4-FFF2-40B4-BE49-F238E27FC236}">
                <a16:creationId xmlns:a16="http://schemas.microsoft.com/office/drawing/2014/main" id="{98490673-EABE-3147-B055-4C011EB8E337}"/>
              </a:ext>
            </a:extLst>
          </p:cNvPr>
          <p:cNvSpPr txBox="1"/>
          <p:nvPr/>
        </p:nvSpPr>
        <p:spPr>
          <a:xfrm>
            <a:off x="7136767" y="3815156"/>
            <a:ext cx="2536825" cy="394335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Heart Rate (bpm)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64C43A-0632-A6F8-C4BF-813617D6C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091" y="364908"/>
            <a:ext cx="2018959" cy="42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40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41415" y="398473"/>
            <a:ext cx="9895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lvl="1" indent="-4445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Correct Raisa’s mistake and create a frequency table and histogram that correctly displays the data she collected.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 </a:t>
            </a:r>
            <a:endParaRPr lang="en-US" sz="1200"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798796-98DD-2F49-9D78-F44DD5AEE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49690"/>
              </p:ext>
            </p:extLst>
          </p:nvPr>
        </p:nvGraphicFramePr>
        <p:xfrm>
          <a:off x="1654775" y="1810576"/>
          <a:ext cx="3615546" cy="261294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873169">
                  <a:extLst>
                    <a:ext uri="{9D8B030D-6E8A-4147-A177-3AD203B41FA5}">
                      <a16:colId xmlns:a16="http://schemas.microsoft.com/office/drawing/2014/main" val="3456294685"/>
                    </a:ext>
                  </a:extLst>
                </a:gridCol>
                <a:gridCol w="1742377">
                  <a:extLst>
                    <a:ext uri="{9D8B030D-6E8A-4147-A177-3AD203B41FA5}">
                      <a16:colId xmlns:a16="http://schemas.microsoft.com/office/drawing/2014/main" val="4255058412"/>
                    </a:ext>
                  </a:extLst>
                </a:gridCol>
              </a:tblGrid>
              <a:tr h="7086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Heart Rate (bpm)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Frequency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535592"/>
                  </a:ext>
                </a:extLst>
              </a:tr>
              <a:tr h="317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707460"/>
                  </a:ext>
                </a:extLst>
              </a:tr>
              <a:tr h="317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05181"/>
                  </a:ext>
                </a:extLst>
              </a:tr>
              <a:tr h="317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038790"/>
                  </a:ext>
                </a:extLst>
              </a:tr>
              <a:tr h="317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0087"/>
                  </a:ext>
                </a:extLst>
              </a:tr>
              <a:tr h="317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14162"/>
                  </a:ext>
                </a:extLst>
              </a:tr>
              <a:tr h="317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141603"/>
                  </a:ext>
                </a:extLst>
              </a:tr>
            </a:tbl>
          </a:graphicData>
        </a:graphic>
      </p:graphicFrame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3794D01F-31E1-4C4E-82B6-85B0B19264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86"/>
          <a:stretch/>
        </p:blipFill>
        <p:spPr>
          <a:xfrm>
            <a:off x="5648345" y="1321803"/>
            <a:ext cx="4788777" cy="365137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728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4897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13147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10.2.4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409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34986" y="1119696"/>
                <a:ext cx="1111431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Sergio noticed that a bag of chips advertised that the serving size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chips and that the bag contained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servings. He counted the number of chips in a sample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bags and recorded the total number of chips below.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/>
                  <a:t> </a:t>
                </a:r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48, 51, 52, 55, 56, 58, 59, 60, 61, 62, 65, 67</m:t>
                      </m:r>
                    </m:oMath>
                  </m:oMathPara>
                </a14:m>
                <a:endParaRPr lang="en-US" sz="2000" i="1" dirty="0"/>
              </a:p>
              <a:p>
                <a:r>
                  <a:rPr lang="en-US" sz="2000" b="1" dirty="0"/>
                  <a:t> 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86" y="1119696"/>
                <a:ext cx="11114314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603" t="-188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1872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88972" y="398473"/>
            <a:ext cx="10027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03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a frequency table and histogram for the number of chips in a bag.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9066D4-CD56-1845-B2C8-48052CAEA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505906"/>
              </p:ext>
            </p:extLst>
          </p:nvPr>
        </p:nvGraphicFramePr>
        <p:xfrm>
          <a:off x="1976089" y="1269022"/>
          <a:ext cx="3686176" cy="307340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843088">
                  <a:extLst>
                    <a:ext uri="{9D8B030D-6E8A-4147-A177-3AD203B41FA5}">
                      <a16:colId xmlns:a16="http://schemas.microsoft.com/office/drawing/2014/main" val="1840200160"/>
                    </a:ext>
                  </a:extLst>
                </a:gridCol>
                <a:gridCol w="1843088">
                  <a:extLst>
                    <a:ext uri="{9D8B030D-6E8A-4147-A177-3AD203B41FA5}">
                      <a16:colId xmlns:a16="http://schemas.microsoft.com/office/drawing/2014/main" val="67547393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Chips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Frequency</a:t>
                      </a:r>
                      <a:endParaRPr lang="en-US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475107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99607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0234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441336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83791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8299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99244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874649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21129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012127"/>
                  </a:ext>
                </a:extLst>
              </a:tr>
            </a:tbl>
          </a:graphicData>
        </a:graphic>
      </p:graphicFrame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3002D98C-16A9-F64D-8139-AEE409D64B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72"/>
          <a:stretch/>
        </p:blipFill>
        <p:spPr>
          <a:xfrm>
            <a:off x="5947954" y="1202503"/>
            <a:ext cx="4668872" cy="3567083"/>
          </a:xfrm>
          <a:prstGeom prst="rect">
            <a:avLst/>
          </a:prstGeom>
        </p:spPr>
      </p:pic>
      <p:sp>
        <p:nvSpPr>
          <p:cNvPr id="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1487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8842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148" y="-82571"/>
            <a:ext cx="93081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10.2.5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838" y="23193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4114" y="1386025"/>
            <a:ext cx="10685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was 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muddiest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(most difficult or confusing) point in today’s lesson on creating histograms?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/>
              <a:t> </a:t>
            </a:r>
            <a:endParaRPr lang="en-US" sz="1200" i="1" dirty="0"/>
          </a:p>
        </p:txBody>
      </p:sp>
      <p:pic>
        <p:nvPicPr>
          <p:cNvPr id="8" name="image2.png">
            <a:extLst>
              <a:ext uri="{FF2B5EF4-FFF2-40B4-BE49-F238E27FC236}">
                <a16:creationId xmlns:a16="http://schemas.microsoft.com/office/drawing/2014/main" id="{4670ACA3-C831-4F44-BC7E-3F576D1ECF1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6353" y="2615537"/>
            <a:ext cx="3847465" cy="2690495"/>
          </a:xfrm>
          <a:prstGeom prst="rect">
            <a:avLst/>
          </a:prstGeom>
          <a:ln/>
        </p:spPr>
      </p:pic>
      <p:sp>
        <p:nvSpPr>
          <p:cNvPr id="10" name="Google Shape;282;g104476d1465_1_17"/>
          <p:cNvSpPr txBox="1"/>
          <p:nvPr/>
        </p:nvSpPr>
        <p:spPr>
          <a:xfrm>
            <a:off x="7314750" y="6495785"/>
            <a:ext cx="42482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2976" y="61764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25853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1352</Words>
  <Application>Microsoft Office PowerPoint</Application>
  <PresentationFormat>Widescreen</PresentationFormat>
  <Paragraphs>355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Verdana</vt:lpstr>
      <vt:lpstr>Century Gothic</vt:lpstr>
      <vt:lpstr>Arial</vt:lpstr>
      <vt:lpstr>Cambria Math</vt:lpstr>
      <vt:lpstr>Calibri</vt:lpstr>
      <vt:lpstr>Arial Black</vt:lpstr>
      <vt:lpstr>1_Office Theme</vt:lpstr>
      <vt:lpstr>6th Grade Math  Unit 10, Lesson 2  Creating Histograms  Volume 2, pg. 210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20</cp:revision>
  <dcterms:created xsi:type="dcterms:W3CDTF">2015-03-17T18:51:18Z</dcterms:created>
  <dcterms:modified xsi:type="dcterms:W3CDTF">2022-07-09T17:56:19Z</dcterms:modified>
</cp:coreProperties>
</file>