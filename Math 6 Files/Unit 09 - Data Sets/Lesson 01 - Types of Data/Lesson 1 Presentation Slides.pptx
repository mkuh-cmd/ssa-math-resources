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85" r:id="rId7"/>
    <p:sldId id="286" r:id="rId8"/>
    <p:sldId id="261" r:id="rId9"/>
    <p:sldId id="287" r:id="rId10"/>
    <p:sldId id="289" r:id="rId11"/>
    <p:sldId id="290" r:id="rId12"/>
    <p:sldId id="356" r:id="rId13"/>
    <p:sldId id="362" r:id="rId14"/>
    <p:sldId id="363" r:id="rId15"/>
    <p:sldId id="364" r:id="rId16"/>
    <p:sldId id="365" r:id="rId17"/>
    <p:sldId id="366" r:id="rId18"/>
    <p:sldId id="311" r:id="rId19"/>
    <p:sldId id="312" r:id="rId20"/>
    <p:sldId id="353" r:id="rId21"/>
    <p:sldId id="323" r:id="rId22"/>
    <p:sldId id="324" r:id="rId23"/>
    <p:sldId id="357" r:id="rId24"/>
    <p:sldId id="367" r:id="rId25"/>
    <p:sldId id="368" r:id="rId26"/>
    <p:sldId id="302" r:id="rId27"/>
    <p:sldId id="303" r:id="rId28"/>
    <p:sldId id="360" r:id="rId29"/>
    <p:sldId id="306" r:id="rId30"/>
    <p:sldId id="307" r:id="rId31"/>
  </p:sldIdLst>
  <p:sldSz cx="12192000" cy="6858000"/>
  <p:notesSz cx="6858000" cy="9144000"/>
  <p:embeddedFontLst>
    <p:embeddedFont>
      <p:font typeface="Century Gothic" pitchFamily="34" charset="0"/>
      <p:regular r:id="rId33"/>
      <p:bold r:id="rId34"/>
      <p:italic r:id="rId35"/>
      <p:boldItalic r:id="rId36"/>
    </p:embeddedFont>
    <p:embeddedFont>
      <p:font typeface="Cambria Math" pitchFamily="18" charset="0"/>
      <p:regular r:id="rId37"/>
    </p:embeddedFont>
    <p:embeddedFont>
      <p:font typeface="Arial Black" pitchFamily="34" charset="0"/>
      <p:bold r:id="rId38"/>
    </p:embeddedFont>
    <p:embeddedFont>
      <p:font typeface="Verdana" pitchFamily="34" charset="0"/>
      <p:regular r:id="rId39"/>
      <p:bold r:id="rId40"/>
      <p:italic r:id="rId41"/>
      <p:boldItalic r:id="rId42"/>
    </p:embeddedFont>
    <p:embeddedFont>
      <p:font typeface="Calibri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3"/>
    <p:restoredTop sz="94694"/>
  </p:normalViewPr>
  <p:slideViewPr>
    <p:cSldViewPr snapToGrid="0">
      <p:cViewPr>
        <p:scale>
          <a:sx n="115" d="100"/>
          <a:sy n="115" d="100"/>
        </p:scale>
        <p:origin x="-114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51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29459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Types of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145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xmlns="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92" y="1585851"/>
            <a:ext cx="2972921" cy="3465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033575" y="-83573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75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88875" y="1462225"/>
            <a:ext cx="1156523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MA.6.DP.1.1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Recognize and formulate a statistical question that would generate numerical data.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62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21161" y="-6562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57561" y="1596390"/>
            <a:ext cx="1149690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645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29560" y="-170063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60" y="1191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282260" y="1321975"/>
            <a:ext cx="119097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can classify data as categorical or numerical.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6017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71548" y="-22269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9.1.1 Warm-Up: Using Data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48" y="65253"/>
            <a:ext cx="747300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324248" y="1386025"/>
            <a:ext cx="117636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At the end of the school year, the school administration will ask students to participate in a survey about their favorite class.</a:t>
            </a: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are two possible questions the survey could ask?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Verdana"/>
                <a:ea typeface="Verdana"/>
                <a:cs typeface="Verdana"/>
              </a:rPr>
              <a:t>Makayla</a:t>
            </a:r>
            <a:r>
              <a:rPr lang="en-US" sz="2000" dirty="0">
                <a:latin typeface="Verdana"/>
                <a:ea typeface="Verdana"/>
                <a:cs typeface="Verdana"/>
              </a:rPr>
              <a:t> thinks it would be helpful to ask students to rank their current classes on a scale of 1-6, with 1 being the students’ favorite class and 6 representing their least favorite. Explain how this data could be useful.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78;g104476d1465_1_17"/>
          <p:cNvSpPr/>
          <p:nvPr/>
        </p:nvSpPr>
        <p:spPr>
          <a:xfrm>
            <a:off x="247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47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45799" y="-201122"/>
            <a:ext cx="106531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9.1.2 Guided Instruction: Types of Data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59" y="9898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2060448" y="1386026"/>
            <a:ext cx="83271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</a:rPr>
              <a:t>Examples and non-examples of statistical questions are shown.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46199" y="1386026"/>
            <a:ext cx="8112225" cy="1359783"/>
            <a:chOff x="2031299" y="3100015"/>
            <a:chExt cx="8112225" cy="1359971"/>
          </a:xfrm>
        </p:grpSpPr>
        <p:grpSp>
          <p:nvGrpSpPr>
            <p:cNvPr id="10" name="Group 9"/>
            <p:cNvGrpSpPr/>
            <p:nvPr/>
          </p:nvGrpSpPr>
          <p:grpSpPr>
            <a:xfrm>
              <a:off x="2031299" y="3100015"/>
              <a:ext cx="8112225" cy="1359971"/>
              <a:chOff x="2031299" y="3112155"/>
              <a:chExt cx="8112225" cy="1335691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2031299" y="3112155"/>
                <a:ext cx="8112225" cy="1335691"/>
                <a:chOff x="2031299" y="3223467"/>
                <a:chExt cx="8112225" cy="1335691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/>
                      <a:ea typeface="Cambria Math"/>
                      <a:cs typeface="Cambria Math"/>
                    </a:rPr>
                    <a:t> </a:t>
                  </a:r>
                </a:p>
              </p:txBody>
            </p:sp>
            <p:grpSp>
              <p:nvGrpSpPr>
                <p:cNvPr id="16" name="Group 15"/>
                <p:cNvGrpSpPr/>
                <p:nvPr/>
              </p:nvGrpSpPr>
              <p:grpSpPr>
                <a:xfrm>
                  <a:off x="2031299" y="3223467"/>
                  <a:ext cx="8112225" cy="1335691"/>
                  <a:chOff x="2031299" y="3223467"/>
                  <a:chExt cx="8112225" cy="1335691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/>
                        <a:ea typeface="Cambria Math"/>
                        <a:cs typeface="Cambria Math"/>
                      </a:rPr>
                      <a:t> </a:t>
                    </a:r>
                  </a:p>
                </p:txBody>
              </p:sp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2031299" y="3223467"/>
                    <a:ext cx="8112225" cy="1335691"/>
                    <a:chOff x="-1" y="-150133"/>
                    <a:chExt cx="8112225" cy="1335691"/>
                  </a:xfrm>
                </p:grpSpPr>
                <p:sp>
                  <p:nvSpPr>
                    <p:cNvPr id="19" name="Rectangle 18"/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p:txBody>
                </p:sp>
                <p:sp>
                  <p:nvSpPr>
                    <p:cNvPr id="20" name="Rounded Rectangle 19"/>
                    <p:cNvSpPr/>
                    <p:nvPr/>
                  </p:nvSpPr>
                  <p:spPr>
                    <a:xfrm>
                      <a:off x="-1" y="-150133"/>
                      <a:ext cx="8112225" cy="1335691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A </a:t>
                      </a:r>
                      <a:r>
                        <a:rPr lang="en-US" sz="2000" b="1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statistical question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 is a question that can be answered by collecting data. Often, there will be variability in the data.</a:t>
                      </a:r>
                      <a:endParaRPr lang="en-US" sz="2000" i="1" dirty="0">
                        <a:latin typeface="Cambria Math"/>
                        <a:ea typeface="Cambria Math"/>
                        <a:cs typeface="Cambria Math"/>
                      </a:endParaRPr>
                    </a:p>
                  </p:txBody>
                </p:sp>
                <p:pic>
                  <p:nvPicPr>
                    <p:cNvPr id="21" name="Shape 11" descr="Icon&#10;&#10;Description automatically generated"/>
                    <p:cNvPicPr preferRelativeResize="0"/>
                    <p:nvPr/>
                  </p:nvPicPr>
                  <p:blipFill rotWithShape="1">
                    <a:blip r:embed="rId4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38545" y="8160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635498"/>
              </p:ext>
            </p:extLst>
          </p:nvPr>
        </p:nvGraphicFramePr>
        <p:xfrm>
          <a:off x="2186840" y="3735705"/>
          <a:ext cx="9360000" cy="2679764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6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Statistical Questions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NOT Statistical Questions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/>
                        <a:buChar char="●"/>
                      </a:pPr>
                      <a:r>
                        <a:rPr lang="en-US" sz="2000" i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How many siblings do the students in my class have?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/>
                        <a:buChar char="●"/>
                      </a:pPr>
                      <a:r>
                        <a:rPr lang="en-US" sz="2000" i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How tall are the players on the girls’ basketball team? 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/>
                        <a:buChar char="●"/>
                      </a:pPr>
                      <a:r>
                        <a:rPr lang="en-US" sz="2000" i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What is the favorite song of the 6</a:t>
                      </a:r>
                      <a:r>
                        <a:rPr lang="en-US" sz="2000" i="0" baseline="3000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th</a:t>
                      </a:r>
                      <a:r>
                        <a:rPr lang="en-US" sz="2000" i="0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 graders at my school?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●"/>
                        <a:tabLst/>
                        <a:defRPr/>
                      </a:pPr>
                      <a:r>
                        <a:rPr lang="en-US" sz="2000" dirty="0" smtClean="0">
                          <a:latin typeface="Verdana" pitchFamily="34" charset="0"/>
                          <a:ea typeface="Verdana" pitchFamily="34" charset="0"/>
                        </a:rPr>
                        <a:t>What time does school start?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●"/>
                        <a:tabLst/>
                        <a:defRPr/>
                      </a:pPr>
                      <a:r>
                        <a:rPr lang="en-US" sz="2000" dirty="0" smtClean="0">
                          <a:latin typeface="Verdana" pitchFamily="34" charset="0"/>
                          <a:ea typeface="Verdana" pitchFamily="34" charset="0"/>
                        </a:rPr>
                        <a:t>Who is the President of the United States?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●"/>
                        <a:tabLst/>
                        <a:defRPr/>
                      </a:pPr>
                      <a:r>
                        <a:rPr lang="en-US" sz="2000" dirty="0" smtClean="0">
                          <a:latin typeface="Verdana" pitchFamily="34" charset="0"/>
                          <a:ea typeface="Verdana" pitchFamily="34" charset="0"/>
                        </a:rPr>
                        <a:t>What is Avery’s favorite color?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2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4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59574" y="531545"/>
            <a:ext cx="1137186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With your partner, discuss the differences between the two types of questions. What do you notice?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What do you think “variability in the data” means?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539988" y="3165934"/>
            <a:ext cx="7475322" cy="1054075"/>
            <a:chOff x="2031300" y="3252876"/>
            <a:chExt cx="7475322" cy="1054221"/>
          </a:xfrm>
        </p:grpSpPr>
        <p:grpSp>
          <p:nvGrpSpPr>
            <p:cNvPr id="7" name="Group 6"/>
            <p:cNvGrpSpPr/>
            <p:nvPr/>
          </p:nvGrpSpPr>
          <p:grpSpPr>
            <a:xfrm>
              <a:off x="2031300" y="3252876"/>
              <a:ext cx="7475322" cy="1054221"/>
              <a:chOff x="2031300" y="3262288"/>
              <a:chExt cx="7475322" cy="10354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031300" y="3262288"/>
                <a:ext cx="7475322" cy="1035400"/>
                <a:chOff x="2031300" y="3373600"/>
                <a:chExt cx="7475322" cy="1035400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/>
                      <a:ea typeface="Cambria Math"/>
                      <a:cs typeface="Cambria Math"/>
                    </a:rPr>
                    <a:t> </a:t>
                  </a:r>
                </a:p>
              </p:txBody>
            </p:sp>
            <p:grpSp>
              <p:nvGrpSpPr>
                <p:cNvPr id="11" name="Group 10"/>
                <p:cNvGrpSpPr/>
                <p:nvPr/>
              </p:nvGrpSpPr>
              <p:grpSpPr>
                <a:xfrm>
                  <a:off x="2031300" y="3373600"/>
                  <a:ext cx="7475322" cy="981535"/>
                  <a:chOff x="2031300" y="3373600"/>
                  <a:chExt cx="7475322" cy="981535"/>
                </a:xfrm>
              </p:grpSpPr>
              <p:sp>
                <p:nvSpPr>
                  <p:cNvPr id="13" name="Rectangle 12"/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/>
                        <a:ea typeface="Cambria Math"/>
                        <a:cs typeface="Cambria Math"/>
                      </a:rPr>
                      <a:t> </a:t>
                    </a:r>
                  </a:p>
                </p:txBody>
              </p:sp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2031300" y="3373600"/>
                    <a:ext cx="7475322" cy="981535"/>
                    <a:chOff x="0" y="0"/>
                    <a:chExt cx="7475322" cy="981535"/>
                  </a:xfrm>
                </p:grpSpPr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p:txBody>
                </p:sp>
                <p:sp>
                  <p:nvSpPr>
                    <p:cNvPr id="17" name="Rounded Rectangle 16"/>
                    <p:cNvSpPr/>
                    <p:nvPr/>
                  </p:nvSpPr>
                  <p:spPr>
                    <a:xfrm>
                      <a:off x="0" y="53895"/>
                      <a:ext cx="7475322" cy="927640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Data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 are values that are collected together for reference or analysis.</a:t>
                      </a:r>
                      <a:endParaRPr lang="en-US" sz="2000" i="1" dirty="0">
                        <a:latin typeface="Cambria Math"/>
                        <a:ea typeface="Cambria Math"/>
                        <a:cs typeface="Cambria Math"/>
                      </a:endParaRPr>
                    </a:p>
                  </p:txBody>
                </p:sp>
                <p:pic>
                  <p:nvPicPr>
                    <p:cNvPr id="18" name="Shape 11" descr="Icon&#10;&#10;Description automatically generated"/>
                    <p:cNvPicPr preferRelativeResize="0"/>
                    <p:nvPr/>
                  </p:nvPicPr>
                  <p:blipFill rotWithShape="1">
                    <a:blip r:embed="rId3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38545" y="211752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pic>
        <p:nvPicPr>
          <p:cNvPr id="2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1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12594" y="520393"/>
            <a:ext cx="116530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together to develop a statistical question. Use your question to gather five data values from your classmates. The answers to your question should all be numeric. Your classmates’ responses are the data values.</a:t>
            </a: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Complete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431357"/>
              </p:ext>
            </p:extLst>
          </p:nvPr>
        </p:nvGraphicFramePr>
        <p:xfrm>
          <a:off x="3029712" y="2634488"/>
          <a:ext cx="6929630" cy="29718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38592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859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859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8592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859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572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Question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71600">
                <a:tc gridSpan="5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 gridSpan="5"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Data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7176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0" y="553846"/>
            <a:ext cx="120879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3985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Does the data from your question show a lot of variability or little variability?</a:t>
            </a:r>
          </a:p>
          <a:p>
            <a:pPr marL="133985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133985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133985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Explain how you determined </a:t>
            </a:r>
            <a:r>
              <a:rPr lang="en-US" sz="2400" dirty="0">
                <a:latin typeface="Verdana"/>
                <a:ea typeface="Cambria Math"/>
                <a:cs typeface="Cambria Math"/>
              </a:rPr>
              <a:t>your description of the</a:t>
            </a:r>
            <a:r>
              <a:rPr lang="en-US" sz="2400" dirty="0">
                <a:latin typeface="Verdana"/>
                <a:ea typeface="Verdana"/>
                <a:cs typeface="Verdana"/>
              </a:rPr>
              <a:t> variability.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232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70726" y="420032"/>
            <a:ext cx="115948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  <a:tabLst>
                <a:tab pos="22860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Two statistical questions are shown.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/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b="1" dirty="0">
                <a:latin typeface="Verdana"/>
                <a:ea typeface="Verdana"/>
                <a:cs typeface="Verdana"/>
              </a:rPr>
              <a:t>Question 1</a:t>
            </a:r>
            <a:r>
              <a:rPr lang="en-US" sz="2000" dirty="0">
                <a:latin typeface="Verdana"/>
                <a:ea typeface="Verdana"/>
                <a:cs typeface="Verdana"/>
              </a:rPr>
              <a:t>: </a:t>
            </a:r>
            <a:r>
              <a:rPr lang="en-US" sz="2000" dirty="0">
                <a:latin typeface="Verdana"/>
                <a:ea typeface="Verdana"/>
                <a:cs typeface="Verdana"/>
              </a:rPr>
              <a:t>“How many siblings do the students at my school have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>?”</a:t>
            </a:r>
            <a:r>
              <a:rPr lang="en-US" sz="2000" dirty="0">
                <a:latin typeface="Verdana"/>
                <a:ea typeface="Verdana"/>
                <a:cs typeface="Verdana"/>
              </a:rPr>
              <a:t/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b="1" dirty="0">
                <a:latin typeface="Verdana"/>
                <a:ea typeface="Verdana"/>
                <a:cs typeface="Verdana"/>
              </a:rPr>
              <a:t>Question 2</a:t>
            </a:r>
            <a:r>
              <a:rPr lang="en-US" sz="2000" dirty="0">
                <a:latin typeface="Verdana"/>
                <a:ea typeface="Verdana"/>
                <a:cs typeface="Verdana"/>
              </a:rPr>
              <a:t>: </a:t>
            </a:r>
            <a:r>
              <a:rPr lang="en-US" sz="2000" dirty="0">
                <a:latin typeface="Verdana"/>
                <a:ea typeface="Verdana"/>
                <a:cs typeface="Verdana"/>
              </a:rPr>
              <a:t>“How many hours do the teachers at my school spend outdoors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2000" dirty="0" smtClean="0">
                <a:latin typeface="Verdana"/>
                <a:ea typeface="Verdana"/>
                <a:cs typeface="Verdana"/>
              </a:rPr>
            </a:br>
            <a:r>
              <a:rPr lang="en-US" sz="2000" dirty="0" smtClean="0">
                <a:latin typeface="Verdana"/>
                <a:ea typeface="Verdana"/>
                <a:cs typeface="Verdana"/>
              </a:rPr>
              <a:t>	on </a:t>
            </a:r>
            <a:r>
              <a:rPr lang="en-US" sz="2000" dirty="0">
                <a:latin typeface="Verdana"/>
                <a:ea typeface="Verdana"/>
                <a:cs typeface="Verdana"/>
              </a:rPr>
              <a:t>a weekend?”</a:t>
            </a:r>
            <a:endParaRPr lang="en-US" sz="2000" dirty="0">
              <a:latin typeface="Verdana"/>
              <a:ea typeface="Verdana"/>
              <a:cs typeface="Verdana"/>
            </a:endParaRPr>
          </a:p>
          <a:p>
            <a:pPr>
              <a:tabLst>
                <a:tab pos="2286000" algn="l"/>
              </a:tabLst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Explain which question you would expect to have more variability.</a:t>
            </a: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  <a:tabLst>
                <a:tab pos="22860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Discuss your choice with your partner.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7177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74841" y="508438"/>
            <a:ext cx="11724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286000" algn="l"/>
              </a:tabLst>
            </a:pPr>
            <a:r>
              <a:rPr lang="en-US" sz="2400" dirty="0">
                <a:latin typeface="Verdana"/>
                <a:ea typeface="Verdana"/>
                <a:cs typeface="Verdana"/>
              </a:rPr>
              <a:t>Data can fall into two different classifications — categorical or numerical.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087880" y="1671343"/>
            <a:ext cx="7965096" cy="1074166"/>
            <a:chOff x="2031300" y="3252878"/>
            <a:chExt cx="7965096" cy="1074647"/>
          </a:xfrm>
        </p:grpSpPr>
        <p:grpSp>
          <p:nvGrpSpPr>
            <p:cNvPr id="7" name="Group 6"/>
            <p:cNvGrpSpPr/>
            <p:nvPr/>
          </p:nvGrpSpPr>
          <p:grpSpPr>
            <a:xfrm>
              <a:off x="2031300" y="3252878"/>
              <a:ext cx="7965096" cy="1074647"/>
              <a:chOff x="2031300" y="3262288"/>
              <a:chExt cx="7965096" cy="105546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031300" y="3262288"/>
                <a:ext cx="7965096" cy="1055460"/>
                <a:chOff x="2031300" y="3373600"/>
                <a:chExt cx="7965096" cy="1055460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/>
                      <a:ea typeface="Cambria Math"/>
                      <a:cs typeface="Cambria Math"/>
                    </a:rPr>
                    <a:t> </a:t>
                  </a:r>
                </a:p>
              </p:txBody>
            </p:sp>
            <p:grpSp>
              <p:nvGrpSpPr>
                <p:cNvPr id="11" name="Group 10"/>
                <p:cNvGrpSpPr/>
                <p:nvPr/>
              </p:nvGrpSpPr>
              <p:grpSpPr>
                <a:xfrm>
                  <a:off x="2031300" y="3373600"/>
                  <a:ext cx="7965096" cy="1055460"/>
                  <a:chOff x="2031300" y="3373600"/>
                  <a:chExt cx="7965096" cy="1055460"/>
                </a:xfrm>
              </p:grpSpPr>
              <p:sp>
                <p:nvSpPr>
                  <p:cNvPr id="13" name="Rectangle 12"/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/>
                        <a:ea typeface="Cambria Math"/>
                        <a:cs typeface="Cambria Math"/>
                      </a:rPr>
                      <a:t> </a:t>
                    </a:r>
                  </a:p>
                </p:txBody>
              </p:sp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2031300" y="3373600"/>
                    <a:ext cx="7965096" cy="1055460"/>
                    <a:chOff x="0" y="0"/>
                    <a:chExt cx="7965096" cy="1055460"/>
                  </a:xfrm>
                </p:grpSpPr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p:txBody>
                </p:sp>
                <p:sp>
                  <p:nvSpPr>
                    <p:cNvPr id="17" name="Rounded Rectangle 16"/>
                    <p:cNvSpPr/>
                    <p:nvPr/>
                  </p:nvSpPr>
                  <p:spPr>
                    <a:xfrm>
                      <a:off x="0" y="127534"/>
                      <a:ext cx="7965096" cy="927926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Categorical data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/>
                          <a:ea typeface="Verdana"/>
                          <a:cs typeface="Verdana"/>
                        </a:rPr>
                        <a:t> is a type of data that is divided into groups. Categorical data are qualitative.</a:t>
                      </a:r>
                      <a:endParaRPr lang="en-US" sz="1800" i="1" dirty="0">
                        <a:latin typeface="Cambria Math"/>
                        <a:ea typeface="Cambria Math"/>
                        <a:cs typeface="Cambria Math"/>
                      </a:endParaRPr>
                    </a:p>
                  </p:txBody>
                </p:sp>
                <p:pic>
                  <p:nvPicPr>
                    <p:cNvPr id="18" name="Shape 11" descr="Icon&#10;&#10;Description automatically generated"/>
                    <p:cNvPicPr preferRelativeResize="0"/>
                    <p:nvPr/>
                  </p:nvPicPr>
                  <p:blipFill rotWithShape="1">
                    <a:blip r:embed="rId3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38545" y="294524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sp>
        <p:nvSpPr>
          <p:cNvPr id="27" name="Rounded Rectangle 26"/>
          <p:cNvSpPr/>
          <p:nvPr/>
        </p:nvSpPr>
        <p:spPr>
          <a:xfrm>
            <a:off x="2087880" y="3177817"/>
            <a:ext cx="7965096" cy="944327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14300">
              <a:lnSpc>
                <a:spcPct val="107000"/>
              </a:lnSpc>
              <a:spcAft>
                <a:spcPts val="800"/>
              </a:spcAft>
            </a:pP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Numerical data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, or quantitative data, is a type of data that is measurable. It is collected in the form of numbers.</a:t>
            </a:r>
            <a:endParaRPr lang="en-US" sz="20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0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4647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14969" y="609603"/>
            <a:ext cx="11483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/>
                <a:ea typeface="Verdana"/>
                <a:cs typeface="Verdana"/>
              </a:rPr>
              <a:t>In the table, classify the type of data described, or provide an example of data with that classification.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14901"/>
              </p:ext>
            </p:extLst>
          </p:nvPr>
        </p:nvGraphicFramePr>
        <p:xfrm>
          <a:off x="2564892" y="1453388"/>
          <a:ext cx="7772400" cy="34747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Data Description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Examples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Data Classification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 err="1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m&amp;m</a:t>
                      </a: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 colors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red, blue, green, yellow, brown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number of pets a student has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0, 2, 1, 4, 8, 2, 2, 1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zip code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categorical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numerical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8002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08194" y="-102822"/>
            <a:ext cx="10757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9.1.3 Exploration: Class Survey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570" y="6032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389570" y="1386025"/>
            <a:ext cx="1167605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Answer the following questions. Write your answers in the table under the number that corresponds to each question.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How many letters are in your first name?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How old are you, in years?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your favorite food?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your favorite sport?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How many languages do you speak fluently?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languages do you speak fluently?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244166"/>
              </p:ext>
            </p:extLst>
          </p:nvPr>
        </p:nvGraphicFramePr>
        <p:xfrm>
          <a:off x="2609850" y="4642326"/>
          <a:ext cx="7296150" cy="1828800"/>
        </p:xfrm>
        <a:graphic>
          <a:graphicData uri="http://schemas.openxmlformats.org/drawingml/2006/table">
            <a:tbl>
              <a:tblPr bandRow="1"/>
              <a:tblGrid>
                <a:gridCol w="12160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57200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Your Responses to Each Question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a.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b.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c.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d.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e.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f.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PH" sz="2000" i="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03819" y="369472"/>
            <a:ext cx="83271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Review the display of the combined class data.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Which data sets are categorical?</a:t>
            </a: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Which data sets are numerical?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2285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-192584"/>
            <a:ext cx="108680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9.1.4 Guided Practice: Classifying Data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9536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381515" y="1307965"/>
            <a:ext cx="116283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A city parks department recently collected information about the breeds of dogs visiting a local dog park. They discovered that over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50 breeds of dogs visited the park on Saturday.</a:t>
            </a:r>
          </a:p>
          <a:p>
            <a:pPr marL="457200" indent="-457200">
              <a:buFont typeface="+mj-lt"/>
              <a:buAutoNum type="arabi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</a:rPr>
              <a:t>Determine if the data is categorical or numerical. Explain your thinking.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52539" y="341973"/>
            <a:ext cx="1169077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At the beginning of the season, the football coach creates a roster with the players’ names, ages, grade levels, and uniform numbers.</a:t>
            </a:r>
          </a:p>
          <a:p>
            <a:pPr marL="914400" lvl="3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Which of the variables are categorical?</a:t>
            </a:r>
          </a:p>
          <a:p>
            <a:pPr marL="914400" lvl="3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lvl="3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lvl="3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lvl="3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Which of the variables are quantitative?</a:t>
            </a:r>
          </a:p>
          <a:p>
            <a:pPr marL="914400" lvl="3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lvl="3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lvl="3" indent="-457200">
              <a:buFont typeface="+mj-lt"/>
              <a:buAutoNum type="alphaLcPeriod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lvl="3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For each variable, explain how you determined the type of data.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58114" y="386579"/>
            <a:ext cx="1172980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3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the average weight of an elephant, in pounds?</a:t>
            </a: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your guess? _______________</a:t>
            </a: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Compare your answer with four other students. 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What do you notice?</a:t>
            </a: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Is this categorical or numerical data?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7400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80415" y="631906"/>
            <a:ext cx="116629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4"/>
            </a:pPr>
            <a:r>
              <a:rPr lang="en-US" sz="2400" dirty="0">
                <a:latin typeface="Verdana"/>
                <a:ea typeface="Verdana"/>
                <a:cs typeface="Verdana"/>
              </a:rPr>
              <a:t>Create a statistical question that will result in categorical data being collected.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 startAt="4"/>
            </a:pPr>
            <a:endParaRPr lang="en-PH" sz="2400" dirty="0">
              <a:latin typeface="Verdana"/>
              <a:ea typeface="Verdana"/>
              <a:cs typeface="Verdana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4"/>
            </a:pPr>
            <a:endParaRPr lang="en-PH" sz="2400" dirty="0">
              <a:latin typeface="Verdana"/>
              <a:ea typeface="Verdana"/>
              <a:cs typeface="Verdana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4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4"/>
            </a:pPr>
            <a:r>
              <a:rPr lang="en-US" sz="2400" dirty="0">
                <a:latin typeface="Verdana"/>
                <a:ea typeface="Verdana"/>
                <a:cs typeface="Verdana"/>
              </a:rPr>
              <a:t>Create a statistical question that will result in quantitative data being collected.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201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1824" y="7604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9.1.5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524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391567" y="1363723"/>
            <a:ext cx="11451027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Classify each variable as Categorical (C) or Numerical (N).</a:t>
            </a:r>
          </a:p>
          <a:p>
            <a:pPr marL="914400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Social media followers _____</a:t>
            </a:r>
          </a:p>
          <a:p>
            <a:pPr marL="914400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Color of cars in the faculty parking lot _____</a:t>
            </a:r>
          </a:p>
          <a:p>
            <a:pPr marL="914400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Shoe size _____</a:t>
            </a:r>
          </a:p>
          <a:p>
            <a:pPr marL="914400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Cost of a drink _____</a:t>
            </a:r>
          </a:p>
          <a:p>
            <a:pPr marL="914400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Zip code _____</a:t>
            </a: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Type of pets you have _____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Will the question, “What is your favorite television or movie streaming service to use?” result in categorical or quantitative data? Explain how you made your choice.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85992" y="276052"/>
            <a:ext cx="11701930" cy="466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Given this bar chart, classify the data as categorical or quantitative. </a:t>
            </a:r>
            <a:endParaRPr lang="en-US" sz="20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6" name="Picture 5" descr="Chart, bar 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412" b="6167"/>
          <a:stretch/>
        </p:blipFill>
        <p:spPr bwMode="auto">
          <a:xfrm>
            <a:off x="2597037" y="1473686"/>
            <a:ext cx="6997925" cy="42532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58894" y="-194167"/>
            <a:ext cx="96908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9.1.6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50" y="93779"/>
            <a:ext cx="747300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412595" y="1304693"/>
            <a:ext cx="1158611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Bradley’s teacher asked him to circle the numerical data in the table below.</a:t>
            </a: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His teacher said that his response was incorrect. Correct his mistake and explain what mistake he made.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023266"/>
              </p:ext>
            </p:extLst>
          </p:nvPr>
        </p:nvGraphicFramePr>
        <p:xfrm>
          <a:off x="2199540" y="2326537"/>
          <a:ext cx="7589520" cy="1914144"/>
        </p:xfrm>
        <a:graphic>
          <a:graphicData uri="http://schemas.openxmlformats.org/drawingml/2006/table">
            <a:tbl>
              <a:tblPr bandRow="1"/>
              <a:tblGrid>
                <a:gridCol w="11887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Name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Student ID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Age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Hair Color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Grade Level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Rachel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1254866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10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Brown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6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Elijah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2548631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11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Brown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6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Chase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2645852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11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Blonde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6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Ben</a:t>
                      </a:r>
                      <a:endParaRPr lang="en-US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2548654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10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Black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6</a:t>
                      </a:r>
                      <a:endParaRPr lang="en-US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>
            <a:off x="3593782" y="2614295"/>
            <a:ext cx="1572578" cy="1698625"/>
          </a:xfrm>
          <a:prstGeom prst="ellipse">
            <a:avLst/>
          </a:prstGeom>
          <a:noFill/>
          <a:ln w="38100" cap="flat" cmpd="sng">
            <a:solidFill>
              <a:srgbClr val="2F54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/>
                <a:ea typeface="Cambria Math"/>
                <a:cs typeface="Cambria Math"/>
              </a:rPr>
              <a:t> </a:t>
            </a:r>
          </a:p>
        </p:txBody>
      </p:sp>
      <p:sp>
        <p:nvSpPr>
          <p:cNvPr id="18" name="Oval 17"/>
          <p:cNvSpPr/>
          <p:nvPr/>
        </p:nvSpPr>
        <p:spPr>
          <a:xfrm>
            <a:off x="5460365" y="2801890"/>
            <a:ext cx="681355" cy="1428750"/>
          </a:xfrm>
          <a:prstGeom prst="ellipse">
            <a:avLst/>
          </a:prstGeom>
          <a:noFill/>
          <a:ln w="38100" cap="flat" cmpd="sng">
            <a:solidFill>
              <a:srgbClr val="2F54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/>
                <a:ea typeface="Cambria Math"/>
                <a:cs typeface="Cambria Math"/>
              </a:rPr>
              <a:t> 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13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893800" y="64747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8551A5-2160-4329-B976-8456A6C7763B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C7EFB222-699B-42FB-8B94-6C7EA57B72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BA099A-FE38-43EE-8281-AA8C644905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1062</Words>
  <Application>Microsoft Office PowerPoint</Application>
  <PresentationFormat>Custom</PresentationFormat>
  <Paragraphs>261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Century Gothic</vt:lpstr>
      <vt:lpstr>Cambria Math</vt:lpstr>
      <vt:lpstr>Arial Black</vt:lpstr>
      <vt:lpstr>Verdana</vt:lpstr>
      <vt:lpstr>Calibri</vt:lpstr>
      <vt:lpstr>1_Office Theme</vt:lpstr>
      <vt:lpstr>6th Grade Math  Unit 9, Lesson 1  Types of  Data  Volume 2, pg. 145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48</cp:revision>
  <dcterms:created xsi:type="dcterms:W3CDTF">2015-03-17T18:51:18Z</dcterms:created>
  <dcterms:modified xsi:type="dcterms:W3CDTF">2023-07-07T06:16:02Z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