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44"/>
  </p:notesMasterIdLst>
  <p:sldIdLst>
    <p:sldId id="256" r:id="rId5"/>
    <p:sldId id="257" r:id="rId6"/>
    <p:sldId id="285" r:id="rId7"/>
    <p:sldId id="286" r:id="rId8"/>
    <p:sldId id="261" r:id="rId9"/>
    <p:sldId id="287" r:id="rId10"/>
    <p:sldId id="289" r:id="rId11"/>
    <p:sldId id="290" r:id="rId12"/>
    <p:sldId id="356" r:id="rId13"/>
    <p:sldId id="362" r:id="rId14"/>
    <p:sldId id="363" r:id="rId15"/>
    <p:sldId id="364" r:id="rId16"/>
    <p:sldId id="365" r:id="rId17"/>
    <p:sldId id="366" r:id="rId18"/>
    <p:sldId id="323" r:id="rId19"/>
    <p:sldId id="324" r:id="rId20"/>
    <p:sldId id="357" r:id="rId21"/>
    <p:sldId id="368" r:id="rId22"/>
    <p:sldId id="367" r:id="rId23"/>
    <p:sldId id="376" r:id="rId24"/>
    <p:sldId id="369" r:id="rId25"/>
    <p:sldId id="370" r:id="rId26"/>
    <p:sldId id="377" r:id="rId27"/>
    <p:sldId id="379" r:id="rId28"/>
    <p:sldId id="380" r:id="rId29"/>
    <p:sldId id="314" r:id="rId30"/>
    <p:sldId id="315" r:id="rId31"/>
    <p:sldId id="352" r:id="rId32"/>
    <p:sldId id="382" r:id="rId33"/>
    <p:sldId id="381" r:id="rId34"/>
    <p:sldId id="383" r:id="rId35"/>
    <p:sldId id="384" r:id="rId36"/>
    <p:sldId id="385" r:id="rId37"/>
    <p:sldId id="386" r:id="rId38"/>
    <p:sldId id="302" r:id="rId39"/>
    <p:sldId id="303" r:id="rId40"/>
    <p:sldId id="360" r:id="rId41"/>
    <p:sldId id="306" r:id="rId42"/>
    <p:sldId id="307" r:id="rId43"/>
  </p:sldIdLst>
  <p:sldSz cx="12192000" cy="6858000"/>
  <p:notesSz cx="6858000" cy="9144000"/>
  <p:embeddedFontLst>
    <p:embeddedFont>
      <p:font typeface="Arial Black" panose="020B0A04020102020204" pitchFamily="34" charset="0"/>
      <p:bold r:id="rId45"/>
    </p:embeddedFont>
    <p:embeddedFont>
      <p:font typeface="Calibri" panose="020F0502020204030204" pitchFamily="34" charset="0"/>
      <p:regular r:id="rId46"/>
      <p:bold r:id="rId47"/>
      <p:italic r:id="rId48"/>
      <p:boldItalic r:id="rId49"/>
    </p:embeddedFont>
    <p:embeddedFont>
      <p:font typeface="Cambria Math" panose="02040503050406030204" pitchFamily="18" charset="0"/>
      <p:regular r:id="rId50"/>
    </p:embeddedFont>
    <p:embeddedFont>
      <p:font typeface="Century Gothic" panose="020B0502020202020204" pitchFamily="34" charset="0"/>
      <p:regular r:id="rId51"/>
      <p:bold r:id="rId52"/>
      <p:italic r:id="rId53"/>
      <p:boldItalic r:id="rId54"/>
    </p:embeddedFont>
    <p:embeddedFont>
      <p:font typeface="Verdana" panose="020B0604030504040204" pitchFamily="34" charset="0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9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65B0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/>
    <p:restoredTop sz="94558"/>
  </p:normalViewPr>
  <p:slideViewPr>
    <p:cSldViewPr snapToGrid="0">
      <p:cViewPr varScale="1">
        <p:scale>
          <a:sx n="61" d="100"/>
          <a:sy n="61" d="100"/>
        </p:scale>
        <p:origin x="72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font" Target="fonts/font10.fntdata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61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8" Type="http://schemas.openxmlformats.org/officeDocument/2006/relationships/slide" Target="slides/slide4.xml"/><Relationship Id="rId51" Type="http://schemas.openxmlformats.org/officeDocument/2006/relationships/font" Target="fonts/font7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2.fntdata"/><Relationship Id="rId5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877341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54591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58098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90814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21494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11370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6321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6699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30874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01104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99895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42126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66180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17032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58575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93168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25278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57916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3538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1553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81438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200158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tiff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tif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tiff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tiff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tiff"/><Relationship Id="rId4" Type="http://schemas.openxmlformats.org/officeDocument/2006/relationships/image" Target="../media/image2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tiff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if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tiff"/><Relationship Id="rId5" Type="http://schemas.openxmlformats.org/officeDocument/2006/relationships/image" Target="../media/image27.tiff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tiff"/><Relationship Id="rId4" Type="http://schemas.openxmlformats.org/officeDocument/2006/relationships/image" Target="../media/image29.tif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30.tiff"/><Relationship Id="rId4" Type="http://schemas.openxmlformats.org/officeDocument/2006/relationships/image" Target="../media/image29.tif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tiff"/><Relationship Id="rId4" Type="http://schemas.openxmlformats.org/officeDocument/2006/relationships/image" Target="../media/image29.tif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30.tiff"/><Relationship Id="rId4" Type="http://schemas.openxmlformats.org/officeDocument/2006/relationships/image" Target="../media/image29.tif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tiff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tiff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tif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tif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tiff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tif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1.tif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.tiff"/><Relationship Id="rId5" Type="http://schemas.openxmlformats.org/officeDocument/2006/relationships/image" Target="../media/image42.png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7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Describing and Interpreting Histograms – 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Part 2</a:t>
            </a:r>
            <a:b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179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97002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-9144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05256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</a:t>
            </a: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6.DP.1.4 </a:t>
            </a:r>
            <a:endParaRPr lang="en-US" sz="24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Given a histogram or line plot within a real‑world context, qualitatively describe and interpret the spread and distribution of the data, including any symmetry, skewness, gaps, clusters, outliers, and the range. </a:t>
            </a:r>
            <a:endParaRPr lang="en-US" sz="2400" dirty="0">
              <a:solidFill>
                <a:schemeClr val="tx1"/>
              </a:solidFill>
              <a:latin typeface="Verdana"/>
              <a:ea typeface="Verdana"/>
              <a:cs typeface="Verdana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7315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05256" y="159639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49C53F14-257D-3646-88C0-A8EFFA8D601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05256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Wingdings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I can describe the shape of a histogram.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I can describe the spread of a data set given a histogram.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I can describe gaps, outliers, and clusters in a histogram.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7100477-3B8F-E644-81A8-43370E09C6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770632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DF61A703-8E9E-724F-89CE-9E19FD52A1A1}"/>
              </a:ext>
            </a:extLst>
          </p:cNvPr>
          <p:cNvSpPr txBox="1"/>
          <p:nvPr/>
        </p:nvSpPr>
        <p:spPr>
          <a:xfrm>
            <a:off x="8897112" y="645767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9.7.1 Warm-Up: Math Fail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905256" y="1386026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what you notice about this picture.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9" name="Picture 8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99E8C720-A71E-CD46-9589-BD469ECC7F5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4875" y="2228850"/>
            <a:ext cx="2762250" cy="2400300"/>
          </a:xfrm>
          <a:prstGeom prst="rect">
            <a:avLst/>
          </a:prstGeom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68E8E74D-9C13-3845-93E1-25CE629CCA1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770632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CB4F0B1C-FF5B-9441-8CD5-8D7D04294E1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8597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9.7.2 Guided Instruction: </a:t>
            </a: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</a:rPr>
              <a:t>Shape of Distributions</a:t>
            </a:r>
            <a:r>
              <a:rPr lang="en-US" sz="3600" dirty="0"/>
              <a:t> </a:t>
            </a:r>
            <a:endParaRPr lang="en-US" sz="36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905256" y="1386025"/>
            <a:ext cx="10515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Consider the histogram of the lengths of female sharks.</a:t>
            </a:r>
          </a:p>
          <a:p>
            <a:pPr algn="ctr"/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Shark Length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8" name="Picture 7" descr="Chart, histogram&#10;&#10;Description automatically generated">
            <a:extLst>
              <a:ext uri="{FF2B5EF4-FFF2-40B4-BE49-F238E27FC236}">
                <a16:creationId xmlns:a16="http://schemas.microsoft.com/office/drawing/2014/main" id="{0CA52DF1-A447-FC4D-9FEC-35EB37DECA5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7738" y="2357637"/>
            <a:ext cx="4068593" cy="3554779"/>
          </a:xfrm>
          <a:prstGeom prst="rect">
            <a:avLst/>
          </a:prstGeom>
        </p:spPr>
      </p:pic>
      <p:sp>
        <p:nvSpPr>
          <p:cNvPr id="10" name="Text Box 2">
            <a:extLst>
              <a:ext uri="{FF2B5EF4-FFF2-40B4-BE49-F238E27FC236}">
                <a16:creationId xmlns:a16="http://schemas.microsoft.com/office/drawing/2014/main" id="{93873AB5-3A3E-C641-B923-BF1AD82CD086}"/>
              </a:ext>
            </a:extLst>
          </p:cNvPr>
          <p:cNvSpPr txBox="1"/>
          <p:nvPr/>
        </p:nvSpPr>
        <p:spPr>
          <a:xfrm rot="16200000">
            <a:off x="3076766" y="3807321"/>
            <a:ext cx="1384419" cy="55626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latin typeface="Verdana" panose="020B0604030504040204" pitchFamily="34" charset="0"/>
                <a:ea typeface="Cambria Math" panose="02040503050406030204" pitchFamily="18" charset="0"/>
                <a:cs typeface="Cambria Math" panose="02040503050406030204" pitchFamily="18" charset="0"/>
              </a:rPr>
              <a:t>Frequency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1" name="Text Box 1">
            <a:extLst>
              <a:ext uri="{FF2B5EF4-FFF2-40B4-BE49-F238E27FC236}">
                <a16:creationId xmlns:a16="http://schemas.microsoft.com/office/drawing/2014/main" id="{F22862F4-FCA1-5142-AFEA-2F5FF3450569}"/>
              </a:ext>
            </a:extLst>
          </p:cNvPr>
          <p:cNvSpPr txBox="1"/>
          <p:nvPr/>
        </p:nvSpPr>
        <p:spPr>
          <a:xfrm>
            <a:off x="5179721" y="6072570"/>
            <a:ext cx="2030803" cy="55626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latin typeface="Verdana" panose="020B0604030504040204" pitchFamily="34" charset="0"/>
                <a:ea typeface="Cambria Math" panose="02040503050406030204" pitchFamily="18" charset="0"/>
                <a:cs typeface="Cambria Math" panose="02040503050406030204" pitchFamily="18" charset="0"/>
              </a:rPr>
              <a:t>Length (in feet)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4" name="Google Shape;282;g104476d1465_1_17">
            <a:extLst>
              <a:ext uri="{FF2B5EF4-FFF2-40B4-BE49-F238E27FC236}">
                <a16:creationId xmlns:a16="http://schemas.microsoft.com/office/drawing/2014/main" id="{07354552-3FBC-124E-92B9-33D908F359A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05256" y="4121432"/>
            <a:ext cx="10515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49263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Sketch an approximate line of symmetry for the histogram.</a:t>
            </a:r>
          </a:p>
          <a:p>
            <a:pPr marL="465137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7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the histogram is folded along the line of symmetry, will each half line up perfectly?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1BFD7697-5533-AC47-83B6-69DEC69CEB9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Chart, histogram&#10;&#10;Description automatically generated">
            <a:extLst>
              <a:ext uri="{FF2B5EF4-FFF2-40B4-BE49-F238E27FC236}">
                <a16:creationId xmlns:a16="http://schemas.microsoft.com/office/drawing/2014/main" id="{E7AEDFF3-30E9-4C43-8BD5-5065A79F1F8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8820" y="379755"/>
            <a:ext cx="4134656" cy="3612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273E62-0375-4B7E-8D31-E4C37A3258B5}"/>
              </a:ext>
            </a:extLst>
          </p:cNvPr>
          <p:cNvSpPr txBox="1"/>
          <p:nvPr/>
        </p:nvSpPr>
        <p:spPr>
          <a:xfrm>
            <a:off x="3855732" y="225866"/>
            <a:ext cx="4642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Shark Length</a:t>
            </a:r>
          </a:p>
        </p:txBody>
      </p:sp>
    </p:spTree>
    <p:extLst>
      <p:ext uri="{BB962C8B-B14F-4D97-AF65-F5344CB8AC3E}">
        <p14:creationId xmlns:p14="http://schemas.microsoft.com/office/powerpoint/2010/main" val="3761598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05256" y="520394"/>
            <a:ext cx="105156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49263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 you think all histograms will be symmetrical? </a:t>
            </a:r>
          </a:p>
          <a:p>
            <a:pPr marL="457200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shape of the shark lengths histogram can be described as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symmetric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but histograms can also have other shapes. 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BCD8DCA4-E9F3-1747-8574-69F20CA0A82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42129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05256" y="520393"/>
            <a:ext cx="105156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5138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 histogram displays the number of points per game scored by a college basketball player during the 2008 season.</a:t>
            </a:r>
          </a:p>
          <a:p>
            <a:pPr marL="465137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8788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what you notice about the shape of the distribution of points scored per game.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8" name="Picture 7" descr="Chart, histogram&#10;&#10;Description automatically generated">
            <a:extLst>
              <a:ext uri="{FF2B5EF4-FFF2-40B4-BE49-F238E27FC236}">
                <a16:creationId xmlns:a16="http://schemas.microsoft.com/office/drawing/2014/main" id="{60B2BD12-9905-6E46-BAAD-0944D3E38A9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56476" y="1599812"/>
            <a:ext cx="3879046" cy="3555079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39F3CC-6010-F04A-8E45-2D9ED28CC90E}"/>
              </a:ext>
            </a:extLst>
          </p:cNvPr>
          <p:cNvSpPr/>
          <p:nvPr/>
        </p:nvSpPr>
        <p:spPr>
          <a:xfrm>
            <a:off x="4575764" y="1240951"/>
            <a:ext cx="3040471" cy="5562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2008 Points per Game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057899-A27D-1E4B-B777-863601515C3E}"/>
              </a:ext>
            </a:extLst>
          </p:cNvPr>
          <p:cNvSpPr/>
          <p:nvPr/>
        </p:nvSpPr>
        <p:spPr>
          <a:xfrm>
            <a:off x="3731095" y="2813394"/>
            <a:ext cx="533400" cy="1351280"/>
          </a:xfrm>
          <a:prstGeom prst="rect">
            <a:avLst/>
          </a:prstGeom>
          <a:noFill/>
          <a:ln>
            <a:noFill/>
          </a:ln>
        </p:spPr>
        <p:txBody>
          <a:bodyPr spcFirstLastPara="1" vert="vert270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Frequency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5749E7-962D-8A4D-A88A-8FB25080FDBC}"/>
              </a:ext>
            </a:extLst>
          </p:cNvPr>
          <p:cNvSpPr/>
          <p:nvPr/>
        </p:nvSpPr>
        <p:spPr>
          <a:xfrm>
            <a:off x="5716197" y="5125046"/>
            <a:ext cx="893717" cy="38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Points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31D74B01-8CF6-2E4B-817C-15E031109A7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1916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2B5E2A7-D35B-D944-9902-3A3D9F6BCC87}"/>
              </a:ext>
            </a:extLst>
          </p:cNvPr>
          <p:cNvGrpSpPr/>
          <p:nvPr/>
        </p:nvGrpSpPr>
        <p:grpSpPr>
          <a:xfrm>
            <a:off x="1864223" y="2325997"/>
            <a:ext cx="8907616" cy="1356134"/>
            <a:chOff x="-43583" y="0"/>
            <a:chExt cx="6861558" cy="111765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A1DC372-FDD1-FF4E-8F5B-FF18CF102DC3}"/>
                </a:ext>
              </a:extLst>
            </p:cNvPr>
            <p:cNvSpPr/>
            <p:nvPr/>
          </p:nvSpPr>
          <p:spPr>
            <a:xfrm>
              <a:off x="-20" y="0"/>
              <a:ext cx="6817975" cy="11176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07000"/>
                </a:lnSpc>
              </a:pPr>
              <a:r>
                <a:rPr lang="en-US" sz="2000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rPr>
                <a:t> 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04049E1-CB39-404B-B163-962139F5A1B0}"/>
                </a:ext>
              </a:extLst>
            </p:cNvPr>
            <p:cNvSpPr/>
            <p:nvPr/>
          </p:nvSpPr>
          <p:spPr>
            <a:xfrm>
              <a:off x="0" y="0"/>
              <a:ext cx="6817975" cy="90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07000"/>
                </a:lnSpc>
              </a:pPr>
              <a:r>
                <a:rPr lang="en-US" sz="2000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rPr>
                <a:t> 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BE6498DB-07B9-1649-AB85-4D06CA3D5AA8}"/>
                </a:ext>
              </a:extLst>
            </p:cNvPr>
            <p:cNvSpPr/>
            <p:nvPr/>
          </p:nvSpPr>
          <p:spPr>
            <a:xfrm>
              <a:off x="-43583" y="17393"/>
              <a:ext cx="6629770" cy="990627"/>
            </a:xfrm>
            <a:prstGeom prst="roundRect">
              <a:avLst>
                <a:gd name="adj" fmla="val 16667"/>
              </a:avLst>
            </a:prstGeom>
            <a:solidFill>
              <a:srgbClr val="E2EFD5"/>
            </a:solidFill>
            <a:ln w="12700" cap="flat" cmpd="sng">
              <a:solidFill>
                <a:srgbClr val="E2EFD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57150">
                <a:lnSpc>
                  <a:spcPct val="107000"/>
                </a:lnSpc>
              </a:pPr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 </a:t>
              </a:r>
              <a:r>
                <a:rPr lang="en-US" sz="2000" b="1" i="1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right-skewed</a:t>
              </a:r>
              <a:r>
                <a:rPr lang="en-US" sz="2000" i="1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graph has a longer trail of data to the right and the peak of the data on the left.</a:t>
              </a:r>
              <a:endPara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endParaRPr>
            </a:p>
          </p:txBody>
        </p:sp>
      </p:grp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E08B6C0-84DD-E547-8CC1-B47988A3F5A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453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05256" y="520393"/>
                <a:ext cx="10515600" cy="5940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time to complete a unit exam for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students is shown on the histogram.</a:t>
                </a:r>
              </a:p>
              <a:p>
                <a:pPr marL="465137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878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an observation about the shape of the distribution of time spent to complete the exam.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520393"/>
                <a:ext cx="10515600" cy="5940088"/>
              </a:xfrm>
              <a:prstGeom prst="rect">
                <a:avLst/>
              </a:prstGeom>
              <a:blipFill>
                <a:blip r:embed="rId3"/>
                <a:stretch>
                  <a:fillRect l="-603" t="-426" b="-8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A057899-A27D-1E4B-B777-863601515C3E}"/>
              </a:ext>
            </a:extLst>
          </p:cNvPr>
          <p:cNvSpPr/>
          <p:nvPr/>
        </p:nvSpPr>
        <p:spPr>
          <a:xfrm>
            <a:off x="3424895" y="2749185"/>
            <a:ext cx="533400" cy="1351280"/>
          </a:xfrm>
          <a:prstGeom prst="rect">
            <a:avLst/>
          </a:prstGeom>
          <a:noFill/>
          <a:ln>
            <a:noFill/>
          </a:ln>
        </p:spPr>
        <p:txBody>
          <a:bodyPr spcFirstLastPara="1" vert="vert270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Frequency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E0B7E0-4039-DB4F-A154-864CAEC50E19}"/>
              </a:ext>
            </a:extLst>
          </p:cNvPr>
          <p:cNvSpPr/>
          <p:nvPr/>
        </p:nvSpPr>
        <p:spPr>
          <a:xfrm>
            <a:off x="4114554" y="1437529"/>
            <a:ext cx="4113558" cy="556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Time to Complete a Unit Exam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pic>
        <p:nvPicPr>
          <p:cNvPr id="11" name="Picture 10" descr="Chart, histogram&#10;&#10;Description automatically generated">
            <a:extLst>
              <a:ext uri="{FF2B5EF4-FFF2-40B4-BE49-F238E27FC236}">
                <a16:creationId xmlns:a16="http://schemas.microsoft.com/office/drawing/2014/main" id="{C53B6960-AF99-EE40-8889-4B5E1B877BB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24845" y="1806963"/>
            <a:ext cx="4342311" cy="336414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7571EF8-6F6F-734D-A304-241A0E0CC4B8}"/>
              </a:ext>
            </a:extLst>
          </p:cNvPr>
          <p:cNvSpPr/>
          <p:nvPr/>
        </p:nvSpPr>
        <p:spPr>
          <a:xfrm rot="5400000">
            <a:off x="5829299" y="4266467"/>
            <a:ext cx="533400" cy="2206670"/>
          </a:xfrm>
          <a:prstGeom prst="rect">
            <a:avLst/>
          </a:prstGeom>
          <a:noFill/>
          <a:ln>
            <a:noFill/>
          </a:ln>
        </p:spPr>
        <p:txBody>
          <a:bodyPr spcFirstLastPara="1" vert="vert270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Time (in minutes)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EBD767D3-FBD3-0847-BE2A-08F34D1E803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8437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1A4DB75-4E7D-0746-9486-7A89F51AB916}"/>
              </a:ext>
            </a:extLst>
          </p:cNvPr>
          <p:cNvGrpSpPr/>
          <p:nvPr/>
        </p:nvGrpSpPr>
        <p:grpSpPr>
          <a:xfrm>
            <a:off x="1864224" y="1920255"/>
            <a:ext cx="8851063" cy="2294515"/>
            <a:chOff x="-40" y="0"/>
            <a:chExt cx="6818015" cy="182912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0D22B76-5C98-8C44-91A7-746EEF4F9B5D}"/>
                </a:ext>
              </a:extLst>
            </p:cNvPr>
            <p:cNvSpPr/>
            <p:nvPr/>
          </p:nvSpPr>
          <p:spPr>
            <a:xfrm>
              <a:off x="-20" y="0"/>
              <a:ext cx="6817975" cy="1829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07000"/>
                </a:lnSpc>
              </a:pPr>
              <a:r>
                <a:rPr lang="en-US" sz="2000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rPr>
                <a:t> 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8FBAC30-A892-DF40-8828-38A94D778C3B}"/>
                </a:ext>
              </a:extLst>
            </p:cNvPr>
            <p:cNvSpPr/>
            <p:nvPr/>
          </p:nvSpPr>
          <p:spPr>
            <a:xfrm>
              <a:off x="0" y="0"/>
              <a:ext cx="6817975" cy="90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07000"/>
                </a:lnSpc>
              </a:pPr>
              <a:r>
                <a:rPr lang="en-US" sz="2000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rPr>
                <a:t> 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934766E6-9C55-BD46-9F17-A4D3F13FE78A}"/>
                </a:ext>
              </a:extLst>
            </p:cNvPr>
            <p:cNvSpPr/>
            <p:nvPr/>
          </p:nvSpPr>
          <p:spPr>
            <a:xfrm>
              <a:off x="-40" y="354010"/>
              <a:ext cx="6629400" cy="956471"/>
            </a:xfrm>
            <a:prstGeom prst="roundRect">
              <a:avLst>
                <a:gd name="adj" fmla="val 16667"/>
              </a:avLst>
            </a:prstGeom>
            <a:solidFill>
              <a:srgbClr val="E2EFD5"/>
            </a:solidFill>
            <a:ln w="12700" cap="flat" cmpd="sng">
              <a:solidFill>
                <a:srgbClr val="E2EFD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71450">
                <a:lnSpc>
                  <a:spcPct val="107000"/>
                </a:lnSpc>
              </a:pPr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 </a:t>
              </a:r>
              <a:r>
                <a:rPr lang="en-US" sz="2000" b="1" i="1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left-skewed</a:t>
              </a:r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graph has a longer trail of data to the left and the peak of the data on the right. </a:t>
              </a:r>
              <a:endPara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endParaRPr>
            </a:p>
          </p:txBody>
        </p:sp>
      </p:grp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A3F58CCD-DBAE-1846-A5EF-B61E1FC2775D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6399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770632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5494C266-0615-A447-B7BA-CBEC8E765BA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3721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9.7.3 Guided Practice: </a:t>
            </a: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</a:rPr>
              <a:t>Describing Shape of Distributions </a:t>
            </a:r>
            <a:endParaRPr lang="en-US" sz="28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905256" y="1386025"/>
            <a:ext cx="10515600" cy="5020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This histogram shows the ages of students in a swimming class.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8788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shape of the distribution of ages can be best</a:t>
            </a:r>
          </a:p>
          <a:p>
            <a:pPr marL="458788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8788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described as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E4A3F76-844C-B74F-B221-2B09AD9FCB45}"/>
              </a:ext>
            </a:extLst>
          </p:cNvPr>
          <p:cNvSpPr/>
          <p:nvPr/>
        </p:nvSpPr>
        <p:spPr>
          <a:xfrm>
            <a:off x="3305645" y="5542221"/>
            <a:ext cx="2393859" cy="1082608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symmetric.</a:t>
            </a:r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 marL="34290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right skewed.</a:t>
            </a:r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 marL="34290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left skewed.</a:t>
            </a:r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8461BA-9C65-6744-8FA5-54BA5D8FF9E2}"/>
              </a:ext>
            </a:extLst>
          </p:cNvPr>
          <p:cNvSpPr/>
          <p:nvPr/>
        </p:nvSpPr>
        <p:spPr>
          <a:xfrm>
            <a:off x="4235875" y="2749185"/>
            <a:ext cx="533400" cy="1351280"/>
          </a:xfrm>
          <a:prstGeom prst="rect">
            <a:avLst/>
          </a:prstGeom>
          <a:noFill/>
          <a:ln>
            <a:noFill/>
          </a:ln>
        </p:spPr>
        <p:txBody>
          <a:bodyPr spcFirstLastPara="1" vert="vert270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Frequency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791260-3519-7147-8E87-E46D5FCD78CE}"/>
              </a:ext>
            </a:extLst>
          </p:cNvPr>
          <p:cNvSpPr/>
          <p:nvPr/>
        </p:nvSpPr>
        <p:spPr>
          <a:xfrm rot="5400000">
            <a:off x="6262800" y="3859008"/>
            <a:ext cx="533400" cy="1996802"/>
          </a:xfrm>
          <a:prstGeom prst="rect">
            <a:avLst/>
          </a:prstGeom>
          <a:noFill/>
          <a:ln>
            <a:noFill/>
          </a:ln>
        </p:spPr>
        <p:txBody>
          <a:bodyPr spcFirstLastPara="1" vert="vert270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Age (in months)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4" name="Text Box 25">
            <a:extLst>
              <a:ext uri="{FF2B5EF4-FFF2-40B4-BE49-F238E27FC236}">
                <a16:creationId xmlns:a16="http://schemas.microsoft.com/office/drawing/2014/main" id="{EBD64608-0D9E-864C-9B6F-7CF22F165151}"/>
              </a:ext>
            </a:extLst>
          </p:cNvPr>
          <p:cNvSpPr txBox="1"/>
          <p:nvPr/>
        </p:nvSpPr>
        <p:spPr>
          <a:xfrm>
            <a:off x="5023168" y="1959742"/>
            <a:ext cx="3331754" cy="51054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Verdana" panose="020B0604030504040204" pitchFamily="34" charset="0"/>
                <a:ea typeface="Cambria Math" panose="02040503050406030204" pitchFamily="18" charset="0"/>
                <a:cs typeface="Cambria Math" panose="02040503050406030204" pitchFamily="18" charset="0"/>
              </a:rPr>
              <a:t>Swim Class Student Age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pic>
        <p:nvPicPr>
          <p:cNvPr id="15" name="Picture 14" descr="Chart, histogram&#10;&#10;Description automatically generated">
            <a:extLst>
              <a:ext uri="{FF2B5EF4-FFF2-40B4-BE49-F238E27FC236}">
                <a16:creationId xmlns:a16="http://schemas.microsoft.com/office/drawing/2014/main" id="{838A60FA-092E-094D-ADF0-94A2B0C8BC4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896874" y="2298709"/>
            <a:ext cx="3265252" cy="23879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F1EC9F1B-B636-6045-BB27-A6B5775A7DF5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05256" y="520393"/>
                <a:ext cx="10515600" cy="5940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histogram shows the length, in millimeters, of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earthworms. 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878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shape of the distribution of the earthworms’ lengths </a:t>
                </a:r>
              </a:p>
              <a:p>
                <a:pPr marL="458788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878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can be best described as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520393"/>
                <a:ext cx="10515600" cy="5940088"/>
              </a:xfrm>
              <a:prstGeom prst="rect">
                <a:avLst/>
              </a:prstGeom>
              <a:blipFill>
                <a:blip r:embed="rId4"/>
                <a:stretch>
                  <a:fillRect l="-603" t="-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41">
            <a:extLst>
              <a:ext uri="{FF2B5EF4-FFF2-40B4-BE49-F238E27FC236}">
                <a16:creationId xmlns:a16="http://schemas.microsoft.com/office/drawing/2014/main" id="{00A2B62D-6BA0-4F41-A941-BA51F3D2E759}"/>
              </a:ext>
            </a:extLst>
          </p:cNvPr>
          <p:cNvSpPr txBox="1"/>
          <p:nvPr/>
        </p:nvSpPr>
        <p:spPr>
          <a:xfrm rot="16200000">
            <a:off x="3125439" y="2963287"/>
            <a:ext cx="1370713" cy="55626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latin typeface="Verdana" panose="020B0604030504040204" pitchFamily="34" charset="0"/>
                <a:ea typeface="Cambria Math" panose="02040503050406030204" pitchFamily="18" charset="0"/>
                <a:cs typeface="Cambria Math" panose="02040503050406030204" pitchFamily="18" charset="0"/>
              </a:rPr>
              <a:t>Frequency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7" name="Text Box 36">
            <a:extLst>
              <a:ext uri="{FF2B5EF4-FFF2-40B4-BE49-F238E27FC236}">
                <a16:creationId xmlns:a16="http://schemas.microsoft.com/office/drawing/2014/main" id="{F5C76635-B29A-7442-8AAA-FFE68BA24AC4}"/>
              </a:ext>
            </a:extLst>
          </p:cNvPr>
          <p:cNvSpPr txBox="1"/>
          <p:nvPr/>
        </p:nvSpPr>
        <p:spPr>
          <a:xfrm>
            <a:off x="5017051" y="1270562"/>
            <a:ext cx="2308565" cy="35814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b="1" dirty="0">
                <a:latin typeface="Verdana" panose="020B0604030504040204" pitchFamily="34" charset="0"/>
                <a:ea typeface="Cambria Math" panose="02040503050406030204" pitchFamily="18" charset="0"/>
                <a:cs typeface="Cambria Math" panose="02040503050406030204" pitchFamily="18" charset="0"/>
              </a:rPr>
              <a:t>Earthworm Length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pic>
        <p:nvPicPr>
          <p:cNvPr id="8" name="Picture 7" descr="Chart&#10;&#10;Description automatically generated">
            <a:extLst>
              <a:ext uri="{FF2B5EF4-FFF2-40B4-BE49-F238E27FC236}">
                <a16:creationId xmlns:a16="http://schemas.microsoft.com/office/drawing/2014/main" id="{A064D416-FA9D-EA42-8C8E-067BB56AB2E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9477" y="1628703"/>
            <a:ext cx="4398041" cy="32254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808F5A-EF5F-3644-A44F-6E06E1173F90}"/>
              </a:ext>
            </a:extLst>
          </p:cNvPr>
          <p:cNvSpPr/>
          <p:nvPr/>
        </p:nvSpPr>
        <p:spPr>
          <a:xfrm rot="5400000">
            <a:off x="5829299" y="3645004"/>
            <a:ext cx="533400" cy="2780831"/>
          </a:xfrm>
          <a:prstGeom prst="rect">
            <a:avLst/>
          </a:prstGeom>
          <a:noFill/>
          <a:ln>
            <a:noFill/>
          </a:ln>
        </p:spPr>
        <p:txBody>
          <a:bodyPr spcFirstLastPara="1" vert="vert270" wrap="square" lIns="91425" tIns="45700" rIns="91425" bIns="45700" anchor="t" anchorCtr="0">
            <a:noAutofit/>
          </a:bodyPr>
          <a:lstStyle/>
          <a:p>
            <a:r>
              <a:rPr lang="en-US" sz="1800" dirty="0">
                <a:latin typeface="Verdana" panose="020B0604030504040204" pitchFamily="34" charset="0"/>
                <a:ea typeface="Cambria Math" panose="02040503050406030204" pitchFamily="18" charset="0"/>
              </a:rPr>
              <a:t>Length (in millimeters)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422C45B-395B-104B-9AD6-479D37C82444}"/>
              </a:ext>
            </a:extLst>
          </p:cNvPr>
          <p:cNvSpPr/>
          <p:nvPr/>
        </p:nvSpPr>
        <p:spPr>
          <a:xfrm>
            <a:off x="4705583" y="5575167"/>
            <a:ext cx="2393859" cy="1082608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symmetric.</a:t>
            </a:r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 marL="34290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right skewed.</a:t>
            </a:r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 marL="34290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left skewed.</a:t>
            </a:r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D6939F96-27A2-3945-911A-A522020C4D6B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4421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05256" y="520394"/>
                <a:ext cx="10515600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one study of wild bears, researchers measured the weights, in pounds, of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143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wild bears that ranged in age from newborn to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years old. The data were used to make this histogram.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878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the shape of the graph given the context.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520394"/>
                <a:ext cx="10515600" cy="5632311"/>
              </a:xfrm>
              <a:prstGeom prst="rect">
                <a:avLst/>
              </a:prstGeom>
              <a:blipFill>
                <a:blip r:embed="rId4"/>
                <a:stretch>
                  <a:fillRect l="-603" t="-449" r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44">
            <a:extLst>
              <a:ext uri="{FF2B5EF4-FFF2-40B4-BE49-F238E27FC236}">
                <a16:creationId xmlns:a16="http://schemas.microsoft.com/office/drawing/2014/main" id="{16DBE766-BC91-CA4B-BC0E-7C142EE355B9}"/>
              </a:ext>
            </a:extLst>
          </p:cNvPr>
          <p:cNvSpPr txBox="1"/>
          <p:nvPr/>
        </p:nvSpPr>
        <p:spPr>
          <a:xfrm rot="16200000">
            <a:off x="3163983" y="3296735"/>
            <a:ext cx="1407590" cy="425173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latin typeface="Verdana" panose="020B0604030504040204" pitchFamily="34" charset="0"/>
                <a:ea typeface="Cambria Math" panose="02040503050406030204" pitchFamily="18" charset="0"/>
                <a:cs typeface="Cambria Math" panose="02040503050406030204" pitchFamily="18" charset="0"/>
              </a:rPr>
              <a:t>Frequency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7" name="Text Box 67">
            <a:extLst>
              <a:ext uri="{FF2B5EF4-FFF2-40B4-BE49-F238E27FC236}">
                <a16:creationId xmlns:a16="http://schemas.microsoft.com/office/drawing/2014/main" id="{8E0166A8-10B0-E24A-A7D9-3EEAB584A1CB}"/>
              </a:ext>
            </a:extLst>
          </p:cNvPr>
          <p:cNvSpPr txBox="1"/>
          <p:nvPr/>
        </p:nvSpPr>
        <p:spPr>
          <a:xfrm>
            <a:off x="4845718" y="1581023"/>
            <a:ext cx="2500562" cy="455772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Verdana" panose="020B0604030504040204" pitchFamily="34" charset="0"/>
                <a:ea typeface="Cambria Math" panose="02040503050406030204" pitchFamily="18" charset="0"/>
                <a:cs typeface="Cambria Math" panose="02040503050406030204" pitchFamily="18" charset="0"/>
              </a:rPr>
              <a:t>Wild Bear Weight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pic>
        <p:nvPicPr>
          <p:cNvPr id="8" name="Picture 7" descr="Chart, histogram&#10;&#10;Description automatically generated">
            <a:extLst>
              <a:ext uri="{FF2B5EF4-FFF2-40B4-BE49-F238E27FC236}">
                <a16:creationId xmlns:a16="http://schemas.microsoft.com/office/drawing/2014/main" id="{700F9957-C18E-9045-91D7-0B2ECDFE005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0364" y="2006144"/>
            <a:ext cx="4031275" cy="300635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5564080-637F-1B4B-94C5-9DE6207DE864}"/>
              </a:ext>
            </a:extLst>
          </p:cNvPr>
          <p:cNvSpPr/>
          <p:nvPr/>
        </p:nvSpPr>
        <p:spPr>
          <a:xfrm rot="5400000">
            <a:off x="5829299" y="4107152"/>
            <a:ext cx="533400" cy="2339650"/>
          </a:xfrm>
          <a:prstGeom prst="rect">
            <a:avLst/>
          </a:prstGeom>
          <a:noFill/>
          <a:ln>
            <a:noFill/>
          </a:ln>
        </p:spPr>
        <p:txBody>
          <a:bodyPr spcFirstLastPara="1" vert="vert270" wrap="square" lIns="91425" tIns="45700" rIns="91425" bIns="45700" anchor="t" anchorCtr="0">
            <a:noAutofit/>
          </a:bodyPr>
          <a:lstStyle/>
          <a:p>
            <a:r>
              <a:rPr lang="en-US" sz="1800" dirty="0">
                <a:latin typeface="Verdana" panose="020B0604030504040204" pitchFamily="34" charset="0"/>
                <a:ea typeface="Cambria Math" panose="02040503050406030204" pitchFamily="18" charset="0"/>
              </a:rPr>
              <a:t>Weight (in pounds)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ABB5C746-7307-104E-836D-8CCCB7A51FD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21629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rt, histogram&#10;&#10;Description automatically generated">
            <a:extLst>
              <a:ext uri="{FF2B5EF4-FFF2-40B4-BE49-F238E27FC236}">
                <a16:creationId xmlns:a16="http://schemas.microsoft.com/office/drawing/2014/main" id="{3513E097-AC8F-9B43-8A6A-B3CAF1365BA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98157" y="1928163"/>
            <a:ext cx="3131220" cy="3246441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05256" y="520394"/>
                <a:ext cx="571500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49263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histogram summarizes the data on the body lengths of the same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143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wild bears. 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878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the shape of the distribution of the lengths of bears.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520394"/>
                <a:ext cx="5715000" cy="2246769"/>
              </a:xfrm>
              <a:prstGeom prst="rect">
                <a:avLst/>
              </a:prstGeom>
              <a:blipFill>
                <a:blip r:embed="rId5"/>
                <a:stretch>
                  <a:fillRect l="-1109" t="-1124" r="-1552" b="-39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40A4655A-DD74-8C4A-94AD-9796DE066B82}"/>
              </a:ext>
            </a:extLst>
          </p:cNvPr>
          <p:cNvSpPr/>
          <p:nvPr/>
        </p:nvSpPr>
        <p:spPr>
          <a:xfrm>
            <a:off x="7863882" y="1597541"/>
            <a:ext cx="2056375" cy="458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Body Length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EC380E-4D43-B841-B116-40FCA34C2B0D}"/>
              </a:ext>
            </a:extLst>
          </p:cNvPr>
          <p:cNvSpPr/>
          <p:nvPr/>
        </p:nvSpPr>
        <p:spPr>
          <a:xfrm rot="16200000">
            <a:off x="6437376" y="3287851"/>
            <a:ext cx="1414303" cy="52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Frequency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B30D9C-58B7-E94F-A3B8-EC6510BDDA62}"/>
              </a:ext>
            </a:extLst>
          </p:cNvPr>
          <p:cNvSpPr/>
          <p:nvPr/>
        </p:nvSpPr>
        <p:spPr>
          <a:xfrm>
            <a:off x="7700770" y="5154590"/>
            <a:ext cx="2325994" cy="441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Length (in inches)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6CAC4158-5D54-6746-A6D7-F75BE088A4E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0900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770632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66E32E5C-0B10-1746-9BE1-752F0A261B9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03874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8597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9.7.4 Guided Instruction: </a:t>
            </a: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</a:rPr>
              <a:t>Features of Histograms  </a:t>
            </a:r>
            <a:endParaRPr lang="en-US" sz="36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905256" y="1386026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Below are two histograms with different shapes and features.</a:t>
            </a:r>
          </a:p>
        </p:txBody>
      </p:sp>
      <p:sp>
        <p:nvSpPr>
          <p:cNvPr id="11" name="Text Box 1">
            <a:extLst>
              <a:ext uri="{FF2B5EF4-FFF2-40B4-BE49-F238E27FC236}">
                <a16:creationId xmlns:a16="http://schemas.microsoft.com/office/drawing/2014/main" id="{F22862F4-FCA1-5142-AFEA-2F5FF3450569}"/>
              </a:ext>
            </a:extLst>
          </p:cNvPr>
          <p:cNvSpPr txBox="1"/>
          <p:nvPr/>
        </p:nvSpPr>
        <p:spPr>
          <a:xfrm>
            <a:off x="3439152" y="2600840"/>
            <a:ext cx="1797927" cy="55626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Histogram A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pic>
        <p:nvPicPr>
          <p:cNvPr id="14" name="Picture 13" descr="Chart, histogram&#10;&#10;Description automatically generated">
            <a:extLst>
              <a:ext uri="{FF2B5EF4-FFF2-40B4-BE49-F238E27FC236}">
                <a16:creationId xmlns:a16="http://schemas.microsoft.com/office/drawing/2014/main" id="{D0F3BC86-D83C-7A49-831A-BE4BE0B4F29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2195" y="2968425"/>
            <a:ext cx="3291840" cy="3133090"/>
          </a:xfrm>
          <a:prstGeom prst="rect">
            <a:avLst/>
          </a:prstGeom>
        </p:spPr>
      </p:pic>
      <p:pic>
        <p:nvPicPr>
          <p:cNvPr id="15" name="Picture 14" descr="Chart, histogram&#10;&#10;Description automatically generated">
            <a:extLst>
              <a:ext uri="{FF2B5EF4-FFF2-40B4-BE49-F238E27FC236}">
                <a16:creationId xmlns:a16="http://schemas.microsoft.com/office/drawing/2014/main" id="{500B7F37-5C79-2A40-A693-F95CDB9C99F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9500" y="2968425"/>
            <a:ext cx="3291840" cy="3133090"/>
          </a:xfrm>
          <a:prstGeom prst="rect">
            <a:avLst/>
          </a:prstGeom>
        </p:spPr>
      </p:pic>
      <p:sp>
        <p:nvSpPr>
          <p:cNvPr id="16" name="Text Box 1">
            <a:extLst>
              <a:ext uri="{FF2B5EF4-FFF2-40B4-BE49-F238E27FC236}">
                <a16:creationId xmlns:a16="http://schemas.microsoft.com/office/drawing/2014/main" id="{022A6CD9-8302-6C4C-AFA1-C2B7401BD053}"/>
              </a:ext>
            </a:extLst>
          </p:cNvPr>
          <p:cNvSpPr txBox="1"/>
          <p:nvPr/>
        </p:nvSpPr>
        <p:spPr>
          <a:xfrm>
            <a:off x="7276457" y="2600840"/>
            <a:ext cx="1797927" cy="55626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Histogram B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sp>
        <p:nvSpPr>
          <p:cNvPr id="17" name="Google Shape;282;g104476d1465_1_17">
            <a:extLst>
              <a:ext uri="{FF2B5EF4-FFF2-40B4-BE49-F238E27FC236}">
                <a16:creationId xmlns:a16="http://schemas.microsoft.com/office/drawing/2014/main" id="{BDE8342E-EF4F-3C4C-A215-3B89C45676D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24983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05255" y="3672908"/>
            <a:ext cx="10515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itchFamily="34" charset="0"/>
                <a:ea typeface="Verdana" pitchFamily="34" charset="0"/>
              </a:rPr>
              <a:t>Histogram A is                          and has a peak </a:t>
            </a:r>
          </a:p>
          <a:p>
            <a:r>
              <a:rPr lang="en-US" sz="2400" i="1" dirty="0">
                <a:latin typeface="Verdana" pitchFamily="34" charset="0"/>
                <a:ea typeface="Verdana" pitchFamily="34" charset="0"/>
              </a:rPr>
              <a:t> </a:t>
            </a:r>
            <a:endParaRPr lang="en-US" sz="2400" dirty="0">
              <a:latin typeface="Verdana" pitchFamily="34" charset="0"/>
              <a:ea typeface="Verdana" pitchFamily="34" charset="0"/>
            </a:endParaRPr>
          </a:p>
          <a:p>
            <a:pPr marL="457200"/>
            <a:r>
              <a:rPr lang="en-US" sz="2400" dirty="0">
                <a:latin typeface="Verdana" pitchFamily="34" charset="0"/>
                <a:ea typeface="Verdana" pitchFamily="34" charset="0"/>
              </a:rPr>
              <a:t>near _____. 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itchFamily="34" charset="0"/>
                <a:ea typeface="Verdana" pitchFamily="34" charset="0"/>
              </a:rPr>
              <a:t>Histogram B is                         and has 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FF8E1D1-4C7A-FB40-99AF-2D5F315E17F7}"/>
              </a:ext>
            </a:extLst>
          </p:cNvPr>
          <p:cNvSpPr/>
          <p:nvPr/>
        </p:nvSpPr>
        <p:spPr>
          <a:xfrm>
            <a:off x="3920770" y="3579550"/>
            <a:ext cx="2404745" cy="765175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symmetrical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 marL="28575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not symmetrical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FD11A0A-1743-3842-BD02-C26F395914CB}"/>
              </a:ext>
            </a:extLst>
          </p:cNvPr>
          <p:cNvSpPr/>
          <p:nvPr/>
        </p:nvSpPr>
        <p:spPr>
          <a:xfrm>
            <a:off x="3848811" y="4917505"/>
            <a:ext cx="2412864" cy="744855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symmetrical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 marL="28575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not symmetrical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D3579E3-FDA0-C147-88D4-A0A7D12D46EC}"/>
              </a:ext>
            </a:extLst>
          </p:cNvPr>
          <p:cNvSpPr/>
          <p:nvPr/>
        </p:nvSpPr>
        <p:spPr>
          <a:xfrm>
            <a:off x="7820586" y="4917505"/>
            <a:ext cx="3006725" cy="836295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 peak.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 marL="28575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more than one peak. 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9" name="Text Box 1">
            <a:extLst>
              <a:ext uri="{FF2B5EF4-FFF2-40B4-BE49-F238E27FC236}">
                <a16:creationId xmlns:a16="http://schemas.microsoft.com/office/drawing/2014/main" id="{C641D750-12EF-B644-9968-4E7207A387A2}"/>
              </a:ext>
            </a:extLst>
          </p:cNvPr>
          <p:cNvSpPr txBox="1"/>
          <p:nvPr/>
        </p:nvSpPr>
        <p:spPr>
          <a:xfrm>
            <a:off x="3063932" y="291482"/>
            <a:ext cx="1838699" cy="464923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Histogram A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pic>
        <p:nvPicPr>
          <p:cNvPr id="10" name="Picture 9" descr="Chart, histogram&#10;&#10;Description automatically generated">
            <a:extLst>
              <a:ext uri="{FF2B5EF4-FFF2-40B4-BE49-F238E27FC236}">
                <a16:creationId xmlns:a16="http://schemas.microsoft.com/office/drawing/2014/main" id="{71069E97-281B-044B-93EA-D6EEC23D63A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07619" y="672516"/>
            <a:ext cx="2751327" cy="2618644"/>
          </a:xfrm>
          <a:prstGeom prst="rect">
            <a:avLst/>
          </a:prstGeom>
        </p:spPr>
      </p:pic>
      <p:pic>
        <p:nvPicPr>
          <p:cNvPr id="11" name="Picture 10" descr="Chart, histogram&#10;&#10;Description automatically generated">
            <a:extLst>
              <a:ext uri="{FF2B5EF4-FFF2-40B4-BE49-F238E27FC236}">
                <a16:creationId xmlns:a16="http://schemas.microsoft.com/office/drawing/2014/main" id="{0F3CD17A-78E5-2541-B8A5-5D0E32C93BD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44924" y="672516"/>
            <a:ext cx="2751327" cy="2618644"/>
          </a:xfrm>
          <a:prstGeom prst="rect">
            <a:avLst/>
          </a:prstGeom>
        </p:spPr>
      </p:pic>
      <p:sp>
        <p:nvSpPr>
          <p:cNvPr id="13" name="Text Box 1">
            <a:extLst>
              <a:ext uri="{FF2B5EF4-FFF2-40B4-BE49-F238E27FC236}">
                <a16:creationId xmlns:a16="http://schemas.microsoft.com/office/drawing/2014/main" id="{B0CFA406-AC22-1C4F-8663-3950232AFAC5}"/>
              </a:ext>
            </a:extLst>
          </p:cNvPr>
          <p:cNvSpPr txBox="1"/>
          <p:nvPr/>
        </p:nvSpPr>
        <p:spPr>
          <a:xfrm>
            <a:off x="6901237" y="291481"/>
            <a:ext cx="1838699" cy="464923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Histogram B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A896CB0B-61A5-864A-B638-2EC9EE0EB15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558116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Text Box 1">
            <a:extLst>
              <a:ext uri="{FF2B5EF4-FFF2-40B4-BE49-F238E27FC236}">
                <a16:creationId xmlns:a16="http://schemas.microsoft.com/office/drawing/2014/main" id="{C641D750-12EF-B644-9968-4E7207A387A2}"/>
              </a:ext>
            </a:extLst>
          </p:cNvPr>
          <p:cNvSpPr txBox="1"/>
          <p:nvPr/>
        </p:nvSpPr>
        <p:spPr>
          <a:xfrm>
            <a:off x="3063932" y="291482"/>
            <a:ext cx="1838699" cy="464923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Histogram A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pic>
        <p:nvPicPr>
          <p:cNvPr id="10" name="Picture 9" descr="Chart, histogram&#10;&#10;Description automatically generated">
            <a:extLst>
              <a:ext uri="{FF2B5EF4-FFF2-40B4-BE49-F238E27FC236}">
                <a16:creationId xmlns:a16="http://schemas.microsoft.com/office/drawing/2014/main" id="{71069E97-281B-044B-93EA-D6EEC23D63A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07619" y="672516"/>
            <a:ext cx="2751327" cy="2618644"/>
          </a:xfrm>
          <a:prstGeom prst="rect">
            <a:avLst/>
          </a:prstGeom>
        </p:spPr>
      </p:pic>
      <p:pic>
        <p:nvPicPr>
          <p:cNvPr id="11" name="Picture 10" descr="Chart, histogram&#10;&#10;Description automatically generated">
            <a:extLst>
              <a:ext uri="{FF2B5EF4-FFF2-40B4-BE49-F238E27FC236}">
                <a16:creationId xmlns:a16="http://schemas.microsoft.com/office/drawing/2014/main" id="{0F3CD17A-78E5-2541-B8A5-5D0E32C93BD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44924" y="672516"/>
            <a:ext cx="2751327" cy="2618644"/>
          </a:xfrm>
          <a:prstGeom prst="rect">
            <a:avLst/>
          </a:prstGeom>
        </p:spPr>
      </p:pic>
      <p:sp>
        <p:nvSpPr>
          <p:cNvPr id="13" name="Text Box 1">
            <a:extLst>
              <a:ext uri="{FF2B5EF4-FFF2-40B4-BE49-F238E27FC236}">
                <a16:creationId xmlns:a16="http://schemas.microsoft.com/office/drawing/2014/main" id="{B0CFA406-AC22-1C4F-8663-3950232AFAC5}"/>
              </a:ext>
            </a:extLst>
          </p:cNvPr>
          <p:cNvSpPr txBox="1"/>
          <p:nvPr/>
        </p:nvSpPr>
        <p:spPr>
          <a:xfrm>
            <a:off x="6901237" y="291481"/>
            <a:ext cx="1838699" cy="464923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Histogram B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075276-A6F7-AB4E-B5D0-E9B68BD7FF70}"/>
              </a:ext>
            </a:extLst>
          </p:cNvPr>
          <p:cNvGrpSpPr/>
          <p:nvPr/>
        </p:nvGrpSpPr>
        <p:grpSpPr>
          <a:xfrm>
            <a:off x="2652395" y="3566842"/>
            <a:ext cx="6887210" cy="1280527"/>
            <a:chOff x="0" y="-165468"/>
            <a:chExt cx="6887831" cy="1280527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5FB2851-68DA-5143-A797-F2AD77D61373}"/>
                </a:ext>
              </a:extLst>
            </p:cNvPr>
            <p:cNvGrpSpPr/>
            <p:nvPr/>
          </p:nvGrpSpPr>
          <p:grpSpPr>
            <a:xfrm>
              <a:off x="0" y="-165468"/>
              <a:ext cx="6887831" cy="1280527"/>
              <a:chOff x="1902078" y="3056804"/>
              <a:chExt cx="6887831" cy="1280880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633F638A-8050-EF46-83D1-A93774C87EF4}"/>
                  </a:ext>
                </a:extLst>
              </p:cNvPr>
              <p:cNvGrpSpPr/>
              <p:nvPr/>
            </p:nvGrpSpPr>
            <p:grpSpPr>
              <a:xfrm>
                <a:off x="1902078" y="3056804"/>
                <a:ext cx="6887831" cy="1280880"/>
                <a:chOff x="0" y="-217600"/>
                <a:chExt cx="6888200" cy="1119328"/>
              </a:xfrm>
            </p:grpSpPr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A1062777-AB1F-1346-9986-AB83A2C071E1}"/>
                    </a:ext>
                  </a:extLst>
                </p:cNvPr>
                <p:cNvSpPr/>
                <p:nvPr/>
              </p:nvSpPr>
              <p:spPr>
                <a:xfrm>
                  <a:off x="0" y="-72962"/>
                  <a:ext cx="6888200" cy="9746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</a:pPr>
                  <a:r>
                    <a:rPr lang="en-US" sz="1600">
                      <a:latin typeface="Cambria Math" panose="02040503050406030204" pitchFamily="18" charset="0"/>
                      <a:ea typeface="Cambria Math" panose="02040503050406030204" pitchFamily="18" charset="0"/>
                      <a:cs typeface="Cambria Math" panose="02040503050406030204" pitchFamily="18" charset="0"/>
                    </a:rPr>
                    <a:t> </a:t>
                  </a: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1847880D-D7DB-7E4F-BC67-B2A288A179E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817975" cy="90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</a:pPr>
                  <a:r>
                    <a:rPr lang="en-US" sz="1600">
                      <a:latin typeface="Cambria Math" panose="02040503050406030204" pitchFamily="18" charset="0"/>
                      <a:ea typeface="Cambria Math" panose="02040503050406030204" pitchFamily="18" charset="0"/>
                      <a:cs typeface="Cambria Math" panose="02040503050406030204" pitchFamily="18" charset="0"/>
                    </a:rPr>
                    <a:t> </a:t>
                  </a:r>
                </a:p>
              </p:txBody>
            </p:sp>
            <p:sp>
              <p:nvSpPr>
                <p:cNvPr id="21" name="Rounded Rectangle 20">
                  <a:extLst>
                    <a:ext uri="{FF2B5EF4-FFF2-40B4-BE49-F238E27FC236}">
                      <a16:creationId xmlns:a16="http://schemas.microsoft.com/office/drawing/2014/main" id="{DBB970F0-EBCC-2745-BEC6-AC436D01B970}"/>
                    </a:ext>
                  </a:extLst>
                </p:cNvPr>
                <p:cNvSpPr/>
                <p:nvPr/>
              </p:nvSpPr>
              <p:spPr>
                <a:xfrm>
                  <a:off x="70219" y="-217600"/>
                  <a:ext cx="6629755" cy="1119328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FD5"/>
                </a:solidFill>
                <a:ln w="12700" cap="flat" cmpd="sng">
                  <a:solidFill>
                    <a:srgbClr val="E2EFD5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685800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A </a:t>
                  </a:r>
                  <a:r>
                    <a:rPr lang="en-US" sz="20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cluster</a:t>
                  </a: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is formed when data points are in a close group or numerical data have similar values on a number line.</a:t>
                  </a:r>
                  <a:r>
                    <a:rPr lang="en-US" sz="20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Cambria Math" panose="02040503050406030204" pitchFamily="18" charset="0"/>
                    </a:rPr>
                    <a:t> </a:t>
                  </a:r>
                </a:p>
              </p:txBody>
            </p:sp>
          </p:grpSp>
        </p:grpSp>
        <p:pic>
          <p:nvPicPr>
            <p:cNvPr id="17" name="Picture 16" descr="Icon&#10;&#10;Description automatically generated">
              <a:extLst>
                <a:ext uri="{FF2B5EF4-FFF2-40B4-BE49-F238E27FC236}">
                  <a16:creationId xmlns:a16="http://schemas.microsoft.com/office/drawing/2014/main" id="{24150E1F-37FD-3844-AFF7-C649B4A02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739" y="93784"/>
              <a:ext cx="548640" cy="54864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119B4144-AA80-A74F-A31C-369ABE214328}"/>
              </a:ext>
            </a:extLst>
          </p:cNvPr>
          <p:cNvSpPr txBox="1"/>
          <p:nvPr/>
        </p:nvSpPr>
        <p:spPr>
          <a:xfrm>
            <a:off x="905256" y="5379798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          has two clusters.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3616DAB-6CC1-7A4C-98DB-67375F54F227}"/>
              </a:ext>
            </a:extLst>
          </p:cNvPr>
          <p:cNvSpPr/>
          <p:nvPr/>
        </p:nvSpPr>
        <p:spPr>
          <a:xfrm>
            <a:off x="1606541" y="5123051"/>
            <a:ext cx="2002155" cy="836295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Histogram A</a:t>
            </a:r>
            <a:endParaRPr lang="en-US" sz="160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 marL="28575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Histogram B</a:t>
            </a:r>
            <a:endParaRPr lang="en-US" sz="160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25" name="Google Shape;282;g104476d1465_1_17">
            <a:extLst>
              <a:ext uri="{FF2B5EF4-FFF2-40B4-BE49-F238E27FC236}">
                <a16:creationId xmlns:a16="http://schemas.microsoft.com/office/drawing/2014/main" id="{D69308A7-0785-7147-8BB7-874E4A6DC4B1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32514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Text Box 1">
            <a:extLst>
              <a:ext uri="{FF2B5EF4-FFF2-40B4-BE49-F238E27FC236}">
                <a16:creationId xmlns:a16="http://schemas.microsoft.com/office/drawing/2014/main" id="{C641D750-12EF-B644-9968-4E7207A387A2}"/>
              </a:ext>
            </a:extLst>
          </p:cNvPr>
          <p:cNvSpPr txBox="1"/>
          <p:nvPr/>
        </p:nvSpPr>
        <p:spPr>
          <a:xfrm>
            <a:off x="3063932" y="291482"/>
            <a:ext cx="1838699" cy="464923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Histogram A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pic>
        <p:nvPicPr>
          <p:cNvPr id="10" name="Picture 9" descr="Chart, histogram&#10;&#10;Description automatically generated">
            <a:extLst>
              <a:ext uri="{FF2B5EF4-FFF2-40B4-BE49-F238E27FC236}">
                <a16:creationId xmlns:a16="http://schemas.microsoft.com/office/drawing/2014/main" id="{71069E97-281B-044B-93EA-D6EEC23D63A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07619" y="672516"/>
            <a:ext cx="2751327" cy="2618644"/>
          </a:xfrm>
          <a:prstGeom prst="rect">
            <a:avLst/>
          </a:prstGeom>
        </p:spPr>
      </p:pic>
      <p:pic>
        <p:nvPicPr>
          <p:cNvPr id="11" name="Picture 10" descr="Chart, histogram&#10;&#10;Description automatically generated">
            <a:extLst>
              <a:ext uri="{FF2B5EF4-FFF2-40B4-BE49-F238E27FC236}">
                <a16:creationId xmlns:a16="http://schemas.microsoft.com/office/drawing/2014/main" id="{0F3CD17A-78E5-2541-B8A5-5D0E32C93BD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44924" y="672516"/>
            <a:ext cx="2751327" cy="2618644"/>
          </a:xfrm>
          <a:prstGeom prst="rect">
            <a:avLst/>
          </a:prstGeom>
        </p:spPr>
      </p:pic>
      <p:sp>
        <p:nvSpPr>
          <p:cNvPr id="13" name="Text Box 1">
            <a:extLst>
              <a:ext uri="{FF2B5EF4-FFF2-40B4-BE49-F238E27FC236}">
                <a16:creationId xmlns:a16="http://schemas.microsoft.com/office/drawing/2014/main" id="{B0CFA406-AC22-1C4F-8663-3950232AFAC5}"/>
              </a:ext>
            </a:extLst>
          </p:cNvPr>
          <p:cNvSpPr txBox="1"/>
          <p:nvPr/>
        </p:nvSpPr>
        <p:spPr>
          <a:xfrm>
            <a:off x="6901237" y="291481"/>
            <a:ext cx="1838699" cy="464923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Histogram B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9B4144-AA80-A74F-A31C-369ABE214328}"/>
              </a:ext>
            </a:extLst>
          </p:cNvPr>
          <p:cNvSpPr txBox="1"/>
          <p:nvPr/>
        </p:nvSpPr>
        <p:spPr>
          <a:xfrm>
            <a:off x="905256" y="5379798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3" indent="-457200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         has a gap between ____ and ____. 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3616DAB-6CC1-7A4C-98DB-67375F54F227}"/>
              </a:ext>
            </a:extLst>
          </p:cNvPr>
          <p:cNvSpPr/>
          <p:nvPr/>
        </p:nvSpPr>
        <p:spPr>
          <a:xfrm>
            <a:off x="1418899" y="5177558"/>
            <a:ext cx="2002155" cy="836295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Histogram A</a:t>
            </a:r>
            <a:endParaRPr lang="en-US" sz="160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 marL="28575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Histogram B</a:t>
            </a:r>
            <a:endParaRPr lang="en-US" sz="160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EDBF5C3-22E6-304F-BFF1-F30BE1A65B69}"/>
              </a:ext>
            </a:extLst>
          </p:cNvPr>
          <p:cNvGrpSpPr/>
          <p:nvPr/>
        </p:nvGrpSpPr>
        <p:grpSpPr>
          <a:xfrm>
            <a:off x="2652395" y="3676869"/>
            <a:ext cx="6887210" cy="1183639"/>
            <a:chOff x="1902078" y="3222317"/>
            <a:chExt cx="6887831" cy="118403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2073230-6FE1-5841-A923-2E2C17A22F78}"/>
                </a:ext>
              </a:extLst>
            </p:cNvPr>
            <p:cNvGrpSpPr/>
            <p:nvPr/>
          </p:nvGrpSpPr>
          <p:grpSpPr>
            <a:xfrm>
              <a:off x="1902078" y="3222317"/>
              <a:ext cx="6887831" cy="1184030"/>
              <a:chOff x="0" y="-72962"/>
              <a:chExt cx="6888200" cy="1034694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5F2817C-C10F-2E43-BE02-D45A0D500365}"/>
                  </a:ext>
                </a:extLst>
              </p:cNvPr>
              <p:cNvSpPr/>
              <p:nvPr/>
            </p:nvSpPr>
            <p:spPr>
              <a:xfrm>
                <a:off x="0" y="-72962"/>
                <a:ext cx="6888200" cy="974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1600">
                    <a:latin typeface="Cambria Math" panose="02040503050406030204" pitchFamily="18" charset="0"/>
                    <a:ea typeface="Cambria Math" panose="02040503050406030204" pitchFamily="18" charset="0"/>
                    <a:cs typeface="Cambria Math" panose="02040503050406030204" pitchFamily="18" charset="0"/>
                  </a:rPr>
                  <a:t> 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E34E77F-7AC5-7447-8894-417FD5F7C6AC}"/>
                  </a:ext>
                </a:extLst>
              </p:cNvPr>
              <p:cNvSpPr/>
              <p:nvPr/>
            </p:nvSpPr>
            <p:spPr>
              <a:xfrm>
                <a:off x="0" y="0"/>
                <a:ext cx="6817975" cy="90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1600">
                    <a:latin typeface="Cambria Math" panose="02040503050406030204" pitchFamily="18" charset="0"/>
                    <a:ea typeface="Cambria Math" panose="02040503050406030204" pitchFamily="18" charset="0"/>
                    <a:cs typeface="Cambria Math" panose="02040503050406030204" pitchFamily="18" charset="0"/>
                  </a:rPr>
                  <a:t> </a:t>
                </a:r>
              </a:p>
            </p:txBody>
          </p:sp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EA02BA25-B6D0-D142-B6E7-B17EEDE1E2F2}"/>
                  </a:ext>
                </a:extLst>
              </p:cNvPr>
              <p:cNvSpPr/>
              <p:nvPr/>
            </p:nvSpPr>
            <p:spPr>
              <a:xfrm>
                <a:off x="138823" y="-72962"/>
                <a:ext cx="6629755" cy="1034694"/>
              </a:xfrm>
              <a:prstGeom prst="roundRect">
                <a:avLst>
                  <a:gd name="adj" fmla="val 16667"/>
                </a:avLst>
              </a:prstGeom>
              <a:solidFill>
                <a:srgbClr val="E2EFD5"/>
              </a:solidFill>
              <a:ln w="12700" cap="flat" cmpd="sng">
                <a:solidFill>
                  <a:srgbClr val="E2EFD5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114300">
                  <a:lnSpc>
                    <a:spcPct val="107000"/>
                  </a:lnSpc>
                </a:pPr>
                <a:r>
                  <a:rPr lang="en-US" sz="2000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</a:t>
                </a:r>
                <a:r>
                  <a:rPr lang="en-US" sz="2000" b="1" i="1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gap</a:t>
                </a:r>
                <a:r>
                  <a:rPr lang="en-US" sz="2000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shows a location with no data values. On a histogram, a space between the bins indicates a gap, or a frequency of zero for that bin.</a:t>
                </a:r>
                <a:endParaRPr lang="en-US" sz="1800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p:grpSp>
      </p:grpSp>
      <p:sp>
        <p:nvSpPr>
          <p:cNvPr id="29" name="Google Shape;282;g104476d1465_1_17">
            <a:extLst>
              <a:ext uri="{FF2B5EF4-FFF2-40B4-BE49-F238E27FC236}">
                <a16:creationId xmlns:a16="http://schemas.microsoft.com/office/drawing/2014/main" id="{BBAD55A8-88CB-A144-A208-A68988CADE3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529087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Text Box 1">
            <a:extLst>
              <a:ext uri="{FF2B5EF4-FFF2-40B4-BE49-F238E27FC236}">
                <a16:creationId xmlns:a16="http://schemas.microsoft.com/office/drawing/2014/main" id="{C641D750-12EF-B644-9968-4E7207A387A2}"/>
              </a:ext>
            </a:extLst>
          </p:cNvPr>
          <p:cNvSpPr txBox="1"/>
          <p:nvPr/>
        </p:nvSpPr>
        <p:spPr>
          <a:xfrm>
            <a:off x="2985040" y="291481"/>
            <a:ext cx="1996483" cy="464923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Histogram A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pic>
        <p:nvPicPr>
          <p:cNvPr id="10" name="Picture 9" descr="Chart, histogram&#10;&#10;Description automatically generated">
            <a:extLst>
              <a:ext uri="{FF2B5EF4-FFF2-40B4-BE49-F238E27FC236}">
                <a16:creationId xmlns:a16="http://schemas.microsoft.com/office/drawing/2014/main" id="{71069E97-281B-044B-93EA-D6EEC23D63A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07619" y="672516"/>
            <a:ext cx="2751327" cy="2618644"/>
          </a:xfrm>
          <a:prstGeom prst="rect">
            <a:avLst/>
          </a:prstGeom>
        </p:spPr>
      </p:pic>
      <p:pic>
        <p:nvPicPr>
          <p:cNvPr id="11" name="Picture 10" descr="Chart, histogram&#10;&#10;Description automatically generated">
            <a:extLst>
              <a:ext uri="{FF2B5EF4-FFF2-40B4-BE49-F238E27FC236}">
                <a16:creationId xmlns:a16="http://schemas.microsoft.com/office/drawing/2014/main" id="{0F3CD17A-78E5-2541-B8A5-5D0E32C93BD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44924" y="672516"/>
            <a:ext cx="2751327" cy="2618644"/>
          </a:xfrm>
          <a:prstGeom prst="rect">
            <a:avLst/>
          </a:prstGeom>
        </p:spPr>
      </p:pic>
      <p:sp>
        <p:nvSpPr>
          <p:cNvPr id="13" name="Text Box 1">
            <a:extLst>
              <a:ext uri="{FF2B5EF4-FFF2-40B4-BE49-F238E27FC236}">
                <a16:creationId xmlns:a16="http://schemas.microsoft.com/office/drawing/2014/main" id="{B0CFA406-AC22-1C4F-8663-3950232AFAC5}"/>
              </a:ext>
            </a:extLst>
          </p:cNvPr>
          <p:cNvSpPr txBox="1"/>
          <p:nvPr/>
        </p:nvSpPr>
        <p:spPr>
          <a:xfrm>
            <a:off x="6822345" y="291481"/>
            <a:ext cx="1996483" cy="464923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Histogram B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9B4144-AA80-A74F-A31C-369ABE214328}"/>
              </a:ext>
            </a:extLst>
          </p:cNvPr>
          <p:cNvSpPr txBox="1"/>
          <p:nvPr/>
        </p:nvSpPr>
        <p:spPr>
          <a:xfrm>
            <a:off x="905256" y="5170793"/>
            <a:ext cx="10515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49263">
              <a:buFont typeface="+mj-lt"/>
              <a:buAutoNum type="arabicPeriod" startAt="5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the data value           were added to Histogram A, it would be </a:t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considered an outlier.</a:t>
            </a:r>
          </a:p>
          <a:p>
            <a:pPr marL="457200" lvl="3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C2FABDB-2DA6-8740-9385-A8FFB447F94B}"/>
              </a:ext>
            </a:extLst>
          </p:cNvPr>
          <p:cNvGrpSpPr/>
          <p:nvPr/>
        </p:nvGrpSpPr>
        <p:grpSpPr>
          <a:xfrm>
            <a:off x="2722611" y="3544807"/>
            <a:ext cx="6887845" cy="1227294"/>
            <a:chOff x="0" y="-105354"/>
            <a:chExt cx="6887845" cy="122729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F9315E1-9AB5-5A40-B1F5-2438E7E712CC}"/>
                </a:ext>
              </a:extLst>
            </p:cNvPr>
            <p:cNvGrpSpPr/>
            <p:nvPr/>
          </p:nvGrpSpPr>
          <p:grpSpPr>
            <a:xfrm>
              <a:off x="0" y="-105354"/>
              <a:ext cx="6887845" cy="1227294"/>
              <a:chOff x="1937003" y="3150769"/>
              <a:chExt cx="6888200" cy="122805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604402A-0A88-7847-BFBB-62B125828D51}"/>
                  </a:ext>
                </a:extLst>
              </p:cNvPr>
              <p:cNvSpPr/>
              <p:nvPr/>
            </p:nvSpPr>
            <p:spPr>
              <a:xfrm>
                <a:off x="1937003" y="3256188"/>
                <a:ext cx="6888200" cy="974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1600">
                    <a:latin typeface="Cambria Math" panose="02040503050406030204" pitchFamily="18" charset="0"/>
                    <a:ea typeface="Cambria Math" panose="02040503050406030204" pitchFamily="18" charset="0"/>
                    <a:cs typeface="Cambria Math" panose="02040503050406030204" pitchFamily="18" charset="0"/>
                  </a:rPr>
                  <a:t> </a:t>
                </a:r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39BA59A8-07CD-0F47-925C-BDA6F0E17AA2}"/>
                  </a:ext>
                </a:extLst>
              </p:cNvPr>
              <p:cNvGrpSpPr/>
              <p:nvPr/>
            </p:nvGrpSpPr>
            <p:grpSpPr>
              <a:xfrm>
                <a:off x="1937003" y="3150769"/>
                <a:ext cx="6817975" cy="1228050"/>
                <a:chOff x="0" y="-178381"/>
                <a:chExt cx="6817975" cy="1228050"/>
              </a:xfrm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3AD90A2E-23AD-DF4E-A66E-C08C109981E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817975" cy="90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</a:pPr>
                  <a:r>
                    <a:rPr lang="en-US" sz="1600">
                      <a:latin typeface="Cambria Math" panose="02040503050406030204" pitchFamily="18" charset="0"/>
                      <a:ea typeface="Cambria Math" panose="02040503050406030204" pitchFamily="18" charset="0"/>
                      <a:cs typeface="Cambria Math" panose="02040503050406030204" pitchFamily="18" charset="0"/>
                    </a:rPr>
                    <a:t> </a:t>
                  </a:r>
                </a:p>
              </p:txBody>
            </p:sp>
            <p:sp>
              <p:nvSpPr>
                <p:cNvPr id="29" name="Rounded Rectangle 28">
                  <a:extLst>
                    <a:ext uri="{FF2B5EF4-FFF2-40B4-BE49-F238E27FC236}">
                      <a16:creationId xmlns:a16="http://schemas.microsoft.com/office/drawing/2014/main" id="{F60351C8-AF34-6C45-89CE-CDE1A2EEA6DA}"/>
                    </a:ext>
                  </a:extLst>
                </p:cNvPr>
                <p:cNvSpPr/>
                <p:nvPr/>
              </p:nvSpPr>
              <p:spPr>
                <a:xfrm>
                  <a:off x="70218" y="-178381"/>
                  <a:ext cx="6629741" cy="122805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FD5"/>
                </a:solidFill>
                <a:ln w="12700" cap="flat" cmpd="sng">
                  <a:solidFill>
                    <a:srgbClr val="E2EFD5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685800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An </a:t>
                  </a:r>
                  <a:r>
                    <a:rPr lang="en-US" sz="20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outlier</a:t>
                  </a: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is a value that is much higher or much lower than the other values in a data set.</a:t>
                  </a:r>
                  <a:endPara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p:grpSp>
        </p:grpSp>
        <p:pic>
          <p:nvPicPr>
            <p:cNvPr id="18" name="Picture 17" descr="Icon&#10;&#10;Description automatically generated">
              <a:extLst>
                <a:ext uri="{FF2B5EF4-FFF2-40B4-BE49-F238E27FC236}">
                  <a16:creationId xmlns:a16="http://schemas.microsoft.com/office/drawing/2014/main" id="{5E05D718-0C41-F44F-B77A-706B6E5B75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722" y="30507"/>
              <a:ext cx="548640" cy="54864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A67D525B-55E2-8744-9DA8-0279E7AEDCB8}"/>
              </a:ext>
            </a:extLst>
          </p:cNvPr>
          <p:cNvSpPr/>
          <p:nvPr/>
        </p:nvSpPr>
        <p:spPr>
          <a:xfrm>
            <a:off x="4137787" y="4877455"/>
            <a:ext cx="843736" cy="97409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12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 marL="28575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24</a:t>
            </a:r>
          </a:p>
          <a:p>
            <a:pPr marL="28575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40</a:t>
            </a:r>
          </a:p>
        </p:txBody>
      </p:sp>
      <p:sp>
        <p:nvSpPr>
          <p:cNvPr id="32" name="Google Shape;282;g104476d1465_1_17">
            <a:extLst>
              <a:ext uri="{FF2B5EF4-FFF2-40B4-BE49-F238E27FC236}">
                <a16:creationId xmlns:a16="http://schemas.microsoft.com/office/drawing/2014/main" id="{48995F28-C9EB-C042-ACB0-6C6DD315661D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59245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70248" y="2770632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770632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400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9.7.5 Collaboration: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</a:rPr>
              <a:t>Features of Histograms </a:t>
            </a:r>
            <a:endParaRPr lang="en-US" sz="36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528738" y="1386026"/>
            <a:ext cx="10515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Daveed has been tracking the time, in minutes, it takes him to run 4 miles for the last 10 years. A histogram of Daveed’s run times is shown.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Daveed’s Run Times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C89D5E-42CE-524D-BB24-A4779A4BC5B1}"/>
              </a:ext>
            </a:extLst>
          </p:cNvPr>
          <p:cNvSpPr/>
          <p:nvPr/>
        </p:nvSpPr>
        <p:spPr>
          <a:xfrm rot="16200000">
            <a:off x="3598335" y="4679721"/>
            <a:ext cx="1378585" cy="4298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Frequency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31473C-DE9F-AB49-8C7A-717037563A34}"/>
              </a:ext>
            </a:extLst>
          </p:cNvPr>
          <p:cNvSpPr/>
          <p:nvPr/>
        </p:nvSpPr>
        <p:spPr>
          <a:xfrm>
            <a:off x="5074136" y="6314291"/>
            <a:ext cx="2295525" cy="4298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Time (in minutes)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pic>
        <p:nvPicPr>
          <p:cNvPr id="13" name="Picture 12" descr="Chart, histogram&#10;&#10;Description automatically generated">
            <a:extLst>
              <a:ext uri="{FF2B5EF4-FFF2-40B4-BE49-F238E27FC236}">
                <a16:creationId xmlns:a16="http://schemas.microsoft.com/office/drawing/2014/main" id="{6896F766-BF76-4248-9CC5-373FEF1116C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09882" y="3429000"/>
            <a:ext cx="3280870" cy="2931339"/>
          </a:xfrm>
          <a:prstGeom prst="rect">
            <a:avLst/>
          </a:prstGeom>
        </p:spPr>
      </p:pic>
      <p:sp>
        <p:nvSpPr>
          <p:cNvPr id="14" name="Google Shape;282;g104476d1465_1_17">
            <a:extLst>
              <a:ext uri="{FF2B5EF4-FFF2-40B4-BE49-F238E27FC236}">
                <a16:creationId xmlns:a16="http://schemas.microsoft.com/office/drawing/2014/main" id="{DC93ECCB-82D9-7D40-B536-3B15D8FC514D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10809" y="383538"/>
                <a:ext cx="1130170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92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shape of run times can be best described      </a:t>
                </a: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as</a:t>
                </a: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7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7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7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2337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Daveed’s typical run time was about _________ minutes.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Most of his run times were between ______ to ______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minutes. Not many of his runs were                 than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32.5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minutes.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809" y="383538"/>
                <a:ext cx="11301700" cy="4524315"/>
              </a:xfrm>
              <a:prstGeom prst="rect">
                <a:avLst/>
              </a:prstGeom>
              <a:blipFill rotWithShape="1">
                <a:blip r:embed="rId4"/>
                <a:stretch>
                  <a:fillRect t="-1078" r="-1510" b="-202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FA63E18-27B6-BA43-A557-A13CA90B4C95}"/>
              </a:ext>
            </a:extLst>
          </p:cNvPr>
          <p:cNvSpPr/>
          <p:nvPr/>
        </p:nvSpPr>
        <p:spPr>
          <a:xfrm>
            <a:off x="7221497" y="4207339"/>
            <a:ext cx="1519092" cy="830821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2860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shorter</a:t>
            </a:r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 marL="22860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longer</a:t>
            </a:r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2CE7331-032A-734D-B3DE-C59551FC0B01}"/>
              </a:ext>
            </a:extLst>
          </p:cNvPr>
          <p:cNvSpPr/>
          <p:nvPr/>
        </p:nvSpPr>
        <p:spPr>
          <a:xfrm>
            <a:off x="2098557" y="819724"/>
            <a:ext cx="2401725" cy="1195176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2860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symmetrical.</a:t>
            </a:r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 marL="22860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right skewed.</a:t>
            </a:r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 marL="22860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left skewed.</a:t>
            </a:r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2C5BA0FD-0ADB-3640-85FD-90477C8583F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10228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10809" y="367994"/>
                <a:ext cx="105156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Arya used the data of her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-mile run times to create a different histogram.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809" y="367994"/>
                <a:ext cx="10515600" cy="830997"/>
              </a:xfrm>
              <a:prstGeom prst="rect">
                <a:avLst/>
              </a:prstGeom>
              <a:blipFill rotWithShape="1">
                <a:blip r:embed="rId4"/>
                <a:stretch>
                  <a:fillRect l="-928" t="-6569" r="-638" b="-1532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7257DD02-2CCB-264E-ABCF-CD0ADCD31AAB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5B407E-B55E-4223-8305-243E97457BD3}"/>
              </a:ext>
            </a:extLst>
          </p:cNvPr>
          <p:cNvSpPr txBox="1"/>
          <p:nvPr/>
        </p:nvSpPr>
        <p:spPr>
          <a:xfrm>
            <a:off x="4048738" y="1697855"/>
            <a:ext cx="4642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Arya’s Run Times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FB03A6-E09B-A14C-9625-280EACC3BDB7}"/>
              </a:ext>
            </a:extLst>
          </p:cNvPr>
          <p:cNvSpPr/>
          <p:nvPr/>
        </p:nvSpPr>
        <p:spPr>
          <a:xfrm rot="16200000">
            <a:off x="2967348" y="3754679"/>
            <a:ext cx="1378585" cy="4298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Frequency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EE8504-31FF-7A46-98C5-DD7AEF09D6CA}"/>
              </a:ext>
            </a:extLst>
          </p:cNvPr>
          <p:cNvSpPr/>
          <p:nvPr/>
        </p:nvSpPr>
        <p:spPr>
          <a:xfrm>
            <a:off x="5628988" y="5688890"/>
            <a:ext cx="2295525" cy="4298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Time (in minutes)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pic>
        <p:nvPicPr>
          <p:cNvPr id="13" name="Picture 12" descr="Chart, histogram&#10;&#10;Description automatically generated">
            <a:extLst>
              <a:ext uri="{FF2B5EF4-FFF2-40B4-BE49-F238E27FC236}">
                <a16:creationId xmlns:a16="http://schemas.microsoft.com/office/drawing/2014/main" id="{DC486FCD-9859-C543-882A-C98F6668F69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7718" y="2097965"/>
            <a:ext cx="4789170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5815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28738" y="359028"/>
            <a:ext cx="10515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49263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what you notice about the interval widths. Determine if there are any unusual features including clusters, gaps, or outliers. Write a detailed description of your discussion.</a:t>
            </a: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F89250DB-C658-2A40-81D4-1360C881E2ED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5B407E-B55E-4223-8305-243E97457BD3}"/>
              </a:ext>
            </a:extLst>
          </p:cNvPr>
          <p:cNvSpPr txBox="1"/>
          <p:nvPr/>
        </p:nvSpPr>
        <p:spPr>
          <a:xfrm>
            <a:off x="4048738" y="2097965"/>
            <a:ext cx="4642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Arya’s Run Times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FB03A6-E09B-A14C-9625-280EACC3BDB7}"/>
              </a:ext>
            </a:extLst>
          </p:cNvPr>
          <p:cNvSpPr/>
          <p:nvPr/>
        </p:nvSpPr>
        <p:spPr>
          <a:xfrm rot="16200000">
            <a:off x="2967348" y="4154789"/>
            <a:ext cx="1378585" cy="4298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Frequency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EE8504-31FF-7A46-98C5-DD7AEF09D6CA}"/>
              </a:ext>
            </a:extLst>
          </p:cNvPr>
          <p:cNvSpPr/>
          <p:nvPr/>
        </p:nvSpPr>
        <p:spPr>
          <a:xfrm>
            <a:off x="5628988" y="6089000"/>
            <a:ext cx="2295525" cy="4298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Time (in minutes)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pic>
        <p:nvPicPr>
          <p:cNvPr id="11" name="Picture 10" descr="Chart, histogram&#10;&#10;Description automatically generated">
            <a:extLst>
              <a:ext uri="{FF2B5EF4-FFF2-40B4-BE49-F238E27FC236}">
                <a16:creationId xmlns:a16="http://schemas.microsoft.com/office/drawing/2014/main" id="{DC486FCD-9859-C543-882A-C98F6668F69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7718" y="2498075"/>
            <a:ext cx="4789170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4639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19774" y="424397"/>
            <a:ext cx="571095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49263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 what interval in the histogram of Arya’s times is there an outlier?</a:t>
            </a:r>
          </a:p>
          <a:p>
            <a:pPr marL="914400" indent="-449263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Would this same data value also be considered an outlier in the histogram of Daveed’s times?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3DA1BCF9-727E-2C42-ABC5-676CDC85D34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5B407E-B55E-4223-8305-243E97457BD3}"/>
              </a:ext>
            </a:extLst>
          </p:cNvPr>
          <p:cNvSpPr txBox="1"/>
          <p:nvPr/>
        </p:nvSpPr>
        <p:spPr>
          <a:xfrm>
            <a:off x="6837770" y="224342"/>
            <a:ext cx="4642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Arya’s Run Times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FB03A6-E09B-A14C-9625-280EACC3BDB7}"/>
              </a:ext>
            </a:extLst>
          </p:cNvPr>
          <p:cNvSpPr/>
          <p:nvPr/>
        </p:nvSpPr>
        <p:spPr>
          <a:xfrm rot="16200000">
            <a:off x="5756380" y="2281166"/>
            <a:ext cx="1378585" cy="4298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Frequency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EE8504-31FF-7A46-98C5-DD7AEF09D6CA}"/>
              </a:ext>
            </a:extLst>
          </p:cNvPr>
          <p:cNvSpPr/>
          <p:nvPr/>
        </p:nvSpPr>
        <p:spPr>
          <a:xfrm>
            <a:off x="8418020" y="4215377"/>
            <a:ext cx="2295525" cy="4298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Time (in minutes)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pic>
        <p:nvPicPr>
          <p:cNvPr id="12" name="Picture 11" descr="Chart, histogram&#10;&#10;Description automatically generated">
            <a:extLst>
              <a:ext uri="{FF2B5EF4-FFF2-40B4-BE49-F238E27FC236}">
                <a16:creationId xmlns:a16="http://schemas.microsoft.com/office/drawing/2014/main" id="{DC486FCD-9859-C543-882A-C98F6668F69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76750" y="624452"/>
            <a:ext cx="4789170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7890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7703" y="376958"/>
                <a:ext cx="10515600" cy="2185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5137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Sebastian used the data of his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-mile run times to create a third histogram.</a:t>
                </a:r>
              </a:p>
              <a:p>
                <a:pPr marL="465137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7937" algn="ctr"/>
                <a:endParaRPr lang="en-US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7937" algn="ctr"/>
                <a:r>
                  <a:rPr lang="en-US" sz="20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Sebastian’s Run Times</a:t>
                </a:r>
              </a:p>
              <a:p>
                <a:pPr marL="465137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703" y="376958"/>
                <a:ext cx="10515600" cy="2185214"/>
              </a:xfrm>
              <a:prstGeom prst="rect">
                <a:avLst/>
              </a:prstGeom>
              <a:blipFill rotWithShape="1">
                <a:blip r:embed="rId4"/>
                <a:stretch>
                  <a:fillRect l="-812" t="-251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Chart, histogram&#10;&#10;Description automatically generated">
            <a:extLst>
              <a:ext uri="{FF2B5EF4-FFF2-40B4-BE49-F238E27FC236}">
                <a16:creationId xmlns:a16="http://schemas.microsoft.com/office/drawing/2014/main" id="{CAF31AA1-8EE3-8346-9F25-0D69D4B7232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27345" y="2310490"/>
            <a:ext cx="3536315" cy="371729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B70F63E-311F-4144-805A-14DEF0E5AA4D}"/>
              </a:ext>
            </a:extLst>
          </p:cNvPr>
          <p:cNvSpPr/>
          <p:nvPr/>
        </p:nvSpPr>
        <p:spPr>
          <a:xfrm rot="16200000">
            <a:off x="3109814" y="3989497"/>
            <a:ext cx="1378585" cy="429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Frequency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DAB997-618B-5641-BD23-AAE631C188FC}"/>
              </a:ext>
            </a:extLst>
          </p:cNvPr>
          <p:cNvSpPr/>
          <p:nvPr/>
        </p:nvSpPr>
        <p:spPr>
          <a:xfrm>
            <a:off x="4674663" y="6027781"/>
            <a:ext cx="2295525" cy="429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Time (in minutes)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C286CA51-8639-6E44-9D06-64E1DBF0CE4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96699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28738" y="392670"/>
            <a:ext cx="629340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49263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Which feature is depicted in Sebastian’s histogram?</a:t>
            </a:r>
          </a:p>
          <a:p>
            <a:pPr marL="465137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5137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22337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the spread and shape of the distribution of Sebastian’s run times. </a:t>
            </a:r>
          </a:p>
          <a:p>
            <a:pPr marL="914400" indent="-449263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D59C5107-A8CA-9246-B8AB-7A19DC70CBF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7169809" y="490978"/>
            <a:ext cx="4642700" cy="4547296"/>
            <a:chOff x="2582159" y="141620"/>
            <a:chExt cx="4642700" cy="454729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BCF7234-BC64-4D9F-B875-5121AB66F948}"/>
                </a:ext>
              </a:extLst>
            </p:cNvPr>
            <p:cNvSpPr txBox="1"/>
            <p:nvPr/>
          </p:nvSpPr>
          <p:spPr>
            <a:xfrm>
              <a:off x="2582159" y="141620"/>
              <a:ext cx="46427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937" algn="ctr"/>
              <a:r>
                <a:rPr lang="en-US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Sebastian’s Run Times</a:t>
              </a:r>
            </a:p>
          </p:txBody>
        </p:sp>
        <p:pic>
          <p:nvPicPr>
            <p:cNvPr id="9" name="Picture 8" descr="Chart, histogram&#10;&#10;Description automatically generated">
              <a:extLst>
                <a:ext uri="{FF2B5EF4-FFF2-40B4-BE49-F238E27FC236}">
                  <a16:creationId xmlns:a16="http://schemas.microsoft.com/office/drawing/2014/main" id="{CAF31AA1-8EE3-8346-9F25-0D69D4B72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25345" y="541730"/>
              <a:ext cx="3536315" cy="371729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B70F63E-311F-4144-805A-14DEF0E5AA4D}"/>
                </a:ext>
              </a:extLst>
            </p:cNvPr>
            <p:cNvSpPr/>
            <p:nvPr/>
          </p:nvSpPr>
          <p:spPr>
            <a:xfrm rot="16200000">
              <a:off x="2107814" y="2220737"/>
              <a:ext cx="1378585" cy="4298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Frequency</a:t>
              </a:r>
              <a:endPara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ADAB997-618B-5641-BD23-AAE631C188FC}"/>
                </a:ext>
              </a:extLst>
            </p:cNvPr>
            <p:cNvSpPr/>
            <p:nvPr/>
          </p:nvSpPr>
          <p:spPr>
            <a:xfrm>
              <a:off x="3672663" y="4259021"/>
              <a:ext cx="2295525" cy="4298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Time (in minutes)</a:t>
              </a:r>
              <a:endPara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08434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10809" y="385922"/>
            <a:ext cx="10515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5138" indent="-457200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Different data will change the intervals for the horizontal axis and will affect the histogram and its features: symmetry, skewness, gaps, clusters, outliers, and the range. With your partner, review all three run-time scenarios and discuss the differences between the histograms.</a:t>
            </a: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A2265E5F-EFD7-074C-816E-603D1F479B15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21866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770632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E0ADD49B-70D9-8047-8BC0-39824DFF5F6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43000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9.7.6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19773" y="1386026"/>
                <a:ext cx="105156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histograms show the number of text messages sent in one week by a group of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sixth-grade and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seventh-grade students.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73" y="1386026"/>
                <a:ext cx="10515600" cy="1200329"/>
              </a:xfrm>
              <a:prstGeom prst="rect">
                <a:avLst/>
              </a:prstGeom>
              <a:blipFill rotWithShape="1">
                <a:blip r:embed="rId5"/>
                <a:stretch>
                  <a:fillRect l="-870" t="-4061" r="-348" b="-1066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566526CA-AE06-C64C-A573-7898AD2CCFDB}"/>
              </a:ext>
            </a:extLst>
          </p:cNvPr>
          <p:cNvSpPr/>
          <p:nvPr/>
        </p:nvSpPr>
        <p:spPr>
          <a:xfrm>
            <a:off x="3542688" y="2941321"/>
            <a:ext cx="2116455" cy="4552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Sixth Graders</a:t>
            </a:r>
            <a:endParaRPr lang="en-US" sz="160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95BD75-9DD4-064A-AA8E-D6ADE6871CE4}"/>
              </a:ext>
            </a:extLst>
          </p:cNvPr>
          <p:cNvSpPr/>
          <p:nvPr/>
        </p:nvSpPr>
        <p:spPr>
          <a:xfrm rot="16200000">
            <a:off x="2026625" y="4240848"/>
            <a:ext cx="1630045" cy="424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Frequency</a:t>
            </a:r>
            <a:endParaRPr lang="en-US" sz="160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pic>
        <p:nvPicPr>
          <p:cNvPr id="13" name="Picture 12" descr="Chart, histogram&#10;&#10;Description automatically generated">
            <a:extLst>
              <a:ext uri="{FF2B5EF4-FFF2-40B4-BE49-F238E27FC236}">
                <a16:creationId xmlns:a16="http://schemas.microsoft.com/office/drawing/2014/main" id="{E94DE0EA-98B2-C64E-9C29-19B0DF9892A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5007" y="3432811"/>
            <a:ext cx="2962910" cy="231838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7A2FA52-92D6-9146-843E-51E789CF85E8}"/>
              </a:ext>
            </a:extLst>
          </p:cNvPr>
          <p:cNvSpPr/>
          <p:nvPr/>
        </p:nvSpPr>
        <p:spPr>
          <a:xfrm>
            <a:off x="2948963" y="5796915"/>
            <a:ext cx="3190240" cy="424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Number of Text Messages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pic>
        <p:nvPicPr>
          <p:cNvPr id="15" name="Picture 14" descr="Chart, histogram&#10;&#10;Description automatically generated">
            <a:extLst>
              <a:ext uri="{FF2B5EF4-FFF2-40B4-BE49-F238E27FC236}">
                <a16:creationId xmlns:a16="http://schemas.microsoft.com/office/drawing/2014/main" id="{1E3EED7E-26C1-EF43-A9E2-46D64EEF6F3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6197" y="3429001"/>
            <a:ext cx="2956560" cy="237045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B1D8C54-E26D-0E41-A26F-B79BA12F4B33}"/>
              </a:ext>
            </a:extLst>
          </p:cNvPr>
          <p:cNvSpPr/>
          <p:nvPr/>
        </p:nvSpPr>
        <p:spPr>
          <a:xfrm>
            <a:off x="6444003" y="2941321"/>
            <a:ext cx="2404745" cy="4552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Seventh Graders</a:t>
            </a:r>
            <a:endParaRPr lang="en-US" sz="160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E5CDD7-6135-C944-AB3D-9D8114271848}"/>
              </a:ext>
            </a:extLst>
          </p:cNvPr>
          <p:cNvSpPr/>
          <p:nvPr/>
        </p:nvSpPr>
        <p:spPr>
          <a:xfrm>
            <a:off x="6226197" y="5797550"/>
            <a:ext cx="3190240" cy="424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Number of Text Messages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036C52CA-98E5-E74C-92B1-4C0491C0BB7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6668" y="394888"/>
            <a:ext cx="105156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4" indent="-449263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the shape of the histogram for the number of text messages sent in one week by sixth-grade students.</a:t>
            </a:r>
          </a:p>
          <a:p>
            <a:pPr marL="914400" indent="-449263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492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492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492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lvl="1" indent="-449263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Which group of students has the larger spread? </a:t>
            </a:r>
          </a:p>
          <a:p>
            <a:pPr marL="914400" indent="-4492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492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492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492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lvl="1" indent="-449263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if sixth graders or seventh graders tend to be more alike in terms of the number of text messages they send.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5BD76354-916A-3445-8D6E-8553FE0144E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68608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770632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D0D8EC8C-5C8B-7443-A080-AE10A76B805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3000" y="201168"/>
            <a:ext cx="8019300" cy="81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9.7.7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905256" y="1237977"/>
            <a:ext cx="10515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Place an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 the line to indicate your understanding of parts of analyzing a histogram. Then provide a brief explanation or evidence to support your self-assessment. 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describe the shape of a histogram.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describe gaps, outliers, and clusters in a histogram.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describe the spread of a data set given a histogram.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E35E392-3169-0440-97F7-B2A53AFB0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151493"/>
              </p:ext>
            </p:extLst>
          </p:nvPr>
        </p:nvGraphicFramePr>
        <p:xfrm>
          <a:off x="2519850" y="2918275"/>
          <a:ext cx="7428900" cy="498793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381406">
                  <a:extLst>
                    <a:ext uri="{9D8B030D-6E8A-4147-A177-3AD203B41FA5}">
                      <a16:colId xmlns:a16="http://schemas.microsoft.com/office/drawing/2014/main" val="2994759302"/>
                    </a:ext>
                  </a:extLst>
                </a:gridCol>
                <a:gridCol w="2570967">
                  <a:extLst>
                    <a:ext uri="{9D8B030D-6E8A-4147-A177-3AD203B41FA5}">
                      <a16:colId xmlns:a16="http://schemas.microsoft.com/office/drawing/2014/main" val="4048241307"/>
                    </a:ext>
                  </a:extLst>
                </a:gridCol>
                <a:gridCol w="2476527">
                  <a:extLst>
                    <a:ext uri="{9D8B030D-6E8A-4147-A177-3AD203B41FA5}">
                      <a16:colId xmlns:a16="http://schemas.microsoft.com/office/drawing/2014/main" val="2915726865"/>
                    </a:ext>
                  </a:extLst>
                </a:gridCol>
              </a:tblGrid>
              <a:tr h="337857">
                <a:tc>
                  <a:txBody>
                    <a:bodyPr/>
                    <a:lstStyle/>
                    <a:p>
                      <a:pPr marL="0" marR="5016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16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I need help.</a:t>
                      </a:r>
                    </a:p>
                    <a:p>
                      <a:pPr marL="0" marR="5016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16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I can’t get started.</a:t>
                      </a:r>
                      <a:endParaRPr lang="en-US" sz="1600" dirty="0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3429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16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I’m getting there.</a:t>
                      </a:r>
                      <a:endParaRPr lang="en-US" sz="1600" dirty="0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3429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16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I understand</a:t>
                      </a:r>
                    </a:p>
                    <a:p>
                      <a:pPr marL="0" marR="3429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16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and have evidence.</a:t>
                      </a:r>
                      <a:endParaRPr lang="en-US" sz="1600" dirty="0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16487676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7AF424F-4998-3842-9AE8-86CB37D41E75}"/>
              </a:ext>
            </a:extLst>
          </p:cNvPr>
          <p:cNvCxnSpPr/>
          <p:nvPr/>
        </p:nvCxnSpPr>
        <p:spPr>
          <a:xfrm>
            <a:off x="2970892" y="3564121"/>
            <a:ext cx="647573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227C672-DF72-B24D-A791-66C536A8F01B}"/>
              </a:ext>
            </a:extLst>
          </p:cNvPr>
          <p:cNvCxnSpPr/>
          <p:nvPr/>
        </p:nvCxnSpPr>
        <p:spPr>
          <a:xfrm>
            <a:off x="2970892" y="4815427"/>
            <a:ext cx="647573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34BA656-7CBD-574A-8A80-434A08D4939A}"/>
              </a:ext>
            </a:extLst>
          </p:cNvPr>
          <p:cNvCxnSpPr/>
          <p:nvPr/>
        </p:nvCxnSpPr>
        <p:spPr>
          <a:xfrm>
            <a:off x="2970892" y="6040175"/>
            <a:ext cx="647573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4D638FB4-C49F-3E47-9355-06B72F883E9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BB7F0C9-54EE-C342-B6D1-22C1F9318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795342"/>
              </p:ext>
            </p:extLst>
          </p:nvPr>
        </p:nvGraphicFramePr>
        <p:xfrm>
          <a:off x="2519850" y="4102868"/>
          <a:ext cx="7428900" cy="498793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381406">
                  <a:extLst>
                    <a:ext uri="{9D8B030D-6E8A-4147-A177-3AD203B41FA5}">
                      <a16:colId xmlns:a16="http://schemas.microsoft.com/office/drawing/2014/main" val="2994759302"/>
                    </a:ext>
                  </a:extLst>
                </a:gridCol>
                <a:gridCol w="2570967">
                  <a:extLst>
                    <a:ext uri="{9D8B030D-6E8A-4147-A177-3AD203B41FA5}">
                      <a16:colId xmlns:a16="http://schemas.microsoft.com/office/drawing/2014/main" val="4048241307"/>
                    </a:ext>
                  </a:extLst>
                </a:gridCol>
                <a:gridCol w="2476527">
                  <a:extLst>
                    <a:ext uri="{9D8B030D-6E8A-4147-A177-3AD203B41FA5}">
                      <a16:colId xmlns:a16="http://schemas.microsoft.com/office/drawing/2014/main" val="2915726865"/>
                    </a:ext>
                  </a:extLst>
                </a:gridCol>
              </a:tblGrid>
              <a:tr h="337857">
                <a:tc>
                  <a:txBody>
                    <a:bodyPr/>
                    <a:lstStyle/>
                    <a:p>
                      <a:pPr marL="0" marR="5016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16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I need help.</a:t>
                      </a:r>
                    </a:p>
                    <a:p>
                      <a:pPr marL="0" marR="5016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16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I can’t get started.</a:t>
                      </a:r>
                      <a:endParaRPr lang="en-US" sz="1600" dirty="0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3429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16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I’m getting there.</a:t>
                      </a:r>
                      <a:endParaRPr lang="en-US" sz="1600" dirty="0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3429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16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I understand</a:t>
                      </a:r>
                    </a:p>
                    <a:p>
                      <a:pPr marL="0" marR="3429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16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and have evidence.</a:t>
                      </a:r>
                      <a:endParaRPr lang="en-US" sz="1600" dirty="0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1648767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2A33AB5-443F-9B40-92D8-0B6C8032B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573000"/>
              </p:ext>
            </p:extLst>
          </p:nvPr>
        </p:nvGraphicFramePr>
        <p:xfrm>
          <a:off x="2381550" y="5378123"/>
          <a:ext cx="7428900" cy="498793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381406">
                  <a:extLst>
                    <a:ext uri="{9D8B030D-6E8A-4147-A177-3AD203B41FA5}">
                      <a16:colId xmlns:a16="http://schemas.microsoft.com/office/drawing/2014/main" val="2994759302"/>
                    </a:ext>
                  </a:extLst>
                </a:gridCol>
                <a:gridCol w="2570967">
                  <a:extLst>
                    <a:ext uri="{9D8B030D-6E8A-4147-A177-3AD203B41FA5}">
                      <a16:colId xmlns:a16="http://schemas.microsoft.com/office/drawing/2014/main" val="4048241307"/>
                    </a:ext>
                  </a:extLst>
                </a:gridCol>
                <a:gridCol w="2476527">
                  <a:extLst>
                    <a:ext uri="{9D8B030D-6E8A-4147-A177-3AD203B41FA5}">
                      <a16:colId xmlns:a16="http://schemas.microsoft.com/office/drawing/2014/main" val="2915726865"/>
                    </a:ext>
                  </a:extLst>
                </a:gridCol>
              </a:tblGrid>
              <a:tr h="337857">
                <a:tc>
                  <a:txBody>
                    <a:bodyPr/>
                    <a:lstStyle/>
                    <a:p>
                      <a:pPr marL="0" marR="5016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16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I need help.</a:t>
                      </a:r>
                    </a:p>
                    <a:p>
                      <a:pPr marL="0" marR="5016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16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I can’t get started.</a:t>
                      </a:r>
                      <a:endParaRPr lang="en-US" sz="1600" dirty="0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3429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16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I’m getting there.</a:t>
                      </a:r>
                      <a:endParaRPr lang="en-US" sz="1600" dirty="0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3429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16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I understand</a:t>
                      </a:r>
                    </a:p>
                    <a:p>
                      <a:pPr marL="0" marR="3429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16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and have evidence.</a:t>
                      </a:r>
                      <a:endParaRPr lang="en-US" sz="1600" dirty="0">
                        <a:effectLst/>
                        <a:latin typeface="Verdana" pitchFamily="34" charset="0"/>
                        <a:ea typeface="Verdana" pitchFamily="34" charset="0"/>
                        <a:cs typeface="Cambria Math" panose="02040503050406030204" pitchFamily="18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16487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4" ma:contentTypeDescription="Create a new document." ma:contentTypeScope="" ma:versionID="c6de188039f2115276cd22936a35b493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3d1530f6c55cd2fbfcc1e1abc0d9cffe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6E9697B-F451-48B2-9F01-6C3CF66F4B9E}">
  <ds:schemaRefs>
    <ds:schemaRef ds:uri="http://schemas.microsoft.com/office/2006/metadata/properties"/>
    <ds:schemaRef ds:uri="http://schemas.microsoft.com/office/infopath/2007/PartnerControls"/>
    <ds:schemaRef ds:uri="c8f36ed4-5234-49bf-a7f7-5f171c3a2f56"/>
    <ds:schemaRef ds:uri="aecc3118-db6a-47b0-8115-3eb3ee12f279"/>
  </ds:schemaRefs>
</ds:datastoreItem>
</file>

<file path=customXml/itemProps2.xml><?xml version="1.0" encoding="utf-8"?>
<ds:datastoreItem xmlns:ds="http://schemas.openxmlformats.org/officeDocument/2006/customXml" ds:itemID="{D8E964E0-156E-4521-AD4D-E6DC98CC3F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F6631E-7095-450A-922E-0FF13926CE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f36ed4-5234-49bf-a7f7-5f171c3a2f56"/>
    <ds:schemaRef ds:uri="aecc3118-db6a-47b0-8115-3eb3ee12f2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1455</TotalTime>
  <Words>1586</Words>
  <Application>Microsoft Office PowerPoint</Application>
  <PresentationFormat>Widescreen</PresentationFormat>
  <Paragraphs>374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8" baseType="lpstr">
      <vt:lpstr>Courier New</vt:lpstr>
      <vt:lpstr>Calibri</vt:lpstr>
      <vt:lpstr>Arial</vt:lpstr>
      <vt:lpstr>Century Gothic</vt:lpstr>
      <vt:lpstr>Cambria Math</vt:lpstr>
      <vt:lpstr>Arial Black</vt:lpstr>
      <vt:lpstr>Verdana</vt:lpstr>
      <vt:lpstr>Wingdings</vt:lpstr>
      <vt:lpstr>1_Office Theme</vt:lpstr>
      <vt:lpstr>6th Grade Math  Unit 9, Lesson 7  Describing and Interpreting Histograms –  Part 2  Volume 2, pg. 179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vaanmx</cp:lastModifiedBy>
  <cp:revision>31</cp:revision>
  <dcterms:created xsi:type="dcterms:W3CDTF">2015-03-17T18:51:18Z</dcterms:created>
  <dcterms:modified xsi:type="dcterms:W3CDTF">2023-07-07T04:35:20Z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  <property fmtid="{D5CDD505-2E9C-101B-9397-08002B2CF9AE}" pid="3" name="MediaServiceImageTags">
    <vt:lpwstr/>
  </property>
</Properties>
</file>