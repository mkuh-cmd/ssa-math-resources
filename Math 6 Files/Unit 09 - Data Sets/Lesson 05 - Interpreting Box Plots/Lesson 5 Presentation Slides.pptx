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1"/>
  </p:notesMasterIdLst>
  <p:sldIdLst>
    <p:sldId id="256" r:id="rId5"/>
    <p:sldId id="257" r:id="rId6"/>
    <p:sldId id="285" r:id="rId7"/>
    <p:sldId id="286" r:id="rId8"/>
    <p:sldId id="261" r:id="rId9"/>
    <p:sldId id="287" r:id="rId10"/>
    <p:sldId id="311" r:id="rId11"/>
    <p:sldId id="312" r:id="rId12"/>
    <p:sldId id="353" r:id="rId13"/>
    <p:sldId id="362" r:id="rId14"/>
    <p:sldId id="363" r:id="rId15"/>
    <p:sldId id="364" r:id="rId16"/>
    <p:sldId id="289" r:id="rId17"/>
    <p:sldId id="290" r:id="rId18"/>
    <p:sldId id="366" r:id="rId19"/>
    <p:sldId id="356" r:id="rId20"/>
    <p:sldId id="367" r:id="rId21"/>
    <p:sldId id="365" r:id="rId22"/>
    <p:sldId id="373" r:id="rId23"/>
    <p:sldId id="368" r:id="rId24"/>
    <p:sldId id="323" r:id="rId25"/>
    <p:sldId id="324" r:id="rId26"/>
    <p:sldId id="357" r:id="rId27"/>
    <p:sldId id="320" r:id="rId28"/>
    <p:sldId id="321" r:id="rId29"/>
    <p:sldId id="355" r:id="rId30"/>
    <p:sldId id="374" r:id="rId31"/>
    <p:sldId id="370" r:id="rId32"/>
    <p:sldId id="302" r:id="rId33"/>
    <p:sldId id="303" r:id="rId34"/>
    <p:sldId id="375" r:id="rId35"/>
    <p:sldId id="360" r:id="rId36"/>
    <p:sldId id="371" r:id="rId37"/>
    <p:sldId id="372" r:id="rId38"/>
    <p:sldId id="306" r:id="rId39"/>
    <p:sldId id="307" r:id="rId40"/>
  </p:sldIdLst>
  <p:sldSz cx="12192000" cy="6858000"/>
  <p:notesSz cx="6858000" cy="9144000"/>
  <p:embeddedFontLst>
    <p:embeddedFont>
      <p:font typeface="Arial Black" panose="020B0A04020102020204" pitchFamily="34" charset="0"/>
      <p:bold r:id="rId42"/>
    </p:embeddedFont>
    <p:embeddedFont>
      <p:font typeface="Calibri" panose="020F0502020204030204" pitchFamily="34" charset="0"/>
      <p:regular r:id="rId43"/>
      <p:bold r:id="rId44"/>
      <p:italic r:id="rId45"/>
      <p:boldItalic r:id="rId46"/>
    </p:embeddedFont>
    <p:embeddedFont>
      <p:font typeface="Cambria Math" panose="02040503050406030204" pitchFamily="18" charset="0"/>
      <p:regular r:id="rId47"/>
    </p:embeddedFont>
    <p:embeddedFont>
      <p:font typeface="Century Gothic" panose="020B0502020202020204" pitchFamily="34" charset="0"/>
      <p:regular r:id="rId48"/>
      <p:bold r:id="rId49"/>
      <p:italic r:id="rId50"/>
      <p:boldItalic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33" autoAdjust="0"/>
    <p:restoredTop sz="94737" autoAdjust="0"/>
  </p:normalViewPr>
  <p:slideViewPr>
    <p:cSldViewPr snapToGrid="0">
      <p:cViewPr varScale="1">
        <p:scale>
          <a:sx n="60" d="100"/>
          <a:sy n="60" d="100"/>
        </p:scale>
        <p:origin x="78"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59"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54"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437759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79096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791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7876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223992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696586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79731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719161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216092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850632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2708905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41907967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603279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32907112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949384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30312422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tiff"/><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6.tiff"/><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2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6.tiff"/></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5.tiff"/><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28.tiff"/><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9.tiff"/></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29.tiff"/></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30.tiff"/><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33.tiff"/><Relationship Id="rId5" Type="http://schemas.openxmlformats.org/officeDocument/2006/relationships/image" Target="../media/image34.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33.tiff"/></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33.tiff"/></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34.tiff"/></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34.tiff"/></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8.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Interpreting Box Plots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166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05255" y="1600200"/>
            <a:ext cx="1052003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rPr>
              <a:t>MA.6.DP.1.3 </a:t>
            </a:r>
            <a:endParaRPr lang="en-US" sz="2400" dirty="0">
              <a:solidFill>
                <a:schemeClr val="tx1"/>
              </a:solidFill>
              <a:latin typeface="Verdana"/>
              <a:ea typeface="Verdana"/>
              <a:cs typeface="Verdana"/>
              <a:sym typeface="Verdana"/>
            </a:endParaRPr>
          </a:p>
          <a:p>
            <a:pPr indent="0">
              <a:buNone/>
            </a:pPr>
            <a:r>
              <a:rPr lang="en-US" sz="2400" dirty="0">
                <a:solidFill>
                  <a:schemeClr val="tx1"/>
                </a:solidFill>
                <a:latin typeface="Verdana"/>
                <a:ea typeface="Verdana"/>
                <a:cs typeface="Verdana"/>
              </a:rPr>
              <a:t>Given a box plot within a real-world context, determine the minimum, the lower quartile, the median, the upper quartile, and the maximum. Use this summary of the data to describe the spread and distribution of the data. </a:t>
            </a:r>
            <a:endParaRPr lang="en-US" sz="2400" dirty="0">
              <a:solidFill>
                <a:schemeClr val="tx1"/>
              </a:solidFill>
              <a:latin typeface="Verdana"/>
              <a:ea typeface="Verdana"/>
              <a:cs typeface="Verdana"/>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2999" y="129667"/>
            <a:ext cx="105179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05255" y="1596390"/>
            <a:ext cx="105179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a16="http://schemas.microsoft.com/office/drawing/2014/main" id="{B19E53AD-BBDA-414F-958D-FC7283E133E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7715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05256" y="1600200"/>
            <a:ext cx="1053888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9250" indent="-342900">
              <a:buClr>
                <a:srgbClr val="434343"/>
              </a:buClr>
              <a:buSzPct val="100000"/>
              <a:buFont typeface="Wingdings" pitchFamily="2" charset="2"/>
              <a:buChar char="q"/>
            </a:pPr>
            <a:r>
              <a:rPr lang="en-US" sz="2400" dirty="0">
                <a:solidFill>
                  <a:schemeClr val="tx1"/>
                </a:solidFill>
                <a:latin typeface="Verdana"/>
                <a:ea typeface="Verdana"/>
                <a:cs typeface="Verdana"/>
              </a:rPr>
              <a:t>I can determine the minimum, lower quartile, median, upper quartile, and maximum from a box plot.</a:t>
            </a:r>
          </a:p>
          <a:p>
            <a:pPr marL="349250" indent="-342900">
              <a:buClr>
                <a:srgbClr val="434343"/>
              </a:buClr>
              <a:buSzPct val="100000"/>
              <a:buFont typeface="Wingdings" pitchFamily="2" charset="2"/>
              <a:buChar char="q"/>
            </a:pPr>
            <a:endParaRPr lang="en-US" sz="2400" dirty="0">
              <a:solidFill>
                <a:schemeClr val="tx1"/>
              </a:solidFill>
              <a:latin typeface="Verdana"/>
              <a:ea typeface="Verdana"/>
              <a:cs typeface="Verdana"/>
              <a:sym typeface="Verdana"/>
            </a:endParaRPr>
          </a:p>
          <a:p>
            <a:pPr marL="349250" indent="-342900">
              <a:buClr>
                <a:srgbClr val="434343"/>
              </a:buClr>
              <a:buSzPct val="100000"/>
              <a:buFont typeface="Wingdings" pitchFamily="2" charset="2"/>
              <a:buChar char="q"/>
            </a:pPr>
            <a:r>
              <a:rPr lang="en-US" sz="2400" dirty="0">
                <a:solidFill>
                  <a:schemeClr val="tx1"/>
                </a:solidFill>
                <a:latin typeface="Verdana"/>
                <a:ea typeface="Verdana"/>
                <a:cs typeface="Verdana"/>
              </a:rPr>
              <a:t>I can determine the interquartile range from a box plot.</a:t>
            </a:r>
          </a:p>
          <a:p>
            <a:pPr marL="349250" indent="-342900">
              <a:buClr>
                <a:srgbClr val="434343"/>
              </a:buClr>
              <a:buSzPct val="100000"/>
              <a:buFont typeface="Wingdings" pitchFamily="2" charset="2"/>
              <a:buChar char="q"/>
            </a:pPr>
            <a:endParaRPr lang="en-US" sz="2400" dirty="0">
              <a:solidFill>
                <a:schemeClr val="tx1"/>
              </a:solidFill>
              <a:latin typeface="Verdana"/>
              <a:ea typeface="Verdana"/>
              <a:cs typeface="Verdana"/>
            </a:endParaRPr>
          </a:p>
          <a:p>
            <a:pPr marL="349250" indent="-342900">
              <a:buClr>
                <a:srgbClr val="434343"/>
              </a:buClr>
              <a:buSzPct val="100000"/>
              <a:buFont typeface="Wingdings" pitchFamily="2" charset="2"/>
              <a:buChar char="q"/>
            </a:pPr>
            <a:r>
              <a:rPr lang="en-US" sz="2400" dirty="0">
                <a:solidFill>
                  <a:schemeClr val="tx1"/>
                </a:solidFill>
                <a:latin typeface="Verdana"/>
                <a:ea typeface="Verdana"/>
                <a:cs typeface="Verdana"/>
              </a:rPr>
              <a:t>I can describe the spread and distribution of data from a box plot.</a:t>
            </a:r>
          </a:p>
          <a:p>
            <a:pPr marL="349250" indent="-342900">
              <a:buClr>
                <a:srgbClr val="434343"/>
              </a:buClr>
              <a:buSzPct val="100000"/>
              <a:buFont typeface="Wingdings" pitchFamily="2" charset="2"/>
              <a:buChar char="q"/>
            </a:pPr>
            <a:endParaRPr lang="en-US" sz="2400" dirty="0">
              <a:solidFill>
                <a:schemeClr val="tx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D38549F1-43CA-EE4C-907B-36E1345692F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770632"/>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4008"/>
            <a:ext cx="1050853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9.5.1 Warm-Up: </a:t>
            </a:r>
            <a:r>
              <a:rPr lang="en-US" sz="3600" b="1" dirty="0">
                <a:solidFill>
                  <a:srgbClr val="3F2A67"/>
                </a:solidFill>
                <a:latin typeface="Verdana"/>
                <a:ea typeface="Verdana"/>
                <a:cs typeface="Verdana"/>
              </a:rPr>
              <a:t>Which One Doesn’t Belong? </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905255" y="1386025"/>
            <a:ext cx="10508529"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Examine the four numbers.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Which of these numbers does not belong? Explain your thinking.</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BA78836-CE23-3E4E-ABCA-F3E675494AD4}"/>
                  </a:ext>
                </a:extLst>
              </p:cNvPr>
              <p:cNvGraphicFramePr>
                <a:graphicFrameLocks noGrp="1"/>
              </p:cNvGraphicFramePr>
              <p:nvPr>
                <p:extLst>
                  <p:ext uri="{D42A27DB-BD31-4B8C-83A1-F6EECF244321}">
                    <p14:modId xmlns:p14="http://schemas.microsoft.com/office/powerpoint/2010/main" val="2878291765"/>
                  </p:ext>
                </p:extLst>
              </p:nvPr>
            </p:nvGraphicFramePr>
            <p:xfrm>
              <a:off x="3779437" y="2120479"/>
              <a:ext cx="4633126" cy="1983536"/>
            </p:xfrm>
            <a:graphic>
              <a:graphicData uri="http://schemas.openxmlformats.org/drawingml/2006/table">
                <a:tbl>
                  <a:tblPr bandRow="1">
                    <a:tableStyleId>{A91F0D33-8C57-4600-99A7-42BC86742BE1}</a:tableStyleId>
                  </a:tblPr>
                  <a:tblGrid>
                    <a:gridCol w="2316563">
                      <a:extLst>
                        <a:ext uri="{9D8B030D-6E8A-4147-A177-3AD203B41FA5}">
                          <a16:colId xmlns:a16="http://schemas.microsoft.com/office/drawing/2014/main" val="4140684232"/>
                        </a:ext>
                      </a:extLst>
                    </a:gridCol>
                    <a:gridCol w="2316563">
                      <a:extLst>
                        <a:ext uri="{9D8B030D-6E8A-4147-A177-3AD203B41FA5}">
                          <a16:colId xmlns:a16="http://schemas.microsoft.com/office/drawing/2014/main" val="1054680696"/>
                        </a:ext>
                      </a:extLst>
                    </a:gridCol>
                  </a:tblGrid>
                  <a:tr h="968950">
                    <a:tc>
                      <a:txBody>
                        <a:bodyPr/>
                        <a:lstStyle/>
                        <a:p>
                          <a:pPr marL="0" marR="0" algn="ctr">
                            <a:lnSpc>
                              <a:spcPct val="107000"/>
                            </a:lnSpc>
                            <a:spcBef>
                              <a:spcPts val="0"/>
                            </a:spcBef>
                            <a:spcAft>
                              <a:spcPts val="800"/>
                            </a:spcAft>
                          </a:pPr>
                          <a:r>
                            <a:rPr lang="en-US" sz="2100" dirty="0">
                              <a:effectLst/>
                            </a:rPr>
                            <a:t>33%</a:t>
                          </a:r>
                          <a:endParaRPr lang="en-US" sz="1300" dirty="0">
                            <a:effectLst/>
                            <a:latin typeface="Calibri" panose="020F0502020204030204" pitchFamily="34" charset="0"/>
                            <a:ea typeface="Times New Roman" panose="02020603050405020304" pitchFamily="18" charset="0"/>
                          </a:endParaRPr>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2100" i="1">
                                        <a:effectLst/>
                                        <a:latin typeface="Cambria Math" panose="02040503050406030204" pitchFamily="18" charset="0"/>
                                      </a:rPr>
                                    </m:ctrlPr>
                                  </m:fPr>
                                  <m:num>
                                    <m:r>
                                      <a:rPr lang="en-US" sz="2100">
                                        <a:effectLst/>
                                        <a:latin typeface="Cambria Math" panose="02040503050406030204" pitchFamily="18" charset="0"/>
                                      </a:rPr>
                                      <m:t>1</m:t>
                                    </m:r>
                                  </m:num>
                                  <m:den>
                                    <m:r>
                                      <a:rPr lang="en-US" sz="2100">
                                        <a:effectLst/>
                                        <a:latin typeface="Cambria Math" panose="02040503050406030204" pitchFamily="18" charset="0"/>
                                      </a:rPr>
                                      <m:t>3</m:t>
                                    </m:r>
                                  </m:den>
                                </m:f>
                              </m:oMath>
                            </m:oMathPara>
                          </a14:m>
                          <a:endParaRPr lang="en-US" sz="1300" dirty="0">
                            <a:effectLst/>
                            <a:latin typeface="Calibri" panose="020F0502020204030204" pitchFamily="34" charset="0"/>
                            <a:ea typeface="Times New Roman" panose="02020603050405020304" pitchFamily="18" charset="0"/>
                          </a:endParaRPr>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725285"/>
                      </a:ext>
                    </a:extLst>
                  </a:tr>
                  <a:tr h="1014586">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2100" i="1">
                                        <a:effectLst/>
                                        <a:latin typeface="Cambria Math" panose="02040503050406030204" pitchFamily="18" charset="0"/>
                                      </a:rPr>
                                    </m:ctrlPr>
                                  </m:fPr>
                                  <m:num>
                                    <m:r>
                                      <a:rPr lang="en-US" sz="2100">
                                        <a:effectLst/>
                                        <a:latin typeface="Cambria Math" panose="02040503050406030204" pitchFamily="18" charset="0"/>
                                      </a:rPr>
                                      <m:t>5</m:t>
                                    </m:r>
                                  </m:num>
                                  <m:den>
                                    <m:r>
                                      <a:rPr lang="en-US" sz="2100">
                                        <a:effectLst/>
                                        <a:latin typeface="Cambria Math" panose="02040503050406030204" pitchFamily="18" charset="0"/>
                                      </a:rPr>
                                      <m:t>3</m:t>
                                    </m:r>
                                  </m:den>
                                </m:f>
                              </m:oMath>
                            </m:oMathPara>
                          </a14:m>
                          <a:endParaRPr lang="en-US" sz="1300">
                            <a:effectLst/>
                            <a:latin typeface="Calibri" panose="020F0502020204030204" pitchFamily="34" charset="0"/>
                            <a:ea typeface="Times New Roman" panose="02020603050405020304" pitchFamily="18" charset="0"/>
                          </a:endParaRPr>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100">
                                    <a:effectLst/>
                                    <a:latin typeface="Cambria Math" panose="02040503050406030204" pitchFamily="18" charset="0"/>
                                  </a:rPr>
                                  <m:t>0.</m:t>
                                </m:r>
                                <m:acc>
                                  <m:accPr>
                                    <m:chr m:val="̅"/>
                                    <m:ctrlPr>
                                      <a:rPr lang="en-US" sz="2100" i="1">
                                        <a:effectLst/>
                                        <a:latin typeface="Cambria Math" panose="02040503050406030204" pitchFamily="18" charset="0"/>
                                      </a:rPr>
                                    </m:ctrlPr>
                                  </m:accPr>
                                  <m:e>
                                    <m:r>
                                      <a:rPr lang="en-US" sz="2100">
                                        <a:effectLst/>
                                        <a:latin typeface="Cambria Math" panose="02040503050406030204" pitchFamily="18" charset="0"/>
                                      </a:rPr>
                                      <m:t>6</m:t>
                                    </m:r>
                                  </m:e>
                                </m:acc>
                              </m:oMath>
                            </m:oMathPara>
                          </a14:m>
                          <a:endParaRPr lang="en-US" sz="1300" dirty="0">
                            <a:effectLst/>
                            <a:latin typeface="Calibri" panose="020F0502020204030204" pitchFamily="34" charset="0"/>
                            <a:ea typeface="Times New Roman" panose="02020603050405020304" pitchFamily="18" charset="0"/>
                          </a:endParaRPr>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0415683"/>
                      </a:ext>
                    </a:extLst>
                  </a:tr>
                </a:tbl>
              </a:graphicData>
            </a:graphic>
          </p:graphicFrame>
        </mc:Choice>
        <mc:Fallback xmlns="">
          <p:graphicFrame>
            <p:nvGraphicFramePr>
              <p:cNvPr id="3" name="Table 2">
                <a:extLst>
                  <a:ext uri="{FF2B5EF4-FFF2-40B4-BE49-F238E27FC236}">
                    <a16:creationId xmlns:a16="http://schemas.microsoft.com/office/drawing/2014/main" id="{EBA78836-CE23-3E4E-ABCA-F3E675494AD4}"/>
                  </a:ext>
                </a:extLst>
              </p:cNvPr>
              <p:cNvGraphicFramePr>
                <a:graphicFrameLocks noGrp="1"/>
              </p:cNvGraphicFramePr>
              <p:nvPr>
                <p:extLst>
                  <p:ext uri="{D42A27DB-BD31-4B8C-83A1-F6EECF244321}">
                    <p14:modId xmlns:p14="http://schemas.microsoft.com/office/powerpoint/2010/main" val="2878291765"/>
                  </p:ext>
                </p:extLst>
              </p:nvPr>
            </p:nvGraphicFramePr>
            <p:xfrm>
              <a:off x="3779437" y="2120479"/>
              <a:ext cx="4633126" cy="1983536"/>
            </p:xfrm>
            <a:graphic>
              <a:graphicData uri="http://schemas.openxmlformats.org/drawingml/2006/table">
                <a:tbl>
                  <a:tblPr bandRow="1">
                    <a:tableStyleId>{A91F0D33-8C57-4600-99A7-42BC86742BE1}</a:tableStyleId>
                  </a:tblPr>
                  <a:tblGrid>
                    <a:gridCol w="2316563">
                      <a:extLst>
                        <a:ext uri="{9D8B030D-6E8A-4147-A177-3AD203B41FA5}">
                          <a16:colId xmlns:a16="http://schemas.microsoft.com/office/drawing/2014/main" val="4140684232"/>
                        </a:ext>
                      </a:extLst>
                    </a:gridCol>
                    <a:gridCol w="2316563">
                      <a:extLst>
                        <a:ext uri="{9D8B030D-6E8A-4147-A177-3AD203B41FA5}">
                          <a16:colId xmlns:a16="http://schemas.microsoft.com/office/drawing/2014/main" val="1054680696"/>
                        </a:ext>
                      </a:extLst>
                    </a:gridCol>
                  </a:tblGrid>
                  <a:tr h="968950">
                    <a:tc>
                      <a:txBody>
                        <a:bodyPr/>
                        <a:lstStyle/>
                        <a:p>
                          <a:pPr marL="0" marR="0" algn="ctr">
                            <a:lnSpc>
                              <a:spcPct val="107000"/>
                            </a:lnSpc>
                            <a:spcBef>
                              <a:spcPts val="0"/>
                            </a:spcBef>
                            <a:spcAft>
                              <a:spcPts val="800"/>
                            </a:spcAft>
                          </a:pPr>
                          <a:r>
                            <a:rPr lang="en-US" sz="2100">
                              <a:effectLst/>
                            </a:rPr>
                            <a:t>33%</a:t>
                          </a:r>
                          <a:endParaRPr lang="en-US" sz="1300">
                            <a:effectLst/>
                            <a:latin typeface="Calibri" panose="020F0502020204030204" pitchFamily="34" charset="0"/>
                            <a:ea typeface="Times New Roman" panose="02020603050405020304" pitchFamily="18" charset="0"/>
                          </a:endParaRPr>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546" r="-546" b="-106494"/>
                          </a:stretch>
                        </a:blipFill>
                      </a:tcPr>
                    </a:tc>
                    <a:extLst>
                      <a:ext uri="{0D108BD9-81ED-4DB2-BD59-A6C34878D82A}">
                        <a16:rowId xmlns:a16="http://schemas.microsoft.com/office/drawing/2014/main" val="2713725285"/>
                      </a:ext>
                    </a:extLst>
                  </a:tr>
                  <a:tr h="1014586">
                    <a:tc>
                      <a:txBody>
                        <a:bodyPr/>
                        <a:lstStyle/>
                        <a:p>
                          <a:endParaRPr lang="en-US"/>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546" t="-95062" r="-100546" b="-1235"/>
                          </a:stretch>
                        </a:blipFill>
                      </a:tcPr>
                    </a:tc>
                    <a:tc>
                      <a:txBody>
                        <a:bodyPr/>
                        <a:lstStyle/>
                        <a:p>
                          <a:endParaRPr lang="en-US"/>
                        </a:p>
                      </a:txBody>
                      <a:tcPr marL="79236" marR="792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546" t="-95062" r="-546" b="-1235"/>
                          </a:stretch>
                        </a:blipFill>
                      </a:tcPr>
                    </a:tc>
                    <a:extLst>
                      <a:ext uri="{0D108BD9-81ED-4DB2-BD59-A6C34878D82A}">
                        <a16:rowId xmlns:a16="http://schemas.microsoft.com/office/drawing/2014/main" val="880415683"/>
                      </a:ext>
                    </a:extLst>
                  </a:tr>
                </a:tbl>
              </a:graphicData>
            </a:graphic>
          </p:graphicFrame>
        </mc:Fallback>
      </mc:AlternateContent>
      <p:sp>
        <p:nvSpPr>
          <p:cNvPr id="9" name="Google Shape;282;g104476d1465_1_17">
            <a:extLst>
              <a:ext uri="{FF2B5EF4-FFF2-40B4-BE49-F238E27FC236}">
                <a16:creationId xmlns:a16="http://schemas.microsoft.com/office/drawing/2014/main" id="{572F3DF9-FEC8-3345-AE66-01BB094F5B77}"/>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70632"/>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70632"/>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6360B032-2682-564C-9F5D-A30BF5727A6A}"/>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p>
        </p:txBody>
      </p:sp>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598"/>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2999" y="64008"/>
            <a:ext cx="10546237" cy="11433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9.5.2 Exploration: </a:t>
            </a:r>
            <a:r>
              <a:rPr lang="en-US" sz="3600" b="1" dirty="0">
                <a:solidFill>
                  <a:srgbClr val="33BEA6"/>
                </a:solidFill>
                <a:latin typeface="Verdana"/>
                <a:ea typeface="Verdana"/>
                <a:cs typeface="Verdana"/>
              </a:rPr>
              <a:t>Exploring Box Plots </a:t>
            </a:r>
            <a:endParaRPr lang="en-US" sz="3600" b="1" dirty="0">
              <a:solidFill>
                <a:srgbClr val="33BEA6"/>
              </a:solidFill>
              <a:latin typeface="Verdana"/>
              <a:ea typeface="Verdana"/>
              <a:cs typeface="Verdana"/>
              <a:sym typeface="Verdana"/>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14638" y="1386025"/>
                <a:ext cx="10546237"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farmer recorded the number of eggs her hens laid in one week. The data set was the total number of eggs each of her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53</m:t>
                    </m:r>
                  </m:oMath>
                </a14:m>
                <a:r>
                  <a:rPr lang="en-US" sz="2400" dirty="0">
                    <a:latin typeface="Verdana" panose="020B0604030504040204" pitchFamily="34" charset="0"/>
                    <a:ea typeface="Verdana" panose="020B0604030504040204" pitchFamily="34" charset="0"/>
                    <a:cs typeface="Verdana" panose="020B0604030504040204" pitchFamily="34" charset="0"/>
                  </a:rPr>
                  <a:t> hens laid during the week. Below is a box plot representing the number of eggs laid by each hen during the week.</a:t>
                </a:r>
              </a:p>
              <a:p>
                <a:pPr algn="ctr"/>
                <a:r>
                  <a:rPr lang="en-US" sz="2400" dirty="0">
                    <a:latin typeface="Verdana" panose="020B0604030504040204" pitchFamily="34" charset="0"/>
                    <a:ea typeface="Verdana" panose="020B0604030504040204" pitchFamily="34" charset="0"/>
                    <a:cs typeface="Verdana" panose="020B0604030504040204" pitchFamily="34" charset="0"/>
                  </a:rPr>
                  <a:t> </a:t>
                </a:r>
              </a:p>
              <a:p>
                <a:pPr algn="ctr"/>
                <a:r>
                  <a:rPr lang="en-US" sz="2400" b="1" dirty="0">
                    <a:latin typeface="Verdana" panose="020B0604030504040204" pitchFamily="34" charset="0"/>
                    <a:ea typeface="Verdana" panose="020B0604030504040204" pitchFamily="34" charset="0"/>
                    <a:cs typeface="Verdana" panose="020B0604030504040204" pitchFamily="34" charset="0"/>
                  </a:rPr>
                  <a:t>Number of Eggs Laid </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 xmlns:a16="http://schemas.microsoft.com/office/drawing/2014/main" xmlns:a14="http://schemas.microsoft.com/office/drawing/2010/main" id="{152D1D4D-DCB8-A246-B186-D40316579D77}"/>
                  </a:ext>
                </a:extLst>
              </p:cNvPr>
              <p:cNvSpPr txBox="1">
                <a:spLocks noRot="1" noChangeAspect="1" noMove="1" noResize="1" noEditPoints="1" noAdjustHandles="1" noChangeArrowheads="1" noChangeShapeType="1" noTextEdit="1"/>
              </p:cNvSpPr>
              <p:nvPr/>
            </p:nvSpPr>
            <p:spPr>
              <a:xfrm>
                <a:off x="514638" y="1386025"/>
                <a:ext cx="10546237" cy="2677656"/>
              </a:xfrm>
              <a:prstGeom prst="rect">
                <a:avLst/>
              </a:prstGeom>
              <a:blipFill rotWithShape="1">
                <a:blip r:embed="rId5"/>
                <a:stretch>
                  <a:fillRect l="-867" t="-1818" r="-405"/>
                </a:stretch>
              </a:blipFill>
            </p:spPr>
            <p:txBody>
              <a:bodyPr/>
              <a:lstStyle/>
              <a:p>
                <a:r>
                  <a:rPr lang="en-PH">
                    <a:noFill/>
                  </a:rPr>
                  <a:t> </a:t>
                </a:r>
              </a:p>
            </p:txBody>
          </p:sp>
        </mc:Fallback>
      </mc:AlternateContent>
      <p:pic>
        <p:nvPicPr>
          <p:cNvPr id="11" name="Picture 10" descr="Chart, box and whisker chart&#10;&#10;Description automatically generated">
            <a:extLst>
              <a:ext uri="{FF2B5EF4-FFF2-40B4-BE49-F238E27FC236}">
                <a16:creationId xmlns:a16="http://schemas.microsoft.com/office/drawing/2014/main" id="{A9E616C7-7F4A-734F-BBCA-18B94DE43368}"/>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15189" b="55580"/>
          <a:stretch/>
        </p:blipFill>
        <p:spPr bwMode="auto">
          <a:xfrm>
            <a:off x="2464279" y="3783703"/>
            <a:ext cx="6945630" cy="2040255"/>
          </a:xfrm>
          <a:prstGeom prst="rect">
            <a:avLst/>
          </a:prstGeom>
          <a:ln>
            <a:noFill/>
          </a:ln>
          <a:extLst>
            <a:ext uri="{53640926-AAD7-44D8-BBD7-CCE9431645EC}">
              <a14:shadowObscured xmlns:a14="http://schemas.microsoft.com/office/drawing/2010/main"/>
            </a:ext>
          </a:extLst>
        </p:spPr>
      </p:pic>
      <p:sp>
        <p:nvSpPr>
          <p:cNvPr id="9" name="Google Shape;282;g104476d1465_1_17">
            <a:extLst>
              <a:ext uri="{FF2B5EF4-FFF2-40B4-BE49-F238E27FC236}">
                <a16:creationId xmlns:a16="http://schemas.microsoft.com/office/drawing/2014/main" id="{FCF4D5B1-1754-D44B-AAF9-7A62D5BD0A28}"/>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596300" y="436417"/>
            <a:ext cx="11216209" cy="5262979"/>
          </a:xfrm>
          <a:prstGeom prst="rect">
            <a:avLst/>
          </a:prstGeom>
          <a:noFill/>
        </p:spPr>
        <p:txBody>
          <a:bodyPr wrap="square" rtlCol="0">
            <a:spAutoFit/>
          </a:bodyPr>
          <a:lstStyle/>
          <a:p>
            <a:pPr marL="466725"/>
            <a:r>
              <a:rPr lang="en-US" sz="2400" dirty="0">
                <a:latin typeface="Verdana" panose="020B0604030504040204" pitchFamily="34" charset="0"/>
                <a:ea typeface="Verdana" panose="020B0604030504040204" pitchFamily="34" charset="0"/>
                <a:cs typeface="Verdana" panose="020B0604030504040204" pitchFamily="34" charset="0"/>
              </a:rPr>
              <a:t>With your partner, use the box plot to complete the statements.</a:t>
            </a:r>
          </a:p>
          <a:p>
            <a:pPr marL="922338" indent="-455613"/>
            <a:r>
              <a:rPr lang="en-US" sz="2400" dirty="0">
                <a:latin typeface="Verdana" panose="020B0604030504040204" pitchFamily="34" charset="0"/>
                <a:ea typeface="Verdana" panose="020B0604030504040204" pitchFamily="34" charset="0"/>
                <a:cs typeface="Verdana" panose="020B0604030504040204" pitchFamily="34" charset="0"/>
              </a:rPr>
              <a:t> </a:t>
            </a: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smallest number of eggs laid by the hens is ______. </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largest number of eggs laid by the hens is ______.</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Find another pair of partners and compare the smallest and largest number of eggs laid. Discuss how you determined the values from the box plot. If your values are different, come to a consensus on the smallest and largest number of eggs laid by the hen, and circle these values on the box plot.</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FCF4D5B1-1754-D44B-AAF9-7A62D5BD0A28}"/>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p>
        </p:txBody>
      </p:sp>
    </p:spTree>
    <p:extLst>
      <p:ext uri="{BB962C8B-B14F-4D97-AF65-F5344CB8AC3E}">
        <p14:creationId xmlns:p14="http://schemas.microsoft.com/office/powerpoint/2010/main" val="2102285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32394" y="436416"/>
            <a:ext cx="10557738" cy="3416320"/>
          </a:xfrm>
          <a:prstGeom prst="rect">
            <a:avLst/>
          </a:prstGeom>
          <a:noFill/>
        </p:spPr>
        <p:txBody>
          <a:bodyPr wrap="square" rtlCol="0">
            <a:spAutoFit/>
          </a:bodyPr>
          <a:lstStyle/>
          <a:p>
            <a:pPr marL="922338" indent="-455613">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Label the range for the number of eggs laid on the box plot. </a:t>
            </a:r>
          </a:p>
          <a:p>
            <a:pPr marL="922338" indent="-455613"/>
            <a:r>
              <a:rPr lang="en-US" sz="2400" dirty="0">
                <a:latin typeface="Verdana" panose="020B0604030504040204" pitchFamily="34" charset="0"/>
                <a:ea typeface="Verdana" panose="020B0604030504040204" pitchFamily="34" charset="0"/>
                <a:cs typeface="Verdana" panose="020B0604030504040204" pitchFamily="34" charset="0"/>
              </a:rPr>
              <a:t> </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With your partner, conjecture the median number of eggs laid. Label this number as “median” on the box plot.</a:t>
            </a: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82;g104476d1465_1_17">
            <a:extLst>
              <a:ext uri="{FF2B5EF4-FFF2-40B4-BE49-F238E27FC236}">
                <a16:creationId xmlns:a16="http://schemas.microsoft.com/office/drawing/2014/main" id="{436A8CA4-BE08-334C-8CE8-88EEBE32C815}"/>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168</a:t>
            </a:r>
          </a:p>
        </p:txBody>
      </p:sp>
    </p:spTree>
    <p:extLst>
      <p:ext uri="{BB962C8B-B14F-4D97-AF65-F5344CB8AC3E}">
        <p14:creationId xmlns:p14="http://schemas.microsoft.com/office/powerpoint/2010/main" val="170797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23516" y="436417"/>
                <a:ext cx="10515600" cy="4893647"/>
              </a:xfrm>
              <a:prstGeom prst="rect">
                <a:avLst/>
              </a:prstGeom>
              <a:noFill/>
            </p:spPr>
            <p:txBody>
              <a:bodyPr wrap="square" rtlCol="0">
                <a:spAutoFit/>
              </a:bodyPr>
              <a:lstStyle/>
              <a:p>
                <a:pPr marL="922338" indent="-455613">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The first quartile is highlighted in blue, the second quartile is highlighted in green, and the third quartile is highlighted in yellow. </a:t>
                </a:r>
              </a:p>
              <a:p>
                <a:pPr marL="922338" indent="-455613">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a:r>
                  <a:rPr lang="en-US" sz="2400" dirty="0">
                    <a:latin typeface="Verdana" panose="020B0604030504040204" pitchFamily="34" charset="0"/>
                    <a:ea typeface="Verdana" panose="020B0604030504040204" pitchFamily="34" charset="0"/>
                    <a:cs typeface="Verdana" panose="020B0604030504040204" pitchFamily="34" charset="0"/>
                  </a:rPr>
                  <a:t>If the second quartile is the median, </a:t>
                </a:r>
                <a14:m>
                  <m:oMath xmlns:m="http://schemas.openxmlformats.org/officeDocument/2006/math">
                    <m:r>
                      <a:rPr lang="en-US" sz="2400">
                        <a:latin typeface="Cambria Math" panose="02040503050406030204" pitchFamily="18" charset="0"/>
                      </a:rPr>
                      <m:t>𝑀</m:t>
                    </m:r>
                  </m:oMath>
                </a14:m>
                <a:r>
                  <a:rPr lang="en-US" sz="2400" dirty="0">
                    <a:latin typeface="Verdana" panose="020B0604030504040204" pitchFamily="34" charset="0"/>
                    <a:ea typeface="Verdana" panose="020B0604030504040204" pitchFamily="34" charset="0"/>
                    <a:cs typeface="Verdana" panose="020B0604030504040204" pitchFamily="34" charset="0"/>
                  </a:rPr>
                  <a:t>, write a conjecture with your partner about how the first and third quartiles are each determined.</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23516" y="436417"/>
                <a:ext cx="10515600" cy="4893647"/>
              </a:xfrm>
              <a:prstGeom prst="rect">
                <a:avLst/>
              </a:prstGeom>
              <a:blipFill rotWithShape="1">
                <a:blip r:embed="rId3"/>
                <a:stretch>
                  <a:fillRect t="-998" r="-1507"/>
                </a:stretch>
              </a:blipFill>
            </p:spPr>
            <p:txBody>
              <a:bodyPr/>
              <a:lstStyle/>
              <a:p>
                <a:r>
                  <a:rPr lang="en-PH">
                    <a:noFill/>
                  </a:rPr>
                  <a:t> </a:t>
                </a:r>
              </a:p>
            </p:txBody>
          </p:sp>
        </mc:Fallback>
      </mc:AlternateContent>
      <p:sp>
        <p:nvSpPr>
          <p:cNvPr id="278" name="Google Shape;278;g104476d1465_1_17"/>
          <p:cNvSpPr/>
          <p:nvPr/>
        </p:nvSpPr>
        <p:spPr>
          <a:xfrm>
            <a:off x="0" y="0"/>
            <a:ext cx="223200" cy="6867144"/>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grpSp>
        <p:nvGrpSpPr>
          <p:cNvPr id="23" name="Group 22">
            <a:extLst>
              <a:ext uri="{FF2B5EF4-FFF2-40B4-BE49-F238E27FC236}">
                <a16:creationId xmlns:a16="http://schemas.microsoft.com/office/drawing/2014/main" id="{EB88E8E7-B099-304D-8752-3C017DBFF175}"/>
              </a:ext>
            </a:extLst>
          </p:cNvPr>
          <p:cNvGrpSpPr/>
          <p:nvPr/>
        </p:nvGrpSpPr>
        <p:grpSpPr>
          <a:xfrm>
            <a:off x="2241445" y="1785971"/>
            <a:ext cx="6945630" cy="2040255"/>
            <a:chOff x="1099185" y="3120252"/>
            <a:chExt cx="6945630" cy="2040255"/>
          </a:xfrm>
        </p:grpSpPr>
        <p:pic>
          <p:nvPicPr>
            <p:cNvPr id="29" name="Picture 28" descr="Chart, box and whisker chart&#10;&#10;Description automatically generated">
              <a:extLst>
                <a:ext uri="{FF2B5EF4-FFF2-40B4-BE49-F238E27FC236}">
                  <a16:creationId xmlns:a16="http://schemas.microsoft.com/office/drawing/2014/main" id="{4B53D88A-1380-3846-872F-2ACE66C20349}"/>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15189" b="55580"/>
            <a:stretch/>
          </p:blipFill>
          <p:spPr bwMode="auto">
            <a:xfrm>
              <a:off x="1099185" y="3120252"/>
              <a:ext cx="6945630" cy="2040255"/>
            </a:xfrm>
            <a:prstGeom prst="rect">
              <a:avLst/>
            </a:prstGeom>
            <a:ln>
              <a:noFill/>
            </a:ln>
            <a:extLst>
              <a:ext uri="{53640926-AAD7-44D8-BBD7-CCE9431645EC}">
                <a14:shadowObscured xmlns:a14="http://schemas.microsoft.com/office/drawing/2010/main"/>
              </a:ext>
            </a:extLst>
          </p:spPr>
        </p:pic>
        <p:grpSp>
          <p:nvGrpSpPr>
            <p:cNvPr id="25" name="Group 24">
              <a:extLst>
                <a:ext uri="{FF2B5EF4-FFF2-40B4-BE49-F238E27FC236}">
                  <a16:creationId xmlns:a16="http://schemas.microsoft.com/office/drawing/2014/main" id="{704587F7-3BB3-EC48-9A29-C13B80C7ACBA}"/>
                </a:ext>
              </a:extLst>
            </p:cNvPr>
            <p:cNvGrpSpPr/>
            <p:nvPr/>
          </p:nvGrpSpPr>
          <p:grpSpPr>
            <a:xfrm>
              <a:off x="2845835" y="3349689"/>
              <a:ext cx="2873829" cy="868213"/>
              <a:chOff x="0" y="0"/>
              <a:chExt cx="2902226" cy="868680"/>
            </a:xfrm>
          </p:grpSpPr>
          <p:cxnSp>
            <p:nvCxnSpPr>
              <p:cNvPr id="26" name="Straight Connector 25">
                <a:extLst>
                  <a:ext uri="{FF2B5EF4-FFF2-40B4-BE49-F238E27FC236}">
                    <a16:creationId xmlns:a16="http://schemas.microsoft.com/office/drawing/2014/main" id="{933E5F10-D09A-764B-8E6C-1DB373E0E071}"/>
                  </a:ext>
                </a:extLst>
              </p:cNvPr>
              <p:cNvCxnSpPr/>
              <p:nvPr/>
            </p:nvCxnSpPr>
            <p:spPr>
              <a:xfrm>
                <a:off x="0" y="0"/>
                <a:ext cx="0" cy="868680"/>
              </a:xfrm>
              <a:prstGeom prst="line">
                <a:avLst/>
              </a:prstGeom>
              <a:ln w="76200">
                <a:solidFill>
                  <a:srgbClr val="0096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2C9F129-CE07-7041-8EAA-143418830B06}"/>
                  </a:ext>
                </a:extLst>
              </p:cNvPr>
              <p:cNvCxnSpPr/>
              <p:nvPr/>
            </p:nvCxnSpPr>
            <p:spPr>
              <a:xfrm>
                <a:off x="1736638" y="0"/>
                <a:ext cx="0" cy="86868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C110692-5417-A64A-989E-FFCBA81CF715}"/>
                  </a:ext>
                </a:extLst>
              </p:cNvPr>
              <p:cNvCxnSpPr/>
              <p:nvPr/>
            </p:nvCxnSpPr>
            <p:spPr>
              <a:xfrm>
                <a:off x="2902226" y="0"/>
                <a:ext cx="0" cy="86868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grpSp>
      <p:sp>
        <p:nvSpPr>
          <p:cNvPr id="13" name="Google Shape;282;g104476d1465_1_17">
            <a:extLst>
              <a:ext uri="{FF2B5EF4-FFF2-40B4-BE49-F238E27FC236}">
                <a16:creationId xmlns:a16="http://schemas.microsoft.com/office/drawing/2014/main" id="{39EB3D1E-E719-DA41-ADCB-E1DA6ACE2A59}"/>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168</a:t>
            </a:r>
          </a:p>
        </p:txBody>
      </p:sp>
    </p:spTree>
    <p:extLst>
      <p:ext uri="{BB962C8B-B14F-4D97-AF65-F5344CB8AC3E}">
        <p14:creationId xmlns:p14="http://schemas.microsoft.com/office/powerpoint/2010/main" val="69477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1272" y="436417"/>
                <a:ext cx="10515600" cy="452431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statement.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A </a:t>
                </a:r>
                <a:r>
                  <a:rPr lang="en-US" sz="2400" b="1" i="1" dirty="0">
                    <a:latin typeface="Verdana" panose="020B0604030504040204" pitchFamily="34" charset="0"/>
                    <a:ea typeface="Verdana" panose="020B0604030504040204" pitchFamily="34" charset="0"/>
                    <a:cs typeface="Verdana" panose="020B0604030504040204" pitchFamily="34" charset="0"/>
                  </a:rPr>
                  <a:t>box plot </a:t>
                </a:r>
                <a:r>
                  <a:rPr lang="en-US" sz="2400" dirty="0">
                    <a:latin typeface="Verdana" panose="020B0604030504040204" pitchFamily="34" charset="0"/>
                    <a:ea typeface="Verdana" panose="020B0604030504040204" pitchFamily="34" charset="0"/>
                    <a:cs typeface="Verdana" panose="020B0604030504040204" pitchFamily="34" charset="0"/>
                  </a:rPr>
                  <a:t>divides data into _______ equal parts that each contain roughly </a:t>
                </a:r>
                <a14:m>
                  <m:oMath xmlns:m="http://schemas.openxmlformats.org/officeDocument/2006/math">
                    <m:r>
                      <a:rPr lang="en-US" sz="2400">
                        <a:latin typeface="Cambria Math" panose="02040503050406030204" pitchFamily="18" charset="0"/>
                      </a:rPr>
                      <m:t>25%</m:t>
                    </m:r>
                  </m:oMath>
                </a14:m>
                <a:r>
                  <a:rPr lang="en-US" sz="2400" dirty="0">
                    <a:latin typeface="Verdana" panose="020B0604030504040204" pitchFamily="34" charset="0"/>
                    <a:ea typeface="Verdana" panose="020B0604030504040204" pitchFamily="34" charset="0"/>
                    <a:cs typeface="Verdana" panose="020B0604030504040204" pitchFamily="34" charset="0"/>
                  </a:rPr>
                  <a:t> of data from a given data set.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Explain why you chose the value you used to complete the statement.</a:t>
                </a: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41272" y="436417"/>
                <a:ext cx="10515600" cy="4524315"/>
              </a:xfrm>
              <a:prstGeom prst="rect">
                <a:avLst/>
              </a:prstGeom>
              <a:blipFill rotWithShape="1">
                <a:blip r:embed="rId4"/>
                <a:stretch>
                  <a:fillRect l="-928" t="-1078"/>
                </a:stretch>
              </a:blipFill>
            </p:spPr>
            <p:txBody>
              <a:bodyPr/>
              <a:lstStyle/>
              <a:p>
                <a:r>
                  <a:rPr lang="en-PH">
                    <a:noFill/>
                  </a:rPr>
                  <a:t> </a:t>
                </a:r>
              </a:p>
            </p:txBody>
          </p:sp>
        </mc:Fallback>
      </mc:AlternateContent>
      <p:sp>
        <p:nvSpPr>
          <p:cNvPr id="6" name="Google Shape;282;g104476d1465_1_17">
            <a:extLst>
              <a:ext uri="{FF2B5EF4-FFF2-40B4-BE49-F238E27FC236}">
                <a16:creationId xmlns:a16="http://schemas.microsoft.com/office/drawing/2014/main" id="{078CE0CF-5A22-8C4E-BEFB-43A526563070}"/>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168</a:t>
            </a:r>
          </a:p>
        </p:txBody>
      </p:sp>
    </p:spTree>
    <p:extLst>
      <p:ext uri="{BB962C8B-B14F-4D97-AF65-F5344CB8AC3E}">
        <p14:creationId xmlns:p14="http://schemas.microsoft.com/office/powerpoint/2010/main" val="1647528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770632"/>
            <a:ext cx="1145792" cy="1158150"/>
          </a:xfrm>
          <a:prstGeom prst="rect">
            <a:avLst/>
          </a:prstGeom>
          <a:noFill/>
          <a:ln>
            <a:noFill/>
          </a:ln>
          <a:effectLst>
            <a:outerShdw blurRad="50800" dist="38100" dir="2700000" algn="tl" rotWithShape="0">
              <a:prstClr val="black">
                <a:alpha val="40000"/>
              </a:prstClr>
            </a:outerShdw>
          </a:effectLst>
        </p:spPr>
      </p:pic>
      <p:sp>
        <p:nvSpPr>
          <p:cNvPr id="10" name="Google Shape;282;g104476d1465_1_17">
            <a:extLst>
              <a:ext uri="{FF2B5EF4-FFF2-40B4-BE49-F238E27FC236}">
                <a16:creationId xmlns:a16="http://schemas.microsoft.com/office/drawing/2014/main" id="{F19471A4-11B3-704C-B3F9-24FFD061AA4B}"/>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p>
        </p:txBody>
      </p:sp>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9.5.3 Guided Instruction: </a:t>
            </a:r>
            <a:r>
              <a:rPr lang="en-US" sz="3600" b="1" dirty="0">
                <a:solidFill>
                  <a:srgbClr val="54B5D1"/>
                </a:solidFill>
                <a:latin typeface="Verdana"/>
                <a:ea typeface="Verdana"/>
                <a:cs typeface="Verdana"/>
              </a:rPr>
              <a:t>Interpreting Box Plots </a:t>
            </a:r>
            <a:endParaRPr lang="en-US" sz="36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grpSp>
        <p:nvGrpSpPr>
          <p:cNvPr id="8" name="Group 7">
            <a:extLst>
              <a:ext uri="{FF2B5EF4-FFF2-40B4-BE49-F238E27FC236}">
                <a16:creationId xmlns:a16="http://schemas.microsoft.com/office/drawing/2014/main" id="{E0EA002C-3FE1-3440-8FEC-C26803BF4283}"/>
              </a:ext>
            </a:extLst>
          </p:cNvPr>
          <p:cNvGrpSpPr/>
          <p:nvPr/>
        </p:nvGrpSpPr>
        <p:grpSpPr>
          <a:xfrm>
            <a:off x="2508273" y="1657623"/>
            <a:ext cx="7175455" cy="2359206"/>
            <a:chOff x="-20" y="0"/>
            <a:chExt cx="6817995" cy="2359747"/>
          </a:xfrm>
          <a:effectLst>
            <a:outerShdw blurRad="50800" dist="38100" dir="2700000" algn="tl" rotWithShape="0">
              <a:prstClr val="black">
                <a:alpha val="40000"/>
              </a:prstClr>
            </a:outerShdw>
          </a:effectLst>
        </p:grpSpPr>
        <p:sp>
          <p:nvSpPr>
            <p:cNvPr id="11" name="Rectangle 10">
              <a:extLst>
                <a:ext uri="{FF2B5EF4-FFF2-40B4-BE49-F238E27FC236}">
                  <a16:creationId xmlns:a16="http://schemas.microsoft.com/office/drawing/2014/main" id="{2443DCFE-F86B-4441-8EB8-7DBDC8E99DAD}"/>
                </a:ext>
              </a:extLst>
            </p:cNvPr>
            <p:cNvSpPr/>
            <p:nvPr/>
          </p:nvSpPr>
          <p:spPr>
            <a:xfrm>
              <a:off x="-20" y="0"/>
              <a:ext cx="6817975" cy="1829125"/>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p>
          </p:txBody>
        </p:sp>
        <p:sp>
          <p:nvSpPr>
            <p:cNvPr id="14" name="Rectangle 13">
              <a:extLst>
                <a:ext uri="{FF2B5EF4-FFF2-40B4-BE49-F238E27FC236}">
                  <a16:creationId xmlns:a16="http://schemas.microsoft.com/office/drawing/2014/main" id="{F758CB63-06AB-744A-AE48-F0E833908283}"/>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p>
          </p:txBody>
        </p:sp>
        <p:sp>
          <p:nvSpPr>
            <p:cNvPr id="15" name="Rounded Rectangle 14">
              <a:extLst>
                <a:ext uri="{FF2B5EF4-FFF2-40B4-BE49-F238E27FC236}">
                  <a16:creationId xmlns:a16="http://schemas.microsoft.com/office/drawing/2014/main" id="{6789FEB6-7A40-EA44-9336-A81947C265E3}"/>
                </a:ext>
              </a:extLst>
            </p:cNvPr>
            <p:cNvSpPr/>
            <p:nvPr/>
          </p:nvSpPr>
          <p:spPr>
            <a:xfrm>
              <a:off x="-20" y="72562"/>
              <a:ext cx="6629400" cy="2287185"/>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noAutofit/>
            </a:bodyPr>
            <a:lstStyle/>
            <a:p>
              <a:pPr marL="62865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box plot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plot displaying the spread or distribution of a data set using a five-number summary: the minimum, lower quartile (first quartile), median, upper quartile (third quartile), and maximum. It is also called a box-and-whisker plot.</a:t>
              </a:r>
              <a:endParaRPr lang="en-US" sz="1200" dirty="0">
                <a:latin typeface="Calibri" panose="020F0502020204030204" pitchFamily="34" charset="0"/>
                <a:ea typeface="Times New Roman" panose="02020603050405020304" pitchFamily="18" charset="0"/>
              </a:endParaRPr>
            </a:p>
          </p:txBody>
        </p:sp>
      </p:grpSp>
      <p:pic>
        <p:nvPicPr>
          <p:cNvPr id="17" name="Picture 16" descr="Icon&#10;&#10;Description automatically generated">
            <a:extLst>
              <a:ext uri="{FF2B5EF4-FFF2-40B4-BE49-F238E27FC236}">
                <a16:creationId xmlns:a16="http://schemas.microsoft.com/office/drawing/2014/main" id="{65127F6A-5C7D-5D46-944E-C6F501699F7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621687" y="1961071"/>
            <a:ext cx="548640" cy="548640"/>
          </a:xfrm>
          <a:prstGeom prst="rect">
            <a:avLst/>
          </a:prstGeom>
          <a:noFill/>
          <a:ln>
            <a:noFill/>
          </a:ln>
          <a:effectLst>
            <a:outerShdw blurRad="50800" dist="38100" dir="2700000" algn="tl" rotWithShape="0">
              <a:prstClr val="black">
                <a:alpha val="40000"/>
              </a:prstClr>
            </a:outerShdw>
          </a:effectLst>
        </p:spPr>
      </p:pic>
      <p:sp>
        <p:nvSpPr>
          <p:cNvPr id="20" name="Google Shape;282;g104476d1465_1_17">
            <a:extLst>
              <a:ext uri="{FF2B5EF4-FFF2-40B4-BE49-F238E27FC236}">
                <a16:creationId xmlns:a16="http://schemas.microsoft.com/office/drawing/2014/main" id="{EBF192A0-87C1-B04E-A8E4-3DFFD12080B4}"/>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p>
        </p:txBody>
      </p:sp>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29590" y="378351"/>
            <a:ext cx="10515600" cy="830997"/>
          </a:xfrm>
          <a:prstGeom prst="rect">
            <a:avLst/>
          </a:prstGeom>
          <a:noFill/>
        </p:spPr>
        <p:txBody>
          <a:bodyPr wrap="square" rtlCol="0">
            <a:spAutoFit/>
          </a:bodyPr>
          <a:lstStyle/>
          <a:p>
            <a:pPr marL="457200" lvl="3"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Label the maximum, minimum, median, first quartile, and third quartile on the box plot.</a:t>
            </a:r>
          </a:p>
        </p:txBody>
      </p:sp>
      <p:pic>
        <p:nvPicPr>
          <p:cNvPr id="23" name="Picture 22" descr="A picture containing icon&#10;&#10;Description automatically generated">
            <a:extLst>
              <a:ext uri="{FF2B5EF4-FFF2-40B4-BE49-F238E27FC236}">
                <a16:creationId xmlns:a16="http://schemas.microsoft.com/office/drawing/2014/main" id="{1E60C285-73B6-9A48-9907-6A611D6AE9C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93"/>
          <a:stretch/>
        </p:blipFill>
        <p:spPr>
          <a:xfrm>
            <a:off x="1488424" y="1833402"/>
            <a:ext cx="8725688" cy="2907110"/>
          </a:xfrm>
          <a:prstGeom prst="rect">
            <a:avLst/>
          </a:prstGeom>
        </p:spPr>
      </p:pic>
      <p:sp>
        <p:nvSpPr>
          <p:cNvPr id="27" name="Google Shape;282;g104476d1465_1_17">
            <a:extLst>
              <a:ext uri="{FF2B5EF4-FFF2-40B4-BE49-F238E27FC236}">
                <a16:creationId xmlns:a16="http://schemas.microsoft.com/office/drawing/2014/main" id="{75D93D8B-124D-434E-9F00-3A450A149076}"/>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p>
        </p:txBody>
      </p:sp>
    </p:spTree>
    <p:extLst>
      <p:ext uri="{BB962C8B-B14F-4D97-AF65-F5344CB8AC3E}">
        <p14:creationId xmlns:p14="http://schemas.microsoft.com/office/powerpoint/2010/main" val="3580041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59027" y="380268"/>
            <a:ext cx="10515600" cy="489364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a:endParaRPr lang="en-US" alt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altLang="en-US" sz="2400" dirty="0">
                <a:latin typeface="Verdana" panose="020B0604030504040204" pitchFamily="34" charset="0"/>
                <a:ea typeface="Verdana" panose="020B0604030504040204" pitchFamily="34" charset="0"/>
                <a:cs typeface="Verdana" panose="020B0604030504040204" pitchFamily="34" charset="0"/>
              </a:rPr>
              <a:t>The </a:t>
            </a:r>
            <a:r>
              <a:rPr lang="en-US" altLang="en-US" sz="2400" b="1" i="1" dirty="0">
                <a:latin typeface="Verdana" panose="020B0604030504040204" pitchFamily="34" charset="0"/>
                <a:ea typeface="Verdana" panose="020B0604030504040204" pitchFamily="34" charset="0"/>
                <a:cs typeface="Verdana" panose="020B0604030504040204" pitchFamily="34" charset="0"/>
              </a:rPr>
              <a:t>first quartile (Q1)</a:t>
            </a:r>
            <a:r>
              <a:rPr lang="en-US" altLang="en-US" sz="2400" dirty="0">
                <a:latin typeface="Verdana" panose="020B0604030504040204" pitchFamily="34" charset="0"/>
                <a:ea typeface="Verdana" panose="020B0604030504040204" pitchFamily="34" charset="0"/>
                <a:cs typeface="Verdana" panose="020B0604030504040204" pitchFamily="34" charset="0"/>
              </a:rPr>
              <a:t> is the middle value of </a:t>
            </a:r>
          </a:p>
          <a:p>
            <a:pPr marL="457200"/>
            <a:endParaRPr lang="en-US" alt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altLang="en-US" sz="2400" dirty="0">
                <a:latin typeface="Verdana" panose="020B0604030504040204" pitchFamily="34" charset="0"/>
                <a:ea typeface="Verdana" panose="020B0604030504040204" pitchFamily="34" charset="0"/>
                <a:cs typeface="Verdana" panose="020B0604030504040204" pitchFamily="34" charset="0"/>
              </a:rPr>
              <a:t>the data </a:t>
            </a:r>
            <a:r>
              <a:rPr lang="en-US" sz="2400" dirty="0">
                <a:latin typeface="Verdana" panose="020B0604030504040204" pitchFamily="34" charset="0"/>
                <a:ea typeface="Verdana" panose="020B0604030504040204" pitchFamily="34" charset="0"/>
                <a:cs typeface="Verdana" panose="020B0604030504040204" pitchFamily="34" charset="0"/>
              </a:rPr>
              <a:t>that are 			 the median. </a:t>
            </a:r>
          </a:p>
          <a:p>
            <a:pPr marL="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The </a:t>
            </a:r>
            <a:r>
              <a:rPr lang="en-US" sz="2400" b="1" i="1" dirty="0">
                <a:latin typeface="Verdana" panose="020B0604030504040204" pitchFamily="34" charset="0"/>
                <a:ea typeface="Verdana" panose="020B0604030504040204" pitchFamily="34" charset="0"/>
                <a:cs typeface="Verdana" panose="020B0604030504040204" pitchFamily="34" charset="0"/>
              </a:rPr>
              <a:t>third quartile (Q3) </a:t>
            </a:r>
            <a:r>
              <a:rPr lang="en-US" sz="2400" dirty="0">
                <a:latin typeface="Verdana" panose="020B0604030504040204" pitchFamily="34" charset="0"/>
                <a:ea typeface="Verdana" panose="020B0604030504040204" pitchFamily="34" charset="0"/>
                <a:cs typeface="Verdana" panose="020B0604030504040204" pitchFamily="34" charset="0"/>
              </a:rPr>
              <a:t>is the middle value of </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the data that are 			 the median.</a:t>
            </a:r>
          </a:p>
          <a:p>
            <a:endParaRPr lang="en-US" altLang="en-US" sz="2400" dirty="0">
              <a:solidFill>
                <a:schemeClr val="tx1"/>
              </a:solidFill>
              <a:latin typeface="Arial" panose="020B060402020202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 name="Rectangle 2">
            <a:extLst>
              <a:ext uri="{FF2B5EF4-FFF2-40B4-BE49-F238E27FC236}">
                <a16:creationId xmlns:a16="http://schemas.microsoft.com/office/drawing/2014/main" id="{E4036125-6C55-084C-8930-E06802D5B1CE}"/>
              </a:ext>
            </a:extLst>
          </p:cNvPr>
          <p:cNvSpPr>
            <a:spLocks noChangeArrowheads="1"/>
          </p:cNvSpPr>
          <p:nvPr/>
        </p:nvSpPr>
        <p:spPr bwMode="auto">
          <a:xfrm>
            <a:off x="1524001" y="3450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ounded Rectangle 8">
            <a:extLst>
              <a:ext uri="{FF2B5EF4-FFF2-40B4-BE49-F238E27FC236}">
                <a16:creationId xmlns:a16="http://schemas.microsoft.com/office/drawing/2014/main" id="{35F84286-8F94-904D-B926-CD0C29B555CE}"/>
              </a:ext>
            </a:extLst>
          </p:cNvPr>
          <p:cNvSpPr/>
          <p:nvPr/>
        </p:nvSpPr>
        <p:spPr>
          <a:xfrm>
            <a:off x="3824887" y="1548388"/>
            <a:ext cx="2274071" cy="1297343"/>
          </a:xfrm>
          <a:prstGeom prst="roundRect">
            <a:avLst>
              <a:gd name="adj" fmla="val 16667"/>
            </a:avLst>
          </a:prstGeom>
          <a:ln w="12700">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spAutoFit/>
          </a:bodyPr>
          <a:lstStyle/>
          <a:p>
            <a:pPr marL="285750" indent="-285750">
              <a:lnSpc>
                <a:spcPct val="107000"/>
              </a:lnSpc>
              <a:buSzPts val="1800"/>
              <a:buFont typeface="Courier New" panose="02070309020205020404" pitchFamily="49" charset="0"/>
              <a:buChar char="o"/>
            </a:pPr>
            <a:r>
              <a:rPr lang="en-US" sz="2000" dirty="0">
                <a:latin typeface="Verdana" pitchFamily="34" charset="0"/>
                <a:ea typeface="Verdana" pitchFamily="34" charset="0"/>
              </a:rPr>
              <a:t>less than</a:t>
            </a:r>
          </a:p>
          <a:p>
            <a:pPr marL="285750" indent="-285750">
              <a:lnSpc>
                <a:spcPct val="107000"/>
              </a:lnSpc>
              <a:buSzPts val="1800"/>
              <a:buFont typeface="Courier New" panose="02070309020205020404" pitchFamily="49" charset="0"/>
              <a:buChar char="o"/>
            </a:pPr>
            <a:r>
              <a:rPr lang="en-US" sz="2000" dirty="0">
                <a:latin typeface="Verdana" pitchFamily="34" charset="0"/>
                <a:ea typeface="Verdana" pitchFamily="34" charset="0"/>
              </a:rPr>
              <a:t>greater than</a:t>
            </a:r>
          </a:p>
          <a:p>
            <a:pPr marL="285750" indent="-285750">
              <a:lnSpc>
                <a:spcPct val="107000"/>
              </a:lnSpc>
              <a:buSzPts val="1800"/>
              <a:buFont typeface="Courier New" panose="02070309020205020404" pitchFamily="49" charset="0"/>
              <a:buChar char="o"/>
            </a:pPr>
            <a:r>
              <a:rPr lang="en-US" sz="2000" dirty="0">
                <a:latin typeface="Verdana" pitchFamily="34" charset="0"/>
                <a:ea typeface="Verdana" pitchFamily="34" charset="0"/>
              </a:rPr>
              <a:t>equal to</a:t>
            </a:r>
          </a:p>
        </p:txBody>
      </p:sp>
      <p:sp>
        <p:nvSpPr>
          <p:cNvPr id="10" name="Rounded Rectangle 9">
            <a:extLst>
              <a:ext uri="{FF2B5EF4-FFF2-40B4-BE49-F238E27FC236}">
                <a16:creationId xmlns:a16="http://schemas.microsoft.com/office/drawing/2014/main" id="{740B477E-C989-064E-BA09-36E068F583DB}"/>
              </a:ext>
            </a:extLst>
          </p:cNvPr>
          <p:cNvSpPr/>
          <p:nvPr/>
        </p:nvSpPr>
        <p:spPr>
          <a:xfrm>
            <a:off x="3822608" y="3806247"/>
            <a:ext cx="2276619" cy="1297343"/>
          </a:xfrm>
          <a:prstGeom prst="roundRect">
            <a:avLst>
              <a:gd name="adj" fmla="val 16667"/>
            </a:avLst>
          </a:prstGeom>
          <a:ln w="12700">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spAutoFit/>
          </a:bodyPr>
          <a:lstStyle/>
          <a:p>
            <a:pPr marL="228600" indent="-285750">
              <a:lnSpc>
                <a:spcPct val="107000"/>
              </a:lnSpc>
              <a:buFont typeface="Courier New" panose="02070309020205020404" pitchFamily="49" charset="0"/>
              <a:buChar char="o"/>
            </a:pPr>
            <a:r>
              <a:rPr lang="en-US" sz="2000">
                <a:latin typeface="Verdana" pitchFamily="34" charset="0"/>
                <a:ea typeface="Verdana" pitchFamily="34" charset="0"/>
              </a:rPr>
              <a:t>less than</a:t>
            </a:r>
          </a:p>
          <a:p>
            <a:pPr marL="228600" indent="-285750">
              <a:lnSpc>
                <a:spcPct val="107000"/>
              </a:lnSpc>
              <a:buFont typeface="Courier New" panose="02070309020205020404" pitchFamily="49" charset="0"/>
              <a:buChar char="o"/>
            </a:pPr>
            <a:r>
              <a:rPr lang="en-US" sz="2000">
                <a:latin typeface="Verdana" pitchFamily="34" charset="0"/>
                <a:ea typeface="Verdana" pitchFamily="34" charset="0"/>
              </a:rPr>
              <a:t>greater than</a:t>
            </a:r>
          </a:p>
          <a:p>
            <a:pPr marL="228600" indent="-285750">
              <a:lnSpc>
                <a:spcPct val="107000"/>
              </a:lnSpc>
              <a:buFont typeface="Courier New" panose="02070309020205020404" pitchFamily="49" charset="0"/>
              <a:buChar char="o"/>
            </a:pPr>
            <a:r>
              <a:rPr lang="en-US" sz="2000">
                <a:latin typeface="Verdana" pitchFamily="34" charset="0"/>
                <a:ea typeface="Verdana" pitchFamily="34" charset="0"/>
              </a:rPr>
              <a:t>equal to</a:t>
            </a:r>
          </a:p>
        </p:txBody>
      </p:sp>
      <p:sp>
        <p:nvSpPr>
          <p:cNvPr id="11" name="Google Shape;282;g104476d1465_1_17">
            <a:extLst>
              <a:ext uri="{FF2B5EF4-FFF2-40B4-BE49-F238E27FC236}">
                <a16:creationId xmlns:a16="http://schemas.microsoft.com/office/drawing/2014/main" id="{BCB47A68-2BAE-144B-88F1-7135C61AA523}"/>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p>
        </p:txBody>
      </p:sp>
    </p:spTree>
    <p:extLst>
      <p:ext uri="{BB962C8B-B14F-4D97-AF65-F5344CB8AC3E}">
        <p14:creationId xmlns:p14="http://schemas.microsoft.com/office/powerpoint/2010/main" val="3761598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41272" y="520394"/>
            <a:ext cx="10515600" cy="4893647"/>
          </a:xfrm>
          <a:prstGeom prst="rect">
            <a:avLst/>
          </a:prstGeom>
          <a:noFill/>
        </p:spPr>
        <p:txBody>
          <a:bodyPr wrap="square" rtlCol="0">
            <a:spAutoFit/>
          </a:bodyPr>
          <a:lstStyle/>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a:r>
              <a:rPr lang="en-US" sz="2400" dirty="0">
                <a:latin typeface="Verdana" panose="020B0604030504040204" pitchFamily="34" charset="0"/>
                <a:ea typeface="Verdana" panose="020B0604030504040204" pitchFamily="34" charset="0"/>
                <a:cs typeface="Verdana" panose="020B0604030504040204" pitchFamily="34" charset="0"/>
              </a:rPr>
              <a:t>The measure of central tendency used to create a </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box plot is the 		which divides the data set in half.</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grpSp>
        <p:nvGrpSpPr>
          <p:cNvPr id="7" name="Group 6">
            <a:extLst>
              <a:ext uri="{FF2B5EF4-FFF2-40B4-BE49-F238E27FC236}">
                <a16:creationId xmlns:a16="http://schemas.microsoft.com/office/drawing/2014/main" id="{0FD69354-CACB-2746-A91B-3E19B15AD26D}"/>
              </a:ext>
            </a:extLst>
          </p:cNvPr>
          <p:cNvGrpSpPr/>
          <p:nvPr/>
        </p:nvGrpSpPr>
        <p:grpSpPr>
          <a:xfrm>
            <a:off x="2687002" y="520393"/>
            <a:ext cx="6817996" cy="1961550"/>
            <a:chOff x="-21" y="0"/>
            <a:chExt cx="6817996" cy="1961901"/>
          </a:xfrm>
          <a:effectLst>
            <a:outerShdw blurRad="50800" dist="38100" dir="2700000" algn="tl" rotWithShape="0">
              <a:prstClr val="black">
                <a:alpha val="40000"/>
              </a:prstClr>
            </a:outerShdw>
          </a:effectLst>
        </p:grpSpPr>
        <p:sp>
          <p:nvSpPr>
            <p:cNvPr id="9" name="Rectangle 8">
              <a:extLst>
                <a:ext uri="{FF2B5EF4-FFF2-40B4-BE49-F238E27FC236}">
                  <a16:creationId xmlns:a16="http://schemas.microsoft.com/office/drawing/2014/main" id="{002094FF-497F-3B4C-8AB9-E3A7060D30E8}"/>
                </a:ext>
              </a:extLst>
            </p:cNvPr>
            <p:cNvSpPr/>
            <p:nvPr/>
          </p:nvSpPr>
          <p:spPr>
            <a:xfrm>
              <a:off x="-20" y="0"/>
              <a:ext cx="6817975" cy="1722425"/>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p>
          </p:txBody>
        </p:sp>
        <p:sp>
          <p:nvSpPr>
            <p:cNvPr id="10" name="Rectangle 9">
              <a:extLst>
                <a:ext uri="{FF2B5EF4-FFF2-40B4-BE49-F238E27FC236}">
                  <a16:creationId xmlns:a16="http://schemas.microsoft.com/office/drawing/2014/main" id="{6F389E14-C749-9F4C-A15D-220D40A905AD}"/>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p>
          </p:txBody>
        </p:sp>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D4AADB2A-6C70-5343-AABC-45AE446DBF95}"/>
                    </a:ext>
                  </a:extLst>
                </p:cNvPr>
                <p:cNvSpPr/>
                <p:nvPr/>
              </p:nvSpPr>
              <p:spPr>
                <a:xfrm>
                  <a:off x="-21" y="72582"/>
                  <a:ext cx="6707369" cy="1889319"/>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noAutofit/>
                </a:bodyPr>
                <a:lstStyle/>
                <a:p>
                  <a:pPr marL="68580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For a data set with median,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𝑀</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 first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quartile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median of the data values less than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𝑀</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the third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quartile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median of the data values greater than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𝑀</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 second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quartile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median,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𝑀</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1200" dirty="0">
                    <a:latin typeface="Calibri" panose="020F0502020204030204" pitchFamily="34" charset="0"/>
                    <a:ea typeface="Times New Roman" panose="02020603050405020304" pitchFamily="18" charset="0"/>
                  </a:endParaRPr>
                </a:p>
              </p:txBody>
            </p:sp>
          </mc:Choice>
          <mc:Fallback xmlns="">
            <p:sp>
              <p:nvSpPr>
                <p:cNvPr id="11" name="Rounded Rectangle 10">
                  <a:extLst>
                    <a:ext uri="{FF2B5EF4-FFF2-40B4-BE49-F238E27FC236}">
                      <a16:creationId xmlns:a16="http://schemas.microsoft.com/office/drawing/2014/main" id="{D4AADB2A-6C70-5343-AABC-45AE446DBF95}"/>
                    </a:ext>
                  </a:extLst>
                </p:cNvPr>
                <p:cNvSpPr>
                  <a:spLocks noRot="1" noChangeAspect="1" noMove="1" noResize="1" noEditPoints="1" noAdjustHandles="1" noChangeArrowheads="1" noChangeShapeType="1" noTextEdit="1"/>
                </p:cNvSpPr>
                <p:nvPr/>
              </p:nvSpPr>
              <p:spPr>
                <a:xfrm>
                  <a:off x="-21" y="72582"/>
                  <a:ext cx="6707369" cy="1889319"/>
                </a:xfrm>
                <a:prstGeom prst="roundRect">
                  <a:avLst>
                    <a:gd name="adj" fmla="val 16667"/>
                  </a:avLst>
                </a:prstGeom>
                <a:blipFill>
                  <a:blip r:embed="rId4"/>
                  <a:stretch>
                    <a:fillRect/>
                  </a:stretch>
                </a:blipFill>
                <a:ln w="12700" cap="flat" cmpd="sng">
                  <a:solidFill>
                    <a:srgbClr val="E2EFD5"/>
                  </a:solidFill>
                  <a:prstDash val="solid"/>
                  <a:miter lim="800000"/>
                  <a:headEnd type="none" w="sm" len="sm"/>
                  <a:tailEnd type="none" w="sm" len="sm"/>
                </a:ln>
              </p:spPr>
              <p:txBody>
                <a:bodyPr/>
                <a:lstStyle/>
                <a:p>
                  <a:r>
                    <a:rPr lang="en-US">
                      <a:noFill/>
                    </a:rPr>
                    <a:t> </a:t>
                  </a:r>
                </a:p>
              </p:txBody>
            </p:sp>
          </mc:Fallback>
        </mc:AlternateContent>
      </p:grpSp>
      <p:pic>
        <p:nvPicPr>
          <p:cNvPr id="8" name="Picture 7" descr="Icon&#10;&#10;Description automatically generated">
            <a:extLst>
              <a:ext uri="{FF2B5EF4-FFF2-40B4-BE49-F238E27FC236}">
                <a16:creationId xmlns:a16="http://schemas.microsoft.com/office/drawing/2014/main" id="{9EE3C0F7-8581-5E4C-91DB-47BBD11B9285}"/>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829422" y="771870"/>
            <a:ext cx="548640" cy="548640"/>
          </a:xfrm>
          <a:prstGeom prst="rect">
            <a:avLst/>
          </a:prstGeom>
          <a:noFill/>
          <a:ln>
            <a:noFill/>
          </a:ln>
          <a:effectLst>
            <a:outerShdw blurRad="50800" dist="38100" dir="2700000" algn="tl" rotWithShape="0">
              <a:prstClr val="black">
                <a:alpha val="40000"/>
              </a:prstClr>
            </a:outerShdw>
          </a:effectLst>
        </p:spPr>
      </p:pic>
      <p:sp>
        <p:nvSpPr>
          <p:cNvPr id="13" name="Rounded Rectangle 12">
            <a:extLst>
              <a:ext uri="{FF2B5EF4-FFF2-40B4-BE49-F238E27FC236}">
                <a16:creationId xmlns:a16="http://schemas.microsoft.com/office/drawing/2014/main" id="{88009611-5F2E-1A44-9483-9F44D5229F78}"/>
              </a:ext>
            </a:extLst>
          </p:cNvPr>
          <p:cNvSpPr/>
          <p:nvPr/>
        </p:nvSpPr>
        <p:spPr>
          <a:xfrm>
            <a:off x="3474277" y="4240683"/>
            <a:ext cx="1639261" cy="1093065"/>
          </a:xfrm>
          <a:prstGeom prst="roundRect">
            <a:avLst>
              <a:gd name="adj" fmla="val 16667"/>
            </a:avLst>
          </a:prstGeom>
          <a:ln w="12700">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0" rIns="91425" bIns="0" anchor="ctr" anchorCtr="0">
            <a:spAutoFit/>
          </a:bodyPr>
          <a:lstStyle/>
          <a:p>
            <a:pPr marL="266700" indent="-266700">
              <a:lnSpc>
                <a:spcPct val="107000"/>
              </a:lnSpc>
              <a:buSzPts val="18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mean,</a:t>
            </a:r>
            <a:endParaRPr lang="en-US" sz="2000" dirty="0">
              <a:ea typeface="Times New Roman" panose="02020603050405020304" pitchFamily="18" charset="0"/>
            </a:endParaRPr>
          </a:p>
          <a:p>
            <a:pPr marL="266700" indent="-266700">
              <a:lnSpc>
                <a:spcPct val="107000"/>
              </a:lnSpc>
              <a:buSzPts val="18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median,</a:t>
            </a:r>
            <a:endParaRPr lang="en-US" sz="2000" dirty="0">
              <a:ea typeface="Times New Roman" panose="02020603050405020304" pitchFamily="18" charset="0"/>
            </a:endParaRPr>
          </a:p>
          <a:p>
            <a:pPr marL="266700" indent="-266700">
              <a:lnSpc>
                <a:spcPct val="107000"/>
              </a:lnSpc>
              <a:buSzPts val="18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rPr>
              <a:t>mode,</a:t>
            </a:r>
            <a:endParaRPr lang="en-US" sz="2000" dirty="0">
              <a:ea typeface="Times New Roman" panose="02020603050405020304" pitchFamily="18" charset="0"/>
            </a:endParaRPr>
          </a:p>
        </p:txBody>
      </p:sp>
      <p:sp>
        <p:nvSpPr>
          <p:cNvPr id="15" name="Google Shape;282;g104476d1465_1_17">
            <a:extLst>
              <a:ext uri="{FF2B5EF4-FFF2-40B4-BE49-F238E27FC236}">
                <a16:creationId xmlns:a16="http://schemas.microsoft.com/office/drawing/2014/main" id="{C4833E32-AE6C-BA41-B80A-BA814BC02AF4}"/>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p>
        </p:txBody>
      </p:sp>
    </p:spTree>
    <p:extLst>
      <p:ext uri="{BB962C8B-B14F-4D97-AF65-F5344CB8AC3E}">
        <p14:creationId xmlns:p14="http://schemas.microsoft.com/office/powerpoint/2010/main" val="3458907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50150" y="520394"/>
            <a:ext cx="10515600"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number line often accompanies a box plot and is used to determine the values associated with each part of the plot.</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Another measure of variability like </a:t>
            </a:r>
            <a:r>
              <a:rPr lang="en-US" sz="2400" b="1" i="1" dirty="0">
                <a:latin typeface="Verdana" panose="020B0604030504040204" pitchFamily="34" charset="0"/>
                <a:ea typeface="Verdana" panose="020B0604030504040204" pitchFamily="34" charset="0"/>
                <a:cs typeface="Verdana" panose="020B0604030504040204" pitchFamily="34" charset="0"/>
              </a:rPr>
              <a:t>range</a:t>
            </a:r>
            <a:r>
              <a:rPr lang="en-US" sz="2400" dirty="0">
                <a:latin typeface="Verdana" panose="020B0604030504040204" pitchFamily="34" charset="0"/>
                <a:ea typeface="Verdana" panose="020B0604030504040204" pitchFamily="34" charset="0"/>
                <a:cs typeface="Verdana" panose="020B0604030504040204" pitchFamily="34" charset="0"/>
              </a:rPr>
              <a:t>, the </a:t>
            </a:r>
            <a:r>
              <a:rPr lang="en-US" sz="2400" b="1" i="1" dirty="0">
                <a:latin typeface="Verdana" panose="020B0604030504040204" pitchFamily="34" charset="0"/>
                <a:ea typeface="Verdana" panose="020B0604030504040204" pitchFamily="34" charset="0"/>
                <a:cs typeface="Verdana" panose="020B0604030504040204" pitchFamily="34" charset="0"/>
              </a:rPr>
              <a:t>interquartile range (</a:t>
            </a:r>
            <a:r>
              <a:rPr lang="en-US" sz="2400" b="1" i="1">
                <a:latin typeface="Verdana" panose="020B0604030504040204" pitchFamily="34" charset="0"/>
                <a:ea typeface="Verdana" panose="020B0604030504040204" pitchFamily="34" charset="0"/>
                <a:cs typeface="Verdana" panose="020B0604030504040204" pitchFamily="34" charset="0"/>
              </a:rPr>
              <a:t>IQR),</a:t>
            </a:r>
            <a:r>
              <a:rPr lang="en-US" sz="240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can be found by determining the difference in the third quartile from the first quartile.</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8" name="Google Shape;282;g104476d1465_1_17">
            <a:extLst>
              <a:ext uri="{FF2B5EF4-FFF2-40B4-BE49-F238E27FC236}">
                <a16:creationId xmlns:a16="http://schemas.microsoft.com/office/drawing/2014/main" id="{573B6DB9-0C5B-E343-B968-D2FE61B15D98}"/>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p>
        </p:txBody>
      </p:sp>
    </p:spTree>
    <p:extLst>
      <p:ext uri="{BB962C8B-B14F-4D97-AF65-F5344CB8AC3E}">
        <p14:creationId xmlns:p14="http://schemas.microsoft.com/office/powerpoint/2010/main" val="1111369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4BEF2ACB-85A3-C043-82F9-43F51176FC68}"/>
              </a:ext>
            </a:extLst>
          </p:cNvPr>
          <p:cNvGrpSpPr/>
          <p:nvPr/>
        </p:nvGrpSpPr>
        <p:grpSpPr>
          <a:xfrm>
            <a:off x="2687003" y="941094"/>
            <a:ext cx="6817995" cy="1550035"/>
            <a:chOff x="0" y="0"/>
            <a:chExt cx="6817995" cy="1550035"/>
          </a:xfrm>
          <a:effectLst>
            <a:outerShdw blurRad="50800" dist="38100" dir="2700000" algn="tl" rotWithShape="0">
              <a:prstClr val="black">
                <a:alpha val="40000"/>
              </a:prstClr>
            </a:outerShdw>
          </a:effectLst>
        </p:grpSpPr>
        <p:grpSp>
          <p:nvGrpSpPr>
            <p:cNvPr id="10" name="Group 9">
              <a:extLst>
                <a:ext uri="{FF2B5EF4-FFF2-40B4-BE49-F238E27FC236}">
                  <a16:creationId xmlns:a16="http://schemas.microsoft.com/office/drawing/2014/main" id="{265530DD-6418-EF44-96FF-8F8DB607C69C}"/>
                </a:ext>
              </a:extLst>
            </p:cNvPr>
            <p:cNvGrpSpPr/>
            <p:nvPr/>
          </p:nvGrpSpPr>
          <p:grpSpPr>
            <a:xfrm>
              <a:off x="0" y="0"/>
              <a:ext cx="6817995" cy="1550035"/>
              <a:chOff x="1936983" y="3329150"/>
              <a:chExt cx="6817995" cy="1319001"/>
            </a:xfrm>
          </p:grpSpPr>
          <p:sp>
            <p:nvSpPr>
              <p:cNvPr id="13" name="Rectangle 12">
                <a:extLst>
                  <a:ext uri="{FF2B5EF4-FFF2-40B4-BE49-F238E27FC236}">
                    <a16:creationId xmlns:a16="http://schemas.microsoft.com/office/drawing/2014/main" id="{0813A0EF-2672-0543-9008-26D429367459}"/>
                  </a:ext>
                </a:extLst>
              </p:cNvPr>
              <p:cNvSpPr/>
              <p:nvPr/>
            </p:nvSpPr>
            <p:spPr>
              <a:xfrm>
                <a:off x="1936983" y="3329150"/>
                <a:ext cx="6817975" cy="13190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p>
            </p:txBody>
          </p:sp>
          <p:grpSp>
            <p:nvGrpSpPr>
              <p:cNvPr id="15" name="Group 14">
                <a:extLst>
                  <a:ext uri="{FF2B5EF4-FFF2-40B4-BE49-F238E27FC236}">
                    <a16:creationId xmlns:a16="http://schemas.microsoft.com/office/drawing/2014/main" id="{EDC43E17-62E7-6740-9372-1FCAE90E4C97}"/>
                  </a:ext>
                </a:extLst>
              </p:cNvPr>
              <p:cNvGrpSpPr/>
              <p:nvPr/>
            </p:nvGrpSpPr>
            <p:grpSpPr>
              <a:xfrm>
                <a:off x="1936983" y="3329150"/>
                <a:ext cx="6817995" cy="1319001"/>
                <a:chOff x="-20" y="0"/>
                <a:chExt cx="6817995" cy="1319001"/>
              </a:xfrm>
            </p:grpSpPr>
            <p:sp>
              <p:nvSpPr>
                <p:cNvPr id="16" name="Rectangle 15">
                  <a:extLst>
                    <a:ext uri="{FF2B5EF4-FFF2-40B4-BE49-F238E27FC236}">
                      <a16:creationId xmlns:a16="http://schemas.microsoft.com/office/drawing/2014/main" id="{A0DBC610-2F0E-7B45-858B-F560F7187464}"/>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p>
              </p:txBody>
            </p:sp>
            <p:sp>
              <p:nvSpPr>
                <p:cNvPr id="17" name="Rounded Rectangle 16">
                  <a:extLst>
                    <a:ext uri="{FF2B5EF4-FFF2-40B4-BE49-F238E27FC236}">
                      <a16:creationId xmlns:a16="http://schemas.microsoft.com/office/drawing/2014/main" id="{ACCDA1FC-E238-6B43-BCD1-534F8BA62DA6}"/>
                    </a:ext>
                  </a:extLst>
                </p:cNvPr>
                <p:cNvSpPr/>
                <p:nvPr/>
              </p:nvSpPr>
              <p:spPr>
                <a:xfrm>
                  <a:off x="-20" y="72597"/>
                  <a:ext cx="6629400" cy="1246404"/>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45700" rIns="91425" bIns="45700" anchor="ctr" anchorCtr="0">
                  <a:noAutofit/>
                </a:bodyPr>
                <a:lstStyle/>
                <a:p>
                  <a:pPr marL="685800" indent="-635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measure of variation in a set of numerical data, 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interquartile range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distance between the first and third quartiles of the data set. </a:t>
                  </a:r>
                  <a:endParaRPr lang="en-US" sz="1200" dirty="0">
                    <a:latin typeface="Calibri" panose="020F0502020204030204" pitchFamily="34" charset="0"/>
                    <a:ea typeface="Times New Roman" panose="02020603050405020304" pitchFamily="18" charset="0"/>
                  </a:endParaRPr>
                </a:p>
              </p:txBody>
            </p:sp>
          </p:grpSp>
        </p:grpSp>
        <p:pic>
          <p:nvPicPr>
            <p:cNvPr id="11" name="Picture 10" descr="Icon&#10;&#10;Description automatically generated">
              <a:extLst>
                <a:ext uri="{FF2B5EF4-FFF2-40B4-BE49-F238E27FC236}">
                  <a16:creationId xmlns:a16="http://schemas.microsoft.com/office/drawing/2014/main" id="{4CD2C514-238F-C045-8DF7-684C300F8AEB}"/>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40678" y="243672"/>
              <a:ext cx="548640" cy="548640"/>
            </a:xfrm>
            <a:prstGeom prst="rect">
              <a:avLst/>
            </a:prstGeom>
            <a:noFill/>
            <a:ln>
              <a:noFill/>
            </a:ln>
            <a:effectLst>
              <a:outerShdw blurRad="50800" dist="38100" dir="2700000" algn="tl" rotWithShape="0">
                <a:prstClr val="black">
                  <a:alpha val="40000"/>
                </a:prstClr>
              </a:outerShdw>
            </a:effectLst>
          </p:spPr>
        </p:pic>
      </p:grpSp>
      <p:grpSp>
        <p:nvGrpSpPr>
          <p:cNvPr id="7" name="Group 6">
            <a:extLst>
              <a:ext uri="{FF2B5EF4-FFF2-40B4-BE49-F238E27FC236}">
                <a16:creationId xmlns:a16="http://schemas.microsoft.com/office/drawing/2014/main" id="{982B2F52-24BA-7347-B57A-708D3F918A4A}"/>
              </a:ext>
            </a:extLst>
          </p:cNvPr>
          <p:cNvGrpSpPr/>
          <p:nvPr/>
        </p:nvGrpSpPr>
        <p:grpSpPr>
          <a:xfrm>
            <a:off x="2688336" y="3733771"/>
            <a:ext cx="6629400" cy="794385"/>
            <a:chOff x="0" y="0"/>
            <a:chExt cx="6629400" cy="794754"/>
          </a:xfrm>
          <a:effectLst>
            <a:outerShdw blurRad="50800" dist="38100" dir="2700000" algn="tl" rotWithShape="0">
              <a:prstClr val="black">
                <a:alpha val="40000"/>
              </a:prstClr>
            </a:outerShdw>
          </a:effectLst>
        </p:grpSpPr>
        <p:sp>
          <p:nvSpPr>
            <p:cNvPr id="8" name="Rounded Rectangle 7">
              <a:extLst>
                <a:ext uri="{FF2B5EF4-FFF2-40B4-BE49-F238E27FC236}">
                  <a16:creationId xmlns:a16="http://schemas.microsoft.com/office/drawing/2014/main" id="{03710D0A-BB89-D54D-AED3-6683F814BF98}"/>
                </a:ext>
              </a:extLst>
            </p:cNvPr>
            <p:cNvSpPr/>
            <p:nvPr/>
          </p:nvSpPr>
          <p:spPr>
            <a:xfrm>
              <a:off x="0" y="0"/>
              <a:ext cx="6629400" cy="794754"/>
            </a:xfrm>
            <a:prstGeom prst="roundRect">
              <a:avLst>
                <a:gd name="adj" fmla="val 16667"/>
              </a:avLst>
            </a:prstGeom>
            <a:solidFill>
              <a:srgbClr val="B7E6F4"/>
            </a:solidFill>
            <a:ln w="12700" cap="flat" cmpd="sng">
              <a:solidFill>
                <a:srgbClr val="B8E7F5"/>
              </a:solidFill>
              <a:prstDash val="solid"/>
              <a:miter lim="800000"/>
              <a:headEnd type="none" w="sm" len="sm"/>
              <a:tailEnd type="none" w="sm" len="sm"/>
            </a:ln>
          </p:spPr>
          <p:txBody>
            <a:bodyPr spcFirstLastPara="1" wrap="square" lIns="91425" tIns="45700" rIns="91425" bIns="45700" anchor="ctr" anchorCtr="0">
              <a:noAutofit/>
            </a:bodyPr>
            <a:lstStyle/>
            <a:p>
              <a:pPr marL="685800">
                <a:lnSpc>
                  <a:spcPct val="107000"/>
                </a:lnSpc>
              </a:pPr>
              <a:r>
                <a:rPr lang="en-US" sz="2000" b="1">
                  <a:solidFill>
                    <a:srgbClr val="02619E"/>
                  </a:solidFill>
                  <a:latin typeface="Verdana" panose="020B0604030504040204" pitchFamily="34" charset="0"/>
                  <a:ea typeface="Verdana" panose="020B0604030504040204" pitchFamily="34" charset="0"/>
                  <a:cs typeface="Verdana" panose="020B0604030504040204" pitchFamily="34" charset="0"/>
                </a:rPr>
                <a:t>IQR = (Q</a:t>
              </a:r>
              <a:r>
                <a:rPr lang="en-US" sz="2000" b="1" baseline="-25000">
                  <a:solidFill>
                    <a:srgbClr val="02619E"/>
                  </a:solidFill>
                  <a:latin typeface="Verdana" panose="020B0604030504040204" pitchFamily="34" charset="0"/>
                  <a:ea typeface="Verdana" panose="020B0604030504040204" pitchFamily="34" charset="0"/>
                  <a:cs typeface="Verdana" panose="020B0604030504040204" pitchFamily="34" charset="0"/>
                </a:rPr>
                <a:t>3</a:t>
              </a:r>
              <a:r>
                <a:rPr lang="en-US" sz="2000" b="1">
                  <a:solidFill>
                    <a:srgbClr val="02619E"/>
                  </a:solidFill>
                  <a:latin typeface="Verdana" panose="020B0604030504040204" pitchFamily="34" charset="0"/>
                  <a:ea typeface="Verdana" panose="020B0604030504040204" pitchFamily="34" charset="0"/>
                  <a:cs typeface="Verdana" panose="020B0604030504040204" pitchFamily="34" charset="0"/>
                </a:rPr>
                <a:t>) - (Q</a:t>
              </a:r>
              <a:r>
                <a:rPr lang="en-US" sz="2000" b="1" baseline="-25000">
                  <a:solidFill>
                    <a:srgbClr val="02619E"/>
                  </a:solidFill>
                  <a:latin typeface="Verdana" panose="020B0604030504040204" pitchFamily="34" charset="0"/>
                  <a:ea typeface="Verdana" panose="020B0604030504040204" pitchFamily="34" charset="0"/>
                  <a:cs typeface="Verdana" panose="020B0604030504040204" pitchFamily="34" charset="0"/>
                </a:rPr>
                <a:t>1</a:t>
              </a:r>
              <a:r>
                <a:rPr lang="en-US" sz="2000" b="1">
                  <a:solidFill>
                    <a:srgbClr val="02619E"/>
                  </a:solidFill>
                  <a:latin typeface="Verdana" panose="020B0604030504040204" pitchFamily="34" charset="0"/>
                  <a:ea typeface="Verdana" panose="020B0604030504040204" pitchFamily="34" charset="0"/>
                  <a:cs typeface="Verdana" panose="020B0604030504040204" pitchFamily="34" charset="0"/>
                </a:rPr>
                <a:t>) </a:t>
              </a:r>
              <a:endParaRPr lang="en-US" sz="1200">
                <a:latin typeface="Calibri" panose="020F0502020204030204" pitchFamily="34" charset="0"/>
                <a:ea typeface="Times New Roman" panose="02020603050405020304" pitchFamily="18" charset="0"/>
              </a:endParaRPr>
            </a:p>
          </p:txBody>
        </p:sp>
        <p:pic>
          <p:nvPicPr>
            <p:cNvPr id="9" name="Picture 8" descr="Icon&#10;&#10;Description automatically generated">
              <a:extLst>
                <a:ext uri="{FF2B5EF4-FFF2-40B4-BE49-F238E27FC236}">
                  <a16:creationId xmlns:a16="http://schemas.microsoft.com/office/drawing/2014/main" id="{82932E4F-5C52-9846-99DE-14D88B409455}"/>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40677" y="152400"/>
              <a:ext cx="548640" cy="548640"/>
            </a:xfrm>
            <a:prstGeom prst="rect">
              <a:avLst/>
            </a:prstGeom>
            <a:noFill/>
            <a:ln>
              <a:noFill/>
            </a:ln>
            <a:effectLst>
              <a:outerShdw blurRad="50800" dist="38100" dir="2700000" algn="tl" rotWithShape="0">
                <a:prstClr val="black">
                  <a:alpha val="40000"/>
                </a:prstClr>
              </a:outerShdw>
            </a:effectLst>
          </p:spPr>
        </p:pic>
      </p:grpSp>
      <p:sp>
        <p:nvSpPr>
          <p:cNvPr id="18" name="Google Shape;282;g104476d1465_1_17">
            <a:extLst>
              <a:ext uri="{FF2B5EF4-FFF2-40B4-BE49-F238E27FC236}">
                <a16:creationId xmlns:a16="http://schemas.microsoft.com/office/drawing/2014/main" id="{573B6DB9-0C5B-E343-B968-D2FE61B15D98}"/>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p>
        </p:txBody>
      </p:sp>
    </p:spTree>
    <p:extLst>
      <p:ext uri="{BB962C8B-B14F-4D97-AF65-F5344CB8AC3E}">
        <p14:creationId xmlns:p14="http://schemas.microsoft.com/office/powerpoint/2010/main" val="2082912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32943" y="456033"/>
            <a:ext cx="10515600" cy="6001643"/>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Revisit the box plot of the eggs laid by a farmer’s hens.</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algn="ctr"/>
            <a:r>
              <a:rPr lang="en-US" b="1" dirty="0"/>
              <a:t> </a:t>
            </a:r>
            <a:r>
              <a:rPr lang="en-US" sz="2400" b="1" dirty="0">
                <a:latin typeface="Verdana" panose="020B0604030504040204" pitchFamily="34" charset="0"/>
                <a:ea typeface="Verdana" panose="020B0604030504040204" pitchFamily="34" charset="0"/>
                <a:cs typeface="Verdana" panose="020B0604030504040204" pitchFamily="34" charset="0"/>
              </a:rPr>
              <a:t>Number of Eggs Laid</a:t>
            </a:r>
          </a:p>
          <a:p>
            <a:pPr algn="ctr"/>
            <a:endParaRPr lang="en-US" sz="24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4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4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4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4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400" b="1"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interquartile range (IQR) for the box plot of the context?</a:t>
            </a: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Label the IQR on the box plot.</a:t>
            </a:r>
          </a:p>
        </p:txBody>
      </p:sp>
      <p:sp>
        <p:nvSpPr>
          <p:cNvPr id="2" name="Rectangle 2">
            <a:extLst>
              <a:ext uri="{FF2B5EF4-FFF2-40B4-BE49-F238E27FC236}">
                <a16:creationId xmlns:a16="http://schemas.microsoft.com/office/drawing/2014/main" id="{E4036125-6C55-084C-8930-E06802D5B1CE}"/>
              </a:ext>
            </a:extLst>
          </p:cNvPr>
          <p:cNvSpPr>
            <a:spLocks noChangeArrowheads="1"/>
          </p:cNvSpPr>
          <p:nvPr/>
        </p:nvSpPr>
        <p:spPr bwMode="auto">
          <a:xfrm>
            <a:off x="1524001" y="3450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descr="Chart, box and whisker chart&#10;&#10;Description automatically generated">
            <a:extLst>
              <a:ext uri="{FF2B5EF4-FFF2-40B4-BE49-F238E27FC236}">
                <a16:creationId xmlns:a16="http://schemas.microsoft.com/office/drawing/2014/main" id="{A82870F0-5735-0E43-8A96-4FBEA6E7AFE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5189" b="55580"/>
          <a:stretch/>
        </p:blipFill>
        <p:spPr bwMode="auto">
          <a:xfrm>
            <a:off x="2241446" y="1750795"/>
            <a:ext cx="6945630" cy="2040255"/>
          </a:xfrm>
          <a:prstGeom prst="rect">
            <a:avLst/>
          </a:prstGeom>
          <a:ln>
            <a:noFill/>
          </a:ln>
          <a:extLst>
            <a:ext uri="{53640926-AAD7-44D8-BBD7-CCE9431645EC}">
              <a14:shadowObscured xmlns:a14="http://schemas.microsoft.com/office/drawing/2010/main"/>
            </a:ext>
          </a:extLst>
        </p:spPr>
      </p:pic>
      <p:sp>
        <p:nvSpPr>
          <p:cNvPr id="13" name="Google Shape;282;g104476d1465_1_17">
            <a:extLst>
              <a:ext uri="{FF2B5EF4-FFF2-40B4-BE49-F238E27FC236}">
                <a16:creationId xmlns:a16="http://schemas.microsoft.com/office/drawing/2014/main" id="{52B23C70-562F-0C43-A2AC-7CCA7916A586}"/>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170</a:t>
            </a:r>
          </a:p>
        </p:txBody>
      </p:sp>
    </p:spTree>
    <p:extLst>
      <p:ext uri="{BB962C8B-B14F-4D97-AF65-F5344CB8AC3E}">
        <p14:creationId xmlns:p14="http://schemas.microsoft.com/office/powerpoint/2010/main" val="1133275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70632"/>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B3779F7E-AEF3-4F4C-9BE1-542667ADE056}"/>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170</a:t>
            </a:r>
          </a:p>
        </p:txBody>
      </p:sp>
    </p:spTree>
    <p:extLst>
      <p:ext uri="{BB962C8B-B14F-4D97-AF65-F5344CB8AC3E}">
        <p14:creationId xmlns:p14="http://schemas.microsoft.com/office/powerpoint/2010/main" val="1693014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37211"/>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9.5.4 Guided Practice: </a:t>
            </a:r>
            <a:r>
              <a:rPr lang="en-US" sz="3600" b="1" dirty="0">
                <a:solidFill>
                  <a:srgbClr val="54B5D1"/>
                </a:solidFill>
                <a:latin typeface="Verdana"/>
                <a:ea typeface="Verdana"/>
                <a:cs typeface="Verdana"/>
              </a:rPr>
              <a:t>Interpreting Box Plots </a:t>
            </a:r>
            <a:endParaRPr lang="en-US" sz="3600" b="1" dirty="0">
              <a:solidFill>
                <a:srgbClr val="54B5D1"/>
              </a:solidFill>
              <a:latin typeface="Verdana"/>
              <a:ea typeface="Verdana"/>
              <a:cs typeface="Verdana"/>
              <a:sym typeface="Verdana"/>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541272" y="1386025"/>
            <a:ext cx="10515600"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average price of milk, in dollars ($), for each month from April 2000 to November 2006 was used to create the box plot shown.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Rectangle 7">
            <a:extLst>
              <a:ext uri="{FF2B5EF4-FFF2-40B4-BE49-F238E27FC236}">
                <a16:creationId xmlns:a16="http://schemas.microsoft.com/office/drawing/2014/main" id="{E9C3F789-7B0E-FF4E-9A73-07A3A71487D5}"/>
              </a:ext>
            </a:extLst>
          </p:cNvPr>
          <p:cNvSpPr>
            <a:spLocks noChangeArrowheads="1"/>
          </p:cNvSpPr>
          <p:nvPr/>
        </p:nvSpPr>
        <p:spPr bwMode="auto">
          <a:xfrm>
            <a:off x="2615954" y="2515691"/>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10">
            <a:extLst>
              <a:ext uri="{FF2B5EF4-FFF2-40B4-BE49-F238E27FC236}">
                <a16:creationId xmlns:a16="http://schemas.microsoft.com/office/drawing/2014/main" id="{77AE62EE-0E78-054E-8F3A-25BBA2136DAD}"/>
              </a:ext>
            </a:extLst>
          </p:cNvPr>
          <p:cNvSpPr>
            <a:spLocks noChangeArrowheads="1"/>
          </p:cNvSpPr>
          <p:nvPr/>
        </p:nvSpPr>
        <p:spPr bwMode="auto">
          <a:xfrm>
            <a:off x="2615954" y="2359570"/>
            <a:ext cx="18473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000">
              <a:solidFill>
                <a:schemeClr val="tx1"/>
              </a:solidFill>
            </a:endParaRPr>
          </a:p>
          <a:p>
            <a:pPr eaLnBrk="0" fontAlgn="base" hangingPunct="0">
              <a:spcBef>
                <a:spcPct val="0"/>
              </a:spcBef>
              <a:spcAft>
                <a:spcPct val="0"/>
              </a:spcAft>
              <a:buClrTx/>
            </a:pPr>
            <a:br>
              <a:rPr lang="en-US" altLang="en-US" sz="1800">
                <a:solidFill>
                  <a:schemeClr val="tx1"/>
                </a:solidFill>
                <a:latin typeface="Arial" panose="020B0604020202020204" pitchFamily="34" charset="0"/>
              </a:rPr>
            </a:br>
            <a:endParaRPr lang="en-US" altLang="en-US" sz="1800">
              <a:solidFill>
                <a:schemeClr val="tx1"/>
              </a:solidFill>
              <a:latin typeface="Arial" panose="020B0604020202020204" pitchFamily="34" charset="0"/>
            </a:endParaRPr>
          </a:p>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13" name="Rectangle 11">
            <a:extLst>
              <a:ext uri="{FF2B5EF4-FFF2-40B4-BE49-F238E27FC236}">
                <a16:creationId xmlns:a16="http://schemas.microsoft.com/office/drawing/2014/main" id="{D3777697-304A-9B40-B61D-7054BEEB2C9C}"/>
              </a:ext>
            </a:extLst>
          </p:cNvPr>
          <p:cNvSpPr>
            <a:spLocks noChangeArrowheads="1"/>
          </p:cNvSpPr>
          <p:nvPr/>
        </p:nvSpPr>
        <p:spPr bwMode="auto">
          <a:xfrm>
            <a:off x="2615954" y="257501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14" name="Rectangle 12">
            <a:extLst>
              <a:ext uri="{FF2B5EF4-FFF2-40B4-BE49-F238E27FC236}">
                <a16:creationId xmlns:a16="http://schemas.microsoft.com/office/drawing/2014/main" id="{E17E1E94-350C-6444-837B-0D90434B2C59}"/>
              </a:ext>
            </a:extLst>
          </p:cNvPr>
          <p:cNvSpPr>
            <a:spLocks noChangeArrowheads="1"/>
          </p:cNvSpPr>
          <p:nvPr/>
        </p:nvSpPr>
        <p:spPr bwMode="auto">
          <a:xfrm>
            <a:off x="2615954" y="463659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6" name="Group 15">
            <a:extLst>
              <a:ext uri="{FF2B5EF4-FFF2-40B4-BE49-F238E27FC236}">
                <a16:creationId xmlns:a16="http://schemas.microsoft.com/office/drawing/2014/main" id="{A970E012-155E-454F-B362-2696F080ED52}"/>
              </a:ext>
            </a:extLst>
          </p:cNvPr>
          <p:cNvGrpSpPr/>
          <p:nvPr/>
        </p:nvGrpSpPr>
        <p:grpSpPr>
          <a:xfrm>
            <a:off x="2344335" y="2705124"/>
            <a:ext cx="6946900" cy="2448212"/>
            <a:chOff x="1091953" y="2750640"/>
            <a:chExt cx="6946900" cy="2448212"/>
          </a:xfrm>
        </p:grpSpPr>
        <p:grpSp>
          <p:nvGrpSpPr>
            <p:cNvPr id="15" name="Group 14">
              <a:extLst>
                <a:ext uri="{FF2B5EF4-FFF2-40B4-BE49-F238E27FC236}">
                  <a16:creationId xmlns:a16="http://schemas.microsoft.com/office/drawing/2014/main" id="{118CDB80-77E9-5F42-94BF-448653441F4D}"/>
                </a:ext>
              </a:extLst>
            </p:cNvPr>
            <p:cNvGrpSpPr/>
            <p:nvPr/>
          </p:nvGrpSpPr>
          <p:grpSpPr>
            <a:xfrm>
              <a:off x="1091953" y="3251528"/>
              <a:ext cx="6946900" cy="1947324"/>
              <a:chOff x="1091953" y="2843155"/>
              <a:chExt cx="6946900" cy="1947324"/>
            </a:xfrm>
          </p:grpSpPr>
          <p:pic>
            <p:nvPicPr>
              <p:cNvPr id="4097" name="Picture 46" descr="Chart, box and whisker chart&#10;&#10;Description automatically generated">
                <a:extLst>
                  <a:ext uri="{FF2B5EF4-FFF2-40B4-BE49-F238E27FC236}">
                    <a16:creationId xmlns:a16="http://schemas.microsoft.com/office/drawing/2014/main" id="{F546EAA2-FC51-B346-A3DE-721D52126C5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t="14571" b="58009"/>
              <a:stretch>
                <a:fillRect/>
              </a:stretch>
            </p:blipFill>
            <p:spPr bwMode="auto">
              <a:xfrm>
                <a:off x="1091953" y="2898179"/>
                <a:ext cx="6946900" cy="1892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47">
                <a:extLst>
                  <a:ext uri="{FF2B5EF4-FFF2-40B4-BE49-F238E27FC236}">
                    <a16:creationId xmlns:a16="http://schemas.microsoft.com/office/drawing/2014/main" id="{A7BC7155-B7C7-8E42-A785-846059B4CED3}"/>
                  </a:ext>
                </a:extLst>
              </p:cNvPr>
              <p:cNvSpPr txBox="1">
                <a:spLocks noChangeArrowheads="1"/>
              </p:cNvSpPr>
              <p:nvPr/>
            </p:nvSpPr>
            <p:spPr bwMode="auto">
              <a:xfrm>
                <a:off x="1582491" y="2843155"/>
                <a:ext cx="728662"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i="1" dirty="0">
                    <a:solidFill>
                      <a:schemeClr val="tx1"/>
                    </a:solidFill>
                    <a:latin typeface="Cambria Math" panose="02040503050406030204" pitchFamily="18" charset="0"/>
                    <a:ea typeface="Times New Roman" panose="02020603050405020304" pitchFamily="18" charset="0"/>
                  </a:rPr>
                  <a:t>$2.66</a:t>
                </a:r>
                <a:endParaRPr lang="en-US" altLang="en-US" sz="1800" dirty="0">
                  <a:solidFill>
                    <a:schemeClr val="tx1"/>
                  </a:solidFill>
                  <a:latin typeface="Arial" panose="020B0604020202020204" pitchFamily="34" charset="0"/>
                </a:endParaRPr>
              </a:p>
            </p:txBody>
          </p:sp>
          <p:sp>
            <p:nvSpPr>
              <p:cNvPr id="3" name="Text Box 48">
                <a:extLst>
                  <a:ext uri="{FF2B5EF4-FFF2-40B4-BE49-F238E27FC236}">
                    <a16:creationId xmlns:a16="http://schemas.microsoft.com/office/drawing/2014/main" id="{EA93A8C8-E762-4446-849B-8BA2A3DB58F5}"/>
                  </a:ext>
                </a:extLst>
              </p:cNvPr>
              <p:cNvSpPr txBox="1">
                <a:spLocks noChangeArrowheads="1"/>
              </p:cNvSpPr>
              <p:nvPr/>
            </p:nvSpPr>
            <p:spPr bwMode="auto">
              <a:xfrm>
                <a:off x="2301586" y="2843156"/>
                <a:ext cx="728663"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i="1" dirty="0">
                    <a:solidFill>
                      <a:schemeClr val="tx1"/>
                    </a:solidFill>
                    <a:latin typeface="Cambria Math" panose="02040503050406030204" pitchFamily="18" charset="0"/>
                    <a:ea typeface="Times New Roman" panose="02020603050405020304" pitchFamily="18" charset="0"/>
                  </a:rPr>
                  <a:t>$2.78</a:t>
                </a:r>
                <a:endParaRPr lang="en-US" altLang="en-US" sz="1800" dirty="0">
                  <a:solidFill>
                    <a:schemeClr val="tx1"/>
                  </a:solidFill>
                  <a:latin typeface="Arial" panose="020B0604020202020204" pitchFamily="34" charset="0"/>
                </a:endParaRPr>
              </a:p>
            </p:txBody>
          </p:sp>
          <p:sp>
            <p:nvSpPr>
              <p:cNvPr id="4" name="Text Box 49">
                <a:extLst>
                  <a:ext uri="{FF2B5EF4-FFF2-40B4-BE49-F238E27FC236}">
                    <a16:creationId xmlns:a16="http://schemas.microsoft.com/office/drawing/2014/main" id="{7922C83F-F0EC-4D41-B4B8-284DD07BCB77}"/>
                  </a:ext>
                </a:extLst>
              </p:cNvPr>
              <p:cNvSpPr txBox="1">
                <a:spLocks noChangeArrowheads="1"/>
              </p:cNvSpPr>
              <p:nvPr/>
            </p:nvSpPr>
            <p:spPr bwMode="auto">
              <a:xfrm>
                <a:off x="3344616" y="3401417"/>
                <a:ext cx="728662"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i="1" dirty="0">
                    <a:solidFill>
                      <a:schemeClr val="tx1"/>
                    </a:solidFill>
                    <a:latin typeface="Cambria Math" panose="02040503050406030204" pitchFamily="18" charset="0"/>
                    <a:ea typeface="Times New Roman" panose="02020603050405020304" pitchFamily="18" charset="0"/>
                  </a:rPr>
                  <a:t>$2.90</a:t>
                </a:r>
                <a:endParaRPr lang="en-US" altLang="en-US" sz="1800" dirty="0">
                  <a:solidFill>
                    <a:schemeClr val="tx1"/>
                  </a:solidFill>
                  <a:latin typeface="Arial" panose="020B0604020202020204" pitchFamily="34" charset="0"/>
                </a:endParaRPr>
              </a:p>
            </p:txBody>
          </p:sp>
          <p:sp>
            <p:nvSpPr>
              <p:cNvPr id="5" name="Text Box 50">
                <a:extLst>
                  <a:ext uri="{FF2B5EF4-FFF2-40B4-BE49-F238E27FC236}">
                    <a16:creationId xmlns:a16="http://schemas.microsoft.com/office/drawing/2014/main" id="{C86D8AD0-AB78-BC4C-8D6D-6796DA531236}"/>
                  </a:ext>
                </a:extLst>
              </p:cNvPr>
              <p:cNvSpPr txBox="1">
                <a:spLocks noChangeArrowheads="1"/>
              </p:cNvSpPr>
              <p:nvPr/>
            </p:nvSpPr>
            <p:spPr bwMode="auto">
              <a:xfrm>
                <a:off x="4276837" y="2843155"/>
                <a:ext cx="72866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i="1" dirty="0">
                    <a:solidFill>
                      <a:schemeClr val="tx1"/>
                    </a:solidFill>
                    <a:latin typeface="Cambria Math" panose="02040503050406030204" pitchFamily="18" charset="0"/>
                    <a:ea typeface="Times New Roman" panose="02020603050405020304" pitchFamily="18" charset="0"/>
                  </a:rPr>
                  <a:t>$3.13</a:t>
                </a:r>
                <a:endParaRPr lang="en-US" altLang="en-US" sz="1800" dirty="0">
                  <a:solidFill>
                    <a:schemeClr val="tx1"/>
                  </a:solidFill>
                  <a:latin typeface="Arial" panose="020B0604020202020204" pitchFamily="34" charset="0"/>
                </a:endParaRPr>
              </a:p>
            </p:txBody>
          </p:sp>
          <p:sp>
            <p:nvSpPr>
              <p:cNvPr id="6" name="Text Box 51">
                <a:extLst>
                  <a:ext uri="{FF2B5EF4-FFF2-40B4-BE49-F238E27FC236}">
                    <a16:creationId xmlns:a16="http://schemas.microsoft.com/office/drawing/2014/main" id="{18797177-1EA6-C645-BC6A-D8D1EDF3B51D}"/>
                  </a:ext>
                </a:extLst>
              </p:cNvPr>
              <p:cNvSpPr txBox="1">
                <a:spLocks noChangeArrowheads="1"/>
              </p:cNvSpPr>
              <p:nvPr/>
            </p:nvSpPr>
            <p:spPr bwMode="auto">
              <a:xfrm>
                <a:off x="6832849" y="2843156"/>
                <a:ext cx="728663"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i="1" dirty="0">
                    <a:solidFill>
                      <a:schemeClr val="tx1"/>
                    </a:solidFill>
                    <a:latin typeface="Cambria Math" panose="02040503050406030204" pitchFamily="18" charset="0"/>
                    <a:ea typeface="Times New Roman" panose="02020603050405020304" pitchFamily="18" charset="0"/>
                  </a:rPr>
                  <a:t>$3.57</a:t>
                </a:r>
                <a:endParaRPr lang="en-US" altLang="en-US" sz="1800" dirty="0">
                  <a:solidFill>
                    <a:schemeClr val="tx1"/>
                  </a:solidFill>
                  <a:latin typeface="Arial" panose="020B0604020202020204" pitchFamily="34" charset="0"/>
                </a:endParaRPr>
              </a:p>
            </p:txBody>
          </p:sp>
        </p:grpSp>
        <p:sp>
          <p:nvSpPr>
            <p:cNvPr id="19" name="Text Box 52">
              <a:extLst>
                <a:ext uri="{FF2B5EF4-FFF2-40B4-BE49-F238E27FC236}">
                  <a16:creationId xmlns:a16="http://schemas.microsoft.com/office/drawing/2014/main" id="{D20C9AA2-F4E0-4C4B-8D95-55A7F6A136AE}"/>
                </a:ext>
              </a:extLst>
            </p:cNvPr>
            <p:cNvSpPr txBox="1"/>
            <p:nvPr/>
          </p:nvSpPr>
          <p:spPr>
            <a:xfrm>
              <a:off x="2645545" y="2750640"/>
              <a:ext cx="3781887" cy="4368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2000" b="1" dirty="0">
                  <a:latin typeface="Verdana" panose="020B0604030504040204" pitchFamily="34" charset="0"/>
                  <a:ea typeface="Times New Roman" panose="02020603050405020304" pitchFamily="18" charset="0"/>
                </a:rPr>
                <a:t>Average Price of Milk ($)</a:t>
              </a:r>
              <a:endParaRPr lang="en-US" sz="1200" dirty="0">
                <a:latin typeface="Calibri" panose="020F0502020204030204" pitchFamily="34" charset="0"/>
                <a:ea typeface="Times New Roman" panose="02020603050405020304" pitchFamily="18" charset="0"/>
              </a:endParaRPr>
            </a:p>
          </p:txBody>
        </p:sp>
      </p:grpSp>
      <p:sp>
        <p:nvSpPr>
          <p:cNvPr id="21" name="Google Shape;282;g104476d1465_1_17">
            <a:extLst>
              <a:ext uri="{FF2B5EF4-FFF2-40B4-BE49-F238E27FC236}">
                <a16:creationId xmlns:a16="http://schemas.microsoft.com/office/drawing/2014/main" id="{2EBC6824-B8D6-BF4E-B46A-D930C09F9349}"/>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170</a:t>
            </a:r>
          </a:p>
        </p:txBody>
      </p:sp>
    </p:spTree>
    <p:extLst>
      <p:ext uri="{BB962C8B-B14F-4D97-AF65-F5344CB8AC3E}">
        <p14:creationId xmlns:p14="http://schemas.microsoft.com/office/powerpoint/2010/main" val="745523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50150" y="520393"/>
            <a:ext cx="10515600" cy="4154984"/>
          </a:xfrm>
          <a:prstGeom prst="rect">
            <a:avLst/>
          </a:prstGeom>
          <a:noFill/>
        </p:spPr>
        <p:txBody>
          <a:bodyPr wrap="square" rtlCol="0">
            <a:spAutoFit/>
          </a:bodyPr>
          <a:lstStyle/>
          <a:p>
            <a:pPr marL="915988" lvl="1"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range of the data?</a:t>
            </a: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the interquartile range. </a:t>
            </a: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Does the average cost of milk from April 2000 to November 2006 vary a lot or a little? Explain your reasoning. </a:t>
            </a:r>
          </a:p>
        </p:txBody>
      </p:sp>
      <p:sp>
        <p:nvSpPr>
          <p:cNvPr id="6" name="Google Shape;282;g104476d1465_1_17">
            <a:extLst>
              <a:ext uri="{FF2B5EF4-FFF2-40B4-BE49-F238E27FC236}">
                <a16:creationId xmlns:a16="http://schemas.microsoft.com/office/drawing/2014/main" id="{2D346FA1-C374-C94F-B1FC-CFF416DA1E8A}"/>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170</a:t>
            </a:r>
          </a:p>
        </p:txBody>
      </p:sp>
    </p:spTree>
    <p:extLst>
      <p:ext uri="{BB962C8B-B14F-4D97-AF65-F5344CB8AC3E}">
        <p14:creationId xmlns:p14="http://schemas.microsoft.com/office/powerpoint/2010/main" val="1774421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70632"/>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1D066B3C-14A3-584D-87F9-312AFEA33788}"/>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p>
        </p:txBody>
      </p:sp>
    </p:spTree>
    <p:extLst>
      <p:ext uri="{BB962C8B-B14F-4D97-AF65-F5344CB8AC3E}">
        <p14:creationId xmlns:p14="http://schemas.microsoft.com/office/powerpoint/2010/main" val="1006858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4008"/>
            <a:ext cx="10515600" cy="116111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9.5.5 Try It: </a:t>
            </a:r>
            <a:r>
              <a:rPr lang="en-US" sz="3600" b="1" dirty="0">
                <a:solidFill>
                  <a:srgbClr val="33BEA6"/>
                </a:solidFill>
                <a:latin typeface="Verdana"/>
                <a:ea typeface="Verdana"/>
                <a:cs typeface="Verdana"/>
              </a:rPr>
              <a:t>Interpreting Box Plots </a:t>
            </a:r>
            <a:endParaRPr lang="en-US" sz="36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532394" y="1386026"/>
            <a:ext cx="1051560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box plot displays data on the response times of 100 mice when seeing a flash of light. </a:t>
            </a:r>
          </a:p>
        </p:txBody>
      </p:sp>
      <p:grpSp>
        <p:nvGrpSpPr>
          <p:cNvPr id="6" name="Group 5">
            <a:extLst>
              <a:ext uri="{FF2B5EF4-FFF2-40B4-BE49-F238E27FC236}">
                <a16:creationId xmlns:a16="http://schemas.microsoft.com/office/drawing/2014/main" id="{AAC50599-7565-B749-9D46-0DBFA96DA8F7}"/>
              </a:ext>
            </a:extLst>
          </p:cNvPr>
          <p:cNvGrpSpPr/>
          <p:nvPr/>
        </p:nvGrpSpPr>
        <p:grpSpPr>
          <a:xfrm>
            <a:off x="2377704" y="2703380"/>
            <a:ext cx="6946900" cy="2035175"/>
            <a:chOff x="1098550" y="2542789"/>
            <a:chExt cx="6946900" cy="2035175"/>
          </a:xfrm>
        </p:grpSpPr>
        <p:pic>
          <p:nvPicPr>
            <p:cNvPr id="5122" name="Picture 53" descr="Chart, histogram&#10;&#10;Description automatically generated">
              <a:extLst>
                <a:ext uri="{FF2B5EF4-FFF2-40B4-BE49-F238E27FC236}">
                  <a16:creationId xmlns:a16="http://schemas.microsoft.com/office/drawing/2014/main" id="{B70A47F3-4CFE-4844-BA61-3264219222E7}"/>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t="16089" b="58534"/>
            <a:stretch>
              <a:fillRect/>
            </a:stretch>
          </p:blipFill>
          <p:spPr bwMode="auto">
            <a:xfrm>
              <a:off x="1098550" y="2542789"/>
              <a:ext cx="6946900" cy="1638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54">
              <a:extLst>
                <a:ext uri="{FF2B5EF4-FFF2-40B4-BE49-F238E27FC236}">
                  <a16:creationId xmlns:a16="http://schemas.microsoft.com/office/drawing/2014/main" id="{B6214B57-B800-2C4D-89F1-F6EB8424401C}"/>
                </a:ext>
              </a:extLst>
            </p:cNvPr>
            <p:cNvSpPr txBox="1">
              <a:spLocks noChangeArrowheads="1"/>
            </p:cNvSpPr>
            <p:nvPr/>
          </p:nvSpPr>
          <p:spPr bwMode="auto">
            <a:xfrm>
              <a:off x="2822575" y="4181089"/>
              <a:ext cx="349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dirty="0">
                  <a:solidFill>
                    <a:schemeClr val="tx1"/>
                  </a:solidFill>
                  <a:latin typeface="Verdana" panose="020B0604030504040204" pitchFamily="34" charset="0"/>
                  <a:ea typeface="Times New Roman" panose="02020603050405020304" pitchFamily="18" charset="0"/>
                </a:rPr>
                <a:t>Response Time (in seconds)</a:t>
              </a:r>
              <a:endParaRPr lang="en-US" altLang="en-US" sz="1800" dirty="0">
                <a:solidFill>
                  <a:schemeClr val="tx1"/>
                </a:solidFill>
                <a:latin typeface="Arial" panose="020B0604020202020204" pitchFamily="34" charset="0"/>
              </a:endParaRPr>
            </a:p>
          </p:txBody>
        </p:sp>
      </p:grpSp>
      <p:sp>
        <p:nvSpPr>
          <p:cNvPr id="3" name="Rectangle 3">
            <a:extLst>
              <a:ext uri="{FF2B5EF4-FFF2-40B4-BE49-F238E27FC236}">
                <a16:creationId xmlns:a16="http://schemas.microsoft.com/office/drawing/2014/main" id="{FEFED948-8A73-CA4E-8044-21D97C135725}"/>
              </a:ext>
            </a:extLst>
          </p:cNvPr>
          <p:cNvSpPr>
            <a:spLocks noChangeArrowheads="1"/>
          </p:cNvSpPr>
          <p:nvPr/>
        </p:nvSpPr>
        <p:spPr bwMode="auto">
          <a:xfrm>
            <a:off x="2622551" y="2160301"/>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4">
            <a:extLst>
              <a:ext uri="{FF2B5EF4-FFF2-40B4-BE49-F238E27FC236}">
                <a16:creationId xmlns:a16="http://schemas.microsoft.com/office/drawing/2014/main" id="{847D4431-0A4F-734C-8C4E-7D27D1F46A6C}"/>
              </a:ext>
            </a:extLst>
          </p:cNvPr>
          <p:cNvSpPr>
            <a:spLocks noChangeArrowheads="1"/>
          </p:cNvSpPr>
          <p:nvPr/>
        </p:nvSpPr>
        <p:spPr bwMode="auto">
          <a:xfrm>
            <a:off x="2622551" y="402720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5">
            <a:extLst>
              <a:ext uri="{FF2B5EF4-FFF2-40B4-BE49-F238E27FC236}">
                <a16:creationId xmlns:a16="http://schemas.microsoft.com/office/drawing/2014/main" id="{FEE7467A-5E7B-FF47-9111-5DE9414FD8F6}"/>
              </a:ext>
            </a:extLst>
          </p:cNvPr>
          <p:cNvSpPr>
            <a:spLocks noChangeArrowheads="1"/>
          </p:cNvSpPr>
          <p:nvPr/>
        </p:nvSpPr>
        <p:spPr bwMode="auto">
          <a:xfrm>
            <a:off x="2622551" y="402720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Google Shape;282;g104476d1465_1_17">
            <a:extLst>
              <a:ext uri="{FF2B5EF4-FFF2-40B4-BE49-F238E27FC236}">
                <a16:creationId xmlns:a16="http://schemas.microsoft.com/office/drawing/2014/main" id="{BBEB5D32-F822-1E4B-9A52-4E4CA92A4259}"/>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p>
        </p:txBody>
      </p:sp>
    </p:spTree>
    <p:extLst>
      <p:ext uri="{BB962C8B-B14F-4D97-AF65-F5344CB8AC3E}">
        <p14:creationId xmlns:p14="http://schemas.microsoft.com/office/powerpoint/2010/main" val="3840359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23517" y="520394"/>
            <a:ext cx="10515600" cy="5262979"/>
          </a:xfrm>
          <a:prstGeom prst="rect">
            <a:avLst/>
          </a:prstGeom>
          <a:noFill/>
        </p:spPr>
        <p:txBody>
          <a:bodyPr wrap="square" rtlCol="0">
            <a:spAutoFit/>
          </a:bodyPr>
          <a:lstStyle/>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fastest response time is ______ seconds. </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slowest response time is ______ seconds.</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middle response time is ______ seconds.</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lower quartile is ___________ seconds.</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upper quartile is ___________ seconds.</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range is __________ seconds.</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interquartile range is _________ seconds.</a:t>
            </a:r>
          </a:p>
        </p:txBody>
      </p:sp>
      <p:grpSp>
        <p:nvGrpSpPr>
          <p:cNvPr id="2" name="Group 1">
            <a:extLst>
              <a:ext uri="{FF2B5EF4-FFF2-40B4-BE49-F238E27FC236}">
                <a16:creationId xmlns:a16="http://schemas.microsoft.com/office/drawing/2014/main" id="{292FD489-29DA-E848-9670-A98C1C3D528A}"/>
              </a:ext>
            </a:extLst>
          </p:cNvPr>
          <p:cNvGrpSpPr/>
          <p:nvPr/>
        </p:nvGrpSpPr>
        <p:grpSpPr>
          <a:xfrm>
            <a:off x="2722487" y="270796"/>
            <a:ext cx="6540557" cy="1888367"/>
            <a:chOff x="1580225" y="184554"/>
            <a:chExt cx="6540557" cy="1888367"/>
          </a:xfrm>
        </p:grpSpPr>
        <p:pic>
          <p:nvPicPr>
            <p:cNvPr id="7" name="Picture 53" descr="Chart, histogram&#10;&#10;Description automatically generated">
              <a:extLst>
                <a:ext uri="{FF2B5EF4-FFF2-40B4-BE49-F238E27FC236}">
                  <a16:creationId xmlns:a16="http://schemas.microsoft.com/office/drawing/2014/main" id="{56968644-0C90-E445-AE11-BAF5D6748849}"/>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t="16089" b="58534"/>
            <a:stretch>
              <a:fillRect/>
            </a:stretch>
          </p:blipFill>
          <p:spPr bwMode="auto">
            <a:xfrm>
              <a:off x="1580225" y="184554"/>
              <a:ext cx="6540557" cy="1542471"/>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54">
              <a:extLst>
                <a:ext uri="{FF2B5EF4-FFF2-40B4-BE49-F238E27FC236}">
                  <a16:creationId xmlns:a16="http://schemas.microsoft.com/office/drawing/2014/main" id="{168C4F01-022C-A640-81F1-5408D9D005A6}"/>
                </a:ext>
              </a:extLst>
            </p:cNvPr>
            <p:cNvSpPr txBox="1">
              <a:spLocks noChangeArrowheads="1"/>
            </p:cNvSpPr>
            <p:nvPr/>
          </p:nvSpPr>
          <p:spPr bwMode="auto">
            <a:xfrm>
              <a:off x="3020987" y="1699260"/>
              <a:ext cx="3659032" cy="373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dirty="0">
                  <a:solidFill>
                    <a:schemeClr val="tx1"/>
                  </a:solidFill>
                  <a:latin typeface="Verdana" panose="020B0604030504040204" pitchFamily="34" charset="0"/>
                  <a:ea typeface="Times New Roman" panose="02020603050405020304" pitchFamily="18" charset="0"/>
                </a:rPr>
                <a:t>Response Time (in seconds)</a:t>
              </a:r>
              <a:endParaRPr lang="en-US" altLang="en-US" sz="1800" dirty="0">
                <a:solidFill>
                  <a:schemeClr val="tx1"/>
                </a:solidFill>
                <a:latin typeface="Arial" panose="020B0604020202020204" pitchFamily="34" charset="0"/>
              </a:endParaRPr>
            </a:p>
          </p:txBody>
        </p:sp>
      </p:grpSp>
      <p:sp>
        <p:nvSpPr>
          <p:cNvPr id="15" name="Google Shape;282;g104476d1465_1_17">
            <a:extLst>
              <a:ext uri="{FF2B5EF4-FFF2-40B4-BE49-F238E27FC236}">
                <a16:creationId xmlns:a16="http://schemas.microsoft.com/office/drawing/2014/main" id="{D638AD41-7237-0645-B35D-FE26F9AE19B2}"/>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p>
        </p:txBody>
      </p:sp>
    </p:spTree>
    <p:extLst>
      <p:ext uri="{BB962C8B-B14F-4D97-AF65-F5344CB8AC3E}">
        <p14:creationId xmlns:p14="http://schemas.microsoft.com/office/powerpoint/2010/main" val="3438354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41272" y="520393"/>
            <a:ext cx="10515600" cy="3416320"/>
          </a:xfrm>
          <a:prstGeom prst="rect">
            <a:avLst/>
          </a:prstGeom>
          <a:noFill/>
        </p:spPr>
        <p:txBody>
          <a:bodyPr wrap="square" rtlCol="0">
            <a:spAutoFit/>
          </a:bodyPr>
          <a:lstStyle/>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With your partner, use the values to write a description of the spread and distribution of response times. </a:t>
            </a:r>
          </a:p>
          <a:p>
            <a:pPr marL="915988" indent="-45878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282;g104476d1465_1_17">
            <a:extLst>
              <a:ext uri="{FF2B5EF4-FFF2-40B4-BE49-F238E27FC236}">
                <a16:creationId xmlns:a16="http://schemas.microsoft.com/office/drawing/2014/main" id="{D638AD41-7237-0645-B35D-FE26F9AE19B2}"/>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p>
        </p:txBody>
      </p:sp>
      <p:grpSp>
        <p:nvGrpSpPr>
          <p:cNvPr id="9" name="Group 8">
            <a:extLst>
              <a:ext uri="{FF2B5EF4-FFF2-40B4-BE49-F238E27FC236}">
                <a16:creationId xmlns:a16="http://schemas.microsoft.com/office/drawing/2014/main" id="{292FD489-29DA-E848-9670-A98C1C3D528A}"/>
              </a:ext>
            </a:extLst>
          </p:cNvPr>
          <p:cNvGrpSpPr/>
          <p:nvPr/>
        </p:nvGrpSpPr>
        <p:grpSpPr>
          <a:xfrm>
            <a:off x="2722487" y="270796"/>
            <a:ext cx="6540557" cy="1888367"/>
            <a:chOff x="1580225" y="184554"/>
            <a:chExt cx="6540557" cy="1888367"/>
          </a:xfrm>
        </p:grpSpPr>
        <p:pic>
          <p:nvPicPr>
            <p:cNvPr id="10" name="Picture 53" descr="Chart, histogram&#10;&#10;Description automatically generated">
              <a:extLst>
                <a:ext uri="{FF2B5EF4-FFF2-40B4-BE49-F238E27FC236}">
                  <a16:creationId xmlns:a16="http://schemas.microsoft.com/office/drawing/2014/main" id="{56968644-0C90-E445-AE11-BAF5D6748849}"/>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t="16089" b="58534"/>
            <a:stretch>
              <a:fillRect/>
            </a:stretch>
          </p:blipFill>
          <p:spPr bwMode="auto">
            <a:xfrm>
              <a:off x="1580225" y="184554"/>
              <a:ext cx="6540557" cy="1542471"/>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54">
              <a:extLst>
                <a:ext uri="{FF2B5EF4-FFF2-40B4-BE49-F238E27FC236}">
                  <a16:creationId xmlns:a16="http://schemas.microsoft.com/office/drawing/2014/main" id="{168C4F01-022C-A640-81F1-5408D9D005A6}"/>
                </a:ext>
              </a:extLst>
            </p:cNvPr>
            <p:cNvSpPr txBox="1">
              <a:spLocks noChangeArrowheads="1"/>
            </p:cNvSpPr>
            <p:nvPr/>
          </p:nvSpPr>
          <p:spPr bwMode="auto">
            <a:xfrm>
              <a:off x="3020987" y="1699260"/>
              <a:ext cx="3659032" cy="373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buClrTx/>
              </a:pPr>
              <a:r>
                <a:rPr lang="en-US" altLang="en-US" sz="1800" dirty="0">
                  <a:solidFill>
                    <a:schemeClr val="tx1"/>
                  </a:solidFill>
                  <a:latin typeface="Verdana" panose="020B0604030504040204" pitchFamily="34" charset="0"/>
                  <a:ea typeface="Times New Roman" panose="02020603050405020304" pitchFamily="18" charset="0"/>
                </a:rPr>
                <a:t>Response Time (in seconds)</a:t>
              </a:r>
              <a:endParaRPr lang="en-US" altLang="en-US" sz="1800" dirty="0">
                <a:solidFill>
                  <a:schemeClr val="tx1"/>
                </a:solidFill>
                <a:latin typeface="Arial" panose="020B0604020202020204" pitchFamily="34" charset="0"/>
              </a:endParaRPr>
            </a:p>
          </p:txBody>
        </p:sp>
      </p:grpSp>
    </p:spTree>
    <p:extLst>
      <p:ext uri="{BB962C8B-B14F-4D97-AF65-F5344CB8AC3E}">
        <p14:creationId xmlns:p14="http://schemas.microsoft.com/office/powerpoint/2010/main" val="3304062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1272" y="520393"/>
                <a:ext cx="10515600" cy="5016758"/>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U.S. Energy Information Administration reports weekly average gas prices for the United States. The box plot represents the weekly average gas prices in </a:t>
                </a:r>
                <a14:m>
                  <m:oMath xmlns:m="http://schemas.openxmlformats.org/officeDocument/2006/math">
                    <m:r>
                      <a:rPr lang="en-US" sz="2000">
                        <a:latin typeface="Cambria Math" panose="02040503050406030204" pitchFamily="18" charset="0"/>
                        <a:ea typeface="Verdana" panose="020B0604030504040204" pitchFamily="34" charset="0"/>
                        <a:cs typeface="Verdana" panose="020B0604030504040204" pitchFamily="34" charset="0"/>
                      </a:rPr>
                      <m:t>2019</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b="1" dirty="0">
                    <a:latin typeface="Verdana" panose="020B0604030504040204" pitchFamily="34" charset="0"/>
                    <a:ea typeface="Verdana" panose="020B0604030504040204" pitchFamily="34" charset="0"/>
                    <a:cs typeface="Verdana" panose="020B0604030504040204" pitchFamily="34" charset="0"/>
                  </a:rPr>
                  <a:t>2019 Weekly Gas Prices</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dirty="0">
                    <a:latin typeface="Verdana" panose="020B0604030504040204" pitchFamily="34" charset="0"/>
                    <a:ea typeface="Verdana" panose="020B0604030504040204" pitchFamily="34" charset="0"/>
                    <a:cs typeface="Verdana" panose="020B0604030504040204" pitchFamily="34" charset="0"/>
                  </a:rPr>
                  <a:t>Price (in dollars)</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What percentage of weeks had an average gas price of at least $</a:t>
                </a:r>
                <a14:m>
                  <m:oMath xmlns:m="http://schemas.openxmlformats.org/officeDocument/2006/math">
                    <m:r>
                      <a:rPr lang="en-US" sz="2000">
                        <a:latin typeface="Cambria Math" panose="02040503050406030204" pitchFamily="18" charset="0"/>
                        <a:ea typeface="Verdana" panose="020B0604030504040204" pitchFamily="34" charset="0"/>
                        <a:cs typeface="Verdana" panose="020B0604030504040204" pitchFamily="34" charset="0"/>
                      </a:rPr>
                      <m:t>2.50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541272" y="520393"/>
                <a:ext cx="10515600" cy="5016758"/>
              </a:xfrm>
              <a:prstGeom prst="rect">
                <a:avLst/>
              </a:prstGeom>
              <a:blipFill rotWithShape="1">
                <a:blip r:embed="rId4"/>
                <a:stretch>
                  <a:fillRect l="-638" t="-729" r="-986"/>
                </a:stretch>
              </a:blipFill>
            </p:spPr>
            <p:txBody>
              <a:bodyPr/>
              <a:lstStyle/>
              <a:p>
                <a:r>
                  <a:rPr lang="en-PH">
                    <a:noFill/>
                  </a:rPr>
                  <a:t> </a:t>
                </a:r>
              </a:p>
            </p:txBody>
          </p:sp>
        </mc:Fallback>
      </mc:AlternateContent>
      <p:pic>
        <p:nvPicPr>
          <p:cNvPr id="13" name="Picture 12" descr="Chart, box and whisker chart&#10;&#10;Description automatically generated">
            <a:extLst>
              <a:ext uri="{FF2B5EF4-FFF2-40B4-BE49-F238E27FC236}">
                <a16:creationId xmlns:a16="http://schemas.microsoft.com/office/drawing/2014/main" id="{65C5CD4E-C58F-B542-9055-38D1AE16C8F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11628" b="64600"/>
          <a:stretch/>
        </p:blipFill>
        <p:spPr bwMode="auto">
          <a:xfrm>
            <a:off x="2334217" y="2135387"/>
            <a:ext cx="6946265" cy="1841500"/>
          </a:xfrm>
          <a:prstGeom prst="rect">
            <a:avLst/>
          </a:prstGeom>
          <a:ln>
            <a:noFill/>
          </a:ln>
          <a:extLst>
            <a:ext uri="{53640926-AAD7-44D8-BBD7-CCE9431645EC}">
              <a14:shadowObscured xmlns:a14="http://schemas.microsoft.com/office/drawing/2010/main"/>
            </a:ext>
          </a:extLst>
        </p:spPr>
      </p:pic>
      <p:sp>
        <p:nvSpPr>
          <p:cNvPr id="7" name="Google Shape;282;g104476d1465_1_17">
            <a:extLst>
              <a:ext uri="{FF2B5EF4-FFF2-40B4-BE49-F238E27FC236}">
                <a16:creationId xmlns:a16="http://schemas.microsoft.com/office/drawing/2014/main" id="{8ED33B8C-9312-A949-8AB1-73556C0515F5}"/>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p>
        </p:txBody>
      </p:sp>
    </p:spTree>
    <p:extLst>
      <p:ext uri="{BB962C8B-B14F-4D97-AF65-F5344CB8AC3E}">
        <p14:creationId xmlns:p14="http://schemas.microsoft.com/office/powerpoint/2010/main" val="3755800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770632"/>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D14F4780-9E5F-0C43-9A44-72BC1062DC44}"/>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172</a:t>
            </a:r>
          </a:p>
        </p:txBody>
      </p:sp>
    </p:spTree>
    <p:extLst>
      <p:ext uri="{BB962C8B-B14F-4D97-AF65-F5344CB8AC3E}">
        <p14:creationId xmlns:p14="http://schemas.microsoft.com/office/powerpoint/2010/main" val="1790839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9.5.6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514639" y="1386025"/>
                <a:ext cx="10515600"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Mrs. Henry’s 3</a:t>
                </a:r>
                <a:r>
                  <a:rPr lang="en-US" sz="2400" baseline="30000" dirty="0">
                    <a:latin typeface="Verdana" panose="020B0604030504040204" pitchFamily="34" charset="0"/>
                    <a:ea typeface="Verdana" panose="020B0604030504040204" pitchFamily="34" charset="0"/>
                    <a:cs typeface="Verdana" panose="020B0604030504040204" pitchFamily="34" charset="0"/>
                  </a:rPr>
                  <a:t>rd</a:t>
                </a:r>
                <a:r>
                  <a:rPr lang="en-US" sz="2400" dirty="0">
                    <a:latin typeface="Verdana" panose="020B0604030504040204" pitchFamily="34" charset="0"/>
                    <a:ea typeface="Verdana" panose="020B0604030504040204" pitchFamily="34" charset="0"/>
                    <a:cs typeface="Verdana" panose="020B0604030504040204" pitchFamily="34" charset="0"/>
                  </a:rPr>
                  <a:t> period English class took a spelling test with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words on it. A box plot was created from the number of questions students got correct on the test.</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 xmlns:a16="http://schemas.microsoft.com/office/drawing/2014/main" xmlns:a14="http://schemas.microsoft.com/office/drawing/2010/main" id="{759C3E41-93EC-B84D-963F-86A3B15AC1C6}"/>
                  </a:ext>
                </a:extLst>
              </p:cNvPr>
              <p:cNvSpPr txBox="1">
                <a:spLocks noRot="1" noChangeAspect="1" noMove="1" noResize="1" noEditPoints="1" noAdjustHandles="1" noChangeArrowheads="1" noChangeShapeType="1" noTextEdit="1"/>
              </p:cNvSpPr>
              <p:nvPr/>
            </p:nvSpPr>
            <p:spPr>
              <a:xfrm>
                <a:off x="514639" y="1386025"/>
                <a:ext cx="10515600" cy="1938992"/>
              </a:xfrm>
              <a:prstGeom prst="rect">
                <a:avLst/>
              </a:prstGeom>
              <a:blipFill rotWithShape="1">
                <a:blip r:embed="rId5"/>
                <a:stretch>
                  <a:fillRect l="-870" t="-2830"/>
                </a:stretch>
              </a:blipFill>
            </p:spPr>
            <p:txBody>
              <a:bodyPr/>
              <a:lstStyle/>
              <a:p>
                <a:r>
                  <a:rPr lang="en-PH">
                    <a:noFill/>
                  </a:rPr>
                  <a:t> </a:t>
                </a:r>
              </a:p>
            </p:txBody>
          </p:sp>
        </mc:Fallback>
      </mc:AlternateContent>
      <p:pic>
        <p:nvPicPr>
          <p:cNvPr id="8" name="Picture 7" descr="Chart&#10;&#10;Description automatically generated">
            <a:extLst>
              <a:ext uri="{FF2B5EF4-FFF2-40B4-BE49-F238E27FC236}">
                <a16:creationId xmlns:a16="http://schemas.microsoft.com/office/drawing/2014/main" id="{9A846D68-AC60-B646-99C6-DA66B0D12C24}"/>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12655" b="63574"/>
          <a:stretch/>
        </p:blipFill>
        <p:spPr bwMode="auto">
          <a:xfrm>
            <a:off x="2232251" y="3595129"/>
            <a:ext cx="6946265" cy="1841500"/>
          </a:xfrm>
          <a:prstGeom prst="rect">
            <a:avLst/>
          </a:prstGeom>
          <a:ln>
            <a:noFill/>
          </a:ln>
          <a:extLst>
            <a:ext uri="{53640926-AAD7-44D8-BBD7-CCE9431645EC}">
              <a14:shadowObscured xmlns:a14="http://schemas.microsoft.com/office/drawing/2010/main"/>
            </a:ext>
          </a:extLst>
        </p:spPr>
      </p:pic>
      <p:sp>
        <p:nvSpPr>
          <p:cNvPr id="10" name="Text Box 17">
            <a:extLst>
              <a:ext uri="{FF2B5EF4-FFF2-40B4-BE49-F238E27FC236}">
                <a16:creationId xmlns:a16="http://schemas.microsoft.com/office/drawing/2014/main" id="{25917986-07A5-7F4C-934C-A814FF585AC3}"/>
              </a:ext>
            </a:extLst>
          </p:cNvPr>
          <p:cNvSpPr txBox="1"/>
          <p:nvPr/>
        </p:nvSpPr>
        <p:spPr>
          <a:xfrm>
            <a:off x="3693067" y="3235539"/>
            <a:ext cx="4024630" cy="4749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800" b="1" dirty="0">
                <a:latin typeface="Verdana" panose="020B0604030504040204" pitchFamily="34" charset="0"/>
                <a:ea typeface="Times New Roman" panose="02020603050405020304" pitchFamily="18" charset="0"/>
              </a:rPr>
              <a:t>Number of Correct Questions</a:t>
            </a:r>
            <a:endParaRPr lang="en-US" sz="1100" dirty="0">
              <a:latin typeface="Calibri" panose="020F0502020204030204" pitchFamily="34" charset="0"/>
              <a:ea typeface="Times New Roman" panose="02020603050405020304" pitchFamily="18" charset="0"/>
            </a:endParaRPr>
          </a:p>
        </p:txBody>
      </p:sp>
      <p:sp>
        <p:nvSpPr>
          <p:cNvPr id="13" name="Google Shape;282;g104476d1465_1_17">
            <a:extLst>
              <a:ext uri="{FF2B5EF4-FFF2-40B4-BE49-F238E27FC236}">
                <a16:creationId xmlns:a16="http://schemas.microsoft.com/office/drawing/2014/main" id="{9A195C53-F688-2B42-AF5A-9D4A0838E6E4}"/>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172</a:t>
            </a:r>
          </a:p>
        </p:txBody>
      </p:sp>
    </p:spTree>
    <p:extLst>
      <p:ext uri="{BB962C8B-B14F-4D97-AF65-F5344CB8AC3E}">
        <p14:creationId xmlns:p14="http://schemas.microsoft.com/office/powerpoint/2010/main" val="3101299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41272" y="520393"/>
            <a:ext cx="10515600" cy="5632311"/>
          </a:xfrm>
          <a:prstGeom prst="rect">
            <a:avLst/>
          </a:prstGeom>
          <a:noFill/>
        </p:spPr>
        <p:txBody>
          <a:bodyPr wrap="square" rtlCol="0">
            <a:spAutoFit/>
          </a:bodyPr>
          <a:lstStyle/>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lowest score is ______. </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highest score is ______.</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middle score is ________.</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lower quartile is ___________.</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upper quartile is ___________.</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range is __________.</a:t>
            </a:r>
          </a:p>
          <a:p>
            <a:pPr marL="915988" indent="-4587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interquartile range is _________.</a:t>
            </a:r>
          </a:p>
        </p:txBody>
      </p:sp>
      <p:pic>
        <p:nvPicPr>
          <p:cNvPr id="6" name="Picture 5" descr="Chart&#10;&#10;Description automatically generated">
            <a:extLst>
              <a:ext uri="{FF2B5EF4-FFF2-40B4-BE49-F238E27FC236}">
                <a16:creationId xmlns:a16="http://schemas.microsoft.com/office/drawing/2014/main" id="{7EEF8CF9-A39E-1447-93EB-8B7E91C7909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2655" b="63574"/>
          <a:stretch/>
        </p:blipFill>
        <p:spPr bwMode="auto">
          <a:xfrm>
            <a:off x="2460948" y="757109"/>
            <a:ext cx="6946265" cy="1841500"/>
          </a:xfrm>
          <a:prstGeom prst="rect">
            <a:avLst/>
          </a:prstGeom>
          <a:ln>
            <a:noFill/>
          </a:ln>
          <a:extLst>
            <a:ext uri="{53640926-AAD7-44D8-BBD7-CCE9431645EC}">
              <a14:shadowObscured xmlns:a14="http://schemas.microsoft.com/office/drawing/2010/main"/>
            </a:ext>
          </a:extLst>
        </p:spPr>
      </p:pic>
      <p:sp>
        <p:nvSpPr>
          <p:cNvPr id="7" name="Text Box 17">
            <a:extLst>
              <a:ext uri="{FF2B5EF4-FFF2-40B4-BE49-F238E27FC236}">
                <a16:creationId xmlns:a16="http://schemas.microsoft.com/office/drawing/2014/main" id="{15F1E176-28EE-284E-BFDE-1C1D48DF9C23}"/>
              </a:ext>
            </a:extLst>
          </p:cNvPr>
          <p:cNvSpPr txBox="1"/>
          <p:nvPr/>
        </p:nvSpPr>
        <p:spPr>
          <a:xfrm>
            <a:off x="3921764" y="397519"/>
            <a:ext cx="4024630" cy="4749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800" b="1" dirty="0">
                <a:latin typeface="Verdana" panose="020B0604030504040204" pitchFamily="34" charset="0"/>
                <a:ea typeface="Times New Roman" panose="02020603050405020304" pitchFamily="18" charset="0"/>
              </a:rPr>
              <a:t>Number of Correct Questions</a:t>
            </a:r>
            <a:endParaRPr lang="en-US" sz="1100" dirty="0">
              <a:latin typeface="Calibri" panose="020F0502020204030204" pitchFamily="34" charset="0"/>
              <a:ea typeface="Times New Roman" panose="02020603050405020304" pitchFamily="18" charset="0"/>
            </a:endParaRPr>
          </a:p>
        </p:txBody>
      </p:sp>
      <p:sp>
        <p:nvSpPr>
          <p:cNvPr id="8" name="Google Shape;282;g104476d1465_1_17">
            <a:extLst>
              <a:ext uri="{FF2B5EF4-FFF2-40B4-BE49-F238E27FC236}">
                <a16:creationId xmlns:a16="http://schemas.microsoft.com/office/drawing/2014/main" id="{6E5501E8-D0E6-1043-91BD-97B660DFF538}"/>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172</a:t>
            </a:r>
          </a:p>
        </p:txBody>
      </p:sp>
    </p:spTree>
    <p:extLst>
      <p:ext uri="{BB962C8B-B14F-4D97-AF65-F5344CB8AC3E}">
        <p14:creationId xmlns:p14="http://schemas.microsoft.com/office/powerpoint/2010/main" val="1903617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14639" y="520393"/>
            <a:ext cx="10515600" cy="3785652"/>
          </a:xfrm>
          <a:prstGeom prst="rect">
            <a:avLst/>
          </a:prstGeom>
          <a:noFill/>
        </p:spPr>
        <p:txBody>
          <a:bodyPr wrap="square" rtlCol="0">
            <a:spAutoFit/>
          </a:bodyPr>
          <a:lstStyle/>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8788">
              <a:buFont typeface="+mj-lt"/>
              <a:buAutoNum type="alphaLcPeriod" startAt="8"/>
            </a:pPr>
            <a:r>
              <a:rPr lang="en-US" sz="2400" dirty="0">
                <a:latin typeface="Verdana" panose="020B0604030504040204" pitchFamily="34" charset="0"/>
                <a:ea typeface="Verdana" panose="020B0604030504040204" pitchFamily="34" charset="0"/>
                <a:cs typeface="Verdana" panose="020B0604030504040204" pitchFamily="34" charset="0"/>
              </a:rPr>
              <a:t>Write a description of the spread and distribution of the scores.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82;g104476d1465_1_17">
            <a:extLst>
              <a:ext uri="{FF2B5EF4-FFF2-40B4-BE49-F238E27FC236}">
                <a16:creationId xmlns:a16="http://schemas.microsoft.com/office/drawing/2014/main" id="{6E5501E8-D0E6-1043-91BD-97B660DFF538}"/>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172</a:t>
            </a:r>
          </a:p>
        </p:txBody>
      </p:sp>
      <p:pic>
        <p:nvPicPr>
          <p:cNvPr id="9" name="Picture 8" descr="Chart&#10;&#10;Description automatically generated">
            <a:extLst>
              <a:ext uri="{FF2B5EF4-FFF2-40B4-BE49-F238E27FC236}">
                <a16:creationId xmlns:a16="http://schemas.microsoft.com/office/drawing/2014/main" id="{7EEF8CF9-A39E-1447-93EB-8B7E91C7909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2655" b="63574"/>
          <a:stretch/>
        </p:blipFill>
        <p:spPr bwMode="auto">
          <a:xfrm>
            <a:off x="2460948" y="757109"/>
            <a:ext cx="6946265" cy="1841500"/>
          </a:xfrm>
          <a:prstGeom prst="rect">
            <a:avLst/>
          </a:prstGeom>
          <a:ln>
            <a:noFill/>
          </a:ln>
          <a:extLst>
            <a:ext uri="{53640926-AAD7-44D8-BBD7-CCE9431645EC}">
              <a14:shadowObscured xmlns:a14="http://schemas.microsoft.com/office/drawing/2010/main"/>
            </a:ext>
          </a:extLst>
        </p:spPr>
      </p:pic>
      <p:sp>
        <p:nvSpPr>
          <p:cNvPr id="10" name="Text Box 17">
            <a:extLst>
              <a:ext uri="{FF2B5EF4-FFF2-40B4-BE49-F238E27FC236}">
                <a16:creationId xmlns:a16="http://schemas.microsoft.com/office/drawing/2014/main" id="{15F1E176-28EE-284E-BFDE-1C1D48DF9C23}"/>
              </a:ext>
            </a:extLst>
          </p:cNvPr>
          <p:cNvSpPr txBox="1"/>
          <p:nvPr/>
        </p:nvSpPr>
        <p:spPr>
          <a:xfrm>
            <a:off x="3921764" y="397519"/>
            <a:ext cx="4024630" cy="4749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800" b="1" dirty="0">
                <a:latin typeface="Verdana" panose="020B0604030504040204" pitchFamily="34" charset="0"/>
                <a:ea typeface="Times New Roman" panose="02020603050405020304" pitchFamily="18" charset="0"/>
              </a:rPr>
              <a:t>Number of Correct Questions</a:t>
            </a:r>
            <a:endParaRPr lang="en-US" sz="1100" dirty="0">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4468608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50150" y="520393"/>
            <a:ext cx="10515600" cy="378565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librarian at Franklin Middle School surveyed students when they returned from summer break on how many books they had read. She created a box plot to represent the results of her survey.</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lgn="ctr"/>
            <a:endParaRPr lang="en-US" sz="2400" b="1" dirty="0">
              <a:latin typeface="Verdana" panose="020B0604030504040204" pitchFamily="34" charset="0"/>
              <a:ea typeface="Verdana" panose="020B0604030504040204" pitchFamily="34" charset="0"/>
              <a:cs typeface="Verdana" panose="020B0604030504040204" pitchFamily="34" charset="0"/>
            </a:endParaRPr>
          </a:p>
          <a:p>
            <a:pPr algn="ctr"/>
            <a:r>
              <a:rPr lang="en-US" sz="2400" b="1" dirty="0">
                <a:latin typeface="Verdana" panose="020B0604030504040204" pitchFamily="34" charset="0"/>
                <a:ea typeface="Verdana" panose="020B0604030504040204" pitchFamily="34" charset="0"/>
                <a:cs typeface="Verdana" panose="020B0604030504040204" pitchFamily="34" charset="0"/>
              </a:rPr>
              <a:t>Number of Books Read</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Chart, box and whisker chart&#10;&#10;Description automatically generated">
            <a:extLst>
              <a:ext uri="{FF2B5EF4-FFF2-40B4-BE49-F238E27FC236}">
                <a16:creationId xmlns:a16="http://schemas.microsoft.com/office/drawing/2014/main" id="{4900C3F7-9B48-0046-B1F3-5F5723C62C7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2979" b="64269"/>
          <a:stretch/>
        </p:blipFill>
        <p:spPr bwMode="auto">
          <a:xfrm>
            <a:off x="2268397" y="3140570"/>
            <a:ext cx="6944995" cy="1695450"/>
          </a:xfrm>
          <a:prstGeom prst="rect">
            <a:avLst/>
          </a:prstGeom>
          <a:ln>
            <a:noFill/>
          </a:ln>
          <a:extLst>
            <a:ext uri="{53640926-AAD7-44D8-BBD7-CCE9431645EC}">
              <a14:shadowObscured xmlns:a14="http://schemas.microsoft.com/office/drawing/2010/main"/>
            </a:ext>
          </a:extLst>
        </p:spPr>
      </p:pic>
      <p:sp>
        <p:nvSpPr>
          <p:cNvPr id="7" name="Google Shape;282;g104476d1465_1_17">
            <a:extLst>
              <a:ext uri="{FF2B5EF4-FFF2-40B4-BE49-F238E27FC236}">
                <a16:creationId xmlns:a16="http://schemas.microsoft.com/office/drawing/2014/main" id="{5515BF66-360C-2A43-ACE6-C00F1DE005A6}"/>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172</a:t>
            </a:r>
          </a:p>
        </p:txBody>
      </p:sp>
    </p:spTree>
    <p:extLst>
      <p:ext uri="{BB962C8B-B14F-4D97-AF65-F5344CB8AC3E}">
        <p14:creationId xmlns:p14="http://schemas.microsoft.com/office/powerpoint/2010/main" val="750656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14639" y="520394"/>
            <a:ext cx="10515600" cy="6001643"/>
          </a:xfrm>
          <a:prstGeom prst="rect">
            <a:avLst/>
          </a:prstGeom>
          <a:noFill/>
        </p:spPr>
        <p:txBody>
          <a:bodyPr wrap="square" rtlCol="0">
            <a:spAutoFit/>
          </a:bodyPr>
          <a:lstStyle/>
          <a:p>
            <a:pPr algn="ctr"/>
            <a:r>
              <a:rPr lang="en-US" sz="2400" b="1" dirty="0">
                <a:latin typeface="Verdana" panose="020B0604030504040204" pitchFamily="34" charset="0"/>
                <a:ea typeface="Verdana" panose="020B0604030504040204" pitchFamily="34" charset="0"/>
                <a:cs typeface="Verdana" panose="020B0604030504040204" pitchFamily="34" charset="0"/>
              </a:rPr>
              <a:t>Number of Books Read</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What percentage of students read between:</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00113"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5 and 10 books over the summer? ________</a:t>
            </a:r>
          </a:p>
          <a:p>
            <a:pPr marL="900113"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00113"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10 and 15 books over the summer? ________</a:t>
            </a:r>
          </a:p>
          <a:p>
            <a:pPr marL="900113"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00113" lvl="1"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5 and 6 books over the summer? ________</a:t>
            </a:r>
          </a:p>
          <a:p>
            <a:pPr marL="900113"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00113" lvl="1"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2 and 10 books over the summer? ________</a:t>
            </a:r>
          </a:p>
          <a:p>
            <a:pPr marL="900113" indent="-457200"/>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Chart, box and whisker chart&#10;&#10;Description automatically generated">
            <a:extLst>
              <a:ext uri="{FF2B5EF4-FFF2-40B4-BE49-F238E27FC236}">
                <a16:creationId xmlns:a16="http://schemas.microsoft.com/office/drawing/2014/main" id="{4900C3F7-9B48-0046-B1F3-5F5723C62C7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2979" b="64269"/>
          <a:stretch/>
        </p:blipFill>
        <p:spPr bwMode="auto">
          <a:xfrm>
            <a:off x="2232886" y="945859"/>
            <a:ext cx="6944995" cy="1695450"/>
          </a:xfrm>
          <a:prstGeom prst="rect">
            <a:avLst/>
          </a:prstGeom>
          <a:ln>
            <a:noFill/>
          </a:ln>
          <a:extLst>
            <a:ext uri="{53640926-AAD7-44D8-BBD7-CCE9431645EC}">
              <a14:shadowObscured xmlns:a14="http://schemas.microsoft.com/office/drawing/2010/main"/>
            </a:ext>
          </a:extLst>
        </p:spPr>
      </p:pic>
      <p:sp>
        <p:nvSpPr>
          <p:cNvPr id="7" name="Google Shape;282;g104476d1465_1_17">
            <a:extLst>
              <a:ext uri="{FF2B5EF4-FFF2-40B4-BE49-F238E27FC236}">
                <a16:creationId xmlns:a16="http://schemas.microsoft.com/office/drawing/2014/main" id="{DB2AD027-4D97-8144-97C6-6D84071762C2}"/>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172</a:t>
            </a:r>
          </a:p>
        </p:txBody>
      </p:sp>
    </p:spTree>
    <p:extLst>
      <p:ext uri="{BB962C8B-B14F-4D97-AF65-F5344CB8AC3E}">
        <p14:creationId xmlns:p14="http://schemas.microsoft.com/office/powerpoint/2010/main" val="286993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770632"/>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B5ED59BE-10A0-954F-9187-783C14AF300A}"/>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173</a:t>
            </a:r>
          </a:p>
        </p:txBody>
      </p:sp>
    </p:spTree>
    <p:extLst>
      <p:ext uri="{BB962C8B-B14F-4D97-AF65-F5344CB8AC3E}">
        <p14:creationId xmlns:p14="http://schemas.microsoft.com/office/powerpoint/2010/main" val="676908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9.5.7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41272" y="1386025"/>
            <a:ext cx="10515600"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Jamal missed class today and he needs help with what he missed.</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lvl="3"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a note to Jamal letting him know what a box plot is and what is it used for. Draw a picture or diagram that may help him better understand.</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82;g104476d1465_1_17">
            <a:extLst>
              <a:ext uri="{FF2B5EF4-FFF2-40B4-BE49-F238E27FC236}">
                <a16:creationId xmlns:a16="http://schemas.microsoft.com/office/drawing/2014/main" id="{B38DEA44-176F-8B4E-8670-3FB20517CE87}"/>
              </a:ext>
            </a:extLst>
          </p:cNvPr>
          <p:cNvSpPr txBox="1"/>
          <p:nvPr/>
        </p:nvSpPr>
        <p:spPr>
          <a:xfrm>
            <a:off x="8897112" y="6457676"/>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173</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3230BF-77A9-449C-A2FC-D1F82141BB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60ECFF6-0147-4246-A7BE-C96FCD7FED4A}">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3.xml><?xml version="1.0" encoding="utf-8"?>
<ds:datastoreItem xmlns:ds="http://schemas.openxmlformats.org/officeDocument/2006/customXml" ds:itemID="{A4A89293-1FB4-4440-A334-6F82ABE7C1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1391</TotalTime>
  <Words>1606</Words>
  <Application>Microsoft Office PowerPoint</Application>
  <PresentationFormat>Widescreen</PresentationFormat>
  <Paragraphs>314</Paragraphs>
  <Slides>36</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Courier New</vt:lpstr>
      <vt:lpstr>Calibri</vt:lpstr>
      <vt:lpstr>Arial</vt:lpstr>
      <vt:lpstr>Century Gothic</vt:lpstr>
      <vt:lpstr>Cambria Math</vt:lpstr>
      <vt:lpstr>Arial Black</vt:lpstr>
      <vt:lpstr>Verdana</vt:lpstr>
      <vt:lpstr>Wingdings</vt:lpstr>
      <vt:lpstr>1_Office Theme</vt:lpstr>
      <vt:lpstr>6th Grade Math  Unit 9, Lesson 5  Interpreting Box Plots  Volume 2, pg. 166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Try It</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30</cp:revision>
  <dcterms:created xsi:type="dcterms:W3CDTF">2015-03-17T18:51:18Z</dcterms:created>
  <dcterms:modified xsi:type="dcterms:W3CDTF">2023-07-07T05:44:49Z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