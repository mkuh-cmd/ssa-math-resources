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53" r:id="rId10"/>
    <p:sldId id="289" r:id="rId11"/>
    <p:sldId id="290" r:id="rId12"/>
    <p:sldId id="356" r:id="rId13"/>
    <p:sldId id="362" r:id="rId14"/>
    <p:sldId id="366" r:id="rId15"/>
    <p:sldId id="365" r:id="rId16"/>
    <p:sldId id="364" r:id="rId17"/>
    <p:sldId id="320" r:id="rId18"/>
    <p:sldId id="321" r:id="rId19"/>
    <p:sldId id="355" r:id="rId20"/>
    <p:sldId id="302" r:id="rId21"/>
    <p:sldId id="303" r:id="rId22"/>
    <p:sldId id="360" r:id="rId23"/>
    <p:sldId id="367" r:id="rId24"/>
    <p:sldId id="369" r:id="rId25"/>
    <p:sldId id="368" r:id="rId26"/>
    <p:sldId id="306" r:id="rId27"/>
    <p:sldId id="307" r:id="rId28"/>
  </p:sldIdLst>
  <p:sldSz cx="12192000" cy="6858000"/>
  <p:notesSz cx="6858000" cy="9144000"/>
  <p:embeddedFontLst>
    <p:embeddedFont>
      <p:font typeface="Cambria Math" pitchFamily="18" charset="0"/>
      <p:regular r:id="rId30"/>
    </p:embeddedFont>
    <p:embeddedFont>
      <p:font typeface="Arial Black" pitchFamily="34" charset="0"/>
      <p:bold r:id="rId31"/>
    </p:embeddedFont>
    <p:embeddedFont>
      <p:font typeface="Verdana" pitchFamily="34" charset="0"/>
      <p:regular r:id="rId32"/>
      <p:bold r:id="rId33"/>
      <p:italic r:id="rId34"/>
      <p:boldItalic r:id="rId35"/>
    </p:embeddedFont>
    <p:embeddedFont>
      <p:font typeface="Calibri" pitchFamily="34" charset="0"/>
      <p:regular r:id="rId36"/>
      <p:bold r:id="rId37"/>
      <p:italic r:id="rId38"/>
      <p:boldItalic r:id="rId39"/>
    </p:embeddedFont>
    <p:embeddedFont>
      <p:font typeface="Century Gothic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65B0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29097" autoAdjust="0"/>
    <p:restoredTop sz="94694"/>
  </p:normalViewPr>
  <p:slideViewPr>
    <p:cSldViewPr snapToGrid="0">
      <p:cViewPr varScale="1">
        <p:scale>
          <a:sx n="113" d="100"/>
          <a:sy n="113" d="100"/>
        </p:scale>
        <p:origin x="-1290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819262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16506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3952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3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Finding and Interpreting 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the Mean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154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xmlns="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597002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033575" y="-237125"/>
            <a:ext cx="1115842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275" y="5207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94150" y="65213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378432" y="1088574"/>
            <a:ext cx="11621784" cy="4831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MA.6.DP.1.2 </a:t>
            </a:r>
          </a:p>
          <a:p>
            <a:pPr indent="0"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Given a numerical data set within a real-world context, find and interpret mean, median, mode, and range.</a:t>
            </a: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097799" y="0"/>
            <a:ext cx="10839176" cy="999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483305" y="1226520"/>
            <a:ext cx="11568281" cy="477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994150" y="65213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4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275" y="5207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2199" y="-185097"/>
            <a:ext cx="1095966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10410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354900" y="1240605"/>
            <a:ext cx="1170696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0238" indent="-623888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find and interpret the mean of a data set.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994150" y="65213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994150" y="65213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15032" y="143401"/>
            <a:ext cx="10326212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9.3.1 Warm-Up: Stripes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524" y="6519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394524" y="1000643"/>
                <a:ext cx="11626240" cy="48567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1200"/>
                  </a:spcAft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A picture of four sets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16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cubes is shown.</a:t>
                </a:r>
                <a:endParaRPr lang="en-PH" sz="2000" i="1" dirty="0">
                  <a:latin typeface="Cambria Math"/>
                  <a:ea typeface="Cambria Math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Cambria Math"/>
                    <a:cs typeface="Cambria Math"/>
                  </a:rPr>
                  <a:t>Which set of cubes has a set </a:t>
                </a:r>
                <a:br>
                  <a:rPr lang="en-US" sz="2000" dirty="0">
                    <a:latin typeface="Verdana"/>
                    <a:ea typeface="Cambria Math"/>
                    <a:cs typeface="Cambria Math"/>
                  </a:rPr>
                </a:br>
                <a:r>
                  <a:rPr lang="en-US" sz="2000" dirty="0">
                    <a:latin typeface="Verdana"/>
                    <a:ea typeface="Cambria Math"/>
                    <a:cs typeface="Cambria Math"/>
                  </a:rPr>
                  <a:t>of stripes that covers the </a:t>
                </a:r>
                <a:br>
                  <a:rPr lang="en-US" sz="2000" dirty="0">
                    <a:latin typeface="Verdana"/>
                    <a:ea typeface="Cambria Math"/>
                    <a:cs typeface="Cambria Math"/>
                  </a:rPr>
                </a:br>
                <a:r>
                  <a:rPr lang="en-US" sz="2000" dirty="0">
                    <a:latin typeface="Verdana"/>
                    <a:ea typeface="Cambria Math"/>
                    <a:cs typeface="Cambria Math"/>
                  </a:rPr>
                  <a:t>most area?</a:t>
                </a:r>
                <a:endParaRPr lang="en-PH" sz="2000" i="1" dirty="0">
                  <a:latin typeface="Cambria Math"/>
                  <a:ea typeface="Cambria Math"/>
                  <a:cs typeface="Cambria Math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/>
                  <a:ea typeface="Cambria Math"/>
                  <a:cs typeface="Cambria Math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Cambria Math"/>
                    <a:cs typeface="Cambria Math"/>
                  </a:rPr>
                  <a:t>Which set of cubes has a set </a:t>
                </a:r>
                <a:br>
                  <a:rPr lang="en-US" sz="2000" dirty="0">
                    <a:latin typeface="Verdana"/>
                    <a:ea typeface="Cambria Math"/>
                    <a:cs typeface="Cambria Math"/>
                  </a:rPr>
                </a:br>
                <a:r>
                  <a:rPr lang="en-US" sz="2000" dirty="0">
                    <a:latin typeface="Verdana"/>
                    <a:ea typeface="Cambria Math"/>
                    <a:cs typeface="Cambria Math"/>
                  </a:rPr>
                  <a:t>of stripes that covers the </a:t>
                </a:r>
                <a:br>
                  <a:rPr lang="en-US" sz="2000" dirty="0">
                    <a:latin typeface="Verdana"/>
                    <a:ea typeface="Cambria Math"/>
                    <a:cs typeface="Cambria Math"/>
                  </a:rPr>
                </a:br>
                <a:r>
                  <a:rPr lang="en-US" sz="2000" dirty="0">
                    <a:latin typeface="Verdana"/>
                    <a:ea typeface="Cambria Math"/>
                    <a:cs typeface="Cambria Math"/>
                  </a:rPr>
                  <a:t>most area?</a:t>
                </a:r>
                <a:endParaRPr lang="en-PH" sz="2000" i="1" dirty="0">
                  <a:latin typeface="Cambria Math"/>
                  <a:ea typeface="Cambria Math"/>
                  <a:cs typeface="Cambria Math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/>
                  <a:ea typeface="Cambria Math"/>
                  <a:cs typeface="Cambria Math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Cambria Math"/>
                    <a:cs typeface="Cambria Math"/>
                  </a:rPr>
                  <a:t>Which set of cubes has a set </a:t>
                </a:r>
                <a:br>
                  <a:rPr lang="en-US" sz="2000" dirty="0">
                    <a:latin typeface="Verdana"/>
                    <a:ea typeface="Cambria Math"/>
                    <a:cs typeface="Cambria Math"/>
                  </a:rPr>
                </a:br>
                <a:r>
                  <a:rPr lang="en-US" sz="2000" dirty="0">
                    <a:latin typeface="Verdana"/>
                    <a:ea typeface="Cambria Math"/>
                    <a:cs typeface="Cambria Math"/>
                  </a:rPr>
                  <a:t>of stripes that covers the </a:t>
                </a:r>
                <a:br>
                  <a:rPr lang="en-US" sz="2000" dirty="0">
                    <a:latin typeface="Verdana"/>
                    <a:ea typeface="Cambria Math"/>
                    <a:cs typeface="Cambria Math"/>
                  </a:rPr>
                </a:br>
                <a:r>
                  <a:rPr lang="en-US" sz="2000" dirty="0">
                    <a:latin typeface="Verdana"/>
                    <a:ea typeface="Cambria Math"/>
                    <a:cs typeface="Cambria Math"/>
                  </a:rPr>
                  <a:t>least area?</a:t>
                </a:r>
                <a:endParaRPr lang="en-PH" sz="2000" i="1" dirty="0">
                  <a:latin typeface="Cambria Math"/>
                  <a:ea typeface="Cambria Math"/>
                  <a:cs typeface="Cambria Math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/>
                  <a:ea typeface="Cambria Math"/>
                  <a:cs typeface="Cambria Math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Cambria Math"/>
                    <a:cs typeface="Cambria Math"/>
                  </a:rPr>
                  <a:t>Explain how you determined your answer.</a:t>
                </a:r>
                <a:endParaRPr lang="en-PH" sz="2000" i="1" dirty="0">
                  <a:latin typeface="Cambria Math"/>
                  <a:ea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24" y="1000643"/>
                <a:ext cx="11626240" cy="4856714"/>
              </a:xfrm>
              <a:prstGeom prst="rect">
                <a:avLst/>
              </a:prstGeom>
              <a:blipFill>
                <a:blip r:embed="rId5"/>
                <a:stretch>
                  <a:fillRect l="-655" t="-781" b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77610" y="1986974"/>
            <a:ext cx="3609975" cy="3325495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994150" y="65213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994150" y="65213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5184" y="176786"/>
            <a:ext cx="10094744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9.3.2 Exploration: Sharing Squares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6196" y="54555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152D1D4D-DCB8-A246-B186-D40316579D77}"/>
              </a:ext>
            </a:extLst>
          </p:cNvPr>
          <p:cNvSpPr txBox="1"/>
          <p:nvPr/>
        </p:nvSpPr>
        <p:spPr>
          <a:xfrm>
            <a:off x="346195" y="5021589"/>
            <a:ext cx="11623197" cy="862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</a:rPr>
              <a:t>Estimate the number of squares that will be in each group if they were distributed evenly between the four groups.</a:t>
            </a:r>
            <a:endParaRPr lang="en-PH" sz="2000" i="1" dirty="0">
              <a:latin typeface="Cambria Math"/>
              <a:ea typeface="Cambria Math"/>
              <a:cs typeface="Cambria Math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864484" y="1253200"/>
            <a:ext cx="1440000" cy="3538400"/>
          </a:xfrm>
          <a:prstGeom prst="round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68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ClrTx/>
              <a:defRPr/>
            </a:pPr>
            <a:r>
              <a:rPr lang="en-PH" sz="2000" dirty="0">
                <a:latin typeface="Cambria Math"/>
                <a:ea typeface="Cambria Math"/>
                <a:cs typeface="Cambria Math"/>
              </a:rPr>
              <a:t>8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  <a:buClrTx/>
              <a:defRPr/>
            </a:pPr>
            <a:endParaRPr lang="en-PH" sz="2000" i="1" dirty="0">
              <a:solidFill>
                <a:sysClr val="window" lastClr="FFFFFF"/>
              </a:solidFill>
              <a:latin typeface="Cambria Math"/>
              <a:ea typeface="Cambria Math"/>
              <a:cs typeface="Cambria Math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484484" y="1254470"/>
            <a:ext cx="1440000" cy="3538400"/>
          </a:xfrm>
          <a:prstGeom prst="round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68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ClrTx/>
              <a:defRPr/>
            </a:pPr>
            <a:r>
              <a:rPr lang="en-PH" sz="2000" dirty="0">
                <a:latin typeface="Cambria Math"/>
                <a:ea typeface="Cambria Math"/>
                <a:cs typeface="Cambria Math"/>
              </a:rPr>
              <a:t>11</a:t>
            </a:r>
            <a:endParaRPr lang="en-PH" sz="2000" i="1" dirty="0">
              <a:solidFill>
                <a:sysClr val="window" lastClr="FFFFFF"/>
              </a:solidFill>
              <a:latin typeface="Cambria Math"/>
              <a:ea typeface="Cambria Math"/>
              <a:cs typeface="Cambria Math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104484" y="1249390"/>
            <a:ext cx="1440000" cy="3538400"/>
          </a:xfrm>
          <a:prstGeom prst="round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68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ClrTx/>
              <a:defRPr/>
            </a:pPr>
            <a:r>
              <a:rPr lang="en-PH" sz="2000" dirty="0">
                <a:latin typeface="Cambria Math"/>
                <a:ea typeface="Cambria Math"/>
                <a:cs typeface="Cambria Math"/>
              </a:rPr>
              <a:t>14</a:t>
            </a:r>
            <a:endParaRPr lang="en-PH" sz="2000" i="1" dirty="0">
              <a:solidFill>
                <a:sysClr val="window" lastClr="FFFFFF"/>
              </a:solidFill>
              <a:latin typeface="Cambria Math"/>
              <a:ea typeface="Cambria Math"/>
              <a:cs typeface="Cambria Math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724484" y="1258915"/>
            <a:ext cx="1440000" cy="3538400"/>
          </a:xfrm>
          <a:prstGeom prst="roundRec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ClrTx/>
              <a:defRPr/>
            </a:pPr>
            <a:r>
              <a:rPr lang="en-PH" sz="2000" dirty="0">
                <a:latin typeface="Cambria Math"/>
                <a:ea typeface="Cambria Math"/>
                <a:cs typeface="Cambria Math"/>
              </a:rPr>
              <a:t>19</a:t>
            </a:r>
            <a:endParaRPr lang="en-PH" sz="2000" i="1" dirty="0">
              <a:solidFill>
                <a:sysClr val="window" lastClr="FFFFFF"/>
              </a:solidFill>
              <a:latin typeface="Cambria Math"/>
              <a:ea typeface="Cambria Math"/>
              <a:cs typeface="Cambria Math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381451"/>
              </p:ext>
            </p:extLst>
          </p:nvPr>
        </p:nvGraphicFramePr>
        <p:xfrm>
          <a:off x="3404484" y="1727282"/>
          <a:ext cx="360000" cy="2880000"/>
        </p:xfrm>
        <a:graphic>
          <a:graphicData uri="http://schemas.openxmlformats.org/drawingml/2006/table">
            <a:tbl>
              <a:tblPr firstRow="1" firstCol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296349"/>
              </p:ext>
            </p:extLst>
          </p:nvPr>
        </p:nvGraphicFramePr>
        <p:xfrm>
          <a:off x="4844484" y="1727282"/>
          <a:ext cx="720000" cy="2880000"/>
        </p:xfrm>
        <a:graphic>
          <a:graphicData uri="http://schemas.openxmlformats.org/drawingml/2006/table">
            <a:tbl>
              <a:tblPr firstRow="1" firstCol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/>
                      </a:pPr>
                      <a:r>
                        <a:rPr lang="en-US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262332"/>
              </p:ext>
            </p:extLst>
          </p:nvPr>
        </p:nvGraphicFramePr>
        <p:xfrm>
          <a:off x="6464484" y="1727282"/>
          <a:ext cx="720000" cy="2880000"/>
        </p:xfrm>
        <a:graphic>
          <a:graphicData uri="http://schemas.openxmlformats.org/drawingml/2006/table">
            <a:tbl>
              <a:tblPr firstRow="1" firstCol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936946"/>
              </p:ext>
            </p:extLst>
          </p:nvPr>
        </p:nvGraphicFramePr>
        <p:xfrm>
          <a:off x="7904484" y="1727282"/>
          <a:ext cx="1080000" cy="2880000"/>
        </p:xfrm>
        <a:graphic>
          <a:graphicData uri="http://schemas.openxmlformats.org/drawingml/2006/table">
            <a:tbl>
              <a:tblPr firstRow="1" firstCol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 </a:t>
                      </a:r>
                      <a:endParaRPr lang="en-PH" sz="16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16" name="Google Shape;282;g104476d1465_1_17"/>
          <p:cNvSpPr txBox="1"/>
          <p:nvPr/>
        </p:nvSpPr>
        <p:spPr>
          <a:xfrm>
            <a:off x="8994150" y="65213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333076" y="375813"/>
            <a:ext cx="11858924" cy="5624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 startAt="2"/>
            </a:pPr>
            <a:r>
              <a:rPr lang="en-US" sz="2400" dirty="0">
                <a:latin typeface="Verdana"/>
                <a:ea typeface="Verdana"/>
                <a:cs typeface="Verdana"/>
              </a:rPr>
              <a:t>Use the diagram to redistribute the squares so that each of the four groups has the same number of squares.</a:t>
            </a:r>
          </a:p>
          <a:p>
            <a:pPr marL="457200" indent="-457200">
              <a:lnSpc>
                <a:spcPct val="107000"/>
              </a:lnSpc>
              <a:buFont typeface="+mj-lt"/>
              <a:buAutoNum type="arabicPeriod" startAt="2"/>
            </a:pPr>
            <a:endParaRPr lang="en-US" sz="2400" i="1" dirty="0">
              <a:latin typeface="Verdana"/>
              <a:ea typeface="Verdana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2"/>
            </a:pPr>
            <a:endParaRPr lang="en-US" sz="2400" i="1" dirty="0">
              <a:latin typeface="Verdana"/>
              <a:ea typeface="Verdana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2"/>
            </a:pPr>
            <a:endParaRPr lang="en-US" sz="2400" i="1" dirty="0">
              <a:latin typeface="Verdana"/>
              <a:ea typeface="Verdana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2"/>
            </a:pPr>
            <a:endParaRPr lang="en-US" sz="2400" i="1" dirty="0">
              <a:latin typeface="Verdana"/>
              <a:ea typeface="Verdana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2"/>
            </a:pPr>
            <a:endParaRPr lang="en-US" sz="2400" i="1" dirty="0">
              <a:latin typeface="Verdana"/>
              <a:ea typeface="Verdana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2"/>
            </a:pPr>
            <a:endParaRPr lang="en-US" sz="2400" i="1" dirty="0">
              <a:latin typeface="Verdana"/>
              <a:ea typeface="Verdana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2"/>
            </a:pPr>
            <a:endParaRPr lang="en-US" sz="2400" i="1" dirty="0" smtClean="0">
              <a:latin typeface="Verdana"/>
              <a:ea typeface="Verdana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2"/>
            </a:pPr>
            <a:endParaRPr lang="en-US" sz="2400" i="1" dirty="0">
              <a:latin typeface="Verdana"/>
              <a:ea typeface="Verdana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2"/>
            </a:pPr>
            <a:endParaRPr lang="en-US" sz="2400" i="1" dirty="0">
              <a:latin typeface="Verdana"/>
              <a:ea typeface="Verdana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2"/>
            </a:pPr>
            <a:r>
              <a:rPr lang="en-US" sz="2400" dirty="0">
                <a:latin typeface="Verdana"/>
                <a:ea typeface="Verdana"/>
                <a:cs typeface="Verdana"/>
              </a:rPr>
              <a:t>Compare diagrams with your partner. </a:t>
            </a:r>
            <a:r>
              <a:rPr lang="en-US" sz="2400" dirty="0" smtClean="0">
                <a:latin typeface="Verdana"/>
                <a:ea typeface="Verdana"/>
                <a:cs typeface="Verdana"/>
              </a:rPr>
              <a:t>Discuss </a:t>
            </a:r>
            <a:r>
              <a:rPr lang="en-US" sz="2400" dirty="0">
                <a:latin typeface="Verdana"/>
                <a:ea typeface="Verdana"/>
                <a:cs typeface="Verdana"/>
              </a:rPr>
              <a:t>how you each determined the number </a:t>
            </a:r>
            <a:r>
              <a:rPr lang="en-US" sz="2400" dirty="0" smtClean="0">
                <a:latin typeface="Verdana"/>
                <a:ea typeface="Verdana"/>
                <a:cs typeface="Verdana"/>
              </a:rPr>
              <a:t>of </a:t>
            </a:r>
            <a:r>
              <a:rPr lang="en-US" sz="2400" dirty="0">
                <a:latin typeface="Verdana"/>
                <a:ea typeface="Verdana"/>
                <a:cs typeface="Verdana"/>
              </a:rPr>
              <a:t>squares that belong in each group. </a:t>
            </a:r>
            <a:r>
              <a:rPr lang="en-US" sz="2400" dirty="0" smtClean="0">
                <a:latin typeface="Verdana"/>
                <a:ea typeface="Verdana"/>
                <a:cs typeface="Verdana"/>
              </a:rPr>
              <a:t>Summarize </a:t>
            </a:r>
            <a:r>
              <a:rPr lang="en-US" sz="2400" dirty="0">
                <a:latin typeface="Verdana"/>
                <a:ea typeface="Verdana"/>
                <a:cs typeface="Verdana"/>
              </a:rPr>
              <a:t>your discussion.</a:t>
            </a:r>
            <a:endParaRPr lang="en-PH" sz="2000" i="1" dirty="0">
              <a:latin typeface="Cambria Math"/>
              <a:ea typeface="Cambria Math"/>
              <a:cs typeface="Cambria Math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223246" y="1547804"/>
            <a:ext cx="6133766" cy="2700000"/>
            <a:chOff x="1002446" y="3424825"/>
            <a:chExt cx="6133766" cy="2884175"/>
          </a:xfrm>
        </p:grpSpPr>
        <p:sp>
          <p:nvSpPr>
            <p:cNvPr id="11" name="Rounded Rectangle 10"/>
            <p:cNvSpPr>
              <a:spLocks noChangeAspect="1"/>
            </p:cNvSpPr>
            <p:nvPr/>
          </p:nvSpPr>
          <p:spPr>
            <a:xfrm>
              <a:off x="1002446" y="3429000"/>
              <a:ext cx="1393600" cy="2880000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H"/>
            </a:p>
          </p:txBody>
        </p:sp>
        <p:sp>
          <p:nvSpPr>
            <p:cNvPr id="13" name="Rounded Rectangle 12"/>
            <p:cNvSpPr>
              <a:spLocks noChangeAspect="1"/>
            </p:cNvSpPr>
            <p:nvPr/>
          </p:nvSpPr>
          <p:spPr>
            <a:xfrm>
              <a:off x="2576046" y="3429000"/>
              <a:ext cx="1393600" cy="2880000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H"/>
            </a:p>
          </p:txBody>
        </p:sp>
        <p:sp>
          <p:nvSpPr>
            <p:cNvPr id="15" name="Rounded Rectangle 14"/>
            <p:cNvSpPr>
              <a:spLocks noChangeAspect="1"/>
            </p:cNvSpPr>
            <p:nvPr/>
          </p:nvSpPr>
          <p:spPr>
            <a:xfrm>
              <a:off x="4149646" y="3424825"/>
              <a:ext cx="1393600" cy="2880000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H"/>
            </a:p>
          </p:txBody>
        </p:sp>
        <p:sp>
          <p:nvSpPr>
            <p:cNvPr id="16" name="Rounded Rectangle 15"/>
            <p:cNvSpPr>
              <a:spLocks noChangeAspect="1"/>
            </p:cNvSpPr>
            <p:nvPr/>
          </p:nvSpPr>
          <p:spPr>
            <a:xfrm>
              <a:off x="5742612" y="3429000"/>
              <a:ext cx="1393600" cy="2880000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H"/>
            </a:p>
          </p:txBody>
        </p:sp>
      </p:grpSp>
      <p:sp>
        <p:nvSpPr>
          <p:cNvPr id="12" name="Google Shape;282;g104476d1465_1_17"/>
          <p:cNvSpPr txBox="1"/>
          <p:nvPr/>
        </p:nvSpPr>
        <p:spPr>
          <a:xfrm>
            <a:off x="8994150" y="65213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2285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994150" y="65213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5857" y="-159868"/>
            <a:ext cx="1065161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9.3.3 Guided Instruction: Mean of Data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4524" y="8018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C01B13E8-EC8D-E443-A329-C5E3593DD13A}"/>
              </a:ext>
            </a:extLst>
          </p:cNvPr>
          <p:cNvSpPr txBox="1"/>
          <p:nvPr/>
        </p:nvSpPr>
        <p:spPr>
          <a:xfrm>
            <a:off x="394524" y="1346731"/>
            <a:ext cx="11647576" cy="4344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By redistributing the squares in the diagram, the </a:t>
            </a:r>
            <a:r>
              <a:rPr lang="en-US" sz="2000" b="1" i="1" dirty="0">
                <a:latin typeface="Verdana" pitchFamily="34" charset="0"/>
                <a:ea typeface="Verdana" pitchFamily="34" charset="0"/>
                <a:cs typeface="Verdana"/>
              </a:rPr>
              <a:t>mean</a:t>
            </a: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 of the data set was found.</a:t>
            </a:r>
          </a:p>
          <a:p>
            <a:pPr>
              <a:lnSpc>
                <a:spcPct val="107000"/>
              </a:lnSpc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>
              <a:lnSpc>
                <a:spcPct val="107000"/>
              </a:lnSpc>
            </a:pPr>
            <a:endParaRPr lang="en-US" sz="2000" i="1" dirty="0">
              <a:latin typeface="Verdana" pitchFamily="34" charset="0"/>
              <a:ea typeface="Verdana" pitchFamily="34" charset="0"/>
              <a:cs typeface="Cambria Math"/>
            </a:endParaRPr>
          </a:p>
          <a:p>
            <a:pPr>
              <a:lnSpc>
                <a:spcPct val="107000"/>
              </a:lnSpc>
            </a:pPr>
            <a:endParaRPr lang="en-US" sz="2000" i="1" dirty="0">
              <a:latin typeface="Verdana" pitchFamily="34" charset="0"/>
              <a:ea typeface="Verdana" pitchFamily="34" charset="0"/>
              <a:cs typeface="Cambria Math"/>
            </a:endParaRPr>
          </a:p>
          <a:p>
            <a:pPr>
              <a:lnSpc>
                <a:spcPct val="107000"/>
              </a:lnSpc>
            </a:pPr>
            <a:endParaRPr lang="en-US" sz="2000" i="1" dirty="0">
              <a:latin typeface="Verdana" pitchFamily="34" charset="0"/>
              <a:ea typeface="Verdana" pitchFamily="34" charset="0"/>
              <a:cs typeface="Cambria Math"/>
            </a:endParaRPr>
          </a:p>
          <a:p>
            <a:pPr>
              <a:lnSpc>
                <a:spcPct val="107000"/>
              </a:lnSpc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>
              <a:lnSpc>
                <a:spcPct val="107000"/>
              </a:lnSpc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>
              <a:lnSpc>
                <a:spcPct val="107000"/>
              </a:lnSpc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Data in a numerical set is summarized using different measures that are interpreted to describe the data. One such measure used to describe quantitative data sets is the mean. </a:t>
            </a:r>
            <a:endParaRPr lang="en-PH" sz="2000" i="1" dirty="0">
              <a:latin typeface="Verdana" pitchFamily="34" charset="0"/>
              <a:ea typeface="Verdana" pitchFamily="34" charset="0"/>
              <a:cs typeface="Cambria Math"/>
            </a:endParaRPr>
          </a:p>
          <a:p>
            <a:pPr>
              <a:lnSpc>
                <a:spcPct val="107000"/>
              </a:lnSpc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 </a:t>
            </a:r>
            <a:endParaRPr lang="en-PH" sz="2000" i="1" dirty="0">
              <a:latin typeface="Verdana" pitchFamily="34" charset="0"/>
              <a:ea typeface="Verdana" pitchFamily="34" charset="0"/>
              <a:cs typeface="Cambria Math"/>
            </a:endParaRPr>
          </a:p>
          <a:p>
            <a:pPr>
              <a:lnSpc>
                <a:spcPct val="107000"/>
              </a:lnSpc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To calculate the mean, add all the values in the data set and then divide by the total number of data values.  </a:t>
            </a:r>
            <a:endParaRPr lang="en-PH" sz="2000" i="1" dirty="0">
              <a:latin typeface="Verdana" pitchFamily="34" charset="0"/>
              <a:ea typeface="Verdana" pitchFamily="34" charset="0"/>
              <a:cs typeface="Cambria Math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2060448" y="2540271"/>
            <a:ext cx="8280000" cy="884555"/>
            <a:chOff x="0" y="0"/>
            <a:chExt cx="8327136" cy="88455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Rounded Rectangle 14"/>
            <p:cNvSpPr/>
            <p:nvPr/>
          </p:nvSpPr>
          <p:spPr>
            <a:xfrm>
              <a:off x="0" y="0"/>
              <a:ext cx="8327136" cy="884555"/>
            </a:xfrm>
            <a:prstGeom prst="roundRect">
              <a:avLst>
                <a:gd name="adj" fmla="val 16667"/>
              </a:avLst>
            </a:prstGeom>
            <a:solidFill>
              <a:srgbClr val="E2EFD5"/>
            </a:solidFill>
            <a:ln w="25400" cap="flat" cmpd="sng">
              <a:solidFill>
                <a:srgbClr val="E2EF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685800">
                <a:lnSpc>
                  <a:spcPct val="107000"/>
                </a:lnSpc>
              </a:pPr>
              <a:r>
                <a:rPr lang="en-US" sz="2000" dirty="0">
                  <a:solidFill>
                    <a:srgbClr val="6C993D"/>
                  </a:solidFill>
                  <a:latin typeface="Verdana"/>
                  <a:ea typeface="Verdana"/>
                  <a:cs typeface="Verdana"/>
                </a:rPr>
                <a:t>The </a:t>
              </a:r>
              <a:r>
                <a:rPr lang="en-US" sz="2000" b="1" i="1" dirty="0">
                  <a:solidFill>
                    <a:srgbClr val="6C993D"/>
                  </a:solidFill>
                  <a:latin typeface="Verdana"/>
                  <a:ea typeface="Verdana"/>
                  <a:cs typeface="Verdana"/>
                </a:rPr>
                <a:t>mean</a:t>
              </a:r>
              <a:r>
                <a:rPr lang="en-US" sz="2000" dirty="0">
                  <a:solidFill>
                    <a:srgbClr val="6C993D"/>
                  </a:solidFill>
                  <a:latin typeface="Verdana"/>
                  <a:ea typeface="Verdana"/>
                  <a:cs typeface="Verdana"/>
                </a:rPr>
                <a:t> is the arithmetic average of a set of numbers. It is a measure of central tendency.</a:t>
              </a:r>
              <a:endParaRPr lang="en-PH" sz="2000" i="1" dirty="0">
                <a:latin typeface="Cambria Math"/>
                <a:ea typeface="Cambria Math"/>
                <a:cs typeface="Cambria Math"/>
              </a:endParaRPr>
            </a:p>
          </p:txBody>
        </p:sp>
        <p:pic>
          <p:nvPicPr>
            <p:cNvPr id="16" name="Picture 15" descr="Icon&#10;&#10;Description automatically generated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423" y="167957"/>
              <a:ext cx="548640" cy="54864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1" name="Google Shape;282;g104476d1465_1_17"/>
          <p:cNvSpPr txBox="1"/>
          <p:nvPr/>
        </p:nvSpPr>
        <p:spPr>
          <a:xfrm>
            <a:off x="8994150" y="65213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53624" y="399386"/>
                <a:ext cx="11667139" cy="5067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A marine biologist is studying turtles and wants to calculate the average length of time a Red-Eared Slider, a popular breed of turtle, can remain underwater. The time, in minutes, that ten Red-Eared Sliders remain underwater are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75,  300,  225,  400,  250,  195,  320,  45,  165,  410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.</a:t>
                </a:r>
                <a:endParaRPr lang="en-PH" sz="2000" i="1" dirty="0">
                  <a:latin typeface="Cambria Math"/>
                  <a:ea typeface="Cambria Math"/>
                  <a:cs typeface="Cambria Math"/>
                </a:endParaRPr>
              </a:p>
              <a:p>
                <a:pPr marL="889000" indent="-457200">
                  <a:lnSpc>
                    <a:spcPct val="115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To calculate the mean time spent underwater, start by finding the _________ of the data values.</a:t>
                </a:r>
                <a:endParaRPr lang="en-PH" sz="2000" i="1" dirty="0">
                  <a:latin typeface="Cambria Math"/>
                  <a:ea typeface="Cambria Math"/>
                  <a:cs typeface="Verdana"/>
                </a:endParaRPr>
              </a:p>
              <a:p>
                <a:pPr marL="889000" indent="-457200">
                  <a:lnSpc>
                    <a:spcPct val="115000"/>
                  </a:lnSpc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889000" indent="-457200">
                  <a:lnSpc>
                    <a:spcPct val="115000"/>
                  </a:lnSpc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889000" indent="-457200">
                  <a:lnSpc>
                    <a:spcPct val="115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Then divide the sum by 10, because there are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ten turtles.</a:t>
                </a:r>
              </a:p>
              <a:p>
                <a:pPr marL="889000" indent="-457200">
                  <a:lnSpc>
                    <a:spcPct val="115000"/>
                  </a:lnSpc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889000" indent="-457200">
                  <a:lnSpc>
                    <a:spcPct val="115000"/>
                  </a:lnSpc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889000" indent="-457200">
                  <a:lnSpc>
                    <a:spcPct val="115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In this sample, Red-Eared Slider turtles remain underwater for an average of _________ minutes.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624" y="399386"/>
                <a:ext cx="11667139" cy="5067606"/>
              </a:xfrm>
              <a:prstGeom prst="rect">
                <a:avLst/>
              </a:prstGeom>
              <a:blipFill rotWithShape="1">
                <a:blip r:embed="rId3"/>
                <a:stretch>
                  <a:fillRect l="-522" t="-842" r="-313" b="-132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994150" y="65213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61598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433414" y="2716939"/>
            <a:ext cx="11443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Data from the Pew Research Center on the percentage of adults in the U.S. who use </a:t>
            </a:r>
            <a:r>
              <a:rPr lang="en-US" sz="2000" dirty="0" err="1">
                <a:latin typeface="Verdana" pitchFamily="34" charset="0"/>
                <a:ea typeface="Verdana" pitchFamily="34" charset="0"/>
              </a:rPr>
              <a:t>Instagram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 is shown in the table.</a:t>
            </a:r>
            <a:endParaRPr lang="en-PH" sz="2000" i="1" dirty="0">
              <a:latin typeface="Verdana" pitchFamily="34" charset="0"/>
              <a:ea typeface="Verdana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007765" y="486265"/>
            <a:ext cx="8280000" cy="2037393"/>
            <a:chOff x="0" y="-34135"/>
            <a:chExt cx="8280000" cy="2037747"/>
          </a:xfrm>
        </p:grpSpPr>
        <p:sp>
          <p:nvSpPr>
            <p:cNvPr id="7" name="Rounded Rectangle 6"/>
            <p:cNvSpPr/>
            <p:nvPr/>
          </p:nvSpPr>
          <p:spPr>
            <a:xfrm>
              <a:off x="0" y="-34135"/>
              <a:ext cx="8280000" cy="2037747"/>
            </a:xfrm>
            <a:prstGeom prst="roundRect">
              <a:avLst>
                <a:gd name="adj" fmla="val 16667"/>
              </a:avLst>
            </a:prstGeom>
            <a:solidFill>
              <a:srgbClr val="E2EED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108000" rIns="91425" bIns="0" anchor="ctr" anchorCtr="0">
              <a:noAutofit/>
            </a:bodyPr>
            <a:lstStyle/>
            <a:p>
              <a:pPr marL="627063"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b="1" i="1" dirty="0">
                  <a:solidFill>
                    <a:srgbClr val="6C993D"/>
                  </a:solidFill>
                  <a:latin typeface="Verdana"/>
                  <a:ea typeface="Verdana"/>
                  <a:cs typeface="Verdana"/>
                </a:rPr>
                <a:t>Measures of center</a:t>
              </a:r>
              <a:r>
                <a:rPr lang="en-US" sz="2000" b="1" dirty="0">
                  <a:solidFill>
                    <a:srgbClr val="6C993D"/>
                  </a:solidFill>
                  <a:latin typeface="Verdana"/>
                  <a:ea typeface="Verdana"/>
                  <a:cs typeface="Verdana"/>
                </a:rPr>
                <a:t> </a:t>
              </a:r>
              <a:r>
                <a:rPr lang="en-US" sz="2000" dirty="0">
                  <a:solidFill>
                    <a:srgbClr val="6C993D"/>
                  </a:solidFill>
                  <a:latin typeface="Verdana"/>
                  <a:ea typeface="Verdana"/>
                  <a:cs typeface="Verdana"/>
                </a:rPr>
                <a:t>are numerical values used to describe the overall clustering of data in a set, or the overall central value of a set of data. The three most common measures of central tendency are the mean, median, and mode.</a:t>
              </a:r>
              <a:endParaRPr lang="en-PH" sz="2000" i="1" dirty="0">
                <a:latin typeface="Cambria Math"/>
                <a:ea typeface="Cambria Math"/>
                <a:cs typeface="Cambria Math"/>
              </a:endParaRPr>
            </a:p>
          </p:txBody>
        </p:sp>
        <p:pic>
          <p:nvPicPr>
            <p:cNvPr id="8" name="Shape 7" descr="Icon&#10;&#10;Description automatically generated"/>
            <p:cNvPicPr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8813" y="715498"/>
              <a:ext cx="539750" cy="53848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564978"/>
              </p:ext>
            </p:extLst>
          </p:nvPr>
        </p:nvGraphicFramePr>
        <p:xfrm>
          <a:off x="2555327" y="3529929"/>
          <a:ext cx="7200000" cy="2844000"/>
        </p:xfrm>
        <a:graphic>
          <a:graphicData uri="http://schemas.openxmlformats.org/drawingml/2006/table">
            <a:tbl>
              <a:tblPr bandRow="1"/>
              <a:tblGrid>
                <a:gridCol w="360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320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Percentage of U.S. Adults Using </a:t>
                      </a:r>
                      <a:r>
                        <a:rPr lang="en-US" sz="2000" b="1" i="0" dirty="0" err="1">
                          <a:effectLst/>
                          <a:latin typeface="Verdana"/>
                          <a:ea typeface="Verdana"/>
                          <a:cs typeface="Verdana"/>
                        </a:rPr>
                        <a:t>Instagram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Year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Percentage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/>
                      </a:pPr>
                      <a:r>
                        <a:rPr lang="en-PH" sz="2000" i="0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2012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000" i="0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13%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000" i="0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2013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000" i="0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17%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000" i="0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2014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000" i="0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26%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000" i="0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2015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000" i="0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29%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000" i="0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2016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000" i="0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34%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10" name="Google Shape;282;g104476d1465_1_17"/>
          <p:cNvSpPr txBox="1"/>
          <p:nvPr/>
        </p:nvSpPr>
        <p:spPr>
          <a:xfrm>
            <a:off x="8994150" y="65213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2523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405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994150" y="65213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111599" y="382677"/>
            <a:ext cx="11939987" cy="5030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4125" indent="-457200">
              <a:lnSpc>
                <a:spcPct val="107000"/>
              </a:lnSpc>
              <a:spcAft>
                <a:spcPts val="1800"/>
              </a:spcAft>
              <a:buFont typeface="+mj-lt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</a:rPr>
              <a:t>Describe, in words, how to find the mean percentage of adults in the U.S. who use </a:t>
            </a:r>
            <a:r>
              <a:rPr lang="en-US" sz="2400" dirty="0" err="1">
                <a:latin typeface="Verdana"/>
                <a:ea typeface="Verdana"/>
                <a:cs typeface="Verdana"/>
              </a:rPr>
              <a:t>Instagram</a:t>
            </a:r>
            <a:r>
              <a:rPr lang="en-US" sz="2400" dirty="0">
                <a:latin typeface="Verdana"/>
                <a:ea typeface="Verdana"/>
                <a:cs typeface="Verdana"/>
              </a:rPr>
              <a:t>.</a:t>
            </a:r>
            <a:endParaRPr lang="en-PH" sz="2400" i="1" dirty="0">
              <a:latin typeface="Cambria Math"/>
              <a:ea typeface="Cambria Math"/>
              <a:cs typeface="Cambria Math"/>
            </a:endParaRPr>
          </a:p>
          <a:p>
            <a:pPr marL="1703388" indent="-457200">
              <a:lnSpc>
                <a:spcPct val="107000"/>
              </a:lnSpc>
            </a:pPr>
            <a:r>
              <a:rPr lang="en-US" sz="2400" dirty="0">
                <a:latin typeface="Verdana"/>
                <a:ea typeface="Verdana"/>
                <a:cs typeface="Verdana"/>
              </a:rPr>
              <a:t>Step 1: </a:t>
            </a:r>
            <a:endParaRPr lang="en-PH" sz="2400" i="1" dirty="0">
              <a:latin typeface="Cambria Math"/>
              <a:ea typeface="Cambria Math"/>
              <a:cs typeface="Cambria Math"/>
            </a:endParaRPr>
          </a:p>
          <a:p>
            <a:pPr marL="1703388" indent="-457200">
              <a:lnSpc>
                <a:spcPct val="107000"/>
              </a:lnSpc>
            </a:pPr>
            <a:r>
              <a:rPr lang="en-US" sz="2400" dirty="0">
                <a:latin typeface="Verdana"/>
                <a:ea typeface="Verdana"/>
                <a:cs typeface="Verdana"/>
              </a:rPr>
              <a:t>  </a:t>
            </a:r>
          </a:p>
          <a:p>
            <a:pPr marL="1703388" indent="-457200">
              <a:lnSpc>
                <a:spcPct val="107000"/>
              </a:lnSpc>
            </a:pPr>
            <a:endParaRPr lang="en-PH" sz="2400" i="1" dirty="0">
              <a:latin typeface="Cambria Math"/>
              <a:ea typeface="Cambria Math"/>
              <a:cs typeface="Cambria Math"/>
            </a:endParaRPr>
          </a:p>
          <a:p>
            <a:pPr marL="1703388" indent="-457200">
              <a:lnSpc>
                <a:spcPct val="107000"/>
              </a:lnSpc>
            </a:pPr>
            <a:r>
              <a:rPr lang="en-US" sz="2400" dirty="0">
                <a:latin typeface="Verdana"/>
                <a:ea typeface="Verdana"/>
                <a:cs typeface="Verdana"/>
              </a:rPr>
              <a:t>Step 2:</a:t>
            </a:r>
            <a:endParaRPr lang="en-PH" sz="2400" i="1" dirty="0">
              <a:latin typeface="Cambria Math"/>
              <a:ea typeface="Cambria Math"/>
              <a:cs typeface="Cambria Math"/>
            </a:endParaRPr>
          </a:p>
          <a:p>
            <a:pPr marL="1254125" indent="-457200">
              <a:lnSpc>
                <a:spcPct val="107000"/>
              </a:lnSpc>
            </a:pPr>
            <a:r>
              <a:rPr lang="en-US" sz="2400" dirty="0">
                <a:latin typeface="Verdana"/>
                <a:ea typeface="Verdana"/>
                <a:cs typeface="Verdana"/>
              </a:rPr>
              <a:t>  </a:t>
            </a:r>
          </a:p>
          <a:p>
            <a:pPr marL="1254125" indent="-457200">
              <a:lnSpc>
                <a:spcPct val="107000"/>
              </a:lnSpc>
            </a:pPr>
            <a:endParaRPr lang="en-US" sz="2400" i="1" dirty="0">
              <a:latin typeface="Verdana"/>
              <a:ea typeface="Verdana"/>
              <a:cs typeface="Cambria Math"/>
            </a:endParaRPr>
          </a:p>
          <a:p>
            <a:pPr marL="1254125" indent="-457200">
              <a:lnSpc>
                <a:spcPct val="107000"/>
              </a:lnSpc>
            </a:pPr>
            <a:endParaRPr lang="en-PH" sz="2400" i="1" dirty="0">
              <a:latin typeface="Cambria Math"/>
              <a:ea typeface="Cambria Math"/>
              <a:cs typeface="Cambria Math"/>
            </a:endParaRPr>
          </a:p>
          <a:p>
            <a:pPr marL="1254125" indent="-457200">
              <a:lnSpc>
                <a:spcPct val="107000"/>
              </a:lnSpc>
              <a:buFont typeface="+mj-lt"/>
              <a:buAutoNum type="alphaLcPeriod" startAt="2"/>
            </a:pPr>
            <a:r>
              <a:rPr lang="en-US" sz="2400" dirty="0">
                <a:latin typeface="Verdana"/>
                <a:ea typeface="Verdana"/>
                <a:cs typeface="Verdana"/>
              </a:rPr>
              <a:t>Find the mean percentage of adults in the U.S. who use </a:t>
            </a:r>
            <a:r>
              <a:rPr lang="en-US" sz="2400" dirty="0" err="1">
                <a:latin typeface="Verdana"/>
                <a:ea typeface="Verdana"/>
                <a:cs typeface="Verdana"/>
              </a:rPr>
              <a:t>Instagram</a:t>
            </a:r>
            <a:r>
              <a:rPr lang="en-US" sz="2400" dirty="0">
                <a:latin typeface="Verdana"/>
                <a:ea typeface="Verdana"/>
                <a:cs typeface="Verdana"/>
              </a:rPr>
              <a:t>. Think about what type of number the answer should be.</a:t>
            </a:r>
          </a:p>
          <a:p>
            <a:pPr marL="898525" indent="-457200">
              <a:lnSpc>
                <a:spcPct val="107000"/>
              </a:lnSpc>
              <a:buFont typeface="+mj-lt"/>
              <a:buAutoNum type="alphaLcPeriod" startAt="2"/>
            </a:pPr>
            <a:endParaRPr lang="en-US" sz="2400" dirty="0">
              <a:latin typeface="Verdana"/>
              <a:ea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497411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111600" y="404144"/>
            <a:ext cx="12026734" cy="3628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4125" indent="-457200">
              <a:lnSpc>
                <a:spcPct val="107000"/>
              </a:lnSpc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</a:rPr>
              <a:t>Interpret the mean based on the data. Specifically address what </a:t>
            </a:r>
            <a:r>
              <a:rPr lang="en-US" sz="2400" dirty="0" smtClean="0">
                <a:latin typeface="Verdana"/>
                <a:ea typeface="Verdana"/>
                <a:cs typeface="Verdana"/>
              </a:rPr>
              <a:t/>
            </a:r>
            <a:br>
              <a:rPr lang="en-US" sz="2400" dirty="0" smtClean="0">
                <a:latin typeface="Verdana"/>
                <a:ea typeface="Verdana"/>
                <a:cs typeface="Verdana"/>
              </a:rPr>
            </a:br>
            <a:r>
              <a:rPr lang="en-US" sz="2400" dirty="0" smtClean="0">
                <a:latin typeface="Verdana"/>
                <a:ea typeface="Verdana"/>
                <a:cs typeface="Verdana"/>
              </a:rPr>
              <a:t>the </a:t>
            </a:r>
            <a:r>
              <a:rPr lang="en-US" sz="2400" dirty="0">
                <a:latin typeface="Verdana"/>
                <a:ea typeface="Verdana"/>
                <a:cs typeface="Verdana"/>
              </a:rPr>
              <a:t>value of the mean states about the number of adults who use </a:t>
            </a:r>
            <a:r>
              <a:rPr lang="en-US" sz="2400" dirty="0" err="1">
                <a:latin typeface="Verdana"/>
                <a:ea typeface="Verdana"/>
                <a:cs typeface="Verdana"/>
              </a:rPr>
              <a:t>Instagram</a:t>
            </a:r>
            <a:r>
              <a:rPr lang="en-US" sz="2400" dirty="0">
                <a:latin typeface="Verdana"/>
                <a:ea typeface="Verdana"/>
                <a:cs typeface="Verdana"/>
              </a:rPr>
              <a:t>.</a:t>
            </a:r>
          </a:p>
          <a:p>
            <a:pPr marL="1254125" indent="-457200">
              <a:lnSpc>
                <a:spcPct val="107000"/>
              </a:lnSpc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1254125" indent="-457200">
              <a:lnSpc>
                <a:spcPct val="107000"/>
              </a:lnSpc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1254125" indent="-457200">
              <a:lnSpc>
                <a:spcPct val="107000"/>
              </a:lnSpc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1254125" indent="-457200">
              <a:lnSpc>
                <a:spcPct val="107000"/>
              </a:lnSpc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1254125" indent="-457200">
              <a:lnSpc>
                <a:spcPct val="107000"/>
              </a:lnSpc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</a:rPr>
              <a:t>Explain why the mean does not give information about the percentage of adults in the U.S. using </a:t>
            </a:r>
            <a:r>
              <a:rPr lang="en-US" sz="2400" dirty="0" err="1">
                <a:latin typeface="Verdana"/>
                <a:ea typeface="Verdana"/>
                <a:cs typeface="Verdana"/>
              </a:rPr>
              <a:t>Instagram</a:t>
            </a:r>
            <a:r>
              <a:rPr lang="en-US" sz="2400" dirty="0">
                <a:latin typeface="Verdana"/>
                <a:ea typeface="Verdana"/>
                <a:cs typeface="Verdana"/>
              </a:rPr>
              <a:t> today.</a:t>
            </a:r>
            <a:endParaRPr lang="en-PH" sz="2400" i="1" dirty="0">
              <a:latin typeface="Cambria Math"/>
              <a:ea typeface="Cambria Math"/>
              <a:cs typeface="Cambria Math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994150" y="65213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591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45107" y="398149"/>
                <a:ext cx="11503738" cy="3463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1800"/>
                  </a:spcAft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The </a:t>
                </a:r>
                <a:r>
                  <a:rPr lang="en-US" sz="2400" b="1" i="1" dirty="0">
                    <a:latin typeface="Verdana"/>
                    <a:ea typeface="Verdana"/>
                    <a:cs typeface="Verdana"/>
                  </a:rPr>
                  <a:t>mean</a:t>
                </a:r>
                <a:r>
                  <a:rPr lang="en-US" sz="2400" dirty="0">
                    <a:latin typeface="Verdana"/>
                    <a:ea typeface="Verdana"/>
                    <a:cs typeface="Verdana"/>
                  </a:rPr>
                  <a:t> of a data set is one way to describe the center of data set, by generalizing the data. In other words, it describes a typical value of the data set.</a:t>
                </a:r>
                <a:endParaRPr lang="en-PH" sz="2400" i="1" dirty="0">
                  <a:latin typeface="Cambria Math"/>
                  <a:ea typeface="Cambria Math"/>
                  <a:cs typeface="Cambria Math"/>
                </a:endParaRPr>
              </a:p>
              <a:p>
                <a:pPr marL="898525" indent="-457200">
                  <a:lnSpc>
                    <a:spcPct val="107000"/>
                  </a:lnSpc>
                  <a:buFont typeface="+mj-lt"/>
                  <a:buAutoNum type="alphaLcPeriod" startAt="5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Complete the statement to interpret the mean of the data set from the Pew Research Center.</a:t>
                </a:r>
                <a:endParaRPr lang="en-PH" sz="2400" i="1" dirty="0">
                  <a:latin typeface="Cambria Math"/>
                  <a:ea typeface="Cambria Math"/>
                  <a:cs typeface="Cambria Math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 </a:t>
                </a:r>
                <a:endParaRPr lang="en-PH" sz="2400" i="1" dirty="0">
                  <a:latin typeface="Cambria Math"/>
                  <a:ea typeface="Cambria Math"/>
                  <a:cs typeface="Cambria Math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Typically, about ___________ of adults in the U.S. used </a:t>
                </a:r>
                <a:r>
                  <a:rPr lang="en-US" sz="2400" dirty="0" err="1">
                    <a:latin typeface="Verdana"/>
                    <a:ea typeface="Verdana"/>
                    <a:cs typeface="Verdana"/>
                  </a:rPr>
                  <a:t>Instagram</a:t>
                </a:r>
                <a:r>
                  <a:rPr lang="en-US" sz="2400" dirty="0">
                    <a:latin typeface="Verdana"/>
                    <a:ea typeface="Verdana"/>
                    <a:cs typeface="Verdana"/>
                  </a:rPr>
                  <a:t> during the years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  <a:cs typeface="Cambria Math"/>
                      </a:rPr>
                      <m:t>2012−2016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.  </a:t>
                </a:r>
                <a:endParaRPr lang="en-PH" sz="2400" i="1" dirty="0">
                  <a:latin typeface="Cambria Math"/>
                  <a:ea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07" y="398149"/>
                <a:ext cx="11503738" cy="3463962"/>
              </a:xfrm>
              <a:prstGeom prst="rect">
                <a:avLst/>
              </a:prstGeom>
              <a:blipFill rotWithShape="1">
                <a:blip r:embed="rId3"/>
                <a:stretch>
                  <a:fillRect l="-795" t="-1757" r="-901" b="-246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994150" y="65213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0335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xmlns="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994150" y="65213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9331" y="75053"/>
            <a:ext cx="1090225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9.3.4 Try It: Finding and Interpreting </a:t>
            </a: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Mean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9523" y="13251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AB6A3A1-5A0D-C84F-AC89-57E6782F43E5}"/>
              </a:ext>
            </a:extLst>
          </p:cNvPr>
          <p:cNvSpPr txBox="1"/>
          <p:nvPr/>
        </p:nvSpPr>
        <p:spPr>
          <a:xfrm>
            <a:off x="499066" y="1309918"/>
            <a:ext cx="8327136" cy="433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The heights of seven NBA players are listed in the table.</a:t>
            </a:r>
            <a:endParaRPr lang="en-PH" sz="1800" i="1" dirty="0">
              <a:latin typeface="Cambria Math"/>
              <a:ea typeface="Cambria Math"/>
              <a:cs typeface="Verdana"/>
            </a:endParaRPr>
          </a:p>
          <a:p>
            <a:pPr marL="890588" indent="-342900">
              <a:lnSpc>
                <a:spcPct val="107000"/>
              </a:lnSpc>
              <a:spcAft>
                <a:spcPts val="1200"/>
              </a:spcAft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What is the mean </a:t>
            </a:r>
            <a:r>
              <a:rPr lang="en-US" sz="2000" dirty="0" smtClean="0">
                <a:latin typeface="Verdana"/>
                <a:ea typeface="Verdana"/>
                <a:cs typeface="Verdana"/>
              </a:rPr>
              <a:t>height</a:t>
            </a:r>
            <a:r>
              <a:rPr lang="en-US" sz="2000" dirty="0">
                <a:latin typeface="Verdana"/>
                <a:ea typeface="Verdana"/>
                <a:cs typeface="Verdana"/>
              </a:rPr>
              <a:t>, in inches,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of the NBA players </a:t>
            </a:r>
            <a:r>
              <a:rPr lang="en-US" sz="2000" dirty="0" smtClean="0">
                <a:latin typeface="Verdana"/>
                <a:ea typeface="Verdana"/>
                <a:cs typeface="Verdana"/>
              </a:rPr>
              <a:t>sampled</a:t>
            </a:r>
            <a:r>
              <a:rPr lang="en-US" sz="2000" dirty="0">
                <a:latin typeface="Verdana"/>
                <a:ea typeface="Verdana"/>
                <a:cs typeface="Verdana"/>
              </a:rPr>
              <a:t>? Round to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the nearest tenth.</a:t>
            </a:r>
            <a:endParaRPr lang="en-PH" sz="1800" i="1" dirty="0">
              <a:latin typeface="Cambria Math"/>
              <a:ea typeface="Cambria Math"/>
              <a:cs typeface="Cambria Math"/>
            </a:endParaRPr>
          </a:p>
          <a:p>
            <a:pPr marL="890588" indent="-342900">
              <a:lnSpc>
                <a:spcPct val="107000"/>
              </a:lnSpc>
              <a:spcAft>
                <a:spcPts val="1200"/>
              </a:spcAft>
              <a:buFont typeface="+mj-lt"/>
              <a:buAutoNum type="alphaLcPeriod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890588" indent="-342900">
              <a:lnSpc>
                <a:spcPct val="107000"/>
              </a:lnSpc>
              <a:spcAft>
                <a:spcPts val="1200"/>
              </a:spcAft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Interpret the mean </a:t>
            </a:r>
            <a:r>
              <a:rPr lang="en-US" sz="2000" dirty="0" smtClean="0">
                <a:latin typeface="Verdana"/>
                <a:ea typeface="Verdana"/>
                <a:cs typeface="Verdana"/>
              </a:rPr>
              <a:t>height </a:t>
            </a:r>
            <a:r>
              <a:rPr lang="en-US" sz="2000" dirty="0">
                <a:latin typeface="Verdana"/>
                <a:ea typeface="Verdana"/>
                <a:cs typeface="Verdana"/>
              </a:rPr>
              <a:t>for the seven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players.</a:t>
            </a:r>
            <a:endParaRPr lang="en-PH" sz="1800" i="1" dirty="0">
              <a:latin typeface="Cambria Math"/>
              <a:ea typeface="Cambria Math"/>
              <a:cs typeface="Cambria Math"/>
            </a:endParaRPr>
          </a:p>
          <a:p>
            <a:pPr marL="890588" indent="-342900">
              <a:lnSpc>
                <a:spcPct val="107000"/>
              </a:lnSpc>
              <a:buFont typeface="+mj-lt"/>
              <a:buAutoNum type="alphaLcPeriod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890588" indent="-342900">
              <a:lnSpc>
                <a:spcPct val="107000"/>
              </a:lnSpc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Determine whether the mean should be </a:t>
            </a:r>
            <a:r>
              <a:rPr lang="en-US" sz="2000" dirty="0" smtClean="0">
                <a:latin typeface="Verdana"/>
                <a:ea typeface="Verdana"/>
                <a:cs typeface="Verdana"/>
              </a:rPr>
              <a:t/>
            </a:r>
            <a:br>
              <a:rPr lang="en-US" sz="2000" dirty="0" smtClean="0">
                <a:latin typeface="Verdana"/>
                <a:ea typeface="Verdana"/>
                <a:cs typeface="Verdana"/>
              </a:rPr>
            </a:br>
            <a:r>
              <a:rPr lang="en-US" sz="2000" dirty="0" smtClean="0">
                <a:latin typeface="Verdana"/>
                <a:ea typeface="Verdana"/>
                <a:cs typeface="Verdana"/>
              </a:rPr>
              <a:t>used to </a:t>
            </a:r>
            <a:r>
              <a:rPr lang="en-US" sz="2000" dirty="0">
                <a:latin typeface="Verdana"/>
                <a:ea typeface="Verdana"/>
                <a:cs typeface="Verdana"/>
              </a:rPr>
              <a:t>make a generalization about all </a:t>
            </a:r>
            <a:r>
              <a:rPr lang="en-US" sz="2000" dirty="0" smtClean="0">
                <a:latin typeface="Verdana"/>
                <a:ea typeface="Verdana"/>
                <a:cs typeface="Verdana"/>
              </a:rPr>
              <a:t/>
            </a:r>
            <a:br>
              <a:rPr lang="en-US" sz="2000" dirty="0" smtClean="0">
                <a:latin typeface="Verdana"/>
                <a:ea typeface="Verdana"/>
                <a:cs typeface="Verdana"/>
              </a:rPr>
            </a:br>
            <a:r>
              <a:rPr lang="en-US" sz="2000" dirty="0" smtClean="0">
                <a:latin typeface="Verdana"/>
                <a:ea typeface="Verdana"/>
                <a:cs typeface="Verdana"/>
              </a:rPr>
              <a:t>NBA </a:t>
            </a:r>
            <a:r>
              <a:rPr lang="en-US" sz="2000" dirty="0">
                <a:latin typeface="Verdana"/>
                <a:ea typeface="Verdana"/>
                <a:cs typeface="Verdana"/>
              </a:rPr>
              <a:t>players. </a:t>
            </a:r>
            <a:r>
              <a:rPr lang="en-US" sz="2000" dirty="0" smtClean="0">
                <a:latin typeface="Verdana"/>
                <a:ea typeface="Verdana"/>
                <a:cs typeface="Verdana"/>
              </a:rPr>
              <a:t>Justify </a:t>
            </a:r>
            <a:r>
              <a:rPr lang="en-US" sz="2000" dirty="0">
                <a:latin typeface="Verdana"/>
                <a:ea typeface="Verdana"/>
                <a:cs typeface="Verdana"/>
              </a:rPr>
              <a:t>your answer.</a:t>
            </a:r>
            <a:endParaRPr lang="en-PH" sz="1800" i="1" dirty="0">
              <a:latin typeface="Cambria Math"/>
              <a:ea typeface="Cambria Math"/>
              <a:cs typeface="Cambria Math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212694"/>
              </p:ext>
            </p:extLst>
          </p:nvPr>
        </p:nvGraphicFramePr>
        <p:xfrm>
          <a:off x="7065486" y="1858403"/>
          <a:ext cx="4320000" cy="3666744"/>
        </p:xfrm>
        <a:graphic>
          <a:graphicData uri="http://schemas.openxmlformats.org/drawingml/2006/table">
            <a:tbl>
              <a:tblPr bandRow="1"/>
              <a:tblGrid>
                <a:gridCol w="252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Player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Height </a:t>
                      </a:r>
                      <a:b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</a:br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(in inches)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LeBron James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000" i="0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81</a:t>
                      </a:r>
                    </a:p>
                  </a:txBody>
                  <a:tcPr marL="45720" marR="4572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Stephen Curry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000" i="0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75</a:t>
                      </a:r>
                    </a:p>
                  </a:txBody>
                  <a:tcPr marL="45720" marR="4572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i="0">
                          <a:effectLst/>
                          <a:latin typeface="Verdana"/>
                          <a:ea typeface="Verdana"/>
                          <a:cs typeface="Verdana"/>
                        </a:rPr>
                        <a:t>Kevin Durant</a:t>
                      </a:r>
                      <a:endParaRPr lang="en-PH" sz="20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000" i="0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82</a:t>
                      </a:r>
                    </a:p>
                  </a:txBody>
                  <a:tcPr marL="45720" marR="4572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i="0">
                          <a:effectLst/>
                          <a:latin typeface="Verdana"/>
                          <a:ea typeface="Verdana"/>
                          <a:cs typeface="Verdana"/>
                        </a:rPr>
                        <a:t>Kobe Bryant</a:t>
                      </a:r>
                      <a:endParaRPr lang="en-PH" sz="20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000" i="0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78</a:t>
                      </a:r>
                    </a:p>
                  </a:txBody>
                  <a:tcPr marL="45720" marR="4572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i="0">
                          <a:effectLst/>
                          <a:latin typeface="Verdana"/>
                          <a:ea typeface="Verdana"/>
                          <a:cs typeface="Verdana"/>
                        </a:rPr>
                        <a:t>Michael Jordan</a:t>
                      </a:r>
                      <a:endParaRPr lang="en-PH" sz="20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000" i="0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78</a:t>
                      </a:r>
                    </a:p>
                  </a:txBody>
                  <a:tcPr marL="45720" marR="4572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i="0">
                          <a:effectLst/>
                          <a:latin typeface="Verdana"/>
                          <a:ea typeface="Verdana"/>
                          <a:cs typeface="Verdana"/>
                        </a:rPr>
                        <a:t>James Harden</a:t>
                      </a:r>
                      <a:endParaRPr lang="en-PH" sz="20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000" i="0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77</a:t>
                      </a:r>
                    </a:p>
                  </a:txBody>
                  <a:tcPr marL="45720" marR="4572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Shaquille O’Neal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000" i="0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85</a:t>
                      </a:r>
                    </a:p>
                  </a:txBody>
                  <a:tcPr marL="45720" marR="4572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12" name="Google Shape;282;g104476d1465_1_17"/>
          <p:cNvSpPr txBox="1"/>
          <p:nvPr/>
        </p:nvSpPr>
        <p:spPr>
          <a:xfrm>
            <a:off x="8994150" y="65213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445107" y="281302"/>
            <a:ext cx="11647576" cy="5604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 startAt="2"/>
            </a:pPr>
            <a:r>
              <a:rPr lang="en-US" sz="2400" dirty="0">
                <a:latin typeface="Verdana"/>
                <a:ea typeface="Verdana"/>
                <a:cs typeface="Verdana"/>
              </a:rPr>
              <a:t>Below is a list of the number of home runs hit in the top 10 most home-run friendly ballparks during the 2012 Major League Baseball season.</a:t>
            </a:r>
            <a:br>
              <a:rPr lang="en-US" sz="2400" dirty="0">
                <a:latin typeface="Verdana"/>
                <a:ea typeface="Verdana"/>
                <a:cs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</a:rPr>
              <a:t/>
            </a:r>
            <a:br>
              <a:rPr lang="en-US" sz="2400" dirty="0">
                <a:latin typeface="Verdana"/>
                <a:ea typeface="Verdana"/>
                <a:cs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</a:rPr>
              <a:t/>
            </a:r>
            <a:br>
              <a:rPr lang="en-US" sz="2400" dirty="0">
                <a:latin typeface="Verdana"/>
                <a:ea typeface="Verdana"/>
                <a:cs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</a:rPr>
              <a:t/>
            </a:r>
            <a:br>
              <a:rPr lang="en-US" sz="2400" dirty="0">
                <a:latin typeface="Verdana"/>
                <a:ea typeface="Verdana"/>
                <a:cs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</a:rPr>
              <a:t/>
            </a:r>
            <a:br>
              <a:rPr lang="en-US" sz="2400" dirty="0">
                <a:latin typeface="Verdana"/>
                <a:ea typeface="Verdana"/>
                <a:cs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</a:rPr>
              <a:t/>
            </a:r>
            <a:br>
              <a:rPr lang="en-US" sz="2400" dirty="0">
                <a:latin typeface="Verdana"/>
                <a:ea typeface="Verdana"/>
                <a:cs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</a:rPr>
              <a:t/>
            </a:r>
            <a:br>
              <a:rPr lang="en-US" sz="2400" dirty="0">
                <a:latin typeface="Verdana"/>
                <a:ea typeface="Verdana"/>
                <a:cs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</a:rPr>
              <a:t/>
            </a:r>
            <a:br>
              <a:rPr lang="en-US" sz="2400" dirty="0">
                <a:latin typeface="Verdana"/>
                <a:ea typeface="Verdana"/>
                <a:cs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</a:rPr>
              <a:t/>
            </a:r>
            <a:br>
              <a:rPr lang="en-US" sz="2400" dirty="0">
                <a:latin typeface="Verdana"/>
                <a:ea typeface="Verdana"/>
                <a:cs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</a:rPr>
              <a:t/>
            </a:r>
            <a:br>
              <a:rPr lang="en-US" sz="2400" dirty="0">
                <a:latin typeface="Verdana"/>
                <a:ea typeface="Verdana"/>
                <a:cs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</a:rPr>
              <a:t>Circle the value from the data set that is closest to the mean number of home runs per ballpark. Show your work.</a:t>
            </a:r>
            <a:endParaRPr lang="en-PH" sz="2400" i="1" dirty="0">
              <a:latin typeface="Cambria Math"/>
              <a:ea typeface="Cambria Math"/>
              <a:cs typeface="Cambria Math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620796"/>
                  </p:ext>
                </p:extLst>
              </p:nvPr>
            </p:nvGraphicFramePr>
            <p:xfrm>
              <a:off x="4553012" y="1843450"/>
              <a:ext cx="2880000" cy="2700000"/>
            </p:xfrm>
            <a:graphic>
              <a:graphicData uri="http://schemas.openxmlformats.org/drawingml/2006/table">
                <a:tbl>
                  <a:tblPr bandRow="1"/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231</m:t>
                              </m:r>
                            </m:oMath>
                          </a14:m>
                          <a:r>
                            <a:rPr lang="en-US" sz="2400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 </a:t>
                          </a:r>
                          <a:endParaRPr lang="en-PH" sz="24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202</m:t>
                              </m:r>
                            </m:oMath>
                          </a14:m>
                          <a:r>
                            <a:rPr lang="en-US" sz="2400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 </a:t>
                          </a:r>
                          <a:endParaRPr lang="en-PH" sz="24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230</m:t>
                              </m:r>
                            </m:oMath>
                          </a14:m>
                          <a:r>
                            <a:rPr lang="en-US" sz="2400" i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 </a:t>
                          </a:r>
                          <a:endParaRPr lang="en-PH" sz="2400" i="1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199</m:t>
                              </m:r>
                            </m:oMath>
                          </a14:m>
                          <a:r>
                            <a:rPr lang="en-US" sz="2400" i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 </a:t>
                          </a:r>
                          <a:endParaRPr lang="en-PH" sz="2400" i="1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229</m:t>
                              </m:r>
                            </m:oMath>
                          </a14:m>
                          <a:r>
                            <a:rPr lang="en-US" sz="2400" i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 </a:t>
                          </a:r>
                          <a:endParaRPr lang="en-PH" sz="2400" i="1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175</m:t>
                              </m:r>
                            </m:oMath>
                          </a14:m>
                          <a:r>
                            <a:rPr lang="en-US" sz="2400" i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 </a:t>
                          </a:r>
                          <a:endParaRPr lang="en-PH" sz="2400" i="1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225</m:t>
                              </m:r>
                            </m:oMath>
                          </a14:m>
                          <a:r>
                            <a:rPr lang="en-US" sz="2400" i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 </a:t>
                          </a:r>
                          <a:endParaRPr lang="en-PH" sz="2400" i="1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174</m:t>
                              </m:r>
                            </m:oMath>
                          </a14:m>
                          <a:r>
                            <a:rPr lang="en-US" sz="2400" i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 </a:t>
                          </a:r>
                          <a:endParaRPr lang="en-PH" sz="2400" i="1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218</m:t>
                              </m:r>
                            </m:oMath>
                          </a14:m>
                          <a:r>
                            <a:rPr lang="en-US" sz="2400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 </a:t>
                          </a:r>
                          <a:endParaRPr lang="en-PH" sz="24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158</m:t>
                              </m:r>
                            </m:oMath>
                          </a14:m>
                          <a:r>
                            <a:rPr lang="en-US" sz="2400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 </a:t>
                          </a:r>
                          <a:endParaRPr lang="en-PH" sz="24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620796"/>
                  </p:ext>
                </p:extLst>
              </p:nvPr>
            </p:nvGraphicFramePr>
            <p:xfrm>
              <a:off x="4553012" y="1843450"/>
              <a:ext cx="2880000" cy="2700000"/>
            </p:xfrm>
            <a:graphic>
              <a:graphicData uri="http://schemas.openxmlformats.org/drawingml/2006/table">
                <a:tbl>
                  <a:tblPr bandRow="1"/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24" r="-100424" b="-3988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424" r="-424" b="-3988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24" t="-101136" r="-100424" b="-30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424" t="-101136" r="-424" b="-3034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24" t="-198876" r="-100424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424" t="-198876" r="-424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24" t="-302273" r="-100424" b="-10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424" t="-302273" r="-424" b="-102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24" t="-397753" r="-100424" b="-11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424" t="-397753" r="-424" b="-11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994150" y="65213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157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38354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994150" y="65213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41824" y="71528"/>
            <a:ext cx="10486326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9.3.5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4524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759C3E41-93EC-B84D-963F-86A3B15AC1C6}"/>
              </a:ext>
            </a:extLst>
          </p:cNvPr>
          <p:cNvSpPr txBox="1"/>
          <p:nvPr/>
        </p:nvSpPr>
        <p:spPr>
          <a:xfrm>
            <a:off x="550145" y="1170268"/>
            <a:ext cx="10874717" cy="4027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Statistics on the total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number of visitors to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Florida are tracked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by Visit Florida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Research. The table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shows the number of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visitors, in millions,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for each quarter for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the year 2019.</a:t>
            </a: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000" i="1" dirty="0">
              <a:latin typeface="Verdana"/>
              <a:ea typeface="Verdana"/>
              <a:cs typeface="Verdana"/>
            </a:endParaRPr>
          </a:p>
          <a:p>
            <a:pPr marL="889000" indent="-457200">
              <a:lnSpc>
                <a:spcPct val="107000"/>
              </a:lnSpc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What is the mean number of people, in millions, who visited Florida </a:t>
            </a:r>
            <a:r>
              <a:rPr lang="en-US" sz="2000" b="1" dirty="0">
                <a:latin typeface="Verdana"/>
                <a:ea typeface="Verdana"/>
                <a:cs typeface="Verdana"/>
              </a:rPr>
              <a:t>per</a:t>
            </a:r>
            <a:r>
              <a:rPr lang="en-US" sz="2000" dirty="0">
                <a:latin typeface="Verdana"/>
                <a:ea typeface="Verdana"/>
                <a:cs typeface="Verdana"/>
              </a:rPr>
              <a:t> </a:t>
            </a:r>
            <a:r>
              <a:rPr lang="en-US" sz="2000" b="1" dirty="0">
                <a:latin typeface="Verdana"/>
                <a:ea typeface="Verdana"/>
                <a:cs typeface="Verdana"/>
              </a:rPr>
              <a:t>quarter</a:t>
            </a:r>
            <a:r>
              <a:rPr lang="en-US" sz="2000" dirty="0">
                <a:latin typeface="Verdana"/>
                <a:ea typeface="Verdana"/>
                <a:cs typeface="Verdana"/>
              </a:rPr>
              <a:t> in 2019? Round your answer to the hundredths place.</a:t>
            </a:r>
            <a:endParaRPr lang="en-PH" sz="2000" i="1" dirty="0">
              <a:latin typeface="Cambria Math"/>
              <a:ea typeface="Cambria Math"/>
              <a:cs typeface="Cambria Math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998030"/>
              </p:ext>
            </p:extLst>
          </p:nvPr>
        </p:nvGraphicFramePr>
        <p:xfrm>
          <a:off x="4535018" y="1277391"/>
          <a:ext cx="4680000" cy="2903712"/>
        </p:xfrm>
        <a:graphic>
          <a:graphicData uri="http://schemas.openxmlformats.org/drawingml/2006/table">
            <a:tbl>
              <a:tblPr bandRow="1"/>
              <a:tblGrid>
                <a:gridCol w="324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320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Visitors to Florida (in millions)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Quarter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Total Visitors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i="0">
                          <a:effectLst/>
                          <a:latin typeface="Verdana"/>
                          <a:ea typeface="Verdana"/>
                          <a:cs typeface="Verdana"/>
                        </a:rPr>
                        <a:t>Q1 (January-March)</a:t>
                      </a:r>
                      <a:endParaRPr lang="en-PH" sz="20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000" i="0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35.79</a:t>
                      </a:r>
                    </a:p>
                  </a:txBody>
                  <a:tcPr marL="45720" marR="4572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i="0">
                          <a:effectLst/>
                          <a:latin typeface="Verdana"/>
                          <a:ea typeface="Verdana"/>
                          <a:cs typeface="Verdana"/>
                        </a:rPr>
                        <a:t>Q2 (April-June)</a:t>
                      </a:r>
                      <a:endParaRPr lang="en-PH" sz="20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000" i="0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32.41</a:t>
                      </a:r>
                    </a:p>
                  </a:txBody>
                  <a:tcPr marL="45720" marR="4572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Q3 (July-September)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000" i="0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32.40</a:t>
                      </a:r>
                    </a:p>
                  </a:txBody>
                  <a:tcPr marL="45720" marR="4572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Q4 (October-December)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000" i="0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30.81</a:t>
                      </a:r>
                    </a:p>
                  </a:txBody>
                  <a:tcPr marL="45720" marR="45720"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1" name="Google Shape;282;g104476d1465_1_17"/>
          <p:cNvSpPr txBox="1"/>
          <p:nvPr/>
        </p:nvSpPr>
        <p:spPr>
          <a:xfrm>
            <a:off x="8994150" y="65213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3400" y="372084"/>
            <a:ext cx="11518187" cy="32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6938" indent="-457200" defTabSz="982663">
              <a:lnSpc>
                <a:spcPct val="107000"/>
              </a:lnSpc>
              <a:buFont typeface="+mj-lt"/>
              <a:buAutoNum type="alphaLcPeriod" startAt="2"/>
            </a:pPr>
            <a:r>
              <a:rPr lang="en-US" sz="2400" dirty="0">
                <a:latin typeface="Verdana"/>
                <a:ea typeface="Verdana"/>
                <a:cs typeface="Verdana"/>
              </a:rPr>
              <a:t>What is the mean number of people, in millions, who visited Florida </a:t>
            </a:r>
            <a:r>
              <a:rPr lang="en-US" sz="2400" b="1" dirty="0">
                <a:latin typeface="Verdana"/>
                <a:ea typeface="Verdana"/>
                <a:cs typeface="Verdana"/>
              </a:rPr>
              <a:t>per</a:t>
            </a:r>
            <a:r>
              <a:rPr lang="en-US" sz="2400" dirty="0">
                <a:latin typeface="Verdana"/>
                <a:ea typeface="Verdana"/>
                <a:cs typeface="Verdana"/>
              </a:rPr>
              <a:t> </a:t>
            </a:r>
            <a:r>
              <a:rPr lang="en-US" sz="2400" b="1" dirty="0">
                <a:latin typeface="Verdana"/>
                <a:ea typeface="Verdana"/>
                <a:cs typeface="Verdana"/>
              </a:rPr>
              <a:t>month</a:t>
            </a:r>
            <a:r>
              <a:rPr lang="en-US" sz="2400" dirty="0">
                <a:latin typeface="Verdana"/>
                <a:ea typeface="Verdana"/>
                <a:cs typeface="Verdana"/>
              </a:rPr>
              <a:t> in 2019? Round your answer to the hundredths place.</a:t>
            </a:r>
          </a:p>
          <a:p>
            <a:pPr marL="896938" indent="-457200" defTabSz="982663">
              <a:lnSpc>
                <a:spcPct val="107000"/>
              </a:lnSpc>
              <a:buFont typeface="+mj-lt"/>
              <a:buAutoNum type="alphaLcPeriod" startAt="2"/>
            </a:pPr>
            <a:endParaRPr lang="en-US" sz="2400" i="1" dirty="0">
              <a:latin typeface="Verdana"/>
              <a:ea typeface="Verdana"/>
              <a:cs typeface="Cambria Math"/>
            </a:endParaRPr>
          </a:p>
          <a:p>
            <a:pPr marL="896938" indent="-457200" defTabSz="982663">
              <a:lnSpc>
                <a:spcPct val="107000"/>
              </a:lnSpc>
              <a:buFont typeface="+mj-lt"/>
              <a:buAutoNum type="alphaLcPeriod" startAt="2"/>
            </a:pPr>
            <a:endParaRPr lang="en-US" sz="2400" i="1" dirty="0">
              <a:latin typeface="Verdana"/>
              <a:ea typeface="Verdana"/>
              <a:cs typeface="Cambria Math"/>
            </a:endParaRPr>
          </a:p>
          <a:p>
            <a:pPr marL="896938" indent="-457200" defTabSz="982663">
              <a:lnSpc>
                <a:spcPct val="107000"/>
              </a:lnSpc>
              <a:buFont typeface="+mj-lt"/>
              <a:buAutoNum type="alphaLcPeriod" startAt="2"/>
            </a:pPr>
            <a:endParaRPr lang="en-US" sz="2400" i="1" dirty="0">
              <a:latin typeface="Verdana"/>
              <a:ea typeface="Verdana"/>
              <a:cs typeface="Cambria Math"/>
            </a:endParaRPr>
          </a:p>
          <a:p>
            <a:pPr marL="896938" indent="-457200" defTabSz="982663">
              <a:lnSpc>
                <a:spcPct val="107000"/>
              </a:lnSpc>
              <a:buFont typeface="+mj-lt"/>
              <a:buAutoNum type="alphaLcPeriod" startAt="2"/>
            </a:pPr>
            <a:endParaRPr lang="en-PH" sz="2400" i="1" dirty="0">
              <a:latin typeface="Cambria Math"/>
              <a:ea typeface="Cambria Math"/>
              <a:cs typeface="Cambria Math"/>
            </a:endParaRPr>
          </a:p>
          <a:p>
            <a:pPr marL="896938" indent="-457200" defTabSz="982663">
              <a:lnSpc>
                <a:spcPct val="107000"/>
              </a:lnSpc>
              <a:buFont typeface="+mj-lt"/>
              <a:buAutoNum type="alphaLcPeriod" startAt="2"/>
            </a:pPr>
            <a:r>
              <a:rPr lang="en-US" sz="2400" dirty="0">
                <a:latin typeface="Verdana"/>
                <a:ea typeface="Verdana"/>
                <a:cs typeface="Verdana"/>
              </a:rPr>
              <a:t>Interpret the mean number of visitors per quarter in terms of the data set.</a:t>
            </a:r>
            <a:endParaRPr lang="en-PH" sz="2400" i="1" dirty="0">
              <a:latin typeface="Cambria Math"/>
              <a:ea typeface="Cambria Math"/>
              <a:cs typeface="Cambria Math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994150" y="65213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468608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79300" y="383103"/>
            <a:ext cx="11728783" cy="3879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spcAft>
                <a:spcPts val="1800"/>
              </a:spcAft>
              <a:buFont typeface="+mj-lt"/>
              <a:buAutoNum type="arabicPeriod" startAt="2"/>
            </a:pPr>
            <a:r>
              <a:rPr lang="en-US" sz="2400" dirty="0">
                <a:latin typeface="Verdana"/>
                <a:ea typeface="Verdana"/>
                <a:cs typeface="Verdana"/>
              </a:rPr>
              <a:t>For one week, Diego kept track of how </a:t>
            </a:r>
            <a:r>
              <a:rPr lang="en-US" sz="2400" dirty="0" smtClean="0">
                <a:latin typeface="Verdana"/>
                <a:ea typeface="Verdana"/>
                <a:cs typeface="Verdana"/>
              </a:rPr>
              <a:t>long it </a:t>
            </a:r>
            <a:r>
              <a:rPr lang="en-US" sz="2400" dirty="0">
                <a:latin typeface="Verdana"/>
                <a:ea typeface="Verdana"/>
                <a:cs typeface="Verdana"/>
              </a:rPr>
              <a:t>took for his dad to drive him to school </a:t>
            </a:r>
            <a:r>
              <a:rPr lang="en-US" sz="2400" dirty="0" smtClean="0">
                <a:latin typeface="Verdana"/>
                <a:ea typeface="Verdana"/>
                <a:cs typeface="Verdana"/>
              </a:rPr>
              <a:t>each </a:t>
            </a:r>
            <a:r>
              <a:rPr lang="en-US" sz="2400" dirty="0">
                <a:latin typeface="Verdana"/>
                <a:ea typeface="Verdana"/>
                <a:cs typeface="Verdana"/>
              </a:rPr>
              <a:t>morning.</a:t>
            </a:r>
            <a:endParaRPr lang="en-PH" sz="2400" i="1" dirty="0">
              <a:latin typeface="Cambria Math"/>
              <a:ea typeface="Cambria Math"/>
              <a:cs typeface="Verdana"/>
            </a:endParaRPr>
          </a:p>
          <a:p>
            <a:pPr marL="914400" lvl="1" indent="-457200">
              <a:lnSpc>
                <a:spcPct val="107000"/>
              </a:lnSpc>
              <a:buFont typeface="+mj-lt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</a:rPr>
              <a:t>What is the mean </a:t>
            </a:r>
            <a:r>
              <a:rPr lang="en-US" sz="2400" dirty="0" smtClean="0">
                <a:latin typeface="Verdana"/>
                <a:ea typeface="Verdana"/>
                <a:cs typeface="Verdana"/>
              </a:rPr>
              <a:t>travel </a:t>
            </a:r>
            <a:r>
              <a:rPr lang="en-US" sz="2400" dirty="0">
                <a:latin typeface="Verdana"/>
                <a:ea typeface="Verdana"/>
                <a:cs typeface="Verdana"/>
              </a:rPr>
              <a:t>time for </a:t>
            </a:r>
            <a:r>
              <a:rPr lang="en-US" sz="2400" dirty="0" smtClean="0">
                <a:latin typeface="Verdana"/>
                <a:ea typeface="Verdana"/>
                <a:cs typeface="Verdana"/>
              </a:rPr>
              <a:t/>
            </a:r>
            <a:br>
              <a:rPr lang="en-US" sz="2400" dirty="0" smtClean="0">
                <a:latin typeface="Verdana"/>
                <a:ea typeface="Verdana"/>
                <a:cs typeface="Verdana"/>
              </a:rPr>
            </a:br>
            <a:r>
              <a:rPr lang="en-US" sz="2400" dirty="0" smtClean="0">
                <a:latin typeface="Verdana"/>
                <a:ea typeface="Verdana"/>
                <a:cs typeface="Verdana"/>
              </a:rPr>
              <a:t>Diego to </a:t>
            </a:r>
            <a:r>
              <a:rPr lang="en-US" sz="2400" dirty="0">
                <a:latin typeface="Verdana"/>
                <a:ea typeface="Verdana"/>
                <a:cs typeface="Verdana"/>
              </a:rPr>
              <a:t>get to school?</a:t>
            </a:r>
          </a:p>
          <a:p>
            <a:pPr marL="914400" lvl="1" indent="-457200">
              <a:lnSpc>
                <a:spcPct val="107000"/>
              </a:lnSpc>
              <a:buFont typeface="+mj-lt"/>
              <a:buAutoNum type="alphaLcPeriod"/>
            </a:pPr>
            <a:endParaRPr lang="en-US" sz="2400" i="1" dirty="0">
              <a:latin typeface="Verdana"/>
              <a:ea typeface="Verdana"/>
              <a:cs typeface="Cambria Math"/>
            </a:endParaRPr>
          </a:p>
          <a:p>
            <a:pPr marL="914400" lvl="1" indent="-457200">
              <a:lnSpc>
                <a:spcPct val="107000"/>
              </a:lnSpc>
              <a:buFont typeface="+mj-lt"/>
              <a:buAutoNum type="alphaLcPeriod"/>
            </a:pPr>
            <a:endParaRPr lang="en-US" sz="2400" i="1" dirty="0">
              <a:latin typeface="Verdana"/>
              <a:ea typeface="Verdana"/>
              <a:cs typeface="Cambria Math"/>
            </a:endParaRPr>
          </a:p>
          <a:p>
            <a:pPr marL="914400" lvl="1" indent="-457200">
              <a:lnSpc>
                <a:spcPct val="107000"/>
              </a:lnSpc>
              <a:buFont typeface="+mj-lt"/>
              <a:buAutoNum type="alphaLcPeriod"/>
            </a:pPr>
            <a:endParaRPr lang="en-US" sz="2400" i="1" dirty="0">
              <a:latin typeface="Verdana"/>
              <a:ea typeface="Verdana"/>
              <a:cs typeface="Cambria Math"/>
            </a:endParaRPr>
          </a:p>
          <a:p>
            <a:pPr marL="914400" lvl="1" indent="-457200">
              <a:lnSpc>
                <a:spcPct val="107000"/>
              </a:lnSpc>
              <a:buFont typeface="+mj-lt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</a:rPr>
              <a:t>Interpret the mean </a:t>
            </a:r>
            <a:r>
              <a:rPr lang="en-US" sz="2400" dirty="0" smtClean="0">
                <a:latin typeface="Verdana"/>
                <a:ea typeface="Verdana"/>
                <a:cs typeface="Verdana"/>
              </a:rPr>
              <a:t>in </a:t>
            </a:r>
            <a:r>
              <a:rPr lang="en-US" sz="2400" dirty="0">
                <a:latin typeface="Verdana"/>
                <a:ea typeface="Verdana"/>
                <a:cs typeface="Verdana"/>
              </a:rPr>
              <a:t>terms of the </a:t>
            </a:r>
            <a:br>
              <a:rPr lang="en-US" sz="2400" dirty="0">
                <a:latin typeface="Verdana"/>
                <a:ea typeface="Verdana"/>
                <a:cs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</a:rPr>
              <a:t>data set.</a:t>
            </a:r>
            <a:endParaRPr lang="en-PH" sz="2400" i="1" dirty="0">
              <a:latin typeface="Cambria Math"/>
              <a:ea typeface="Cambria Math"/>
              <a:cs typeface="Cambria Math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995495"/>
              </p:ext>
            </p:extLst>
          </p:nvPr>
        </p:nvGraphicFramePr>
        <p:xfrm>
          <a:off x="7395087" y="1283715"/>
          <a:ext cx="3960000" cy="3371712"/>
        </p:xfrm>
        <a:graphic>
          <a:graphicData uri="http://schemas.openxmlformats.org/drawingml/2006/table">
            <a:tbl>
              <a:tblPr bandRow="1"/>
              <a:tblGrid>
                <a:gridCol w="198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680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Diego’s Travel Time </a:t>
                      </a:r>
                      <a:b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</a:br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to School (in minutes)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Day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Travel Time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Monday</a:t>
                      </a:r>
                      <a:endParaRPr lang="en-PH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000" i="0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22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i="0">
                          <a:effectLst/>
                          <a:latin typeface="Verdana"/>
                          <a:ea typeface="Verdana"/>
                          <a:cs typeface="Verdana"/>
                        </a:rPr>
                        <a:t>Tuesday</a:t>
                      </a:r>
                      <a:endParaRPr lang="en-PH" sz="20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000" i="0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18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i="0">
                          <a:effectLst/>
                          <a:latin typeface="Verdana"/>
                          <a:ea typeface="Verdana"/>
                          <a:cs typeface="Verdana"/>
                        </a:rPr>
                        <a:t>Wednesday</a:t>
                      </a:r>
                      <a:endParaRPr lang="en-PH" sz="20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000" i="0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11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i="0">
                          <a:effectLst/>
                          <a:latin typeface="Verdana"/>
                          <a:ea typeface="Verdana"/>
                          <a:cs typeface="Verdana"/>
                        </a:rPr>
                        <a:t>Thursday</a:t>
                      </a:r>
                      <a:endParaRPr lang="en-PH" sz="20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000" i="0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8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i="0">
                          <a:effectLst/>
                          <a:latin typeface="Verdana"/>
                          <a:ea typeface="Verdana"/>
                          <a:cs typeface="Verdana"/>
                        </a:rPr>
                        <a:t>Friday</a:t>
                      </a:r>
                      <a:endParaRPr lang="en-PH" sz="2000" i="1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H" sz="2000" i="0" dirty="0">
                          <a:effectLst/>
                          <a:latin typeface="Cambria Math"/>
                          <a:ea typeface="Cambria Math"/>
                          <a:cs typeface="Cambria Math"/>
                        </a:rPr>
                        <a:t>11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994150" y="65213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1427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58802" y="369170"/>
                <a:ext cx="11376674" cy="4023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spcAft>
                    <a:spcPts val="1200"/>
                  </a:spcAft>
                  <a:buFont typeface="+mj-lt"/>
                  <a:buAutoNum type="arabicPeriod" startAt="3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An animal shelter has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Verdana"/>
                        <a:cs typeface="Verdana"/>
                      </a:rPr>
                      <m:t>5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crates available to </a:t>
                </a:r>
                <a:r>
                  <a:rPr lang="en-US" sz="2400" dirty="0" smtClean="0">
                    <a:latin typeface="Verdana"/>
                    <a:ea typeface="Verdana"/>
                    <a:cs typeface="Verdana"/>
                  </a:rPr>
                  <a:t>hold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Verdana"/>
                        <a:cs typeface="Verdana"/>
                      </a:rPr>
                      <m:t>10 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kittens. The manager of the shelter </a:t>
                </a:r>
                <a:r>
                  <a:rPr lang="en-US" sz="2400" dirty="0" smtClean="0">
                    <a:latin typeface="Verdana"/>
                    <a:ea typeface="Verdana"/>
                    <a:cs typeface="Verdana"/>
                  </a:rPr>
                  <a:t>wants </a:t>
                </a:r>
                <a:r>
                  <a:rPr lang="en-US" sz="2400" dirty="0">
                    <a:latin typeface="Verdana"/>
                    <a:ea typeface="Verdana"/>
                    <a:cs typeface="Verdana"/>
                  </a:rPr>
                  <a:t>the kittens to be distributed equally </a:t>
                </a:r>
                <a:r>
                  <a:rPr lang="en-US" sz="2400" dirty="0" smtClean="0">
                    <a:latin typeface="Verdana"/>
                    <a:ea typeface="Verdana"/>
                    <a:cs typeface="Verdana"/>
                  </a:rPr>
                  <a:t>among </a:t>
                </a:r>
                <a:r>
                  <a:rPr lang="en-US" sz="2400" dirty="0">
                    <a:latin typeface="Verdana"/>
                    <a:ea typeface="Verdana"/>
                    <a:cs typeface="Verdana"/>
                  </a:rPr>
                  <a:t>the crates.</a:t>
                </a:r>
              </a:p>
              <a:p>
                <a:pPr marL="457200" indent="-457200">
                  <a:lnSpc>
                    <a:spcPct val="107000"/>
                  </a:lnSpc>
                  <a:spcAft>
                    <a:spcPts val="1200"/>
                  </a:spcAft>
                  <a:buFont typeface="+mj-lt"/>
                  <a:buAutoNum type="arabicPeriod" startAt="3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spcAft>
                    <a:spcPts val="1200"/>
                  </a:spcAft>
                  <a:buFont typeface="+mj-lt"/>
                  <a:buAutoNum type="arabicPeriod" startAt="3"/>
                </a:pPr>
                <a:endParaRPr lang="en-US" sz="2400" i="1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spcAft>
                    <a:spcPts val="1200"/>
                  </a:spcAft>
                  <a:buFont typeface="+mj-lt"/>
                  <a:buAutoNum type="arabicPeriod" startAt="3"/>
                </a:pPr>
                <a:endParaRPr lang="en-US" sz="2400" i="1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spcAft>
                    <a:spcPts val="1200"/>
                  </a:spcAft>
                  <a:buFont typeface="+mj-lt"/>
                  <a:buAutoNum type="arabicPeriod" startAt="3"/>
                </a:pPr>
                <a:endParaRPr lang="en-PH" sz="2400" i="1" dirty="0">
                  <a:latin typeface="Cambria Math"/>
                  <a:ea typeface="Cambria Math"/>
                  <a:cs typeface="Verdana"/>
                </a:endParaRPr>
              </a:p>
              <a:p>
                <a:pPr marL="8890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How many kittens will end up in each crate?</a:t>
                </a:r>
                <a:endParaRPr lang="en-PH" sz="2400" i="1" dirty="0">
                  <a:latin typeface="Cambria Math"/>
                  <a:ea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2" y="369170"/>
                <a:ext cx="11376674" cy="4023153"/>
              </a:xfrm>
              <a:prstGeom prst="rect">
                <a:avLst/>
              </a:prstGeom>
              <a:blipFill rotWithShape="1">
                <a:blip r:embed="rId3"/>
                <a:stretch>
                  <a:fillRect l="-857" t="-1515" b="-1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Diagram&#10;&#10;Description automatically generated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64" t="8094" r="1301" b="6684"/>
          <a:stretch/>
        </p:blipFill>
        <p:spPr>
          <a:xfrm>
            <a:off x="1164914" y="1802875"/>
            <a:ext cx="7829236" cy="1561943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994150" y="65213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260533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3400" y="386736"/>
                <a:ext cx="11528460" cy="32537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89000" indent="-457200">
                  <a:lnSpc>
                    <a:spcPct val="107000"/>
                  </a:lnSpc>
                  <a:buFont typeface="+mj-lt"/>
                  <a:buAutoNum type="alphaLcPeriod" startAt="2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If the shelter receives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Verdana"/>
                        <a:cs typeface="Verdana"/>
                      </a:rPr>
                      <m:t>2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more kittens, how many kittens must be placed in each crate so they are equally distributed?</a:t>
                </a:r>
              </a:p>
              <a:p>
                <a:pPr marL="889000" indent="-457200">
                  <a:lnSpc>
                    <a:spcPct val="107000"/>
                  </a:lnSpc>
                  <a:buFont typeface="+mj-lt"/>
                  <a:buAutoNum type="alphaLcPeriod" startAt="2"/>
                </a:pPr>
                <a:endParaRPr lang="en-US" sz="2400" i="1" dirty="0">
                  <a:latin typeface="Verdana"/>
                  <a:ea typeface="Verdana"/>
                  <a:cs typeface="Cambria Math"/>
                </a:endParaRPr>
              </a:p>
              <a:p>
                <a:pPr marL="889000" indent="-457200">
                  <a:lnSpc>
                    <a:spcPct val="107000"/>
                  </a:lnSpc>
                  <a:buFont typeface="+mj-lt"/>
                  <a:buAutoNum type="alphaLcPeriod" startAt="2"/>
                </a:pPr>
                <a:endParaRPr lang="en-US" sz="2400" i="1" dirty="0">
                  <a:latin typeface="Verdana"/>
                  <a:ea typeface="Verdana"/>
                  <a:cs typeface="Cambria Math"/>
                </a:endParaRPr>
              </a:p>
              <a:p>
                <a:pPr marL="889000" indent="-457200">
                  <a:lnSpc>
                    <a:spcPct val="107000"/>
                  </a:lnSpc>
                  <a:buFont typeface="+mj-lt"/>
                  <a:buAutoNum type="alphaLcPeriod" startAt="2"/>
                </a:pPr>
                <a:endParaRPr lang="en-PH" sz="2400" i="1" dirty="0">
                  <a:latin typeface="Cambria Math"/>
                  <a:ea typeface="Cambria Math"/>
                  <a:cs typeface="Cambria Math"/>
                </a:endParaRPr>
              </a:p>
              <a:p>
                <a:pPr marL="889000" indent="-457200">
                  <a:lnSpc>
                    <a:spcPct val="107000"/>
                  </a:lnSpc>
                  <a:buFont typeface="+mj-lt"/>
                  <a:buAutoNum type="alphaLcPeriod" startAt="2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The shelter wants to keep kittens equally distributed and use all five crates. Circle the number of kittens that allows the shelter to equally distribute the kittens among </a:t>
                </a:r>
                <a:r>
                  <a:rPr lang="en-US" sz="2400" dirty="0" smtClean="0">
                    <a:latin typeface="Verdana"/>
                    <a:ea typeface="Verdana"/>
                    <a:cs typeface="Verdana"/>
                  </a:rPr>
                  <a:t>five </a:t>
                </a:r>
                <a:r>
                  <a:rPr lang="en-US" sz="2400" dirty="0">
                    <a:latin typeface="Verdana"/>
                    <a:ea typeface="Verdana"/>
                    <a:cs typeface="Verdana"/>
                  </a:rPr>
                  <a:t>crates.</a:t>
                </a:r>
                <a:endParaRPr lang="en-PH" sz="2400" i="1" dirty="0">
                  <a:latin typeface="Cambria Math"/>
                  <a:ea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386736"/>
                <a:ext cx="11528460" cy="3253711"/>
              </a:xfrm>
              <a:prstGeom prst="rect">
                <a:avLst/>
              </a:prstGeom>
              <a:blipFill rotWithShape="1">
                <a:blip r:embed="rId3"/>
                <a:stretch>
                  <a:fillRect t="-1873" b="-224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2594338"/>
                  </p:ext>
                </p:extLst>
              </p:nvPr>
            </p:nvGraphicFramePr>
            <p:xfrm>
              <a:off x="3149507" y="4285980"/>
              <a:ext cx="6804000" cy="432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972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972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972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97200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972000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972000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972000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PH" sz="24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PH" sz="2400" i="1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PH" sz="24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PH" sz="2400" i="1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PH" sz="2400" i="1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23</m:t>
                                </m:r>
                              </m:oMath>
                            </m:oMathPara>
                          </a14:m>
                          <a:endParaRPr lang="en-PH" sz="24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PH" sz="24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2594338"/>
                  </p:ext>
                </p:extLst>
              </p:nvPr>
            </p:nvGraphicFramePr>
            <p:xfrm>
              <a:off x="3149507" y="4285980"/>
              <a:ext cx="6804000" cy="432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972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972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972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972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  <a:gridCol w="972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4"/>
                        </a:ext>
                      </a:extLst>
                    </a:gridCol>
                    <a:gridCol w="972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5"/>
                        </a:ext>
                      </a:extLst>
                    </a:gridCol>
                    <a:gridCol w="972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6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29" r="-60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r="-49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01258" r="-401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99375" r="-29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01887" r="-2006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98750" r="-9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025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994150" y="65213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7667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994150" y="65213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21794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25538" y="159077"/>
            <a:ext cx="11066462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9.3.6 Wrap-Up: Ticket Out </a:t>
            </a:r>
            <a:r>
              <a:rPr lang="en-US" sz="3600" b="1" dirty="0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0753" y="8087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843718" y="1085167"/>
            <a:ext cx="11179372" cy="4439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</a:rPr>
              <a:t>Explain what the </a:t>
            </a:r>
            <a:r>
              <a:rPr lang="en-US" sz="2400" b="1" dirty="0">
                <a:latin typeface="Verdana"/>
                <a:ea typeface="Verdana"/>
                <a:cs typeface="Verdana"/>
              </a:rPr>
              <a:t>mean</a:t>
            </a:r>
            <a:r>
              <a:rPr lang="en-US" sz="2400" dirty="0">
                <a:latin typeface="Verdana"/>
                <a:ea typeface="Verdana"/>
                <a:cs typeface="Verdana"/>
              </a:rPr>
              <a:t> of a data set represents.</a:t>
            </a:r>
            <a:endParaRPr lang="en-PH" sz="2000" i="1" dirty="0">
              <a:latin typeface="Cambria Math"/>
              <a:ea typeface="Cambria Math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</a:rPr>
              <a:t>What is the average height </a:t>
            </a:r>
            <a:br>
              <a:rPr lang="en-US" sz="2400" dirty="0">
                <a:latin typeface="Verdana"/>
                <a:ea typeface="Verdana"/>
                <a:cs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</a:rPr>
              <a:t>of the bars? Draw a </a:t>
            </a:r>
            <a:br>
              <a:rPr lang="en-US" sz="2400" dirty="0">
                <a:latin typeface="Verdana"/>
                <a:ea typeface="Verdana"/>
                <a:cs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</a:rPr>
              <a:t>horizontal line across the </a:t>
            </a:r>
            <a:br>
              <a:rPr lang="en-US" sz="2400" dirty="0">
                <a:latin typeface="Verdana"/>
                <a:ea typeface="Verdana"/>
                <a:cs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</a:rPr>
              <a:t>bars to show the height of </a:t>
            </a:r>
            <a:br>
              <a:rPr lang="en-US" sz="2400" dirty="0">
                <a:latin typeface="Verdana"/>
                <a:ea typeface="Verdana"/>
                <a:cs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</a:rPr>
              <a:t>the bars if you redistributed </a:t>
            </a:r>
            <a:br>
              <a:rPr lang="en-US" sz="2400" dirty="0">
                <a:latin typeface="Verdana"/>
                <a:ea typeface="Verdana"/>
                <a:cs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</a:rPr>
              <a:t>the values so that all of the </a:t>
            </a:r>
            <a:br>
              <a:rPr lang="en-US" sz="2400" dirty="0">
                <a:latin typeface="Verdana"/>
                <a:ea typeface="Verdana"/>
                <a:cs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</a:rPr>
              <a:t>bars showed the same height.</a:t>
            </a:r>
            <a:endParaRPr lang="en-PH" sz="2000" i="1" dirty="0">
              <a:latin typeface="Cambria Math"/>
              <a:ea typeface="Cambria Math"/>
              <a:cs typeface="Cambria Math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060004" y="2334705"/>
            <a:ext cx="3060453" cy="2993589"/>
            <a:chOff x="5861272" y="2835362"/>
            <a:chExt cx="3060453" cy="2993589"/>
          </a:xfrm>
        </p:grpSpPr>
        <p:grpSp>
          <p:nvGrpSpPr>
            <p:cNvPr id="8" name="Group 7"/>
            <p:cNvGrpSpPr/>
            <p:nvPr/>
          </p:nvGrpSpPr>
          <p:grpSpPr>
            <a:xfrm>
              <a:off x="5970721" y="3308951"/>
              <a:ext cx="2880000" cy="2520000"/>
              <a:chOff x="0" y="0"/>
              <a:chExt cx="1853738" cy="1565564"/>
            </a:xfrm>
            <a:solidFill>
              <a:schemeClr val="tx1"/>
            </a:solidFill>
          </p:grpSpPr>
          <p:sp>
            <p:nvSpPr>
              <p:cNvPr id="10" name="Rectangle 9"/>
              <p:cNvSpPr>
                <a:spLocks noChangeAspect="1"/>
              </p:cNvSpPr>
              <p:nvPr/>
            </p:nvSpPr>
            <p:spPr>
              <a:xfrm>
                <a:off x="0" y="193964"/>
                <a:ext cx="274320" cy="1371600"/>
              </a:xfrm>
              <a:prstGeom prst="rect">
                <a:avLst/>
              </a:prstGeom>
              <a:solidFill>
                <a:srgbClr val="5D869B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H"/>
              </a:p>
            </p:txBody>
          </p:sp>
          <p:sp>
            <p:nvSpPr>
              <p:cNvPr id="11" name="Rectangle 10"/>
              <p:cNvSpPr>
                <a:spLocks noChangeAspect="1"/>
              </p:cNvSpPr>
              <p:nvPr/>
            </p:nvSpPr>
            <p:spPr>
              <a:xfrm>
                <a:off x="540327" y="332510"/>
                <a:ext cx="273908" cy="1216152"/>
              </a:xfrm>
              <a:prstGeom prst="rect">
                <a:avLst/>
              </a:prstGeom>
              <a:solidFill>
                <a:srgbClr val="5D869B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H"/>
              </a:p>
            </p:txBody>
          </p:sp>
          <p:sp>
            <p:nvSpPr>
              <p:cNvPr id="13" name="Rectangle 12"/>
              <p:cNvSpPr>
                <a:spLocks noChangeAspect="1"/>
              </p:cNvSpPr>
              <p:nvPr/>
            </p:nvSpPr>
            <p:spPr>
              <a:xfrm>
                <a:off x="1066800" y="83128"/>
                <a:ext cx="274320" cy="1470025"/>
              </a:xfrm>
              <a:prstGeom prst="rect">
                <a:avLst/>
              </a:prstGeom>
              <a:solidFill>
                <a:srgbClr val="5D869B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H"/>
              </a:p>
            </p:txBody>
          </p:sp>
          <p:sp>
            <p:nvSpPr>
              <p:cNvPr id="14" name="Rectangle 13"/>
              <p:cNvSpPr>
                <a:spLocks noChangeAspect="1"/>
              </p:cNvSpPr>
              <p:nvPr/>
            </p:nvSpPr>
            <p:spPr>
              <a:xfrm>
                <a:off x="1579418" y="0"/>
                <a:ext cx="274320" cy="1558138"/>
              </a:xfrm>
              <a:prstGeom prst="rect">
                <a:avLst/>
              </a:prstGeom>
              <a:solidFill>
                <a:srgbClr val="5D869B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PH"/>
              </a:p>
            </p:txBody>
          </p:sp>
        </p:grpSp>
        <p:sp>
          <p:nvSpPr>
            <p:cNvPr id="2" name="TextBox 1"/>
            <p:cNvSpPr txBox="1"/>
            <p:nvPr/>
          </p:nvSpPr>
          <p:spPr>
            <a:xfrm>
              <a:off x="5861272" y="2835362"/>
              <a:ext cx="30604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tabLst>
                  <a:tab pos="893763" algn="l"/>
                  <a:tab pos="1703388" algn="l"/>
                  <a:tab pos="2511425" algn="l"/>
                </a:tabLst>
              </a:pPr>
              <a:r>
                <a:rPr lang="en-PH" sz="2400" dirty="0">
                  <a:latin typeface="Cambria Math" pitchFamily="18" charset="0"/>
                  <a:ea typeface="Cambria Math" pitchFamily="18" charset="0"/>
                </a:rPr>
                <a:t>75	61	84	92</a:t>
              </a:r>
            </a:p>
          </p:txBody>
        </p:sp>
      </p:grpSp>
      <p:sp>
        <p:nvSpPr>
          <p:cNvPr id="16" name="Google Shape;282;g104476d1465_1_17"/>
          <p:cNvSpPr txBox="1"/>
          <p:nvPr/>
        </p:nvSpPr>
        <p:spPr>
          <a:xfrm>
            <a:off x="8994150" y="65213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1354</TotalTime>
  <Words>1042</Words>
  <Application>Microsoft Office PowerPoint</Application>
  <PresentationFormat>Custom</PresentationFormat>
  <Paragraphs>312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Cambria Math</vt:lpstr>
      <vt:lpstr>Arial Black</vt:lpstr>
      <vt:lpstr>Verdana</vt:lpstr>
      <vt:lpstr>Calibri</vt:lpstr>
      <vt:lpstr>Century Gothic</vt:lpstr>
      <vt:lpstr>1_Office Theme</vt:lpstr>
      <vt:lpstr>6th Grade Math  Unit 9, Lesson 3  Finding and Interpreting  the Mean  Volume 2, pg. 154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Sensei</cp:lastModifiedBy>
  <cp:revision>35</cp:revision>
  <dcterms:created xsi:type="dcterms:W3CDTF">2015-03-17T18:51:18Z</dcterms:created>
  <dcterms:modified xsi:type="dcterms:W3CDTF">2022-06-07T00:00:08Z</dcterms:modified>
</cp:coreProperties>
</file>