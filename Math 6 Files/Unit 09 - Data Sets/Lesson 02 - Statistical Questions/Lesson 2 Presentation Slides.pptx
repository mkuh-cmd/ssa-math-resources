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85" r:id="rId4"/>
    <p:sldId id="286" r:id="rId5"/>
    <p:sldId id="261" r:id="rId6"/>
    <p:sldId id="287" r:id="rId7"/>
    <p:sldId id="317" r:id="rId8"/>
    <p:sldId id="318" r:id="rId9"/>
    <p:sldId id="354" r:id="rId10"/>
    <p:sldId id="362" r:id="rId11"/>
    <p:sldId id="363" r:id="rId12"/>
    <p:sldId id="302" r:id="rId13"/>
    <p:sldId id="303" r:id="rId14"/>
    <p:sldId id="360" r:id="rId15"/>
    <p:sldId id="306" r:id="rId16"/>
    <p:sldId id="307" r:id="rId17"/>
  </p:sldIdLst>
  <p:sldSz cx="12192000" cy="6858000"/>
  <p:notesSz cx="6858000" cy="9144000"/>
  <p:embeddedFontLst>
    <p:embeddedFont>
      <p:font typeface="Cambria Math" pitchFamily="18" charset="0"/>
      <p:regular r:id="rId19"/>
    </p:embeddedFont>
    <p:embeddedFont>
      <p:font typeface="Arial Black" pitchFamily="34" charset="0"/>
      <p:bold r:id="rId20"/>
    </p:embeddedFont>
    <p:embeddedFont>
      <p:font typeface="Verdana" pitchFamily="34" charset="0"/>
      <p:regular r:id="rId21"/>
      <p:bold r:id="rId22"/>
      <p:italic r:id="rId23"/>
      <p:boldItalic r:id="rId24"/>
    </p:embeddedFont>
    <p:embeddedFont>
      <p:font typeface="Calibri" pitchFamily="34" charset="0"/>
      <p:regular r:id="rId25"/>
      <p:bold r:id="rId26"/>
      <p:italic r:id="rId27"/>
      <p:boldItalic r:id="rId28"/>
    </p:embeddedFont>
    <p:embeddedFont>
      <p:font typeface="Century Gothic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29097" autoAdjust="0"/>
    <p:restoredTop sz="94707" autoAdjust="0"/>
  </p:normalViewPr>
  <p:slideViewPr>
    <p:cSldViewPr snapToGrid="0">
      <p:cViewPr varScale="1">
        <p:scale>
          <a:sx n="113" d="100"/>
          <a:sy n="113" d="100"/>
        </p:scale>
        <p:origin x="-1290" y="-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30460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9833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9833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98333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2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Statistical Questions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151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=""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715" y="1566179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1850" y="-209906"/>
            <a:ext cx="107152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5207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=""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354900" y="1321975"/>
            <a:ext cx="1164531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MA.6.DP.1.1 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Recognize and formulate a statistical question that would generate numerical data.</a:t>
            </a: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190" y="10025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=""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07490" y="-84399"/>
            <a:ext cx="108927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360190" y="1326150"/>
            <a:ext cx="1141416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2200" y="-144001"/>
            <a:ext cx="1090829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14519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=""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399051" y="1456429"/>
            <a:ext cx="1169363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0238" indent="-623888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write statistical questions that generate numerical data.</a:t>
            </a: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24017" y="197485"/>
            <a:ext cx="959467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9.2.1 Warm-Up: Math Talk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=""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524" y="11928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15589" y="1119884"/>
            <a:ext cx="11238047" cy="4877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sz="2000" dirty="0">
                <a:latin typeface="Verdana"/>
                <a:ea typeface="Cambria Math"/>
                <a:cs typeface="Calibri"/>
              </a:rPr>
              <a:t>In the spaces below, write three statistical questions that you could use today to collect data from your classmates. Be sure at least one of your questions will collect numerical data.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Verdana"/>
                <a:ea typeface="Cambria Math"/>
                <a:cs typeface="Calibri"/>
              </a:rPr>
              <a:t>______________________________________________</a:t>
            </a:r>
            <a:br>
              <a:rPr lang="en-US" sz="2000" dirty="0">
                <a:latin typeface="Verdana"/>
                <a:ea typeface="Cambria Math"/>
                <a:cs typeface="Calibri"/>
              </a:rPr>
            </a:br>
            <a:r>
              <a:rPr lang="en-US" sz="2000" dirty="0">
                <a:latin typeface="Verdana"/>
                <a:ea typeface="Cambria Math"/>
                <a:cs typeface="Calibri"/>
              </a:rPr>
              <a:t>______________________________________________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PH" sz="2000" dirty="0">
              <a:latin typeface="Cambria Math"/>
              <a:ea typeface="Cambria Math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Verdana"/>
                <a:ea typeface="Cambria Math"/>
                <a:cs typeface="Calibri"/>
              </a:rPr>
              <a:t>______________________________________________</a:t>
            </a:r>
            <a:br>
              <a:rPr lang="en-US" sz="2000" dirty="0">
                <a:latin typeface="Verdana"/>
                <a:ea typeface="Cambria Math"/>
                <a:cs typeface="Calibri"/>
              </a:rPr>
            </a:br>
            <a:r>
              <a:rPr lang="en-US" sz="2000" dirty="0">
                <a:latin typeface="Verdana"/>
                <a:ea typeface="Cambria Math"/>
                <a:cs typeface="Calibri"/>
              </a:rPr>
              <a:t>______________________________________________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PH" sz="2000" dirty="0">
              <a:latin typeface="Cambria Math"/>
              <a:ea typeface="Cambria Math"/>
              <a:cs typeface="Cambria Math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Verdana"/>
                <a:ea typeface="Cambria Math"/>
                <a:cs typeface="Calibri"/>
              </a:rPr>
              <a:t>______________________________________________</a:t>
            </a:r>
            <a:br>
              <a:rPr lang="en-US" sz="2000" dirty="0">
                <a:latin typeface="Verdana"/>
                <a:ea typeface="Cambria Math"/>
                <a:cs typeface="Calibri"/>
              </a:rPr>
            </a:br>
            <a:r>
              <a:rPr lang="en-US" sz="2000" dirty="0">
                <a:latin typeface="Verdana"/>
                <a:ea typeface="Cambria Math"/>
                <a:cs typeface="Calibri"/>
              </a:rPr>
              <a:t>______________________________________________</a:t>
            </a:r>
            <a:endParaRPr lang="en-PH" sz="2000" dirty="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2004" y="-145158"/>
            <a:ext cx="1039587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9.2.2 Activity: Gallery Walk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7698" y="14278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355420" y="1303831"/>
            <a:ext cx="11634522" cy="306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1800"/>
              </a:spcAft>
              <a:buFont typeface="+mj-lt"/>
              <a:buAutoNum type="arabicPeriod"/>
            </a:pPr>
            <a:r>
              <a:rPr lang="en-US" sz="2400" dirty="0">
                <a:latin typeface="Verdana"/>
                <a:ea typeface="Cambria Math"/>
                <a:cs typeface="Calibri"/>
              </a:rPr>
              <a:t>With your partner, discuss the following questions.</a:t>
            </a:r>
            <a:endParaRPr lang="en-PH" sz="2400" i="1" dirty="0">
              <a:latin typeface="Cambria Math"/>
              <a:ea typeface="Cambria Math"/>
              <a:cs typeface="Cambria Math"/>
            </a:endParaRPr>
          </a:p>
          <a:p>
            <a:pPr marL="914400" lvl="1" indent="-457200">
              <a:lnSpc>
                <a:spcPct val="107000"/>
              </a:lnSpc>
              <a:buFont typeface="+mj-lt"/>
              <a:buAutoNum type="alphaLcPeriod"/>
            </a:pPr>
            <a:r>
              <a:rPr lang="en-US" sz="2400" dirty="0">
                <a:latin typeface="Verdana"/>
                <a:ea typeface="Cambria Math"/>
                <a:cs typeface="Cambria Math"/>
              </a:rPr>
              <a:t>How do you know the questions you wrote are statistical questions?</a:t>
            </a:r>
          </a:p>
          <a:p>
            <a:pPr marL="914400" lvl="1" indent="-457200">
              <a:lnSpc>
                <a:spcPct val="107000"/>
              </a:lnSpc>
              <a:buFont typeface="+mj-lt"/>
              <a:buAutoNum type="alphaLcPeriod"/>
            </a:pPr>
            <a:endParaRPr lang="en-US" sz="2400" dirty="0">
              <a:latin typeface="Verdana"/>
              <a:ea typeface="Cambria Math"/>
              <a:cs typeface="Cambria Math"/>
            </a:endParaRPr>
          </a:p>
          <a:p>
            <a:pPr marL="914400" lvl="1" indent="-457200">
              <a:lnSpc>
                <a:spcPct val="107000"/>
              </a:lnSpc>
              <a:buFont typeface="+mj-lt"/>
              <a:buAutoNum type="alphaLcPeriod"/>
            </a:pPr>
            <a:endParaRPr lang="en-US" sz="2400" dirty="0">
              <a:latin typeface="Verdana"/>
              <a:ea typeface="Cambria Math"/>
              <a:cs typeface="Cambria Math"/>
            </a:endParaRPr>
          </a:p>
          <a:p>
            <a:pPr marL="914400" lvl="1" indent="-457200">
              <a:lnSpc>
                <a:spcPct val="107000"/>
              </a:lnSpc>
              <a:buFont typeface="+mj-lt"/>
              <a:buAutoNum type="alphaLcPeriod"/>
            </a:pPr>
            <a:endParaRPr lang="en-US" sz="2400" dirty="0">
              <a:latin typeface="Verdana"/>
              <a:ea typeface="Cambria Math"/>
              <a:cs typeface="Cambria Math"/>
            </a:endParaRPr>
          </a:p>
          <a:p>
            <a:pPr marL="914400" lvl="1" indent="-457200">
              <a:lnSpc>
                <a:spcPct val="107000"/>
              </a:lnSpc>
              <a:buFont typeface="+mj-lt"/>
              <a:buAutoNum type="alphaLcPeriod"/>
            </a:pPr>
            <a:r>
              <a:rPr lang="en-US" sz="2400" dirty="0">
                <a:latin typeface="Verdana"/>
                <a:ea typeface="Cambria Math"/>
                <a:cs typeface="Cambria Math"/>
              </a:rPr>
              <a:t>How can you determine which of the questions will generate numerical data?</a:t>
            </a:r>
            <a:endParaRPr lang="en-PH" sz="2400" i="1" dirty="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340666" y="571765"/>
            <a:ext cx="11510667" cy="2047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r>
              <a:rPr lang="en-US" sz="2400" dirty="0">
                <a:latin typeface="Verdana"/>
                <a:ea typeface="Cambria Math"/>
                <a:cs typeface="Calibri"/>
              </a:rPr>
              <a:t>With your partner, determine the two best questions whose answers provide </a:t>
            </a:r>
            <a:r>
              <a:rPr lang="en-US" sz="2400" b="1" i="1" dirty="0">
                <a:latin typeface="Verdana"/>
                <a:ea typeface="Cambria Math"/>
                <a:cs typeface="Calibri"/>
              </a:rPr>
              <a:t>numerical data</a:t>
            </a:r>
            <a:r>
              <a:rPr lang="en-US" sz="2400" b="1" dirty="0">
                <a:latin typeface="Verdana"/>
                <a:ea typeface="Cambria Math"/>
                <a:cs typeface="Calibri"/>
              </a:rPr>
              <a:t> </a:t>
            </a:r>
            <a:r>
              <a:rPr lang="en-US" sz="2400" dirty="0">
                <a:latin typeface="Verdana"/>
                <a:ea typeface="Cambria Math"/>
                <a:cs typeface="Calibri"/>
              </a:rPr>
              <a:t>from the six questions you each created. </a:t>
            </a:r>
            <a:endParaRPr lang="en-PH" sz="2000" i="1" dirty="0">
              <a:latin typeface="Cambria Math"/>
              <a:ea typeface="Cambria Math"/>
              <a:cs typeface="Cambria Math"/>
            </a:endParaRPr>
          </a:p>
          <a:p>
            <a:pPr>
              <a:lnSpc>
                <a:spcPct val="107000"/>
              </a:lnSpc>
            </a:pPr>
            <a:r>
              <a:rPr lang="en-US" sz="2400" dirty="0">
                <a:latin typeface="Verdana"/>
                <a:ea typeface="Cambria Math"/>
                <a:cs typeface="Calibri"/>
              </a:rPr>
              <a:t> </a:t>
            </a:r>
            <a:endParaRPr lang="en-PH" sz="2000" i="1" dirty="0">
              <a:latin typeface="Cambria Math"/>
              <a:ea typeface="Cambria Math"/>
              <a:cs typeface="Cambria Math"/>
            </a:endParaRPr>
          </a:p>
          <a:p>
            <a:pPr marL="457200">
              <a:lnSpc>
                <a:spcPct val="107000"/>
              </a:lnSpc>
            </a:pPr>
            <a:r>
              <a:rPr lang="en-US" sz="2400" dirty="0">
                <a:latin typeface="Verdana"/>
                <a:ea typeface="Cambria Math"/>
                <a:cs typeface="Calibri"/>
              </a:rPr>
              <a:t>Determine which of these two questions each partner will use to collect data about your class. </a:t>
            </a:r>
            <a:endParaRPr lang="en-PH" sz="2000" i="1" dirty="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0903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396517" y="345733"/>
            <a:ext cx="11552328" cy="4254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1800"/>
              </a:spcAft>
              <a:buFont typeface="+mj-lt"/>
              <a:buAutoNum type="arabicPeriod" startAt="3"/>
            </a:pPr>
            <a:r>
              <a:rPr lang="en-US" sz="2400" dirty="0">
                <a:latin typeface="Verdana"/>
                <a:ea typeface="Cambria Math"/>
                <a:cs typeface="Cambria Math"/>
              </a:rPr>
              <a:t>Use your statistical question to collect some numerical data following the directions below.</a:t>
            </a:r>
            <a:r>
              <a:rPr lang="en-US" sz="2400" dirty="0">
                <a:latin typeface="Verdana"/>
                <a:ea typeface="Verdana"/>
                <a:cs typeface="Verdana"/>
              </a:rPr>
              <a:t> This data will be used in a later lesson, so keep </a:t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>it safe.</a:t>
            </a:r>
            <a:endParaRPr lang="en-PH" sz="2000" i="1" dirty="0">
              <a:latin typeface="Cambria Math"/>
              <a:ea typeface="Cambria Math"/>
              <a:cs typeface="Cambria Math"/>
            </a:endParaRPr>
          </a:p>
          <a:p>
            <a:pPr marL="889000" indent="-457200">
              <a:lnSpc>
                <a:spcPct val="107000"/>
              </a:lnSpc>
              <a:buFont typeface="+mj-lt"/>
              <a:buAutoNum type="alphaLcPeriod"/>
            </a:pPr>
            <a:r>
              <a:rPr lang="en-US" sz="2400" dirty="0">
                <a:latin typeface="Verdana"/>
                <a:ea typeface="Cambria Math"/>
                <a:cs typeface="Cambria Math"/>
              </a:rPr>
              <a:t>Write your statistical question in the top of the data chart that you chose in the previous problem.</a:t>
            </a:r>
            <a:endParaRPr lang="en-PH" sz="2000" i="1" dirty="0">
              <a:latin typeface="Cambria Math"/>
              <a:ea typeface="Cambria Math"/>
              <a:cs typeface="Cambria Math"/>
            </a:endParaRPr>
          </a:p>
          <a:p>
            <a:pPr marL="889000" indent="-457200">
              <a:lnSpc>
                <a:spcPct val="107000"/>
              </a:lnSpc>
              <a:buFont typeface="+mj-lt"/>
              <a:buAutoNum type="alphaLcPeriod"/>
            </a:pPr>
            <a:endParaRPr lang="en-US" sz="2400" dirty="0">
              <a:latin typeface="Verdana"/>
              <a:ea typeface="Cambria Math"/>
              <a:cs typeface="Cambria Math"/>
            </a:endParaRPr>
          </a:p>
          <a:p>
            <a:pPr marL="889000" indent="-457200">
              <a:lnSpc>
                <a:spcPct val="107000"/>
              </a:lnSpc>
              <a:buFont typeface="+mj-lt"/>
              <a:buAutoNum type="alphaLcPeriod"/>
            </a:pPr>
            <a:r>
              <a:rPr lang="en-US" sz="2400" dirty="0">
                <a:latin typeface="Verdana"/>
                <a:ea typeface="Cambria Math"/>
                <a:cs typeface="Cambria Math"/>
              </a:rPr>
              <a:t>Place the data chart in a location that is easily accessible by your classmates.  </a:t>
            </a:r>
            <a:endParaRPr lang="en-PH" sz="2000" i="1" dirty="0">
              <a:latin typeface="Cambria Math"/>
              <a:ea typeface="Cambria Math"/>
              <a:cs typeface="Cambria Math"/>
            </a:endParaRPr>
          </a:p>
          <a:p>
            <a:pPr marL="889000" indent="-457200">
              <a:lnSpc>
                <a:spcPct val="107000"/>
              </a:lnSpc>
              <a:buFont typeface="+mj-lt"/>
              <a:buAutoNum type="alphaLcPeriod"/>
            </a:pPr>
            <a:endParaRPr lang="en-US" sz="2400" dirty="0">
              <a:latin typeface="Verdana"/>
              <a:ea typeface="Cambria Math"/>
              <a:cs typeface="Cambria Math"/>
            </a:endParaRPr>
          </a:p>
          <a:p>
            <a:pPr marL="889000" indent="-457200">
              <a:lnSpc>
                <a:spcPct val="107000"/>
              </a:lnSpc>
              <a:buFont typeface="+mj-lt"/>
              <a:buAutoNum type="alphaLcPeriod"/>
            </a:pPr>
            <a:r>
              <a:rPr lang="en-US" sz="2400" dirty="0">
                <a:latin typeface="Verdana"/>
                <a:ea typeface="Cambria Math"/>
                <a:cs typeface="Cambria Math"/>
              </a:rPr>
              <a:t>Follow your teacher’s directions to answer each group’s question.</a:t>
            </a:r>
            <a:endParaRPr lang="en-PH" sz="2000" i="1" dirty="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6724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049189"/>
              </p:ext>
            </p:extLst>
          </p:nvPr>
        </p:nvGraphicFramePr>
        <p:xfrm>
          <a:off x="2618895" y="538148"/>
          <a:ext cx="7200000" cy="5580000"/>
        </p:xfrm>
        <a:graphic>
          <a:graphicData uri="http://schemas.openxmlformats.org/drawingml/2006/table">
            <a:tbl>
              <a:tblPr firstRow="1" firstCol="1" bandRow="1"/>
              <a:tblGrid>
                <a:gridCol w="1800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800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32000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My Statistical Question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Name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Answer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Name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Answer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1.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15.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2.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16.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3.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17.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4.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18.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5.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19.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6.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20.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7.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21.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8.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22.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9.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23.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10.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24.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11.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25.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12.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26.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13.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27.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14.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28.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3803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=""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=""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41824" y="603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9.2.3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=""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4524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360557" y="1170268"/>
            <a:ext cx="11732126" cy="4799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</a:rPr>
              <a:t>Give two examples and two counterexamples of a statistical question.</a:t>
            </a:r>
            <a:endParaRPr lang="en-US" sz="2400" i="1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i="1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i="1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i="1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i="1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i="1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i="1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i="1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i="1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i="1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i="1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</a:rPr>
              <a:t>Write the definition of a statistical question in your own words.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184529"/>
              </p:ext>
            </p:extLst>
          </p:nvPr>
        </p:nvGraphicFramePr>
        <p:xfrm>
          <a:off x="2630421" y="2353040"/>
          <a:ext cx="7740000" cy="2687712"/>
        </p:xfrm>
        <a:graphic>
          <a:graphicData uri="http://schemas.openxmlformats.org/drawingml/2006/table">
            <a:tbl>
              <a:tblPr firstRow="1" firstCol="1" bandRow="1"/>
              <a:tblGrid>
                <a:gridCol w="3420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320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Examples of Statistical Questions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Counterexamples that are NOT Statistical Questions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 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381105" y="571765"/>
            <a:ext cx="11691029" cy="3613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 startAt="3"/>
            </a:pPr>
            <a:r>
              <a:rPr lang="en-US" sz="2400" dirty="0">
                <a:latin typeface="Verdana"/>
                <a:ea typeface="Cambria Math"/>
                <a:cs typeface="Cambria Math"/>
              </a:rPr>
              <a:t>The question, “How tall is the tallest man in the world, in inches?” is not statistical. Use your definition of a statistical question to justify why it is not a statistical question.</a:t>
            </a:r>
          </a:p>
          <a:p>
            <a:pPr marL="457200" indent="-457200">
              <a:lnSpc>
                <a:spcPct val="107000"/>
              </a:lnSpc>
              <a:buFont typeface="+mj-lt"/>
              <a:buAutoNum type="arabicPeriod" startAt="3"/>
            </a:pPr>
            <a:endParaRPr lang="en-US" sz="2400" dirty="0">
              <a:latin typeface="Verdana"/>
              <a:ea typeface="Cambria Math"/>
              <a:cs typeface="Cambria Math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3"/>
            </a:pPr>
            <a:endParaRPr lang="en-US" sz="2400" dirty="0">
              <a:latin typeface="Verdana"/>
              <a:ea typeface="Cambria Math"/>
              <a:cs typeface="Cambria Math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3"/>
            </a:pPr>
            <a:endParaRPr lang="en-US" sz="2400" dirty="0">
              <a:latin typeface="Verdana"/>
              <a:ea typeface="Cambria Math"/>
              <a:cs typeface="Cambria Math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3"/>
            </a:pPr>
            <a:endParaRPr lang="en-US" sz="2400" dirty="0">
              <a:latin typeface="Verdana"/>
              <a:ea typeface="Cambria Math"/>
              <a:cs typeface="Cambria Math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Decide if the question, “How many miles do you live from the school campus?” is statistical or non-statistical. Explain your decision.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6860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43664" y="-822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=""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38950" y="216734"/>
            <a:ext cx="10344816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9.2.4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=""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650" y="13853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291649" y="1271062"/>
            <a:ext cx="11770211" cy="3496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latin typeface="Verdana"/>
                <a:ea typeface="Cambria Math"/>
                <a:cs typeface="Cambria Math"/>
              </a:rPr>
              <a:t>What is the most difficult part about writing statistical questions?</a:t>
            </a: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i="1" dirty="0">
              <a:latin typeface="Verdana"/>
              <a:ea typeface="Cambria Math"/>
              <a:cs typeface="Cambria Math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PH" sz="2000" i="1" dirty="0">
              <a:latin typeface="Cambria Math"/>
              <a:ea typeface="Cambria Math"/>
              <a:cs typeface="Cambria Math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latin typeface="Verdana"/>
                <a:ea typeface="Cambria Math"/>
                <a:cs typeface="Cambria Math"/>
              </a:rPr>
              <a:t>How can it be determined whether or not a statistical question can be answered with numerical data?</a:t>
            </a: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i="1" dirty="0">
              <a:latin typeface="Verdana"/>
              <a:ea typeface="Cambria Math"/>
              <a:cs typeface="Cambria Math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PH" sz="2000" i="1" dirty="0">
              <a:latin typeface="Cambria Math"/>
              <a:ea typeface="Cambria Math"/>
              <a:cs typeface="Cambria Math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latin typeface="Verdana"/>
                <a:ea typeface="Cambria Math"/>
                <a:cs typeface="Cambria Math"/>
              </a:rPr>
              <a:t>What was the most surprising response to your statistical question? Why?</a:t>
            </a:r>
            <a:endParaRPr lang="en-PH" sz="2000" i="1" dirty="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</TotalTime>
  <Words>500</Words>
  <Application>Microsoft Office PowerPoint</Application>
  <PresentationFormat>Custom</PresentationFormat>
  <Paragraphs>162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Cambria Math</vt:lpstr>
      <vt:lpstr>Arial Black</vt:lpstr>
      <vt:lpstr>Verdana</vt:lpstr>
      <vt:lpstr>Calibri</vt:lpstr>
      <vt:lpstr>Century Gothic</vt:lpstr>
      <vt:lpstr>1_Office Theme</vt:lpstr>
      <vt:lpstr>6th Grade Math  Unit 9, Lesson 2  Statistical Questions  Volume 2, pg. 151  </vt:lpstr>
      <vt:lpstr>Benchmark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26</cp:revision>
  <dcterms:created xsi:type="dcterms:W3CDTF">2015-03-17T18:51:18Z</dcterms:created>
  <dcterms:modified xsi:type="dcterms:W3CDTF">2022-06-06T23:44:06Z</dcterms:modified>
</cp:coreProperties>
</file>