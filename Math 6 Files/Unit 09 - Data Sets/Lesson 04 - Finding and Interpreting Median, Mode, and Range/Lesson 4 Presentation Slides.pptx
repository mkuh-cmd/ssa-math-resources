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ppt/charts/style1.xml" ContentType="application/vnd.ms-office.chartstyle+xml"/>
  <Override PartName="/ppt/charts/colors1.xml" ContentType="application/vnd.ms-office.chartcolorstyl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4"/>
  </p:notesMasterIdLst>
  <p:sldIdLst>
    <p:sldId id="256" r:id="rId2"/>
    <p:sldId id="257" r:id="rId3"/>
    <p:sldId id="285" r:id="rId4"/>
    <p:sldId id="286" r:id="rId5"/>
    <p:sldId id="261" r:id="rId6"/>
    <p:sldId id="287" r:id="rId7"/>
    <p:sldId id="288" r:id="rId8"/>
    <p:sldId id="362" r:id="rId9"/>
    <p:sldId id="363" r:id="rId10"/>
    <p:sldId id="364" r:id="rId11"/>
    <p:sldId id="365" r:id="rId12"/>
    <p:sldId id="366" r:id="rId13"/>
    <p:sldId id="367" r:id="rId14"/>
    <p:sldId id="320" r:id="rId15"/>
    <p:sldId id="321" r:id="rId16"/>
    <p:sldId id="355" r:id="rId17"/>
    <p:sldId id="311" r:id="rId18"/>
    <p:sldId id="312" r:id="rId19"/>
    <p:sldId id="353" r:id="rId20"/>
    <p:sldId id="368" r:id="rId21"/>
    <p:sldId id="369" r:id="rId22"/>
    <p:sldId id="370" r:id="rId23"/>
    <p:sldId id="371" r:id="rId24"/>
    <p:sldId id="376" r:id="rId25"/>
    <p:sldId id="314" r:id="rId26"/>
    <p:sldId id="315" r:id="rId27"/>
    <p:sldId id="352" r:id="rId28"/>
    <p:sldId id="374" r:id="rId29"/>
    <p:sldId id="373" r:id="rId30"/>
    <p:sldId id="375" r:id="rId31"/>
    <p:sldId id="306" r:id="rId32"/>
    <p:sldId id="307" r:id="rId33"/>
  </p:sldIdLst>
  <p:sldSz cx="12192000" cy="6858000"/>
  <p:notesSz cx="6858000" cy="9144000"/>
  <p:embeddedFontLst>
    <p:embeddedFont>
      <p:font typeface="Cambria Math" pitchFamily="18" charset="0"/>
      <p:regular r:id="rId35"/>
    </p:embeddedFont>
    <p:embeddedFont>
      <p:font typeface="Cambria" pitchFamily="18" charset="0"/>
      <p:regular r:id="rId36"/>
      <p:bold r:id="rId37"/>
      <p:italic r:id="rId38"/>
      <p:boldItalic r:id="rId39"/>
    </p:embeddedFont>
    <p:embeddedFont>
      <p:font typeface="Arial Black" pitchFamily="34" charset="0"/>
      <p:bold r:id="rId40"/>
    </p:embeddedFont>
    <p:embeddedFont>
      <p:font typeface="Verdana" pitchFamily="34" charset="0"/>
      <p:regular r:id="rId41"/>
      <p:bold r:id="rId42"/>
      <p:italic r:id="rId43"/>
      <p:boldItalic r:id="rId44"/>
    </p:embeddedFont>
    <p:embeddedFont>
      <p:font typeface="Calibri" pitchFamily="34" charset="0"/>
      <p:regular r:id="rId45"/>
      <p:bold r:id="rId46"/>
      <p:italic r:id="rId47"/>
      <p:boldItalic r:id="rId48"/>
    </p:embeddedFont>
    <p:embeddedFont>
      <p:font typeface="Century Gothic" pitchFamily="34" charset="0"/>
      <p:regular r:id="rId49"/>
      <p:bold r:id="rId50"/>
      <p:italic r:id="rId51"/>
      <p:boldItalic r:id="rId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465B0"/>
    <a:srgbClr val="DA4487"/>
    <a:srgbClr val="276C46"/>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74"/>
    <p:restoredTop sz="96831"/>
  </p:normalViewPr>
  <p:slideViewPr>
    <p:cSldViewPr snapToGrid="0">
      <p:cViewPr varScale="1">
        <p:scale>
          <a:sx n="113" d="100"/>
          <a:sy n="113" d="100"/>
        </p:scale>
        <p:origin x="-390" y="-10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font" Target="fonts/font8.fntdata"/><Relationship Id="rId47" Type="http://schemas.openxmlformats.org/officeDocument/2006/relationships/font" Target="fonts/font13.fntdata"/><Relationship Id="rId50" Type="http://schemas.openxmlformats.org/officeDocument/2006/relationships/font" Target="fonts/font16.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 Id="rId46" Type="http://schemas.openxmlformats.org/officeDocument/2006/relationships/font" Target="fonts/font12.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font" Target="fonts/font11.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49" Type="http://schemas.openxmlformats.org/officeDocument/2006/relationships/font" Target="fonts/font15.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0.fntdata"/><Relationship Id="rId52" Type="http://schemas.openxmlformats.org/officeDocument/2006/relationships/font" Target="fonts/font1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font" Target="fonts/font9.fntdata"/><Relationship Id="rId48" Type="http://schemas.openxmlformats.org/officeDocument/2006/relationships/font" Target="fonts/font14.fntdata"/><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font" Target="fonts/font17.fntdata"/><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3" Type="http://schemas.microsoft.com/office/2011/relationships/chartStyle" Target="style1.xml"/><Relationship Id="rId2" Type="http://schemas.microsoft.com/office/2011/relationships/chartColorStyle" Target="colors1.xml"/><Relationship Id="rId1" Type="http://schemas.openxmlformats.org/officeDocument/2006/relationships/oleObject" Target="Book1"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PH"/>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r>
              <a:rPr lang="en-US" sz="1800" b="1">
                <a:solidFill>
                  <a:schemeClr val="tx1"/>
                </a:solidFill>
                <a:latin typeface="Verdana" panose="020B0604030504040204" pitchFamily="34" charset="0"/>
                <a:ea typeface="Verdana" panose="020B0604030504040204" pitchFamily="34" charset="0"/>
                <a:cs typeface="Verdana" panose="020B0604030504040204" pitchFamily="34" charset="0"/>
              </a:rPr>
              <a:t>Median</a:t>
            </a:r>
            <a:r>
              <a:rPr lang="en-US" sz="1800" b="1" baseline="0">
                <a:solidFill>
                  <a:schemeClr val="tx1"/>
                </a:solidFill>
                <a:latin typeface="Verdana" panose="020B0604030504040204" pitchFamily="34" charset="0"/>
                <a:ea typeface="Verdana" panose="020B0604030504040204" pitchFamily="34" charset="0"/>
                <a:cs typeface="Verdana" panose="020B0604030504040204" pitchFamily="34" charset="0"/>
              </a:rPr>
              <a:t> and Mean Income</a:t>
            </a:r>
          </a:p>
          <a:p>
            <a:pPr>
              <a:defRPr sz="1400" b="0" i="0" u="none" strike="noStrike" kern="1200" spc="0" baseline="0">
                <a:solidFill>
                  <a:schemeClr val="tx1"/>
                </a:solidFill>
                <a:latin typeface="+mn-lt"/>
                <a:ea typeface="+mn-ea"/>
                <a:cs typeface="+mn-cs"/>
              </a:defRPr>
            </a:pPr>
            <a:r>
              <a:rPr lang="en-US" sz="1800" b="1" baseline="0">
                <a:solidFill>
                  <a:schemeClr val="tx1"/>
                </a:solidFill>
                <a:latin typeface="Verdana" panose="020B0604030504040204" pitchFamily="34" charset="0"/>
                <a:ea typeface="Verdana" panose="020B0604030504040204" pitchFamily="34" charset="0"/>
                <a:cs typeface="Verdana" panose="020B0604030504040204" pitchFamily="34" charset="0"/>
              </a:rPr>
              <a:t>2012-2014</a:t>
            </a:r>
            <a:endParaRPr lang="en-US" sz="1800" b="1">
              <a:solidFill>
                <a:schemeClr val="tx1"/>
              </a:solidFill>
              <a:latin typeface="Verdana" panose="020B0604030504040204" pitchFamily="34" charset="0"/>
              <a:ea typeface="Verdana" panose="020B0604030504040204" pitchFamily="34" charset="0"/>
              <a:cs typeface="Verdana" panose="020B0604030504040204" pitchFamily="34" charset="0"/>
            </a:endParaRPr>
          </a:p>
        </c:rich>
      </c:tx>
      <c:layout/>
      <c:overlay val="0"/>
      <c:spPr>
        <a:noFill/>
        <a:ln>
          <a:noFill/>
        </a:ln>
        <a:effectLst/>
      </c:spPr>
    </c:title>
    <c:autoTitleDeleted val="0"/>
    <c:plotArea>
      <c:layout/>
      <c:barChart>
        <c:barDir val="bar"/>
        <c:grouping val="clustered"/>
        <c:varyColors val="0"/>
        <c:ser>
          <c:idx val="0"/>
          <c:order val="0"/>
          <c:tx>
            <c:strRef>
              <c:f>Sheet1!$C$1</c:f>
              <c:strCache>
                <c:ptCount val="1"/>
                <c:pt idx="0">
                  <c:v>Mean</c:v>
                </c:pt>
              </c:strCache>
            </c:strRef>
          </c:tx>
          <c:spPr>
            <a:solidFill>
              <a:schemeClr val="accent1"/>
            </a:solidFill>
            <a:ln w="28575">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Cambria" panose="02040503050406030204" pitchFamily="18" charset="0"/>
                    <a:ea typeface="+mn-ea"/>
                    <a:cs typeface="+mn-cs"/>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Sheet1!$B$2:$B$5</c:f>
              <c:strCache>
                <c:ptCount val="4"/>
                <c:pt idx="0">
                  <c:v>Ireland</c:v>
                </c:pt>
                <c:pt idx="1">
                  <c:v>United States</c:v>
                </c:pt>
                <c:pt idx="2">
                  <c:v>South Korea</c:v>
                </c:pt>
                <c:pt idx="3">
                  <c:v>Slovakia</c:v>
                </c:pt>
              </c:strCache>
            </c:strRef>
          </c:cat>
          <c:val>
            <c:numRef>
              <c:f>Sheet1!$C$2:$C$5</c:f>
              <c:numCache>
                <c:formatCode>"$"#,##0</c:formatCode>
                <c:ptCount val="4"/>
                <c:pt idx="0">
                  <c:v>51681</c:v>
                </c:pt>
                <c:pt idx="1">
                  <c:v>60154</c:v>
                </c:pt>
                <c:pt idx="2">
                  <c:v>32399</c:v>
                </c:pt>
                <c:pt idx="3">
                  <c:v>23508</c:v>
                </c:pt>
              </c:numCache>
            </c:numRef>
          </c:val>
          <c:extLst xmlns:c16r2="http://schemas.microsoft.com/office/drawing/2015/06/chart">
            <c:ext xmlns:c16="http://schemas.microsoft.com/office/drawing/2014/chart" uri="{C3380CC4-5D6E-409C-BE32-E72D297353CC}">
              <c16:uniqueId val="{00000000-D85B-7D4C-8018-8A0BBA42A19F}"/>
            </c:ext>
          </c:extLst>
        </c:ser>
        <c:ser>
          <c:idx val="1"/>
          <c:order val="1"/>
          <c:tx>
            <c:strRef>
              <c:f>Sheet1!$D$1</c:f>
              <c:strCache>
                <c:ptCount val="1"/>
                <c:pt idx="0">
                  <c:v>Median</c:v>
                </c:pt>
              </c:strCache>
            </c:strRef>
          </c:tx>
          <c:spPr>
            <a:solidFill>
              <a:schemeClr val="accent2"/>
            </a:solidFill>
            <a:ln w="25400">
              <a:noFill/>
            </a:ln>
            <a:effectLst/>
          </c:spPr>
          <c:invertIfNegative val="0"/>
          <c:dLbls>
            <c:dLbl>
              <c:idx val="0"/>
              <c:layout/>
              <c:showLegendKey val="0"/>
              <c:showVal val="1"/>
              <c:showCatName val="0"/>
              <c:showSerName val="0"/>
              <c:showPercent val="0"/>
              <c:showBubbleSize val="0"/>
              <c:extLst xmlns:c16r2="http://schemas.microsoft.com/office/drawing/2015/06/chart">
                <c:ext xmlns:c15="http://schemas.microsoft.com/office/drawing/2012/chart" uri="{CE6537A1-D6FC-4f65-9D91-7224C49458BB}"/>
                <c:ext xmlns:c16="http://schemas.microsoft.com/office/drawing/2014/chart" uri="{C3380CC4-5D6E-409C-BE32-E72D297353CC}">
                  <c16:uniqueId val="{00000001-D85B-7D4C-8018-8A0BBA42A19F}"/>
                </c:ext>
              </c:extLst>
            </c:dLbl>
            <c:dLbl>
              <c:idx val="1"/>
              <c:layout/>
              <c:showLegendKey val="0"/>
              <c:showVal val="1"/>
              <c:showCatName val="0"/>
              <c:showSerName val="0"/>
              <c:showPercent val="0"/>
              <c:showBubbleSize val="0"/>
              <c:extLst xmlns:c16r2="http://schemas.microsoft.com/office/drawing/2015/06/chart">
                <c:ext xmlns:c15="http://schemas.microsoft.com/office/drawing/2012/chart" uri="{CE6537A1-D6FC-4f65-9D91-7224C49458BB}"/>
                <c:ext xmlns:c16="http://schemas.microsoft.com/office/drawing/2014/chart" uri="{C3380CC4-5D6E-409C-BE32-E72D297353CC}">
                  <c16:uniqueId val="{00000002-D85B-7D4C-8018-8A0BBA42A19F}"/>
                </c:ext>
              </c:extLst>
            </c:dLbl>
            <c:dLbl>
              <c:idx val="2"/>
              <c:layout/>
              <c:showLegendKey val="0"/>
              <c:showVal val="1"/>
              <c:showCatName val="0"/>
              <c:showSerName val="0"/>
              <c:showPercent val="0"/>
              <c:showBubbleSize val="0"/>
              <c:extLst xmlns:c16r2="http://schemas.microsoft.com/office/drawing/2015/06/chart">
                <c:ext xmlns:c15="http://schemas.microsoft.com/office/drawing/2012/chart" uri="{CE6537A1-D6FC-4f65-9D91-7224C49458BB}"/>
                <c:ext xmlns:c16="http://schemas.microsoft.com/office/drawing/2014/chart" uri="{C3380CC4-5D6E-409C-BE32-E72D297353CC}">
                  <c16:uniqueId val="{00000003-D85B-7D4C-8018-8A0BBA42A19F}"/>
                </c:ext>
              </c:extLst>
            </c:dLbl>
            <c:dLbl>
              <c:idx val="3"/>
              <c:layout/>
              <c:showLegendKey val="0"/>
              <c:showVal val="1"/>
              <c:showCatName val="0"/>
              <c:showSerName val="0"/>
              <c:showPercent val="0"/>
              <c:showBubbleSize val="0"/>
              <c:extLst xmlns:c16r2="http://schemas.microsoft.com/office/drawing/2015/06/chart">
                <c:ext xmlns:c15="http://schemas.microsoft.com/office/drawing/2012/chart" uri="{CE6537A1-D6FC-4f65-9D91-7224C49458BB}"/>
                <c:ext xmlns:c16="http://schemas.microsoft.com/office/drawing/2014/chart" uri="{C3380CC4-5D6E-409C-BE32-E72D297353CC}">
                  <c16:uniqueId val="{00000004-D85B-7D4C-8018-8A0BBA42A19F}"/>
                </c:ext>
              </c:extLst>
            </c:dLbl>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Cambria" panose="02040503050406030204" pitchFamily="18" charset="0"/>
                    <a:ea typeface="+mn-ea"/>
                    <a:cs typeface="+mn-cs"/>
                  </a:defRPr>
                </a:pPr>
                <a:endParaRPr lang="en-US"/>
              </a:p>
            </c:txPr>
            <c:showLegendKey val="0"/>
            <c:showVal val="0"/>
            <c:showCatName val="0"/>
            <c:showSerName val="0"/>
            <c:showPercent val="0"/>
            <c:showBubbleSize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Sheet1!$B$2:$B$5</c:f>
              <c:strCache>
                <c:ptCount val="4"/>
                <c:pt idx="0">
                  <c:v>Ireland</c:v>
                </c:pt>
                <c:pt idx="1">
                  <c:v>United States</c:v>
                </c:pt>
                <c:pt idx="2">
                  <c:v>South Korea</c:v>
                </c:pt>
                <c:pt idx="3">
                  <c:v>Slovakia</c:v>
                </c:pt>
              </c:strCache>
            </c:strRef>
          </c:cat>
          <c:val>
            <c:numRef>
              <c:f>Sheet1!$D$2:$D$5</c:f>
              <c:numCache>
                <c:formatCode>"$"#,##0</c:formatCode>
                <c:ptCount val="4"/>
                <c:pt idx="0">
                  <c:v>22200</c:v>
                </c:pt>
                <c:pt idx="1">
                  <c:v>30960</c:v>
                </c:pt>
                <c:pt idx="2">
                  <c:v>22176</c:v>
                </c:pt>
                <c:pt idx="3">
                  <c:v>14171</c:v>
                </c:pt>
              </c:numCache>
            </c:numRef>
          </c:val>
          <c:extLst xmlns:c16r2="http://schemas.microsoft.com/office/drawing/2015/06/chart">
            <c:ext xmlns:c16="http://schemas.microsoft.com/office/drawing/2014/chart" uri="{C3380CC4-5D6E-409C-BE32-E72D297353CC}">
              <c16:uniqueId val="{00000005-D85B-7D4C-8018-8A0BBA42A19F}"/>
            </c:ext>
          </c:extLst>
        </c:ser>
        <c:dLbls>
          <c:showLegendKey val="0"/>
          <c:showVal val="0"/>
          <c:showCatName val="0"/>
          <c:showSerName val="0"/>
          <c:showPercent val="0"/>
          <c:showBubbleSize val="0"/>
        </c:dLbls>
        <c:gapWidth val="57"/>
        <c:axId val="152233472"/>
        <c:axId val="152235008"/>
      </c:barChart>
      <c:catAx>
        <c:axId val="152233472"/>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Verdana" panose="020B0604030504040204" pitchFamily="34" charset="0"/>
                <a:ea typeface="Verdana" panose="020B0604030504040204" pitchFamily="34" charset="0"/>
                <a:cs typeface="Verdana" panose="020B0604030504040204" pitchFamily="34" charset="0"/>
              </a:defRPr>
            </a:pPr>
            <a:endParaRPr lang="en-US"/>
          </a:p>
        </c:txPr>
        <c:crossAx val="152235008"/>
        <c:crosses val="autoZero"/>
        <c:auto val="1"/>
        <c:lblAlgn val="ctr"/>
        <c:lblOffset val="100"/>
        <c:noMultiLvlLbl val="0"/>
      </c:catAx>
      <c:valAx>
        <c:axId val="152235008"/>
        <c:scaling>
          <c:orientation val="minMax"/>
        </c:scaling>
        <c:delete val="0"/>
        <c:axPos val="b"/>
        <c:majorGridlines>
          <c:spPr>
            <a:ln w="9525" cap="flat" cmpd="sng" algn="ctr">
              <a:solidFill>
                <a:schemeClr val="tx1">
                  <a:lumMod val="15000"/>
                  <a:lumOff val="85000"/>
                </a:schemeClr>
              </a:solidFill>
              <a:round/>
            </a:ln>
            <a:effectLst/>
          </c:spPr>
        </c:majorGridlines>
        <c:numFmt formatCode="&quot;$&quot;#,##0"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solidFill>
                <a:latin typeface="Verdana" panose="020B0604030504040204" pitchFamily="34" charset="0"/>
                <a:ea typeface="Verdana" panose="020B0604030504040204" pitchFamily="34" charset="0"/>
                <a:cs typeface="Verdana" panose="020B0604030504040204" pitchFamily="34" charset="0"/>
              </a:defRPr>
            </a:pPr>
            <a:endParaRPr lang="en-US"/>
          </a:p>
        </c:txPr>
        <c:crossAx val="152233472"/>
        <c:crosses val="autoZero"/>
        <c:crossBetween val="between"/>
        <c:majorUnit val="20000"/>
      </c:valAx>
      <c:spPr>
        <a:noFill/>
        <a:ln>
          <a:noFill/>
        </a:ln>
        <a:effectLst/>
      </c:spPr>
    </c:plotArea>
    <c:legend>
      <c:legendPos val="l"/>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Verdana" panose="020B0604030504040204" pitchFamily="34" charset="0"/>
              <a:ea typeface="Verdana" panose="020B0604030504040204" pitchFamily="34" charset="0"/>
              <a:cs typeface="Verdana" panose="020B0604030504040204" pitchFamily="34" charset="0"/>
            </a:defRPr>
          </a:pPr>
          <a:endParaRPr lang="en-US"/>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515060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42148061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775512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8139594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1688535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9051134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35407610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14165849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30307359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2203952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28516506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28776349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6019709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36785248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36180597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2178442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extLst>
      <p:ext uri="{BB962C8B-B14F-4D97-AF65-F5344CB8AC3E}">
        <p14:creationId xmlns:p14="http://schemas.microsoft.com/office/powerpoint/2010/main" val="25803800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208931687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extLst>
      <p:ext uri="{BB962C8B-B14F-4D97-AF65-F5344CB8AC3E}">
        <p14:creationId xmlns:p14="http://schemas.microsoft.com/office/powerpoint/2010/main" val="407379854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29</a:t>
            </a:fld>
            <a:endParaRPr/>
          </a:p>
        </p:txBody>
      </p:sp>
    </p:spTree>
    <p:extLst>
      <p:ext uri="{BB962C8B-B14F-4D97-AF65-F5344CB8AC3E}">
        <p14:creationId xmlns:p14="http://schemas.microsoft.com/office/powerpoint/2010/main" val="204995138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30</a:t>
            </a:fld>
            <a:endParaRPr/>
          </a:p>
        </p:txBody>
      </p:sp>
    </p:spTree>
    <p:extLst>
      <p:ext uri="{BB962C8B-B14F-4D97-AF65-F5344CB8AC3E}">
        <p14:creationId xmlns:p14="http://schemas.microsoft.com/office/powerpoint/2010/main" val="32940915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31</a:t>
            </a:fld>
            <a:endParaRPr/>
          </a:p>
        </p:txBody>
      </p:sp>
    </p:spTree>
    <p:extLst>
      <p:ext uri="{BB962C8B-B14F-4D97-AF65-F5344CB8AC3E}">
        <p14:creationId xmlns:p14="http://schemas.microsoft.com/office/powerpoint/2010/main" val="71668810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32</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chart" Target="../charts/char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6.png"/><Relationship Id="rId4" Type="http://schemas.openxmlformats.org/officeDocument/2006/relationships/image" Target="../media/image25.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2.xml"/><Relationship Id="rId1" Type="http://schemas.openxmlformats.org/officeDocument/2006/relationships/slideLayout" Target="../slideLayouts/slideLayout8.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6</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Math</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lvl="0" algn="ctr">
              <a:lnSpc>
                <a:spcPct val="100000"/>
              </a:lnSpc>
              <a:buClr>
                <a:srgbClr val="000000"/>
              </a:buClr>
            </a:pPr>
            <a:r>
              <a:rPr lang="en-US" sz="3600" b="1" dirty="0">
                <a:solidFill>
                  <a:srgbClr val="417DBF"/>
                </a:solidFill>
                <a:latin typeface="Verdana"/>
                <a:ea typeface="Verdana"/>
                <a:cs typeface="Verdana"/>
                <a:sym typeface="Verdana"/>
              </a:rPr>
              <a:t>Unit 9, Lesson 4</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rPr>
              <a:t>Finding and Interpreting Median, Mode, and Range </a:t>
            </a: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160</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 xmlns:a16="http://schemas.microsoft.com/office/drawing/2014/main" id="{566F1422-A32C-7745-9E85-5AF7B9DBC697}"/>
              </a:ext>
            </a:extLst>
          </p:cNvPr>
          <p:cNvSpPr/>
          <p:nvPr/>
        </p:nvSpPr>
        <p:spPr>
          <a:xfrm>
            <a:off x="0" y="0"/>
            <a:ext cx="4094106"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4" name="Picture 3" descr="Logo&#10;&#10;Description automatically generated">
            <a:extLst>
              <a:ext uri="{FF2B5EF4-FFF2-40B4-BE49-F238E27FC236}">
                <a16:creationId xmlns="" xmlns:a16="http://schemas.microsoft.com/office/drawing/2014/main" id="{52C00464-EFA3-6346-BE43-A03DFF537B3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82579" y="1782947"/>
            <a:ext cx="2973100" cy="346578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02200" y="-71012"/>
            <a:ext cx="8432218"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4900" y="218188"/>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 xmlns:a16="http://schemas.microsoft.com/office/drawing/2014/main" id="{527A9F9F-07B8-ED47-B967-E5507C67DBC5}"/>
              </a:ext>
            </a:extLst>
          </p:cNvPr>
          <p:cNvSpPr txBox="1">
            <a:spLocks/>
          </p:cNvSpPr>
          <p:nvPr/>
        </p:nvSpPr>
        <p:spPr>
          <a:xfrm>
            <a:off x="553091" y="1326150"/>
            <a:ext cx="11498495" cy="478697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400" dirty="0">
                <a:solidFill>
                  <a:schemeClr val="tx1"/>
                </a:solidFill>
                <a:latin typeface="Verdana"/>
                <a:ea typeface="Verdana"/>
                <a:cs typeface="Verdana"/>
              </a:rPr>
              <a:t>MA.6.DP.1.2 </a:t>
            </a:r>
            <a:endParaRPr lang="en-US" sz="2400" dirty="0">
              <a:solidFill>
                <a:schemeClr val="tx1"/>
              </a:solidFill>
              <a:latin typeface="Verdana"/>
              <a:ea typeface="Verdana"/>
              <a:cs typeface="Verdana"/>
              <a:sym typeface="Verdana"/>
            </a:endParaRPr>
          </a:p>
          <a:p>
            <a:pPr indent="0">
              <a:buNone/>
            </a:pPr>
            <a:r>
              <a:rPr lang="en-US" sz="2400" dirty="0">
                <a:solidFill>
                  <a:schemeClr val="tx1"/>
                </a:solidFill>
                <a:latin typeface="Verdana"/>
                <a:ea typeface="Verdana"/>
                <a:cs typeface="Verdana"/>
              </a:rPr>
              <a:t>Given a numerical data set within a real-world context, find and interpret mean, median, mode, and range. </a:t>
            </a:r>
            <a:endParaRPr lang="en-US" sz="2400" dirty="0">
              <a:solidFill>
                <a:schemeClr val="tx1"/>
              </a:solidFill>
              <a:latin typeface="Verdana"/>
              <a:ea typeface="Verdana"/>
              <a:cs typeface="Verdana"/>
              <a:sym typeface="Century Gothic"/>
            </a:endParaRPr>
          </a:p>
        </p:txBody>
      </p:sp>
      <p:pic>
        <p:nvPicPr>
          <p:cNvPr id="9" name="Google Shape;311;g104476d1465_1_39"/>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82;g104476d1465_1_17">
            <a:extLst>
              <a:ext uri="{FF2B5EF4-FFF2-40B4-BE49-F238E27FC236}">
                <a16:creationId xmlns="" xmlns:a16="http://schemas.microsoft.com/office/drawing/2014/main" id="{2C9405F7-8214-CE45-80C3-9FBF7002FBD5}"/>
              </a:ext>
            </a:extLst>
          </p:cNvPr>
          <p:cNvSpPr txBox="1"/>
          <p:nvPr/>
        </p:nvSpPr>
        <p:spPr>
          <a:xfrm>
            <a:off x="8994150" y="6537462"/>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160</a:t>
            </a:r>
            <a:endParaRPr i="1" dirty="0">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70465" y="146152"/>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 xmlns:a16="http://schemas.microsoft.com/office/drawing/2014/main" id="{08B3C7FF-E6D0-2145-9A84-003D15672764}"/>
              </a:ext>
            </a:extLst>
          </p:cNvPr>
          <p:cNvSpPr txBox="1">
            <a:spLocks/>
          </p:cNvSpPr>
          <p:nvPr/>
        </p:nvSpPr>
        <p:spPr>
          <a:xfrm>
            <a:off x="1265029" y="0"/>
            <a:ext cx="1078655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 xmlns:a16="http://schemas.microsoft.com/office/drawing/2014/main" id="{A6E18E39-B007-D647-9935-55A748533A45}"/>
              </a:ext>
            </a:extLst>
          </p:cNvPr>
          <p:cNvSpPr txBox="1">
            <a:spLocks/>
          </p:cNvSpPr>
          <p:nvPr/>
        </p:nvSpPr>
        <p:spPr>
          <a:xfrm>
            <a:off x="423087" y="1408836"/>
            <a:ext cx="11475813" cy="4715054"/>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pic>
        <p:nvPicPr>
          <p:cNvPr id="10" name="Google Shape;311;g104476d1465_1_39"/>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 xmlns:a16="http://schemas.microsoft.com/office/drawing/2014/main" id="{2C9405F7-8214-CE45-80C3-9FBF7002FBD5}"/>
              </a:ext>
            </a:extLst>
          </p:cNvPr>
          <p:cNvSpPr txBox="1"/>
          <p:nvPr/>
        </p:nvSpPr>
        <p:spPr>
          <a:xfrm>
            <a:off x="8994150" y="6537462"/>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160</a:t>
            </a:r>
            <a:endParaRPr i="1" dirty="0">
              <a:latin typeface="Calibri"/>
              <a:ea typeface="Calibri"/>
              <a:cs typeface="Calibri"/>
              <a:sym typeface="Calibri"/>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0" name="Google Shape;301;g103996e1364_0_16">
            <a:extLst>
              <a:ext uri="{FF2B5EF4-FFF2-40B4-BE49-F238E27FC236}">
                <a16:creationId xmlns="" xmlns:a16="http://schemas.microsoft.com/office/drawing/2014/main" id="{5771FBFA-7311-BB45-8AFF-04B380531EE6}"/>
              </a:ext>
            </a:extLst>
          </p:cNvPr>
          <p:cNvSpPr txBox="1">
            <a:spLocks/>
          </p:cNvSpPr>
          <p:nvPr/>
        </p:nvSpPr>
        <p:spPr>
          <a:xfrm>
            <a:off x="1102200" y="-154275"/>
            <a:ext cx="107349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 xmlns:a16="http://schemas.microsoft.com/office/drawing/2014/main" id="{81DC7EB0-4FED-FC45-BAEC-D699ED5C2169}"/>
              </a:ext>
            </a:extLst>
          </p:cNvPr>
          <p:cNvPicPr preferRelativeResize="0"/>
          <p:nvPr/>
        </p:nvPicPr>
        <p:blipFill>
          <a:blip r:embed="rId3">
            <a:alphaModFix/>
          </a:blip>
          <a:stretch>
            <a:fillRect/>
          </a:stretch>
        </p:blipFill>
        <p:spPr>
          <a:xfrm>
            <a:off x="354900" y="134925"/>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 xmlns:a16="http://schemas.microsoft.com/office/drawing/2014/main" id="{9B7C98EC-F13C-9146-B728-D7044DB4247D}"/>
              </a:ext>
            </a:extLst>
          </p:cNvPr>
          <p:cNvSpPr txBox="1">
            <a:spLocks/>
          </p:cNvSpPr>
          <p:nvPr/>
        </p:nvSpPr>
        <p:spPr>
          <a:xfrm>
            <a:off x="427875" y="1460625"/>
            <a:ext cx="114822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50850">
              <a:buClr>
                <a:srgbClr val="434343"/>
              </a:buClr>
              <a:buSzPts val="3500"/>
              <a:buFont typeface="Verdana"/>
              <a:buChar char="❏"/>
            </a:pPr>
            <a:r>
              <a:rPr lang="en-US" sz="2400" dirty="0">
                <a:solidFill>
                  <a:schemeClr val="tx1"/>
                </a:solidFill>
                <a:latin typeface="Verdana"/>
                <a:ea typeface="Verdana"/>
                <a:cs typeface="Verdana"/>
              </a:rPr>
              <a:t>I can find the mean, median, mode, and range of a given data set.</a:t>
            </a:r>
          </a:p>
          <a:p>
            <a:pPr marL="457200" indent="-450850">
              <a:buClr>
                <a:srgbClr val="434343"/>
              </a:buClr>
              <a:buSzPts val="3500"/>
              <a:buFont typeface="Verdana"/>
              <a:buChar char="❏"/>
            </a:pPr>
            <a:endParaRPr lang="en-US" sz="2400" dirty="0">
              <a:solidFill>
                <a:schemeClr val="tx1"/>
              </a:solidFill>
              <a:latin typeface="Verdana"/>
              <a:ea typeface="Verdana"/>
              <a:cs typeface="Verdana"/>
              <a:sym typeface="Verdana"/>
            </a:endParaRPr>
          </a:p>
          <a:p>
            <a:pPr marL="457200" indent="-450850">
              <a:buClr>
                <a:srgbClr val="434343"/>
              </a:buClr>
              <a:buSzPts val="3500"/>
              <a:buFont typeface="Verdana"/>
              <a:buChar char="❏"/>
            </a:pPr>
            <a:r>
              <a:rPr lang="en-US" sz="2400" dirty="0">
                <a:solidFill>
                  <a:schemeClr val="tx1"/>
                </a:solidFill>
                <a:latin typeface="Verdana"/>
                <a:ea typeface="Verdana"/>
                <a:cs typeface="Verdana"/>
              </a:rPr>
              <a:t>I can interpret the median, mode, and range of a given data set.</a:t>
            </a:r>
          </a:p>
          <a:p>
            <a:pPr marL="457200" indent="-450850">
              <a:buClr>
                <a:srgbClr val="434343"/>
              </a:buClr>
              <a:buSzPts val="3500"/>
              <a:buFont typeface="Verdana"/>
              <a:buChar char="❏"/>
            </a:pPr>
            <a:endParaRPr lang="en-US" sz="2400" dirty="0">
              <a:solidFill>
                <a:schemeClr val="tx1"/>
              </a:solidFill>
              <a:latin typeface="Verdana"/>
              <a:ea typeface="Verdana"/>
              <a:cs typeface="Verdana"/>
              <a:sym typeface="Verdana"/>
            </a:endParaRPr>
          </a:p>
        </p:txBody>
      </p:sp>
      <p:pic>
        <p:nvPicPr>
          <p:cNvPr id="9" name="Google Shape;311;g104476d1465_1_39"/>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1" name="Google Shape;282;g104476d1465_1_17">
            <a:extLst>
              <a:ext uri="{FF2B5EF4-FFF2-40B4-BE49-F238E27FC236}">
                <a16:creationId xmlns="" xmlns:a16="http://schemas.microsoft.com/office/drawing/2014/main" id="{2C9405F7-8214-CE45-80C3-9FBF7002FBD5}"/>
              </a:ext>
            </a:extLst>
          </p:cNvPr>
          <p:cNvSpPr txBox="1"/>
          <p:nvPr/>
        </p:nvSpPr>
        <p:spPr>
          <a:xfrm>
            <a:off x="8994150" y="6537462"/>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160</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a:extLst>
              <a:ext uri="{FF2B5EF4-FFF2-40B4-BE49-F238E27FC236}">
                <a16:creationId xmlns="" xmlns:a16="http://schemas.microsoft.com/office/drawing/2014/main" id="{2C9405F7-8214-CE45-80C3-9FBF7002FBD5}"/>
              </a:ext>
            </a:extLst>
          </p:cNvPr>
          <p:cNvSpPr txBox="1"/>
          <p:nvPr/>
        </p:nvSpPr>
        <p:spPr>
          <a:xfrm>
            <a:off x="8994150" y="6537462"/>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160</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 xmlns:a16="http://schemas.microsoft.com/office/drawing/2014/main" id="{DB5796CA-12EB-BB4C-8338-B127D750A026}"/>
              </a:ext>
            </a:extLst>
          </p:cNvPr>
          <p:cNvSpPr txBox="1">
            <a:spLocks/>
          </p:cNvSpPr>
          <p:nvPr/>
        </p:nvSpPr>
        <p:spPr>
          <a:xfrm>
            <a:off x="1152535" y="-53468"/>
            <a:ext cx="1071832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9.4.1 Warm-Up: </a:t>
            </a:r>
            <a:r>
              <a:rPr lang="en-US" sz="3600" b="1" dirty="0">
                <a:solidFill>
                  <a:srgbClr val="3F2A67"/>
                </a:solidFill>
                <a:latin typeface="Verdana"/>
                <a:ea typeface="Verdana"/>
                <a:cs typeface="Verdana"/>
              </a:rPr>
              <a:t>Notice and Wonder </a:t>
            </a:r>
            <a:endParaRPr lang="en-US" sz="3600" b="1" dirty="0">
              <a:solidFill>
                <a:srgbClr val="3F2A67"/>
              </a:solidFill>
              <a:latin typeface="Verdana"/>
              <a:ea typeface="Verdana"/>
              <a:cs typeface="Verdana"/>
              <a:sym typeface="Verdana"/>
            </a:endParaRPr>
          </a:p>
        </p:txBody>
      </p:sp>
      <p:pic>
        <p:nvPicPr>
          <p:cNvPr id="13" name="Google Shape;326;g103996e1364_0_25">
            <a:extLst>
              <a:ext uri="{FF2B5EF4-FFF2-40B4-BE49-F238E27FC236}">
                <a16:creationId xmlns="" xmlns:a16="http://schemas.microsoft.com/office/drawing/2014/main" id="{0B25478F-1F7B-DF44-A9BD-898178E878B3}"/>
              </a:ext>
            </a:extLst>
          </p:cNvPr>
          <p:cNvPicPr preferRelativeResize="0"/>
          <p:nvPr/>
        </p:nvPicPr>
        <p:blipFill>
          <a:blip r:embed="rId3">
            <a:alphaModFix/>
          </a:blip>
          <a:stretch>
            <a:fillRect/>
          </a:stretch>
        </p:blipFill>
        <p:spPr>
          <a:xfrm>
            <a:off x="363189" y="187211"/>
            <a:ext cx="747300" cy="747300"/>
          </a:xfrm>
          <a:prstGeom prst="rect">
            <a:avLst/>
          </a:prstGeom>
          <a:noFill/>
          <a:ln>
            <a:noFill/>
          </a:ln>
          <a:effectLst>
            <a:outerShdw blurRad="50800" dist="38100" dir="2700000" algn="tl" rotWithShape="0">
              <a:prstClr val="black">
                <a:alpha val="40000"/>
              </a:prstClr>
            </a:outerShdw>
          </a:effectLst>
        </p:spPr>
      </p:pic>
      <p:sp>
        <p:nvSpPr>
          <p:cNvPr id="2" name="TextBox 1">
            <a:extLst>
              <a:ext uri="{FF2B5EF4-FFF2-40B4-BE49-F238E27FC236}">
                <a16:creationId xmlns="" xmlns:a16="http://schemas.microsoft.com/office/drawing/2014/main" id="{E1D7562E-134F-D14B-AF1A-DF40E11EF758}"/>
              </a:ext>
            </a:extLst>
          </p:cNvPr>
          <p:cNvSpPr txBox="1"/>
          <p:nvPr/>
        </p:nvSpPr>
        <p:spPr>
          <a:xfrm>
            <a:off x="848097" y="1499818"/>
            <a:ext cx="10946635" cy="3477875"/>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The diagram below shows bar charts for the median and mean income between 2012 and 2014 in selected countries. The income is given in U.S. dollars ($).     </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p:txBody>
      </p:sp>
      <p:graphicFrame>
        <p:nvGraphicFramePr>
          <p:cNvPr id="11" name="Chart 10">
            <a:extLst>
              <a:ext uri="{FF2B5EF4-FFF2-40B4-BE49-F238E27FC236}">
                <a16:creationId xmlns="" xmlns:a16="http://schemas.microsoft.com/office/drawing/2014/main" id="{B98479FD-8416-2247-82E9-AAF160B22F26}"/>
              </a:ext>
            </a:extLst>
          </p:cNvPr>
          <p:cNvGraphicFramePr/>
          <p:nvPr>
            <p:extLst>
              <p:ext uri="{D42A27DB-BD31-4B8C-83A1-F6EECF244321}">
                <p14:modId xmlns:p14="http://schemas.microsoft.com/office/powerpoint/2010/main" val="735410266"/>
              </p:ext>
            </p:extLst>
          </p:nvPr>
        </p:nvGraphicFramePr>
        <p:xfrm>
          <a:off x="2745079" y="2538725"/>
          <a:ext cx="6701842" cy="3806083"/>
        </p:xfrm>
        <a:graphic>
          <a:graphicData uri="http://schemas.openxmlformats.org/drawingml/2006/chart">
            <c:chart xmlns:c="http://schemas.openxmlformats.org/drawingml/2006/chart" xmlns:r="http://schemas.openxmlformats.org/officeDocument/2006/relationships" r:id="rId4"/>
          </a:graphicData>
        </a:graphic>
      </p:graphicFrame>
      <p:pic>
        <p:nvPicPr>
          <p:cNvPr id="9" name="Google Shape;311;g104476d1465_1_39"/>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82;g104476d1465_1_17">
            <a:extLst>
              <a:ext uri="{FF2B5EF4-FFF2-40B4-BE49-F238E27FC236}">
                <a16:creationId xmlns="" xmlns:a16="http://schemas.microsoft.com/office/drawing/2014/main" id="{2C9405F7-8214-CE45-80C3-9FBF7002FBD5}"/>
              </a:ext>
            </a:extLst>
          </p:cNvPr>
          <p:cNvSpPr txBox="1"/>
          <p:nvPr/>
        </p:nvSpPr>
        <p:spPr>
          <a:xfrm>
            <a:off x="8994150" y="6537462"/>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160</a:t>
            </a:r>
            <a:endParaRPr i="1" dirty="0">
              <a:latin typeface="Calibri"/>
              <a:ea typeface="Calibri"/>
              <a:cs typeface="Calibri"/>
              <a:sym typeface="Calibri"/>
            </a:endParaRP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 xmlns:a16="http://schemas.microsoft.com/office/drawing/2014/main" id="{2FA392D8-3ED3-7940-83A8-1451AA8A08D4}"/>
              </a:ext>
            </a:extLst>
          </p:cNvPr>
          <p:cNvSpPr txBox="1"/>
          <p:nvPr/>
        </p:nvSpPr>
        <p:spPr>
          <a:xfrm>
            <a:off x="610479" y="592312"/>
            <a:ext cx="11358913" cy="2677656"/>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What do you notice about the values for median and mean income?</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What do you wonder about the values for median and mean income?</a:t>
            </a:r>
          </a:p>
        </p:txBody>
      </p:sp>
      <p:pic>
        <p:nvPicPr>
          <p:cNvPr id="7"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 xmlns:a16="http://schemas.microsoft.com/office/drawing/2014/main" id="{2C9405F7-8214-CE45-80C3-9FBF7002FBD5}"/>
              </a:ext>
            </a:extLst>
          </p:cNvPr>
          <p:cNvSpPr txBox="1"/>
          <p:nvPr/>
        </p:nvSpPr>
        <p:spPr>
          <a:xfrm>
            <a:off x="8994150" y="6537462"/>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160</a:t>
            </a:r>
            <a:endParaRPr i="1" dirty="0">
              <a:latin typeface="Calibri"/>
              <a:ea typeface="Calibri"/>
              <a:cs typeface="Calibri"/>
              <a:sym typeface="Calibri"/>
            </a:endParaRPr>
          </a:p>
        </p:txBody>
      </p:sp>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 xmlns:a16="http://schemas.microsoft.com/office/drawing/2014/main" id="{2AC58C8F-2DD8-F347-9ECA-58EE9E1B7E9C}"/>
              </a:ext>
            </a:extLst>
          </p:cNvPr>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pic>
        <p:nvPicPr>
          <p:cNvPr id="8" name="Google Shape;311;g104476d1465_1_39"/>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82;g104476d1465_1_17">
            <a:extLst>
              <a:ext uri="{FF2B5EF4-FFF2-40B4-BE49-F238E27FC236}">
                <a16:creationId xmlns="" xmlns:a16="http://schemas.microsoft.com/office/drawing/2014/main" id="{2C9405F7-8214-CE45-80C3-9FBF7002FBD5}"/>
              </a:ext>
            </a:extLst>
          </p:cNvPr>
          <p:cNvSpPr txBox="1"/>
          <p:nvPr/>
        </p:nvSpPr>
        <p:spPr>
          <a:xfrm>
            <a:off x="8994150" y="6537462"/>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161</a:t>
            </a:r>
            <a:endParaRPr i="1" dirty="0">
              <a:latin typeface="Calibri"/>
              <a:ea typeface="Calibri"/>
              <a:cs typeface="Calibri"/>
              <a:sym typeface="Calibri"/>
            </a:endParaRPr>
          </a:p>
        </p:txBody>
      </p:sp>
    </p:spTree>
    <p:extLst>
      <p:ext uri="{BB962C8B-B14F-4D97-AF65-F5344CB8AC3E}">
        <p14:creationId xmlns:p14="http://schemas.microsoft.com/office/powerpoint/2010/main" val="31356496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 xmlns:a16="http://schemas.microsoft.com/office/drawing/2014/main" id="{21B1DF8E-16A0-FA4E-8CEB-434668DFA68D}"/>
              </a:ext>
            </a:extLst>
          </p:cNvPr>
          <p:cNvSpPr txBox="1">
            <a:spLocks/>
          </p:cNvSpPr>
          <p:nvPr/>
        </p:nvSpPr>
        <p:spPr>
          <a:xfrm>
            <a:off x="1198084" y="-77837"/>
            <a:ext cx="1082268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9.4.2 Guided Instruction: </a:t>
            </a:r>
            <a:r>
              <a:rPr lang="en-US" sz="3600" b="1" dirty="0">
                <a:solidFill>
                  <a:srgbClr val="54B5D1"/>
                </a:solidFill>
                <a:latin typeface="Verdana"/>
                <a:ea typeface="Verdana"/>
                <a:cs typeface="Verdana"/>
              </a:rPr>
              <a:t>Mean, Median and Mode </a:t>
            </a:r>
            <a:endParaRPr lang="en-US" sz="3600" b="1" dirty="0">
              <a:solidFill>
                <a:srgbClr val="54B5D1"/>
              </a:solidFill>
              <a:latin typeface="Verdana"/>
              <a:ea typeface="Verdana"/>
              <a:cs typeface="Verdana"/>
              <a:sym typeface="Verdana"/>
            </a:endParaRPr>
          </a:p>
        </p:txBody>
      </p:sp>
      <p:pic>
        <p:nvPicPr>
          <p:cNvPr id="9" name="Google Shape;345;g103996e1364_0_321">
            <a:extLst>
              <a:ext uri="{FF2B5EF4-FFF2-40B4-BE49-F238E27FC236}">
                <a16:creationId xmlns="" xmlns:a16="http://schemas.microsoft.com/office/drawing/2014/main" id="{CBDD45DF-949B-9F42-BFF6-A7167F0CF795}"/>
              </a:ext>
            </a:extLst>
          </p:cNvPr>
          <p:cNvPicPr preferRelativeResize="0"/>
          <p:nvPr/>
        </p:nvPicPr>
        <p:blipFill rotWithShape="1">
          <a:blip r:embed="rId3">
            <a:alphaModFix/>
          </a:blip>
          <a:srcRect/>
          <a:stretch/>
        </p:blipFill>
        <p:spPr>
          <a:xfrm>
            <a:off x="336992" y="121285"/>
            <a:ext cx="747300" cy="747300"/>
          </a:xfrm>
          <a:prstGeom prst="rect">
            <a:avLst/>
          </a:prstGeom>
          <a:noFill/>
          <a:ln>
            <a:noFill/>
          </a:ln>
          <a:effectLst>
            <a:outerShdw blurRad="50800" dist="38100" dir="2700000" algn="tl" rotWithShape="0">
              <a:prstClr val="black">
                <a:alpha val="40000"/>
              </a:prstClr>
            </a:outerShdw>
          </a:effectLst>
        </p:spPr>
      </p:pic>
      <p:sp>
        <p:nvSpPr>
          <p:cNvPr id="13" name="TextBox 12">
            <a:extLst>
              <a:ext uri="{FF2B5EF4-FFF2-40B4-BE49-F238E27FC236}">
                <a16:creationId xmlns="" xmlns:a16="http://schemas.microsoft.com/office/drawing/2014/main" id="{C01B13E8-EC8D-E443-A329-C5E3593DD13A}"/>
              </a:ext>
            </a:extLst>
          </p:cNvPr>
          <p:cNvSpPr txBox="1"/>
          <p:nvPr/>
        </p:nvSpPr>
        <p:spPr>
          <a:xfrm>
            <a:off x="801383" y="1386026"/>
            <a:ext cx="10822679" cy="830997"/>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For each definition, fill in the blank with one of the words from the bank.</a:t>
            </a:r>
          </a:p>
        </p:txBody>
      </p:sp>
      <p:grpSp>
        <p:nvGrpSpPr>
          <p:cNvPr id="15" name="Group 14">
            <a:extLst>
              <a:ext uri="{FF2B5EF4-FFF2-40B4-BE49-F238E27FC236}">
                <a16:creationId xmlns="" xmlns:a16="http://schemas.microsoft.com/office/drawing/2014/main" id="{C5768006-F245-2E4A-8A1C-61488FADF02A}"/>
              </a:ext>
            </a:extLst>
          </p:cNvPr>
          <p:cNvGrpSpPr/>
          <p:nvPr/>
        </p:nvGrpSpPr>
        <p:grpSpPr>
          <a:xfrm>
            <a:off x="2669540" y="3346049"/>
            <a:ext cx="6852920" cy="1393190"/>
            <a:chOff x="1902013" y="3329150"/>
            <a:chExt cx="6852965" cy="1393800"/>
          </a:xfrm>
        </p:grpSpPr>
        <p:sp>
          <p:nvSpPr>
            <p:cNvPr id="17" name="Rectangle 16">
              <a:extLst>
                <a:ext uri="{FF2B5EF4-FFF2-40B4-BE49-F238E27FC236}">
                  <a16:creationId xmlns="" xmlns:a16="http://schemas.microsoft.com/office/drawing/2014/main" id="{C5236BE2-C46E-8F45-9E67-FB27231AAAE1}"/>
                </a:ext>
              </a:extLst>
            </p:cNvPr>
            <p:cNvSpPr/>
            <p:nvPr/>
          </p:nvSpPr>
          <p:spPr>
            <a:xfrm>
              <a:off x="1902013" y="3329150"/>
              <a:ext cx="6852950" cy="1393800"/>
            </a:xfrm>
            <a:prstGeom prst="rect">
              <a:avLst/>
            </a:prstGeom>
            <a:noFill/>
            <a:ln>
              <a:noFill/>
            </a:ln>
          </p:spPr>
          <p:txBody>
            <a:bodyPr spcFirstLastPara="1" wrap="square" lIns="91425" tIns="91425" rIns="91425" bIns="91425" anchor="ctr" anchorCtr="0">
              <a:noAutofit/>
            </a:bodyPr>
            <a:lstStyle/>
            <a:p>
              <a:pPr>
                <a:lnSpc>
                  <a:spcPct val="107000"/>
                </a:lnSpc>
              </a:pPr>
              <a:r>
                <a:rPr lang="en-US" sz="1100">
                  <a:solidFill>
                    <a:srgbClr val="6C993D"/>
                  </a:solidFill>
                  <a:latin typeface="Calibri" panose="020F0502020204030204" pitchFamily="34" charset="0"/>
                  <a:ea typeface="Times New Roman" panose="02020603050405020304" pitchFamily="18" charset="0"/>
                </a:rPr>
                <a:t> </a:t>
              </a:r>
              <a:endParaRPr lang="en-US" sz="1100">
                <a:latin typeface="Calibri" panose="020F0502020204030204" pitchFamily="34" charset="0"/>
                <a:ea typeface="Times New Roman" panose="02020603050405020304" pitchFamily="18" charset="0"/>
              </a:endParaRPr>
            </a:p>
          </p:txBody>
        </p:sp>
        <p:grpSp>
          <p:nvGrpSpPr>
            <p:cNvPr id="18" name="Group 17">
              <a:extLst>
                <a:ext uri="{FF2B5EF4-FFF2-40B4-BE49-F238E27FC236}">
                  <a16:creationId xmlns="" xmlns:a16="http://schemas.microsoft.com/office/drawing/2014/main" id="{0B111319-280C-3B4F-9E91-660761F7A98C}"/>
                </a:ext>
              </a:extLst>
            </p:cNvPr>
            <p:cNvGrpSpPr/>
            <p:nvPr/>
          </p:nvGrpSpPr>
          <p:grpSpPr>
            <a:xfrm>
              <a:off x="1902013" y="3329150"/>
              <a:ext cx="6852965" cy="1393191"/>
              <a:chOff x="-34990" y="0"/>
              <a:chExt cx="6852965" cy="1393191"/>
            </a:xfrm>
          </p:grpSpPr>
          <p:sp>
            <p:nvSpPr>
              <p:cNvPr id="19" name="Rectangle 18">
                <a:extLst>
                  <a:ext uri="{FF2B5EF4-FFF2-40B4-BE49-F238E27FC236}">
                    <a16:creationId xmlns="" xmlns:a16="http://schemas.microsoft.com/office/drawing/2014/main" id="{007BBBC9-B3D2-6243-8CBA-05B23F7C9745}"/>
                  </a:ext>
                </a:extLst>
              </p:cNvPr>
              <p:cNvSpPr/>
              <p:nvPr/>
            </p:nvSpPr>
            <p:spPr>
              <a:xfrm>
                <a:off x="0" y="0"/>
                <a:ext cx="6817975" cy="901700"/>
              </a:xfrm>
              <a:prstGeom prst="rect">
                <a:avLst/>
              </a:prstGeom>
              <a:noFill/>
              <a:ln>
                <a:noFill/>
              </a:ln>
            </p:spPr>
            <p:txBody>
              <a:bodyPr spcFirstLastPara="1" wrap="square" lIns="91425" tIns="91425" rIns="91425" bIns="91425" anchor="ctr" anchorCtr="0">
                <a:noAutofit/>
              </a:bodyPr>
              <a:lstStyle/>
              <a:p>
                <a:pPr>
                  <a:lnSpc>
                    <a:spcPct val="107000"/>
                  </a:lnSpc>
                </a:pPr>
                <a:r>
                  <a:rPr lang="en-US" sz="1100">
                    <a:solidFill>
                      <a:srgbClr val="6C993D"/>
                    </a:solidFill>
                    <a:latin typeface="Calibri" panose="020F0502020204030204" pitchFamily="34" charset="0"/>
                    <a:ea typeface="Times New Roman" panose="02020603050405020304" pitchFamily="18" charset="0"/>
                  </a:rPr>
                  <a:t> </a:t>
                </a:r>
                <a:endParaRPr lang="en-US" sz="1100">
                  <a:latin typeface="Calibri" panose="020F0502020204030204" pitchFamily="34" charset="0"/>
                  <a:ea typeface="Times New Roman" panose="02020603050405020304" pitchFamily="18" charset="0"/>
                </a:endParaRPr>
              </a:p>
            </p:txBody>
          </p:sp>
          <p:sp>
            <p:nvSpPr>
              <p:cNvPr id="20" name="Rounded Rectangle 19">
                <a:extLst>
                  <a:ext uri="{FF2B5EF4-FFF2-40B4-BE49-F238E27FC236}">
                    <a16:creationId xmlns="" xmlns:a16="http://schemas.microsoft.com/office/drawing/2014/main" id="{5E219FE6-364D-0C4F-833E-D90D5DBBBF1A}"/>
                  </a:ext>
                </a:extLst>
              </p:cNvPr>
              <p:cNvSpPr/>
              <p:nvPr/>
            </p:nvSpPr>
            <p:spPr>
              <a:xfrm>
                <a:off x="-34990" y="296335"/>
                <a:ext cx="6629444" cy="1096856"/>
              </a:xfrm>
              <a:prstGeom prst="roundRect">
                <a:avLst>
                  <a:gd name="adj" fmla="val 16667"/>
                </a:avLst>
              </a:prstGeom>
              <a:solidFill>
                <a:srgbClr val="E2EFD5"/>
              </a:solidFill>
              <a:ln w="12700" cap="flat" cmpd="sng">
                <a:solidFill>
                  <a:srgbClr val="E2EFD5"/>
                </a:solidFill>
                <a:prstDash val="solid"/>
                <a:miter lim="800000"/>
                <a:headEnd type="none" w="sm" len="sm"/>
                <a:tailEnd type="none" w="sm" len="sm"/>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685800" indent="3175">
                  <a:lnSpc>
                    <a:spcPct val="107000"/>
                  </a:lnSpc>
                </a:pPr>
                <a:r>
                  <a:rPr lang="en-US" sz="1800" dirty="0">
                    <a:solidFill>
                      <a:srgbClr val="6C993D"/>
                    </a:solidFill>
                    <a:latin typeface="Verdana" panose="020B0604030504040204" pitchFamily="34" charset="0"/>
                    <a:ea typeface="Verdana" panose="020B0604030504040204" pitchFamily="34" charset="0"/>
                    <a:cs typeface="Verdana" panose="020B0604030504040204" pitchFamily="34" charset="0"/>
                  </a:rPr>
                  <a:t>The ___________ is the arithmetic average of a set of numbers. It is a measure of central tendency.</a:t>
                </a:r>
              </a:p>
            </p:txBody>
          </p:sp>
        </p:grpSp>
      </p:grpSp>
      <p:pic>
        <p:nvPicPr>
          <p:cNvPr id="16" name="Picture 15" descr="Icon&#10;&#10;Description automatically generated">
            <a:extLst>
              <a:ext uri="{FF2B5EF4-FFF2-40B4-BE49-F238E27FC236}">
                <a16:creationId xmlns="" xmlns:a16="http://schemas.microsoft.com/office/drawing/2014/main" id="{456EA58A-4E5A-FC42-827F-6CCF3DA26CB7}"/>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bwMode="auto">
          <a:xfrm>
            <a:off x="2810217" y="3814972"/>
            <a:ext cx="548640" cy="548640"/>
          </a:xfrm>
          <a:prstGeom prst="rect">
            <a:avLst/>
          </a:prstGeom>
          <a:noFill/>
          <a:ln>
            <a:noFill/>
          </a:ln>
          <a:effectLst>
            <a:outerShdw blurRad="50800" dist="38100" dir="2700000" algn="tl" rotWithShape="0">
              <a:prstClr val="black">
                <a:alpha val="40000"/>
              </a:prstClr>
            </a:outerShdw>
          </a:effectLst>
        </p:spPr>
      </p:pic>
      <p:grpSp>
        <p:nvGrpSpPr>
          <p:cNvPr id="27" name="Group 26">
            <a:extLst>
              <a:ext uri="{FF2B5EF4-FFF2-40B4-BE49-F238E27FC236}">
                <a16:creationId xmlns="" xmlns:a16="http://schemas.microsoft.com/office/drawing/2014/main" id="{3D290F53-EDB5-9E42-ADA5-7210E5A32302}"/>
              </a:ext>
            </a:extLst>
          </p:cNvPr>
          <p:cNvGrpSpPr/>
          <p:nvPr/>
        </p:nvGrpSpPr>
        <p:grpSpPr>
          <a:xfrm>
            <a:off x="2664176" y="4476643"/>
            <a:ext cx="6845935" cy="1574165"/>
            <a:chOff x="1937003" y="3329150"/>
            <a:chExt cx="6846500" cy="1575100"/>
          </a:xfrm>
          <a:effectLst>
            <a:outerShdw blurRad="50800" dist="38100" dir="2700000" algn="tl" rotWithShape="0">
              <a:prstClr val="black">
                <a:alpha val="40000"/>
              </a:prstClr>
            </a:outerShdw>
          </a:effectLst>
        </p:grpSpPr>
        <p:sp>
          <p:nvSpPr>
            <p:cNvPr id="28" name="Rectangle 27">
              <a:extLst>
                <a:ext uri="{FF2B5EF4-FFF2-40B4-BE49-F238E27FC236}">
                  <a16:creationId xmlns="" xmlns:a16="http://schemas.microsoft.com/office/drawing/2014/main" id="{AC7D8C48-F039-B54C-AD48-939BFEFB7B82}"/>
                </a:ext>
              </a:extLst>
            </p:cNvPr>
            <p:cNvSpPr/>
            <p:nvPr/>
          </p:nvSpPr>
          <p:spPr>
            <a:xfrm>
              <a:off x="1937003" y="3329150"/>
              <a:ext cx="6846500" cy="1575100"/>
            </a:xfrm>
            <a:prstGeom prst="rect">
              <a:avLst/>
            </a:prstGeom>
            <a:noFill/>
            <a:ln>
              <a:noFill/>
            </a:ln>
          </p:spPr>
          <p:txBody>
            <a:bodyPr spcFirstLastPara="1" wrap="square" lIns="91425" tIns="91425" rIns="91425" bIns="91425" anchor="ctr" anchorCtr="0">
              <a:noAutofit/>
            </a:bodyPr>
            <a:lstStyle/>
            <a:p>
              <a:pPr>
                <a:lnSpc>
                  <a:spcPct val="107000"/>
                </a:lnSpc>
              </a:pPr>
              <a:r>
                <a:rPr lang="en-US" sz="1100">
                  <a:solidFill>
                    <a:srgbClr val="6C993D"/>
                  </a:solidFill>
                  <a:latin typeface="Calibri" panose="020F0502020204030204" pitchFamily="34" charset="0"/>
                  <a:ea typeface="Times New Roman" panose="02020603050405020304" pitchFamily="18" charset="0"/>
                </a:rPr>
                <a:t> </a:t>
              </a:r>
              <a:endParaRPr lang="en-US" sz="1100">
                <a:latin typeface="Calibri" panose="020F0502020204030204" pitchFamily="34" charset="0"/>
                <a:ea typeface="Times New Roman" panose="02020603050405020304" pitchFamily="18" charset="0"/>
              </a:endParaRPr>
            </a:p>
          </p:txBody>
        </p:sp>
        <p:grpSp>
          <p:nvGrpSpPr>
            <p:cNvPr id="29" name="Group 28">
              <a:extLst>
                <a:ext uri="{FF2B5EF4-FFF2-40B4-BE49-F238E27FC236}">
                  <a16:creationId xmlns="" xmlns:a16="http://schemas.microsoft.com/office/drawing/2014/main" id="{9E2F5114-C89C-5148-9739-27DE709BEDA9}"/>
                </a:ext>
              </a:extLst>
            </p:cNvPr>
            <p:cNvGrpSpPr/>
            <p:nvPr/>
          </p:nvGrpSpPr>
          <p:grpSpPr>
            <a:xfrm>
              <a:off x="1937003" y="3329150"/>
              <a:ext cx="6817975" cy="1575100"/>
              <a:chOff x="0" y="0"/>
              <a:chExt cx="6817975" cy="1575100"/>
            </a:xfrm>
          </p:grpSpPr>
          <p:sp>
            <p:nvSpPr>
              <p:cNvPr id="30" name="Rectangle 29">
                <a:extLst>
                  <a:ext uri="{FF2B5EF4-FFF2-40B4-BE49-F238E27FC236}">
                    <a16:creationId xmlns="" xmlns:a16="http://schemas.microsoft.com/office/drawing/2014/main" id="{641BD83A-8F73-0A4F-93CA-2751E2924383}"/>
                  </a:ext>
                </a:extLst>
              </p:cNvPr>
              <p:cNvSpPr/>
              <p:nvPr/>
            </p:nvSpPr>
            <p:spPr>
              <a:xfrm>
                <a:off x="0" y="0"/>
                <a:ext cx="6817975" cy="901700"/>
              </a:xfrm>
              <a:prstGeom prst="rect">
                <a:avLst/>
              </a:prstGeom>
              <a:noFill/>
              <a:ln>
                <a:noFill/>
              </a:ln>
            </p:spPr>
            <p:txBody>
              <a:bodyPr spcFirstLastPara="1" wrap="square" lIns="91425" tIns="91425" rIns="91425" bIns="91425" anchor="ctr" anchorCtr="0">
                <a:noAutofit/>
              </a:bodyPr>
              <a:lstStyle/>
              <a:p>
                <a:pPr>
                  <a:lnSpc>
                    <a:spcPct val="107000"/>
                  </a:lnSpc>
                </a:pPr>
                <a:r>
                  <a:rPr lang="en-US" sz="1100">
                    <a:solidFill>
                      <a:srgbClr val="6C993D"/>
                    </a:solidFill>
                    <a:latin typeface="Calibri" panose="020F0502020204030204" pitchFamily="34" charset="0"/>
                    <a:ea typeface="Times New Roman" panose="02020603050405020304" pitchFamily="18" charset="0"/>
                  </a:rPr>
                  <a:t> </a:t>
                </a:r>
                <a:endParaRPr lang="en-US" sz="1100">
                  <a:latin typeface="Calibri" panose="020F0502020204030204" pitchFamily="34" charset="0"/>
                  <a:ea typeface="Times New Roman" panose="02020603050405020304" pitchFamily="18" charset="0"/>
                </a:endParaRPr>
              </a:p>
            </p:txBody>
          </p:sp>
          <p:sp>
            <p:nvSpPr>
              <p:cNvPr id="31" name="Rounded Rectangle 30">
                <a:extLst>
                  <a:ext uri="{FF2B5EF4-FFF2-40B4-BE49-F238E27FC236}">
                    <a16:creationId xmlns="" xmlns:a16="http://schemas.microsoft.com/office/drawing/2014/main" id="{DD5A3A67-EF24-DB4B-973C-539EAF4B96D1}"/>
                  </a:ext>
                </a:extLst>
              </p:cNvPr>
              <p:cNvSpPr/>
              <p:nvPr/>
            </p:nvSpPr>
            <p:spPr>
              <a:xfrm>
                <a:off x="28510" y="491720"/>
                <a:ext cx="6629444" cy="1083380"/>
              </a:xfrm>
              <a:prstGeom prst="roundRect">
                <a:avLst>
                  <a:gd name="adj" fmla="val 16667"/>
                </a:avLst>
              </a:prstGeom>
              <a:solidFill>
                <a:srgbClr val="E2EFD5"/>
              </a:solidFill>
              <a:ln w="12700" cap="flat" cmpd="sng">
                <a:solidFill>
                  <a:srgbClr val="E2EFD5"/>
                </a:solidFill>
                <a:prstDash val="solid"/>
                <a:miter lim="800000"/>
                <a:headEnd type="none" w="sm" len="sm"/>
                <a:tailEnd type="none" w="sm" len="sm"/>
              </a:ln>
            </p:spPr>
            <p:txBody>
              <a:bodyPr spcFirstLastPara="1" wrap="square" lIns="91425" tIns="45700" rIns="91425" bIns="45700" anchor="ctr" anchorCtr="0">
                <a:noAutofit/>
              </a:bodyPr>
              <a:lstStyle/>
              <a:p>
                <a:pPr marL="685800">
                  <a:lnSpc>
                    <a:spcPct val="107000"/>
                  </a:lnSpc>
                  <a:spcAft>
                    <a:spcPts val="800"/>
                  </a:spcAft>
                </a:pPr>
                <a:r>
                  <a:rPr lang="en-US" sz="1800" dirty="0">
                    <a:solidFill>
                      <a:srgbClr val="6C993D"/>
                    </a:solidFill>
                    <a:latin typeface="Verdana" panose="020B0604030504040204" pitchFamily="34" charset="0"/>
                    <a:ea typeface="Verdana" panose="020B0604030504040204" pitchFamily="34" charset="0"/>
                    <a:cs typeface="Verdana" panose="020B0604030504040204" pitchFamily="34" charset="0"/>
                  </a:rPr>
                  <a:t>The ___________ is the difference between the highest data value and the lowest data value in a data set. It is a measure of variation.</a:t>
                </a:r>
                <a:endParaRPr lang="en-US" sz="1100" dirty="0">
                  <a:latin typeface="Calibri" panose="020F0502020204030204" pitchFamily="34" charset="0"/>
                  <a:ea typeface="Times New Roman" panose="02020603050405020304" pitchFamily="18" charset="0"/>
                </a:endParaRPr>
              </a:p>
            </p:txBody>
          </p:sp>
        </p:grpSp>
      </p:grpSp>
      <p:pic>
        <p:nvPicPr>
          <p:cNvPr id="32" name="Picture 31" descr="Icon&#10;&#10;Description automatically generated">
            <a:extLst>
              <a:ext uri="{FF2B5EF4-FFF2-40B4-BE49-F238E27FC236}">
                <a16:creationId xmlns="" xmlns:a16="http://schemas.microsoft.com/office/drawing/2014/main" id="{7F84F7D1-166D-2C4F-9A2E-AD7E7EE333FC}"/>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bwMode="auto">
          <a:xfrm>
            <a:off x="2810217" y="5120703"/>
            <a:ext cx="548640" cy="548640"/>
          </a:xfrm>
          <a:prstGeom prst="rect">
            <a:avLst/>
          </a:prstGeom>
          <a:noFill/>
          <a:ln>
            <a:noFill/>
          </a:ln>
          <a:effectLst>
            <a:outerShdw blurRad="50800" dist="38100" dir="2700000" algn="tl" rotWithShape="0">
              <a:prstClr val="black">
                <a:alpha val="40000"/>
              </a:prstClr>
            </a:outerShdw>
          </a:effectLst>
        </p:spPr>
      </p:pic>
      <p:sp>
        <p:nvSpPr>
          <p:cNvPr id="35" name="Rounded Rectangle 34">
            <a:extLst>
              <a:ext uri="{FF2B5EF4-FFF2-40B4-BE49-F238E27FC236}">
                <a16:creationId xmlns="" xmlns:a16="http://schemas.microsoft.com/office/drawing/2014/main" id="{898F78E0-4584-574D-8151-709227069452}"/>
              </a:ext>
            </a:extLst>
          </p:cNvPr>
          <p:cNvSpPr/>
          <p:nvPr/>
        </p:nvSpPr>
        <p:spPr>
          <a:xfrm>
            <a:off x="3826510" y="2348560"/>
            <a:ext cx="4315460" cy="914400"/>
          </a:xfrm>
          <a:prstGeom prst="roundRect">
            <a:avLst/>
          </a:prstGeom>
          <a:noFill/>
          <a:ln w="12700"/>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aphicFrame>
        <p:nvGraphicFramePr>
          <p:cNvPr id="6" name="Table 5">
            <a:extLst>
              <a:ext uri="{FF2B5EF4-FFF2-40B4-BE49-F238E27FC236}">
                <a16:creationId xmlns="" xmlns:a16="http://schemas.microsoft.com/office/drawing/2014/main" id="{C03B6AE1-F4F2-864C-99D8-86C3143A15AF}"/>
              </a:ext>
            </a:extLst>
          </p:cNvPr>
          <p:cNvGraphicFramePr>
            <a:graphicFrameLocks noGrp="1"/>
          </p:cNvGraphicFramePr>
          <p:nvPr>
            <p:extLst>
              <p:ext uri="{D42A27DB-BD31-4B8C-83A1-F6EECF244321}">
                <p14:modId xmlns:p14="http://schemas.microsoft.com/office/powerpoint/2010/main" val="3866868337"/>
              </p:ext>
            </p:extLst>
          </p:nvPr>
        </p:nvGraphicFramePr>
        <p:xfrm>
          <a:off x="3826510" y="2445399"/>
          <a:ext cx="4315460" cy="691189"/>
        </p:xfrm>
        <a:graphic>
          <a:graphicData uri="http://schemas.openxmlformats.org/drawingml/2006/table">
            <a:tbl>
              <a:tblPr firstRow="1" firstCol="1">
                <a:tableStyleId>{A91F0D33-8C57-4600-99A7-42BC86742BE1}</a:tableStyleId>
              </a:tblPr>
              <a:tblGrid>
                <a:gridCol w="2233186">
                  <a:extLst>
                    <a:ext uri="{9D8B030D-6E8A-4147-A177-3AD203B41FA5}">
                      <a16:colId xmlns="" xmlns:a16="http://schemas.microsoft.com/office/drawing/2014/main" val="2613936786"/>
                    </a:ext>
                  </a:extLst>
                </a:gridCol>
                <a:gridCol w="2082274">
                  <a:extLst>
                    <a:ext uri="{9D8B030D-6E8A-4147-A177-3AD203B41FA5}">
                      <a16:colId xmlns="" xmlns:a16="http://schemas.microsoft.com/office/drawing/2014/main" val="890315374"/>
                    </a:ext>
                  </a:extLst>
                </a:gridCol>
              </a:tblGrid>
              <a:tr h="393945">
                <a:tc>
                  <a:txBody>
                    <a:bodyPr/>
                    <a:lstStyle/>
                    <a:p>
                      <a:pPr marL="0" marR="0" algn="ctr">
                        <a:lnSpc>
                          <a:spcPct val="107000"/>
                        </a:lnSpc>
                        <a:spcBef>
                          <a:spcPts val="0"/>
                        </a:spcBef>
                        <a:spcAft>
                          <a:spcPts val="0"/>
                        </a:spcAft>
                      </a:pPr>
                      <a:r>
                        <a:rPr lang="en-US" sz="2000" dirty="0">
                          <a:effectLst/>
                          <a:latin typeface="Verdana" pitchFamily="34" charset="0"/>
                          <a:ea typeface="Verdana" pitchFamily="34" charset="0"/>
                        </a:rPr>
                        <a:t>median</a:t>
                      </a: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000" dirty="0">
                          <a:effectLst/>
                          <a:latin typeface="Verdana" pitchFamily="34" charset="0"/>
                          <a:ea typeface="Verdana" pitchFamily="34" charset="0"/>
                        </a:rPr>
                        <a:t>mode</a:t>
                      </a: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 xmlns:a16="http://schemas.microsoft.com/office/drawing/2014/main" val="2356706491"/>
                  </a:ext>
                </a:extLst>
              </a:tr>
              <a:tr h="277418">
                <a:tc>
                  <a:txBody>
                    <a:bodyPr/>
                    <a:lstStyle/>
                    <a:p>
                      <a:pPr marL="0" marR="0" algn="ctr">
                        <a:lnSpc>
                          <a:spcPct val="107000"/>
                        </a:lnSpc>
                        <a:spcBef>
                          <a:spcPts val="0"/>
                        </a:spcBef>
                        <a:spcAft>
                          <a:spcPts val="0"/>
                        </a:spcAft>
                      </a:pPr>
                      <a:r>
                        <a:rPr lang="en-US" sz="2000" dirty="0">
                          <a:effectLst/>
                          <a:latin typeface="Verdana" pitchFamily="34" charset="0"/>
                          <a:ea typeface="Verdana" pitchFamily="34" charset="0"/>
                        </a:rPr>
                        <a:t>mean</a:t>
                      </a: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000" dirty="0">
                          <a:effectLst/>
                          <a:latin typeface="Verdana" pitchFamily="34" charset="0"/>
                          <a:ea typeface="Verdana" pitchFamily="34" charset="0"/>
                        </a:rPr>
                        <a:t>range</a:t>
                      </a: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 xmlns:a16="http://schemas.microsoft.com/office/drawing/2014/main" val="1643569236"/>
                  </a:ext>
                </a:extLst>
              </a:tr>
            </a:tbl>
          </a:graphicData>
        </a:graphic>
      </p:graphicFrame>
      <p:pic>
        <p:nvPicPr>
          <p:cNvPr id="22" name="Google Shape;311;g104476d1465_1_39"/>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23" name="Google Shape;282;g104476d1465_1_17">
            <a:extLst>
              <a:ext uri="{FF2B5EF4-FFF2-40B4-BE49-F238E27FC236}">
                <a16:creationId xmlns="" xmlns:a16="http://schemas.microsoft.com/office/drawing/2014/main" id="{2C9405F7-8214-CE45-80C3-9FBF7002FBD5}"/>
              </a:ext>
            </a:extLst>
          </p:cNvPr>
          <p:cNvSpPr txBox="1"/>
          <p:nvPr/>
        </p:nvSpPr>
        <p:spPr>
          <a:xfrm>
            <a:off x="8994150" y="6537462"/>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161</a:t>
            </a:r>
            <a:endParaRPr i="1" dirty="0">
              <a:latin typeface="Calibri"/>
              <a:ea typeface="Calibri"/>
              <a:cs typeface="Calibri"/>
              <a:sym typeface="Calibri"/>
            </a:endParaRPr>
          </a:p>
        </p:txBody>
      </p:sp>
    </p:spTree>
    <p:extLst>
      <p:ext uri="{BB962C8B-B14F-4D97-AF65-F5344CB8AC3E}">
        <p14:creationId xmlns:p14="http://schemas.microsoft.com/office/powerpoint/2010/main" val="28135925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6" name="Rectangle 15">
            <a:extLst>
              <a:ext uri="{FF2B5EF4-FFF2-40B4-BE49-F238E27FC236}">
                <a16:creationId xmlns="" xmlns:a16="http://schemas.microsoft.com/office/drawing/2014/main" id="{C682F6DF-F80B-2B4C-8C88-2AE55D259B41}"/>
              </a:ext>
            </a:extLst>
          </p:cNvPr>
          <p:cNvSpPr/>
          <p:nvPr/>
        </p:nvSpPr>
        <p:spPr>
          <a:xfrm>
            <a:off x="2675891" y="1666459"/>
            <a:ext cx="6845935" cy="1917695"/>
          </a:xfrm>
          <a:prstGeom prst="rect">
            <a:avLst/>
          </a:prstGeom>
          <a:noFill/>
          <a:ln>
            <a:noFill/>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pPr>
              <a:lnSpc>
                <a:spcPct val="107000"/>
              </a:lnSpc>
            </a:pPr>
            <a:r>
              <a:rPr lang="en-US" sz="1100">
                <a:solidFill>
                  <a:srgbClr val="6C993D"/>
                </a:solidFill>
                <a:latin typeface="Calibri" panose="020F0502020204030204" pitchFamily="34" charset="0"/>
                <a:ea typeface="Times New Roman" panose="02020603050405020304" pitchFamily="18" charset="0"/>
              </a:rPr>
              <a:t> </a:t>
            </a:r>
            <a:endParaRPr lang="en-US" sz="1100">
              <a:latin typeface="Calibri" panose="020F0502020204030204" pitchFamily="34" charset="0"/>
              <a:ea typeface="Times New Roman" panose="02020603050405020304" pitchFamily="18" charset="0"/>
            </a:endParaRPr>
          </a:p>
        </p:txBody>
      </p:sp>
      <p:grpSp>
        <p:nvGrpSpPr>
          <p:cNvPr id="17" name="Group 16">
            <a:extLst>
              <a:ext uri="{FF2B5EF4-FFF2-40B4-BE49-F238E27FC236}">
                <a16:creationId xmlns="" xmlns:a16="http://schemas.microsoft.com/office/drawing/2014/main" id="{922B1BF7-8A02-F74C-8C42-35ED40A3123E}"/>
              </a:ext>
            </a:extLst>
          </p:cNvPr>
          <p:cNvGrpSpPr/>
          <p:nvPr/>
        </p:nvGrpSpPr>
        <p:grpSpPr>
          <a:xfrm>
            <a:off x="2675890" y="1666458"/>
            <a:ext cx="6817412" cy="1917700"/>
            <a:chOff x="0" y="0"/>
            <a:chExt cx="6817975" cy="1918555"/>
          </a:xfrm>
          <a:effectLst>
            <a:outerShdw blurRad="50800" dist="38100" dir="2700000" algn="tl" rotWithShape="0">
              <a:prstClr val="black">
                <a:alpha val="40000"/>
              </a:prstClr>
            </a:outerShdw>
          </a:effectLst>
        </p:grpSpPr>
        <p:sp>
          <p:nvSpPr>
            <p:cNvPr id="18" name="Rectangle 17">
              <a:extLst>
                <a:ext uri="{FF2B5EF4-FFF2-40B4-BE49-F238E27FC236}">
                  <a16:creationId xmlns="" xmlns:a16="http://schemas.microsoft.com/office/drawing/2014/main" id="{E36D669F-7605-0A4E-9400-87BA79A1FB79}"/>
                </a:ext>
              </a:extLst>
            </p:cNvPr>
            <p:cNvSpPr/>
            <p:nvPr/>
          </p:nvSpPr>
          <p:spPr>
            <a:xfrm>
              <a:off x="0" y="0"/>
              <a:ext cx="6817975" cy="901700"/>
            </a:xfrm>
            <a:prstGeom prst="rect">
              <a:avLst/>
            </a:prstGeom>
            <a:noFill/>
            <a:ln>
              <a:noFill/>
            </a:ln>
          </p:spPr>
          <p:txBody>
            <a:bodyPr spcFirstLastPara="1" wrap="square" lIns="91425" tIns="91425" rIns="91425" bIns="91425" anchor="ctr" anchorCtr="0">
              <a:noAutofit/>
            </a:bodyPr>
            <a:lstStyle/>
            <a:p>
              <a:pPr>
                <a:lnSpc>
                  <a:spcPct val="107000"/>
                </a:lnSpc>
              </a:pPr>
              <a:r>
                <a:rPr lang="en-US" sz="1100">
                  <a:solidFill>
                    <a:srgbClr val="6C993D"/>
                  </a:solidFill>
                  <a:latin typeface="Calibri" panose="020F0502020204030204" pitchFamily="34" charset="0"/>
                  <a:ea typeface="Times New Roman" panose="02020603050405020304" pitchFamily="18" charset="0"/>
                </a:rPr>
                <a:t> </a:t>
              </a:r>
              <a:endParaRPr lang="en-US" sz="1100">
                <a:latin typeface="Calibri" panose="020F0502020204030204" pitchFamily="34" charset="0"/>
                <a:ea typeface="Times New Roman" panose="02020603050405020304" pitchFamily="18" charset="0"/>
              </a:endParaRPr>
            </a:p>
          </p:txBody>
        </p:sp>
        <p:sp>
          <p:nvSpPr>
            <p:cNvPr id="19" name="Rounded Rectangle 18">
              <a:extLst>
                <a:ext uri="{FF2B5EF4-FFF2-40B4-BE49-F238E27FC236}">
                  <a16:creationId xmlns="" xmlns:a16="http://schemas.microsoft.com/office/drawing/2014/main" id="{B0853568-91BB-D74D-9651-D83665623F77}"/>
                </a:ext>
              </a:extLst>
            </p:cNvPr>
            <p:cNvSpPr/>
            <p:nvPr/>
          </p:nvSpPr>
          <p:spPr>
            <a:xfrm>
              <a:off x="28506" y="491647"/>
              <a:ext cx="6629444" cy="1426908"/>
            </a:xfrm>
            <a:prstGeom prst="roundRect">
              <a:avLst>
                <a:gd name="adj" fmla="val 16667"/>
              </a:avLst>
            </a:prstGeom>
            <a:solidFill>
              <a:srgbClr val="E2EFD5"/>
            </a:solidFill>
            <a:ln w="12700" cap="flat" cmpd="sng">
              <a:solidFill>
                <a:srgbClr val="E2EFD5"/>
              </a:solidFill>
              <a:prstDash val="solid"/>
              <a:miter lim="800000"/>
              <a:headEnd type="none" w="sm" len="sm"/>
              <a:tailEnd type="none" w="sm" len="sm"/>
            </a:ln>
          </p:spPr>
          <p:txBody>
            <a:bodyPr spcFirstLastPara="1" wrap="square" lIns="91425" tIns="45700" rIns="91425" bIns="45700" anchor="ctr" anchorCtr="0">
              <a:noAutofit/>
            </a:bodyPr>
            <a:lstStyle/>
            <a:p>
              <a:pPr marL="685800">
                <a:lnSpc>
                  <a:spcPct val="107000"/>
                </a:lnSpc>
                <a:spcAft>
                  <a:spcPts val="800"/>
                </a:spcAft>
              </a:pPr>
              <a:r>
                <a:rPr lang="en-US" sz="1800" dirty="0">
                  <a:solidFill>
                    <a:srgbClr val="6C993D"/>
                  </a:solidFill>
                  <a:latin typeface="Verdana" panose="020B0604030504040204" pitchFamily="34" charset="0"/>
                  <a:ea typeface="Verdana" panose="020B0604030504040204" pitchFamily="34" charset="0"/>
                  <a:cs typeface="Verdana" panose="020B0604030504040204" pitchFamily="34" charset="0"/>
                </a:rPr>
                <a:t>The ___________ is the value found most often in a set of numbers. There may be no, one, or more than one __________ in the data set. It is a measure of central tendency.</a:t>
              </a:r>
              <a:r>
                <a:rPr lang="en-US" sz="1100" dirty="0">
                  <a:solidFill>
                    <a:srgbClr val="6C993D"/>
                  </a:solidFill>
                  <a:latin typeface="Calibri" panose="020F0502020204030204" pitchFamily="34" charset="0"/>
                  <a:ea typeface="Times New Roman" panose="02020603050405020304" pitchFamily="18" charset="0"/>
                </a:rPr>
                <a:t> </a:t>
              </a:r>
              <a:endParaRPr lang="en-US" sz="1100" dirty="0">
                <a:latin typeface="Calibri" panose="020F0502020204030204" pitchFamily="34" charset="0"/>
                <a:ea typeface="Times New Roman" panose="02020603050405020304" pitchFamily="18" charset="0"/>
              </a:endParaRPr>
            </a:p>
          </p:txBody>
        </p:sp>
      </p:grpSp>
      <p:grpSp>
        <p:nvGrpSpPr>
          <p:cNvPr id="8" name="Group 7">
            <a:extLst>
              <a:ext uri="{FF2B5EF4-FFF2-40B4-BE49-F238E27FC236}">
                <a16:creationId xmlns="" xmlns:a16="http://schemas.microsoft.com/office/drawing/2014/main" id="{3628474E-FADB-5F40-A20B-E60172E06E8C}"/>
              </a:ext>
            </a:extLst>
          </p:cNvPr>
          <p:cNvGrpSpPr/>
          <p:nvPr/>
        </p:nvGrpSpPr>
        <p:grpSpPr>
          <a:xfrm>
            <a:off x="2670175" y="3812123"/>
            <a:ext cx="6845300" cy="2082800"/>
            <a:chOff x="1937003" y="3214799"/>
            <a:chExt cx="6846475" cy="2083729"/>
          </a:xfrm>
          <a:effectLst>
            <a:outerShdw blurRad="50800" dist="38100" dir="2700000" algn="tl" rotWithShape="0">
              <a:prstClr val="black">
                <a:alpha val="40000"/>
              </a:prstClr>
            </a:outerShdw>
          </a:effectLst>
        </p:grpSpPr>
        <p:sp>
          <p:nvSpPr>
            <p:cNvPr id="10" name="Rectangle 9">
              <a:extLst>
                <a:ext uri="{FF2B5EF4-FFF2-40B4-BE49-F238E27FC236}">
                  <a16:creationId xmlns="" xmlns:a16="http://schemas.microsoft.com/office/drawing/2014/main" id="{C5A4646C-B001-5445-8099-7A72A14622D2}"/>
                </a:ext>
              </a:extLst>
            </p:cNvPr>
            <p:cNvSpPr/>
            <p:nvPr/>
          </p:nvSpPr>
          <p:spPr>
            <a:xfrm>
              <a:off x="1937003" y="3214799"/>
              <a:ext cx="6846475" cy="2032900"/>
            </a:xfrm>
            <a:prstGeom prst="rect">
              <a:avLst/>
            </a:prstGeom>
            <a:noFill/>
            <a:ln>
              <a:noFill/>
            </a:ln>
          </p:spPr>
          <p:txBody>
            <a:bodyPr spcFirstLastPara="1" wrap="square" lIns="91425" tIns="91425" rIns="91425" bIns="91425" anchor="ctr" anchorCtr="0">
              <a:noAutofit/>
            </a:bodyPr>
            <a:lstStyle/>
            <a:p>
              <a:pPr>
                <a:lnSpc>
                  <a:spcPct val="107000"/>
                </a:lnSpc>
              </a:pPr>
              <a:r>
                <a:rPr lang="en-US" sz="1100">
                  <a:solidFill>
                    <a:srgbClr val="6C993D"/>
                  </a:solidFill>
                  <a:latin typeface="Calibri" panose="020F0502020204030204" pitchFamily="34" charset="0"/>
                  <a:ea typeface="Times New Roman" panose="02020603050405020304" pitchFamily="18" charset="0"/>
                </a:rPr>
                <a:t> </a:t>
              </a:r>
              <a:endParaRPr lang="en-US" sz="1100">
                <a:latin typeface="Calibri" panose="020F0502020204030204" pitchFamily="34" charset="0"/>
                <a:ea typeface="Times New Roman" panose="02020603050405020304" pitchFamily="18" charset="0"/>
              </a:endParaRPr>
            </a:p>
          </p:txBody>
        </p:sp>
        <p:grpSp>
          <p:nvGrpSpPr>
            <p:cNvPr id="11" name="Group 10">
              <a:extLst>
                <a:ext uri="{FF2B5EF4-FFF2-40B4-BE49-F238E27FC236}">
                  <a16:creationId xmlns="" xmlns:a16="http://schemas.microsoft.com/office/drawing/2014/main" id="{FF7576F8-A611-9E48-BB4E-651D87A6F428}"/>
                </a:ext>
              </a:extLst>
            </p:cNvPr>
            <p:cNvGrpSpPr/>
            <p:nvPr/>
          </p:nvGrpSpPr>
          <p:grpSpPr>
            <a:xfrm>
              <a:off x="1937003" y="3214799"/>
              <a:ext cx="6817975" cy="2083729"/>
              <a:chOff x="0" y="-114351"/>
              <a:chExt cx="6817975" cy="2083729"/>
            </a:xfrm>
          </p:grpSpPr>
          <p:sp>
            <p:nvSpPr>
              <p:cNvPr id="13" name="Rectangle 12">
                <a:extLst>
                  <a:ext uri="{FF2B5EF4-FFF2-40B4-BE49-F238E27FC236}">
                    <a16:creationId xmlns="" xmlns:a16="http://schemas.microsoft.com/office/drawing/2014/main" id="{CE6FB6E7-EF89-A840-8FAB-D432ED4DD4FA}"/>
                  </a:ext>
                </a:extLst>
              </p:cNvPr>
              <p:cNvSpPr/>
              <p:nvPr/>
            </p:nvSpPr>
            <p:spPr>
              <a:xfrm>
                <a:off x="0" y="0"/>
                <a:ext cx="6817975" cy="901700"/>
              </a:xfrm>
              <a:prstGeom prst="rect">
                <a:avLst/>
              </a:prstGeom>
              <a:noFill/>
              <a:ln>
                <a:noFill/>
              </a:ln>
            </p:spPr>
            <p:txBody>
              <a:bodyPr spcFirstLastPara="1" wrap="square" lIns="91425" tIns="91425" rIns="91425" bIns="91425" anchor="ctr" anchorCtr="0">
                <a:noAutofit/>
              </a:bodyPr>
              <a:lstStyle/>
              <a:p>
                <a:pPr>
                  <a:lnSpc>
                    <a:spcPct val="107000"/>
                  </a:lnSpc>
                </a:pPr>
                <a:r>
                  <a:rPr lang="en-US" sz="1100">
                    <a:solidFill>
                      <a:srgbClr val="6C993D"/>
                    </a:solidFill>
                    <a:latin typeface="Calibri" panose="020F0502020204030204" pitchFamily="34" charset="0"/>
                    <a:ea typeface="Times New Roman" panose="02020603050405020304" pitchFamily="18" charset="0"/>
                  </a:rPr>
                  <a:t> </a:t>
                </a:r>
                <a:endParaRPr lang="en-US" sz="1100">
                  <a:latin typeface="Calibri" panose="020F0502020204030204" pitchFamily="34" charset="0"/>
                  <a:ea typeface="Times New Roman" panose="02020603050405020304" pitchFamily="18" charset="0"/>
                </a:endParaRPr>
              </a:p>
            </p:txBody>
          </p:sp>
          <p:sp>
            <p:nvSpPr>
              <p:cNvPr id="15" name="Rounded Rectangle 14">
                <a:extLst>
                  <a:ext uri="{FF2B5EF4-FFF2-40B4-BE49-F238E27FC236}">
                    <a16:creationId xmlns="" xmlns:a16="http://schemas.microsoft.com/office/drawing/2014/main" id="{043093FD-372B-3146-9520-3E3294D02BC3}"/>
                  </a:ext>
                </a:extLst>
              </p:cNvPr>
              <p:cNvSpPr/>
              <p:nvPr/>
            </p:nvSpPr>
            <p:spPr>
              <a:xfrm>
                <a:off x="28504" y="-114351"/>
                <a:ext cx="6630538" cy="2083729"/>
              </a:xfrm>
              <a:prstGeom prst="roundRect">
                <a:avLst>
                  <a:gd name="adj" fmla="val 16667"/>
                </a:avLst>
              </a:prstGeom>
              <a:solidFill>
                <a:srgbClr val="E2EFD5"/>
              </a:solidFill>
              <a:ln w="12700" cap="flat" cmpd="sng">
                <a:solidFill>
                  <a:srgbClr val="E2EFD5"/>
                </a:solidFill>
                <a:prstDash val="solid"/>
                <a:miter lim="800000"/>
                <a:headEnd type="none" w="sm" len="sm"/>
                <a:tailEnd type="none" w="sm" len="sm"/>
              </a:ln>
            </p:spPr>
            <p:txBody>
              <a:bodyPr spcFirstLastPara="1" wrap="square" lIns="91425" tIns="45700" rIns="91425" bIns="45700" anchor="ctr" anchorCtr="0">
                <a:noAutofit/>
              </a:bodyPr>
              <a:lstStyle/>
              <a:p>
                <a:pPr marL="628650">
                  <a:lnSpc>
                    <a:spcPct val="107000"/>
                  </a:lnSpc>
                  <a:spcAft>
                    <a:spcPts val="800"/>
                  </a:spcAft>
                </a:pPr>
                <a:r>
                  <a:rPr lang="en-US" sz="1800" dirty="0">
                    <a:solidFill>
                      <a:srgbClr val="6C993D"/>
                    </a:solidFill>
                    <a:latin typeface="Verdana" panose="020B0604030504040204" pitchFamily="34" charset="0"/>
                    <a:ea typeface="Verdana" panose="020B0604030504040204" pitchFamily="34" charset="0"/>
                    <a:cs typeface="Verdana" panose="020B0604030504040204" pitchFamily="34" charset="0"/>
                  </a:rPr>
                  <a:t>The ___________ is the middle of an ordered list of the values. If the list has an odd number of values, it is the middle value of that list. If the list has an even number of values, it is the average of the two middle values. It is a measure of central tendency.</a:t>
                </a:r>
                <a:r>
                  <a:rPr lang="en-US" sz="1100" dirty="0">
                    <a:solidFill>
                      <a:srgbClr val="6C993D"/>
                    </a:solidFill>
                    <a:latin typeface="Calibri" panose="020F0502020204030204" pitchFamily="34" charset="0"/>
                    <a:ea typeface="Times New Roman" panose="02020603050405020304" pitchFamily="18" charset="0"/>
                  </a:rPr>
                  <a:t> </a:t>
                </a:r>
                <a:endParaRPr lang="en-US" sz="1100" dirty="0">
                  <a:latin typeface="Calibri" panose="020F0502020204030204" pitchFamily="34" charset="0"/>
                  <a:ea typeface="Times New Roman" panose="02020603050405020304" pitchFamily="18" charset="0"/>
                </a:endParaRPr>
              </a:p>
            </p:txBody>
          </p:sp>
        </p:grpSp>
      </p:grpSp>
      <p:pic>
        <p:nvPicPr>
          <p:cNvPr id="9" name="Picture 8" descr="Icon&#10;&#10;Description automatically generated">
            <a:extLst>
              <a:ext uri="{FF2B5EF4-FFF2-40B4-BE49-F238E27FC236}">
                <a16:creationId xmlns="" xmlns:a16="http://schemas.microsoft.com/office/drawing/2014/main" id="{BDFEC553-07C2-4342-84B1-6E372611D907}"/>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bwMode="auto">
          <a:xfrm>
            <a:off x="2869468" y="3987969"/>
            <a:ext cx="548640" cy="548640"/>
          </a:xfrm>
          <a:prstGeom prst="rect">
            <a:avLst/>
          </a:prstGeom>
          <a:noFill/>
          <a:ln>
            <a:noFill/>
          </a:ln>
          <a:effectLst>
            <a:outerShdw blurRad="50800" dist="38100" dir="2700000" algn="tl" rotWithShape="0">
              <a:prstClr val="black">
                <a:alpha val="40000"/>
              </a:prstClr>
            </a:outerShdw>
          </a:effectLst>
        </p:spPr>
      </p:pic>
      <p:pic>
        <p:nvPicPr>
          <p:cNvPr id="20" name="Picture 19" descr="Icon&#10;&#10;Description automatically generated">
            <a:extLst>
              <a:ext uri="{FF2B5EF4-FFF2-40B4-BE49-F238E27FC236}">
                <a16:creationId xmlns="" xmlns:a16="http://schemas.microsoft.com/office/drawing/2014/main" id="{0D593F3D-213C-4A41-8C7C-E70DAB1A44E6}"/>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bwMode="auto">
          <a:xfrm>
            <a:off x="2869468" y="2361387"/>
            <a:ext cx="548640" cy="548640"/>
          </a:xfrm>
          <a:prstGeom prst="rect">
            <a:avLst/>
          </a:prstGeom>
          <a:noFill/>
          <a:ln>
            <a:noFill/>
          </a:ln>
          <a:effectLst>
            <a:outerShdw blurRad="50800" dist="38100" dir="2700000" algn="tl" rotWithShape="0">
              <a:prstClr val="black">
                <a:alpha val="40000"/>
              </a:prstClr>
            </a:outerShdw>
          </a:effectLst>
        </p:spPr>
      </p:pic>
      <p:sp>
        <p:nvSpPr>
          <p:cNvPr id="23" name="Rounded Rectangle 22">
            <a:extLst>
              <a:ext uri="{FF2B5EF4-FFF2-40B4-BE49-F238E27FC236}">
                <a16:creationId xmlns="" xmlns:a16="http://schemas.microsoft.com/office/drawing/2014/main" id="{C1CF6C91-D091-DC46-A279-A1EFE7C7B5F6}"/>
              </a:ext>
            </a:extLst>
          </p:cNvPr>
          <p:cNvSpPr/>
          <p:nvPr/>
        </p:nvSpPr>
        <p:spPr>
          <a:xfrm>
            <a:off x="3713958" y="716885"/>
            <a:ext cx="4315460" cy="914400"/>
          </a:xfrm>
          <a:prstGeom prst="roundRect">
            <a:avLst/>
          </a:prstGeom>
          <a:noFill/>
          <a:ln w="12700"/>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aphicFrame>
        <p:nvGraphicFramePr>
          <p:cNvPr id="24" name="Table 23">
            <a:extLst>
              <a:ext uri="{FF2B5EF4-FFF2-40B4-BE49-F238E27FC236}">
                <a16:creationId xmlns="" xmlns:a16="http://schemas.microsoft.com/office/drawing/2014/main" id="{E8443DB9-9D21-A348-93C4-21C8678356BD}"/>
              </a:ext>
            </a:extLst>
          </p:cNvPr>
          <p:cNvGraphicFramePr>
            <a:graphicFrameLocks noGrp="1"/>
          </p:cNvGraphicFramePr>
          <p:nvPr>
            <p:extLst>
              <p:ext uri="{D42A27DB-BD31-4B8C-83A1-F6EECF244321}">
                <p14:modId xmlns:p14="http://schemas.microsoft.com/office/powerpoint/2010/main" val="1963175807"/>
              </p:ext>
            </p:extLst>
          </p:nvPr>
        </p:nvGraphicFramePr>
        <p:xfrm>
          <a:off x="3713958" y="813724"/>
          <a:ext cx="4315460" cy="691189"/>
        </p:xfrm>
        <a:graphic>
          <a:graphicData uri="http://schemas.openxmlformats.org/drawingml/2006/table">
            <a:tbl>
              <a:tblPr firstRow="1" firstCol="1">
                <a:tableStyleId>{A91F0D33-8C57-4600-99A7-42BC86742BE1}</a:tableStyleId>
              </a:tblPr>
              <a:tblGrid>
                <a:gridCol w="2233186">
                  <a:extLst>
                    <a:ext uri="{9D8B030D-6E8A-4147-A177-3AD203B41FA5}">
                      <a16:colId xmlns="" xmlns:a16="http://schemas.microsoft.com/office/drawing/2014/main" val="2613936786"/>
                    </a:ext>
                  </a:extLst>
                </a:gridCol>
                <a:gridCol w="2082274">
                  <a:extLst>
                    <a:ext uri="{9D8B030D-6E8A-4147-A177-3AD203B41FA5}">
                      <a16:colId xmlns="" xmlns:a16="http://schemas.microsoft.com/office/drawing/2014/main" val="890315374"/>
                    </a:ext>
                  </a:extLst>
                </a:gridCol>
              </a:tblGrid>
              <a:tr h="393945">
                <a:tc>
                  <a:txBody>
                    <a:bodyPr/>
                    <a:lstStyle/>
                    <a:p>
                      <a:pPr marL="0" marR="0" algn="ctr">
                        <a:lnSpc>
                          <a:spcPct val="107000"/>
                        </a:lnSpc>
                        <a:spcBef>
                          <a:spcPts val="0"/>
                        </a:spcBef>
                        <a:spcAft>
                          <a:spcPts val="0"/>
                        </a:spcAft>
                      </a:pPr>
                      <a:r>
                        <a:rPr lang="en-US" sz="2000" dirty="0">
                          <a:effectLst/>
                          <a:latin typeface="Verdana" pitchFamily="34" charset="0"/>
                          <a:ea typeface="Verdana" pitchFamily="34" charset="0"/>
                        </a:rPr>
                        <a:t>median</a:t>
                      </a: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000" dirty="0">
                          <a:effectLst/>
                          <a:latin typeface="Verdana" pitchFamily="34" charset="0"/>
                          <a:ea typeface="Verdana" pitchFamily="34" charset="0"/>
                        </a:rPr>
                        <a:t>mode</a:t>
                      </a: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 xmlns:a16="http://schemas.microsoft.com/office/drawing/2014/main" val="2356706491"/>
                  </a:ext>
                </a:extLst>
              </a:tr>
              <a:tr h="277418">
                <a:tc>
                  <a:txBody>
                    <a:bodyPr/>
                    <a:lstStyle/>
                    <a:p>
                      <a:pPr marL="0" marR="0" algn="ctr">
                        <a:lnSpc>
                          <a:spcPct val="107000"/>
                        </a:lnSpc>
                        <a:spcBef>
                          <a:spcPts val="0"/>
                        </a:spcBef>
                        <a:spcAft>
                          <a:spcPts val="0"/>
                        </a:spcAft>
                      </a:pPr>
                      <a:r>
                        <a:rPr lang="en-US" sz="2000" dirty="0">
                          <a:effectLst/>
                          <a:latin typeface="Verdana" pitchFamily="34" charset="0"/>
                          <a:ea typeface="Verdana" pitchFamily="34" charset="0"/>
                        </a:rPr>
                        <a:t>mean</a:t>
                      </a: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000" dirty="0">
                          <a:effectLst/>
                          <a:latin typeface="Verdana" pitchFamily="34" charset="0"/>
                          <a:ea typeface="Verdana" pitchFamily="34" charset="0"/>
                        </a:rPr>
                        <a:t>range</a:t>
                      </a: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 xmlns:a16="http://schemas.microsoft.com/office/drawing/2014/main" val="1643569236"/>
                  </a:ext>
                </a:extLst>
              </a:tr>
            </a:tbl>
          </a:graphicData>
        </a:graphic>
      </p:graphicFrame>
      <p:pic>
        <p:nvPicPr>
          <p:cNvPr id="21" name="Google Shape;311;g104476d1465_1_39"/>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25" name="Google Shape;282;g104476d1465_1_17">
            <a:extLst>
              <a:ext uri="{FF2B5EF4-FFF2-40B4-BE49-F238E27FC236}">
                <a16:creationId xmlns="" xmlns:a16="http://schemas.microsoft.com/office/drawing/2014/main" id="{2C9405F7-8214-CE45-80C3-9FBF7002FBD5}"/>
              </a:ext>
            </a:extLst>
          </p:cNvPr>
          <p:cNvSpPr txBox="1"/>
          <p:nvPr/>
        </p:nvSpPr>
        <p:spPr>
          <a:xfrm>
            <a:off x="8994150" y="6537462"/>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161</a:t>
            </a:r>
            <a:endParaRPr i="1" dirty="0">
              <a:latin typeface="Calibri"/>
              <a:ea typeface="Calibri"/>
              <a:cs typeface="Calibri"/>
              <a:sym typeface="Calibri"/>
            </a:endParaRPr>
          </a:p>
        </p:txBody>
      </p:sp>
    </p:spTree>
    <p:extLst>
      <p:ext uri="{BB962C8B-B14F-4D97-AF65-F5344CB8AC3E}">
        <p14:creationId xmlns:p14="http://schemas.microsoft.com/office/powerpoint/2010/main" val="13349204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 xmlns:a16="http://schemas.microsoft.com/office/drawing/2014/main" id="{2FA392D8-3ED3-7940-83A8-1451AA8A08D4}"/>
              </a:ext>
            </a:extLst>
          </p:cNvPr>
          <p:cNvSpPr txBox="1"/>
          <p:nvPr/>
        </p:nvSpPr>
        <p:spPr>
          <a:xfrm>
            <a:off x="538346" y="389086"/>
            <a:ext cx="11229654" cy="4524315"/>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The number of pets ten students in Tyler’s class have is reflected in the table.</a:t>
            </a: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466725"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Describe steps to find the median.</a:t>
            </a:r>
          </a:p>
          <a:p>
            <a:pPr marL="466725"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66725"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66725"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66725"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The median number of pets for the ten students is _________.  </a:t>
            </a:r>
          </a:p>
          <a:p>
            <a:pPr marL="228600" indent="-2286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p:graphicFrame>
        <p:nvGraphicFramePr>
          <p:cNvPr id="4" name="Table 3">
            <a:extLst>
              <a:ext uri="{FF2B5EF4-FFF2-40B4-BE49-F238E27FC236}">
                <a16:creationId xmlns="" xmlns:a16="http://schemas.microsoft.com/office/drawing/2014/main" id="{9E3CA379-DBA3-4946-9699-174E26930925}"/>
              </a:ext>
            </a:extLst>
          </p:cNvPr>
          <p:cNvGraphicFramePr>
            <a:graphicFrameLocks noGrp="1"/>
          </p:cNvGraphicFramePr>
          <p:nvPr>
            <p:extLst>
              <p:ext uri="{D42A27DB-BD31-4B8C-83A1-F6EECF244321}">
                <p14:modId xmlns:p14="http://schemas.microsoft.com/office/powerpoint/2010/main" val="3318761007"/>
              </p:ext>
            </p:extLst>
          </p:nvPr>
        </p:nvGraphicFramePr>
        <p:xfrm>
          <a:off x="2867025" y="1340915"/>
          <a:ext cx="6457950" cy="901700"/>
        </p:xfrm>
        <a:graphic>
          <a:graphicData uri="http://schemas.openxmlformats.org/drawingml/2006/table">
            <a:tbl>
              <a:tblPr bandRow="1">
                <a:tableStyleId>{A91F0D33-8C57-4600-99A7-42BC86742BE1}</a:tableStyleId>
              </a:tblPr>
              <a:tblGrid>
                <a:gridCol w="645795">
                  <a:extLst>
                    <a:ext uri="{9D8B030D-6E8A-4147-A177-3AD203B41FA5}">
                      <a16:colId xmlns="" xmlns:a16="http://schemas.microsoft.com/office/drawing/2014/main" val="1447252575"/>
                    </a:ext>
                  </a:extLst>
                </a:gridCol>
                <a:gridCol w="645795">
                  <a:extLst>
                    <a:ext uri="{9D8B030D-6E8A-4147-A177-3AD203B41FA5}">
                      <a16:colId xmlns="" xmlns:a16="http://schemas.microsoft.com/office/drawing/2014/main" val="770146167"/>
                    </a:ext>
                  </a:extLst>
                </a:gridCol>
                <a:gridCol w="645795">
                  <a:extLst>
                    <a:ext uri="{9D8B030D-6E8A-4147-A177-3AD203B41FA5}">
                      <a16:colId xmlns="" xmlns:a16="http://schemas.microsoft.com/office/drawing/2014/main" val="3697725708"/>
                    </a:ext>
                  </a:extLst>
                </a:gridCol>
                <a:gridCol w="645795">
                  <a:extLst>
                    <a:ext uri="{9D8B030D-6E8A-4147-A177-3AD203B41FA5}">
                      <a16:colId xmlns="" xmlns:a16="http://schemas.microsoft.com/office/drawing/2014/main" val="721698254"/>
                    </a:ext>
                  </a:extLst>
                </a:gridCol>
                <a:gridCol w="645795">
                  <a:extLst>
                    <a:ext uri="{9D8B030D-6E8A-4147-A177-3AD203B41FA5}">
                      <a16:colId xmlns="" xmlns:a16="http://schemas.microsoft.com/office/drawing/2014/main" val="608833055"/>
                    </a:ext>
                  </a:extLst>
                </a:gridCol>
                <a:gridCol w="645795">
                  <a:extLst>
                    <a:ext uri="{9D8B030D-6E8A-4147-A177-3AD203B41FA5}">
                      <a16:colId xmlns="" xmlns:a16="http://schemas.microsoft.com/office/drawing/2014/main" val="2554307960"/>
                    </a:ext>
                  </a:extLst>
                </a:gridCol>
                <a:gridCol w="645795">
                  <a:extLst>
                    <a:ext uri="{9D8B030D-6E8A-4147-A177-3AD203B41FA5}">
                      <a16:colId xmlns="" xmlns:a16="http://schemas.microsoft.com/office/drawing/2014/main" val="2298394107"/>
                    </a:ext>
                  </a:extLst>
                </a:gridCol>
                <a:gridCol w="645795">
                  <a:extLst>
                    <a:ext uri="{9D8B030D-6E8A-4147-A177-3AD203B41FA5}">
                      <a16:colId xmlns="" xmlns:a16="http://schemas.microsoft.com/office/drawing/2014/main" val="3546801065"/>
                    </a:ext>
                  </a:extLst>
                </a:gridCol>
                <a:gridCol w="645795">
                  <a:extLst>
                    <a:ext uri="{9D8B030D-6E8A-4147-A177-3AD203B41FA5}">
                      <a16:colId xmlns="" xmlns:a16="http://schemas.microsoft.com/office/drawing/2014/main" val="2117818159"/>
                    </a:ext>
                  </a:extLst>
                </a:gridCol>
                <a:gridCol w="645795">
                  <a:extLst>
                    <a:ext uri="{9D8B030D-6E8A-4147-A177-3AD203B41FA5}">
                      <a16:colId xmlns="" xmlns:a16="http://schemas.microsoft.com/office/drawing/2014/main" val="74394471"/>
                    </a:ext>
                  </a:extLst>
                </a:gridCol>
              </a:tblGrid>
              <a:tr h="450850">
                <a:tc gridSpan="10">
                  <a:txBody>
                    <a:bodyPr/>
                    <a:lstStyle/>
                    <a:p>
                      <a:pPr marL="0" marR="0" algn="ctr">
                        <a:lnSpc>
                          <a:spcPct val="107000"/>
                        </a:lnSpc>
                        <a:spcBef>
                          <a:spcPts val="0"/>
                        </a:spcBef>
                        <a:spcAft>
                          <a:spcPts val="0"/>
                        </a:spcAft>
                      </a:pPr>
                      <a:r>
                        <a:rPr lang="en-US" sz="1800" b="1" dirty="0">
                          <a:effectLst/>
                          <a:latin typeface="Verdana" pitchFamily="34" charset="0"/>
                          <a:ea typeface="Verdana" pitchFamily="34" charset="0"/>
                        </a:rPr>
                        <a:t>Number of Pets</a:t>
                      </a:r>
                      <a:endParaRPr lang="en-US" sz="1100" b="1" dirty="0">
                        <a:effectLst/>
                        <a:latin typeface="Verdana" pitchFamily="34" charset="0"/>
                        <a:ea typeface="Verdan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 xmlns:a16="http://schemas.microsoft.com/office/drawing/2014/main" val="2696727230"/>
                  </a:ext>
                </a:extLst>
              </a:tr>
              <a:tr h="450850">
                <a:tc>
                  <a:txBody>
                    <a:bodyPr/>
                    <a:lstStyle/>
                    <a:p>
                      <a:pPr marL="0" marR="0" algn="ctr">
                        <a:lnSpc>
                          <a:spcPct val="107000"/>
                        </a:lnSpc>
                        <a:spcBef>
                          <a:spcPts val="0"/>
                        </a:spcBef>
                        <a:spcAft>
                          <a:spcPts val="0"/>
                        </a:spcAft>
                      </a:pPr>
                      <a:r>
                        <a:rPr lang="en-US" sz="1800">
                          <a:effectLst/>
                          <a:latin typeface="Verdana" pitchFamily="34" charset="0"/>
                          <a:ea typeface="Verdana" pitchFamily="34" charset="0"/>
                        </a:rPr>
                        <a:t>1</a:t>
                      </a:r>
                      <a:endParaRPr lang="en-US" sz="1100">
                        <a:effectLst/>
                        <a:latin typeface="Verdana" pitchFamily="34" charset="0"/>
                        <a:ea typeface="Verdan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800">
                          <a:effectLst/>
                          <a:latin typeface="Verdana" pitchFamily="34" charset="0"/>
                          <a:ea typeface="Verdana" pitchFamily="34" charset="0"/>
                        </a:rPr>
                        <a:t>0</a:t>
                      </a:r>
                      <a:endParaRPr lang="en-US" sz="1100">
                        <a:effectLst/>
                        <a:latin typeface="Verdana" pitchFamily="34" charset="0"/>
                        <a:ea typeface="Verdan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800">
                          <a:effectLst/>
                          <a:latin typeface="Verdana" pitchFamily="34" charset="0"/>
                          <a:ea typeface="Verdana" pitchFamily="34" charset="0"/>
                        </a:rPr>
                        <a:t>2</a:t>
                      </a:r>
                      <a:endParaRPr lang="en-US" sz="1100">
                        <a:effectLst/>
                        <a:latin typeface="Verdana" pitchFamily="34" charset="0"/>
                        <a:ea typeface="Verdan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800">
                          <a:effectLst/>
                          <a:latin typeface="Verdana" pitchFamily="34" charset="0"/>
                          <a:ea typeface="Verdana" pitchFamily="34" charset="0"/>
                        </a:rPr>
                        <a:t>1</a:t>
                      </a:r>
                      <a:endParaRPr lang="en-US" sz="1100">
                        <a:effectLst/>
                        <a:latin typeface="Verdana" pitchFamily="34" charset="0"/>
                        <a:ea typeface="Verdan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800">
                          <a:effectLst/>
                          <a:latin typeface="Verdana" pitchFamily="34" charset="0"/>
                          <a:ea typeface="Verdana" pitchFamily="34" charset="0"/>
                        </a:rPr>
                        <a:t>10</a:t>
                      </a:r>
                      <a:endParaRPr lang="en-US" sz="1100">
                        <a:effectLst/>
                        <a:latin typeface="Verdana" pitchFamily="34" charset="0"/>
                        <a:ea typeface="Verdan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800">
                          <a:effectLst/>
                          <a:latin typeface="Verdana" pitchFamily="34" charset="0"/>
                          <a:ea typeface="Verdana" pitchFamily="34" charset="0"/>
                        </a:rPr>
                        <a:t>0</a:t>
                      </a:r>
                      <a:endParaRPr lang="en-US" sz="1100">
                        <a:effectLst/>
                        <a:latin typeface="Verdana" pitchFamily="34" charset="0"/>
                        <a:ea typeface="Verdan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800">
                          <a:effectLst/>
                          <a:latin typeface="Verdana" pitchFamily="34" charset="0"/>
                          <a:ea typeface="Verdana" pitchFamily="34" charset="0"/>
                        </a:rPr>
                        <a:t>2</a:t>
                      </a:r>
                      <a:endParaRPr lang="en-US" sz="1100">
                        <a:effectLst/>
                        <a:latin typeface="Verdana" pitchFamily="34" charset="0"/>
                        <a:ea typeface="Verdan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800">
                          <a:effectLst/>
                          <a:latin typeface="Verdana" pitchFamily="34" charset="0"/>
                          <a:ea typeface="Verdana" pitchFamily="34" charset="0"/>
                        </a:rPr>
                        <a:t>0</a:t>
                      </a:r>
                      <a:endParaRPr lang="en-US" sz="1100">
                        <a:effectLst/>
                        <a:latin typeface="Verdana" pitchFamily="34" charset="0"/>
                        <a:ea typeface="Verdan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800">
                          <a:effectLst/>
                          <a:latin typeface="Verdana" pitchFamily="34" charset="0"/>
                          <a:ea typeface="Verdana" pitchFamily="34" charset="0"/>
                        </a:rPr>
                        <a:t>8</a:t>
                      </a:r>
                      <a:endParaRPr lang="en-US" sz="1100">
                        <a:effectLst/>
                        <a:latin typeface="Verdana" pitchFamily="34" charset="0"/>
                        <a:ea typeface="Verdan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800" dirty="0">
                          <a:effectLst/>
                          <a:latin typeface="Verdana" pitchFamily="34" charset="0"/>
                          <a:ea typeface="Verdana" pitchFamily="34" charset="0"/>
                        </a:rPr>
                        <a:t>12</a:t>
                      </a:r>
                      <a:endParaRPr lang="en-US" sz="1100" dirty="0">
                        <a:effectLst/>
                        <a:latin typeface="Verdana" pitchFamily="34" charset="0"/>
                        <a:ea typeface="Verdan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 xmlns:a16="http://schemas.microsoft.com/office/drawing/2014/main" val="626227292"/>
                  </a:ext>
                </a:extLst>
              </a:tr>
            </a:tbl>
          </a:graphicData>
        </a:graphic>
      </p:graphicFrame>
      <p:sp>
        <p:nvSpPr>
          <p:cNvPr id="5" name="Rectangle 2">
            <a:extLst>
              <a:ext uri="{FF2B5EF4-FFF2-40B4-BE49-F238E27FC236}">
                <a16:creationId xmlns="" xmlns:a16="http://schemas.microsoft.com/office/drawing/2014/main" id="{375D97AC-6D86-D04F-98DC-D6482F44A544}"/>
              </a:ext>
            </a:extLst>
          </p:cNvPr>
          <p:cNvSpPr>
            <a:spLocks noChangeArrowheads="1"/>
          </p:cNvSpPr>
          <p:nvPr/>
        </p:nvSpPr>
        <p:spPr bwMode="auto">
          <a:xfrm>
            <a:off x="2867026" y="1505748"/>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8"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 xmlns:a16="http://schemas.microsoft.com/office/drawing/2014/main" id="{2C9405F7-8214-CE45-80C3-9FBF7002FBD5}"/>
              </a:ext>
            </a:extLst>
          </p:cNvPr>
          <p:cNvSpPr txBox="1"/>
          <p:nvPr/>
        </p:nvSpPr>
        <p:spPr>
          <a:xfrm>
            <a:off x="8994150" y="6537462"/>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161</a:t>
            </a:r>
            <a:endParaRPr i="1" dirty="0">
              <a:latin typeface="Calibri"/>
              <a:ea typeface="Calibri"/>
              <a:cs typeface="Calibri"/>
              <a:sym typeface="Calibri"/>
            </a:endParaRPr>
          </a:p>
        </p:txBody>
      </p:sp>
    </p:spTree>
    <p:extLst>
      <p:ext uri="{BB962C8B-B14F-4D97-AF65-F5344CB8AC3E}">
        <p14:creationId xmlns:p14="http://schemas.microsoft.com/office/powerpoint/2010/main" val="36129560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 xmlns:a16="http://schemas.microsoft.com/office/drawing/2014/main" id="{2FA392D8-3ED3-7940-83A8-1451AA8A08D4}"/>
              </a:ext>
            </a:extLst>
          </p:cNvPr>
          <p:cNvSpPr txBox="1"/>
          <p:nvPr/>
        </p:nvSpPr>
        <p:spPr>
          <a:xfrm>
            <a:off x="549086" y="384831"/>
            <a:ext cx="11431819" cy="4154984"/>
          </a:xfrm>
          <a:prstGeom prst="rect">
            <a:avLst/>
          </a:prstGeom>
          <a:noFill/>
        </p:spPr>
        <p:txBody>
          <a:bodyPr wrap="square" rtlCol="0">
            <a:spAutoFit/>
          </a:bodyPr>
          <a:lstStyle/>
          <a:p>
            <a:pPr marL="457200" indent="-457200">
              <a:buFont typeface="+mj-lt"/>
              <a:buAutoNum type="arabicPeriod" startAt="4"/>
            </a:pPr>
            <a:r>
              <a:rPr lang="en-US" sz="2400" dirty="0">
                <a:latin typeface="Verdana" panose="020B0604030504040204" pitchFamily="34" charset="0"/>
                <a:ea typeface="Verdana" panose="020B0604030504040204" pitchFamily="34" charset="0"/>
                <a:cs typeface="Verdana" panose="020B0604030504040204" pitchFamily="34" charset="0"/>
              </a:rPr>
              <a:t>The mode of the data set is ____________.</a:t>
            </a: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r>
              <a:rPr lang="en-US" sz="2400" dirty="0">
                <a:latin typeface="Verdana" panose="020B0604030504040204" pitchFamily="34" charset="0"/>
                <a:ea typeface="Verdana" panose="020B0604030504040204" pitchFamily="34" charset="0"/>
                <a:cs typeface="Verdana" panose="020B0604030504040204" pitchFamily="34" charset="0"/>
              </a:rPr>
              <a:t>Write an explanation of what the mode of the data set means for the context.</a:t>
            </a: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p:pic>
        <p:nvPicPr>
          <p:cNvPr id="7"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 xmlns:a16="http://schemas.microsoft.com/office/drawing/2014/main" id="{2C9405F7-8214-CE45-80C3-9FBF7002FBD5}"/>
              </a:ext>
            </a:extLst>
          </p:cNvPr>
          <p:cNvSpPr txBox="1"/>
          <p:nvPr/>
        </p:nvSpPr>
        <p:spPr>
          <a:xfrm>
            <a:off x="8994150" y="6537462"/>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161</a:t>
            </a:r>
            <a:endParaRPr i="1" dirty="0">
              <a:latin typeface="Calibri"/>
              <a:ea typeface="Calibri"/>
              <a:cs typeface="Calibri"/>
              <a:sym typeface="Calibri"/>
            </a:endParaRPr>
          </a:p>
        </p:txBody>
      </p:sp>
    </p:spTree>
    <p:extLst>
      <p:ext uri="{BB962C8B-B14F-4D97-AF65-F5344CB8AC3E}">
        <p14:creationId xmlns:p14="http://schemas.microsoft.com/office/powerpoint/2010/main" val="6574100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 xmlns:a16="http://schemas.microsoft.com/office/drawing/2014/main" id="{2FA392D8-3ED3-7940-83A8-1451AA8A08D4}"/>
              </a:ext>
            </a:extLst>
          </p:cNvPr>
          <p:cNvSpPr txBox="1"/>
          <p:nvPr/>
        </p:nvSpPr>
        <p:spPr>
          <a:xfrm>
            <a:off x="550905" y="379832"/>
            <a:ext cx="11486508" cy="4893647"/>
          </a:xfrm>
          <a:prstGeom prst="rect">
            <a:avLst/>
          </a:prstGeom>
          <a:noFill/>
        </p:spPr>
        <p:txBody>
          <a:bodyPr wrap="square" rtlCol="0">
            <a:spAutoFit/>
          </a:bodyPr>
          <a:lstStyle/>
          <a:p>
            <a:pPr marL="457200" indent="-457200">
              <a:buFont typeface="+mj-lt"/>
              <a:buAutoNum type="arabicPeriod" startAt="6"/>
            </a:pPr>
            <a:r>
              <a:rPr lang="en-US" sz="2400" dirty="0">
                <a:latin typeface="Verdana" panose="020B0604030504040204" pitchFamily="34" charset="0"/>
                <a:ea typeface="Verdana" panose="020B0604030504040204" pitchFamily="34" charset="0"/>
                <a:cs typeface="Verdana" panose="020B0604030504040204" pitchFamily="34" charset="0"/>
              </a:rPr>
              <a:t>Describe the steps needed to find the average number of pets owned by the ten students. </a:t>
            </a:r>
          </a:p>
          <a:p>
            <a:pPr marL="457200" indent="-457200">
              <a:buFont typeface="+mj-lt"/>
              <a:buAutoNum type="arabicPeriod" startAt="6"/>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6"/>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6"/>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6"/>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6"/>
            </a:pPr>
            <a:r>
              <a:rPr lang="en-US" sz="2400" dirty="0">
                <a:latin typeface="Verdana" panose="020B0604030504040204" pitchFamily="34" charset="0"/>
                <a:ea typeface="Verdana" panose="020B0604030504040204" pitchFamily="34" charset="0"/>
                <a:cs typeface="Verdana" panose="020B0604030504040204" pitchFamily="34" charset="0"/>
              </a:rPr>
              <a:t>The mean number of pets for the ten students is __________.</a:t>
            </a: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6"/>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8"/>
            </a:pPr>
            <a:r>
              <a:rPr lang="en-US" sz="2400" dirty="0">
                <a:latin typeface="Verdana" panose="020B0604030504040204" pitchFamily="34" charset="0"/>
                <a:ea typeface="Verdana" panose="020B0604030504040204" pitchFamily="34" charset="0"/>
                <a:cs typeface="Verdana" panose="020B0604030504040204" pitchFamily="34" charset="0"/>
              </a:rPr>
              <a:t>Complete the statement about the mean of the data set.</a:t>
            </a:r>
          </a:p>
          <a:p>
            <a:pPr marL="458788"/>
            <a:r>
              <a:rPr lang="en-US" sz="2400" dirty="0">
                <a:latin typeface="Verdana" panose="020B0604030504040204" pitchFamily="34" charset="0"/>
                <a:ea typeface="Verdana" panose="020B0604030504040204" pitchFamily="34" charset="0"/>
                <a:cs typeface="Verdana" panose="020B0604030504040204" pitchFamily="34" charset="0"/>
              </a:rPr>
              <a:t>“Each student in Tyler’s class has about _________ pets.”</a:t>
            </a: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p:pic>
        <p:nvPicPr>
          <p:cNvPr id="7"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 xmlns:a16="http://schemas.microsoft.com/office/drawing/2014/main" id="{2C9405F7-8214-CE45-80C3-9FBF7002FBD5}"/>
              </a:ext>
            </a:extLst>
          </p:cNvPr>
          <p:cNvSpPr txBox="1"/>
          <p:nvPr/>
        </p:nvSpPr>
        <p:spPr>
          <a:xfrm>
            <a:off x="8994150" y="6537462"/>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162</a:t>
            </a:r>
            <a:endParaRPr i="1" dirty="0">
              <a:latin typeface="Calibri"/>
              <a:ea typeface="Calibri"/>
              <a:cs typeface="Calibri"/>
              <a:sym typeface="Calibri"/>
            </a:endParaRPr>
          </a:p>
        </p:txBody>
      </p:sp>
    </p:spTree>
    <p:extLst>
      <p:ext uri="{BB962C8B-B14F-4D97-AF65-F5344CB8AC3E}">
        <p14:creationId xmlns:p14="http://schemas.microsoft.com/office/powerpoint/2010/main" val="29958381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116285" y="2766150"/>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Try It</a:t>
            </a:r>
            <a:endParaRPr sz="5100" b="1" dirty="0">
              <a:solidFill>
                <a:srgbClr val="33BEA6"/>
              </a:solidFill>
              <a:latin typeface="Verdana"/>
              <a:ea typeface="Verdana"/>
              <a:cs typeface="Verdana"/>
              <a:sym typeface="Verdana"/>
            </a:endParaRPr>
          </a:p>
        </p:txBody>
      </p:sp>
      <p:pic>
        <p:nvPicPr>
          <p:cNvPr id="7170" name="Picture 2">
            <a:extLst>
              <a:ext uri="{FF2B5EF4-FFF2-40B4-BE49-F238E27FC236}">
                <a16:creationId xmlns="" xmlns:a16="http://schemas.microsoft.com/office/drawing/2014/main" id="{B098E9CE-9B4F-0D4F-9369-4E0B8D4E3D1A}"/>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813171"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7" name="Google Shape;311;g104476d1465_1_39"/>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 xmlns:a16="http://schemas.microsoft.com/office/drawing/2014/main" id="{2C9405F7-8214-CE45-80C3-9FBF7002FBD5}"/>
              </a:ext>
            </a:extLst>
          </p:cNvPr>
          <p:cNvSpPr txBox="1"/>
          <p:nvPr/>
        </p:nvSpPr>
        <p:spPr>
          <a:xfrm>
            <a:off x="8994150" y="6537462"/>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162</a:t>
            </a:r>
            <a:endParaRPr i="1" dirty="0">
              <a:latin typeface="Calibri"/>
              <a:ea typeface="Calibri"/>
              <a:cs typeface="Calibri"/>
              <a:sym typeface="Calibri"/>
            </a:endParaRPr>
          </a:p>
        </p:txBody>
      </p:sp>
    </p:spTree>
    <p:extLst>
      <p:ext uri="{BB962C8B-B14F-4D97-AF65-F5344CB8AC3E}">
        <p14:creationId xmlns:p14="http://schemas.microsoft.com/office/powerpoint/2010/main" val="10068580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 xmlns:a16="http://schemas.microsoft.com/office/drawing/2014/main" id="{DB5796CA-12EB-BB4C-8338-B127D750A026}"/>
              </a:ext>
            </a:extLst>
          </p:cNvPr>
          <p:cNvSpPr txBox="1">
            <a:spLocks/>
          </p:cNvSpPr>
          <p:nvPr/>
        </p:nvSpPr>
        <p:spPr>
          <a:xfrm>
            <a:off x="1142004" y="-27762"/>
            <a:ext cx="1062190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9.4.3 Try It: </a:t>
            </a:r>
            <a:r>
              <a:rPr lang="en-US" sz="3600" b="1" dirty="0">
                <a:solidFill>
                  <a:srgbClr val="33BEA6"/>
                </a:solidFill>
                <a:latin typeface="Verdana"/>
                <a:ea typeface="Verdana"/>
                <a:cs typeface="Verdana"/>
              </a:rPr>
              <a:t>Mean, Median, and Mode </a:t>
            </a:r>
            <a:endParaRPr lang="en-US" sz="3600" b="1" dirty="0">
              <a:solidFill>
                <a:srgbClr val="33BEA6"/>
              </a:solidFill>
              <a:latin typeface="Verdana"/>
              <a:ea typeface="Verdana"/>
              <a:cs typeface="Verdana"/>
              <a:sym typeface="Verdana"/>
            </a:endParaRPr>
          </a:p>
        </p:txBody>
      </p:sp>
      <p:pic>
        <p:nvPicPr>
          <p:cNvPr id="9" name="Picture 2">
            <a:extLst>
              <a:ext uri="{FF2B5EF4-FFF2-40B4-BE49-F238E27FC236}">
                <a16:creationId xmlns="" xmlns:a16="http://schemas.microsoft.com/office/drawing/2014/main" id="{E0B7508E-1910-D441-91B6-6EA6022F20CC}"/>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07698" y="22498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 xmlns:a16="http://schemas.microsoft.com/office/drawing/2014/main" id="{0AB6A3A1-5A0D-C84F-AC89-57E6782F43E5}"/>
              </a:ext>
            </a:extLst>
          </p:cNvPr>
          <p:cNvSpPr txBox="1"/>
          <p:nvPr/>
        </p:nvSpPr>
        <p:spPr>
          <a:xfrm>
            <a:off x="842481" y="1297938"/>
            <a:ext cx="10785669" cy="3785652"/>
          </a:xfrm>
          <a:prstGeom prst="rect">
            <a:avLst/>
          </a:prstGeom>
          <a:noFill/>
        </p:spPr>
        <p:txBody>
          <a:bodyPr wrap="square" rtlCol="0">
            <a:spAutoFit/>
          </a:bodyPr>
          <a:lstStyle/>
          <a:p>
            <a:pPr marL="458788" indent="-449263">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Nine adults boarding a cruise ship at Port Canaveral in Florida were randomly surveyed on the total number of vacations they have taken in the last five years. Their totals are summarized below.</a:t>
            </a:r>
          </a:p>
          <a:p>
            <a:pPr marL="342900" indent="-3429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smtClean="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919163" indent="-460375">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What does the value of the median represent in the context? </a:t>
            </a:r>
          </a:p>
          <a:p>
            <a:pPr marL="342900" indent="-3429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p:graphicFrame>
        <p:nvGraphicFramePr>
          <p:cNvPr id="2" name="Table 1">
            <a:extLst>
              <a:ext uri="{FF2B5EF4-FFF2-40B4-BE49-F238E27FC236}">
                <a16:creationId xmlns="" xmlns:a16="http://schemas.microsoft.com/office/drawing/2014/main" id="{813644E6-D9EB-7140-88C7-B2DCA368DAA6}"/>
              </a:ext>
            </a:extLst>
          </p:cNvPr>
          <p:cNvGraphicFramePr>
            <a:graphicFrameLocks noGrp="1"/>
          </p:cNvGraphicFramePr>
          <p:nvPr>
            <p:extLst>
              <p:ext uri="{D42A27DB-BD31-4B8C-83A1-F6EECF244321}">
                <p14:modId xmlns:p14="http://schemas.microsoft.com/office/powerpoint/2010/main" val="3091379423"/>
              </p:ext>
            </p:extLst>
          </p:nvPr>
        </p:nvGraphicFramePr>
        <p:xfrm>
          <a:off x="2347777" y="3052391"/>
          <a:ext cx="7752478" cy="744867"/>
        </p:xfrm>
        <a:graphic>
          <a:graphicData uri="http://schemas.openxmlformats.org/drawingml/2006/table">
            <a:tbl>
              <a:tblPr firstRow="1" firstCol="1" bandRow="1">
                <a:tableStyleId>{A91F0D33-8C57-4600-99A7-42BC86742BE1}</a:tableStyleId>
              </a:tblPr>
              <a:tblGrid>
                <a:gridCol w="807058">
                  <a:extLst>
                    <a:ext uri="{9D8B030D-6E8A-4147-A177-3AD203B41FA5}">
                      <a16:colId xmlns="" xmlns:a16="http://schemas.microsoft.com/office/drawing/2014/main" val="1351016428"/>
                    </a:ext>
                  </a:extLst>
                </a:gridCol>
                <a:gridCol w="867820">
                  <a:extLst>
                    <a:ext uri="{9D8B030D-6E8A-4147-A177-3AD203B41FA5}">
                      <a16:colId xmlns="" xmlns:a16="http://schemas.microsoft.com/office/drawing/2014/main" val="3931645726"/>
                    </a:ext>
                  </a:extLst>
                </a:gridCol>
                <a:gridCol w="867820">
                  <a:extLst>
                    <a:ext uri="{9D8B030D-6E8A-4147-A177-3AD203B41FA5}">
                      <a16:colId xmlns="" xmlns:a16="http://schemas.microsoft.com/office/drawing/2014/main" val="2899186220"/>
                    </a:ext>
                  </a:extLst>
                </a:gridCol>
                <a:gridCol w="867820">
                  <a:extLst>
                    <a:ext uri="{9D8B030D-6E8A-4147-A177-3AD203B41FA5}">
                      <a16:colId xmlns="" xmlns:a16="http://schemas.microsoft.com/office/drawing/2014/main" val="344471596"/>
                    </a:ext>
                  </a:extLst>
                </a:gridCol>
                <a:gridCol w="867820">
                  <a:extLst>
                    <a:ext uri="{9D8B030D-6E8A-4147-A177-3AD203B41FA5}">
                      <a16:colId xmlns="" xmlns:a16="http://schemas.microsoft.com/office/drawing/2014/main" val="2502709230"/>
                    </a:ext>
                  </a:extLst>
                </a:gridCol>
                <a:gridCol w="868535">
                  <a:extLst>
                    <a:ext uri="{9D8B030D-6E8A-4147-A177-3AD203B41FA5}">
                      <a16:colId xmlns="" xmlns:a16="http://schemas.microsoft.com/office/drawing/2014/main" val="1629935575"/>
                    </a:ext>
                  </a:extLst>
                </a:gridCol>
                <a:gridCol w="868535">
                  <a:extLst>
                    <a:ext uri="{9D8B030D-6E8A-4147-A177-3AD203B41FA5}">
                      <a16:colId xmlns="" xmlns:a16="http://schemas.microsoft.com/office/drawing/2014/main" val="4280594125"/>
                    </a:ext>
                  </a:extLst>
                </a:gridCol>
                <a:gridCol w="868535">
                  <a:extLst>
                    <a:ext uri="{9D8B030D-6E8A-4147-A177-3AD203B41FA5}">
                      <a16:colId xmlns="" xmlns:a16="http://schemas.microsoft.com/office/drawing/2014/main" val="2004068030"/>
                    </a:ext>
                  </a:extLst>
                </a:gridCol>
                <a:gridCol w="868535">
                  <a:extLst>
                    <a:ext uri="{9D8B030D-6E8A-4147-A177-3AD203B41FA5}">
                      <a16:colId xmlns="" xmlns:a16="http://schemas.microsoft.com/office/drawing/2014/main" val="1524860850"/>
                    </a:ext>
                  </a:extLst>
                </a:gridCol>
              </a:tblGrid>
              <a:tr h="359566">
                <a:tc gridSpan="9">
                  <a:txBody>
                    <a:bodyPr/>
                    <a:lstStyle/>
                    <a:p>
                      <a:pPr marL="0" marR="0" algn="ctr">
                        <a:lnSpc>
                          <a:spcPct val="107000"/>
                        </a:lnSpc>
                        <a:spcBef>
                          <a:spcPts val="0"/>
                        </a:spcBef>
                        <a:spcAft>
                          <a:spcPts val="0"/>
                        </a:spcAft>
                      </a:pPr>
                      <a:r>
                        <a:rPr lang="en-US" sz="1800" b="1" dirty="0">
                          <a:effectLst/>
                          <a:latin typeface="Verdana" pitchFamily="34" charset="0"/>
                          <a:ea typeface="Verdana" pitchFamily="34" charset="0"/>
                        </a:rPr>
                        <a:t>Number of Vacations Taken</a:t>
                      </a:r>
                      <a:endParaRPr lang="en-US" sz="1100" b="1" dirty="0">
                        <a:effectLst/>
                        <a:latin typeface="Verdana" pitchFamily="34" charset="0"/>
                        <a:ea typeface="Verdan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 xmlns:a16="http://schemas.microsoft.com/office/drawing/2014/main" val="1635850062"/>
                  </a:ext>
                </a:extLst>
              </a:tr>
              <a:tr h="385301">
                <a:tc>
                  <a:txBody>
                    <a:bodyPr/>
                    <a:lstStyle/>
                    <a:p>
                      <a:pPr marL="0" marR="0" algn="ctr">
                        <a:lnSpc>
                          <a:spcPct val="107000"/>
                        </a:lnSpc>
                        <a:spcBef>
                          <a:spcPts val="0"/>
                        </a:spcBef>
                        <a:spcAft>
                          <a:spcPts val="0"/>
                        </a:spcAft>
                      </a:pPr>
                      <a:r>
                        <a:rPr lang="en-US" sz="1800">
                          <a:effectLst/>
                          <a:latin typeface="Verdana" pitchFamily="34" charset="0"/>
                          <a:ea typeface="Verdana" pitchFamily="34" charset="0"/>
                        </a:rPr>
                        <a:t>5</a:t>
                      </a:r>
                      <a:endParaRPr lang="en-US" sz="1100">
                        <a:effectLst/>
                        <a:latin typeface="Verdana" pitchFamily="34" charset="0"/>
                        <a:ea typeface="Verdan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effectLst/>
                          <a:latin typeface="Verdana" pitchFamily="34" charset="0"/>
                          <a:ea typeface="Verdana" pitchFamily="34" charset="0"/>
                        </a:rPr>
                        <a:t>4</a:t>
                      </a:r>
                      <a:endParaRPr lang="en-US" sz="1100">
                        <a:effectLst/>
                        <a:latin typeface="Verdana" pitchFamily="34" charset="0"/>
                        <a:ea typeface="Verdan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effectLst/>
                          <a:latin typeface="Verdana" pitchFamily="34" charset="0"/>
                          <a:ea typeface="Verdana" pitchFamily="34" charset="0"/>
                        </a:rPr>
                        <a:t>3</a:t>
                      </a:r>
                      <a:endParaRPr lang="en-US" sz="1100">
                        <a:effectLst/>
                        <a:latin typeface="Verdana" pitchFamily="34" charset="0"/>
                        <a:ea typeface="Verdan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effectLst/>
                          <a:latin typeface="Verdana" pitchFamily="34" charset="0"/>
                          <a:ea typeface="Verdana" pitchFamily="34" charset="0"/>
                        </a:rPr>
                        <a:t>9</a:t>
                      </a:r>
                      <a:endParaRPr lang="en-US" sz="1100">
                        <a:effectLst/>
                        <a:latin typeface="Verdana" pitchFamily="34" charset="0"/>
                        <a:ea typeface="Verdan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dirty="0">
                          <a:effectLst/>
                          <a:latin typeface="Verdana" pitchFamily="34" charset="0"/>
                          <a:ea typeface="Verdana" pitchFamily="34" charset="0"/>
                        </a:rPr>
                        <a:t>1</a:t>
                      </a:r>
                      <a:endParaRPr lang="en-US" sz="1100" dirty="0">
                        <a:effectLst/>
                        <a:latin typeface="Verdana" pitchFamily="34" charset="0"/>
                        <a:ea typeface="Verdan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effectLst/>
                          <a:latin typeface="Verdana" pitchFamily="34" charset="0"/>
                          <a:ea typeface="Verdana" pitchFamily="34" charset="0"/>
                        </a:rPr>
                        <a:t>4</a:t>
                      </a:r>
                      <a:endParaRPr lang="en-US" sz="1100">
                        <a:effectLst/>
                        <a:latin typeface="Verdana" pitchFamily="34" charset="0"/>
                        <a:ea typeface="Verdan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effectLst/>
                          <a:latin typeface="Verdana" pitchFamily="34" charset="0"/>
                          <a:ea typeface="Verdana" pitchFamily="34" charset="0"/>
                        </a:rPr>
                        <a:t>0</a:t>
                      </a:r>
                      <a:endParaRPr lang="en-US" sz="1100">
                        <a:effectLst/>
                        <a:latin typeface="Verdana" pitchFamily="34" charset="0"/>
                        <a:ea typeface="Verdan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effectLst/>
                          <a:latin typeface="Verdana" pitchFamily="34" charset="0"/>
                          <a:ea typeface="Verdana" pitchFamily="34" charset="0"/>
                        </a:rPr>
                        <a:t>6</a:t>
                      </a:r>
                      <a:endParaRPr lang="en-US" sz="1100">
                        <a:effectLst/>
                        <a:latin typeface="Verdana" pitchFamily="34" charset="0"/>
                        <a:ea typeface="Verdan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dirty="0">
                          <a:effectLst/>
                          <a:latin typeface="Verdana" pitchFamily="34" charset="0"/>
                          <a:ea typeface="Verdana" pitchFamily="34" charset="0"/>
                        </a:rPr>
                        <a:t>3</a:t>
                      </a:r>
                      <a:endParaRPr lang="en-US" sz="1100" dirty="0">
                        <a:effectLst/>
                        <a:latin typeface="Verdana" pitchFamily="34" charset="0"/>
                        <a:ea typeface="Verdan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926672434"/>
                  </a:ext>
                </a:extLst>
              </a:tr>
            </a:tbl>
          </a:graphicData>
        </a:graphic>
      </p:graphicFrame>
      <p:sp>
        <p:nvSpPr>
          <p:cNvPr id="3" name="Rectangle 1">
            <a:extLst>
              <a:ext uri="{FF2B5EF4-FFF2-40B4-BE49-F238E27FC236}">
                <a16:creationId xmlns="" xmlns:a16="http://schemas.microsoft.com/office/drawing/2014/main" id="{1751BD4D-5AD3-FE4F-B74E-BE062434FCC2}"/>
              </a:ext>
            </a:extLst>
          </p:cNvPr>
          <p:cNvSpPr>
            <a:spLocks noChangeArrowheads="1"/>
          </p:cNvSpPr>
          <p:nvPr/>
        </p:nvSpPr>
        <p:spPr bwMode="auto">
          <a:xfrm>
            <a:off x="2652714" y="3745012"/>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2" name="Google Shape;311;g104476d1465_1_39"/>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3" name="Google Shape;282;g104476d1465_1_17">
            <a:extLst>
              <a:ext uri="{FF2B5EF4-FFF2-40B4-BE49-F238E27FC236}">
                <a16:creationId xmlns="" xmlns:a16="http://schemas.microsoft.com/office/drawing/2014/main" id="{2C9405F7-8214-CE45-80C3-9FBF7002FBD5}"/>
              </a:ext>
            </a:extLst>
          </p:cNvPr>
          <p:cNvSpPr txBox="1"/>
          <p:nvPr/>
        </p:nvSpPr>
        <p:spPr>
          <a:xfrm>
            <a:off x="8994150" y="6537462"/>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162</a:t>
            </a:r>
            <a:endParaRPr i="1" dirty="0">
              <a:latin typeface="Calibri"/>
              <a:ea typeface="Calibri"/>
              <a:cs typeface="Calibri"/>
              <a:sym typeface="Calibri"/>
            </a:endParaRPr>
          </a:p>
        </p:txBody>
      </p:sp>
    </p:spTree>
    <p:extLst>
      <p:ext uri="{BB962C8B-B14F-4D97-AF65-F5344CB8AC3E}">
        <p14:creationId xmlns:p14="http://schemas.microsoft.com/office/powerpoint/2010/main" val="38403594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 xmlns:a16="http://schemas.microsoft.com/office/drawing/2014/main" id="{2FA392D8-3ED3-7940-83A8-1451AA8A08D4}"/>
              </a:ext>
            </a:extLst>
          </p:cNvPr>
          <p:cNvSpPr txBox="1"/>
          <p:nvPr/>
        </p:nvSpPr>
        <p:spPr>
          <a:xfrm>
            <a:off x="558800" y="386543"/>
            <a:ext cx="11455400" cy="3785652"/>
          </a:xfrm>
          <a:prstGeom prst="rect">
            <a:avLst/>
          </a:prstGeom>
          <a:noFill/>
        </p:spPr>
        <p:txBody>
          <a:bodyPr wrap="square" rtlCol="0">
            <a:spAutoFit/>
          </a:bodyPr>
          <a:lstStyle/>
          <a:p>
            <a:pPr marL="919163" indent="-460375">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What is the median number of vacations taken by the adults surveyed?</a:t>
            </a:r>
          </a:p>
          <a:p>
            <a:pPr marL="919163" indent="-460375">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9163" indent="-460375">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9163" indent="-460375">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9163" indent="-460375">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9163" indent="-460375">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Determine the mean of the data. Then, interpret the mean in terms of the context by writing a sentence to summarize. Round to the hundredths.</a:t>
            </a:r>
          </a:p>
          <a:p>
            <a:pPr marL="4572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p:pic>
        <p:nvPicPr>
          <p:cNvPr id="7"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 xmlns:a16="http://schemas.microsoft.com/office/drawing/2014/main" id="{2C9405F7-8214-CE45-80C3-9FBF7002FBD5}"/>
              </a:ext>
            </a:extLst>
          </p:cNvPr>
          <p:cNvSpPr txBox="1"/>
          <p:nvPr/>
        </p:nvSpPr>
        <p:spPr>
          <a:xfrm>
            <a:off x="8994150" y="6537462"/>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162</a:t>
            </a:r>
            <a:endParaRPr i="1" dirty="0">
              <a:latin typeface="Calibri"/>
              <a:ea typeface="Calibri"/>
              <a:cs typeface="Calibri"/>
              <a:sym typeface="Calibri"/>
            </a:endParaRPr>
          </a:p>
        </p:txBody>
      </p:sp>
    </p:spTree>
    <p:extLst>
      <p:ext uri="{BB962C8B-B14F-4D97-AF65-F5344CB8AC3E}">
        <p14:creationId xmlns:p14="http://schemas.microsoft.com/office/powerpoint/2010/main" val="34383545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pic>
        <p:nvPicPr>
          <p:cNvPr id="1026" name="Picture 2" descr="Icon&#10;&#10;Description automatically generated">
            <a:extLst>
              <a:ext uri="{FF2B5EF4-FFF2-40B4-BE49-F238E27FC236}">
                <a16:creationId xmlns="" xmlns:a16="http://schemas.microsoft.com/office/drawing/2014/main" id="{467567E5-BEAF-E24A-A492-D25759172D7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630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7" name="Google Shape;311;g104476d1465_1_39"/>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 xmlns:a16="http://schemas.microsoft.com/office/drawing/2014/main" id="{2C9405F7-8214-CE45-80C3-9FBF7002FBD5}"/>
              </a:ext>
            </a:extLst>
          </p:cNvPr>
          <p:cNvSpPr txBox="1"/>
          <p:nvPr/>
        </p:nvSpPr>
        <p:spPr>
          <a:xfrm>
            <a:off x="8994150" y="6537462"/>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163</a:t>
            </a:r>
            <a:endParaRPr i="1" dirty="0">
              <a:latin typeface="Calibri"/>
              <a:ea typeface="Calibri"/>
              <a:cs typeface="Calibri"/>
              <a:sym typeface="Calibri"/>
            </a:endParaRPr>
          </a:p>
        </p:txBody>
      </p:sp>
    </p:spTree>
    <p:extLst>
      <p:ext uri="{BB962C8B-B14F-4D97-AF65-F5344CB8AC3E}">
        <p14:creationId xmlns:p14="http://schemas.microsoft.com/office/powerpoint/2010/main" val="41969715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 xmlns:a16="http://schemas.microsoft.com/office/drawing/2014/main" id="{DB5796CA-12EB-BB4C-8338-B127D750A026}"/>
              </a:ext>
            </a:extLst>
          </p:cNvPr>
          <p:cNvSpPr txBox="1">
            <a:spLocks/>
          </p:cNvSpPr>
          <p:nvPr/>
        </p:nvSpPr>
        <p:spPr>
          <a:xfrm>
            <a:off x="1308194" y="-34154"/>
            <a:ext cx="10188588"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9.4.4 Exploration: </a:t>
            </a:r>
            <a:r>
              <a:rPr lang="en-US" sz="3200" b="1" dirty="0">
                <a:solidFill>
                  <a:srgbClr val="33BEA6"/>
                </a:solidFill>
                <a:latin typeface="Verdana"/>
                <a:ea typeface="Verdana"/>
                <a:cs typeface="Verdana"/>
              </a:rPr>
              <a:t>Understanding Mode and Range </a:t>
            </a:r>
            <a:endParaRPr lang="en-US" sz="3200" b="1" dirty="0">
              <a:solidFill>
                <a:srgbClr val="33BEA6"/>
              </a:solidFill>
              <a:latin typeface="Verdana"/>
              <a:ea typeface="Verdana"/>
              <a:cs typeface="Verdana"/>
              <a:sym typeface="Verdana"/>
            </a:endParaRPr>
          </a:p>
        </p:txBody>
      </p:sp>
      <p:pic>
        <p:nvPicPr>
          <p:cNvPr id="7" name="Picture 2" descr="Icon&#10;&#10;Description automatically generated">
            <a:extLst>
              <a:ext uri="{FF2B5EF4-FFF2-40B4-BE49-F238E27FC236}">
                <a16:creationId xmlns="" xmlns:a16="http://schemas.microsoft.com/office/drawing/2014/main" id="{A741EC39-D81C-A945-833B-CFC11AA40AE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89570" y="174886"/>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 xmlns:a16="http://schemas.microsoft.com/office/drawing/2014/main" id="{152D1D4D-DCB8-A246-B186-D40316579D77}"/>
              </a:ext>
            </a:extLst>
          </p:cNvPr>
          <p:cNvSpPr txBox="1"/>
          <p:nvPr/>
        </p:nvSpPr>
        <p:spPr>
          <a:xfrm>
            <a:off x="667014" y="1527267"/>
            <a:ext cx="10961136" cy="3416320"/>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Work with your partner to complete the following.</a:t>
            </a: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466725"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The 	 	  is the value occurring most </a:t>
            </a:r>
            <a:r>
              <a:rPr lang="en-US" sz="2400" dirty="0" smtClean="0">
                <a:latin typeface="Verdana" panose="020B0604030504040204" pitchFamily="34" charset="0"/>
                <a:ea typeface="Verdana" panose="020B0604030504040204" pitchFamily="34" charset="0"/>
                <a:cs typeface="Verdana" panose="020B0604030504040204" pitchFamily="34" charset="0"/>
              </a:rPr>
              <a:t>often </a:t>
            </a:r>
            <a:r>
              <a:rPr lang="en-US" sz="2400" dirty="0">
                <a:latin typeface="Verdana" panose="020B0604030504040204" pitchFamily="34" charset="0"/>
                <a:ea typeface="Verdana" panose="020B0604030504040204" pitchFamily="34" charset="0"/>
                <a:cs typeface="Verdana" panose="020B0604030504040204" pitchFamily="34" charset="0"/>
              </a:rPr>
              <a:t>in a set of data, </a:t>
            </a:r>
            <a:r>
              <a:rPr lang="en-US" sz="2400" dirty="0" smtClean="0">
                <a:latin typeface="Verdana" panose="020B0604030504040204" pitchFamily="34" charset="0"/>
                <a:ea typeface="Verdana" panose="020B0604030504040204" pitchFamily="34" charset="0"/>
                <a:cs typeface="Verdana" panose="020B0604030504040204" pitchFamily="34" charset="0"/>
              </a:rPr>
              <a:t/>
            </a:r>
            <a:br>
              <a:rPr lang="en-US" sz="2400" dirty="0" smtClean="0">
                <a:latin typeface="Verdana" panose="020B0604030504040204" pitchFamily="34" charset="0"/>
                <a:ea typeface="Verdana" panose="020B0604030504040204" pitchFamily="34" charset="0"/>
                <a:cs typeface="Verdana" panose="020B0604030504040204" pitchFamily="34" charset="0"/>
              </a:rPr>
            </a:br>
            <a:r>
              <a:rPr lang="en-US" sz="2400" dirty="0" smtClean="0">
                <a:latin typeface="Verdana" panose="020B0604030504040204" pitchFamily="34" charset="0"/>
                <a:ea typeface="Verdana" panose="020B0604030504040204" pitchFamily="34" charset="0"/>
                <a:cs typeface="Verdana" panose="020B0604030504040204" pitchFamily="34" charset="0"/>
              </a:rPr>
              <a:t/>
            </a:r>
            <a:br>
              <a:rPr lang="en-US" sz="2400" dirty="0" smtClean="0">
                <a:latin typeface="Verdana" panose="020B0604030504040204" pitchFamily="34" charset="0"/>
                <a:ea typeface="Verdana" panose="020B0604030504040204" pitchFamily="34" charset="0"/>
                <a:cs typeface="Verdana" panose="020B0604030504040204" pitchFamily="34" charset="0"/>
              </a:rPr>
            </a:br>
            <a:r>
              <a:rPr lang="en-US" sz="2400" dirty="0" smtClean="0">
                <a:latin typeface="Verdana" panose="020B0604030504040204" pitchFamily="34" charset="0"/>
                <a:ea typeface="Verdana" panose="020B0604030504040204" pitchFamily="34" charset="0"/>
                <a:cs typeface="Verdana" panose="020B0604030504040204" pitchFamily="34" charset="0"/>
              </a:rPr>
              <a:t/>
            </a:r>
            <a:br>
              <a:rPr lang="en-US" sz="2400" dirty="0" smtClean="0">
                <a:latin typeface="Verdana" panose="020B0604030504040204" pitchFamily="34" charset="0"/>
                <a:ea typeface="Verdana" panose="020B0604030504040204" pitchFamily="34" charset="0"/>
                <a:cs typeface="Verdana" panose="020B0604030504040204" pitchFamily="34" charset="0"/>
              </a:rPr>
            </a:br>
            <a:r>
              <a:rPr lang="en-US" sz="2400" dirty="0" smtClean="0">
                <a:latin typeface="Verdana" panose="020B0604030504040204" pitchFamily="34" charset="0"/>
                <a:ea typeface="Verdana" panose="020B0604030504040204" pitchFamily="34" charset="0"/>
                <a:cs typeface="Verdana" panose="020B0604030504040204" pitchFamily="34" charset="0"/>
              </a:rPr>
              <a:t/>
            </a:r>
            <a:br>
              <a:rPr lang="en-US" sz="2400" dirty="0" smtClean="0">
                <a:latin typeface="Verdana" panose="020B0604030504040204" pitchFamily="34" charset="0"/>
                <a:ea typeface="Verdana" panose="020B0604030504040204" pitchFamily="34" charset="0"/>
                <a:cs typeface="Verdana" panose="020B0604030504040204" pitchFamily="34" charset="0"/>
              </a:rPr>
            </a:br>
            <a:r>
              <a:rPr lang="en-US" sz="2400" dirty="0" smtClean="0">
                <a:latin typeface="Verdana" panose="020B0604030504040204" pitchFamily="34" charset="0"/>
                <a:ea typeface="Verdana" panose="020B0604030504040204" pitchFamily="34" charset="0"/>
                <a:cs typeface="Verdana" panose="020B0604030504040204" pitchFamily="34" charset="0"/>
              </a:rPr>
              <a:t>which </a:t>
            </a:r>
            <a:r>
              <a:rPr lang="en-US" sz="2400" dirty="0">
                <a:latin typeface="Verdana" panose="020B0604030504040204" pitchFamily="34" charset="0"/>
                <a:ea typeface="Verdana" panose="020B0604030504040204" pitchFamily="34" charset="0"/>
                <a:cs typeface="Verdana" panose="020B0604030504040204" pitchFamily="34" charset="0"/>
              </a:rPr>
              <a:t>can be used to describe trends in data.</a:t>
            </a: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23" name="Rounded Rectangle 22">
            <a:extLst>
              <a:ext uri="{FF2B5EF4-FFF2-40B4-BE49-F238E27FC236}">
                <a16:creationId xmlns="" xmlns:a16="http://schemas.microsoft.com/office/drawing/2014/main" id="{9D4BD8AA-D43A-984D-B639-E17ABD7ED079}"/>
              </a:ext>
            </a:extLst>
          </p:cNvPr>
          <p:cNvSpPr/>
          <p:nvPr/>
        </p:nvSpPr>
        <p:spPr>
          <a:xfrm>
            <a:off x="1969418" y="2100388"/>
            <a:ext cx="1611982" cy="1559576"/>
          </a:xfrm>
          <a:prstGeom prst="roundRect">
            <a:avLst/>
          </a:prstGeom>
          <a:ln w="12700"/>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spAutoFit/>
          </a:bodyPr>
          <a:lstStyle/>
          <a:p>
            <a:pPr marL="228600" indent="-285750">
              <a:lnSpc>
                <a:spcPct val="107000"/>
              </a:lnSpc>
              <a:buFont typeface="Courier New" panose="02070309020205020404" pitchFamily="49" charset="0"/>
              <a:buChar char="o"/>
            </a:pPr>
            <a:r>
              <a:rPr lang="en-US" sz="2000" dirty="0">
                <a:latin typeface="Verdana" panose="020B0604030504040204" pitchFamily="34" charset="0"/>
                <a:ea typeface="Times New Roman" panose="02020603050405020304" pitchFamily="18" charset="0"/>
              </a:rPr>
              <a:t>mean</a:t>
            </a:r>
            <a:endParaRPr lang="en-US" sz="2000" dirty="0">
              <a:ea typeface="Times New Roman" panose="02020603050405020304" pitchFamily="18" charset="0"/>
            </a:endParaRPr>
          </a:p>
          <a:p>
            <a:pPr marL="228600" indent="-285750">
              <a:lnSpc>
                <a:spcPct val="107000"/>
              </a:lnSpc>
              <a:buFont typeface="Courier New" panose="02070309020205020404" pitchFamily="49" charset="0"/>
              <a:buChar char="o"/>
            </a:pPr>
            <a:r>
              <a:rPr lang="en-US" sz="2000" dirty="0">
                <a:latin typeface="Verdana" panose="020B0604030504040204" pitchFamily="34" charset="0"/>
                <a:ea typeface="Times New Roman" panose="02020603050405020304" pitchFamily="18" charset="0"/>
              </a:rPr>
              <a:t>median</a:t>
            </a:r>
            <a:endParaRPr lang="en-US" sz="2000" dirty="0">
              <a:ea typeface="Times New Roman" panose="02020603050405020304" pitchFamily="18" charset="0"/>
            </a:endParaRPr>
          </a:p>
          <a:p>
            <a:pPr marL="228600" indent="-285750">
              <a:lnSpc>
                <a:spcPct val="107000"/>
              </a:lnSpc>
              <a:buFont typeface="Courier New" panose="02070309020205020404" pitchFamily="49" charset="0"/>
              <a:buChar char="o"/>
            </a:pPr>
            <a:r>
              <a:rPr lang="en-US" sz="2000" dirty="0">
                <a:latin typeface="Verdana" panose="020B0604030504040204" pitchFamily="34" charset="0"/>
                <a:ea typeface="Times New Roman" panose="02020603050405020304" pitchFamily="18" charset="0"/>
              </a:rPr>
              <a:t>mode </a:t>
            </a:r>
            <a:endParaRPr lang="en-US" sz="2000" dirty="0">
              <a:ea typeface="Times New Roman" panose="02020603050405020304" pitchFamily="18" charset="0"/>
            </a:endParaRPr>
          </a:p>
          <a:p>
            <a:pPr marL="228600" indent="-285750">
              <a:lnSpc>
                <a:spcPct val="107000"/>
              </a:lnSpc>
              <a:spcAft>
                <a:spcPts val="800"/>
              </a:spcAft>
              <a:buFont typeface="Courier New" panose="02070309020205020404" pitchFamily="49" charset="0"/>
              <a:buChar char="o"/>
            </a:pPr>
            <a:r>
              <a:rPr lang="en-US" sz="2000" dirty="0">
                <a:latin typeface="Verdana" panose="020B0604030504040204" pitchFamily="34" charset="0"/>
                <a:ea typeface="Times New Roman" panose="02020603050405020304" pitchFamily="18" charset="0"/>
              </a:rPr>
              <a:t>range</a:t>
            </a:r>
            <a:endParaRPr lang="en-US" sz="2000" dirty="0">
              <a:ea typeface="Times New Roman" panose="02020603050405020304" pitchFamily="18" charset="0"/>
            </a:endParaRPr>
          </a:p>
        </p:txBody>
      </p:sp>
      <p:pic>
        <p:nvPicPr>
          <p:cNvPr id="9" name="Google Shape;311;g104476d1465_1_39"/>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1" name="Google Shape;282;g104476d1465_1_17">
            <a:extLst>
              <a:ext uri="{FF2B5EF4-FFF2-40B4-BE49-F238E27FC236}">
                <a16:creationId xmlns="" xmlns:a16="http://schemas.microsoft.com/office/drawing/2014/main" id="{2C9405F7-8214-CE45-80C3-9FBF7002FBD5}"/>
              </a:ext>
            </a:extLst>
          </p:cNvPr>
          <p:cNvSpPr txBox="1"/>
          <p:nvPr/>
        </p:nvSpPr>
        <p:spPr>
          <a:xfrm>
            <a:off x="8994150" y="6537462"/>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163</a:t>
            </a:r>
            <a:endParaRPr i="1" dirty="0">
              <a:latin typeface="Calibri"/>
              <a:ea typeface="Calibri"/>
              <a:cs typeface="Calibri"/>
              <a:sym typeface="Calibri"/>
            </a:endParaRPr>
          </a:p>
        </p:txBody>
      </p:sp>
    </p:spTree>
    <p:extLst>
      <p:ext uri="{BB962C8B-B14F-4D97-AF65-F5344CB8AC3E}">
        <p14:creationId xmlns:p14="http://schemas.microsoft.com/office/powerpoint/2010/main" val="22352480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 xmlns:a16="http://schemas.microsoft.com/office/drawing/2014/main" id="{2FA392D8-3ED3-7940-83A8-1451AA8A08D4}"/>
              </a:ext>
            </a:extLst>
          </p:cNvPr>
          <p:cNvSpPr txBox="1"/>
          <p:nvPr/>
        </p:nvSpPr>
        <p:spPr>
          <a:xfrm>
            <a:off x="576494" y="405225"/>
            <a:ext cx="10181690" cy="5632311"/>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While shopping over the last month, </a:t>
            </a:r>
            <a:r>
              <a:rPr lang="en-US" sz="2400" dirty="0" err="1">
                <a:latin typeface="Verdana" panose="020B0604030504040204" pitchFamily="34" charset="0"/>
                <a:ea typeface="Verdana" panose="020B0604030504040204" pitchFamily="34" charset="0"/>
                <a:cs typeface="Verdana" panose="020B0604030504040204" pitchFamily="34" charset="0"/>
              </a:rPr>
              <a:t>Shep</a:t>
            </a:r>
            <a:r>
              <a:rPr lang="en-US" sz="2400" dirty="0">
                <a:latin typeface="Verdana" panose="020B0604030504040204" pitchFamily="34" charset="0"/>
                <a:ea typeface="Verdana" panose="020B0604030504040204" pitchFamily="34" charset="0"/>
                <a:cs typeface="Verdana" panose="020B0604030504040204" pitchFamily="34" charset="0"/>
              </a:rPr>
              <a:t> collected the price for a jar of pickles from eight stores he visited.</a:t>
            </a: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919163" indent="-449263">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What does a jar of pickles cost at most stores?</a:t>
            </a:r>
          </a:p>
          <a:p>
            <a:pPr marL="919163" indent="-44926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9163" indent="-44926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9163" indent="-44926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9163" indent="-44926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9163" indent="-449263">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This value is the </a:t>
            </a: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mc:AlternateContent xmlns:mc="http://schemas.openxmlformats.org/markup-compatibility/2006">
        <mc:Choice xmlns:a14="http://schemas.microsoft.com/office/drawing/2010/main" Requires="a14">
          <p:graphicFrame>
            <p:nvGraphicFramePr>
              <p:cNvPr id="6" name="Table 5">
                <a:extLst>
                  <a:ext uri="{FF2B5EF4-FFF2-40B4-BE49-F238E27FC236}">
                    <a16:creationId xmlns="" xmlns:a16="http://schemas.microsoft.com/office/drawing/2014/main" id="{CE4C50B5-665C-7647-B229-AB94A6817396}"/>
                  </a:ext>
                </a:extLst>
              </p:cNvPr>
              <p:cNvGraphicFramePr>
                <a:graphicFrameLocks noGrp="1"/>
              </p:cNvGraphicFramePr>
              <p:nvPr>
                <p:extLst>
                  <p:ext uri="{D42A27DB-BD31-4B8C-83A1-F6EECF244321}">
                    <p14:modId xmlns:p14="http://schemas.microsoft.com/office/powerpoint/2010/main" val="2314978272"/>
                  </p:ext>
                </p:extLst>
              </p:nvPr>
            </p:nvGraphicFramePr>
            <p:xfrm>
              <a:off x="2605464" y="1442132"/>
              <a:ext cx="6777872" cy="1595243"/>
            </p:xfrm>
            <a:graphic>
              <a:graphicData uri="http://schemas.openxmlformats.org/drawingml/2006/table">
                <a:tbl>
                  <a:tblPr bandRow="1">
                    <a:tableStyleId>{A91F0D33-8C57-4600-99A7-42BC86742BE1}</a:tableStyleId>
                  </a:tblPr>
                  <a:tblGrid>
                    <a:gridCol w="1694468">
                      <a:extLst>
                        <a:ext uri="{9D8B030D-6E8A-4147-A177-3AD203B41FA5}">
                          <a16:colId xmlns="" xmlns:a16="http://schemas.microsoft.com/office/drawing/2014/main" val="328654882"/>
                        </a:ext>
                      </a:extLst>
                    </a:gridCol>
                    <a:gridCol w="1694468">
                      <a:extLst>
                        <a:ext uri="{9D8B030D-6E8A-4147-A177-3AD203B41FA5}">
                          <a16:colId xmlns="" xmlns:a16="http://schemas.microsoft.com/office/drawing/2014/main" val="2280138057"/>
                        </a:ext>
                      </a:extLst>
                    </a:gridCol>
                    <a:gridCol w="1694468">
                      <a:extLst>
                        <a:ext uri="{9D8B030D-6E8A-4147-A177-3AD203B41FA5}">
                          <a16:colId xmlns="" xmlns:a16="http://schemas.microsoft.com/office/drawing/2014/main" val="3547592500"/>
                        </a:ext>
                      </a:extLst>
                    </a:gridCol>
                    <a:gridCol w="1694468">
                      <a:extLst>
                        <a:ext uri="{9D8B030D-6E8A-4147-A177-3AD203B41FA5}">
                          <a16:colId xmlns="" xmlns:a16="http://schemas.microsoft.com/office/drawing/2014/main" val="360980549"/>
                        </a:ext>
                      </a:extLst>
                    </a:gridCol>
                  </a:tblGrid>
                  <a:tr h="306051">
                    <a:tc gridSpan="4">
                      <a:txBody>
                        <a:bodyPr/>
                        <a:lstStyle/>
                        <a:p>
                          <a:pPr marL="0" marR="0" algn="ctr">
                            <a:lnSpc>
                              <a:spcPct val="107000"/>
                            </a:lnSpc>
                            <a:spcBef>
                              <a:spcPts val="0"/>
                            </a:spcBef>
                            <a:spcAft>
                              <a:spcPts val="0"/>
                            </a:spcAft>
                          </a:pPr>
                          <a:r>
                            <a:rPr lang="en-US" sz="1800" b="1" dirty="0">
                              <a:effectLst/>
                              <a:latin typeface="Verdana" pitchFamily="34" charset="0"/>
                              <a:ea typeface="Verdana" pitchFamily="34" charset="0"/>
                            </a:rPr>
                            <a:t>Price for a Jar of Pickles</a:t>
                          </a:r>
                          <a:endParaRPr lang="en-US" sz="1100" b="1" dirty="0">
                            <a:effectLst/>
                            <a:latin typeface="Verdana" pitchFamily="34" charset="0"/>
                            <a:ea typeface="Verdan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 xmlns:a16="http://schemas.microsoft.com/office/drawing/2014/main" val="4090735625"/>
                      </a:ext>
                    </a:extLst>
                  </a:tr>
                  <a:tr h="322298">
                    <a:tc>
                      <a:txBody>
                        <a:bodyPr/>
                        <a:lstStyle/>
                        <a:p>
                          <a:pPr marL="0" marR="0" algn="ctr">
                            <a:lnSpc>
                              <a:spcPct val="107000"/>
                            </a:lnSpc>
                            <a:spcBef>
                              <a:spcPts val="0"/>
                            </a:spcBef>
                            <a:spcAft>
                              <a:spcPts val="0"/>
                            </a:spcAft>
                          </a:pPr>
                          <a:r>
                            <a:rPr lang="en-US" sz="1800">
                              <a:effectLst/>
                              <a:latin typeface="Verdana" pitchFamily="34" charset="0"/>
                              <a:ea typeface="Verdana" pitchFamily="34" charset="0"/>
                            </a:rPr>
                            <a:t>Store A</a:t>
                          </a:r>
                          <a:endParaRPr lang="en-US" sz="1100">
                            <a:effectLst/>
                            <a:latin typeface="Verdana" pitchFamily="34" charset="0"/>
                            <a:ea typeface="Verdana"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$1.66</m:t>
                                </m:r>
                              </m:oMath>
                            </m:oMathPara>
                          </a14:m>
                          <a:endParaRPr lang="en-US" sz="1100">
                            <a:effectLst/>
                            <a:latin typeface="Verdana" pitchFamily="34" charset="0"/>
                            <a:ea typeface="Verdana"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effectLst/>
                              <a:latin typeface="Verdana" pitchFamily="34" charset="0"/>
                              <a:ea typeface="Verdana" pitchFamily="34" charset="0"/>
                            </a:rPr>
                            <a:t>Store E</a:t>
                          </a:r>
                          <a:endParaRPr lang="en-US" sz="1100">
                            <a:effectLst/>
                            <a:latin typeface="Verdana" pitchFamily="34" charset="0"/>
                            <a:ea typeface="Verdana"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$1.99</m:t>
                                </m:r>
                              </m:oMath>
                            </m:oMathPara>
                          </a14:m>
                          <a:endParaRPr lang="en-US" sz="1100">
                            <a:effectLst/>
                            <a:latin typeface="Verdana" pitchFamily="34" charset="0"/>
                            <a:ea typeface="Verdana"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346539152"/>
                      </a:ext>
                    </a:extLst>
                  </a:tr>
                  <a:tr h="322298">
                    <a:tc>
                      <a:txBody>
                        <a:bodyPr/>
                        <a:lstStyle/>
                        <a:p>
                          <a:pPr marL="0" marR="0" algn="ctr">
                            <a:lnSpc>
                              <a:spcPct val="107000"/>
                            </a:lnSpc>
                            <a:spcBef>
                              <a:spcPts val="0"/>
                            </a:spcBef>
                            <a:spcAft>
                              <a:spcPts val="0"/>
                            </a:spcAft>
                          </a:pPr>
                          <a:r>
                            <a:rPr lang="en-US" sz="1800">
                              <a:effectLst/>
                              <a:latin typeface="Verdana" pitchFamily="34" charset="0"/>
                              <a:ea typeface="Verdana" pitchFamily="34" charset="0"/>
                            </a:rPr>
                            <a:t>Store B</a:t>
                          </a:r>
                          <a:endParaRPr lang="en-US" sz="1100">
                            <a:effectLst/>
                            <a:latin typeface="Verdana" pitchFamily="34" charset="0"/>
                            <a:ea typeface="Verdana"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$2.99</m:t>
                                </m:r>
                              </m:oMath>
                            </m:oMathPara>
                          </a14:m>
                          <a:endParaRPr lang="en-US" sz="1100" dirty="0">
                            <a:effectLst/>
                            <a:latin typeface="Verdana" pitchFamily="34" charset="0"/>
                            <a:ea typeface="Verdana"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effectLst/>
                              <a:latin typeface="Verdana" pitchFamily="34" charset="0"/>
                              <a:ea typeface="Verdana" pitchFamily="34" charset="0"/>
                            </a:rPr>
                            <a:t>Store F</a:t>
                          </a:r>
                          <a:endParaRPr lang="en-US" sz="1100">
                            <a:effectLst/>
                            <a:latin typeface="Verdana" pitchFamily="34" charset="0"/>
                            <a:ea typeface="Verdana"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$1.99</m:t>
                                </m:r>
                              </m:oMath>
                            </m:oMathPara>
                          </a14:m>
                          <a:endParaRPr lang="en-US" sz="1100">
                            <a:effectLst/>
                            <a:latin typeface="Verdana" pitchFamily="34" charset="0"/>
                            <a:ea typeface="Verdana"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910905256"/>
                      </a:ext>
                    </a:extLst>
                  </a:tr>
                  <a:tr h="322298">
                    <a:tc>
                      <a:txBody>
                        <a:bodyPr/>
                        <a:lstStyle/>
                        <a:p>
                          <a:pPr marL="0" marR="0" algn="ctr">
                            <a:lnSpc>
                              <a:spcPct val="107000"/>
                            </a:lnSpc>
                            <a:spcBef>
                              <a:spcPts val="0"/>
                            </a:spcBef>
                            <a:spcAft>
                              <a:spcPts val="0"/>
                            </a:spcAft>
                          </a:pPr>
                          <a:r>
                            <a:rPr lang="en-US" sz="1800">
                              <a:effectLst/>
                              <a:latin typeface="Verdana" pitchFamily="34" charset="0"/>
                              <a:ea typeface="Verdana" pitchFamily="34" charset="0"/>
                            </a:rPr>
                            <a:t>Store C</a:t>
                          </a:r>
                          <a:endParaRPr lang="en-US" sz="1100">
                            <a:effectLst/>
                            <a:latin typeface="Verdana" pitchFamily="34" charset="0"/>
                            <a:ea typeface="Verdana"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$1.49</m:t>
                                </m:r>
                              </m:oMath>
                            </m:oMathPara>
                          </a14:m>
                          <a:endParaRPr lang="en-US" sz="1100">
                            <a:effectLst/>
                            <a:latin typeface="Verdana" pitchFamily="34" charset="0"/>
                            <a:ea typeface="Verdana"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effectLst/>
                              <a:latin typeface="Verdana" pitchFamily="34" charset="0"/>
                              <a:ea typeface="Verdana" pitchFamily="34" charset="0"/>
                            </a:rPr>
                            <a:t>Store G</a:t>
                          </a:r>
                          <a:endParaRPr lang="en-US" sz="1100">
                            <a:effectLst/>
                            <a:latin typeface="Verdana" pitchFamily="34" charset="0"/>
                            <a:ea typeface="Verdana"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$1.50</m:t>
                                </m:r>
                              </m:oMath>
                            </m:oMathPara>
                          </a14:m>
                          <a:endParaRPr lang="en-US" sz="1100">
                            <a:effectLst/>
                            <a:latin typeface="Verdana" pitchFamily="34" charset="0"/>
                            <a:ea typeface="Verdana"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323501282"/>
                      </a:ext>
                    </a:extLst>
                  </a:tr>
                  <a:tr h="322298">
                    <a:tc>
                      <a:txBody>
                        <a:bodyPr/>
                        <a:lstStyle/>
                        <a:p>
                          <a:pPr marL="0" marR="0" algn="ctr">
                            <a:lnSpc>
                              <a:spcPct val="107000"/>
                            </a:lnSpc>
                            <a:spcBef>
                              <a:spcPts val="0"/>
                            </a:spcBef>
                            <a:spcAft>
                              <a:spcPts val="0"/>
                            </a:spcAft>
                          </a:pPr>
                          <a:r>
                            <a:rPr lang="en-US" sz="1800" dirty="0">
                              <a:effectLst/>
                              <a:latin typeface="Verdana" pitchFamily="34" charset="0"/>
                              <a:ea typeface="Verdana" pitchFamily="34" charset="0"/>
                            </a:rPr>
                            <a:t>Store D</a:t>
                          </a:r>
                          <a:endParaRPr lang="en-US" sz="1100" dirty="0">
                            <a:effectLst/>
                            <a:latin typeface="Verdana" pitchFamily="34" charset="0"/>
                            <a:ea typeface="Verdana"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$1.99</m:t>
                                </m:r>
                              </m:oMath>
                            </m:oMathPara>
                          </a14:m>
                          <a:endParaRPr lang="en-US" sz="1100">
                            <a:effectLst/>
                            <a:latin typeface="Verdana" pitchFamily="34" charset="0"/>
                            <a:ea typeface="Verdana"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effectLst/>
                              <a:latin typeface="Verdana" pitchFamily="34" charset="0"/>
                              <a:ea typeface="Verdana" pitchFamily="34" charset="0"/>
                            </a:rPr>
                            <a:t>Store H</a:t>
                          </a:r>
                          <a:endParaRPr lang="en-US" sz="1100">
                            <a:effectLst/>
                            <a:latin typeface="Verdana" pitchFamily="34" charset="0"/>
                            <a:ea typeface="Verdana"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$1.99</m:t>
                                </m:r>
                              </m:oMath>
                            </m:oMathPara>
                          </a14:m>
                          <a:endParaRPr lang="en-US" sz="1100" dirty="0">
                            <a:effectLst/>
                            <a:latin typeface="Verdana" pitchFamily="34" charset="0"/>
                            <a:ea typeface="Verdana"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4058607755"/>
                      </a:ext>
                    </a:extLst>
                  </a:tr>
                </a:tbl>
              </a:graphicData>
            </a:graphic>
          </p:graphicFrame>
        </mc:Choice>
        <mc:Fallback>
          <p:graphicFrame>
            <p:nvGraphicFramePr>
              <p:cNvPr id="6" name="Table 5">
                <a:extLst>
                  <a:ext uri="{FF2B5EF4-FFF2-40B4-BE49-F238E27FC236}">
                    <a16:creationId xmlns="" xmlns:a16="http://schemas.microsoft.com/office/drawing/2014/main" xmlns:a14="http://schemas.microsoft.com/office/drawing/2010/main" id="{CE4C50B5-665C-7647-B229-AB94A6817396}"/>
                  </a:ext>
                </a:extLst>
              </p:cNvPr>
              <p:cNvGraphicFramePr>
                <a:graphicFrameLocks noGrp="1"/>
              </p:cNvGraphicFramePr>
              <p:nvPr>
                <p:extLst>
                  <p:ext uri="{D42A27DB-BD31-4B8C-83A1-F6EECF244321}">
                    <p14:modId xmlns:p14="http://schemas.microsoft.com/office/powerpoint/2010/main" val="2314978272"/>
                  </p:ext>
                </p:extLst>
              </p:nvPr>
            </p:nvGraphicFramePr>
            <p:xfrm>
              <a:off x="2605464" y="1442132"/>
              <a:ext cx="6777872" cy="1595243"/>
            </p:xfrm>
            <a:graphic>
              <a:graphicData uri="http://schemas.openxmlformats.org/drawingml/2006/table">
                <a:tbl>
                  <a:tblPr bandRow="1">
                    <a:tableStyleId>{A91F0D33-8C57-4600-99A7-42BC86742BE1}</a:tableStyleId>
                  </a:tblPr>
                  <a:tblGrid>
                    <a:gridCol w="1694468">
                      <a:extLst>
                        <a:ext uri="{9D8B030D-6E8A-4147-A177-3AD203B41FA5}">
                          <a16:colId xmlns="" xmlns:a16="http://schemas.microsoft.com/office/drawing/2014/main" xmlns:a14="http://schemas.microsoft.com/office/drawing/2010/main" val="328654882"/>
                        </a:ext>
                      </a:extLst>
                    </a:gridCol>
                    <a:gridCol w="1694468">
                      <a:extLst>
                        <a:ext uri="{9D8B030D-6E8A-4147-A177-3AD203B41FA5}">
                          <a16:colId xmlns="" xmlns:a16="http://schemas.microsoft.com/office/drawing/2014/main" xmlns:a14="http://schemas.microsoft.com/office/drawing/2010/main" val="2280138057"/>
                        </a:ext>
                      </a:extLst>
                    </a:gridCol>
                    <a:gridCol w="1694468">
                      <a:extLst>
                        <a:ext uri="{9D8B030D-6E8A-4147-A177-3AD203B41FA5}">
                          <a16:colId xmlns="" xmlns:a16="http://schemas.microsoft.com/office/drawing/2014/main" xmlns:a14="http://schemas.microsoft.com/office/drawing/2010/main" val="3547592500"/>
                        </a:ext>
                      </a:extLst>
                    </a:gridCol>
                    <a:gridCol w="1694468">
                      <a:extLst>
                        <a:ext uri="{9D8B030D-6E8A-4147-A177-3AD203B41FA5}">
                          <a16:colId xmlns="" xmlns:a16="http://schemas.microsoft.com/office/drawing/2014/main" xmlns:a14="http://schemas.microsoft.com/office/drawing/2010/main" val="360980549"/>
                        </a:ext>
                      </a:extLst>
                    </a:gridCol>
                  </a:tblGrid>
                  <a:tr h="306051">
                    <a:tc gridSpan="4">
                      <a:txBody>
                        <a:bodyPr/>
                        <a:lstStyle/>
                        <a:p>
                          <a:pPr marL="0" marR="0" algn="ctr">
                            <a:lnSpc>
                              <a:spcPct val="107000"/>
                            </a:lnSpc>
                            <a:spcBef>
                              <a:spcPts val="0"/>
                            </a:spcBef>
                            <a:spcAft>
                              <a:spcPts val="0"/>
                            </a:spcAft>
                          </a:pPr>
                          <a:r>
                            <a:rPr lang="en-US" sz="1800" b="1" dirty="0">
                              <a:effectLst/>
                              <a:latin typeface="Verdana" pitchFamily="34" charset="0"/>
                              <a:ea typeface="Verdana" pitchFamily="34" charset="0"/>
                            </a:rPr>
                            <a:t>Price for a Jar of Pickles</a:t>
                          </a:r>
                          <a:endParaRPr lang="en-US" sz="1100" b="1" dirty="0">
                            <a:effectLst/>
                            <a:latin typeface="Verdana" pitchFamily="34" charset="0"/>
                            <a:ea typeface="Verdan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 xmlns:a16="http://schemas.microsoft.com/office/drawing/2014/main" xmlns:a14="http://schemas.microsoft.com/office/drawing/2010/main" val="4090735625"/>
                      </a:ext>
                    </a:extLst>
                  </a:tr>
                  <a:tr h="322298">
                    <a:tc>
                      <a:txBody>
                        <a:bodyPr/>
                        <a:lstStyle/>
                        <a:p>
                          <a:pPr marL="0" marR="0" algn="ctr">
                            <a:lnSpc>
                              <a:spcPct val="107000"/>
                            </a:lnSpc>
                            <a:spcBef>
                              <a:spcPts val="0"/>
                            </a:spcBef>
                            <a:spcAft>
                              <a:spcPts val="0"/>
                            </a:spcAft>
                          </a:pPr>
                          <a:r>
                            <a:rPr lang="en-US" sz="1800">
                              <a:effectLst/>
                              <a:latin typeface="Verdana" pitchFamily="34" charset="0"/>
                              <a:ea typeface="Verdana" pitchFamily="34" charset="0"/>
                            </a:rPr>
                            <a:t>Store A</a:t>
                          </a:r>
                          <a:endParaRPr lang="en-US" sz="1100">
                            <a:effectLst/>
                            <a:latin typeface="Verdana" pitchFamily="34" charset="0"/>
                            <a:ea typeface="Verdana"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3"/>
                          <a:stretch>
                            <a:fillRect l="-100000" t="-115094" r="-200360" b="-326415"/>
                          </a:stretch>
                        </a:blipFill>
                      </a:tcPr>
                    </a:tc>
                    <a:tc>
                      <a:txBody>
                        <a:bodyPr/>
                        <a:lstStyle/>
                        <a:p>
                          <a:pPr marL="0" marR="0" algn="ctr">
                            <a:lnSpc>
                              <a:spcPct val="107000"/>
                            </a:lnSpc>
                            <a:spcBef>
                              <a:spcPts val="0"/>
                            </a:spcBef>
                            <a:spcAft>
                              <a:spcPts val="0"/>
                            </a:spcAft>
                          </a:pPr>
                          <a:r>
                            <a:rPr lang="en-US" sz="1800">
                              <a:effectLst/>
                              <a:latin typeface="Verdana" pitchFamily="34" charset="0"/>
                              <a:ea typeface="Verdana" pitchFamily="34" charset="0"/>
                            </a:rPr>
                            <a:t>Store E</a:t>
                          </a:r>
                          <a:endParaRPr lang="en-US" sz="1100">
                            <a:effectLst/>
                            <a:latin typeface="Verdana" pitchFamily="34" charset="0"/>
                            <a:ea typeface="Verdana"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3"/>
                          <a:stretch>
                            <a:fillRect l="-300000" t="-115094" r="-360" b="-326415"/>
                          </a:stretch>
                        </a:blipFill>
                      </a:tcPr>
                    </a:tc>
                    <a:extLst>
                      <a:ext uri="{0D108BD9-81ED-4DB2-BD59-A6C34878D82A}">
                        <a16:rowId xmlns="" xmlns:a16="http://schemas.microsoft.com/office/drawing/2014/main" xmlns:a14="http://schemas.microsoft.com/office/drawing/2010/main" val="3346539152"/>
                      </a:ext>
                    </a:extLst>
                  </a:tr>
                  <a:tr h="322298">
                    <a:tc>
                      <a:txBody>
                        <a:bodyPr/>
                        <a:lstStyle/>
                        <a:p>
                          <a:pPr marL="0" marR="0" algn="ctr">
                            <a:lnSpc>
                              <a:spcPct val="107000"/>
                            </a:lnSpc>
                            <a:spcBef>
                              <a:spcPts val="0"/>
                            </a:spcBef>
                            <a:spcAft>
                              <a:spcPts val="0"/>
                            </a:spcAft>
                          </a:pPr>
                          <a:r>
                            <a:rPr lang="en-US" sz="1800">
                              <a:effectLst/>
                              <a:latin typeface="Verdana" pitchFamily="34" charset="0"/>
                              <a:ea typeface="Verdana" pitchFamily="34" charset="0"/>
                            </a:rPr>
                            <a:t>Store B</a:t>
                          </a:r>
                          <a:endParaRPr lang="en-US" sz="1100">
                            <a:effectLst/>
                            <a:latin typeface="Verdana" pitchFamily="34" charset="0"/>
                            <a:ea typeface="Verdana"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3"/>
                          <a:stretch>
                            <a:fillRect l="-100000" t="-215094" r="-200360" b="-226415"/>
                          </a:stretch>
                        </a:blipFill>
                      </a:tcPr>
                    </a:tc>
                    <a:tc>
                      <a:txBody>
                        <a:bodyPr/>
                        <a:lstStyle/>
                        <a:p>
                          <a:pPr marL="0" marR="0" algn="ctr">
                            <a:lnSpc>
                              <a:spcPct val="107000"/>
                            </a:lnSpc>
                            <a:spcBef>
                              <a:spcPts val="0"/>
                            </a:spcBef>
                            <a:spcAft>
                              <a:spcPts val="0"/>
                            </a:spcAft>
                          </a:pPr>
                          <a:r>
                            <a:rPr lang="en-US" sz="1800">
                              <a:effectLst/>
                              <a:latin typeface="Verdana" pitchFamily="34" charset="0"/>
                              <a:ea typeface="Verdana" pitchFamily="34" charset="0"/>
                            </a:rPr>
                            <a:t>Store F</a:t>
                          </a:r>
                          <a:endParaRPr lang="en-US" sz="1100">
                            <a:effectLst/>
                            <a:latin typeface="Verdana" pitchFamily="34" charset="0"/>
                            <a:ea typeface="Verdana"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3"/>
                          <a:stretch>
                            <a:fillRect l="-300000" t="-215094" r="-360" b="-226415"/>
                          </a:stretch>
                        </a:blipFill>
                      </a:tcPr>
                    </a:tc>
                    <a:extLst>
                      <a:ext uri="{0D108BD9-81ED-4DB2-BD59-A6C34878D82A}">
                        <a16:rowId xmlns="" xmlns:a16="http://schemas.microsoft.com/office/drawing/2014/main" xmlns:a14="http://schemas.microsoft.com/office/drawing/2010/main" val="3910905256"/>
                      </a:ext>
                    </a:extLst>
                  </a:tr>
                  <a:tr h="322298">
                    <a:tc>
                      <a:txBody>
                        <a:bodyPr/>
                        <a:lstStyle/>
                        <a:p>
                          <a:pPr marL="0" marR="0" algn="ctr">
                            <a:lnSpc>
                              <a:spcPct val="107000"/>
                            </a:lnSpc>
                            <a:spcBef>
                              <a:spcPts val="0"/>
                            </a:spcBef>
                            <a:spcAft>
                              <a:spcPts val="0"/>
                            </a:spcAft>
                          </a:pPr>
                          <a:r>
                            <a:rPr lang="en-US" sz="1800">
                              <a:effectLst/>
                              <a:latin typeface="Verdana" pitchFamily="34" charset="0"/>
                              <a:ea typeface="Verdana" pitchFamily="34" charset="0"/>
                            </a:rPr>
                            <a:t>Store C</a:t>
                          </a:r>
                          <a:endParaRPr lang="en-US" sz="1100">
                            <a:effectLst/>
                            <a:latin typeface="Verdana" pitchFamily="34" charset="0"/>
                            <a:ea typeface="Verdana"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3"/>
                          <a:stretch>
                            <a:fillRect l="-100000" t="-321154" r="-200360" b="-130769"/>
                          </a:stretch>
                        </a:blipFill>
                      </a:tcPr>
                    </a:tc>
                    <a:tc>
                      <a:txBody>
                        <a:bodyPr/>
                        <a:lstStyle/>
                        <a:p>
                          <a:pPr marL="0" marR="0" algn="ctr">
                            <a:lnSpc>
                              <a:spcPct val="107000"/>
                            </a:lnSpc>
                            <a:spcBef>
                              <a:spcPts val="0"/>
                            </a:spcBef>
                            <a:spcAft>
                              <a:spcPts val="0"/>
                            </a:spcAft>
                          </a:pPr>
                          <a:r>
                            <a:rPr lang="en-US" sz="1800">
                              <a:effectLst/>
                              <a:latin typeface="Verdana" pitchFamily="34" charset="0"/>
                              <a:ea typeface="Verdana" pitchFamily="34" charset="0"/>
                            </a:rPr>
                            <a:t>Store G</a:t>
                          </a:r>
                          <a:endParaRPr lang="en-US" sz="1100">
                            <a:effectLst/>
                            <a:latin typeface="Verdana" pitchFamily="34" charset="0"/>
                            <a:ea typeface="Verdana"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3"/>
                          <a:stretch>
                            <a:fillRect l="-300000" t="-321154" r="-360" b="-130769"/>
                          </a:stretch>
                        </a:blipFill>
                      </a:tcPr>
                    </a:tc>
                    <a:extLst>
                      <a:ext uri="{0D108BD9-81ED-4DB2-BD59-A6C34878D82A}">
                        <a16:rowId xmlns="" xmlns:a16="http://schemas.microsoft.com/office/drawing/2014/main" xmlns:a14="http://schemas.microsoft.com/office/drawing/2010/main" val="3323501282"/>
                      </a:ext>
                    </a:extLst>
                  </a:tr>
                  <a:tr h="322298">
                    <a:tc>
                      <a:txBody>
                        <a:bodyPr/>
                        <a:lstStyle/>
                        <a:p>
                          <a:pPr marL="0" marR="0" algn="ctr">
                            <a:lnSpc>
                              <a:spcPct val="107000"/>
                            </a:lnSpc>
                            <a:spcBef>
                              <a:spcPts val="0"/>
                            </a:spcBef>
                            <a:spcAft>
                              <a:spcPts val="0"/>
                            </a:spcAft>
                          </a:pPr>
                          <a:r>
                            <a:rPr lang="en-US" sz="1800" dirty="0">
                              <a:effectLst/>
                              <a:latin typeface="Verdana" pitchFamily="34" charset="0"/>
                              <a:ea typeface="Verdana" pitchFamily="34" charset="0"/>
                            </a:rPr>
                            <a:t>Store D</a:t>
                          </a:r>
                          <a:endParaRPr lang="en-US" sz="1100" dirty="0">
                            <a:effectLst/>
                            <a:latin typeface="Verdana" pitchFamily="34" charset="0"/>
                            <a:ea typeface="Verdana"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3"/>
                          <a:stretch>
                            <a:fillRect l="-100000" t="-413208" r="-200360" b="-28302"/>
                          </a:stretch>
                        </a:blipFill>
                      </a:tcPr>
                    </a:tc>
                    <a:tc>
                      <a:txBody>
                        <a:bodyPr/>
                        <a:lstStyle/>
                        <a:p>
                          <a:pPr marL="0" marR="0" algn="ctr">
                            <a:lnSpc>
                              <a:spcPct val="107000"/>
                            </a:lnSpc>
                            <a:spcBef>
                              <a:spcPts val="0"/>
                            </a:spcBef>
                            <a:spcAft>
                              <a:spcPts val="0"/>
                            </a:spcAft>
                          </a:pPr>
                          <a:r>
                            <a:rPr lang="en-US" sz="1800">
                              <a:effectLst/>
                              <a:latin typeface="Verdana" pitchFamily="34" charset="0"/>
                              <a:ea typeface="Verdana" pitchFamily="34" charset="0"/>
                            </a:rPr>
                            <a:t>Store H</a:t>
                          </a:r>
                          <a:endParaRPr lang="en-US" sz="1100">
                            <a:effectLst/>
                            <a:latin typeface="Verdana" pitchFamily="34" charset="0"/>
                            <a:ea typeface="Verdana"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3"/>
                          <a:stretch>
                            <a:fillRect l="-300000" t="-413208" r="-360" b="-28302"/>
                          </a:stretch>
                        </a:blipFill>
                      </a:tcPr>
                    </a:tc>
                    <a:extLst>
                      <a:ext uri="{0D108BD9-81ED-4DB2-BD59-A6C34878D82A}">
                        <a16:rowId xmlns="" xmlns:a16="http://schemas.microsoft.com/office/drawing/2014/main" xmlns:a14="http://schemas.microsoft.com/office/drawing/2010/main" val="4058607755"/>
                      </a:ext>
                    </a:extLst>
                  </a:tr>
                </a:tbl>
              </a:graphicData>
            </a:graphic>
          </p:graphicFrame>
        </mc:Fallback>
      </mc:AlternateContent>
      <p:sp>
        <p:nvSpPr>
          <p:cNvPr id="11" name="Rounded Rectangle 10">
            <a:extLst>
              <a:ext uri="{FF2B5EF4-FFF2-40B4-BE49-F238E27FC236}">
                <a16:creationId xmlns="" xmlns:a16="http://schemas.microsoft.com/office/drawing/2014/main" id="{E4A11FBB-C84B-7D42-A31B-6EC725842C08}"/>
              </a:ext>
            </a:extLst>
          </p:cNvPr>
          <p:cNvSpPr/>
          <p:nvPr/>
        </p:nvSpPr>
        <p:spPr>
          <a:xfrm>
            <a:off x="4326255" y="5007644"/>
            <a:ext cx="3615478" cy="830866"/>
          </a:xfrm>
          <a:prstGeom prst="roundRect">
            <a:avLst/>
          </a:prstGeom>
          <a:ln w="12700"/>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spAutoFit/>
          </a:bodyPr>
          <a:lstStyle/>
          <a:p>
            <a:pPr marL="228600" indent="-285750">
              <a:lnSpc>
                <a:spcPct val="107000"/>
              </a:lnSpc>
              <a:buFont typeface="Courier New" panose="02070309020205020404" pitchFamily="49" charset="0"/>
              <a:buChar char="o"/>
            </a:pPr>
            <a:r>
              <a:rPr lang="en-US" sz="2000" dirty="0">
                <a:latin typeface="Verdana" panose="020B0604030504040204" pitchFamily="34" charset="0"/>
                <a:ea typeface="Times New Roman" panose="02020603050405020304" pitchFamily="18" charset="0"/>
              </a:rPr>
              <a:t>median of the data set.</a:t>
            </a:r>
            <a:endParaRPr lang="en-US" sz="2000" dirty="0">
              <a:ea typeface="Times New Roman" panose="02020603050405020304" pitchFamily="18" charset="0"/>
            </a:endParaRPr>
          </a:p>
          <a:p>
            <a:pPr marL="228600" indent="-285750">
              <a:lnSpc>
                <a:spcPct val="107000"/>
              </a:lnSpc>
              <a:spcAft>
                <a:spcPts val="800"/>
              </a:spcAft>
              <a:buFont typeface="Courier New" panose="02070309020205020404" pitchFamily="49" charset="0"/>
              <a:buChar char="o"/>
            </a:pPr>
            <a:r>
              <a:rPr lang="en-US" sz="2000" dirty="0">
                <a:latin typeface="Verdana" panose="020B0604030504040204" pitchFamily="34" charset="0"/>
                <a:ea typeface="Times New Roman" panose="02020603050405020304" pitchFamily="18" charset="0"/>
              </a:rPr>
              <a:t>mode of the data set. </a:t>
            </a:r>
            <a:endParaRPr lang="en-US" sz="2000" dirty="0">
              <a:ea typeface="Times New Roman" panose="02020603050405020304" pitchFamily="18" charset="0"/>
            </a:endParaRPr>
          </a:p>
        </p:txBody>
      </p:sp>
      <p:pic>
        <p:nvPicPr>
          <p:cNvPr id="9" name="Google Shape;311;g104476d1465_1_39"/>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82;g104476d1465_1_17">
            <a:extLst>
              <a:ext uri="{FF2B5EF4-FFF2-40B4-BE49-F238E27FC236}">
                <a16:creationId xmlns="" xmlns:a16="http://schemas.microsoft.com/office/drawing/2014/main" id="{2C9405F7-8214-CE45-80C3-9FBF7002FBD5}"/>
              </a:ext>
            </a:extLst>
          </p:cNvPr>
          <p:cNvSpPr txBox="1"/>
          <p:nvPr/>
        </p:nvSpPr>
        <p:spPr>
          <a:xfrm>
            <a:off x="8994150" y="6537462"/>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163</a:t>
            </a:r>
            <a:endParaRPr i="1" dirty="0">
              <a:latin typeface="Calibri"/>
              <a:ea typeface="Calibri"/>
              <a:cs typeface="Calibri"/>
              <a:sym typeface="Calibri"/>
            </a:endParaRPr>
          </a:p>
        </p:txBody>
      </p:sp>
    </p:spTree>
    <p:extLst>
      <p:ext uri="{BB962C8B-B14F-4D97-AF65-F5344CB8AC3E}">
        <p14:creationId xmlns:p14="http://schemas.microsoft.com/office/powerpoint/2010/main" val="21022857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 xmlns:a16="http://schemas.microsoft.com/office/drawing/2014/main" id="{2FA392D8-3ED3-7940-83A8-1451AA8A08D4}"/>
              </a:ext>
            </a:extLst>
          </p:cNvPr>
          <p:cNvSpPr txBox="1"/>
          <p:nvPr/>
        </p:nvSpPr>
        <p:spPr>
          <a:xfrm>
            <a:off x="527845" y="382929"/>
            <a:ext cx="11675690" cy="4154984"/>
          </a:xfrm>
          <a:prstGeom prst="rect">
            <a:avLst/>
          </a:prstGeom>
          <a:noFill/>
        </p:spPr>
        <p:txBody>
          <a:bodyPr wrap="square" rtlCol="0">
            <a:spAutoFit/>
          </a:bodyPr>
          <a:lstStyle/>
          <a:p>
            <a:pPr marL="927100" indent="-457200">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What is the most </a:t>
            </a:r>
            <a:r>
              <a:rPr lang="en-US" sz="2400" dirty="0" err="1">
                <a:latin typeface="Verdana" panose="020B0604030504040204" pitchFamily="34" charset="0"/>
                <a:ea typeface="Verdana" panose="020B0604030504040204" pitchFamily="34" charset="0"/>
                <a:cs typeface="Verdana" panose="020B0604030504040204" pitchFamily="34" charset="0"/>
              </a:rPr>
              <a:t>Shep</a:t>
            </a:r>
            <a:r>
              <a:rPr lang="en-US" sz="2400" dirty="0">
                <a:latin typeface="Verdana" panose="020B0604030504040204" pitchFamily="34" charset="0"/>
                <a:ea typeface="Verdana" panose="020B0604030504040204" pitchFamily="34" charset="0"/>
                <a:cs typeface="Verdana" panose="020B0604030504040204" pitchFamily="34" charset="0"/>
              </a:rPr>
              <a:t> will spend on a jar of pickles?</a:t>
            </a:r>
          </a:p>
          <a:p>
            <a:pPr marL="927100" indent="-457200">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7100" indent="-457200">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7100" indent="-457200">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7100" indent="-457200">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What is the least </a:t>
            </a:r>
            <a:r>
              <a:rPr lang="en-US" sz="2400" dirty="0" err="1">
                <a:latin typeface="Verdana" panose="020B0604030504040204" pitchFamily="34" charset="0"/>
                <a:ea typeface="Verdana" panose="020B0604030504040204" pitchFamily="34" charset="0"/>
                <a:cs typeface="Verdana" panose="020B0604030504040204" pitchFamily="34" charset="0"/>
              </a:rPr>
              <a:t>Shep</a:t>
            </a:r>
            <a:r>
              <a:rPr lang="en-US" sz="2400" dirty="0">
                <a:latin typeface="Verdana" panose="020B0604030504040204" pitchFamily="34" charset="0"/>
                <a:ea typeface="Verdana" panose="020B0604030504040204" pitchFamily="34" charset="0"/>
                <a:cs typeface="Verdana" panose="020B0604030504040204" pitchFamily="34" charset="0"/>
              </a:rPr>
              <a:t> will spend on a jar of pickles?</a:t>
            </a:r>
          </a:p>
          <a:p>
            <a:pPr marL="927100" indent="-457200">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7100" indent="-457200">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7100" indent="-457200">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7100" indent="-457200">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The range of a data set describes how spread out the data is. Determine the range in price for a jar of pickles.</a:t>
            </a:r>
          </a:p>
          <a:p>
            <a:pPr marL="457200" indent="-457200">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p:pic>
        <p:nvPicPr>
          <p:cNvPr id="7"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 xmlns:a16="http://schemas.microsoft.com/office/drawing/2014/main" id="{2C9405F7-8214-CE45-80C3-9FBF7002FBD5}"/>
              </a:ext>
            </a:extLst>
          </p:cNvPr>
          <p:cNvSpPr txBox="1"/>
          <p:nvPr/>
        </p:nvSpPr>
        <p:spPr>
          <a:xfrm>
            <a:off x="8994150" y="6537462"/>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163</a:t>
            </a:r>
            <a:endParaRPr i="1" dirty="0">
              <a:latin typeface="Calibri"/>
              <a:ea typeface="Calibri"/>
              <a:cs typeface="Calibri"/>
              <a:sym typeface="Calibri"/>
            </a:endParaRPr>
          </a:p>
        </p:txBody>
      </p:sp>
    </p:spTree>
    <p:extLst>
      <p:ext uri="{BB962C8B-B14F-4D97-AF65-F5344CB8AC3E}">
        <p14:creationId xmlns:p14="http://schemas.microsoft.com/office/powerpoint/2010/main" val="23735242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 xmlns:a16="http://schemas.microsoft.com/office/drawing/2014/main" id="{2FA392D8-3ED3-7940-83A8-1451AA8A08D4}"/>
              </a:ext>
            </a:extLst>
          </p:cNvPr>
          <p:cNvSpPr txBox="1"/>
          <p:nvPr/>
        </p:nvSpPr>
        <p:spPr>
          <a:xfrm>
            <a:off x="558260" y="389106"/>
            <a:ext cx="11514012" cy="4154984"/>
          </a:xfrm>
          <a:prstGeom prst="rect">
            <a:avLst/>
          </a:prstGeom>
          <a:noFill/>
        </p:spPr>
        <p:txBody>
          <a:bodyPr wrap="square" rtlCol="0">
            <a:spAutoFit/>
          </a:bodyPr>
          <a:lstStyle/>
          <a:p>
            <a:pPr marL="457200" lvl="3" indent="-457200">
              <a:buFont typeface="+mj-lt"/>
              <a:buAutoNum type="arabicPeriod" startAt="3"/>
            </a:pPr>
            <a:r>
              <a:rPr lang="en-US" sz="2400" dirty="0" err="1">
                <a:latin typeface="Verdana" panose="020B0604030504040204" pitchFamily="34" charset="0"/>
                <a:ea typeface="Verdana" panose="020B0604030504040204" pitchFamily="34" charset="0"/>
                <a:cs typeface="Verdana" panose="020B0604030504040204" pitchFamily="34" charset="0"/>
              </a:rPr>
              <a:t>Shep</a:t>
            </a:r>
            <a:r>
              <a:rPr lang="en-US" sz="2400" dirty="0">
                <a:latin typeface="Verdana" panose="020B0604030504040204" pitchFamily="34" charset="0"/>
                <a:ea typeface="Verdana" panose="020B0604030504040204" pitchFamily="34" charset="0"/>
                <a:cs typeface="Verdana" panose="020B0604030504040204" pitchFamily="34" charset="0"/>
              </a:rPr>
              <a:t> also began collecting the price of his favorite cereal to determine where he would get the best price.</a:t>
            </a: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919163" lvl="4" indent="-449263">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The mode price of his favorite box of cereal is _____________.  </a:t>
            </a: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mc:AlternateContent xmlns:mc="http://schemas.openxmlformats.org/markup-compatibility/2006">
        <mc:Choice xmlns:a14="http://schemas.microsoft.com/office/drawing/2010/main" Requires="a14">
          <p:graphicFrame>
            <p:nvGraphicFramePr>
              <p:cNvPr id="2" name="Table 1">
                <a:extLst>
                  <a:ext uri="{FF2B5EF4-FFF2-40B4-BE49-F238E27FC236}">
                    <a16:creationId xmlns="" xmlns:a16="http://schemas.microsoft.com/office/drawing/2014/main" id="{F3CCC20B-6C6C-CC4D-B83D-05DA1D171A6E}"/>
                  </a:ext>
                </a:extLst>
              </p:cNvPr>
              <p:cNvGraphicFramePr>
                <a:graphicFrameLocks noGrp="1"/>
              </p:cNvGraphicFramePr>
              <p:nvPr>
                <p:extLst>
                  <p:ext uri="{D42A27DB-BD31-4B8C-83A1-F6EECF244321}">
                    <p14:modId xmlns:p14="http://schemas.microsoft.com/office/powerpoint/2010/main" val="4226872842"/>
                  </p:ext>
                </p:extLst>
              </p:nvPr>
            </p:nvGraphicFramePr>
            <p:xfrm>
              <a:off x="2813676" y="1368562"/>
              <a:ext cx="7003180" cy="1733038"/>
            </p:xfrm>
            <a:graphic>
              <a:graphicData uri="http://schemas.openxmlformats.org/drawingml/2006/table">
                <a:tbl>
                  <a:tblPr bandRow="1">
                    <a:tableStyleId>{A91F0D33-8C57-4600-99A7-42BC86742BE1}</a:tableStyleId>
                  </a:tblPr>
                  <a:tblGrid>
                    <a:gridCol w="1750795">
                      <a:extLst>
                        <a:ext uri="{9D8B030D-6E8A-4147-A177-3AD203B41FA5}">
                          <a16:colId xmlns="" xmlns:a16="http://schemas.microsoft.com/office/drawing/2014/main" val="3078085506"/>
                        </a:ext>
                      </a:extLst>
                    </a:gridCol>
                    <a:gridCol w="1750795">
                      <a:extLst>
                        <a:ext uri="{9D8B030D-6E8A-4147-A177-3AD203B41FA5}">
                          <a16:colId xmlns="" xmlns:a16="http://schemas.microsoft.com/office/drawing/2014/main" val="1235953452"/>
                        </a:ext>
                      </a:extLst>
                    </a:gridCol>
                    <a:gridCol w="1750795">
                      <a:extLst>
                        <a:ext uri="{9D8B030D-6E8A-4147-A177-3AD203B41FA5}">
                          <a16:colId xmlns="" xmlns:a16="http://schemas.microsoft.com/office/drawing/2014/main" val="2473368300"/>
                        </a:ext>
                      </a:extLst>
                    </a:gridCol>
                    <a:gridCol w="1750795">
                      <a:extLst>
                        <a:ext uri="{9D8B030D-6E8A-4147-A177-3AD203B41FA5}">
                          <a16:colId xmlns="" xmlns:a16="http://schemas.microsoft.com/office/drawing/2014/main" val="1517099363"/>
                        </a:ext>
                      </a:extLst>
                    </a:gridCol>
                  </a:tblGrid>
                  <a:tr h="316224">
                    <a:tc gridSpan="4">
                      <a:txBody>
                        <a:bodyPr/>
                        <a:lstStyle/>
                        <a:p>
                          <a:pPr marL="0" marR="0" algn="ctr">
                            <a:lnSpc>
                              <a:spcPct val="107000"/>
                            </a:lnSpc>
                            <a:spcBef>
                              <a:spcPts val="0"/>
                            </a:spcBef>
                            <a:spcAft>
                              <a:spcPts val="0"/>
                            </a:spcAft>
                          </a:pPr>
                          <a:r>
                            <a:rPr lang="en-US" sz="2000" b="1" dirty="0">
                              <a:effectLst/>
                              <a:latin typeface="Verdana" pitchFamily="34" charset="0"/>
                              <a:ea typeface="Verdana" pitchFamily="34" charset="0"/>
                            </a:rPr>
                            <a:t>Price for a Box of Cereal</a:t>
                          </a:r>
                          <a:endParaRPr lang="en-US" sz="1200" b="1" dirty="0">
                            <a:effectLst/>
                            <a:latin typeface="Verdana" pitchFamily="34" charset="0"/>
                            <a:ea typeface="Verdana" pitchFamily="34" charset="0"/>
                          </a:endParaRPr>
                        </a:p>
                      </a:txBody>
                      <a:tcPr marL="103751" marR="103751" marT="51875" marB="518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 xmlns:a16="http://schemas.microsoft.com/office/drawing/2014/main" val="729030560"/>
                      </a:ext>
                    </a:extLst>
                  </a:tr>
                  <a:tr h="333011">
                    <a:tc>
                      <a:txBody>
                        <a:bodyPr/>
                        <a:lstStyle/>
                        <a:p>
                          <a:pPr marL="0" marR="0" algn="ctr">
                            <a:lnSpc>
                              <a:spcPct val="107000"/>
                            </a:lnSpc>
                            <a:spcBef>
                              <a:spcPts val="0"/>
                            </a:spcBef>
                            <a:spcAft>
                              <a:spcPts val="0"/>
                            </a:spcAft>
                          </a:pPr>
                          <a:r>
                            <a:rPr lang="en-US" sz="2000">
                              <a:effectLst/>
                              <a:latin typeface="Verdana" pitchFamily="34" charset="0"/>
                              <a:ea typeface="Verdana" pitchFamily="34" charset="0"/>
                            </a:rPr>
                            <a:t>Store A</a:t>
                          </a:r>
                          <a:endParaRPr lang="en-US" sz="1200">
                            <a:effectLst/>
                            <a:latin typeface="Verdana" pitchFamily="34" charset="0"/>
                            <a:ea typeface="Verdana" pitchFamily="34" charset="0"/>
                          </a:endParaRPr>
                        </a:p>
                      </a:txBody>
                      <a:tcPr marL="77813" marR="7781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$3.79</m:t>
                                </m:r>
                              </m:oMath>
                            </m:oMathPara>
                          </a14:m>
                          <a:endParaRPr lang="en-US" sz="1200">
                            <a:effectLst/>
                            <a:latin typeface="Verdana" pitchFamily="34" charset="0"/>
                            <a:ea typeface="Verdana" pitchFamily="34" charset="0"/>
                          </a:endParaRPr>
                        </a:p>
                      </a:txBody>
                      <a:tcPr marL="77813" marR="7781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Verdana" pitchFamily="34" charset="0"/>
                              <a:ea typeface="Verdana" pitchFamily="34" charset="0"/>
                            </a:rPr>
                            <a:t>Store E</a:t>
                          </a:r>
                          <a:endParaRPr lang="en-US" sz="1200">
                            <a:effectLst/>
                            <a:latin typeface="Verdana" pitchFamily="34" charset="0"/>
                            <a:ea typeface="Verdana" pitchFamily="34" charset="0"/>
                          </a:endParaRPr>
                        </a:p>
                      </a:txBody>
                      <a:tcPr marL="77813" marR="7781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$3.99</m:t>
                                </m:r>
                              </m:oMath>
                            </m:oMathPara>
                          </a14:m>
                          <a:endParaRPr lang="en-US" sz="1200">
                            <a:effectLst/>
                            <a:latin typeface="Verdana" pitchFamily="34" charset="0"/>
                            <a:ea typeface="Verdana" pitchFamily="34" charset="0"/>
                          </a:endParaRPr>
                        </a:p>
                      </a:txBody>
                      <a:tcPr marL="77813" marR="7781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837385118"/>
                      </a:ext>
                    </a:extLst>
                  </a:tr>
                  <a:tr h="333011">
                    <a:tc>
                      <a:txBody>
                        <a:bodyPr/>
                        <a:lstStyle/>
                        <a:p>
                          <a:pPr marL="0" marR="0" algn="ctr">
                            <a:lnSpc>
                              <a:spcPct val="107000"/>
                            </a:lnSpc>
                            <a:spcBef>
                              <a:spcPts val="0"/>
                            </a:spcBef>
                            <a:spcAft>
                              <a:spcPts val="0"/>
                            </a:spcAft>
                          </a:pPr>
                          <a:r>
                            <a:rPr lang="en-US" sz="2000" dirty="0">
                              <a:effectLst/>
                              <a:latin typeface="Verdana" pitchFamily="34" charset="0"/>
                              <a:ea typeface="Verdana" pitchFamily="34" charset="0"/>
                            </a:rPr>
                            <a:t>Store B</a:t>
                          </a:r>
                          <a:endParaRPr lang="en-US" sz="1200" dirty="0">
                            <a:effectLst/>
                            <a:latin typeface="Verdana" pitchFamily="34" charset="0"/>
                            <a:ea typeface="Verdana" pitchFamily="34" charset="0"/>
                          </a:endParaRPr>
                        </a:p>
                      </a:txBody>
                      <a:tcPr marL="77813" marR="7781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$3.89</m:t>
                                </m:r>
                              </m:oMath>
                            </m:oMathPara>
                          </a14:m>
                          <a:endParaRPr lang="en-US" sz="1200">
                            <a:effectLst/>
                            <a:latin typeface="Verdana" pitchFamily="34" charset="0"/>
                            <a:ea typeface="Verdana" pitchFamily="34" charset="0"/>
                          </a:endParaRPr>
                        </a:p>
                      </a:txBody>
                      <a:tcPr marL="77813" marR="7781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Verdana" pitchFamily="34" charset="0"/>
                              <a:ea typeface="Verdana" pitchFamily="34" charset="0"/>
                            </a:rPr>
                            <a:t>Store F</a:t>
                          </a:r>
                          <a:endParaRPr lang="en-US" sz="1200">
                            <a:effectLst/>
                            <a:latin typeface="Verdana" pitchFamily="34" charset="0"/>
                            <a:ea typeface="Verdana" pitchFamily="34" charset="0"/>
                          </a:endParaRPr>
                        </a:p>
                      </a:txBody>
                      <a:tcPr marL="77813" marR="7781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$3.89</m:t>
                                </m:r>
                              </m:oMath>
                            </m:oMathPara>
                          </a14:m>
                          <a:endParaRPr lang="en-US" sz="1200">
                            <a:effectLst/>
                            <a:latin typeface="Verdana" pitchFamily="34" charset="0"/>
                            <a:ea typeface="Verdana" pitchFamily="34" charset="0"/>
                          </a:endParaRPr>
                        </a:p>
                      </a:txBody>
                      <a:tcPr marL="77813" marR="7781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587392253"/>
                      </a:ext>
                    </a:extLst>
                  </a:tr>
                  <a:tr h="333011">
                    <a:tc>
                      <a:txBody>
                        <a:bodyPr/>
                        <a:lstStyle/>
                        <a:p>
                          <a:pPr marL="0" marR="0" algn="ctr">
                            <a:lnSpc>
                              <a:spcPct val="107000"/>
                            </a:lnSpc>
                            <a:spcBef>
                              <a:spcPts val="0"/>
                            </a:spcBef>
                            <a:spcAft>
                              <a:spcPts val="0"/>
                            </a:spcAft>
                          </a:pPr>
                          <a:r>
                            <a:rPr lang="en-US" sz="2000">
                              <a:effectLst/>
                              <a:latin typeface="Verdana" pitchFamily="34" charset="0"/>
                              <a:ea typeface="Verdana" pitchFamily="34" charset="0"/>
                            </a:rPr>
                            <a:t>Store C</a:t>
                          </a:r>
                          <a:endParaRPr lang="en-US" sz="1200">
                            <a:effectLst/>
                            <a:latin typeface="Verdana" pitchFamily="34" charset="0"/>
                            <a:ea typeface="Verdana" pitchFamily="34" charset="0"/>
                          </a:endParaRPr>
                        </a:p>
                      </a:txBody>
                      <a:tcPr marL="77813" marR="7781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$3.99</m:t>
                                </m:r>
                              </m:oMath>
                            </m:oMathPara>
                          </a14:m>
                          <a:endParaRPr lang="en-US" sz="1200">
                            <a:effectLst/>
                            <a:latin typeface="Verdana" pitchFamily="34" charset="0"/>
                            <a:ea typeface="Verdana" pitchFamily="34" charset="0"/>
                          </a:endParaRPr>
                        </a:p>
                      </a:txBody>
                      <a:tcPr marL="77813" marR="7781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Verdana" pitchFamily="34" charset="0"/>
                              <a:ea typeface="Verdana" pitchFamily="34" charset="0"/>
                            </a:rPr>
                            <a:t>Store G</a:t>
                          </a:r>
                          <a:endParaRPr lang="en-US" sz="1200">
                            <a:effectLst/>
                            <a:latin typeface="Verdana" pitchFamily="34" charset="0"/>
                            <a:ea typeface="Verdana" pitchFamily="34" charset="0"/>
                          </a:endParaRPr>
                        </a:p>
                      </a:txBody>
                      <a:tcPr marL="77813" marR="7781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$4.29</m:t>
                                </m:r>
                              </m:oMath>
                            </m:oMathPara>
                          </a14:m>
                          <a:endParaRPr lang="en-US" sz="1200">
                            <a:effectLst/>
                            <a:latin typeface="Verdana" pitchFamily="34" charset="0"/>
                            <a:ea typeface="Verdana" pitchFamily="34" charset="0"/>
                          </a:endParaRPr>
                        </a:p>
                      </a:txBody>
                      <a:tcPr marL="77813" marR="7781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445027643"/>
                      </a:ext>
                    </a:extLst>
                  </a:tr>
                  <a:tr h="333011">
                    <a:tc>
                      <a:txBody>
                        <a:bodyPr/>
                        <a:lstStyle/>
                        <a:p>
                          <a:pPr marL="0" marR="0" algn="ctr">
                            <a:lnSpc>
                              <a:spcPct val="107000"/>
                            </a:lnSpc>
                            <a:spcBef>
                              <a:spcPts val="0"/>
                            </a:spcBef>
                            <a:spcAft>
                              <a:spcPts val="0"/>
                            </a:spcAft>
                          </a:pPr>
                          <a:r>
                            <a:rPr lang="en-US" sz="2000" dirty="0">
                              <a:effectLst/>
                              <a:latin typeface="Verdana" pitchFamily="34" charset="0"/>
                              <a:ea typeface="Verdana" pitchFamily="34" charset="0"/>
                            </a:rPr>
                            <a:t>Store D</a:t>
                          </a:r>
                          <a:endParaRPr lang="en-US" sz="1200" dirty="0">
                            <a:effectLst/>
                            <a:latin typeface="Verdana" pitchFamily="34" charset="0"/>
                            <a:ea typeface="Verdana" pitchFamily="34" charset="0"/>
                          </a:endParaRPr>
                        </a:p>
                      </a:txBody>
                      <a:tcPr marL="77813" marR="7781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$3.89</m:t>
                                </m:r>
                              </m:oMath>
                            </m:oMathPara>
                          </a14:m>
                          <a:endParaRPr lang="en-US" sz="1200" dirty="0">
                            <a:effectLst/>
                            <a:latin typeface="Verdana" pitchFamily="34" charset="0"/>
                            <a:ea typeface="Verdana" pitchFamily="34" charset="0"/>
                          </a:endParaRPr>
                        </a:p>
                      </a:txBody>
                      <a:tcPr marL="77813" marR="7781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Verdana" pitchFamily="34" charset="0"/>
                              <a:ea typeface="Verdana" pitchFamily="34" charset="0"/>
                            </a:rPr>
                            <a:t>Store H</a:t>
                          </a:r>
                          <a:endParaRPr lang="en-US" sz="1200" dirty="0">
                            <a:effectLst/>
                            <a:latin typeface="Verdana" pitchFamily="34" charset="0"/>
                            <a:ea typeface="Verdana" pitchFamily="34" charset="0"/>
                          </a:endParaRPr>
                        </a:p>
                      </a:txBody>
                      <a:tcPr marL="77813" marR="7781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$4.59</m:t>
                                </m:r>
                              </m:oMath>
                            </m:oMathPara>
                          </a14:m>
                          <a:endParaRPr lang="en-US" sz="1200" dirty="0">
                            <a:effectLst/>
                            <a:latin typeface="Verdana" pitchFamily="34" charset="0"/>
                            <a:ea typeface="Verdana" pitchFamily="34" charset="0"/>
                          </a:endParaRPr>
                        </a:p>
                      </a:txBody>
                      <a:tcPr marL="77813" marR="7781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820185154"/>
                      </a:ext>
                    </a:extLst>
                  </a:tr>
                </a:tbl>
              </a:graphicData>
            </a:graphic>
          </p:graphicFrame>
        </mc:Choice>
        <mc:Fallback>
          <p:graphicFrame>
            <p:nvGraphicFramePr>
              <p:cNvPr id="2" name="Table 1">
                <a:extLst>
                  <a:ext uri="{FF2B5EF4-FFF2-40B4-BE49-F238E27FC236}">
                    <a16:creationId xmlns="" xmlns:a16="http://schemas.microsoft.com/office/drawing/2014/main" xmlns:a14="http://schemas.microsoft.com/office/drawing/2010/main" id="{F3CCC20B-6C6C-CC4D-B83D-05DA1D171A6E}"/>
                  </a:ext>
                </a:extLst>
              </p:cNvPr>
              <p:cNvGraphicFramePr>
                <a:graphicFrameLocks noGrp="1"/>
              </p:cNvGraphicFramePr>
              <p:nvPr>
                <p:extLst>
                  <p:ext uri="{D42A27DB-BD31-4B8C-83A1-F6EECF244321}">
                    <p14:modId xmlns:p14="http://schemas.microsoft.com/office/powerpoint/2010/main" val="4226872842"/>
                  </p:ext>
                </p:extLst>
              </p:nvPr>
            </p:nvGraphicFramePr>
            <p:xfrm>
              <a:off x="2813676" y="1368562"/>
              <a:ext cx="7003180" cy="1733038"/>
            </p:xfrm>
            <a:graphic>
              <a:graphicData uri="http://schemas.openxmlformats.org/drawingml/2006/table">
                <a:tbl>
                  <a:tblPr bandRow="1">
                    <a:tableStyleId>{A91F0D33-8C57-4600-99A7-42BC86742BE1}</a:tableStyleId>
                  </a:tblPr>
                  <a:tblGrid>
                    <a:gridCol w="1750795">
                      <a:extLst>
                        <a:ext uri="{9D8B030D-6E8A-4147-A177-3AD203B41FA5}">
                          <a16:colId xmlns="" xmlns:a16="http://schemas.microsoft.com/office/drawing/2014/main" xmlns:a14="http://schemas.microsoft.com/office/drawing/2010/main" val="3078085506"/>
                        </a:ext>
                      </a:extLst>
                    </a:gridCol>
                    <a:gridCol w="1750795">
                      <a:extLst>
                        <a:ext uri="{9D8B030D-6E8A-4147-A177-3AD203B41FA5}">
                          <a16:colId xmlns="" xmlns:a16="http://schemas.microsoft.com/office/drawing/2014/main" xmlns:a14="http://schemas.microsoft.com/office/drawing/2010/main" val="1235953452"/>
                        </a:ext>
                      </a:extLst>
                    </a:gridCol>
                    <a:gridCol w="1750795">
                      <a:extLst>
                        <a:ext uri="{9D8B030D-6E8A-4147-A177-3AD203B41FA5}">
                          <a16:colId xmlns="" xmlns:a16="http://schemas.microsoft.com/office/drawing/2014/main" xmlns:a14="http://schemas.microsoft.com/office/drawing/2010/main" val="2473368300"/>
                        </a:ext>
                      </a:extLst>
                    </a:gridCol>
                    <a:gridCol w="1750795">
                      <a:extLst>
                        <a:ext uri="{9D8B030D-6E8A-4147-A177-3AD203B41FA5}">
                          <a16:colId xmlns="" xmlns:a16="http://schemas.microsoft.com/office/drawing/2014/main" xmlns:a14="http://schemas.microsoft.com/office/drawing/2010/main" val="1517099363"/>
                        </a:ext>
                      </a:extLst>
                    </a:gridCol>
                  </a:tblGrid>
                  <a:tr h="400994">
                    <a:tc gridSpan="4">
                      <a:txBody>
                        <a:bodyPr/>
                        <a:lstStyle/>
                        <a:p>
                          <a:pPr marL="0" marR="0" algn="ctr">
                            <a:lnSpc>
                              <a:spcPct val="107000"/>
                            </a:lnSpc>
                            <a:spcBef>
                              <a:spcPts val="0"/>
                            </a:spcBef>
                            <a:spcAft>
                              <a:spcPts val="0"/>
                            </a:spcAft>
                          </a:pPr>
                          <a:r>
                            <a:rPr lang="en-US" sz="2000" b="1" dirty="0">
                              <a:effectLst/>
                              <a:latin typeface="Verdana" pitchFamily="34" charset="0"/>
                              <a:ea typeface="Verdana" pitchFamily="34" charset="0"/>
                            </a:rPr>
                            <a:t>Price for a Box of Cereal</a:t>
                          </a:r>
                          <a:endParaRPr lang="en-US" sz="1200" b="1" dirty="0">
                            <a:effectLst/>
                            <a:latin typeface="Verdana" pitchFamily="34" charset="0"/>
                            <a:ea typeface="Verdana" pitchFamily="34" charset="0"/>
                          </a:endParaRPr>
                        </a:p>
                      </a:txBody>
                      <a:tcPr marL="103751" marR="103751" marT="51875" marB="518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 xmlns:a16="http://schemas.microsoft.com/office/drawing/2014/main" xmlns:a14="http://schemas.microsoft.com/office/drawing/2010/main" val="729030560"/>
                      </a:ext>
                    </a:extLst>
                  </a:tr>
                  <a:tr h="333011">
                    <a:tc>
                      <a:txBody>
                        <a:bodyPr/>
                        <a:lstStyle/>
                        <a:p>
                          <a:pPr marL="0" marR="0" algn="ctr">
                            <a:lnSpc>
                              <a:spcPct val="107000"/>
                            </a:lnSpc>
                            <a:spcBef>
                              <a:spcPts val="0"/>
                            </a:spcBef>
                            <a:spcAft>
                              <a:spcPts val="0"/>
                            </a:spcAft>
                          </a:pPr>
                          <a:r>
                            <a:rPr lang="en-US" sz="2000">
                              <a:effectLst/>
                              <a:latin typeface="Verdana" pitchFamily="34" charset="0"/>
                              <a:ea typeface="Verdana" pitchFamily="34" charset="0"/>
                            </a:rPr>
                            <a:t>Store A</a:t>
                          </a:r>
                          <a:endParaRPr lang="en-US" sz="1200">
                            <a:effectLst/>
                            <a:latin typeface="Verdana" pitchFamily="34" charset="0"/>
                            <a:ea typeface="Verdana" pitchFamily="34" charset="0"/>
                          </a:endParaRPr>
                        </a:p>
                      </a:txBody>
                      <a:tcPr marL="77813" marR="7781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77813" marR="7781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3"/>
                          <a:stretch>
                            <a:fillRect l="-100348" t="-131481" r="-200348" b="-340741"/>
                          </a:stretch>
                        </a:blipFill>
                      </a:tcPr>
                    </a:tc>
                    <a:tc>
                      <a:txBody>
                        <a:bodyPr/>
                        <a:lstStyle/>
                        <a:p>
                          <a:pPr marL="0" marR="0" algn="ctr">
                            <a:lnSpc>
                              <a:spcPct val="107000"/>
                            </a:lnSpc>
                            <a:spcBef>
                              <a:spcPts val="0"/>
                            </a:spcBef>
                            <a:spcAft>
                              <a:spcPts val="0"/>
                            </a:spcAft>
                          </a:pPr>
                          <a:r>
                            <a:rPr lang="en-US" sz="2000">
                              <a:effectLst/>
                              <a:latin typeface="Verdana" pitchFamily="34" charset="0"/>
                              <a:ea typeface="Verdana" pitchFamily="34" charset="0"/>
                            </a:rPr>
                            <a:t>Store E</a:t>
                          </a:r>
                          <a:endParaRPr lang="en-US" sz="1200">
                            <a:effectLst/>
                            <a:latin typeface="Verdana" pitchFamily="34" charset="0"/>
                            <a:ea typeface="Verdana" pitchFamily="34" charset="0"/>
                          </a:endParaRPr>
                        </a:p>
                      </a:txBody>
                      <a:tcPr marL="77813" marR="7781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77813" marR="7781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3"/>
                          <a:stretch>
                            <a:fillRect l="-300348" t="-131481" r="-348" b="-340741"/>
                          </a:stretch>
                        </a:blipFill>
                      </a:tcPr>
                    </a:tc>
                    <a:extLst>
                      <a:ext uri="{0D108BD9-81ED-4DB2-BD59-A6C34878D82A}">
                        <a16:rowId xmlns="" xmlns:a16="http://schemas.microsoft.com/office/drawing/2014/main" xmlns:a14="http://schemas.microsoft.com/office/drawing/2010/main" val="837385118"/>
                      </a:ext>
                    </a:extLst>
                  </a:tr>
                  <a:tr h="333011">
                    <a:tc>
                      <a:txBody>
                        <a:bodyPr/>
                        <a:lstStyle/>
                        <a:p>
                          <a:pPr marL="0" marR="0" algn="ctr">
                            <a:lnSpc>
                              <a:spcPct val="107000"/>
                            </a:lnSpc>
                            <a:spcBef>
                              <a:spcPts val="0"/>
                            </a:spcBef>
                            <a:spcAft>
                              <a:spcPts val="0"/>
                            </a:spcAft>
                          </a:pPr>
                          <a:r>
                            <a:rPr lang="en-US" sz="2000" dirty="0">
                              <a:effectLst/>
                              <a:latin typeface="Verdana" pitchFamily="34" charset="0"/>
                              <a:ea typeface="Verdana" pitchFamily="34" charset="0"/>
                            </a:rPr>
                            <a:t>Store B</a:t>
                          </a:r>
                          <a:endParaRPr lang="en-US" sz="1200" dirty="0">
                            <a:effectLst/>
                            <a:latin typeface="Verdana" pitchFamily="34" charset="0"/>
                            <a:ea typeface="Verdana" pitchFamily="34" charset="0"/>
                          </a:endParaRPr>
                        </a:p>
                      </a:txBody>
                      <a:tcPr marL="77813" marR="7781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77813" marR="7781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3"/>
                          <a:stretch>
                            <a:fillRect l="-100348" t="-227273" r="-200348" b="-234545"/>
                          </a:stretch>
                        </a:blipFill>
                      </a:tcPr>
                    </a:tc>
                    <a:tc>
                      <a:txBody>
                        <a:bodyPr/>
                        <a:lstStyle/>
                        <a:p>
                          <a:pPr marL="0" marR="0" algn="ctr">
                            <a:lnSpc>
                              <a:spcPct val="107000"/>
                            </a:lnSpc>
                            <a:spcBef>
                              <a:spcPts val="0"/>
                            </a:spcBef>
                            <a:spcAft>
                              <a:spcPts val="0"/>
                            </a:spcAft>
                          </a:pPr>
                          <a:r>
                            <a:rPr lang="en-US" sz="2000">
                              <a:effectLst/>
                              <a:latin typeface="Verdana" pitchFamily="34" charset="0"/>
                              <a:ea typeface="Verdana" pitchFamily="34" charset="0"/>
                            </a:rPr>
                            <a:t>Store F</a:t>
                          </a:r>
                          <a:endParaRPr lang="en-US" sz="1200">
                            <a:effectLst/>
                            <a:latin typeface="Verdana" pitchFamily="34" charset="0"/>
                            <a:ea typeface="Verdana" pitchFamily="34" charset="0"/>
                          </a:endParaRPr>
                        </a:p>
                      </a:txBody>
                      <a:tcPr marL="77813" marR="7781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77813" marR="7781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3"/>
                          <a:stretch>
                            <a:fillRect l="-300348" t="-227273" r="-348" b="-234545"/>
                          </a:stretch>
                        </a:blipFill>
                      </a:tcPr>
                    </a:tc>
                    <a:extLst>
                      <a:ext uri="{0D108BD9-81ED-4DB2-BD59-A6C34878D82A}">
                        <a16:rowId xmlns="" xmlns:a16="http://schemas.microsoft.com/office/drawing/2014/main" xmlns:a14="http://schemas.microsoft.com/office/drawing/2010/main" val="2587392253"/>
                      </a:ext>
                    </a:extLst>
                  </a:tr>
                  <a:tr h="333011">
                    <a:tc>
                      <a:txBody>
                        <a:bodyPr/>
                        <a:lstStyle/>
                        <a:p>
                          <a:pPr marL="0" marR="0" algn="ctr">
                            <a:lnSpc>
                              <a:spcPct val="107000"/>
                            </a:lnSpc>
                            <a:spcBef>
                              <a:spcPts val="0"/>
                            </a:spcBef>
                            <a:spcAft>
                              <a:spcPts val="0"/>
                            </a:spcAft>
                          </a:pPr>
                          <a:r>
                            <a:rPr lang="en-US" sz="2000">
                              <a:effectLst/>
                              <a:latin typeface="Verdana" pitchFamily="34" charset="0"/>
                              <a:ea typeface="Verdana" pitchFamily="34" charset="0"/>
                            </a:rPr>
                            <a:t>Store C</a:t>
                          </a:r>
                          <a:endParaRPr lang="en-US" sz="1200">
                            <a:effectLst/>
                            <a:latin typeface="Verdana" pitchFamily="34" charset="0"/>
                            <a:ea typeface="Verdana" pitchFamily="34" charset="0"/>
                          </a:endParaRPr>
                        </a:p>
                      </a:txBody>
                      <a:tcPr marL="77813" marR="7781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77813" marR="7781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3"/>
                          <a:stretch>
                            <a:fillRect l="-100348" t="-333333" r="-200348" b="-138889"/>
                          </a:stretch>
                        </a:blipFill>
                      </a:tcPr>
                    </a:tc>
                    <a:tc>
                      <a:txBody>
                        <a:bodyPr/>
                        <a:lstStyle/>
                        <a:p>
                          <a:pPr marL="0" marR="0" algn="ctr">
                            <a:lnSpc>
                              <a:spcPct val="107000"/>
                            </a:lnSpc>
                            <a:spcBef>
                              <a:spcPts val="0"/>
                            </a:spcBef>
                            <a:spcAft>
                              <a:spcPts val="0"/>
                            </a:spcAft>
                          </a:pPr>
                          <a:r>
                            <a:rPr lang="en-US" sz="2000">
                              <a:effectLst/>
                              <a:latin typeface="Verdana" pitchFamily="34" charset="0"/>
                              <a:ea typeface="Verdana" pitchFamily="34" charset="0"/>
                            </a:rPr>
                            <a:t>Store G</a:t>
                          </a:r>
                          <a:endParaRPr lang="en-US" sz="1200">
                            <a:effectLst/>
                            <a:latin typeface="Verdana" pitchFamily="34" charset="0"/>
                            <a:ea typeface="Verdana" pitchFamily="34" charset="0"/>
                          </a:endParaRPr>
                        </a:p>
                      </a:txBody>
                      <a:tcPr marL="77813" marR="7781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77813" marR="7781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3"/>
                          <a:stretch>
                            <a:fillRect l="-300348" t="-333333" r="-348" b="-138889"/>
                          </a:stretch>
                        </a:blipFill>
                      </a:tcPr>
                    </a:tc>
                    <a:extLst>
                      <a:ext uri="{0D108BD9-81ED-4DB2-BD59-A6C34878D82A}">
                        <a16:rowId xmlns="" xmlns:a16="http://schemas.microsoft.com/office/drawing/2014/main" xmlns:a14="http://schemas.microsoft.com/office/drawing/2010/main" val="2445027643"/>
                      </a:ext>
                    </a:extLst>
                  </a:tr>
                  <a:tr h="333011">
                    <a:tc>
                      <a:txBody>
                        <a:bodyPr/>
                        <a:lstStyle/>
                        <a:p>
                          <a:pPr marL="0" marR="0" algn="ctr">
                            <a:lnSpc>
                              <a:spcPct val="107000"/>
                            </a:lnSpc>
                            <a:spcBef>
                              <a:spcPts val="0"/>
                            </a:spcBef>
                            <a:spcAft>
                              <a:spcPts val="0"/>
                            </a:spcAft>
                          </a:pPr>
                          <a:r>
                            <a:rPr lang="en-US" sz="2000" dirty="0">
                              <a:effectLst/>
                              <a:latin typeface="Verdana" pitchFamily="34" charset="0"/>
                              <a:ea typeface="Verdana" pitchFamily="34" charset="0"/>
                            </a:rPr>
                            <a:t>Store D</a:t>
                          </a:r>
                          <a:endParaRPr lang="en-US" sz="1200" dirty="0">
                            <a:effectLst/>
                            <a:latin typeface="Verdana" pitchFamily="34" charset="0"/>
                            <a:ea typeface="Verdana" pitchFamily="34" charset="0"/>
                          </a:endParaRPr>
                        </a:p>
                      </a:txBody>
                      <a:tcPr marL="77813" marR="7781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77813" marR="7781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3"/>
                          <a:stretch>
                            <a:fillRect l="-100348" t="-425455" r="-200348" b="-36364"/>
                          </a:stretch>
                        </a:blipFill>
                      </a:tcPr>
                    </a:tc>
                    <a:tc>
                      <a:txBody>
                        <a:bodyPr/>
                        <a:lstStyle/>
                        <a:p>
                          <a:pPr marL="0" marR="0" algn="ctr">
                            <a:lnSpc>
                              <a:spcPct val="107000"/>
                            </a:lnSpc>
                            <a:spcBef>
                              <a:spcPts val="0"/>
                            </a:spcBef>
                            <a:spcAft>
                              <a:spcPts val="0"/>
                            </a:spcAft>
                          </a:pPr>
                          <a:r>
                            <a:rPr lang="en-US" sz="2000" dirty="0">
                              <a:effectLst/>
                              <a:latin typeface="Verdana" pitchFamily="34" charset="0"/>
                              <a:ea typeface="Verdana" pitchFamily="34" charset="0"/>
                            </a:rPr>
                            <a:t>Store H</a:t>
                          </a:r>
                          <a:endParaRPr lang="en-US" sz="1200" dirty="0">
                            <a:effectLst/>
                            <a:latin typeface="Verdana" pitchFamily="34" charset="0"/>
                            <a:ea typeface="Verdana" pitchFamily="34" charset="0"/>
                          </a:endParaRPr>
                        </a:p>
                      </a:txBody>
                      <a:tcPr marL="77813" marR="7781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77813" marR="7781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3"/>
                          <a:stretch>
                            <a:fillRect l="-300348" t="-425455" r="-348" b="-36364"/>
                          </a:stretch>
                        </a:blipFill>
                      </a:tcPr>
                    </a:tc>
                    <a:extLst>
                      <a:ext uri="{0D108BD9-81ED-4DB2-BD59-A6C34878D82A}">
                        <a16:rowId xmlns="" xmlns:a16="http://schemas.microsoft.com/office/drawing/2014/main" xmlns:a14="http://schemas.microsoft.com/office/drawing/2010/main" val="1820185154"/>
                      </a:ext>
                    </a:extLst>
                  </a:tr>
                </a:tbl>
              </a:graphicData>
            </a:graphic>
          </p:graphicFrame>
        </mc:Fallback>
      </mc:AlternateContent>
      <p:pic>
        <p:nvPicPr>
          <p:cNvPr id="8" name="Google Shape;311;g104476d1465_1_39"/>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 xmlns:a16="http://schemas.microsoft.com/office/drawing/2014/main" id="{2C9405F7-8214-CE45-80C3-9FBF7002FBD5}"/>
              </a:ext>
            </a:extLst>
          </p:cNvPr>
          <p:cNvSpPr txBox="1"/>
          <p:nvPr/>
        </p:nvSpPr>
        <p:spPr>
          <a:xfrm>
            <a:off x="8994150" y="6537462"/>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163</a:t>
            </a:r>
            <a:endParaRPr i="1" dirty="0">
              <a:latin typeface="Calibri"/>
              <a:ea typeface="Calibri"/>
              <a:cs typeface="Calibri"/>
              <a:sym typeface="Calibri"/>
            </a:endParaRPr>
          </a:p>
        </p:txBody>
      </p:sp>
    </p:spTree>
    <p:extLst>
      <p:ext uri="{BB962C8B-B14F-4D97-AF65-F5344CB8AC3E}">
        <p14:creationId xmlns:p14="http://schemas.microsoft.com/office/powerpoint/2010/main" val="37827423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 xmlns:a16="http://schemas.microsoft.com/office/drawing/2014/main" id="{2FA392D8-3ED3-7940-83A8-1451AA8A08D4}"/>
              </a:ext>
            </a:extLst>
          </p:cNvPr>
          <p:cNvSpPr txBox="1"/>
          <p:nvPr/>
        </p:nvSpPr>
        <p:spPr>
          <a:xfrm>
            <a:off x="540014" y="381667"/>
            <a:ext cx="11199638" cy="4893647"/>
          </a:xfrm>
          <a:prstGeom prst="rect">
            <a:avLst/>
          </a:prstGeom>
          <a:noFill/>
        </p:spPr>
        <p:txBody>
          <a:bodyPr wrap="square" rtlCol="0">
            <a:spAutoFit/>
          </a:bodyPr>
          <a:lstStyle/>
          <a:p>
            <a:pPr marL="896938" lvl="4"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What is the most </a:t>
            </a:r>
            <a:r>
              <a:rPr lang="en-US" sz="2400" dirty="0" err="1">
                <a:latin typeface="Verdana" panose="020B0604030504040204" pitchFamily="34" charset="0"/>
                <a:ea typeface="Verdana" panose="020B0604030504040204" pitchFamily="34" charset="0"/>
                <a:cs typeface="Verdana" panose="020B0604030504040204" pitchFamily="34" charset="0"/>
              </a:rPr>
              <a:t>Shep</a:t>
            </a:r>
            <a:r>
              <a:rPr lang="en-US" sz="2400" dirty="0">
                <a:latin typeface="Verdana" panose="020B0604030504040204" pitchFamily="34" charset="0"/>
                <a:ea typeface="Verdana" panose="020B0604030504040204" pitchFamily="34" charset="0"/>
                <a:cs typeface="Verdana" panose="020B0604030504040204" pitchFamily="34" charset="0"/>
              </a:rPr>
              <a:t> will spend on a box of cereal? </a:t>
            </a:r>
          </a:p>
          <a:p>
            <a:pPr marL="896938" lvl="4"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896938" lvl="4"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896938" lvl="4"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896938" lvl="4"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896938" lvl="4"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What is the least </a:t>
            </a:r>
            <a:r>
              <a:rPr lang="en-US" sz="2400" dirty="0" err="1">
                <a:latin typeface="Verdana" panose="020B0604030504040204" pitchFamily="34" charset="0"/>
                <a:ea typeface="Verdana" panose="020B0604030504040204" pitchFamily="34" charset="0"/>
                <a:cs typeface="Verdana" panose="020B0604030504040204" pitchFamily="34" charset="0"/>
              </a:rPr>
              <a:t>Shep</a:t>
            </a:r>
            <a:r>
              <a:rPr lang="en-US" sz="2400" dirty="0">
                <a:latin typeface="Verdana" panose="020B0604030504040204" pitchFamily="34" charset="0"/>
                <a:ea typeface="Verdana" panose="020B0604030504040204" pitchFamily="34" charset="0"/>
                <a:cs typeface="Verdana" panose="020B0604030504040204" pitchFamily="34" charset="0"/>
              </a:rPr>
              <a:t> will spend on a box of cereal?</a:t>
            </a:r>
          </a:p>
          <a:p>
            <a:pPr marL="896938" lvl="4"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896938" lvl="4"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896938" lvl="4"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896938" lvl="4"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896938" lvl="4"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The range for the price of a box of cereal is ______________.</a:t>
            </a:r>
          </a:p>
          <a:p>
            <a:pPr marL="896938" lvl="3"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896938" indent="-457200"/>
            <a:endParaRPr lang="en-US" sz="2400" dirty="0">
              <a:latin typeface="Verdana" panose="020B0604030504040204" pitchFamily="34" charset="0"/>
              <a:ea typeface="Verdana" panose="020B0604030504040204" pitchFamily="34" charset="0"/>
              <a:cs typeface="Verdana" panose="020B0604030504040204" pitchFamily="34" charset="0"/>
            </a:endParaRPr>
          </a:p>
        </p:txBody>
      </p:sp>
      <p:pic>
        <p:nvPicPr>
          <p:cNvPr id="6"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 xmlns:a16="http://schemas.microsoft.com/office/drawing/2014/main" id="{2C9405F7-8214-CE45-80C3-9FBF7002FBD5}"/>
              </a:ext>
            </a:extLst>
          </p:cNvPr>
          <p:cNvSpPr txBox="1"/>
          <p:nvPr/>
        </p:nvSpPr>
        <p:spPr>
          <a:xfrm>
            <a:off x="8994150" y="6537462"/>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163 - 164</a:t>
            </a:r>
            <a:endParaRPr i="1" dirty="0">
              <a:latin typeface="Calibri"/>
              <a:ea typeface="Calibri"/>
              <a:cs typeface="Calibri"/>
              <a:sym typeface="Calibri"/>
            </a:endParaRPr>
          </a:p>
        </p:txBody>
      </p:sp>
    </p:spTree>
    <p:extLst>
      <p:ext uri="{BB962C8B-B14F-4D97-AF65-F5344CB8AC3E}">
        <p14:creationId xmlns:p14="http://schemas.microsoft.com/office/powerpoint/2010/main" val="4880480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 xmlns:a16="http://schemas.microsoft.com/office/drawing/2014/main" id="{2FA392D8-3ED3-7940-83A8-1451AA8A08D4}"/>
              </a:ext>
            </a:extLst>
          </p:cNvPr>
          <p:cNvSpPr txBox="1"/>
          <p:nvPr/>
        </p:nvSpPr>
        <p:spPr>
          <a:xfrm>
            <a:off x="541281" y="392538"/>
            <a:ext cx="11576326" cy="3416320"/>
          </a:xfrm>
          <a:prstGeom prst="rect">
            <a:avLst/>
          </a:prstGeom>
          <a:noFill/>
        </p:spPr>
        <p:txBody>
          <a:bodyPr wrap="square" rtlCol="0">
            <a:spAutoFit/>
          </a:bodyPr>
          <a:lstStyle/>
          <a:p>
            <a:pPr marL="919163" lvl="4" indent="-460375">
              <a:buFont typeface="+mj-lt"/>
              <a:buAutoNum type="alphaLcPeriod" startAt="5"/>
            </a:pPr>
            <a:r>
              <a:rPr lang="en-US" sz="2400" dirty="0">
                <a:latin typeface="Verdana" panose="020B0604030504040204" pitchFamily="34" charset="0"/>
                <a:ea typeface="Verdana" panose="020B0604030504040204" pitchFamily="34" charset="0"/>
                <a:cs typeface="Verdana" panose="020B0604030504040204" pitchFamily="34" charset="0"/>
              </a:rPr>
              <a:t>The range describes the                    of the data set. </a:t>
            </a: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458788" lvl="4" indent="-458788">
              <a:buFont typeface="+mj-lt"/>
              <a:buAutoNum type="arabicPeriod" startAt="4"/>
            </a:pPr>
            <a:r>
              <a:rPr lang="en-US" sz="2400" dirty="0">
                <a:latin typeface="Verdana" panose="020B0604030504040204" pitchFamily="34" charset="0"/>
                <a:ea typeface="Verdana" panose="020B0604030504040204" pitchFamily="34" charset="0"/>
                <a:cs typeface="Verdana" panose="020B0604030504040204" pitchFamily="34" charset="0"/>
              </a:rPr>
              <a:t>With your partner, discuss whether the price for pickles or the price for cereal has more variability in pricing. Summarize the discussion.</a:t>
            </a:r>
          </a:p>
        </p:txBody>
      </p:sp>
      <p:sp>
        <p:nvSpPr>
          <p:cNvPr id="6" name="Rounded Rectangle 5">
            <a:extLst>
              <a:ext uri="{FF2B5EF4-FFF2-40B4-BE49-F238E27FC236}">
                <a16:creationId xmlns="" xmlns:a16="http://schemas.microsoft.com/office/drawing/2014/main" id="{CDCF1868-0C4C-CB4D-817F-BF060D8AB129}"/>
              </a:ext>
            </a:extLst>
          </p:cNvPr>
          <p:cNvSpPr/>
          <p:nvPr/>
        </p:nvSpPr>
        <p:spPr>
          <a:xfrm>
            <a:off x="5426219" y="356200"/>
            <a:ext cx="1905914" cy="830866"/>
          </a:xfrm>
          <a:prstGeom prst="round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spAutoFit/>
          </a:bodyPr>
          <a:lstStyle/>
          <a:p>
            <a:pPr marL="342900" indent="-342900">
              <a:lnSpc>
                <a:spcPct val="107000"/>
              </a:lnSpc>
              <a:buFont typeface="Courier New" panose="02070309020205020404" pitchFamily="49" charset="0"/>
              <a:buChar char="o"/>
            </a:pPr>
            <a:r>
              <a:rPr lang="en-US" sz="2000" dirty="0">
                <a:solidFill>
                  <a:srgbClr val="000000"/>
                </a:solidFill>
                <a:latin typeface="Verdana" panose="020B0604030504040204" pitchFamily="34" charset="0"/>
                <a:ea typeface="Times New Roman" panose="02020603050405020304" pitchFamily="18" charset="0"/>
              </a:rPr>
              <a:t>center</a:t>
            </a:r>
            <a:endParaRPr lang="en-US" sz="2000" dirty="0">
              <a:ea typeface="Times New Roman" panose="02020603050405020304" pitchFamily="18" charset="0"/>
            </a:endParaRPr>
          </a:p>
          <a:p>
            <a:pPr marL="342900" indent="-342900">
              <a:lnSpc>
                <a:spcPct val="107000"/>
              </a:lnSpc>
              <a:buFont typeface="Courier New" panose="02070309020205020404" pitchFamily="49" charset="0"/>
              <a:buChar char="o"/>
            </a:pPr>
            <a:r>
              <a:rPr lang="en-US" sz="2000" dirty="0">
                <a:solidFill>
                  <a:srgbClr val="000000"/>
                </a:solidFill>
                <a:latin typeface="Verdana" panose="020B0604030504040204" pitchFamily="34" charset="0"/>
                <a:ea typeface="Times New Roman" panose="02020603050405020304" pitchFamily="18" charset="0"/>
              </a:rPr>
              <a:t>variability</a:t>
            </a:r>
            <a:endParaRPr lang="en-US" sz="2000" dirty="0">
              <a:ea typeface="Times New Roman" panose="02020603050405020304" pitchFamily="18" charset="0"/>
            </a:endParaRPr>
          </a:p>
        </p:txBody>
      </p:sp>
      <p:pic>
        <p:nvPicPr>
          <p:cNvPr id="7"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 xmlns:a16="http://schemas.microsoft.com/office/drawing/2014/main" id="{2C9405F7-8214-CE45-80C3-9FBF7002FBD5}"/>
              </a:ext>
            </a:extLst>
          </p:cNvPr>
          <p:cNvSpPr txBox="1"/>
          <p:nvPr/>
        </p:nvSpPr>
        <p:spPr>
          <a:xfrm>
            <a:off x="8994150" y="6537462"/>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164</a:t>
            </a:r>
            <a:endParaRPr i="1" dirty="0">
              <a:latin typeface="Calibri"/>
              <a:ea typeface="Calibri"/>
              <a:cs typeface="Calibri"/>
              <a:sym typeface="Calibri"/>
            </a:endParaRPr>
          </a:p>
        </p:txBody>
      </p:sp>
    </p:spTree>
    <p:extLst>
      <p:ext uri="{BB962C8B-B14F-4D97-AF65-F5344CB8AC3E}">
        <p14:creationId xmlns:p14="http://schemas.microsoft.com/office/powerpoint/2010/main" val="41119927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pSp>
        <p:nvGrpSpPr>
          <p:cNvPr id="7" name="Group 6">
            <a:extLst>
              <a:ext uri="{FF2B5EF4-FFF2-40B4-BE49-F238E27FC236}">
                <a16:creationId xmlns="" xmlns:a16="http://schemas.microsoft.com/office/drawing/2014/main" id="{A9C0C04D-982C-9949-BA55-1FE14D917DDC}"/>
              </a:ext>
            </a:extLst>
          </p:cNvPr>
          <p:cNvGrpSpPr/>
          <p:nvPr/>
        </p:nvGrpSpPr>
        <p:grpSpPr>
          <a:xfrm>
            <a:off x="2702819" y="2817902"/>
            <a:ext cx="6952359" cy="3398985"/>
            <a:chOff x="2031300" y="1821700"/>
            <a:chExt cx="6952359" cy="2462560"/>
          </a:xfrm>
        </p:grpSpPr>
        <p:grpSp>
          <p:nvGrpSpPr>
            <p:cNvPr id="11" name="Group 10">
              <a:extLst>
                <a:ext uri="{FF2B5EF4-FFF2-40B4-BE49-F238E27FC236}">
                  <a16:creationId xmlns="" xmlns:a16="http://schemas.microsoft.com/office/drawing/2014/main" id="{DF5B751A-AC5E-6343-B13E-3D9F364B0E03}"/>
                </a:ext>
              </a:extLst>
            </p:cNvPr>
            <p:cNvGrpSpPr/>
            <p:nvPr/>
          </p:nvGrpSpPr>
          <p:grpSpPr>
            <a:xfrm>
              <a:off x="2031300" y="1821700"/>
              <a:ext cx="6952359" cy="2462560"/>
              <a:chOff x="2031300" y="1821700"/>
              <a:chExt cx="6952359" cy="2462560"/>
            </a:xfrm>
          </p:grpSpPr>
          <p:sp>
            <p:nvSpPr>
              <p:cNvPr id="13" name="Rectangle 12">
                <a:extLst>
                  <a:ext uri="{FF2B5EF4-FFF2-40B4-BE49-F238E27FC236}">
                    <a16:creationId xmlns="" xmlns:a16="http://schemas.microsoft.com/office/drawing/2014/main" id="{BF58A752-42D0-E44F-8FBF-02AF98BA1E7C}"/>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lnSpc>
                    <a:spcPct val="107000"/>
                  </a:lnSpc>
                  <a:spcAft>
                    <a:spcPts val="800"/>
                  </a:spcAft>
                </a:pPr>
                <a:r>
                  <a:rPr lang="en-US" sz="1100">
                    <a:latin typeface="Calibri" panose="020F0502020204030204" pitchFamily="34" charset="0"/>
                    <a:ea typeface="Times New Roman" panose="02020603050405020304" pitchFamily="18" charset="0"/>
                  </a:rPr>
                  <a:t> </a:t>
                </a:r>
              </a:p>
            </p:txBody>
          </p:sp>
          <p:grpSp>
            <p:nvGrpSpPr>
              <p:cNvPr id="15" name="Group 14">
                <a:extLst>
                  <a:ext uri="{FF2B5EF4-FFF2-40B4-BE49-F238E27FC236}">
                    <a16:creationId xmlns="" xmlns:a16="http://schemas.microsoft.com/office/drawing/2014/main" id="{257DDA76-51E7-564F-8709-BE387284E8CB}"/>
                  </a:ext>
                </a:extLst>
              </p:cNvPr>
              <p:cNvGrpSpPr/>
              <p:nvPr/>
            </p:nvGrpSpPr>
            <p:grpSpPr>
              <a:xfrm>
                <a:off x="2031300" y="1821700"/>
                <a:ext cx="6952359" cy="2462560"/>
                <a:chOff x="2031300" y="1821700"/>
                <a:chExt cx="6952359" cy="2462560"/>
              </a:xfrm>
            </p:grpSpPr>
            <p:sp>
              <p:nvSpPr>
                <p:cNvPr id="16" name="Rectangle 15">
                  <a:extLst>
                    <a:ext uri="{FF2B5EF4-FFF2-40B4-BE49-F238E27FC236}">
                      <a16:creationId xmlns="" xmlns:a16="http://schemas.microsoft.com/office/drawing/2014/main" id="{094F558D-AD94-0D46-9A3E-88FC5FABB010}"/>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lnSpc>
                      <a:spcPct val="107000"/>
                    </a:lnSpc>
                    <a:spcAft>
                      <a:spcPts val="800"/>
                    </a:spcAft>
                  </a:pPr>
                  <a:r>
                    <a:rPr lang="en-US" sz="1100">
                      <a:latin typeface="Calibri" panose="020F0502020204030204" pitchFamily="34" charset="0"/>
                      <a:ea typeface="Times New Roman" panose="02020603050405020304" pitchFamily="18" charset="0"/>
                    </a:rPr>
                    <a:t> </a:t>
                  </a:r>
                </a:p>
              </p:txBody>
            </p:sp>
            <p:grpSp>
              <p:nvGrpSpPr>
                <p:cNvPr id="17" name="Group 16">
                  <a:extLst>
                    <a:ext uri="{FF2B5EF4-FFF2-40B4-BE49-F238E27FC236}">
                      <a16:creationId xmlns="" xmlns:a16="http://schemas.microsoft.com/office/drawing/2014/main" id="{962196CD-90E8-C747-BE98-9EC2527688E1}"/>
                    </a:ext>
                  </a:extLst>
                </p:cNvPr>
                <p:cNvGrpSpPr/>
                <p:nvPr/>
              </p:nvGrpSpPr>
              <p:grpSpPr>
                <a:xfrm>
                  <a:off x="2031300" y="1821700"/>
                  <a:ext cx="6952359" cy="2462560"/>
                  <a:chOff x="0" y="-1454035"/>
                  <a:chExt cx="6952359" cy="2462560"/>
                </a:xfrm>
              </p:grpSpPr>
              <p:sp>
                <p:nvSpPr>
                  <p:cNvPr id="18" name="Rectangle 17">
                    <a:extLst>
                      <a:ext uri="{FF2B5EF4-FFF2-40B4-BE49-F238E27FC236}">
                        <a16:creationId xmlns="" xmlns:a16="http://schemas.microsoft.com/office/drawing/2014/main" id="{EFC606D3-E878-7A44-B9C6-65BBA76DA2D3}"/>
                      </a:ext>
                    </a:extLst>
                  </p:cNvPr>
                  <p:cNvSpPr/>
                  <p:nvPr/>
                </p:nvSpPr>
                <p:spPr>
                  <a:xfrm>
                    <a:off x="0" y="0"/>
                    <a:ext cx="6629400" cy="1008525"/>
                  </a:xfrm>
                  <a:prstGeom prst="rect">
                    <a:avLst/>
                  </a:prstGeom>
                  <a:noFill/>
                  <a:ln>
                    <a:noFill/>
                  </a:ln>
                </p:spPr>
                <p:txBody>
                  <a:bodyPr spcFirstLastPara="1" wrap="square" lIns="91425" tIns="91425" rIns="91425" bIns="91425" anchor="ctr" anchorCtr="0">
                    <a:noAutofit/>
                  </a:bodyPr>
                  <a:lstStyle/>
                  <a:p>
                    <a:pPr>
                      <a:lnSpc>
                        <a:spcPct val="107000"/>
                      </a:lnSpc>
                      <a:spcAft>
                        <a:spcPts val="800"/>
                      </a:spcAft>
                    </a:pPr>
                    <a:r>
                      <a:rPr lang="en-US" sz="1100">
                        <a:latin typeface="Calibri" panose="020F0502020204030204" pitchFamily="34" charset="0"/>
                        <a:ea typeface="Times New Roman" panose="02020603050405020304" pitchFamily="18" charset="0"/>
                      </a:rPr>
                      <a:t> </a:t>
                    </a:r>
                  </a:p>
                </p:txBody>
              </p:sp>
              <p:grpSp>
                <p:nvGrpSpPr>
                  <p:cNvPr id="19" name="Group 18">
                    <a:extLst>
                      <a:ext uri="{FF2B5EF4-FFF2-40B4-BE49-F238E27FC236}">
                        <a16:creationId xmlns="" xmlns:a16="http://schemas.microsoft.com/office/drawing/2014/main" id="{AAF427E5-16F8-C740-869B-619A36C0AFB6}"/>
                      </a:ext>
                    </a:extLst>
                  </p:cNvPr>
                  <p:cNvGrpSpPr/>
                  <p:nvPr/>
                </p:nvGrpSpPr>
                <p:grpSpPr>
                  <a:xfrm>
                    <a:off x="0" y="-1454035"/>
                    <a:ext cx="6952359" cy="2240410"/>
                    <a:chOff x="0" y="-1454035"/>
                    <a:chExt cx="6952359" cy="2240410"/>
                  </a:xfrm>
                </p:grpSpPr>
                <p:sp>
                  <p:nvSpPr>
                    <p:cNvPr id="21" name="Rectangle 20">
                      <a:extLst>
                        <a:ext uri="{FF2B5EF4-FFF2-40B4-BE49-F238E27FC236}">
                          <a16:creationId xmlns="" xmlns:a16="http://schemas.microsoft.com/office/drawing/2014/main" id="{9DCEFDD7-659D-0243-BEE8-BB4D2D9C378E}"/>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lnSpc>
                          <a:spcPct val="107000"/>
                        </a:lnSpc>
                        <a:spcAft>
                          <a:spcPts val="800"/>
                        </a:spcAft>
                      </a:pPr>
                      <a:r>
                        <a:rPr lang="en-US" sz="1100">
                          <a:latin typeface="Calibri" panose="020F0502020204030204" pitchFamily="34" charset="0"/>
                          <a:ea typeface="Times New Roman" panose="02020603050405020304" pitchFamily="18" charset="0"/>
                        </a:rPr>
                        <a:t> </a:t>
                      </a:r>
                    </a:p>
                  </p:txBody>
                </p:sp>
                <p:sp>
                  <p:nvSpPr>
                    <p:cNvPr id="22" name="Rectangle 21">
                      <a:extLst>
                        <a:ext uri="{FF2B5EF4-FFF2-40B4-BE49-F238E27FC236}">
                          <a16:creationId xmlns="" xmlns:a16="http://schemas.microsoft.com/office/drawing/2014/main" id="{7E9E86D1-A636-B646-A5FE-5473FE384A41}"/>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lnSpc>
                          <a:spcPct val="107000"/>
                        </a:lnSpc>
                        <a:spcAft>
                          <a:spcPts val="800"/>
                        </a:spcAft>
                      </a:pPr>
                      <a:r>
                        <a:rPr lang="en-US" sz="1100">
                          <a:latin typeface="Calibri" panose="020F0502020204030204" pitchFamily="34" charset="0"/>
                          <a:ea typeface="Times New Roman" panose="02020603050405020304" pitchFamily="18" charset="0"/>
                        </a:rPr>
                        <a:t> </a:t>
                      </a:r>
                    </a:p>
                  </p:txBody>
                </p:sp>
                <p:sp>
                  <p:nvSpPr>
                    <p:cNvPr id="23" name="Rounded Rectangle 22">
                      <a:extLst>
                        <a:ext uri="{FF2B5EF4-FFF2-40B4-BE49-F238E27FC236}">
                          <a16:creationId xmlns="" xmlns:a16="http://schemas.microsoft.com/office/drawing/2014/main" id="{BE873B3A-CE00-7840-9DEC-B51DAEFD9C71}"/>
                        </a:ext>
                      </a:extLst>
                    </p:cNvPr>
                    <p:cNvSpPr/>
                    <p:nvPr/>
                  </p:nvSpPr>
                  <p:spPr>
                    <a:xfrm>
                      <a:off x="75896" y="-1454035"/>
                      <a:ext cx="6876463" cy="1432376"/>
                    </a:xfrm>
                    <a:prstGeom prst="roundRect">
                      <a:avLst>
                        <a:gd name="adj" fmla="val 16667"/>
                      </a:avLst>
                    </a:prstGeom>
                    <a:solidFill>
                      <a:srgbClr val="B8E6F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685800">
                        <a:lnSpc>
                          <a:spcPct val="107000"/>
                        </a:lnSpc>
                      </a:pPr>
                      <a:r>
                        <a:rPr lang="en-US" sz="2000" dirty="0">
                          <a:solidFill>
                            <a:srgbClr val="02619E"/>
                          </a:solidFill>
                          <a:latin typeface="Verdana" panose="020B0604030504040204" pitchFamily="34" charset="0"/>
                          <a:ea typeface="Verdana" panose="020B0604030504040204" pitchFamily="34" charset="0"/>
                          <a:cs typeface="Verdana" panose="020B0604030504040204" pitchFamily="34" charset="0"/>
                        </a:rPr>
                        <a:t>The range is a </a:t>
                      </a:r>
                      <a:r>
                        <a:rPr lang="en-US" sz="2000" b="1" dirty="0">
                          <a:solidFill>
                            <a:srgbClr val="02619E"/>
                          </a:solidFill>
                          <a:latin typeface="Verdana" panose="020B0604030504040204" pitchFamily="34" charset="0"/>
                          <a:ea typeface="Verdana" panose="020B0604030504040204" pitchFamily="34" charset="0"/>
                          <a:cs typeface="Verdana" panose="020B0604030504040204" pitchFamily="34" charset="0"/>
                        </a:rPr>
                        <a:t>measure of variability</a:t>
                      </a:r>
                      <a:r>
                        <a:rPr lang="en-US" sz="2000" dirty="0">
                          <a:solidFill>
                            <a:srgbClr val="02619E"/>
                          </a:solidFill>
                          <a:latin typeface="Verdana" panose="020B0604030504040204" pitchFamily="34" charset="0"/>
                          <a:ea typeface="Verdana" panose="020B0604030504040204" pitchFamily="34" charset="0"/>
                          <a:cs typeface="Verdana" panose="020B0604030504040204" pitchFamily="34" charset="0"/>
                        </a:rPr>
                        <a:t>. By comparing the ranges for two or more data sets, the data set that has more variability can be determined by finding which has a larger ___________.</a:t>
                      </a:r>
                      <a:r>
                        <a:rPr lang="en-US" sz="2000" dirty="0">
                          <a:latin typeface="Calibri" panose="020F0502020204030204" pitchFamily="34" charset="0"/>
                          <a:ea typeface="Times New Roman" panose="02020603050405020304" pitchFamily="18" charset="0"/>
                        </a:rPr>
                        <a:t> </a:t>
                      </a:r>
                    </a:p>
                  </p:txBody>
                </p:sp>
              </p:grpSp>
              <p:pic>
                <p:nvPicPr>
                  <p:cNvPr id="20" name="Shape 23" descr="Icon&#10;&#10;Description automatically generated">
                    <a:extLst>
                      <a:ext uri="{FF2B5EF4-FFF2-40B4-BE49-F238E27FC236}">
                        <a16:creationId xmlns="" xmlns:a16="http://schemas.microsoft.com/office/drawing/2014/main" id="{48415247-8B29-F646-8080-5A516EEE4279}"/>
                      </a:ext>
                    </a:extLst>
                  </p:cNvPr>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77510" y="-1296711"/>
                    <a:ext cx="548640" cy="397432"/>
                  </a:xfrm>
                  <a:prstGeom prst="rect">
                    <a:avLst/>
                  </a:prstGeom>
                  <a:noFill/>
                  <a:ln>
                    <a:noFill/>
                  </a:ln>
                  <a:effectLst>
                    <a:outerShdw blurRad="50800" dist="38100" dir="2700000" algn="tl" rotWithShape="0">
                      <a:prstClr val="black">
                        <a:alpha val="40000"/>
                      </a:prstClr>
                    </a:outerShdw>
                  </a:effectLst>
                </p:spPr>
              </p:pic>
            </p:grpSp>
          </p:grpSp>
        </p:grpSp>
      </p:grpSp>
      <p:grpSp>
        <p:nvGrpSpPr>
          <p:cNvPr id="8" name="Group 7">
            <a:extLst>
              <a:ext uri="{FF2B5EF4-FFF2-40B4-BE49-F238E27FC236}">
                <a16:creationId xmlns="" xmlns:a16="http://schemas.microsoft.com/office/drawing/2014/main" id="{3890F9BB-49EF-7943-8CDD-04506E04BD18}"/>
              </a:ext>
            </a:extLst>
          </p:cNvPr>
          <p:cNvGrpSpPr/>
          <p:nvPr/>
        </p:nvGrpSpPr>
        <p:grpSpPr>
          <a:xfrm>
            <a:off x="2743090" y="950339"/>
            <a:ext cx="6912089" cy="1392030"/>
            <a:chOff x="-1" y="-351346"/>
            <a:chExt cx="6912089" cy="1392356"/>
          </a:xfrm>
          <a:effectLst>
            <a:outerShdw blurRad="50800" dist="38100" dir="2700000" algn="tl" rotWithShape="0">
              <a:prstClr val="black">
                <a:alpha val="40000"/>
              </a:prstClr>
            </a:outerShdw>
          </a:effectLst>
        </p:grpSpPr>
        <p:sp>
          <p:nvSpPr>
            <p:cNvPr id="9" name="Rounded Rectangle 8">
              <a:extLst>
                <a:ext uri="{FF2B5EF4-FFF2-40B4-BE49-F238E27FC236}">
                  <a16:creationId xmlns="" xmlns:a16="http://schemas.microsoft.com/office/drawing/2014/main" id="{1460E69C-64C5-2142-8110-0C1A22542D5F}"/>
                </a:ext>
              </a:extLst>
            </p:cNvPr>
            <p:cNvSpPr/>
            <p:nvPr/>
          </p:nvSpPr>
          <p:spPr>
            <a:xfrm>
              <a:off x="-1" y="-351346"/>
              <a:ext cx="6912089" cy="1392356"/>
            </a:xfrm>
            <a:prstGeom prst="roundRect">
              <a:avLst>
                <a:gd name="adj" fmla="val 16667"/>
              </a:avLst>
            </a:prstGeom>
            <a:solidFill>
              <a:srgbClr val="E2EED5"/>
            </a:solidFill>
            <a:ln>
              <a:noFill/>
            </a:ln>
          </p:spPr>
          <p:txBody>
            <a:bodyPr spcFirstLastPara="1" wrap="square" lIns="91425" tIns="45700" rIns="91425" bIns="45700" anchor="ctr" anchorCtr="0">
              <a:noAutofit/>
            </a:bodyPr>
            <a:lstStyle/>
            <a:p>
              <a:pPr marL="742950">
                <a:lnSpc>
                  <a:spcPct val="107000"/>
                </a:lnSpc>
                <a:spcAft>
                  <a:spcPts val="800"/>
                </a:spcAft>
              </a:pP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Measures of variability </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are numerical values that measure how much a data set varies from a central value.</a:t>
              </a:r>
              <a:endParaRPr lang="en-US" sz="1200" dirty="0">
                <a:latin typeface="Calibri" panose="020F0502020204030204" pitchFamily="34" charset="0"/>
                <a:ea typeface="Times New Roman" panose="02020603050405020304" pitchFamily="18" charset="0"/>
              </a:endParaRPr>
            </a:p>
          </p:txBody>
        </p:sp>
        <p:pic>
          <p:nvPicPr>
            <p:cNvPr id="10" name="Shape 7" descr="Icon&#10;&#10;Description automatically generated">
              <a:extLst>
                <a:ext uri="{FF2B5EF4-FFF2-40B4-BE49-F238E27FC236}">
                  <a16:creationId xmlns="" xmlns:a16="http://schemas.microsoft.com/office/drawing/2014/main" id="{843AA62C-8519-8940-A926-19E1C376F509}"/>
                </a:ext>
              </a:extLst>
            </p:cNvPr>
            <p:cNvPicPr/>
            <p:nvPr/>
          </p:nvPicPr>
          <p:blipFill rotWithShape="1">
            <a:blip r:embed="rId4" cstate="screen">
              <a:alphaModFix/>
              <a:extLst>
                <a:ext uri="{28A0092B-C50C-407E-A947-70E740481C1C}">
                  <a14:useLocalDpi xmlns:a14="http://schemas.microsoft.com/office/drawing/2010/main"/>
                </a:ext>
              </a:extLst>
            </a:blip>
            <a:srcRect/>
            <a:stretch/>
          </p:blipFill>
          <p:spPr>
            <a:xfrm>
              <a:off x="137238" y="-160053"/>
              <a:ext cx="539750" cy="539115"/>
            </a:xfrm>
            <a:prstGeom prst="rect">
              <a:avLst/>
            </a:prstGeom>
            <a:noFill/>
            <a:ln>
              <a:noFill/>
            </a:ln>
            <a:effectLst>
              <a:outerShdw blurRad="50800" dist="38100" dir="2700000" algn="tl" rotWithShape="0">
                <a:prstClr val="black">
                  <a:alpha val="40000"/>
                </a:prstClr>
              </a:outerShdw>
            </a:effectLst>
          </p:spPr>
        </p:pic>
      </p:grpSp>
      <p:pic>
        <p:nvPicPr>
          <p:cNvPr id="24" name="Google Shape;311;g104476d1465_1_39"/>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25" name="Google Shape;282;g104476d1465_1_17">
            <a:extLst>
              <a:ext uri="{FF2B5EF4-FFF2-40B4-BE49-F238E27FC236}">
                <a16:creationId xmlns="" xmlns:a16="http://schemas.microsoft.com/office/drawing/2014/main" id="{2C9405F7-8214-CE45-80C3-9FBF7002FBD5}"/>
              </a:ext>
            </a:extLst>
          </p:cNvPr>
          <p:cNvSpPr txBox="1"/>
          <p:nvPr/>
        </p:nvSpPr>
        <p:spPr>
          <a:xfrm>
            <a:off x="8994150" y="6537462"/>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164</a:t>
            </a:r>
            <a:endParaRPr i="1" dirty="0">
              <a:latin typeface="Calibri"/>
              <a:ea typeface="Calibri"/>
              <a:cs typeface="Calibri"/>
              <a:sym typeface="Calibri"/>
            </a:endParaRPr>
          </a:p>
        </p:txBody>
      </p:sp>
    </p:spTree>
    <p:extLst>
      <p:ext uri="{BB962C8B-B14F-4D97-AF65-F5344CB8AC3E}">
        <p14:creationId xmlns:p14="http://schemas.microsoft.com/office/powerpoint/2010/main" val="23842103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 xmlns:a16="http://schemas.microsoft.com/office/drawing/2014/main" id="{D0821C8B-4657-A74D-94B5-D6CF373A1741}"/>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7" name="Google Shape;311;g104476d1465_1_39"/>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 xmlns:a16="http://schemas.microsoft.com/office/drawing/2014/main" id="{2C9405F7-8214-CE45-80C3-9FBF7002FBD5}"/>
              </a:ext>
            </a:extLst>
          </p:cNvPr>
          <p:cNvSpPr txBox="1"/>
          <p:nvPr/>
        </p:nvSpPr>
        <p:spPr>
          <a:xfrm>
            <a:off x="8994150" y="6537462"/>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164</a:t>
            </a:r>
            <a:endParaRPr i="1" dirty="0">
              <a:latin typeface="Calibri"/>
              <a:ea typeface="Calibri"/>
              <a:cs typeface="Calibri"/>
              <a:sym typeface="Calibri"/>
            </a:endParaRPr>
          </a:p>
        </p:txBody>
      </p:sp>
    </p:spTree>
    <p:extLst>
      <p:ext uri="{BB962C8B-B14F-4D97-AF65-F5344CB8AC3E}">
        <p14:creationId xmlns:p14="http://schemas.microsoft.com/office/powerpoint/2010/main" val="35607887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 xmlns:a16="http://schemas.microsoft.com/office/drawing/2014/main" id="{DB5796CA-12EB-BB4C-8338-B127D750A026}"/>
              </a:ext>
            </a:extLst>
          </p:cNvPr>
          <p:cNvSpPr txBox="1">
            <a:spLocks/>
          </p:cNvSpPr>
          <p:nvPr/>
        </p:nvSpPr>
        <p:spPr>
          <a:xfrm>
            <a:off x="1310640" y="17905"/>
            <a:ext cx="1058683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9.4.5 Collaboration: </a:t>
            </a:r>
            <a:r>
              <a:rPr lang="en-US" sz="3600" b="1" dirty="0">
                <a:solidFill>
                  <a:srgbClr val="33BEA6"/>
                </a:solidFill>
                <a:latin typeface="Verdana"/>
                <a:ea typeface="Verdana"/>
                <a:cs typeface="Verdana"/>
              </a:rPr>
              <a:t>Analyzing Numerical Data </a:t>
            </a:r>
            <a:endParaRPr lang="en-US" sz="3600" b="1" dirty="0">
              <a:solidFill>
                <a:srgbClr val="33BEA6"/>
              </a:solidFill>
              <a:latin typeface="Verdana"/>
              <a:ea typeface="Verdana"/>
              <a:cs typeface="Verdana"/>
              <a:sym typeface="Verdana"/>
            </a:endParaRPr>
          </a:p>
        </p:txBody>
      </p:sp>
      <p:pic>
        <p:nvPicPr>
          <p:cNvPr id="9" name="Picture 2">
            <a:extLst>
              <a:ext uri="{FF2B5EF4-FFF2-40B4-BE49-F238E27FC236}">
                <a16:creationId xmlns="" xmlns:a16="http://schemas.microsoft.com/office/drawing/2014/main" id="{A80EBD0F-404F-0B4B-AC09-DA5A6DF6026E}"/>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92016" y="173610"/>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 xmlns:a16="http://schemas.microsoft.com/office/drawing/2014/main" id="{E44DF7DE-9172-3E4E-B74A-7A51585FB6EA}"/>
              </a:ext>
            </a:extLst>
          </p:cNvPr>
          <p:cNvSpPr txBox="1"/>
          <p:nvPr/>
        </p:nvSpPr>
        <p:spPr>
          <a:xfrm>
            <a:off x="445106" y="1562250"/>
            <a:ext cx="11544835" cy="1569660"/>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Alice collected data on the height of sixth graders in her school. Below are two tables with heights, in inches (in.), of some of her male and female classmates. </a:t>
            </a: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mc:AlternateContent xmlns:mc="http://schemas.openxmlformats.org/markup-compatibility/2006">
        <mc:Choice xmlns:a14="http://schemas.microsoft.com/office/drawing/2010/main" Requires="a14">
          <p:graphicFrame>
            <p:nvGraphicFramePr>
              <p:cNvPr id="5" name="Table 4">
                <a:extLst>
                  <a:ext uri="{FF2B5EF4-FFF2-40B4-BE49-F238E27FC236}">
                    <a16:creationId xmlns="" xmlns:a16="http://schemas.microsoft.com/office/drawing/2014/main" id="{71CFD2AD-16B9-F543-8519-E9B7A0D513DF}"/>
                  </a:ext>
                </a:extLst>
              </p:cNvPr>
              <p:cNvGraphicFramePr>
                <a:graphicFrameLocks noGrp="1"/>
              </p:cNvGraphicFramePr>
              <p:nvPr>
                <p:extLst>
                  <p:ext uri="{D42A27DB-BD31-4B8C-83A1-F6EECF244321}">
                    <p14:modId xmlns:p14="http://schemas.microsoft.com/office/powerpoint/2010/main" val="751394893"/>
                  </p:ext>
                </p:extLst>
              </p:nvPr>
            </p:nvGraphicFramePr>
            <p:xfrm>
              <a:off x="2700717" y="3297239"/>
              <a:ext cx="3086100" cy="2324101"/>
            </p:xfrm>
            <a:graphic>
              <a:graphicData uri="http://schemas.openxmlformats.org/drawingml/2006/table">
                <a:tbl>
                  <a:tblPr bandRow="1">
                    <a:tableStyleId>{A91F0D33-8C57-4600-99A7-42BC86742BE1}</a:tableStyleId>
                  </a:tblPr>
                  <a:tblGrid>
                    <a:gridCol w="1543050">
                      <a:extLst>
                        <a:ext uri="{9D8B030D-6E8A-4147-A177-3AD203B41FA5}">
                          <a16:colId xmlns="" xmlns:a16="http://schemas.microsoft.com/office/drawing/2014/main" val="258026058"/>
                        </a:ext>
                      </a:extLst>
                    </a:gridCol>
                    <a:gridCol w="1543050">
                      <a:extLst>
                        <a:ext uri="{9D8B030D-6E8A-4147-A177-3AD203B41FA5}">
                          <a16:colId xmlns="" xmlns:a16="http://schemas.microsoft.com/office/drawing/2014/main" val="2326260546"/>
                        </a:ext>
                      </a:extLst>
                    </a:gridCol>
                  </a:tblGrid>
                  <a:tr h="346621">
                    <a:tc gridSpan="2">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Height of Boys (in.)</a:t>
                          </a:r>
                          <a:endParaRPr lang="en-US" sz="11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hMerge="1">
                      <a:txBody>
                        <a:bodyPr/>
                        <a:lstStyle/>
                        <a:p>
                          <a:endParaRPr lang="en-US"/>
                        </a:p>
                      </a:txBody>
                      <a:tcPr/>
                    </a:tc>
                    <a:extLst>
                      <a:ext uri="{0D108BD9-81ED-4DB2-BD59-A6C34878D82A}">
                        <a16:rowId xmlns="" xmlns:a16="http://schemas.microsoft.com/office/drawing/2014/main" val="2205732760"/>
                      </a:ext>
                    </a:extLst>
                  </a:tr>
                  <a:tr h="395496">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58 </m:t>
                                </m:r>
                                <m:r>
                                  <m:rPr>
                                    <m:sty m:val="p"/>
                                  </m:rPr>
                                  <a:rPr lang="en-US" sz="1800">
                                    <a:effectLst/>
                                    <a:latin typeface="Cambria Math" panose="02040503050406030204" pitchFamily="18" charset="0"/>
                                  </a:rPr>
                                  <m:t>in</m:t>
                                </m:r>
                                <m:r>
                                  <a:rPr lang="en-US" sz="1800">
                                    <a:effectLst/>
                                    <a:latin typeface="Cambria Math" panose="02040503050406030204" pitchFamily="18" charset="0"/>
                                  </a:rPr>
                                  <m:t>.</m:t>
                                </m:r>
                              </m:oMath>
                            </m:oMathPara>
                          </a14:m>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57 </m:t>
                                </m:r>
                                <m:r>
                                  <m:rPr>
                                    <m:sty m:val="p"/>
                                  </m:rPr>
                                  <a:rPr lang="en-US" sz="1800">
                                    <a:effectLst/>
                                    <a:latin typeface="Cambria Math" panose="02040503050406030204" pitchFamily="18" charset="0"/>
                                  </a:rPr>
                                  <m:t>in</m:t>
                                </m:r>
                                <m:r>
                                  <a:rPr lang="en-US" sz="1800">
                                    <a:effectLst/>
                                    <a:latin typeface="Cambria Math" panose="02040503050406030204" pitchFamily="18" charset="0"/>
                                  </a:rPr>
                                  <m:t>.</m:t>
                                </m:r>
                              </m:oMath>
                            </m:oMathPara>
                          </a14:m>
                          <a:endParaRPr lang="en-US" sz="11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034936133"/>
                      </a:ext>
                    </a:extLst>
                  </a:tr>
                  <a:tr h="395496">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57 </m:t>
                                </m:r>
                                <m:r>
                                  <m:rPr>
                                    <m:sty m:val="p"/>
                                  </m:rPr>
                                  <a:rPr lang="en-US" sz="1800">
                                    <a:effectLst/>
                                    <a:latin typeface="Cambria Math" panose="02040503050406030204" pitchFamily="18" charset="0"/>
                                  </a:rPr>
                                  <m:t>in</m:t>
                                </m:r>
                                <m:r>
                                  <a:rPr lang="en-US" sz="1800">
                                    <a:effectLst/>
                                    <a:latin typeface="Cambria Math" panose="02040503050406030204" pitchFamily="18" charset="0"/>
                                  </a:rPr>
                                  <m:t>.</m:t>
                                </m:r>
                              </m:oMath>
                            </m:oMathPara>
                          </a14:m>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56 </m:t>
                                </m:r>
                                <m:r>
                                  <m:rPr>
                                    <m:sty m:val="p"/>
                                  </m:rPr>
                                  <a:rPr lang="en-US" sz="1800">
                                    <a:effectLst/>
                                    <a:latin typeface="Cambria Math" panose="02040503050406030204" pitchFamily="18" charset="0"/>
                                  </a:rPr>
                                  <m:t>in</m:t>
                                </m:r>
                                <m:r>
                                  <a:rPr lang="en-US" sz="1800">
                                    <a:effectLst/>
                                    <a:latin typeface="Cambria Math" panose="02040503050406030204" pitchFamily="18" charset="0"/>
                                  </a:rPr>
                                  <m:t>.</m:t>
                                </m:r>
                              </m:oMath>
                            </m:oMathPara>
                          </a14:m>
                          <a:endParaRPr lang="en-US" sz="11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569970651"/>
                      </a:ext>
                    </a:extLst>
                  </a:tr>
                  <a:tr h="395496">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55 </m:t>
                                </m:r>
                                <m:r>
                                  <m:rPr>
                                    <m:sty m:val="p"/>
                                  </m:rPr>
                                  <a:rPr lang="en-US" sz="1800">
                                    <a:effectLst/>
                                    <a:latin typeface="Cambria Math" panose="02040503050406030204" pitchFamily="18" charset="0"/>
                                  </a:rPr>
                                  <m:t>in</m:t>
                                </m:r>
                                <m:r>
                                  <a:rPr lang="en-US" sz="1800">
                                    <a:effectLst/>
                                    <a:latin typeface="Cambria Math" panose="02040503050406030204" pitchFamily="18" charset="0"/>
                                  </a:rPr>
                                  <m:t>.</m:t>
                                </m:r>
                              </m:oMath>
                            </m:oMathPara>
                          </a14:m>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56 </m:t>
                                </m:r>
                                <m:r>
                                  <m:rPr>
                                    <m:sty m:val="p"/>
                                  </m:rPr>
                                  <a:rPr lang="en-US" sz="1800">
                                    <a:effectLst/>
                                    <a:latin typeface="Cambria Math" panose="02040503050406030204" pitchFamily="18" charset="0"/>
                                  </a:rPr>
                                  <m:t>in</m:t>
                                </m:r>
                                <m:r>
                                  <a:rPr lang="en-US" sz="1800">
                                    <a:effectLst/>
                                    <a:latin typeface="Cambria Math" panose="02040503050406030204" pitchFamily="18" charset="0"/>
                                  </a:rPr>
                                  <m:t>.</m:t>
                                </m:r>
                              </m:oMath>
                            </m:oMathPara>
                          </a14:m>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108882432"/>
                      </a:ext>
                    </a:extLst>
                  </a:tr>
                  <a:tr h="395496">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57 </m:t>
                                </m:r>
                                <m:r>
                                  <m:rPr>
                                    <m:sty m:val="p"/>
                                  </m:rPr>
                                  <a:rPr lang="en-US" sz="1800">
                                    <a:effectLst/>
                                    <a:latin typeface="Cambria Math" panose="02040503050406030204" pitchFamily="18" charset="0"/>
                                  </a:rPr>
                                  <m:t>in</m:t>
                                </m:r>
                                <m:r>
                                  <a:rPr lang="en-US" sz="1800">
                                    <a:effectLst/>
                                    <a:latin typeface="Cambria Math" panose="02040503050406030204" pitchFamily="18" charset="0"/>
                                  </a:rPr>
                                  <m:t>.</m:t>
                                </m:r>
                              </m:oMath>
                            </m:oMathPara>
                          </a14:m>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59 </m:t>
                                </m:r>
                                <m:r>
                                  <m:rPr>
                                    <m:sty m:val="p"/>
                                  </m:rPr>
                                  <a:rPr lang="en-US" sz="1800">
                                    <a:effectLst/>
                                    <a:latin typeface="Cambria Math" panose="02040503050406030204" pitchFamily="18" charset="0"/>
                                  </a:rPr>
                                  <m:t>in</m:t>
                                </m:r>
                                <m:r>
                                  <a:rPr lang="en-US" sz="1800">
                                    <a:effectLst/>
                                    <a:latin typeface="Cambria Math" panose="02040503050406030204" pitchFamily="18" charset="0"/>
                                  </a:rPr>
                                  <m:t>.</m:t>
                                </m:r>
                              </m:oMath>
                            </m:oMathPara>
                          </a14:m>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465759980"/>
                      </a:ext>
                    </a:extLst>
                  </a:tr>
                  <a:tr h="395496">
                    <a:tc>
                      <a:txBody>
                        <a:bodyPr/>
                        <a:lstStyle/>
                        <a:p>
                          <a:pPr marL="0" marR="0" algn="ctr">
                            <a:lnSpc>
                              <a:spcPct val="107000"/>
                            </a:lnSpc>
                            <a:spcBef>
                              <a:spcPts val="0"/>
                            </a:spcBef>
                            <a:spcAft>
                              <a:spcPts val="0"/>
                            </a:spcAft>
                          </a:pPr>
                          <a14:m>
                            <m:oMath xmlns:m="http://schemas.openxmlformats.org/officeDocument/2006/math">
                              <m:r>
                                <a:rPr lang="en-US" sz="1800">
                                  <a:effectLst/>
                                  <a:latin typeface="Cambria Math" panose="02040503050406030204" pitchFamily="18" charset="0"/>
                                </a:rPr>
                                <m:t>58</m:t>
                              </m:r>
                            </m:oMath>
                          </a14:m>
                          <a:r>
                            <a:rPr lang="en-US" sz="180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m:rPr>
                                  <m:sty m:val="p"/>
                                </m:rPr>
                                <a:rPr lang="en-US" sz="1800">
                                  <a:effectLst/>
                                  <a:latin typeface="Cambria Math" panose="02040503050406030204" pitchFamily="18" charset="0"/>
                                </a:rPr>
                                <m:t>in</m:t>
                              </m:r>
                            </m:oMath>
                          </a14:m>
                          <a:r>
                            <a:rPr lang="en-US" sz="1800">
                              <a:effectLst/>
                              <a:latin typeface="Verdana" panose="020B0604030504040204" pitchFamily="34" charset="0"/>
                              <a:ea typeface="Verdana" panose="020B0604030504040204" pitchFamily="34" charset="0"/>
                              <a:cs typeface="Verdana" panose="020B0604030504040204" pitchFamily="34" charset="0"/>
                            </a:rPr>
                            <a:t>.</a:t>
                          </a:r>
                          <a:endParaRPr lang="en-US" sz="11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57 </m:t>
                                </m:r>
                                <m:r>
                                  <m:rPr>
                                    <m:sty m:val="p"/>
                                  </m:rPr>
                                  <a:rPr lang="en-US" sz="1800">
                                    <a:effectLst/>
                                    <a:latin typeface="Cambria Math" panose="02040503050406030204" pitchFamily="18" charset="0"/>
                                  </a:rPr>
                                  <m:t>in</m:t>
                                </m:r>
                                <m:r>
                                  <a:rPr lang="en-US" sz="1800">
                                    <a:effectLst/>
                                    <a:latin typeface="Cambria Math" panose="02040503050406030204" pitchFamily="18" charset="0"/>
                                  </a:rPr>
                                  <m:t>.</m:t>
                                </m:r>
                              </m:oMath>
                            </m:oMathPara>
                          </a14:m>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103366578"/>
                      </a:ext>
                    </a:extLst>
                  </a:tr>
                </a:tbl>
              </a:graphicData>
            </a:graphic>
          </p:graphicFrame>
        </mc:Choice>
        <mc:Fallback>
          <p:graphicFrame>
            <p:nvGraphicFramePr>
              <p:cNvPr id="5" name="Table 4">
                <a:extLst>
                  <a:ext uri="{FF2B5EF4-FFF2-40B4-BE49-F238E27FC236}">
                    <a16:creationId xmlns="" xmlns:a16="http://schemas.microsoft.com/office/drawing/2014/main" xmlns:a14="http://schemas.microsoft.com/office/drawing/2010/main" id="{71CFD2AD-16B9-F543-8519-E9B7A0D513DF}"/>
                  </a:ext>
                </a:extLst>
              </p:cNvPr>
              <p:cNvGraphicFramePr>
                <a:graphicFrameLocks noGrp="1"/>
              </p:cNvGraphicFramePr>
              <p:nvPr>
                <p:extLst>
                  <p:ext uri="{D42A27DB-BD31-4B8C-83A1-F6EECF244321}">
                    <p14:modId xmlns:p14="http://schemas.microsoft.com/office/powerpoint/2010/main" val="751394893"/>
                  </p:ext>
                </p:extLst>
              </p:nvPr>
            </p:nvGraphicFramePr>
            <p:xfrm>
              <a:off x="2700717" y="3297239"/>
              <a:ext cx="3086100" cy="2324101"/>
            </p:xfrm>
            <a:graphic>
              <a:graphicData uri="http://schemas.openxmlformats.org/drawingml/2006/table">
                <a:tbl>
                  <a:tblPr bandRow="1">
                    <a:tableStyleId>{A91F0D33-8C57-4600-99A7-42BC86742BE1}</a:tableStyleId>
                  </a:tblPr>
                  <a:tblGrid>
                    <a:gridCol w="1543050">
                      <a:extLst>
                        <a:ext uri="{9D8B030D-6E8A-4147-A177-3AD203B41FA5}">
                          <a16:colId xmlns="" xmlns:a16="http://schemas.microsoft.com/office/drawing/2014/main" xmlns:a14="http://schemas.microsoft.com/office/drawing/2010/main" val="258026058"/>
                        </a:ext>
                      </a:extLst>
                    </a:gridCol>
                    <a:gridCol w="1543050">
                      <a:extLst>
                        <a:ext uri="{9D8B030D-6E8A-4147-A177-3AD203B41FA5}">
                          <a16:colId xmlns="" xmlns:a16="http://schemas.microsoft.com/office/drawing/2014/main" xmlns:a14="http://schemas.microsoft.com/office/drawing/2010/main" val="2326260546"/>
                        </a:ext>
                      </a:extLst>
                    </a:gridCol>
                  </a:tblGrid>
                  <a:tr h="346621">
                    <a:tc gridSpan="2">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Height of Boys (in.)</a:t>
                          </a:r>
                          <a:endParaRPr lang="en-US" sz="11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hMerge="1">
                      <a:txBody>
                        <a:bodyPr/>
                        <a:lstStyle/>
                        <a:p>
                          <a:endParaRPr lang="en-US"/>
                        </a:p>
                      </a:txBody>
                      <a:tcPr/>
                    </a:tc>
                    <a:extLst>
                      <a:ext uri="{0D108BD9-81ED-4DB2-BD59-A6C34878D82A}">
                        <a16:rowId xmlns="" xmlns:a16="http://schemas.microsoft.com/office/drawing/2014/main" xmlns:a14="http://schemas.microsoft.com/office/drawing/2010/main" val="2205732760"/>
                      </a:ext>
                    </a:extLst>
                  </a:tr>
                  <a:tr h="395496">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4"/>
                          <a:stretch>
                            <a:fillRect t="-98462" r="-100395" b="-418462"/>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4"/>
                          <a:stretch>
                            <a:fillRect l="-100000" t="-98462" r="-395" b="-418462"/>
                          </a:stretch>
                        </a:blipFill>
                      </a:tcPr>
                    </a:tc>
                    <a:extLst>
                      <a:ext uri="{0D108BD9-81ED-4DB2-BD59-A6C34878D82A}">
                        <a16:rowId xmlns="" xmlns:a16="http://schemas.microsoft.com/office/drawing/2014/main" xmlns:a14="http://schemas.microsoft.com/office/drawing/2010/main" val="2034936133"/>
                      </a:ext>
                    </a:extLst>
                  </a:tr>
                  <a:tr h="395496">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4"/>
                          <a:stretch>
                            <a:fillRect t="-201563" r="-100395" b="-325000"/>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4"/>
                          <a:stretch>
                            <a:fillRect l="-100000" t="-201563" r="-395" b="-325000"/>
                          </a:stretch>
                        </a:blipFill>
                      </a:tcPr>
                    </a:tc>
                    <a:extLst>
                      <a:ext uri="{0D108BD9-81ED-4DB2-BD59-A6C34878D82A}">
                        <a16:rowId xmlns="" xmlns:a16="http://schemas.microsoft.com/office/drawing/2014/main" xmlns:a14="http://schemas.microsoft.com/office/drawing/2010/main" val="1569970651"/>
                      </a:ext>
                    </a:extLst>
                  </a:tr>
                  <a:tr h="395496">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4"/>
                          <a:stretch>
                            <a:fillRect t="-296923" r="-100395" b="-220000"/>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4"/>
                          <a:stretch>
                            <a:fillRect l="-100000" t="-296923" r="-395" b="-220000"/>
                          </a:stretch>
                        </a:blipFill>
                      </a:tcPr>
                    </a:tc>
                    <a:extLst>
                      <a:ext uri="{0D108BD9-81ED-4DB2-BD59-A6C34878D82A}">
                        <a16:rowId xmlns="" xmlns:a16="http://schemas.microsoft.com/office/drawing/2014/main" xmlns:a14="http://schemas.microsoft.com/office/drawing/2010/main" val="3108882432"/>
                      </a:ext>
                    </a:extLst>
                  </a:tr>
                  <a:tr h="395496">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4"/>
                          <a:stretch>
                            <a:fillRect t="-396923" r="-100395" b="-120000"/>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4"/>
                          <a:stretch>
                            <a:fillRect l="-100000" t="-396923" r="-395" b="-120000"/>
                          </a:stretch>
                        </a:blipFill>
                      </a:tcPr>
                    </a:tc>
                    <a:extLst>
                      <a:ext uri="{0D108BD9-81ED-4DB2-BD59-A6C34878D82A}">
                        <a16:rowId xmlns="" xmlns:a16="http://schemas.microsoft.com/office/drawing/2014/main" xmlns:a14="http://schemas.microsoft.com/office/drawing/2010/main" val="1465759980"/>
                      </a:ext>
                    </a:extLst>
                  </a:tr>
                  <a:tr h="395496">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4"/>
                          <a:stretch>
                            <a:fillRect t="-496923" r="-100395" b="-20000"/>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4"/>
                          <a:stretch>
                            <a:fillRect l="-100000" t="-496923" r="-395" b="-20000"/>
                          </a:stretch>
                        </a:blipFill>
                      </a:tcPr>
                    </a:tc>
                    <a:extLst>
                      <a:ext uri="{0D108BD9-81ED-4DB2-BD59-A6C34878D82A}">
                        <a16:rowId xmlns="" xmlns:a16="http://schemas.microsoft.com/office/drawing/2014/main" xmlns:a14="http://schemas.microsoft.com/office/drawing/2010/main" val="1103366578"/>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6" name="Table 5">
                <a:extLst>
                  <a:ext uri="{FF2B5EF4-FFF2-40B4-BE49-F238E27FC236}">
                    <a16:creationId xmlns="" xmlns:a16="http://schemas.microsoft.com/office/drawing/2014/main" id="{D2D1EF63-FA38-A443-B84F-7F5FE93AD375}"/>
                  </a:ext>
                </a:extLst>
              </p:cNvPr>
              <p:cNvGraphicFramePr>
                <a:graphicFrameLocks noGrp="1"/>
              </p:cNvGraphicFramePr>
              <p:nvPr>
                <p:extLst>
                  <p:ext uri="{D42A27DB-BD31-4B8C-83A1-F6EECF244321}">
                    <p14:modId xmlns:p14="http://schemas.microsoft.com/office/powerpoint/2010/main" val="2776573061"/>
                  </p:ext>
                </p:extLst>
              </p:nvPr>
            </p:nvGraphicFramePr>
            <p:xfrm>
              <a:off x="6609533" y="3297238"/>
              <a:ext cx="3057525" cy="2324100"/>
            </p:xfrm>
            <a:graphic>
              <a:graphicData uri="http://schemas.openxmlformats.org/drawingml/2006/table">
                <a:tbl>
                  <a:tblPr bandRow="1">
                    <a:tableStyleId>{A91F0D33-8C57-4600-99A7-42BC86742BE1}</a:tableStyleId>
                  </a:tblPr>
                  <a:tblGrid>
                    <a:gridCol w="1530033">
                      <a:extLst>
                        <a:ext uri="{9D8B030D-6E8A-4147-A177-3AD203B41FA5}">
                          <a16:colId xmlns="" xmlns:a16="http://schemas.microsoft.com/office/drawing/2014/main" val="431735253"/>
                        </a:ext>
                      </a:extLst>
                    </a:gridCol>
                    <a:gridCol w="1527492">
                      <a:extLst>
                        <a:ext uri="{9D8B030D-6E8A-4147-A177-3AD203B41FA5}">
                          <a16:colId xmlns="" xmlns:a16="http://schemas.microsoft.com/office/drawing/2014/main" val="807123437"/>
                        </a:ext>
                      </a:extLst>
                    </a:gridCol>
                  </a:tblGrid>
                  <a:tr h="387350">
                    <a:tc gridSpan="2">
                      <a:txBody>
                        <a:bodyPr/>
                        <a:lstStyle/>
                        <a:p>
                          <a:pPr marL="0" marR="0" algn="ctr">
                            <a:lnSpc>
                              <a:spcPct val="107000"/>
                            </a:lnSpc>
                            <a:spcBef>
                              <a:spcPts val="0"/>
                            </a:spcBef>
                            <a:spcAft>
                              <a:spcPts val="0"/>
                            </a:spcAft>
                          </a:pPr>
                          <a:r>
                            <a:rPr lang="en-US" sz="1800" b="1" dirty="0">
                              <a:effectLst/>
                              <a:latin typeface="Verdana" pitchFamily="34" charset="0"/>
                              <a:ea typeface="Verdana" pitchFamily="34" charset="0"/>
                            </a:rPr>
                            <a:t>Height of Girls (in.)</a:t>
                          </a:r>
                          <a:endParaRPr lang="en-US" sz="1100" b="1" dirty="0">
                            <a:effectLst/>
                            <a:latin typeface="Verdana" pitchFamily="34" charset="0"/>
                            <a:ea typeface="Verdan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hMerge="1">
                      <a:txBody>
                        <a:bodyPr/>
                        <a:lstStyle/>
                        <a:p>
                          <a:endParaRPr lang="en-US"/>
                        </a:p>
                      </a:txBody>
                      <a:tcPr/>
                    </a:tc>
                    <a:extLst>
                      <a:ext uri="{0D108BD9-81ED-4DB2-BD59-A6C34878D82A}">
                        <a16:rowId xmlns="" xmlns:a16="http://schemas.microsoft.com/office/drawing/2014/main" val="2812324612"/>
                      </a:ext>
                    </a:extLst>
                  </a:tr>
                  <a:tr h="38735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55 </m:t>
                                </m:r>
                                <m:r>
                                  <m:rPr>
                                    <m:sty m:val="p"/>
                                  </m:rPr>
                                  <a:rPr lang="en-US" sz="1800">
                                    <a:effectLst/>
                                    <a:latin typeface="Cambria Math" panose="02040503050406030204" pitchFamily="18" charset="0"/>
                                  </a:rPr>
                                  <m:t>in</m:t>
                                </m:r>
                                <m:r>
                                  <a:rPr lang="en-US" sz="1800">
                                    <a:effectLst/>
                                    <a:latin typeface="Cambria Math" panose="02040503050406030204" pitchFamily="18" charset="0"/>
                                  </a:rPr>
                                  <m:t>.</m:t>
                                </m:r>
                              </m:oMath>
                            </m:oMathPara>
                          </a14:m>
                          <a:endParaRPr lang="en-US" sz="1100">
                            <a:effectLst/>
                            <a:latin typeface="Verdana" pitchFamily="34" charset="0"/>
                            <a:ea typeface="Verdan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48 </m:t>
                                </m:r>
                                <m:r>
                                  <m:rPr>
                                    <m:sty m:val="p"/>
                                  </m:rPr>
                                  <a:rPr lang="en-US" sz="1800">
                                    <a:effectLst/>
                                    <a:latin typeface="Cambria Math" panose="02040503050406030204" pitchFamily="18" charset="0"/>
                                  </a:rPr>
                                  <m:t>in</m:t>
                                </m:r>
                                <m:r>
                                  <a:rPr lang="en-US" sz="1800">
                                    <a:effectLst/>
                                    <a:latin typeface="Cambria Math" panose="02040503050406030204" pitchFamily="18" charset="0"/>
                                  </a:rPr>
                                  <m:t>.</m:t>
                                </m:r>
                              </m:oMath>
                            </m:oMathPara>
                          </a14:m>
                          <a:endParaRPr lang="en-US" sz="1100">
                            <a:effectLst/>
                            <a:latin typeface="Verdana" pitchFamily="34" charset="0"/>
                            <a:ea typeface="Verdan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956539294"/>
                      </a:ext>
                    </a:extLst>
                  </a:tr>
                  <a:tr h="38735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55 </m:t>
                                </m:r>
                                <m:r>
                                  <m:rPr>
                                    <m:sty m:val="p"/>
                                  </m:rPr>
                                  <a:rPr lang="en-US" sz="1800">
                                    <a:effectLst/>
                                    <a:latin typeface="Cambria Math" panose="02040503050406030204" pitchFamily="18" charset="0"/>
                                  </a:rPr>
                                  <m:t>in</m:t>
                                </m:r>
                                <m:r>
                                  <a:rPr lang="en-US" sz="1800">
                                    <a:effectLst/>
                                    <a:latin typeface="Cambria Math" panose="02040503050406030204" pitchFamily="18" charset="0"/>
                                  </a:rPr>
                                  <m:t>.</m:t>
                                </m:r>
                              </m:oMath>
                            </m:oMathPara>
                          </a14:m>
                          <a:endParaRPr lang="en-US" sz="1100">
                            <a:effectLst/>
                            <a:latin typeface="Verdana" pitchFamily="34" charset="0"/>
                            <a:ea typeface="Verdan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59 </m:t>
                                </m:r>
                                <m:r>
                                  <m:rPr>
                                    <m:sty m:val="p"/>
                                  </m:rPr>
                                  <a:rPr lang="en-US" sz="1800">
                                    <a:effectLst/>
                                    <a:latin typeface="Cambria Math" panose="02040503050406030204" pitchFamily="18" charset="0"/>
                                  </a:rPr>
                                  <m:t>in</m:t>
                                </m:r>
                                <m:r>
                                  <a:rPr lang="en-US" sz="1800">
                                    <a:effectLst/>
                                    <a:latin typeface="Cambria Math" panose="02040503050406030204" pitchFamily="18" charset="0"/>
                                  </a:rPr>
                                  <m:t>.</m:t>
                                </m:r>
                              </m:oMath>
                            </m:oMathPara>
                          </a14:m>
                          <a:endParaRPr lang="en-US" sz="1100">
                            <a:effectLst/>
                            <a:latin typeface="Verdana" pitchFamily="34" charset="0"/>
                            <a:ea typeface="Verdan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918120377"/>
                      </a:ext>
                    </a:extLst>
                  </a:tr>
                  <a:tr h="38735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48 </m:t>
                                </m:r>
                                <m:r>
                                  <m:rPr>
                                    <m:sty m:val="p"/>
                                  </m:rPr>
                                  <a:rPr lang="en-US" sz="1800">
                                    <a:effectLst/>
                                    <a:latin typeface="Cambria Math" panose="02040503050406030204" pitchFamily="18" charset="0"/>
                                  </a:rPr>
                                  <m:t>in</m:t>
                                </m:r>
                                <m:r>
                                  <a:rPr lang="en-US" sz="1800">
                                    <a:effectLst/>
                                    <a:latin typeface="Cambria Math" panose="02040503050406030204" pitchFamily="18" charset="0"/>
                                  </a:rPr>
                                  <m:t>.</m:t>
                                </m:r>
                              </m:oMath>
                            </m:oMathPara>
                          </a14:m>
                          <a:endParaRPr lang="en-US" sz="1100">
                            <a:effectLst/>
                            <a:latin typeface="Verdana" pitchFamily="34" charset="0"/>
                            <a:ea typeface="Verdan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50 </m:t>
                                </m:r>
                                <m:r>
                                  <m:rPr>
                                    <m:sty m:val="p"/>
                                  </m:rPr>
                                  <a:rPr lang="en-US" sz="1800">
                                    <a:effectLst/>
                                    <a:latin typeface="Cambria Math" panose="02040503050406030204" pitchFamily="18" charset="0"/>
                                  </a:rPr>
                                  <m:t>in</m:t>
                                </m:r>
                                <m:r>
                                  <a:rPr lang="en-US" sz="1800">
                                    <a:effectLst/>
                                    <a:latin typeface="Cambria Math" panose="02040503050406030204" pitchFamily="18" charset="0"/>
                                  </a:rPr>
                                  <m:t>.</m:t>
                                </m:r>
                              </m:oMath>
                            </m:oMathPara>
                          </a14:m>
                          <a:endParaRPr lang="en-US" sz="1100">
                            <a:effectLst/>
                            <a:latin typeface="Verdana" pitchFamily="34" charset="0"/>
                            <a:ea typeface="Verdan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658740861"/>
                      </a:ext>
                    </a:extLst>
                  </a:tr>
                  <a:tr h="38735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58 </m:t>
                                </m:r>
                                <m:r>
                                  <m:rPr>
                                    <m:sty m:val="p"/>
                                  </m:rPr>
                                  <a:rPr lang="en-US" sz="1800">
                                    <a:effectLst/>
                                    <a:latin typeface="Cambria Math" panose="02040503050406030204" pitchFamily="18" charset="0"/>
                                  </a:rPr>
                                  <m:t>in</m:t>
                                </m:r>
                                <m:r>
                                  <a:rPr lang="en-US" sz="1800">
                                    <a:effectLst/>
                                    <a:latin typeface="Cambria Math" panose="02040503050406030204" pitchFamily="18" charset="0"/>
                                  </a:rPr>
                                  <m:t>.</m:t>
                                </m:r>
                              </m:oMath>
                            </m:oMathPara>
                          </a14:m>
                          <a:endParaRPr lang="en-US" sz="1100">
                            <a:effectLst/>
                            <a:latin typeface="Verdana" pitchFamily="34" charset="0"/>
                            <a:ea typeface="Verdan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55 </m:t>
                                </m:r>
                                <m:r>
                                  <m:rPr>
                                    <m:sty m:val="p"/>
                                  </m:rPr>
                                  <a:rPr lang="en-US" sz="1800">
                                    <a:effectLst/>
                                    <a:latin typeface="Cambria Math" panose="02040503050406030204" pitchFamily="18" charset="0"/>
                                  </a:rPr>
                                  <m:t>in</m:t>
                                </m:r>
                                <m:r>
                                  <a:rPr lang="en-US" sz="1800">
                                    <a:effectLst/>
                                    <a:latin typeface="Cambria Math" panose="02040503050406030204" pitchFamily="18" charset="0"/>
                                  </a:rPr>
                                  <m:t>.</m:t>
                                </m:r>
                              </m:oMath>
                            </m:oMathPara>
                          </a14:m>
                          <a:endParaRPr lang="en-US" sz="1100">
                            <a:effectLst/>
                            <a:latin typeface="Verdana" pitchFamily="34" charset="0"/>
                            <a:ea typeface="Verdan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57882048"/>
                      </a:ext>
                    </a:extLst>
                  </a:tr>
                  <a:tr h="38735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50 </m:t>
                                </m:r>
                                <m:r>
                                  <m:rPr>
                                    <m:sty m:val="p"/>
                                  </m:rPr>
                                  <a:rPr lang="en-US" sz="1800">
                                    <a:effectLst/>
                                    <a:latin typeface="Cambria Math" panose="02040503050406030204" pitchFamily="18" charset="0"/>
                                  </a:rPr>
                                  <m:t>in</m:t>
                                </m:r>
                                <m:r>
                                  <a:rPr lang="en-US" sz="1800">
                                    <a:effectLst/>
                                    <a:latin typeface="Cambria Math" panose="02040503050406030204" pitchFamily="18" charset="0"/>
                                  </a:rPr>
                                  <m:t>.</m:t>
                                </m:r>
                              </m:oMath>
                            </m:oMathPara>
                          </a14:m>
                          <a:endParaRPr lang="en-US" sz="1100">
                            <a:effectLst/>
                            <a:latin typeface="Verdana" pitchFamily="34" charset="0"/>
                            <a:ea typeface="Verdan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56 </m:t>
                                </m:r>
                                <m:r>
                                  <m:rPr>
                                    <m:sty m:val="p"/>
                                  </m:rPr>
                                  <a:rPr lang="en-US" sz="1800">
                                    <a:effectLst/>
                                    <a:latin typeface="Cambria Math" panose="02040503050406030204" pitchFamily="18" charset="0"/>
                                  </a:rPr>
                                  <m:t>in</m:t>
                                </m:r>
                                <m:r>
                                  <a:rPr lang="en-US" sz="1800">
                                    <a:effectLst/>
                                    <a:latin typeface="Cambria Math" panose="02040503050406030204" pitchFamily="18" charset="0"/>
                                  </a:rPr>
                                  <m:t>.</m:t>
                                </m:r>
                              </m:oMath>
                            </m:oMathPara>
                          </a14:m>
                          <a:endParaRPr lang="en-US" sz="1100" dirty="0">
                            <a:effectLst/>
                            <a:latin typeface="Verdana" pitchFamily="34" charset="0"/>
                            <a:ea typeface="Verdan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171936362"/>
                      </a:ext>
                    </a:extLst>
                  </a:tr>
                </a:tbl>
              </a:graphicData>
            </a:graphic>
          </p:graphicFrame>
        </mc:Choice>
        <mc:Fallback>
          <p:graphicFrame>
            <p:nvGraphicFramePr>
              <p:cNvPr id="6" name="Table 5">
                <a:extLst>
                  <a:ext uri="{FF2B5EF4-FFF2-40B4-BE49-F238E27FC236}">
                    <a16:creationId xmlns="" xmlns:a16="http://schemas.microsoft.com/office/drawing/2014/main" xmlns:a14="http://schemas.microsoft.com/office/drawing/2010/main" id="{D2D1EF63-FA38-A443-B84F-7F5FE93AD375}"/>
                  </a:ext>
                </a:extLst>
              </p:cNvPr>
              <p:cNvGraphicFramePr>
                <a:graphicFrameLocks noGrp="1"/>
              </p:cNvGraphicFramePr>
              <p:nvPr>
                <p:extLst>
                  <p:ext uri="{D42A27DB-BD31-4B8C-83A1-F6EECF244321}">
                    <p14:modId xmlns:p14="http://schemas.microsoft.com/office/powerpoint/2010/main" val="2776573061"/>
                  </p:ext>
                </p:extLst>
              </p:nvPr>
            </p:nvGraphicFramePr>
            <p:xfrm>
              <a:off x="6609533" y="3297238"/>
              <a:ext cx="3057525" cy="2324100"/>
            </p:xfrm>
            <a:graphic>
              <a:graphicData uri="http://schemas.openxmlformats.org/drawingml/2006/table">
                <a:tbl>
                  <a:tblPr bandRow="1">
                    <a:tableStyleId>{A91F0D33-8C57-4600-99A7-42BC86742BE1}</a:tableStyleId>
                  </a:tblPr>
                  <a:tblGrid>
                    <a:gridCol w="1530033">
                      <a:extLst>
                        <a:ext uri="{9D8B030D-6E8A-4147-A177-3AD203B41FA5}">
                          <a16:colId xmlns="" xmlns:a16="http://schemas.microsoft.com/office/drawing/2014/main" xmlns:a14="http://schemas.microsoft.com/office/drawing/2010/main" val="431735253"/>
                        </a:ext>
                      </a:extLst>
                    </a:gridCol>
                    <a:gridCol w="1527492">
                      <a:extLst>
                        <a:ext uri="{9D8B030D-6E8A-4147-A177-3AD203B41FA5}">
                          <a16:colId xmlns="" xmlns:a16="http://schemas.microsoft.com/office/drawing/2014/main" xmlns:a14="http://schemas.microsoft.com/office/drawing/2010/main" val="807123437"/>
                        </a:ext>
                      </a:extLst>
                    </a:gridCol>
                  </a:tblGrid>
                  <a:tr h="387350">
                    <a:tc gridSpan="2">
                      <a:txBody>
                        <a:bodyPr/>
                        <a:lstStyle/>
                        <a:p>
                          <a:pPr marL="0" marR="0" algn="ctr">
                            <a:lnSpc>
                              <a:spcPct val="107000"/>
                            </a:lnSpc>
                            <a:spcBef>
                              <a:spcPts val="0"/>
                            </a:spcBef>
                            <a:spcAft>
                              <a:spcPts val="0"/>
                            </a:spcAft>
                          </a:pPr>
                          <a:r>
                            <a:rPr lang="en-US" sz="1800" b="1" dirty="0">
                              <a:effectLst/>
                              <a:latin typeface="Verdana" pitchFamily="34" charset="0"/>
                              <a:ea typeface="Verdana" pitchFamily="34" charset="0"/>
                            </a:rPr>
                            <a:t>Height of Girls (in.)</a:t>
                          </a:r>
                          <a:endParaRPr lang="en-US" sz="1100" b="1" dirty="0">
                            <a:effectLst/>
                            <a:latin typeface="Verdana" pitchFamily="34" charset="0"/>
                            <a:ea typeface="Verdan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hMerge="1">
                      <a:txBody>
                        <a:bodyPr/>
                        <a:lstStyle/>
                        <a:p>
                          <a:endParaRPr lang="en-US"/>
                        </a:p>
                      </a:txBody>
                      <a:tcPr/>
                    </a:tc>
                    <a:extLst>
                      <a:ext uri="{0D108BD9-81ED-4DB2-BD59-A6C34878D82A}">
                        <a16:rowId xmlns="" xmlns:a16="http://schemas.microsoft.com/office/drawing/2014/main" xmlns:a14="http://schemas.microsoft.com/office/drawing/2010/main" val="2812324612"/>
                      </a:ext>
                    </a:extLst>
                  </a:tr>
                  <a:tr h="38735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5"/>
                          <a:stretch>
                            <a:fillRect t="-107937" r="-100000" b="-404762"/>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5"/>
                          <a:stretch>
                            <a:fillRect l="-100000" t="-107937" b="-404762"/>
                          </a:stretch>
                        </a:blipFill>
                      </a:tcPr>
                    </a:tc>
                    <a:extLst>
                      <a:ext uri="{0D108BD9-81ED-4DB2-BD59-A6C34878D82A}">
                        <a16:rowId xmlns="" xmlns:a16="http://schemas.microsoft.com/office/drawing/2014/main" xmlns:a14="http://schemas.microsoft.com/office/drawing/2010/main" val="956539294"/>
                      </a:ext>
                    </a:extLst>
                  </a:tr>
                  <a:tr h="38735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5"/>
                          <a:stretch>
                            <a:fillRect t="-204688" r="-100000" b="-298438"/>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5"/>
                          <a:stretch>
                            <a:fillRect l="-100000" t="-204688" b="-298438"/>
                          </a:stretch>
                        </a:blipFill>
                      </a:tcPr>
                    </a:tc>
                    <a:extLst>
                      <a:ext uri="{0D108BD9-81ED-4DB2-BD59-A6C34878D82A}">
                        <a16:rowId xmlns="" xmlns:a16="http://schemas.microsoft.com/office/drawing/2014/main" xmlns:a14="http://schemas.microsoft.com/office/drawing/2010/main" val="1918120377"/>
                      </a:ext>
                    </a:extLst>
                  </a:tr>
                  <a:tr h="38735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5"/>
                          <a:stretch>
                            <a:fillRect t="-309524" r="-100000" b="-203175"/>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5"/>
                          <a:stretch>
                            <a:fillRect l="-100000" t="-309524" b="-203175"/>
                          </a:stretch>
                        </a:blipFill>
                      </a:tcPr>
                    </a:tc>
                    <a:extLst>
                      <a:ext uri="{0D108BD9-81ED-4DB2-BD59-A6C34878D82A}">
                        <a16:rowId xmlns="" xmlns:a16="http://schemas.microsoft.com/office/drawing/2014/main" xmlns:a14="http://schemas.microsoft.com/office/drawing/2010/main" val="658740861"/>
                      </a:ext>
                    </a:extLst>
                  </a:tr>
                  <a:tr h="38735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5"/>
                          <a:stretch>
                            <a:fillRect t="-403125" r="-100000" b="-100000"/>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5"/>
                          <a:stretch>
                            <a:fillRect l="-100000" t="-403125" b="-100000"/>
                          </a:stretch>
                        </a:blipFill>
                      </a:tcPr>
                    </a:tc>
                    <a:extLst>
                      <a:ext uri="{0D108BD9-81ED-4DB2-BD59-A6C34878D82A}">
                        <a16:rowId xmlns="" xmlns:a16="http://schemas.microsoft.com/office/drawing/2014/main" xmlns:a14="http://schemas.microsoft.com/office/drawing/2010/main" val="1057882048"/>
                      </a:ext>
                    </a:extLst>
                  </a:tr>
                  <a:tr h="38735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5"/>
                          <a:stretch>
                            <a:fillRect t="-511111" r="-100000" b="-1587"/>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5"/>
                          <a:stretch>
                            <a:fillRect l="-100000" t="-511111" b="-1587"/>
                          </a:stretch>
                        </a:blipFill>
                      </a:tcPr>
                    </a:tc>
                    <a:extLst>
                      <a:ext uri="{0D108BD9-81ED-4DB2-BD59-A6C34878D82A}">
                        <a16:rowId xmlns="" xmlns:a16="http://schemas.microsoft.com/office/drawing/2014/main" xmlns:a14="http://schemas.microsoft.com/office/drawing/2010/main" val="2171936362"/>
                      </a:ext>
                    </a:extLst>
                  </a:tr>
                </a:tbl>
              </a:graphicData>
            </a:graphic>
          </p:graphicFrame>
        </mc:Fallback>
      </mc:AlternateContent>
      <p:sp>
        <p:nvSpPr>
          <p:cNvPr id="7" name="Rectangle 2">
            <a:extLst>
              <a:ext uri="{FF2B5EF4-FFF2-40B4-BE49-F238E27FC236}">
                <a16:creationId xmlns="" xmlns:a16="http://schemas.microsoft.com/office/drawing/2014/main" id="{9EAAB443-3F66-DE47-A63E-7E19DED12503}"/>
              </a:ext>
            </a:extLst>
          </p:cNvPr>
          <p:cNvSpPr>
            <a:spLocks noChangeArrowheads="1"/>
          </p:cNvSpPr>
          <p:nvPr/>
        </p:nvSpPr>
        <p:spPr bwMode="auto">
          <a:xfrm>
            <a:off x="4567239" y="2914750"/>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1" name="Google Shape;311;g104476d1465_1_39"/>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 xmlns:a16="http://schemas.microsoft.com/office/drawing/2014/main" id="{2C9405F7-8214-CE45-80C3-9FBF7002FBD5}"/>
              </a:ext>
            </a:extLst>
          </p:cNvPr>
          <p:cNvSpPr txBox="1"/>
          <p:nvPr/>
        </p:nvSpPr>
        <p:spPr>
          <a:xfrm>
            <a:off x="8994150" y="6537462"/>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164</a:t>
            </a:r>
            <a:endParaRPr i="1" dirty="0">
              <a:latin typeface="Calibri"/>
              <a:ea typeface="Calibri"/>
              <a:cs typeface="Calibri"/>
              <a:sym typeface="Calibri"/>
            </a:endParaRPr>
          </a:p>
        </p:txBody>
      </p:sp>
    </p:spTree>
    <p:extLst>
      <p:ext uri="{BB962C8B-B14F-4D97-AF65-F5344CB8AC3E}">
        <p14:creationId xmlns:p14="http://schemas.microsoft.com/office/powerpoint/2010/main" val="16744370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 xmlns:a16="http://schemas.microsoft.com/office/drawing/2014/main" id="{2FA392D8-3ED3-7940-83A8-1451AA8A08D4}"/>
              </a:ext>
            </a:extLst>
          </p:cNvPr>
          <p:cNvSpPr txBox="1"/>
          <p:nvPr/>
        </p:nvSpPr>
        <p:spPr>
          <a:xfrm>
            <a:off x="555685" y="365710"/>
            <a:ext cx="11277398" cy="4154984"/>
          </a:xfrm>
          <a:prstGeom prst="rect">
            <a:avLst/>
          </a:prstGeom>
          <a:noFill/>
        </p:spPr>
        <p:txBody>
          <a:bodyPr wrap="square" rtlCol="0">
            <a:spAutoFit/>
          </a:bodyPr>
          <a:lstStyle/>
          <a:p>
            <a:pPr marL="457200" lvl="6"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With your partner, determine who will be Partner A and who will be Partner B. Then, follow the directions.</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458788"/>
            <a:r>
              <a:rPr lang="en-US" sz="2400" b="1" u="sng" dirty="0">
                <a:latin typeface="Verdana" panose="020B0604030504040204" pitchFamily="34" charset="0"/>
                <a:ea typeface="Verdana" panose="020B0604030504040204" pitchFamily="34" charset="0"/>
                <a:cs typeface="Verdana" panose="020B0604030504040204" pitchFamily="34" charset="0"/>
              </a:rPr>
              <a:t>Partner A</a:t>
            </a:r>
            <a:r>
              <a:rPr lang="en-US" sz="2400" b="1" dirty="0">
                <a:latin typeface="Verdana" panose="020B0604030504040204" pitchFamily="34" charset="0"/>
                <a:ea typeface="Verdana" panose="020B0604030504040204" pitchFamily="34" charset="0"/>
                <a:cs typeface="Verdana" panose="020B0604030504040204" pitchFamily="34" charset="0"/>
              </a:rPr>
              <a:t>: </a:t>
            </a:r>
            <a:r>
              <a:rPr lang="en-US" sz="2400" dirty="0">
                <a:latin typeface="Verdana" panose="020B0604030504040204" pitchFamily="34" charset="0"/>
                <a:ea typeface="Verdana" panose="020B0604030504040204" pitchFamily="34" charset="0"/>
                <a:cs typeface="Verdana" panose="020B0604030504040204" pitchFamily="34" charset="0"/>
              </a:rPr>
              <a:t>Use data from the height of ten boys to find the mean, median, and mode of the boys’ heights in Alice’s class. Then, write each value in the table.</a:t>
            </a:r>
          </a:p>
          <a:p>
            <a:pPr marL="458788"/>
            <a:r>
              <a:rPr lang="en-US" sz="2400" dirty="0">
                <a:latin typeface="Verdana" panose="020B0604030504040204" pitchFamily="34" charset="0"/>
                <a:ea typeface="Verdana" panose="020B0604030504040204" pitchFamily="34" charset="0"/>
                <a:cs typeface="Verdana" panose="020B0604030504040204" pitchFamily="34" charset="0"/>
              </a:rPr>
              <a:t> </a:t>
            </a:r>
          </a:p>
          <a:p>
            <a:pPr marL="458788"/>
            <a:r>
              <a:rPr lang="en-US" sz="2400" b="1" u="sng" dirty="0">
                <a:latin typeface="Verdana" panose="020B0604030504040204" pitchFamily="34" charset="0"/>
                <a:ea typeface="Verdana" panose="020B0604030504040204" pitchFamily="34" charset="0"/>
                <a:cs typeface="Verdana" panose="020B0604030504040204" pitchFamily="34" charset="0"/>
              </a:rPr>
              <a:t>Partner B</a:t>
            </a:r>
            <a:r>
              <a:rPr lang="en-US" sz="2400" b="1" dirty="0">
                <a:latin typeface="Verdana" panose="020B0604030504040204" pitchFamily="34" charset="0"/>
                <a:ea typeface="Verdana" panose="020B0604030504040204" pitchFamily="34" charset="0"/>
                <a:cs typeface="Verdana" panose="020B0604030504040204" pitchFamily="34" charset="0"/>
              </a:rPr>
              <a:t>: </a:t>
            </a:r>
            <a:r>
              <a:rPr lang="en-US" sz="2400" dirty="0">
                <a:latin typeface="Verdana" panose="020B0604030504040204" pitchFamily="34" charset="0"/>
                <a:ea typeface="Verdana" panose="020B0604030504040204" pitchFamily="34" charset="0"/>
                <a:cs typeface="Verdana" panose="020B0604030504040204" pitchFamily="34" charset="0"/>
              </a:rPr>
              <a:t>Use data from the height of ten girls to find the mean, median, and mode of the girls’ heights in Alice’s class. Then, write each value in the table.</a:t>
            </a: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6" name="Google Shape;282;g104476d1465_1_17">
            <a:extLst>
              <a:ext uri="{FF2B5EF4-FFF2-40B4-BE49-F238E27FC236}">
                <a16:creationId xmlns="" xmlns:a16="http://schemas.microsoft.com/office/drawing/2014/main" id="{94EB37D4-37A0-E242-AF1E-C799B94DF6FC}"/>
              </a:ext>
            </a:extLst>
          </p:cNvPr>
          <p:cNvSpPr txBox="1"/>
          <p:nvPr/>
        </p:nvSpPr>
        <p:spPr>
          <a:xfrm>
            <a:off x="8994150" y="6537462"/>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164</a:t>
            </a:r>
            <a:endParaRPr i="1" dirty="0">
              <a:latin typeface="Calibri"/>
              <a:ea typeface="Calibri"/>
              <a:cs typeface="Calibri"/>
              <a:sym typeface="Calibri"/>
            </a:endParaRPr>
          </a:p>
        </p:txBody>
      </p:sp>
    </p:spTree>
    <p:extLst>
      <p:ext uri="{BB962C8B-B14F-4D97-AF65-F5344CB8AC3E}">
        <p14:creationId xmlns:p14="http://schemas.microsoft.com/office/powerpoint/2010/main" val="18410228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 xmlns:a16="http://schemas.microsoft.com/office/drawing/2014/main" id="{2FA392D8-3ED3-7940-83A8-1451AA8A08D4}"/>
              </a:ext>
            </a:extLst>
          </p:cNvPr>
          <p:cNvSpPr txBox="1"/>
          <p:nvPr/>
        </p:nvSpPr>
        <p:spPr>
          <a:xfrm>
            <a:off x="544685" y="364854"/>
            <a:ext cx="11153431" cy="4524315"/>
          </a:xfrm>
          <a:prstGeom prst="rect">
            <a:avLst/>
          </a:prstGeom>
          <a:noFill/>
        </p:spPr>
        <p:txBody>
          <a:bodyPr wrap="square" rtlCol="0">
            <a:spAutoFit/>
          </a:bodyPr>
          <a:lstStyle/>
          <a:p>
            <a:pPr marL="457200" lvl="6"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Share the values you calculated with your partner. Then, add the values your partner calculated into your table.</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8788"/>
            <a:r>
              <a:rPr lang="en-US" sz="2400" dirty="0">
                <a:latin typeface="Verdana" panose="020B0604030504040204" pitchFamily="34" charset="0"/>
                <a:ea typeface="Verdana" panose="020B0604030504040204" pitchFamily="34" charset="0"/>
                <a:cs typeface="Verdana" panose="020B0604030504040204" pitchFamily="34" charset="0"/>
              </a:rPr>
              <a:t>Write a statement in the table interpreting each mean and a statement interpreting each mode.</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lvl="6"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Compare your statements with your partner. If necessary, resolve any differences.</a:t>
            </a: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p:pic>
        <p:nvPicPr>
          <p:cNvPr id="9"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82;g104476d1465_1_17">
            <a:extLst>
              <a:ext uri="{FF2B5EF4-FFF2-40B4-BE49-F238E27FC236}">
                <a16:creationId xmlns="" xmlns:a16="http://schemas.microsoft.com/office/drawing/2014/main" id="{2C9405F7-8214-CE45-80C3-9FBF7002FBD5}"/>
              </a:ext>
            </a:extLst>
          </p:cNvPr>
          <p:cNvSpPr txBox="1"/>
          <p:nvPr/>
        </p:nvSpPr>
        <p:spPr>
          <a:xfrm>
            <a:off x="8994150" y="6537462"/>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165</a:t>
            </a:r>
            <a:endParaRPr i="1" dirty="0">
              <a:latin typeface="Calibri"/>
              <a:ea typeface="Calibri"/>
              <a:cs typeface="Calibri"/>
              <a:sym typeface="Calibri"/>
            </a:endParaRPr>
          </a:p>
        </p:txBody>
      </p:sp>
    </p:spTree>
    <p:extLst>
      <p:ext uri="{BB962C8B-B14F-4D97-AF65-F5344CB8AC3E}">
        <p14:creationId xmlns:p14="http://schemas.microsoft.com/office/powerpoint/2010/main" val="6638455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2" name="Table 1">
            <a:extLst>
              <a:ext uri="{FF2B5EF4-FFF2-40B4-BE49-F238E27FC236}">
                <a16:creationId xmlns="" xmlns:a16="http://schemas.microsoft.com/office/drawing/2014/main" id="{43D0C236-AB1B-9744-93DD-2366F84382C2}"/>
              </a:ext>
            </a:extLst>
          </p:cNvPr>
          <p:cNvGraphicFramePr>
            <a:graphicFrameLocks noGrp="1"/>
          </p:cNvGraphicFramePr>
          <p:nvPr>
            <p:extLst>
              <p:ext uri="{D42A27DB-BD31-4B8C-83A1-F6EECF244321}">
                <p14:modId xmlns:p14="http://schemas.microsoft.com/office/powerpoint/2010/main" val="3217465885"/>
              </p:ext>
            </p:extLst>
          </p:nvPr>
        </p:nvGraphicFramePr>
        <p:xfrm>
          <a:off x="2521743" y="162947"/>
          <a:ext cx="7148515" cy="6410296"/>
        </p:xfrm>
        <a:graphic>
          <a:graphicData uri="http://schemas.openxmlformats.org/drawingml/2006/table">
            <a:tbl>
              <a:tblPr firstRow="1" firstCol="1" bandRow="1">
                <a:tableStyleId>{A91F0D33-8C57-4600-99A7-42BC86742BE1}</a:tableStyleId>
              </a:tblPr>
              <a:tblGrid>
                <a:gridCol w="1991574">
                  <a:extLst>
                    <a:ext uri="{9D8B030D-6E8A-4147-A177-3AD203B41FA5}">
                      <a16:colId xmlns="" xmlns:a16="http://schemas.microsoft.com/office/drawing/2014/main" val="3214226421"/>
                    </a:ext>
                  </a:extLst>
                </a:gridCol>
                <a:gridCol w="1554089">
                  <a:extLst>
                    <a:ext uri="{9D8B030D-6E8A-4147-A177-3AD203B41FA5}">
                      <a16:colId xmlns="" xmlns:a16="http://schemas.microsoft.com/office/drawing/2014/main" val="2527844135"/>
                    </a:ext>
                  </a:extLst>
                </a:gridCol>
                <a:gridCol w="1801426">
                  <a:extLst>
                    <a:ext uri="{9D8B030D-6E8A-4147-A177-3AD203B41FA5}">
                      <a16:colId xmlns="" xmlns:a16="http://schemas.microsoft.com/office/drawing/2014/main" val="1414710835"/>
                    </a:ext>
                  </a:extLst>
                </a:gridCol>
                <a:gridCol w="1801426">
                  <a:extLst>
                    <a:ext uri="{9D8B030D-6E8A-4147-A177-3AD203B41FA5}">
                      <a16:colId xmlns="" xmlns:a16="http://schemas.microsoft.com/office/drawing/2014/main" val="2099773414"/>
                    </a:ext>
                  </a:extLst>
                </a:gridCol>
              </a:tblGrid>
              <a:tr h="330725">
                <a:tc gridSpan="2">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Height of Boys (in.)</a:t>
                      </a:r>
                    </a:p>
                  </a:txBody>
                  <a:tcPr marL="101607" marR="101607" marT="50804" marB="508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hMerge="1">
                  <a:txBody>
                    <a:bodyPr/>
                    <a:lstStyle/>
                    <a:p>
                      <a:endParaRPr lang="en-US"/>
                    </a:p>
                  </a:txBody>
                  <a:tcPr/>
                </a:tc>
                <a:tc gridSpan="2">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Height of Girls (in.)</a:t>
                      </a:r>
                    </a:p>
                  </a:txBody>
                  <a:tcPr marL="101607" marR="101607" marT="50804" marB="508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hMerge="1">
                  <a:txBody>
                    <a:bodyPr/>
                    <a:lstStyle/>
                    <a:p>
                      <a:endParaRPr lang="en-US"/>
                    </a:p>
                  </a:txBody>
                  <a:tcPr/>
                </a:tc>
                <a:extLst>
                  <a:ext uri="{0D108BD9-81ED-4DB2-BD59-A6C34878D82A}">
                    <a16:rowId xmlns="" xmlns:a16="http://schemas.microsoft.com/office/drawing/2014/main" val="1200031510"/>
                  </a:ext>
                </a:extLst>
              </a:tr>
              <a:tr h="439874">
                <a:tc>
                  <a:txBody>
                    <a:bodyPr/>
                    <a:lstStyle/>
                    <a:p>
                      <a:pPr marL="0" marR="0">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Mean of boys’ heights</a:t>
                      </a:r>
                    </a:p>
                  </a:txBody>
                  <a:tcPr marL="55290" marR="552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55290" marR="552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Mean of girls’ heights</a:t>
                      </a:r>
                    </a:p>
                  </a:txBody>
                  <a:tcPr marL="55290" marR="552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55290" marR="552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082396797"/>
                  </a:ext>
                </a:extLst>
              </a:tr>
              <a:tr h="439874">
                <a:tc>
                  <a:txBody>
                    <a:bodyPr/>
                    <a:lstStyle/>
                    <a:p>
                      <a:pPr marL="0" marR="0">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Median of boys’ heights</a:t>
                      </a:r>
                    </a:p>
                  </a:txBody>
                  <a:tcPr marL="55290" marR="552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55290" marR="552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Median of girls’ heights</a:t>
                      </a:r>
                    </a:p>
                  </a:txBody>
                  <a:tcPr marL="55290" marR="552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55290" marR="552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608067881"/>
                  </a:ext>
                </a:extLst>
              </a:tr>
              <a:tr h="439874">
                <a:tc>
                  <a:txBody>
                    <a:bodyPr/>
                    <a:lstStyle/>
                    <a:p>
                      <a:pPr marL="0" marR="0">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Mode of boys’ heights</a:t>
                      </a:r>
                    </a:p>
                  </a:txBody>
                  <a:tcPr marL="55290" marR="552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55290" marR="552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Mode of girls’ heights</a:t>
                      </a:r>
                    </a:p>
                  </a:txBody>
                  <a:tcPr marL="55290" marR="552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55290" marR="552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217677818"/>
                  </a:ext>
                </a:extLst>
              </a:tr>
              <a:tr h="1922616">
                <a:tc gridSpan="2">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Interpretation of the mean height of boys:</a:t>
                      </a:r>
                    </a:p>
                    <a:p>
                      <a:pPr marL="0" marR="0">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101607" marR="101607" marT="50804" marB="508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gridSpan="2">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Interpretation of the mean height of girls:</a:t>
                      </a:r>
                    </a:p>
                    <a:p>
                      <a:pPr marL="0" marR="0">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nSpc>
                          <a:spcPct val="107000"/>
                        </a:lnSpc>
                        <a:spcBef>
                          <a:spcPts val="0"/>
                        </a:spcBef>
                        <a:spcAft>
                          <a:spcPts val="0"/>
                        </a:spcAft>
                      </a:pP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101607" marR="101607" marT="50804" marB="508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extLst>
                  <a:ext uri="{0D108BD9-81ED-4DB2-BD59-A6C34878D82A}">
                    <a16:rowId xmlns="" xmlns:a16="http://schemas.microsoft.com/office/drawing/2014/main" val="3284351371"/>
                  </a:ext>
                </a:extLst>
              </a:tr>
              <a:tr h="2103120">
                <a:tc gridSpan="2">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Interpretation of the mode height of boys:</a:t>
                      </a:r>
                    </a:p>
                    <a:p>
                      <a:pPr marL="0" marR="0">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101607" marR="101607" marT="50804" marB="508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gridSpan="2">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Interpretation of the mode height of girls:</a:t>
                      </a:r>
                    </a:p>
                    <a:p>
                      <a:pPr marL="0" marR="0">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101607" marR="101607" marT="50804" marB="508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extLst>
                  <a:ext uri="{0D108BD9-81ED-4DB2-BD59-A6C34878D82A}">
                    <a16:rowId xmlns="" xmlns:a16="http://schemas.microsoft.com/office/drawing/2014/main" val="2904508165"/>
                  </a:ext>
                </a:extLst>
              </a:tr>
            </a:tbl>
          </a:graphicData>
        </a:graphic>
      </p:graphicFrame>
      <p:pic>
        <p:nvPicPr>
          <p:cNvPr id="6"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282;g104476d1465_1_17">
            <a:extLst>
              <a:ext uri="{FF2B5EF4-FFF2-40B4-BE49-F238E27FC236}">
                <a16:creationId xmlns="" xmlns:a16="http://schemas.microsoft.com/office/drawing/2014/main" id="{2C9405F7-8214-CE45-80C3-9FBF7002FBD5}"/>
              </a:ext>
            </a:extLst>
          </p:cNvPr>
          <p:cNvSpPr txBox="1"/>
          <p:nvPr/>
        </p:nvSpPr>
        <p:spPr>
          <a:xfrm>
            <a:off x="8994150" y="6537462"/>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165</a:t>
            </a:r>
            <a:endParaRPr i="1" dirty="0">
              <a:latin typeface="Calibri"/>
              <a:ea typeface="Calibri"/>
              <a:cs typeface="Calibri"/>
              <a:sym typeface="Calibri"/>
            </a:endParaRPr>
          </a:p>
        </p:txBody>
      </p:sp>
    </p:spTree>
    <p:extLst>
      <p:ext uri="{BB962C8B-B14F-4D97-AF65-F5344CB8AC3E}">
        <p14:creationId xmlns:p14="http://schemas.microsoft.com/office/powerpoint/2010/main" val="28109957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 xmlns:a16="http://schemas.microsoft.com/office/drawing/2014/main" id="{2FA392D8-3ED3-7940-83A8-1451AA8A08D4}"/>
              </a:ext>
            </a:extLst>
          </p:cNvPr>
          <p:cNvSpPr txBox="1"/>
          <p:nvPr/>
        </p:nvSpPr>
        <p:spPr>
          <a:xfrm>
            <a:off x="538239" y="384164"/>
            <a:ext cx="11555109" cy="3416320"/>
          </a:xfrm>
          <a:prstGeom prst="rect">
            <a:avLst/>
          </a:prstGeom>
          <a:noFill/>
        </p:spPr>
        <p:txBody>
          <a:bodyPr wrap="square" rtlCol="0">
            <a:spAutoFit/>
          </a:bodyPr>
          <a:lstStyle/>
          <a:p>
            <a:pPr marL="457200" lvl="6" indent="-457200">
              <a:buFont typeface="+mj-lt"/>
              <a:buAutoNum type="arabicPeriod" startAt="4"/>
            </a:pPr>
            <a:r>
              <a:rPr lang="en-US" sz="2400" dirty="0">
                <a:latin typeface="Verdana" panose="020B0604030504040204" pitchFamily="34" charset="0"/>
                <a:ea typeface="Verdana" panose="020B0604030504040204" pitchFamily="34" charset="0"/>
                <a:cs typeface="Verdana" panose="020B0604030504040204" pitchFamily="34" charset="0"/>
              </a:rPr>
              <a:t>With your partner, determine the range of boys’ heights. Then, determine the range of girls’ heights.</a:t>
            </a:r>
          </a:p>
          <a:p>
            <a:pPr marL="457200" lvl="6"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lvl="6"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lvl="6"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lvl="6"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lvl="3" indent="-457200">
              <a:buFont typeface="+mj-lt"/>
              <a:buAutoNum type="arabicPeriod" startAt="5"/>
            </a:pPr>
            <a:r>
              <a:rPr lang="en-US" sz="2400" dirty="0">
                <a:latin typeface="Verdana" panose="020B0604030504040204" pitchFamily="34" charset="0"/>
                <a:ea typeface="Verdana" panose="020B0604030504040204" pitchFamily="34" charset="0"/>
                <a:cs typeface="Verdana" panose="020B0604030504040204" pitchFamily="34" charset="0"/>
              </a:rPr>
              <a:t>Explain whether boys or girls in Alice’s class have more variability in their heights.</a:t>
            </a: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p:pic>
        <p:nvPicPr>
          <p:cNvPr id="7"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 xmlns:a16="http://schemas.microsoft.com/office/drawing/2014/main" id="{2C9405F7-8214-CE45-80C3-9FBF7002FBD5}"/>
              </a:ext>
            </a:extLst>
          </p:cNvPr>
          <p:cNvSpPr txBox="1"/>
          <p:nvPr/>
        </p:nvSpPr>
        <p:spPr>
          <a:xfrm>
            <a:off x="8994150" y="6537462"/>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165</a:t>
            </a:r>
            <a:endParaRPr i="1" dirty="0">
              <a:latin typeface="Calibri"/>
              <a:ea typeface="Calibri"/>
              <a:cs typeface="Calibri"/>
              <a:sym typeface="Calibri"/>
            </a:endParaRPr>
          </a:p>
        </p:txBody>
      </p:sp>
    </p:spTree>
    <p:extLst>
      <p:ext uri="{BB962C8B-B14F-4D97-AF65-F5344CB8AC3E}">
        <p14:creationId xmlns:p14="http://schemas.microsoft.com/office/powerpoint/2010/main" val="16853784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 xmlns:a16="http://schemas.microsoft.com/office/drawing/2014/main"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pic>
        <p:nvPicPr>
          <p:cNvPr id="9" name="Google Shape;311;g104476d1465_1_39"/>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82;g104476d1465_1_17">
            <a:extLst>
              <a:ext uri="{FF2B5EF4-FFF2-40B4-BE49-F238E27FC236}">
                <a16:creationId xmlns="" xmlns:a16="http://schemas.microsoft.com/office/drawing/2014/main" id="{2C9405F7-8214-CE45-80C3-9FBF7002FBD5}"/>
              </a:ext>
            </a:extLst>
          </p:cNvPr>
          <p:cNvSpPr txBox="1"/>
          <p:nvPr/>
        </p:nvSpPr>
        <p:spPr>
          <a:xfrm>
            <a:off x="8994150" y="6537462"/>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166</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2" name="TextBox 11">
            <a:extLst>
              <a:ext uri="{FF2B5EF4-FFF2-40B4-BE49-F238E27FC236}">
                <a16:creationId xmlns="" xmlns:a16="http://schemas.microsoft.com/office/drawing/2014/main" id="{0370EDB7-6994-3D43-ABF9-E04CBAFB9CD9}"/>
              </a:ext>
            </a:extLst>
          </p:cNvPr>
          <p:cNvSpPr txBox="1"/>
          <p:nvPr/>
        </p:nvSpPr>
        <p:spPr>
          <a:xfrm>
            <a:off x="430660" y="1028343"/>
            <a:ext cx="10990030" cy="4801314"/>
          </a:xfrm>
          <a:prstGeom prst="rect">
            <a:avLst/>
          </a:prstGeom>
          <a:noFill/>
        </p:spPr>
        <p:txBody>
          <a:bodyPr wrap="square" rtlCol="0">
            <a:spAutoFit/>
          </a:bodyPr>
          <a:lstStyle/>
          <a:p>
            <a:pPr marL="458788" indent="-458788">
              <a:buFont typeface="+mj-lt"/>
              <a:buAutoNum type="arabicPeriod"/>
            </a:pPr>
            <a:r>
              <a:rPr lang="en-US" sz="1800" dirty="0">
                <a:latin typeface="Verdana" panose="020B0604030504040204" pitchFamily="34" charset="0"/>
                <a:ea typeface="Verdana" panose="020B0604030504040204" pitchFamily="34" charset="0"/>
                <a:cs typeface="Verdana" panose="020B0604030504040204" pitchFamily="34" charset="0"/>
              </a:rPr>
              <a:t>Read each of the “I can” statements below. Check the boxes that best explain your understanding. </a:t>
            </a:r>
          </a:p>
          <a:p>
            <a:r>
              <a:rPr lang="en-US" sz="1800" dirty="0">
                <a:latin typeface="Verdana" panose="020B0604030504040204" pitchFamily="34" charset="0"/>
                <a:ea typeface="Verdana" panose="020B0604030504040204" pitchFamily="34" charset="0"/>
                <a:cs typeface="Verdana" panose="020B0604030504040204" pitchFamily="34" charset="0"/>
              </a:rPr>
              <a:t> </a:t>
            </a:r>
          </a:p>
          <a:p>
            <a:pPr marL="919163" indent="-460375">
              <a:buFont typeface="Wingdings" pitchFamily="2" charset="2"/>
              <a:buChar char="q"/>
            </a:pPr>
            <a:r>
              <a:rPr lang="en-US" sz="1800" dirty="0">
                <a:latin typeface="Verdana" panose="020B0604030504040204" pitchFamily="34" charset="0"/>
                <a:ea typeface="Verdana" panose="020B0604030504040204" pitchFamily="34" charset="0"/>
                <a:cs typeface="Verdana" panose="020B0604030504040204" pitchFamily="34" charset="0"/>
              </a:rPr>
              <a:t>I can find and interpret the median, mode, and range of a given data set.</a:t>
            </a:r>
          </a:p>
          <a:p>
            <a:pPr marL="919163" indent="-460375">
              <a:buFont typeface="Wingdings" pitchFamily="2" charset="2"/>
              <a:buChar char="q"/>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919163" indent="-460375">
              <a:buFont typeface="Wingdings" pitchFamily="2" charset="2"/>
              <a:buChar char="q"/>
            </a:pPr>
            <a:r>
              <a:rPr lang="en-US" sz="1800" dirty="0">
                <a:latin typeface="Verdana" panose="020B0604030504040204" pitchFamily="34" charset="0"/>
                <a:ea typeface="Verdana" panose="020B0604030504040204" pitchFamily="34" charset="0"/>
                <a:cs typeface="Verdana" panose="020B0604030504040204" pitchFamily="34" charset="0"/>
              </a:rPr>
              <a:t>I understand how to find the mean, median, and mode of a data set.</a:t>
            </a:r>
          </a:p>
          <a:p>
            <a:pPr marL="919163" indent="-460375">
              <a:buFont typeface="Wingdings" pitchFamily="2" charset="2"/>
              <a:buChar char="q"/>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919163" indent="-460375">
              <a:buFont typeface="Wingdings" pitchFamily="2" charset="2"/>
              <a:buChar char="q"/>
            </a:pPr>
            <a:r>
              <a:rPr lang="en-US" sz="1800" dirty="0">
                <a:latin typeface="Verdana" panose="020B0604030504040204" pitchFamily="34" charset="0"/>
                <a:ea typeface="Verdana" panose="020B0604030504040204" pitchFamily="34" charset="0"/>
                <a:cs typeface="Verdana" panose="020B0604030504040204" pitchFamily="34" charset="0"/>
              </a:rPr>
              <a:t>I need support on how to find the mean, median, and mode of a data set.</a:t>
            </a:r>
          </a:p>
          <a:p>
            <a:pPr marL="919163" indent="-460375">
              <a:buFont typeface="Wingdings" pitchFamily="2" charset="2"/>
              <a:buChar char="q"/>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919163" indent="-460375">
              <a:buFont typeface="Wingdings" pitchFamily="2" charset="2"/>
              <a:buChar char="q"/>
            </a:pPr>
            <a:r>
              <a:rPr lang="en-US" sz="1800" dirty="0">
                <a:latin typeface="Verdana" panose="020B0604030504040204" pitchFamily="34" charset="0"/>
                <a:ea typeface="Verdana" panose="020B0604030504040204" pitchFamily="34" charset="0"/>
                <a:cs typeface="Verdana" panose="020B0604030504040204" pitchFamily="34" charset="0"/>
              </a:rPr>
              <a:t>I understand how to find the range of a data set.</a:t>
            </a:r>
          </a:p>
          <a:p>
            <a:pPr marL="919163" indent="-460375">
              <a:buFont typeface="Wingdings" pitchFamily="2" charset="2"/>
              <a:buChar char="q"/>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919163" indent="-460375">
              <a:buFont typeface="Wingdings" pitchFamily="2" charset="2"/>
              <a:buChar char="q"/>
            </a:pPr>
            <a:r>
              <a:rPr lang="en-US" sz="1800" dirty="0">
                <a:latin typeface="Verdana" panose="020B0604030504040204" pitchFamily="34" charset="0"/>
                <a:ea typeface="Verdana" panose="020B0604030504040204" pitchFamily="34" charset="0"/>
                <a:cs typeface="Verdana" panose="020B0604030504040204" pitchFamily="34" charset="0"/>
              </a:rPr>
              <a:t>I need support on how to find the range of a data set.</a:t>
            </a:r>
          </a:p>
          <a:p>
            <a:pPr marL="919163" indent="-460375">
              <a:buFont typeface="Wingdings" pitchFamily="2" charset="2"/>
              <a:buChar char="q"/>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919163" indent="-460375">
              <a:buFont typeface="Wingdings" pitchFamily="2" charset="2"/>
              <a:buChar char="q"/>
            </a:pPr>
            <a:r>
              <a:rPr lang="en-US" sz="1800" dirty="0">
                <a:latin typeface="Verdana" panose="020B0604030504040204" pitchFamily="34" charset="0"/>
                <a:ea typeface="Verdana" panose="020B0604030504040204" pitchFamily="34" charset="0"/>
                <a:cs typeface="Verdana" panose="020B0604030504040204" pitchFamily="34" charset="0"/>
              </a:rPr>
              <a:t>I understand how to interpret measures of central tendency.</a:t>
            </a:r>
          </a:p>
          <a:p>
            <a:pPr marL="919163" indent="-460375">
              <a:buFont typeface="Wingdings" pitchFamily="2" charset="2"/>
              <a:buChar char="q"/>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919163" indent="-460375">
              <a:buFont typeface="Wingdings" pitchFamily="2" charset="2"/>
              <a:buChar char="q"/>
            </a:pPr>
            <a:r>
              <a:rPr lang="en-US" sz="1800" dirty="0">
                <a:latin typeface="Verdana" panose="020B0604030504040204" pitchFamily="34" charset="0"/>
                <a:ea typeface="Verdana" panose="020B0604030504040204" pitchFamily="34" charset="0"/>
                <a:cs typeface="Verdana" panose="020B0604030504040204" pitchFamily="34" charset="0"/>
              </a:rPr>
              <a:t>I need support on how to interpret measures of central tendency. </a:t>
            </a:r>
          </a:p>
          <a:p>
            <a:endParaRPr lang="en-US" sz="1800" dirty="0">
              <a:latin typeface="Verdana" panose="020B0604030504040204" pitchFamily="34" charset="0"/>
              <a:ea typeface="Verdana" panose="020B0604030504040204" pitchFamily="34" charset="0"/>
              <a:cs typeface="Verdana" panose="020B0604030504040204" pitchFamily="34" charset="0"/>
            </a:endParaRPr>
          </a:p>
        </p:txBody>
      </p:sp>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456;g103996e1364_0_463">
            <a:extLst>
              <a:ext uri="{FF2B5EF4-FFF2-40B4-BE49-F238E27FC236}">
                <a16:creationId xmlns="" xmlns:a16="http://schemas.microsoft.com/office/drawing/2014/main" id="{68C03D65-F0BF-3F41-B52A-024F47388982}"/>
              </a:ext>
            </a:extLst>
          </p:cNvPr>
          <p:cNvSpPr txBox="1">
            <a:spLocks/>
          </p:cNvSpPr>
          <p:nvPr/>
        </p:nvSpPr>
        <p:spPr>
          <a:xfrm>
            <a:off x="1107400" y="-16723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9.4.6 Wrap-Up: Reflection</a:t>
            </a:r>
          </a:p>
        </p:txBody>
      </p:sp>
      <p:pic>
        <p:nvPicPr>
          <p:cNvPr id="9" name="Google Shape;458;g103996e1364_0_463">
            <a:extLst>
              <a:ext uri="{FF2B5EF4-FFF2-40B4-BE49-F238E27FC236}">
                <a16:creationId xmlns="" xmlns:a16="http://schemas.microsoft.com/office/drawing/2014/main" id="{EEA44D6C-2366-AC41-B1B5-EDDC34786A66}"/>
              </a:ext>
            </a:extLst>
          </p:cNvPr>
          <p:cNvPicPr preferRelativeResize="0"/>
          <p:nvPr/>
        </p:nvPicPr>
        <p:blipFill rotWithShape="1">
          <a:blip r:embed="rId3">
            <a:alphaModFix/>
          </a:blip>
          <a:srcRect/>
          <a:stretch/>
        </p:blipFill>
        <p:spPr>
          <a:xfrm>
            <a:off x="291650" y="121970"/>
            <a:ext cx="747300" cy="747300"/>
          </a:xfrm>
          <a:prstGeom prst="rect">
            <a:avLst/>
          </a:prstGeom>
          <a:noFill/>
          <a:ln>
            <a:noFill/>
          </a:ln>
          <a:effectLst>
            <a:outerShdw blurRad="50800" dist="38100" dir="2700000" algn="tl" rotWithShape="0">
              <a:prstClr val="black">
                <a:alpha val="40000"/>
              </a:prstClr>
            </a:outerShdw>
          </a:effectLst>
        </p:spPr>
      </p:pic>
      <p:pic>
        <p:nvPicPr>
          <p:cNvPr id="13" name="Google Shape;311;g104476d1465_1_39"/>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4" name="Google Shape;282;g104476d1465_1_17">
            <a:extLst>
              <a:ext uri="{FF2B5EF4-FFF2-40B4-BE49-F238E27FC236}">
                <a16:creationId xmlns="" xmlns:a16="http://schemas.microsoft.com/office/drawing/2014/main" id="{2C9405F7-8214-CE45-80C3-9FBF7002FBD5}"/>
              </a:ext>
            </a:extLst>
          </p:cNvPr>
          <p:cNvSpPr txBox="1"/>
          <p:nvPr/>
        </p:nvSpPr>
        <p:spPr>
          <a:xfrm>
            <a:off x="8994150" y="6537462"/>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166</a:t>
            </a:r>
            <a:endParaRPr i="1" dirty="0">
              <a:latin typeface="Calibri"/>
              <a:ea typeface="Calibri"/>
              <a:cs typeface="Calibri"/>
              <a:sym typeface="Calibri"/>
            </a:endParaRP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1392</TotalTime>
  <Words>1485</Words>
  <Application>Microsoft Office PowerPoint</Application>
  <PresentationFormat>Custom</PresentationFormat>
  <Paragraphs>373</Paragraphs>
  <Slides>32</Slides>
  <Notes>32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32</vt:i4>
      </vt:variant>
    </vt:vector>
  </HeadingPairs>
  <TitlesOfParts>
    <vt:vector size="43" baseType="lpstr">
      <vt:lpstr>Arial</vt:lpstr>
      <vt:lpstr>Cambria Math</vt:lpstr>
      <vt:lpstr>Wingdings</vt:lpstr>
      <vt:lpstr>Cambria</vt:lpstr>
      <vt:lpstr>Arial Black</vt:lpstr>
      <vt:lpstr>Verdana</vt:lpstr>
      <vt:lpstr>Calibri</vt:lpstr>
      <vt:lpstr>Courier New</vt:lpstr>
      <vt:lpstr>Times New Roman</vt:lpstr>
      <vt:lpstr>Century Gothic</vt:lpstr>
      <vt:lpstr>1_Office Theme</vt:lpstr>
      <vt:lpstr>6th Grade Math  Unit 9, Lesson 4  Finding and Interpreting Median, Mode, and Range   Volume 2, pg. 160  </vt:lpstr>
      <vt:lpstr>Benchmark</vt:lpstr>
      <vt:lpstr>PowerPoint Presentation</vt:lpstr>
      <vt:lpstr>PowerPoint Presentation</vt:lpstr>
      <vt:lpstr>Warm-Up</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Try It</vt:lpstr>
      <vt:lpstr>PowerPoint Presentation</vt:lpstr>
      <vt:lpstr>PowerPoint Presentation</vt:lpstr>
      <vt:lpstr>Exploration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Collaboration</vt:lpstr>
      <vt:lpstr>PowerPoint Presentation</vt:lpstr>
      <vt:lpstr>PowerPoint Presentation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Sensei</cp:lastModifiedBy>
  <cp:revision>29</cp:revision>
  <dcterms:created xsi:type="dcterms:W3CDTF">2015-03-17T18:51:18Z</dcterms:created>
  <dcterms:modified xsi:type="dcterms:W3CDTF">2022-06-07T00:22:53Z</dcterms:modified>
</cp:coreProperties>
</file>