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56" r:id="rId11"/>
    <p:sldId id="362" r:id="rId12"/>
    <p:sldId id="367" r:id="rId13"/>
    <p:sldId id="368" r:id="rId14"/>
    <p:sldId id="311" r:id="rId15"/>
    <p:sldId id="312" r:id="rId16"/>
    <p:sldId id="353" r:id="rId17"/>
    <p:sldId id="363" r:id="rId18"/>
    <p:sldId id="302" r:id="rId19"/>
    <p:sldId id="303" r:id="rId20"/>
    <p:sldId id="360" r:id="rId21"/>
    <p:sldId id="364" r:id="rId22"/>
    <p:sldId id="365" r:id="rId23"/>
    <p:sldId id="366" r:id="rId24"/>
    <p:sldId id="306" r:id="rId25"/>
    <p:sldId id="307" r:id="rId26"/>
  </p:sldIdLst>
  <p:sldSz cx="12192000" cy="6858000"/>
  <p:notesSz cx="6858000" cy="9144000"/>
  <p:embeddedFontLst>
    <p:embeddedFont>
      <p:font typeface="Arial Black" panose="020B0A04020102020204" pitchFamily="34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65B0"/>
    <a:srgbClr val="DA4487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94"/>
    <p:restoredTop sz="94724"/>
  </p:normalViewPr>
  <p:slideViewPr>
    <p:cSldViewPr snapToGrid="0">
      <p:cViewPr varScale="1">
        <p:scale>
          <a:sx n="79" d="100"/>
          <a:sy n="79" d="100"/>
        </p:scale>
        <p:origin x="403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219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836685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7780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6506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16506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07112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9, Lesson 8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Describing and Interpreting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Line Plots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188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97002"/>
            <a:ext cx="2973100" cy="3465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05256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2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MA.6.DP.1.4</a:t>
            </a:r>
          </a:p>
          <a:p>
            <a:pPr indent="0">
              <a:buNone/>
            </a:pPr>
            <a:r>
              <a:rPr lang="en-US" sz="32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histogram or line plot within a real-world context, qualitatively describe and interpret the spread and distribution of the data, including any symmetry, skewness, gaps, clusters, outliers, and the range.</a:t>
            </a:r>
            <a:endParaRPr lang="en-US" sz="20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43000" y="113173"/>
            <a:ext cx="105156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91440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274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651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latin typeface="Verdana"/>
                <a:ea typeface="Verdana"/>
                <a:cs typeface="Verdana"/>
              </a:rPr>
              <a:t>I can describe and interpret data represented on a line plot.</a:t>
            </a:r>
          </a:p>
          <a:p>
            <a:pPr marL="571500" indent="-565150">
              <a:buClr>
                <a:srgbClr val="434343"/>
              </a:buClr>
              <a:buSzPts val="3500"/>
              <a:buFont typeface="Verdana"/>
              <a:buChar char="❏"/>
            </a:pPr>
            <a:endParaRPr lang="en-PH" sz="36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571500" indent="-56515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6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I can determine the similarities and differences between a line plot and a histogram.</a:t>
            </a: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770632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279372"/>
            <a:ext cx="105156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9.8.1 Warm-Up: Gathering Data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905256" y="1386025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Categorize each histogram according to its shape by placing the letter in the appropriate box in the chart below.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917647"/>
              </p:ext>
            </p:extLst>
          </p:nvPr>
        </p:nvGraphicFramePr>
        <p:xfrm>
          <a:off x="2634614" y="2312067"/>
          <a:ext cx="6858000" cy="1371600"/>
        </p:xfrm>
        <a:graphic>
          <a:graphicData uri="http://schemas.openxmlformats.org/drawingml/2006/table">
            <a:tbl>
              <a:tblPr band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Symmetric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350" marR="63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Skewed Left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350" marR="63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Skewed Right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350" marR="63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72589" y="3883213"/>
            <a:ext cx="6379005" cy="2551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00977" y="2149024"/>
            <a:ext cx="6331162" cy="2551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843530"/>
              </p:ext>
            </p:extLst>
          </p:nvPr>
        </p:nvGraphicFramePr>
        <p:xfrm>
          <a:off x="2634614" y="520393"/>
          <a:ext cx="6858000" cy="1371600"/>
        </p:xfrm>
        <a:graphic>
          <a:graphicData uri="http://schemas.openxmlformats.org/drawingml/2006/table">
            <a:tbl>
              <a:tblPr band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Symmetric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350" marR="63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Skewed Left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350" marR="63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Skewed Right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350" marR="63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US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marL="6350" marR="6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03916" y="140873"/>
            <a:ext cx="10515600" cy="86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9.8.2 Guided Instruction: Describing and Interpreting Data Represented on Line Plots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550416" y="1386025"/>
            <a:ext cx="1051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/>
                <a:ea typeface="Verdana"/>
                <a:cs typeface="Verdana"/>
              </a:rPr>
              <a:t>Line plots are another way to display numerical data.</a:t>
            </a:r>
          </a:p>
          <a:p>
            <a:endParaRPr lang="en-PH" sz="2000" dirty="0">
              <a:latin typeface="Verdana"/>
              <a:ea typeface="Verdana"/>
              <a:cs typeface="Verdana"/>
            </a:endParaRPr>
          </a:p>
          <a:p>
            <a:endParaRPr lang="en-PH" sz="2000" dirty="0">
              <a:latin typeface="Verdana"/>
              <a:ea typeface="Verdana"/>
              <a:cs typeface="Verdana"/>
            </a:endParaRPr>
          </a:p>
          <a:p>
            <a:endParaRPr lang="en-PH" sz="2000" dirty="0">
              <a:latin typeface="Verdana"/>
              <a:ea typeface="Verdana"/>
              <a:cs typeface="Verdana"/>
            </a:endParaRPr>
          </a:p>
          <a:p>
            <a:endParaRPr lang="en-PH" sz="2000" dirty="0">
              <a:latin typeface="Verdana"/>
              <a:ea typeface="Verdana"/>
              <a:cs typeface="Verdana"/>
            </a:endParaRPr>
          </a:p>
          <a:p>
            <a:endParaRPr lang="en-PH" sz="2000" dirty="0">
              <a:latin typeface="Verdana"/>
              <a:ea typeface="Verdana"/>
              <a:cs typeface="Verdana"/>
            </a:endParaRPr>
          </a:p>
          <a:p>
            <a:endParaRPr lang="en-PH" sz="2000" dirty="0">
              <a:latin typeface="Verdana"/>
              <a:ea typeface="Verdana"/>
              <a:cs typeface="Verdana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The line plot shows the number of hours per week that students reported spending on homework.</a:t>
            </a:r>
            <a:endParaRPr lang="en-US" sz="2000" dirty="0">
              <a:latin typeface="Verdana"/>
              <a:ea typeface="Verdana"/>
              <a:cs typeface="Verdana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1696464" y="1906623"/>
            <a:ext cx="8327136" cy="1418782"/>
            <a:chOff x="0" y="-35341"/>
            <a:chExt cx="8327892" cy="141883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0" name="Group 9"/>
            <p:cNvGrpSpPr/>
            <p:nvPr/>
          </p:nvGrpSpPr>
          <p:grpSpPr>
            <a:xfrm>
              <a:off x="0" y="-35341"/>
              <a:ext cx="8327892" cy="1418834"/>
              <a:chOff x="1937003" y="3220795"/>
              <a:chExt cx="8328333" cy="1420756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1937003" y="3593933"/>
                <a:ext cx="6888200" cy="379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spAutoFit/>
              </a:bodyPr>
              <a:lstStyle/>
              <a:p>
                <a:pPr>
                  <a:lnSpc>
                    <a:spcPct val="115000"/>
                  </a:lnSpc>
                </a:pPr>
                <a:r>
                  <a:rPr lang="en-US" sz="1100">
                    <a:latin typeface="Calibri"/>
                    <a:ea typeface="Times New Roman"/>
                    <a:cs typeface="Times New Roman"/>
                  </a:rPr>
                  <a:t> </a:t>
                </a:r>
              </a:p>
            </p:txBody>
          </p:sp>
          <p:grpSp>
            <p:nvGrpSpPr>
              <p:cNvPr id="15" name="Group 14"/>
              <p:cNvGrpSpPr/>
              <p:nvPr/>
            </p:nvGrpSpPr>
            <p:grpSpPr>
              <a:xfrm>
                <a:off x="1937003" y="3220795"/>
                <a:ext cx="8328333" cy="1420756"/>
                <a:chOff x="0" y="-108355"/>
                <a:chExt cx="8328333" cy="1420756"/>
              </a:xfrm>
            </p:grpSpPr>
            <p:sp>
              <p:nvSpPr>
                <p:cNvPr id="16" name="Rectangle 15"/>
                <p:cNvSpPr/>
                <p:nvPr/>
              </p:nvSpPr>
              <p:spPr>
                <a:xfrm>
                  <a:off x="0" y="260934"/>
                  <a:ext cx="6817975" cy="379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spAutoFit/>
                </a:bodyPr>
                <a:lstStyle/>
                <a:p>
                  <a:pPr>
                    <a:lnSpc>
                      <a:spcPct val="115000"/>
                    </a:lnSpc>
                  </a:pPr>
                  <a:r>
                    <a:rPr lang="en-US" sz="1100">
                      <a:latin typeface="Calibri"/>
                      <a:ea typeface="Times New Roman"/>
                      <a:cs typeface="Times New Roman"/>
                    </a:rPr>
                    <a:t> </a:t>
                  </a:r>
                </a:p>
              </p:txBody>
            </p:sp>
            <p:sp>
              <p:nvSpPr>
                <p:cNvPr id="17" name="Rounded Rectangle 16"/>
                <p:cNvSpPr/>
                <p:nvPr/>
              </p:nvSpPr>
              <p:spPr>
                <a:xfrm>
                  <a:off x="70202" y="-108355"/>
                  <a:ext cx="8258131" cy="1420756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FD5"/>
                </a:solidFill>
                <a:ln w="12700" cap="flat" cmpd="sng">
                  <a:solidFill>
                    <a:srgbClr val="E2EFD5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0" anchor="ctr" anchorCtr="0">
                  <a:spAutoFit/>
                </a:bodyPr>
                <a:lstStyle/>
                <a:p>
                  <a:pPr marL="571500">
                    <a:lnSpc>
                      <a:spcPct val="115000"/>
                    </a:lnSpc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6C993D"/>
                      </a:solidFill>
                      <a:latin typeface="Verdana"/>
                      <a:ea typeface="Verdana"/>
                      <a:cs typeface="Verdana"/>
                    </a:rPr>
                    <a:t>A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/>
                      <a:ea typeface="Verdana"/>
                      <a:cs typeface="Verdana"/>
                    </a:rPr>
                    <a:t>line</a:t>
                  </a:r>
                  <a:r>
                    <a:rPr lang="en-US" sz="2000" i="1" dirty="0">
                      <a:solidFill>
                        <a:srgbClr val="6C993D"/>
                      </a:solidFill>
                      <a:latin typeface="Verdana"/>
                      <a:ea typeface="Verdana"/>
                      <a:cs typeface="Verdana"/>
                    </a:rPr>
                    <a:t> </a:t>
                  </a:r>
                  <a:r>
                    <a:rPr lang="en-US" sz="2000" b="1" i="1" dirty="0">
                      <a:solidFill>
                        <a:srgbClr val="6C993D"/>
                      </a:solidFill>
                      <a:latin typeface="Verdana"/>
                      <a:ea typeface="Verdana"/>
                      <a:cs typeface="Verdana"/>
                    </a:rPr>
                    <a:t>plot</a:t>
                  </a:r>
                  <a:r>
                    <a:rPr lang="en-US" sz="2000" dirty="0">
                      <a:solidFill>
                        <a:srgbClr val="6C993D"/>
                      </a:solidFill>
                      <a:latin typeface="Verdana"/>
                      <a:ea typeface="Verdana"/>
                      <a:cs typeface="Verdana"/>
                    </a:rPr>
                    <a:t> is a visual display of data values where each data value is shown as a dot or mark above a number line. This is also known as a dot plot.</a:t>
                  </a:r>
                  <a:endParaRPr lang="en-US" sz="2000" dirty="0">
                    <a:latin typeface="Calibri"/>
                    <a:ea typeface="Times New Roman"/>
                    <a:cs typeface="Times New Roman"/>
                  </a:endParaRPr>
                </a:p>
              </p:txBody>
            </p:sp>
          </p:grpSp>
        </p:grpSp>
        <p:pic>
          <p:nvPicPr>
            <p:cNvPr id="11" name="Picture 10" descr="Icon&#10;&#10;Description automatically generated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123" y="120014"/>
              <a:ext cx="548640" cy="54864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94467" y="4315022"/>
            <a:ext cx="5173299" cy="246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23783" y="3287577"/>
                <a:ext cx="10515600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How many students were surveyed?</a:t>
                </a:r>
              </a:p>
              <a:p>
                <a:pPr marL="457200"/>
                <a:endParaRPr lang="en-PH" sz="2000" dirty="0">
                  <a:highlight>
                    <a:srgbClr val="FFFFFF"/>
                  </a:highlight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How many students reported spending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1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hour on homework each week?</a:t>
                </a: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What percentage of the students reported spending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4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hours or fewer on homework each week?</a:t>
                </a: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PH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highlight>
                      <a:srgbClr val="FFFFFF"/>
                    </a:highlight>
                    <a:latin typeface="Verdana"/>
                    <a:ea typeface="Verdana"/>
                    <a:cs typeface="Verdana"/>
                  </a:rPr>
                  <a:t>What is the range of time spent on homework in this group?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83" y="3287577"/>
                <a:ext cx="10515600" cy="3170099"/>
              </a:xfrm>
              <a:prstGeom prst="rect">
                <a:avLst/>
              </a:prstGeom>
              <a:blipFill rotWithShape="1">
                <a:blip r:embed="rId4"/>
                <a:stretch>
                  <a:fillRect t="-115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342E32C-1EEB-45C7-B474-21A9B5A74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65797" y="471262"/>
            <a:ext cx="5173299" cy="2462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1598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23783" y="369473"/>
            <a:ext cx="10515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With your partner, discuss and summarize your discussion on the following questions about the hours spent on homework per week.</a:t>
            </a:r>
            <a:endParaRPr lang="en-PH" sz="2000" dirty="0">
              <a:highlight>
                <a:srgbClr val="FFFFFF"/>
              </a:highlight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highlight>
                <a:srgbClr val="FFFFFF"/>
              </a:highlight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Explain whether or not the mean time spent on homework by this group can be determined.</a:t>
            </a:r>
          </a:p>
          <a:p>
            <a:pPr marL="914400" indent="-457200">
              <a:buFont typeface="+mj-lt"/>
              <a:buAutoNum type="alphaLcPeriod" startAt="5"/>
            </a:pPr>
            <a:endParaRPr lang="en-PH" sz="2000" dirty="0">
              <a:highlight>
                <a:srgbClr val="FFFFFF"/>
              </a:highlight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endParaRPr lang="en-PH" sz="2000" dirty="0">
              <a:highlight>
                <a:srgbClr val="FFFFFF"/>
              </a:highlight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endParaRPr lang="en-PH" sz="2000" dirty="0">
              <a:highlight>
                <a:srgbClr val="FFFFFF"/>
              </a:highlight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r>
              <a:rPr lang="en-US" sz="2000" dirty="0">
                <a:latin typeface="Verdana"/>
                <a:ea typeface="Verdana"/>
                <a:cs typeface="Verdana"/>
              </a:rPr>
              <a:t>Someone said, “In general, these students spend roughly the same number of hours doing homework.” Do you and your partner agree? Explain your reasoning.</a:t>
            </a:r>
          </a:p>
          <a:p>
            <a:pPr marL="914400" indent="-457200">
              <a:buFont typeface="+mj-lt"/>
              <a:buAutoNum type="alphaLcPeriod" startAt="5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5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Describe the shape and special features of the distribution of hours spent on homework. Find another pair of partners and compare your descriptions.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8544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2661" y="369473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The same students were asked to estimate how many hours a week they spend talking on the phone. This line plot represents their reported number of hours of phone usage per week.</a:t>
            </a: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PH" sz="20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Describe the spread of the data.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18736" y="1536848"/>
            <a:ext cx="4591050" cy="331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8468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50416" y="360596"/>
            <a:ext cx="10515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Overall, are these students more alike in the amount of time they spend talking on the phone or in the amount of time they spend on homework? Explain your reasoning.</a:t>
            </a: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/>
              <a:ea typeface="Verdana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Compare your reasoning with your partner. Make adjustments to your reasoning after the discussion with your partner, if necessary.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71610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0248" y="2770632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770632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1598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281849"/>
            <a:ext cx="105156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9.8.3 Exploration: Comparing Displays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68171" y="1386026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/>
                <a:ea typeface="Times New Roman"/>
                <a:cs typeface="Times New Roman"/>
              </a:rPr>
              <a:t>The dot plot and histogram display the weights, in pounds, of 36 dogs at a dog show.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3878" y="2558348"/>
            <a:ext cx="7700963" cy="2372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29122" y="387228"/>
            <a:ext cx="6174210" cy="3340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50150" y="387229"/>
            <a:ext cx="105156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PH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endParaRPr lang="en-US" sz="2000" dirty="0">
              <a:latin typeface="Verdana"/>
              <a:ea typeface="Verdana"/>
              <a:cs typeface="Verdana"/>
            </a:endParaRPr>
          </a:p>
          <a:p>
            <a:pPr marL="914400" lvl="4" indent="-457200">
              <a:buFont typeface="+mj-lt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</a:rPr>
              <a:t>                                                        can be used </a:t>
            </a:r>
            <a:br>
              <a:rPr lang="en-US" sz="2000" dirty="0">
                <a:latin typeface="Verdana"/>
                <a:ea typeface="Verdana"/>
                <a:cs typeface="Verdana"/>
              </a:rPr>
            </a:br>
            <a:br>
              <a:rPr lang="en-US" sz="2000" dirty="0">
                <a:latin typeface="Verdana"/>
                <a:ea typeface="Verdana"/>
                <a:cs typeface="Verdana"/>
              </a:rPr>
            </a:br>
            <a:br>
              <a:rPr lang="en-US" sz="2000" dirty="0">
                <a:latin typeface="Verdana"/>
                <a:ea typeface="Verdana"/>
                <a:cs typeface="Verdana"/>
              </a:rPr>
            </a:br>
            <a:r>
              <a:rPr lang="en-US" sz="2000" dirty="0">
                <a:latin typeface="Verdana"/>
                <a:ea typeface="Verdana"/>
                <a:cs typeface="Verdana"/>
              </a:rPr>
              <a:t>to determine the number of dogs that weigh 90 lbs.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538317" y="3964874"/>
            <a:ext cx="4846320" cy="1276901"/>
          </a:xfrm>
          <a:prstGeom prst="roundRect">
            <a:avLst>
              <a:gd name="adj" fmla="val 16667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indent="-342900">
              <a:lnSpc>
                <a:spcPct val="115000"/>
              </a:lnSpc>
              <a:buFont typeface="Courier New" pitchFamily="49" charset="0"/>
              <a:buChar char="o"/>
              <a:tabLst>
                <a:tab pos="457200" algn="l"/>
              </a:tabLst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The line plot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buFont typeface="Courier New" pitchFamily="49" charset="0"/>
              <a:buChar char="o"/>
              <a:tabLst>
                <a:tab pos="457200" algn="l"/>
              </a:tabLst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The histogram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342900" indent="-342900">
              <a:lnSpc>
                <a:spcPct val="115000"/>
              </a:lnSpc>
              <a:buFont typeface="Courier New" pitchFamily="49" charset="0"/>
              <a:buChar char="o"/>
              <a:tabLst>
                <a:tab pos="457200" algn="l"/>
              </a:tabLst>
            </a:pPr>
            <a:r>
              <a:rPr lang="en-US" sz="2000" dirty="0">
                <a:latin typeface="Verdana" pitchFamily="34" charset="0"/>
                <a:ea typeface="Verdana" pitchFamily="34" charset="0"/>
                <a:cs typeface="Verdana"/>
              </a:rPr>
              <a:t>Both the line plot and histogram</a:t>
            </a: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2285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23783" y="378351"/>
                <a:ext cx="10515600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4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How many dogs have a weight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90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</a:t>
                </a:r>
                <a:r>
                  <a:rPr lang="en-US" sz="2400" dirty="0" err="1">
                    <a:latin typeface="Verdana"/>
                    <a:ea typeface="Verdana"/>
                    <a:cs typeface="Verdana"/>
                  </a:rPr>
                  <a:t>lbs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?</a:t>
                </a:r>
              </a:p>
              <a:p>
                <a:pPr marL="914400" lvl="4" indent="-457200"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Find the range of the dogs’ weights.</a:t>
                </a:r>
              </a:p>
              <a:p>
                <a:pPr marL="914400" lvl="4" indent="-457200"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With your partner, discuss what you notice about the shape of the distribution.</a:t>
                </a:r>
              </a:p>
              <a:p>
                <a:pPr marL="914400" lvl="4" indent="-457200"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 startAt="2"/>
                </a:pPr>
                <a:endParaRPr lang="en-PH" sz="24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lvl="4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Which display was more useful when describing the shape?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83" y="378351"/>
                <a:ext cx="10515600" cy="4524315"/>
              </a:xfrm>
              <a:prstGeom prst="rect">
                <a:avLst/>
              </a:prstGeom>
              <a:blipFill rotWithShape="1">
                <a:blip r:embed="rId3"/>
                <a:stretch>
                  <a:fillRect t="-121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5182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52821" y="2143126"/>
            <a:ext cx="6524554" cy="4526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43000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9.8.4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905256" y="1389888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1. A movie critic recorded the length, in minutes, of a sample of Pixar films and then made a histogram and a line plot of the data.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2661" y="521208"/>
                <a:ext cx="10515600" cy="55707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How many film lengths are recorded?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How many films are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95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100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minutes in the histogram?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How many films are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95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100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minutes in the line plot?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521208"/>
                <a:ext cx="10515600" cy="5570756"/>
              </a:xfrm>
              <a:prstGeom prst="rect">
                <a:avLst/>
              </a:prstGeom>
              <a:blipFill rotWithShape="1">
                <a:blip r:embed="rId4"/>
                <a:stretch>
                  <a:fillRect b="-153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28050" y="520394"/>
            <a:ext cx="7972425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6860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4384" y="2654750"/>
            <a:ext cx="10515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4"/>
            </a:pPr>
            <a:r>
              <a:rPr lang="en-US" sz="2400" dirty="0">
                <a:latin typeface="Verdana"/>
                <a:ea typeface="Verdana"/>
                <a:cs typeface="Verdana"/>
              </a:rPr>
              <a:t>What is the value of the range?</a:t>
            </a:r>
          </a:p>
          <a:p>
            <a:pPr marL="914400" indent="-457200">
              <a:buFont typeface="+mj-lt"/>
              <a:buAutoNum type="alphaLcPeriod" startAt="4"/>
            </a:pPr>
            <a:endParaRPr lang="en-PH" sz="24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4"/>
            </a:pPr>
            <a:endParaRPr lang="en-PH" sz="24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4"/>
            </a:pPr>
            <a:r>
              <a:rPr lang="en-US" sz="2400" dirty="0">
                <a:latin typeface="Verdana"/>
                <a:ea typeface="Verdana"/>
                <a:cs typeface="Verdana"/>
              </a:rPr>
              <a:t>Discuss with your partner which graph was used to determine the range and why.</a:t>
            </a: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28050" y="520394"/>
            <a:ext cx="7972425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8582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1538" y="396106"/>
                <a:ext cx="10515600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A teacher drew a line segment that was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20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inches long on the blackboard. She asked each of her students to estimate the length of the segment and used their estimates to draw this line plot.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PH" sz="2400" dirty="0">
                  <a:latin typeface="Verdana"/>
                  <a:ea typeface="Verdana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How many students were in the class?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538" y="396106"/>
                <a:ext cx="10515600" cy="4893647"/>
              </a:xfrm>
              <a:prstGeom prst="rect">
                <a:avLst/>
              </a:prstGeom>
              <a:blipFill rotWithShape="1">
                <a:blip r:embed="rId4"/>
                <a:stretch>
                  <a:fillRect l="-928" t="-1121" b="-186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94334" y="2196637"/>
            <a:ext cx="6008274" cy="2316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0657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2661" y="3202273"/>
            <a:ext cx="10515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Were students generally accurate in their estimates of the length of the line?</a:t>
            </a: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/>
              <a:ea typeface="Verdana"/>
              <a:cs typeface="Verdana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Describe the shape and distribution of the estimated lengths.</a:t>
            </a:r>
            <a:endParaRPr lang="en-PH" sz="2400" dirty="0">
              <a:latin typeface="Verdana"/>
              <a:ea typeface="Verdana"/>
              <a:cs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D4B1E806-1EE4-4755-AA45-C605D045A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30554" y="393098"/>
            <a:ext cx="6008274" cy="2316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65729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770632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3465B0"/>
          </a:solidFill>
          <a:ln w="9525" cap="flat" cmpd="sng">
            <a:solidFill>
              <a:srgbClr val="3465B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43000" y="-8257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9.8.5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50415" y="1386026"/>
            <a:ext cx="105156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Check all the statements that apply to your understanding.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highlight>
                <a:srgbClr val="FFFFFF"/>
              </a:highlight>
              <a:latin typeface="Verdana"/>
              <a:ea typeface="Verdana"/>
              <a:cs typeface="Verdana"/>
            </a:endParaRPr>
          </a:p>
          <a:p>
            <a:pPr marL="800100" indent="-342900">
              <a:spcAft>
                <a:spcPts val="1200"/>
              </a:spcAft>
              <a:buFont typeface="Wingdings" pitchFamily="2" charset="2"/>
              <a:buChar char="q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I </a:t>
            </a:r>
            <a:r>
              <a:rPr lang="en-US" sz="2000" dirty="0">
                <a:latin typeface="Verdana"/>
                <a:ea typeface="Verdana"/>
                <a:cs typeface="Verdana"/>
              </a:rPr>
              <a:t>can read a line plot.</a:t>
            </a:r>
          </a:p>
          <a:p>
            <a:pPr marL="800100" indent="-342900">
              <a:spcAft>
                <a:spcPts val="1200"/>
              </a:spcAft>
              <a:buFont typeface="Wingdings" pitchFamily="2" charset="2"/>
              <a:buChar char="q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I need help reading a line plot.</a:t>
            </a:r>
          </a:p>
          <a:p>
            <a:pPr marL="800100" indent="-342900">
              <a:spcAft>
                <a:spcPts val="1200"/>
              </a:spcAft>
              <a:buFont typeface="Wingdings" pitchFamily="2" charset="2"/>
              <a:buChar char="q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I can describe and analyze data represented on a </a:t>
            </a:r>
            <a:b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</a:b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line plot.</a:t>
            </a:r>
          </a:p>
          <a:p>
            <a:pPr marL="800100" indent="-342900">
              <a:spcAft>
                <a:spcPts val="1200"/>
              </a:spcAft>
              <a:buFont typeface="Wingdings" pitchFamily="2" charset="2"/>
              <a:buChar char="q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I need help describing and analyzing data represented on a line plot.</a:t>
            </a:r>
          </a:p>
          <a:p>
            <a:pPr marL="800100" indent="-342900">
              <a:spcAft>
                <a:spcPts val="1200"/>
              </a:spcAft>
              <a:buFont typeface="Wingdings" pitchFamily="2" charset="2"/>
              <a:buChar char="q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I can determine the similarities and differences between a line plot and a histogram.</a:t>
            </a:r>
          </a:p>
          <a:p>
            <a:pPr marL="800100" indent="-342900">
              <a:buFont typeface="Wingdings" pitchFamily="2" charset="2"/>
              <a:buChar char="q"/>
            </a:pPr>
            <a:r>
              <a:rPr lang="en-US" sz="2000" dirty="0">
                <a:highlight>
                  <a:srgbClr val="FFFFFF"/>
                </a:highlight>
                <a:latin typeface="Verdana"/>
                <a:ea typeface="Verdana"/>
                <a:cs typeface="Verdana"/>
              </a:rPr>
              <a:t>I need help to determine the similarities and differences between a line plot and a histogram for the same data.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1450</TotalTime>
  <Words>1038</Words>
  <Application>Microsoft Office PowerPoint</Application>
  <PresentationFormat>Widescreen</PresentationFormat>
  <Paragraphs>205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Verdana</vt:lpstr>
      <vt:lpstr>Courier New</vt:lpstr>
      <vt:lpstr>Century Gothic</vt:lpstr>
      <vt:lpstr>Arial</vt:lpstr>
      <vt:lpstr>Wingdings</vt:lpstr>
      <vt:lpstr>Cambria Math</vt:lpstr>
      <vt:lpstr>Calibri</vt:lpstr>
      <vt:lpstr>Arial Black</vt:lpstr>
      <vt:lpstr>1_Office Theme</vt:lpstr>
      <vt:lpstr>6th Grade Math  Unit 9, Lesson 8  Describing and Interpreting  Line Plots  Volume 2, pg. 188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42</cp:revision>
  <dcterms:created xsi:type="dcterms:W3CDTF">2015-03-17T18:51:18Z</dcterms:created>
  <dcterms:modified xsi:type="dcterms:W3CDTF">2022-07-09T07:07:18Z</dcterms:modified>
</cp:coreProperties>
</file>