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fntdata" ContentType="application/x-fontdata"/>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289" r:id="rId9"/>
    <p:sldId id="290" r:id="rId10"/>
    <p:sldId id="356" r:id="rId11"/>
    <p:sldId id="362" r:id="rId12"/>
    <p:sldId id="363" r:id="rId13"/>
    <p:sldId id="311" r:id="rId14"/>
    <p:sldId id="312" r:id="rId15"/>
    <p:sldId id="353" r:id="rId16"/>
    <p:sldId id="364" r:id="rId17"/>
    <p:sldId id="365" r:id="rId18"/>
    <p:sldId id="366" r:id="rId19"/>
    <p:sldId id="320" r:id="rId20"/>
    <p:sldId id="321" r:id="rId21"/>
    <p:sldId id="355" r:id="rId22"/>
    <p:sldId id="367" r:id="rId23"/>
    <p:sldId id="302" r:id="rId24"/>
    <p:sldId id="303" r:id="rId25"/>
    <p:sldId id="360"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Math" panose="02040503050406030204" pitchFamily="18" charset="0"/>
      <p:regular r:id="rId35"/>
    </p:embeddedFont>
    <p:embeddedFont>
      <p:font typeface="Century Gothic" panose="020B0502020202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p:restoredTop sz="94694"/>
  </p:normalViewPr>
  <p:slideViewPr>
    <p:cSldViewPr snapToGrid="0">
      <p:cViewPr varScale="1">
        <p:scale>
          <a:sx n="79" d="100"/>
          <a:sy n="79" d="100"/>
        </p:scale>
        <p:origin x="1080"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61"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751226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0395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290711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0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0.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9,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Describing and Interpreting Histograms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173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05256"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MA.6.DP.1.4</a:t>
            </a:r>
          </a:p>
          <a:p>
            <a:pPr indent="0">
              <a:buNone/>
            </a:pPr>
            <a:r>
              <a:rPr lang="en-US" sz="3200" dirty="0">
                <a:solidFill>
                  <a:schemeClr val="tx1"/>
                </a:solidFill>
                <a:latin typeface="Verdana"/>
                <a:ea typeface="Verdana"/>
                <a:cs typeface="Verdana"/>
                <a:sym typeface="Verdana"/>
              </a:rPr>
              <a:t>Given a histogram or line plot within a real-world context, qualitatively describe and interpret the spread and distribution of the data, including any symmetry, </a:t>
            </a:r>
            <a:r>
              <a:rPr lang="en-US" sz="3200" dirty="0" err="1">
                <a:solidFill>
                  <a:schemeClr val="tx1"/>
                </a:solidFill>
                <a:latin typeface="Verdana"/>
                <a:ea typeface="Verdana"/>
                <a:cs typeface="Verdana"/>
                <a:sym typeface="Verdana"/>
              </a:rPr>
              <a:t>skewness</a:t>
            </a:r>
            <a:r>
              <a:rPr lang="en-US" sz="3200" dirty="0">
                <a:solidFill>
                  <a:schemeClr val="tx1"/>
                </a:solidFill>
                <a:latin typeface="Verdana"/>
                <a:ea typeface="Verdana"/>
                <a:cs typeface="Verdana"/>
                <a:sym typeface="Verdana"/>
              </a:rPr>
              <a:t>, gaps, clusters, outliers, and the range.</a:t>
            </a:r>
            <a:endParaRPr lang="en-US" sz="20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05256"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173</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05256"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2300">
              <a:buClr>
                <a:srgbClr val="434343"/>
              </a:buClr>
              <a:buSzPts val="3500"/>
              <a:buFont typeface="Verdana"/>
              <a:buChar char="❏"/>
            </a:pPr>
            <a:r>
              <a:rPr lang="en-US" sz="3500" dirty="0">
                <a:solidFill>
                  <a:schemeClr val="tx1"/>
                </a:solidFill>
                <a:latin typeface="Verdana"/>
                <a:ea typeface="Verdana"/>
                <a:cs typeface="Verdana"/>
                <a:sym typeface="Verdana"/>
              </a:rPr>
              <a:t>I can qualitatively describe and interpret a histogram within a real-world context.</a:t>
            </a: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173</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770632"/>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79372"/>
            <a:ext cx="105156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9.6.1 Warm-Up: Why Statistics?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905256" y="1386026"/>
            <a:ext cx="10515600" cy="4708981"/>
          </a:xfrm>
          <a:prstGeom prst="rect">
            <a:avLst/>
          </a:prstGeom>
          <a:noFill/>
        </p:spPr>
        <p:txBody>
          <a:bodyPr wrap="square" rtlCol="0">
            <a:spAutoFit/>
          </a:bodyPr>
          <a:lstStyle/>
          <a:p>
            <a:r>
              <a:rPr lang="en-US" sz="2000" dirty="0">
                <a:latin typeface="Verdana"/>
                <a:ea typeface="Verdana"/>
                <a:cs typeface="Verdana"/>
              </a:rPr>
              <a:t>Eric </a:t>
            </a:r>
            <a:r>
              <a:rPr lang="en-US" sz="2000" dirty="0" err="1">
                <a:latin typeface="Verdana"/>
                <a:ea typeface="Verdana"/>
                <a:cs typeface="Verdana"/>
              </a:rPr>
              <a:t>Newburger</a:t>
            </a:r>
            <a:r>
              <a:rPr lang="en-US" sz="2000" dirty="0">
                <a:latin typeface="Verdana"/>
                <a:ea typeface="Verdana"/>
                <a:cs typeface="Verdana"/>
              </a:rPr>
              <a:t> relates the </a:t>
            </a:r>
            <a:br>
              <a:rPr lang="en-US" sz="2000" dirty="0">
                <a:latin typeface="Verdana"/>
                <a:ea typeface="Verdana"/>
                <a:cs typeface="Verdana"/>
              </a:rPr>
            </a:br>
            <a:r>
              <a:rPr lang="en-US" sz="2000" dirty="0">
                <a:latin typeface="Verdana"/>
                <a:ea typeface="Verdana"/>
                <a:cs typeface="Verdana"/>
              </a:rPr>
              <a:t>need for studying statistics to </a:t>
            </a:r>
            <a:br>
              <a:rPr lang="en-US" sz="2000" dirty="0">
                <a:latin typeface="Verdana"/>
                <a:ea typeface="Verdana"/>
                <a:cs typeface="Verdana"/>
              </a:rPr>
            </a:br>
            <a:r>
              <a:rPr lang="en-US" sz="2000" dirty="0">
                <a:latin typeface="Verdana"/>
                <a:ea typeface="Verdana"/>
                <a:cs typeface="Verdana"/>
              </a:rPr>
              <a:t>the need for using a microscope. </a:t>
            </a:r>
            <a:br>
              <a:rPr lang="en-US" sz="2000" dirty="0">
                <a:latin typeface="Verdana"/>
                <a:ea typeface="Verdana"/>
                <a:cs typeface="Verdana"/>
              </a:rPr>
            </a:br>
            <a:r>
              <a:rPr lang="en-US" sz="2000" dirty="0">
                <a:latin typeface="Verdana"/>
                <a:ea typeface="Verdana"/>
                <a:cs typeface="Verdana"/>
              </a:rPr>
              <a:t>He discusses how a microscope </a:t>
            </a:r>
            <a:br>
              <a:rPr lang="en-US" sz="2000" dirty="0">
                <a:latin typeface="Verdana"/>
                <a:ea typeface="Verdana"/>
                <a:cs typeface="Verdana"/>
              </a:rPr>
            </a:br>
            <a:r>
              <a:rPr lang="en-US" sz="2000" dirty="0">
                <a:latin typeface="Verdana"/>
                <a:ea typeface="Verdana"/>
                <a:cs typeface="Verdana"/>
              </a:rPr>
              <a:t>is used to study small things. </a:t>
            </a:r>
            <a:br>
              <a:rPr lang="en-US" sz="2000" dirty="0">
                <a:latin typeface="Verdana"/>
                <a:ea typeface="Verdana"/>
                <a:cs typeface="Verdana"/>
              </a:rPr>
            </a:br>
            <a:r>
              <a:rPr lang="en-US" sz="2000" dirty="0">
                <a:latin typeface="Verdana"/>
                <a:ea typeface="Verdana"/>
                <a:cs typeface="Verdana"/>
              </a:rPr>
              <a:t>It’s also needed to study things </a:t>
            </a:r>
            <a:br>
              <a:rPr lang="en-US" sz="2000" dirty="0">
                <a:latin typeface="Verdana"/>
                <a:ea typeface="Verdana"/>
                <a:cs typeface="Verdana"/>
              </a:rPr>
            </a:br>
            <a:r>
              <a:rPr lang="en-US" sz="2000" dirty="0">
                <a:latin typeface="Verdana"/>
                <a:ea typeface="Verdana"/>
                <a:cs typeface="Verdana"/>
              </a:rPr>
              <a:t>like food poisoning at a larger </a:t>
            </a:r>
            <a:br>
              <a:rPr lang="en-US" sz="2000" dirty="0">
                <a:latin typeface="Verdana"/>
                <a:ea typeface="Verdana"/>
                <a:cs typeface="Verdana"/>
              </a:rPr>
            </a:br>
            <a:r>
              <a:rPr lang="en-US" sz="2000" dirty="0">
                <a:latin typeface="Verdana"/>
                <a:ea typeface="Verdana"/>
                <a:cs typeface="Verdana"/>
              </a:rPr>
              <a:t>level to aid in understanding </a:t>
            </a:r>
            <a:br>
              <a:rPr lang="en-US" sz="2000" dirty="0">
                <a:latin typeface="Verdana"/>
                <a:ea typeface="Verdana"/>
                <a:cs typeface="Verdana"/>
              </a:rPr>
            </a:br>
            <a:r>
              <a:rPr lang="en-US" sz="2000" dirty="0">
                <a:latin typeface="Verdana"/>
                <a:ea typeface="Verdana"/>
                <a:cs typeface="Verdana"/>
              </a:rPr>
              <a:t>diseases and how viruses spread.</a:t>
            </a:r>
          </a:p>
          <a:p>
            <a:endParaRPr lang="en-PH" sz="2000" dirty="0">
              <a:latin typeface="Verdana"/>
              <a:ea typeface="Verdana"/>
              <a:cs typeface="Verdana" panose="020B0604030504040204" pitchFamily="34" charset="0"/>
            </a:endParaRPr>
          </a:p>
          <a:p>
            <a:r>
              <a:rPr lang="en-US" sz="2000" dirty="0">
                <a:latin typeface="Verdana"/>
                <a:ea typeface="Verdana"/>
                <a:cs typeface="Verdana"/>
              </a:rPr>
              <a:t>In Mr. </a:t>
            </a:r>
            <a:r>
              <a:rPr lang="en-US" sz="2000" dirty="0" err="1">
                <a:latin typeface="Verdana"/>
                <a:ea typeface="Verdana"/>
                <a:cs typeface="Verdana"/>
              </a:rPr>
              <a:t>Newburger’s</a:t>
            </a:r>
            <a:r>
              <a:rPr lang="en-US" sz="2000" dirty="0">
                <a:latin typeface="Verdana"/>
                <a:ea typeface="Verdana"/>
                <a:cs typeface="Verdana"/>
              </a:rPr>
              <a:t> work, he explains you can take a big thing and shrink it down small enough to study and to understand. That’s the study of statistics. And when you want to understand something that is too small, you can use a tool (like the microscope), which is “why statistics.”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9" name="image24.jpg" descr="Statistics in Schools - Why Statistics?"/>
          <p:cNvPicPr/>
          <p:nvPr/>
        </p:nvPicPr>
        <p:blipFill rotWithShape="1">
          <a:blip r:embed="rId5">
            <a:extLst>
              <a:ext uri="{28A0092B-C50C-407E-A947-70E740481C1C}">
                <a14:useLocalDpi xmlns:a14="http://schemas.microsoft.com/office/drawing/2010/main"/>
              </a:ext>
            </a:extLst>
          </a:blip>
          <a:srcRect t="13169" b="10733"/>
          <a:stretch/>
        </p:blipFill>
        <p:spPr bwMode="auto">
          <a:xfrm>
            <a:off x="5478574" y="1519837"/>
            <a:ext cx="4210175" cy="2342044"/>
          </a:xfrm>
          <a:prstGeom prst="rect">
            <a:avLst/>
          </a:prstGeom>
          <a:ln>
            <a:noFill/>
          </a:ln>
          <a:extLst>
            <a:ext uri="{53640926-AAD7-44D8-BBD7-CCE9431645EC}">
              <a14:shadowObscured xmlns:a14="http://schemas.microsoft.com/office/drawing/2010/main"/>
            </a:ext>
          </a:ex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pic>
        <p:nvPicPr>
          <p:cNvPr id="4" name="Picture 3">
            <a:extLst>
              <a:ext uri="{FF2B5EF4-FFF2-40B4-BE49-F238E27FC236}">
                <a16:creationId xmlns:a16="http://schemas.microsoft.com/office/drawing/2014/main" id="{6FD1F85C-4554-8361-A7E1-06551A2F27BE}"/>
              </a:ext>
            </a:extLst>
          </p:cNvPr>
          <p:cNvPicPr>
            <a:picLocks noChangeAspect="1"/>
          </p:cNvPicPr>
          <p:nvPr/>
        </p:nvPicPr>
        <p:blipFill>
          <a:blip r:embed="rId6"/>
          <a:stretch>
            <a:fillRect/>
          </a:stretch>
        </p:blipFill>
        <p:spPr>
          <a:xfrm>
            <a:off x="10256265" y="74035"/>
            <a:ext cx="1838169" cy="174886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05256" y="520394"/>
            <a:ext cx="10515600" cy="461665"/>
          </a:xfrm>
          <a:prstGeom prst="rect">
            <a:avLst/>
          </a:prstGeom>
          <a:noFill/>
        </p:spPr>
        <p:txBody>
          <a:bodyPr wrap="square" rtlCol="0">
            <a:spAutoFit/>
          </a:bodyPr>
          <a:lstStyle/>
          <a:p>
            <a:pPr marL="457200" indent="-457200">
              <a:buFont typeface="+mj-lt"/>
              <a:buAutoNum type="arabicPeriod"/>
            </a:pPr>
            <a:r>
              <a:rPr lang="en-US" sz="2400" dirty="0">
                <a:latin typeface="Verdana"/>
                <a:ea typeface="Verdana"/>
                <a:cs typeface="Verdana"/>
              </a:rPr>
              <a:t>List two reasons why statistics are important.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770632"/>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9107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9.6.2 Guided Instruction: Histograms </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905256" y="1386026"/>
            <a:ext cx="10515600" cy="830997"/>
          </a:xfrm>
          <a:prstGeom prst="rect">
            <a:avLst/>
          </a:prstGeom>
          <a:noFill/>
        </p:spPr>
        <p:txBody>
          <a:bodyPr wrap="square" rtlCol="0">
            <a:spAutoFit/>
          </a:bodyPr>
          <a:lstStyle/>
          <a:p>
            <a:r>
              <a:rPr lang="en-US" sz="2400" dirty="0">
                <a:latin typeface="Verdana"/>
                <a:ea typeface="Verdana"/>
                <a:cs typeface="Verdana"/>
              </a:rPr>
              <a:t>Numerical data can be displayed graphically in a variety of ways. One type of graph is a histogram.</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grpSp>
        <p:nvGrpSpPr>
          <p:cNvPr id="8" name="Group 7"/>
          <p:cNvGrpSpPr/>
          <p:nvPr/>
        </p:nvGrpSpPr>
        <p:grpSpPr>
          <a:xfrm>
            <a:off x="2117625" y="2496030"/>
            <a:ext cx="7906776" cy="2037393"/>
            <a:chOff x="0" y="-74475"/>
            <a:chExt cx="7906776" cy="2038040"/>
          </a:xfrm>
        </p:grpSpPr>
        <p:grpSp>
          <p:nvGrpSpPr>
            <p:cNvPr id="10" name="Group 9"/>
            <p:cNvGrpSpPr/>
            <p:nvPr/>
          </p:nvGrpSpPr>
          <p:grpSpPr>
            <a:xfrm>
              <a:off x="0" y="-74475"/>
              <a:ext cx="7906776" cy="2038040"/>
              <a:chOff x="1937003" y="3254675"/>
              <a:chExt cx="8131710" cy="2038040"/>
            </a:xfrm>
          </p:grpSpPr>
          <p:sp>
            <p:nvSpPr>
              <p:cNvPr id="14" name="Rectangle 13"/>
              <p:cNvSpPr/>
              <p:nvPr/>
            </p:nvSpPr>
            <p:spPr>
              <a:xfrm>
                <a:off x="1937003" y="3329150"/>
                <a:ext cx="6817975" cy="1889075"/>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a:ea typeface="Cambria Math"/>
                    <a:cs typeface="Cambria Math"/>
                  </a:rPr>
                  <a:t> </a:t>
                </a:r>
              </a:p>
            </p:txBody>
          </p:sp>
          <p:grpSp>
            <p:nvGrpSpPr>
              <p:cNvPr id="15" name="Group 14"/>
              <p:cNvGrpSpPr/>
              <p:nvPr/>
            </p:nvGrpSpPr>
            <p:grpSpPr>
              <a:xfrm>
                <a:off x="1937003" y="3254675"/>
                <a:ext cx="8131710" cy="2038040"/>
                <a:chOff x="0" y="-74475"/>
                <a:chExt cx="8131710" cy="2038040"/>
              </a:xfrm>
            </p:grpSpPr>
            <p:sp>
              <p:nvSpPr>
                <p:cNvPr id="16" name="Rectangle 15"/>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a:ea typeface="Cambria Math"/>
                      <a:cs typeface="Cambria Math"/>
                    </a:rPr>
                    <a:t> </a:t>
                  </a:r>
                </a:p>
              </p:txBody>
            </p:sp>
            <p:sp>
              <p:nvSpPr>
                <p:cNvPr id="17" name="Rounded Rectangle 16"/>
                <p:cNvSpPr/>
                <p:nvPr/>
              </p:nvSpPr>
              <p:spPr>
                <a:xfrm>
                  <a:off x="0" y="-74475"/>
                  <a:ext cx="8131710" cy="2038040"/>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742950">
                    <a:lnSpc>
                      <a:spcPct val="107000"/>
                    </a:lnSpc>
                    <a:spcAft>
                      <a:spcPts val="800"/>
                    </a:spcAft>
                  </a:pPr>
                  <a:r>
                    <a:rPr lang="en-US" sz="2000" dirty="0">
                      <a:solidFill>
                        <a:srgbClr val="6C993D"/>
                      </a:solidFill>
                      <a:latin typeface="Verdana"/>
                      <a:ea typeface="Verdana"/>
                      <a:cs typeface="Verdana"/>
                    </a:rPr>
                    <a:t>A </a:t>
                  </a:r>
                  <a:r>
                    <a:rPr lang="en-US" sz="2000" b="1" dirty="0">
                      <a:solidFill>
                        <a:srgbClr val="6C993D"/>
                      </a:solidFill>
                      <a:latin typeface="Verdana"/>
                      <a:ea typeface="Verdana"/>
                      <a:cs typeface="Verdana"/>
                    </a:rPr>
                    <a:t>histogram</a:t>
                  </a:r>
                  <a:r>
                    <a:rPr lang="en-US" sz="2000" dirty="0">
                      <a:solidFill>
                        <a:srgbClr val="6C993D"/>
                      </a:solidFill>
                      <a:latin typeface="Verdana"/>
                      <a:ea typeface="Verdana"/>
                      <a:cs typeface="Verdana"/>
                    </a:rPr>
                    <a:t> is a visual display of numerical data using bars along a number line with no spaces between the bars. The height of each bar represents either the frequency or relative frequency of data within that interval.</a:t>
                  </a:r>
                  <a:endParaRPr lang="en-US" sz="2000" i="1" dirty="0">
                    <a:latin typeface="Cambria Math"/>
                    <a:ea typeface="Cambria Math"/>
                    <a:cs typeface="Cambria Math"/>
                  </a:endParaRPr>
                </a:p>
              </p:txBody>
            </p:sp>
          </p:grpSp>
        </p:grpSp>
        <p:pic>
          <p:nvPicPr>
            <p:cNvPr id="11" name="Picture 10" descr="Icon&#10;&#10;Description automatically generated"/>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34462" y="85704"/>
              <a:ext cx="548640" cy="548640"/>
            </a:xfrm>
            <a:prstGeom prst="rect">
              <a:avLst/>
            </a:prstGeom>
            <a:noFill/>
            <a:ln>
              <a:noFill/>
            </a:ln>
            <a:effectLst>
              <a:outerShdw blurRad="50800" dist="38100" dir="2700000" algn="tl" rotWithShape="0">
                <a:prstClr val="black">
                  <a:alpha val="40000"/>
                </a:prstClr>
              </a:outerShdw>
            </a:effectLst>
          </p:spPr>
        </p:pic>
      </p:grpSp>
      <p:sp>
        <p:nvSpPr>
          <p:cNvPr id="1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6"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333750" y="1256855"/>
            <a:ext cx="4993200" cy="4426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05256" y="454781"/>
            <a:ext cx="10515600" cy="5940088"/>
          </a:xfrm>
          <a:prstGeom prst="rect">
            <a:avLst/>
          </a:prstGeom>
          <a:noFill/>
        </p:spPr>
        <p:txBody>
          <a:bodyPr wrap="square" rtlCol="0">
            <a:spAutoFit/>
          </a:bodyPr>
          <a:lstStyle/>
          <a:p>
            <a:pPr marL="457200" indent="-457200">
              <a:buFont typeface="+mj-lt"/>
              <a:buAutoNum type="arabicPeriod"/>
            </a:pPr>
            <a:r>
              <a:rPr lang="en-US" sz="2000" dirty="0">
                <a:latin typeface="Verdana"/>
                <a:ea typeface="Cambria Math"/>
                <a:cs typeface="Cambria Math"/>
              </a:rPr>
              <a:t>The histogram summarizes the lengths, in feet (</a:t>
            </a:r>
            <a:r>
              <a:rPr lang="en-US" sz="2000" dirty="0" err="1">
                <a:latin typeface="Verdana"/>
                <a:ea typeface="Cambria Math"/>
                <a:cs typeface="Cambria Math"/>
              </a:rPr>
              <a:t>ft</a:t>
            </a:r>
            <a:r>
              <a:rPr lang="en-US" sz="2000" dirty="0">
                <a:latin typeface="Verdana"/>
                <a:ea typeface="Cambria Math"/>
                <a:cs typeface="Cambria Math"/>
              </a:rPr>
              <a:t>), of a group of adult female sharks.</a:t>
            </a: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457200" indent="-457200">
              <a:buFont typeface="+mj-lt"/>
              <a:buAutoNum type="arabicPeriod"/>
            </a:pPr>
            <a:endParaRPr lang="en-PH" sz="2000" dirty="0">
              <a:latin typeface="Verdana"/>
              <a:ea typeface="Cambria Math"/>
              <a:cs typeface="Verdana" panose="020B0604030504040204" pitchFamily="34" charset="0"/>
            </a:endParaRPr>
          </a:p>
          <a:p>
            <a:pPr marL="914400" indent="-457200">
              <a:buFont typeface="+mj-lt"/>
              <a:buAutoNum type="alphaLcPeriod"/>
            </a:pPr>
            <a:r>
              <a:rPr lang="en-US" sz="2000" dirty="0">
                <a:latin typeface="Verdana"/>
                <a:ea typeface="Verdana"/>
                <a:cs typeface="Verdana"/>
              </a:rPr>
              <a:t>With your partner, discuss the labels for the vertical </a:t>
            </a:r>
            <a:br>
              <a:rPr lang="en-US" sz="2000" dirty="0">
                <a:latin typeface="Verdana"/>
                <a:ea typeface="Verdana"/>
                <a:cs typeface="Verdana"/>
              </a:rPr>
            </a:br>
            <a:r>
              <a:rPr lang="en-US" sz="2000" dirty="0">
                <a:latin typeface="Verdana"/>
                <a:ea typeface="Verdana"/>
                <a:cs typeface="Verdana"/>
              </a:rPr>
              <a:t>and horizontal axes.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174</a:t>
            </a:r>
            <a:endParaRPr i="1" dirty="0">
              <a:latin typeface="Calibri"/>
              <a:ea typeface="Calibri"/>
              <a:cs typeface="Calibri"/>
              <a:sym typeface="Calibri"/>
            </a:endParaRPr>
          </a:p>
        </p:txBody>
      </p:sp>
    </p:spTree>
    <p:extLst>
      <p:ext uri="{BB962C8B-B14F-4D97-AF65-F5344CB8AC3E}">
        <p14:creationId xmlns:p14="http://schemas.microsoft.com/office/powerpoint/2010/main" val="3761598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05256" y="4877161"/>
                <a:ext cx="10515600" cy="1323439"/>
              </a:xfrm>
              <a:prstGeom prst="rect">
                <a:avLst/>
              </a:prstGeom>
              <a:noFill/>
            </p:spPr>
            <p:txBody>
              <a:bodyPr wrap="square" rtlCol="0">
                <a:spAutoFit/>
              </a:bodyPr>
              <a:lstStyle/>
              <a:p>
                <a:pPr marL="914400" indent="-457200">
                  <a:buFont typeface="+mj-lt"/>
                  <a:buAutoNum type="alphaLcPeriod" startAt="2"/>
                </a:pPr>
                <a:r>
                  <a:rPr lang="en-US" sz="2000" dirty="0">
                    <a:latin typeface="Verdana"/>
                    <a:ea typeface="Verdana"/>
                    <a:cs typeface="Verdana"/>
                  </a:rPr>
                  <a:t>How many sharks were between </a:t>
                </a:r>
                <a14:m>
                  <m:oMath xmlns:m="http://schemas.openxmlformats.org/officeDocument/2006/math">
                    <m:r>
                      <a:rPr lang="en-US" sz="2000">
                        <a:latin typeface="Cambria Math"/>
                        <a:ea typeface="Verdana"/>
                        <a:cs typeface="Verdana"/>
                      </a:rPr>
                      <m:t>15.5</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 and </a:t>
                </a:r>
                <a14:m>
                  <m:oMath xmlns:m="http://schemas.openxmlformats.org/officeDocument/2006/math">
                    <m:r>
                      <a:rPr lang="en-US" sz="2000">
                        <a:latin typeface="Cambria Math"/>
                        <a:ea typeface="Verdana"/>
                        <a:cs typeface="Verdana"/>
                      </a:rPr>
                      <m:t>16</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a:t>
                </a:r>
              </a:p>
              <a:p>
                <a:pPr marL="914400" indent="-457200">
                  <a:buFont typeface="+mj-lt"/>
                  <a:buAutoNum type="alphaLcPeriod" startAt="2"/>
                </a:pPr>
                <a:endParaRPr lang="en-PH" sz="2000" dirty="0">
                  <a:latin typeface="Verdana"/>
                  <a:ea typeface="Verdana"/>
                  <a:cs typeface="Verdana" panose="020B0604030504040204" pitchFamily="34" charset="0"/>
                </a:endParaRPr>
              </a:p>
              <a:p>
                <a:pPr marL="914400" indent="-457200">
                  <a:buFont typeface="+mj-lt"/>
                  <a:buAutoNum type="alphaLcPeriod" startAt="2"/>
                </a:pPr>
                <a:endParaRPr lang="en-PH" sz="2000" dirty="0">
                  <a:latin typeface="Verdana"/>
                  <a:ea typeface="Verdana"/>
                  <a:cs typeface="Verdana" panose="020B0604030504040204" pitchFamily="34" charset="0"/>
                </a:endParaRPr>
              </a:p>
              <a:p>
                <a:pPr marL="914400" indent="-457200">
                  <a:buFont typeface="+mj-lt"/>
                  <a:buAutoNum type="alphaLcPeriod" startAt="2"/>
                </a:pPr>
                <a:r>
                  <a:rPr lang="en-US" sz="2000" dirty="0">
                    <a:latin typeface="Verdana"/>
                    <a:ea typeface="Verdana"/>
                    <a:cs typeface="Verdana"/>
                  </a:rPr>
                  <a:t>How many total sharks were measured to create the histogram?</a:t>
                </a:r>
                <a:endParaRPr lang="en-PH" sz="2000" dirty="0">
                  <a:latin typeface="Verdana"/>
                  <a:ea typeface="Verdana"/>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05256" y="4877161"/>
                <a:ext cx="10515600" cy="1323439"/>
              </a:xfrm>
              <a:prstGeom prst="rect">
                <a:avLst/>
              </a:prstGeom>
              <a:blipFill rotWithShape="1">
                <a:blip r:embed="rId4"/>
                <a:stretch>
                  <a:fillRect t="-2765" b="-7373"/>
                </a:stretch>
              </a:blipFill>
            </p:spPr>
            <p:txBody>
              <a:bodyPr/>
              <a:lstStyle/>
              <a:p>
                <a:r>
                  <a:rPr lang="en-PH">
                    <a:noFill/>
                  </a:rPr>
                  <a:t> </a:t>
                </a:r>
              </a:p>
            </p:txBody>
          </p:sp>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175</a:t>
            </a:r>
            <a:endParaRPr i="1" dirty="0">
              <a:latin typeface="Calibri"/>
              <a:ea typeface="Calibri"/>
              <a:cs typeface="Calibri"/>
              <a:sym typeface="Calibri"/>
            </a:endParaRPr>
          </a:p>
        </p:txBody>
      </p:sp>
      <p:pic>
        <p:nvPicPr>
          <p:cNvPr id="6" name="Picture 2">
            <a:extLst>
              <a:ext uri="{FF2B5EF4-FFF2-40B4-BE49-F238E27FC236}">
                <a16:creationId xmlns:a16="http://schemas.microsoft.com/office/drawing/2014/main" id="{F5F6D61D-6704-45EF-9B29-37030BABC419}"/>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99400" y="118851"/>
            <a:ext cx="4993200" cy="4426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292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05256" y="520394"/>
                <a:ext cx="10515600"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Each bar of a histogram includes the left-end value, but not the right-end value. For example, the first bar includes sharks that are </a:t>
                </a:r>
                <a14:m>
                  <m:oMath xmlns:m="http://schemas.openxmlformats.org/officeDocument/2006/math">
                    <m:r>
                      <a:rPr lang="en-US" sz="2000">
                        <a:latin typeface="Cambria Math"/>
                        <a:ea typeface="Verdana"/>
                        <a:cs typeface="Verdana"/>
                      </a:rPr>
                      <m:t>13</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 and </a:t>
                </a:r>
                <a14:m>
                  <m:oMath xmlns:m="http://schemas.openxmlformats.org/officeDocument/2006/math">
                    <m:r>
                      <a:rPr lang="en-US" sz="2000">
                        <a:latin typeface="Cambria Math"/>
                        <a:ea typeface="Verdana"/>
                        <a:cs typeface="Verdana"/>
                      </a:rPr>
                      <m:t>13.25</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 but not </a:t>
                </a:r>
                <a14:m>
                  <m:oMath xmlns:m="http://schemas.openxmlformats.org/officeDocument/2006/math">
                    <m:r>
                      <a:rPr lang="en-US" sz="2000">
                        <a:latin typeface="Cambria Math"/>
                        <a:ea typeface="Verdana"/>
                        <a:cs typeface="Verdana"/>
                      </a:rPr>
                      <m:t>13.5</m:t>
                    </m:r>
                  </m:oMath>
                </a14:m>
                <a:r>
                  <a:rPr lang="en-US" sz="2000" dirty="0">
                    <a:latin typeface="Verdana"/>
                    <a:ea typeface="Verdana"/>
                    <a:cs typeface="Verdana"/>
                  </a:rPr>
                  <a:t> ft.</a:t>
                </a:r>
              </a:p>
              <a:p>
                <a:pPr marL="457200" indent="-457200">
                  <a:buFont typeface="+mj-lt"/>
                  <a:buAutoNum type="arabicPeriod" startAt="2"/>
                </a:pPr>
                <a:endParaRPr lang="en-US" sz="2000" dirty="0">
                  <a:latin typeface="Verdana"/>
                  <a:ea typeface="Verdana"/>
                  <a:cs typeface="Verdana"/>
                </a:endParaRPr>
              </a:p>
              <a:p>
                <a:pPr marL="914400" indent="-457200">
                  <a:buFont typeface="+mj-lt"/>
                  <a:buAutoNum type="alphaLcPeriod"/>
                </a:pPr>
                <a:r>
                  <a:rPr lang="en-US" sz="2000" dirty="0">
                    <a:latin typeface="Verdana"/>
                    <a:ea typeface="Verdana"/>
                    <a:cs typeface="Verdana"/>
                  </a:rPr>
                  <a:t>Discuss with your partner whether or not you can determine the exact lengths of each shark measured from the histogram. Summarize your discussion.</a:t>
                </a:r>
              </a:p>
              <a:p>
                <a:pPr marL="457200"/>
                <a:endParaRPr lang="en-US" sz="2000" dirty="0">
                  <a:latin typeface="Verdana"/>
                  <a:ea typeface="Verdana"/>
                  <a:cs typeface="Verdana"/>
                </a:endParaRPr>
              </a:p>
              <a:p>
                <a:pPr marL="914400" indent="-457200">
                  <a:buFont typeface="+mj-lt"/>
                  <a:buAutoNum type="alphaLcPeriod" startAt="2"/>
                </a:pPr>
                <a:endParaRPr lang="en-US" sz="2000" dirty="0">
                  <a:latin typeface="Verdana"/>
                  <a:ea typeface="Verdana"/>
                  <a:cs typeface="Verdana"/>
                </a:endParaRPr>
              </a:p>
              <a:p>
                <a:pPr marL="914400" indent="-457200">
                  <a:buFont typeface="+mj-lt"/>
                  <a:buAutoNum type="alphaLcPeriod" startAt="2"/>
                </a:pPr>
                <a:r>
                  <a:rPr lang="en-US" sz="2000" dirty="0">
                    <a:latin typeface="Verdana"/>
                    <a:ea typeface="Verdana"/>
                    <a:cs typeface="Verdana"/>
                  </a:rPr>
                  <a:t>Discuss with your partner your observations about the width of each bar.</a:t>
                </a:r>
                <a:endParaRPr lang="en-PH" sz="2000" dirty="0">
                  <a:latin typeface="Verdana"/>
                  <a:ea typeface="Verdana"/>
                  <a:cs typeface="Verdana" panose="020B0604030504040204" pitchFamily="34" charset="0"/>
                </a:endParaRPr>
              </a:p>
              <a:p>
                <a:pPr marL="914400" indent="-457200">
                  <a:buFont typeface="+mj-lt"/>
                  <a:buAutoNum type="alphaLcPeriod" startAt="2"/>
                </a:pPr>
                <a:endParaRPr lang="en-PH" sz="2000" dirty="0">
                  <a:latin typeface="Verdana"/>
                  <a:ea typeface="Verdana"/>
                  <a:cs typeface="Verdana" panose="020B0604030504040204" pitchFamily="34" charset="0"/>
                </a:endParaRPr>
              </a:p>
              <a:p>
                <a:pPr marL="914400" indent="-457200">
                  <a:buFont typeface="+mj-lt"/>
                  <a:buAutoNum type="alphaLcPeriod" startAt="2"/>
                </a:pPr>
                <a:endParaRPr lang="en-PH" sz="2000" dirty="0">
                  <a:latin typeface="Verdana"/>
                  <a:ea typeface="Verdana"/>
                  <a:cs typeface="Verdana" panose="020B0604030504040204" pitchFamily="34" charset="0"/>
                </a:endParaRPr>
              </a:p>
              <a:p>
                <a:pPr marL="457200"/>
                <a:endParaRPr lang="en-PH" sz="2000" dirty="0">
                  <a:latin typeface="Verdana"/>
                  <a:ea typeface="Verdana"/>
                  <a:cs typeface="Verdana" panose="020B0604030504040204" pitchFamily="34" charset="0"/>
                </a:endParaRPr>
              </a:p>
              <a:p>
                <a:pPr marL="914400" indent="-457200">
                  <a:buFont typeface="+mj-lt"/>
                  <a:buAutoNum type="alphaLcPeriod" startAt="2"/>
                </a:pPr>
                <a:endParaRPr lang="en-PH" sz="2000" dirty="0">
                  <a:latin typeface="Verdana"/>
                  <a:ea typeface="Verdana"/>
                  <a:cs typeface="Verdana" panose="020B0604030504040204" pitchFamily="34" charset="0"/>
                </a:endParaRPr>
              </a:p>
              <a:p>
                <a:pPr marL="457200" indent="-457200">
                  <a:buFont typeface="+mj-lt"/>
                  <a:buAutoNum type="arabicPeriod" startAt="3"/>
                </a:pPr>
                <a:r>
                  <a:rPr lang="en-US" sz="2000" dirty="0">
                    <a:latin typeface="Verdana"/>
                    <a:ea typeface="Verdana"/>
                    <a:cs typeface="Verdana"/>
                  </a:rPr>
                  <a:t>If male sharks were added to the sample, hypothesize what would happen to the spread of the data.</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05256" y="520394"/>
                <a:ext cx="10515600" cy="5324535"/>
              </a:xfrm>
              <a:prstGeom prst="rect">
                <a:avLst/>
              </a:prstGeom>
              <a:blipFill>
                <a:blip r:embed="rId4"/>
                <a:stretch>
                  <a:fillRect l="-603" t="-475" r="-1448"/>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175</a:t>
            </a:r>
            <a:endParaRPr i="1" dirty="0">
              <a:latin typeface="Calibri"/>
              <a:ea typeface="Calibri"/>
              <a:cs typeface="Calibri"/>
              <a:sym typeface="Calibri"/>
            </a:endParaRPr>
          </a:p>
        </p:txBody>
      </p:sp>
    </p:spTree>
    <p:extLst>
      <p:ext uri="{BB962C8B-B14F-4D97-AF65-F5344CB8AC3E}">
        <p14:creationId xmlns:p14="http://schemas.microsoft.com/office/powerpoint/2010/main" val="2782880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16352"/>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19456" cy="6867144"/>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81849"/>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9.6.3 Exploration: Histograms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905256" y="1386026"/>
            <a:ext cx="10515600" cy="2554545"/>
          </a:xfrm>
          <a:prstGeom prst="rect">
            <a:avLst/>
          </a:prstGeom>
          <a:noFill/>
        </p:spPr>
        <p:txBody>
          <a:bodyPr wrap="square" rtlCol="0">
            <a:spAutoFit/>
          </a:bodyPr>
          <a:lstStyle/>
          <a:p>
            <a:r>
              <a:rPr lang="en-US" sz="2000" dirty="0">
                <a:latin typeface="Verdana"/>
                <a:ea typeface="Verdana"/>
                <a:cs typeface="Verdana"/>
              </a:rPr>
              <a:t>An earthworm farmer set up several containers of a certain species of earthworm so he could learn about their lengths. Lengths of earthworms provide information about their ages. The farmer measured the lengths of the earthworms in one container.</a:t>
            </a:r>
          </a:p>
          <a:p>
            <a:endParaRPr lang="en-PH" sz="2000" dirty="0">
              <a:latin typeface="Verdana"/>
              <a:ea typeface="Verdana"/>
              <a:cs typeface="Verdana" panose="020B0604030504040204" pitchFamily="34" charset="0"/>
            </a:endParaRPr>
          </a:p>
          <a:p>
            <a:r>
              <a:rPr lang="en-US" sz="2000" dirty="0">
                <a:latin typeface="Verdana"/>
                <a:ea typeface="Cambria Math"/>
                <a:cs typeface="Cambria Math"/>
              </a:rPr>
              <a:t>The farmer recorded the earthworms’ lengths, in millimeters, in a table and then created a histogram to display the data.</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584057563"/>
                  </p:ext>
                </p:extLst>
              </p:nvPr>
            </p:nvGraphicFramePr>
            <p:xfrm>
              <a:off x="2684040" y="4286075"/>
              <a:ext cx="6858000" cy="1828800"/>
            </p:xfrm>
            <a:graphic>
              <a:graphicData uri="http://schemas.openxmlformats.org/drawingml/2006/table">
                <a:tbl>
                  <a:tblPr firstRow="1" firstCol="1" bandRow="1"/>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tblGrid>
                  <a:tr h="457200">
                    <a:tc gridSpan="10">
                      <a:txBody>
                        <a:bodyPr/>
                        <a:lstStyle/>
                        <a:p>
                          <a:pPr algn="ctr">
                            <a:lnSpc>
                              <a:spcPct val="107000"/>
                            </a:lnSpc>
                            <a:spcBef>
                              <a:spcPts val="180"/>
                            </a:spcBef>
                            <a:spcAft>
                              <a:spcPts val="180"/>
                            </a:spcAft>
                          </a:pPr>
                          <a:r>
                            <a:rPr lang="en-US" sz="2000" b="1" i="0" dirty="0">
                              <a:effectLst/>
                              <a:latin typeface="Verdana" pitchFamily="34" charset="0"/>
                              <a:ea typeface="Verdana" pitchFamily="34" charset="0"/>
                              <a:cs typeface="Cambria Math"/>
                            </a:rPr>
                            <a:t>Earthworm Lengths in Millimeters (mm)</a:t>
                          </a:r>
                          <a:endParaRPr lang="en-US" sz="2000" i="0" dirty="0">
                            <a:effectLst/>
                            <a:latin typeface="Verdana" pitchFamily="34" charset="0"/>
                            <a:ea typeface="Verdana" pitchFamily="34" charset="0"/>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7200">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6</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
                              </m:oMathParaPr>
                              <m:oMath xmlns:m="http://schemas.openxmlformats.org/officeDocument/2006/math">
                                <m:r>
                                  <a:rPr lang="en-US" sz="2000" i="1">
                                    <a:effectLst/>
                                    <a:latin typeface="Cambria Math"/>
                                    <a:ea typeface="Calibri"/>
                                    <a:cs typeface="Times New Roman"/>
                                  </a:rPr>
                                  <m:t>11</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18</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19</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20</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23</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23</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25</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25</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26</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27</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27</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28</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29</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32</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33</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41</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42</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48</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52</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54</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59</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60</m:t>
                                </m:r>
                              </m:oMath>
                            </m:oMathPara>
                          </a14:m>
                          <a:endParaRPr lang="en-US" sz="2000" i="1">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77</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i="1">
                                    <a:effectLst/>
                                    <a:latin typeface="Cambria Math"/>
                                    <a:ea typeface="Calibri"/>
                                    <a:cs typeface="Times New Roman"/>
                                  </a:rPr>
                                  <m:t>93</m:t>
                                </m:r>
                              </m:oMath>
                            </m:oMathPara>
                          </a14:m>
                          <a:endParaRPr lang="en-US" sz="2000" i="1" dirty="0">
                            <a:effectLst/>
                            <a:latin typeface="Verdana" pitchFamily="34" charset="0"/>
                            <a:ea typeface="Verdana" pitchFamily="34" charset="0"/>
                            <a:cs typeface="Times New Roman"/>
                          </a:endParaRPr>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lnSpc>
                              <a:spcPct val="107000"/>
                            </a:lnSpc>
                            <a:spcBef>
                              <a:spcPts val="180"/>
                            </a:spcBef>
                            <a:spcAft>
                              <a:spcPts val="180"/>
                            </a:spcAft>
                          </a:pPr>
                          <a:r>
                            <a:rPr lang="en-US" sz="2000" i="1" dirty="0">
                              <a:effectLst/>
                              <a:latin typeface="Verdana" pitchFamily="34" charset="0"/>
                              <a:ea typeface="Verdana" pitchFamily="34" charset="0"/>
                              <a:cs typeface="Times New Roman"/>
                            </a:rPr>
                            <a:t> </a:t>
                          </a:r>
                        </a:p>
                      </a:txBody>
                      <a:tcPr marL="1828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584057563"/>
                  </p:ext>
                </p:extLst>
              </p:nvPr>
            </p:nvGraphicFramePr>
            <p:xfrm>
              <a:off x="2684040" y="4286075"/>
              <a:ext cx="6858000" cy="1828800"/>
            </p:xfrm>
            <a:graphic>
              <a:graphicData uri="http://schemas.openxmlformats.org/drawingml/2006/table">
                <a:tbl>
                  <a:tblPr firstRow="1" firstCol="1" bandRow="1"/>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tblGrid>
                  <a:tr h="457200">
                    <a:tc gridSpan="10">
                      <a:txBody>
                        <a:bodyPr/>
                        <a:lstStyle/>
                        <a:p>
                          <a:pPr algn="ctr">
                            <a:lnSpc>
                              <a:spcPct val="107000"/>
                            </a:lnSpc>
                            <a:spcBef>
                              <a:spcPts val="180"/>
                            </a:spcBef>
                            <a:spcAft>
                              <a:spcPts val="180"/>
                            </a:spcAft>
                          </a:pPr>
                          <a:r>
                            <a:rPr lang="en-US" sz="2000" b="1" i="0" dirty="0">
                              <a:effectLst/>
                              <a:latin typeface="Verdana" pitchFamily="34" charset="0"/>
                              <a:ea typeface="Verdana" pitchFamily="34" charset="0"/>
                              <a:cs typeface="Cambria Math"/>
                            </a:rPr>
                            <a:t>Earthworm Lengths in Millimeters (mm)</a:t>
                          </a:r>
                          <a:endParaRPr lang="en-US" sz="2000" i="0" dirty="0">
                            <a:effectLst/>
                            <a:latin typeface="Verdana" pitchFamily="34" charset="0"/>
                            <a:ea typeface="Verdana" pitchFamily="34" charset="0"/>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7200">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52" t="-100000" r="-903704"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852" t="-100000" r="-803704"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1852" t="-100000" r="-703704"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1852" t="-100000" r="-603704"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545" t="-100000" r="-492727"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03704" t="-100000" r="-401852"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03704" t="-100000" r="-301852"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03704" t="-100000" r="-201852"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803704" t="-100000" r="-101852" b="-197297"/>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03704" t="-100000" r="-1852" b="-197297"/>
                          </a:stretch>
                        </a:blipFill>
                      </a:tcPr>
                    </a:tc>
                    <a:extLst>
                      <a:ext uri="{0D108BD9-81ED-4DB2-BD59-A6C34878D82A}">
                        <a16:rowId xmlns:a16="http://schemas.microsoft.com/office/drawing/2014/main" val="10001"/>
                      </a:ext>
                    </a:extLst>
                  </a:tr>
                  <a:tr h="457200">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52" t="-205556" r="-903704"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852" t="-205556" r="-803704"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1852" t="-205556" r="-703704"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1852" t="-205556" r="-603704"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545" t="-205556" r="-492727"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03704" t="-205556" r="-401852"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03704" t="-205556" r="-301852"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03704" t="-205556" r="-201852"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803704" t="-205556" r="-101852" b="-10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03704" t="-205556" r="-1852" b="-102778"/>
                          </a:stretch>
                        </a:blipFill>
                      </a:tcPr>
                    </a:tc>
                    <a:extLst>
                      <a:ext uri="{0D108BD9-81ED-4DB2-BD59-A6C34878D82A}">
                        <a16:rowId xmlns:a16="http://schemas.microsoft.com/office/drawing/2014/main" val="10002"/>
                      </a:ext>
                    </a:extLst>
                  </a:tr>
                  <a:tr h="457200">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852" t="-305556" r="-903704" b="-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852" t="-305556" r="-803704" b="-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1852" t="-305556" r="-703704" b="-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1852" t="-305556" r="-603704" b="-2778"/>
                          </a:stretch>
                        </a:blipFill>
                      </a:tcPr>
                    </a:tc>
                    <a:tc>
                      <a:txBody>
                        <a:bodyPr/>
                        <a:lstStyle/>
                        <a:p>
                          <a:endParaRPr lang="en-US"/>
                        </a:p>
                      </a:txBody>
                      <a:tcPr marL="1828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94545" t="-305556" r="-492727" b="-2778"/>
                          </a:stretch>
                        </a:blipFill>
                      </a:tcPr>
                    </a:tc>
                    <a:tc gridSpan="5">
                      <a:txBody>
                        <a:bodyPr/>
                        <a:lstStyle/>
                        <a:p>
                          <a:pPr algn="ctr">
                            <a:lnSpc>
                              <a:spcPct val="107000"/>
                            </a:lnSpc>
                            <a:spcBef>
                              <a:spcPts val="180"/>
                            </a:spcBef>
                            <a:spcAft>
                              <a:spcPts val="180"/>
                            </a:spcAft>
                          </a:pPr>
                          <a:r>
                            <a:rPr lang="en-US" sz="2000" i="1" dirty="0">
                              <a:effectLst/>
                              <a:latin typeface="Verdana" pitchFamily="34" charset="0"/>
                              <a:ea typeface="Verdana" pitchFamily="34" charset="0"/>
                              <a:cs typeface="Times New Roman"/>
                            </a:rPr>
                            <a:t> </a:t>
                          </a:r>
                        </a:p>
                      </a:txBody>
                      <a:tcPr marL="1828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43114" y="366714"/>
            <a:ext cx="8105775" cy="612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175</a:t>
            </a:r>
            <a:endParaRPr i="1" dirty="0">
              <a:latin typeface="Calibri"/>
              <a:ea typeface="Calibri"/>
              <a:cs typeface="Calibri"/>
              <a:sym typeface="Calibri"/>
            </a:endParaRPr>
          </a:p>
        </p:txBody>
      </p:sp>
    </p:spTree>
    <p:extLst>
      <p:ext uri="{BB962C8B-B14F-4D97-AF65-F5344CB8AC3E}">
        <p14:creationId xmlns:p14="http://schemas.microsoft.com/office/powerpoint/2010/main" val="2102285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905256" y="520394"/>
            <a:ext cx="10515600" cy="4401205"/>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How many earthworms were measured in the data?</a:t>
            </a: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r>
              <a:rPr lang="en-US" sz="2000" dirty="0">
                <a:latin typeface="Verdana"/>
                <a:ea typeface="Verdana"/>
                <a:cs typeface="Verdana"/>
              </a:rPr>
              <a:t>The number of earthworms measured can be </a:t>
            </a:r>
            <a:br>
              <a:rPr lang="en-US" sz="2000" dirty="0">
                <a:latin typeface="Verdana"/>
                <a:ea typeface="Verdana"/>
                <a:cs typeface="Verdana"/>
              </a:rPr>
            </a:br>
            <a:br>
              <a:rPr lang="en-US" sz="2000" dirty="0">
                <a:latin typeface="Verdana"/>
                <a:ea typeface="Verdana"/>
                <a:cs typeface="Verdana"/>
              </a:rPr>
            </a:br>
            <a:br>
              <a:rPr lang="en-US" sz="2000" dirty="0">
                <a:latin typeface="Verdana"/>
                <a:ea typeface="Verdana"/>
                <a:cs typeface="Verdana"/>
              </a:rPr>
            </a:br>
            <a:r>
              <a:rPr lang="en-US" sz="2000" dirty="0">
                <a:latin typeface="Verdana"/>
                <a:ea typeface="Verdana"/>
                <a:cs typeface="Verdana"/>
              </a:rPr>
              <a:t>determined from </a:t>
            </a: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endParaRPr lang="en-PH" sz="2000" dirty="0">
              <a:latin typeface="Verdana"/>
              <a:ea typeface="Verdana"/>
              <a:cs typeface="Verdana" panose="020B0604030504040204" pitchFamily="34" charset="0"/>
            </a:endParaRPr>
          </a:p>
          <a:p>
            <a:pPr marL="457200" indent="-457200">
              <a:buFont typeface="+mj-lt"/>
              <a:buAutoNum type="arabicPeriod"/>
            </a:pPr>
            <a:r>
              <a:rPr lang="en-US" sz="2000" dirty="0">
                <a:latin typeface="Verdana"/>
                <a:ea typeface="Cambria Math"/>
                <a:cs typeface="Cambria Math"/>
              </a:rPr>
              <a:t>The length of the shortest earthworm can be </a:t>
            </a:r>
            <a:br>
              <a:rPr lang="en-US" sz="2000" dirty="0">
                <a:latin typeface="Verdana"/>
                <a:ea typeface="Cambria Math"/>
                <a:cs typeface="Cambria Math"/>
              </a:rPr>
            </a:br>
            <a:br>
              <a:rPr lang="en-US" sz="2000" dirty="0">
                <a:latin typeface="Verdana"/>
                <a:ea typeface="Cambria Math"/>
                <a:cs typeface="Cambria Math"/>
              </a:rPr>
            </a:br>
            <a:br>
              <a:rPr lang="en-US" sz="2000" dirty="0">
                <a:latin typeface="Verdana"/>
                <a:ea typeface="Cambria Math"/>
                <a:cs typeface="Cambria Math"/>
              </a:rPr>
            </a:br>
            <a:r>
              <a:rPr lang="en-US" sz="2000" dirty="0">
                <a:latin typeface="Verdana"/>
                <a:ea typeface="Verdana"/>
                <a:cs typeface="Verdana"/>
              </a:rPr>
              <a:t>determined from</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Rounded Rectangle 5"/>
          <p:cNvSpPr/>
          <p:nvPr/>
        </p:nvSpPr>
        <p:spPr>
          <a:xfrm>
            <a:off x="3876870" y="1948214"/>
            <a:ext cx="4754880" cy="1195176"/>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histogram. </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 and the histogram.</a:t>
            </a:r>
            <a:endParaRPr lang="en-US" sz="2000" i="1" dirty="0">
              <a:latin typeface="Verdana" pitchFamily="34" charset="0"/>
              <a:ea typeface="Verdana" pitchFamily="34" charset="0"/>
              <a:cs typeface="Cambria Math"/>
            </a:endParaRPr>
          </a:p>
        </p:txBody>
      </p:sp>
      <p:sp>
        <p:nvSpPr>
          <p:cNvPr id="7" name="Rounded Rectangle 6"/>
          <p:cNvSpPr/>
          <p:nvPr/>
        </p:nvSpPr>
        <p:spPr>
          <a:xfrm>
            <a:off x="3876870" y="4081878"/>
            <a:ext cx="4754880" cy="1195176"/>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histogram. </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 and the histogram.</a:t>
            </a:r>
            <a:endParaRPr lang="en-US" sz="2000" i="1" dirty="0">
              <a:latin typeface="Verdana" pitchFamily="34" charset="0"/>
              <a:ea typeface="Verdana" pitchFamily="34" charset="0"/>
              <a:cs typeface="Cambria Math"/>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176</a:t>
            </a:r>
            <a:endParaRPr i="1" dirty="0">
              <a:latin typeface="Calibri"/>
              <a:ea typeface="Calibri"/>
              <a:cs typeface="Calibri"/>
              <a:sym typeface="Calibri"/>
            </a:endParaRPr>
          </a:p>
        </p:txBody>
      </p:sp>
    </p:spTree>
    <p:extLst>
      <p:ext uri="{BB962C8B-B14F-4D97-AF65-F5344CB8AC3E}">
        <p14:creationId xmlns:p14="http://schemas.microsoft.com/office/powerpoint/2010/main" val="1824030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05256" y="520394"/>
                <a:ext cx="10515600" cy="4708981"/>
              </a:xfrm>
              <a:prstGeom prst="rect">
                <a:avLst/>
              </a:prstGeom>
              <a:noFill/>
            </p:spPr>
            <p:txBody>
              <a:bodyPr wrap="square" rtlCol="0">
                <a:spAutoFit/>
              </a:bodyPr>
              <a:lstStyle/>
              <a:p>
                <a:pPr marL="457200" indent="-457200">
                  <a:buFont typeface="+mj-lt"/>
                  <a:buAutoNum type="arabicPeriod" startAt="4"/>
                </a:pPr>
                <a:r>
                  <a:rPr lang="en-US" sz="2000" dirty="0">
                    <a:latin typeface="Verdana"/>
                    <a:ea typeface="Verdana"/>
                    <a:cs typeface="Verdana"/>
                  </a:rPr>
                  <a:t>Place a “</a:t>
                </a:r>
                <a14:m>
                  <m:oMath xmlns:m="http://schemas.openxmlformats.org/officeDocument/2006/math">
                    <m:r>
                      <a:rPr lang="en-US" sz="2000" i="1">
                        <a:latin typeface="Cambria Math"/>
                        <a:ea typeface="Verdana"/>
                        <a:cs typeface="Verdana"/>
                      </a:rPr>
                      <m:t>∗</m:t>
                    </m:r>
                  </m:oMath>
                </a14:m>
                <a:r>
                  <a:rPr lang="en-US" sz="2000" dirty="0">
                    <a:latin typeface="Verdana"/>
                    <a:ea typeface="Verdana"/>
                    <a:cs typeface="Verdana"/>
                  </a:rPr>
                  <a:t>” above the bar that contains the value for the shortest earthworm.</a:t>
                </a: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endParaRPr lang="en-PH" sz="2000" dirty="0">
                  <a:latin typeface="Verdana"/>
                  <a:ea typeface="Verdana"/>
                  <a:cs typeface="Verdana" panose="020B0604030504040204" pitchFamily="34" charset="0"/>
                </a:endParaRPr>
              </a:p>
              <a:p>
                <a:pPr marL="457200" indent="-457200">
                  <a:buFont typeface="+mj-lt"/>
                  <a:buAutoNum type="arabicPeriod" startAt="4"/>
                </a:pPr>
                <a:r>
                  <a:rPr lang="en-US" sz="2000" dirty="0">
                    <a:latin typeface="Verdana"/>
                    <a:ea typeface="Verdana"/>
                    <a:cs typeface="Verdana"/>
                  </a:rPr>
                  <a:t>Determine the length of the longest earthworm. Then, </a:t>
                </a:r>
                <a:r>
                  <a:rPr lang="en-US" sz="2000" dirty="0">
                    <a:latin typeface="Verdana"/>
                    <a:ea typeface="Cambria Math"/>
                    <a:cs typeface="Cambria Math"/>
                  </a:rPr>
                  <a:t>place a “</a:t>
                </a:r>
                <a14:m>
                  <m:oMath xmlns:m="http://schemas.openxmlformats.org/officeDocument/2006/math">
                    <m:r>
                      <a:rPr lang="en-US" sz="2000">
                        <a:latin typeface="Cambria Math"/>
                        <a:ea typeface="Cambria Math"/>
                        <a:cs typeface="Cambria Math"/>
                      </a:rPr>
                      <m:t>+</m:t>
                    </m:r>
                  </m:oMath>
                </a14:m>
                <a:r>
                  <a:rPr lang="en-US" sz="2000" dirty="0">
                    <a:latin typeface="Verdana"/>
                    <a:ea typeface="Cambria Math"/>
                    <a:cs typeface="Cambria Math"/>
                  </a:rPr>
                  <a:t>” above the bar that contains the value for the longest earthworm.</a:t>
                </a:r>
              </a:p>
              <a:p>
                <a:pPr marL="457200" indent="-457200">
                  <a:buFont typeface="+mj-lt"/>
                  <a:buAutoNum type="arabicPeriod" startAt="4"/>
                </a:pPr>
                <a:endParaRPr lang="en-PH" sz="2000" dirty="0">
                  <a:latin typeface="Verdana"/>
                  <a:ea typeface="Cambria Math"/>
                  <a:cs typeface="Verdana" panose="020B0604030504040204" pitchFamily="34" charset="0"/>
                </a:endParaRPr>
              </a:p>
              <a:p>
                <a:pPr marL="457200" indent="-457200">
                  <a:buFont typeface="+mj-lt"/>
                  <a:buAutoNum type="arabicPeriod" startAt="4"/>
                </a:pPr>
                <a:endParaRPr lang="en-PH" sz="2000" dirty="0">
                  <a:latin typeface="Verdana"/>
                  <a:ea typeface="Cambria Math"/>
                  <a:cs typeface="Verdana" panose="020B0604030504040204" pitchFamily="34" charset="0"/>
                </a:endParaRPr>
              </a:p>
              <a:p>
                <a:pPr marL="457200" indent="-457200">
                  <a:buFont typeface="+mj-lt"/>
                  <a:buAutoNum type="arabicPeriod" startAt="4"/>
                </a:pPr>
                <a:r>
                  <a:rPr lang="en-US" sz="2000" dirty="0">
                    <a:latin typeface="Verdana"/>
                    <a:ea typeface="Verdana"/>
                    <a:cs typeface="Verdana"/>
                  </a:rPr>
                  <a:t>T</a:t>
                </a:r>
                <a:r>
                  <a:rPr lang="en-US" sz="2000" dirty="0">
                    <a:latin typeface="Verdana"/>
                    <a:ea typeface="Cambria Math"/>
                    <a:cs typeface="Cambria Math"/>
                  </a:rPr>
                  <a:t>he mean length of the earthworms can be determined</a:t>
                </a:r>
                <a:br>
                  <a:rPr lang="en-US" sz="2000" dirty="0">
                    <a:latin typeface="Verdana" panose="020B0604030504040204" pitchFamily="34" charset="0"/>
                    <a:ea typeface="Verdana" panose="020B0604030504040204" pitchFamily="34" charset="0"/>
                    <a:cs typeface="Cambria Math"/>
                  </a:rPr>
                </a:br>
                <a:br>
                  <a:rPr lang="en-US" sz="2000" dirty="0">
                    <a:latin typeface="Verdana" panose="020B0604030504040204" pitchFamily="34" charset="0"/>
                    <a:ea typeface="Verdana" panose="020B0604030504040204" pitchFamily="34" charset="0"/>
                    <a:cs typeface="Cambria Math"/>
                  </a:rPr>
                </a:br>
                <a:br>
                  <a:rPr lang="en-US" sz="2000" dirty="0">
                    <a:latin typeface="Verdana" panose="020B0604030504040204" pitchFamily="34" charset="0"/>
                    <a:ea typeface="Verdana" panose="020B0604030504040204" pitchFamily="34" charset="0"/>
                    <a:cs typeface="Cambria Math"/>
                  </a:rPr>
                </a:br>
                <a:r>
                  <a:rPr lang="en-US" sz="2000" dirty="0">
                    <a:latin typeface="Verdana"/>
                    <a:ea typeface="Cambria Math"/>
                    <a:cs typeface="Cambria Math"/>
                  </a:rPr>
                  <a:t>from</a:t>
                </a:r>
              </a:p>
              <a:p>
                <a:pPr marL="457200" indent="-457200">
                  <a:buFont typeface="+mj-lt"/>
                  <a:buAutoNum type="arabicPeriod" startAt="4"/>
                </a:pPr>
                <a:endParaRPr lang="en-PH" sz="2000" dirty="0">
                  <a:latin typeface="Verdana"/>
                  <a:ea typeface="Cambria Math"/>
                  <a:cs typeface="Cambria Math"/>
                </a:endParaRPr>
              </a:p>
              <a:p>
                <a:pPr marL="457200" indent="-457200">
                  <a:buFont typeface="+mj-lt"/>
                  <a:buAutoNum type="arabicPeriod" startAt="4"/>
                </a:pPr>
                <a:endParaRPr lang="en-PH" sz="2000" dirty="0">
                  <a:latin typeface="Verdana"/>
                  <a:ea typeface="Cambria Math"/>
                  <a:cs typeface="Cambria Math"/>
                </a:endParaRPr>
              </a:p>
              <a:p>
                <a:pPr marL="457200" indent="-457200">
                  <a:buFont typeface="+mj-lt"/>
                  <a:buAutoNum type="arabicPeriod" startAt="4"/>
                </a:pPr>
                <a:endParaRPr lang="en-PH" sz="2000" dirty="0">
                  <a:latin typeface="Verdana"/>
                  <a:ea typeface="Cambria Math"/>
                  <a:cs typeface="Cambria Math"/>
                </a:endParaRPr>
              </a:p>
              <a:p>
                <a:pPr marL="457200" indent="-457200">
                  <a:buFont typeface="+mj-lt"/>
                  <a:buAutoNum type="arabicPeriod" startAt="4"/>
                </a:pPr>
                <a:r>
                  <a:rPr lang="en-US" sz="2000" dirty="0">
                    <a:latin typeface="Verdana"/>
                    <a:ea typeface="Cambria Math"/>
                    <a:cs typeface="Cambria Math"/>
                  </a:rPr>
                  <a:t>What is the mean length of the earthworms?</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05256" y="520394"/>
                <a:ext cx="10515600" cy="4708981"/>
              </a:xfrm>
              <a:prstGeom prst="rect">
                <a:avLst/>
              </a:prstGeom>
              <a:blipFill rotWithShape="1">
                <a:blip r:embed="rId4"/>
                <a:stretch>
                  <a:fillRect l="-638" t="-776" r="-754" b="-1294"/>
                </a:stretch>
              </a:blipFill>
            </p:spPr>
            <p:txBody>
              <a:bodyPr/>
              <a:lstStyle/>
              <a:p>
                <a:r>
                  <a:rPr lang="en-PH">
                    <a:noFill/>
                  </a:rPr>
                  <a:t> </a:t>
                </a:r>
              </a:p>
            </p:txBody>
          </p:sp>
        </mc:Fallback>
      </mc:AlternateContent>
      <p:sp>
        <p:nvSpPr>
          <p:cNvPr id="7" name="Rounded Rectangle 6"/>
          <p:cNvSpPr/>
          <p:nvPr/>
        </p:nvSpPr>
        <p:spPr>
          <a:xfrm>
            <a:off x="2211045" y="3214435"/>
            <a:ext cx="4754880" cy="1195176"/>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histogram. </a:t>
            </a:r>
            <a:endParaRPr lang="en-US" sz="2000" i="1" dirty="0">
              <a:latin typeface="Verdana" pitchFamily="34" charset="0"/>
              <a:ea typeface="Verdana" pitchFamily="34" charset="0"/>
              <a:cs typeface="Cambria Math"/>
            </a:endParaRPr>
          </a:p>
          <a:p>
            <a:pPr marL="342900" indent="-342900">
              <a:lnSpc>
                <a:spcPct val="107000"/>
              </a:lnSpc>
              <a:buFont typeface="Courier New" pitchFamily="49" charset="0"/>
              <a:buChar char="o"/>
            </a:pPr>
            <a:r>
              <a:rPr lang="en-US" sz="2000" dirty="0">
                <a:latin typeface="Verdana" pitchFamily="34" charset="0"/>
                <a:ea typeface="Verdana" pitchFamily="34" charset="0"/>
                <a:cs typeface="Verdana"/>
              </a:rPr>
              <a:t>the data set and the histogram.</a:t>
            </a:r>
            <a:endParaRPr lang="en-US" sz="2000" i="1" dirty="0">
              <a:latin typeface="Verdana" pitchFamily="34" charset="0"/>
              <a:ea typeface="Verdana" pitchFamily="34" charset="0"/>
              <a:cs typeface="Cambria Math"/>
            </a:endParaRP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176</a:t>
            </a:r>
            <a:endParaRPr i="1" dirty="0">
              <a:latin typeface="Calibri"/>
              <a:ea typeface="Calibri"/>
              <a:cs typeface="Calibri"/>
              <a:sym typeface="Calibri"/>
            </a:endParaRPr>
          </a:p>
        </p:txBody>
      </p:sp>
    </p:spTree>
    <p:extLst>
      <p:ext uri="{BB962C8B-B14F-4D97-AF65-F5344CB8AC3E}">
        <p14:creationId xmlns:p14="http://schemas.microsoft.com/office/powerpoint/2010/main" val="309634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05256" y="520393"/>
                <a:ext cx="10515600" cy="3785652"/>
              </a:xfrm>
              <a:prstGeom prst="rect">
                <a:avLst/>
              </a:prstGeom>
              <a:noFill/>
            </p:spPr>
            <p:txBody>
              <a:bodyPr wrap="square" rtlCol="0">
                <a:spAutoFit/>
              </a:bodyPr>
              <a:lstStyle/>
              <a:p>
                <a:pPr marL="628650" indent="-514350">
                  <a:buFont typeface="+mj-lt"/>
                  <a:buAutoNum type="arabicPeriod" startAt="8"/>
                </a:pPr>
                <a:r>
                  <a:rPr lang="en-US" sz="2000" dirty="0">
                    <a:latin typeface="Verdana"/>
                    <a:ea typeface="Verdana"/>
                    <a:cs typeface="Verdana"/>
                  </a:rPr>
                  <a:t>Half of the earthworms are longer than </a:t>
                </a:r>
                <a:r>
                  <a:rPr lang="en-US" sz="2000" u="sng" dirty="0">
                    <a:latin typeface="Verdana"/>
                    <a:ea typeface="Verdana"/>
                    <a:cs typeface="Verdana"/>
                  </a:rPr>
                  <a:t>________</a:t>
                </a:r>
                <a:r>
                  <a:rPr lang="en-US" sz="2000" dirty="0">
                    <a:latin typeface="Verdana"/>
                    <a:ea typeface="Verdana"/>
                    <a:cs typeface="Verdana"/>
                  </a:rPr>
                  <a:t> millimeters.</a:t>
                </a:r>
              </a:p>
              <a:p>
                <a:pPr marL="628650" indent="-514350">
                  <a:buFont typeface="+mj-lt"/>
                  <a:buAutoNum type="arabicPeriod" startAt="8"/>
                </a:pPr>
                <a:endParaRPr lang="en-US" sz="2000" dirty="0">
                  <a:latin typeface="Verdana"/>
                  <a:ea typeface="Verdana"/>
                  <a:cs typeface="Verdana"/>
                </a:endParaRPr>
              </a:p>
              <a:p>
                <a:pPr marL="628650" indent="-514350">
                  <a:buFont typeface="+mj-lt"/>
                  <a:buAutoNum type="arabicPeriod" startAt="8"/>
                </a:pPr>
                <a:endParaRPr lang="en-US" sz="2000" dirty="0">
                  <a:latin typeface="Verdana"/>
                  <a:ea typeface="Verdana"/>
                  <a:cs typeface="Verdana"/>
                </a:endParaRPr>
              </a:p>
              <a:p>
                <a:pPr marL="628650" indent="-514350">
                  <a:buFont typeface="+mj-lt"/>
                  <a:buAutoNum type="arabicPeriod" startAt="8"/>
                </a:pPr>
                <a:endParaRPr lang="en-PH" sz="2000" dirty="0">
                  <a:latin typeface="Verdana"/>
                  <a:ea typeface="Verdana"/>
                  <a:cs typeface="Cambria Math"/>
                </a:endParaRPr>
              </a:p>
              <a:p>
                <a:pPr marL="628650" indent="-514350">
                  <a:buFont typeface="+mj-lt"/>
                  <a:buAutoNum type="arabicPeriod" startAt="8"/>
                </a:pPr>
                <a:r>
                  <a:rPr lang="en-US" sz="2000" dirty="0">
                    <a:latin typeface="Verdana"/>
                    <a:ea typeface="Cambria Math"/>
                    <a:cs typeface="Cambria Math"/>
                  </a:rPr>
                  <a:t>Mark an “X” above the bar that contains the mean and mark an “M” above the bar that contains the median.</a:t>
                </a:r>
              </a:p>
              <a:p>
                <a:pPr marL="457200" indent="-457200">
                  <a:buFont typeface="+mj-lt"/>
                  <a:buAutoNum type="arabicPeriod" startAt="8"/>
                </a:pPr>
                <a:endParaRPr lang="en-PH" sz="2000" dirty="0">
                  <a:latin typeface="Verdana"/>
                  <a:ea typeface="Cambria Math"/>
                  <a:cs typeface="Cambria Math"/>
                </a:endParaRPr>
              </a:p>
              <a:p>
                <a:pPr marL="457200" indent="-457200">
                  <a:buFont typeface="+mj-lt"/>
                  <a:buAutoNum type="arabicPeriod" startAt="8"/>
                </a:pPr>
                <a:endParaRPr lang="en-PH" sz="2000" dirty="0">
                  <a:latin typeface="Verdana"/>
                  <a:ea typeface="Cambria Math"/>
                  <a:cs typeface="Cambria Math"/>
                </a:endParaRPr>
              </a:p>
              <a:p>
                <a:pPr marL="457200" indent="-457200">
                  <a:buFont typeface="+mj-lt"/>
                  <a:buAutoNum type="arabicPeriod" startAt="8"/>
                </a:pPr>
                <a:endParaRPr lang="en-PH" sz="2000" dirty="0">
                  <a:latin typeface="Verdana"/>
                  <a:ea typeface="Cambria Math"/>
                  <a:cs typeface="Cambria Math"/>
                </a:endParaRPr>
              </a:p>
              <a:p>
                <a:pPr marL="628650" indent="-628650">
                  <a:buFont typeface="+mj-lt"/>
                  <a:buAutoNum type="arabicPeriod" startAt="8"/>
                </a:pPr>
                <a:r>
                  <a:rPr lang="en-US" sz="2000" dirty="0">
                    <a:latin typeface="Verdana"/>
                    <a:ea typeface="Verdana"/>
                    <a:cs typeface="Verdana"/>
                  </a:rPr>
                  <a:t>Discuss with your partner how the histogram would change if a </a:t>
                </a:r>
                <a14:m>
                  <m:oMath xmlns:m="http://schemas.openxmlformats.org/officeDocument/2006/math">
                    <m:r>
                      <a:rPr lang="en-US" sz="2000">
                        <a:latin typeface="Cambria Math"/>
                        <a:ea typeface="Verdana"/>
                        <a:cs typeface="Verdana"/>
                      </a:rPr>
                      <m:t>100</m:t>
                    </m:r>
                  </m:oMath>
                </a14:m>
                <a:r>
                  <a:rPr lang="en-US" sz="2000" dirty="0">
                    <a:latin typeface="Verdana"/>
                    <a:ea typeface="Verdana"/>
                    <a:cs typeface="Verdana"/>
                  </a:rPr>
                  <a:t>-millimeter long earthworm was added to the data set. Summarize your discussion.</a:t>
                </a:r>
                <a:endParaRPr lang="en-US" sz="2000" dirty="0">
                  <a:latin typeface="Verdana"/>
                  <a:ea typeface="Cambria Math"/>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905256" y="520393"/>
                <a:ext cx="10515600" cy="3785652"/>
              </a:xfrm>
              <a:prstGeom prst="rect">
                <a:avLst/>
              </a:prstGeom>
              <a:blipFill rotWithShape="1">
                <a:blip r:embed="rId4"/>
                <a:stretch>
                  <a:fillRect l="-638" t="-966" b="-1932"/>
                </a:stretch>
              </a:blipFill>
            </p:spPr>
            <p:txBody>
              <a:bodyPr/>
              <a:lstStyle/>
              <a:p>
                <a:r>
                  <a:rPr lang="en-PH">
                    <a:noFill/>
                  </a:rPr>
                  <a:t> </a:t>
                </a:r>
              </a:p>
            </p:txBody>
          </p:sp>
        </mc:Fallback>
      </mc:AlternateContent>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176</a:t>
            </a:r>
            <a:endParaRPr i="1" dirty="0">
              <a:latin typeface="Calibri"/>
              <a:ea typeface="Calibri"/>
              <a:cs typeface="Calibri"/>
              <a:sym typeface="Calibri"/>
            </a:endParaRPr>
          </a:p>
        </p:txBody>
      </p:sp>
    </p:spTree>
    <p:extLst>
      <p:ext uri="{BB962C8B-B14F-4D97-AF65-F5344CB8AC3E}">
        <p14:creationId xmlns:p14="http://schemas.microsoft.com/office/powerpoint/2010/main" val="3265039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70632"/>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863887" y="2790745"/>
            <a:ext cx="5389758" cy="3948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80626"/>
            <a:ext cx="105156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9.6.4 Try It: Analyzing Histograms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541272" y="1386026"/>
                <a:ext cx="10515600" cy="1323439"/>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In a study of wild bears, researchers measured the weights, in pounds (</a:t>
                </a:r>
                <a:r>
                  <a:rPr lang="en-US" sz="2000" dirty="0" err="1">
                    <a:latin typeface="Verdana"/>
                    <a:ea typeface="Verdana"/>
                    <a:cs typeface="Verdana"/>
                  </a:rPr>
                  <a:t>lb</a:t>
                </a:r>
                <a:r>
                  <a:rPr lang="en-US" sz="2000" dirty="0">
                    <a:latin typeface="Verdana"/>
                    <a:ea typeface="Verdana"/>
                    <a:cs typeface="Verdana"/>
                  </a:rPr>
                  <a:t>), of </a:t>
                </a:r>
                <a14:m>
                  <m:oMath xmlns:m="http://schemas.openxmlformats.org/officeDocument/2006/math">
                    <m:r>
                      <a:rPr lang="en-US" sz="2000">
                        <a:latin typeface="Cambria Math"/>
                        <a:ea typeface="Verdana"/>
                        <a:cs typeface="Verdana"/>
                      </a:rPr>
                      <m:t>143</m:t>
                    </m:r>
                  </m:oMath>
                </a14:m>
                <a:r>
                  <a:rPr lang="en-US" sz="2000" dirty="0">
                    <a:latin typeface="Verdana"/>
                    <a:ea typeface="Verdana"/>
                    <a:cs typeface="Verdana"/>
                  </a:rPr>
                  <a:t> wild bears that ranged in age from newborn to </a:t>
                </a:r>
                <a14:m>
                  <m:oMath xmlns:m="http://schemas.openxmlformats.org/officeDocument/2006/math">
                    <m:r>
                      <a:rPr lang="en-US" sz="2000">
                        <a:latin typeface="Cambria Math"/>
                        <a:ea typeface="Verdana"/>
                        <a:cs typeface="Verdana"/>
                      </a:rPr>
                      <m:t>15</m:t>
                    </m:r>
                  </m:oMath>
                </a14:m>
                <a:r>
                  <a:rPr lang="en-US" sz="2000" dirty="0">
                    <a:latin typeface="Verdana"/>
                    <a:ea typeface="Verdana"/>
                    <a:cs typeface="Verdana"/>
                  </a:rPr>
                  <a:t> years old. The data was used to make the histogram shown.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541272" y="1386026"/>
                <a:ext cx="10515600" cy="1323439"/>
              </a:xfrm>
              <a:prstGeom prst="rect">
                <a:avLst/>
              </a:prstGeom>
              <a:blipFill rotWithShape="1">
                <a:blip r:embed="rId6"/>
                <a:stretch>
                  <a:fillRect l="-638" t="-2765" r="-116"/>
                </a:stretch>
              </a:blipFill>
            </p:spPr>
            <p:txBody>
              <a:bodyPr/>
              <a:lstStyle/>
              <a:p>
                <a:r>
                  <a:rPr lang="en-PH">
                    <a:noFill/>
                  </a:rPr>
                  <a:t> </a:t>
                </a:r>
              </a:p>
            </p:txBody>
          </p:sp>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0150" y="4433978"/>
                <a:ext cx="10515600" cy="1569660"/>
              </a:xfrm>
              <a:prstGeom prst="rect">
                <a:avLst/>
              </a:prstGeom>
              <a:noFill/>
            </p:spPr>
            <p:txBody>
              <a:bodyPr wrap="square" rtlCol="0">
                <a:spAutoFit/>
              </a:bodyPr>
              <a:lstStyle/>
              <a:p>
                <a:pPr marL="914400" indent="-457200">
                  <a:buFont typeface="+mj-lt"/>
                  <a:buAutoNum type="alphaLcPeriod"/>
                </a:pPr>
                <a:r>
                  <a:rPr lang="en-US" sz="2400" dirty="0">
                    <a:latin typeface="Verdana"/>
                    <a:ea typeface="Verdana"/>
                    <a:cs typeface="Verdana"/>
                  </a:rPr>
                  <a:t>Could this sample contain a bear weighing </a:t>
                </a:r>
                <a14:m>
                  <m:oMath xmlns:m="http://schemas.openxmlformats.org/officeDocument/2006/math">
                    <m:r>
                      <a:rPr lang="en-US" sz="2400">
                        <a:latin typeface="Cambria Math"/>
                        <a:ea typeface="Verdana"/>
                        <a:cs typeface="Verdana"/>
                      </a:rPr>
                      <m:t>250</m:t>
                    </m:r>
                  </m:oMath>
                </a14:m>
                <a:r>
                  <a:rPr lang="en-US" sz="2400" dirty="0">
                    <a:latin typeface="Verdana"/>
                    <a:ea typeface="Verdana"/>
                    <a:cs typeface="Verdana"/>
                  </a:rPr>
                  <a:t> </a:t>
                </a:r>
                <a:r>
                  <a:rPr lang="en-US" sz="2400" dirty="0" err="1">
                    <a:latin typeface="Verdana"/>
                    <a:ea typeface="Verdana"/>
                    <a:cs typeface="Verdana"/>
                  </a:rPr>
                  <a:t>lbs</a:t>
                </a:r>
                <a:r>
                  <a:rPr lang="en-US" sz="2400" dirty="0">
                    <a:latin typeface="Verdana"/>
                    <a:ea typeface="Verdana"/>
                    <a:cs typeface="Verdana"/>
                  </a:rPr>
                  <a:t>? Explain. </a:t>
                </a:r>
              </a:p>
              <a:p>
                <a:pPr marL="914400" indent="-457200">
                  <a:buFont typeface="+mj-lt"/>
                  <a:buAutoNum type="alphaLcPeriod"/>
                </a:pPr>
                <a:endParaRPr lang="en-PH" sz="2400" dirty="0">
                  <a:latin typeface="Verdana"/>
                  <a:ea typeface="Verdana"/>
                  <a:cs typeface="Verdana"/>
                </a:endParaRPr>
              </a:p>
              <a:p>
                <a:pPr marL="914400" indent="-457200">
                  <a:buFont typeface="+mj-lt"/>
                  <a:buAutoNum type="alphaLcPeriod"/>
                </a:pPr>
                <a:endParaRPr lang="en-PH" sz="2400" dirty="0">
                  <a:latin typeface="Verdana"/>
                  <a:ea typeface="Verdana"/>
                  <a:cs typeface="Verdana"/>
                </a:endParaRPr>
              </a:p>
              <a:p>
                <a:pPr marL="914400" indent="-457200">
                  <a:buFont typeface="+mj-lt"/>
                  <a:buAutoNum type="alphaLcPeriod"/>
                </a:pPr>
                <a:r>
                  <a:rPr lang="en-US" sz="2400" dirty="0">
                    <a:latin typeface="Verdana"/>
                    <a:ea typeface="Verdana"/>
                    <a:cs typeface="Verdana"/>
                  </a:rPr>
                  <a:t>Mark a “</a:t>
                </a:r>
                <a14:m>
                  <m:oMath xmlns:m="http://schemas.openxmlformats.org/officeDocument/2006/math">
                    <m:r>
                      <a:rPr lang="en-US" sz="2400" i="1">
                        <a:latin typeface="Cambria Math"/>
                        <a:ea typeface="Verdana"/>
                        <a:cs typeface="Verdana"/>
                      </a:rPr>
                      <m:t>∗</m:t>
                    </m:r>
                  </m:oMath>
                </a14:m>
                <a:r>
                  <a:rPr lang="en-US" sz="2400" dirty="0">
                    <a:latin typeface="Verdana"/>
                    <a:ea typeface="Verdana"/>
                    <a:cs typeface="Verdana"/>
                  </a:rPr>
                  <a:t>” above that bar that would contain a </a:t>
                </a:r>
                <a14:m>
                  <m:oMath xmlns:m="http://schemas.openxmlformats.org/officeDocument/2006/math">
                    <m:r>
                      <a:rPr lang="en-US" sz="2400">
                        <a:latin typeface="Cambria Math"/>
                        <a:ea typeface="Verdana"/>
                        <a:cs typeface="Verdana"/>
                      </a:rPr>
                      <m:t>250</m:t>
                    </m:r>
                  </m:oMath>
                </a14:m>
                <a:r>
                  <a:rPr lang="en-US" sz="2400" dirty="0">
                    <a:latin typeface="Verdana"/>
                    <a:ea typeface="Verdana"/>
                    <a:cs typeface="Verdana"/>
                  </a:rPr>
                  <a:t>-</a:t>
                </a:r>
                <a:r>
                  <a:rPr lang="en-US" sz="2400" dirty="0" err="1">
                    <a:latin typeface="Verdana"/>
                    <a:ea typeface="Verdana"/>
                    <a:cs typeface="Verdana"/>
                  </a:rPr>
                  <a:t>lb</a:t>
                </a:r>
                <a:r>
                  <a:rPr lang="en-US" sz="2400" dirty="0">
                    <a:latin typeface="Verdana"/>
                    <a:ea typeface="Verdana"/>
                    <a:cs typeface="Verdana"/>
                  </a:rPr>
                  <a:t> bear.</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50150" y="4433978"/>
                <a:ext cx="10515600" cy="1569660"/>
              </a:xfrm>
              <a:prstGeom prst="rect">
                <a:avLst/>
              </a:prstGeom>
              <a:blipFill rotWithShape="1">
                <a:blip r:embed="rId4"/>
                <a:stretch>
                  <a:fillRect t="-3488" b="-7364"/>
                </a:stretch>
              </a:blipFill>
            </p:spPr>
            <p:txBody>
              <a:bodyPr/>
              <a:lstStyle/>
              <a:p>
                <a:r>
                  <a:rPr lang="en-PH">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pic>
        <p:nvPicPr>
          <p:cNvPr id="7" name="Picture 2">
            <a:extLst>
              <a:ext uri="{FF2B5EF4-FFF2-40B4-BE49-F238E27FC236}">
                <a16:creationId xmlns:a16="http://schemas.microsoft.com/office/drawing/2014/main" id="{4EC0F287-1E55-45F9-8225-D1218252F4A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046015" y="328763"/>
            <a:ext cx="5389758" cy="3948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8354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23516" y="3752830"/>
                <a:ext cx="11668484" cy="2677656"/>
              </a:xfrm>
              <a:prstGeom prst="rect">
                <a:avLst/>
              </a:prstGeom>
              <a:noFill/>
            </p:spPr>
            <p:txBody>
              <a:bodyPr wrap="square" rtlCol="0">
                <a:spAutoFit/>
              </a:bodyPr>
              <a:lstStyle/>
              <a:p>
                <a:pPr marL="914400" indent="-457200">
                  <a:buFont typeface="+mj-lt"/>
                  <a:buAutoNum type="alphaLcPeriod" startAt="3"/>
                </a:pPr>
                <a:r>
                  <a:rPr lang="en-US" sz="2400" dirty="0">
                    <a:latin typeface="Verdana"/>
                    <a:ea typeface="Verdana"/>
                    <a:cs typeface="Verdana"/>
                  </a:rPr>
                  <a:t>Based on the graph, what can be concluded about the weight of the heaviest bear?</a:t>
                </a:r>
              </a:p>
              <a:p>
                <a:pPr marL="914400" indent="-457200">
                  <a:buFont typeface="+mj-lt"/>
                  <a:buAutoNum type="alphaLcPeriod" startAt="3"/>
                </a:pPr>
                <a:endParaRPr lang="en-PH" sz="2400" dirty="0">
                  <a:latin typeface="Verdana"/>
                  <a:ea typeface="Verdana"/>
                  <a:cs typeface="Verdana"/>
                </a:endParaRPr>
              </a:p>
              <a:p>
                <a:pPr marL="914400" indent="-457200">
                  <a:buFont typeface="+mj-lt"/>
                  <a:buAutoNum type="alphaLcPeriod" startAt="3"/>
                </a:pPr>
                <a:r>
                  <a:rPr lang="en-US" sz="2400" dirty="0">
                    <a:latin typeface="Verdana"/>
                    <a:ea typeface="Verdana"/>
                    <a:cs typeface="Verdana"/>
                  </a:rPr>
                  <a:t>What is a typical weight for the bears in this graph? Include units.</a:t>
                </a:r>
              </a:p>
              <a:p>
                <a:pPr marL="914400" indent="-457200">
                  <a:buFont typeface="+mj-lt"/>
                  <a:buAutoNum type="alphaLcPeriod" startAt="3"/>
                </a:pPr>
                <a:endParaRPr lang="en-PH" sz="2400" dirty="0">
                  <a:latin typeface="Verdana"/>
                  <a:ea typeface="Verdana"/>
                  <a:cs typeface="Verdana"/>
                </a:endParaRPr>
              </a:p>
              <a:p>
                <a:pPr marL="914400" indent="-457200">
                  <a:buFont typeface="+mj-lt"/>
                  <a:buAutoNum type="alphaLcPeriod" startAt="3"/>
                </a:pPr>
                <a:r>
                  <a:rPr lang="en-US" sz="2400" dirty="0">
                    <a:latin typeface="Verdana"/>
                    <a:ea typeface="Verdana"/>
                    <a:cs typeface="Verdana"/>
                  </a:rPr>
                  <a:t>Do more than half of the bears in the study weigh less than </a:t>
                </a:r>
                <a:br>
                  <a:rPr lang="en-PH" sz="2400" dirty="0">
                    <a:latin typeface="Cambria Math"/>
                    <a:ea typeface="Verdana"/>
                    <a:cs typeface="Verdana"/>
                  </a:rPr>
                </a:br>
                <a14:m>
                  <m:oMath xmlns:m="http://schemas.openxmlformats.org/officeDocument/2006/math">
                    <m:r>
                      <a:rPr lang="en-US" sz="2400">
                        <a:latin typeface="Cambria Math"/>
                        <a:ea typeface="Verdana"/>
                        <a:cs typeface="Verdana"/>
                      </a:rPr>
                      <m:t>250</m:t>
                    </m:r>
                  </m:oMath>
                </a14:m>
                <a:r>
                  <a:rPr lang="en-US" sz="2400" dirty="0">
                    <a:latin typeface="Verdana"/>
                    <a:ea typeface="Verdana"/>
                    <a:cs typeface="Verdana"/>
                  </a:rPr>
                  <a:t> </a:t>
                </a:r>
                <a:r>
                  <a:rPr lang="en-US" sz="2400" dirty="0" err="1">
                    <a:latin typeface="Verdana"/>
                    <a:ea typeface="Verdana"/>
                    <a:cs typeface="Verdana"/>
                  </a:rPr>
                  <a:t>lbs</a:t>
                </a:r>
                <a:r>
                  <a:rPr lang="en-US" sz="2400" dirty="0">
                    <a:latin typeface="Verdana"/>
                    <a:ea typeface="Verdana"/>
                    <a:cs typeface="Verdana"/>
                  </a:rPr>
                  <a: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23516" y="3752830"/>
                <a:ext cx="11668484" cy="2677656"/>
              </a:xfrm>
              <a:prstGeom prst="rect">
                <a:avLst/>
              </a:prstGeom>
              <a:blipFill rotWithShape="1">
                <a:blip r:embed="rId4"/>
                <a:stretch>
                  <a:fillRect t="-1822" r="-731" b="-4100"/>
                </a:stretch>
              </a:blipFill>
            </p:spPr>
            <p:txBody>
              <a:bodyPr/>
              <a:lstStyle/>
              <a:p>
                <a:r>
                  <a:rPr lang="en-PH">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177</a:t>
            </a:r>
            <a:endParaRPr i="1" dirty="0">
              <a:latin typeface="Calibri"/>
              <a:ea typeface="Calibri"/>
              <a:cs typeface="Calibri"/>
              <a:sym typeface="Calibri"/>
            </a:endParaRPr>
          </a:p>
        </p:txBody>
      </p:sp>
      <p:pic>
        <p:nvPicPr>
          <p:cNvPr id="7" name="Picture 2">
            <a:extLst>
              <a:ext uri="{FF2B5EF4-FFF2-40B4-BE49-F238E27FC236}">
                <a16:creationId xmlns:a16="http://schemas.microsoft.com/office/drawing/2014/main" id="{0CE5FB72-F31C-4E3D-97A6-6A3C13E542C6}"/>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235605" y="121311"/>
            <a:ext cx="4957312" cy="363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297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770632"/>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9.6.5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905256" y="1419569"/>
                <a:ext cx="10515600" cy="2246769"/>
              </a:xfrm>
              <a:prstGeom prst="rect">
                <a:avLst/>
              </a:prstGeom>
              <a:noFill/>
            </p:spPr>
            <p:txBody>
              <a:bodyPr wrap="square" rtlCol="0">
                <a:spAutoFit/>
              </a:bodyPr>
              <a:lstStyle/>
              <a:p>
                <a:pPr marL="457200" indent="-457200">
                  <a:buFont typeface="+mj-lt"/>
                  <a:buAutoNum type="arabicPeriod"/>
                </a:pPr>
                <a:r>
                  <a:rPr lang="en-US" sz="2000" dirty="0">
                    <a:highlight>
                      <a:srgbClr val="FFFFFF"/>
                    </a:highlight>
                    <a:latin typeface="Verdana"/>
                    <a:ea typeface="Verdana"/>
                    <a:cs typeface="Verdana"/>
                  </a:rPr>
                  <a:t>The histogram summarizes the </a:t>
                </a:r>
                <a:br>
                  <a:rPr lang="en-US" sz="2000" dirty="0">
                    <a:highlight>
                      <a:srgbClr val="FFFFFF"/>
                    </a:highlight>
                    <a:latin typeface="Verdana"/>
                    <a:ea typeface="Verdana"/>
                    <a:cs typeface="Verdana"/>
                  </a:rPr>
                </a:br>
                <a:r>
                  <a:rPr lang="en-US" sz="2000" dirty="0">
                    <a:highlight>
                      <a:srgbClr val="FFFFFF"/>
                    </a:highlight>
                    <a:latin typeface="Verdana"/>
                    <a:ea typeface="Verdana"/>
                    <a:cs typeface="Verdana"/>
                  </a:rPr>
                  <a:t>data on the body lengths of the </a:t>
                </a:r>
                <a:br>
                  <a:rPr lang="en-US" sz="2000" dirty="0">
                    <a:highlight>
                      <a:srgbClr val="FFFFFF"/>
                    </a:highlight>
                    <a:latin typeface="Verdana"/>
                    <a:ea typeface="Verdana"/>
                    <a:cs typeface="Verdana"/>
                  </a:rPr>
                </a:br>
                <a:r>
                  <a:rPr lang="en-US" sz="2000" dirty="0">
                    <a:highlight>
                      <a:srgbClr val="FFFFFF"/>
                    </a:highlight>
                    <a:latin typeface="Verdana"/>
                    <a:ea typeface="Verdana"/>
                    <a:cs typeface="Verdana"/>
                  </a:rPr>
                  <a:t>same </a:t>
                </a:r>
                <a14:m>
                  <m:oMath xmlns:m="http://schemas.openxmlformats.org/officeDocument/2006/math">
                    <m:r>
                      <a:rPr lang="en-US" sz="2000">
                        <a:highlight>
                          <a:srgbClr val="FFFFFF"/>
                        </a:highlight>
                        <a:latin typeface="Cambria Math"/>
                        <a:ea typeface="Cambria Math"/>
                        <a:cs typeface="Cambria Math"/>
                      </a:rPr>
                      <m:t>143</m:t>
                    </m:r>
                  </m:oMath>
                </a14:m>
                <a:r>
                  <a:rPr lang="en-US" sz="2000" dirty="0">
                    <a:highlight>
                      <a:srgbClr val="FFFFFF"/>
                    </a:highlight>
                    <a:latin typeface="Verdana"/>
                    <a:ea typeface="Verdana"/>
                    <a:cs typeface="Verdana"/>
                  </a:rPr>
                  <a:t> wild bears.</a:t>
                </a:r>
              </a:p>
              <a:p>
                <a:pPr marL="457200" indent="-457200">
                  <a:buFont typeface="+mj-lt"/>
                  <a:buAutoNum type="arabicPeriod"/>
                </a:pPr>
                <a:endParaRPr lang="en-US" sz="2000" dirty="0">
                  <a:highlight>
                    <a:srgbClr val="FFFFFF"/>
                  </a:highlight>
                  <a:latin typeface="Verdana"/>
                  <a:ea typeface="Verdana"/>
                  <a:cs typeface="Verdana"/>
                </a:endParaRPr>
              </a:p>
              <a:p>
                <a:pPr marL="914400" indent="-457200">
                  <a:buFont typeface="+mj-lt"/>
                  <a:buAutoNum type="alphaLcPeriod"/>
                </a:pPr>
                <a:r>
                  <a:rPr lang="en-US" sz="2000" dirty="0">
                    <a:latin typeface="Verdana"/>
                    <a:ea typeface="Verdana"/>
                    <a:cs typeface="Verdana"/>
                  </a:rPr>
                  <a:t>Does this sample contain a </a:t>
                </a:r>
                <a:br>
                  <a:rPr lang="en-US" sz="2000" dirty="0">
                    <a:latin typeface="Verdana"/>
                    <a:ea typeface="Verdana"/>
                    <a:cs typeface="Verdana"/>
                  </a:rPr>
                </a:br>
                <a:r>
                  <a:rPr lang="en-US" sz="2000" dirty="0">
                    <a:latin typeface="Verdana"/>
                    <a:ea typeface="Verdana"/>
                    <a:cs typeface="Verdana"/>
                  </a:rPr>
                  <a:t>bear that is </a:t>
                </a:r>
                <a14:m>
                  <m:oMath xmlns:m="http://schemas.openxmlformats.org/officeDocument/2006/math">
                    <m:r>
                      <a:rPr lang="en-US" sz="2000">
                        <a:latin typeface="Cambria Math"/>
                        <a:ea typeface="Verdana"/>
                        <a:cs typeface="Verdana"/>
                      </a:rPr>
                      <m:t>85</m:t>
                    </m:r>
                  </m:oMath>
                </a14:m>
                <a:r>
                  <a:rPr lang="en-US" sz="2000" dirty="0">
                    <a:latin typeface="Verdana"/>
                    <a:ea typeface="Verdana"/>
                    <a:cs typeface="Verdana"/>
                  </a:rPr>
                  <a:t> inches long? </a:t>
                </a:r>
                <a:br>
                  <a:rPr lang="en-US" sz="2000" dirty="0">
                    <a:latin typeface="Verdana"/>
                    <a:ea typeface="Verdana"/>
                    <a:cs typeface="Verdana"/>
                  </a:rPr>
                </a:br>
                <a:r>
                  <a:rPr lang="en-US" sz="2000" dirty="0">
                    <a:latin typeface="Verdana"/>
                    <a:ea typeface="Verdana"/>
                    <a:cs typeface="Verdana"/>
                  </a:rPr>
                  <a:t>Explain your reasoning.</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905256" y="1419569"/>
                <a:ext cx="10515600" cy="2246769"/>
              </a:xfrm>
              <a:prstGeom prst="rect">
                <a:avLst/>
              </a:prstGeom>
              <a:blipFill>
                <a:blip r:embed="rId5"/>
                <a:stretch>
                  <a:fillRect l="-603" t="-1685" b="-3933"/>
                </a:stretch>
              </a:blipFill>
            </p:spPr>
            <p:txBody>
              <a:bodyPr/>
              <a:lstStyle/>
              <a:p>
                <a:r>
                  <a:rPr lang="en-US">
                    <a:noFill/>
                  </a:rPr>
                  <a:t> </a:t>
                </a:r>
              </a:p>
            </p:txBody>
          </p:sp>
        </mc:Fallback>
      </mc:AlternateContent>
      <p:pic>
        <p:nvPicPr>
          <p:cNvPr id="6147" name="Picture 3"/>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6872098" y="1386025"/>
            <a:ext cx="3515486" cy="403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23517" y="404984"/>
            <a:ext cx="6862705" cy="3785652"/>
          </a:xfrm>
          <a:prstGeom prst="rect">
            <a:avLst/>
          </a:prstGeom>
          <a:noFill/>
        </p:spPr>
        <p:txBody>
          <a:bodyPr wrap="square" rtlCol="0">
            <a:spAutoFit/>
          </a:bodyPr>
          <a:lstStyle/>
          <a:p>
            <a:pPr marL="900113" indent="-457200">
              <a:buFont typeface="+mj-lt"/>
              <a:buAutoNum type="alphaLcPeriod" startAt="2"/>
            </a:pPr>
            <a:r>
              <a:rPr lang="en-US" sz="2400" dirty="0">
                <a:latin typeface="Verdana"/>
                <a:ea typeface="Verdana"/>
                <a:cs typeface="Verdana"/>
              </a:rPr>
              <a:t>What is a typical length for the bears in this sample? Include units.</a:t>
            </a:r>
          </a:p>
          <a:p>
            <a:pPr marL="900113" indent="-457200">
              <a:buFont typeface="+mj-lt"/>
              <a:buAutoNum type="alphaLcPeriod" startAt="2"/>
            </a:pPr>
            <a:endParaRPr lang="en-PH" sz="2400" dirty="0">
              <a:latin typeface="Verdana"/>
              <a:ea typeface="Verdana"/>
              <a:cs typeface="Verdana"/>
            </a:endParaRPr>
          </a:p>
          <a:p>
            <a:pPr marL="900113" indent="-457200">
              <a:buFont typeface="+mj-lt"/>
              <a:buAutoNum type="alphaLcPeriod" startAt="2"/>
            </a:pPr>
            <a:endParaRPr lang="en-PH" sz="2400" dirty="0">
              <a:latin typeface="Verdana"/>
              <a:ea typeface="Verdana"/>
              <a:cs typeface="Verdana"/>
            </a:endParaRPr>
          </a:p>
          <a:p>
            <a:pPr marL="900113" indent="-457200">
              <a:buFont typeface="+mj-lt"/>
              <a:buAutoNum type="alphaLcPeriod" startAt="2"/>
            </a:pPr>
            <a:endParaRPr lang="en-PH" sz="2400" dirty="0">
              <a:latin typeface="Verdana"/>
              <a:ea typeface="Verdana"/>
              <a:cs typeface="Verdana"/>
            </a:endParaRPr>
          </a:p>
          <a:p>
            <a:pPr marL="900113" indent="-457200">
              <a:buFont typeface="+mj-lt"/>
              <a:buAutoNum type="alphaLcPeriod" startAt="2"/>
            </a:pPr>
            <a:endParaRPr lang="en-PH" sz="2400" dirty="0">
              <a:latin typeface="Verdana"/>
              <a:ea typeface="Verdana"/>
              <a:cs typeface="Verdana"/>
            </a:endParaRPr>
          </a:p>
          <a:p>
            <a:pPr marL="900113" indent="-457200">
              <a:buFont typeface="+mj-lt"/>
              <a:buAutoNum type="alphaLcPeriod" startAt="2"/>
            </a:pPr>
            <a:endParaRPr lang="en-US" sz="2400" dirty="0">
              <a:latin typeface="Verdana"/>
              <a:ea typeface="Verdana"/>
              <a:cs typeface="Verdana"/>
            </a:endParaRPr>
          </a:p>
          <a:p>
            <a:pPr marL="900113" indent="-457200">
              <a:buFont typeface="+mj-lt"/>
              <a:buAutoNum type="alphaLcPeriod" startAt="2"/>
            </a:pPr>
            <a:endParaRPr lang="en-PH" sz="2400" dirty="0">
              <a:latin typeface="Verdana"/>
              <a:ea typeface="Verdana"/>
              <a:cs typeface="Verdana" panose="020B0604030504040204" pitchFamily="34" charset="0"/>
            </a:endParaRPr>
          </a:p>
          <a:p>
            <a:pPr marL="900113" indent="-457200">
              <a:buFont typeface="+mj-lt"/>
              <a:buAutoNum type="alphaLcPeriod" startAt="2"/>
            </a:pPr>
            <a:r>
              <a:rPr lang="en-US" sz="2400" dirty="0">
                <a:latin typeface="Verdana"/>
                <a:ea typeface="Verdana"/>
                <a:cs typeface="Verdana"/>
              </a:rPr>
              <a:t>Is the spread larger for the weight of bears or the length of bears?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pic>
        <p:nvPicPr>
          <p:cNvPr id="8"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15626" y="404984"/>
            <a:ext cx="3515486" cy="403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6860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770632"/>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image1.png" descr="A close up of a flower&#10;&#10;Description automatically generated"/>
          <p:cNvPicPr/>
          <p:nvPr/>
        </p:nvPicPr>
        <p:blipFill>
          <a:blip r:embed="rId3"/>
          <a:srcRect/>
          <a:stretch>
            <a:fillRect/>
          </a:stretch>
        </p:blipFill>
        <p:spPr>
          <a:xfrm>
            <a:off x="3950716" y="2739944"/>
            <a:ext cx="4546600" cy="4056480"/>
          </a:xfrm>
          <a:prstGeom prst="rect">
            <a:avLst/>
          </a:prstGeom>
          <a:ln/>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29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9.6.6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05256" y="1386026"/>
            <a:ext cx="10515600" cy="1323439"/>
          </a:xfrm>
          <a:prstGeom prst="rect">
            <a:avLst/>
          </a:prstGeom>
          <a:noFill/>
        </p:spPr>
        <p:txBody>
          <a:bodyPr wrap="square" rtlCol="0">
            <a:spAutoFit/>
          </a:bodyPr>
          <a:lstStyle/>
          <a:p>
            <a:pPr marL="457200" indent="-457200">
              <a:buFont typeface="+mj-lt"/>
              <a:buAutoNum type="arabicPeriod"/>
            </a:pPr>
            <a:r>
              <a:rPr lang="en-US" sz="2000" dirty="0">
                <a:highlight>
                  <a:srgbClr val="FFFFFF"/>
                </a:highlight>
                <a:latin typeface="Verdana"/>
                <a:ea typeface="Verdana"/>
                <a:cs typeface="Verdana"/>
              </a:rPr>
              <a:t>Plot a point in one of the quadrants below to indicate your level of understanding of today’s learning target: “</a:t>
            </a:r>
            <a:r>
              <a:rPr lang="en-US" sz="2000" dirty="0">
                <a:latin typeface="Verdana"/>
                <a:ea typeface="Verdana"/>
                <a:cs typeface="Verdana"/>
              </a:rPr>
              <a:t>I can qualitatively describe and interpret a histogram within a real-world context.”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178</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96414E7F-AC3B-466C-98E2-9A60FB306AFE}"/>
</file>

<file path=customXml/itemProps2.xml><?xml version="1.0" encoding="utf-8"?>
<ds:datastoreItem xmlns:ds="http://schemas.openxmlformats.org/officeDocument/2006/customXml" ds:itemID="{9E4446FC-EE45-4F08-8497-5A450125D904}"/>
</file>

<file path=customXml/itemProps3.xml><?xml version="1.0" encoding="utf-8"?>
<ds:datastoreItem xmlns:ds="http://schemas.openxmlformats.org/officeDocument/2006/customXml" ds:itemID="{33A79EB3-625D-4138-8226-35DFFA651B94}"/>
</file>

<file path=docProps/app.xml><?xml version="1.0" encoding="utf-8"?>
<Properties xmlns="http://schemas.openxmlformats.org/officeDocument/2006/extended-properties" xmlns:vt="http://schemas.openxmlformats.org/officeDocument/2006/docPropsVTypes">
  <TotalTime>1369</TotalTime>
  <Words>1207</Words>
  <Application>Microsoft Office PowerPoint</Application>
  <PresentationFormat>Widescreen</PresentationFormat>
  <Paragraphs>204</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Verdana</vt:lpstr>
      <vt:lpstr>Courier New</vt:lpstr>
      <vt:lpstr>Century Gothic</vt:lpstr>
      <vt:lpstr>Arial</vt:lpstr>
      <vt:lpstr>Cambria Math</vt:lpstr>
      <vt:lpstr>Calibri</vt:lpstr>
      <vt:lpstr>Arial Black</vt:lpstr>
      <vt:lpstr>1_Office Theme</vt:lpstr>
      <vt:lpstr>6th Grade Math  Unit 9, Lesson 6  Describing and Interpreting Histograms –  Part 1  Volume 2, pg. 173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40</cp:revision>
  <dcterms:created xsi:type="dcterms:W3CDTF">2015-03-17T18:51:18Z</dcterms:created>
  <dcterms:modified xsi:type="dcterms:W3CDTF">2022-07-09T07:00:07Z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