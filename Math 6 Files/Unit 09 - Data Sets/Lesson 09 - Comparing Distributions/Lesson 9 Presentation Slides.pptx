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352" r:id="rId10"/>
    <p:sldId id="323" r:id="rId11"/>
    <p:sldId id="324" r:id="rId12"/>
    <p:sldId id="357" r:id="rId13"/>
    <p:sldId id="363" r:id="rId14"/>
    <p:sldId id="364" r:id="rId15"/>
    <p:sldId id="365" r:id="rId16"/>
    <p:sldId id="362" r:id="rId17"/>
    <p:sldId id="302" r:id="rId18"/>
    <p:sldId id="303" r:id="rId19"/>
    <p:sldId id="360" r:id="rId20"/>
    <p:sldId id="368" r:id="rId21"/>
    <p:sldId id="367" r:id="rId22"/>
    <p:sldId id="366" r:id="rId23"/>
    <p:sldId id="369" r:id="rId24"/>
    <p:sldId id="370" r:id="rId25"/>
    <p:sldId id="306" r:id="rId26"/>
    <p:sldId id="307" r:id="rId27"/>
    <p:sldId id="361" r:id="rId28"/>
  </p:sldIdLst>
  <p:sldSz cx="12192000" cy="6858000"/>
  <p:notesSz cx="6858000" cy="9144000"/>
  <p:embeddedFontLst>
    <p:embeddedFont>
      <p:font typeface="Cambria Math" pitchFamily="18" charset="0"/>
      <p:regular r:id="rId30"/>
    </p:embeddedFont>
    <p:embeddedFont>
      <p:font typeface="Arial Black" pitchFamily="34" charset="0"/>
      <p:bold r:id="rId31"/>
    </p:embeddedFont>
    <p:embeddedFont>
      <p:font typeface="Verdana" pitchFamily="34" charset="0"/>
      <p:regular r:id="rId32"/>
      <p:bold r:id="rId33"/>
      <p:italic r:id="rId34"/>
      <p:boldItalic r:id="rId35"/>
    </p:embeddedFont>
    <p:embeddedFont>
      <p:font typeface="Calibri" pitchFamily="34" charset="0"/>
      <p:regular r:id="rId36"/>
      <p:bold r:id="rId37"/>
      <p:italic r:id="rId38"/>
      <p:boldItalic r:id="rId39"/>
    </p:embeddedFont>
    <p:embeddedFont>
      <p:font typeface="Century Gothic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65B0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44"/>
    <p:restoredTop sz="94725"/>
  </p:normalViewPr>
  <p:slideViewPr>
    <p:cSldViewPr snapToGrid="0">
      <p:cViewPr varScale="1">
        <p:scale>
          <a:sx n="105" d="100"/>
          <a:sy n="105" d="100"/>
        </p:scale>
        <p:origin x="-948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2858713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9316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06321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16925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89123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23615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90995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74609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54149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38112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74168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13117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6439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jp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tiff"/><Relationship Id="rId5" Type="http://schemas.openxmlformats.org/officeDocument/2006/relationships/image" Target="../media/image19.tiff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tiff"/><Relationship Id="rId5" Type="http://schemas.openxmlformats.org/officeDocument/2006/relationships/image" Target="../media/image23.tiff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9.tif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tiff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9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Comparing Distributions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193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xmlns="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97002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-9144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14400" y="1611086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6.DP.1.2 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numerical data set within a real-world context, find and interpret mean, median, mode, and range.</a:t>
            </a:r>
          </a:p>
          <a:p>
            <a:pPr indent="0">
              <a:buNone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6.DP.1.4 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histogram or line plot within a real-world context, qualitatively describe and interpret the spread and distribution of the data, including any symmetry, skewness, gaps, clusters, outliers, and the range.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EDE13776-48A2-8C43-A641-09AE0250A74B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000" y="113173"/>
            <a:ext cx="105156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14400" y="159639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68AEE495-3218-054E-A73D-12C9464FA7E9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2743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find and interpret mean and median of data sets.</a:t>
            </a:r>
          </a:p>
          <a:p>
            <a:pPr marL="342900" indent="-342900">
              <a:buFont typeface="Wingdings" pitchFamily="2" charset="2"/>
              <a:buChar char="q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use mean and median to compare data sets.</a:t>
            </a:r>
          </a:p>
          <a:p>
            <a:pPr marL="342900" indent="-342900">
              <a:buFont typeface="Wingdings" pitchFamily="2" charset="2"/>
              <a:buChar char="q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compare the distribution of data sets.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DCE8F3AA-EC50-6F44-9304-25FE4F06F6B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770632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FBB67F56-D3C4-F74A-8249-C4BADF916A2B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400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9.9.1 Warm-Up: </a:t>
            </a: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</a:rPr>
              <a:t>Which One Doesn’t Belong? 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914400" y="1386024"/>
            <a:ext cx="5486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Which license plate doesn’t belong? Explain your reasoning.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9" name="Picture 8" descr="A picture containing text, outdoor, sign&#10;&#10;Description automatically generated">
            <a:extLst>
              <a:ext uri="{FF2B5EF4-FFF2-40B4-BE49-F238E27FC236}">
                <a16:creationId xmlns:a16="http://schemas.microsoft.com/office/drawing/2014/main" xmlns="" id="{3086CD93-870E-874F-A616-FA7E14E8D8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0800" y="1386025"/>
            <a:ext cx="4661764" cy="2931204"/>
          </a:xfrm>
          <a:prstGeom prst="rect">
            <a:avLst/>
          </a:prstGeom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E723A3CC-3172-C94C-905F-2D928DBEC14B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70248" y="2770632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770632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71A01B5-BD97-FF48-A72A-DB4DE6A0D98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15568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9.9.2 Collaboration: 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</a:rPr>
              <a:t>Comparing Distributions </a:t>
            </a:r>
            <a:endParaRPr lang="en-US" sz="36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44DF7DE-9172-3E4E-B74A-7A51585FB6EA}"/>
              </a:ext>
            </a:extLst>
          </p:cNvPr>
          <p:cNvSpPr txBox="1"/>
          <p:nvPr/>
        </p:nvSpPr>
        <p:spPr>
          <a:xfrm>
            <a:off x="541538" y="1386026"/>
            <a:ext cx="10515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Clare recorded the amount of time students in the sixth, eighth, and tenth grades spent doing homework in hours per week. She made a line plot of the data for each grade and provided the following summary.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808038" lvl="1" indent="-350838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Students in sixth grade tend to spend less time on homework than students in eighth and tenth grades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b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08038" lvl="1" indent="-350838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homework times for the tenth-grade students are more alike than the homework times for the eighth-grade students.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7EDE6D36-8D3A-9B4D-9FDF-858FEA2D3C7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2661" y="38722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Clare's summary to match each line plot to the correct grade (sixth, eighth, or tenth).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124EAD7-E73C-CB4D-8B1D-0571018C03E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35741" y="1438533"/>
            <a:ext cx="5507706" cy="4957540"/>
          </a:xfrm>
          <a:prstGeom prst="rect">
            <a:avLst/>
          </a:prstGeom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C2A81C19-EB21-994D-BEF6-8D2D6AD3BFD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1022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770632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A6515C97-C21D-124D-9C73-FC43EA7E2A81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3657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9.9.3 Guided Practice: </a:t>
            </a: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</a:rPr>
              <a:t>Comparing Distributions </a:t>
            </a:r>
            <a:endParaRPr lang="en-US" sz="36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1D40250-DEDD-2C41-8538-3D4DD18CCC4A}"/>
              </a:ext>
            </a:extLst>
          </p:cNvPr>
          <p:cNvSpPr txBox="1"/>
          <p:nvPr/>
        </p:nvSpPr>
        <p:spPr>
          <a:xfrm>
            <a:off x="914400" y="1386026"/>
            <a:ext cx="10515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histogram and line plot of the number of goals scored by the top 15 women goal scorers during the 2019‑2020 NCAA Women’s Division 1 soccer season are shown. </a:t>
            </a: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xmlns="" id="{C8E0585B-1166-F942-8184-AB81189EDF53}"/>
              </a:ext>
            </a:extLst>
          </p:cNvPr>
          <p:cNvSpPr txBox="1"/>
          <p:nvPr/>
        </p:nvSpPr>
        <p:spPr>
          <a:xfrm rot="16200000">
            <a:off x="1320868" y="3835914"/>
            <a:ext cx="1731645" cy="45720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800" dirty="0">
                <a:latin typeface="Verdana" panose="020B0604030504040204" pitchFamily="34" charset="0"/>
                <a:ea typeface="Times New Roman" panose="02020603050405020304" pitchFamily="18" charset="0"/>
              </a:rPr>
              <a:t>Frequency</a:t>
            </a:r>
            <a:endParaRPr lang="en-US" sz="1200" dirty="0"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13" name="Picture 12" descr="Chart, histogram&#10;&#10;Description automatically generated">
            <a:extLst>
              <a:ext uri="{FF2B5EF4-FFF2-40B4-BE49-F238E27FC236}">
                <a16:creationId xmlns:a16="http://schemas.microsoft.com/office/drawing/2014/main" xmlns="" id="{27941D57-A4BF-454D-AEFF-38B7B57D4DD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4759"/>
          <a:stretch/>
        </p:blipFill>
        <p:spPr bwMode="auto">
          <a:xfrm>
            <a:off x="2349606" y="3147143"/>
            <a:ext cx="3977833" cy="227661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Picture 13" descr="Chart, scatter chart&#10;&#10;Description automatically generated">
            <a:extLst>
              <a:ext uri="{FF2B5EF4-FFF2-40B4-BE49-F238E27FC236}">
                <a16:creationId xmlns:a16="http://schemas.microsoft.com/office/drawing/2014/main" xmlns="" id="{A320FDB2-56ED-6742-B9FA-5B32412C371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0531" b="10149"/>
          <a:stretch/>
        </p:blipFill>
        <p:spPr bwMode="auto">
          <a:xfrm>
            <a:off x="6543595" y="4519281"/>
            <a:ext cx="4030164" cy="86808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Text Box 9">
            <a:extLst>
              <a:ext uri="{FF2B5EF4-FFF2-40B4-BE49-F238E27FC236}">
                <a16:creationId xmlns:a16="http://schemas.microsoft.com/office/drawing/2014/main" xmlns="" id="{ED936D0B-6972-9E41-AB87-818B9C4D0A0C}"/>
              </a:ext>
            </a:extLst>
          </p:cNvPr>
          <p:cNvSpPr txBox="1"/>
          <p:nvPr/>
        </p:nvSpPr>
        <p:spPr>
          <a:xfrm>
            <a:off x="7469833" y="5302372"/>
            <a:ext cx="2167074" cy="45720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>
              <a:defRPr sz="1800">
                <a:effectLst/>
                <a:latin typeface="Verdana" panose="020B0604030504040204" pitchFamily="34" charset="0"/>
                <a:ea typeface="Times New Roman" panose="02020603050405020304" pitchFamily="18" charset="0"/>
              </a:defRPr>
            </a:lvl1pPr>
          </a:lstStyle>
          <a:p>
            <a:r>
              <a:rPr lang="en-US" dirty="0"/>
              <a:t>Number of Goals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xmlns="" id="{4C5C36DA-B677-C644-8078-554E80E51EED}"/>
              </a:ext>
            </a:extLst>
          </p:cNvPr>
          <p:cNvSpPr txBox="1"/>
          <p:nvPr/>
        </p:nvSpPr>
        <p:spPr>
          <a:xfrm>
            <a:off x="4208934" y="2608953"/>
            <a:ext cx="4030164" cy="76200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800" b="1" dirty="0">
                <a:latin typeface="Verdana" panose="020B0604030504040204" pitchFamily="34" charset="0"/>
                <a:ea typeface="Times New Roman" panose="02020603050405020304" pitchFamily="18" charset="0"/>
              </a:rPr>
              <a:t>2019-2020 NCAA Women’s Division 1 Soccer Top Scorers</a:t>
            </a:r>
            <a:endParaRPr lang="en-US" sz="1200" dirty="0"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xmlns="" id="{60FBA88E-58A1-7441-997B-0BC97BB78D4B}"/>
              </a:ext>
            </a:extLst>
          </p:cNvPr>
          <p:cNvSpPr txBox="1"/>
          <p:nvPr/>
        </p:nvSpPr>
        <p:spPr>
          <a:xfrm>
            <a:off x="3254984" y="5306166"/>
            <a:ext cx="2167074" cy="45720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>
              <a:defRPr sz="1800">
                <a:effectLst/>
                <a:latin typeface="Verdana" panose="020B0604030504040204" pitchFamily="34" charset="0"/>
                <a:ea typeface="Times New Roman" panose="02020603050405020304" pitchFamily="18" charset="0"/>
              </a:defRPr>
            </a:lvl1pPr>
          </a:lstStyle>
          <a:p>
            <a:r>
              <a:rPr lang="en-US" dirty="0"/>
              <a:t>Number of Goals</a:t>
            </a:r>
          </a:p>
        </p:txBody>
      </p:sp>
      <p:sp>
        <p:nvSpPr>
          <p:cNvPr id="17" name="Google Shape;282;g104476d1465_1_17">
            <a:extLst>
              <a:ext uri="{FF2B5EF4-FFF2-40B4-BE49-F238E27FC236}">
                <a16:creationId xmlns:a16="http://schemas.microsoft.com/office/drawing/2014/main" xmlns="" id="{0F4DCF4D-2652-DD4B-8FDF-B264EA386A2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41538" y="715703"/>
            <a:ext cx="10515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5" indent="-449263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				    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  can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 used to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5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5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the mean. </a:t>
            </a:r>
          </a:p>
          <a:p>
            <a:pPr marL="914400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5" indent="-449263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				    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  can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 used to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5" indent="-449263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5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the median.</a:t>
            </a:r>
          </a:p>
          <a:p>
            <a:pPr marL="914400" lvl="5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5" indent="-45720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Which measure of central tendency do you expect to be larger, the mean or the median? Explain your reasoning.</a:t>
            </a:r>
          </a:p>
          <a:p>
            <a:pPr marL="914400" lvl="5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xmlns="" id="{D1D235E0-AFE6-194F-9FEA-E4EB5A956819}"/>
              </a:ext>
            </a:extLst>
          </p:cNvPr>
          <p:cNvSpPr/>
          <p:nvPr/>
        </p:nvSpPr>
        <p:spPr>
          <a:xfrm>
            <a:off x="2288520" y="385907"/>
            <a:ext cx="3890338" cy="1308682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histogram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line plot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histogram and line plot 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xmlns="" id="{6BD819E4-8C93-A543-AF23-3BE36A205EBC}"/>
              </a:ext>
            </a:extLst>
          </p:cNvPr>
          <p:cNvSpPr/>
          <p:nvPr/>
        </p:nvSpPr>
        <p:spPr>
          <a:xfrm>
            <a:off x="2288519" y="2512181"/>
            <a:ext cx="3890338" cy="1308682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histogram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line plot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histogram and line plot 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932D3090-CFEF-434D-BC4F-938D6B8792C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4421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59294" y="392715"/>
            <a:ext cx="10515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table lists the data for the top 15 women goal scorers during the 2019-2020 NCAA Women’s Division 1 soccer season. 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5A1AEBD-2368-014E-81AA-F08B4FD607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647" y="1443386"/>
            <a:ext cx="6430706" cy="4756246"/>
          </a:xfrm>
          <a:prstGeom prst="rect">
            <a:avLst/>
          </a:prstGeom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461D513F-FD50-8F4A-8BDD-B4C8AF7EAF4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7245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2661" y="387229"/>
            <a:ext cx="10515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2" indent="-449263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mean number of goals. Interpret the mean.</a:t>
            </a:r>
          </a:p>
          <a:p>
            <a:pPr marL="914400" indent="-449263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49263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2" indent="-449263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median number of goals. Interpret the median.</a:t>
            </a:r>
          </a:p>
          <a:p>
            <a:pPr marL="914400" lvl="2" indent="-449263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2" indent="-449263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2" indent="-449263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2" indent="-449263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Which value is larger, the mean or the median? </a:t>
            </a:r>
          </a:p>
          <a:p>
            <a:pPr lvl="2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xmlns="" id="{EED3A921-D426-A14F-BF98-A7F5A12A1439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9324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2660" y="378351"/>
            <a:ext cx="10515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2" indent="-449263">
              <a:buFont typeface="+mj-lt"/>
              <a:buAutoNum type="alphaL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would the mean and median change if you found the mean goals and median goals for the top 8 scorers?</a:t>
            </a:r>
          </a:p>
          <a:p>
            <a:pPr marL="914400" lvl="2" indent="-449263">
              <a:buFont typeface="+mj-lt"/>
              <a:buAutoNum type="alphaLcPeriod" startAt="4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2" indent="-449263">
              <a:buFont typeface="+mj-lt"/>
              <a:buAutoNum type="alphaLcPeriod" startAt="4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2" indent="-449263">
              <a:buFont typeface="+mj-lt"/>
              <a:buAutoNum type="alphaLcPeriod" startAt="4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2" indent="-449263">
              <a:buFont typeface="+mj-lt"/>
              <a:buAutoNum type="alphaL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mean number of goals for the top 8 scorers.</a:t>
            </a:r>
          </a:p>
          <a:p>
            <a:pPr marL="914400" lvl="2" indent="-449263">
              <a:buFont typeface="+mj-lt"/>
              <a:buAutoNum type="alphaLcPeriod" startAt="4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2" indent="-449263">
              <a:buFont typeface="+mj-lt"/>
              <a:buAutoNum type="alphaLcPeriod" startAt="4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2" indent="-449263">
              <a:buFont typeface="+mj-lt"/>
              <a:buAutoNum type="alphaLcPeriod" startAt="4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2" indent="-449263">
              <a:buFont typeface="+mj-lt"/>
              <a:buAutoNum type="alphaL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median number of goals for the top 8 scorers.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xmlns="" id="{4C30C509-D072-DE4A-BF5D-40536E2A9688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5188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41538" y="369472"/>
            <a:ext cx="10515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2" indent="-449263">
              <a:buFont typeface="+mj-lt"/>
              <a:buAutoNum type="alphaLcPeriod" startAt="7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how the measures of central tendency changed. Write your conclusion. 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xmlns="" id="{9BF62536-11DA-BC49-9099-5DE75484473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9526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770632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38F2F334-3E65-EB40-8EF0-FBDD596A474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43000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9.9.4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759C3E41-93EC-B84D-963F-86A3B15AC1C6}"/>
              </a:ext>
            </a:extLst>
          </p:cNvPr>
          <p:cNvSpPr txBox="1"/>
          <p:nvPr/>
        </p:nvSpPr>
        <p:spPr>
          <a:xfrm>
            <a:off x="550416" y="1220081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line plots show the top 15 women goal scorers during the 2016-2017 and 2019-2020 NCAA Women’s Division 1 soccer season. </a:t>
            </a:r>
          </a:p>
        </p:txBody>
      </p:sp>
      <p:pic>
        <p:nvPicPr>
          <p:cNvPr id="8" name="Picture 7" descr="A picture containing chart&#10;&#10;Description automatically generated">
            <a:extLst>
              <a:ext uri="{FF2B5EF4-FFF2-40B4-BE49-F238E27FC236}">
                <a16:creationId xmlns:a16="http://schemas.microsoft.com/office/drawing/2014/main" xmlns="" id="{4378376B-2A6D-514D-A90B-CB9887C89E8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1075"/>
          <a:stretch/>
        </p:blipFill>
        <p:spPr bwMode="auto">
          <a:xfrm>
            <a:off x="2258566" y="2754746"/>
            <a:ext cx="6946900" cy="12852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 descr="Chart, scatter chart&#10;&#10;Description automatically generated">
            <a:extLst>
              <a:ext uri="{FF2B5EF4-FFF2-40B4-BE49-F238E27FC236}">
                <a16:creationId xmlns:a16="http://schemas.microsoft.com/office/drawing/2014/main" xmlns="" id="{897EC5EE-5BE2-CC49-BBAE-54E8215A400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7958"/>
          <a:stretch/>
        </p:blipFill>
        <p:spPr bwMode="auto">
          <a:xfrm>
            <a:off x="2386582" y="4537924"/>
            <a:ext cx="6946900" cy="14236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Text Box 9">
            <a:extLst>
              <a:ext uri="{FF2B5EF4-FFF2-40B4-BE49-F238E27FC236}">
                <a16:creationId xmlns:a16="http://schemas.microsoft.com/office/drawing/2014/main" xmlns="" id="{6F31597F-1EB4-DD44-8EAF-7233850646AE}"/>
              </a:ext>
            </a:extLst>
          </p:cNvPr>
          <p:cNvSpPr txBox="1"/>
          <p:nvPr/>
        </p:nvSpPr>
        <p:spPr>
          <a:xfrm>
            <a:off x="5012463" y="5933851"/>
            <a:ext cx="2167074" cy="45720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>
              <a:defRPr sz="1800">
                <a:effectLst/>
                <a:latin typeface="Verdana" panose="020B0604030504040204" pitchFamily="34" charset="0"/>
                <a:ea typeface="Times New Roman" panose="02020603050405020304" pitchFamily="18" charset="0"/>
              </a:defRPr>
            </a:lvl1pPr>
          </a:lstStyle>
          <a:p>
            <a:r>
              <a:rPr lang="en-US" dirty="0"/>
              <a:t>Number of Goals</a:t>
            </a:r>
          </a:p>
        </p:txBody>
      </p:sp>
      <p:sp>
        <p:nvSpPr>
          <p:cNvPr id="14" name="Text Box 9">
            <a:extLst>
              <a:ext uri="{FF2B5EF4-FFF2-40B4-BE49-F238E27FC236}">
                <a16:creationId xmlns:a16="http://schemas.microsoft.com/office/drawing/2014/main" xmlns="" id="{53F6A9AF-E390-654C-95E1-2B58E0AA3214}"/>
              </a:ext>
            </a:extLst>
          </p:cNvPr>
          <p:cNvSpPr txBox="1"/>
          <p:nvPr/>
        </p:nvSpPr>
        <p:spPr>
          <a:xfrm>
            <a:off x="4425409" y="4293026"/>
            <a:ext cx="2642371" cy="45720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>
              <a:defRPr sz="1800">
                <a:effectLst/>
                <a:latin typeface="Verdana" panose="020B0604030504040204" pitchFamily="34" charset="0"/>
                <a:ea typeface="Times New Roman" panose="02020603050405020304" pitchFamily="18" charset="0"/>
              </a:defRPr>
            </a:lvl1pPr>
          </a:lstStyle>
          <a:p>
            <a:r>
              <a:rPr lang="en-US" b="1" dirty="0"/>
              <a:t>2019-2020 Season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9B64CA38-1CC6-EC4E-B474-2A10FB267F03}"/>
              </a:ext>
            </a:extLst>
          </p:cNvPr>
          <p:cNvSpPr/>
          <p:nvPr/>
        </p:nvSpPr>
        <p:spPr>
          <a:xfrm>
            <a:off x="4425408" y="2501706"/>
            <a:ext cx="2613216" cy="369332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800" b="1" dirty="0">
                <a:latin typeface="Verdana" panose="020B0604030504040204" pitchFamily="34" charset="0"/>
              </a:rPr>
              <a:t>2016-2017 Season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1FC2A60B-599E-6842-842C-1BA1D7938E6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41538" y="387229"/>
            <a:ext cx="105156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5" indent="-449263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different about the top 15 goal scorers during the 2016-2017 soccer season and the top 15 goal scorers during the 2019-2020 soccer season?</a:t>
            </a:r>
          </a:p>
          <a:p>
            <a:pPr marL="914400" lvl="5" indent="-449263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5" indent="-449263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5" indent="-449263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5137" lvl="5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5137" lvl="5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7" lvl="5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Make a hypothesis determining whether the mean of the 2019-2020 season or the mean of the 2016‑2017 season is higher. Explain what influenced your hypothesis. 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xmlns="" id="{3D3A2A11-69AF-0041-9BAA-81CF3EC4AF18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6860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23783" y="387228"/>
            <a:ext cx="105156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2337" lvl="5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Make a hypothesis determining whether the median of the 2019-2020 season or the median of the 2016-2017 season is higher. Explain what influenced your hypothesis.</a:t>
            </a:r>
          </a:p>
          <a:p>
            <a:pPr marL="914400" lvl="5" indent="-449263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5" indent="-449263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5137" lvl="5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5137" lvl="5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5137" lvl="5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5137" lvl="5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7" lvl="5" indent="-457200">
              <a:buFont typeface="+mj-lt"/>
              <a:buAutoNum type="alphaL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Compare your predictions with your partner’s predictions. Make any adjustments needed based on your conversation.</a:t>
            </a: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xmlns="" id="{13C4886A-4B56-1041-B2A8-D62D416F2D3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1388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2659" y="369473"/>
            <a:ext cx="10515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table shows the list of the top 15 women goal scorers during the 2016-2017 NCAA Women’s Division 1 soccer season. 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58C97622-7C26-C743-9177-B0F30B93134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7658" y="1479742"/>
            <a:ext cx="5843867" cy="4638712"/>
          </a:xfrm>
          <a:prstGeom prst="rect">
            <a:avLst/>
          </a:prstGeom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E9805ED6-4A84-DF4B-ACCC-00D37F79A89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40684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59294" y="378350"/>
            <a:ext cx="10515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49263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mean number of goals for the 2016-2017 soccer season. </a:t>
            </a:r>
          </a:p>
          <a:p>
            <a:pPr marL="914400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Interpret the mean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xmlns="" id="{8976D72E-665B-4847-B6DE-D38E9D32B2AD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38607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50416" y="404983"/>
            <a:ext cx="10515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49263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median number of goals for the 2016-2017 soccer season. </a:t>
            </a:r>
          </a:p>
          <a:p>
            <a:pPr marL="914400" indent="-449263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Interpret the median.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xmlns="" id="{7D50A95E-E3D9-4C44-8572-D1CD7E7DA95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800958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23783" y="369473"/>
            <a:ext cx="10515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49263">
              <a:buFont typeface="+mj-lt"/>
              <a:buAutoNum type="alphaLcPeriod" startAt="5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statements. </a:t>
            </a:r>
          </a:p>
          <a:p>
            <a:pPr marL="914400" indent="-449263">
              <a:buFont typeface="+mj-lt"/>
              <a:buAutoNum type="alphaLcPeriod" startAt="5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373188" indent="-4492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mean of the 2016-2017 soccer season is </a:t>
            </a:r>
          </a:p>
          <a:p>
            <a:pPr marL="1373188" indent="-4492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1373188" indent="-4492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than the mean of the 2019-2020 soccer season. The </a:t>
            </a:r>
          </a:p>
          <a:p>
            <a:pPr marL="1373188" indent="-449263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373188" indent="-4492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value in the                     	   soccer season that likely </a:t>
            </a:r>
          </a:p>
          <a:p>
            <a:pPr marL="1373188" indent="-449263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373188" indent="-4492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influenced the mean is ________. </a:t>
            </a:r>
          </a:p>
          <a:p>
            <a:pPr marL="1373188" indent="-4492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1373188" indent="-449263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373188" indent="-4492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median of the 2016-2017 soccer season is  </a:t>
            </a:r>
          </a:p>
          <a:p>
            <a:pPr marL="1373188" indent="-4492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1373188" indent="-449263"/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than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median of the 2019-2020 soccer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season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 </a:t>
            </a:r>
          </a:p>
          <a:p>
            <a:pPr marL="914400" indent="-449263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5137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xmlns="" id="{E2453B77-CEC4-024C-8448-475513E3CB90}"/>
              </a:ext>
            </a:extLst>
          </p:cNvPr>
          <p:cNvSpPr/>
          <p:nvPr/>
        </p:nvSpPr>
        <p:spPr>
          <a:xfrm>
            <a:off x="7479019" y="711412"/>
            <a:ext cx="1524227" cy="80010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0000" bIns="0" anchor="ctr" anchorCtr="0">
            <a:no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less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285750" indent="-285750" algn="just"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greater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xmlns="" id="{5F661F70-1625-6A4C-BCE2-D23A91626638}"/>
              </a:ext>
            </a:extLst>
          </p:cNvPr>
          <p:cNvSpPr/>
          <p:nvPr/>
        </p:nvSpPr>
        <p:spPr>
          <a:xfrm>
            <a:off x="3164569" y="2003976"/>
            <a:ext cx="2045607" cy="800507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0000" bIns="0" anchor="ctr" anchorCtr="0">
            <a:noAutofit/>
          </a:bodyPr>
          <a:lstStyle/>
          <a:p>
            <a:pPr marL="266700" indent="-266700">
              <a:buSzPts val="1800"/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2016-2017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266700" indent="-266700">
              <a:spcAft>
                <a:spcPts val="800"/>
              </a:spcAft>
              <a:buSzPts val="1800"/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2019-2020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xmlns="" id="{AEC348AD-53D7-004E-95C6-D4E34BE761EC}"/>
              </a:ext>
            </a:extLst>
          </p:cNvPr>
          <p:cNvSpPr/>
          <p:nvPr/>
        </p:nvSpPr>
        <p:spPr>
          <a:xfrm>
            <a:off x="7676925" y="3493333"/>
            <a:ext cx="1524227" cy="80010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0000" bIns="0" anchor="ctr" anchorCtr="0">
            <a:noAutofit/>
          </a:bodyPr>
          <a:lstStyle/>
          <a:p>
            <a:pPr marL="228600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less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228600" indent="-285750"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greater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3988638B-D118-7C44-A7FC-BF46389C2DE1}"/>
              </a:ext>
            </a:extLst>
          </p:cNvPr>
          <p:cNvSpPr txBox="1"/>
          <p:nvPr/>
        </p:nvSpPr>
        <p:spPr>
          <a:xfrm>
            <a:off x="8897112" y="645043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43698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770632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828884D1-96C7-3248-8EB6-53E5B669412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3000" y="-8229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9.9.5 Wrap-Up: </a:t>
            </a: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</a:rPr>
              <a:t>Ticket Out the Door 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550416" y="1386026"/>
                <a:ext cx="5181600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4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Professional basketball players tend to be taller than professional baseball players.</a:t>
                </a: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two histograms, labeled A and B, show height distributions of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male professional baseball players and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male professional basketball players.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16" y="1386026"/>
                <a:ext cx="5181600" cy="4154984"/>
              </a:xfrm>
              <a:prstGeom prst="rect">
                <a:avLst/>
              </a:prstGeom>
              <a:blipFill rotWithShape="1">
                <a:blip r:embed="rId5"/>
                <a:stretch>
                  <a:fillRect l="-1765" t="-1173" r="-282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Chart, histogram&#10;&#10;Description automatically generated">
            <a:extLst>
              <a:ext uri="{FF2B5EF4-FFF2-40B4-BE49-F238E27FC236}">
                <a16:creationId xmlns:a16="http://schemas.microsoft.com/office/drawing/2014/main" xmlns="" id="{A61981A3-435A-0044-885E-BC67D9E4631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7367"/>
          <a:stretch/>
        </p:blipFill>
        <p:spPr bwMode="auto">
          <a:xfrm>
            <a:off x="6392806" y="1464047"/>
            <a:ext cx="4224020" cy="23133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 descr="Chart, histogram&#10;&#10;Description automatically generated">
            <a:extLst>
              <a:ext uri="{FF2B5EF4-FFF2-40B4-BE49-F238E27FC236}">
                <a16:creationId xmlns:a16="http://schemas.microsoft.com/office/drawing/2014/main" xmlns="" id="{B6A342E5-724A-D84E-9FD1-016C51FFC47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3602" y="3874507"/>
            <a:ext cx="4218305" cy="2188845"/>
          </a:xfrm>
          <a:prstGeom prst="rect">
            <a:avLst/>
          </a:prstGeom>
        </p:spPr>
      </p:pic>
      <p:sp>
        <p:nvSpPr>
          <p:cNvPr id="11" name="Text Box 16">
            <a:extLst>
              <a:ext uri="{FF2B5EF4-FFF2-40B4-BE49-F238E27FC236}">
                <a16:creationId xmlns:a16="http://schemas.microsoft.com/office/drawing/2014/main" xmlns="" id="{AD890BB3-40F0-A049-9336-DB0003F11718}"/>
              </a:ext>
            </a:extLst>
          </p:cNvPr>
          <p:cNvSpPr txBox="1"/>
          <p:nvPr/>
        </p:nvSpPr>
        <p:spPr>
          <a:xfrm>
            <a:off x="9049647" y="3983091"/>
            <a:ext cx="526415" cy="44323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800" b="1">
                <a:latin typeface="Verdana" panose="020B0604030504040204" pitchFamily="34" charset="0"/>
                <a:ea typeface="Times New Roman" panose="02020603050405020304" pitchFamily="18" charset="0"/>
              </a:rPr>
              <a:t>B</a:t>
            </a:r>
            <a:endParaRPr lang="en-US" sz="1200"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xmlns="" id="{6BE28082-C5A8-404A-A000-D3B2CB348AAE}"/>
              </a:ext>
            </a:extLst>
          </p:cNvPr>
          <p:cNvSpPr txBox="1"/>
          <p:nvPr/>
        </p:nvSpPr>
        <p:spPr>
          <a:xfrm>
            <a:off x="9121402" y="1462777"/>
            <a:ext cx="526415" cy="68008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800" b="1">
                <a:latin typeface="Verdana" panose="020B0604030504040204" pitchFamily="34" charset="0"/>
                <a:ea typeface="Times New Roman" panose="02020603050405020304" pitchFamily="18" charset="0"/>
              </a:rPr>
              <a:t>A</a:t>
            </a:r>
            <a:endParaRPr lang="en-US" sz="1200"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4" name="Text Box 21">
            <a:extLst>
              <a:ext uri="{FF2B5EF4-FFF2-40B4-BE49-F238E27FC236}">
                <a16:creationId xmlns:a16="http://schemas.microsoft.com/office/drawing/2014/main" xmlns="" id="{42B9D5BC-AA3C-4446-A1C6-5C36A1AE48CB}"/>
              </a:ext>
            </a:extLst>
          </p:cNvPr>
          <p:cNvSpPr txBox="1"/>
          <p:nvPr/>
        </p:nvSpPr>
        <p:spPr>
          <a:xfrm>
            <a:off x="7514851" y="6035411"/>
            <a:ext cx="2548890" cy="443230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Height (in inches)</a:t>
            </a:r>
            <a:endParaRPr lang="en-US" sz="1200"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687896D3-808C-D946-B7B8-F0DB2F06308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50415" y="360596"/>
            <a:ext cx="10515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49263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Choose one of the titles: “Heights of Baseball Players” or “Heights of Basketball Players” for each histogram.</a:t>
            </a:r>
          </a:p>
          <a:p>
            <a:pPr marL="914400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endParaRPr lang="en-US" sz="24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5137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5137"/>
            <a:endParaRPr lang="en-US" sz="24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5137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7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the spread and shape of the distribution of the heights of the basketball players. 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D2C4E9E7-CB96-B844-B780-5F0B31CE7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705420"/>
              </p:ext>
            </p:extLst>
          </p:nvPr>
        </p:nvGraphicFramePr>
        <p:xfrm>
          <a:off x="2396471" y="1469692"/>
          <a:ext cx="6823487" cy="1641072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503480">
                  <a:extLst>
                    <a:ext uri="{9D8B030D-6E8A-4147-A177-3AD203B41FA5}">
                      <a16:colId xmlns:a16="http://schemas.microsoft.com/office/drawing/2014/main" xmlns="" val="512619441"/>
                    </a:ext>
                  </a:extLst>
                </a:gridCol>
                <a:gridCol w="2486525">
                  <a:extLst>
                    <a:ext uri="{9D8B030D-6E8A-4147-A177-3AD203B41FA5}">
                      <a16:colId xmlns:a16="http://schemas.microsoft.com/office/drawing/2014/main" xmlns="" val="2417494409"/>
                    </a:ext>
                  </a:extLst>
                </a:gridCol>
                <a:gridCol w="2833482">
                  <a:extLst>
                    <a:ext uri="{9D8B030D-6E8A-4147-A177-3AD203B41FA5}">
                      <a16:colId xmlns:a16="http://schemas.microsoft.com/office/drawing/2014/main" xmlns="" val="3714591002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Histogram</a:t>
                      </a:r>
                      <a:endParaRPr lang="en-US" sz="1200" b="1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A</a:t>
                      </a:r>
                      <a:endParaRPr lang="en-US" sz="12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B</a:t>
                      </a:r>
                      <a:endParaRPr lang="en-US" sz="12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122612472"/>
                  </a:ext>
                </a:extLst>
              </a:tr>
              <a:tr h="92107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Best Title</a:t>
                      </a:r>
                      <a:endParaRPr lang="en-US" sz="1200" b="1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12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12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779258869"/>
                  </a:ext>
                </a:extLst>
              </a:tr>
            </a:tbl>
          </a:graphicData>
        </a:graphic>
      </p:graphicFrame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2AB97F1D-CA5E-C047-9E6E-22925E87F6C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2624026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1423</TotalTime>
  <Words>824</Words>
  <Application>Microsoft Office PowerPoint</Application>
  <PresentationFormat>Custom</PresentationFormat>
  <Paragraphs>211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</vt:lpstr>
      <vt:lpstr>Wingdings</vt:lpstr>
      <vt:lpstr>Cambria Math</vt:lpstr>
      <vt:lpstr>Arial Black</vt:lpstr>
      <vt:lpstr>Verdana</vt:lpstr>
      <vt:lpstr>Calibri</vt:lpstr>
      <vt:lpstr>Courier New</vt:lpstr>
      <vt:lpstr>Times New Roman</vt:lpstr>
      <vt:lpstr>Century Gothic</vt:lpstr>
      <vt:lpstr>1_Office Theme</vt:lpstr>
      <vt:lpstr>6th Grade Math  Unit 9, Lesson 9  Comparing Distributions  Volume 2, pg. 193  </vt:lpstr>
      <vt:lpstr>Benchmarks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Sensei</cp:lastModifiedBy>
  <cp:revision>21</cp:revision>
  <dcterms:created xsi:type="dcterms:W3CDTF">2015-03-17T18:51:18Z</dcterms:created>
  <dcterms:modified xsi:type="dcterms:W3CDTF">2022-06-07T01:17:50Z</dcterms:modified>
</cp:coreProperties>
</file>