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3"/>
  </p:notesMasterIdLst>
  <p:sldIdLst>
    <p:sldId id="256" r:id="rId2"/>
    <p:sldId id="257" r:id="rId3"/>
    <p:sldId id="285" r:id="rId4"/>
    <p:sldId id="286" r:id="rId5"/>
    <p:sldId id="261" r:id="rId6"/>
    <p:sldId id="287" r:id="rId7"/>
    <p:sldId id="288" r:id="rId8"/>
    <p:sldId id="314" r:id="rId9"/>
    <p:sldId id="315" r:id="rId10"/>
    <p:sldId id="316" r:id="rId11"/>
    <p:sldId id="335" r:id="rId12"/>
    <p:sldId id="336" r:id="rId13"/>
    <p:sldId id="289" r:id="rId14"/>
    <p:sldId id="290" r:id="rId15"/>
    <p:sldId id="308" r:id="rId16"/>
    <p:sldId id="345" r:id="rId17"/>
    <p:sldId id="337" r:id="rId18"/>
    <p:sldId id="338" r:id="rId19"/>
    <p:sldId id="339" r:id="rId20"/>
    <p:sldId id="332" r:id="rId21"/>
    <p:sldId id="333" r:id="rId22"/>
    <p:sldId id="334" r:id="rId23"/>
    <p:sldId id="340" r:id="rId24"/>
    <p:sldId id="341" r:id="rId25"/>
    <p:sldId id="342" r:id="rId26"/>
    <p:sldId id="346" r:id="rId27"/>
    <p:sldId id="343" r:id="rId28"/>
    <p:sldId id="306" r:id="rId29"/>
    <p:sldId id="307" r:id="rId30"/>
    <p:sldId id="310" r:id="rId31"/>
    <p:sldId id="344" r:id="rId32"/>
  </p:sldIdLst>
  <p:sldSz cx="12192000" cy="6858000"/>
  <p:notesSz cx="6858000" cy="9144000"/>
  <p:embeddedFontLst>
    <p:embeddedFont>
      <p:font typeface="Arial Black" panose="020B0A04020102020204" pitchFamily="34" charset="0"/>
      <p:regular r:id="rId34"/>
      <p:bold r:id="rId35"/>
    </p:embeddedFont>
    <p:embeddedFont>
      <p:font typeface="Calibri" panose="020F0502020204030204" pitchFamily="34" charset="0"/>
      <p:regular r:id="rId36"/>
      <p:bold r:id="rId37"/>
      <p:italic r:id="rId38"/>
      <p:boldItalic r:id="rId39"/>
    </p:embeddedFont>
    <p:embeddedFont>
      <p:font typeface="Cambria Math" panose="02040503050406030204" pitchFamily="18" charset="0"/>
      <p:regular r:id="rId40"/>
    </p:embeddedFont>
    <p:embeddedFont>
      <p:font typeface="Century Gothic" panose="020B0502020202020204" pitchFamily="34" charset="0"/>
      <p:regular r:id="rId41"/>
      <p:bold r:id="rId42"/>
      <p:italic r:id="rId43"/>
      <p:boldItalic r:id="rId44"/>
    </p:embeddedFont>
    <p:embeddedFont>
      <p:font typeface="Verdana" panose="020B0604030504040204" pitchFamily="34"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5E5B"/>
    <a:srgbClr val="F79647"/>
    <a:srgbClr val="FCBD1E"/>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087" autoAdjust="0"/>
    <p:restoredTop sz="94694"/>
  </p:normalViewPr>
  <p:slideViewPr>
    <p:cSldViewPr snapToGrid="0">
      <p:cViewPr varScale="1">
        <p:scale>
          <a:sx n="54" d="100"/>
          <a:sy n="54" d="100"/>
        </p:scale>
        <p:origin x="108" y="129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font" Target="fonts/font14.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font" Target="fonts/font13.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font" Target="fonts/font15.fntdata"/><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580380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31175015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40740926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8480710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1774634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6508062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40643158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35200275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15509028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9856784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5566661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29463035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36851653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28688978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2205268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32244594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30</a:t>
            </a:fld>
            <a:endParaRPr/>
          </a:p>
        </p:txBody>
      </p:sp>
    </p:spTree>
    <p:extLst>
      <p:ext uri="{BB962C8B-B14F-4D97-AF65-F5344CB8AC3E}">
        <p14:creationId xmlns:p14="http://schemas.microsoft.com/office/powerpoint/2010/main" val="134849265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31</a:t>
            </a:fld>
            <a:endParaRPr/>
          </a:p>
        </p:txBody>
      </p:sp>
    </p:spTree>
    <p:extLst>
      <p:ext uri="{BB962C8B-B14F-4D97-AF65-F5344CB8AC3E}">
        <p14:creationId xmlns:p14="http://schemas.microsoft.com/office/powerpoint/2010/main" val="34329281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18.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21.png"/><Relationship Id="rId4" Type="http://schemas.openxmlformats.org/officeDocument/2006/relationships/image" Target="../media/image19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22.png"/><Relationship Id="rId4" Type="http://schemas.openxmlformats.org/officeDocument/2006/relationships/image" Target="../media/image210.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2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26.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29.png"/><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34.png"/></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8.xml"/><Relationship Id="rId5" Type="http://schemas.openxmlformats.org/officeDocument/2006/relationships/image" Target="../media/image35.png"/><Relationship Id="rId4" Type="http://schemas.openxmlformats.org/officeDocument/2006/relationships/image" Target="../media/image34.png"/></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8.xml"/><Relationship Id="rId5" Type="http://schemas.openxmlformats.org/officeDocument/2006/relationships/image" Target="../media/image37.png"/><Relationship Id="rId4" Type="http://schemas.openxmlformats.org/officeDocument/2006/relationships/image" Target="../media/image36.png"/></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1, Lesson 4</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Dividing Fractions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19</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554" y="1522476"/>
            <a:ext cx="3270997" cy="3813048"/>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p>
        </p:txBody>
      </p:sp>
      <p:sp>
        <p:nvSpPr>
          <p:cNvPr id="279" name="Google Shape;279;g104476d1465_1_17"/>
          <p:cNvSpPr txBox="1">
            <a:spLocks noGrp="1"/>
          </p:cNvSpPr>
          <p:nvPr>
            <p:ph type="title" idx="4294967295"/>
          </p:nvPr>
        </p:nvSpPr>
        <p:spPr>
          <a:xfrm>
            <a:off x="1306735" y="-143843"/>
            <a:ext cx="10885265" cy="146355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472350" y="136525"/>
            <a:ext cx="747300" cy="749808"/>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642257" y="1598219"/>
            <a:ext cx="11397343" cy="447403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500" dirty="0">
                <a:solidFill>
                  <a:schemeClr val="tx1"/>
                </a:solidFill>
                <a:latin typeface="Verdana"/>
                <a:ea typeface="Verdana"/>
                <a:cs typeface="Verdana"/>
                <a:sym typeface="Verdana"/>
              </a:rPr>
              <a:t>MA.5.AR.1.3</a:t>
            </a:r>
          </a:p>
          <a:p>
            <a:pPr indent="0">
              <a:buNone/>
            </a:pPr>
            <a:r>
              <a:rPr lang="en-US" sz="3500" dirty="0">
                <a:latin typeface="Verdana" panose="020B0604030504040204" pitchFamily="34" charset="0"/>
                <a:ea typeface="Verdana" panose="020B0604030504040204" pitchFamily="34" charset="0"/>
                <a:cs typeface="Verdana" panose="020B0604030504040204" pitchFamily="34" charset="0"/>
              </a:rPr>
              <a:t>Solve real-world problems involving division of a unit fraction by a whole number and a whole number by a unit fraction. </a:t>
            </a:r>
            <a:endParaRPr lang="en-US" sz="3500" dirty="0">
              <a:solidFill>
                <a:schemeClr val="tx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1" name="Google Shape;281;g104476d1465_1_17"/>
          <p:cNvPicPr preferRelativeResize="0"/>
          <p:nvPr/>
        </p:nvPicPr>
        <p:blipFill>
          <a:blip r:embed="rId3">
            <a:alphaModFix/>
          </a:blip>
          <a:stretch>
            <a:fillRect/>
          </a:stretch>
        </p:blipFill>
        <p:spPr>
          <a:xfrm>
            <a:off x="407036" y="285214"/>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242572" y="184095"/>
            <a:ext cx="10720828" cy="1252819"/>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893800"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489857" y="1596390"/>
            <a:ext cx="11037943" cy="473909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278;g104476d1465_1_17">
            <a:extLst>
              <a:ext uri="{FF2B5EF4-FFF2-40B4-BE49-F238E27FC236}">
                <a16:creationId xmlns:a16="http://schemas.microsoft.com/office/drawing/2014/main" id="{077C6829-C721-C84C-B217-05FC82BD0900}"/>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15742"/>
            <a:ext cx="563850" cy="642133"/>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267713" y="22905"/>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437698" y="211003"/>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8229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a:t>
            </a: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653142" y="1632857"/>
            <a:ext cx="9339943" cy="425631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buFont typeface="Wingdings" panose="05000000000000000000" pitchFamily="2" charset="2"/>
              <a:buChar char="q"/>
            </a:pPr>
            <a:r>
              <a:rPr lang="en-US" sz="2400" dirty="0">
                <a:latin typeface="Verdana" panose="020B0604030504040204" pitchFamily="34" charset="0"/>
                <a:ea typeface="Verdana" panose="020B0604030504040204" pitchFamily="34" charset="0"/>
              </a:rPr>
              <a:t>I can represent division of fractions with an appropriate model.   </a:t>
            </a:r>
            <a:endParaRPr lang="en-US" sz="2400" i="1" dirty="0">
              <a:latin typeface="Verdana" panose="020B0604030504040204" pitchFamily="34" charset="0"/>
              <a:ea typeface="Verdana" panose="020B0604030504040204" pitchFamily="34" charset="0"/>
            </a:endParaRPr>
          </a:p>
          <a:p>
            <a:br>
              <a:rPr lang="en-US" b="1" u="sng" dirty="0"/>
            </a:br>
            <a:r>
              <a:rPr lang="en-US" b="1" dirty="0"/>
              <a:t> </a:t>
            </a:r>
            <a:endParaRPr lang="en-US" i="1" dirty="0"/>
          </a:p>
        </p:txBody>
      </p:sp>
      <p:sp>
        <p:nvSpPr>
          <p:cNvPr id="8" name="Google Shape;278;g104476d1465_1_17">
            <a:extLst>
              <a:ext uri="{FF2B5EF4-FFF2-40B4-BE49-F238E27FC236}">
                <a16:creationId xmlns:a16="http://schemas.microsoft.com/office/drawing/2014/main" id="{84D53208-BBC5-F045-A1FC-36E1745FA757}"/>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3179"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13565" y="132171"/>
            <a:ext cx="10880464" cy="1130572"/>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1.4.1 Warm-Up: Notice and Wonder</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87454" y="197485"/>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994150" y="647160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a:t>
            </a:r>
          </a:p>
        </p:txBody>
      </p:sp>
      <p:sp>
        <p:nvSpPr>
          <p:cNvPr id="2" name="TextBox 1">
            <a:extLst>
              <a:ext uri="{FF2B5EF4-FFF2-40B4-BE49-F238E27FC236}">
                <a16:creationId xmlns:a16="http://schemas.microsoft.com/office/drawing/2014/main" id="{E1D7562E-134F-D14B-AF1A-DF40E11EF758}"/>
              </a:ext>
            </a:extLst>
          </p:cNvPr>
          <p:cNvSpPr txBox="1"/>
          <p:nvPr/>
        </p:nvSpPr>
        <p:spPr>
          <a:xfrm>
            <a:off x="1063982" y="1320473"/>
            <a:ext cx="10064035" cy="733855"/>
          </a:xfrm>
          <a:prstGeom prst="rect">
            <a:avLst/>
          </a:prstGeom>
          <a:noFill/>
        </p:spPr>
        <p:txBody>
          <a:bodyPr wrap="square" rtlCol="0">
            <a:spAutoFit/>
          </a:bodyPr>
          <a:lstStyle/>
          <a:p>
            <a:pPr>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There are four patterns of division. The last problem in the pattern does not have a quotient.</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p:txBody>
      </p:sp>
      <p:sp>
        <p:nvSpPr>
          <p:cNvPr id="9" name="Google Shape;278;g104476d1465_1_17">
            <a:extLst>
              <a:ext uri="{FF2B5EF4-FFF2-40B4-BE49-F238E27FC236}">
                <a16:creationId xmlns:a16="http://schemas.microsoft.com/office/drawing/2014/main" id="{D2E26B32-0C88-7847-9ECA-D11545A204F9}"/>
              </a:ext>
            </a:extLst>
          </p:cNvPr>
          <p:cNvSpPr/>
          <p:nvPr/>
        </p:nvSpPr>
        <p:spPr>
          <a:xfrm>
            <a:off x="-1414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5" name="Picture 4">
            <a:extLst>
              <a:ext uri="{FF2B5EF4-FFF2-40B4-BE49-F238E27FC236}">
                <a16:creationId xmlns:a16="http://schemas.microsoft.com/office/drawing/2014/main" id="{BC087341-C7CE-4A5D-A48F-8EA422D073DE}"/>
              </a:ext>
            </a:extLst>
          </p:cNvPr>
          <p:cNvPicPr>
            <a:picLocks noChangeAspect="1"/>
          </p:cNvPicPr>
          <p:nvPr/>
        </p:nvPicPr>
        <p:blipFill>
          <a:blip r:embed="rId5"/>
          <a:stretch>
            <a:fillRect/>
          </a:stretch>
        </p:blipFill>
        <p:spPr>
          <a:xfrm>
            <a:off x="3100167" y="2112059"/>
            <a:ext cx="5556153" cy="4467835"/>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49635"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a:t>
            </a:r>
          </a:p>
        </p:txBody>
      </p:sp>
      <p:sp>
        <p:nvSpPr>
          <p:cNvPr id="14" name="TextBox 13">
            <a:extLst>
              <a:ext uri="{FF2B5EF4-FFF2-40B4-BE49-F238E27FC236}">
                <a16:creationId xmlns:a16="http://schemas.microsoft.com/office/drawing/2014/main" id="{2FA392D8-3ED3-7940-83A8-1451AA8A08D4}"/>
              </a:ext>
            </a:extLst>
          </p:cNvPr>
          <p:cNvSpPr txBox="1"/>
          <p:nvPr/>
        </p:nvSpPr>
        <p:spPr>
          <a:xfrm>
            <a:off x="708365" y="228294"/>
            <a:ext cx="10919785" cy="5347811"/>
          </a:xfrm>
          <a:prstGeom prst="rect">
            <a:avLst/>
          </a:prstGeom>
          <a:noFill/>
        </p:spPr>
        <p:txBody>
          <a:bodyPr wrap="square" rtlCol="0">
            <a:spAutoFit/>
          </a:bodyPr>
          <a:lstStyle/>
          <a:p>
            <a:pPr>
              <a:lnSpc>
                <a:spcPct val="107000"/>
              </a:lnSpc>
            </a:pPr>
            <a:r>
              <a:rPr lang="en-US" sz="1800" b="1" dirty="0">
                <a:latin typeface="Verdana" panose="020B0604030504040204" pitchFamily="34" charset="0"/>
                <a:ea typeface="Verdana" panose="020B0604030504040204" pitchFamily="34" charset="0"/>
                <a:cs typeface="Verdana" panose="020B0604030504040204" pitchFamily="34" charset="0"/>
              </a:rPr>
              <a:t> </a:t>
            </a:r>
            <a:endParaRPr lang="en-US" sz="1800" i="1" dirty="0">
              <a:latin typeface="Cambria Math" panose="02040503050406030204" pitchFamily="18" charset="0"/>
              <a:ea typeface="Cambria Math" panose="02040503050406030204" pitchFamily="18" charset="0"/>
              <a:cs typeface="Cambria Math" panose="02040503050406030204" pitchFamily="18" charset="0"/>
            </a:endParaRPr>
          </a:p>
          <a:p>
            <a:pPr marL="460375" indent="-447675">
              <a:lnSpc>
                <a:spcPct val="107000"/>
              </a:lnSpc>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What do you notice about the patterns?</a:t>
            </a:r>
          </a:p>
          <a:p>
            <a:pPr marL="460375" indent="-447675">
              <a:lnSpc>
                <a:spcPct val="107000"/>
              </a:lnSpc>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60375" indent="-447675">
              <a:lnSpc>
                <a:spcPct val="107000"/>
              </a:lnSpc>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60375" indent="-447675">
              <a:lnSpc>
                <a:spcPct val="107000"/>
              </a:lnSpc>
              <a:buFont typeface="+mj-lt"/>
              <a:buAutoNum type="arabicPeriod"/>
            </a:pPr>
            <a:endParaRPr lang="en-US" sz="2200" dirty="0">
              <a:latin typeface="Verdana" panose="020B0604030504040204" pitchFamily="34" charset="0"/>
              <a:ea typeface="Verdana" panose="020B0604030504040204" pitchFamily="34" charset="0"/>
              <a:cs typeface="Cambria Math" panose="02040503050406030204" pitchFamily="18" charset="0"/>
            </a:endParaRPr>
          </a:p>
          <a:p>
            <a:pPr marL="460375" indent="-447675">
              <a:lnSpc>
                <a:spcPct val="107000"/>
              </a:lnSpc>
              <a:buFont typeface="+mj-lt"/>
              <a:buAutoNum type="arabicPeriod"/>
            </a:pPr>
            <a:endParaRPr lang="en-US" sz="2200" i="1" dirty="0">
              <a:latin typeface="Verdana" panose="020B0604030504040204" pitchFamily="34" charset="0"/>
              <a:ea typeface="Verdana" panose="020B0604030504040204" pitchFamily="34" charset="0"/>
              <a:cs typeface="Cambria Math" panose="02040503050406030204" pitchFamily="18" charset="0"/>
            </a:endParaRPr>
          </a:p>
          <a:p>
            <a:pPr marL="460375" indent="-447675">
              <a:lnSpc>
                <a:spcPct val="107000"/>
              </a:lnSpc>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What do you wonder about the patterns?</a:t>
            </a:r>
          </a:p>
          <a:p>
            <a:pPr marL="460375" indent="-447675">
              <a:lnSpc>
                <a:spcPct val="107000"/>
              </a:lnSpc>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60375" indent="-447675">
              <a:lnSpc>
                <a:spcPct val="107000"/>
              </a:lnSpc>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60375" indent="-447675">
              <a:lnSpc>
                <a:spcPct val="107000"/>
              </a:lnSpc>
              <a:buFont typeface="+mj-lt"/>
              <a:buAutoNum type="arabicPeriod"/>
            </a:pPr>
            <a:endParaRPr lang="en-US" sz="2200" dirty="0">
              <a:latin typeface="Verdana" panose="020B0604030504040204" pitchFamily="34" charset="0"/>
              <a:ea typeface="Verdana" panose="020B0604030504040204" pitchFamily="34" charset="0"/>
              <a:cs typeface="Cambria Math" panose="02040503050406030204" pitchFamily="18" charset="0"/>
            </a:endParaRPr>
          </a:p>
          <a:p>
            <a:pPr marL="460375" indent="-447675">
              <a:lnSpc>
                <a:spcPct val="107000"/>
              </a:lnSpc>
              <a:buFont typeface="+mj-lt"/>
              <a:buAutoNum type="arabicPeriod"/>
            </a:pPr>
            <a:endParaRPr lang="en-US" sz="2200" i="1" dirty="0">
              <a:latin typeface="Verdana" panose="020B0604030504040204" pitchFamily="34" charset="0"/>
              <a:ea typeface="Verdana" panose="020B0604030504040204" pitchFamily="34" charset="0"/>
              <a:cs typeface="Cambria Math" panose="02040503050406030204" pitchFamily="18" charset="0"/>
            </a:endParaRPr>
          </a:p>
          <a:p>
            <a:pPr marL="460375" indent="-447675">
              <a:lnSpc>
                <a:spcPct val="107000"/>
              </a:lnSpc>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Use the pattern to guess what the missing quotient is for each pattern. Write your guess in the box.</a:t>
            </a:r>
            <a:endParaRPr lang="en-US" sz="2200" i="1" dirty="0">
              <a:latin typeface="Verdana" panose="020B0604030504040204" pitchFamily="34" charset="0"/>
              <a:ea typeface="Verdana" panose="020B0604030504040204" pitchFamily="34" charset="0"/>
              <a:cs typeface="Cambria Math" panose="02040503050406030204" pitchFamily="18" charset="0"/>
            </a:endParaRPr>
          </a:p>
          <a:p>
            <a:pPr marL="342900" indent="-342900">
              <a:lnSpc>
                <a:spcPct val="107000"/>
              </a:lnSpc>
              <a:buFont typeface="+mj-lt"/>
              <a:buAutoNum type="arabicPeriod"/>
            </a:pPr>
            <a:endParaRPr lang="en-US" sz="1800" i="1" dirty="0">
              <a:latin typeface="Cambria Math" panose="02040503050406030204" pitchFamily="18" charset="0"/>
              <a:ea typeface="Cambria Math" panose="02040503050406030204" pitchFamily="18" charset="0"/>
              <a:cs typeface="Cambria Math" panose="02040503050406030204" pitchFamily="18" charset="0"/>
            </a:endParaRPr>
          </a:p>
          <a:p>
            <a:pPr marL="342900" indent="-342900">
              <a:lnSpc>
                <a:spcPct val="107000"/>
              </a:lnSpc>
              <a:buFont typeface="+mj-lt"/>
              <a:buAutoNum type="arabicPeriod"/>
            </a:pP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p:txBody>
      </p:sp>
      <p:sp>
        <p:nvSpPr>
          <p:cNvPr id="6" name="Google Shape;278;g104476d1465_1_17">
            <a:extLst>
              <a:ext uri="{FF2B5EF4-FFF2-40B4-BE49-F238E27FC236}">
                <a16:creationId xmlns:a16="http://schemas.microsoft.com/office/drawing/2014/main" id="{285F77CB-5FF9-E743-9AA8-B4C11C925C98}"/>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417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20</a:t>
            </a: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0788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46221" y="46993"/>
            <a:ext cx="1081514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1.4.2 Collaboration: Visual Models of Division</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914950" y="648126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20</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09327" y="174099"/>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E44DF7DE-9172-3E4E-B74A-7A51585FB6EA}"/>
                  </a:ext>
                </a:extLst>
              </p:cNvPr>
              <p:cNvSpPr txBox="1"/>
              <p:nvPr/>
            </p:nvSpPr>
            <p:spPr>
              <a:xfrm>
                <a:off x="1794626" y="1331642"/>
                <a:ext cx="8819586" cy="4484241"/>
              </a:xfrm>
              <a:prstGeom prst="rect">
                <a:avLst/>
              </a:prstGeom>
              <a:noFill/>
            </p:spPr>
            <p:txBody>
              <a:bodyPr wrap="square" rtlCol="0">
                <a:spAutoFit/>
              </a:bodyPr>
              <a:lstStyle/>
              <a:p>
                <a:pPr marL="460375" indent="-447675">
                  <a:lnSpc>
                    <a:spcPct val="107000"/>
                  </a:lnSpc>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A tape diagram is shown.</a:t>
                </a:r>
              </a:p>
              <a:p>
                <a:pPr marL="342900" indent="-342900">
                  <a:lnSpc>
                    <a:spcPct val="107000"/>
                  </a:lnSpc>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0750" indent="-460375">
                  <a:lnSpc>
                    <a:spcPct val="107000"/>
                  </a:lnSpc>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Use the diagram to show how many groups of </a:t>
                </a:r>
                <a14:m>
                  <m:oMath xmlns:m="http://schemas.openxmlformats.org/officeDocument/2006/math">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r>
                          <a:rPr lang="en-US" sz="2000" i="1">
                            <a:latin typeface="Cambria Math" panose="02040503050406030204" pitchFamily="18" charset="0"/>
                            <a:ea typeface="Verdana" panose="020B0604030504040204" pitchFamily="34" charset="0"/>
                            <a:cs typeface="Verdana" panose="020B0604030504040204" pitchFamily="34" charset="0"/>
                          </a:rPr>
                          <m:t>1</m:t>
                        </m:r>
                      </m:num>
                      <m:den>
                        <m:r>
                          <a:rPr lang="en-US" sz="2000" i="1">
                            <a:latin typeface="Cambria Math" panose="02040503050406030204" pitchFamily="18" charset="0"/>
                            <a:ea typeface="Verdana" panose="020B0604030504040204" pitchFamily="34" charset="0"/>
                            <a:cs typeface="Verdana" panose="020B0604030504040204" pitchFamily="34" charset="0"/>
                          </a:rPr>
                          <m:t>2</m:t>
                        </m:r>
                      </m:den>
                    </m:f>
                  </m:oMath>
                </a14:m>
                <a:r>
                  <a:rPr lang="en-US" sz="2000" dirty="0">
                    <a:latin typeface="Verdana" panose="020B0604030504040204" pitchFamily="34" charset="0"/>
                    <a:ea typeface="Verdana" panose="020B0604030504040204" pitchFamily="34" charset="0"/>
                    <a:cs typeface="Verdana" panose="020B0604030504040204" pitchFamily="34" charset="0"/>
                  </a:rPr>
                  <a:t> are in 10.</a:t>
                </a:r>
              </a:p>
              <a:p>
                <a:pPr marL="920750" indent="-460375">
                  <a:lnSpc>
                    <a:spcPct val="107000"/>
                  </a:lnSpc>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0750" indent="-460375">
                  <a:lnSpc>
                    <a:spcPct val="107000"/>
                  </a:lnSpc>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0750" indent="-460375">
                  <a:lnSpc>
                    <a:spcPct val="107000"/>
                  </a:lnSpc>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Write the division problem represented by the tape diagram.</a:t>
                </a:r>
              </a:p>
              <a:p>
                <a:pPr>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p:txBody>
          </p:sp>
        </mc:Choice>
        <mc:Fallback>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1794626" y="1331642"/>
                <a:ext cx="8819586" cy="4484241"/>
              </a:xfrm>
              <a:prstGeom prst="rect">
                <a:avLst/>
              </a:prstGeom>
              <a:blipFill>
                <a:blip r:embed="rId5"/>
                <a:stretch>
                  <a:fillRect l="-622" t="-951"/>
                </a:stretch>
              </a:blipFill>
            </p:spPr>
            <p:txBody>
              <a:bodyPr/>
              <a:lstStyle/>
              <a:p>
                <a:r>
                  <a:rPr lang="en-PH">
                    <a:noFill/>
                  </a:rPr>
                  <a:t> </a:t>
                </a:r>
              </a:p>
            </p:txBody>
          </p:sp>
        </mc:Fallback>
      </mc:AlternateContent>
      <p:sp>
        <p:nvSpPr>
          <p:cNvPr id="11" name="Google Shape;278;g104476d1465_1_17">
            <a:extLst>
              <a:ext uri="{FF2B5EF4-FFF2-40B4-BE49-F238E27FC236}">
                <a16:creationId xmlns:a16="http://schemas.microsoft.com/office/drawing/2014/main" id="{E9CA456B-1791-3E43-BCF8-7E55B6240BB8}"/>
              </a:ext>
            </a:extLst>
          </p:cNvPr>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4" name="Picture 13">
            <a:extLst>
              <a:ext uri="{FF2B5EF4-FFF2-40B4-BE49-F238E27FC236}">
                <a16:creationId xmlns:a16="http://schemas.microsoft.com/office/drawing/2014/main" id="{0553B8AC-0F87-4B50-9789-2F318EBB62C2}"/>
              </a:ext>
            </a:extLst>
          </p:cNvPr>
          <p:cNvPicPr>
            <a:picLocks noChangeAspect="1"/>
          </p:cNvPicPr>
          <p:nvPr/>
        </p:nvPicPr>
        <p:blipFill>
          <a:blip r:embed="rId6"/>
          <a:stretch>
            <a:fillRect/>
          </a:stretch>
        </p:blipFill>
        <p:spPr>
          <a:xfrm>
            <a:off x="3986008" y="5526359"/>
            <a:ext cx="4645742" cy="1064781"/>
          </a:xfrm>
          <a:prstGeom prst="rect">
            <a:avLst/>
          </a:prstGeom>
        </p:spPr>
      </p:pic>
      <p:pic>
        <p:nvPicPr>
          <p:cNvPr id="2" name="Picture 1">
            <a:extLst>
              <a:ext uri="{FF2B5EF4-FFF2-40B4-BE49-F238E27FC236}">
                <a16:creationId xmlns:a16="http://schemas.microsoft.com/office/drawing/2014/main" id="{27C091B5-8C98-634E-BF44-BA84BB5B05EF}"/>
              </a:ext>
            </a:extLst>
          </p:cNvPr>
          <p:cNvPicPr>
            <a:picLocks noChangeAspect="1"/>
          </p:cNvPicPr>
          <p:nvPr/>
        </p:nvPicPr>
        <p:blipFill>
          <a:blip r:embed="rId7"/>
          <a:stretch>
            <a:fillRect/>
          </a:stretch>
        </p:blipFill>
        <p:spPr>
          <a:xfrm>
            <a:off x="3310646" y="1700934"/>
            <a:ext cx="5321105" cy="1912816"/>
          </a:xfrm>
          <a:prstGeom prst="rect">
            <a:avLst/>
          </a:prstGeom>
        </p:spPr>
      </p:pic>
    </p:spTree>
    <p:extLst>
      <p:ext uri="{BB962C8B-B14F-4D97-AF65-F5344CB8AC3E}">
        <p14:creationId xmlns:p14="http://schemas.microsoft.com/office/powerpoint/2010/main" val="1674437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4256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20</a:t>
            </a:r>
          </a:p>
        </p:txBody>
      </p:sp>
      <p:sp>
        <p:nvSpPr>
          <p:cNvPr id="6" name="Google Shape;278;g104476d1465_1_17">
            <a:extLst>
              <a:ext uri="{FF2B5EF4-FFF2-40B4-BE49-F238E27FC236}">
                <a16:creationId xmlns:a16="http://schemas.microsoft.com/office/drawing/2014/main" id="{D60F4B17-87E0-004C-AADF-1570DE52C58A}"/>
              </a:ext>
            </a:extLst>
          </p:cNvPr>
          <p:cNvSpPr/>
          <p:nvPr/>
        </p:nvSpPr>
        <p:spPr>
          <a:xfrm>
            <a:off x="-19865"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3" name="Picture 12">
            <a:extLst>
              <a:ext uri="{FF2B5EF4-FFF2-40B4-BE49-F238E27FC236}">
                <a16:creationId xmlns:a16="http://schemas.microsoft.com/office/drawing/2014/main" id="{1348BEE7-6452-5F42-B0D5-F52B1958A97C}"/>
              </a:ext>
            </a:extLst>
          </p:cNvPr>
          <p:cNvPicPr>
            <a:picLocks noChangeAspect="1"/>
          </p:cNvPicPr>
          <p:nvPr/>
        </p:nvPicPr>
        <p:blipFill>
          <a:blip r:embed="rId4"/>
          <a:stretch>
            <a:fillRect/>
          </a:stretch>
        </p:blipFill>
        <p:spPr>
          <a:xfrm>
            <a:off x="4373474" y="2269936"/>
            <a:ext cx="3445052" cy="1879119"/>
          </a:xfrm>
          <a:prstGeom prst="rect">
            <a:avLst/>
          </a:prstGeom>
        </p:spPr>
      </p:pic>
      <p:pic>
        <p:nvPicPr>
          <p:cNvPr id="15" name="Picture 14">
            <a:extLst>
              <a:ext uri="{FF2B5EF4-FFF2-40B4-BE49-F238E27FC236}">
                <a16:creationId xmlns:a16="http://schemas.microsoft.com/office/drawing/2014/main" id="{24722C1A-8678-A647-A0B2-82BEBA96C3A1}"/>
              </a:ext>
            </a:extLst>
          </p:cNvPr>
          <p:cNvPicPr>
            <a:picLocks noChangeAspect="1"/>
          </p:cNvPicPr>
          <p:nvPr/>
        </p:nvPicPr>
        <p:blipFill>
          <a:blip r:embed="rId5"/>
          <a:stretch>
            <a:fillRect/>
          </a:stretch>
        </p:blipFill>
        <p:spPr>
          <a:xfrm>
            <a:off x="3773129" y="4800135"/>
            <a:ext cx="4645742" cy="1064781"/>
          </a:xfrm>
          <a:prstGeom prst="rect">
            <a:avLst/>
          </a:prstGeom>
        </p:spPr>
      </p:pic>
      <p:sp>
        <p:nvSpPr>
          <p:cNvPr id="16" name="TextBox 15">
            <a:extLst>
              <a:ext uri="{FF2B5EF4-FFF2-40B4-BE49-F238E27FC236}">
                <a16:creationId xmlns:a16="http://schemas.microsoft.com/office/drawing/2014/main" id="{165BB819-B18B-CB45-8E38-1EF786BCF2D3}"/>
              </a:ext>
            </a:extLst>
          </p:cNvPr>
          <p:cNvSpPr txBox="1"/>
          <p:nvPr/>
        </p:nvSpPr>
        <p:spPr>
          <a:xfrm>
            <a:off x="357091" y="748669"/>
            <a:ext cx="11477817" cy="4799584"/>
          </a:xfrm>
          <a:prstGeom prst="rect">
            <a:avLst/>
          </a:prstGeom>
          <a:noFill/>
        </p:spPr>
        <p:txBody>
          <a:bodyPr wrap="square" rtlCol="0">
            <a:spAutoFit/>
          </a:bodyPr>
          <a:lstStyle/>
          <a:p>
            <a:pPr marL="920750" indent="-447675">
              <a:lnSpc>
                <a:spcPct val="107000"/>
              </a:lnSpc>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Discuss with your partner how the tape diagram shows that dividing a whole number by a fraction less than 1 will result in a quotient that is greater than the dividend.</a:t>
            </a:r>
          </a:p>
          <a:p>
            <a:pPr marL="920750" indent="-447675">
              <a:lnSpc>
                <a:spcPct val="107000"/>
              </a:lnSpc>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69900" indent="-457200">
              <a:lnSpc>
                <a:spcPct val="107000"/>
              </a:lnSpc>
              <a:buFont typeface="+mj-lt"/>
              <a:buAutoNum type="arabicPeriod" startAt="2"/>
            </a:pPr>
            <a:r>
              <a:rPr lang="en-US" sz="2000" dirty="0">
                <a:latin typeface="Verdana" panose="020B0604030504040204" pitchFamily="34" charset="0"/>
                <a:ea typeface="Verdana" panose="020B0604030504040204" pitchFamily="34" charset="0"/>
                <a:cs typeface="Cambria Math" panose="02040503050406030204" pitchFamily="18" charset="0"/>
              </a:rPr>
              <a:t>A tape diagram is shown.</a:t>
            </a:r>
          </a:p>
          <a:p>
            <a:pPr marL="469900" indent="-457200">
              <a:lnSpc>
                <a:spcPct val="107000"/>
              </a:lnSpc>
              <a:buFont typeface="+mj-lt"/>
              <a:buAutoNum type="arabicPeriod" startAt="2"/>
            </a:pPr>
            <a:endParaRPr lang="en-US" sz="2000" dirty="0">
              <a:latin typeface="Verdana" panose="020B0604030504040204" pitchFamily="34" charset="0"/>
              <a:ea typeface="Verdana" panose="020B0604030504040204" pitchFamily="34" charset="0"/>
              <a:cs typeface="Cambria Math" panose="02040503050406030204" pitchFamily="18" charset="0"/>
            </a:endParaRPr>
          </a:p>
          <a:p>
            <a:pPr marL="469900" indent="-457200">
              <a:lnSpc>
                <a:spcPct val="107000"/>
              </a:lnSpc>
              <a:buFont typeface="+mj-lt"/>
              <a:buAutoNum type="arabicPeriod" startAt="2"/>
            </a:pPr>
            <a:endParaRPr lang="en-US" sz="2000" dirty="0">
              <a:latin typeface="Verdana" panose="020B0604030504040204" pitchFamily="34" charset="0"/>
              <a:ea typeface="Verdana" panose="020B0604030504040204" pitchFamily="34" charset="0"/>
              <a:cs typeface="Cambria Math" panose="02040503050406030204" pitchFamily="18" charset="0"/>
            </a:endParaRPr>
          </a:p>
          <a:p>
            <a:pPr marL="460375">
              <a:lnSpc>
                <a:spcPct val="107000"/>
              </a:lnSpc>
            </a:pPr>
            <a:endParaRPr lang="en-US" sz="2000" dirty="0">
              <a:latin typeface="Verdana" panose="020B0604030504040204" pitchFamily="34" charset="0"/>
              <a:ea typeface="Verdana" panose="020B0604030504040204" pitchFamily="34" charset="0"/>
              <a:cs typeface="Cambria Math" panose="02040503050406030204" pitchFamily="18" charset="0"/>
            </a:endParaRPr>
          </a:p>
          <a:p>
            <a:pPr marL="460375">
              <a:lnSpc>
                <a:spcPct val="107000"/>
              </a:lnSpc>
            </a:pPr>
            <a:endParaRPr lang="en-US" sz="2000" dirty="0">
              <a:latin typeface="Verdana" panose="020B0604030504040204" pitchFamily="34" charset="0"/>
              <a:ea typeface="Verdana" panose="020B0604030504040204" pitchFamily="34" charset="0"/>
              <a:cs typeface="Cambria Math" panose="02040503050406030204" pitchFamily="18" charset="0"/>
            </a:endParaRPr>
          </a:p>
          <a:p>
            <a:pPr marL="460375">
              <a:lnSpc>
                <a:spcPct val="107000"/>
              </a:lnSpc>
            </a:pPr>
            <a:endParaRPr lang="en-US" sz="2000" dirty="0">
              <a:latin typeface="Verdana" panose="020B0604030504040204" pitchFamily="34" charset="0"/>
              <a:ea typeface="Verdana" panose="020B0604030504040204" pitchFamily="34" charset="0"/>
              <a:cs typeface="Cambria Math" panose="02040503050406030204" pitchFamily="18" charset="0"/>
            </a:endParaRPr>
          </a:p>
          <a:p>
            <a:pPr marL="460375">
              <a:lnSpc>
                <a:spcPct val="107000"/>
              </a:lnSpc>
            </a:pPr>
            <a:endParaRPr lang="en-US" sz="2000" dirty="0">
              <a:latin typeface="Verdana" panose="020B0604030504040204" pitchFamily="34" charset="0"/>
              <a:ea typeface="Verdana" panose="020B0604030504040204" pitchFamily="34" charset="0"/>
              <a:cs typeface="Cambria Math" panose="02040503050406030204" pitchFamily="18" charset="0"/>
            </a:endParaRPr>
          </a:p>
          <a:p>
            <a:pPr marL="460375">
              <a:lnSpc>
                <a:spcPct val="107000"/>
              </a:lnSpc>
            </a:pPr>
            <a:r>
              <a:rPr lang="en-US" sz="2000" dirty="0">
                <a:latin typeface="Verdana" panose="020B0604030504040204" pitchFamily="34" charset="0"/>
                <a:ea typeface="Verdana" panose="020B0604030504040204" pitchFamily="34" charset="0"/>
                <a:cs typeface="Cambria Math" panose="02040503050406030204" pitchFamily="18" charset="0"/>
              </a:rPr>
              <a:t>W</a:t>
            </a:r>
            <a:r>
              <a:rPr lang="en-US" sz="2000" dirty="0">
                <a:latin typeface="Verdana" panose="020B0604030504040204" pitchFamily="34" charset="0"/>
                <a:ea typeface="Verdana" panose="020B0604030504040204" pitchFamily="34" charset="0"/>
                <a:cs typeface="Verdana" panose="020B0604030504040204" pitchFamily="34" charset="0"/>
              </a:rPr>
              <a:t>rite the division equation that is represented by the tape diagram.</a:t>
            </a:r>
            <a:endParaRPr lang="en-US" sz="2000" dirty="0">
              <a:latin typeface="Verdana" panose="020B0604030504040204" pitchFamily="34" charset="0"/>
              <a:ea typeface="Verdana" panose="020B0604030504040204" pitchFamily="34" charset="0"/>
              <a:cs typeface="Cambria Math" panose="02040503050406030204" pitchFamily="18" charset="0"/>
            </a:endParaRPr>
          </a:p>
          <a:p>
            <a:pPr marL="469900" indent="-457200">
              <a:lnSpc>
                <a:spcPct val="107000"/>
              </a:lnSpc>
              <a:buFont typeface="+mj-lt"/>
              <a:buAutoNum type="arabicPeriod" startAt="2"/>
            </a:pPr>
            <a:endParaRPr lang="en-US" sz="2400" dirty="0">
              <a:latin typeface="Verdana" panose="020B0604030504040204" pitchFamily="34" charset="0"/>
              <a:ea typeface="Verdana" panose="020B0604030504040204" pitchFamily="34" charset="0"/>
              <a:cs typeface="Cambria Math" panose="02040503050406030204" pitchFamily="18" charset="0"/>
            </a:endParaRPr>
          </a:p>
          <a:p>
            <a:pPr marL="920750" indent="-447675">
              <a:lnSpc>
                <a:spcPct val="107000"/>
              </a:lnSpc>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2518468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49636"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20</a:t>
            </a:r>
          </a:p>
        </p:txBody>
      </p:sp>
      <p:sp>
        <p:nvSpPr>
          <p:cNvPr id="6" name="Google Shape;278;g104476d1465_1_17">
            <a:extLst>
              <a:ext uri="{FF2B5EF4-FFF2-40B4-BE49-F238E27FC236}">
                <a16:creationId xmlns:a16="http://schemas.microsoft.com/office/drawing/2014/main" id="{D60F4B17-87E0-004C-AADF-1570DE52C58A}"/>
              </a:ext>
            </a:extLst>
          </p:cNvPr>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45461F9-9862-4C3F-B871-D6885D7D9EDC}"/>
                  </a:ext>
                </a:extLst>
              </p:cNvPr>
              <p:cNvSpPr txBox="1"/>
              <p:nvPr/>
            </p:nvSpPr>
            <p:spPr>
              <a:xfrm>
                <a:off x="525638" y="0"/>
                <a:ext cx="11437762" cy="6015493"/>
              </a:xfrm>
              <a:prstGeom prst="rect">
                <a:avLst/>
              </a:prstGeom>
              <a:noFill/>
            </p:spPr>
            <p:txBody>
              <a:bodyPr wrap="square" rtlCol="0">
                <a:spAutoFit/>
              </a:bodyPr>
              <a:lstStyle/>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The tape diagram shows </a:t>
                </a:r>
                <a14:m>
                  <m:oMath xmlns:m="http://schemas.openxmlformats.org/officeDocument/2006/math">
                    <m:r>
                      <a:rPr lang="en-US" sz="2000" i="1">
                        <a:latin typeface="Cambria Math" panose="02040503050406030204" pitchFamily="18" charset="0"/>
                        <a:ea typeface="Verdana" panose="020B0604030504040204" pitchFamily="34" charset="0"/>
                        <a:cs typeface="Verdana" panose="020B0604030504040204" pitchFamily="34" charset="0"/>
                      </a:rPr>
                      <m:t>6</m:t>
                    </m:r>
                  </m:oMath>
                </a14:m>
                <a:r>
                  <a:rPr lang="en-US" sz="2000" dirty="0">
                    <a:latin typeface="Verdana" panose="020B0604030504040204" pitchFamily="34" charset="0"/>
                    <a:ea typeface="Verdana" panose="020B0604030504040204" pitchFamily="34" charset="0"/>
                    <a:cs typeface="Verdana" panose="020B0604030504040204" pitchFamily="34" charset="0"/>
                  </a:rPr>
                  <a:t> groups in </a:t>
                </a:r>
                <a14:m>
                  <m:oMath xmlns:m="http://schemas.openxmlformats.org/officeDocument/2006/math">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r>
                          <a:rPr lang="en-US" sz="2000" i="1">
                            <a:latin typeface="Cambria Math" panose="02040503050406030204" pitchFamily="18" charset="0"/>
                            <a:ea typeface="Verdana" panose="020B0604030504040204" pitchFamily="34" charset="0"/>
                            <a:cs typeface="Verdana" panose="020B0604030504040204" pitchFamily="34" charset="0"/>
                          </a:rPr>
                          <m:t>1</m:t>
                        </m:r>
                      </m:num>
                      <m:den>
                        <m:r>
                          <a:rPr lang="en-US" sz="2000" i="1">
                            <a:latin typeface="Cambria Math" panose="02040503050406030204" pitchFamily="18" charset="0"/>
                            <a:ea typeface="Verdana" panose="020B0604030504040204" pitchFamily="34" charset="0"/>
                            <a:cs typeface="Verdana" panose="020B0604030504040204" pitchFamily="34" charset="0"/>
                          </a:rPr>
                          <m:t>2</m:t>
                        </m:r>
                      </m:den>
                    </m:f>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457200" indent="-457200">
                  <a:buFont typeface="+mj-lt"/>
                  <a:buAutoNum type="arabicPeriod" startAt="3"/>
                </a:pPr>
                <a:endParaRPr lang="en-US" sz="2000" dirty="0">
                  <a:latin typeface="Verdana" panose="020B0604030504040204" pitchFamily="34" charset="0"/>
                  <a:ea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rPr>
                  <a:t>D</a:t>
                </a:r>
                <a:r>
                  <a:rPr lang="en-US" sz="2000" dirty="0">
                    <a:latin typeface="Verdana" panose="020B0604030504040204" pitchFamily="34" charset="0"/>
                    <a:ea typeface="Verdana" panose="020B0604030504040204" pitchFamily="34" charset="0"/>
                    <a:cs typeface="Verdana" panose="020B0604030504040204" pitchFamily="34" charset="0"/>
                  </a:rPr>
                  <a:t>raw the </a:t>
                </a:r>
                <a14:m>
                  <m:oMath xmlns:m="http://schemas.openxmlformats.org/officeDocument/2006/math">
                    <m:r>
                      <a:rPr lang="en-US" sz="2000" i="1">
                        <a:latin typeface="Cambria Math" panose="02040503050406030204" pitchFamily="18" charset="0"/>
                        <a:ea typeface="Verdana" panose="020B0604030504040204" pitchFamily="34" charset="0"/>
                        <a:cs typeface="Verdana" panose="020B0604030504040204" pitchFamily="34" charset="0"/>
                      </a:rPr>
                      <m:t>6</m:t>
                    </m:r>
                  </m:oMath>
                </a14:m>
                <a:r>
                  <a:rPr lang="en-US" sz="2000" dirty="0">
                    <a:latin typeface="Verdana" panose="020B0604030504040204" pitchFamily="34" charset="0"/>
                    <a:ea typeface="Verdana" panose="020B0604030504040204" pitchFamily="34" charset="0"/>
                    <a:cs typeface="Verdana" panose="020B0604030504040204" pitchFamily="34" charset="0"/>
                  </a:rPr>
                  <a:t> groups for the other </a:t>
                </a:r>
                <a14:m>
                  <m:oMath xmlns:m="http://schemas.openxmlformats.org/officeDocument/2006/math">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r>
                          <a:rPr lang="en-US" sz="2000" i="1">
                            <a:latin typeface="Cambria Math" panose="02040503050406030204" pitchFamily="18" charset="0"/>
                            <a:ea typeface="Verdana" panose="020B0604030504040204" pitchFamily="34" charset="0"/>
                            <a:cs typeface="Verdana" panose="020B0604030504040204" pitchFamily="34" charset="0"/>
                          </a:rPr>
                          <m:t>1</m:t>
                        </m:r>
                      </m:num>
                      <m:den>
                        <m:r>
                          <a:rPr lang="en-US" sz="2000" i="1">
                            <a:latin typeface="Cambria Math" panose="02040503050406030204" pitchFamily="18" charset="0"/>
                            <a:ea typeface="Verdana" panose="020B0604030504040204" pitchFamily="34" charset="0"/>
                            <a:cs typeface="Verdana" panose="020B0604030504040204" pitchFamily="34" charset="0"/>
                          </a:rPr>
                          <m:t>2</m:t>
                        </m:r>
                      </m:den>
                    </m:f>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Complete the explanation by writing a value for each blank.</a:t>
                </a: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Cambria Math" panose="02040503050406030204" pitchFamily="18" charset="0"/>
                </a:endParaRPr>
              </a:p>
              <a:p>
                <a:pPr marL="914400">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The tape diagram shows that </a:t>
                </a:r>
                <a14:m>
                  <m:oMath xmlns:m="http://schemas.openxmlformats.org/officeDocument/2006/math">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r>
                          <a:rPr lang="en-US" sz="2000" i="1">
                            <a:latin typeface="Cambria Math" panose="02040503050406030204" pitchFamily="18" charset="0"/>
                            <a:ea typeface="Verdana" panose="020B0604030504040204" pitchFamily="34" charset="0"/>
                            <a:cs typeface="Verdana" panose="020B0604030504040204" pitchFamily="34" charset="0"/>
                          </a:rPr>
                          <m:t>1</m:t>
                        </m:r>
                      </m:num>
                      <m:den>
                        <m:r>
                          <a:rPr lang="en-US" sz="2000" i="1">
                            <a:latin typeface="Cambria Math" panose="02040503050406030204" pitchFamily="18" charset="0"/>
                            <a:ea typeface="Verdana" panose="020B0604030504040204" pitchFamily="34" charset="0"/>
                            <a:cs typeface="Verdana" panose="020B0604030504040204" pitchFamily="34" charset="0"/>
                          </a:rPr>
                          <m:t>2</m:t>
                        </m:r>
                      </m:den>
                    </m:f>
                    <m:r>
                      <a:rPr lang="en-US" sz="2000" i="1">
                        <a:latin typeface="Cambria Math" panose="02040503050406030204" pitchFamily="18" charset="0"/>
                        <a:ea typeface="Verdana" panose="020B0604030504040204" pitchFamily="34" charset="0"/>
                        <a:cs typeface="Verdana" panose="020B0604030504040204" pitchFamily="34" charset="0"/>
                      </a:rPr>
                      <m:t>÷_______=</m:t>
                    </m:r>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r>
                          <a:rPr lang="en-US" sz="2000" i="1">
                            <a:latin typeface="Cambria Math" panose="02040503050406030204" pitchFamily="18" charset="0"/>
                            <a:ea typeface="Verdana" panose="020B0604030504040204" pitchFamily="34" charset="0"/>
                            <a:cs typeface="Verdana" panose="020B0604030504040204" pitchFamily="34" charset="0"/>
                          </a:rPr>
                          <m:t>1</m:t>
                        </m:r>
                      </m:num>
                      <m:den>
                        <m:r>
                          <a:rPr lang="en-US" sz="2000" i="1">
                            <a:latin typeface="Cambria Math" panose="02040503050406030204" pitchFamily="18" charset="0"/>
                            <a:ea typeface="Verdana" panose="020B0604030504040204" pitchFamily="34" charset="0"/>
                            <a:cs typeface="Verdana" panose="020B0604030504040204" pitchFamily="34" charset="0"/>
                          </a:rPr>
                          <m:t>12</m:t>
                        </m:r>
                      </m:den>
                    </m:f>
                  </m:oMath>
                </a14:m>
                <a:r>
                  <a:rPr lang="en-US" sz="2000" dirty="0">
                    <a:latin typeface="Verdana" panose="020B0604030504040204" pitchFamily="34" charset="0"/>
                    <a:ea typeface="Verdana" panose="020B0604030504040204" pitchFamily="34" charset="0"/>
                    <a:cs typeface="Verdana" panose="020B0604030504040204" pitchFamily="34" charset="0"/>
                  </a:rPr>
                  <a:t> because 1 whole is first divided into two parts or _______. Then, each half is divided into ________ groups. Since the tape diagram represents the value of 1 and it has now been divided into 12 parts, each part is represented by the fraction, _______.  </a:t>
                </a:r>
                <a:endParaRPr lang="en-US" sz="2000" dirty="0">
                  <a:latin typeface="Verdana" panose="020B0604030504040204" pitchFamily="34" charset="0"/>
                  <a:ea typeface="Verdana" panose="020B0604030504040204" pitchFamily="34" charset="0"/>
                  <a:cs typeface="Cambria Math" panose="02040503050406030204" pitchFamily="18" charset="0"/>
                </a:endParaRPr>
              </a:p>
              <a:p>
                <a:pPr marL="457200" indent="-457200">
                  <a:buFont typeface="+mj-lt"/>
                  <a:buAutoNum type="arabicPeriod" startAt="3"/>
                </a:pPr>
                <a:endParaRPr lang="en-US" dirty="0"/>
              </a:p>
            </p:txBody>
          </p:sp>
        </mc:Choice>
        <mc:Fallback xmlns="">
          <p:sp>
            <p:nvSpPr>
              <p:cNvPr id="3" name="TextBox 2">
                <a:extLst>
                  <a:ext uri="{FF2B5EF4-FFF2-40B4-BE49-F238E27FC236}">
                    <a16:creationId xmlns:a16="http://schemas.microsoft.com/office/drawing/2014/main" id="{B45461F9-9862-4C3F-B871-D6885D7D9EDC}"/>
                  </a:ext>
                </a:extLst>
              </p:cNvPr>
              <p:cNvSpPr txBox="1">
                <a:spLocks noRot="1" noChangeAspect="1" noMove="1" noResize="1" noEditPoints="1" noAdjustHandles="1" noChangeArrowheads="1" noChangeShapeType="1" noTextEdit="1"/>
              </p:cNvSpPr>
              <p:nvPr/>
            </p:nvSpPr>
            <p:spPr>
              <a:xfrm>
                <a:off x="525638" y="0"/>
                <a:ext cx="11437762" cy="6015493"/>
              </a:xfrm>
              <a:prstGeom prst="rect">
                <a:avLst/>
              </a:prstGeom>
              <a:blipFill>
                <a:blip r:embed="rId4"/>
                <a:stretch>
                  <a:fillRect l="-554"/>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B71D9DE7-DC68-4A3D-8876-8CA40841EDA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341916" y="500493"/>
            <a:ext cx="6074227" cy="1937719"/>
          </a:xfrm>
          <a:prstGeom prst="rect">
            <a:avLst/>
          </a:prstGeom>
        </p:spPr>
      </p:pic>
    </p:spTree>
    <p:extLst>
      <p:ext uri="{BB962C8B-B14F-4D97-AF65-F5344CB8AC3E}">
        <p14:creationId xmlns:p14="http://schemas.microsoft.com/office/powerpoint/2010/main" val="29356183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27864"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AA35BC6-D428-FC41-BDE5-6438AB8840FC}"/>
                  </a:ext>
                </a:extLst>
              </p:cNvPr>
              <p:cNvSpPr txBox="1"/>
              <p:nvPr/>
            </p:nvSpPr>
            <p:spPr>
              <a:xfrm>
                <a:off x="897423" y="152401"/>
                <a:ext cx="10946234" cy="8372357"/>
              </a:xfrm>
              <a:prstGeom prst="rect">
                <a:avLst/>
              </a:prstGeom>
              <a:noFill/>
            </p:spPr>
            <p:txBody>
              <a:bodyPr wrap="square" rtlCol="0">
                <a:spAutoFit/>
              </a:bodyPr>
              <a:lstStyle/>
              <a:p>
                <a:pPr marL="457200" indent="-457200">
                  <a:lnSpc>
                    <a:spcPct val="107000"/>
                  </a:lnSpc>
                  <a:buFont typeface="+mj-lt"/>
                  <a:buAutoNum type="arabicPeriod" startAt="4"/>
                </a:pPr>
                <a:r>
                  <a:rPr lang="en-US" sz="2000" dirty="0">
                    <a:latin typeface="Verdana" panose="020B0604030504040204" pitchFamily="34" charset="0"/>
                    <a:ea typeface="Verdana" panose="020B0604030504040204" pitchFamily="34" charset="0"/>
                    <a:cs typeface="Verdana" panose="020B0604030504040204" pitchFamily="34" charset="0"/>
                  </a:rPr>
                  <a:t>Work with your partner to use the tape diagram to show </a:t>
                </a:r>
                <a14:m>
                  <m:oMath xmlns:m="http://schemas.openxmlformats.org/officeDocument/2006/math">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r>
                          <a:rPr lang="en-US" sz="2000" i="1">
                            <a:latin typeface="Cambria Math" panose="02040503050406030204" pitchFamily="18" charset="0"/>
                            <a:ea typeface="Verdana" panose="020B0604030504040204" pitchFamily="34" charset="0"/>
                            <a:cs typeface="Verdana" panose="020B0604030504040204" pitchFamily="34" charset="0"/>
                          </a:rPr>
                          <m:t>1</m:t>
                        </m:r>
                      </m:num>
                      <m:den>
                        <m:r>
                          <a:rPr lang="en-US" sz="2000" i="1">
                            <a:latin typeface="Cambria Math" panose="02040503050406030204" pitchFamily="18" charset="0"/>
                            <a:ea typeface="Verdana" panose="020B0604030504040204" pitchFamily="34" charset="0"/>
                            <a:cs typeface="Verdana" panose="020B0604030504040204" pitchFamily="34" charset="0"/>
                          </a:rPr>
                          <m:t>4</m:t>
                        </m:r>
                      </m:den>
                    </m:f>
                    <m:r>
                      <a:rPr lang="en-US" sz="2000" i="1">
                        <a:latin typeface="Cambria Math" panose="02040503050406030204" pitchFamily="18" charset="0"/>
                        <a:ea typeface="Verdana" panose="020B0604030504040204" pitchFamily="34" charset="0"/>
                        <a:cs typeface="Verdana" panose="020B0604030504040204" pitchFamily="34" charset="0"/>
                      </a:rPr>
                      <m:t>÷2</m:t>
                    </m:r>
                  </m:oMath>
                </a14:m>
                <a:r>
                  <a:rPr lang="en-US" sz="1800" dirty="0">
                    <a:latin typeface="Verdana" panose="020B0604030504040204" pitchFamily="34" charset="0"/>
                    <a:ea typeface="Verdana" panose="020B0604030504040204" pitchFamily="34" charset="0"/>
                    <a:cs typeface="Verdana" panose="020B0604030504040204" pitchFamily="34" charset="0"/>
                  </a:rPr>
                  <a:t>.</a:t>
                </a:r>
              </a:p>
              <a:p>
                <a:pPr marL="457200" indent="-457200">
                  <a:lnSpc>
                    <a:spcPct val="107000"/>
                  </a:lnSpc>
                  <a:buFont typeface="+mj-lt"/>
                  <a:buAutoNum type="arabicPeriod" startAt="4"/>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07000"/>
                  </a:lnSpc>
                  <a:buFont typeface="+mj-lt"/>
                  <a:buAutoNum type="arabicPeriod" startAt="4"/>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07000"/>
                  </a:lnSpc>
                  <a:buFont typeface="+mj-lt"/>
                  <a:buAutoNum type="arabicPeriod" startAt="4"/>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07000"/>
                  </a:lnSpc>
                  <a:buFont typeface="+mj-lt"/>
                  <a:buAutoNum type="arabicPeriod" startAt="4"/>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07000"/>
                  </a:lnSpc>
                  <a:buFont typeface="+mj-lt"/>
                  <a:buAutoNum type="arabicPeriod" startAt="4"/>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07000"/>
                  </a:lnSpc>
                  <a:buFont typeface="+mj-lt"/>
                  <a:buAutoNum type="arabicPeriod" startAt="4"/>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07000"/>
                  </a:lnSpc>
                  <a:buFont typeface="+mj-lt"/>
                  <a:buAutoNum type="arabicPeriod" startAt="4"/>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07000"/>
                  </a:lnSpc>
                  <a:buFont typeface="+mj-lt"/>
                  <a:buAutoNum type="arabicPeriod" startAt="4"/>
                </a:pPr>
                <a:endParaRPr lang="en-US" sz="1800" dirty="0">
                  <a:latin typeface="Verdana" panose="020B0604030504040204" pitchFamily="34" charset="0"/>
                  <a:ea typeface="Verdana" panose="020B0604030504040204" pitchFamily="34" charset="0"/>
                  <a:cs typeface="Verdana" panose="020B0604030504040204" pitchFamily="34" charset="0"/>
                </a:endParaRPr>
              </a:p>
              <a:p>
                <a:pPr>
                  <a:lnSpc>
                    <a:spcPct val="107000"/>
                  </a:lnSpc>
                </a:pPr>
                <a:endParaRPr lang="en-US" sz="1800" dirty="0">
                  <a:latin typeface="Verdana" panose="020B0604030504040204" pitchFamily="34" charset="0"/>
                  <a:ea typeface="Verdana" panose="020B0604030504040204" pitchFamily="34" charset="0"/>
                  <a:cs typeface="Verdana" panose="020B0604030504040204" pitchFamily="34" charset="0"/>
                </a:endParaRPr>
              </a:p>
              <a:p>
                <a:pPr>
                  <a:lnSpc>
                    <a:spcPct val="107000"/>
                  </a:lnSpc>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07000"/>
                  </a:lnSpc>
                  <a:buFont typeface="+mj-lt"/>
                  <a:buAutoNum type="arabicPeriod" startAt="4"/>
                </a:pPr>
                <a:endParaRPr lang="en-US" sz="1800" dirty="0">
                  <a:latin typeface="Verdana" panose="020B0604030504040204" pitchFamily="34" charset="0"/>
                  <a:ea typeface="Verdana" panose="020B0604030504040204" pitchFamily="34" charset="0"/>
                  <a:cs typeface="Verdana" panose="020B0604030504040204" pitchFamily="34" charset="0"/>
                </a:endParaRPr>
              </a:p>
              <a:p>
                <a:pPr indent="457200">
                  <a:lnSpc>
                    <a:spcPct val="107000"/>
                  </a:lnSpc>
                </a:pPr>
                <a:r>
                  <a:rPr lang="en-US" sz="1800" dirty="0">
                    <a:latin typeface="Verdana" panose="020B0604030504040204" pitchFamily="34" charset="0"/>
                    <a:ea typeface="Verdana" panose="020B0604030504040204" pitchFamily="34" charset="0"/>
                    <a:cs typeface="Verdana" panose="020B0604030504040204" pitchFamily="34" charset="0"/>
                  </a:rPr>
                  <a:t>The tape diagram shows that the quotient of </a:t>
                </a:r>
                <a14:m>
                  <m:oMath xmlns:m="http://schemas.openxmlformats.org/officeDocument/2006/math">
                    <m:f>
                      <m:fPr>
                        <m:ctrlPr>
                          <a:rPr lang="en-US" sz="1800" i="1">
                            <a:latin typeface="Cambria Math" panose="02040503050406030204" pitchFamily="18" charset="0"/>
                            <a:ea typeface="Verdana" panose="020B0604030504040204" pitchFamily="34" charset="0"/>
                            <a:cs typeface="Verdana" panose="020B0604030504040204" pitchFamily="34" charset="0"/>
                          </a:rPr>
                        </m:ctrlPr>
                      </m:fPr>
                      <m:num>
                        <m:r>
                          <a:rPr lang="en-US" sz="1800" i="1">
                            <a:latin typeface="Cambria Math" panose="02040503050406030204" pitchFamily="18" charset="0"/>
                            <a:ea typeface="Verdana" panose="020B0604030504040204" pitchFamily="34" charset="0"/>
                            <a:cs typeface="Verdana" panose="020B0604030504040204" pitchFamily="34" charset="0"/>
                          </a:rPr>
                          <m:t>1</m:t>
                        </m:r>
                      </m:num>
                      <m:den>
                        <m:r>
                          <a:rPr lang="en-US" sz="1800" i="1">
                            <a:latin typeface="Cambria Math" panose="02040503050406030204" pitchFamily="18" charset="0"/>
                            <a:ea typeface="Verdana" panose="020B0604030504040204" pitchFamily="34" charset="0"/>
                            <a:cs typeface="Verdana" panose="020B0604030504040204" pitchFamily="34" charset="0"/>
                          </a:rPr>
                          <m:t>4</m:t>
                        </m:r>
                      </m:den>
                    </m:f>
                    <m:r>
                      <a:rPr lang="en-US" sz="1800" i="1">
                        <a:latin typeface="Cambria Math" panose="02040503050406030204" pitchFamily="18" charset="0"/>
                        <a:ea typeface="Verdana" panose="020B0604030504040204" pitchFamily="34" charset="0"/>
                        <a:cs typeface="Verdana" panose="020B0604030504040204" pitchFamily="34" charset="0"/>
                      </a:rPr>
                      <m:t>÷2</m:t>
                    </m:r>
                  </m:oMath>
                </a14:m>
                <a:r>
                  <a:rPr lang="en-US" sz="1800" dirty="0">
                    <a:latin typeface="Verdana" panose="020B0604030504040204" pitchFamily="34" charset="0"/>
                    <a:ea typeface="Verdana" panose="020B0604030504040204" pitchFamily="34" charset="0"/>
                    <a:cs typeface="Verdana" panose="020B0604030504040204" pitchFamily="34" charset="0"/>
                  </a:rPr>
                  <a:t> is ______.</a:t>
                </a:r>
                <a:endParaRPr lang="en-US" sz="1800" dirty="0">
                  <a:latin typeface="Verdana" panose="020B0604030504040204" pitchFamily="34" charset="0"/>
                  <a:ea typeface="Verdana" panose="020B0604030504040204" pitchFamily="34" charset="0"/>
                  <a:cs typeface="Cambria Math" panose="02040503050406030204" pitchFamily="18" charset="0"/>
                </a:endParaRPr>
              </a:p>
              <a:p>
                <a:pPr marL="457200" indent="-457200">
                  <a:lnSpc>
                    <a:spcPct val="107000"/>
                  </a:lnSpc>
                  <a:buFont typeface="+mj-lt"/>
                  <a:buAutoNum type="arabicPeriod" startAt="4"/>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07000"/>
                  </a:lnSpc>
                  <a:buFont typeface="+mj-lt"/>
                  <a:buAutoNum type="arabicPeriod" startAt="4"/>
                </a:pPr>
                <a:endParaRPr lang="en-US" sz="1800" dirty="0">
                  <a:latin typeface="Verdana" panose="020B0604030504040204" pitchFamily="34" charset="0"/>
                  <a:ea typeface="Verdana" panose="020B0604030504040204" pitchFamily="34" charset="0"/>
                  <a:cs typeface="Cambria Math" panose="02040503050406030204" pitchFamily="18" charset="0"/>
                </a:endParaRPr>
              </a:p>
              <a:p>
                <a:pPr marL="457200" indent="-457200">
                  <a:lnSpc>
                    <a:spcPct val="107000"/>
                  </a:lnSpc>
                  <a:buFont typeface="+mj-lt"/>
                  <a:buAutoNum type="arabicPeriod" startAt="4"/>
                </a:pPr>
                <a:endParaRPr lang="en-US" sz="1800" dirty="0">
                  <a:latin typeface="Verdana" panose="020B0604030504040204" pitchFamily="34" charset="0"/>
                  <a:ea typeface="Verdana" panose="020B0604030504040204" pitchFamily="34" charset="0"/>
                  <a:cs typeface="Cambria Math" panose="02040503050406030204" pitchFamily="18" charset="0"/>
                </a:endParaRPr>
              </a:p>
              <a:p>
                <a:pPr marL="457200" indent="-457200">
                  <a:lnSpc>
                    <a:spcPct val="107000"/>
                  </a:lnSpc>
                  <a:buFont typeface="+mj-lt"/>
                  <a:buAutoNum type="arabicPeriod" startAt="4"/>
                </a:pPr>
                <a:endParaRPr lang="en-US" sz="1800" dirty="0">
                  <a:latin typeface="Verdana" panose="020B0604030504040204" pitchFamily="34" charset="0"/>
                  <a:ea typeface="Verdana" panose="020B0604030504040204" pitchFamily="34" charset="0"/>
                  <a:cs typeface="Cambria Math" panose="02040503050406030204" pitchFamily="18" charset="0"/>
                </a:endParaRPr>
              </a:p>
              <a:p>
                <a:pPr marL="457200" indent="-457200">
                  <a:lnSpc>
                    <a:spcPct val="107000"/>
                  </a:lnSpc>
                  <a:buFont typeface="+mj-lt"/>
                  <a:buAutoNum type="arabicPeriod" startAt="4"/>
                </a:pPr>
                <a:endParaRPr lang="en-US" sz="1800" dirty="0">
                  <a:latin typeface="Verdana" panose="020B0604030504040204" pitchFamily="34" charset="0"/>
                  <a:ea typeface="Verdana" panose="020B0604030504040204" pitchFamily="34" charset="0"/>
                  <a:cs typeface="Cambria Math" panose="02040503050406030204" pitchFamily="18" charset="0"/>
                </a:endParaRPr>
              </a:p>
              <a:p>
                <a:pPr marL="457200" indent="-457200">
                  <a:lnSpc>
                    <a:spcPct val="107000"/>
                  </a:lnSpc>
                  <a:buFont typeface="+mj-lt"/>
                  <a:buAutoNum type="arabicPeriod" startAt="4"/>
                </a:pPr>
                <a:endParaRPr lang="en-US" sz="1800" dirty="0">
                  <a:latin typeface="Verdana" panose="020B0604030504040204" pitchFamily="34" charset="0"/>
                  <a:ea typeface="Verdana" panose="020B0604030504040204" pitchFamily="34" charset="0"/>
                  <a:cs typeface="Cambria Math" panose="02040503050406030204" pitchFamily="18" charset="0"/>
                </a:endParaRPr>
              </a:p>
              <a:p>
                <a:pPr marL="457200" indent="-457200">
                  <a:lnSpc>
                    <a:spcPct val="107000"/>
                  </a:lnSpc>
                  <a:buFont typeface="+mj-lt"/>
                  <a:buAutoNum type="arabicPeriod" startAt="4"/>
                </a:pPr>
                <a:endParaRPr lang="en-US" sz="1800" dirty="0">
                  <a:latin typeface="Verdana" panose="020B0604030504040204" pitchFamily="34" charset="0"/>
                  <a:ea typeface="Verdana" panose="020B0604030504040204" pitchFamily="34" charset="0"/>
                  <a:cs typeface="Cambria Math" panose="02040503050406030204" pitchFamily="18" charset="0"/>
                </a:endParaRPr>
              </a:p>
              <a:p>
                <a:pPr marL="457200" indent="-457200">
                  <a:lnSpc>
                    <a:spcPct val="107000"/>
                  </a:lnSpc>
                  <a:buFont typeface="+mj-lt"/>
                  <a:buAutoNum type="arabicPeriod" startAt="4"/>
                </a:pPr>
                <a:endParaRPr lang="en-US" sz="1800" dirty="0">
                  <a:latin typeface="Verdana" panose="020B0604030504040204" pitchFamily="34" charset="0"/>
                  <a:ea typeface="Verdana" panose="020B0604030504040204" pitchFamily="34" charset="0"/>
                  <a:cs typeface="Cambria Math" panose="02040503050406030204" pitchFamily="18" charset="0"/>
                </a:endParaRPr>
              </a:p>
              <a:p>
                <a:pPr marL="457200" indent="-457200">
                  <a:lnSpc>
                    <a:spcPct val="107000"/>
                  </a:lnSpc>
                  <a:buFont typeface="+mj-lt"/>
                  <a:buAutoNum type="arabicPeriod" startAt="4"/>
                </a:pPr>
                <a:endParaRPr lang="en-US" sz="1800" dirty="0">
                  <a:latin typeface="Verdana" panose="020B0604030504040204" pitchFamily="34" charset="0"/>
                  <a:ea typeface="Verdana" panose="020B0604030504040204" pitchFamily="34" charset="0"/>
                  <a:cs typeface="Cambria Math" panose="02040503050406030204" pitchFamily="18" charset="0"/>
                </a:endParaRPr>
              </a:p>
              <a:p>
                <a:pPr marL="457200" indent="-457200">
                  <a:lnSpc>
                    <a:spcPct val="107000"/>
                  </a:lnSpc>
                  <a:buFont typeface="+mj-lt"/>
                  <a:buAutoNum type="arabicPeriod" startAt="4"/>
                </a:pPr>
                <a:endParaRPr lang="en-US" sz="1800" dirty="0">
                  <a:latin typeface="Verdana" panose="020B0604030504040204" pitchFamily="34" charset="0"/>
                  <a:ea typeface="Verdana" panose="020B0604030504040204" pitchFamily="34" charset="0"/>
                  <a:cs typeface="Cambria Math" panose="02040503050406030204" pitchFamily="18" charset="0"/>
                </a:endParaRPr>
              </a:p>
              <a:p>
                <a:pPr marL="457200" indent="-457200">
                  <a:lnSpc>
                    <a:spcPct val="107000"/>
                  </a:lnSpc>
                  <a:buFont typeface="+mj-lt"/>
                  <a:buAutoNum type="arabicPeriod" startAt="4"/>
                </a:pPr>
                <a:endParaRPr lang="en-US" sz="1800" dirty="0">
                  <a:latin typeface="Verdana" panose="020B0604030504040204" pitchFamily="34" charset="0"/>
                  <a:ea typeface="Verdana" panose="020B0604030504040204" pitchFamily="34" charset="0"/>
                  <a:cs typeface="Cambria Math" panose="02040503050406030204" pitchFamily="18" charset="0"/>
                </a:endParaRPr>
              </a:p>
              <a:p>
                <a:pPr marL="457200" indent="-457200">
                  <a:lnSpc>
                    <a:spcPct val="107000"/>
                  </a:lnSpc>
                  <a:buFont typeface="+mj-lt"/>
                  <a:buAutoNum type="arabicPeriod" startAt="4"/>
                </a:pPr>
                <a:endParaRPr lang="en-US" sz="1800" dirty="0">
                  <a:latin typeface="Verdana" panose="020B0604030504040204" pitchFamily="34" charset="0"/>
                  <a:ea typeface="Verdana" panose="020B0604030504040204" pitchFamily="34" charset="0"/>
                  <a:cs typeface="Cambria Math" panose="02040503050406030204" pitchFamily="18" charset="0"/>
                </a:endParaRPr>
              </a:p>
              <a:p>
                <a:pPr marL="457200" indent="-457200">
                  <a:lnSpc>
                    <a:spcPct val="107000"/>
                  </a:lnSpc>
                  <a:buFont typeface="+mj-lt"/>
                  <a:buAutoNum type="arabicPeriod" startAt="4"/>
                </a:pPr>
                <a:endParaRPr lang="en-US" sz="1800" dirty="0">
                  <a:latin typeface="Verdana" panose="020B0604030504040204" pitchFamily="34" charset="0"/>
                  <a:ea typeface="Verdana" panose="020B0604030504040204" pitchFamily="34" charset="0"/>
                  <a:cs typeface="Cambria Math" panose="02040503050406030204" pitchFamily="18" charset="0"/>
                </a:endParaRPr>
              </a:p>
              <a:p>
                <a:pPr marL="457200" indent="-457200">
                  <a:lnSpc>
                    <a:spcPct val="107000"/>
                  </a:lnSpc>
                  <a:buFont typeface="+mj-lt"/>
                  <a:buAutoNum type="arabicPeriod" startAt="4"/>
                </a:pPr>
                <a:endParaRPr lang="en-US" sz="1800" dirty="0">
                  <a:latin typeface="Cambria Math" panose="02040503050406030204" pitchFamily="18" charset="0"/>
                  <a:ea typeface="Cambria Math" panose="02040503050406030204" pitchFamily="18" charset="0"/>
                  <a:cs typeface="Cambria Math" panose="02040503050406030204" pitchFamily="18" charset="0"/>
                </a:endParaRPr>
              </a:p>
            </p:txBody>
          </p:sp>
        </mc:Choice>
        <mc:Fallback xmlns="">
          <p:sp>
            <p:nvSpPr>
              <p:cNvPr id="5" name="TextBox 4">
                <a:extLst>
                  <a:ext uri="{FF2B5EF4-FFF2-40B4-BE49-F238E27FC236}">
                    <a16:creationId xmlns:a16="http://schemas.microsoft.com/office/drawing/2014/main" id="{2AA35BC6-D428-FC41-BDE5-6438AB8840FC}"/>
                  </a:ext>
                </a:extLst>
              </p:cNvPr>
              <p:cNvSpPr txBox="1">
                <a:spLocks noRot="1" noChangeAspect="1" noMove="1" noResize="1" noEditPoints="1" noAdjustHandles="1" noChangeArrowheads="1" noChangeShapeType="1" noTextEdit="1"/>
              </p:cNvSpPr>
              <p:nvPr/>
            </p:nvSpPr>
            <p:spPr>
              <a:xfrm>
                <a:off x="897423" y="152401"/>
                <a:ext cx="10946234" cy="8372357"/>
              </a:xfrm>
              <a:prstGeom prst="rect">
                <a:avLst/>
              </a:prstGeom>
              <a:blipFill>
                <a:blip r:embed="rId4"/>
                <a:stretch>
                  <a:fillRect l="-579"/>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D60F4B17-87E0-004C-AADF-1570DE52C58A}"/>
              </a:ext>
            </a:extLst>
          </p:cNvPr>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Picture 2">
            <a:extLst>
              <a:ext uri="{FF2B5EF4-FFF2-40B4-BE49-F238E27FC236}">
                <a16:creationId xmlns:a16="http://schemas.microsoft.com/office/drawing/2014/main" id="{9D945A12-FFB3-4150-BDDF-088D7AE5153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603172" y="1168143"/>
            <a:ext cx="4776787" cy="2630291"/>
          </a:xfrm>
          <a:prstGeom prst="rect">
            <a:avLst/>
          </a:prstGeom>
        </p:spPr>
      </p:pic>
    </p:spTree>
    <p:extLst>
      <p:ext uri="{BB962C8B-B14F-4D97-AF65-F5344CB8AC3E}">
        <p14:creationId xmlns:p14="http://schemas.microsoft.com/office/powerpoint/2010/main" val="16678212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28617"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a:t>
            </a:r>
          </a:p>
        </p:txBody>
      </p:sp>
    </p:spTree>
    <p:extLst>
      <p:ext uri="{BB962C8B-B14F-4D97-AF65-F5344CB8AC3E}">
        <p14:creationId xmlns:p14="http://schemas.microsoft.com/office/powerpoint/2010/main" val="37026124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524012" y="-8225"/>
            <a:ext cx="940000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1.4.3 Guided Instruction: Dividing Fractions</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4">
            <a:alphaModFix/>
          </a:blip>
          <a:srcRect/>
          <a:stretch/>
        </p:blipFill>
        <p:spPr>
          <a:xfrm>
            <a:off x="520693" y="67903"/>
            <a:ext cx="747300" cy="747300"/>
          </a:xfrm>
          <a:prstGeom prst="rect">
            <a:avLst/>
          </a:prstGeom>
          <a:noFill/>
          <a:ln>
            <a:noFill/>
          </a:ln>
          <a:effectLst>
            <a:outerShdw blurRad="50800" dist="38100" dir="2700000" algn="tl" rotWithShape="0">
              <a:prstClr val="black">
                <a:alpha val="40000"/>
              </a:prstClr>
            </a:outerShdw>
          </a:effectLst>
        </p:spPr>
      </p:pic>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64599"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a:t>
            </a:r>
          </a:p>
        </p:txBody>
      </p:sp>
      <p:sp>
        <p:nvSpPr>
          <p:cNvPr id="13" name="TextBox 12">
            <a:extLst>
              <a:ext uri="{FF2B5EF4-FFF2-40B4-BE49-F238E27FC236}">
                <a16:creationId xmlns:a16="http://schemas.microsoft.com/office/drawing/2014/main" id="{C01B13E8-EC8D-E443-A329-C5E3593DD13A}"/>
              </a:ext>
            </a:extLst>
          </p:cNvPr>
          <p:cNvSpPr txBox="1"/>
          <p:nvPr/>
        </p:nvSpPr>
        <p:spPr>
          <a:xfrm>
            <a:off x="520693" y="1383767"/>
            <a:ext cx="11431821" cy="1015663"/>
          </a:xfrm>
          <a:prstGeom prst="rect">
            <a:avLst/>
          </a:prstGeom>
          <a:noFill/>
        </p:spPr>
        <p:txBody>
          <a:bodyPr wrap="square" rtlCol="0">
            <a:spAutoFit/>
          </a:bodyPr>
          <a:lstStyle/>
          <a:p>
            <a:pPr marL="342900" indent="-3429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The Blue Palmetto Café at Bok Tower Gardens has several items available for purchase so guests can enjoy a meal after touring the gardens. Before the gardens opened for the day, the chef took inventory of the food on hand.</a:t>
            </a:r>
          </a:p>
        </p:txBody>
      </p:sp>
      <p:sp>
        <p:nvSpPr>
          <p:cNvPr id="8" name="Google Shape;278;g104476d1465_1_17">
            <a:extLst>
              <a:ext uri="{FF2B5EF4-FFF2-40B4-BE49-F238E27FC236}">
                <a16:creationId xmlns:a16="http://schemas.microsoft.com/office/drawing/2014/main" id="{7D185CEC-69E3-ED4E-87D7-D8AED7B32136}"/>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Picture 2">
            <a:extLst>
              <a:ext uri="{FF2B5EF4-FFF2-40B4-BE49-F238E27FC236}">
                <a16:creationId xmlns:a16="http://schemas.microsoft.com/office/drawing/2014/main" id="{5D861BEC-677D-49F7-B295-70CE9573E597}"/>
              </a:ext>
            </a:extLst>
          </p:cNvPr>
          <p:cNvPicPr>
            <a:picLocks noChangeAspect="1"/>
          </p:cNvPicPr>
          <p:nvPr/>
        </p:nvPicPr>
        <p:blipFill>
          <a:blip r:embed="rId5"/>
          <a:stretch>
            <a:fillRect/>
          </a:stretch>
        </p:blipFill>
        <p:spPr>
          <a:xfrm>
            <a:off x="2519851" y="2709464"/>
            <a:ext cx="7202345" cy="3819774"/>
          </a:xfrm>
          <a:prstGeom prst="rect">
            <a:avLst/>
          </a:prstGeom>
        </p:spPr>
      </p:pic>
    </p:spTree>
    <p:extLst>
      <p:ext uri="{BB962C8B-B14F-4D97-AF65-F5344CB8AC3E}">
        <p14:creationId xmlns:p14="http://schemas.microsoft.com/office/powerpoint/2010/main" val="39024578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0609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21</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E5E1E0-A54D-BE42-84B5-F917038ADE99}"/>
                  </a:ext>
                </a:extLst>
              </p:cNvPr>
              <p:cNvSpPr txBox="1"/>
              <p:nvPr/>
            </p:nvSpPr>
            <p:spPr>
              <a:xfrm>
                <a:off x="794657" y="129620"/>
                <a:ext cx="10833493" cy="4430124"/>
              </a:xfrm>
              <a:prstGeom prst="rect">
                <a:avLst/>
              </a:prstGeom>
              <a:noFill/>
            </p:spPr>
            <p:txBody>
              <a:bodyPr wrap="square" rtlCol="0">
                <a:spAutoFit/>
              </a:bodyPr>
              <a:lstStyle/>
              <a:p>
                <a:pPr marL="811213" indent="-341313">
                  <a:lnSpc>
                    <a:spcPct val="107000"/>
                  </a:lnSpc>
                  <a:buFont typeface="+mj-lt"/>
                  <a:buAutoNum type="alphaLcPeriod"/>
                  <a:tabLst>
                    <a:tab pos="3314700" algn="l"/>
                  </a:tabLst>
                </a:pPr>
                <a:r>
                  <a:rPr lang="en-US" sz="2000" dirty="0">
                    <a:latin typeface="Verdana" panose="020B0604030504040204" pitchFamily="34" charset="0"/>
                    <a:ea typeface="Verdana" panose="020B0604030504040204" pitchFamily="34" charset="0"/>
                    <a:cs typeface="Verdana" panose="020B0604030504040204" pitchFamily="34" charset="0"/>
                  </a:rPr>
                  <a:t>Each cup of iced tea is approximately </a:t>
                </a:r>
                <a14:m>
                  <m:oMath xmlns:m="http://schemas.openxmlformats.org/officeDocument/2006/math">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r>
                          <a:rPr lang="en-US" sz="2000" i="1">
                            <a:latin typeface="Cambria Math" panose="02040503050406030204" pitchFamily="18" charset="0"/>
                            <a:ea typeface="Verdana" panose="020B0604030504040204" pitchFamily="34" charset="0"/>
                            <a:cs typeface="Verdana" panose="020B0604030504040204" pitchFamily="34" charset="0"/>
                          </a:rPr>
                          <m:t>1</m:t>
                        </m:r>
                      </m:num>
                      <m:den>
                        <m:r>
                          <a:rPr lang="en-US" sz="2000" i="1">
                            <a:latin typeface="Cambria Math" panose="02040503050406030204" pitchFamily="18" charset="0"/>
                            <a:ea typeface="Verdana" panose="020B0604030504040204" pitchFamily="34" charset="0"/>
                            <a:cs typeface="Verdana" panose="020B0604030504040204" pitchFamily="34" charset="0"/>
                          </a:rPr>
                          <m:t>8</m:t>
                        </m:r>
                      </m:den>
                    </m:f>
                  </m:oMath>
                </a14:m>
                <a:r>
                  <a:rPr lang="en-US" sz="2000" dirty="0">
                    <a:latin typeface="Verdana" panose="020B0604030504040204" pitchFamily="34" charset="0"/>
                    <a:ea typeface="Verdana" panose="020B0604030504040204" pitchFamily="34" charset="0"/>
                    <a:cs typeface="Verdana" panose="020B0604030504040204" pitchFamily="34" charset="0"/>
                  </a:rPr>
                  <a:t> of a gallon. Write the division expression that represents how many cups of iced tea the chef had on hand that day.</a:t>
                </a:r>
              </a:p>
              <a:p>
                <a:pPr marL="811213" indent="-341313">
                  <a:lnSpc>
                    <a:spcPct val="107000"/>
                  </a:lnSpc>
                  <a:buFont typeface="+mj-lt"/>
                  <a:buAutoNum type="alphaLcPeriod"/>
                  <a:tabLst>
                    <a:tab pos="3314700"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811213" indent="-341313">
                  <a:lnSpc>
                    <a:spcPct val="107000"/>
                  </a:lnSpc>
                  <a:buFont typeface="+mj-lt"/>
                  <a:buAutoNum type="alphaLcPeriod"/>
                  <a:tabLst>
                    <a:tab pos="3314700"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811213" indent="-341313">
                  <a:lnSpc>
                    <a:spcPct val="107000"/>
                  </a:lnSpc>
                  <a:buFont typeface="+mj-lt"/>
                  <a:buAutoNum type="alphaLcPeriod"/>
                  <a:tabLst>
                    <a:tab pos="3314700"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811213" indent="-341313">
                  <a:lnSpc>
                    <a:spcPct val="107000"/>
                  </a:lnSpc>
                  <a:buFont typeface="+mj-lt"/>
                  <a:buAutoNum type="alphaLcPeriod"/>
                  <a:tabLst>
                    <a:tab pos="3314700"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811213" indent="-341313">
                  <a:lnSpc>
                    <a:spcPct val="107000"/>
                  </a:lnSpc>
                  <a:buFont typeface="+mj-lt"/>
                  <a:buAutoNum type="alphaLcPeriod"/>
                  <a:tabLst>
                    <a:tab pos="3314700" algn="l"/>
                  </a:tabLst>
                </a:pPr>
                <a:r>
                  <a:rPr lang="en-US" sz="2000" dirty="0">
                    <a:latin typeface="Verdana" panose="020B0604030504040204" pitchFamily="34" charset="0"/>
                    <a:ea typeface="Verdana" panose="020B0604030504040204" pitchFamily="34" charset="0"/>
                    <a:cs typeface="Cambria Math" panose="02040503050406030204" pitchFamily="18" charset="0"/>
                  </a:rPr>
                  <a:t>The</a:t>
                </a:r>
                <a:r>
                  <a:rPr lang="en-US" sz="2000" dirty="0">
                    <a:latin typeface="Verdana" panose="020B0604030504040204" pitchFamily="34" charset="0"/>
                    <a:ea typeface="Verdana" panose="020B0604030504040204" pitchFamily="34" charset="0"/>
                    <a:cs typeface="Verdana" panose="020B0604030504040204" pitchFamily="34" charset="0"/>
                  </a:rPr>
                  <a:t> dividend is </a:t>
                </a:r>
              </a:p>
              <a:p>
                <a:pPr marL="342900" indent="-342900">
                  <a:lnSpc>
                    <a:spcPct val="107000"/>
                  </a:lnSpc>
                  <a:buFont typeface="+mj-lt"/>
                  <a:buAutoNum type="alphaLcPeriod"/>
                  <a:tabLst>
                    <a:tab pos="3314700" algn="l"/>
                  </a:tabLst>
                </a:pPr>
                <a:endParaRPr lang="en-US" sz="2000" dirty="0">
                  <a:latin typeface="Verdana" panose="020B0604030504040204" pitchFamily="34" charset="0"/>
                  <a:ea typeface="Verdana" panose="020B0604030504040204" pitchFamily="34" charset="0"/>
                  <a:cs typeface="Cambria Math" panose="02040503050406030204" pitchFamily="18" charset="0"/>
                </a:endParaRPr>
              </a:p>
              <a:p>
                <a:pPr>
                  <a:lnSpc>
                    <a:spcPct val="107000"/>
                  </a:lnSpc>
                  <a:tabLst>
                    <a:tab pos="3314700" algn="l"/>
                  </a:tabLst>
                </a:pPr>
                <a:endParaRPr lang="en-US" sz="2000" dirty="0">
                  <a:latin typeface="Verdana" panose="020B0604030504040204" pitchFamily="34" charset="0"/>
                  <a:ea typeface="Verdana" panose="020B0604030504040204" pitchFamily="34" charset="0"/>
                  <a:cs typeface="Cambria Math" panose="02040503050406030204" pitchFamily="18" charset="0"/>
                </a:endParaRPr>
              </a:p>
              <a:p>
                <a:pPr marL="342900" indent="-342900">
                  <a:lnSpc>
                    <a:spcPct val="107000"/>
                  </a:lnSpc>
                  <a:buFont typeface="+mj-lt"/>
                  <a:buAutoNum type="alphaLcPeriod"/>
                  <a:tabLst>
                    <a:tab pos="3314700" algn="l"/>
                  </a:tabLst>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mj-lt"/>
                  <a:buAutoNum type="alphaLcPeriod"/>
                  <a:tabLst>
                    <a:tab pos="3314700" algn="l"/>
                  </a:tabLst>
                </a:pPr>
                <a:endParaRPr lang="en-US" sz="2000" dirty="0">
                  <a:latin typeface="Cambria Math" panose="02040503050406030204" pitchFamily="18" charset="0"/>
                  <a:ea typeface="Cambria Math" panose="02040503050406030204" pitchFamily="18" charset="0"/>
                  <a:cs typeface="Cambria Math" panose="02040503050406030204" pitchFamily="18" charset="0"/>
                </a:endParaRPr>
              </a:p>
              <a:p>
                <a:pPr marL="914400">
                  <a:lnSpc>
                    <a:spcPct val="107000"/>
                  </a:lnSpc>
                  <a:tabLst>
                    <a:tab pos="3314700" algn="l"/>
                  </a:tabLst>
                </a:pPr>
                <a:r>
                  <a:rPr lang="en-US" sz="1800" i="1" dirty="0">
                    <a:latin typeface="Verdana" panose="020B0604030504040204" pitchFamily="34" charset="0"/>
                    <a:ea typeface="Verdana" panose="020B0604030504040204" pitchFamily="34" charset="0"/>
                    <a:cs typeface="Verdana" panose="020B0604030504040204" pitchFamily="34" charset="0"/>
                  </a:rPr>
                  <a:t> </a:t>
                </a:r>
                <a:endParaRPr lang="en-US" sz="1800" dirty="0">
                  <a:latin typeface="Cambria Math" panose="02040503050406030204" pitchFamily="18" charset="0"/>
                  <a:ea typeface="Cambria Math" panose="02040503050406030204" pitchFamily="18" charset="0"/>
                  <a:cs typeface="Cambria Math" panose="02040503050406030204" pitchFamily="18" charset="0"/>
                </a:endParaRPr>
              </a:p>
            </p:txBody>
          </p:sp>
        </mc:Choice>
        <mc:Fallback xmlns="">
          <p:sp>
            <p:nvSpPr>
              <p:cNvPr id="5" name="TextBox 4">
                <a:extLst>
                  <a:ext uri="{FF2B5EF4-FFF2-40B4-BE49-F238E27FC236}">
                    <a16:creationId xmlns:a16="http://schemas.microsoft.com/office/drawing/2014/main" id="{8AE5E1E0-A54D-BE42-84B5-F917038ADE99}"/>
                  </a:ext>
                </a:extLst>
              </p:cNvPr>
              <p:cNvSpPr txBox="1">
                <a:spLocks noRot="1" noChangeAspect="1" noMove="1" noResize="1" noEditPoints="1" noAdjustHandles="1" noChangeArrowheads="1" noChangeShapeType="1" noTextEdit="1"/>
              </p:cNvSpPr>
              <p:nvPr/>
            </p:nvSpPr>
            <p:spPr>
              <a:xfrm>
                <a:off x="794657" y="129620"/>
                <a:ext cx="10833493" cy="4430124"/>
              </a:xfrm>
              <a:prstGeom prst="rect">
                <a:avLst/>
              </a:prstGeom>
              <a:blipFill>
                <a:blip r:embed="rId4"/>
                <a:stretch>
                  <a:fillRect r="-351"/>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6B29BDED-917F-0645-8F07-B04061D83C61}"/>
              </a:ext>
            </a:extLst>
          </p:cNvPr>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p>
        </p:txBody>
      </p:sp>
      <mc:AlternateContent xmlns:mc="http://schemas.openxmlformats.org/markup-compatibility/2006" xmlns:a14="http://schemas.microsoft.com/office/drawing/2010/main">
        <mc:Choice Requires="a14">
          <p:sp>
            <p:nvSpPr>
              <p:cNvPr id="8" name="Rectangle: Rounded Corners 7">
                <a:extLst>
                  <a:ext uri="{FF2B5EF4-FFF2-40B4-BE49-F238E27FC236}">
                    <a16:creationId xmlns:a16="http://schemas.microsoft.com/office/drawing/2014/main" id="{D352C2E6-7060-4721-AAE2-94401B84C43D}"/>
                  </a:ext>
                </a:extLst>
              </p:cNvPr>
              <p:cNvSpPr/>
              <p:nvPr/>
            </p:nvSpPr>
            <p:spPr>
              <a:xfrm>
                <a:off x="3879532" y="2344682"/>
                <a:ext cx="2216468" cy="981075"/>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lnSpc>
                    <a:spcPct val="115000"/>
                  </a:lnSpc>
                  <a:buFont typeface="Courier New" panose="02070309020205020404" pitchFamily="49" charset="0"/>
                  <a:buChar char="o"/>
                </a:pPr>
                <a14:m>
                  <m:oMath xmlns:m="http://schemas.openxmlformats.org/officeDocument/2006/math">
                    <m:f>
                      <m:fPr>
                        <m:ctrlPr>
                          <a:rPr lang="en-US" sz="1800" i="1">
                            <a:solidFill>
                              <a:srgbClr val="000000"/>
                            </a:solidFill>
                            <a:latin typeface="Cambria Math" panose="02040503050406030204" pitchFamily="18" charset="0"/>
                            <a:ea typeface="Verdana" panose="020B0604030504040204" pitchFamily="34" charset="0"/>
                            <a:cs typeface="Verdana" panose="020B0604030504040204" pitchFamily="34" charset="0"/>
                          </a:rPr>
                        </m:ctrlPr>
                      </m:fPr>
                      <m:num>
                        <m:r>
                          <a:rPr lang="en-US" sz="1800" i="1">
                            <a:solidFill>
                              <a:srgbClr val="000000"/>
                            </a:solidFill>
                            <a:latin typeface="Cambria Math" panose="02040503050406030204" pitchFamily="18" charset="0"/>
                            <a:ea typeface="Verdana" panose="020B0604030504040204" pitchFamily="34" charset="0"/>
                            <a:cs typeface="Verdana" panose="020B0604030504040204" pitchFamily="34" charset="0"/>
                          </a:rPr>
                          <m:t>1</m:t>
                        </m:r>
                      </m:num>
                      <m:den>
                        <m:r>
                          <a:rPr lang="en-US" sz="1800" i="1">
                            <a:solidFill>
                              <a:srgbClr val="000000"/>
                            </a:solidFill>
                            <a:latin typeface="Cambria Math" panose="02040503050406030204" pitchFamily="18" charset="0"/>
                            <a:ea typeface="Verdana" panose="020B0604030504040204" pitchFamily="34" charset="0"/>
                            <a:cs typeface="Verdana" panose="020B0604030504040204" pitchFamily="34" charset="0"/>
                          </a:rPr>
                          <m:t>8</m:t>
                        </m:r>
                      </m:den>
                    </m:f>
                  </m:oMath>
                </a14:m>
                <a:r>
                  <a:rPr lang="en-US" sz="1800" dirty="0">
                    <a:solidFill>
                      <a:srgbClr val="000000"/>
                    </a:solidFill>
                    <a:latin typeface="Verdana" panose="020B0604030504040204" pitchFamily="34" charset="0"/>
                    <a:ea typeface="Cambria Math" panose="02040503050406030204" pitchFamily="18" charset="0"/>
                    <a:cs typeface="Cambria Math" panose="02040503050406030204" pitchFamily="18" charset="0"/>
                  </a:rPr>
                  <a:t> of a gallon.</a:t>
                </a:r>
                <a:endParaRPr lang="en-US" sz="1600" dirty="0">
                  <a:latin typeface="Cambria Math" panose="02040503050406030204" pitchFamily="18" charset="0"/>
                  <a:ea typeface="Cambria Math" panose="02040503050406030204" pitchFamily="18" charset="0"/>
                  <a:cs typeface="Cambria Math" panose="02040503050406030204" pitchFamily="18" charset="0"/>
                </a:endParaRPr>
              </a:p>
              <a:p>
                <a:pPr marL="342900" indent="-342900">
                  <a:lnSpc>
                    <a:spcPct val="115000"/>
                  </a:lnSpc>
                  <a:buFont typeface="Courier New" panose="02070309020205020404" pitchFamily="49" charset="0"/>
                  <a:buChar char="o"/>
                </a:pPr>
                <a:r>
                  <a:rPr lang="en-US" sz="1800" dirty="0">
                    <a:solidFill>
                      <a:srgbClr val="000000"/>
                    </a:solidFill>
                    <a:latin typeface="Cambria Math" panose="02040503050406030204" pitchFamily="18" charset="0"/>
                    <a:ea typeface="Verdana" panose="020B0604030504040204" pitchFamily="34" charset="0"/>
                    <a:cs typeface="Verdana" panose="020B0604030504040204" pitchFamily="34" charset="0"/>
                  </a:rPr>
                  <a:t>2</a:t>
                </a:r>
                <a:r>
                  <a:rPr lang="en-US" sz="1800" dirty="0">
                    <a:solidFill>
                      <a:srgbClr val="000000"/>
                    </a:solidFill>
                    <a:latin typeface="Verdana" panose="020B0604030504040204" pitchFamily="34" charset="0"/>
                    <a:ea typeface="Verdana" panose="020B0604030504040204" pitchFamily="34" charset="0"/>
                    <a:cs typeface="Verdana" panose="020B0604030504040204" pitchFamily="34" charset="0"/>
                  </a:rPr>
                  <a:t> gallons.</a:t>
                </a:r>
                <a:endParaRPr lang="en-US" sz="1600" dirty="0">
                  <a:latin typeface="Cambria Math" panose="02040503050406030204" pitchFamily="18" charset="0"/>
                  <a:ea typeface="Cambria Math" panose="02040503050406030204" pitchFamily="18" charset="0"/>
                  <a:cs typeface="Cambria Math" panose="02040503050406030204" pitchFamily="18" charset="0"/>
                </a:endParaRPr>
              </a:p>
              <a:p>
                <a:pPr algn="ctr">
                  <a:lnSpc>
                    <a:spcPct val="107000"/>
                  </a:lnSpc>
                  <a:spcAft>
                    <a:spcPts val="800"/>
                  </a:spcAft>
                </a:pPr>
                <a:r>
                  <a:rPr lang="en-US" sz="1600" dirty="0">
                    <a:latin typeface="Cambria Math" panose="02040503050406030204" pitchFamily="18" charset="0"/>
                    <a:ea typeface="Cambria Math" panose="02040503050406030204" pitchFamily="18" charset="0"/>
                    <a:cs typeface="Cambria Math" panose="02040503050406030204" pitchFamily="18" charset="0"/>
                  </a:rPr>
                  <a:t> </a:t>
                </a:r>
              </a:p>
            </p:txBody>
          </p:sp>
        </mc:Choice>
        <mc:Fallback xmlns="">
          <p:sp>
            <p:nvSpPr>
              <p:cNvPr id="8" name="Rectangle: Rounded Corners 7">
                <a:extLst>
                  <a:ext uri="{FF2B5EF4-FFF2-40B4-BE49-F238E27FC236}">
                    <a16:creationId xmlns:a16="http://schemas.microsoft.com/office/drawing/2014/main" id="{D352C2E6-7060-4721-AAE2-94401B84C43D}"/>
                  </a:ext>
                </a:extLst>
              </p:cNvPr>
              <p:cNvSpPr>
                <a:spLocks noRot="1" noChangeAspect="1" noMove="1" noResize="1" noEditPoints="1" noAdjustHandles="1" noChangeArrowheads="1" noChangeShapeType="1" noTextEdit="1"/>
              </p:cNvSpPr>
              <p:nvPr/>
            </p:nvSpPr>
            <p:spPr>
              <a:xfrm>
                <a:off x="3879532" y="2344682"/>
                <a:ext cx="2216468" cy="981075"/>
              </a:xfrm>
              <a:prstGeom prst="roundRect">
                <a:avLst/>
              </a:prstGeom>
              <a:blipFill>
                <a:blip r:embed="rId5"/>
                <a:stretch>
                  <a:fillRect/>
                </a:stretch>
              </a:blipFill>
              <a:ln>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33938133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0609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22</a:t>
            </a:r>
          </a:p>
        </p:txBody>
      </p:sp>
      <p:sp>
        <p:nvSpPr>
          <p:cNvPr id="5" name="TextBox 4">
            <a:extLst>
              <a:ext uri="{FF2B5EF4-FFF2-40B4-BE49-F238E27FC236}">
                <a16:creationId xmlns:a16="http://schemas.microsoft.com/office/drawing/2014/main" id="{8AE5E1E0-A54D-BE42-84B5-F917038ADE99}"/>
              </a:ext>
            </a:extLst>
          </p:cNvPr>
          <p:cNvSpPr txBox="1"/>
          <p:nvPr/>
        </p:nvSpPr>
        <p:spPr>
          <a:xfrm>
            <a:off x="751907" y="152400"/>
            <a:ext cx="10876243" cy="5561522"/>
          </a:xfrm>
          <a:prstGeom prst="rect">
            <a:avLst/>
          </a:prstGeom>
          <a:noFill/>
        </p:spPr>
        <p:txBody>
          <a:bodyPr wrap="square" rtlCol="0">
            <a:spAutoFit/>
          </a:bodyPr>
          <a:lstStyle/>
          <a:p>
            <a:pPr>
              <a:lnSpc>
                <a:spcPct val="107000"/>
              </a:lnSpc>
              <a:tabLst>
                <a:tab pos="3314700" algn="l"/>
              </a:tabLst>
            </a:pPr>
            <a:r>
              <a:rPr lang="en-US" sz="2000" dirty="0">
                <a:latin typeface="Verdana" panose="020B0604030504040204" pitchFamily="34" charset="0"/>
                <a:ea typeface="Verdana" panose="020B0604030504040204" pitchFamily="34" charset="0"/>
                <a:cs typeface="Verdana" panose="020B0604030504040204" pitchFamily="34" charset="0"/>
              </a:rPr>
              <a:t>When drawing a model to represent the equation, first draw the </a:t>
            </a:r>
            <a:r>
              <a:rPr lang="en-US" sz="2000" b="1" dirty="0">
                <a:latin typeface="Verdana" panose="020B0604030504040204" pitchFamily="34" charset="0"/>
                <a:ea typeface="Verdana" panose="020B0604030504040204" pitchFamily="34" charset="0"/>
                <a:cs typeface="Verdana" panose="020B0604030504040204" pitchFamily="34" charset="0"/>
              </a:rPr>
              <a:t>dividend</a:t>
            </a:r>
            <a:r>
              <a:rPr lang="en-US" sz="2000" dirty="0">
                <a:latin typeface="Verdana" panose="020B0604030504040204" pitchFamily="34" charset="0"/>
                <a:ea typeface="Verdana" panose="020B0604030504040204" pitchFamily="34" charset="0"/>
                <a:cs typeface="Verdana" panose="020B0604030504040204" pitchFamily="34" charset="0"/>
              </a:rPr>
              <a:t>, or the amount being divided. </a:t>
            </a:r>
          </a:p>
          <a:p>
            <a:pPr>
              <a:lnSpc>
                <a:spcPct val="107000"/>
              </a:lnSpc>
              <a:tabLst>
                <a:tab pos="3314700" algn="l"/>
              </a:tabLst>
            </a:pPr>
            <a:endParaRPr lang="en-US" sz="2000" dirty="0">
              <a:latin typeface="Verdana" panose="020B0604030504040204" pitchFamily="34" charset="0"/>
              <a:ea typeface="Verdana" panose="020B0604030504040204" pitchFamily="34" charset="0"/>
              <a:cs typeface="Cambria Math" panose="02040503050406030204" pitchFamily="18" charset="0"/>
            </a:endParaRPr>
          </a:p>
          <a:p>
            <a:pPr marL="457200">
              <a:lnSpc>
                <a:spcPct val="107000"/>
              </a:lnSpc>
              <a:tabLst>
                <a:tab pos="3314700" algn="l"/>
              </a:tabLst>
            </a:pPr>
            <a:r>
              <a:rPr lang="en-US" sz="2000" dirty="0">
                <a:latin typeface="Verdana" panose="020B0604030504040204" pitchFamily="34" charset="0"/>
                <a:ea typeface="Verdana" panose="020B0604030504040204" pitchFamily="34" charset="0"/>
                <a:cs typeface="Verdana" panose="020B0604030504040204" pitchFamily="34" charset="0"/>
              </a:rPr>
              <a:t>c. Draw a model of the dividend.</a:t>
            </a:r>
          </a:p>
          <a:p>
            <a:pPr>
              <a:lnSpc>
                <a:spcPct val="107000"/>
              </a:lnSpc>
              <a:tabLst>
                <a:tab pos="3314700"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a:lnSpc>
                <a:spcPct val="107000"/>
              </a:lnSpc>
              <a:tabLst>
                <a:tab pos="3314700"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a:lnSpc>
                <a:spcPct val="107000"/>
              </a:lnSpc>
              <a:tabLst>
                <a:tab pos="3314700"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a:lnSpc>
                <a:spcPct val="107000"/>
              </a:lnSpc>
              <a:tabLst>
                <a:tab pos="3314700" algn="l"/>
              </a:tabLst>
            </a:pPr>
            <a:endParaRPr lang="en-US" sz="2000" dirty="0">
              <a:latin typeface="Verdana" panose="020B0604030504040204" pitchFamily="34" charset="0"/>
              <a:ea typeface="Verdana" panose="020B0604030504040204" pitchFamily="34" charset="0"/>
              <a:cs typeface="Cambria Math" panose="02040503050406030204" pitchFamily="18" charset="0"/>
            </a:endParaRPr>
          </a:p>
          <a:p>
            <a:pPr>
              <a:lnSpc>
                <a:spcPct val="107000"/>
              </a:lnSpc>
              <a:tabLst>
                <a:tab pos="3314700" algn="l"/>
              </a:tabLst>
            </a:pPr>
            <a:r>
              <a:rPr lang="en-US" sz="2000" dirty="0">
                <a:latin typeface="Verdana" panose="020B0604030504040204" pitchFamily="34" charset="0"/>
                <a:ea typeface="Verdana" panose="020B0604030504040204" pitchFamily="34" charset="0"/>
                <a:cs typeface="Verdana" panose="020B0604030504040204" pitchFamily="34" charset="0"/>
              </a:rPr>
              <a:t>Then, partition the dividend into equal groups determined by the </a:t>
            </a:r>
            <a:r>
              <a:rPr lang="en-US" sz="2000" b="1" dirty="0">
                <a:latin typeface="Verdana" panose="020B0604030504040204" pitchFamily="34" charset="0"/>
                <a:ea typeface="Verdana" panose="020B0604030504040204" pitchFamily="34" charset="0"/>
                <a:cs typeface="Verdana" panose="020B0604030504040204" pitchFamily="34" charset="0"/>
              </a:rPr>
              <a:t>divisor</a:t>
            </a:r>
            <a:r>
              <a:rPr lang="en-US" sz="2000" dirty="0">
                <a:latin typeface="Verdana" panose="020B0604030504040204" pitchFamily="34" charset="0"/>
                <a:ea typeface="Verdana" panose="020B0604030504040204" pitchFamily="34" charset="0"/>
                <a:cs typeface="Verdana" panose="020B0604030504040204" pitchFamily="34" charset="0"/>
              </a:rPr>
              <a:t>, or the number that tells the size of each group.</a:t>
            </a:r>
          </a:p>
          <a:p>
            <a:pPr>
              <a:lnSpc>
                <a:spcPct val="107000"/>
              </a:lnSpc>
              <a:tabLst>
                <a:tab pos="3314700"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5988" indent="-446088">
              <a:buFont typeface="+mj-lt"/>
              <a:buAutoNum type="alphaLcPeriod" startAt="4"/>
            </a:pPr>
            <a:r>
              <a:rPr lang="en-US" sz="2000" dirty="0">
                <a:latin typeface="Verdana" panose="020B0604030504040204" pitchFamily="34" charset="0"/>
                <a:ea typeface="Verdana" panose="020B0604030504040204" pitchFamily="34" charset="0"/>
                <a:cs typeface="Verdana" panose="020B0604030504040204" pitchFamily="34" charset="0"/>
              </a:rPr>
              <a:t>In this problem, the divisor is </a:t>
            </a:r>
          </a:p>
          <a:p>
            <a:pPr marL="915988" indent="-446088">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5988" indent="-446088">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5988" indent="-446088">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5988" indent="-446088">
              <a:buFont typeface="+mj-lt"/>
              <a:buAutoNum type="alphaLcPeriod" startAt="4"/>
            </a:pPr>
            <a:r>
              <a:rPr lang="en-US" sz="2000" dirty="0">
                <a:latin typeface="Verdana" panose="020B0604030504040204" pitchFamily="34" charset="0"/>
                <a:ea typeface="Verdana" panose="020B0604030504040204" pitchFamily="34" charset="0"/>
                <a:cs typeface="Verdana" panose="020B0604030504040204" pitchFamily="34" charset="0"/>
              </a:rPr>
              <a:t>Complete your model to show the dividend partitioned into equal groups that are the size of the divisor. </a:t>
            </a:r>
            <a:r>
              <a:rPr lang="en-US" sz="1800" i="1" dirty="0">
                <a:latin typeface="Verdana" panose="020B0604030504040204" pitchFamily="34" charset="0"/>
                <a:ea typeface="Verdana" panose="020B0604030504040204" pitchFamily="34" charset="0"/>
                <a:cs typeface="Verdana" panose="020B0604030504040204" pitchFamily="34" charset="0"/>
              </a:rPr>
              <a:t> </a:t>
            </a:r>
            <a:endParaRPr lang="en-US" sz="1800" dirty="0">
              <a:latin typeface="Cambria Math" panose="02040503050406030204" pitchFamily="18" charset="0"/>
              <a:ea typeface="Cambria Math" panose="02040503050406030204" pitchFamily="18" charset="0"/>
              <a:cs typeface="Cambria Math" panose="02040503050406030204" pitchFamily="18" charset="0"/>
            </a:endParaRPr>
          </a:p>
        </p:txBody>
      </p:sp>
      <p:sp>
        <p:nvSpPr>
          <p:cNvPr id="6" name="Google Shape;278;g104476d1465_1_17">
            <a:extLst>
              <a:ext uri="{FF2B5EF4-FFF2-40B4-BE49-F238E27FC236}">
                <a16:creationId xmlns:a16="http://schemas.microsoft.com/office/drawing/2014/main" id="{6B29BDED-917F-0645-8F07-B04061D83C61}"/>
              </a:ext>
            </a:extLst>
          </p:cNvPr>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7" name="Rectangle: Rounded Corners 6">
                <a:extLst>
                  <a:ext uri="{FF2B5EF4-FFF2-40B4-BE49-F238E27FC236}">
                    <a16:creationId xmlns:a16="http://schemas.microsoft.com/office/drawing/2014/main" id="{E9B6152A-C57B-406C-AC1F-250937F037A9}"/>
                  </a:ext>
                </a:extLst>
              </p:cNvPr>
              <p:cNvSpPr/>
              <p:nvPr/>
            </p:nvSpPr>
            <p:spPr>
              <a:xfrm>
                <a:off x="5745358" y="3597677"/>
                <a:ext cx="2200592" cy="984885"/>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lnSpc>
                    <a:spcPct val="115000"/>
                  </a:lnSpc>
                  <a:buFont typeface="Courier New" panose="02070309020205020404" pitchFamily="49" charset="0"/>
                  <a:buChar char="o"/>
                </a:pPr>
                <a14:m>
                  <m:oMath xmlns:m="http://schemas.openxmlformats.org/officeDocument/2006/math">
                    <m:f>
                      <m:fPr>
                        <m:ctrlPr>
                          <a:rPr lang="en-US" sz="1800" i="1">
                            <a:solidFill>
                              <a:srgbClr val="000000"/>
                            </a:solidFill>
                            <a:latin typeface="Cambria Math" panose="02040503050406030204" pitchFamily="18" charset="0"/>
                            <a:ea typeface="Verdana" panose="020B0604030504040204" pitchFamily="34" charset="0"/>
                            <a:cs typeface="Verdana" panose="020B0604030504040204" pitchFamily="34" charset="0"/>
                          </a:rPr>
                        </m:ctrlPr>
                      </m:fPr>
                      <m:num>
                        <m:r>
                          <a:rPr lang="en-US" sz="1800" i="1">
                            <a:solidFill>
                              <a:srgbClr val="000000"/>
                            </a:solidFill>
                            <a:latin typeface="Cambria Math" panose="02040503050406030204" pitchFamily="18" charset="0"/>
                            <a:ea typeface="Verdana" panose="020B0604030504040204" pitchFamily="34" charset="0"/>
                            <a:cs typeface="Verdana" panose="020B0604030504040204" pitchFamily="34" charset="0"/>
                          </a:rPr>
                          <m:t>1</m:t>
                        </m:r>
                      </m:num>
                      <m:den>
                        <m:r>
                          <a:rPr lang="en-US" sz="1800" i="1">
                            <a:solidFill>
                              <a:srgbClr val="000000"/>
                            </a:solidFill>
                            <a:latin typeface="Cambria Math" panose="02040503050406030204" pitchFamily="18" charset="0"/>
                            <a:ea typeface="Verdana" panose="020B0604030504040204" pitchFamily="34" charset="0"/>
                            <a:cs typeface="Verdana" panose="020B0604030504040204" pitchFamily="34" charset="0"/>
                          </a:rPr>
                          <m:t>8</m:t>
                        </m:r>
                      </m:den>
                    </m:f>
                    <m:r>
                      <a:rPr lang="en-US" sz="1800" i="1">
                        <a:solidFill>
                          <a:srgbClr val="000000"/>
                        </a:solidFill>
                        <a:latin typeface="Cambria Math" panose="02040503050406030204" pitchFamily="18" charset="0"/>
                        <a:ea typeface="Verdana" panose="020B0604030504040204" pitchFamily="34" charset="0"/>
                        <a:cs typeface="Verdana" panose="020B0604030504040204" pitchFamily="34" charset="0"/>
                      </a:rPr>
                      <m:t> </m:t>
                    </m:r>
                  </m:oMath>
                </a14:m>
                <a:r>
                  <a:rPr lang="en-US" sz="1800" dirty="0">
                    <a:solidFill>
                      <a:srgbClr val="000000"/>
                    </a:solidFill>
                    <a:latin typeface="Verdana" panose="020B0604030504040204" pitchFamily="34" charset="0"/>
                    <a:ea typeface="Cambria Math" panose="02040503050406030204" pitchFamily="18" charset="0"/>
                    <a:cs typeface="Cambria Math" panose="02040503050406030204" pitchFamily="18" charset="0"/>
                  </a:rPr>
                  <a:t>of a gallon.</a:t>
                </a:r>
                <a:endParaRPr lang="en-US" sz="1600" dirty="0">
                  <a:latin typeface="Cambria Math" panose="02040503050406030204" pitchFamily="18" charset="0"/>
                  <a:ea typeface="Cambria Math" panose="02040503050406030204" pitchFamily="18" charset="0"/>
                  <a:cs typeface="Cambria Math" panose="02040503050406030204" pitchFamily="18" charset="0"/>
                </a:endParaRPr>
              </a:p>
              <a:p>
                <a:pPr marL="342900" indent="-342900">
                  <a:lnSpc>
                    <a:spcPct val="115000"/>
                  </a:lnSpc>
                  <a:buFont typeface="Courier New" panose="02070309020205020404" pitchFamily="49" charset="0"/>
                  <a:buChar char="o"/>
                </a:pPr>
                <a:r>
                  <a:rPr lang="en-US" sz="1800" dirty="0">
                    <a:solidFill>
                      <a:srgbClr val="000000"/>
                    </a:solidFill>
                    <a:latin typeface="Cambria Math" panose="02040503050406030204" pitchFamily="18" charset="0"/>
                    <a:ea typeface="Verdana" panose="020B0604030504040204" pitchFamily="34" charset="0"/>
                    <a:cs typeface="Verdana" panose="020B0604030504040204" pitchFamily="34" charset="0"/>
                  </a:rPr>
                  <a:t>2</a:t>
                </a:r>
                <a:r>
                  <a:rPr lang="en-US" sz="1800" dirty="0">
                    <a:solidFill>
                      <a:srgbClr val="000000"/>
                    </a:solidFill>
                    <a:latin typeface="Verdana" panose="020B0604030504040204" pitchFamily="34" charset="0"/>
                    <a:ea typeface="Verdana" panose="020B0604030504040204" pitchFamily="34" charset="0"/>
                    <a:cs typeface="Verdana" panose="020B0604030504040204" pitchFamily="34" charset="0"/>
                  </a:rPr>
                  <a:t> gallons.</a:t>
                </a:r>
                <a:endParaRPr lang="en-US" sz="1600" dirty="0">
                  <a:latin typeface="Cambria Math" panose="02040503050406030204" pitchFamily="18" charset="0"/>
                  <a:ea typeface="Cambria Math" panose="02040503050406030204" pitchFamily="18" charset="0"/>
                  <a:cs typeface="Cambria Math" panose="02040503050406030204" pitchFamily="18" charset="0"/>
                </a:endParaRPr>
              </a:p>
              <a:p>
                <a:pPr algn="ctr">
                  <a:lnSpc>
                    <a:spcPct val="107000"/>
                  </a:lnSpc>
                  <a:spcAft>
                    <a:spcPts val="800"/>
                  </a:spcAft>
                </a:pPr>
                <a:r>
                  <a:rPr lang="en-US" sz="1600" dirty="0">
                    <a:latin typeface="Cambria Math" panose="02040503050406030204" pitchFamily="18" charset="0"/>
                    <a:ea typeface="Cambria Math" panose="02040503050406030204" pitchFamily="18" charset="0"/>
                    <a:cs typeface="Cambria Math" panose="02040503050406030204" pitchFamily="18" charset="0"/>
                  </a:rPr>
                  <a:t> </a:t>
                </a:r>
              </a:p>
            </p:txBody>
          </p:sp>
        </mc:Choice>
        <mc:Fallback xmlns="">
          <p:sp>
            <p:nvSpPr>
              <p:cNvPr id="7" name="Rectangle: Rounded Corners 6">
                <a:extLst>
                  <a:ext uri="{FF2B5EF4-FFF2-40B4-BE49-F238E27FC236}">
                    <a16:creationId xmlns:a16="http://schemas.microsoft.com/office/drawing/2014/main" id="{E9B6152A-C57B-406C-AC1F-250937F037A9}"/>
                  </a:ext>
                </a:extLst>
              </p:cNvPr>
              <p:cNvSpPr>
                <a:spLocks noRot="1" noChangeAspect="1" noMove="1" noResize="1" noEditPoints="1" noAdjustHandles="1" noChangeArrowheads="1" noChangeShapeType="1" noTextEdit="1"/>
              </p:cNvSpPr>
              <p:nvPr/>
            </p:nvSpPr>
            <p:spPr>
              <a:xfrm>
                <a:off x="5745358" y="3597677"/>
                <a:ext cx="2200592" cy="984885"/>
              </a:xfrm>
              <a:prstGeom prst="roundRect">
                <a:avLst/>
              </a:prstGeom>
              <a:blipFill>
                <a:blip r:embed="rId4"/>
                <a:stretch>
                  <a:fillRect/>
                </a:stretch>
              </a:blipFill>
              <a:ln>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36527792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9507"/>
            <a:ext cx="563850" cy="658368"/>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14950" y="643915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22</a:t>
            </a:r>
          </a:p>
        </p:txBody>
      </p:sp>
      <p:sp>
        <p:nvSpPr>
          <p:cNvPr id="6" name="Google Shape;278;g104476d1465_1_17">
            <a:extLst>
              <a:ext uri="{FF2B5EF4-FFF2-40B4-BE49-F238E27FC236}">
                <a16:creationId xmlns:a16="http://schemas.microsoft.com/office/drawing/2014/main" id="{D60F4B17-87E0-004C-AADF-1570DE52C58A}"/>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BD1AF1D-F8B2-44E6-B3E0-198CCEA0505F}"/>
                  </a:ext>
                </a:extLst>
              </p:cNvPr>
              <p:cNvSpPr txBox="1"/>
              <p:nvPr/>
            </p:nvSpPr>
            <p:spPr>
              <a:xfrm>
                <a:off x="381001" y="715204"/>
                <a:ext cx="11593286" cy="3821367"/>
              </a:xfrm>
              <a:prstGeom prst="rect">
                <a:avLst/>
              </a:prstGeom>
              <a:noFill/>
            </p:spPr>
            <p:txBody>
              <a:bodyPr wrap="square">
                <a:spAutoFit/>
              </a:bodyPr>
              <a:lstStyle/>
              <a:p>
                <a:pPr marL="915988" indent="-458788">
                  <a:lnSpc>
                    <a:spcPct val="107000"/>
                  </a:lnSpc>
                  <a:buFont typeface="+mj-lt"/>
                  <a:buAutoNum type="alphaLcPeriod" startAt="6"/>
                </a:pPr>
                <a:r>
                  <a:rPr lang="en-US" sz="2000" dirty="0">
                    <a:latin typeface="Verdana" panose="020B0604030504040204" pitchFamily="34" charset="0"/>
                    <a:ea typeface="Verdana" panose="020B0604030504040204" pitchFamily="34" charset="0"/>
                    <a:cs typeface="Verdana" panose="020B0604030504040204" pitchFamily="34" charset="0"/>
                  </a:rPr>
                  <a:t>Use your model to determine the number of cups of iced tea that can be served before the café runs out.</a:t>
                </a:r>
                <a:endParaRPr lang="en-US" sz="2000" dirty="0">
                  <a:latin typeface="Verdana" panose="020B0604030504040204" pitchFamily="34" charset="0"/>
                  <a:ea typeface="Verdana" panose="020B0604030504040204" pitchFamily="34" charset="0"/>
                  <a:cs typeface="Cambria Math" panose="02040503050406030204" pitchFamily="18" charset="0"/>
                </a:endParaRPr>
              </a:p>
              <a:p>
                <a:pPr marL="457200" indent="-457200">
                  <a:lnSpc>
                    <a:spcPct val="107000"/>
                  </a:lnSpc>
                  <a:buFont typeface="+mj-lt"/>
                  <a:buAutoNum type="alphaLcPeriod" startAt="6"/>
                  <a:tabLst>
                    <a:tab pos="3314700"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07000"/>
                  </a:lnSpc>
                  <a:buFont typeface="+mj-lt"/>
                  <a:buAutoNum type="alphaLcPeriod" startAt="6"/>
                  <a:tabLst>
                    <a:tab pos="3314700"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07000"/>
                  </a:lnSpc>
                  <a:buFont typeface="+mj-lt"/>
                  <a:buAutoNum type="alphaLcPeriod" startAt="6"/>
                  <a:tabLst>
                    <a:tab pos="3314700"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07000"/>
                  </a:lnSpc>
                  <a:buFont typeface="+mj-lt"/>
                  <a:buAutoNum type="arabicPeriod" startAt="2"/>
                  <a:tabLst>
                    <a:tab pos="3314700" algn="l"/>
                  </a:tabLst>
                </a:pPr>
                <a:r>
                  <a:rPr lang="en-US" sz="2000" dirty="0">
                    <a:latin typeface="Verdana" panose="020B0604030504040204" pitchFamily="34" charset="0"/>
                    <a:ea typeface="Verdana" panose="020B0604030504040204" pitchFamily="34" charset="0"/>
                    <a:cs typeface="Verdana" panose="020B0604030504040204" pitchFamily="34" charset="0"/>
                  </a:rPr>
                  <a:t>A local pre-school decided to go on a field trip to the gardens. The chef knew that for the kids’ meals, each child would receive </a:t>
                </a:r>
                <a14:m>
                  <m:oMath xmlns:m="http://schemas.openxmlformats.org/officeDocument/2006/math">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r>
                          <a:rPr lang="en-US" sz="2000" i="1">
                            <a:latin typeface="Cambria Math" panose="02040503050406030204" pitchFamily="18" charset="0"/>
                            <a:ea typeface="Verdana" panose="020B0604030504040204" pitchFamily="34" charset="0"/>
                            <a:cs typeface="Verdana" panose="020B0604030504040204" pitchFamily="34" charset="0"/>
                          </a:rPr>
                          <m:t>1</m:t>
                        </m:r>
                      </m:num>
                      <m:den>
                        <m:r>
                          <a:rPr lang="en-US" sz="2000" i="1">
                            <a:latin typeface="Cambria Math" panose="02040503050406030204" pitchFamily="18" charset="0"/>
                            <a:ea typeface="Verdana" panose="020B0604030504040204" pitchFamily="34" charset="0"/>
                            <a:cs typeface="Verdana" panose="020B0604030504040204" pitchFamily="34" charset="0"/>
                          </a:rPr>
                          <m:t>2</m:t>
                        </m:r>
                      </m:den>
                    </m:f>
                  </m:oMath>
                </a14:m>
                <a:r>
                  <a:rPr lang="en-US" sz="2000" dirty="0">
                    <a:latin typeface="Verdana" panose="020B0604030504040204" pitchFamily="34" charset="0"/>
                    <a:ea typeface="Verdana" panose="020B0604030504040204" pitchFamily="34" charset="0"/>
                    <a:cs typeface="Verdana" panose="020B0604030504040204" pitchFamily="34" charset="0"/>
                  </a:rPr>
                  <a:t> of a peanut butter and jelly sandwich.</a:t>
                </a:r>
              </a:p>
              <a:p>
                <a:pPr marL="457200" indent="-457200">
                  <a:lnSpc>
                    <a:spcPct val="107000"/>
                  </a:lnSpc>
                  <a:buFont typeface="+mj-lt"/>
                  <a:buAutoNum type="arabicPeriod" startAt="2"/>
                  <a:tabLst>
                    <a:tab pos="3314700"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1028700" indent="-571500">
                  <a:lnSpc>
                    <a:spcPct val="107000"/>
                  </a:lnSpc>
                  <a:buFont typeface="+mj-lt"/>
                  <a:buAutoNum type="alphaLcPeriod"/>
                  <a:tabLst>
                    <a:tab pos="3314700" algn="l"/>
                  </a:tabLst>
                </a:pPr>
                <a:r>
                  <a:rPr lang="en-US" sz="2000" dirty="0">
                    <a:latin typeface="Verdana" panose="020B0604030504040204" pitchFamily="34" charset="0"/>
                    <a:ea typeface="Verdana" panose="020B0604030504040204" pitchFamily="34" charset="0"/>
                    <a:cs typeface="Verdana" panose="020B0604030504040204" pitchFamily="34" charset="0"/>
                  </a:rPr>
                  <a:t>Write the division expression that represents how many kids’ lunches could be made with the number of peanut butter and jelly sandwiches on hand that day.</a:t>
                </a:r>
              </a:p>
              <a:p>
                <a:pPr marL="457200" indent="-457200">
                  <a:lnSpc>
                    <a:spcPct val="107000"/>
                  </a:lnSpc>
                  <a:buFont typeface="+mj-lt"/>
                  <a:buAutoNum type="arabicPeriod" startAt="2"/>
                  <a:tabLst>
                    <a:tab pos="3314700" algn="l"/>
                  </a:tabLst>
                </a:pPr>
                <a:endParaRPr lang="en-US" sz="2000" dirty="0">
                  <a:latin typeface="Verdana" panose="020B0604030504040204" pitchFamily="34" charset="0"/>
                  <a:ea typeface="Verdana" panose="020B0604030504040204" pitchFamily="34" charset="0"/>
                  <a:cs typeface="Cambria Math" panose="02040503050406030204" pitchFamily="18" charset="0"/>
                </a:endParaRPr>
              </a:p>
            </p:txBody>
          </p:sp>
        </mc:Choice>
        <mc:Fallback xmlns="">
          <p:sp>
            <p:nvSpPr>
              <p:cNvPr id="13" name="TextBox 12">
                <a:extLst>
                  <a:ext uri="{FF2B5EF4-FFF2-40B4-BE49-F238E27FC236}">
                    <a16:creationId xmlns:a16="http://schemas.microsoft.com/office/drawing/2014/main" id="{4BD1AF1D-F8B2-44E6-B3E0-198CCEA0505F}"/>
                  </a:ext>
                </a:extLst>
              </p:cNvPr>
              <p:cNvSpPr txBox="1">
                <a:spLocks noRot="1" noChangeAspect="1" noMove="1" noResize="1" noEditPoints="1" noAdjustHandles="1" noChangeArrowheads="1" noChangeShapeType="1" noTextEdit="1"/>
              </p:cNvSpPr>
              <p:nvPr/>
            </p:nvSpPr>
            <p:spPr>
              <a:xfrm>
                <a:off x="381001" y="715204"/>
                <a:ext cx="11593286" cy="3821367"/>
              </a:xfrm>
              <a:prstGeom prst="rect">
                <a:avLst/>
              </a:prstGeom>
              <a:blipFill>
                <a:blip r:embed="rId4"/>
                <a:stretch>
                  <a:fillRect l="-657" t="-1325" r="-876"/>
                </a:stretch>
              </a:blipFill>
            </p:spPr>
            <p:txBody>
              <a:bodyPr/>
              <a:lstStyle/>
              <a:p>
                <a:r>
                  <a:rPr lang="en-US">
                    <a:noFill/>
                  </a:rPr>
                  <a:t> </a:t>
                </a:r>
              </a:p>
            </p:txBody>
          </p:sp>
        </mc:Fallback>
      </mc:AlternateContent>
    </p:spTree>
    <p:extLst>
      <p:ext uri="{BB962C8B-B14F-4D97-AF65-F5344CB8AC3E}">
        <p14:creationId xmlns:p14="http://schemas.microsoft.com/office/powerpoint/2010/main" val="11529594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795207"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22</a:t>
            </a:r>
            <a:endParaRPr i="1" dirty="0">
              <a:latin typeface="Calibri"/>
              <a:ea typeface="Calibri"/>
              <a:cs typeface="Calibri"/>
              <a:sym typeface="Calibri"/>
            </a:endParaRPr>
          </a:p>
        </p:txBody>
      </p:sp>
      <p:sp>
        <p:nvSpPr>
          <p:cNvPr id="6" name="Google Shape;278;g104476d1465_1_17">
            <a:extLst>
              <a:ext uri="{FF2B5EF4-FFF2-40B4-BE49-F238E27FC236}">
                <a16:creationId xmlns:a16="http://schemas.microsoft.com/office/drawing/2014/main" id="{D60F4B17-87E0-004C-AADF-1570DE52C58A}"/>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TextBox 1">
            <a:extLst>
              <a:ext uri="{FF2B5EF4-FFF2-40B4-BE49-F238E27FC236}">
                <a16:creationId xmlns:a16="http://schemas.microsoft.com/office/drawing/2014/main" id="{77BBA5B9-9422-4B99-93E6-ECDF6829704F}"/>
              </a:ext>
            </a:extLst>
          </p:cNvPr>
          <p:cNvSpPr txBox="1"/>
          <p:nvPr/>
        </p:nvSpPr>
        <p:spPr>
          <a:xfrm>
            <a:off x="443914" y="157335"/>
            <a:ext cx="11573915" cy="3271665"/>
          </a:xfrm>
          <a:prstGeom prst="rect">
            <a:avLst/>
          </a:prstGeom>
          <a:noFill/>
        </p:spPr>
        <p:txBody>
          <a:bodyPr wrap="square" rtlCol="0">
            <a:spAutoFit/>
          </a:bodyPr>
          <a:lstStyle/>
          <a:p>
            <a:pPr marL="342900" indent="-342900">
              <a:lnSpc>
                <a:spcPct val="107000"/>
              </a:lnSpc>
              <a:buFont typeface="+mj-lt"/>
              <a:buAutoNum type="alphaLcPeriod"/>
              <a:tabLst>
                <a:tab pos="3314700"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mj-lt"/>
              <a:buAutoNum type="alphaLcPeriod"/>
              <a:tabLst>
                <a:tab pos="3314700"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07000"/>
              </a:lnSpc>
              <a:buFont typeface="+mj-lt"/>
              <a:buAutoNum type="alphaLcPeriod" startAt="2"/>
              <a:tabLst>
                <a:tab pos="3314700" algn="l"/>
              </a:tabLst>
            </a:pPr>
            <a:r>
              <a:rPr lang="en-US" sz="2000" dirty="0">
                <a:latin typeface="Verdana" panose="020B0604030504040204" pitchFamily="34" charset="0"/>
                <a:ea typeface="Verdana" panose="020B0604030504040204" pitchFamily="34" charset="0"/>
                <a:cs typeface="Verdana" panose="020B0604030504040204" pitchFamily="34" charset="0"/>
              </a:rPr>
              <a:t>Draw a model that represents the division expression.</a:t>
            </a:r>
          </a:p>
          <a:p>
            <a:pPr marL="342900" indent="-342900">
              <a:lnSpc>
                <a:spcPct val="107000"/>
              </a:lnSpc>
              <a:buFont typeface="+mj-lt"/>
              <a:buAutoNum type="alphaLcPeriod" startAt="2"/>
              <a:tabLst>
                <a:tab pos="3314700"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mj-lt"/>
              <a:buAutoNum type="alphaLcPeriod" startAt="2"/>
              <a:tabLst>
                <a:tab pos="3314700"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mj-lt"/>
              <a:buAutoNum type="alphaLcPeriod" startAt="2"/>
              <a:tabLst>
                <a:tab pos="3314700"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mj-lt"/>
              <a:buAutoNum type="alphaLcPeriod" startAt="2"/>
              <a:tabLst>
                <a:tab pos="3314700"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mj-lt"/>
              <a:buAutoNum type="alphaLcPeriod" startAt="2"/>
              <a:tabLst>
                <a:tab pos="3314700"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mj-lt"/>
              <a:buAutoNum type="alphaLcPeriod" startAt="2"/>
              <a:tabLst>
                <a:tab pos="3314700" algn="l"/>
              </a:tabLst>
            </a:pPr>
            <a:r>
              <a:rPr lang="en-US" sz="2000" dirty="0">
                <a:latin typeface="Verdana" panose="020B0604030504040204" pitchFamily="34" charset="0"/>
                <a:ea typeface="Verdana" panose="020B0604030504040204" pitchFamily="34" charset="0"/>
                <a:cs typeface="Verdana" panose="020B0604030504040204" pitchFamily="34" charset="0"/>
              </a:rPr>
              <a:t>Use the model to determine the number of students the chef can serve.</a:t>
            </a:r>
            <a:endParaRPr lang="en-US" sz="2000" dirty="0">
              <a:latin typeface="Verdana" panose="020B0604030504040204" pitchFamily="34" charset="0"/>
              <a:ea typeface="Verdana" panose="020B0604030504040204" pitchFamily="34" charset="0"/>
              <a:cs typeface="Cambria Math" panose="02040503050406030204" pitchFamily="18" charset="0"/>
            </a:endParaRPr>
          </a:p>
          <a:p>
            <a:endParaRPr lang="en-US" dirty="0"/>
          </a:p>
        </p:txBody>
      </p:sp>
    </p:spTree>
    <p:extLst>
      <p:ext uri="{BB962C8B-B14F-4D97-AF65-F5344CB8AC3E}">
        <p14:creationId xmlns:p14="http://schemas.microsoft.com/office/powerpoint/2010/main" val="21933398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49636"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a:t>
            </a:r>
            <a:endParaRPr i="1" dirty="0">
              <a:latin typeface="Calibri"/>
              <a:ea typeface="Calibri"/>
              <a:cs typeface="Calibri"/>
              <a:sym typeface="Calibri"/>
            </a:endParaRPr>
          </a:p>
        </p:txBody>
      </p:sp>
      <p:sp>
        <p:nvSpPr>
          <p:cNvPr id="5" name="TextBox 4">
            <a:extLst>
              <a:ext uri="{FF2B5EF4-FFF2-40B4-BE49-F238E27FC236}">
                <a16:creationId xmlns:a16="http://schemas.microsoft.com/office/drawing/2014/main" id="{2AA35BC6-D428-FC41-BDE5-6438AB8840FC}"/>
              </a:ext>
            </a:extLst>
          </p:cNvPr>
          <p:cNvSpPr txBox="1"/>
          <p:nvPr/>
        </p:nvSpPr>
        <p:spPr>
          <a:xfrm>
            <a:off x="489856" y="410665"/>
            <a:ext cx="10993779" cy="4950779"/>
          </a:xfrm>
          <a:prstGeom prst="rect">
            <a:avLst/>
          </a:prstGeom>
          <a:noFill/>
        </p:spPr>
        <p:txBody>
          <a:bodyPr wrap="square" rtlCol="0">
            <a:spAutoFit/>
          </a:bodyPr>
          <a:lstStyle/>
          <a:p>
            <a:pPr marL="457200" indent="-457200">
              <a:lnSpc>
                <a:spcPct val="107000"/>
              </a:lnSpc>
              <a:buFont typeface="+mj-lt"/>
              <a:buAutoNum type="arabicPeriod" startAt="3"/>
              <a:tabLst>
                <a:tab pos="3314700" algn="l"/>
              </a:tabLst>
            </a:pPr>
            <a:r>
              <a:rPr lang="en-US" sz="2000" dirty="0">
                <a:latin typeface="Verdana" panose="020B0604030504040204" pitchFamily="34" charset="0"/>
                <a:ea typeface="Verdana" panose="020B0604030504040204" pitchFamily="34" charset="0"/>
                <a:cs typeface="Verdana" panose="020B0604030504040204" pitchFamily="34" charset="0"/>
              </a:rPr>
              <a:t>Veer’s family was very hot after an afternoon in the gardens. They decided to enjoy some ice cream before they left to go home. All 4 family members ordered vanilla ice cream, causing the chef to run out. How much ice cream did each person get if they each got an equal amount?</a:t>
            </a:r>
            <a:endParaRPr lang="en-US" sz="2000" dirty="0">
              <a:latin typeface="Verdana" panose="020B0604030504040204" pitchFamily="34" charset="0"/>
              <a:ea typeface="Verdana" panose="020B0604030504040204" pitchFamily="34" charset="0"/>
              <a:cs typeface="Cambria Math" panose="02040503050406030204" pitchFamily="18" charset="0"/>
            </a:endParaRPr>
          </a:p>
          <a:p>
            <a:pPr marL="457200">
              <a:lnSpc>
                <a:spcPct val="107000"/>
              </a:lnSpc>
              <a:tabLst>
                <a:tab pos="3314700" algn="l"/>
              </a:tabLst>
            </a:pPr>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Cambria Math" panose="02040503050406030204" pitchFamily="18" charset="0"/>
            </a:endParaRPr>
          </a:p>
          <a:p>
            <a:pPr marL="914400" indent="-457200">
              <a:lnSpc>
                <a:spcPct val="107000"/>
              </a:lnSpc>
              <a:buFont typeface="+mj-lt"/>
              <a:buAutoNum type="alphaLcPeriod"/>
              <a:tabLst>
                <a:tab pos="3314700" algn="l"/>
              </a:tabLst>
            </a:pPr>
            <a:r>
              <a:rPr lang="en-US" sz="2000" dirty="0">
                <a:latin typeface="Verdana" panose="020B0604030504040204" pitchFamily="34" charset="0"/>
                <a:ea typeface="Verdana" panose="020B0604030504040204" pitchFamily="34" charset="0"/>
                <a:cs typeface="Verdana" panose="020B0604030504040204" pitchFamily="34" charset="0"/>
              </a:rPr>
              <a:t>Write the division expression that represents the c    context.</a:t>
            </a:r>
          </a:p>
          <a:p>
            <a:pPr marL="342900" indent="-342900">
              <a:lnSpc>
                <a:spcPct val="107000"/>
              </a:lnSpc>
              <a:buFont typeface="+mj-lt"/>
              <a:buAutoNum type="alphaLcPeriod"/>
              <a:tabLst>
                <a:tab pos="3314700"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mj-lt"/>
              <a:buAutoNum type="alphaLcPeriod"/>
              <a:tabLst>
                <a:tab pos="3314700"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114300">
              <a:lnSpc>
                <a:spcPct val="107000"/>
              </a:lnSpc>
              <a:buFont typeface="+mj-lt"/>
              <a:buAutoNum type="alphaLcPeriod"/>
              <a:tabLst>
                <a:tab pos="3314700" algn="l"/>
              </a:tabLst>
            </a:pPr>
            <a:r>
              <a:rPr lang="en-US" sz="2000" dirty="0">
                <a:latin typeface="Verdana" panose="020B0604030504040204" pitchFamily="34" charset="0"/>
                <a:ea typeface="Verdana" panose="020B0604030504040204" pitchFamily="34" charset="0"/>
                <a:cs typeface="Verdana" panose="020B0604030504040204" pitchFamily="34" charset="0"/>
              </a:rPr>
              <a:t>  Draw a model to match your expression.</a:t>
            </a:r>
          </a:p>
          <a:p>
            <a:pPr marL="342900" indent="-342900">
              <a:lnSpc>
                <a:spcPct val="107000"/>
              </a:lnSpc>
              <a:buFont typeface="+mj-lt"/>
              <a:buAutoNum type="alphaLcPeriod"/>
              <a:tabLst>
                <a:tab pos="3314700"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mj-lt"/>
              <a:buAutoNum type="alphaLcPeriod"/>
              <a:tabLst>
                <a:tab pos="3314700"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a:lnSpc>
                <a:spcPct val="107000"/>
              </a:lnSpc>
              <a:tabLst>
                <a:tab pos="3314700" algn="l"/>
              </a:tabLst>
            </a:pPr>
            <a:r>
              <a:rPr lang="en-US" sz="2000" dirty="0">
                <a:latin typeface="Verdana" panose="020B0604030504040204" pitchFamily="34" charset="0"/>
                <a:ea typeface="Verdana" panose="020B0604030504040204" pitchFamily="34" charset="0"/>
                <a:cs typeface="Verdana" panose="020B0604030504040204" pitchFamily="34" charset="0"/>
              </a:rPr>
              <a:t> </a:t>
            </a:r>
          </a:p>
          <a:p>
            <a:pPr indent="457200">
              <a:lnSpc>
                <a:spcPct val="107000"/>
              </a:lnSpc>
              <a:tabLst>
                <a:tab pos="3314700" algn="l"/>
              </a:tabLst>
            </a:pPr>
            <a:r>
              <a:rPr lang="en-US" sz="2000" dirty="0">
                <a:latin typeface="Verdana" panose="020B0604030504040204" pitchFamily="34" charset="0"/>
                <a:ea typeface="Verdana" panose="020B0604030504040204" pitchFamily="34" charset="0"/>
                <a:cs typeface="Verdana" panose="020B0604030504040204" pitchFamily="34" charset="0"/>
              </a:rPr>
              <a:t>c.  How much ice cream did each person get?</a:t>
            </a:r>
            <a:endParaRPr lang="en-US" sz="2000" dirty="0">
              <a:latin typeface="Verdana" panose="020B0604030504040204" pitchFamily="34" charset="0"/>
              <a:ea typeface="Verdana" panose="020B0604030504040204" pitchFamily="34" charset="0"/>
              <a:cs typeface="Cambria Math" panose="02040503050406030204" pitchFamily="18" charset="0"/>
            </a:endParaRPr>
          </a:p>
          <a:p>
            <a:pPr>
              <a:lnSpc>
                <a:spcPct val="107000"/>
              </a:lnSpc>
            </a:pPr>
            <a:br>
              <a:rPr lang="en-US" sz="1800" b="1" u="sng" dirty="0">
                <a:latin typeface="Verdana" panose="020B0604030504040204" pitchFamily="34" charset="0"/>
                <a:ea typeface="Verdana" panose="020B0604030504040204" pitchFamily="34" charset="0"/>
                <a:cs typeface="Verdana" panose="020B0604030504040204" pitchFamily="34" charset="0"/>
              </a:rPr>
            </a:br>
            <a:r>
              <a:rPr lang="en-US" sz="1800" b="1" i="1" dirty="0">
                <a:latin typeface="Verdana" panose="020B0604030504040204" pitchFamily="34" charset="0"/>
                <a:ea typeface="Verdana" panose="020B0604030504040204" pitchFamily="34" charset="0"/>
                <a:cs typeface="Verdana" panose="020B0604030504040204" pitchFamily="34" charset="0"/>
              </a:rPr>
              <a:t> </a:t>
            </a:r>
            <a:endParaRPr lang="en-US" sz="1800" dirty="0">
              <a:latin typeface="Cambria Math" panose="02040503050406030204" pitchFamily="18" charset="0"/>
              <a:ea typeface="Cambria Math" panose="02040503050406030204" pitchFamily="18" charset="0"/>
              <a:cs typeface="Cambria Math" panose="02040503050406030204" pitchFamily="18" charset="0"/>
            </a:endParaRPr>
          </a:p>
        </p:txBody>
      </p:sp>
      <p:sp>
        <p:nvSpPr>
          <p:cNvPr id="6" name="Google Shape;278;g104476d1465_1_17">
            <a:extLst>
              <a:ext uri="{FF2B5EF4-FFF2-40B4-BE49-F238E27FC236}">
                <a16:creationId xmlns:a16="http://schemas.microsoft.com/office/drawing/2014/main" id="{D60F4B17-87E0-004C-AADF-1570DE52C58A}"/>
              </a:ext>
            </a:extLst>
          </p:cNvPr>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6682085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387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a:t>
            </a:r>
            <a:endParaRPr i="1" dirty="0">
              <a:latin typeface="Calibri"/>
              <a:ea typeface="Calibri"/>
              <a:cs typeface="Calibri"/>
              <a:sym typeface="Calibri"/>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42327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9043"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02283" y="0"/>
            <a:ext cx="1041676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1.4.4 Collaboration: An Algorithm for Dividing Fractions</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784321" y="646072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a:t>
            </a:r>
            <a:endParaRPr i="1" dirty="0">
              <a:latin typeface="Calibri"/>
              <a:ea typeface="Calibri"/>
              <a:cs typeface="Calibri"/>
              <a:sym typeface="Calibri"/>
            </a:endParaRP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96569" y="15232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E44DF7DE-9172-3E4E-B74A-7A51585FB6EA}"/>
              </a:ext>
            </a:extLst>
          </p:cNvPr>
          <p:cNvSpPr txBox="1"/>
          <p:nvPr/>
        </p:nvSpPr>
        <p:spPr>
          <a:xfrm>
            <a:off x="2060448" y="1386026"/>
            <a:ext cx="8327136" cy="733791"/>
          </a:xfrm>
          <a:prstGeom prst="rect">
            <a:avLst/>
          </a:prstGeom>
          <a:noFill/>
        </p:spPr>
        <p:txBody>
          <a:bodyPr wrap="square" rtlCol="0">
            <a:spAutoFit/>
          </a:bodyPr>
          <a:lstStyle/>
          <a:p>
            <a:pPr>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The boxes show the division equations that have been represented in the lesson so far.  </a:t>
            </a:r>
            <a:endParaRPr lang="en-US" sz="2000" dirty="0">
              <a:latin typeface="Cambria Math" panose="02040503050406030204" pitchFamily="18" charset="0"/>
              <a:ea typeface="Cambria Math" panose="02040503050406030204" pitchFamily="18" charset="0"/>
              <a:cs typeface="Cambria Math" panose="02040503050406030204" pitchFamily="18" charset="0"/>
            </a:endParaRPr>
          </a:p>
        </p:txBody>
      </p:sp>
      <p:sp>
        <p:nvSpPr>
          <p:cNvPr id="11" name="Google Shape;278;g104476d1465_1_17">
            <a:extLst>
              <a:ext uri="{FF2B5EF4-FFF2-40B4-BE49-F238E27FC236}">
                <a16:creationId xmlns:a16="http://schemas.microsoft.com/office/drawing/2014/main" id="{E9CA456B-1791-3E43-BCF8-7E55B6240BB8}"/>
              </a:ext>
            </a:extLst>
          </p:cNvPr>
          <p:cNvSpPr/>
          <p:nvPr/>
        </p:nvSpPr>
        <p:spPr>
          <a:xfrm>
            <a:off x="9107"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Picture 2">
            <a:extLst>
              <a:ext uri="{FF2B5EF4-FFF2-40B4-BE49-F238E27FC236}">
                <a16:creationId xmlns:a16="http://schemas.microsoft.com/office/drawing/2014/main" id="{9618436F-19D2-44A4-8E6D-B73551B7F27F}"/>
              </a:ext>
            </a:extLst>
          </p:cNvPr>
          <p:cNvPicPr>
            <a:picLocks noChangeAspect="1"/>
          </p:cNvPicPr>
          <p:nvPr/>
        </p:nvPicPr>
        <p:blipFill>
          <a:blip r:embed="rId5"/>
          <a:stretch>
            <a:fillRect/>
          </a:stretch>
        </p:blipFill>
        <p:spPr>
          <a:xfrm>
            <a:off x="2432558" y="2112059"/>
            <a:ext cx="6692717" cy="4545717"/>
          </a:xfrm>
          <a:prstGeom prst="rect">
            <a:avLst/>
          </a:prstGeom>
        </p:spPr>
      </p:pic>
    </p:spTree>
    <p:extLst>
      <p:ext uri="{BB962C8B-B14F-4D97-AF65-F5344CB8AC3E}">
        <p14:creationId xmlns:p14="http://schemas.microsoft.com/office/powerpoint/2010/main" val="25192530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796975"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a:t>
            </a:r>
            <a:endParaRPr i="1" dirty="0">
              <a:latin typeface="Calibri"/>
              <a:ea typeface="Calibri"/>
              <a:cs typeface="Calibri"/>
              <a:sym typeface="Calibri"/>
            </a:endParaRPr>
          </a:p>
        </p:txBody>
      </p:sp>
      <p:sp>
        <p:nvSpPr>
          <p:cNvPr id="5" name="TextBox 4">
            <a:extLst>
              <a:ext uri="{FF2B5EF4-FFF2-40B4-BE49-F238E27FC236}">
                <a16:creationId xmlns:a16="http://schemas.microsoft.com/office/drawing/2014/main" id="{2AA35BC6-D428-FC41-BDE5-6438AB8840FC}"/>
              </a:ext>
            </a:extLst>
          </p:cNvPr>
          <p:cNvSpPr txBox="1"/>
          <p:nvPr/>
        </p:nvSpPr>
        <p:spPr>
          <a:xfrm>
            <a:off x="932330" y="237317"/>
            <a:ext cx="10695820" cy="5008166"/>
          </a:xfrm>
          <a:prstGeom prst="rect">
            <a:avLst/>
          </a:prstGeom>
          <a:noFill/>
        </p:spPr>
        <p:txBody>
          <a:bodyPr wrap="square" rtlCol="0">
            <a:spAutoFit/>
          </a:bodyPr>
          <a:lstStyle/>
          <a:p>
            <a:pPr>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Keeping in mind that a whole number can be written as a fraction, rewrite the division equations in the two boxes. </a:t>
            </a:r>
          </a:p>
          <a:p>
            <a:pPr>
              <a:lnSpc>
                <a:spcPct val="107000"/>
              </a:lnSpc>
            </a:pPr>
            <a:endParaRPr lang="en-US" sz="2000" dirty="0">
              <a:latin typeface="Verdana" panose="020B0604030504040204" pitchFamily="34" charset="0"/>
              <a:ea typeface="Cambria Math" panose="02040503050406030204" pitchFamily="18" charset="0"/>
              <a:cs typeface="Cambria Math" panose="02040503050406030204" pitchFamily="18" charset="0"/>
            </a:endParaRPr>
          </a:p>
          <a:p>
            <a:pPr>
              <a:lnSpc>
                <a:spcPct val="107000"/>
              </a:lnSpc>
            </a:pPr>
            <a:endParaRPr lang="en-US" sz="2000" dirty="0">
              <a:latin typeface="Verdana" panose="020B0604030504040204" pitchFamily="34" charset="0"/>
              <a:ea typeface="Cambria Math" panose="02040503050406030204" pitchFamily="18" charset="0"/>
              <a:cs typeface="Cambria Math" panose="02040503050406030204" pitchFamily="18" charset="0"/>
            </a:endParaRPr>
          </a:p>
          <a:p>
            <a:pPr>
              <a:lnSpc>
                <a:spcPct val="107000"/>
              </a:lnSpc>
            </a:pPr>
            <a:endParaRPr lang="en-US" sz="2000" dirty="0">
              <a:latin typeface="Verdana" panose="020B0604030504040204" pitchFamily="34" charset="0"/>
              <a:ea typeface="Cambria Math" panose="02040503050406030204" pitchFamily="18" charset="0"/>
              <a:cs typeface="Cambria Math" panose="02040503050406030204" pitchFamily="18" charset="0"/>
            </a:endParaRPr>
          </a:p>
          <a:p>
            <a:pPr>
              <a:lnSpc>
                <a:spcPct val="107000"/>
              </a:lnSpc>
            </a:pPr>
            <a:endParaRPr lang="en-US" sz="2000" dirty="0">
              <a:latin typeface="Verdana" panose="020B0604030504040204" pitchFamily="34" charset="0"/>
              <a:ea typeface="Cambria Math" panose="02040503050406030204" pitchFamily="18" charset="0"/>
              <a:cs typeface="Cambria Math" panose="02040503050406030204" pitchFamily="18" charset="0"/>
            </a:endParaRPr>
          </a:p>
          <a:p>
            <a:pPr>
              <a:lnSpc>
                <a:spcPct val="107000"/>
              </a:lnSpc>
            </a:pPr>
            <a:endParaRPr lang="en-US" sz="2000" dirty="0">
              <a:latin typeface="Verdana" panose="020B0604030504040204" pitchFamily="34" charset="0"/>
              <a:ea typeface="Cambria Math" panose="02040503050406030204" pitchFamily="18" charset="0"/>
              <a:cs typeface="Cambria Math" panose="02040503050406030204" pitchFamily="18" charset="0"/>
            </a:endParaRPr>
          </a:p>
          <a:p>
            <a:pPr>
              <a:lnSpc>
                <a:spcPct val="107000"/>
              </a:lnSpc>
            </a:pPr>
            <a:endParaRPr lang="en-US" sz="2000" dirty="0">
              <a:latin typeface="Verdana" panose="020B0604030504040204" pitchFamily="34" charset="0"/>
              <a:ea typeface="Cambria Math" panose="02040503050406030204" pitchFamily="18" charset="0"/>
              <a:cs typeface="Cambria Math" panose="02040503050406030204" pitchFamily="18" charset="0"/>
            </a:endParaRPr>
          </a:p>
          <a:p>
            <a:pPr>
              <a:lnSpc>
                <a:spcPct val="107000"/>
              </a:lnSpc>
            </a:pPr>
            <a:endParaRPr lang="en-US" sz="2000" dirty="0">
              <a:latin typeface="Verdana" panose="020B0604030504040204" pitchFamily="34" charset="0"/>
              <a:ea typeface="Cambria Math" panose="02040503050406030204" pitchFamily="18" charset="0"/>
              <a:cs typeface="Cambria Math" panose="02040503050406030204" pitchFamily="18" charset="0"/>
            </a:endParaRPr>
          </a:p>
          <a:p>
            <a:pPr>
              <a:lnSpc>
                <a:spcPct val="107000"/>
              </a:lnSpc>
            </a:pPr>
            <a:endParaRPr lang="en-US" sz="2000" dirty="0">
              <a:latin typeface="Verdana" panose="020B0604030504040204" pitchFamily="34" charset="0"/>
              <a:ea typeface="Cambria Math" panose="02040503050406030204" pitchFamily="18" charset="0"/>
              <a:cs typeface="Cambria Math" panose="02040503050406030204" pitchFamily="18" charset="0"/>
            </a:endParaRPr>
          </a:p>
          <a:p>
            <a:pPr>
              <a:lnSpc>
                <a:spcPct val="107000"/>
              </a:lnSpc>
            </a:pPr>
            <a:endParaRPr lang="en-US" sz="2000" dirty="0">
              <a:latin typeface="Verdana" panose="020B0604030504040204" pitchFamily="34" charset="0"/>
              <a:ea typeface="Cambria Math" panose="02040503050406030204" pitchFamily="18" charset="0"/>
              <a:cs typeface="Cambria Math" panose="02040503050406030204" pitchFamily="18" charset="0"/>
            </a:endParaRPr>
          </a:p>
          <a:p>
            <a:pPr>
              <a:lnSpc>
                <a:spcPct val="107000"/>
              </a:lnSpc>
            </a:pPr>
            <a:endParaRPr lang="en-US" sz="2000" dirty="0">
              <a:latin typeface="Verdana" panose="020B0604030504040204" pitchFamily="34" charset="0"/>
              <a:ea typeface="Cambria Math" panose="02040503050406030204" pitchFamily="18" charset="0"/>
              <a:cs typeface="Cambria Math" panose="02040503050406030204" pitchFamily="18" charset="0"/>
            </a:endParaRPr>
          </a:p>
          <a:p>
            <a:pPr>
              <a:lnSpc>
                <a:spcPct val="107000"/>
              </a:lnSpc>
            </a:pPr>
            <a:endParaRPr lang="en-US" sz="2000" dirty="0">
              <a:latin typeface="Verdana" panose="020B0604030504040204" pitchFamily="34" charset="0"/>
              <a:ea typeface="Cambria Math" panose="02040503050406030204" pitchFamily="18" charset="0"/>
              <a:cs typeface="Cambria Math" panose="02040503050406030204" pitchFamily="18" charset="0"/>
            </a:endParaRPr>
          </a:p>
          <a:p>
            <a:pPr>
              <a:lnSpc>
                <a:spcPct val="107000"/>
              </a:lnSpc>
            </a:pPr>
            <a:endParaRPr lang="en-US" sz="2000" dirty="0">
              <a:latin typeface="Verdana" panose="020B0604030504040204" pitchFamily="34" charset="0"/>
              <a:ea typeface="Verdana" panose="020B0604030504040204" pitchFamily="34" charset="0"/>
              <a:cs typeface="Cambria Math" panose="02040503050406030204" pitchFamily="18" charset="0"/>
            </a:endParaRPr>
          </a:p>
          <a:p>
            <a:pPr>
              <a:lnSpc>
                <a:spcPct val="107000"/>
              </a:lnSpc>
            </a:pPr>
            <a:endParaRPr lang="en-US" sz="2000" dirty="0">
              <a:latin typeface="Cambria Math" panose="02040503050406030204" pitchFamily="18" charset="0"/>
              <a:ea typeface="Cambria Math" panose="02040503050406030204" pitchFamily="18" charset="0"/>
              <a:cs typeface="Cambria Math" panose="02040503050406030204" pitchFamily="18" charset="0"/>
            </a:endParaRPr>
          </a:p>
        </p:txBody>
      </p:sp>
      <p:sp>
        <p:nvSpPr>
          <p:cNvPr id="6" name="Google Shape;278;g104476d1465_1_17">
            <a:extLst>
              <a:ext uri="{FF2B5EF4-FFF2-40B4-BE49-F238E27FC236}">
                <a16:creationId xmlns:a16="http://schemas.microsoft.com/office/drawing/2014/main" id="{D60F4B17-87E0-004C-AADF-1570DE52C58A}"/>
              </a:ext>
            </a:extLst>
          </p:cNvPr>
          <p:cNvSpPr/>
          <p:nvPr/>
        </p:nvSpPr>
        <p:spPr>
          <a:xfrm>
            <a:off x="-3691"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Picture 2">
            <a:extLst>
              <a:ext uri="{FF2B5EF4-FFF2-40B4-BE49-F238E27FC236}">
                <a16:creationId xmlns:a16="http://schemas.microsoft.com/office/drawing/2014/main" id="{35EDBD71-34AC-405F-A56A-88445F59676A}"/>
              </a:ext>
            </a:extLst>
          </p:cNvPr>
          <p:cNvPicPr>
            <a:picLocks noChangeAspect="1"/>
          </p:cNvPicPr>
          <p:nvPr/>
        </p:nvPicPr>
        <p:blipFill rotWithShape="1">
          <a:blip r:embed="rId4"/>
          <a:srcRect b="5091"/>
          <a:stretch/>
        </p:blipFill>
        <p:spPr>
          <a:xfrm>
            <a:off x="3093291" y="1029774"/>
            <a:ext cx="5197864" cy="3423252"/>
          </a:xfrm>
          <a:prstGeom prst="rect">
            <a:avLst/>
          </a:prstGeom>
        </p:spPr>
      </p:pic>
      <p:sp>
        <p:nvSpPr>
          <p:cNvPr id="7" name="TextBox 6">
            <a:extLst>
              <a:ext uri="{FF2B5EF4-FFF2-40B4-BE49-F238E27FC236}">
                <a16:creationId xmlns:a16="http://schemas.microsoft.com/office/drawing/2014/main" id="{3D033588-5147-49C7-85DF-10E23B4EABBE}"/>
              </a:ext>
            </a:extLst>
          </p:cNvPr>
          <p:cNvSpPr txBox="1"/>
          <p:nvPr/>
        </p:nvSpPr>
        <p:spPr>
          <a:xfrm>
            <a:off x="932331" y="4485917"/>
            <a:ext cx="10498644" cy="1938992"/>
          </a:xfrm>
          <a:prstGeom prst="rect">
            <a:avLst/>
          </a:prstGeom>
          <a:noFill/>
        </p:spPr>
        <p:txBody>
          <a:bodyPr wrap="square" rtlCol="0">
            <a:spAutoFit/>
          </a:bodyPr>
          <a:lstStyle/>
          <a:p>
            <a:r>
              <a:rPr lang="en-US" sz="2000" dirty="0">
                <a:latin typeface="Verdana" panose="020B0604030504040204" pitchFamily="34" charset="0"/>
                <a:ea typeface="Cambria Math" panose="02040503050406030204" pitchFamily="18" charset="0"/>
                <a:cs typeface="Cambria Math" panose="02040503050406030204" pitchFamily="18" charset="0"/>
              </a:rPr>
              <a:t>Charles Babbage is credited with inventing the first mechanical computer. Ada Lovelace was the first to recognize that Babbage’s machine had applications beyond making calculations. She published the first </a:t>
            </a:r>
            <a:r>
              <a:rPr lang="en-US" sz="2000" b="1" dirty="0">
                <a:latin typeface="Verdana" panose="020B0604030504040204" pitchFamily="34" charset="0"/>
                <a:ea typeface="Cambria Math" panose="02040503050406030204" pitchFamily="18" charset="0"/>
                <a:cs typeface="Cambria Math" panose="02040503050406030204" pitchFamily="18" charset="0"/>
              </a:rPr>
              <a:t>algorithm</a:t>
            </a:r>
            <a:r>
              <a:rPr lang="en-US" sz="2000" dirty="0">
                <a:latin typeface="Verdana" panose="020B0604030504040204" pitchFamily="34" charset="0"/>
                <a:ea typeface="Cambria Math" panose="02040503050406030204" pitchFamily="18" charset="0"/>
                <a:cs typeface="Cambria Math" panose="02040503050406030204" pitchFamily="18" charset="0"/>
              </a:rPr>
              <a:t> intended to be carried out by such a machine. As a result, she is sometimes regarded as the first to recognize the full potential of a “computing machine” and the first computer programmer.</a:t>
            </a:r>
            <a:endParaRPr lang="en-US" dirty="0"/>
          </a:p>
        </p:txBody>
      </p:sp>
    </p:spTree>
    <p:extLst>
      <p:ext uri="{BB962C8B-B14F-4D97-AF65-F5344CB8AC3E}">
        <p14:creationId xmlns:p14="http://schemas.microsoft.com/office/powerpoint/2010/main" val="2920196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697236" y="64506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24</a:t>
            </a:r>
            <a:endParaRPr i="1" dirty="0">
              <a:latin typeface="Calibri"/>
              <a:ea typeface="Calibri"/>
              <a:cs typeface="Calibri"/>
              <a:sym typeface="Calibri"/>
            </a:endParaRPr>
          </a:p>
        </p:txBody>
      </p:sp>
      <p:sp>
        <p:nvSpPr>
          <p:cNvPr id="5" name="TextBox 4">
            <a:extLst>
              <a:ext uri="{FF2B5EF4-FFF2-40B4-BE49-F238E27FC236}">
                <a16:creationId xmlns:a16="http://schemas.microsoft.com/office/drawing/2014/main" id="{4CE9D117-FAE6-F74F-940B-9CD1479755BE}"/>
              </a:ext>
            </a:extLst>
          </p:cNvPr>
          <p:cNvSpPr txBox="1"/>
          <p:nvPr/>
        </p:nvSpPr>
        <p:spPr>
          <a:xfrm>
            <a:off x="664029" y="439743"/>
            <a:ext cx="10964121" cy="4709879"/>
          </a:xfrm>
          <a:prstGeom prst="rect">
            <a:avLst/>
          </a:prstGeom>
          <a:noFill/>
        </p:spPr>
        <p:txBody>
          <a:bodyPr wrap="square" rtlCol="0">
            <a:spAutoFit/>
          </a:bodyPr>
          <a:lstStyle/>
          <a:p>
            <a:pPr marL="342900" indent="-342900">
              <a:lnSpc>
                <a:spcPct val="107000"/>
              </a:lnSpc>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Work with your partner on an algorithm for dividing fractions. </a:t>
            </a:r>
          </a:p>
          <a:p>
            <a:pPr marL="342900" indent="-342900">
              <a:lnSpc>
                <a:spcPct val="107000"/>
              </a:lnSpc>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800100" indent="-457200">
              <a:lnSpc>
                <a:spcPct val="107000"/>
              </a:lnSpc>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Write the algorithm as a set of rules to be followed. Use mathematical terms such as </a:t>
            </a:r>
            <a:r>
              <a:rPr lang="en-US" sz="2000" b="1" dirty="0">
                <a:latin typeface="Verdana" panose="020B0604030504040204" pitchFamily="34" charset="0"/>
                <a:ea typeface="Verdana" panose="020B0604030504040204" pitchFamily="34" charset="0"/>
                <a:cs typeface="Verdana" panose="020B0604030504040204" pitchFamily="34" charset="0"/>
              </a:rPr>
              <a:t>divisor</a:t>
            </a:r>
            <a:r>
              <a:rPr lang="en-US" sz="2000" dirty="0">
                <a:latin typeface="Verdana" panose="020B0604030504040204" pitchFamily="34" charset="0"/>
                <a:ea typeface="Verdana" panose="020B0604030504040204" pitchFamily="34" charset="0"/>
                <a:cs typeface="Verdana" panose="020B0604030504040204" pitchFamily="34" charset="0"/>
              </a:rPr>
              <a:t> and </a:t>
            </a:r>
            <a:r>
              <a:rPr lang="en-US" sz="2000" b="1" dirty="0">
                <a:latin typeface="Verdana" panose="020B0604030504040204" pitchFamily="34" charset="0"/>
                <a:ea typeface="Verdana" panose="020B0604030504040204" pitchFamily="34" charset="0"/>
                <a:cs typeface="Verdana" panose="020B0604030504040204" pitchFamily="34" charset="0"/>
              </a:rPr>
              <a:t>dividend</a:t>
            </a:r>
            <a:r>
              <a:rPr lang="en-US" sz="2000" dirty="0">
                <a:latin typeface="Verdana" panose="020B0604030504040204" pitchFamily="34" charset="0"/>
                <a:ea typeface="Verdana" panose="020B0604030504040204" pitchFamily="34" charset="0"/>
                <a:cs typeface="Verdana" panose="020B0604030504040204" pitchFamily="34" charset="0"/>
              </a:rPr>
              <a:t>.   </a:t>
            </a:r>
          </a:p>
          <a:p>
            <a:pPr>
              <a:lnSpc>
                <a:spcPct val="107000"/>
              </a:lnSpc>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mj-lt"/>
              <a:buAutoNum type="alphaLcPeriod"/>
            </a:pPr>
            <a:endParaRPr lang="en-US" sz="2000" dirty="0">
              <a:latin typeface="Verdana" panose="020B0604030504040204" pitchFamily="34" charset="0"/>
              <a:ea typeface="Verdana" panose="020B0604030504040204" pitchFamily="34" charset="0"/>
              <a:cs typeface="Cambria Math" panose="02040503050406030204" pitchFamily="18" charset="0"/>
            </a:endParaRPr>
          </a:p>
          <a:p>
            <a:pPr marL="804863">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Your algorithm should meet the following criteria: </a:t>
            </a:r>
          </a:p>
          <a:p>
            <a:pPr marL="1147763" indent="-342900">
              <a:lnSpc>
                <a:spcPct val="107000"/>
              </a:lnSpc>
              <a:buFont typeface="Arial" panose="020B0604020202020204" pitchFamily="34" charset="0"/>
              <a:buChar char="•"/>
            </a:pPr>
            <a:r>
              <a:rPr lang="en-US" sz="2000" dirty="0">
                <a:latin typeface="Verdana" panose="020B0604030504040204" pitchFamily="34" charset="0"/>
                <a:ea typeface="Verdana" panose="020B0604030504040204" pitchFamily="34" charset="0"/>
                <a:cs typeface="Cambria Math" panose="02040503050406030204" pitchFamily="18" charset="0"/>
              </a:rPr>
              <a:t>T</a:t>
            </a:r>
            <a:r>
              <a:rPr lang="en-US" sz="2000" dirty="0">
                <a:latin typeface="Verdana" panose="020B0604030504040204" pitchFamily="34" charset="0"/>
                <a:ea typeface="Verdana" panose="020B0604030504040204" pitchFamily="34" charset="0"/>
                <a:cs typeface="Verdana" panose="020B0604030504040204" pitchFamily="34" charset="0"/>
              </a:rPr>
              <a:t>he algorithm uses mathematical terms.</a:t>
            </a:r>
          </a:p>
          <a:p>
            <a:pPr marL="1147763" indent="-342900">
              <a:lnSpc>
                <a:spcPct val="107000"/>
              </a:lnSpc>
              <a:buFont typeface="Arial" panose="020B0604020202020204" pitchFamily="34" charset="0"/>
              <a:buChar char="•"/>
            </a:pPr>
            <a:r>
              <a:rPr lang="en-US" sz="2000" dirty="0">
                <a:latin typeface="Verdana" panose="020B0604030504040204" pitchFamily="34" charset="0"/>
                <a:ea typeface="Verdana" panose="020B0604030504040204" pitchFamily="34" charset="0"/>
                <a:cs typeface="Cambria Math" panose="02040503050406030204" pitchFamily="18" charset="0"/>
              </a:rPr>
              <a:t>T</a:t>
            </a:r>
            <a:r>
              <a:rPr lang="en-US" sz="2000" dirty="0">
                <a:latin typeface="Verdana" panose="020B0604030504040204" pitchFamily="34" charset="0"/>
                <a:ea typeface="Verdana" panose="020B0604030504040204" pitchFamily="34" charset="0"/>
                <a:cs typeface="Verdana" panose="020B0604030504040204" pitchFamily="34" charset="0"/>
              </a:rPr>
              <a:t>he algorithm works for our test problems.</a:t>
            </a:r>
          </a:p>
          <a:p>
            <a:pPr marL="1147763" indent="-342900">
              <a:lnSpc>
                <a:spcPct val="107000"/>
              </a:lnSpc>
              <a:buFont typeface="Arial" panose="020B0604020202020204" pitchFamily="34" charset="0"/>
              <a:buChar char="•"/>
            </a:pPr>
            <a:r>
              <a:rPr lang="en-US" sz="2000" dirty="0">
                <a:latin typeface="Verdana" panose="020B0604030504040204" pitchFamily="34" charset="0"/>
                <a:ea typeface="Verdana" panose="020B0604030504040204" pitchFamily="34" charset="0"/>
                <a:cs typeface="Cambria Math" panose="02040503050406030204" pitchFamily="18" charset="0"/>
              </a:rPr>
              <a:t>T</a:t>
            </a:r>
            <a:r>
              <a:rPr lang="en-US" sz="2000" dirty="0">
                <a:latin typeface="Verdana" panose="020B0604030504040204" pitchFamily="34" charset="0"/>
                <a:ea typeface="Verdana" panose="020B0604030504040204" pitchFamily="34" charset="0"/>
                <a:cs typeface="Verdana" panose="020B0604030504040204" pitchFamily="34" charset="0"/>
              </a:rPr>
              <a:t>he algorithm is clear and can help students learn the process of dividing fractions.</a:t>
            </a:r>
            <a:endParaRPr lang="en-US" sz="2000" dirty="0">
              <a:latin typeface="Verdana" panose="020B0604030504040204" pitchFamily="34" charset="0"/>
              <a:ea typeface="Verdana" panose="020B0604030504040204" pitchFamily="34" charset="0"/>
              <a:cs typeface="Cambria Math" panose="02040503050406030204" pitchFamily="18" charset="0"/>
            </a:endParaRPr>
          </a:p>
          <a:p>
            <a:pPr marL="342900" indent="-342900">
              <a:lnSpc>
                <a:spcPct val="107000"/>
              </a:lnSpc>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a:lnSpc>
                <a:spcPct val="107000"/>
              </a:lnSpc>
            </a:pPr>
            <a:endParaRPr lang="en-US" sz="1800" dirty="0">
              <a:latin typeface="Cambria Math" panose="02040503050406030204" pitchFamily="18" charset="0"/>
              <a:ea typeface="Cambria Math" panose="02040503050406030204" pitchFamily="18" charset="0"/>
              <a:cs typeface="Cambria Math" panose="02040503050406030204" pitchFamily="18" charset="0"/>
            </a:endParaRPr>
          </a:p>
          <a:p>
            <a:endParaRPr lang="en-US" sz="2400" dirty="0">
              <a:latin typeface="Cambria Math" panose="02040503050406030204" pitchFamily="18" charset="0"/>
              <a:ea typeface="Cambria Math" panose="02040503050406030204" pitchFamily="18" charset="0"/>
              <a:cs typeface="Cambria Math" panose="02040503050406030204" pitchFamily="18" charset="0"/>
            </a:endParaRPr>
          </a:p>
        </p:txBody>
      </p:sp>
      <p:sp>
        <p:nvSpPr>
          <p:cNvPr id="6" name="Google Shape;278;g104476d1465_1_17">
            <a:extLst>
              <a:ext uri="{FF2B5EF4-FFF2-40B4-BE49-F238E27FC236}">
                <a16:creationId xmlns:a16="http://schemas.microsoft.com/office/drawing/2014/main" id="{5A057F2B-B43B-F64E-8B11-07A9669FD9E1}"/>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1493350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40210"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24</a:t>
            </a:r>
            <a:endParaRPr i="1" dirty="0">
              <a:latin typeface="Calibri"/>
              <a:ea typeface="Calibri"/>
              <a:cs typeface="Calibri"/>
              <a:sym typeface="Calibri"/>
            </a:endParaRPr>
          </a:p>
        </p:txBody>
      </p:sp>
      <p:sp>
        <p:nvSpPr>
          <p:cNvPr id="5" name="TextBox 4">
            <a:extLst>
              <a:ext uri="{FF2B5EF4-FFF2-40B4-BE49-F238E27FC236}">
                <a16:creationId xmlns:a16="http://schemas.microsoft.com/office/drawing/2014/main" id="{4CE9D117-FAE6-F74F-940B-9CD1479755BE}"/>
              </a:ext>
            </a:extLst>
          </p:cNvPr>
          <p:cNvSpPr txBox="1"/>
          <p:nvPr/>
        </p:nvSpPr>
        <p:spPr>
          <a:xfrm>
            <a:off x="842682" y="422856"/>
            <a:ext cx="10631527" cy="5386090"/>
          </a:xfrm>
          <a:prstGeom prst="rect">
            <a:avLst/>
          </a:prstGeom>
          <a:noFill/>
        </p:spPr>
        <p:txBody>
          <a:bodyPr wrap="square" rtlCol="0">
            <a:spAutoFit/>
          </a:bodyPr>
          <a:lstStyle/>
          <a:p>
            <a:pPr marL="4572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Test your algorithm using the problems shown. If necessary, adjust your algorithm. </a:t>
            </a: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If your algorithm worked and did not need adjustment, then show the work that proves that it worked. If your algorithm did not work, remember making mistakes helps you learn. Adjust your algorithm and write the new steps.</a:t>
            </a:r>
            <a:endParaRPr lang="en-US" sz="2000" dirty="0">
              <a:latin typeface="Verdana" panose="020B0604030504040204" pitchFamily="34" charset="0"/>
              <a:ea typeface="Verdana" panose="020B0604030504040204" pitchFamily="34" charset="0"/>
              <a:cs typeface="Cambria Math" panose="02040503050406030204" pitchFamily="18" charset="0"/>
            </a:endParaRPr>
          </a:p>
          <a:p>
            <a:endParaRPr lang="en-US" sz="2000" dirty="0">
              <a:latin typeface="Verdana" panose="020B0604030504040204" pitchFamily="34" charset="0"/>
              <a:ea typeface="Verdana" panose="020B0604030504040204" pitchFamily="34" charset="0"/>
              <a:cs typeface="Cambria Math" panose="02040503050406030204" pitchFamily="18"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78;g104476d1465_1_17">
            <a:extLst>
              <a:ext uri="{FF2B5EF4-FFF2-40B4-BE49-F238E27FC236}">
                <a16:creationId xmlns:a16="http://schemas.microsoft.com/office/drawing/2014/main" id="{5A057F2B-B43B-F64E-8B11-07A9669FD9E1}"/>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Picture 2">
            <a:extLst>
              <a:ext uri="{FF2B5EF4-FFF2-40B4-BE49-F238E27FC236}">
                <a16:creationId xmlns:a16="http://schemas.microsoft.com/office/drawing/2014/main" id="{2EB64B63-FB85-4BFE-9A10-49A49A7AAB93}"/>
              </a:ext>
            </a:extLst>
          </p:cNvPr>
          <p:cNvPicPr>
            <a:picLocks noChangeAspect="1"/>
          </p:cNvPicPr>
          <p:nvPr/>
        </p:nvPicPr>
        <p:blipFill>
          <a:blip r:embed="rId4"/>
          <a:stretch>
            <a:fillRect/>
          </a:stretch>
        </p:blipFill>
        <p:spPr>
          <a:xfrm>
            <a:off x="3396354" y="1073523"/>
            <a:ext cx="5313228" cy="2997735"/>
          </a:xfrm>
          <a:prstGeom prst="rect">
            <a:avLst/>
          </a:prstGeom>
        </p:spPr>
      </p:pic>
    </p:spTree>
    <p:extLst>
      <p:ext uri="{BB962C8B-B14F-4D97-AF65-F5344CB8AC3E}">
        <p14:creationId xmlns:p14="http://schemas.microsoft.com/office/powerpoint/2010/main" val="31923515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42568"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24</a:t>
            </a:r>
            <a:endParaRPr i="1" dirty="0">
              <a:latin typeface="Calibri"/>
              <a:ea typeface="Calibri"/>
              <a:cs typeface="Calibri"/>
              <a:sym typeface="Calibri"/>
            </a:endParaRPr>
          </a:p>
        </p:txBody>
      </p:sp>
      <p:sp>
        <p:nvSpPr>
          <p:cNvPr id="5" name="TextBox 4">
            <a:extLst>
              <a:ext uri="{FF2B5EF4-FFF2-40B4-BE49-F238E27FC236}">
                <a16:creationId xmlns:a16="http://schemas.microsoft.com/office/drawing/2014/main" id="{4CE9D117-FAE6-F74F-940B-9CD1479755BE}"/>
              </a:ext>
            </a:extLst>
          </p:cNvPr>
          <p:cNvSpPr txBox="1"/>
          <p:nvPr/>
        </p:nvSpPr>
        <p:spPr>
          <a:xfrm>
            <a:off x="664029" y="422858"/>
            <a:ext cx="11223171" cy="2862322"/>
          </a:xfrm>
          <a:prstGeom prst="rect">
            <a:avLst/>
          </a:prstGeom>
          <a:noFill/>
        </p:spPr>
        <p:txBody>
          <a:bodyPr wrap="square" rtlCol="0">
            <a:spAutoFit/>
          </a:bodyPr>
          <a:lstStyle/>
          <a:p>
            <a:pPr marL="457200" indent="-457200">
              <a:buFont typeface="+mj-lt"/>
              <a:buAutoNum type="alphaLcPeriod" startAt="4"/>
            </a:pPr>
            <a:r>
              <a:rPr lang="en-US" sz="2000" dirty="0">
                <a:latin typeface="Verdana" panose="020B0604030504040204" pitchFamily="34" charset="0"/>
                <a:ea typeface="Verdana" panose="020B0604030504040204" pitchFamily="34" charset="0"/>
                <a:cs typeface="Verdana" panose="020B0604030504040204" pitchFamily="34" charset="0"/>
              </a:rPr>
              <a:t>Test your algorithm again or use your new algorithm with the problems shown.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78;g104476d1465_1_17">
            <a:extLst>
              <a:ext uri="{FF2B5EF4-FFF2-40B4-BE49-F238E27FC236}">
                <a16:creationId xmlns:a16="http://schemas.microsoft.com/office/drawing/2014/main" id="{5A057F2B-B43B-F64E-8B11-07A9669FD9E1}"/>
              </a:ext>
            </a:extLst>
          </p:cNvPr>
          <p:cNvSpPr/>
          <p:nvPr/>
        </p:nvSpPr>
        <p:spPr>
          <a:xfrm>
            <a:off x="-9971"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p>
        </p:txBody>
      </p:sp>
      <p:pic>
        <p:nvPicPr>
          <p:cNvPr id="3" name="Picture 2">
            <a:extLst>
              <a:ext uri="{FF2B5EF4-FFF2-40B4-BE49-F238E27FC236}">
                <a16:creationId xmlns:a16="http://schemas.microsoft.com/office/drawing/2014/main" id="{59F9E5A1-DFDB-407B-AFAD-EB4C5C3B8BB5}"/>
              </a:ext>
            </a:extLst>
          </p:cNvPr>
          <p:cNvPicPr>
            <a:picLocks noChangeAspect="1"/>
          </p:cNvPicPr>
          <p:nvPr/>
        </p:nvPicPr>
        <p:blipFill>
          <a:blip r:embed="rId4"/>
          <a:stretch>
            <a:fillRect/>
          </a:stretch>
        </p:blipFill>
        <p:spPr>
          <a:xfrm>
            <a:off x="4099944" y="1395618"/>
            <a:ext cx="3992111" cy="4881183"/>
          </a:xfrm>
          <a:prstGeom prst="rect">
            <a:avLst/>
          </a:prstGeom>
        </p:spPr>
      </p:pic>
    </p:spTree>
    <p:extLst>
      <p:ext uri="{BB962C8B-B14F-4D97-AF65-F5344CB8AC3E}">
        <p14:creationId xmlns:p14="http://schemas.microsoft.com/office/powerpoint/2010/main" val="24537792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2489"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27864"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a:t>
            </a:r>
            <a:endParaRPr i="1" dirty="0">
              <a:latin typeface="Calibri"/>
              <a:ea typeface="Calibri"/>
              <a:cs typeface="Calibri"/>
              <a:sym typeface="Calibri"/>
            </a:endParaRPr>
          </a:p>
        </p:txBody>
      </p:sp>
      <p:sp>
        <p:nvSpPr>
          <p:cNvPr id="5" name="TextBox 4">
            <a:extLst>
              <a:ext uri="{FF2B5EF4-FFF2-40B4-BE49-F238E27FC236}">
                <a16:creationId xmlns:a16="http://schemas.microsoft.com/office/drawing/2014/main" id="{4CE9D117-FAE6-F74F-940B-9CD1479755BE}"/>
              </a:ext>
            </a:extLst>
          </p:cNvPr>
          <p:cNvSpPr txBox="1"/>
          <p:nvPr/>
        </p:nvSpPr>
        <p:spPr>
          <a:xfrm>
            <a:off x="544284" y="478077"/>
            <a:ext cx="11277599" cy="3871829"/>
          </a:xfrm>
          <a:prstGeom prst="rect">
            <a:avLst/>
          </a:prstGeom>
          <a:noFill/>
        </p:spPr>
        <p:txBody>
          <a:bodyPr wrap="square" rtlCol="0">
            <a:spAutoFit/>
          </a:bodyPr>
          <a:lstStyle/>
          <a:p>
            <a:pPr>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e. Exchange your algorithm with another pair of students. </a:t>
            </a:r>
            <a:endParaRPr lang="en-US" sz="2000" dirty="0">
              <a:latin typeface="Verdana" panose="020B0604030504040204" pitchFamily="34" charset="0"/>
              <a:ea typeface="Verdana" panose="020B0604030504040204" pitchFamily="34" charset="0"/>
              <a:cs typeface="Cambria Math" panose="02040503050406030204" pitchFamily="18" charset="0"/>
            </a:endParaRPr>
          </a:p>
          <a:p>
            <a:pPr marL="685800" indent="-342900">
              <a:lnSpc>
                <a:spcPct val="107000"/>
              </a:lnSpc>
              <a:buSzPts val="1800"/>
              <a:buFont typeface="Arial" panose="020B0604020202020204" pitchFamily="34" charset="0"/>
              <a:buChar char="•"/>
            </a:pPr>
            <a:r>
              <a:rPr lang="en-US" sz="2000" dirty="0">
                <a:latin typeface="Verdana" panose="020B0604030504040204" pitchFamily="34" charset="0"/>
                <a:ea typeface="Verdana" panose="020B0604030504040204" pitchFamily="34" charset="0"/>
                <a:cs typeface="Verdana" panose="020B0604030504040204" pitchFamily="34" charset="0"/>
              </a:rPr>
              <a:t>In the first column, write the names of the students who wrote the algorithm.  </a:t>
            </a:r>
          </a:p>
          <a:p>
            <a:pPr marL="685800" indent="-342900">
              <a:lnSpc>
                <a:spcPct val="107000"/>
              </a:lnSpc>
              <a:buSzPts val="1800"/>
              <a:buFont typeface="Arial" panose="020B0604020202020204" pitchFamily="34" charset="0"/>
              <a:buChar char="•"/>
            </a:pPr>
            <a:r>
              <a:rPr lang="en-US" sz="2000" dirty="0">
                <a:latin typeface="Verdana" panose="020B0604030504040204" pitchFamily="34" charset="0"/>
                <a:ea typeface="Verdana" panose="020B0604030504040204" pitchFamily="34" charset="0"/>
                <a:cs typeface="Verdana" panose="020B0604030504040204" pitchFamily="34" charset="0"/>
              </a:rPr>
              <a:t>In the second column, write your summary of their algorithm.</a:t>
            </a:r>
          </a:p>
          <a:p>
            <a:pPr marL="685800" indent="-342900">
              <a:lnSpc>
                <a:spcPct val="107000"/>
              </a:lnSpc>
              <a:buSzPts val="1800"/>
              <a:buFont typeface="Arial" panose="020B0604020202020204" pitchFamily="34" charset="0"/>
              <a:buChar char="•"/>
            </a:pPr>
            <a:r>
              <a:rPr lang="en-US" sz="2000" dirty="0">
                <a:latin typeface="Verdana" panose="020B0604030504040204" pitchFamily="34" charset="0"/>
                <a:ea typeface="Verdana" panose="020B0604030504040204" pitchFamily="34" charset="0"/>
                <a:cs typeface="Cambria Math" panose="02040503050406030204" pitchFamily="18" charset="0"/>
              </a:rPr>
              <a:t>I</a:t>
            </a:r>
            <a:r>
              <a:rPr lang="en-US" sz="2000" dirty="0">
                <a:latin typeface="Verdana" panose="020B0604030504040204" pitchFamily="34" charset="0"/>
                <a:ea typeface="Verdana" panose="020B0604030504040204" pitchFamily="34" charset="0"/>
                <a:cs typeface="Verdana" panose="020B0604030504040204" pitchFamily="34" charset="0"/>
              </a:rPr>
              <a:t>n the third column, use their algorithm to test any two of the division equations.</a:t>
            </a:r>
            <a:endParaRPr lang="en-US" sz="2000" dirty="0">
              <a:latin typeface="Verdana" panose="020B0604030504040204" pitchFamily="34" charset="0"/>
              <a:ea typeface="Verdana" panose="020B0604030504040204" pitchFamily="34" charset="0"/>
              <a:cs typeface="Cambria Math" panose="02040503050406030204" pitchFamily="18"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78;g104476d1465_1_17">
            <a:extLst>
              <a:ext uri="{FF2B5EF4-FFF2-40B4-BE49-F238E27FC236}">
                <a16:creationId xmlns:a16="http://schemas.microsoft.com/office/drawing/2014/main" id="{5A057F2B-B43B-F64E-8B11-07A9669FD9E1}"/>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Picture 2">
            <a:extLst>
              <a:ext uri="{FF2B5EF4-FFF2-40B4-BE49-F238E27FC236}">
                <a16:creationId xmlns:a16="http://schemas.microsoft.com/office/drawing/2014/main" id="{CDB599FF-752E-4425-966E-5295D0ACF29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914402" y="2542529"/>
            <a:ext cx="6537365" cy="3666295"/>
          </a:xfrm>
          <a:prstGeom prst="rect">
            <a:avLst/>
          </a:prstGeom>
        </p:spPr>
      </p:pic>
    </p:spTree>
    <p:extLst>
      <p:ext uri="{BB962C8B-B14F-4D97-AF65-F5344CB8AC3E}">
        <p14:creationId xmlns:p14="http://schemas.microsoft.com/office/powerpoint/2010/main" val="32350544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317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751665"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a:t>
            </a:r>
            <a:endParaRPr i="1" dirty="0">
              <a:latin typeface="Calibri"/>
              <a:ea typeface="Calibri"/>
              <a:cs typeface="Calibri"/>
              <a:sym typeface="Calibri"/>
            </a:endParaRPr>
          </a:p>
        </p:txBody>
      </p:sp>
      <p:sp>
        <p:nvSpPr>
          <p:cNvPr id="5" name="TextBox 4">
            <a:extLst>
              <a:ext uri="{FF2B5EF4-FFF2-40B4-BE49-F238E27FC236}">
                <a16:creationId xmlns:a16="http://schemas.microsoft.com/office/drawing/2014/main" id="{4CE9D117-FAE6-F74F-940B-9CD1479755BE}"/>
              </a:ext>
            </a:extLst>
          </p:cNvPr>
          <p:cNvSpPr txBox="1"/>
          <p:nvPr/>
        </p:nvSpPr>
        <p:spPr>
          <a:xfrm>
            <a:off x="707571" y="534130"/>
            <a:ext cx="11070772" cy="2437590"/>
          </a:xfrm>
          <a:prstGeom prst="rect">
            <a:avLst/>
          </a:prstGeom>
          <a:noFill/>
        </p:spPr>
        <p:txBody>
          <a:bodyPr wrap="square" rtlCol="0">
            <a:spAutoFit/>
          </a:bodyPr>
          <a:lstStyle/>
          <a:p>
            <a:pPr>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f. Check the criteria that this algorithm met.</a:t>
            </a:r>
          </a:p>
          <a:p>
            <a:pPr marL="625475" indent="-342900">
              <a:lnSpc>
                <a:spcPct val="107000"/>
              </a:lnSpc>
              <a:buFont typeface="Wingdings" panose="05000000000000000000" pitchFamily="2" charset="2"/>
              <a:buChar char="q"/>
            </a:pPr>
            <a:r>
              <a:rPr lang="en-US" sz="2000" dirty="0">
                <a:latin typeface="Verdana" panose="020B0604030504040204" pitchFamily="34" charset="0"/>
                <a:ea typeface="Verdana" panose="020B0604030504040204" pitchFamily="34" charset="0"/>
                <a:cs typeface="Cambria Math" panose="02040503050406030204" pitchFamily="18" charset="0"/>
              </a:rPr>
              <a:t>T</a:t>
            </a:r>
            <a:r>
              <a:rPr lang="en-US" sz="2000" dirty="0">
                <a:latin typeface="Verdana" panose="020B0604030504040204" pitchFamily="34" charset="0"/>
                <a:ea typeface="Verdana" panose="020B0604030504040204" pitchFamily="34" charset="0"/>
                <a:cs typeface="Verdana" panose="020B0604030504040204" pitchFamily="34" charset="0"/>
              </a:rPr>
              <a:t>he algorithm uses mathematical terms.</a:t>
            </a:r>
          </a:p>
          <a:p>
            <a:pPr marL="625475" indent="-342900">
              <a:lnSpc>
                <a:spcPct val="107000"/>
              </a:lnSpc>
              <a:buFont typeface="Wingdings" panose="05000000000000000000" pitchFamily="2" charset="2"/>
              <a:buChar char="q"/>
            </a:pPr>
            <a:r>
              <a:rPr lang="en-US" sz="2000" dirty="0">
                <a:latin typeface="Verdana" panose="020B0604030504040204" pitchFamily="34" charset="0"/>
                <a:ea typeface="Verdana" panose="020B0604030504040204" pitchFamily="34" charset="0"/>
                <a:cs typeface="Verdana" panose="020B0604030504040204" pitchFamily="34" charset="0"/>
              </a:rPr>
              <a:t>The algorithm works for my test problems.</a:t>
            </a:r>
          </a:p>
          <a:p>
            <a:pPr marL="625475" indent="-342900">
              <a:lnSpc>
                <a:spcPct val="107000"/>
              </a:lnSpc>
              <a:buFont typeface="Wingdings" panose="05000000000000000000" pitchFamily="2" charset="2"/>
              <a:buChar char="q"/>
            </a:pPr>
            <a:r>
              <a:rPr lang="en-US" sz="2000" dirty="0">
                <a:latin typeface="Verdana" panose="020B0604030504040204" pitchFamily="34" charset="0"/>
                <a:ea typeface="Verdana" panose="020B0604030504040204" pitchFamily="34" charset="0"/>
                <a:cs typeface="Verdana" panose="020B0604030504040204" pitchFamily="34" charset="0"/>
              </a:rPr>
              <a:t>The algorithm is clear and could help students know the process of dividing fractions.</a:t>
            </a:r>
            <a:endParaRPr lang="en-US" sz="2000" dirty="0">
              <a:latin typeface="Verdana" panose="020B0604030504040204" pitchFamily="34" charset="0"/>
              <a:ea typeface="Verdana" panose="020B0604030504040204" pitchFamily="34" charset="0"/>
              <a:cs typeface="Cambria Math" panose="02040503050406030204" pitchFamily="18" charset="0"/>
            </a:endParaRPr>
          </a:p>
          <a:p>
            <a:pPr>
              <a:lnSpc>
                <a:spcPct val="107000"/>
              </a:lnSpc>
            </a:pPr>
            <a:r>
              <a:rPr lang="en-US" sz="2000" b="1"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Cambria Math" panose="02040503050406030204" pitchFamily="18"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78;g104476d1465_1_17">
            <a:extLst>
              <a:ext uri="{FF2B5EF4-FFF2-40B4-BE49-F238E27FC236}">
                <a16:creationId xmlns:a16="http://schemas.microsoft.com/office/drawing/2014/main" id="{5A057F2B-B43B-F64E-8B11-07A9669FD9E1}"/>
              </a:ext>
            </a:extLst>
          </p:cNvPr>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3813925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7625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a:t>
            </a:r>
            <a:endParaRPr i="1" dirty="0">
              <a:latin typeface="Calibri"/>
              <a:ea typeface="Calibri"/>
              <a:cs typeface="Calibri"/>
              <a:sym typeface="Calibri"/>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82" name="Google Shape;282;g104476d1465_1_17"/>
          <p:cNvSpPr txBox="1"/>
          <p:nvPr/>
        </p:nvSpPr>
        <p:spPr>
          <a:xfrm>
            <a:off x="8827864"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257107" y="-275878"/>
            <a:ext cx="9383171" cy="1475942"/>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300" b="1" dirty="0">
                <a:solidFill>
                  <a:srgbClr val="3F2A67"/>
                </a:solidFill>
                <a:latin typeface="Verdana"/>
                <a:ea typeface="Verdana"/>
                <a:cs typeface="Verdana"/>
                <a:sym typeface="Verdana"/>
              </a:rPr>
              <a:t>1.4.5 Wrap-Up: Ticket Out 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509807" y="88443"/>
            <a:ext cx="747300" cy="747300"/>
          </a:xfrm>
          <a:prstGeom prst="rect">
            <a:avLst/>
          </a:prstGeom>
          <a:noFill/>
          <a:ln>
            <a:noFill/>
          </a:ln>
          <a:effectLst>
            <a:outerShdw blurRad="50800" dist="38100" dir="2700000" algn="tl" rotWithShape="0">
              <a:prstClr val="black">
                <a:alpha val="40000"/>
              </a:prstClr>
            </a:outerShdw>
          </a:effectLst>
        </p:spPr>
      </p:pic>
      <p:sp>
        <p:nvSpPr>
          <p:cNvPr id="8" name="Google Shape;278;g104476d1465_1_17">
            <a:extLst>
              <a:ext uri="{FF2B5EF4-FFF2-40B4-BE49-F238E27FC236}">
                <a16:creationId xmlns:a16="http://schemas.microsoft.com/office/drawing/2014/main" id="{055A48D7-DC81-5F4D-9632-5F42A5D9EE47}"/>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12FB2A9-5F08-40FA-93F8-8B39A229D9C7}"/>
                  </a:ext>
                </a:extLst>
              </p:cNvPr>
              <p:cNvSpPr txBox="1"/>
              <p:nvPr/>
            </p:nvSpPr>
            <p:spPr>
              <a:xfrm>
                <a:off x="509807" y="1502228"/>
                <a:ext cx="11497136" cy="3163366"/>
              </a:xfrm>
              <a:prstGeom prst="rect">
                <a:avLst/>
              </a:prstGeom>
              <a:noFill/>
            </p:spPr>
            <p:txBody>
              <a:bodyPr wrap="square" rtlCol="0">
                <a:spAutoFit/>
              </a:bodyPr>
              <a:lstStyle/>
              <a:p>
                <a:pPr>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1. Complete the following.</a:t>
                </a:r>
              </a:p>
              <a:p>
                <a:pPr marL="342900" indent="-342900">
                  <a:lnSpc>
                    <a:spcPct val="107000"/>
                  </a:lnSpc>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566738">
                  <a:lnSpc>
                    <a:spcPct val="107000"/>
                  </a:lnSpc>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Select what you think is true for the answer to the question: How many groups of </a:t>
                </a:r>
                <a14:m>
                  <m:oMath xmlns:m="http://schemas.openxmlformats.org/officeDocument/2006/math">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r>
                          <a:rPr lang="en-US" sz="2000" i="1">
                            <a:latin typeface="Cambria Math" panose="02040503050406030204" pitchFamily="18" charset="0"/>
                            <a:ea typeface="Verdana" panose="020B0604030504040204" pitchFamily="34" charset="0"/>
                            <a:cs typeface="Verdana" panose="020B0604030504040204" pitchFamily="34" charset="0"/>
                          </a:rPr>
                          <m:t>1</m:t>
                        </m:r>
                      </m:num>
                      <m:den>
                        <m:r>
                          <a:rPr lang="en-US" sz="2000" i="1">
                            <a:latin typeface="Cambria Math" panose="02040503050406030204" pitchFamily="18" charset="0"/>
                            <a:ea typeface="Verdana" panose="020B0604030504040204" pitchFamily="34" charset="0"/>
                            <a:cs typeface="Verdana" panose="020B0604030504040204" pitchFamily="34" charset="0"/>
                          </a:rPr>
                          <m:t>8</m:t>
                        </m:r>
                      </m:den>
                    </m:f>
                  </m:oMath>
                </a14:m>
                <a:r>
                  <a:rPr lang="en-US" sz="2000" dirty="0">
                    <a:latin typeface="Verdana" panose="020B0604030504040204" pitchFamily="34" charset="0"/>
                    <a:ea typeface="Verdana" panose="020B0604030504040204" pitchFamily="34" charset="0"/>
                    <a:cs typeface="Verdana" panose="020B0604030504040204" pitchFamily="34" charset="0"/>
                  </a:rPr>
                  <a:t> are in </a:t>
                </a:r>
                <a14:m>
                  <m:oMath xmlns:m="http://schemas.openxmlformats.org/officeDocument/2006/math">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r>
                          <a:rPr lang="en-US" sz="2000" i="1">
                            <a:latin typeface="Cambria Math" panose="02040503050406030204" pitchFamily="18" charset="0"/>
                            <a:ea typeface="Verdana" panose="020B0604030504040204" pitchFamily="34" charset="0"/>
                            <a:cs typeface="Verdana" panose="020B0604030504040204" pitchFamily="34" charset="0"/>
                          </a:rPr>
                          <m:t>3</m:t>
                        </m:r>
                      </m:num>
                      <m:den>
                        <m:r>
                          <a:rPr lang="en-US" sz="2000" i="1">
                            <a:latin typeface="Cambria Math" panose="02040503050406030204" pitchFamily="18" charset="0"/>
                            <a:ea typeface="Verdana" panose="020B0604030504040204" pitchFamily="34" charset="0"/>
                            <a:cs typeface="Verdana" panose="020B0604030504040204" pitchFamily="34" charset="0"/>
                          </a:rPr>
                          <m:t>4</m:t>
                        </m:r>
                      </m:den>
                    </m:f>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1257300" indent="-342900">
                  <a:lnSpc>
                    <a:spcPct val="107000"/>
                  </a:lnSpc>
                  <a:buFont typeface="Wingdings" panose="05000000000000000000" pitchFamily="2" charset="2"/>
                  <a:buChar char="q"/>
                </a:pPr>
                <a:r>
                  <a:rPr lang="en-US" sz="2000" dirty="0">
                    <a:latin typeface="Verdana" panose="020B0604030504040204" pitchFamily="34" charset="0"/>
                    <a:ea typeface="Verdana" panose="020B0604030504040204" pitchFamily="34" charset="0"/>
                    <a:cs typeface="Cambria Math" panose="02040503050406030204" pitchFamily="18" charset="0"/>
                  </a:rPr>
                  <a:t>T</a:t>
                </a:r>
                <a:r>
                  <a:rPr lang="en-US" sz="2000" dirty="0">
                    <a:latin typeface="Verdana" panose="020B0604030504040204" pitchFamily="34" charset="0"/>
                    <a:ea typeface="Verdana" panose="020B0604030504040204" pitchFamily="34" charset="0"/>
                    <a:cs typeface="Verdana" panose="020B0604030504040204" pitchFamily="34" charset="0"/>
                  </a:rPr>
                  <a:t>he number of groups is larger than </a:t>
                </a:r>
                <a14:m>
                  <m:oMath xmlns:m="http://schemas.openxmlformats.org/officeDocument/2006/math">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r>
                          <a:rPr lang="en-US" sz="2000" i="1">
                            <a:latin typeface="Cambria Math" panose="02040503050406030204" pitchFamily="18" charset="0"/>
                            <a:ea typeface="Verdana" panose="020B0604030504040204" pitchFamily="34" charset="0"/>
                            <a:cs typeface="Verdana" panose="020B0604030504040204" pitchFamily="34" charset="0"/>
                          </a:rPr>
                          <m:t>1</m:t>
                        </m:r>
                      </m:num>
                      <m:den>
                        <m:r>
                          <a:rPr lang="en-US" sz="2000" i="1">
                            <a:latin typeface="Cambria Math" panose="02040503050406030204" pitchFamily="18" charset="0"/>
                            <a:ea typeface="Verdana" panose="020B0604030504040204" pitchFamily="34" charset="0"/>
                            <a:cs typeface="Verdana" panose="020B0604030504040204" pitchFamily="34" charset="0"/>
                          </a:rPr>
                          <m:t>8</m:t>
                        </m:r>
                      </m:den>
                    </m:f>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1257300" indent="-342900">
                  <a:lnSpc>
                    <a:spcPct val="107000"/>
                  </a:lnSpc>
                  <a:buFont typeface="Wingdings" panose="05000000000000000000" pitchFamily="2" charset="2"/>
                  <a:buChar char="q"/>
                </a:pPr>
                <a:r>
                  <a:rPr lang="en-US" sz="2000" dirty="0">
                    <a:latin typeface="Verdana" panose="020B0604030504040204" pitchFamily="34" charset="0"/>
                    <a:ea typeface="Verdana" panose="020B0604030504040204" pitchFamily="34" charset="0"/>
                    <a:cs typeface="Verdana" panose="020B0604030504040204" pitchFamily="34" charset="0"/>
                  </a:rPr>
                  <a:t>The number of groups is larger than </a:t>
                </a:r>
                <a14:m>
                  <m:oMath xmlns:m="http://schemas.openxmlformats.org/officeDocument/2006/math">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r>
                          <a:rPr lang="en-US" sz="2000" i="1">
                            <a:latin typeface="Cambria Math" panose="02040503050406030204" pitchFamily="18" charset="0"/>
                            <a:ea typeface="Verdana" panose="020B0604030504040204" pitchFamily="34" charset="0"/>
                            <a:cs typeface="Verdana" panose="020B0604030504040204" pitchFamily="34" charset="0"/>
                          </a:rPr>
                          <m:t>1</m:t>
                        </m:r>
                      </m:num>
                      <m:den>
                        <m:r>
                          <a:rPr lang="en-US" sz="2000" i="1">
                            <a:latin typeface="Cambria Math" panose="02040503050406030204" pitchFamily="18" charset="0"/>
                            <a:ea typeface="Verdana" panose="020B0604030504040204" pitchFamily="34" charset="0"/>
                            <a:cs typeface="Verdana" panose="020B0604030504040204" pitchFamily="34" charset="0"/>
                          </a:rPr>
                          <m:t>8</m:t>
                        </m:r>
                      </m:den>
                    </m:f>
                    <m:r>
                      <a:rPr lang="en-US" sz="2000">
                        <a:latin typeface="Cambria Math" panose="02040503050406030204" pitchFamily="18" charset="0"/>
                        <a:ea typeface="Verdana" panose="020B0604030504040204" pitchFamily="34" charset="0"/>
                        <a:cs typeface="Verdana" panose="020B0604030504040204" pitchFamily="34" charset="0"/>
                      </a:rPr>
                      <m:t> </m:t>
                    </m:r>
                  </m:oMath>
                </a14:m>
                <a:r>
                  <a:rPr lang="en-US" sz="2000" dirty="0">
                    <a:latin typeface="Verdana" panose="020B0604030504040204" pitchFamily="34" charset="0"/>
                    <a:ea typeface="Verdana" panose="020B0604030504040204" pitchFamily="34" charset="0"/>
                    <a:cs typeface="Verdana" panose="020B0604030504040204" pitchFamily="34" charset="0"/>
                  </a:rPr>
                  <a:t>but smaller than </a:t>
                </a:r>
                <a14:m>
                  <m:oMath xmlns:m="http://schemas.openxmlformats.org/officeDocument/2006/math">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r>
                          <a:rPr lang="en-US" sz="2000" i="1">
                            <a:latin typeface="Cambria Math" panose="02040503050406030204" pitchFamily="18" charset="0"/>
                            <a:ea typeface="Verdana" panose="020B0604030504040204" pitchFamily="34" charset="0"/>
                            <a:cs typeface="Verdana" panose="020B0604030504040204" pitchFamily="34" charset="0"/>
                          </a:rPr>
                          <m:t>3</m:t>
                        </m:r>
                      </m:num>
                      <m:den>
                        <m:r>
                          <a:rPr lang="en-US" sz="2000" i="1">
                            <a:latin typeface="Cambria Math" panose="02040503050406030204" pitchFamily="18" charset="0"/>
                            <a:ea typeface="Verdana" panose="020B0604030504040204" pitchFamily="34" charset="0"/>
                            <a:cs typeface="Verdana" panose="020B0604030504040204" pitchFamily="34" charset="0"/>
                          </a:rPr>
                          <m:t>4</m:t>
                        </m:r>
                      </m:den>
                    </m:f>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1257300" indent="-342900">
                  <a:lnSpc>
                    <a:spcPct val="107000"/>
                  </a:lnSpc>
                  <a:buFont typeface="Wingdings" panose="05000000000000000000" pitchFamily="2" charset="2"/>
                  <a:buChar char="q"/>
                </a:pPr>
                <a:r>
                  <a:rPr lang="en-US" sz="2000" dirty="0">
                    <a:latin typeface="Verdana" panose="020B0604030504040204" pitchFamily="34" charset="0"/>
                    <a:ea typeface="Verdana" panose="020B0604030504040204" pitchFamily="34" charset="0"/>
                    <a:cs typeface="Cambria Math" panose="02040503050406030204" pitchFamily="18" charset="0"/>
                  </a:rPr>
                  <a:t>T</a:t>
                </a:r>
                <a:r>
                  <a:rPr lang="en-US" sz="2000" dirty="0">
                    <a:latin typeface="Verdana" panose="020B0604030504040204" pitchFamily="34" charset="0"/>
                    <a:ea typeface="Verdana" panose="020B0604030504040204" pitchFamily="34" charset="0"/>
                    <a:cs typeface="Verdana" panose="020B0604030504040204" pitchFamily="34" charset="0"/>
                  </a:rPr>
                  <a:t>he number of groups is larger than </a:t>
                </a:r>
                <a14:m>
                  <m:oMath xmlns:m="http://schemas.openxmlformats.org/officeDocument/2006/math">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r>
                          <a:rPr lang="en-US" sz="2000" i="1">
                            <a:latin typeface="Cambria Math" panose="02040503050406030204" pitchFamily="18" charset="0"/>
                            <a:ea typeface="Verdana" panose="020B0604030504040204" pitchFamily="34" charset="0"/>
                            <a:cs typeface="Verdana" panose="020B0604030504040204" pitchFamily="34" charset="0"/>
                          </a:rPr>
                          <m:t>3</m:t>
                        </m:r>
                      </m:num>
                      <m:den>
                        <m:r>
                          <a:rPr lang="en-US" sz="2000" i="1">
                            <a:latin typeface="Cambria Math" panose="02040503050406030204" pitchFamily="18" charset="0"/>
                            <a:ea typeface="Verdana" panose="020B0604030504040204" pitchFamily="34" charset="0"/>
                            <a:cs typeface="Verdana" panose="020B0604030504040204" pitchFamily="34" charset="0"/>
                          </a:rPr>
                          <m:t>4</m:t>
                        </m:r>
                      </m:den>
                    </m:f>
                  </m:oMath>
                </a14:m>
                <a:r>
                  <a:rPr lang="en-US" sz="2000" dirty="0">
                    <a:latin typeface="Verdana" panose="020B0604030504040204" pitchFamily="34" charset="0"/>
                    <a:ea typeface="Verdana" panose="020B0604030504040204" pitchFamily="34" charset="0"/>
                    <a:cs typeface="Verdana" panose="020B0604030504040204" pitchFamily="34" charset="0"/>
                  </a:rPr>
                  <a:t>.</a:t>
                </a:r>
                <a:endParaRPr lang="en-US" sz="2000" dirty="0">
                  <a:latin typeface="Verdana" panose="020B0604030504040204" pitchFamily="34" charset="0"/>
                  <a:ea typeface="Verdana" panose="020B0604030504040204" pitchFamily="34" charset="0"/>
                  <a:cs typeface="Cambria Math" panose="02040503050406030204" pitchFamily="18" charset="0"/>
                </a:endParaRPr>
              </a:p>
              <a:p>
                <a:endParaRPr lang="en-US" dirty="0"/>
              </a:p>
            </p:txBody>
          </p:sp>
        </mc:Choice>
        <mc:Fallback xmlns="">
          <p:sp>
            <p:nvSpPr>
              <p:cNvPr id="2" name="TextBox 1">
                <a:extLst>
                  <a:ext uri="{FF2B5EF4-FFF2-40B4-BE49-F238E27FC236}">
                    <a16:creationId xmlns:a16="http://schemas.microsoft.com/office/drawing/2014/main" id="{712FB2A9-5F08-40FA-93F8-8B39A229D9C7}"/>
                  </a:ext>
                </a:extLst>
              </p:cNvPr>
              <p:cNvSpPr txBox="1">
                <a:spLocks noRot="1" noChangeAspect="1" noMove="1" noResize="1" noEditPoints="1" noAdjustHandles="1" noChangeArrowheads="1" noChangeShapeType="1" noTextEdit="1"/>
              </p:cNvSpPr>
              <p:nvPr/>
            </p:nvSpPr>
            <p:spPr>
              <a:xfrm>
                <a:off x="509807" y="1502228"/>
                <a:ext cx="11497136" cy="3163366"/>
              </a:xfrm>
              <a:prstGeom prst="rect">
                <a:avLst/>
              </a:prstGeom>
              <a:blipFill>
                <a:blip r:embed="rId5"/>
                <a:stretch>
                  <a:fillRect l="-552" t="-1600"/>
                </a:stretch>
              </a:blipFill>
            </p:spPr>
            <p:txBody>
              <a:bodyPr/>
              <a:lstStyle/>
              <a:p>
                <a:r>
                  <a:rPr lang="en-US">
                    <a:noFill/>
                  </a:rPr>
                  <a:t> </a:t>
                </a:r>
              </a:p>
            </p:txBody>
          </p:sp>
        </mc:Fallback>
      </mc:AlternateContent>
    </p:spTree>
    <p:extLst>
      <p:ext uri="{BB962C8B-B14F-4D97-AF65-F5344CB8AC3E}">
        <p14:creationId xmlns:p14="http://schemas.microsoft.com/office/powerpoint/2010/main" val="5539956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CE9D117-FAE6-F74F-940B-9CD1479755BE}"/>
                  </a:ext>
                </a:extLst>
              </p:cNvPr>
              <p:cNvSpPr txBox="1"/>
              <p:nvPr/>
            </p:nvSpPr>
            <p:spPr>
              <a:xfrm>
                <a:off x="587829" y="422858"/>
                <a:ext cx="11419114" cy="4351961"/>
              </a:xfrm>
              <a:prstGeom prst="rect">
                <a:avLst/>
              </a:prstGeom>
              <a:noFill/>
            </p:spPr>
            <p:txBody>
              <a:bodyPr wrap="square" rtlCol="0">
                <a:spAutoFit/>
              </a:bodyPr>
              <a:lstStyle/>
              <a:p>
                <a:pPr marL="915988" indent="-446088">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Using a model can help visualize mathematics. Use the tape diagram to determine the number of groups of </a:t>
                </a:r>
                <a14:m>
                  <m:oMath xmlns:m="http://schemas.openxmlformats.org/officeDocument/2006/math">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r>
                          <a:rPr lang="en-US" sz="2000" i="1">
                            <a:latin typeface="Cambria Math" panose="02040503050406030204" pitchFamily="18" charset="0"/>
                            <a:ea typeface="Verdana" panose="020B0604030504040204" pitchFamily="34" charset="0"/>
                            <a:cs typeface="Verdana" panose="020B0604030504040204" pitchFamily="34" charset="0"/>
                          </a:rPr>
                          <m:t>1</m:t>
                        </m:r>
                      </m:num>
                      <m:den>
                        <m:r>
                          <a:rPr lang="en-US" sz="2000" i="1">
                            <a:latin typeface="Cambria Math" panose="02040503050406030204" pitchFamily="18" charset="0"/>
                            <a:ea typeface="Verdana" panose="020B0604030504040204" pitchFamily="34" charset="0"/>
                            <a:cs typeface="Verdana" panose="020B0604030504040204" pitchFamily="34" charset="0"/>
                          </a:rPr>
                          <m:t>8</m:t>
                        </m:r>
                      </m:den>
                    </m:f>
                  </m:oMath>
                </a14:m>
                <a:r>
                  <a:rPr lang="en-US" sz="2000" dirty="0">
                    <a:latin typeface="Verdana" panose="020B0604030504040204" pitchFamily="34" charset="0"/>
                    <a:ea typeface="Verdana" panose="020B0604030504040204" pitchFamily="34" charset="0"/>
                    <a:cs typeface="Verdana" panose="020B0604030504040204" pitchFamily="34" charset="0"/>
                  </a:rPr>
                  <a:t> that are in </a:t>
                </a:r>
                <a14:m>
                  <m:oMath xmlns:m="http://schemas.openxmlformats.org/officeDocument/2006/math">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r>
                          <a:rPr lang="en-US" sz="2000" i="1">
                            <a:latin typeface="Cambria Math" panose="02040503050406030204" pitchFamily="18" charset="0"/>
                            <a:ea typeface="Verdana" panose="020B0604030504040204" pitchFamily="34" charset="0"/>
                            <a:cs typeface="Verdana" panose="020B0604030504040204" pitchFamily="34" charset="0"/>
                          </a:rPr>
                          <m:t>3</m:t>
                        </m:r>
                      </m:num>
                      <m:den>
                        <m:r>
                          <a:rPr lang="en-US" sz="2000" i="1">
                            <a:latin typeface="Cambria Math" panose="02040503050406030204" pitchFamily="18" charset="0"/>
                            <a:ea typeface="Verdana" panose="020B0604030504040204" pitchFamily="34" charset="0"/>
                            <a:cs typeface="Verdana" panose="020B0604030504040204" pitchFamily="34" charset="0"/>
                          </a:rPr>
                          <m:t>4</m:t>
                        </m:r>
                      </m:den>
                    </m:f>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915988" indent="-446088">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5988" indent="-446088">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5988" indent="-446088">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5988" indent="-446088">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5988" indent="-446088">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5988" indent="-446088">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5988" indent="-446088">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5988" indent="-446088">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5988" indent="-446088">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5988" indent="-446088">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Use an algorithm from class today to find </a:t>
                </a:r>
                <a14:m>
                  <m:oMath xmlns:m="http://schemas.openxmlformats.org/officeDocument/2006/math">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r>
                          <a:rPr lang="en-US" sz="2000" i="1">
                            <a:latin typeface="Cambria Math" panose="02040503050406030204" pitchFamily="18" charset="0"/>
                            <a:ea typeface="Verdana" panose="020B0604030504040204" pitchFamily="34" charset="0"/>
                            <a:cs typeface="Verdana" panose="020B0604030504040204" pitchFamily="34" charset="0"/>
                          </a:rPr>
                          <m:t>3</m:t>
                        </m:r>
                      </m:num>
                      <m:den>
                        <m:r>
                          <a:rPr lang="en-US" sz="2000" i="1">
                            <a:latin typeface="Cambria Math" panose="02040503050406030204" pitchFamily="18" charset="0"/>
                            <a:ea typeface="Verdana" panose="020B0604030504040204" pitchFamily="34" charset="0"/>
                            <a:cs typeface="Verdana" panose="020B0604030504040204" pitchFamily="34" charset="0"/>
                          </a:rPr>
                          <m:t>4</m:t>
                        </m:r>
                      </m:den>
                    </m:f>
                    <m:r>
                      <a:rPr lang="en-US" sz="2000" i="1">
                        <a:latin typeface="Cambria Math" panose="02040503050406030204" pitchFamily="18" charset="0"/>
                        <a:ea typeface="Verdana" panose="020B0604030504040204" pitchFamily="34" charset="0"/>
                        <a:cs typeface="Verdana" panose="020B0604030504040204" pitchFamily="34" charset="0"/>
                      </a:rPr>
                      <m:t>÷</m:t>
                    </m:r>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r>
                          <a:rPr lang="en-US" sz="2000" i="1">
                            <a:latin typeface="Cambria Math" panose="02040503050406030204" pitchFamily="18" charset="0"/>
                            <a:ea typeface="Verdana" panose="020B0604030504040204" pitchFamily="34" charset="0"/>
                            <a:cs typeface="Verdana" panose="020B0604030504040204" pitchFamily="34" charset="0"/>
                          </a:rPr>
                          <m:t>1</m:t>
                        </m:r>
                      </m:num>
                      <m:den>
                        <m:r>
                          <a:rPr lang="en-US" sz="2000" i="1">
                            <a:latin typeface="Cambria Math" panose="02040503050406030204" pitchFamily="18" charset="0"/>
                            <a:ea typeface="Verdana" panose="020B0604030504040204" pitchFamily="34" charset="0"/>
                            <a:cs typeface="Verdana" panose="020B0604030504040204" pitchFamily="34" charset="0"/>
                          </a:rPr>
                          <m:t>8</m:t>
                        </m:r>
                      </m:den>
                    </m:f>
                  </m:oMath>
                </a14:m>
                <a:r>
                  <a:rPr lang="en-US" sz="2000" dirty="0">
                    <a:latin typeface="Verdana" panose="020B0604030504040204" pitchFamily="34" charset="0"/>
                    <a:ea typeface="Verdana" panose="020B0604030504040204" pitchFamily="34" charset="0"/>
                    <a:cs typeface="Verdana" panose="020B0604030504040204" pitchFamily="34" charset="0"/>
                  </a:rPr>
                  <a:t>. Show your work.</a:t>
                </a:r>
                <a:endParaRPr lang="en-US" sz="2000" dirty="0">
                  <a:latin typeface="Verdana" panose="020B0604030504040204" pitchFamily="34" charset="0"/>
                  <a:ea typeface="Verdana" panose="020B0604030504040204" pitchFamily="34" charset="0"/>
                  <a:cs typeface="Cambria Math" panose="02040503050406030204" pitchFamily="18"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id="{4CE9D117-FAE6-F74F-940B-9CD1479755BE}"/>
                  </a:ext>
                </a:extLst>
              </p:cNvPr>
              <p:cNvSpPr txBox="1">
                <a:spLocks noRot="1" noChangeAspect="1" noMove="1" noResize="1" noEditPoints="1" noAdjustHandles="1" noChangeArrowheads="1" noChangeShapeType="1" noTextEdit="1"/>
              </p:cNvSpPr>
              <p:nvPr/>
            </p:nvSpPr>
            <p:spPr>
              <a:xfrm>
                <a:off x="587829" y="422858"/>
                <a:ext cx="11419114" cy="4351961"/>
              </a:xfrm>
              <a:prstGeom prst="rect">
                <a:avLst/>
              </a:prstGeom>
              <a:blipFill>
                <a:blip r:embed="rId4"/>
                <a:stretch>
                  <a:fillRect t="-875"/>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5A057F2B-B43B-F64E-8B11-07A9669FD9E1}"/>
              </a:ext>
            </a:extLst>
          </p:cNvPr>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4" name="Picture 3">
            <a:extLst>
              <a:ext uri="{FF2B5EF4-FFF2-40B4-BE49-F238E27FC236}">
                <a16:creationId xmlns:a16="http://schemas.microsoft.com/office/drawing/2014/main" id="{4339534E-BA49-4EEF-A2CB-18DB1B26F10A}"/>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049486" y="1174724"/>
            <a:ext cx="4495800" cy="2350280"/>
          </a:xfrm>
          <a:prstGeom prst="rect">
            <a:avLst/>
          </a:prstGeom>
        </p:spPr>
      </p:pic>
    </p:spTree>
    <p:extLst>
      <p:ext uri="{BB962C8B-B14F-4D97-AF65-F5344CB8AC3E}">
        <p14:creationId xmlns:p14="http://schemas.microsoft.com/office/powerpoint/2010/main" val="11233964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795207" y="646758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a:t>
            </a:r>
            <a:endParaRPr i="1" dirty="0">
              <a:latin typeface="Calibri"/>
              <a:ea typeface="Calibri"/>
              <a:cs typeface="Calibri"/>
              <a:sym typeface="Calibri"/>
            </a:endParaRPr>
          </a:p>
        </p:txBody>
      </p:sp>
      <p:sp>
        <p:nvSpPr>
          <p:cNvPr id="5" name="TextBox 4">
            <a:extLst>
              <a:ext uri="{FF2B5EF4-FFF2-40B4-BE49-F238E27FC236}">
                <a16:creationId xmlns:a16="http://schemas.microsoft.com/office/drawing/2014/main" id="{4CE9D117-FAE6-F74F-940B-9CD1479755BE}"/>
              </a:ext>
            </a:extLst>
          </p:cNvPr>
          <p:cNvSpPr txBox="1"/>
          <p:nvPr/>
        </p:nvSpPr>
        <p:spPr>
          <a:xfrm>
            <a:off x="2007765" y="411971"/>
            <a:ext cx="8327136" cy="2467022"/>
          </a:xfrm>
          <a:prstGeom prst="rect">
            <a:avLst/>
          </a:prstGeom>
          <a:noFill/>
        </p:spPr>
        <p:txBody>
          <a:bodyPr wrap="square" rtlCol="0">
            <a:spAutoFit/>
          </a:bodyPr>
          <a:lstStyle/>
          <a:p>
            <a:pPr marL="342900" indent="-342900">
              <a:lnSpc>
                <a:spcPct val="107000"/>
              </a:lnSpc>
              <a:buFont typeface="+mj-lt"/>
              <a:buAutoNum type="arabicPeriod" startAt="2"/>
            </a:pPr>
            <a:r>
              <a:rPr lang="en-US" sz="1800" dirty="0">
                <a:latin typeface="Verdana" panose="020B0604030504040204" pitchFamily="34" charset="0"/>
                <a:ea typeface="Verdana" panose="020B0604030504040204" pitchFamily="34" charset="0"/>
                <a:cs typeface="Verdana" panose="020B0604030504040204" pitchFamily="34" charset="0"/>
              </a:rPr>
              <a:t>Check all that apply to you.</a:t>
            </a:r>
            <a:endParaRPr lang="en-US" sz="1800" dirty="0">
              <a:latin typeface="Cambria Math" panose="02040503050406030204" pitchFamily="18" charset="0"/>
              <a:ea typeface="Cambria Math" panose="02040503050406030204" pitchFamily="18" charset="0"/>
              <a:cs typeface="Cambria Math" panose="02040503050406030204" pitchFamily="18" charset="0"/>
            </a:endParaRPr>
          </a:p>
          <a:p>
            <a:pPr marL="457200">
              <a:lnSpc>
                <a:spcPct val="107000"/>
              </a:lnSpc>
            </a:pPr>
            <a:endParaRPr lang="en-US" sz="1800" dirty="0">
              <a:latin typeface="Cambria Math" panose="02040503050406030204" pitchFamily="18" charset="0"/>
              <a:ea typeface="Cambria Math" panose="02040503050406030204" pitchFamily="18" charset="0"/>
              <a:cs typeface="Cambria Math" panose="02040503050406030204" pitchFamily="18" charset="0"/>
            </a:endParaRPr>
          </a:p>
          <a:p>
            <a:pPr marL="628650" indent="-285750">
              <a:lnSpc>
                <a:spcPct val="107000"/>
              </a:lnSpc>
              <a:buSzPts val="1800"/>
              <a:buFont typeface="Wingdings" pitchFamily="2" charset="2"/>
              <a:buChar char="q"/>
            </a:pPr>
            <a:r>
              <a:rPr lang="en-US" sz="1800" dirty="0">
                <a:latin typeface="Verdana" panose="020B0604030504040204" pitchFamily="34" charset="0"/>
                <a:ea typeface="Verdana" panose="020B0604030504040204" pitchFamily="34" charset="0"/>
                <a:cs typeface="Verdana" panose="020B0604030504040204" pitchFamily="34" charset="0"/>
              </a:rPr>
              <a:t>I prefer to use models for dividing fractions.</a:t>
            </a:r>
            <a:endParaRPr lang="en-US" sz="1800" dirty="0">
              <a:latin typeface="Cambria Math" panose="02040503050406030204" pitchFamily="18" charset="0"/>
              <a:ea typeface="Cambria Math" panose="02040503050406030204" pitchFamily="18" charset="0"/>
              <a:cs typeface="Cambria Math" panose="02040503050406030204" pitchFamily="18" charset="0"/>
            </a:endParaRPr>
          </a:p>
          <a:p>
            <a:pPr marL="628650" indent="-285750">
              <a:lnSpc>
                <a:spcPct val="107000"/>
              </a:lnSpc>
              <a:buSzPts val="1800"/>
              <a:buFont typeface="Wingdings" pitchFamily="2" charset="2"/>
              <a:buChar char="q"/>
            </a:pPr>
            <a:r>
              <a:rPr lang="en-US" sz="1800" dirty="0">
                <a:latin typeface="Verdana" panose="020B0604030504040204" pitchFamily="34" charset="0"/>
                <a:ea typeface="Verdana" panose="020B0604030504040204" pitchFamily="34" charset="0"/>
                <a:cs typeface="Verdana" panose="020B0604030504040204" pitchFamily="34" charset="0"/>
              </a:rPr>
              <a:t>I prefer to use an algorithm for dividing fractions.</a:t>
            </a:r>
            <a:endParaRPr lang="en-US" sz="1800" dirty="0">
              <a:latin typeface="Cambria Math" panose="02040503050406030204" pitchFamily="18" charset="0"/>
              <a:ea typeface="Cambria Math" panose="02040503050406030204" pitchFamily="18" charset="0"/>
              <a:cs typeface="Cambria Math" panose="02040503050406030204" pitchFamily="18" charset="0"/>
            </a:endParaRPr>
          </a:p>
          <a:p>
            <a:pPr marL="628650" indent="-285750">
              <a:lnSpc>
                <a:spcPct val="107000"/>
              </a:lnSpc>
              <a:buSzPts val="1800"/>
              <a:buFont typeface="Wingdings" pitchFamily="2" charset="2"/>
              <a:buChar char="q"/>
            </a:pPr>
            <a:r>
              <a:rPr lang="en-US" sz="1800" dirty="0">
                <a:latin typeface="Verdana" panose="020B0604030504040204" pitchFamily="34" charset="0"/>
                <a:ea typeface="Verdana" panose="020B0604030504040204" pitchFamily="34" charset="0"/>
                <a:cs typeface="Verdana" panose="020B0604030504040204" pitchFamily="34" charset="0"/>
              </a:rPr>
              <a:t>I do not mind using a model or an algorithm for dividing fractions. </a:t>
            </a:r>
            <a:endParaRPr lang="en-US" sz="1800" dirty="0">
              <a:latin typeface="Cambria Math" panose="02040503050406030204" pitchFamily="18" charset="0"/>
              <a:ea typeface="Cambria Math" panose="02040503050406030204" pitchFamily="18" charset="0"/>
              <a:cs typeface="Cambria Math" panose="02040503050406030204" pitchFamily="18" charset="0"/>
            </a:endParaRPr>
          </a:p>
          <a:p>
            <a:pPr marL="457200">
              <a:lnSpc>
                <a:spcPct val="107000"/>
              </a:lnSpc>
            </a:pPr>
            <a:endParaRPr lang="en-US" sz="1800" dirty="0">
              <a:latin typeface="Cambria Math" panose="02040503050406030204" pitchFamily="18" charset="0"/>
              <a:ea typeface="Cambria Math" panose="02040503050406030204" pitchFamily="18" charset="0"/>
              <a:cs typeface="Cambria Math" panose="02040503050406030204" pitchFamily="18" charset="0"/>
            </a:endParaRPr>
          </a:p>
          <a:p>
            <a:pPr marL="457200" indent="-457200">
              <a:lnSpc>
                <a:spcPct val="107000"/>
              </a:lnSpc>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78;g104476d1465_1_17">
            <a:extLst>
              <a:ext uri="{FF2B5EF4-FFF2-40B4-BE49-F238E27FC236}">
                <a16:creationId xmlns:a16="http://schemas.microsoft.com/office/drawing/2014/main" id="{5A057F2B-B43B-F64E-8B11-07A9669FD9E1}"/>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p>
        </p:txBody>
      </p:sp>
    </p:spTree>
    <p:extLst>
      <p:ext uri="{BB962C8B-B14F-4D97-AF65-F5344CB8AC3E}">
        <p14:creationId xmlns:p14="http://schemas.microsoft.com/office/powerpoint/2010/main" val="2424921673"/>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1492</TotalTime>
  <Words>1524</Words>
  <Application>Microsoft Office PowerPoint</Application>
  <PresentationFormat>Widescreen</PresentationFormat>
  <Paragraphs>301</Paragraphs>
  <Slides>31</Slides>
  <Notes>31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31</vt:i4>
      </vt:variant>
    </vt:vector>
  </HeadingPairs>
  <TitlesOfParts>
    <vt:vector size="40" baseType="lpstr">
      <vt:lpstr>Verdana</vt:lpstr>
      <vt:lpstr>Wingdings</vt:lpstr>
      <vt:lpstr>Century Gothic</vt:lpstr>
      <vt:lpstr>Calibri</vt:lpstr>
      <vt:lpstr>Arial Black</vt:lpstr>
      <vt:lpstr>Cambria Math</vt:lpstr>
      <vt:lpstr>Courier New</vt:lpstr>
      <vt:lpstr>Arial</vt:lpstr>
      <vt:lpstr>1_Office Theme</vt:lpstr>
      <vt:lpstr>6th Grade Math  Unit 1, Lesson 4  Dividing Fractions  Volume 1, pg. 19  </vt:lpstr>
      <vt:lpstr>Benchmark</vt:lpstr>
      <vt:lpstr>PowerPoint Presentation</vt:lpstr>
      <vt:lpstr>PowerPoint Presentation</vt:lpstr>
      <vt:lpstr>Warm-Up</vt:lpstr>
      <vt:lpstr>PowerPoint Presentation</vt:lpstr>
      <vt:lpstr>PowerPoint Presentation</vt:lpstr>
      <vt:lpstr>Collaboration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Collaboration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Wrap-Up</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vaanmx</cp:lastModifiedBy>
  <cp:revision>29</cp:revision>
  <dcterms:created xsi:type="dcterms:W3CDTF">2015-03-17T18:51:18Z</dcterms:created>
  <dcterms:modified xsi:type="dcterms:W3CDTF">2022-06-04T22:48:26Z</dcterms:modified>
</cp:coreProperties>
</file>