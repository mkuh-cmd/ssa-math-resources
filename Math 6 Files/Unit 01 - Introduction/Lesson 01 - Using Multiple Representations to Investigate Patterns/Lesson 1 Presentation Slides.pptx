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16" r:id="rId11"/>
    <p:sldId id="313" r:id="rId12"/>
    <p:sldId id="332" r:id="rId13"/>
    <p:sldId id="333" r:id="rId14"/>
    <p:sldId id="335" r:id="rId15"/>
    <p:sldId id="334" r:id="rId16"/>
    <p:sldId id="323" r:id="rId17"/>
    <p:sldId id="324" r:id="rId18"/>
    <p:sldId id="338" r:id="rId19"/>
    <p:sldId id="336" r:id="rId20"/>
    <p:sldId id="339" r:id="rId21"/>
    <p:sldId id="337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Verdana" panose="020B060403050404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11"/>
    <p:restoredTop sz="94694"/>
  </p:normalViewPr>
  <p:slideViewPr>
    <p:cSldViewPr snapToGrid="0">
      <p:cViewPr varScale="1">
        <p:scale>
          <a:sx n="71" d="100"/>
          <a:sy n="71" d="100"/>
        </p:scale>
        <p:origin x="69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1520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4171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023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47321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05246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52838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6548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39344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27929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0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0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0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0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6" y="2054279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Using Multiple Representations to Investigate Patterns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185515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6964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386620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561" y="136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87186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118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94657" y="1397879"/>
            <a:ext cx="10918372" cy="43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MA.5.AR.3.1</a:t>
            </a:r>
          </a:p>
          <a:p>
            <a:pPr indent="0">
              <a:buNone/>
            </a:pPr>
            <a:r>
              <a:rPr lang="en-US" sz="20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a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numerical pattern, identify and write a rule that can describe the pattern as an expression.</a:t>
            </a:r>
          </a:p>
          <a:p>
            <a:pPr marL="0" indent="0">
              <a:buSzPts val="1100"/>
              <a:buNone/>
            </a:pPr>
            <a:endParaRPr lang="en-US" sz="20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MA.5.AR.3.2</a:t>
            </a:r>
          </a:p>
          <a:p>
            <a:pPr indent="0"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Given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rule for a numerical pattern, use a two-column table to record the inputs and outputs.</a:t>
            </a:r>
          </a:p>
          <a:p>
            <a:pPr marL="0" indent="0">
              <a:buSzPts val="1100"/>
              <a:buNone/>
            </a:pPr>
            <a:endParaRPr lang="en-US" sz="20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MA.5.AR.4.2</a:t>
            </a:r>
          </a:p>
          <a:p>
            <a:pPr indent="0"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Represent mathematical and real-world problems by plotting points in the first quadrant of the coordinate plane and interpret coordinate values </a:t>
            </a:r>
            <a:b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points in the context of the situation.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807" y="1296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6252"/>
            <a:ext cx="563850" cy="6583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386210" y="21411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94150" y="650667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696686" y="1596595"/>
            <a:ext cx="10931464" cy="4390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</a:t>
            </a:r>
            <a:b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-4496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99496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698" y="13480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71408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685800" y="1600199"/>
            <a:ext cx="10942350" cy="4413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multiple representations to investigate patterns found in tables or lists.</a:t>
            </a:r>
          </a:p>
          <a:p>
            <a:pPr marL="6350">
              <a:buClr>
                <a:srgbClr val="434343"/>
              </a:buClr>
              <a:buSzPts val="3500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plot points on the coordinate plane.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62447" y="0"/>
            <a:ext cx="927168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1.1.1 Warm-Up: Visual Patterns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139" y="112851"/>
            <a:ext cx="747300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143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5171" y="1386028"/>
            <a:ext cx="112667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diagram shows four terms of a visual pattern.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pattern?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rows of triangles do you think will be in Term 9?</a:t>
            </a:r>
            <a:endParaRPr lang="en-US" sz="2400" i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-407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1" name="Picture 20" descr="Background pattern&#10;&#10;Description automatically generated">
            <a:extLst>
              <a:ext uri="{FF2B5EF4-FFF2-40B4-BE49-F238E27FC236}">
                <a16:creationId xmlns:a16="http://schemas.microsoft.com/office/drawing/2014/main" id="{FA854991-C454-DF4D-9AED-6DC8B38DD007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4734" y="3057950"/>
            <a:ext cx="316644" cy="341857"/>
          </a:xfrm>
          <a:prstGeom prst="rect">
            <a:avLst/>
          </a:prstGeom>
        </p:spPr>
      </p:pic>
      <p:pic>
        <p:nvPicPr>
          <p:cNvPr id="22" name="Picture 21" descr="A sign lit up at night&#10;&#10;Description automatically generated">
            <a:extLst>
              <a:ext uri="{FF2B5EF4-FFF2-40B4-BE49-F238E27FC236}">
                <a16:creationId xmlns:a16="http://schemas.microsoft.com/office/drawing/2014/main" id="{C71DABB5-ACD5-C84F-A0A3-923651781166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2830" y="2683642"/>
            <a:ext cx="967132" cy="716162"/>
          </a:xfrm>
          <a:prstGeom prst="rect">
            <a:avLst/>
          </a:prstGeom>
        </p:spPr>
      </p:pic>
      <p:pic>
        <p:nvPicPr>
          <p:cNvPr id="23" name="Picture 22" descr="A picture containing outdoor, dark, lit, night&#10;&#10;Description automatically generated">
            <a:extLst>
              <a:ext uri="{FF2B5EF4-FFF2-40B4-BE49-F238E27FC236}">
                <a16:creationId xmlns:a16="http://schemas.microsoft.com/office/drawing/2014/main" id="{989E549C-CB44-814F-8E46-ABE1DF61C7C5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2098" y="2382411"/>
            <a:ext cx="1573764" cy="1042414"/>
          </a:xfrm>
          <a:prstGeom prst="rect">
            <a:avLst/>
          </a:prstGeom>
        </p:spPr>
      </p:pic>
      <p:pic>
        <p:nvPicPr>
          <p:cNvPr id="24" name="Picture 23" descr="Background pattern&#10;&#10;Description automatically generated">
            <a:extLst>
              <a:ext uri="{FF2B5EF4-FFF2-40B4-BE49-F238E27FC236}">
                <a16:creationId xmlns:a16="http://schemas.microsoft.com/office/drawing/2014/main" id="{76F47420-A852-154B-9A37-A25C5F08AE79}"/>
              </a:ext>
            </a:extLst>
          </p:cNvPr>
          <p:cNvPicPr/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8546" y="2042475"/>
            <a:ext cx="2151136" cy="138235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F94D886-1FEC-0843-A3B8-632E288DE7B8}"/>
              </a:ext>
            </a:extLst>
          </p:cNvPr>
          <p:cNvSpPr txBox="1"/>
          <p:nvPr/>
        </p:nvSpPr>
        <p:spPr>
          <a:xfrm>
            <a:off x="2293931" y="3552517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Term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F05916-FC48-AC4D-83BF-8644EE0B24D8}"/>
              </a:ext>
            </a:extLst>
          </p:cNvPr>
          <p:cNvSpPr txBox="1"/>
          <p:nvPr/>
        </p:nvSpPr>
        <p:spPr>
          <a:xfrm>
            <a:off x="3777271" y="3552517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Term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5AD839-9EFB-284B-B5A8-FCC1CB1C6FD4}"/>
              </a:ext>
            </a:extLst>
          </p:cNvPr>
          <p:cNvSpPr txBox="1"/>
          <p:nvPr/>
        </p:nvSpPr>
        <p:spPr>
          <a:xfrm>
            <a:off x="5539855" y="3559436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Term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0CC61B-5126-8148-9E62-08EFBBBB5BBB}"/>
              </a:ext>
            </a:extLst>
          </p:cNvPr>
          <p:cNvSpPr txBox="1"/>
          <p:nvPr/>
        </p:nvSpPr>
        <p:spPr>
          <a:xfrm>
            <a:off x="7961174" y="3559436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Term 4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21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41751" y="644923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92622" y="563935"/>
            <a:ext cx="112074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of the small triangles do you think will be in the pattern for Term 9?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of the small triangles do you think will be in the pattern for Term 15?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85F77CB-5FF9-E743-9AA8-B4C11C925C9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28617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317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95400" y="4883"/>
            <a:ext cx="1064622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1.1.2 Guided Instruction: Using Multiple Representations to Investigate Patterns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650" y="13761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317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D185CEC-69E3-ED4E-87D7-D8AED7B3213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C74ECE-660F-9740-92A2-F40771BF2258}"/>
              </a:ext>
            </a:extLst>
          </p:cNvPr>
          <p:cNvSpPr/>
          <p:nvPr/>
        </p:nvSpPr>
        <p:spPr>
          <a:xfrm>
            <a:off x="501846" y="1720831"/>
            <a:ext cx="114082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team of mathematicians at an orange juice  manufacturer in Florida is collecting information on how many oranges are needed to make orange juice.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 shows the information the mathematicians have recorded so far.</a:t>
            </a: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329E8D1-A73A-1D43-8094-E97ECE4275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2674699"/>
                  </p:ext>
                </p:extLst>
              </p:nvPr>
            </p:nvGraphicFramePr>
            <p:xfrm>
              <a:off x="3448565" y="3570736"/>
              <a:ext cx="5294869" cy="205898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304019">
                      <a:extLst>
                        <a:ext uri="{9D8B030D-6E8A-4147-A177-3AD203B41FA5}">
                          <a16:colId xmlns:a16="http://schemas.microsoft.com/office/drawing/2014/main" val="2247052879"/>
                        </a:ext>
                      </a:extLst>
                    </a:gridCol>
                    <a:gridCol w="2990850">
                      <a:extLst>
                        <a:ext uri="{9D8B030D-6E8A-4147-A177-3AD203B41FA5}">
                          <a16:colId xmlns:a16="http://schemas.microsoft.com/office/drawing/2014/main" val="128534608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Cartons of Orange Juice</a:t>
                          </a: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Average Number of Oranges Needed</a:t>
                          </a: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284208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990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6158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45039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329E8D1-A73A-1D43-8094-E97ECE4275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2674699"/>
                  </p:ext>
                </p:extLst>
              </p:nvPr>
            </p:nvGraphicFramePr>
            <p:xfrm>
              <a:off x="3448565" y="3570736"/>
              <a:ext cx="5294869" cy="205898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304019">
                      <a:extLst>
                        <a:ext uri="{9D8B030D-6E8A-4147-A177-3AD203B41FA5}">
                          <a16:colId xmlns:a16="http://schemas.microsoft.com/office/drawing/2014/main" val="2247052879"/>
                        </a:ext>
                      </a:extLst>
                    </a:gridCol>
                    <a:gridCol w="2990850">
                      <a:extLst>
                        <a:ext uri="{9D8B030D-6E8A-4147-A177-3AD203B41FA5}">
                          <a16:colId xmlns:a16="http://schemas.microsoft.com/office/drawing/2014/main" val="1285346086"/>
                        </a:ext>
                      </a:extLst>
                    </a:gridCol>
                  </a:tblGrid>
                  <a:tr h="8062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Cartons of Orange Juice</a:t>
                          </a: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Average Number of Oranges Needed</a:t>
                          </a: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2842084"/>
                      </a:ext>
                    </a:extLst>
                  </a:tr>
                  <a:tr h="417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49" t="-196970" r="-130220" b="-2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7542" t="-196970" r="-424" b="-2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990232"/>
                      </a:ext>
                    </a:extLst>
                  </a:tr>
                  <a:tr h="417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49" t="-296970" r="-130220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7542" t="-296970" r="-424" b="-1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6158638"/>
                      </a:ext>
                    </a:extLst>
                  </a:tr>
                  <a:tr h="417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49" t="-396970" r="-13022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7542" t="-396970" r="-424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5039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4408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494649" y="465096"/>
                <a:ext cx="11349007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relationship between the cartons of orange juice and the number of oranges needed?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average number of oranges needed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cartons of orange juice?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healthy, mature orange tree produces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200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i="1">
                        <a:latin typeface="Cambria Math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oranges. What is the range of the number of cartons of orange juice that can be made using oranges from a healthy, mature orange tree?  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49" y="465096"/>
                <a:ext cx="11349007" cy="4524315"/>
              </a:xfrm>
              <a:prstGeom prst="rect">
                <a:avLst/>
              </a:prstGeom>
              <a:blipFill>
                <a:blip r:embed="rId4"/>
                <a:stretch>
                  <a:fillRect l="-806" t="-1078" r="-3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78432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22514" y="374088"/>
                <a:ext cx="1137557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equation that represents the relationship between the number of cartons of orange juice,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average number of oranges needed.</a:t>
                </a: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your equation or the pattern to complete the table.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14" y="374088"/>
                <a:ext cx="11375572" cy="1938992"/>
              </a:xfrm>
              <a:prstGeom prst="rect">
                <a:avLst/>
              </a:prstGeom>
              <a:blipFill>
                <a:blip r:embed="rId4"/>
                <a:stretch>
                  <a:fillRect l="-857" t="-2516" b="-628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29E8D1-A73A-1D43-8094-E97ECE427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810945"/>
              </p:ext>
            </p:extLst>
          </p:nvPr>
        </p:nvGraphicFramePr>
        <p:xfrm>
          <a:off x="3217807" y="3198935"/>
          <a:ext cx="5294869" cy="277539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304019">
                  <a:extLst>
                    <a:ext uri="{9D8B030D-6E8A-4147-A177-3AD203B41FA5}">
                      <a16:colId xmlns:a16="http://schemas.microsoft.com/office/drawing/2014/main" val="2247052879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1285346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Cartons of Orange Juice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Average Number of Oranges Needed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842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90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795207" y="647559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55171" y="635349"/>
                <a:ext cx="11451771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pair of values in the table can be plotted on the coordinate plane. The coordinate plane has two axes. The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/>
                      </a:rPr>
                      <m:t>𝒙</m:t>
                    </m:r>
                  </m:oMath>
                </a14:m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horizontal axis and the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/>
                      </a:rPr>
                      <m:t>𝒚</m:t>
                    </m:r>
                  </m:oMath>
                </a14:m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vertical axis.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pair of values becomes an 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ordered pair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‑value is the first number in the ordered pair, and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‑value is the second number in the ordered pair.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example, the mathematicians found that making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cartons of orange juice usually uses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oranges.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1" y="635349"/>
                <a:ext cx="11451771" cy="3662541"/>
              </a:xfrm>
              <a:prstGeom prst="rect">
                <a:avLst/>
              </a:prstGeom>
              <a:blipFill>
                <a:blip r:embed="rId4"/>
                <a:stretch>
                  <a:fillRect l="-798" t="-1331" r="-1330" b="-26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8819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3179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22514" y="350342"/>
                <a:ext cx="11223172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pPr marL="457200">
                  <a:lnSpc>
                    <a:spcPct val="2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ordered pair that represents this relationship is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To plot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-value, begin at the </a:t>
                </a:r>
                <a:r>
                  <a:rPr lang="en-US" sz="20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origin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(0,0)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then move 		       To plot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-value, 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>
                  <a:lnSpc>
                    <a:spcPct val="3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move 			from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-value.</a:t>
                </a:r>
              </a:p>
              <a:p>
                <a:pPr marL="457200" indent="-457200">
                  <a:spcBef>
                    <a:spcPts val="4800"/>
                  </a:spcBef>
                  <a:buFont typeface="+mj-lt"/>
                  <a:buAutoNum type="alphaL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After discussing with your partner, write a description of how to plot the point for 1 carton of orange juice.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14" y="350342"/>
                <a:ext cx="11223172" cy="5632311"/>
              </a:xfrm>
              <a:prstGeom prst="rect">
                <a:avLst/>
              </a:prstGeom>
              <a:blipFill>
                <a:blip r:embed="rId4"/>
                <a:stretch>
                  <a:fillRect l="-566" t="-676" b="-1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-9167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Rectangle: Rounded Corners 2"/>
          <p:cNvSpPr/>
          <p:nvPr/>
        </p:nvSpPr>
        <p:spPr>
          <a:xfrm>
            <a:off x="1099584" y="1314436"/>
            <a:ext cx="1229361" cy="8070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115000"/>
              </a:lnSpc>
              <a:buFont typeface="Courier New"/>
              <a:buChar char="o"/>
            </a:pPr>
            <a:r>
              <a:rPr lang="en-US" sz="1800" dirty="0">
                <a:solidFill>
                  <a:srgbClr val="000000"/>
                </a:solidFill>
                <a:latin typeface="Cambria Math"/>
                <a:ea typeface="Verdana"/>
                <a:cs typeface="Verdana"/>
              </a:rPr>
              <a:t>(2, 40).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  <a:p>
            <a:pPr marL="228600" indent="-228600">
              <a:lnSpc>
                <a:spcPct val="115000"/>
              </a:lnSpc>
              <a:buFont typeface="Courier New"/>
              <a:buChar char="o"/>
            </a:pPr>
            <a:r>
              <a:rPr lang="en-US" sz="1800" dirty="0">
                <a:solidFill>
                  <a:srgbClr val="000000"/>
                </a:solidFill>
                <a:latin typeface="Cambria Math"/>
                <a:ea typeface="Verdana"/>
                <a:cs typeface="Verdana"/>
              </a:rPr>
              <a:t>(40, 2).</a:t>
            </a:r>
            <a:endParaRPr lang="en-US" sz="1800" i="1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0" name="Rectangle: Rounded Corners 3"/>
          <p:cNvSpPr/>
          <p:nvPr/>
        </p:nvSpPr>
        <p:spPr>
          <a:xfrm>
            <a:off x="2558777" y="1962436"/>
            <a:ext cx="2247266" cy="15119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115000"/>
              </a:lnSpc>
              <a:buFont typeface="Courier New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 Math"/>
              </a:rPr>
              <a:t>up 2 units.</a:t>
            </a:r>
            <a:endParaRPr lang="en-US" sz="18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228600" indent="-228600">
              <a:lnSpc>
                <a:spcPct val="115000"/>
              </a:lnSpc>
              <a:buFont typeface="Courier New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 Math"/>
              </a:rPr>
              <a:t>right 2 units.</a:t>
            </a:r>
            <a:endParaRPr lang="en-US" sz="18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228600" indent="-228600">
              <a:lnSpc>
                <a:spcPct val="115000"/>
              </a:lnSpc>
              <a:buFont typeface="Courier New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 Math"/>
              </a:rPr>
              <a:t>right 40 units.</a:t>
            </a:r>
            <a:endParaRPr lang="en-US" sz="18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228600" indent="-228600">
              <a:lnSpc>
                <a:spcPct val="115000"/>
              </a:lnSpc>
              <a:buFont typeface="Courier New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 Math"/>
              </a:rPr>
              <a:t>up 40 units.</a:t>
            </a:r>
            <a:endParaRPr lang="en-US" sz="1800" i="1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11" name="Rectangle: Rounded Corners 3"/>
          <p:cNvSpPr/>
          <p:nvPr/>
        </p:nvSpPr>
        <p:spPr>
          <a:xfrm>
            <a:off x="1945258" y="3746728"/>
            <a:ext cx="2247266" cy="15119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115000"/>
              </a:lnSpc>
              <a:buFont typeface="Courier New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 Math"/>
              </a:rPr>
              <a:t>up 2 units.</a:t>
            </a:r>
            <a:endParaRPr lang="en-US" sz="18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228600" indent="-228600">
              <a:lnSpc>
                <a:spcPct val="115000"/>
              </a:lnSpc>
              <a:buFont typeface="Courier New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 Math"/>
              </a:rPr>
              <a:t>right 2 units.</a:t>
            </a:r>
            <a:endParaRPr lang="en-US" sz="18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228600" indent="-228600">
              <a:lnSpc>
                <a:spcPct val="115000"/>
              </a:lnSpc>
              <a:buFont typeface="Courier New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 Math"/>
              </a:rPr>
              <a:t>right 40 units.</a:t>
            </a:r>
            <a:endParaRPr lang="en-US" sz="18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228600" indent="-228600">
              <a:lnSpc>
                <a:spcPct val="115000"/>
              </a:lnSpc>
              <a:buFont typeface="Courier New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 Math"/>
              </a:rPr>
              <a:t>up 40 units.</a:t>
            </a:r>
            <a:endParaRPr lang="en-US" sz="1800" i="1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700009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14950" y="64435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-2235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9DB1C67-2887-CA48-93B2-02965770B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649248"/>
              </p:ext>
            </p:extLst>
          </p:nvPr>
        </p:nvGraphicFramePr>
        <p:xfrm>
          <a:off x="3708867" y="1513230"/>
          <a:ext cx="5411835" cy="36576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60789">
                  <a:extLst>
                    <a:ext uri="{9D8B030D-6E8A-4147-A177-3AD203B41FA5}">
                      <a16:colId xmlns:a16="http://schemas.microsoft.com/office/drawing/2014/main" val="2531456455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2413672846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2943628736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445672597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1724954159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4131860386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3103731657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2573625858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3510185977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3995825050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2792778672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1903341198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3671353970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3793257018"/>
                    </a:ext>
                  </a:extLst>
                </a:gridCol>
                <a:gridCol w="360789">
                  <a:extLst>
                    <a:ext uri="{9D8B030D-6E8A-4147-A177-3AD203B41FA5}">
                      <a16:colId xmlns:a16="http://schemas.microsoft.com/office/drawing/2014/main" val="41619896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6497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3363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50725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5543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3058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3949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4695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2525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8710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endParaRPr>
                    </a:p>
                  </a:txBody>
                  <a:tcPr marL="63406" marR="6340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66374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2839225" y="886545"/>
            <a:ext cx="6580756" cy="5208774"/>
            <a:chOff x="1315225" y="886545"/>
            <a:chExt cx="6580756" cy="5208774"/>
          </a:xfrm>
        </p:grpSpPr>
        <p:sp>
          <p:nvSpPr>
            <p:cNvPr id="44" name="Text Box 39">
              <a:extLst>
                <a:ext uri="{FF2B5EF4-FFF2-40B4-BE49-F238E27FC236}">
                  <a16:creationId xmlns:a16="http://schemas.microsoft.com/office/drawing/2014/main" id="{201A2E4C-155C-A34F-8076-80392DA4DD22}"/>
                </a:ext>
              </a:extLst>
            </p:cNvPr>
            <p:cNvSpPr txBox="1"/>
            <p:nvPr/>
          </p:nvSpPr>
          <p:spPr>
            <a:xfrm>
              <a:off x="2217420" y="886545"/>
              <a:ext cx="5335905" cy="59055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Number of Cartons </a:t>
              </a:r>
              <a:b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</a:b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of Orange Juice</a:t>
              </a:r>
              <a:endParaRPr 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sp>
          <p:nvSpPr>
            <p:cNvPr id="45" name="Text Box 40">
              <a:extLst>
                <a:ext uri="{FF2B5EF4-FFF2-40B4-BE49-F238E27FC236}">
                  <a16:creationId xmlns:a16="http://schemas.microsoft.com/office/drawing/2014/main" id="{4BD578B3-690A-8D44-81C0-896E713EB35C}"/>
                </a:ext>
              </a:extLst>
            </p:cNvPr>
            <p:cNvSpPr txBox="1"/>
            <p:nvPr/>
          </p:nvSpPr>
          <p:spPr>
            <a:xfrm rot="16200000">
              <a:off x="-770914" y="3149890"/>
              <a:ext cx="4523105" cy="350827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Average Number of Oranges Needed</a:t>
              </a:r>
              <a:endPara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sp>
          <p:nvSpPr>
            <p:cNvPr id="47" name="Text Box 452">
              <a:extLst>
                <a:ext uri="{FF2B5EF4-FFF2-40B4-BE49-F238E27FC236}">
                  <a16:creationId xmlns:a16="http://schemas.microsoft.com/office/drawing/2014/main" id="{A2F1F33A-9303-D74D-A5A2-EBA8031D0EFD}"/>
                </a:ext>
              </a:extLst>
            </p:cNvPr>
            <p:cNvSpPr txBox="1"/>
            <p:nvPr/>
          </p:nvSpPr>
          <p:spPr>
            <a:xfrm>
              <a:off x="1952381" y="5695119"/>
              <a:ext cx="5943600" cy="40020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Number of Cartons of Orange Juice</a:t>
              </a:r>
              <a:endPara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sp>
          <p:nvSpPr>
            <p:cNvPr id="13" name="Text Box 452">
              <a:extLst>
                <a:ext uri="{FF2B5EF4-FFF2-40B4-BE49-F238E27FC236}">
                  <a16:creationId xmlns:a16="http://schemas.microsoft.com/office/drawing/2014/main" id="{A2F1F33A-9303-D74D-A5A2-EBA8031D0EFD}"/>
                </a:ext>
              </a:extLst>
            </p:cNvPr>
            <p:cNvSpPr txBox="1"/>
            <p:nvPr/>
          </p:nvSpPr>
          <p:spPr>
            <a:xfrm>
              <a:off x="1609414" y="1349052"/>
              <a:ext cx="608006" cy="390570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07000"/>
                </a:lnSpc>
                <a:spcAft>
                  <a:spcPts val="800"/>
                </a:spcAft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200</a:t>
              </a:r>
            </a:p>
            <a:p>
              <a:pPr algn="r">
                <a:lnSpc>
                  <a:spcPct val="107000"/>
                </a:lnSpc>
                <a:spcBef>
                  <a:spcPts val="300"/>
                </a:spcBef>
                <a:spcAft>
                  <a:spcPts val="800"/>
                </a:spcAft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rPr>
                <a:t>180</a:t>
              </a:r>
            </a:p>
            <a:p>
              <a:pPr algn="r">
                <a:lnSpc>
                  <a:spcPct val="107000"/>
                </a:lnSpc>
                <a:spcBef>
                  <a:spcPts val="300"/>
                </a:spcBef>
                <a:spcAft>
                  <a:spcPts val="800"/>
                </a:spcAft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rPr>
                <a:t>160</a:t>
              </a:r>
            </a:p>
            <a:p>
              <a:pPr algn="r">
                <a:lnSpc>
                  <a:spcPct val="107000"/>
                </a:lnSpc>
                <a:spcBef>
                  <a:spcPts val="300"/>
                </a:spcBef>
                <a:spcAft>
                  <a:spcPts val="800"/>
                </a:spcAft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rPr>
                <a:t>140</a:t>
              </a:r>
            </a:p>
            <a:p>
              <a:pPr algn="r">
                <a:lnSpc>
                  <a:spcPct val="107000"/>
                </a:lnSpc>
                <a:spcBef>
                  <a:spcPts val="300"/>
                </a:spcBef>
                <a:spcAft>
                  <a:spcPts val="800"/>
                </a:spcAft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rPr>
                <a:t>120</a:t>
              </a:r>
            </a:p>
            <a:p>
              <a:pPr algn="r">
                <a:lnSpc>
                  <a:spcPct val="107000"/>
                </a:lnSpc>
                <a:spcBef>
                  <a:spcPts val="300"/>
                </a:spcBef>
                <a:spcAft>
                  <a:spcPts val="800"/>
                </a:spcAft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rPr>
                <a:t>100</a:t>
              </a:r>
            </a:p>
            <a:p>
              <a:pPr algn="r">
                <a:lnSpc>
                  <a:spcPct val="107000"/>
                </a:lnSpc>
                <a:spcBef>
                  <a:spcPts val="300"/>
                </a:spcBef>
                <a:spcAft>
                  <a:spcPts val="800"/>
                </a:spcAft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rPr>
                <a:t>80</a:t>
              </a:r>
            </a:p>
            <a:p>
              <a:pPr algn="r">
                <a:lnSpc>
                  <a:spcPct val="107000"/>
                </a:lnSpc>
                <a:spcBef>
                  <a:spcPts val="300"/>
                </a:spcBef>
                <a:spcAft>
                  <a:spcPts val="800"/>
                </a:spcAft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rPr>
                <a:t>60</a:t>
              </a:r>
            </a:p>
            <a:p>
              <a:pPr algn="r">
                <a:lnSpc>
                  <a:spcPct val="107000"/>
                </a:lnSpc>
                <a:spcBef>
                  <a:spcPts val="300"/>
                </a:spcBef>
                <a:spcAft>
                  <a:spcPts val="800"/>
                </a:spcAft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rPr>
                <a:t>40</a:t>
              </a:r>
            </a:p>
            <a:p>
              <a:pPr algn="r">
                <a:lnSpc>
                  <a:spcPct val="107000"/>
                </a:lnSpc>
                <a:spcBef>
                  <a:spcPts val="300"/>
                </a:spcBef>
                <a:spcAft>
                  <a:spcPts val="800"/>
                </a:spcAft>
              </a:pPr>
              <a:r>
                <a:rPr lang="en-US" b="1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rPr>
                <a:t>20</a:t>
              </a:r>
              <a:endParaRPr 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068758"/>
              </p:ext>
            </p:extLst>
          </p:nvPr>
        </p:nvGraphicFramePr>
        <p:xfrm>
          <a:off x="3852750" y="5254752"/>
          <a:ext cx="5489370" cy="3708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5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11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30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2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4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6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8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10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12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14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16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18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20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22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24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26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28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Verdana" pitchFamily="34" charset="0"/>
                          <a:ea typeface="Verdana" pitchFamily="34" charset="0"/>
                        </a:rPr>
                        <a:t>30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402770" y="279473"/>
            <a:ext cx="1162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8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each point from the table on the coordinate plane below.</a:t>
            </a:r>
          </a:p>
        </p:txBody>
      </p:sp>
    </p:spTree>
    <p:extLst>
      <p:ext uri="{BB962C8B-B14F-4D97-AF65-F5344CB8AC3E}">
        <p14:creationId xmlns:p14="http://schemas.microsoft.com/office/powerpoint/2010/main" val="2339625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0521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1332849" y="774288"/>
                <a:ext cx="1048661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9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table, equation, or graph to complete the ordered pair.</a:t>
                </a:r>
                <a:endParaRPr lang="en-US" sz="2400" i="1" dirty="0">
                  <a:latin typeface="Cambria Math"/>
                </a:endParaRPr>
              </a:p>
              <a:p>
                <a:pPr lvl="0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( 9, ____)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10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each number in the ordered pair represent?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849" y="774288"/>
                <a:ext cx="10486617" cy="2308324"/>
              </a:xfrm>
              <a:prstGeom prst="rect">
                <a:avLst/>
              </a:prstGeom>
              <a:blipFill>
                <a:blip r:embed="rId4"/>
                <a:stretch>
                  <a:fillRect l="-930" t="-2375" b="-501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7318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52636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313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10639" y="-37211"/>
            <a:ext cx="10881361" cy="1567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1.1.3 Guided Practice: Investigating Patterns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735976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0371" y="7620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674914" y="1331894"/>
                <a:ext cx="10206447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orange juice manufacturer decided to offer orange juice in pint-sized containers. Each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-pack of pint-sized containers will be sold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$4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pattern in the table to find the missing values.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equation to represent the relationship between the number of pint-sized containers,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the cost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dollars,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14" y="1331894"/>
                <a:ext cx="10206447" cy="5016758"/>
              </a:xfrm>
              <a:prstGeom prst="rect">
                <a:avLst/>
              </a:prstGeom>
              <a:blipFill>
                <a:blip r:embed="rId5"/>
                <a:stretch>
                  <a:fillRect l="-657" t="-729" r="-1195" b="-121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D0C5ECD-32B3-814E-9ECE-3E62993CA726}"/>
              </a:ext>
            </a:extLst>
          </p:cNvPr>
          <p:cNvSpPr/>
          <p:nvPr/>
        </p:nvSpPr>
        <p:spPr>
          <a:xfrm>
            <a:off x="-23289" y="-3721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B9156C6-DE20-324B-9E2F-641EF64E74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5760609"/>
                  </p:ext>
                </p:extLst>
              </p:nvPr>
            </p:nvGraphicFramePr>
            <p:xfrm>
              <a:off x="2818595" y="2818123"/>
              <a:ext cx="4726115" cy="224305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331655">
                      <a:extLst>
                        <a:ext uri="{9D8B030D-6E8A-4147-A177-3AD203B41FA5}">
                          <a16:colId xmlns:a16="http://schemas.microsoft.com/office/drawing/2014/main" val="1714552150"/>
                        </a:ext>
                      </a:extLst>
                    </a:gridCol>
                    <a:gridCol w="1394460">
                      <a:extLst>
                        <a:ext uri="{9D8B030D-6E8A-4147-A177-3AD203B41FA5}">
                          <a16:colId xmlns:a16="http://schemas.microsoft.com/office/drawing/2014/main" val="1818750224"/>
                        </a:ext>
                      </a:extLst>
                    </a:gridCol>
                  </a:tblGrid>
                  <a:tr h="57274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Pint-Sized Containers</a:t>
                          </a: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Cost ($)</a:t>
                          </a: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5594207"/>
                      </a:ext>
                    </a:extLst>
                  </a:tr>
                  <a:tr h="37308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98618664"/>
                      </a:ext>
                    </a:extLst>
                  </a:tr>
                  <a:tr h="35769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83515101"/>
                      </a:ext>
                    </a:extLst>
                  </a:tr>
                  <a:tr h="35769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511577"/>
                      </a:ext>
                    </a:extLst>
                  </a:tr>
                  <a:tr h="37308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lang="en-US" sz="18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91205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B9156C6-DE20-324B-9E2F-641EF64E74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5760609"/>
                  </p:ext>
                </p:extLst>
              </p:nvPr>
            </p:nvGraphicFramePr>
            <p:xfrm>
              <a:off x="2818595" y="2818123"/>
              <a:ext cx="4726115" cy="224305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331655">
                      <a:extLst>
                        <a:ext uri="{9D8B030D-6E8A-4147-A177-3AD203B41FA5}">
                          <a16:colId xmlns:a16="http://schemas.microsoft.com/office/drawing/2014/main" val="1714552150"/>
                        </a:ext>
                      </a:extLst>
                    </a:gridCol>
                    <a:gridCol w="1394460">
                      <a:extLst>
                        <a:ext uri="{9D8B030D-6E8A-4147-A177-3AD203B41FA5}">
                          <a16:colId xmlns:a16="http://schemas.microsoft.com/office/drawing/2014/main" val="1818750224"/>
                        </a:ext>
                      </a:extLst>
                    </a:gridCol>
                  </a:tblGrid>
                  <a:tr h="57274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Pint-Sized Containers</a:t>
                          </a: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Cost ($)</a:t>
                          </a: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5594207"/>
                      </a:ext>
                    </a:extLst>
                  </a:tr>
                  <a:tr h="417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3" t="-137681" r="-42230" b="-3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39301" t="-137681" r="-873" b="-30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8618664"/>
                      </a:ext>
                    </a:extLst>
                  </a:tr>
                  <a:tr h="417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3" t="-237681" r="-42230" b="-2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39301" t="-237681" r="-873" b="-20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515101"/>
                      </a:ext>
                    </a:extLst>
                  </a:tr>
                  <a:tr h="41757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39301" t="-342647" r="-873" b="-1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511577"/>
                      </a:ext>
                    </a:extLst>
                  </a:tr>
                  <a:tr h="417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3" t="-436232" r="-42230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91205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70812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457185" y="243460"/>
            <a:ext cx="11299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coordinate grid to plot the ordered pairs in the table.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" name="Picture 2" descr="Table&#10;&#10;Description automatically generated with low confidence">
            <a:extLst>
              <a:ext uri="{FF2B5EF4-FFF2-40B4-BE49-F238E27FC236}">
                <a16:creationId xmlns:a16="http://schemas.microsoft.com/office/drawing/2014/main" id="{3C83814E-B2D5-844B-9509-8C4047DD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914" y="931951"/>
            <a:ext cx="8455479" cy="499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31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0521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33400" y="374086"/>
                <a:ext cx="1165860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table, the equation, or the graph to determine the cost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24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pint-sized containers.</a:t>
                </a: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representation did you use? 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74086"/>
                <a:ext cx="11658600" cy="3046988"/>
              </a:xfrm>
              <a:prstGeom prst="rect">
                <a:avLst/>
              </a:prstGeom>
              <a:blipFill>
                <a:blip r:embed="rId4"/>
                <a:stretch>
                  <a:fillRect l="-871" t="-1660" b="-3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9209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16979" y="644281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55170" y="374089"/>
                <a:ext cx="11397343" cy="4084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Elena, Kimiko, and Vicente were discussing the two graphs.</a:t>
                </a:r>
                <a:b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1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Vicente</a:t>
                </a: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In the first graph, would the ordered pair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/>
                      </a:rPr>
                      <m:t>(2.5, 25)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fit the pattern?</a:t>
                </a:r>
              </a:p>
              <a:p>
                <a:pPr marL="457200"/>
                <a:br>
                  <a:rPr lang="en-US" sz="21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1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Elena</a:t>
                </a: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I don’t think so. Having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/>
                      </a:rPr>
                      <m:t>2.5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cartons does not make sense.</a:t>
                </a:r>
                <a:b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100" b="1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Kimiko</a:t>
                </a: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The ordered pair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/>
                      </a:rPr>
                      <m:t>(15, 7.5)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the second graph does make sense. That would be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/>
                      </a:rPr>
                      <m:t>15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pint-size containers costing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/>
                      </a:rPr>
                      <m:t>$7.50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b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1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Elena: </a:t>
                </a: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No, Kimiko, the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/>
                      </a:rPr>
                      <m:t>15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/>
                      </a:rPr>
                      <m:t>$15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the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/>
                      </a:rPr>
                      <m:t>7.5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</a:t>
                </a:r>
                <a:r>
                  <a:rPr lang="en-US" sz="21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/>
                      </a:rPr>
                      <m:t>7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100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457200">
                  <a:lnSpc>
                    <a:spcPct val="150000"/>
                  </a:lnSpc>
                </a:pP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pint-size containers.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100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pint-size container would not make sense.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0" y="374089"/>
                <a:ext cx="11397343" cy="4084516"/>
              </a:xfrm>
              <a:prstGeom prst="rect">
                <a:avLst/>
              </a:prstGeom>
              <a:blipFill>
                <a:blip r:embed="rId4"/>
                <a:stretch>
                  <a:fillRect l="-667" t="-932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4341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617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664028" y="689773"/>
                <a:ext cx="11168743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whether or not you think the ordered pairs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(2.5, 25)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(15, 7.5)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make sense for the contexts they represent.</a:t>
                </a:r>
              </a:p>
              <a:p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Ask your partner to explain their answer to you.  Write down their explanation.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28" y="689773"/>
                <a:ext cx="11168743" cy="3416320"/>
              </a:xfrm>
              <a:prstGeom prst="rect">
                <a:avLst/>
              </a:prstGeom>
              <a:blipFill>
                <a:blip r:embed="rId4"/>
                <a:stretch>
                  <a:fillRect l="-909" t="-1481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6711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16979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5" y="2933697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784321" y="641159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22422" y="-211573"/>
            <a:ext cx="10741328" cy="1445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150" y="1038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475949" y="1386028"/>
            <a:ext cx="1123708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pair of statements, check the statements that apply to your understanding. </a:t>
            </a:r>
          </a:p>
          <a:p>
            <a:pPr marL="800100" indent="-342900">
              <a:spcBef>
                <a:spcPts val="1200"/>
              </a:spcBef>
              <a:buSzPct val="120000"/>
              <a:buFont typeface="Verdana" pitchFamily="34" charset="0"/>
              <a:buChar char="□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an expression to extend patterns. </a:t>
            </a:r>
          </a:p>
          <a:p>
            <a:pPr marL="800100" indent="-342900">
              <a:buSzPct val="120000"/>
              <a:buFont typeface="Verdana" pitchFamily="34" charset="0"/>
              <a:buChar char="□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need support using an expression to extend patterns. </a:t>
            </a:r>
          </a:p>
          <a:p>
            <a:pPr marL="800100" indent="-342900">
              <a:spcBef>
                <a:spcPts val="2400"/>
              </a:spcBef>
              <a:buSzPct val="120000"/>
              <a:buFont typeface="Verdana" pitchFamily="34" charset="0"/>
              <a:buChar char="□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locate ordered pairs on a coordinate plane. </a:t>
            </a:r>
          </a:p>
          <a:p>
            <a:pPr marL="800100" indent="-342900">
              <a:buSzPct val="120000"/>
              <a:buFont typeface="Verdana" pitchFamily="34" charset="0"/>
              <a:buChar char="□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need support in locating ordered pairs on a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coordinate plane. </a:t>
            </a:r>
          </a:p>
          <a:p>
            <a:pPr marL="800100" indent="-342900">
              <a:spcBef>
                <a:spcPts val="2400"/>
              </a:spcBef>
              <a:buSzPct val="120000"/>
              <a:buFont typeface="Verdana" pitchFamily="34" charset="0"/>
              <a:buChar char="□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identify a pattern and write an expression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match.</a:t>
            </a:r>
          </a:p>
          <a:p>
            <a:pPr marL="800100" indent="-342900">
              <a:buSzPct val="120000"/>
              <a:buFont typeface="Verdana" pitchFamily="34" charset="0"/>
              <a:buChar char="□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need support identifying a pattern and writing an expression to match.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1486</TotalTime>
  <Words>1427</Words>
  <Application>Microsoft Office PowerPoint</Application>
  <PresentationFormat>Widescreen</PresentationFormat>
  <Paragraphs>359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Calibri</vt:lpstr>
      <vt:lpstr>Courier New</vt:lpstr>
      <vt:lpstr>Arial</vt:lpstr>
      <vt:lpstr>Cambria Math</vt:lpstr>
      <vt:lpstr>Arial Black</vt:lpstr>
      <vt:lpstr>Verdana</vt:lpstr>
      <vt:lpstr>Century Gothic</vt:lpstr>
      <vt:lpstr>1_Office Theme</vt:lpstr>
      <vt:lpstr>6th Grade Math  Unit 1, Lesson 1  Using Multiple Representations to Investigate Patterns  Volume 1, pg. 3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Heather  Rideout</cp:lastModifiedBy>
  <cp:revision>39</cp:revision>
  <dcterms:created xsi:type="dcterms:W3CDTF">2015-03-17T18:51:18Z</dcterms:created>
  <dcterms:modified xsi:type="dcterms:W3CDTF">2023-01-17T16:23:59Z</dcterms:modified>
</cp:coreProperties>
</file>