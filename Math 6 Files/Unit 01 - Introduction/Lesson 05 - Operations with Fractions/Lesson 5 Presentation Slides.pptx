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85" r:id="rId4"/>
    <p:sldId id="286" r:id="rId5"/>
    <p:sldId id="261" r:id="rId6"/>
    <p:sldId id="287" r:id="rId7"/>
    <p:sldId id="289" r:id="rId8"/>
    <p:sldId id="290" r:id="rId9"/>
    <p:sldId id="308" r:id="rId10"/>
    <p:sldId id="326" r:id="rId11"/>
    <p:sldId id="327" r:id="rId12"/>
    <p:sldId id="310" r:id="rId13"/>
    <p:sldId id="328" r:id="rId14"/>
    <p:sldId id="323" r:id="rId15"/>
    <p:sldId id="324" r:id="rId16"/>
    <p:sldId id="329" r:id="rId17"/>
    <p:sldId id="330" r:id="rId18"/>
    <p:sldId id="288" r:id="rId19"/>
    <p:sldId id="306" r:id="rId20"/>
    <p:sldId id="307" r:id="rId21"/>
    <p:sldId id="332" r:id="rId22"/>
  </p:sldIdLst>
  <p:sldSz cx="12192000" cy="6858000"/>
  <p:notesSz cx="6858000" cy="9144000"/>
  <p:embeddedFontLst>
    <p:embeddedFont>
      <p:font typeface="Arial Black" panose="020B0A04020102020204" pitchFamily="34" charset="0"/>
      <p:regular r:id="rId24"/>
      <p:bold r:id="rId25"/>
    </p:embeddedFont>
    <p:embeddedFont>
      <p:font typeface="Calibri" panose="020F0502020204030204" pitchFamily="34" charset="0"/>
      <p:regular r:id="rId26"/>
      <p:bold r:id="rId27"/>
      <p:italic r:id="rId28"/>
      <p:boldItalic r:id="rId29"/>
    </p:embeddedFont>
    <p:embeddedFont>
      <p:font typeface="Cambria Math" panose="02040503050406030204" pitchFamily="18" charset="0"/>
      <p:regular r:id="rId30"/>
    </p:embeddedFont>
    <p:embeddedFont>
      <p:font typeface="Century Gothic" panose="020B0502020202020204" pitchFamily="34" charset="0"/>
      <p:regular r:id="rId31"/>
      <p:bold r:id="rId32"/>
      <p:italic r:id="rId33"/>
      <p:boldItalic r:id="rId34"/>
    </p:embeddedFont>
    <p:embeddedFont>
      <p:font typeface="Verdana" panose="020B060403050404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E5B"/>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75" autoAdjust="0"/>
    <p:restoredTop sz="94694"/>
  </p:normalViewPr>
  <p:slideViewPr>
    <p:cSldViewPr snapToGrid="0">
      <p:cViewPr varScale="1">
        <p:scale>
          <a:sx n="55" d="100"/>
          <a:sy n="55" d="100"/>
        </p:scale>
        <p:origin x="78" y="12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1.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49152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7958384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3484926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2096051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4301772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7119709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457072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7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4778830" y="2054277"/>
            <a:ext cx="6819566"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 Lesson 5</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Operations with Fractions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93604" y="1631434"/>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0511"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12789" y="39557"/>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29089" y="328757"/>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588379" y="647725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5461"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696686" y="1356528"/>
                <a:ext cx="9730154" cy="4758523"/>
              </a:xfrm>
              <a:prstGeom prst="rect">
                <a:avLst/>
              </a:prstGeom>
              <a:noFill/>
              <a:ln>
                <a:noFill/>
              </a:ln>
            </p:spPr>
            <p:txBody>
              <a:bodyPr spcFirstLastPara="1" wrap="square" lIns="91425" tIns="45700" rIns="91425" bIns="45700" anchor="t" anchorCtr="0">
                <a:normAutofit fontScale="70000" lnSpcReduction="20000"/>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1100"/>
                  <a:buNone/>
                </a:pPr>
                <a:r>
                  <a:rPr lang="en-US" sz="4800" dirty="0">
                    <a:solidFill>
                      <a:schemeClr val="tx1"/>
                    </a:solidFill>
                    <a:latin typeface="Verdana" panose="020B0604030504040204" pitchFamily="34" charset="0"/>
                    <a:ea typeface="Verdana" panose="020B0604030504040204" pitchFamily="34" charset="0"/>
                    <a:cs typeface="Verdana"/>
                    <a:sym typeface="Verdana"/>
                  </a:rPr>
                  <a:t>MA.5.AR.1.2</a:t>
                </a:r>
              </a:p>
              <a:p>
                <a:pPr indent="0">
                  <a:lnSpc>
                    <a:spcPct val="100000"/>
                  </a:lnSpc>
                  <a:spcBef>
                    <a:spcPts val="0"/>
                  </a:spcBef>
                  <a:buNone/>
                </a:pPr>
                <a:r>
                  <a:rPr lang="en-US" sz="4800" dirty="0">
                    <a:latin typeface="Verdana" panose="020B0604030504040204" pitchFamily="34" charset="0"/>
                    <a:ea typeface="Verdana" panose="020B0604030504040204" pitchFamily="34" charset="0"/>
                    <a:cs typeface="Verdana" panose="020B0604030504040204" pitchFamily="34" charset="0"/>
                  </a:rPr>
                  <a:t>Solve real-world problems involving the addition, subtraction, or multiplication of fractions, including mixed numbers and fractions greater than </a:t>
                </a:r>
                <a14:m>
                  <m:oMath xmlns:m="http://schemas.openxmlformats.org/officeDocument/2006/math">
                    <m:r>
                      <a:rPr lang="en-US" sz="4800">
                        <a:latin typeface="Cambria Math" panose="02040503050406030204" pitchFamily="18" charset="0"/>
                        <a:ea typeface="Verdana" panose="020B0604030504040204" pitchFamily="34" charset="0"/>
                        <a:cs typeface="Verdana" panose="020B0604030504040204" pitchFamily="34" charset="0"/>
                      </a:rPr>
                      <m:t>1</m:t>
                    </m:r>
                  </m:oMath>
                </a14:m>
                <a:r>
                  <a:rPr lang="en-US" sz="4800" dirty="0">
                    <a:latin typeface="Verdana" panose="020B0604030504040204" pitchFamily="34" charset="0"/>
                    <a:ea typeface="Verdana" panose="020B0604030504040204" pitchFamily="34" charset="0"/>
                    <a:cs typeface="Verdana" panose="020B0604030504040204" pitchFamily="34" charset="0"/>
                  </a:rPr>
                  <a:t>. </a:t>
                </a:r>
              </a:p>
              <a:p>
                <a:pPr indent="0">
                  <a:lnSpc>
                    <a:spcPct val="100000"/>
                  </a:lnSpc>
                  <a:spcBef>
                    <a:spcPts val="0"/>
                  </a:spcBef>
                  <a:buNone/>
                </a:pPr>
                <a:endParaRPr lang="en-US" sz="4800" dirty="0">
                  <a:latin typeface="Verdana" panose="020B0604030504040204" pitchFamily="34" charset="0"/>
                  <a:ea typeface="Verdana" panose="020B0604030504040204" pitchFamily="34" charset="0"/>
                  <a:cs typeface="Verdana" panose="020B0604030504040204" pitchFamily="34" charset="0"/>
                </a:endParaRPr>
              </a:p>
              <a:p>
                <a:pPr marL="0" indent="0">
                  <a:lnSpc>
                    <a:spcPct val="100000"/>
                  </a:lnSpc>
                  <a:spcBef>
                    <a:spcPts val="0"/>
                  </a:spcBef>
                  <a:buSzPts val="1100"/>
                  <a:buNone/>
                </a:pPr>
                <a:r>
                  <a:rPr lang="en-US" sz="4800" dirty="0">
                    <a:solidFill>
                      <a:schemeClr val="tx1"/>
                    </a:solidFill>
                    <a:latin typeface="Verdana" panose="020B0604030504040204" pitchFamily="34" charset="0"/>
                    <a:ea typeface="Verdana" panose="020B0604030504040204" pitchFamily="34" charset="0"/>
                    <a:cs typeface="Verdana"/>
                    <a:sym typeface="Verdana"/>
                  </a:rPr>
                  <a:t>MA.5.AR.1.2</a:t>
                </a:r>
              </a:p>
              <a:p>
                <a:pPr indent="0">
                  <a:lnSpc>
                    <a:spcPct val="100000"/>
                  </a:lnSpc>
                  <a:spcBef>
                    <a:spcPts val="0"/>
                  </a:spcBef>
                  <a:buNone/>
                </a:pPr>
                <a:r>
                  <a:rPr lang="en-US" sz="4800" dirty="0">
                    <a:latin typeface="Verdana" panose="020B0604030504040204" pitchFamily="34" charset="0"/>
                    <a:ea typeface="Verdana" panose="020B0604030504040204" pitchFamily="34" charset="0"/>
                    <a:cs typeface="Verdana" panose="020B0604030504040204" pitchFamily="34" charset="0"/>
                  </a:rPr>
                  <a:t>Solve real-world problems involving the addition, subtraction, or multiplication of fractions, including mixed numbers and fractions greater than </a:t>
                </a:r>
                <a14:m>
                  <m:oMath xmlns:m="http://schemas.openxmlformats.org/officeDocument/2006/math">
                    <m:r>
                      <a:rPr lang="en-US" sz="4800">
                        <a:latin typeface="Cambria Math" panose="02040503050406030204" pitchFamily="18" charset="0"/>
                        <a:ea typeface="Verdana" panose="020B0604030504040204" pitchFamily="34" charset="0"/>
                        <a:cs typeface="Verdana" panose="020B0604030504040204" pitchFamily="34" charset="0"/>
                      </a:rPr>
                      <m:t>1</m:t>
                    </m:r>
                  </m:oMath>
                </a14:m>
                <a:r>
                  <a:rPr lang="en-US" sz="4800" dirty="0">
                    <a:latin typeface="Verdana" panose="020B0604030504040204" pitchFamily="34" charset="0"/>
                    <a:ea typeface="Verdana" panose="020B0604030504040204" pitchFamily="34" charset="0"/>
                    <a:cs typeface="Verdana" panose="020B0604030504040204" pitchFamily="34" charset="0"/>
                  </a:rPr>
                  <a:t>. </a:t>
                </a:r>
                <a:endParaRPr lang="en-US" sz="4800" dirty="0">
                  <a:solidFill>
                    <a:schemeClr val="tx1"/>
                  </a:solidFill>
                  <a:latin typeface="Verdana" panose="020B0604030504040204" pitchFamily="34" charset="0"/>
                  <a:ea typeface="Verdana" panose="020B0604030504040204" pitchFamily="34" charset="0"/>
                  <a:cs typeface="Century Gothic"/>
                  <a:sym typeface="Century Gothic"/>
                </a:endParaRPr>
              </a:p>
              <a:p>
                <a:pPr indent="0">
                  <a:lnSpc>
                    <a:spcPct val="100000"/>
                  </a:lnSpc>
                  <a:spcBef>
                    <a:spcPts val="0"/>
                  </a:spcBef>
                  <a:buNone/>
                </a:pPr>
                <a:endParaRPr lang="en-US" dirty="0">
                  <a:solidFill>
                    <a:schemeClr val="tx1"/>
                  </a:solidFill>
                  <a:latin typeface="Century Gothic"/>
                  <a:ea typeface="Century Gothic"/>
                  <a:cs typeface="Century Gothic"/>
                  <a:sym typeface="Century Gothic"/>
                </a:endParaRPr>
              </a:p>
            </p:txBody>
          </p:sp>
        </mc:Choice>
        <mc:Fallback>
          <p:sp>
            <p:nvSpPr>
              <p:cNvPr id="8" name="Google Shape;280;g104476d1465_1_17">
                <a:extLst>
                  <a:ext uri="{FF2B5EF4-FFF2-40B4-BE49-F238E27FC236}">
                    <a16:creationId xmlns:a16="http://schemas.microsoft.com/office/drawing/2014/main" id="{527A9F9F-07B8-ED47-B967-E5507C67DBC5}"/>
                  </a:ext>
                </a:extLst>
              </p:cNvPr>
              <p:cNvSpPr txBox="1">
                <a:spLocks noRot="1" noChangeAspect="1" noMove="1" noResize="1" noEditPoints="1" noAdjustHandles="1" noChangeArrowheads="1" noChangeShapeType="1" noTextEdit="1"/>
              </p:cNvSpPr>
              <p:nvPr/>
            </p:nvSpPr>
            <p:spPr>
              <a:xfrm>
                <a:off x="696686" y="1356528"/>
                <a:ext cx="9730154" cy="4758523"/>
              </a:xfrm>
              <a:prstGeom prst="rect">
                <a:avLst/>
              </a:prstGeom>
              <a:blipFill>
                <a:blip r:embed="rId5"/>
                <a:stretch>
                  <a:fillRect l="-1754" t="-4103" r="-1065" b="-2179"/>
                </a:stretch>
              </a:blipFill>
              <a:ln>
                <a:noFill/>
              </a:ln>
            </p:spPr>
            <p:txBody>
              <a:bodyPr/>
              <a:lstStyle/>
              <a:p>
                <a:r>
                  <a:rPr lang="en-PH">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34649" y="317871"/>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00776"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081949" y="129667"/>
            <a:ext cx="1089233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78432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751114" y="1596390"/>
            <a:ext cx="945968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a16="http://schemas.microsoft.com/office/drawing/2014/main" id="{077C6829-C721-C84C-B217-05FC82BD0900}"/>
              </a:ext>
            </a:extLst>
          </p:cNvPr>
          <p:cNvSpPr/>
          <p:nvPr/>
        </p:nvSpPr>
        <p:spPr>
          <a:xfrm>
            <a:off x="-35029"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93371" y="30660"/>
            <a:ext cx="914560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524785"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380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24785" y="1600200"/>
            <a:ext cx="968601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q"/>
            </a:pPr>
            <a:r>
              <a:rPr lang="en-US" sz="2400" dirty="0">
                <a:latin typeface="Verdana" panose="020B0604030504040204" pitchFamily="34" charset="0"/>
                <a:ea typeface="Verdana" panose="020B0604030504040204" pitchFamily="34" charset="0"/>
              </a:rPr>
              <a:t>I can solve real-world problems involving adding and subtracting fractions. </a:t>
            </a:r>
          </a:p>
          <a:p>
            <a:pPr marL="342900" indent="-342900">
              <a:buFont typeface="Wingdings" panose="05000000000000000000" pitchFamily="2" charset="2"/>
              <a:buChar char="q"/>
            </a:pPr>
            <a:r>
              <a:rPr lang="en-US" sz="2400" dirty="0">
                <a:latin typeface="Verdana" panose="020B0604030504040204" pitchFamily="34" charset="0"/>
                <a:ea typeface="Verdana" panose="020B0604030504040204" pitchFamily="34" charset="0"/>
              </a:rPr>
              <a:t>I can solve real-world problems involving multiplication of fractions.  </a:t>
            </a:r>
          </a:p>
          <a:p>
            <a:pPr marL="342900" indent="-342900">
              <a:buFont typeface="Wingdings" panose="05000000000000000000" pitchFamily="2" charset="2"/>
              <a:buChar char="q"/>
            </a:pPr>
            <a:r>
              <a:rPr lang="en-US" sz="2400" dirty="0">
                <a:latin typeface="Verdana" panose="020B0604030504040204" pitchFamily="34" charset="0"/>
                <a:ea typeface="Verdana" panose="020B0604030504040204" pitchFamily="34" charset="0"/>
              </a:rPr>
              <a:t>I can solve real-word problems involving division of a unit fraction by a whole number. </a:t>
            </a:r>
          </a:p>
          <a:p>
            <a:pPr marL="342900" indent="-342900">
              <a:buFont typeface="Wingdings" panose="05000000000000000000" pitchFamily="2" charset="2"/>
              <a:buChar char="q"/>
            </a:pPr>
            <a:r>
              <a:rPr lang="en-US" sz="2400" dirty="0">
                <a:latin typeface="Verdana" panose="020B0604030504040204" pitchFamily="34" charset="0"/>
                <a:ea typeface="Verdana" panose="020B0604030504040204" pitchFamily="34" charset="0"/>
              </a:rPr>
              <a:t>I can solve real-world problems involving division of a whole number by a unit fraction. </a:t>
            </a:r>
            <a:endParaRPr lang="en-US" sz="2400" i="1" dirty="0">
              <a:latin typeface="Verdana" panose="020B0604030504040204" pitchFamily="34" charset="0"/>
              <a:ea typeface="Verdana" panose="020B0604030504040204" pitchFamily="34" charset="0"/>
            </a:endParaRPr>
          </a:p>
        </p:txBody>
      </p:sp>
      <p:sp>
        <p:nvSpPr>
          <p:cNvPr id="8" name="Google Shape;278;g104476d1465_1_17">
            <a:extLst>
              <a:ext uri="{FF2B5EF4-FFF2-40B4-BE49-F238E27FC236}">
                <a16:creationId xmlns:a16="http://schemas.microsoft.com/office/drawing/2014/main" id="{84D53208-BBC5-F045-A1FC-36E1745FA757}"/>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3" y="6129037"/>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9433" y="64465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50463"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1144" y="-154947"/>
            <a:ext cx="939851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1.5.1 Warm-Up: Critical Thinking</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93338" y="134253"/>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716463"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a:t>
            </a:r>
          </a:p>
        </p:txBody>
      </p:sp>
      <p:sp>
        <p:nvSpPr>
          <p:cNvPr id="2" name="TextBox 1">
            <a:extLst>
              <a:ext uri="{FF2B5EF4-FFF2-40B4-BE49-F238E27FC236}">
                <a16:creationId xmlns:a16="http://schemas.microsoft.com/office/drawing/2014/main" id="{E1D7562E-134F-D14B-AF1A-DF40E11EF758}"/>
              </a:ext>
            </a:extLst>
          </p:cNvPr>
          <p:cNvSpPr txBox="1"/>
          <p:nvPr/>
        </p:nvSpPr>
        <p:spPr>
          <a:xfrm>
            <a:off x="393338" y="1386026"/>
            <a:ext cx="9994246" cy="1943545"/>
          </a:xfrm>
          <a:prstGeom prst="rect">
            <a:avLst/>
          </a:prstGeom>
          <a:noFill/>
        </p:spPr>
        <p:txBody>
          <a:bodyPr wrap="square" rtlCol="0">
            <a:spAutoFit/>
          </a:bodyPr>
          <a:lstStyle/>
          <a:p>
            <a:pPr marL="342900" indent="-342900">
              <a:lnSpc>
                <a:spcPct val="107000"/>
              </a:lnSpc>
              <a:buFont typeface="+mj-lt"/>
              <a:buAutoNum type="arabicPeriod"/>
            </a:pPr>
            <a:r>
              <a:rPr lang="en-US" sz="2400" dirty="0">
                <a:latin typeface="Verdana" panose="020B0604030504040204" pitchFamily="34" charset="0"/>
                <a:ea typeface="Verdana" panose="020B0604030504040204" pitchFamily="34" charset="0"/>
                <a:cs typeface="Times New Roman" panose="02020603050405020304" pitchFamily="18" charset="0"/>
              </a:rPr>
              <a:t>Place a digit in each blue box to make the solutions to the two problems the same. Use only digits </a:t>
            </a:r>
            <a:r>
              <a:rPr lang="en-US" sz="2400" dirty="0">
                <a:latin typeface="Cambria Math" panose="02040503050406030204" pitchFamily="18" charset="0"/>
                <a:ea typeface="Cambria Math" panose="02040503050406030204" pitchFamily="18" charset="0"/>
                <a:cs typeface="Times New Roman" panose="02020603050405020304" pitchFamily="18" charset="0"/>
              </a:rPr>
              <a:t>1</a:t>
            </a:r>
            <a:r>
              <a:rPr lang="en-US" sz="2400" dirty="0">
                <a:latin typeface="Verdana" panose="020B0604030504040204" pitchFamily="34" charset="0"/>
                <a:ea typeface="Verdana" panose="020B0604030504040204" pitchFamily="34" charset="0"/>
                <a:cs typeface="Times New Roman" panose="02020603050405020304" pitchFamily="18" charset="0"/>
              </a:rPr>
              <a:t> to </a:t>
            </a:r>
            <a:r>
              <a:rPr lang="en-US" sz="2400" dirty="0">
                <a:latin typeface="Cambria Math" panose="02040503050406030204" pitchFamily="18" charset="0"/>
                <a:ea typeface="Cambria Math" panose="02040503050406030204" pitchFamily="18" charset="0"/>
                <a:cs typeface="Times New Roman" panose="02020603050405020304" pitchFamily="18" charset="0"/>
              </a:rPr>
              <a:t>9</a:t>
            </a:r>
            <a:r>
              <a:rPr lang="en-US" sz="2400" dirty="0">
                <a:latin typeface="Verdana" panose="020B0604030504040204" pitchFamily="34" charset="0"/>
                <a:ea typeface="Verdana" panose="020B0604030504040204" pitchFamily="34" charset="0"/>
                <a:cs typeface="Times New Roman" panose="02020603050405020304" pitchFamily="18" charset="0"/>
              </a:rPr>
              <a:t>, at most one time each. </a:t>
            </a: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marL="4572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9" name="Google Shape;278;g104476d1465_1_17">
            <a:extLst>
              <a:ext uri="{FF2B5EF4-FFF2-40B4-BE49-F238E27FC236}">
                <a16:creationId xmlns:a16="http://schemas.microsoft.com/office/drawing/2014/main" id="{D2E26B32-0C88-7847-9ECA-D11545A204F9}"/>
              </a:ext>
            </a:extLst>
          </p:cNvPr>
          <p:cNvSpPr/>
          <p:nvPr/>
        </p:nvSpPr>
        <p:spPr>
          <a:xfrm>
            <a:off x="-2371"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Picture 3">
            <a:extLst>
              <a:ext uri="{FF2B5EF4-FFF2-40B4-BE49-F238E27FC236}">
                <a16:creationId xmlns:a16="http://schemas.microsoft.com/office/drawing/2014/main" id="{4278DD14-FB37-4E3C-8DF5-13BB83E24CB4}"/>
              </a:ext>
            </a:extLst>
          </p:cNvPr>
          <p:cNvPicPr>
            <a:picLocks noChangeAspect="1"/>
          </p:cNvPicPr>
          <p:nvPr/>
        </p:nvPicPr>
        <p:blipFill rotWithShape="1">
          <a:blip r:embed="rId5"/>
          <a:srcRect r="1176"/>
          <a:stretch/>
        </p:blipFill>
        <p:spPr>
          <a:xfrm>
            <a:off x="3568722" y="2600334"/>
            <a:ext cx="4543356" cy="4234042"/>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2"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28617" y="643835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a:t>
            </a:r>
          </a:p>
        </p:txBody>
      </p:sp>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1" y="6129038"/>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84268" y="41507"/>
            <a:ext cx="1100773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1.5.2 Guided Instruction: Operations with Fractions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436968" y="121285"/>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77661" y="6478552"/>
            <a:ext cx="2634000" cy="615523"/>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a:t>
            </a:r>
          </a:p>
          <a:p>
            <a:pPr algn="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436968" y="1750328"/>
                <a:ext cx="11857797" cy="3961982"/>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The Gomez family decided to take a family vacation to the Walt Disney Resort in Florida. They had a jam-packed week planned with a lot of fun activities. </a:t>
                </a:r>
              </a:p>
              <a:p>
                <a:pPr>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r>
                  <a:rPr lang="en-US" sz="2000" dirty="0">
                    <a:latin typeface="Verdana" panose="020B0604030504040204" pitchFamily="34" charset="0"/>
                    <a:ea typeface="Verdana" panose="020B0604030504040204" pitchFamily="34" charset="0"/>
                    <a:cs typeface="Cambria Math" panose="02040503050406030204" pitchFamily="18" charset="0"/>
                  </a:rPr>
                  <a:t>T</a:t>
                </a:r>
                <a:r>
                  <a:rPr lang="en-US" sz="2000" dirty="0">
                    <a:latin typeface="Verdana" panose="020B0604030504040204" pitchFamily="34" charset="0"/>
                    <a:ea typeface="Verdana" panose="020B0604030504040204" pitchFamily="34" charset="0"/>
                    <a:cs typeface="Verdana" panose="020B0604030504040204" pitchFamily="34" charset="0"/>
                  </a:rPr>
                  <a:t>he Gomez family first went to Typhoon Lagoon to enjoy the waterpark. When they arrived, the air temperature in degrees Fahrenheit </a:t>
                </a:r>
                <a14:m>
                  <m:oMath xmlns:m="http://schemas.openxmlformats.org/officeDocument/2006/math">
                    <m:d>
                      <m:dPr>
                        <m:ctrlPr>
                          <a:rPr lang="en-US" sz="2000" i="1">
                            <a:latin typeface="Cambria Math" panose="02040503050406030204" pitchFamily="18" charset="0"/>
                            <a:ea typeface="Verdana" panose="020B0604030504040204" pitchFamily="34" charset="0"/>
                            <a:cs typeface="Verdana" panose="020B0604030504040204" pitchFamily="34" charset="0"/>
                          </a:rPr>
                        </m:ctrlPr>
                      </m:dPr>
                      <m:e>
                        <m:r>
                          <a:rPr lang="en-US" sz="2000" i="1">
                            <a:latin typeface="Cambria Math" panose="02040503050406030204" pitchFamily="18" charset="0"/>
                            <a:ea typeface="Verdana" panose="020B0604030504040204" pitchFamily="34" charset="0"/>
                            <a:cs typeface="Verdana" panose="020B0604030504040204" pitchFamily="34" charset="0"/>
                          </a:rPr>
                          <m:t>℉</m:t>
                        </m:r>
                      </m:e>
                    </m:d>
                  </m:oMath>
                </a14:m>
                <a:r>
                  <a:rPr lang="en-US" sz="2000" dirty="0">
                    <a:latin typeface="Verdana" panose="020B0604030504040204" pitchFamily="34" charset="0"/>
                    <a:ea typeface="Verdana" panose="020B0604030504040204" pitchFamily="34" charset="0"/>
                    <a:cs typeface="Verdana" panose="020B0604030504040204" pitchFamily="34" charset="0"/>
                  </a:rPr>
                  <a:t>, was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84</m:t>
                    </m:r>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2</m:t>
                        </m:r>
                      </m:den>
                    </m:f>
                    <m:r>
                      <a:rPr lang="en-US" sz="2000" i="1">
                        <a:latin typeface="Cambria Math" panose="02040503050406030204" pitchFamily="18" charset="0"/>
                        <a:ea typeface="Verdana" panose="020B0604030504040204" pitchFamily="34" charset="0"/>
                        <a:cs typeface="Verdana" panose="020B0604030504040204" pitchFamily="34"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Every hour that they stayed, the air temperature increased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1</m:t>
                    </m:r>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2</m:t>
                        </m:r>
                      </m:den>
                    </m:f>
                    <m:r>
                      <a:rPr lang="en-US" sz="2000" i="1">
                        <a:latin typeface="Cambria Math" panose="02040503050406030204" pitchFamily="18" charset="0"/>
                        <a:ea typeface="Verdana" panose="020B0604030504040204" pitchFamily="34" charset="0"/>
                        <a:cs typeface="Verdana" panose="020B0604030504040204" pitchFamily="34"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The family stayed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4</m:t>
                    </m:r>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3</m:t>
                        </m:r>
                      </m:num>
                      <m:den>
                        <m:r>
                          <a:rPr lang="en-US" sz="2000" i="1">
                            <a:latin typeface="Cambria Math" panose="02040503050406030204" pitchFamily="18" charset="0"/>
                            <a:ea typeface="Verdana" panose="020B0604030504040204" pitchFamily="34" charset="0"/>
                            <a:cs typeface="Verdana" panose="020B0604030504040204" pitchFamily="34"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hours. </a:t>
                </a: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04863" indent="-347663">
                  <a:lnSpc>
                    <a:spcPct val="107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Select a question that could be answered using the information given.</a:t>
                </a:r>
              </a:p>
              <a:p>
                <a:pPr marL="804863" indent="-347663">
                  <a:lnSpc>
                    <a:spcPct val="107000"/>
                  </a:lnSpc>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090613" indent="-285750">
                  <a:lnSpc>
                    <a:spcPct val="107000"/>
                  </a:lnSpc>
                  <a:buSzPts val="200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  What time did the family arrive?</a:t>
                </a:r>
              </a:p>
              <a:p>
                <a:pPr marL="1090613" indent="-285750">
                  <a:lnSpc>
                    <a:spcPct val="107000"/>
                  </a:lnSpc>
                  <a:buSzPts val="200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Cambria Math" panose="02040503050406030204" pitchFamily="18" charset="0"/>
                  </a:rPr>
                  <a:t>  W</a:t>
                </a:r>
                <a:r>
                  <a:rPr lang="en-US" sz="2000" dirty="0">
                    <a:latin typeface="Verdana" panose="020B0604030504040204" pitchFamily="34" charset="0"/>
                    <a:ea typeface="Verdana" panose="020B0604030504040204" pitchFamily="34" charset="0"/>
                    <a:cs typeface="Verdana" panose="020B0604030504040204" pitchFamily="34" charset="0"/>
                  </a:rPr>
                  <a:t>hat was the temperature when they left?</a:t>
                </a:r>
                <a:endParaRPr lang="en-US" sz="24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436968" y="1750328"/>
                <a:ext cx="11857797" cy="3961982"/>
              </a:xfrm>
              <a:prstGeom prst="rect">
                <a:avLst/>
              </a:prstGeom>
              <a:blipFill>
                <a:blip r:embed="rId5"/>
                <a:stretch>
                  <a:fillRect l="-566" t="-923" b="-2154"/>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7D185CEC-69E3-ED4E-87D7-D8AED7B32136}"/>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3690" y="617457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735977" y="641269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a:t>
            </a:r>
          </a:p>
        </p:txBody>
      </p:sp>
      <p:sp>
        <p:nvSpPr>
          <p:cNvPr id="5" name="TextBox 4">
            <a:extLst>
              <a:ext uri="{FF2B5EF4-FFF2-40B4-BE49-F238E27FC236}">
                <a16:creationId xmlns:a16="http://schemas.microsoft.com/office/drawing/2014/main" id="{8AE5E1E0-A54D-BE42-84B5-F917038ADE99}"/>
              </a:ext>
            </a:extLst>
          </p:cNvPr>
          <p:cNvSpPr txBox="1"/>
          <p:nvPr/>
        </p:nvSpPr>
        <p:spPr>
          <a:xfrm>
            <a:off x="478971" y="772560"/>
            <a:ext cx="10126969" cy="5304529"/>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To answer the question, more than one operation will need to be applied. When a word problem uses more than one step it is known as a </a:t>
            </a:r>
            <a:r>
              <a:rPr lang="en-US" sz="2000" b="1" dirty="0">
                <a:latin typeface="Verdana" panose="020B0604030504040204" pitchFamily="34" charset="0"/>
                <a:ea typeface="Verdana" panose="020B0604030504040204" pitchFamily="34" charset="0"/>
                <a:cs typeface="Verdana" panose="020B0604030504040204" pitchFamily="34" charset="0"/>
              </a:rPr>
              <a:t>multi-step</a:t>
            </a:r>
            <a:r>
              <a:rPr lang="en-US" sz="2000" dirty="0">
                <a:latin typeface="Verdana" panose="020B0604030504040204" pitchFamily="34" charset="0"/>
                <a:ea typeface="Verdana" panose="020B0604030504040204" pitchFamily="34" charset="0"/>
                <a:cs typeface="Verdana" panose="020B0604030504040204" pitchFamily="34" charset="0"/>
              </a:rPr>
              <a:t> problem.</a:t>
            </a:r>
          </a:p>
          <a:p>
            <a:pPr>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2438">
              <a:lnSpc>
                <a:spcPct val="107000"/>
              </a:lnSpc>
              <a:buFont typeface="+mj-lt"/>
              <a:buAutoNum type="alphaLcPeriod" startAt="2"/>
            </a:pPr>
            <a:r>
              <a:rPr lang="en-US" sz="2000" dirty="0">
                <a:latin typeface="Verdana" panose="020B0604030504040204" pitchFamily="34" charset="0"/>
                <a:ea typeface="Verdana" panose="020B0604030504040204" pitchFamily="34" charset="0"/>
                <a:cs typeface="Cambria Math" panose="02040503050406030204" pitchFamily="18" charset="0"/>
              </a:rPr>
              <a:t>T</a:t>
            </a:r>
            <a:r>
              <a:rPr lang="en-US" sz="2000" dirty="0">
                <a:latin typeface="Verdana" panose="020B0604030504040204" pitchFamily="34" charset="0"/>
                <a:ea typeface="Verdana" panose="020B0604030504040204" pitchFamily="34" charset="0"/>
                <a:cs typeface="Verdana" panose="020B0604030504040204" pitchFamily="34" charset="0"/>
              </a:rPr>
              <a:t>he first step could be to                                                     </a:t>
            </a:r>
          </a:p>
          <a:p>
            <a:pPr marL="914400" indent="-452438">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1962">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the number of hours the family spent at the waterpark </a:t>
            </a:r>
          </a:p>
          <a:p>
            <a:pPr marL="461962">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1962">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by the value</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1963">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c.  Write the expression that represents the first step.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lphaLcPeriod" startAt="2"/>
            </a:pP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indent="-457200">
              <a:lnSpc>
                <a:spcPct val="107000"/>
              </a:lnSpc>
              <a:buFont typeface="+mj-lt"/>
              <a:buAutoNum type="alphaLcPeriod" startAt="2"/>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6" name="Google Shape;278;g104476d1465_1_17">
            <a:extLst>
              <a:ext uri="{FF2B5EF4-FFF2-40B4-BE49-F238E27FC236}">
                <a16:creationId xmlns:a16="http://schemas.microsoft.com/office/drawing/2014/main" id="{6B29BDED-917F-0645-8F07-B04061D83C61}"/>
              </a:ext>
            </a:extLst>
          </p:cNvPr>
          <p:cNvSpPr/>
          <p:nvPr/>
        </p:nvSpPr>
        <p:spPr>
          <a:xfrm>
            <a:off x="-874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Picture 6">
            <a:extLst>
              <a:ext uri="{FF2B5EF4-FFF2-40B4-BE49-F238E27FC236}">
                <a16:creationId xmlns:a16="http://schemas.microsoft.com/office/drawing/2014/main" id="{124BCBEA-D274-4BF7-92E6-E93A9E89761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45436" y="1708737"/>
            <a:ext cx="3555613" cy="947573"/>
          </a:xfrm>
          <a:prstGeom prst="rect">
            <a:avLst/>
          </a:prstGeom>
        </p:spPr>
      </p:pic>
      <p:pic>
        <p:nvPicPr>
          <p:cNvPr id="10" name="Picture 9">
            <a:extLst>
              <a:ext uri="{FF2B5EF4-FFF2-40B4-BE49-F238E27FC236}">
                <a16:creationId xmlns:a16="http://schemas.microsoft.com/office/drawing/2014/main" id="{1626DEC8-045C-4359-B935-8A9B9230A95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212579" y="3080853"/>
            <a:ext cx="1891730" cy="1537031"/>
          </a:xfrm>
          <a:prstGeom prst="rect">
            <a:avLst/>
          </a:prstGeom>
        </p:spPr>
      </p:pic>
    </p:spTree>
    <p:extLst>
      <p:ext uri="{BB962C8B-B14F-4D97-AF65-F5344CB8AC3E}">
        <p14:creationId xmlns:p14="http://schemas.microsoft.com/office/powerpoint/2010/main" val="3393813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8" y="612903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34118" y="64275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a:t>
            </a:r>
          </a:p>
        </p:txBody>
      </p:sp>
      <p:sp>
        <p:nvSpPr>
          <p:cNvPr id="5" name="TextBox 4">
            <a:extLst>
              <a:ext uri="{FF2B5EF4-FFF2-40B4-BE49-F238E27FC236}">
                <a16:creationId xmlns:a16="http://schemas.microsoft.com/office/drawing/2014/main" id="{8AE5E1E0-A54D-BE42-84B5-F917038ADE99}"/>
              </a:ext>
            </a:extLst>
          </p:cNvPr>
          <p:cNvSpPr txBox="1"/>
          <p:nvPr/>
        </p:nvSpPr>
        <p:spPr>
          <a:xfrm>
            <a:off x="413657" y="245203"/>
            <a:ext cx="10018112" cy="5666808"/>
          </a:xfrm>
          <a:prstGeom prst="rect">
            <a:avLst/>
          </a:prstGeom>
          <a:noFill/>
        </p:spPr>
        <p:txBody>
          <a:bodyPr wrap="square" rtlCol="0">
            <a:spAutoFit/>
          </a:bodyPr>
          <a:lstStyle/>
          <a:p>
            <a:pPr marL="342900" indent="-342900">
              <a:lnSpc>
                <a:spcPct val="107000"/>
              </a:lnSpc>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The next step is to use the value that is the </a:t>
            </a:r>
          </a:p>
          <a:p>
            <a:pPr>
              <a:lnSpc>
                <a:spcPct val="107000"/>
              </a:lnSpc>
            </a:pPr>
            <a:r>
              <a:rPr lang="en-US" sz="2000" dirty="0">
                <a:latin typeface="Verdana" panose="020B0604030504040204" pitchFamily="34" charset="0"/>
                <a:ea typeface="Verdana" panose="020B0604030504040204" pitchFamily="34" charset="0"/>
                <a:cs typeface="Cambria Math" panose="02040503050406030204" pitchFamily="18" charset="0"/>
              </a:rPr>
              <a:t>    </a:t>
            </a:r>
          </a:p>
          <a:p>
            <a:pPr>
              <a:lnSpc>
                <a:spcPct val="107000"/>
              </a:lnSpc>
            </a:pPr>
            <a:r>
              <a:rPr lang="en-US" sz="2000" dirty="0">
                <a:latin typeface="Verdana" panose="020B0604030504040204" pitchFamily="34" charset="0"/>
                <a:ea typeface="Verdana" panose="020B0604030504040204" pitchFamily="34" charset="0"/>
                <a:cs typeface="Cambria Math" panose="02040503050406030204" pitchFamily="18" charset="0"/>
              </a:rPr>
              <a:t>    result of the first step and</a:t>
            </a:r>
          </a:p>
          <a:p>
            <a:pPr>
              <a:lnSpc>
                <a:spcPct val="107000"/>
              </a:lnSpc>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2000" dirty="0">
                <a:latin typeface="Verdana" panose="020B0604030504040204" pitchFamily="34" charset="0"/>
                <a:ea typeface="Verdana" panose="020B0604030504040204" pitchFamily="34" charset="0"/>
                <a:cs typeface="Cambria Math" panose="02040503050406030204" pitchFamily="18" charset="0"/>
              </a:rPr>
              <a:t>    the value </a:t>
            </a:r>
          </a:p>
          <a:p>
            <a:pPr>
              <a:lnSpc>
                <a:spcPct val="107000"/>
              </a:lnSpc>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Write the expression that represents the first step. Then, perform the operation and write the value that is the result of the second step.</a:t>
            </a:r>
          </a:p>
          <a:p>
            <a:pPr marL="342900" indent="-342900">
              <a:lnSpc>
                <a:spcPct val="107000"/>
              </a:lnSpc>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Reread the problem. Explain why the result of the second step makes sense for the question you chose.</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6" name="Google Shape;278;g104476d1465_1_17">
            <a:extLst>
              <a:ext uri="{FF2B5EF4-FFF2-40B4-BE49-F238E27FC236}">
                <a16:creationId xmlns:a16="http://schemas.microsoft.com/office/drawing/2014/main" id="{6B29BDED-917F-0645-8F07-B04061D83C61}"/>
              </a:ext>
            </a:extLst>
          </p:cNvPr>
          <p:cNvSpPr/>
          <p:nvPr/>
        </p:nvSpPr>
        <p:spPr>
          <a:xfrm>
            <a:off x="-13813" y="-810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Picture 6">
            <a:extLst>
              <a:ext uri="{FF2B5EF4-FFF2-40B4-BE49-F238E27FC236}">
                <a16:creationId xmlns:a16="http://schemas.microsoft.com/office/drawing/2014/main" id="{C040C00B-4039-438A-A007-3983035CC91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284783" y="577314"/>
            <a:ext cx="2884819" cy="1704666"/>
          </a:xfrm>
          <a:prstGeom prst="rect">
            <a:avLst/>
          </a:prstGeom>
        </p:spPr>
      </p:pic>
      <p:pic>
        <p:nvPicPr>
          <p:cNvPr id="9" name="Picture 8">
            <a:extLst>
              <a:ext uri="{FF2B5EF4-FFF2-40B4-BE49-F238E27FC236}">
                <a16:creationId xmlns:a16="http://schemas.microsoft.com/office/drawing/2014/main" id="{8C3C3B1B-F348-479C-ACCC-4B31630B0C0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216096" y="1314659"/>
            <a:ext cx="1468300" cy="1330107"/>
          </a:xfrm>
          <a:prstGeom prst="rect">
            <a:avLst/>
          </a:prstGeom>
        </p:spPr>
      </p:pic>
    </p:spTree>
    <p:extLst>
      <p:ext uri="{BB962C8B-B14F-4D97-AF65-F5344CB8AC3E}">
        <p14:creationId xmlns:p14="http://schemas.microsoft.com/office/powerpoint/2010/main" val="4070302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3624"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9624" y="646978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348343" y="315045"/>
                <a:ext cx="11719131" cy="6274025"/>
              </a:xfrm>
              <a:prstGeom prst="rect">
                <a:avLst/>
              </a:prstGeom>
              <a:noFill/>
            </p:spPr>
            <p:txBody>
              <a:bodyPr wrap="square" rtlCol="0">
                <a:spAutoFit/>
              </a:bodyPr>
              <a:lstStyle/>
              <a:p>
                <a:pPr marL="342900" indent="-342900">
                  <a:lnSpc>
                    <a:spcPct val="107000"/>
                  </a:lnSpc>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While at the waterpark,</a:t>
                </a:r>
                <a:r>
                  <a:rPr lang="en-US" sz="2000" b="1"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Mr. Gomez kept track of the time the family spent waiting in line for rides. At the Humunga Kowabunga slide, they waited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5</m:t>
                        </m:r>
                      </m:num>
                      <m:den>
                        <m:r>
                          <a:rPr lang="en-US" sz="2000" i="1">
                            <a:latin typeface="Cambria Math" panose="02040503050406030204" pitchFamily="18" charset="0"/>
                            <a:ea typeface="Verdana" panose="020B0604030504040204" pitchFamily="34" charset="0"/>
                            <a:cs typeface="Verdana" panose="020B0604030504040204" pitchFamily="34" charset="0"/>
                          </a:rPr>
                          <m:t>6</m:t>
                        </m:r>
                      </m:den>
                    </m:f>
                  </m:oMath>
                </a14:m>
                <a:r>
                  <a:rPr lang="en-US" sz="2000" dirty="0">
                    <a:latin typeface="Verdana" panose="020B0604030504040204" pitchFamily="34" charset="0"/>
                    <a:ea typeface="Verdana" panose="020B0604030504040204" pitchFamily="34" charset="0"/>
                    <a:cs typeface="Verdana" panose="020B0604030504040204" pitchFamily="34" charset="0"/>
                  </a:rPr>
                  <a:t> of an hour. At Crush ‘n’ Gusher, they waited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1</m:t>
                    </m:r>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hours in line. How much longer did they wait at Crush ‘n’ Gusher than at Humunga Kowabunga?</a:t>
                </a:r>
              </a:p>
              <a:p>
                <a:pPr marL="342900" indent="-342900">
                  <a:lnSpc>
                    <a:spcPct val="107000"/>
                  </a:lnSpc>
                  <a:buFont typeface="+mj-lt"/>
                  <a:buAutoNum type="alphaLcPeriod"/>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914400" indent="-573088">
                  <a:lnSpc>
                    <a:spcPct val="107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Which of the following correctly restates the information the question is asking for?</a:t>
                </a:r>
              </a:p>
              <a:p>
                <a:pPr marL="804863" indent="-4572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196975" indent="-392113">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Find the total time the family waited in line for Humunga Kowabunga and Crush ‘n’ Gusher.</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1196975" indent="-392113">
                  <a:lnSpc>
                    <a:spcPct val="107000"/>
                  </a:lnSpc>
                  <a:buSzPts val="200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Find the difference in the family’s wait times for Humunga Kowabunga and Crush ‘n’ Gusher.</a:t>
                </a:r>
              </a:p>
              <a:p>
                <a:pPr marL="1196975" indent="-392113">
                  <a:lnSpc>
                    <a:spcPct val="107000"/>
                  </a:lnSpc>
                  <a:buSzPts val="2000"/>
                  <a:buFont typeface="Courier New" panose="02070309020205020404" pitchFamily="49" charset="0"/>
                  <a:buChar char="o"/>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66738">
                  <a:lnSpc>
                    <a:spcPct val="107000"/>
                  </a:lnSpc>
                  <a:buFont typeface="+mj-lt"/>
                  <a:buAutoNum type="alphaLcPeriod" startAt="2"/>
                </a:pPr>
                <a:r>
                  <a:rPr lang="en-US" sz="2000" dirty="0">
                    <a:latin typeface="Verdana" panose="020B0604030504040204" pitchFamily="34" charset="0"/>
                    <a:ea typeface="Verdana" panose="020B0604030504040204" pitchFamily="34" charset="0"/>
                    <a:cs typeface="Cambria Math" panose="02040503050406030204" pitchFamily="18" charset="0"/>
                  </a:rPr>
                  <a:t>To </a:t>
                </a:r>
                <a:r>
                  <a:rPr lang="en-US" sz="2000" dirty="0">
                    <a:latin typeface="Verdana" panose="020B0604030504040204" pitchFamily="34" charset="0"/>
                    <a:ea typeface="Verdana" panose="020B0604030504040204" pitchFamily="34" charset="0"/>
                    <a:cs typeface="Verdana" panose="020B0604030504040204" pitchFamily="34" charset="0"/>
                  </a:rPr>
                  <a:t>answer the question,                                                                </a:t>
                </a:r>
              </a:p>
              <a:p>
                <a:pPr marL="804863"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66738">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the family’s wait times for Humunga Kowabunga and </a:t>
                </a:r>
              </a:p>
              <a:p>
                <a:pPr marL="347663">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p>
              <a:p>
                <a:pPr marL="347663">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Crush ‘n’ Gusher.</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348343" y="315045"/>
                <a:ext cx="11719131" cy="6274025"/>
              </a:xfrm>
              <a:prstGeom prst="rect">
                <a:avLst/>
              </a:prstGeom>
              <a:blipFill>
                <a:blip r:embed="rId4"/>
                <a:stretch>
                  <a:fillRect l="-572" t="-777" r="-364" b="-777"/>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B29BDED-917F-0645-8F07-B04061D83C61}"/>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Picture 3">
            <a:extLst>
              <a:ext uri="{FF2B5EF4-FFF2-40B4-BE49-F238E27FC236}">
                <a16:creationId xmlns:a16="http://schemas.microsoft.com/office/drawing/2014/main" id="{6DB66B90-A313-4007-BE44-724106AAC97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502514" y="4545788"/>
            <a:ext cx="3410787" cy="865055"/>
          </a:xfrm>
          <a:prstGeom prst="rect">
            <a:avLst/>
          </a:prstGeom>
        </p:spPr>
      </p:pic>
    </p:spTree>
    <p:extLst>
      <p:ext uri="{BB962C8B-B14F-4D97-AF65-F5344CB8AC3E}">
        <p14:creationId xmlns:p14="http://schemas.microsoft.com/office/powerpoint/2010/main" val="796958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2" y="610828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77662"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a:t>
            </a:r>
          </a:p>
        </p:txBody>
      </p:sp>
      <p:sp>
        <p:nvSpPr>
          <p:cNvPr id="5" name="TextBox 4">
            <a:extLst>
              <a:ext uri="{FF2B5EF4-FFF2-40B4-BE49-F238E27FC236}">
                <a16:creationId xmlns:a16="http://schemas.microsoft.com/office/drawing/2014/main" id="{4CE9D117-FAE6-F74F-940B-9CD1479755BE}"/>
              </a:ext>
            </a:extLst>
          </p:cNvPr>
          <p:cNvSpPr txBox="1"/>
          <p:nvPr/>
        </p:nvSpPr>
        <p:spPr>
          <a:xfrm>
            <a:off x="348343" y="422857"/>
            <a:ext cx="10268483" cy="5386090"/>
          </a:xfrm>
          <a:prstGeom prst="rect">
            <a:avLst/>
          </a:prstGeom>
          <a:noFill/>
        </p:spPr>
        <p:txBody>
          <a:bodyPr wrap="square" rtlCol="0">
            <a:spAutoFit/>
          </a:bodyPr>
          <a:lstStyle/>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Write the expression that represents the context. Then, perform the operation and write the value that is the result.</a:t>
            </a: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Cambria Math" panose="02040503050406030204" pitchFamily="18" charset="0"/>
              </a:rPr>
              <a:t>D</a:t>
            </a:r>
            <a:r>
              <a:rPr lang="en-US" sz="2000" dirty="0">
                <a:latin typeface="Verdana" panose="020B0604030504040204" pitchFamily="34" charset="0"/>
                <a:ea typeface="Verdana" panose="020B0604030504040204" pitchFamily="34" charset="0"/>
                <a:cs typeface="Verdana" panose="020B0604030504040204" pitchFamily="34" charset="0"/>
              </a:rPr>
              <a:t>iscuss with your partner one thing you noticed between the multi-step problem and the problem that used just one step. Write your observations in the table.</a:t>
            </a:r>
          </a:p>
          <a:p>
            <a:pPr marL="457200" indent="-457200">
              <a:buFont typeface="+mj-lt"/>
              <a:buAutoNum type="alphaLcPeriod" startAt="4"/>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lphaLcPeriod" startAt="4"/>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lphaLcPeriod" startAt="4"/>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lphaLcPeriod" startAt="4"/>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lphaLcPeriod" startAt="4"/>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lphaLcPeriod" startAt="4"/>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5A057F2B-B43B-F64E-8B11-07A9669FD9E1}"/>
              </a:ext>
            </a:extLst>
          </p:cNvPr>
          <p:cNvSpPr/>
          <p:nvPr/>
        </p:nvSpPr>
        <p:spPr>
          <a:xfrm>
            <a:off x="0" y="-810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a16="http://schemas.microsoft.com/office/drawing/2014/main" id="{B11C8F43-CE74-4FE6-9047-68CC57C5487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920721" y="3721508"/>
            <a:ext cx="6953459" cy="1698461"/>
          </a:xfrm>
          <a:prstGeom prst="rect">
            <a:avLst/>
          </a:prstGeom>
        </p:spPr>
      </p:pic>
    </p:spTree>
    <p:extLst>
      <p:ext uri="{BB962C8B-B14F-4D97-AF65-F5344CB8AC3E}">
        <p14:creationId xmlns:p14="http://schemas.microsoft.com/office/powerpoint/2010/main" val="1123396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34119" y="646024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CE9D117-FAE6-F74F-940B-9CD1479755BE}"/>
                  </a:ext>
                </a:extLst>
              </p:cNvPr>
              <p:cNvSpPr txBox="1"/>
              <p:nvPr/>
            </p:nvSpPr>
            <p:spPr>
              <a:xfrm>
                <a:off x="446314" y="422858"/>
                <a:ext cx="9606662" cy="5885970"/>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The three Gomez children wanted a snack. Their mom gave them a bag of chips that was approximately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full. The children divided the half-full bag of chips equally among the</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 3</m:t>
                    </m:r>
                  </m:oMath>
                </a14:m>
                <a:r>
                  <a:rPr lang="en-US" sz="2000" dirty="0">
                    <a:latin typeface="Verdana" panose="020B0604030504040204" pitchFamily="34" charset="0"/>
                    <a:ea typeface="Verdana" panose="020B0604030504040204" pitchFamily="34" charset="0"/>
                    <a:cs typeface="Verdana" panose="020B0604030504040204" pitchFamily="34" charset="0"/>
                  </a:rPr>
                  <a:t> of them.</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111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write a question that makes sense for the context and uses the values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indent="-5111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111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11175">
                  <a:buFont typeface="+mj-lt"/>
                  <a:buAutoNum type="alphaLcPeriod"/>
                </a:pPr>
                <a:r>
                  <a:rPr lang="en-US" sz="2000" dirty="0">
                    <a:latin typeface="Verdana" panose="020B0604030504040204" pitchFamily="34" charset="0"/>
                    <a:ea typeface="Verdana" panose="020B0604030504040204" pitchFamily="34" charset="0"/>
                    <a:cs typeface="Cambria Math" panose="02040503050406030204" pitchFamily="18" charset="0"/>
                  </a:rPr>
                  <a:t>Wr</a:t>
                </a:r>
                <a:r>
                  <a:rPr lang="en-US" sz="2000" dirty="0">
                    <a:latin typeface="Verdana" panose="020B0604030504040204" pitchFamily="34" charset="0"/>
                    <a:ea typeface="Verdana" panose="020B0604030504040204" pitchFamily="34" charset="0"/>
                    <a:cs typeface="Verdana" panose="020B0604030504040204" pitchFamily="34" charset="0"/>
                  </a:rPr>
                  <a:t>ite the answer to your question and show the work necessary to get the answer.</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lphaLcPeriod" startAt="4"/>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lphaLcPeriod" startAt="4"/>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lphaLcPeriod" startAt="4"/>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lphaLcPeriod" startAt="4"/>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800100" indent="-342900">
                  <a:buFont typeface="+mj-lt"/>
                  <a:buAutoNum type="alphaLcPeriod"/>
                </a:pP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342900" indent="-342900">
                  <a:buFont typeface="+mj-lt"/>
                  <a:buAutoNum type="alphaLcPeriod"/>
                </a:pP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indent="-457200">
                  <a:buFont typeface="+mj-lt"/>
                  <a:buAutoNum type="arabicPeriod" startAt="3"/>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4CE9D117-FAE6-F74F-940B-9CD1479755BE}"/>
                  </a:ext>
                </a:extLst>
              </p:cNvPr>
              <p:cNvSpPr txBox="1">
                <a:spLocks noRot="1" noChangeAspect="1" noMove="1" noResize="1" noEditPoints="1" noAdjustHandles="1" noChangeArrowheads="1" noChangeShapeType="1" noTextEdit="1"/>
              </p:cNvSpPr>
              <p:nvPr/>
            </p:nvSpPr>
            <p:spPr>
              <a:xfrm>
                <a:off x="446314" y="422858"/>
                <a:ext cx="9606662" cy="5885970"/>
              </a:xfrm>
              <a:prstGeom prst="rect">
                <a:avLst/>
              </a:prstGeom>
              <a:blipFill>
                <a:blip r:embed="rId4"/>
                <a:stretch>
                  <a:fillRect l="-698" t="-621"/>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5A057F2B-B43B-F64E-8B11-07A9669FD9E1}"/>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70095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34119"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014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23367" y="-37211"/>
            <a:ext cx="941578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1.5.3 Guided Practice: Operations with Fractions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73559" y="15058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1D40250-DEDD-2C41-8538-3D4DD18CCC4A}"/>
              </a:ext>
            </a:extLst>
          </p:cNvPr>
          <p:cNvSpPr txBox="1"/>
          <p:nvPr/>
        </p:nvSpPr>
        <p:spPr>
          <a:xfrm>
            <a:off x="729343" y="1386026"/>
            <a:ext cx="9658241" cy="2012859"/>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The Gomez family spent their second day of vacation at the Magic Kingdom. Vario Gomez and his dad left the rest of the family to ride some of the more adventurous rides. A list of the rides in the order they rode them and the distance they walked to get to each ride is shown below.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9" name="Google Shape;278;g104476d1465_1_17">
            <a:extLst>
              <a:ext uri="{FF2B5EF4-FFF2-40B4-BE49-F238E27FC236}">
                <a16:creationId xmlns:a16="http://schemas.microsoft.com/office/drawing/2014/main" id="{0D0C5ECD-32B3-814E-9ECE-3E62993CA726}"/>
              </a:ext>
            </a:extLst>
          </p:cNvPr>
          <p:cNvSpPr/>
          <p:nvPr/>
        </p:nvSpPr>
        <p:spPr>
          <a:xfrm>
            <a:off x="-36914"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Picture 3">
            <a:extLst>
              <a:ext uri="{FF2B5EF4-FFF2-40B4-BE49-F238E27FC236}">
                <a16:creationId xmlns:a16="http://schemas.microsoft.com/office/drawing/2014/main" id="{0235B6E3-2267-469F-B7BF-C74B380D8B1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243251" y="3148326"/>
            <a:ext cx="6270171" cy="3559908"/>
          </a:xfrm>
          <a:prstGeom prst="rect">
            <a:avLst/>
          </a:prstGeom>
        </p:spPr>
      </p:pic>
    </p:spTree>
    <p:extLst>
      <p:ext uri="{BB962C8B-B14F-4D97-AF65-F5344CB8AC3E}">
        <p14:creationId xmlns:p14="http://schemas.microsoft.com/office/powerpoint/2010/main" val="745523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1" y="612903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94256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a:t>
            </a:r>
          </a:p>
        </p:txBody>
      </p:sp>
      <p:sp>
        <p:nvSpPr>
          <p:cNvPr id="10" name="TextBox 9">
            <a:extLst>
              <a:ext uri="{FF2B5EF4-FFF2-40B4-BE49-F238E27FC236}">
                <a16:creationId xmlns:a16="http://schemas.microsoft.com/office/drawing/2014/main" id="{31D40250-DEDD-2C41-8538-3D4DD18CCC4A}"/>
              </a:ext>
            </a:extLst>
          </p:cNvPr>
          <p:cNvSpPr txBox="1"/>
          <p:nvPr/>
        </p:nvSpPr>
        <p:spPr>
          <a:xfrm>
            <a:off x="489857" y="295475"/>
            <a:ext cx="9769711" cy="5833777"/>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Use the table to answer each of the following questions. Write the expression or equation you use.  </a:t>
            </a:r>
          </a:p>
          <a:p>
            <a:pPr>
              <a:lnSpc>
                <a:spcPct val="107000"/>
              </a:lnSpc>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Vario tracks his steps using a fitness tracker. He averages </a:t>
            </a:r>
            <a:r>
              <a:rPr lang="en-US" sz="2000" dirty="0">
                <a:latin typeface="Cambria Math" panose="02040503050406030204" pitchFamily="18" charset="0"/>
                <a:ea typeface="Verdana" panose="020B0604030504040204" pitchFamily="34" charset="0"/>
                <a:cs typeface="Verdana" panose="020B0604030504040204" pitchFamily="34" charset="0"/>
              </a:rPr>
              <a:t>2,000</a:t>
            </a:r>
            <a:r>
              <a:rPr lang="en-US" sz="2000" dirty="0">
                <a:latin typeface="Verdana" panose="020B0604030504040204" pitchFamily="34" charset="0"/>
                <a:ea typeface="Verdana" panose="020B0604030504040204" pitchFamily="34" charset="0"/>
                <a:cs typeface="Verdana" panose="020B0604030504040204" pitchFamily="34" charset="0"/>
              </a:rPr>
              <a:t> steps for each mile. How many total steps would Vario and his dad take as they walked to the rides listed in the table?</a:t>
            </a:r>
          </a:p>
          <a:p>
            <a:pPr>
              <a:lnSpc>
                <a:spcPct val="107000"/>
              </a:lnSpc>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342900" indent="-342900">
              <a:lnSpc>
                <a:spcPct val="107000"/>
              </a:lnSpc>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How much farther, in miles, was the walk to Space Mountain than to Splash Mountain?</a:t>
            </a:r>
          </a:p>
          <a:p>
            <a:pPr marL="342900" indent="-342900">
              <a:lnSpc>
                <a:spcPct val="107000"/>
              </a:lnSpc>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9" name="Google Shape;278;g104476d1465_1_17">
            <a:extLst>
              <a:ext uri="{FF2B5EF4-FFF2-40B4-BE49-F238E27FC236}">
                <a16:creationId xmlns:a16="http://schemas.microsoft.com/office/drawing/2014/main" id="{0D0C5ECD-32B3-814E-9ECE-3E62993CA726}"/>
              </a:ext>
            </a:extLst>
          </p:cNvPr>
          <p:cNvSpPr/>
          <p:nvPr/>
        </p:nvSpPr>
        <p:spPr>
          <a:xfrm>
            <a:off x="4889"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656837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4576" y="612903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790576" y="641563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223201" y="569596"/>
                <a:ext cx="10542772" cy="5152244"/>
              </a:xfrm>
              <a:prstGeom prst="rect">
                <a:avLst/>
              </a:prstGeom>
              <a:noFill/>
            </p:spPr>
            <p:txBody>
              <a:bodyPr wrap="square" rtlCol="0">
                <a:spAutoFit/>
              </a:bodyPr>
              <a:lstStyle/>
              <a:p>
                <a:pPr marL="914400" indent="-457200">
                  <a:lnSpc>
                    <a:spcPct val="107000"/>
                  </a:lnSpc>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Mrs. Gomez and her two daughters waited in line a total of 2 hours to meet different characters. Each character’s line was approximately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5</m:t>
                        </m:r>
                      </m:den>
                    </m:f>
                  </m:oMath>
                </a14:m>
                <a:r>
                  <a:rPr lang="en-US" sz="2000" dirty="0">
                    <a:latin typeface="Verdana" panose="020B0604030504040204" pitchFamily="34" charset="0"/>
                    <a:ea typeface="Verdana" panose="020B0604030504040204" pitchFamily="34" charset="0"/>
                    <a:cs typeface="Verdana" panose="020B0604030504040204" pitchFamily="34" charset="0"/>
                  </a:rPr>
                  <a:t> of an hour long. How many characters did they get to meet? </a:t>
                </a:r>
              </a:p>
              <a:p>
                <a:pPr marL="914400" indent="-457200">
                  <a:lnSpc>
                    <a:spcPct val="107000"/>
                  </a:lnSpc>
                  <a:buFont typeface="+mj-lt"/>
                  <a:buAutoNum type="arabicPeriod" startAt="3"/>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914400" indent="-457200">
                  <a:lnSpc>
                    <a:spcPct val="107000"/>
                  </a:lnSpc>
                  <a:buFont typeface="+mj-lt"/>
                  <a:buAutoNum type="arabicPeriod" startAt="3"/>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914400" indent="-457200">
                  <a:lnSpc>
                    <a:spcPct val="107000"/>
                  </a:lnSpc>
                  <a:buFont typeface="+mj-lt"/>
                  <a:buAutoNum type="arabicPeriod" startAt="3"/>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914400" indent="-457200">
                  <a:lnSpc>
                    <a:spcPct val="107000"/>
                  </a:lnSpc>
                  <a:buFont typeface="+mj-lt"/>
                  <a:buAutoNum type="arabicPeriod" startAt="3"/>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800100" indent="-342900">
                  <a:lnSpc>
                    <a:spcPct val="107000"/>
                  </a:lnSpc>
                  <a:buFont typeface="+mj-lt"/>
                  <a:buAutoNum type="arabicPeriod" startAt="3"/>
                </a:pPr>
                <a:r>
                  <a:rPr lang="en-US" sz="2000" dirty="0">
                    <a:latin typeface="Verdana" panose="020B0604030504040204" pitchFamily="34" charset="0"/>
                    <a:ea typeface="Verdana" panose="020B0604030504040204" pitchFamily="34" charset="0"/>
                    <a:cs typeface="Cambria Math" panose="02040503050406030204" pitchFamily="18" charset="0"/>
                  </a:rPr>
                  <a:t>Later in the day, the family met in Adventureland to go on some rides together as a family. They rode a total of</a:t>
                </a:r>
                <a:r>
                  <a:rPr lang="en-US" sz="2000" dirty="0">
                    <a:latin typeface="Verdana" panose="020B0604030504040204" pitchFamily="34" charset="0"/>
                    <a:ea typeface="Verdana" panose="020B0604030504040204" pitchFamily="34" charset="0"/>
                    <a:cs typeface="Verdana" panose="020B0604030504040204" pitchFamily="34" charset="0"/>
                  </a:rPr>
                  <a:t> 5</a:t>
                </a:r>
                <a:r>
                  <a:rPr lang="en-US" sz="2000" dirty="0">
                    <a:latin typeface="Verdana" panose="020B0604030504040204" pitchFamily="34" charset="0"/>
                    <a:ea typeface="Verdana" panose="020B0604030504040204" pitchFamily="34" charset="0"/>
                    <a:cs typeface="Cambria Math" panose="02040503050406030204" pitchFamily="18" charset="0"/>
                  </a:rPr>
                  <a:t> rides and spent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latin typeface="Cambria Math" panose="02040503050406030204" pitchFamily="18" charset="0"/>
                            <a:ea typeface="Cambria Math" panose="02040503050406030204" pitchFamily="18" charset="0"/>
                            <a:cs typeface="Cambria Math" panose="02040503050406030204" pitchFamily="18" charset="0"/>
                          </a:rPr>
                          <m:t>2</m:t>
                        </m:r>
                      </m:den>
                    </m:f>
                  </m:oMath>
                </a14:m>
                <a:r>
                  <a:rPr lang="en-US" sz="2000" dirty="0">
                    <a:latin typeface="Verdana" panose="020B0604030504040204" pitchFamily="34" charset="0"/>
                    <a:ea typeface="Verdana" panose="020B0604030504040204" pitchFamily="34" charset="0"/>
                    <a:cs typeface="Cambria Math" panose="02040503050406030204" pitchFamily="18" charset="0"/>
                  </a:rPr>
                  <a:t> hour at each ride. How many hours did they spend in Adventureland?</a:t>
                </a:r>
              </a:p>
              <a:p>
                <a:pPr marL="800100" indent="-342900">
                  <a:lnSpc>
                    <a:spcPct val="107000"/>
                  </a:lnSpc>
                  <a:buFont typeface="+mj-lt"/>
                  <a:buAutoNum type="arabicPeriod" startAt="3"/>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572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223201" y="569596"/>
                <a:ext cx="10542772" cy="5152244"/>
              </a:xfrm>
              <a:prstGeom prst="rect">
                <a:avLst/>
              </a:prstGeom>
              <a:blipFill>
                <a:blip r:embed="rId4"/>
                <a:stretch>
                  <a:fillRect t="-827" r="-578"/>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0D0C5ECD-32B3-814E-9ECE-3E62993CA726}"/>
              </a:ext>
            </a:extLst>
          </p:cNvPr>
          <p:cNvSpPr/>
          <p:nvPr/>
        </p:nvSpPr>
        <p:spPr>
          <a:xfrm>
            <a:off x="0" y="-810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473859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6347" y="6159628"/>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1234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04800" y="520393"/>
                <a:ext cx="10030101" cy="4439229"/>
              </a:xfrm>
              <a:prstGeom prst="rect">
                <a:avLst/>
              </a:prstGeom>
              <a:noFill/>
            </p:spPr>
            <p:txBody>
              <a:bodyPr wrap="square" rtlCol="0">
                <a:spAutoFit/>
              </a:bodyPr>
              <a:lstStyle/>
              <a:p>
                <a:pPr marL="461963" indent="-461963">
                  <a:lnSpc>
                    <a:spcPct val="107000"/>
                  </a:lnSpc>
                  <a:buFont typeface="+mj-lt"/>
                  <a:buAutoNum type="arabicPeriod" startAt="5"/>
                </a:pPr>
                <a:r>
                  <a:rPr lang="en-US" sz="2000" dirty="0">
                    <a:latin typeface="Verdana" panose="020B0604030504040204" pitchFamily="34" charset="0"/>
                    <a:ea typeface="Verdana" panose="020B0604030504040204" pitchFamily="34" charset="0"/>
                    <a:cs typeface="Cambria Math" panose="02040503050406030204" pitchFamily="18" charset="0"/>
                  </a:rPr>
                  <a:t>O</a:t>
                </a:r>
                <a:r>
                  <a:rPr lang="en-US" sz="2000" dirty="0">
                    <a:latin typeface="Verdana" panose="020B0604030504040204" pitchFamily="34" charset="0"/>
                    <a:ea typeface="Verdana" panose="020B0604030504040204" pitchFamily="34" charset="0"/>
                    <a:cs typeface="Verdana" panose="020B0604030504040204" pitchFamily="34" charset="0"/>
                  </a:rPr>
                  <a:t>n their third day of vacation, the Gomez family decided to  stay at the resort. The family did the following activities.</a:t>
                </a:r>
              </a:p>
              <a:p>
                <a:pPr marL="457200">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00100" indent="-342900">
                  <a:lnSpc>
                    <a:spcPct val="107000"/>
                  </a:lnSpc>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R</a:t>
                </a:r>
                <a:r>
                  <a:rPr lang="en-US" sz="2000" dirty="0">
                    <a:latin typeface="Verdana" panose="020B0604030504040204" pitchFamily="34" charset="0"/>
                    <a:ea typeface="Verdana" panose="020B0604030504040204" pitchFamily="34" charset="0"/>
                  </a:rPr>
                  <a:t>ented a bike for </a:t>
                </a:r>
                <a14:m>
                  <m:oMath xmlns:m="http://schemas.openxmlformats.org/officeDocument/2006/math">
                    <m:r>
                      <a:rPr lang="en-US" sz="2000" i="1">
                        <a:latin typeface="Cambria Math" panose="02040503050406030204" pitchFamily="18" charset="0"/>
                      </a:rPr>
                      <m:t>2</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rPr>
                  <a:t> hours.</a:t>
                </a:r>
              </a:p>
              <a:p>
                <a:pPr marL="800100" indent="-342900">
                  <a:lnSpc>
                    <a:spcPct val="107000"/>
                  </a:lnSpc>
                  <a:buFont typeface="Arial" panose="020B0604020202020204" pitchFamily="34" charset="0"/>
                  <a:buChar char="•"/>
                </a:pPr>
                <a:r>
                  <a:rPr lang="en-US" sz="2000" dirty="0">
                    <a:latin typeface="Verdana" panose="020B0604030504040204" pitchFamily="34" charset="0"/>
                    <a:ea typeface="Verdana" panose="020B0604030504040204" pitchFamily="34" charset="0"/>
                  </a:rPr>
                  <a:t>Swam in the pool </a:t>
                </a:r>
                <a14:m>
                  <m:oMath xmlns:m="http://schemas.openxmlformats.org/officeDocument/2006/math">
                    <m:r>
                      <a:rPr lang="en-US" sz="2000" i="1">
                        <a:latin typeface="Cambria Math" panose="02040503050406030204" pitchFamily="18" charset="0"/>
                      </a:rPr>
                      <m:t>2</m:t>
                    </m:r>
                  </m:oMath>
                </a14:m>
                <a:r>
                  <a:rPr lang="en-US" sz="2000" dirty="0">
                    <a:latin typeface="Verdana" panose="020B0604030504040204" pitchFamily="34" charset="0"/>
                    <a:ea typeface="Verdana" panose="020B0604030504040204" pitchFamily="34" charset="0"/>
                  </a:rPr>
                  <a:t> different times. Each time they swam for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5</m:t>
                        </m:r>
                      </m:num>
                      <m:den>
                        <m:r>
                          <a:rPr lang="en-US" sz="2000" i="1">
                            <a:latin typeface="Cambria Math" panose="02040503050406030204" pitchFamily="18" charset="0"/>
                          </a:rPr>
                          <m:t>6</m:t>
                        </m:r>
                      </m:den>
                    </m:f>
                  </m:oMath>
                </a14:m>
                <a:r>
                  <a:rPr lang="en-US" sz="2000" dirty="0">
                    <a:latin typeface="Verdana" panose="020B0604030504040204" pitchFamily="34" charset="0"/>
                    <a:ea typeface="Verdana" panose="020B0604030504040204" pitchFamily="34" charset="0"/>
                  </a:rPr>
                  <a:t> hours.     </a:t>
                </a:r>
              </a:p>
              <a:p>
                <a:pPr marL="800100" indent="-342900">
                  <a:lnSpc>
                    <a:spcPct val="107000"/>
                  </a:lnSpc>
                  <a:buFont typeface="Arial" panose="020B0604020202020204" pitchFamily="34" charset="0"/>
                  <a:buChar char="•"/>
                </a:pPr>
                <a:r>
                  <a:rPr lang="en-US" sz="2000" dirty="0">
                    <a:latin typeface="Verdana" panose="020B0604030504040204" pitchFamily="34" charset="0"/>
                    <a:ea typeface="Verdana" panose="020B0604030504040204" pitchFamily="34" charset="0"/>
                  </a:rPr>
                  <a:t>Played on the playground </a:t>
                </a:r>
                <a14:m>
                  <m:oMath xmlns:m="http://schemas.openxmlformats.org/officeDocument/2006/math">
                    <m:r>
                      <a:rPr lang="en-US" sz="2000" i="1">
                        <a:latin typeface="Cambria Math" panose="02040503050406030204" pitchFamily="18" charset="0"/>
                      </a:rPr>
                      <m:t>3</m:t>
                    </m:r>
                  </m:oMath>
                </a14:m>
                <a:r>
                  <a:rPr lang="en-US" sz="2000" dirty="0">
                    <a:latin typeface="Verdana" panose="020B0604030504040204" pitchFamily="34" charset="0"/>
                    <a:ea typeface="Verdana" panose="020B0604030504040204" pitchFamily="34" charset="0"/>
                  </a:rPr>
                  <a:t> times. Each time was for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5</m:t>
                        </m:r>
                      </m:num>
                      <m:den>
                        <m:r>
                          <a:rPr lang="en-US" sz="2000" i="1">
                            <a:latin typeface="Cambria Math" panose="02040503050406030204" pitchFamily="18" charset="0"/>
                          </a:rPr>
                          <m:t>12</m:t>
                        </m:r>
                      </m:den>
                    </m:f>
                  </m:oMath>
                </a14:m>
                <a:r>
                  <a:rPr lang="en-US" sz="2000" dirty="0">
                    <a:latin typeface="Verdana" panose="020B0604030504040204" pitchFamily="34" charset="0"/>
                    <a:ea typeface="Verdana" panose="020B0604030504040204" pitchFamily="34" charset="0"/>
                  </a:rPr>
                  <a:t> hours. </a:t>
                </a:r>
              </a:p>
              <a:p>
                <a:pPr marL="800100" indent="-342900">
                  <a:lnSpc>
                    <a:spcPct val="107000"/>
                  </a:lnSpc>
                  <a:buFont typeface="Arial" panose="020B0604020202020204" pitchFamily="34" charset="0"/>
                  <a:buChar char="•"/>
                </a:pPr>
                <a:endParaRPr lang="en-US" sz="2000" dirty="0">
                  <a:latin typeface="Verdana" panose="020B0604030504040204" pitchFamily="34" charset="0"/>
                  <a:ea typeface="Verdana" panose="020B0604030504040204" pitchFamily="34" charset="0"/>
                </a:endParaRPr>
              </a:p>
              <a:p>
                <a:pPr marL="914400" indent="-457200">
                  <a:lnSpc>
                    <a:spcPct val="107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many more hours did they spend riding bikes than swimming?</a:t>
                </a:r>
              </a:p>
              <a:p>
                <a:pPr marL="914400" indent="-4572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many hours did the family spend doing all of the     activities?</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04800" y="520393"/>
                <a:ext cx="10030101" cy="4439229"/>
              </a:xfrm>
              <a:prstGeom prst="rect">
                <a:avLst/>
              </a:prstGeom>
              <a:blipFill>
                <a:blip r:embed="rId4"/>
                <a:stretch>
                  <a:fillRect l="-669" t="-960" r="-4134"/>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285F77CB-5FF9-E743-9AA8-B4C11C925C98}"/>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598233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77970" y="-810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55890" y="638855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9890"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845005" y="6520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9005"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034143" y="-82571"/>
            <a:ext cx="958715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1.5.4 Wrap-Up: Growth Mindset</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77464" y="203218"/>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751114" y="1658166"/>
            <a:ext cx="10885715" cy="4154984"/>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Today </a:t>
            </a:r>
            <a:r>
              <a:rPr lang="en-US" sz="2000" dirty="0">
                <a:latin typeface="Verdana" panose="020B0604030504040204" pitchFamily="34" charset="0"/>
                <a:ea typeface="Verdana" panose="020B0604030504040204" pitchFamily="34" charset="0"/>
                <a:cs typeface="Cambria Math" panose="02040503050406030204" pitchFamily="18" charset="0"/>
              </a:rPr>
              <a:t>I was challenged by__________________.        </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Cambria Math" panose="02040503050406030204" pitchFamily="18" charset="0"/>
            </a:endParaRPr>
          </a:p>
          <a:p>
            <a:r>
              <a:rPr lang="en-US" sz="2000" dirty="0">
                <a:latin typeface="Verdana" panose="020B0604030504040204" pitchFamily="34" charset="0"/>
                <a:ea typeface="Verdana" panose="020B0604030504040204" pitchFamily="34" charset="0"/>
                <a:cs typeface="Cambria Math" panose="02040503050406030204" pitchFamily="18" charset="0"/>
              </a:rPr>
              <a:t>     When I am challenged I                       the challenge.</a:t>
            </a:r>
          </a:p>
          <a:p>
            <a:endParaRPr lang="en-US" sz="2000" dirty="0">
              <a:latin typeface="Verdana" panose="020B0604030504040204" pitchFamily="34" charset="0"/>
              <a:ea typeface="Verdana" panose="020B0604030504040204" pitchFamily="34" charset="0"/>
              <a:cs typeface="Cambria Math" panose="02040503050406030204" pitchFamily="18" charset="0"/>
            </a:endParaRPr>
          </a:p>
          <a:p>
            <a:r>
              <a:rPr lang="en-US" sz="2000" dirty="0">
                <a:latin typeface="Verdana" panose="020B0604030504040204" pitchFamily="34" charset="0"/>
                <a:ea typeface="Verdana" panose="020B0604030504040204" pitchFamily="34" charset="0"/>
                <a:cs typeface="Cambria Math" panose="02040503050406030204" pitchFamily="18" charset="0"/>
              </a:rPr>
              <a:t>     </a:t>
            </a:r>
          </a:p>
          <a:p>
            <a:r>
              <a:rPr lang="en-US" sz="2000" dirty="0">
                <a:latin typeface="Verdana" panose="020B0604030504040204" pitchFamily="34" charset="0"/>
                <a:ea typeface="Verdana" panose="020B0604030504040204" pitchFamily="34" charset="0"/>
                <a:cs typeface="Cambria Math" panose="02040503050406030204" pitchFamily="18" charset="0"/>
              </a:rPr>
              <a:t>     Today, I </a:t>
            </a:r>
          </a:p>
          <a:p>
            <a:endParaRPr lang="en-US" sz="2000" dirty="0">
              <a:latin typeface="Verdana" panose="020B0604030504040204" pitchFamily="34" charset="0"/>
              <a:ea typeface="Verdana" panose="020B0604030504040204" pitchFamily="34" charset="0"/>
              <a:cs typeface="Cambria Math" panose="02040503050406030204" pitchFamily="18" charset="0"/>
            </a:endParaRPr>
          </a:p>
          <a:p>
            <a:endParaRPr lang="en-US" sz="2000" dirty="0">
              <a:latin typeface="Verdana" panose="020B0604030504040204" pitchFamily="34" charset="0"/>
              <a:ea typeface="Verdana" panose="020B0604030504040204" pitchFamily="34" charset="0"/>
              <a:cs typeface="Cambria Math" panose="02040503050406030204" pitchFamily="18" charset="0"/>
            </a:endParaRPr>
          </a:p>
          <a:p>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Cambria Math" panose="02040503050406030204" pitchFamily="18" charset="0"/>
              </a:rPr>
              <a:t>Think about the characters in your favorite movie or book. Describe a time the character had to persist in the face of a challenge.</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Cambria Math" panose="02040503050406030204" pitchFamily="18"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278;g104476d1465_1_17">
            <a:extLst>
              <a:ext uri="{FF2B5EF4-FFF2-40B4-BE49-F238E27FC236}">
                <a16:creationId xmlns:a16="http://schemas.microsoft.com/office/drawing/2014/main" id="{055A48D7-DC81-5F4D-9632-5F42A5D9EE47}"/>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a16="http://schemas.microsoft.com/office/drawing/2014/main" id="{4AD98E15-4F69-49AD-B340-2B5DDC64252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662407" y="2043222"/>
            <a:ext cx="1678493" cy="951471"/>
          </a:xfrm>
          <a:prstGeom prst="rect">
            <a:avLst/>
          </a:prstGeom>
        </p:spPr>
      </p:pic>
      <p:pic>
        <p:nvPicPr>
          <p:cNvPr id="5" name="Picture 4">
            <a:extLst>
              <a:ext uri="{FF2B5EF4-FFF2-40B4-BE49-F238E27FC236}">
                <a16:creationId xmlns:a16="http://schemas.microsoft.com/office/drawing/2014/main" id="{3D252536-518D-4CC9-98F9-B782CC696DC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824895" y="2994693"/>
            <a:ext cx="3026207" cy="860264"/>
          </a:xfrm>
          <a:prstGeom prst="rect">
            <a:avLst/>
          </a:prstGeom>
        </p:spPr>
      </p:pic>
    </p:spTree>
    <p:extLst>
      <p:ext uri="{BB962C8B-B14F-4D97-AF65-F5344CB8AC3E}">
        <p14:creationId xmlns:p14="http://schemas.microsoft.com/office/powerpoint/2010/main" val="553995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44318" y="612903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910318" y="644923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a:t>
            </a:r>
          </a:p>
        </p:txBody>
      </p:sp>
      <p:sp>
        <p:nvSpPr>
          <p:cNvPr id="10" name="TextBox 9">
            <a:extLst>
              <a:ext uri="{FF2B5EF4-FFF2-40B4-BE49-F238E27FC236}">
                <a16:creationId xmlns:a16="http://schemas.microsoft.com/office/drawing/2014/main" id="{31D40250-DEDD-2C41-8538-3D4DD18CCC4A}"/>
              </a:ext>
            </a:extLst>
          </p:cNvPr>
          <p:cNvSpPr txBox="1"/>
          <p:nvPr/>
        </p:nvSpPr>
        <p:spPr>
          <a:xfrm>
            <a:off x="468086" y="547825"/>
            <a:ext cx="10678885" cy="5767861"/>
          </a:xfrm>
          <a:prstGeom prst="rect">
            <a:avLst/>
          </a:prstGeom>
          <a:noFill/>
        </p:spPr>
        <p:txBody>
          <a:bodyPr wrap="square" rtlCol="0">
            <a:spAutoFit/>
          </a:bodyPr>
          <a:lstStyle/>
          <a:p>
            <a:pPr marL="457200" indent="-457200">
              <a:lnSpc>
                <a:spcPct val="107000"/>
              </a:lnSpc>
              <a:buFont typeface="+mj-lt"/>
              <a:buAutoNum type="arabicPeriod" startAt="3"/>
            </a:pPr>
            <a:r>
              <a:rPr lang="en-US" sz="2000" dirty="0">
                <a:latin typeface="Verdana" panose="020B0604030504040204" pitchFamily="34" charset="0"/>
                <a:ea typeface="Verdana" panose="020B0604030504040204" pitchFamily="34" charset="0"/>
                <a:cs typeface="Cambria Math" panose="02040503050406030204" pitchFamily="18" charset="0"/>
              </a:rPr>
              <a:t>Describe something that your teacher can do to help you overcome challenges you may face in math this year.</a:t>
            </a:r>
          </a:p>
          <a:p>
            <a:pPr marL="457200" indent="-457200">
              <a:lnSpc>
                <a:spcPct val="107000"/>
              </a:lnSpc>
              <a:buFont typeface="+mj-lt"/>
              <a:buAutoNum type="arabicPeriod" startAt="3"/>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3"/>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3"/>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3"/>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3"/>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3"/>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3"/>
            </a:pPr>
            <a:r>
              <a:rPr lang="en-US" sz="2000" dirty="0">
                <a:latin typeface="Verdana" panose="020B0604030504040204" pitchFamily="34" charset="0"/>
                <a:ea typeface="Verdana" panose="020B0604030504040204" pitchFamily="34" charset="0"/>
                <a:cs typeface="Cambria Math" panose="02040503050406030204" pitchFamily="18" charset="0"/>
              </a:rPr>
              <a:t>Describe something that you can do to overcome challenges you may face in math this year.</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1262062" indent="-457200">
              <a:lnSpc>
                <a:spcPct val="107000"/>
              </a:lnSpc>
              <a:buFont typeface="+mj-lt"/>
              <a:buAutoNum type="arabicPeriod" startAt="3"/>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804862">
              <a:lnSpc>
                <a:spcPct val="107000"/>
              </a:lnSpc>
            </a:pP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9" name="Google Shape;278;g104476d1465_1_17">
            <a:extLst>
              <a:ext uri="{FF2B5EF4-FFF2-40B4-BE49-F238E27FC236}">
                <a16:creationId xmlns:a16="http://schemas.microsoft.com/office/drawing/2014/main" id="{0D0C5ECD-32B3-814E-9ECE-3E62993CA726}"/>
              </a:ext>
            </a:extLst>
          </p:cNvPr>
          <p:cNvSpPr/>
          <p:nvPr/>
        </p:nvSpPr>
        <p:spPr>
          <a:xfrm>
            <a:off x="0" y="-810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19226471"/>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1340</TotalTime>
  <Words>1341</Words>
  <Application>Microsoft Office PowerPoint</Application>
  <PresentationFormat>Widescreen</PresentationFormat>
  <Paragraphs>204</Paragraphs>
  <Slides>21</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Verdana</vt:lpstr>
      <vt:lpstr>Wingdings</vt:lpstr>
      <vt:lpstr>Century Gothic</vt:lpstr>
      <vt:lpstr>Calibri</vt:lpstr>
      <vt:lpstr>Arial Black</vt:lpstr>
      <vt:lpstr>Cambria Math</vt:lpstr>
      <vt:lpstr>Courier New</vt:lpstr>
      <vt:lpstr>Arial</vt:lpstr>
      <vt:lpstr>1_Office Theme</vt:lpstr>
      <vt:lpstr>6th Grade Math  Unit 1, Lesson 5  Operations with Fractions  Volume 1, pg. 26  </vt:lpstr>
      <vt:lpstr>Benchmarks</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vaanmx</cp:lastModifiedBy>
  <cp:revision>27</cp:revision>
  <dcterms:created xsi:type="dcterms:W3CDTF">2015-03-17T18:51:18Z</dcterms:created>
  <dcterms:modified xsi:type="dcterms:W3CDTF">2022-06-04T22:51:54Z</dcterms:modified>
</cp:coreProperties>
</file>