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289" r:id="rId8"/>
    <p:sldId id="290" r:id="rId9"/>
    <p:sldId id="308" r:id="rId10"/>
    <p:sldId id="288" r:id="rId11"/>
    <p:sldId id="316" r:id="rId12"/>
    <p:sldId id="313" r:id="rId13"/>
    <p:sldId id="326" r:id="rId14"/>
    <p:sldId id="327" r:id="rId15"/>
    <p:sldId id="329" r:id="rId16"/>
    <p:sldId id="328" r:id="rId17"/>
    <p:sldId id="325" r:id="rId18"/>
    <p:sldId id="331" r:id="rId19"/>
    <p:sldId id="332" r:id="rId20"/>
    <p:sldId id="333" r:id="rId21"/>
    <p:sldId id="314" r:id="rId22"/>
    <p:sldId id="315" r:id="rId23"/>
    <p:sldId id="330" r:id="rId24"/>
    <p:sldId id="302" r:id="rId25"/>
    <p:sldId id="303" r:id="rId26"/>
    <p:sldId id="309" r:id="rId27"/>
    <p:sldId id="306" r:id="rId28"/>
    <p:sldId id="307" r:id="rId29"/>
    <p:sldId id="310" r:id="rId30"/>
  </p:sldIdLst>
  <p:sldSz cx="12192000" cy="6858000"/>
  <p:notesSz cx="6858000" cy="9144000"/>
  <p:embeddedFontLst>
    <p:embeddedFont>
      <p:font typeface="Arial Black" panose="020B0A04020102020204" pitchFamily="34" charset="0"/>
      <p:bold r:id="rId32"/>
    </p:embeddedFont>
    <p:embeddedFont>
      <p:font typeface="Calibri" panose="020F0502020204030204" pitchFamily="34"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42066"/>
    <p:restoredTop sz="94662"/>
  </p:normalViewPr>
  <p:slideViewPr>
    <p:cSldViewPr snapToGrid="0">
      <p:cViewPr varScale="1">
        <p:scale>
          <a:sx n="64" d="100"/>
          <a:sy n="64" d="100"/>
        </p:scale>
        <p:origin x="102" y="120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871366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384893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3011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45825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6948158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0233128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735750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066176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1095998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54045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40.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9.png"/><Relationship Id="rId7"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6</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Finding the Perimeter and Area of Rectangles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228"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279" name="Google Shape;279;g104476d1465_1_17"/>
          <p:cNvSpPr txBox="1">
            <a:spLocks noGrp="1"/>
          </p:cNvSpPr>
          <p:nvPr>
            <p:ph type="title" idx="4294967295"/>
          </p:nvPr>
        </p:nvSpPr>
        <p:spPr>
          <a:xfrm>
            <a:off x="1233900" y="74880"/>
            <a:ext cx="10694397"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514" y="269559"/>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8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691793" y="1400580"/>
            <a:ext cx="10808413" cy="467731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buSzPts val="1100"/>
              <a:buNone/>
            </a:pPr>
            <a:r>
              <a:rPr lang="en-US" sz="3500" dirty="0">
                <a:solidFill>
                  <a:schemeClr val="tx1"/>
                </a:solidFill>
                <a:latin typeface="Verdana"/>
                <a:ea typeface="Verdana"/>
                <a:cs typeface="Verdana"/>
                <a:sym typeface="Verdana"/>
              </a:rPr>
              <a:t>MA.5.GR.2.1 </a:t>
            </a:r>
          </a:p>
          <a:p>
            <a:pPr indent="0">
              <a:lnSpc>
                <a:spcPct val="100000"/>
              </a:lnSpc>
              <a:buSzPts val="1100"/>
              <a:buNone/>
            </a:pPr>
            <a:r>
              <a:rPr lang="en-US" sz="3500" dirty="0">
                <a:solidFill>
                  <a:schemeClr val="tx1"/>
                </a:solidFill>
                <a:latin typeface="Verdana"/>
                <a:ea typeface="Verdana"/>
                <a:cs typeface="Verdana"/>
                <a:sym typeface="Verdana"/>
              </a:rPr>
              <a:t>Find the perimeter and area of a rectangle with fractional or decimal side lengths using visual models and formulas. </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473206" y="14134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199507"/>
            <a:ext cx="563850" cy="658368"/>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349226" y="28332"/>
            <a:ext cx="1053797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380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664200" y="1458055"/>
            <a:ext cx="11079162" cy="49996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3900" y="-8225"/>
            <a:ext cx="106032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24651"/>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380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869429" y="1548829"/>
            <a:ext cx="978857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7063" indent="-627063">
              <a:buClr>
                <a:srgbClr val="434343"/>
              </a:buClr>
              <a:buSzPts val="3500"/>
              <a:buFont typeface="Verdana"/>
              <a:buChar char="❏"/>
            </a:pPr>
            <a:r>
              <a:rPr lang="en-US" sz="3500" dirty="0">
                <a:solidFill>
                  <a:schemeClr val="tx1"/>
                </a:solidFill>
                <a:latin typeface="Verdana"/>
                <a:ea typeface="Verdana"/>
                <a:cs typeface="Verdana"/>
                <a:sym typeface="Verdana"/>
              </a:rPr>
              <a:t>I can find the perimeter and area of a rectangle with fractional side lengths. </a:t>
            </a:r>
          </a:p>
          <a:p>
            <a:pPr marL="627063" indent="-627063">
              <a:buClr>
                <a:srgbClr val="434343"/>
              </a:buClr>
              <a:buSzPts val="3500"/>
              <a:buFont typeface="Verdana"/>
              <a:buChar char="❏"/>
            </a:pPr>
            <a:endParaRPr lang="en-US" sz="3500" dirty="0">
              <a:solidFill>
                <a:schemeClr val="tx1"/>
              </a:solidFill>
              <a:latin typeface="Verdana"/>
              <a:ea typeface="Verdana"/>
              <a:cs typeface="Verdana"/>
              <a:sym typeface="Verdana"/>
            </a:endParaRPr>
          </a:p>
          <a:p>
            <a:pPr marL="627063" indent="-620713">
              <a:buClr>
                <a:srgbClr val="434343"/>
              </a:buClr>
              <a:buSzPts val="3500"/>
              <a:buFont typeface="Verdana"/>
              <a:buChar char="❏"/>
            </a:pPr>
            <a:r>
              <a:rPr lang="en-US" sz="3500" dirty="0">
                <a:solidFill>
                  <a:schemeClr val="tx1"/>
                </a:solidFill>
                <a:latin typeface="Verdana"/>
                <a:ea typeface="Verdana"/>
                <a:cs typeface="Verdana"/>
                <a:sym typeface="Verdana"/>
              </a:rPr>
              <a:t>I can find the perimeter and area of a rectangle with decimal side lengths. </a:t>
            </a: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712035"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89691" y="41256"/>
            <a:ext cx="1069271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1.6.1 Warm-Up: 24 Lines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529377" y="173339"/>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25051"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2060448" y="1386026"/>
                <a:ext cx="8327136" cy="489364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Use only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24</m:t>
                    </m:r>
                  </m:oMath>
                </a14:m>
                <a:r>
                  <a:rPr lang="en-US" sz="2400" dirty="0">
                    <a:latin typeface="Verdana" panose="020B0604030504040204" pitchFamily="34" charset="0"/>
                    <a:ea typeface="Verdana" panose="020B0604030504040204" pitchFamily="34" charset="0"/>
                    <a:cs typeface="Verdana" panose="020B0604030504040204" pitchFamily="34" charset="0"/>
                  </a:rPr>
                  <a:t> of the gridlines to draw a rectangle.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many different rectangles do you think can be drawn using only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24</m:t>
                    </m:r>
                  </m:oMath>
                </a14:m>
                <a:r>
                  <a:rPr lang="en-US" sz="2400" dirty="0">
                    <a:latin typeface="Verdana" panose="020B0604030504040204" pitchFamily="34" charset="0"/>
                    <a:ea typeface="Verdana" panose="020B0604030504040204" pitchFamily="34" charset="0"/>
                    <a:cs typeface="Verdana" panose="020B0604030504040204" pitchFamily="34" charset="0"/>
                  </a:rPr>
                  <a:t> of the gridlines?</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2060448" y="1386026"/>
                <a:ext cx="8327136" cy="4893647"/>
              </a:xfrm>
              <a:prstGeom prst="rect">
                <a:avLst/>
              </a:prstGeom>
              <a:blipFill>
                <a:blip r:embed="rId5"/>
                <a:stretch>
                  <a:fillRect l="-1220" t="-775"/>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2E26B32-0C88-7847-9ECA-D11545A204F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5" name="Picture 4" descr="A picture containing text, shoji&#10;&#10;Description automatically generated">
            <a:extLst>
              <a:ext uri="{FF2B5EF4-FFF2-40B4-BE49-F238E27FC236}">
                <a16:creationId xmlns:a16="http://schemas.microsoft.com/office/drawing/2014/main" id="{57E4B558-EECB-C847-9245-282A991AF9B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823716" y="1827265"/>
            <a:ext cx="4800600" cy="310896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2861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255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07483" y="0"/>
            <a:ext cx="1084410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1.6.2 Guided Instruction: Finding Perimeter and Area</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94524" y="130278"/>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17518" y="64796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a:t>
            </a:r>
            <a:endParaRPr i="1" dirty="0">
              <a:latin typeface="Calibri"/>
              <a:ea typeface="Calibri"/>
              <a:cs typeface="Calibri"/>
              <a:sym typeface="Calibri"/>
            </a:endParaRPr>
          </a:p>
        </p:txBody>
      </p:sp>
      <p:sp>
        <p:nvSpPr>
          <p:cNvPr id="13" name="TextBox 12">
            <a:extLst>
              <a:ext uri="{FF2B5EF4-FFF2-40B4-BE49-F238E27FC236}">
                <a16:creationId xmlns:a16="http://schemas.microsoft.com/office/drawing/2014/main" id="{C01B13E8-EC8D-E443-A329-C5E3593DD13A}"/>
              </a:ext>
            </a:extLst>
          </p:cNvPr>
          <p:cNvSpPr txBox="1"/>
          <p:nvPr/>
        </p:nvSpPr>
        <p:spPr>
          <a:xfrm>
            <a:off x="1141824" y="1216649"/>
            <a:ext cx="8327136" cy="5262979"/>
          </a:xfrm>
          <a:prstGeom prst="rect">
            <a:avLst/>
          </a:prstGeom>
          <a:noFill/>
        </p:spPr>
        <p:txBody>
          <a:bodyPr wrap="square" rtlCol="0">
            <a:spAutoFit/>
          </a:bodyPr>
          <a:lstStyle/>
          <a:p>
            <a:r>
              <a:rPr lang="en-US" sz="2400" b="1" i="1" dirty="0">
                <a:latin typeface="Verdana" panose="020B0604030504040204" pitchFamily="34" charset="0"/>
                <a:ea typeface="Verdana" panose="020B0604030504040204" pitchFamily="34" charset="0"/>
                <a:cs typeface="Verdana" panose="020B0604030504040204" pitchFamily="34" charset="0"/>
              </a:rPr>
              <a:t>Perimeter</a:t>
            </a:r>
            <a:r>
              <a:rPr lang="en-US" sz="2400" dirty="0">
                <a:latin typeface="Verdana" panose="020B0604030504040204" pitchFamily="34" charset="0"/>
                <a:ea typeface="Verdana" panose="020B0604030504040204" pitchFamily="34" charset="0"/>
                <a:cs typeface="Verdana" panose="020B0604030504040204" pitchFamily="34" charset="0"/>
              </a:rPr>
              <a:t> is the distance around a </a:t>
            </a:r>
          </a:p>
          <a:p>
            <a:r>
              <a:rPr lang="en-US" sz="2400" dirty="0">
                <a:latin typeface="Verdana" panose="020B0604030504040204" pitchFamily="34" charset="0"/>
                <a:ea typeface="Verdana" panose="020B0604030504040204" pitchFamily="34" charset="0"/>
                <a:cs typeface="Verdana" panose="020B0604030504040204" pitchFamily="34" charset="0"/>
              </a:rPr>
              <a:t>polygon.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One way to find the perimeter is to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count the gridlines of the unit squares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around the border.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is the perimeter of the </a:t>
            </a:r>
          </a:p>
          <a:p>
            <a:pPr indent="457200"/>
            <a:r>
              <a:rPr lang="en-US" sz="2400" dirty="0">
                <a:latin typeface="Verdana" panose="020B0604030504040204" pitchFamily="34" charset="0"/>
                <a:ea typeface="Verdana" panose="020B0604030504040204" pitchFamily="34" charset="0"/>
                <a:cs typeface="Verdana" panose="020B0604030504040204" pitchFamily="34" charset="0"/>
              </a:rPr>
              <a:t>rectangle?</a:t>
            </a:r>
          </a:p>
          <a:p>
            <a:pPr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why the strategy of counting gridlines to find the perimeter of the trapezoid or triangle cannot be used.</a:t>
            </a:r>
          </a:p>
        </p:txBody>
      </p:sp>
      <p:sp>
        <p:nvSpPr>
          <p:cNvPr id="8" name="Google Shape;278;g104476d1465_1_17">
            <a:extLst>
              <a:ext uri="{FF2B5EF4-FFF2-40B4-BE49-F238E27FC236}">
                <a16:creationId xmlns:a16="http://schemas.microsoft.com/office/drawing/2014/main" id="{7D185CEC-69E3-ED4E-87D7-D8AED7B32136}"/>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0081B2AB-05AE-4F3B-8114-7C0E8723D04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318382" y="1205780"/>
            <a:ext cx="2216237" cy="3949018"/>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560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438597" y="227100"/>
            <a:ext cx="11471478" cy="3046988"/>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To find the perimeter of a polygon, </a:t>
            </a: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					 the lengths of all the sides.</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Some polygons have a formula that can be used to find the perimeter. Different figures have different formulas for perimeter. </a:t>
            </a:r>
          </a:p>
        </p:txBody>
      </p:sp>
      <p:sp>
        <p:nvSpPr>
          <p:cNvPr id="6" name="Google Shape;278;g104476d1465_1_17">
            <a:extLst>
              <a:ext uri="{FF2B5EF4-FFF2-40B4-BE49-F238E27FC236}">
                <a16:creationId xmlns:a16="http://schemas.microsoft.com/office/drawing/2014/main" id="{6B29BDED-917F-0645-8F07-B04061D83C61}"/>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ounded Rectangle 7"/>
              <p:cNvSpPr/>
              <p:nvPr/>
            </p:nvSpPr>
            <p:spPr>
              <a:xfrm>
                <a:off x="2859636" y="4230057"/>
                <a:ext cx="6629400" cy="182177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0" rIns="91425" bIns="0" anchor="ctr" anchorCtr="0">
                <a:spAutoFit/>
              </a:bodyPr>
              <a:lstStyle/>
              <a:p>
                <a:pPr marL="685800">
                  <a:lnSpc>
                    <a:spcPct val="107000"/>
                  </a:lnSpc>
                </a:pPr>
                <a:r>
                  <a:rPr lang="en-US" sz="2000" b="1" i="1" dirty="0">
                    <a:solidFill>
                      <a:srgbClr val="6C993D"/>
                    </a:solidFill>
                    <a:latin typeface="Verdana" pitchFamily="34" charset="0"/>
                    <a:ea typeface="Verdana" pitchFamily="34" charset="0"/>
                    <a:cs typeface="Times New Roman"/>
                  </a:rPr>
                  <a:t>Perimeter (of a polygon)</a:t>
                </a:r>
                <a:r>
                  <a:rPr lang="en-US" sz="2000" dirty="0">
                    <a:solidFill>
                      <a:srgbClr val="6C993D"/>
                    </a:solidFill>
                    <a:latin typeface="Verdana" pitchFamily="34" charset="0"/>
                    <a:ea typeface="Verdana" pitchFamily="34" charset="0"/>
                    <a:cs typeface="Times New Roman"/>
                  </a:rPr>
                  <a:t> is the sum of the side lengths of a polygon. </a:t>
                </a:r>
                <a:endParaRPr lang="en-PH" sz="2000" i="1" dirty="0">
                  <a:latin typeface="Verdana" pitchFamily="34" charset="0"/>
                  <a:ea typeface="Verdana" pitchFamily="34" charset="0"/>
                  <a:cs typeface="Cambria Math"/>
                </a:endParaRPr>
              </a:p>
              <a:p>
                <a:pPr marL="685800">
                  <a:lnSpc>
                    <a:spcPct val="107000"/>
                  </a:lnSpc>
                </a:pPr>
                <a:r>
                  <a:rPr lang="en-US" sz="2000" dirty="0">
                    <a:solidFill>
                      <a:srgbClr val="6C993D"/>
                    </a:solidFill>
                    <a:latin typeface="Verdana" pitchFamily="34" charset="0"/>
                    <a:ea typeface="Verdana" pitchFamily="34" charset="0"/>
                    <a:cs typeface="Times New Roman"/>
                  </a:rPr>
                  <a:t> </a:t>
                </a:r>
                <a:endParaRPr lang="en-PH" sz="2000" i="1" dirty="0">
                  <a:latin typeface="Verdana" pitchFamily="34" charset="0"/>
                  <a:ea typeface="Verdana" pitchFamily="34" charset="0"/>
                  <a:cs typeface="Cambria Math"/>
                </a:endParaRPr>
              </a:p>
              <a:p>
                <a:pPr marL="685800">
                  <a:lnSpc>
                    <a:spcPct val="107000"/>
                  </a:lnSpc>
                </a:pPr>
                <a:r>
                  <a:rPr lang="en-US" sz="2000" dirty="0">
                    <a:solidFill>
                      <a:srgbClr val="6C993D"/>
                    </a:solidFill>
                    <a:latin typeface="Verdana" pitchFamily="34" charset="0"/>
                    <a:ea typeface="Verdana" pitchFamily="34" charset="0"/>
                    <a:cs typeface="Times New Roman"/>
                  </a:rPr>
                  <a:t>Rectangle: </a:t>
                </a:r>
                <a14:m>
                  <m:oMath xmlns:m="http://schemas.openxmlformats.org/officeDocument/2006/math">
                    <m:r>
                      <a:rPr lang="en-US" sz="2000" i="1">
                        <a:solidFill>
                          <a:srgbClr val="6C993D"/>
                        </a:solidFill>
                        <a:latin typeface="Cambria Math"/>
                        <a:ea typeface="Times New Roman"/>
                        <a:cs typeface="Times New Roman"/>
                      </a:rPr>
                      <m:t> </m:t>
                    </m:r>
                    <m:r>
                      <a:rPr lang="en-US" sz="2000" i="1">
                        <a:solidFill>
                          <a:srgbClr val="6C993D"/>
                        </a:solidFill>
                        <a:latin typeface="Cambria Math"/>
                        <a:ea typeface="Cambria Math"/>
                        <a:cs typeface="Cambria Math"/>
                      </a:rPr>
                      <m:t>𝑃</m:t>
                    </m:r>
                    <m:r>
                      <a:rPr lang="en-US" sz="2000" i="1">
                        <a:solidFill>
                          <a:srgbClr val="6C993D"/>
                        </a:solidFill>
                        <a:latin typeface="Cambria Math"/>
                        <a:ea typeface="Cambria Math"/>
                        <a:cs typeface="Cambria Math"/>
                      </a:rPr>
                      <m:t>=2</m:t>
                    </m:r>
                    <m:r>
                      <a:rPr lang="en-US" sz="2000" i="1">
                        <a:solidFill>
                          <a:srgbClr val="6C993D"/>
                        </a:solidFill>
                        <a:latin typeface="Cambria Math"/>
                        <a:ea typeface="Cambria Math"/>
                        <a:cs typeface="Cambria Math"/>
                      </a:rPr>
                      <m:t>𝑙</m:t>
                    </m:r>
                    <m:r>
                      <a:rPr lang="en-US" sz="2000" i="1">
                        <a:solidFill>
                          <a:srgbClr val="6C993D"/>
                        </a:solidFill>
                        <a:latin typeface="Cambria Math"/>
                        <a:ea typeface="Cambria Math"/>
                        <a:cs typeface="Cambria Math"/>
                      </a:rPr>
                      <m:t>+2</m:t>
                    </m:r>
                    <m:r>
                      <a:rPr lang="en-US" sz="2000" i="1">
                        <a:solidFill>
                          <a:srgbClr val="6C993D"/>
                        </a:solidFill>
                        <a:latin typeface="Cambria Math"/>
                        <a:ea typeface="Cambria Math"/>
                        <a:cs typeface="Cambria Math"/>
                      </a:rPr>
                      <m:t>𝑤</m:t>
                    </m:r>
                  </m:oMath>
                </a14:m>
                <a:r>
                  <a:rPr lang="en-US" sz="2000" dirty="0">
                    <a:solidFill>
                      <a:srgbClr val="6C993D"/>
                    </a:solidFill>
                    <a:latin typeface="Verdana" pitchFamily="34" charset="0"/>
                    <a:ea typeface="Verdana" pitchFamily="34" charset="0"/>
                    <a:cs typeface="Cambria Math"/>
                  </a:rPr>
                  <a:t>  </a:t>
                </a:r>
                <a:endParaRPr lang="en-PH" sz="2000" i="1" dirty="0">
                  <a:latin typeface="Verdana" pitchFamily="34" charset="0"/>
                  <a:ea typeface="Verdana" pitchFamily="34" charset="0"/>
                  <a:cs typeface="Cambria Math"/>
                </a:endParaRPr>
              </a:p>
              <a:p>
                <a:pPr marL="685800">
                  <a:lnSpc>
                    <a:spcPct val="107000"/>
                  </a:lnSpc>
                </a:pPr>
                <a:r>
                  <a:rPr lang="en-US" sz="2000" dirty="0">
                    <a:solidFill>
                      <a:srgbClr val="6C993D"/>
                    </a:solidFill>
                    <a:latin typeface="Verdana" pitchFamily="34" charset="0"/>
                    <a:ea typeface="Verdana" pitchFamily="34" charset="0"/>
                    <a:cs typeface="Cambria Math"/>
                  </a:rPr>
                  <a:t>where </a:t>
                </a:r>
                <a14:m>
                  <m:oMath xmlns:m="http://schemas.openxmlformats.org/officeDocument/2006/math">
                    <m:r>
                      <a:rPr lang="en-US" sz="2000" i="1">
                        <a:solidFill>
                          <a:srgbClr val="6C993D"/>
                        </a:solidFill>
                        <a:latin typeface="Cambria Math"/>
                        <a:ea typeface="Cambria Math"/>
                        <a:cs typeface="Cambria Math"/>
                      </a:rPr>
                      <m:t>𝑙</m:t>
                    </m:r>
                    <m:r>
                      <a:rPr lang="en-US" sz="2000" i="1">
                        <a:solidFill>
                          <a:srgbClr val="6C993D"/>
                        </a:solidFill>
                        <a:latin typeface="Cambria Math"/>
                        <a:ea typeface="Cambria Math"/>
                        <a:cs typeface="Cambria Math"/>
                      </a:rPr>
                      <m:t> </m:t>
                    </m:r>
                  </m:oMath>
                </a14:m>
                <a:r>
                  <a:rPr lang="en-US" sz="2000" dirty="0">
                    <a:solidFill>
                      <a:srgbClr val="6C993D"/>
                    </a:solidFill>
                    <a:latin typeface="Verdana" pitchFamily="34" charset="0"/>
                    <a:ea typeface="Verdana" pitchFamily="34" charset="0"/>
                    <a:cs typeface="Cambria Math"/>
                  </a:rPr>
                  <a:t>is the length and </a:t>
                </a:r>
                <a14:m>
                  <m:oMath xmlns:m="http://schemas.openxmlformats.org/officeDocument/2006/math">
                    <m:r>
                      <a:rPr lang="en-US" sz="2000" i="1">
                        <a:solidFill>
                          <a:srgbClr val="6C993D"/>
                        </a:solidFill>
                        <a:latin typeface="Cambria Math"/>
                        <a:ea typeface="Cambria Math"/>
                        <a:cs typeface="Cambria Math"/>
                      </a:rPr>
                      <m:t>𝑤</m:t>
                    </m:r>
                  </m:oMath>
                </a14:m>
                <a:r>
                  <a:rPr lang="en-US" sz="2000" dirty="0">
                    <a:solidFill>
                      <a:srgbClr val="6C993D"/>
                    </a:solidFill>
                    <a:latin typeface="Verdana" pitchFamily="34" charset="0"/>
                    <a:ea typeface="Verdana" pitchFamily="34" charset="0"/>
                    <a:cs typeface="Cambria Math"/>
                  </a:rPr>
                  <a:t> is the width</a:t>
                </a:r>
              </a:p>
            </p:txBody>
          </p:sp>
        </mc:Choice>
        <mc:Fallback xmlns="">
          <p:sp>
            <p:nvSpPr>
              <p:cNvPr id="8" name="Rounded Rectangle 7"/>
              <p:cNvSpPr>
                <a:spLocks noRot="1" noChangeAspect="1" noMove="1" noResize="1" noEditPoints="1" noAdjustHandles="1" noChangeArrowheads="1" noChangeShapeType="1" noTextEdit="1"/>
              </p:cNvSpPr>
              <p:nvPr/>
            </p:nvSpPr>
            <p:spPr>
              <a:xfrm>
                <a:off x="2859636" y="4230057"/>
                <a:ext cx="6629400" cy="1821775"/>
              </a:xfrm>
              <a:prstGeom prst="roundRect">
                <a:avLst>
                  <a:gd name="adj" fmla="val 16667"/>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3" name="Shape 7" descr="Icon&#10;&#10;Description automatically generated"/>
          <p:cNvPicPr/>
          <p:nvPr/>
        </p:nvPicPr>
        <p:blipFill rotWithShape="1">
          <a:blip r:embed="rId5" cstate="screen">
            <a:alphaModFix/>
            <a:extLst>
              <a:ext uri="{28A0092B-C50C-407E-A947-70E740481C1C}">
                <a14:useLocalDpi xmlns:a14="http://schemas.microsoft.com/office/drawing/2010/main"/>
              </a:ext>
            </a:extLst>
          </a:blip>
          <a:srcRect/>
          <a:stretch/>
        </p:blipFill>
        <p:spPr>
          <a:xfrm>
            <a:off x="3015001" y="4573360"/>
            <a:ext cx="539115" cy="539115"/>
          </a:xfrm>
          <a:prstGeom prst="rect">
            <a:avLst/>
          </a:prstGeom>
          <a:noFill/>
          <a:ln>
            <a:noFill/>
          </a:ln>
          <a:effectLst>
            <a:outerShdw blurRad="50800" dist="38100" dir="2700000" algn="tl" rotWithShape="0">
              <a:prstClr val="black">
                <a:alpha val="40000"/>
              </a:prstClr>
            </a:outerShdw>
          </a:effectLst>
        </p:spPr>
      </p:pic>
      <p:sp>
        <p:nvSpPr>
          <p:cNvPr id="14" name="Rectangle: Rounded Corners 1"/>
          <p:cNvSpPr/>
          <p:nvPr/>
        </p:nvSpPr>
        <p:spPr>
          <a:xfrm>
            <a:off x="990982" y="813737"/>
            <a:ext cx="4048037" cy="99902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44000" tIns="36000" rIns="0" bIns="72000" numCol="2" spcCol="0" rtlCol="0" fromWordArt="0" anchor="ctr" anchorCtr="0" forceAA="0" compatLnSpc="1">
            <a:prstTxWarp prst="textNoShape">
              <a:avLst/>
            </a:prstTxWarp>
            <a:noAutofit/>
          </a:bodyPr>
          <a:lstStyle/>
          <a:p>
            <a:pPr marL="280670" indent="-285750">
              <a:lnSpc>
                <a:spcPct val="115000"/>
              </a:lnSpc>
              <a:buFont typeface="Courier New" pitchFamily="49" charset="0"/>
              <a:buChar char="o"/>
            </a:pPr>
            <a:r>
              <a:rPr lang="en-US" sz="2400" dirty="0">
                <a:solidFill>
                  <a:srgbClr val="000000"/>
                </a:solidFill>
                <a:latin typeface="Verdana"/>
                <a:ea typeface="Cambria Math"/>
                <a:cs typeface="Cambria Math"/>
              </a:rPr>
              <a:t>add</a:t>
            </a:r>
            <a:endParaRPr lang="en-PH" sz="2400" i="1" dirty="0">
              <a:latin typeface="Cambria Math"/>
              <a:ea typeface="Cambria Math"/>
              <a:cs typeface="Cambria Math"/>
            </a:endParaRPr>
          </a:p>
          <a:p>
            <a:pPr marL="285750" indent="-285750">
              <a:lnSpc>
                <a:spcPct val="115000"/>
              </a:lnSpc>
              <a:buFont typeface="Courier New" pitchFamily="49" charset="0"/>
              <a:buChar char="o"/>
            </a:pPr>
            <a:r>
              <a:rPr lang="en-US" sz="2400" dirty="0">
                <a:solidFill>
                  <a:srgbClr val="000000"/>
                </a:solidFill>
                <a:latin typeface="Verdana"/>
                <a:ea typeface="Cambria Math"/>
                <a:cs typeface="Cambria Math"/>
              </a:rPr>
              <a:t>subtract</a:t>
            </a:r>
          </a:p>
          <a:p>
            <a:pPr marL="285750" indent="-285750">
              <a:lnSpc>
                <a:spcPct val="115000"/>
              </a:lnSpc>
              <a:buFont typeface="Courier New" pitchFamily="49" charset="0"/>
              <a:buChar char="o"/>
            </a:pPr>
            <a:r>
              <a:rPr lang="en-US" sz="2400" dirty="0">
                <a:solidFill>
                  <a:srgbClr val="000000"/>
                </a:solidFill>
                <a:latin typeface="Verdana"/>
                <a:ea typeface="Cambria Math"/>
                <a:cs typeface="Cambria Math"/>
              </a:rPr>
              <a:t>multiply</a:t>
            </a:r>
            <a:endParaRPr lang="en-PH" sz="2400" i="1" dirty="0">
              <a:latin typeface="Cambria Math"/>
              <a:ea typeface="Cambria Math"/>
              <a:cs typeface="Cambria Math"/>
            </a:endParaRPr>
          </a:p>
          <a:p>
            <a:pPr marL="295275" indent="-285750">
              <a:lnSpc>
                <a:spcPct val="115000"/>
              </a:lnSpc>
              <a:buFont typeface="Courier New" pitchFamily="49" charset="0"/>
              <a:buChar char="o"/>
            </a:pPr>
            <a:r>
              <a:rPr lang="en-US" sz="2400" dirty="0">
                <a:solidFill>
                  <a:srgbClr val="000000"/>
                </a:solidFill>
                <a:latin typeface="Verdana"/>
                <a:ea typeface="Cambria Math"/>
                <a:cs typeface="Cambria Math"/>
              </a:rPr>
              <a:t>divide</a:t>
            </a:r>
            <a:endParaRPr lang="en-PH" sz="2400" i="1" dirty="0">
              <a:latin typeface="Cambria Math"/>
              <a:ea typeface="Cambria Math"/>
              <a:cs typeface="Cambria Math"/>
            </a:endParaRPr>
          </a:p>
        </p:txBody>
      </p:sp>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83955" y="649174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58833" y="328774"/>
                <a:ext cx="10969317" cy="4893647"/>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Consider the following rectangle below.</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the rectangle to discuss with your partner why the formula shows that both the length and the width are multiplied by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58833" y="328774"/>
                <a:ext cx="10969317" cy="4893647"/>
              </a:xfrm>
              <a:prstGeom prst="rect">
                <a:avLst/>
              </a:prstGeom>
              <a:blipFill>
                <a:blip r:embed="rId4"/>
                <a:stretch>
                  <a:fillRect l="-809" t="-775" r="-694" b="-180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85F77CB-5FF9-E743-9AA8-B4C11C925C98}"/>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 name="Picture 1">
            <a:extLst>
              <a:ext uri="{FF2B5EF4-FFF2-40B4-BE49-F238E27FC236}">
                <a16:creationId xmlns:a16="http://schemas.microsoft.com/office/drawing/2014/main" id="{85BF1733-19CB-467D-84ED-8BC79882E468}"/>
              </a:ext>
            </a:extLst>
          </p:cNvPr>
          <p:cNvPicPr>
            <a:picLocks noChangeAspect="1"/>
          </p:cNvPicPr>
          <p:nvPr/>
        </p:nvPicPr>
        <p:blipFill>
          <a:blip r:embed="rId5"/>
          <a:stretch>
            <a:fillRect/>
          </a:stretch>
        </p:blipFill>
        <p:spPr>
          <a:xfrm>
            <a:off x="4479472" y="1025200"/>
            <a:ext cx="2848027" cy="3115912"/>
          </a:xfrm>
          <a:prstGeom prst="rect">
            <a:avLst/>
          </a:prstGeom>
        </p:spPr>
      </p:pic>
    </p:spTree>
    <p:extLst>
      <p:ext uri="{BB962C8B-B14F-4D97-AF65-F5344CB8AC3E}">
        <p14:creationId xmlns:p14="http://schemas.microsoft.com/office/powerpoint/2010/main" val="2598233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6421"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503434" y="164388"/>
                <a:ext cx="11496782" cy="5262979"/>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perimeter of the rectangle?</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If each gridline has a length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centimeter (cm), write the perimeter of the figure using units.</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b="1" i="1" dirty="0">
                    <a:latin typeface="Verdana" panose="020B0604030504040204" pitchFamily="34" charset="0"/>
                    <a:ea typeface="Verdana" panose="020B0604030504040204" pitchFamily="34" charset="0"/>
                    <a:cs typeface="Verdana" panose="020B0604030504040204" pitchFamily="34" charset="0"/>
                  </a:rPr>
                  <a:t>Area</a:t>
                </a:r>
                <a:r>
                  <a:rPr lang="en-US" sz="2400" dirty="0">
                    <a:latin typeface="Verdana" panose="020B0604030504040204" pitchFamily="34" charset="0"/>
                    <a:ea typeface="Verdana" panose="020B0604030504040204" pitchFamily="34" charset="0"/>
                    <a:cs typeface="Verdana" panose="020B0604030504040204" pitchFamily="34" charset="0"/>
                  </a:rPr>
                  <a:t> is the number of unit squares that are needed to cover a space. One way to find the area of the above figure would be to count the unit squares in the figure.</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03434" y="164388"/>
                <a:ext cx="11496782" cy="5262979"/>
              </a:xfrm>
              <a:prstGeom prst="rect">
                <a:avLst/>
              </a:prstGeom>
              <a:blipFill>
                <a:blip r:embed="rId4"/>
                <a:stretch>
                  <a:fillRect l="-772" t="-721" b="-168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251846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07244" y="648144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949527" y="451287"/>
            <a:ext cx="8327136" cy="4524315"/>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why counting</a:t>
            </a:r>
          </a:p>
          <a:p>
            <a:pPr marL="457200"/>
            <a:r>
              <a:rPr lang="en-US" sz="2400" dirty="0">
                <a:latin typeface="Verdana" panose="020B0604030504040204" pitchFamily="34" charset="0"/>
                <a:ea typeface="Verdana" panose="020B0604030504040204" pitchFamily="34" charset="0"/>
                <a:cs typeface="Verdana" panose="020B0604030504040204" pitchFamily="34" charset="0"/>
              </a:rPr>
              <a:t>unit squares to find the area of the </a:t>
            </a:r>
          </a:p>
          <a:p>
            <a:pPr marL="457200"/>
            <a:r>
              <a:rPr lang="en-US" sz="2400" dirty="0">
                <a:latin typeface="Verdana" panose="020B0604030504040204" pitchFamily="34" charset="0"/>
                <a:ea typeface="Verdana" panose="020B0604030504040204" pitchFamily="34" charset="0"/>
                <a:cs typeface="Verdana" panose="020B0604030504040204" pitchFamily="34" charset="0"/>
              </a:rPr>
              <a:t>trapezoid or triangle would be difficult.</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Some polygons have a formula that can be used to find the area. Other kinds of figures have different formulas for area. </a:t>
            </a:r>
          </a:p>
        </p:txBody>
      </p:sp>
      <p:sp>
        <p:nvSpPr>
          <p:cNvPr id="6" name="Google Shape;278;g104476d1465_1_17">
            <a:extLst>
              <a:ext uri="{FF2B5EF4-FFF2-40B4-BE49-F238E27FC236}">
                <a16:creationId xmlns:a16="http://schemas.microsoft.com/office/drawing/2014/main" id="{120769DD-BB28-C740-A6A6-8565E70B1E53}"/>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Chart, line chart&#10;&#10;Description automatically generated">
            <a:extLst>
              <a:ext uri="{FF2B5EF4-FFF2-40B4-BE49-F238E27FC236}">
                <a16:creationId xmlns:a16="http://schemas.microsoft.com/office/drawing/2014/main" id="{667E8312-1AFB-4AB9-8813-C8A68975B71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93869" y="451287"/>
            <a:ext cx="1833045" cy="3271216"/>
          </a:xfrm>
          <a:prstGeom prst="rect">
            <a:avLst/>
          </a:prstGeom>
        </p:spPr>
      </p:pic>
      <mc:AlternateContent xmlns:mc="http://schemas.openxmlformats.org/markup-compatibility/2006" xmlns:a14="http://schemas.microsoft.com/office/drawing/2010/main">
        <mc:Choice Requires="a14">
          <p:sp>
            <p:nvSpPr>
              <p:cNvPr id="8" name="Rounded Rectangle 7"/>
              <p:cNvSpPr/>
              <p:nvPr/>
            </p:nvSpPr>
            <p:spPr>
              <a:xfrm>
                <a:off x="2410153" y="5159923"/>
                <a:ext cx="7371693" cy="124679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36000" rIns="91425" bIns="0" anchor="ctr" anchorCtr="0">
                <a:spAutoFit/>
              </a:bodyPr>
              <a:lstStyle/>
              <a:p>
                <a:pPr marL="685800">
                  <a:lnSpc>
                    <a:spcPct val="107000"/>
                  </a:lnSpc>
                </a:pPr>
                <a:r>
                  <a:rPr lang="en-US" sz="2000" b="1" i="1" dirty="0">
                    <a:solidFill>
                      <a:srgbClr val="6C993D"/>
                    </a:solidFill>
                    <a:latin typeface="Verdana" pitchFamily="34" charset="0"/>
                    <a:ea typeface="Verdana" pitchFamily="34" charset="0"/>
                    <a:cs typeface="Times New Roman"/>
                  </a:rPr>
                  <a:t>Area of a rectangle</a:t>
                </a:r>
                <a:r>
                  <a:rPr lang="en-US" sz="2000" dirty="0">
                    <a:solidFill>
                      <a:srgbClr val="6C993D"/>
                    </a:solidFill>
                    <a:latin typeface="Verdana" pitchFamily="34" charset="0"/>
                    <a:ea typeface="Verdana" pitchFamily="34" charset="0"/>
                    <a:cs typeface="Times New Roman"/>
                  </a:rPr>
                  <a:t> </a:t>
                </a:r>
                <a:endParaRPr lang="en-PH" sz="2000" i="1" dirty="0">
                  <a:latin typeface="Verdana" pitchFamily="34" charset="0"/>
                  <a:ea typeface="Verdana" pitchFamily="34" charset="0"/>
                  <a:cs typeface="Cambria Math"/>
                </a:endParaRPr>
              </a:p>
              <a:p>
                <a:pPr marL="685800">
                  <a:lnSpc>
                    <a:spcPct val="107000"/>
                  </a:lnSpc>
                </a:pPr>
                <a:r>
                  <a:rPr lang="en-US" sz="2000" dirty="0">
                    <a:solidFill>
                      <a:srgbClr val="6C993D"/>
                    </a:solidFill>
                    <a:latin typeface="Verdana" pitchFamily="34" charset="0"/>
                    <a:ea typeface="Verdana" pitchFamily="34" charset="0"/>
                    <a:cs typeface="Times New Roman"/>
                  </a:rPr>
                  <a:t> </a:t>
                </a:r>
                <a:endParaRPr lang="en-PH" sz="2000" i="1" dirty="0">
                  <a:latin typeface="Verdana" pitchFamily="34" charset="0"/>
                  <a:ea typeface="Verdana" pitchFamily="34" charset="0"/>
                  <a:cs typeface="Cambria Math"/>
                </a:endParaRPr>
              </a:p>
              <a:p>
                <a:pPr marL="685800">
                  <a:lnSpc>
                    <a:spcPct val="107000"/>
                  </a:lnSpc>
                  <a:spcAft>
                    <a:spcPts val="800"/>
                  </a:spcAft>
                </a:pPr>
                <a14:m>
                  <m:oMath xmlns:m="http://schemas.openxmlformats.org/officeDocument/2006/math">
                    <m:r>
                      <a:rPr lang="en-US" sz="2000" i="1">
                        <a:solidFill>
                          <a:srgbClr val="6C993D"/>
                        </a:solidFill>
                        <a:latin typeface="Cambria Math"/>
                        <a:ea typeface="Cambria Math"/>
                        <a:cs typeface="Cambria Math"/>
                      </a:rPr>
                      <m:t>𝐴</m:t>
                    </m:r>
                    <m:r>
                      <a:rPr lang="en-US" sz="2000" i="1">
                        <a:solidFill>
                          <a:srgbClr val="6C993D"/>
                        </a:solidFill>
                        <a:latin typeface="Cambria Math"/>
                        <a:ea typeface="Cambria Math"/>
                        <a:cs typeface="Cambria Math"/>
                      </a:rPr>
                      <m:t>=</m:t>
                    </m:r>
                    <m:r>
                      <a:rPr lang="en-US" sz="2000" i="1">
                        <a:solidFill>
                          <a:srgbClr val="6C993D"/>
                        </a:solidFill>
                        <a:latin typeface="Cambria Math"/>
                        <a:ea typeface="Cambria Math"/>
                        <a:cs typeface="Cambria Math"/>
                      </a:rPr>
                      <m:t>𝑙</m:t>
                    </m:r>
                    <m:r>
                      <a:rPr lang="en-US" sz="2000" i="1">
                        <a:solidFill>
                          <a:srgbClr val="6C993D"/>
                        </a:solidFill>
                        <a:latin typeface="Cambria Math"/>
                        <a:ea typeface="Times New Roman"/>
                        <a:cs typeface="Times New Roman"/>
                      </a:rPr>
                      <m:t>∙</m:t>
                    </m:r>
                    <m:r>
                      <a:rPr lang="en-US" sz="2000" i="1">
                        <a:solidFill>
                          <a:srgbClr val="6C993D"/>
                        </a:solidFill>
                        <a:latin typeface="Cambria Math"/>
                        <a:ea typeface="Cambria Math"/>
                        <a:cs typeface="Cambria Math"/>
                      </a:rPr>
                      <m:t>𝑤</m:t>
                    </m:r>
                  </m:oMath>
                </a14:m>
                <a:r>
                  <a:rPr lang="en-US" sz="2000" dirty="0">
                    <a:solidFill>
                      <a:srgbClr val="6C993D"/>
                    </a:solidFill>
                    <a:latin typeface="Verdana" pitchFamily="34" charset="0"/>
                    <a:ea typeface="Verdana" pitchFamily="34" charset="0"/>
                    <a:cs typeface="Cambria Math"/>
                  </a:rPr>
                  <a:t>  where </a:t>
                </a:r>
                <a14:m>
                  <m:oMath xmlns:m="http://schemas.openxmlformats.org/officeDocument/2006/math">
                    <m:r>
                      <a:rPr lang="en-US" sz="2000" i="1">
                        <a:solidFill>
                          <a:srgbClr val="6C993D"/>
                        </a:solidFill>
                        <a:latin typeface="Cambria Math"/>
                        <a:ea typeface="Cambria Math"/>
                        <a:cs typeface="Cambria Math"/>
                      </a:rPr>
                      <m:t>𝑙</m:t>
                    </m:r>
                    <m:r>
                      <a:rPr lang="en-US" sz="2000" i="1">
                        <a:solidFill>
                          <a:srgbClr val="6C993D"/>
                        </a:solidFill>
                        <a:latin typeface="Cambria Math"/>
                        <a:ea typeface="Cambria Math"/>
                        <a:cs typeface="Cambria Math"/>
                      </a:rPr>
                      <m:t> </m:t>
                    </m:r>
                  </m:oMath>
                </a14:m>
                <a:r>
                  <a:rPr lang="en-US" sz="2000" dirty="0">
                    <a:solidFill>
                      <a:srgbClr val="6C993D"/>
                    </a:solidFill>
                    <a:latin typeface="Verdana" pitchFamily="34" charset="0"/>
                    <a:ea typeface="Verdana" pitchFamily="34" charset="0"/>
                    <a:cs typeface="Cambria Math"/>
                  </a:rPr>
                  <a:t>is the length and </a:t>
                </a:r>
                <a14:m>
                  <m:oMath xmlns:m="http://schemas.openxmlformats.org/officeDocument/2006/math">
                    <m:r>
                      <a:rPr lang="en-US" sz="2000" i="1">
                        <a:solidFill>
                          <a:srgbClr val="6C993D"/>
                        </a:solidFill>
                        <a:latin typeface="Cambria Math"/>
                        <a:ea typeface="Cambria Math"/>
                        <a:cs typeface="Cambria Math"/>
                      </a:rPr>
                      <m:t>𝑤</m:t>
                    </m:r>
                  </m:oMath>
                </a14:m>
                <a:r>
                  <a:rPr lang="en-US" sz="2000" dirty="0">
                    <a:solidFill>
                      <a:srgbClr val="6C993D"/>
                    </a:solidFill>
                    <a:latin typeface="Verdana" pitchFamily="34" charset="0"/>
                    <a:ea typeface="Verdana" pitchFamily="34" charset="0"/>
                    <a:cs typeface="Cambria Math"/>
                  </a:rPr>
                  <a:t> is the width</a:t>
                </a:r>
                <a:r>
                  <a:rPr lang="en-US" sz="2000" i="1" dirty="0">
                    <a:solidFill>
                      <a:srgbClr val="6C993D"/>
                    </a:solidFill>
                    <a:latin typeface="Verdana" pitchFamily="34" charset="0"/>
                    <a:ea typeface="Verdana" pitchFamily="34" charset="0"/>
                    <a:cs typeface="Cambria Math"/>
                  </a:rPr>
                  <a:t> </a:t>
                </a:r>
                <a:endParaRPr lang="en-PH" sz="2000" i="1" dirty="0">
                  <a:latin typeface="Verdana" pitchFamily="34" charset="0"/>
                  <a:ea typeface="Verdana" pitchFamily="34" charset="0"/>
                  <a:cs typeface="Cambria Math"/>
                </a:endParaRPr>
              </a:p>
            </p:txBody>
          </p:sp>
        </mc:Choice>
        <mc:Fallback xmlns="">
          <p:sp>
            <p:nvSpPr>
              <p:cNvPr id="8" name="Rounded Rectangle 7"/>
              <p:cNvSpPr>
                <a:spLocks noRot="1" noChangeAspect="1" noMove="1" noResize="1" noEditPoints="1" noAdjustHandles="1" noChangeArrowheads="1" noChangeShapeType="1" noTextEdit="1"/>
              </p:cNvSpPr>
              <p:nvPr/>
            </p:nvSpPr>
            <p:spPr>
              <a:xfrm>
                <a:off x="2410153" y="5159923"/>
                <a:ext cx="7371693" cy="1246790"/>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9" name="Shape 7" descr="Icon&#10;&#10;Description automatically generated"/>
          <p:cNvPicPr/>
          <p:nvPr/>
        </p:nvPicPr>
        <p:blipFill rotWithShape="1">
          <a:blip r:embed="rId6" cstate="screen">
            <a:alphaModFix/>
            <a:extLst>
              <a:ext uri="{28A0092B-C50C-407E-A947-70E740481C1C}">
                <a14:useLocalDpi xmlns:a14="http://schemas.microsoft.com/office/drawing/2010/main"/>
              </a:ext>
            </a:extLst>
          </a:blip>
          <a:srcRect/>
          <a:stretch/>
        </p:blipFill>
        <p:spPr>
          <a:xfrm>
            <a:off x="2641808" y="5244204"/>
            <a:ext cx="539115" cy="53911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87834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460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50122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3BC97A7-8575-5A46-8E72-A886A83AEC7E}"/>
                  </a:ext>
                </a:extLst>
              </p:cNvPr>
              <p:cNvSpPr txBox="1"/>
              <p:nvPr/>
            </p:nvSpPr>
            <p:spPr>
              <a:xfrm>
                <a:off x="494050" y="371870"/>
                <a:ext cx="7905216" cy="4154984"/>
              </a:xfrm>
              <a:prstGeom prst="rect">
                <a:avLst/>
              </a:prstGeom>
              <a:noFill/>
            </p:spPr>
            <p:txBody>
              <a:bodyPr wrap="square" rtlCol="0">
                <a:spAutoFit/>
              </a:bodyPr>
              <a:lstStyle/>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Consider the rectangle on the grid.</a:t>
                </a:r>
              </a:p>
              <a:p>
                <a:pPr marL="4572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If each gridline has a length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centimeter (cm), what is the unit for the area of one square on the grid?</a:t>
                </a:r>
              </a:p>
              <a:p>
                <a:pPr marL="9144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area of the rectangle? Be sure to include units.</a:t>
                </a:r>
              </a:p>
            </p:txBody>
          </p:sp>
        </mc:Choice>
        <mc:Fallback>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494050" y="371870"/>
                <a:ext cx="7905216" cy="4154984"/>
              </a:xfrm>
              <a:prstGeom prst="rect">
                <a:avLst/>
              </a:prstGeom>
              <a:blipFill>
                <a:blip r:embed="rId4"/>
                <a:stretch>
                  <a:fillRect l="-1157" t="-1173" r="-1850" b="-2346"/>
                </a:stretch>
              </a:blipFill>
            </p:spPr>
            <p:txBody>
              <a:bodyPr/>
              <a:lstStyle/>
              <a:p>
                <a:r>
                  <a:rPr lang="en-PH">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A picture containing shoji, crossword puzzle, building&#10;&#10;Description automatically generated">
            <a:extLst>
              <a:ext uri="{FF2B5EF4-FFF2-40B4-BE49-F238E27FC236}">
                <a16:creationId xmlns:a16="http://schemas.microsoft.com/office/drawing/2014/main" id="{BE763599-A2A1-425B-AD75-5C35601B7C5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670116" y="371870"/>
            <a:ext cx="2222200" cy="3664592"/>
          </a:xfrm>
          <a:prstGeom prst="rect">
            <a:avLst/>
          </a:prstGeom>
        </p:spPr>
      </p:pic>
    </p:spTree>
    <p:extLst>
      <p:ext uri="{BB962C8B-B14F-4D97-AF65-F5344CB8AC3E}">
        <p14:creationId xmlns:p14="http://schemas.microsoft.com/office/powerpoint/2010/main" val="2647639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650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4735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432405" y="264471"/>
                <a:ext cx="11567810" cy="2518062"/>
              </a:xfrm>
              <a:prstGeom prst="rect">
                <a:avLst/>
              </a:prstGeom>
              <a:noFill/>
            </p:spPr>
            <p:txBody>
              <a:bodyPr wrap="square" rtlCol="0">
                <a:spAutoFit/>
              </a:bodyPr>
              <a:lstStyle/>
              <a:p>
                <a:pPr marL="457200" indent="-457200">
                  <a:buFont typeface="+mj-lt"/>
                  <a:buAutoNum type="arabicPeriod" startAt="7"/>
                </a:pPr>
                <a:r>
                  <a:rPr lang="en-US" sz="2300" dirty="0">
                    <a:latin typeface="Verdana" panose="020B0604030504040204" pitchFamily="34" charset="0"/>
                    <a:ea typeface="Verdana" panose="020B0604030504040204" pitchFamily="34" charset="0"/>
                    <a:cs typeface="Verdana" panose="020B0604030504040204" pitchFamily="34" charset="0"/>
                  </a:rPr>
                  <a:t>Zoo Miami is the largest zoo in Florida and home to over </a:t>
                </a:r>
                <a14:m>
                  <m:oMath xmlns:m="http://schemas.openxmlformats.org/officeDocument/2006/math">
                    <m:r>
                      <a:rPr lang="en-US" sz="2300" i="1" dirty="0">
                        <a:latin typeface="Cambria Math" panose="02040503050406030204" pitchFamily="18" charset="0"/>
                        <a:ea typeface="Verdana" panose="020B0604030504040204" pitchFamily="34" charset="0"/>
                        <a:cs typeface="Verdana" panose="020B0604030504040204" pitchFamily="34" charset="0"/>
                      </a:rPr>
                      <m:t>3,000</m:t>
                    </m:r>
                  </m:oMath>
                </a14:m>
                <a:r>
                  <a:rPr lang="en-US" sz="2300" dirty="0">
                    <a:latin typeface="Verdana" panose="020B0604030504040204" pitchFamily="34" charset="0"/>
                    <a:ea typeface="Verdana" panose="020B0604030504040204" pitchFamily="34" charset="0"/>
                    <a:cs typeface="Verdana" panose="020B0604030504040204" pitchFamily="34" charset="0"/>
                  </a:rPr>
                  <a:t> animals. In the Florida Mission Everglades section, the zoo houses seven different species of animals that are native to the state of Florida. One of the animals is the American black bear. The zookeeper wants to build the black bears a rectangular pool in their exhibit that is </a:t>
                </a:r>
                <a14:m>
                  <m:oMath xmlns:m="http://schemas.openxmlformats.org/officeDocument/2006/math">
                    <m:r>
                      <a:rPr lang="en-US" sz="2300" dirty="0">
                        <a:latin typeface="Cambria Math" panose="02040503050406030204" pitchFamily="18" charset="0"/>
                        <a:ea typeface="Verdana" panose="020B0604030504040204" pitchFamily="34" charset="0"/>
                        <a:cs typeface="Verdana" panose="020B0604030504040204" pitchFamily="34" charset="0"/>
                      </a:rPr>
                      <m:t>13</m:t>
                    </m:r>
                    <m:f>
                      <m:fPr>
                        <m:ctrlPr>
                          <a:rPr lang="en-US" sz="2300" i="1" dirty="0">
                            <a:latin typeface="Cambria Math" panose="02040503050406030204" pitchFamily="18" charset="0"/>
                            <a:ea typeface="Verdana" panose="020B0604030504040204" pitchFamily="34" charset="0"/>
                            <a:cs typeface="Verdana" panose="020B0604030504040204" pitchFamily="34" charset="0"/>
                          </a:rPr>
                        </m:ctrlPr>
                      </m:fPr>
                      <m:num>
                        <m:r>
                          <a:rPr lang="en-US" sz="2300" i="1" dirty="0">
                            <a:latin typeface="Cambria Math" panose="02040503050406030204" pitchFamily="18" charset="0"/>
                            <a:ea typeface="Verdana" panose="020B0604030504040204" pitchFamily="34" charset="0"/>
                            <a:cs typeface="Verdana" panose="020B0604030504040204" pitchFamily="34" charset="0"/>
                          </a:rPr>
                          <m:t>1</m:t>
                        </m:r>
                      </m:num>
                      <m:den>
                        <m:r>
                          <a:rPr lang="en-US" sz="2300" i="1" dirty="0">
                            <a:latin typeface="Cambria Math" panose="02040503050406030204" pitchFamily="18" charset="0"/>
                            <a:ea typeface="Verdana" panose="020B0604030504040204" pitchFamily="34" charset="0"/>
                            <a:cs typeface="Verdana" panose="020B0604030504040204" pitchFamily="34" charset="0"/>
                          </a:rPr>
                          <m:t>8</m:t>
                        </m:r>
                      </m:den>
                    </m:f>
                    <m:r>
                      <a:rPr lang="en-US" sz="2300" i="1" dirty="0">
                        <a:latin typeface="Cambria Math" panose="02040503050406030204" pitchFamily="18" charset="0"/>
                        <a:ea typeface="Verdana" panose="020B0604030504040204" pitchFamily="34" charset="0"/>
                        <a:cs typeface="Verdana" panose="020B0604030504040204" pitchFamily="34" charset="0"/>
                      </a:rPr>
                      <m:t>  </m:t>
                    </m:r>
                  </m:oMath>
                </a14:m>
                <a:r>
                  <a:rPr lang="en-US" sz="2300" dirty="0">
                    <a:latin typeface="Verdana" panose="020B0604030504040204" pitchFamily="34" charset="0"/>
                    <a:ea typeface="Verdana" panose="020B0604030504040204" pitchFamily="34" charset="0"/>
                    <a:cs typeface="Verdana" panose="020B0604030504040204" pitchFamily="34" charset="0"/>
                  </a:rPr>
                  <a:t>yards (yd) wide by </a:t>
                </a:r>
                <a14:m>
                  <m:oMath xmlns:m="http://schemas.openxmlformats.org/officeDocument/2006/math">
                    <m:r>
                      <a:rPr lang="en-US" sz="2300" i="1" dirty="0">
                        <a:latin typeface="Cambria Math" panose="02040503050406030204" pitchFamily="18" charset="0"/>
                        <a:ea typeface="Verdana" panose="020B0604030504040204" pitchFamily="34" charset="0"/>
                        <a:cs typeface="Verdana" panose="020B0604030504040204" pitchFamily="34" charset="0"/>
                      </a:rPr>
                      <m:t>8 </m:t>
                    </m:r>
                    <m:f>
                      <m:fPr>
                        <m:ctrlPr>
                          <a:rPr lang="en-US" sz="2300" i="1" dirty="0">
                            <a:latin typeface="Cambria Math" panose="02040503050406030204" pitchFamily="18" charset="0"/>
                            <a:ea typeface="Verdana" panose="020B0604030504040204" pitchFamily="34" charset="0"/>
                            <a:cs typeface="Verdana" panose="020B0604030504040204" pitchFamily="34" charset="0"/>
                          </a:rPr>
                        </m:ctrlPr>
                      </m:fPr>
                      <m:num>
                        <m:r>
                          <a:rPr lang="en-US" sz="2300" i="1" dirty="0">
                            <a:latin typeface="Cambria Math" panose="02040503050406030204" pitchFamily="18" charset="0"/>
                            <a:ea typeface="Verdana" panose="020B0604030504040204" pitchFamily="34" charset="0"/>
                            <a:cs typeface="Verdana" panose="020B0604030504040204" pitchFamily="34" charset="0"/>
                          </a:rPr>
                          <m:t>5</m:t>
                        </m:r>
                      </m:num>
                      <m:den>
                        <m:r>
                          <a:rPr lang="en-US" sz="2300" i="1" dirty="0">
                            <a:latin typeface="Cambria Math" panose="02040503050406030204" pitchFamily="18" charset="0"/>
                            <a:ea typeface="Verdana" panose="020B0604030504040204" pitchFamily="34" charset="0"/>
                            <a:cs typeface="Verdana" panose="020B0604030504040204" pitchFamily="34" charset="0"/>
                          </a:rPr>
                          <m:t>6</m:t>
                        </m:r>
                      </m:den>
                    </m:f>
                    <m:r>
                      <a:rPr lang="en-US" sz="2300" i="1" dirty="0">
                        <a:latin typeface="Cambria Math" panose="02040503050406030204" pitchFamily="18" charset="0"/>
                        <a:ea typeface="Verdana" panose="020B0604030504040204" pitchFamily="34" charset="0"/>
                        <a:cs typeface="Verdana" panose="020B0604030504040204" pitchFamily="34" charset="0"/>
                      </a:rPr>
                      <m:t> </m:t>
                    </m:r>
                  </m:oMath>
                </a14:m>
                <a:r>
                  <a:rPr lang="en-US" sz="2300" dirty="0">
                    <a:latin typeface="Verdana" panose="020B0604030504040204" pitchFamily="34" charset="0"/>
                    <a:ea typeface="Verdana" panose="020B0604030504040204" pitchFamily="34" charset="0"/>
                    <a:cs typeface="Verdana" panose="020B0604030504040204" pitchFamily="34" charset="0"/>
                  </a:rPr>
                  <a:t>yd long, as shown. </a:t>
                </a: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432405" y="264471"/>
                <a:ext cx="11567810" cy="2518062"/>
              </a:xfrm>
              <a:prstGeom prst="rect">
                <a:avLst/>
              </a:prstGeom>
              <a:blipFill>
                <a:blip r:embed="rId4"/>
                <a:stretch>
                  <a:fillRect l="-877" t="-1508" r="-1425" b="-100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descr="A picture containing diagram&#10;&#10;Description automatically generated">
            <a:extLst>
              <a:ext uri="{FF2B5EF4-FFF2-40B4-BE49-F238E27FC236}">
                <a16:creationId xmlns:a16="http://schemas.microsoft.com/office/drawing/2014/main" id="{9AD8306E-6497-BD46-98C0-6D444F54435D}"/>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1113"/>
          <a:stretch/>
        </p:blipFill>
        <p:spPr>
          <a:xfrm>
            <a:off x="4028335" y="2782533"/>
            <a:ext cx="4375950" cy="3559294"/>
          </a:xfrm>
          <a:prstGeom prst="rect">
            <a:avLst/>
          </a:prstGeom>
        </p:spPr>
      </p:pic>
    </p:spTree>
    <p:extLst>
      <p:ext uri="{BB962C8B-B14F-4D97-AF65-F5344CB8AC3E}">
        <p14:creationId xmlns:p14="http://schemas.microsoft.com/office/powerpoint/2010/main" val="1024155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3835"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48099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A3BC97A7-8575-5A46-8E72-A886A83AEC7E}"/>
              </a:ext>
            </a:extLst>
          </p:cNvPr>
          <p:cNvSpPr txBox="1"/>
          <p:nvPr/>
        </p:nvSpPr>
        <p:spPr>
          <a:xfrm>
            <a:off x="522009" y="328772"/>
            <a:ext cx="11383751"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table shows the strategies of two different students for finding the area of the pool for the American black bears.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79DD7C6E-1B26-3C42-9784-769350FACA79}"/>
                  </a:ext>
                </a:extLst>
              </p:cNvPr>
              <p:cNvGraphicFramePr>
                <a:graphicFrameLocks noGrp="1"/>
              </p:cNvGraphicFramePr>
              <p:nvPr>
                <p:extLst>
                  <p:ext uri="{D42A27DB-BD31-4B8C-83A1-F6EECF244321}">
                    <p14:modId xmlns:p14="http://schemas.microsoft.com/office/powerpoint/2010/main" val="2595995800"/>
                  </p:ext>
                </p:extLst>
              </p:nvPr>
            </p:nvGraphicFramePr>
            <p:xfrm>
              <a:off x="2082557" y="1776414"/>
              <a:ext cx="7650000" cy="4406023"/>
            </p:xfrm>
            <a:graphic>
              <a:graphicData uri="http://schemas.openxmlformats.org/drawingml/2006/table">
                <a:tbl>
                  <a:tblPr firstRow="1" firstCol="1" bandRow="1">
                    <a:tableStyleId>{A91F0D33-8C57-4600-99A7-42BC86742BE1}</a:tableStyleId>
                  </a:tblPr>
                  <a:tblGrid>
                    <a:gridCol w="5130000">
                      <a:extLst>
                        <a:ext uri="{9D8B030D-6E8A-4147-A177-3AD203B41FA5}">
                          <a16:colId xmlns:a16="http://schemas.microsoft.com/office/drawing/2014/main" val="2668749263"/>
                        </a:ext>
                      </a:extLst>
                    </a:gridCol>
                    <a:gridCol w="2520000">
                      <a:extLst>
                        <a:ext uri="{9D8B030D-6E8A-4147-A177-3AD203B41FA5}">
                          <a16:colId xmlns:a16="http://schemas.microsoft.com/office/drawing/2014/main" val="847406014"/>
                        </a:ext>
                      </a:extLst>
                    </a:gridCol>
                  </a:tblGrid>
                  <a:tr h="450000">
                    <a:tc>
                      <a:txBody>
                        <a:bodyPr/>
                        <a:lstStyle/>
                        <a:p>
                          <a:pPr marL="0" marR="0" algn="ctr">
                            <a:lnSpc>
                              <a:spcPct val="107000"/>
                            </a:lnSpc>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Rashona’s</a:t>
                          </a:r>
                          <a:r>
                            <a:rPr lang="en-US" sz="2000" b="1" dirty="0">
                              <a:effectLst/>
                              <a:latin typeface="Verdana" panose="020B0604030504040204" pitchFamily="34" charset="0"/>
                              <a:ea typeface="Verdana" panose="020B0604030504040204" pitchFamily="34" charset="0"/>
                              <a:cs typeface="Verdana" panose="020B0604030504040204" pitchFamily="34" charset="0"/>
                            </a:rPr>
                            <a:t> strategy</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464" marR="634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Naira’s strategy</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464" marR="634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96567785"/>
                      </a:ext>
                    </a:extLst>
                  </a:tr>
                  <a:tr h="1512195">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sketched the area and divided it into four sections. I found the area of each section. Then, I added all of the areas.</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There are </a:t>
                          </a:r>
                          <a14:m>
                            <m:oMath xmlns:m="http://schemas.openxmlformats.org/officeDocument/2006/math">
                              <m:r>
                                <a:rPr lang="en-US" sz="2000">
                                  <a:effectLst/>
                                  <a:latin typeface="Cambria Math"/>
                                </a:rPr>
                                <m:t>8</m:t>
                              </m:r>
                              <m:f>
                                <m:fPr>
                                  <m:ctrlPr>
                                    <a:rPr lang="en-US" sz="2000" i="1">
                                      <a:effectLst/>
                                      <a:latin typeface="Cambria Math" panose="02040503050406030204" pitchFamily="18" charset="0"/>
                                    </a:rPr>
                                  </m:ctrlPr>
                                </m:fPr>
                                <m:num>
                                  <m:r>
                                    <a:rPr lang="en-US" sz="2000">
                                      <a:effectLst/>
                                      <a:latin typeface="Cambria Math"/>
                                    </a:rPr>
                                    <m:t>5</m:t>
                                  </m:r>
                                </m:num>
                                <m:den>
                                  <m:r>
                                    <a:rPr lang="en-US" sz="2000">
                                      <a:effectLst/>
                                      <a:latin typeface="Cambria Math"/>
                                    </a:rPr>
                                    <m:t>6</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rows of </a:t>
                          </a:r>
                          <a14:m>
                            <m:oMath xmlns:m="http://schemas.openxmlformats.org/officeDocument/2006/math">
                              <m:r>
                                <a:rPr lang="en-US" sz="2000">
                                  <a:effectLst/>
                                  <a:latin typeface="Cambria Math"/>
                                </a:rPr>
                                <m:t>13</m:t>
                              </m:r>
                              <m:f>
                                <m:fPr>
                                  <m:ctrlPr>
                                    <a:rPr lang="en-US"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8</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squares so I found </a:t>
                          </a:r>
                          <a14:m>
                            <m:oMath xmlns:m="http://schemas.openxmlformats.org/officeDocument/2006/math">
                              <m:r>
                                <a:rPr lang="en-US" sz="2000">
                                  <a:effectLst/>
                                  <a:latin typeface="Cambria Math"/>
                                </a:rPr>
                                <m:t>8</m:t>
                              </m:r>
                              <m:f>
                                <m:fPr>
                                  <m:ctrlPr>
                                    <a:rPr lang="en-US" sz="2000" i="1">
                                      <a:effectLst/>
                                      <a:latin typeface="Cambria Math" panose="02040503050406030204" pitchFamily="18" charset="0"/>
                                    </a:rPr>
                                  </m:ctrlPr>
                                </m:fPr>
                                <m:num>
                                  <m:r>
                                    <a:rPr lang="en-US" sz="2000">
                                      <a:effectLst/>
                                      <a:latin typeface="Cambria Math"/>
                                    </a:rPr>
                                    <m:t>5</m:t>
                                  </m:r>
                                </m:num>
                                <m:den>
                                  <m:r>
                                    <a:rPr lang="en-US" sz="2000">
                                      <a:effectLst/>
                                      <a:latin typeface="Cambria Math"/>
                                    </a:rPr>
                                    <m:t>6</m:t>
                                  </m:r>
                                </m:den>
                              </m:f>
                              <m:r>
                                <a:rPr lang="en-US" sz="2000">
                                  <a:effectLst/>
                                  <a:latin typeface="Cambria Math"/>
                                </a:rPr>
                                <m:t>×13</m:t>
                              </m:r>
                              <m:f>
                                <m:fPr>
                                  <m:ctrlPr>
                                    <a:rPr lang="en-US"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8</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860417"/>
                      </a:ext>
                    </a:extLst>
                  </a:tr>
                  <a:tr h="2443828">
                    <a:tc>
                      <a:txBody>
                        <a:bodyPr/>
                        <a:lstStyle/>
                        <a:p>
                          <a:pPr marL="0" marR="0">
                            <a:lnSpc>
                              <a:spcPct val="107000"/>
                            </a:lnSpc>
                            <a:spcBef>
                              <a:spcPts val="0"/>
                            </a:spcBef>
                            <a:spcAft>
                              <a:spcPts val="0"/>
                            </a:spcAft>
                          </a:pPr>
                          <a:endParaRPr lang="en-US" sz="1500" dirty="0">
                            <a:effectLst/>
                          </a:endParaRPr>
                        </a:p>
                      </a:txBody>
                      <a:tcPr marL="63464" marR="6346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451448191"/>
                      </a:ext>
                    </a:extLst>
                  </a:tr>
                </a:tbl>
              </a:graphicData>
            </a:graphic>
          </p:graphicFrame>
        </mc:Choice>
        <mc:Fallback xmlns="">
          <p:graphicFrame>
            <p:nvGraphicFramePr>
              <p:cNvPr id="2" name="Table 1">
                <a:extLst>
                  <a:ext uri="{FF2B5EF4-FFF2-40B4-BE49-F238E27FC236}">
                    <a16:creationId xmlns:a16="http://schemas.microsoft.com/office/drawing/2014/main" id="{79DD7C6E-1B26-3C42-9784-769350FACA79}"/>
                  </a:ext>
                </a:extLst>
              </p:cNvPr>
              <p:cNvGraphicFramePr>
                <a:graphicFrameLocks noGrp="1"/>
              </p:cNvGraphicFramePr>
              <p:nvPr>
                <p:extLst>
                  <p:ext uri="{D42A27DB-BD31-4B8C-83A1-F6EECF244321}">
                    <p14:modId xmlns:p14="http://schemas.microsoft.com/office/powerpoint/2010/main" val="2595995800"/>
                  </p:ext>
                </p:extLst>
              </p:nvPr>
            </p:nvGraphicFramePr>
            <p:xfrm>
              <a:off x="2082557" y="1776414"/>
              <a:ext cx="7650000" cy="4406023"/>
            </p:xfrm>
            <a:graphic>
              <a:graphicData uri="http://schemas.openxmlformats.org/drawingml/2006/table">
                <a:tbl>
                  <a:tblPr firstRow="1" firstCol="1" bandRow="1">
                    <a:tableStyleId>{A91F0D33-8C57-4600-99A7-42BC86742BE1}</a:tableStyleId>
                  </a:tblPr>
                  <a:tblGrid>
                    <a:gridCol w="5130000">
                      <a:extLst>
                        <a:ext uri="{9D8B030D-6E8A-4147-A177-3AD203B41FA5}">
                          <a16:colId xmlns:a16="http://schemas.microsoft.com/office/drawing/2014/main" val="2668749263"/>
                        </a:ext>
                      </a:extLst>
                    </a:gridCol>
                    <a:gridCol w="2520000">
                      <a:extLst>
                        <a:ext uri="{9D8B030D-6E8A-4147-A177-3AD203B41FA5}">
                          <a16:colId xmlns:a16="http://schemas.microsoft.com/office/drawing/2014/main" val="847406014"/>
                        </a:ext>
                      </a:extLst>
                    </a:gridCol>
                  </a:tblGrid>
                  <a:tr h="450000">
                    <a:tc>
                      <a:txBody>
                        <a:bodyPr/>
                        <a:lstStyle/>
                        <a:p>
                          <a:pPr marL="0" marR="0" algn="ctr">
                            <a:lnSpc>
                              <a:spcPct val="107000"/>
                            </a:lnSpc>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Rashona’s</a:t>
                          </a:r>
                          <a:r>
                            <a:rPr lang="en-US" sz="2000" b="1" dirty="0">
                              <a:effectLst/>
                              <a:latin typeface="Verdana" panose="020B0604030504040204" pitchFamily="34" charset="0"/>
                              <a:ea typeface="Verdana" panose="020B0604030504040204" pitchFamily="34" charset="0"/>
                              <a:cs typeface="Verdana" panose="020B0604030504040204" pitchFamily="34" charset="0"/>
                            </a:rPr>
                            <a:t> strategy</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464" marR="634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Naira’s strategy</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464" marR="634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96567785"/>
                      </a:ext>
                    </a:extLst>
                  </a:tr>
                  <a:tr h="1512195">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sketched the area and divided it into four sections. I found the area of each section. Then, I added all of the areas.</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endParaRPr lang="en-US"/>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3518" t="-11859" r="-503" b="-641"/>
                          </a:stretch>
                        </a:blipFill>
                      </a:tcPr>
                    </a:tc>
                    <a:extLst>
                      <a:ext uri="{0D108BD9-81ED-4DB2-BD59-A6C34878D82A}">
                        <a16:rowId xmlns:a16="http://schemas.microsoft.com/office/drawing/2014/main" val="2191860417"/>
                      </a:ext>
                    </a:extLst>
                  </a:tr>
                  <a:tr h="2443828">
                    <a:tc>
                      <a:txBody>
                        <a:bodyPr/>
                        <a:lstStyle/>
                        <a:p>
                          <a:pPr marL="0" marR="0">
                            <a:lnSpc>
                              <a:spcPct val="107000"/>
                            </a:lnSpc>
                            <a:spcBef>
                              <a:spcPts val="0"/>
                            </a:spcBef>
                            <a:spcAft>
                              <a:spcPts val="0"/>
                            </a:spcAft>
                          </a:pPr>
                          <a:endParaRPr lang="en-US" sz="1500" dirty="0">
                            <a:effectLst/>
                          </a:endParaRPr>
                        </a:p>
                      </a:txBody>
                      <a:tcPr marL="63464" marR="6346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451448191"/>
                      </a:ext>
                    </a:extLst>
                  </a:tr>
                </a:tbl>
              </a:graphicData>
            </a:graphic>
          </p:graphicFrame>
        </mc:Fallback>
      </mc:AlternateContent>
      <p:sp>
        <p:nvSpPr>
          <p:cNvPr id="4" name="Straight Connector 47">
            <a:extLst>
              <a:ext uri="{FF2B5EF4-FFF2-40B4-BE49-F238E27FC236}">
                <a16:creationId xmlns:a16="http://schemas.microsoft.com/office/drawing/2014/main" id="{9FBDCDA4-7FF0-3F48-B023-35746D4777A6}"/>
              </a:ext>
            </a:extLst>
          </p:cNvPr>
          <p:cNvSpPr>
            <a:spLocks noChangeShapeType="1"/>
          </p:cNvSpPr>
          <p:nvPr/>
        </p:nvSpPr>
        <p:spPr bwMode="auto">
          <a:xfrm>
            <a:off x="55643463" y="1776414"/>
            <a:ext cx="0" cy="45664437"/>
          </a:xfrm>
          <a:prstGeom prst="line">
            <a:avLst/>
          </a:prstGeom>
          <a:noFill/>
          <a:ln w="38100">
            <a:solidFill>
              <a:srgbClr val="AEAAAA"/>
            </a:solidFill>
            <a:prstDash val="dash"/>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Straight Connector 48">
            <a:extLst>
              <a:ext uri="{FF2B5EF4-FFF2-40B4-BE49-F238E27FC236}">
                <a16:creationId xmlns:a16="http://schemas.microsoft.com/office/drawing/2014/main" id="{10670D69-D936-6140-8444-06F60F10FD5E}"/>
              </a:ext>
            </a:extLst>
          </p:cNvPr>
          <p:cNvSpPr>
            <a:spLocks noChangeShapeType="1"/>
          </p:cNvSpPr>
          <p:nvPr/>
        </p:nvSpPr>
        <p:spPr bwMode="auto">
          <a:xfrm>
            <a:off x="3162301" y="35588575"/>
            <a:ext cx="65473263" cy="0"/>
          </a:xfrm>
          <a:prstGeom prst="line">
            <a:avLst/>
          </a:prstGeom>
          <a:noFill/>
          <a:ln w="38100">
            <a:solidFill>
              <a:srgbClr val="AEAAAA"/>
            </a:solidFill>
            <a:prstDash val="dash"/>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 Box 2">
            <a:extLst>
              <a:ext uri="{FF2B5EF4-FFF2-40B4-BE49-F238E27FC236}">
                <a16:creationId xmlns:a16="http://schemas.microsoft.com/office/drawing/2014/main" id="{AF337908-20E4-C448-8EB2-F3E254025B0E}"/>
              </a:ext>
            </a:extLst>
          </p:cNvPr>
          <p:cNvSpPr txBox="1">
            <a:spLocks noChangeArrowheads="1"/>
          </p:cNvSpPr>
          <p:nvPr/>
        </p:nvSpPr>
        <p:spPr bwMode="auto">
          <a:xfrm>
            <a:off x="21469350" y="13720763"/>
            <a:ext cx="22228175" cy="779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Text Box 2">
            <a:extLst>
              <a:ext uri="{FF2B5EF4-FFF2-40B4-BE49-F238E27FC236}">
                <a16:creationId xmlns:a16="http://schemas.microsoft.com/office/drawing/2014/main" id="{F4F73AAE-692C-C746-B102-20A36CE12174}"/>
              </a:ext>
            </a:extLst>
          </p:cNvPr>
          <p:cNvSpPr txBox="1">
            <a:spLocks noChangeArrowheads="1"/>
          </p:cNvSpPr>
          <p:nvPr/>
        </p:nvSpPr>
        <p:spPr bwMode="auto">
          <a:xfrm>
            <a:off x="21469350" y="36102925"/>
            <a:ext cx="22228175" cy="1181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Text Box 2">
            <a:extLst>
              <a:ext uri="{FF2B5EF4-FFF2-40B4-BE49-F238E27FC236}">
                <a16:creationId xmlns:a16="http://schemas.microsoft.com/office/drawing/2014/main" id="{7E803F80-B85E-4643-809F-BD0B55952BFE}"/>
              </a:ext>
            </a:extLst>
          </p:cNvPr>
          <p:cNvSpPr txBox="1">
            <a:spLocks noChangeArrowheads="1"/>
          </p:cNvSpPr>
          <p:nvPr/>
        </p:nvSpPr>
        <p:spPr bwMode="auto">
          <a:xfrm>
            <a:off x="52165250" y="10696575"/>
            <a:ext cx="22228175" cy="1172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Text Box 2">
            <a:extLst>
              <a:ext uri="{FF2B5EF4-FFF2-40B4-BE49-F238E27FC236}">
                <a16:creationId xmlns:a16="http://schemas.microsoft.com/office/drawing/2014/main" id="{E9F0BBE8-BD6E-3142-BECB-9DEA6985766A}"/>
              </a:ext>
            </a:extLst>
          </p:cNvPr>
          <p:cNvSpPr txBox="1">
            <a:spLocks noChangeArrowheads="1"/>
          </p:cNvSpPr>
          <p:nvPr/>
        </p:nvSpPr>
        <p:spPr bwMode="auto">
          <a:xfrm>
            <a:off x="52165250" y="35647313"/>
            <a:ext cx="22228175" cy="1181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descr="Shape, rectangle&#10;&#10;Description automatically generated">
            <a:extLst>
              <a:ext uri="{FF2B5EF4-FFF2-40B4-BE49-F238E27FC236}">
                <a16:creationId xmlns:a16="http://schemas.microsoft.com/office/drawing/2014/main" id="{E64E4BC5-30EB-554F-8722-17416DF4B66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66670" y="3372783"/>
            <a:ext cx="4449477" cy="2678895"/>
          </a:xfrm>
          <a:prstGeom prst="rect">
            <a:avLst/>
          </a:prstGeom>
        </p:spPr>
      </p:pic>
    </p:spTree>
    <p:extLst>
      <p:ext uri="{BB962C8B-B14F-4D97-AF65-F5344CB8AC3E}">
        <p14:creationId xmlns:p14="http://schemas.microsoft.com/office/powerpoint/2010/main" val="3054521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55874" y="646671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A3BC97A7-8575-5A46-8E72-A886A83AEC7E}"/>
              </a:ext>
            </a:extLst>
          </p:cNvPr>
          <p:cNvSpPr txBox="1"/>
          <p:nvPr/>
        </p:nvSpPr>
        <p:spPr>
          <a:xfrm>
            <a:off x="493160" y="386282"/>
            <a:ext cx="11134990" cy="5814442"/>
          </a:xfrm>
          <a:prstGeom prst="rect">
            <a:avLst/>
          </a:prstGeom>
          <a:noFill/>
        </p:spPr>
        <p:txBody>
          <a:bodyPr wrap="square" rtlCol="0">
            <a:spAutoFit/>
          </a:bodyPr>
          <a:lstStyle/>
          <a:p>
            <a:pPr marL="9271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a:t>
            </a:r>
            <a:r>
              <a:rPr lang="en-US" sz="2400" dirty="0" err="1">
                <a:latin typeface="Verdana" panose="020B0604030504040204" pitchFamily="34" charset="0"/>
                <a:ea typeface="Verdana" panose="020B0604030504040204" pitchFamily="34" charset="0"/>
                <a:cs typeface="Verdana" panose="020B0604030504040204" pitchFamily="34" charset="0"/>
              </a:rPr>
              <a:t>Rashona’s</a:t>
            </a:r>
            <a:r>
              <a:rPr lang="en-US" sz="2400" dirty="0">
                <a:latin typeface="Verdana" panose="020B0604030504040204" pitchFamily="34" charset="0"/>
                <a:ea typeface="Verdana" panose="020B0604030504040204" pitchFamily="34" charset="0"/>
                <a:cs typeface="Verdana" panose="020B0604030504040204" pitchFamily="34" charset="0"/>
              </a:rPr>
              <a:t> strategy to find the area of the pool for the American black bears.</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7100"/>
            <a:r>
              <a:rPr lang="en-US" sz="2400" dirty="0">
                <a:latin typeface="Verdana" panose="020B0604030504040204" pitchFamily="34" charset="0"/>
                <a:ea typeface="Verdana" panose="020B0604030504040204" pitchFamily="34" charset="0"/>
                <a:cs typeface="Verdana" panose="020B0604030504040204" pitchFamily="34" charset="0"/>
              </a:rPr>
              <a:t>Area of the pool = ______</a:t>
            </a: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Histogram&#10;&#10;Description automatically generated with low confidence">
            <a:extLst>
              <a:ext uri="{FF2B5EF4-FFF2-40B4-BE49-F238E27FC236}">
                <a16:creationId xmlns:a16="http://schemas.microsoft.com/office/drawing/2014/main" id="{4571E121-C146-534B-A37E-5C4258EFCB7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13844" y="1238974"/>
            <a:ext cx="7021512" cy="3926925"/>
          </a:xfrm>
          <a:prstGeom prst="rect">
            <a:avLst/>
          </a:prstGeom>
        </p:spPr>
      </p:pic>
    </p:spTree>
    <p:extLst>
      <p:ext uri="{BB962C8B-B14F-4D97-AF65-F5344CB8AC3E}">
        <p14:creationId xmlns:p14="http://schemas.microsoft.com/office/powerpoint/2010/main" val="4248679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4648" y="6206228"/>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25051" y="648099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A3BC97A7-8575-5A46-8E72-A886A83AEC7E}"/>
              </a:ext>
            </a:extLst>
          </p:cNvPr>
          <p:cNvSpPr txBox="1"/>
          <p:nvPr/>
        </p:nvSpPr>
        <p:spPr>
          <a:xfrm>
            <a:off x="472611" y="339048"/>
            <a:ext cx="11342670" cy="5310214"/>
          </a:xfrm>
          <a:prstGeom prst="rect">
            <a:avLst/>
          </a:prstGeom>
          <a:noFill/>
        </p:spPr>
        <p:txBody>
          <a:bodyPr wrap="square" rtlCol="0">
            <a:spAutoFit/>
          </a:bodyPr>
          <a:lstStyle/>
          <a:p>
            <a:pPr marL="923925"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Use Naira’s strategy to find the area of the pool for the American black bears.</a:t>
            </a:r>
          </a:p>
          <a:p>
            <a:pPr marL="923925"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are the units for the area of the pool?</a:t>
            </a:r>
          </a:p>
          <a:p>
            <a:pPr marL="923925"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How much fencing is needed to enclose the pool area?</a:t>
            </a:r>
          </a:p>
          <a:p>
            <a:pPr marL="923925"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are the units for the amount of fencing for the pool?</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13502"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918385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FA7131D8-CFBC-4A4E-9DFC-E5070330401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85461" y="3515607"/>
            <a:ext cx="6563577" cy="3015410"/>
          </a:xfrm>
          <a:prstGeom prst="rect">
            <a:avLst/>
          </a:prstGeom>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A3BC97A7-8575-5A46-8E72-A886A83AEC7E}"/>
              </a:ext>
            </a:extLst>
          </p:cNvPr>
          <p:cNvSpPr txBox="1"/>
          <p:nvPr/>
        </p:nvSpPr>
        <p:spPr>
          <a:xfrm>
            <a:off x="419315" y="172503"/>
            <a:ext cx="11406239" cy="3416320"/>
          </a:xfrm>
          <a:prstGeom prst="rect">
            <a:avLst/>
          </a:prstGeom>
          <a:noFill/>
        </p:spPr>
        <p:txBody>
          <a:bodyPr wrap="square" rtlCol="0">
            <a:spAutoFit/>
          </a:bodyPr>
          <a:lstStyle/>
          <a:p>
            <a:pPr marL="457200" indent="-457200">
              <a:buFont typeface="+mj-lt"/>
              <a:buAutoNum type="arabicPeriod" startAt="8"/>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the difference between finding the perimeter of a rectangle and finding the area of a rectangle. Write down a strategy that you can use to remember the difference.</a:t>
            </a: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r>
              <a:rPr lang="en-US" sz="2400" dirty="0">
                <a:latin typeface="Verdana" panose="020B0604030504040204" pitchFamily="34" charset="0"/>
                <a:ea typeface="Verdana" panose="020B0604030504040204" pitchFamily="34" charset="0"/>
                <a:cs typeface="Verdana" panose="020B0604030504040204" pitchFamily="34" charset="0"/>
              </a:rPr>
              <a:t>The American alligator is also featured in the Florida Mission Everglades area. A diagram of the alligator enclosure is shown.</a:t>
            </a: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297941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632"/>
            <a:ext cx="563850" cy="658368"/>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6148" y="647171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421241" y="386281"/>
                <a:ext cx="11527604" cy="5755422"/>
              </a:xfrm>
              <a:prstGeom prst="rect">
                <a:avLst/>
              </a:prstGeom>
              <a:noFill/>
            </p:spPr>
            <p:txBody>
              <a:bodyPr wrap="square" rtlCol="0">
                <a:spAutoFit/>
              </a:bodyPr>
              <a:lstStyle/>
              <a:p>
                <a:pPr marL="923925" indent="-5080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area of the water enclosure? Be sure to include the units.</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Nolan’s work for finding the area of water enclosure is shown below.</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rPr>
                      <m:t>21</m:t>
                    </m:r>
                    <m:d>
                      <m:dPr>
                        <m:ctrlPr>
                          <a:rPr lang="en-US" sz="2400" i="1">
                            <a:latin typeface="Cambria Math" panose="02040503050406030204" pitchFamily="18" charset="0"/>
                          </a:rPr>
                        </m:ctrlPr>
                      </m:dPr>
                      <m:e>
                        <m:r>
                          <a:rPr lang="en-US" sz="2400">
                            <a:latin typeface="Cambria Math" panose="02040503050406030204" pitchFamily="18" charset="0"/>
                          </a:rPr>
                          <m:t>28+0.4</m:t>
                        </m:r>
                      </m:e>
                    </m:d>
                  </m:oMath>
                </a14:m>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3925"/>
                <a:r>
                  <a:rPr lang="en-US" sz="2400" dirty="0">
                    <a:latin typeface="Verdana" panose="020B0604030504040204" pitchFamily="34" charset="0"/>
                    <a:ea typeface="Verdana" panose="020B0604030504040204" pitchFamily="34" charset="0"/>
                    <a:cs typeface="Verdana" panose="020B0604030504040204" pitchFamily="34" charset="0"/>
                  </a:rPr>
                  <a:t>With your partner, discuss which property Nolan can use to find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21(28+0.4). </m:t>
                    </m:r>
                  </m:oMath>
                </a14:m>
                <a:r>
                  <a:rPr lang="en-US" sz="2400" dirty="0">
                    <a:latin typeface="Verdana" panose="020B0604030504040204" pitchFamily="34" charset="0"/>
                    <a:ea typeface="Verdana" panose="020B0604030504040204" pitchFamily="34" charset="0"/>
                    <a:cs typeface="Verdana" panose="020B0604030504040204" pitchFamily="34" charset="0"/>
                  </a:rPr>
                  <a:t>Name or describe the property.</a:t>
                </a: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421241" y="386281"/>
                <a:ext cx="11527604" cy="5755422"/>
              </a:xfrm>
              <a:prstGeom prst="rect">
                <a:avLst/>
              </a:prstGeom>
              <a:blipFill>
                <a:blip r:embed="rId4"/>
                <a:stretch>
                  <a:fillRect t="-881" b="-132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36A9C561-6860-434F-A2F9-F71B6D8AB59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411317" y="3114810"/>
            <a:ext cx="1136164" cy="2127934"/>
          </a:xfrm>
          <a:prstGeom prst="rect">
            <a:avLst/>
          </a:prstGeom>
        </p:spPr>
      </p:pic>
    </p:spTree>
    <p:extLst>
      <p:ext uri="{BB962C8B-B14F-4D97-AF65-F5344CB8AC3E}">
        <p14:creationId xmlns:p14="http://schemas.microsoft.com/office/powerpoint/2010/main" val="1825532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49126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35</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A3BC97A7-8575-5A46-8E72-A886A83AEC7E}"/>
              </a:ext>
            </a:extLst>
          </p:cNvPr>
          <p:cNvSpPr txBox="1"/>
          <p:nvPr/>
        </p:nvSpPr>
        <p:spPr>
          <a:xfrm>
            <a:off x="223200" y="499295"/>
            <a:ext cx="11812657" cy="3785652"/>
          </a:xfrm>
          <a:prstGeom prst="rect">
            <a:avLst/>
          </a:prstGeom>
          <a:noFill/>
        </p:spPr>
        <p:txBody>
          <a:bodyPr wrap="square" rtlCol="0">
            <a:spAutoFit/>
          </a:bodyPr>
          <a:lstStyle/>
          <a:p>
            <a:pPr marL="923925" indent="-471488">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area of the alligator enclosure? Be sure to include the units.</a:t>
            </a: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71488">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determine the total amount of fencing needed for the alligator enclosure. Show your work or strategies you used.</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73916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7086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69829" y="-97958"/>
            <a:ext cx="1013031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000" b="1" dirty="0">
                <a:solidFill>
                  <a:srgbClr val="33BEA6"/>
                </a:solidFill>
                <a:latin typeface="Verdana"/>
                <a:ea typeface="Verdana"/>
                <a:cs typeface="Verdana"/>
                <a:sym typeface="Verdana"/>
              </a:rPr>
              <a:t>1.6.3 Collaboration: Perimeter and Area with Fractional and Decimal Side Lengths </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66148" y="65293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89412" y="6032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489412" y="1227742"/>
            <a:ext cx="10750516"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table. Choose whether the real-world situation represents area or perimeter, then write the appropriate units for the situation.</a:t>
            </a:r>
          </a:p>
        </p:txBody>
      </p:sp>
      <p:sp>
        <p:nvSpPr>
          <p:cNvPr id="11" name="Google Shape;278;g104476d1465_1_17">
            <a:extLst>
              <a:ext uri="{FF2B5EF4-FFF2-40B4-BE49-F238E27FC236}">
                <a16:creationId xmlns:a16="http://schemas.microsoft.com/office/drawing/2014/main" id="{E9CA456B-1791-3E43-BCF8-7E55B6240BB8}"/>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D19296A-3C78-A543-8D7F-8742BFB0B58E}"/>
                  </a:ext>
                </a:extLst>
              </p:cNvPr>
              <p:cNvGraphicFramePr>
                <a:graphicFrameLocks noGrp="1"/>
              </p:cNvGraphicFramePr>
              <p:nvPr>
                <p:extLst>
                  <p:ext uri="{D42A27DB-BD31-4B8C-83A1-F6EECF244321}">
                    <p14:modId xmlns:p14="http://schemas.microsoft.com/office/powerpoint/2010/main" val="3024803033"/>
                  </p:ext>
                </p:extLst>
              </p:nvPr>
            </p:nvGraphicFramePr>
            <p:xfrm>
              <a:off x="2070306" y="2553442"/>
              <a:ext cx="8276283" cy="3444304"/>
            </p:xfrm>
            <a:graphic>
              <a:graphicData uri="http://schemas.openxmlformats.org/drawingml/2006/table">
                <a:tbl>
                  <a:tblPr firstRow="1" firstCol="1" bandRow="1">
                    <a:tableStyleId>{A91F0D33-8C57-4600-99A7-42BC86742BE1}</a:tableStyleId>
                  </a:tblPr>
                  <a:tblGrid>
                    <a:gridCol w="5737799">
                      <a:extLst>
                        <a:ext uri="{9D8B030D-6E8A-4147-A177-3AD203B41FA5}">
                          <a16:colId xmlns:a16="http://schemas.microsoft.com/office/drawing/2014/main" val="2894379754"/>
                        </a:ext>
                      </a:extLst>
                    </a:gridCol>
                    <a:gridCol w="1269242">
                      <a:extLst>
                        <a:ext uri="{9D8B030D-6E8A-4147-A177-3AD203B41FA5}">
                          <a16:colId xmlns:a16="http://schemas.microsoft.com/office/drawing/2014/main" val="99313125"/>
                        </a:ext>
                      </a:extLst>
                    </a:gridCol>
                    <a:gridCol w="1269242">
                      <a:extLst>
                        <a:ext uri="{9D8B030D-6E8A-4147-A177-3AD203B41FA5}">
                          <a16:colId xmlns:a16="http://schemas.microsoft.com/office/drawing/2014/main" val="1980314614"/>
                        </a:ext>
                      </a:extLst>
                    </a:gridCol>
                  </a:tblGrid>
                  <a:tr h="200345">
                    <a:tc>
                      <a:txBody>
                        <a:bodyPr/>
                        <a:lstStyle/>
                        <a:p>
                          <a:pPr marL="0" marR="0" algn="ctr">
                            <a:lnSpc>
                              <a:spcPct val="107000"/>
                            </a:lnSpc>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Real-World Situation</a:t>
                          </a:r>
                          <a:endParaRPr lang="en-US" sz="1700" b="1"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Area or </a:t>
                          </a:r>
                          <a:r>
                            <a:rPr lang="en-US" sz="1700" b="1" spc="-50" baseline="0" dirty="0">
                              <a:effectLst/>
                              <a:latin typeface="Verdana" panose="020B0604030504040204" pitchFamily="34" charset="0"/>
                              <a:ea typeface="Verdana" panose="020B0604030504040204" pitchFamily="34" charset="0"/>
                              <a:cs typeface="Verdana" panose="020B0604030504040204" pitchFamily="34" charset="0"/>
                            </a:rPr>
                            <a:t>Perimeter</a:t>
                          </a:r>
                          <a:endParaRPr lang="en-US" sz="1700" b="1" i="1" spc="-50" baseline="0"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Units</a:t>
                          </a:r>
                          <a:endParaRPr lang="en-US" sz="1700" b="1"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86421850"/>
                      </a:ext>
                    </a:extLst>
                  </a:tr>
                  <a:tr h="0">
                    <a:tc>
                      <a:txBody>
                        <a:bodyPr/>
                        <a:lstStyle/>
                        <a:p>
                          <a:pPr marL="0" marR="0">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The amount of paint needed to paint a wall that is 6 meters (m) long and </a:t>
                          </a:r>
                          <a14:m>
                            <m:oMath xmlns:m="http://schemas.openxmlformats.org/officeDocument/2006/math">
                              <m:r>
                                <a:rPr lang="en-US" sz="1700">
                                  <a:effectLst/>
                                  <a:latin typeface="Cambria Math"/>
                                </a:rPr>
                                <m:t>2</m:t>
                              </m:r>
                              <m:f>
                                <m:fPr>
                                  <m:ctrlPr>
                                    <a:rPr lang="en-US" sz="1700" i="1">
                                      <a:effectLst/>
                                      <a:latin typeface="Cambria Math" panose="02040503050406030204" pitchFamily="18" charset="0"/>
                                    </a:rPr>
                                  </m:ctrlPr>
                                </m:fPr>
                                <m:num>
                                  <m:r>
                                    <a:rPr lang="en-US" sz="1700">
                                      <a:effectLst/>
                                      <a:latin typeface="Cambria Math"/>
                                    </a:rPr>
                                    <m:t>5</m:t>
                                  </m:r>
                                </m:num>
                                <m:den>
                                  <m:r>
                                    <a:rPr lang="en-US" sz="1700">
                                      <a:effectLst/>
                                      <a:latin typeface="Cambria Math"/>
                                    </a:rPr>
                                    <m:t>8</m:t>
                                  </m:r>
                                </m:den>
                              </m:f>
                            </m:oMath>
                          </a14:m>
                          <a:r>
                            <a:rPr lang="en-US" sz="1700" dirty="0">
                              <a:effectLst/>
                              <a:latin typeface="Verdana" panose="020B0604030504040204" pitchFamily="34" charset="0"/>
                              <a:ea typeface="Verdana" panose="020B0604030504040204" pitchFamily="34" charset="0"/>
                              <a:cs typeface="Verdana" panose="020B0604030504040204" pitchFamily="34" charset="0"/>
                            </a:rPr>
                            <a:t> m high.</a:t>
                          </a:r>
                          <a:endParaRPr lang="en-US" sz="1700" i="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5438699"/>
                      </a:ext>
                    </a:extLst>
                  </a:tr>
                  <a:tr h="253421">
                    <a:tc>
                      <a:txBody>
                        <a:bodyPr/>
                        <a:lstStyle/>
                        <a:p>
                          <a:pPr marL="0" marR="0">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The amount of fencing needed to enclose a backyard that is </a:t>
                          </a:r>
                          <a14:m>
                            <m:oMath xmlns:m="http://schemas.openxmlformats.org/officeDocument/2006/math">
                              <m:f>
                                <m:fPr>
                                  <m:ctrlPr>
                                    <a:rPr lang="en-US" sz="1700" i="1">
                                      <a:effectLst/>
                                      <a:latin typeface="Cambria Math" panose="02040503050406030204" pitchFamily="18" charset="0"/>
                                    </a:rPr>
                                  </m:ctrlPr>
                                </m:fPr>
                                <m:num>
                                  <m:r>
                                    <a:rPr lang="en-US" sz="1700">
                                      <a:effectLst/>
                                      <a:latin typeface="Cambria Math"/>
                                    </a:rPr>
                                    <m:t>1</m:t>
                                  </m:r>
                                </m:num>
                                <m:den>
                                  <m:r>
                                    <a:rPr lang="en-US" sz="1700">
                                      <a:effectLst/>
                                      <a:latin typeface="Cambria Math"/>
                                    </a:rPr>
                                    <m:t>5</m:t>
                                  </m:r>
                                </m:den>
                              </m:f>
                            </m:oMath>
                          </a14:m>
                          <a:r>
                            <a:rPr lang="en-US" sz="1700" dirty="0">
                              <a:effectLst/>
                              <a:latin typeface="Verdana" panose="020B0604030504040204" pitchFamily="34" charset="0"/>
                              <a:ea typeface="Verdana" panose="020B0604030504040204" pitchFamily="34" charset="0"/>
                              <a:cs typeface="Verdana" panose="020B0604030504040204" pitchFamily="34" charset="0"/>
                            </a:rPr>
                            <a:t> mile (mi) long and </a:t>
                          </a:r>
                          <a14:m>
                            <m:oMath xmlns:m="http://schemas.openxmlformats.org/officeDocument/2006/math">
                              <m:f>
                                <m:fPr>
                                  <m:ctrlPr>
                                    <a:rPr lang="en-US" sz="1700" i="1">
                                      <a:effectLst/>
                                      <a:latin typeface="Cambria Math" panose="02040503050406030204" pitchFamily="18" charset="0"/>
                                    </a:rPr>
                                  </m:ctrlPr>
                                </m:fPr>
                                <m:num>
                                  <m:r>
                                    <a:rPr lang="en-US" sz="1700">
                                      <a:effectLst/>
                                      <a:latin typeface="Cambria Math"/>
                                    </a:rPr>
                                    <m:t>1</m:t>
                                  </m:r>
                                </m:num>
                                <m:den>
                                  <m:r>
                                    <a:rPr lang="en-US" sz="1700">
                                      <a:effectLst/>
                                      <a:latin typeface="Cambria Math"/>
                                    </a:rPr>
                                    <m:t>20</m:t>
                                  </m:r>
                                </m:den>
                              </m:f>
                            </m:oMath>
                          </a14:m>
                          <a:r>
                            <a:rPr lang="en-US" sz="1700" dirty="0">
                              <a:effectLst/>
                              <a:latin typeface="Verdana" panose="020B0604030504040204" pitchFamily="34" charset="0"/>
                              <a:ea typeface="Verdana" panose="020B0604030504040204" pitchFamily="34" charset="0"/>
                              <a:cs typeface="Verdana" panose="020B0604030504040204" pitchFamily="34" charset="0"/>
                            </a:rPr>
                            <a:t> mi wide.  </a:t>
                          </a:r>
                          <a:endParaRPr lang="en-US" sz="1700" i="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68578"/>
                      </a:ext>
                    </a:extLst>
                  </a:tr>
                  <a:tr h="253421">
                    <a:tc>
                      <a:txBody>
                        <a:bodyPr/>
                        <a:lstStyle/>
                        <a:p>
                          <a:pPr marL="0" marR="0">
                            <a:lnSpc>
                              <a:spcPct val="107000"/>
                            </a:lnSpc>
                            <a:spcBef>
                              <a:spcPts val="0"/>
                            </a:spcBef>
                            <a:spcAft>
                              <a:spcPts val="0"/>
                            </a:spcAft>
                          </a:pPr>
                          <a:r>
                            <a:rPr lang="en-US" sz="1700" kern="0" spc="-50" baseline="0" dirty="0">
                              <a:effectLst/>
                              <a:latin typeface="Verdana" panose="020B0604030504040204" pitchFamily="34" charset="0"/>
                              <a:ea typeface="Verdana" panose="020B0604030504040204" pitchFamily="34" charset="0"/>
                              <a:cs typeface="Verdana" panose="020B0604030504040204" pitchFamily="34" charset="0"/>
                            </a:rPr>
                            <a:t>The number of tiles needed to put a border on a kitchen floor that is </a:t>
                          </a:r>
                          <a14:m>
                            <m:oMath xmlns:m="http://schemas.openxmlformats.org/officeDocument/2006/math">
                              <m:r>
                                <a:rPr lang="en-US" sz="1700" kern="0" spc="-50" baseline="0">
                                  <a:effectLst/>
                                  <a:latin typeface="Cambria Math"/>
                                </a:rPr>
                                <m:t>4</m:t>
                              </m:r>
                              <m:f>
                                <m:fPr>
                                  <m:ctrlPr>
                                    <a:rPr lang="en-US" sz="1700" i="1" kern="0" spc="-50" baseline="0">
                                      <a:effectLst/>
                                      <a:latin typeface="Cambria Math" panose="02040503050406030204" pitchFamily="18" charset="0"/>
                                    </a:rPr>
                                  </m:ctrlPr>
                                </m:fPr>
                                <m:num>
                                  <m:r>
                                    <a:rPr lang="en-US" sz="1700" kern="0" spc="-50" baseline="0">
                                      <a:effectLst/>
                                      <a:latin typeface="Cambria Math"/>
                                    </a:rPr>
                                    <m:t>1</m:t>
                                  </m:r>
                                </m:num>
                                <m:den>
                                  <m:r>
                                    <a:rPr lang="en-US" sz="1700" kern="0" spc="-50" baseline="0">
                                      <a:effectLst/>
                                      <a:latin typeface="Cambria Math"/>
                                    </a:rPr>
                                    <m:t>6</m:t>
                                  </m:r>
                                </m:den>
                              </m:f>
                            </m:oMath>
                          </a14:m>
                          <a:r>
                            <a:rPr lang="en-US" sz="1700" kern="0" spc="-50" baseline="0" dirty="0">
                              <a:effectLst/>
                              <a:latin typeface="Verdana" panose="020B0604030504040204" pitchFamily="34" charset="0"/>
                              <a:ea typeface="Verdana" panose="020B0604030504040204" pitchFamily="34" charset="0"/>
                              <a:cs typeface="Verdana" panose="020B0604030504040204" pitchFamily="34" charset="0"/>
                            </a:rPr>
                            <a:t> yards (yd) long and </a:t>
                          </a:r>
                          <a14:m>
                            <m:oMath xmlns:m="http://schemas.openxmlformats.org/officeDocument/2006/math">
                              <m:r>
                                <a:rPr lang="en-US" sz="1700" kern="0" spc="-50" baseline="0">
                                  <a:effectLst/>
                                  <a:latin typeface="Cambria Math"/>
                                </a:rPr>
                                <m:t>3</m:t>
                              </m:r>
                              <m:f>
                                <m:fPr>
                                  <m:ctrlPr>
                                    <a:rPr lang="en-US" sz="1700" i="1" kern="0" spc="-50" baseline="0">
                                      <a:effectLst/>
                                      <a:latin typeface="Cambria Math" panose="02040503050406030204" pitchFamily="18" charset="0"/>
                                    </a:rPr>
                                  </m:ctrlPr>
                                </m:fPr>
                                <m:num>
                                  <m:r>
                                    <a:rPr lang="en-US" sz="1700" kern="0" spc="-50" baseline="0">
                                      <a:effectLst/>
                                      <a:latin typeface="Cambria Math"/>
                                    </a:rPr>
                                    <m:t>3</m:t>
                                  </m:r>
                                </m:num>
                                <m:den>
                                  <m:r>
                                    <a:rPr lang="en-US" sz="1700" kern="0" spc="-50" baseline="0">
                                      <a:effectLst/>
                                      <a:latin typeface="Cambria Math"/>
                                    </a:rPr>
                                    <m:t>4</m:t>
                                  </m:r>
                                </m:den>
                              </m:f>
                            </m:oMath>
                          </a14:m>
                          <a:r>
                            <a:rPr lang="en-US" sz="1700" kern="0" spc="-50" baseline="0" dirty="0">
                              <a:effectLst/>
                              <a:latin typeface="Verdana" panose="020B0604030504040204" pitchFamily="34" charset="0"/>
                              <a:ea typeface="Verdana" panose="020B0604030504040204" pitchFamily="34" charset="0"/>
                              <a:cs typeface="Verdana" panose="020B0604030504040204" pitchFamily="34" charset="0"/>
                            </a:rPr>
                            <a:t> yd wide.</a:t>
                          </a:r>
                          <a:endParaRPr lang="en-US" sz="1700" i="1" kern="0" spc="-50" baseline="0"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424823"/>
                      </a:ext>
                    </a:extLst>
                  </a:tr>
                  <a:tr h="381135">
                    <a:tc>
                      <a:txBody>
                        <a:bodyPr/>
                        <a:lstStyle/>
                        <a:p>
                          <a:pPr marL="0" marR="0">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The number of tiles needed to cover a patio that is 775.8 centimeters (cm) long and </a:t>
                          </a:r>
                          <a14:m>
                            <m:oMath xmlns:m="http://schemas.openxmlformats.org/officeDocument/2006/math">
                              <m:r>
                                <a:rPr lang="en-US" sz="1700">
                                  <a:effectLst/>
                                  <a:latin typeface="Cambria Math"/>
                                </a:rPr>
                                <m:t>582.1</m:t>
                              </m:r>
                            </m:oMath>
                          </a14:m>
                          <a:r>
                            <a:rPr lang="en-US" sz="1700" dirty="0">
                              <a:effectLst/>
                              <a:latin typeface="Verdana" panose="020B0604030504040204" pitchFamily="34" charset="0"/>
                              <a:ea typeface="Verdana" panose="020B0604030504040204" pitchFamily="34" charset="0"/>
                              <a:cs typeface="Verdana" panose="020B0604030504040204" pitchFamily="34" charset="0"/>
                            </a:rPr>
                            <a:t> cm wide. </a:t>
                          </a:r>
                          <a:endParaRPr lang="en-US" sz="1700" i="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7850833"/>
                      </a:ext>
                    </a:extLst>
                  </a:tr>
                </a:tbl>
              </a:graphicData>
            </a:graphic>
          </p:graphicFrame>
        </mc:Choice>
        <mc:Fallback xmlns="">
          <p:graphicFrame>
            <p:nvGraphicFramePr>
              <p:cNvPr id="2" name="Table 1">
                <a:extLst>
                  <a:ext uri="{FF2B5EF4-FFF2-40B4-BE49-F238E27FC236}">
                    <a16:creationId xmlns:a16="http://schemas.microsoft.com/office/drawing/2014/main" id="{3D19296A-3C78-A543-8D7F-8742BFB0B58E}"/>
                  </a:ext>
                </a:extLst>
              </p:cNvPr>
              <p:cNvGraphicFramePr>
                <a:graphicFrameLocks noGrp="1"/>
              </p:cNvGraphicFramePr>
              <p:nvPr>
                <p:extLst>
                  <p:ext uri="{D42A27DB-BD31-4B8C-83A1-F6EECF244321}">
                    <p14:modId xmlns:p14="http://schemas.microsoft.com/office/powerpoint/2010/main" val="3024803033"/>
                  </p:ext>
                </p:extLst>
              </p:nvPr>
            </p:nvGraphicFramePr>
            <p:xfrm>
              <a:off x="2070306" y="2553442"/>
              <a:ext cx="8276283" cy="3444304"/>
            </p:xfrm>
            <a:graphic>
              <a:graphicData uri="http://schemas.openxmlformats.org/drawingml/2006/table">
                <a:tbl>
                  <a:tblPr firstRow="1" firstCol="1" bandRow="1">
                    <a:tableStyleId>{A91F0D33-8C57-4600-99A7-42BC86742BE1}</a:tableStyleId>
                  </a:tblPr>
                  <a:tblGrid>
                    <a:gridCol w="5737799">
                      <a:extLst>
                        <a:ext uri="{9D8B030D-6E8A-4147-A177-3AD203B41FA5}">
                          <a16:colId xmlns:a16="http://schemas.microsoft.com/office/drawing/2014/main" val="2894379754"/>
                        </a:ext>
                      </a:extLst>
                    </a:gridCol>
                    <a:gridCol w="1269242">
                      <a:extLst>
                        <a:ext uri="{9D8B030D-6E8A-4147-A177-3AD203B41FA5}">
                          <a16:colId xmlns:a16="http://schemas.microsoft.com/office/drawing/2014/main" val="99313125"/>
                        </a:ext>
                      </a:extLst>
                    </a:gridCol>
                    <a:gridCol w="1269242">
                      <a:extLst>
                        <a:ext uri="{9D8B030D-6E8A-4147-A177-3AD203B41FA5}">
                          <a16:colId xmlns:a16="http://schemas.microsoft.com/office/drawing/2014/main" val="1980314614"/>
                        </a:ext>
                      </a:extLst>
                    </a:gridCol>
                  </a:tblGrid>
                  <a:tr h="529971">
                    <a:tc>
                      <a:txBody>
                        <a:bodyPr/>
                        <a:lstStyle/>
                        <a:p>
                          <a:pPr marL="0" marR="0" algn="ctr">
                            <a:lnSpc>
                              <a:spcPct val="107000"/>
                            </a:lnSpc>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Real-World Situation</a:t>
                          </a:r>
                          <a:endParaRPr lang="en-US" sz="1700" b="1"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Area or </a:t>
                          </a:r>
                          <a:r>
                            <a:rPr lang="en-US" sz="1700" b="1" spc="-50" baseline="0" dirty="0">
                              <a:effectLst/>
                              <a:latin typeface="Verdana" panose="020B0604030504040204" pitchFamily="34" charset="0"/>
                              <a:ea typeface="Verdana" panose="020B0604030504040204" pitchFamily="34" charset="0"/>
                              <a:cs typeface="Verdana" panose="020B0604030504040204" pitchFamily="34" charset="0"/>
                            </a:rPr>
                            <a:t>Perimeter</a:t>
                          </a:r>
                          <a:endParaRPr lang="en-US" sz="1700" b="1" i="1" spc="-50" baseline="0"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Units</a:t>
                          </a:r>
                          <a:endParaRPr lang="en-US" sz="1700" b="1"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86421850"/>
                      </a:ext>
                    </a:extLst>
                  </a:tr>
                  <a:tr h="766572">
                    <a:tc>
                      <a:txBody>
                        <a:bodyPr/>
                        <a:lstStyle/>
                        <a:p>
                          <a:endParaRPr lang="en-US"/>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21" t="-81667" r="-44690" b="-295000"/>
                          </a:stretch>
                        </a:blipFill>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5438699"/>
                      </a:ext>
                    </a:extLst>
                  </a:tr>
                  <a:tr h="761873">
                    <a:tc>
                      <a:txBody>
                        <a:bodyPr/>
                        <a:lstStyle/>
                        <a:p>
                          <a:endParaRPr lang="en-US"/>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21" t="-178689" r="-44690" b="-190164"/>
                          </a:stretch>
                        </a:blipFill>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68578"/>
                      </a:ext>
                    </a:extLst>
                  </a:tr>
                  <a:tr h="761873">
                    <a:tc>
                      <a:txBody>
                        <a:bodyPr/>
                        <a:lstStyle/>
                        <a:p>
                          <a:endParaRPr lang="en-US"/>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21" t="-283333" r="-44690" b="-93333"/>
                          </a:stretch>
                        </a:blipFill>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424823"/>
                      </a:ext>
                    </a:extLst>
                  </a:tr>
                  <a:tr h="624015">
                    <a:tc>
                      <a:txBody>
                        <a:bodyPr/>
                        <a:lstStyle/>
                        <a:p>
                          <a:endParaRPr lang="en-US"/>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21" t="-469388" r="-44690" b="-14286"/>
                          </a:stretch>
                        </a:blipFill>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Verdana" panose="020B0604030504040204" pitchFamily="34" charset="0"/>
                            <a:ea typeface="Verdana" panose="020B0604030504040204" pitchFamily="34" charset="0"/>
                            <a:cs typeface="Verdana" panose="020B0604030504040204" pitchFamily="34" charset="0"/>
                          </a:endParaRPr>
                        </a:p>
                      </a:txBody>
                      <a:tcPr marL="56160" marR="561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7850833"/>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6148" y="645016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A3BC97A7-8575-5A46-8E72-A886A83AEC7E}"/>
              </a:ext>
            </a:extLst>
          </p:cNvPr>
          <p:cNvSpPr txBox="1"/>
          <p:nvPr/>
        </p:nvSpPr>
        <p:spPr>
          <a:xfrm>
            <a:off x="539011" y="499297"/>
            <a:ext cx="11440655"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explain how the square in the grid relates to the units of area being “square units.”</a:t>
            </a: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1573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4" name="Picture 3" descr="Chart&#10;&#10;Description automatically generated">
            <a:extLst>
              <a:ext uri="{FF2B5EF4-FFF2-40B4-BE49-F238E27FC236}">
                <a16:creationId xmlns:a16="http://schemas.microsoft.com/office/drawing/2014/main" id="{E83CC591-B823-C741-AD85-8CDC1DF6A69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5351"/>
          <a:stretch/>
        </p:blipFill>
        <p:spPr>
          <a:xfrm>
            <a:off x="3164442" y="1843964"/>
            <a:ext cx="5457036" cy="3962666"/>
          </a:xfrm>
          <a:prstGeom prst="rect">
            <a:avLst/>
          </a:prstGeom>
        </p:spPr>
      </p:pic>
    </p:spTree>
    <p:extLst>
      <p:ext uri="{BB962C8B-B14F-4D97-AF65-F5344CB8AC3E}">
        <p14:creationId xmlns:p14="http://schemas.microsoft.com/office/powerpoint/2010/main" val="3600831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28617"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56775" y="188796"/>
            <a:ext cx="10371375"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1.6.4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432175" y="60325"/>
            <a:ext cx="747300" cy="747300"/>
          </a:xfrm>
          <a:prstGeom prst="rect">
            <a:avLst/>
          </a:prstGeom>
          <a:noFill/>
          <a:ln>
            <a:noFill/>
          </a:ln>
        </p:spPr>
      </p:pic>
      <p:sp>
        <p:nvSpPr>
          <p:cNvPr id="12" name="TextBox 11">
            <a:extLst>
              <a:ext uri="{FF2B5EF4-FFF2-40B4-BE49-F238E27FC236}">
                <a16:creationId xmlns:a16="http://schemas.microsoft.com/office/drawing/2014/main" id="{759C3E41-93EC-B84D-963F-86A3B15AC1C6}"/>
              </a:ext>
            </a:extLst>
          </p:cNvPr>
          <p:cNvSpPr txBox="1"/>
          <p:nvPr/>
        </p:nvSpPr>
        <p:spPr>
          <a:xfrm>
            <a:off x="659873" y="1158263"/>
            <a:ext cx="11250202"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giant anteaters’ habitat is shown in the diagram with measurements in yards (yd).</a:t>
            </a:r>
          </a:p>
        </p:txBody>
      </p:sp>
      <p:sp>
        <p:nvSpPr>
          <p:cNvPr id="8" name="Google Shape;278;g104476d1465_1_17">
            <a:extLst>
              <a:ext uri="{FF2B5EF4-FFF2-40B4-BE49-F238E27FC236}">
                <a16:creationId xmlns:a16="http://schemas.microsoft.com/office/drawing/2014/main" id="{781A9CA2-0645-4547-8E05-A9C337F9CC05}"/>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A picture containing diagram&#10;&#10;Description automatically generated">
            <a:extLst>
              <a:ext uri="{FF2B5EF4-FFF2-40B4-BE49-F238E27FC236}">
                <a16:creationId xmlns:a16="http://schemas.microsoft.com/office/drawing/2014/main" id="{69418220-D9BF-C248-BF3E-150B09598F5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1401" r="2217" b="3061"/>
          <a:stretch/>
        </p:blipFill>
        <p:spPr>
          <a:xfrm>
            <a:off x="3432722" y="2213910"/>
            <a:ext cx="5685302" cy="4376738"/>
          </a:xfrm>
          <a:prstGeom prst="rect">
            <a:avLst/>
          </a:prstGeom>
        </p:spPr>
      </p:pic>
      <p:sp>
        <p:nvSpPr>
          <p:cNvPr id="10" name="Text Box 2">
            <a:extLst>
              <a:ext uri="{FF2B5EF4-FFF2-40B4-BE49-F238E27FC236}">
                <a16:creationId xmlns:a16="http://schemas.microsoft.com/office/drawing/2014/main" id="{2B6C3B6C-9BDC-CF45-8327-E122FA427946}"/>
              </a:ext>
            </a:extLst>
          </p:cNvPr>
          <p:cNvSpPr txBox="1">
            <a:spLocks noChangeArrowheads="1"/>
          </p:cNvSpPr>
          <p:nvPr/>
        </p:nvSpPr>
        <p:spPr bwMode="auto">
          <a:xfrm>
            <a:off x="1319699" y="4024496"/>
            <a:ext cx="1933650" cy="404534"/>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a:lnSpc>
                <a:spcPct val="107000"/>
              </a:lnSpc>
              <a:spcAft>
                <a:spcPts val="800"/>
              </a:spcAft>
            </a:pPr>
            <a:r>
              <a:rPr lang="en-US" sz="2000" b="1" dirty="0">
                <a:latin typeface="Verdana" panose="020B0604030504040204" pitchFamily="34" charset="0"/>
                <a:ea typeface="Cambria Math" panose="02040503050406030204" pitchFamily="18" charset="0"/>
                <a:cs typeface="Cambria Math" panose="02040503050406030204" pitchFamily="18" charset="0"/>
              </a:rPr>
              <a:t>Not to scale</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3" name="Google Shape;282;g104476d1465_1_17">
            <a:extLst>
              <a:ext uri="{FF2B5EF4-FFF2-40B4-BE49-F238E27FC236}">
                <a16:creationId xmlns:a16="http://schemas.microsoft.com/office/drawing/2014/main" id="{647643F2-AA27-F54D-9B18-929351C91D74}"/>
              </a:ext>
            </a:extLst>
          </p:cNvPr>
          <p:cNvSpPr txBox="1"/>
          <p:nvPr/>
        </p:nvSpPr>
        <p:spPr>
          <a:xfrm>
            <a:off x="8814777" y="646426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50101"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08C67FCF-92C3-654A-BF40-5BDF7A4F9271}"/>
              </a:ext>
            </a:extLst>
          </p:cNvPr>
          <p:cNvSpPr txBox="1"/>
          <p:nvPr/>
        </p:nvSpPr>
        <p:spPr>
          <a:xfrm>
            <a:off x="421240" y="398474"/>
            <a:ext cx="11599524"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zoo wants to build a walking path around the outside of the enclosure. How long will the walking path be?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Giant anteaters prefer to live in an area covered with grass and trees. How large is the area that needs to be covered with grass and trees?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8FE59E28-D820-CB4E-8A39-A020690B276D}"/>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843614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25051" y="650247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37</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507"/>
            <a:ext cx="563850" cy="658368"/>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1455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37</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48150" y="-2636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1.6.5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529088" y="132412"/>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413875" y="1219675"/>
            <a:ext cx="11391131" cy="304698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Rodrick was designing a </a:t>
            </a:r>
          </a:p>
          <a:p>
            <a:pPr marL="471488"/>
            <a:r>
              <a:rPr lang="en-US" sz="2400" dirty="0">
                <a:latin typeface="Verdana" panose="020B0604030504040204" pitchFamily="34" charset="0"/>
                <a:ea typeface="Verdana" panose="020B0604030504040204" pitchFamily="34" charset="0"/>
                <a:cs typeface="Verdana" panose="020B0604030504040204" pitchFamily="34" charset="0"/>
              </a:rPr>
              <a:t>kitchen. One of the tiles he </a:t>
            </a:r>
          </a:p>
          <a:p>
            <a:pPr marL="471488"/>
            <a:r>
              <a:rPr lang="en-US" sz="2400" dirty="0">
                <a:latin typeface="Verdana" panose="020B0604030504040204" pitchFamily="34" charset="0"/>
                <a:ea typeface="Verdana" panose="020B0604030504040204" pitchFamily="34" charset="0"/>
                <a:cs typeface="Verdana" panose="020B0604030504040204" pitchFamily="34" charset="0"/>
              </a:rPr>
              <a:t>wanted to use is shown with </a:t>
            </a:r>
          </a:p>
          <a:p>
            <a:pPr marL="471488"/>
            <a:r>
              <a:rPr lang="en-US" sz="2400" dirty="0">
                <a:latin typeface="Verdana" panose="020B0604030504040204" pitchFamily="34" charset="0"/>
                <a:ea typeface="Verdana" panose="020B0604030504040204" pitchFamily="34" charset="0"/>
                <a:cs typeface="Verdana" panose="020B0604030504040204" pitchFamily="34" charset="0"/>
              </a:rPr>
              <a:t>measurements in centimeters </a:t>
            </a:r>
          </a:p>
          <a:p>
            <a:pPr marL="471488"/>
            <a:r>
              <a:rPr lang="en-US" sz="2400" dirty="0">
                <a:latin typeface="Verdana" panose="020B0604030504040204" pitchFamily="34" charset="0"/>
                <a:ea typeface="Verdana" panose="020B0604030504040204" pitchFamily="34" charset="0"/>
                <a:cs typeface="Verdana" panose="020B0604030504040204" pitchFamily="34" charset="0"/>
              </a:rPr>
              <a:t>(cm). Rodrick represents the tile’s perimeter in different ways. </a:t>
            </a:r>
          </a:p>
          <a:p>
            <a:pPr marL="471488"/>
            <a:endParaRPr lang="en-US" sz="2400" dirty="0">
              <a:latin typeface="Verdana" panose="020B0604030504040204" pitchFamily="34" charset="0"/>
              <a:ea typeface="Verdana" panose="020B0604030504040204" pitchFamily="34" charset="0"/>
              <a:cs typeface="Verdana" panose="020B0604030504040204" pitchFamily="34" charset="0"/>
            </a:endParaRPr>
          </a:p>
          <a:p>
            <a:pPr marL="928688"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Determine which representations are correct.</a:t>
            </a:r>
          </a:p>
          <a:p>
            <a:pPr marL="471488"/>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78;g104476d1465_1_17">
            <a:extLst>
              <a:ext uri="{FF2B5EF4-FFF2-40B4-BE49-F238E27FC236}">
                <a16:creationId xmlns:a16="http://schemas.microsoft.com/office/drawing/2014/main" id="{055A48D7-DC81-5F4D-9632-5F42A5D9EE47}"/>
              </a:ext>
            </a:extLst>
          </p:cNvPr>
          <p:cNvSpPr/>
          <p:nvPr/>
        </p:nvSpPr>
        <p:spPr>
          <a:xfrm>
            <a:off x="-12228"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6096000" y="1024859"/>
            <a:ext cx="3810254" cy="1718310"/>
            <a:chOff x="5922850" y="990776"/>
            <a:chExt cx="3810254" cy="1718310"/>
          </a:xfrm>
        </p:grpSpPr>
        <p:pic>
          <p:nvPicPr>
            <p:cNvPr id="3" name="Picture 2" descr="A picture containing text&#10;&#10;Description automatically generated">
              <a:extLst>
                <a:ext uri="{FF2B5EF4-FFF2-40B4-BE49-F238E27FC236}">
                  <a16:creationId xmlns:a16="http://schemas.microsoft.com/office/drawing/2014/main" id="{A1637461-E980-5D44-B70C-9C261C33754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22850" y="1439086"/>
              <a:ext cx="2501900" cy="1270000"/>
            </a:xfrm>
            <a:prstGeom prst="rect">
              <a:avLst/>
            </a:prstGeom>
          </p:spPr>
        </p:pic>
        <mc:AlternateContent xmlns:mc="http://schemas.openxmlformats.org/markup-compatibility/2006" xmlns:a14="http://schemas.microsoft.com/office/drawing/2010/main">
          <mc:Choice Requires="a14">
            <p:sp>
              <p:nvSpPr>
                <p:cNvPr id="10" name="Text Box 2">
                  <a:extLst>
                    <a:ext uri="{FF2B5EF4-FFF2-40B4-BE49-F238E27FC236}">
                      <a16:creationId xmlns:a16="http://schemas.microsoft.com/office/drawing/2014/main" id="{433D8652-6687-7342-84E1-C677EF4B4F11}"/>
                    </a:ext>
                  </a:extLst>
                </p:cNvPr>
                <p:cNvSpPr txBox="1">
                  <a:spLocks noChangeArrowheads="1"/>
                </p:cNvSpPr>
                <p:nvPr/>
              </p:nvSpPr>
              <p:spPr bwMode="auto">
                <a:xfrm>
                  <a:off x="6680415" y="990776"/>
                  <a:ext cx="1344930" cy="448310"/>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15.2</m:t>
                      </m:r>
                    </m:oMath>
                  </a14:m>
                  <a:r>
                    <a:rPr lang="en-US" sz="1800" i="1" dirty="0">
                      <a:latin typeface="Cambria Math" panose="02040503050406030204" pitchFamily="18" charset="0"/>
                      <a:ea typeface="Cambria Math" panose="02040503050406030204" pitchFamily="18" charset="0"/>
                      <a:cs typeface="Cambria Math" panose="02040503050406030204" pitchFamily="18" charset="0"/>
                    </a:rPr>
                    <a:t> </a:t>
                  </a:r>
                  <a:r>
                    <a:rPr lang="en-US" sz="1800" dirty="0">
                      <a:latin typeface="Cambria Math" panose="02040503050406030204" pitchFamily="18" charset="0"/>
                      <a:ea typeface="Cambria Math" panose="02040503050406030204" pitchFamily="18" charset="0"/>
                      <a:cs typeface="Cambria Math" panose="02040503050406030204" pitchFamily="18" charset="0"/>
                    </a:rPr>
                    <a:t>cm</a:t>
                  </a:r>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0" name="Text Box 2">
                  <a:extLst>
                    <a:ext uri="{FF2B5EF4-FFF2-40B4-BE49-F238E27FC236}">
                      <a16:creationId xmlns:a16="http://schemas.microsoft.com/office/drawing/2014/main" id="{433D8652-6687-7342-84E1-C677EF4B4F11}"/>
                    </a:ext>
                  </a:extLst>
                </p:cNvPr>
                <p:cNvSpPr txBox="1">
                  <a:spLocks noRot="1" noChangeAspect="1" noMove="1" noResize="1" noEditPoints="1" noAdjustHandles="1" noChangeArrowheads="1" noChangeShapeType="1" noTextEdit="1"/>
                </p:cNvSpPr>
                <p:nvPr/>
              </p:nvSpPr>
              <p:spPr bwMode="auto">
                <a:xfrm>
                  <a:off x="6680415" y="990776"/>
                  <a:ext cx="1344930" cy="448310"/>
                </a:xfrm>
                <a:prstGeom prst="rect">
                  <a:avLst/>
                </a:prstGeom>
                <a:blipFill>
                  <a:blip r:embed="rId6"/>
                  <a:stretch>
                    <a:fillRect t="-8333" b="-2778"/>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2">
                  <a:extLst>
                    <a:ext uri="{FF2B5EF4-FFF2-40B4-BE49-F238E27FC236}">
                      <a16:creationId xmlns:a16="http://schemas.microsoft.com/office/drawing/2014/main" id="{6E569A75-5942-5446-B6F8-3B6A2015FE61}"/>
                    </a:ext>
                  </a:extLst>
                </p:cNvPr>
                <p:cNvSpPr txBox="1">
                  <a:spLocks noChangeArrowheads="1"/>
                </p:cNvSpPr>
                <p:nvPr/>
              </p:nvSpPr>
              <p:spPr bwMode="auto">
                <a:xfrm>
                  <a:off x="8388174" y="1852303"/>
                  <a:ext cx="1344930" cy="448310"/>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7.5</m:t>
                      </m:r>
                    </m:oMath>
                  </a14:m>
                  <a:r>
                    <a:rPr lang="en-US" sz="1800" i="1" dirty="0">
                      <a:latin typeface="Cambria Math" panose="02040503050406030204" pitchFamily="18" charset="0"/>
                      <a:ea typeface="Cambria Math" panose="02040503050406030204" pitchFamily="18" charset="0"/>
                      <a:cs typeface="Cambria Math" panose="02040503050406030204" pitchFamily="18" charset="0"/>
                    </a:rPr>
                    <a:t> </a:t>
                  </a:r>
                  <a:r>
                    <a:rPr lang="en-US" sz="1800" dirty="0">
                      <a:latin typeface="Cambria Math" panose="02040503050406030204" pitchFamily="18" charset="0"/>
                      <a:ea typeface="Cambria Math" panose="02040503050406030204" pitchFamily="18" charset="0"/>
                      <a:cs typeface="Cambria Math" panose="02040503050406030204" pitchFamily="18" charset="0"/>
                    </a:rPr>
                    <a:t>cm</a:t>
                  </a:r>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1" name="Text Box 2">
                  <a:extLst>
                    <a:ext uri="{FF2B5EF4-FFF2-40B4-BE49-F238E27FC236}">
                      <a16:creationId xmlns:a16="http://schemas.microsoft.com/office/drawing/2014/main" id="{6E569A75-5942-5446-B6F8-3B6A2015FE61}"/>
                    </a:ext>
                  </a:extLst>
                </p:cNvPr>
                <p:cNvSpPr txBox="1">
                  <a:spLocks noRot="1" noChangeAspect="1" noMove="1" noResize="1" noEditPoints="1" noAdjustHandles="1" noChangeArrowheads="1" noChangeShapeType="1" noTextEdit="1"/>
                </p:cNvSpPr>
                <p:nvPr/>
              </p:nvSpPr>
              <p:spPr bwMode="auto">
                <a:xfrm>
                  <a:off x="8388174" y="1852303"/>
                  <a:ext cx="1344930" cy="448310"/>
                </a:xfrm>
                <a:prstGeom prst="rect">
                  <a:avLst/>
                </a:prstGeom>
                <a:blipFill>
                  <a:blip r:embed="rId7"/>
                  <a:stretch>
                    <a:fillRect t="-5556" b="-5556"/>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8580164-F23F-B34A-BEEA-8E9E2D317414}"/>
                  </a:ext>
                </a:extLst>
              </p:cNvPr>
              <p:cNvGraphicFramePr>
                <a:graphicFrameLocks noGrp="1"/>
              </p:cNvGraphicFramePr>
              <p:nvPr>
                <p:extLst>
                  <p:ext uri="{D42A27DB-BD31-4B8C-83A1-F6EECF244321}">
                    <p14:modId xmlns:p14="http://schemas.microsoft.com/office/powerpoint/2010/main" val="1590235980"/>
                  </p:ext>
                </p:extLst>
              </p:nvPr>
            </p:nvGraphicFramePr>
            <p:xfrm>
              <a:off x="2627557" y="4321224"/>
              <a:ext cx="5933767" cy="2168209"/>
            </p:xfrm>
            <a:graphic>
              <a:graphicData uri="http://schemas.openxmlformats.org/drawingml/2006/table">
                <a:tbl>
                  <a:tblPr firstRow="1" firstCol="1" bandRow="1">
                    <a:tableStyleId>{A91F0D33-8C57-4600-99A7-42BC86742BE1}</a:tableStyleId>
                  </a:tblPr>
                  <a:tblGrid>
                    <a:gridCol w="3600000">
                      <a:extLst>
                        <a:ext uri="{9D8B030D-6E8A-4147-A177-3AD203B41FA5}">
                          <a16:colId xmlns:a16="http://schemas.microsoft.com/office/drawing/2014/main" val="359296504"/>
                        </a:ext>
                      </a:extLst>
                    </a:gridCol>
                    <a:gridCol w="2333767">
                      <a:extLst>
                        <a:ext uri="{9D8B030D-6E8A-4147-A177-3AD203B41FA5}">
                          <a16:colId xmlns:a16="http://schemas.microsoft.com/office/drawing/2014/main" val="1296499731"/>
                        </a:ext>
                      </a:extLst>
                    </a:gridCol>
                  </a:tblGrid>
                  <a:tr h="28956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Perimeter</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Correct? </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37594952"/>
                      </a:ext>
                    </a:extLst>
                  </a:tr>
                  <a:tr h="624205">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𝑃</m:t>
                                </m:r>
                                <m:r>
                                  <a:rPr lang="en-US" sz="2000">
                                    <a:effectLst/>
                                    <a:latin typeface="Cambria Math"/>
                                  </a:rPr>
                                  <m:t>=15.2+7.5</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2887926"/>
                      </a:ext>
                    </a:extLst>
                  </a:tr>
                  <a:tr h="607060">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𝑃</m:t>
                                </m:r>
                                <m:r>
                                  <a:rPr lang="en-US" sz="2000">
                                    <a:effectLst/>
                                    <a:latin typeface="Cambria Math"/>
                                  </a:rPr>
                                  <m:t>=2</m:t>
                                </m:r>
                                <m:d>
                                  <m:dPr>
                                    <m:ctrlPr>
                                      <a:rPr lang="en-US" sz="2000" i="1">
                                        <a:effectLst/>
                                        <a:latin typeface="Cambria Math" panose="02040503050406030204" pitchFamily="18" charset="0"/>
                                      </a:rPr>
                                    </m:ctrlPr>
                                  </m:dPr>
                                  <m:e>
                                    <m:r>
                                      <a:rPr lang="en-US" sz="2000">
                                        <a:effectLst/>
                                        <a:latin typeface="Cambria Math"/>
                                      </a:rPr>
                                      <m:t>15.2+7.5</m:t>
                                    </m:r>
                                  </m:e>
                                </m:d>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428792"/>
                      </a:ext>
                    </a:extLst>
                  </a:tr>
                  <a:tr h="608330">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𝑃</m:t>
                                </m:r>
                                <m:r>
                                  <a:rPr lang="en-US" sz="2000">
                                    <a:effectLst/>
                                    <a:latin typeface="Cambria Math"/>
                                  </a:rPr>
                                  <m:t>=15.2+7.5+15.2+7.5</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8852381"/>
                      </a:ext>
                    </a:extLst>
                  </a:tr>
                </a:tbl>
              </a:graphicData>
            </a:graphic>
          </p:graphicFrame>
        </mc:Choice>
        <mc:Fallback xmlns="">
          <p:graphicFrame>
            <p:nvGraphicFramePr>
              <p:cNvPr id="4" name="Table 3">
                <a:extLst>
                  <a:ext uri="{FF2B5EF4-FFF2-40B4-BE49-F238E27FC236}">
                    <a16:creationId xmlns:a16="http://schemas.microsoft.com/office/drawing/2014/main" id="{48580164-F23F-B34A-BEEA-8E9E2D317414}"/>
                  </a:ext>
                </a:extLst>
              </p:cNvPr>
              <p:cNvGraphicFramePr>
                <a:graphicFrameLocks noGrp="1"/>
              </p:cNvGraphicFramePr>
              <p:nvPr>
                <p:extLst>
                  <p:ext uri="{D42A27DB-BD31-4B8C-83A1-F6EECF244321}">
                    <p14:modId xmlns:p14="http://schemas.microsoft.com/office/powerpoint/2010/main" val="1590235980"/>
                  </p:ext>
                </p:extLst>
              </p:nvPr>
            </p:nvGraphicFramePr>
            <p:xfrm>
              <a:off x="2627557" y="4321224"/>
              <a:ext cx="5933767" cy="2168209"/>
            </p:xfrm>
            <a:graphic>
              <a:graphicData uri="http://schemas.openxmlformats.org/drawingml/2006/table">
                <a:tbl>
                  <a:tblPr firstRow="1" firstCol="1" bandRow="1">
                    <a:tableStyleId>{A91F0D33-8C57-4600-99A7-42BC86742BE1}</a:tableStyleId>
                  </a:tblPr>
                  <a:tblGrid>
                    <a:gridCol w="3600000">
                      <a:extLst>
                        <a:ext uri="{9D8B030D-6E8A-4147-A177-3AD203B41FA5}">
                          <a16:colId xmlns:a16="http://schemas.microsoft.com/office/drawing/2014/main" val="359296504"/>
                        </a:ext>
                      </a:extLst>
                    </a:gridCol>
                    <a:gridCol w="2333767">
                      <a:extLst>
                        <a:ext uri="{9D8B030D-6E8A-4147-A177-3AD203B41FA5}">
                          <a16:colId xmlns:a16="http://schemas.microsoft.com/office/drawing/2014/main" val="1296499731"/>
                        </a:ext>
                      </a:extLst>
                    </a:gridCol>
                  </a:tblGrid>
                  <a:tr h="29724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Perimeter</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Correct? </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37594952"/>
                      </a:ext>
                    </a:extLst>
                  </a:tr>
                  <a:tr h="62420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51" t="-60000" r="-64912" b="-224000"/>
                          </a:stretch>
                        </a:blipFill>
                      </a:tcPr>
                    </a:tc>
                    <a:tc>
                      <a:txBody>
                        <a:bodyPr/>
                        <a:lstStyle/>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2887926"/>
                      </a:ext>
                    </a:extLst>
                  </a:tr>
                  <a:tr h="62338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51" t="-163265" r="-64912" b="-128571"/>
                          </a:stretch>
                        </a:blipFill>
                      </a:tcPr>
                    </a:tc>
                    <a:tc>
                      <a:txBody>
                        <a:bodyPr/>
                        <a:lstStyle/>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428792"/>
                      </a:ext>
                    </a:extLst>
                  </a:tr>
                  <a:tr h="62338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51" t="-263265" r="-64912" b="-28571"/>
                          </a:stretch>
                        </a:blipFill>
                      </a:tcPr>
                    </a:tc>
                    <a:tc>
                      <a:txBody>
                        <a:bodyPr/>
                        <a:lstStyle/>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982663" marR="0" lvl="0" indent="-355600">
                            <a:lnSpc>
                              <a:spcPct val="107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8852381"/>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45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04503" y="643514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37</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406119" y="236306"/>
            <a:ext cx="11131760" cy="5632311"/>
          </a:xfrm>
          <a:prstGeom prst="rect">
            <a:avLst/>
          </a:prstGeom>
          <a:noFill/>
        </p:spPr>
        <p:txBody>
          <a:bodyPr wrap="square" rtlCol="0">
            <a:spAutoFit/>
          </a:bodyPr>
          <a:lstStyle/>
          <a:p>
            <a:pPr marL="909637"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Rodrick represents the area of the tile using the diagram shown. </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a:r>
              <a:rPr lang="en-US" sz="2400" dirty="0">
                <a:latin typeface="Verdana" panose="020B0604030504040204" pitchFamily="34" charset="0"/>
                <a:ea typeface="Verdana" panose="020B0604030504040204" pitchFamily="34" charset="0"/>
                <a:cs typeface="Verdana" panose="020B0604030504040204" pitchFamily="34" charset="0"/>
              </a:rPr>
              <a:t>Rodrick made a mistake when labeling the smaller areas. Correct Rodrick’s mistake.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5A057F2B-B43B-F64E-8B11-07A9669FD9E1}"/>
              </a:ext>
            </a:extLst>
          </p:cNvPr>
          <p:cNvSpPr/>
          <p:nvPr/>
        </p:nvSpPr>
        <p:spPr>
          <a:xfrm>
            <a:off x="-6728" y="-937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a:extLst>
              <a:ext uri="{FF2B5EF4-FFF2-40B4-BE49-F238E27FC236}">
                <a16:creationId xmlns:a16="http://schemas.microsoft.com/office/drawing/2014/main" id="{82263430-F59F-E34D-B060-83EA48D1E0D0}"/>
              </a:ext>
            </a:extLst>
          </p:cNvPr>
          <p:cNvGrpSpPr/>
          <p:nvPr/>
        </p:nvGrpSpPr>
        <p:grpSpPr>
          <a:xfrm>
            <a:off x="3652714" y="1143408"/>
            <a:ext cx="5072444" cy="3256788"/>
            <a:chOff x="0" y="0"/>
            <a:chExt cx="4391025" cy="2986392"/>
          </a:xfrm>
        </p:grpSpPr>
        <p:sp>
          <p:nvSpPr>
            <p:cNvPr id="8" name="Rectangle 7">
              <a:extLst>
                <a:ext uri="{FF2B5EF4-FFF2-40B4-BE49-F238E27FC236}">
                  <a16:creationId xmlns:a16="http://schemas.microsoft.com/office/drawing/2014/main" id="{E13F615E-C013-E147-8B02-B32EC4693F4A}"/>
                </a:ext>
              </a:extLst>
            </p:cNvPr>
            <p:cNvSpPr/>
            <p:nvPr/>
          </p:nvSpPr>
          <p:spPr>
            <a:xfrm>
              <a:off x="0" y="0"/>
              <a:ext cx="4124325" cy="287655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 name="Straight Connector 8">
              <a:extLst>
                <a:ext uri="{FF2B5EF4-FFF2-40B4-BE49-F238E27FC236}">
                  <a16:creationId xmlns:a16="http://schemas.microsoft.com/office/drawing/2014/main" id="{9A7E4E38-6B46-F446-8F03-BD0690ACF0BD}"/>
                </a:ext>
              </a:extLst>
            </p:cNvPr>
            <p:cNvCxnSpPr/>
            <p:nvPr/>
          </p:nvCxnSpPr>
          <p:spPr>
            <a:xfrm>
              <a:off x="3209925" y="19821"/>
              <a:ext cx="0" cy="2876550"/>
            </a:xfrm>
            <a:prstGeom prst="line">
              <a:avLst/>
            </a:prstGeom>
            <a:ln w="38100">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EFC54C-FD1D-EA43-9D6C-AD1B10E02B4F}"/>
                </a:ext>
              </a:extLst>
            </p:cNvPr>
            <p:cNvCxnSpPr/>
            <p:nvPr/>
          </p:nvCxnSpPr>
          <p:spPr>
            <a:xfrm>
              <a:off x="0" y="2129993"/>
              <a:ext cx="4124325" cy="0"/>
            </a:xfrm>
            <a:prstGeom prst="line">
              <a:avLst/>
            </a:prstGeom>
            <a:ln w="38100">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 Box 2">
                  <a:extLst>
                    <a:ext uri="{FF2B5EF4-FFF2-40B4-BE49-F238E27FC236}">
                      <a16:creationId xmlns:a16="http://schemas.microsoft.com/office/drawing/2014/main" id="{0058D3EB-D19F-1E43-A7DF-26B11F22AA9B}"/>
                    </a:ext>
                  </a:extLst>
                </p:cNvPr>
                <p:cNvSpPr txBox="1">
                  <a:spLocks noChangeArrowheads="1"/>
                </p:cNvSpPr>
                <p:nvPr/>
              </p:nvSpPr>
              <p:spPr bwMode="auto">
                <a:xfrm>
                  <a:off x="1057275" y="927572"/>
                  <a:ext cx="1400175" cy="490855"/>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7∙15</m:t>
                        </m:r>
                      </m:oMath>
                    </m:oMathPara>
                  </a14:m>
                  <a:endParaRPr lang="en-US"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1" name="Text Box 2">
                  <a:extLst>
                    <a:ext uri="{FF2B5EF4-FFF2-40B4-BE49-F238E27FC236}">
                      <a16:creationId xmlns:a16="http://schemas.microsoft.com/office/drawing/2014/main" id="{0058D3EB-D19F-1E43-A7DF-26B11F22AA9B}"/>
                    </a:ext>
                  </a:extLst>
                </p:cNvPr>
                <p:cNvSpPr txBox="1">
                  <a:spLocks noRot="1" noChangeAspect="1" noMove="1" noResize="1" noEditPoints="1" noAdjustHandles="1" noChangeArrowheads="1" noChangeShapeType="1" noTextEdit="1"/>
                </p:cNvSpPr>
                <p:nvPr/>
              </p:nvSpPr>
              <p:spPr bwMode="auto">
                <a:xfrm>
                  <a:off x="1057275" y="927572"/>
                  <a:ext cx="1400175" cy="490855"/>
                </a:xfrm>
                <a:prstGeom prst="rect">
                  <a:avLst/>
                </a:prstGeom>
                <a:blipFill>
                  <a:blip r:embed="rId4"/>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id="{718EC349-CACF-6D43-8B67-FC3A498842BE}"/>
                    </a:ext>
                  </a:extLst>
                </p:cNvPr>
                <p:cNvSpPr txBox="1">
                  <a:spLocks noChangeArrowheads="1"/>
                </p:cNvSpPr>
                <p:nvPr/>
              </p:nvSpPr>
              <p:spPr bwMode="auto">
                <a:xfrm>
                  <a:off x="1057275" y="2228850"/>
                  <a:ext cx="1400175" cy="744220"/>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0.5∙15</m:t>
                        </m:r>
                      </m:oMath>
                    </m:oMathPara>
                  </a14:m>
                  <a:endParaRPr lang="en-US"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3" name="Text Box 2">
                  <a:extLst>
                    <a:ext uri="{FF2B5EF4-FFF2-40B4-BE49-F238E27FC236}">
                      <a16:creationId xmlns:a16="http://schemas.microsoft.com/office/drawing/2014/main" id="{718EC349-CACF-6D43-8B67-FC3A498842BE}"/>
                    </a:ext>
                  </a:extLst>
                </p:cNvPr>
                <p:cNvSpPr txBox="1">
                  <a:spLocks noRot="1" noChangeAspect="1" noMove="1" noResize="1" noEditPoints="1" noAdjustHandles="1" noChangeArrowheads="1" noChangeShapeType="1" noTextEdit="1"/>
                </p:cNvSpPr>
                <p:nvPr/>
              </p:nvSpPr>
              <p:spPr bwMode="auto">
                <a:xfrm>
                  <a:off x="1057275" y="2228850"/>
                  <a:ext cx="1400175" cy="744220"/>
                </a:xfrm>
                <a:prstGeom prst="rect">
                  <a:avLst/>
                </a:prstGeom>
                <a:blipFill>
                  <a:blip r:embed="rId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2">
                  <a:extLst>
                    <a:ext uri="{FF2B5EF4-FFF2-40B4-BE49-F238E27FC236}">
                      <a16:creationId xmlns:a16="http://schemas.microsoft.com/office/drawing/2014/main" id="{0EAA94C3-0CB0-7042-A3D8-48CBB23D5474}"/>
                    </a:ext>
                  </a:extLst>
                </p:cNvPr>
                <p:cNvSpPr txBox="1">
                  <a:spLocks noChangeArrowheads="1"/>
                </p:cNvSpPr>
                <p:nvPr/>
              </p:nvSpPr>
              <p:spPr bwMode="auto">
                <a:xfrm>
                  <a:off x="2990850" y="925837"/>
                  <a:ext cx="1400175" cy="738505"/>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7∙0.2</m:t>
                        </m:r>
                      </m:oMath>
                    </m:oMathPara>
                  </a14:m>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4" name="Text Box 2">
                  <a:extLst>
                    <a:ext uri="{FF2B5EF4-FFF2-40B4-BE49-F238E27FC236}">
                      <a16:creationId xmlns:a16="http://schemas.microsoft.com/office/drawing/2014/main" id="{0EAA94C3-0CB0-7042-A3D8-48CBB23D5474}"/>
                    </a:ext>
                  </a:extLst>
                </p:cNvPr>
                <p:cNvSpPr txBox="1">
                  <a:spLocks noRot="1" noChangeAspect="1" noMove="1" noResize="1" noEditPoints="1" noAdjustHandles="1" noChangeArrowheads="1" noChangeShapeType="1" noTextEdit="1"/>
                </p:cNvSpPr>
                <p:nvPr/>
              </p:nvSpPr>
              <p:spPr bwMode="auto">
                <a:xfrm>
                  <a:off x="2990850" y="925837"/>
                  <a:ext cx="1400175" cy="738505"/>
                </a:xfrm>
                <a:prstGeom prst="rect">
                  <a:avLst/>
                </a:prstGeom>
                <a:blipFill>
                  <a:blip r:embed="rId6"/>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2">
                  <a:extLst>
                    <a:ext uri="{FF2B5EF4-FFF2-40B4-BE49-F238E27FC236}">
                      <a16:creationId xmlns:a16="http://schemas.microsoft.com/office/drawing/2014/main" id="{EFED8CD5-9C86-DA42-BE21-75863170199E}"/>
                    </a:ext>
                  </a:extLst>
                </p:cNvPr>
                <p:cNvSpPr txBox="1">
                  <a:spLocks noChangeArrowheads="1"/>
                </p:cNvSpPr>
                <p:nvPr/>
              </p:nvSpPr>
              <p:spPr bwMode="auto">
                <a:xfrm>
                  <a:off x="2980828" y="2242172"/>
                  <a:ext cx="1400175" cy="744220"/>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7∙0.5</m:t>
                        </m:r>
                      </m:oMath>
                    </m:oMathPara>
                  </a14:m>
                  <a:endParaRPr lang="en-US"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5" name="Text Box 2">
                  <a:extLst>
                    <a:ext uri="{FF2B5EF4-FFF2-40B4-BE49-F238E27FC236}">
                      <a16:creationId xmlns:a16="http://schemas.microsoft.com/office/drawing/2014/main" id="{EFED8CD5-9C86-DA42-BE21-75863170199E}"/>
                    </a:ext>
                  </a:extLst>
                </p:cNvPr>
                <p:cNvSpPr txBox="1">
                  <a:spLocks noRot="1" noChangeAspect="1" noMove="1" noResize="1" noEditPoints="1" noAdjustHandles="1" noChangeArrowheads="1" noChangeShapeType="1" noTextEdit="1"/>
                </p:cNvSpPr>
                <p:nvPr/>
              </p:nvSpPr>
              <p:spPr bwMode="auto">
                <a:xfrm>
                  <a:off x="2980828" y="2242172"/>
                  <a:ext cx="1400175" cy="744220"/>
                </a:xfrm>
                <a:prstGeom prst="rect">
                  <a:avLst/>
                </a:prstGeom>
                <a:blipFill>
                  <a:blip r:embed="rId7"/>
                  <a:stretch>
                    <a:fillRect/>
                  </a:stretch>
                </a:blipFill>
                <a:ln w="9525">
                  <a:noFill/>
                  <a:miter lim="800000"/>
                  <a:headEnd/>
                  <a:tailEnd/>
                </a:ln>
              </p:spPr>
              <p:txBody>
                <a:bodyPr/>
                <a:lstStyle/>
                <a:p>
                  <a:r>
                    <a:rPr lang="en-US">
                      <a:noFill/>
                    </a:rPr>
                    <a:t> </a:t>
                  </a:r>
                </a:p>
              </p:txBody>
            </p:sp>
          </mc:Fallback>
        </mc:AlternateContent>
      </p:gr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1487</TotalTime>
  <Words>1523</Words>
  <Application>Microsoft Office PowerPoint</Application>
  <PresentationFormat>Widescreen</PresentationFormat>
  <Paragraphs>282</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Verdana</vt:lpstr>
      <vt:lpstr>Century Gothic</vt:lpstr>
      <vt:lpstr>Calibri</vt:lpstr>
      <vt:lpstr>Arial Black</vt:lpstr>
      <vt:lpstr>Cambria Math</vt:lpstr>
      <vt:lpstr>Courier New</vt:lpstr>
      <vt:lpstr>Arial</vt:lpstr>
      <vt:lpstr>1_Office Theme</vt:lpstr>
      <vt:lpstr>6th Grade Math  Unit 1, Lesson 6  Finding the Perimeter and Area of Rectangles  Volume 1, pg. 31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vaanmx</cp:lastModifiedBy>
  <cp:revision>33</cp:revision>
  <dcterms:created xsi:type="dcterms:W3CDTF">2015-03-17T18:51:18Z</dcterms:created>
  <dcterms:modified xsi:type="dcterms:W3CDTF">2022-06-04T23:05:46Z</dcterms:modified>
</cp:coreProperties>
</file>