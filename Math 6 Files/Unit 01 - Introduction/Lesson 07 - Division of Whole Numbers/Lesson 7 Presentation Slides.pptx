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35" r:id="rId12"/>
    <p:sldId id="336" r:id="rId13"/>
    <p:sldId id="337" r:id="rId14"/>
    <p:sldId id="338" r:id="rId15"/>
    <p:sldId id="339" r:id="rId16"/>
    <p:sldId id="332" r:id="rId17"/>
    <p:sldId id="333" r:id="rId18"/>
    <p:sldId id="334" r:id="rId19"/>
    <p:sldId id="340" r:id="rId20"/>
    <p:sldId id="320" r:id="rId21"/>
    <p:sldId id="321" r:id="rId22"/>
    <p:sldId id="322" r:id="rId23"/>
    <p:sldId id="341" r:id="rId24"/>
    <p:sldId id="342" r:id="rId25"/>
    <p:sldId id="302" r:id="rId26"/>
    <p:sldId id="303" r:id="rId27"/>
    <p:sldId id="309" r:id="rId28"/>
    <p:sldId id="306" r:id="rId29"/>
    <p:sldId id="307" r:id="rId30"/>
  </p:sldIdLst>
  <p:sldSz cx="12192000" cy="6858000"/>
  <p:notesSz cx="6858000" cy="9144000"/>
  <p:embeddedFontLst>
    <p:embeddedFont>
      <p:font typeface="Arial Black" panose="020B0A04020102020204" pitchFamily="34" charset="0"/>
      <p:bold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620D2D-0FC3-4D10-B0B9-9BEBC1CC1B91}" v="92" dt="2021-12-22T22:08:34.186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4707" autoAdjust="0"/>
  </p:normalViewPr>
  <p:slideViewPr>
    <p:cSldViewPr snapToGrid="0">
      <p:cViewPr varScale="1">
        <p:scale>
          <a:sx n="59" d="100"/>
          <a:sy n="59" d="100"/>
        </p:scale>
        <p:origin x="102" y="1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520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37042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708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9154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024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10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739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664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5322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0003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98528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7004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0382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4789714" y="2054277"/>
            <a:ext cx="587828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Whole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5775" y="-810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415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97879" y="136525"/>
            <a:ext cx="89032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79" y="2961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8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09600" y="1600025"/>
            <a:ext cx="96012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MA.5.NSO.2.2</a:t>
            </a:r>
          </a:p>
          <a:p>
            <a:pPr marL="401638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3500" dirty="0">
                <a:latin typeface="Verdana" panose="020B060403050404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Divide multi-digit whole numbers, up to five digits by two digits, including using a standard algorithm with procedural fluency. Represent remainders as fractions.</a:t>
            </a:r>
            <a:endParaRPr lang="en-US" sz="35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2852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20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38943" y="129667"/>
            <a:ext cx="107550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798207" y="64274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34142" y="1596390"/>
            <a:ext cx="109619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706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83146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12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77306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03009" y="2079171"/>
            <a:ext cx="971867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I can find whole-number quotients of whole numbers. </a:t>
            </a:r>
            <a:endParaRPr lang="en-US" sz="35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60325"/>
            <a:ext cx="110312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1.7.1 Warm-Up: What Is Math Anxiety?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866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6677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623766" y="1872594"/>
            <a:ext cx="9993060" cy="384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you ever sat down to take a math test and immediately felt your heart beat faster and your palms start to sweat? Sometimes this can happen if you are feeling anxious about math.</a:t>
            </a:r>
            <a:endParaRPr lang="en-US" sz="25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5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sz="25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some of your worries about math class this year?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18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941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58585" y="1325936"/>
            <a:ext cx="10874829" cy="3356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Maryam Mirzakhani is an award-winning mathematician who was born in Iran. After being the first woman to win the prestigious Fields Medal, she stated in an interview, “I did poorly in math for a couple of years in middle school; I was just not interested in thinking about it. I can see that without being excited mathematics can look pointless and cold. The beauty of mathematics only shows itself to more patient followers.”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Remember: the brain is flexible, so your math skills can always grow and develop. Write a positive statement about learning math this year.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1" y="620317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28617" y="65318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5001" y="61921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85979"/>
            <a:ext cx="110501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1.7.2 Guided Instruction: Division of Whole Numbers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31001" y="6520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44286" y="1386026"/>
            <a:ext cx="9843298" cy="499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Division is                                         This is because when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dividing, we are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partitioning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or taking out, equal groups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from the whole. </a:t>
            </a:r>
          </a:p>
          <a:p>
            <a:pPr>
              <a:lnSpc>
                <a:spcPct val="115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457200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A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division expression is shown.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                           </a:t>
            </a:r>
          </a:p>
          <a:p>
            <a:pPr algn="ctr">
              <a:lnSpc>
                <a:spcPct val="115000"/>
              </a:lnSpc>
            </a:pPr>
            <a:r>
              <a:rPr lang="en-US" sz="2000" dirty="0">
                <a:latin typeface="Cambria Math" pitchFamily="18" charset="0"/>
                <a:ea typeface="Cambria Math" pitchFamily="18" charset="0"/>
                <a:cs typeface="Verdana" panose="020B0604030504040204" pitchFamily="34" charset="0"/>
              </a:rPr>
              <a:t>253 ÷ 12</a:t>
            </a:r>
          </a:p>
          <a:p>
            <a:pPr>
              <a:lnSpc>
                <a:spcPct val="115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divisor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the size of the groups that are being partitioned. </a:t>
            </a:r>
          </a:p>
          <a:p>
            <a:pPr>
              <a:lnSpc>
                <a:spcPct val="115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914400" indent="-452438">
              <a:lnSpc>
                <a:spcPct val="115000"/>
              </a:lnSpc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expression, the divisor is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6FAAA8-C384-414D-B362-612A5059132C}"/>
              </a:ext>
            </a:extLst>
          </p:cNvPr>
          <p:cNvSpPr/>
          <p:nvPr/>
        </p:nvSpPr>
        <p:spPr>
          <a:xfrm>
            <a:off x="2201432" y="1239721"/>
            <a:ext cx="3135086" cy="7287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endParaRPr lang="en-US" sz="18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repeated addition.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repeated subtraction.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 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07DEC1-5D08-4208-89E1-603C640BCA62}"/>
              </a:ext>
            </a:extLst>
          </p:cNvPr>
          <p:cNvSpPr/>
          <p:nvPr/>
        </p:nvSpPr>
        <p:spPr>
          <a:xfrm>
            <a:off x="5856064" y="5253785"/>
            <a:ext cx="1048986" cy="94681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endParaRPr lang="en-US" sz="1800" dirty="0">
              <a:solidFill>
                <a:srgbClr val="000000"/>
              </a:solidFill>
              <a:latin typeface="Cambria Math" panose="02040503050406030204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Cambria Math" panose="0204050305040603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253.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Cambria Math" panose="0204050305040603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12.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 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7662" y="635590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97205" y="658859"/>
            <a:ext cx="9519339" cy="13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7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dividend</a:t>
            </a: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the group that is being partitioned.</a:t>
            </a:r>
          </a:p>
          <a:p>
            <a:pPr>
              <a:lnSpc>
                <a:spcPct val="107000"/>
              </a:lnSpc>
            </a:pP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914400" indent="-401638">
              <a:lnSpc>
                <a:spcPct val="107000"/>
              </a:lnSpc>
              <a:buFont typeface="+mj-lt"/>
              <a:buAutoNum type="alphaLcPeriod" startAt="2"/>
            </a:pP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</a:t>
            </a:r>
            <a:r>
              <a:rPr lang="en-US" sz="27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expression, the dividend is</a:t>
            </a: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 </a:t>
            </a:r>
            <a:endParaRPr lang="en-US" sz="27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3088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E50B47-BC26-491C-B27D-E436E9A36361}"/>
              </a:ext>
            </a:extLst>
          </p:cNvPr>
          <p:cNvSpPr/>
          <p:nvPr/>
        </p:nvSpPr>
        <p:spPr>
          <a:xfrm>
            <a:off x="7898438" y="1218919"/>
            <a:ext cx="1092744" cy="9098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115000"/>
              </a:lnSpc>
            </a:pPr>
            <a:endParaRPr lang="en-US" sz="1800" dirty="0">
              <a:solidFill>
                <a:srgbClr val="000000"/>
              </a:solidFill>
              <a:latin typeface="Cambria Math" panose="02040503050406030204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Cambria Math" panose="0204050305040603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253.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Cambria Math" panose="0204050305040603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12.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 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7662" y="641298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33400" y="288745"/>
            <a:ext cx="9726168" cy="39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base-ten model of 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Verdana" panose="020B0604030504040204" pitchFamily="34" charset="0"/>
              </a:rPr>
              <a:t>253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shown.</a:t>
            </a:r>
          </a:p>
          <a:p>
            <a:pPr>
              <a:lnSpc>
                <a:spcPct val="107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model should be arranged in 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Verdana" panose="020B0604030504040204" pitchFamily="34" charset="0"/>
              </a:rPr>
              <a:t>12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equal groups. Since there are not 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Verdana" panose="020B0604030504040204" pitchFamily="34" charset="0"/>
              </a:rPr>
              <a:t>12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hundreds flats, regroup the hundreds-flats into ten-rods.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 </a:t>
            </a: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close up of a screen&#10;&#10;Description automatically generated">
            <a:extLst>
              <a:ext uri="{FF2B5EF4-FFF2-40B4-BE49-F238E27FC236}">
                <a16:creationId xmlns:a16="http://schemas.microsoft.com/office/drawing/2014/main" id="{DC0041C8-0C5A-4E79-BB12-045D964335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4781" y="890281"/>
            <a:ext cx="5996856" cy="1543599"/>
          </a:xfrm>
          <a:prstGeom prst="rect">
            <a:avLst/>
          </a:prstGeom>
        </p:spPr>
      </p:pic>
      <p:pic>
        <p:nvPicPr>
          <p:cNvPr id="9" name="Picture 8" descr="A picture containing screen, building, sitting, large&#10;&#10;Description automatically generated">
            <a:extLst>
              <a:ext uri="{FF2B5EF4-FFF2-40B4-BE49-F238E27FC236}">
                <a16:creationId xmlns:a16="http://schemas.microsoft.com/office/drawing/2014/main" id="{3D4A689E-47A2-4CDF-B56A-82BCDDF43C7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828"/>
          <a:stretch/>
        </p:blipFill>
        <p:spPr bwMode="auto">
          <a:xfrm>
            <a:off x="2944782" y="3308727"/>
            <a:ext cx="2658745" cy="18973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 descr="A picture containing screen, building, sitting, large&#10;&#10;Description automatically generated">
            <a:extLst>
              <a:ext uri="{FF2B5EF4-FFF2-40B4-BE49-F238E27FC236}">
                <a16:creationId xmlns:a16="http://schemas.microsoft.com/office/drawing/2014/main" id="{7DF396F4-3E2D-4562-B1D9-852222FCEB8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913"/>
          <a:stretch/>
        </p:blipFill>
        <p:spPr bwMode="auto">
          <a:xfrm>
            <a:off x="5845559" y="3306823"/>
            <a:ext cx="2658745" cy="18992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close up of a building&#10;&#10;Description automatically generated">
            <a:extLst>
              <a:ext uri="{FF2B5EF4-FFF2-40B4-BE49-F238E27FC236}">
                <a16:creationId xmlns:a16="http://schemas.microsoft.com/office/drawing/2014/main" id="{DA56484F-6E0C-4585-B199-D570CE944A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4781" y="5422460"/>
            <a:ext cx="1932940" cy="1316990"/>
          </a:xfrm>
          <a:prstGeom prst="rect">
            <a:avLst/>
          </a:prstGeom>
        </p:spPr>
      </p:pic>
      <p:pic>
        <p:nvPicPr>
          <p:cNvPr id="13" name="Picture 12" descr="A picture containing building, person, blue, racket&#10;&#10;Description automatically generated">
            <a:extLst>
              <a:ext uri="{FF2B5EF4-FFF2-40B4-BE49-F238E27FC236}">
                <a16:creationId xmlns:a16="http://schemas.microsoft.com/office/drawing/2014/main" id="{487BAD54-AFF0-4AFC-A8F5-11E908A21C3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7701" y="6486720"/>
            <a:ext cx="687705" cy="25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09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464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5652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35429" y="288746"/>
                <a:ext cx="9824139" cy="6294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Partition the ten-rods into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equal groups by sketching the ten-rods in the boxes.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tens are left after partitioning?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algn="ctr">
                  <a:lnSpc>
                    <a:spcPct val="107000"/>
                  </a:lnSpc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9" y="288746"/>
                <a:ext cx="9824139" cy="6294031"/>
              </a:xfrm>
              <a:prstGeom prst="rect">
                <a:avLst/>
              </a:prstGeom>
              <a:blipFill>
                <a:blip r:embed="rId4"/>
                <a:stretch>
                  <a:fillRect l="-682" t="-678" r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E475ED-DF02-484F-81BC-E9A30B51E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978" y="1250687"/>
            <a:ext cx="5674544" cy="334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60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42568" y="642393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78971" y="288746"/>
                <a:ext cx="9780597" cy="4253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remaining ten-rods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ones should be partitioned by regrouping the ten-rods into ones. 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Add to your sketch in the boxes the partitioning of the ones.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ones were not able to be partitioned? 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18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288746"/>
                <a:ext cx="9780597" cy="4253087"/>
              </a:xfrm>
              <a:prstGeom prst="rect">
                <a:avLst/>
              </a:prstGeom>
              <a:blipFill>
                <a:blip r:embed="rId4"/>
                <a:stretch>
                  <a:fillRect l="-686" t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982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7662" y="64512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4286" y="297663"/>
                <a:ext cx="9715282" cy="6353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The one-blocks that were not able to be partitioned are the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The amount left over can also be written as a fraction,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𝑟𝑒𝑚𝑎𝑖𝑛𝑖𝑛𝑔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𝑜𝑛𝑒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𝑏𝑙𝑜𝑐𝑘𝑠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𝑑𝑖𝑣𝑖𝑠𝑜𝑟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remainder as a fraction.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the base-ten blocks in each group? 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there is a remainder, the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quotient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the value of the base ten-blocks and the remainder written as a fraction.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8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quotient.  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18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6" y="297663"/>
                <a:ext cx="9715282" cy="6353662"/>
              </a:xfrm>
              <a:prstGeom prst="rect">
                <a:avLst/>
              </a:prstGeom>
              <a:blipFill>
                <a:blip r:embed="rId4"/>
                <a:stretch>
                  <a:fillRect l="-690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1618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8486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34119" y="644193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778783" y="392160"/>
            <a:ext cx="8327136" cy="3495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9"/>
            </a:pP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equation.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 startAt="9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461963">
              <a:lnSpc>
                <a:spcPct val="107000"/>
              </a:lnSpc>
            </a:pPr>
            <a:r>
              <a:rPr lang="en-US" sz="27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253 ÷ 12 = </a:t>
            </a:r>
            <a:endParaRPr lang="en-US" sz="27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9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9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9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4"/>
            </a:pP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4"/>
            </a:pPr>
            <a:endParaRPr lang="en-US" sz="18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4"/>
            </a:pP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782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600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72200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</a:p>
        </p:txBody>
      </p:sp>
    </p:spTree>
    <p:extLst>
      <p:ext uri="{BB962C8B-B14F-4D97-AF65-F5344CB8AC3E}">
        <p14:creationId xmlns:p14="http://schemas.microsoft.com/office/powerpoint/2010/main" val="874684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4595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2743" y="-85979"/>
            <a:ext cx="92764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1.7.3 Guided Instruction: Partial Quotient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952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28090" y="640303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642257" y="1134470"/>
                <a:ext cx="4933043" cy="3031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</a:t>
                </a:r>
                <a:r>
                  <a:rPr lang="en-US" sz="2000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>2,743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÷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> 14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partial quotient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model. The partial quotient model takes out (subtracts) parts of the total quotient each time. The number of groups that are taken out each time doesn’t matter; the quotient will be the same. 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  <a:r>
                  <a:rPr lang="en-US" sz="2000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57" y="1134470"/>
                <a:ext cx="4933043" cy="3031279"/>
              </a:xfrm>
              <a:prstGeom prst="rect">
                <a:avLst/>
              </a:prstGeom>
              <a:blipFill>
                <a:blip r:embed="rId5"/>
                <a:stretch>
                  <a:fillRect l="-1358" t="-1207" r="-2840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764E4D9-414C-4DDA-979F-3AAC32B801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62993"/>
                  </p:ext>
                </p:extLst>
              </p:nvPr>
            </p:nvGraphicFramePr>
            <p:xfrm>
              <a:off x="5918200" y="1134470"/>
              <a:ext cx="3960000" cy="490429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2300760234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731776528"/>
                        </a:ext>
                      </a:extLst>
                    </a:gridCol>
                  </a:tblGrid>
                  <a:tr h="3982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Number of Groups of </a:t>
                          </a:r>
                          <a14:m>
                            <m:oMath xmlns:m="http://schemas.openxmlformats.org/officeDocument/2006/math">
                              <m:r>
                                <a:rPr lang="en-US" sz="1900" b="1" smtClean="0">
                                  <a:effectLst/>
                                  <a:latin typeface="Cambria Math" panose="02040503050406030204" pitchFamily="18" charset="0"/>
                                </a:rPr>
                                <m:t>𝟏𝟒</m:t>
                              </m:r>
                            </m:oMath>
                          </a14:m>
                          <a:endParaRPr lang="en-US" sz="19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Total </a:t>
                          </a:r>
                          <a:b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</a:b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Taken Out</a:t>
                          </a:r>
                          <a:endParaRPr lang="en-US" sz="19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0194267"/>
                      </a:ext>
                    </a:extLst>
                  </a:tr>
                  <a:tr h="2341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14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3192831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28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5771969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42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46509905"/>
                      </a:ext>
                    </a:extLst>
                  </a:tr>
                  <a:tr h="2341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56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5990468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7976593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140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7164202"/>
                      </a:ext>
                    </a:extLst>
                  </a:tr>
                  <a:tr h="2341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8591450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420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63696090"/>
                      </a:ext>
                    </a:extLst>
                  </a:tr>
                  <a:tr h="2341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33194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5892489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1,400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68982295"/>
                      </a:ext>
                    </a:extLst>
                  </a:tr>
                  <a:tr h="2341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9126388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4,200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3834937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7990246"/>
                      </a:ext>
                    </a:extLst>
                  </a:tr>
                  <a:tr h="22352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7,000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3783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764E4D9-414C-4DDA-979F-3AAC32B801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62993"/>
                  </p:ext>
                </p:extLst>
              </p:nvPr>
            </p:nvGraphicFramePr>
            <p:xfrm>
              <a:off x="5918200" y="1134470"/>
              <a:ext cx="3960000" cy="490429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2300760234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731776528"/>
                        </a:ext>
                      </a:extLst>
                    </a:gridCol>
                  </a:tblGrid>
                  <a:tr h="5951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7" t="-14286" r="-100307" b="-745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Total </a:t>
                          </a:r>
                          <a:b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</a:b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Taken Out</a:t>
                          </a:r>
                          <a:endParaRPr lang="en-US" sz="19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0194267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14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3192831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28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5771969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42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46509905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56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5990468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7976593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140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7164202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8591450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420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63696090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33194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5892489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1,400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68982295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9126388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4,200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3834937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7990246"/>
                      </a:ext>
                    </a:extLst>
                  </a:tr>
                  <a:tr h="2872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500</a:t>
                          </a:r>
                          <a:endParaRPr lang="en-US" sz="19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7,000</a:t>
                          </a:r>
                          <a:endParaRPr lang="en-US" sz="19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7496" marR="474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37835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7655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123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20891" y="257290"/>
            <a:ext cx="990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two numbers in the table is 2,743 between?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-38889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2054C27-F848-4F8A-BABF-78D1F0547B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34"/>
          <a:stretch/>
        </p:blipFill>
        <p:spPr>
          <a:xfrm>
            <a:off x="5945788" y="1195944"/>
            <a:ext cx="4838326" cy="50046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8225" y="1313948"/>
            <a:ext cx="546756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Use the smaller number of groups of 14 to begin the repeated subtraction. Add rows if necessary, but do not use rows if there are no remaining groups of 14.</a:t>
            </a:r>
          </a:p>
        </p:txBody>
      </p:sp>
    </p:spTree>
    <p:extLst>
      <p:ext uri="{BB962C8B-B14F-4D97-AF65-F5344CB8AC3E}">
        <p14:creationId xmlns:p14="http://schemas.microsoft.com/office/powerpoint/2010/main" val="1603411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464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4064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35429" y="288745"/>
                <a:ext cx="9824139" cy="6257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groups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were subtracted?  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amount remains?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mbria Math" panose="02040503050406030204" pitchFamily="18" charset="0"/>
                  </a:rPr>
                  <a:t>W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rite the quotient using the remainder notation and as a mixed number.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9" y="288745"/>
                <a:ext cx="9824139" cy="6257290"/>
              </a:xfrm>
              <a:prstGeom prst="rect">
                <a:avLst/>
              </a:prstGeom>
              <a:blipFill>
                <a:blip r:embed="rId4"/>
                <a:stretch>
                  <a:fillRect l="-682" t="-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1566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5630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77343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919" y="60397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9469" y="60325"/>
            <a:ext cx="110225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1.7.4 Try It: Division of Whole Numbers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75791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9661" y="15232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43801" y="1284144"/>
            <a:ext cx="4346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find 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Verdana" panose="020B0604030504040204" pitchFamily="34" charset="0"/>
              </a:rPr>
              <a:t>8,988 ÷ 25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a modified partial quotient model.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93CCF23-305F-4542-AFD2-A48933A9E420}"/>
              </a:ext>
            </a:extLst>
          </p:cNvPr>
          <p:cNvSpPr/>
          <p:nvPr/>
        </p:nvSpPr>
        <p:spPr>
          <a:xfrm>
            <a:off x="-29208" y="-3266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768E8E-2485-42BF-B9FA-DC723F0FB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483560"/>
              </p:ext>
            </p:extLst>
          </p:nvPr>
        </p:nvGraphicFramePr>
        <p:xfrm>
          <a:off x="5448750" y="1098080"/>
          <a:ext cx="4500000" cy="515683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61690675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8261187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8150766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Type of Group</a:t>
                      </a:r>
                      <a:endParaRPr lang="en-US" sz="17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Groups of 25</a:t>
                      </a:r>
                      <a:endParaRPr lang="en-US" sz="17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Taken Out</a:t>
                      </a:r>
                      <a:endParaRPr lang="en-US" sz="17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6988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ones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1446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ones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4061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ones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7572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ones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1591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Verdana" pitchFamily="34" charset="0"/>
                          <a:ea typeface="Verdana" pitchFamily="34" charset="0"/>
                        </a:rPr>
                        <a:t>ones</a:t>
                      </a:r>
                      <a:endParaRPr lang="en-US" sz="1700" i="1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70108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etc.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9339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tens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7682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tens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2969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tens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03037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Verdana" pitchFamily="34" charset="0"/>
                          <a:ea typeface="Verdana" pitchFamily="34" charset="0"/>
                        </a:rPr>
                        <a:t>tens</a:t>
                      </a:r>
                      <a:endParaRPr lang="en-US" sz="1700" i="1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691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tens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95286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etc.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21357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hundreds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2,500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2004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hundreds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200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2955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hundreds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7,500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77234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hundreds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400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1920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hundreds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500</a:t>
                      </a:r>
                      <a:endParaRPr lang="en-US" sz="17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9625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etc.</a:t>
                      </a:r>
                      <a:endParaRPr lang="en-US" sz="1700" i="1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 </a:t>
                      </a:r>
                      <a:endParaRPr lang="en-US" sz="17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30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29892" y="648630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756776" y="768804"/>
            <a:ext cx="10874566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two </a:t>
            </a: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hundreds groups</a:t>
            </a: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 the table is </a:t>
            </a:r>
            <a:r>
              <a:rPr lang="en-US" sz="2700" dirty="0">
                <a:latin typeface="Cambria Math" pitchFamily="18" charset="0"/>
                <a:ea typeface="Cambria Math" pitchFamily="18" charset="0"/>
                <a:cs typeface="Verdana" panose="020B0604030504040204" pitchFamily="34" charset="0"/>
              </a:rPr>
              <a:t>8,988</a:t>
            </a:r>
            <a:r>
              <a:rPr lang="en-US" sz="27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between? </a:t>
            </a:r>
            <a:endParaRPr lang="en-US" sz="27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3DDED37-A9DC-1840-BFB8-744A6C956060}"/>
              </a:ext>
            </a:extLst>
          </p:cNvPr>
          <p:cNvSpPr/>
          <p:nvPr/>
        </p:nvSpPr>
        <p:spPr>
          <a:xfrm>
            <a:off x="-40429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192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67921" y="642661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881743" y="349704"/>
                <a:ext cx="9377825" cy="395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smaller number of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mbria Math" panose="02040503050406030204" pitchFamily="18" charset="0"/>
                  </a:rPr>
                  <a:t>hundreds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groups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begin.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3" y="349704"/>
                <a:ext cx="9377825" cy="395621"/>
              </a:xfrm>
              <a:prstGeom prst="rect">
                <a:avLst/>
              </a:prstGeom>
              <a:blipFill>
                <a:blip r:embed="rId4"/>
                <a:stretch>
                  <a:fillRect l="-715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96C5D-1385-439E-974E-1B8F0945F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656" y="1066459"/>
            <a:ext cx="5340915" cy="524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93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23233" y="638611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359229" y="349706"/>
                <a:ext cx="5271806" cy="6221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quotient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8,988 ÷ 25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 Write your answer using a remainder.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Another way to show this type of partial quotient is with long division.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partial quotient model from above to complete the long division. Notice that the quotient is set up to write the remainder as the partial group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mbria Math" panose="02040503050406030204" pitchFamily="18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29" y="349706"/>
                <a:ext cx="5271806" cy="6221383"/>
              </a:xfrm>
              <a:prstGeom prst="rect">
                <a:avLst/>
              </a:prstGeom>
              <a:blipFill>
                <a:blip r:embed="rId4"/>
                <a:stretch>
                  <a:fillRect l="-1272" t="-686" r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3DDED37-A9DC-1840-BFB8-744A6C956060}"/>
              </a:ext>
            </a:extLst>
          </p:cNvPr>
          <p:cNvSpPr/>
          <p:nvPr/>
        </p:nvSpPr>
        <p:spPr>
          <a:xfrm>
            <a:off x="25518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31035" y="1"/>
            <a:ext cx="4985791" cy="6117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8356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28617" y="644923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13148" y="19880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1.7.5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90954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12347" y="64699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642257" y="1386026"/>
            <a:ext cx="9745327" cy="4944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a method of division that makes the most sense to you and find each quotient. Show your work and models.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1700" indent="-4572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a.	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1,276 ÷ 25</a:t>
            </a: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marL="901700" indent="-457200">
              <a:lnSpc>
                <a:spcPct val="107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b.	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7,839 ÷ 92</a:t>
            </a: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684212" indent="-342900">
              <a:lnSpc>
                <a:spcPct val="107000"/>
              </a:lnSpc>
              <a:buFont typeface="+mj-lt"/>
              <a:buAutoNum type="alphaLcPeriod"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>
              <a:lnSpc>
                <a:spcPct val="107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81A9CA2-0645-4547-8E05-A9C337F9CC05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926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642807" y="645952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517288" y="458345"/>
            <a:ext cx="9911225" cy="245073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798512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The Publix Warehouse was distributing a shipment of bottled water to </a:t>
            </a: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36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 Publix grocery stores. There was a total of </a:t>
            </a: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18,396</a:t>
            </a: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 packages to distribute. If each store received an equal amount of bottled water, how many packages did they receive?</a:t>
            </a:r>
          </a:p>
          <a:p>
            <a:pPr marL="798512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Cambria Math" panose="020405030504060302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8FE59E28-D820-CB4E-8A39-A020690B27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5589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1551" y="645327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55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3148" y="-82571"/>
            <a:ext cx="93081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1.7.6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82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394524" y="1386026"/>
            <a:ext cx="999306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Remember the brain is flexible, so your math skills can always grow and develop. Write a positive statement about what you learned in the lesson. 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2625" indent="-238125">
              <a:lnSpc>
                <a:spcPct val="107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 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not know how to do _____________________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 YET! </a:t>
            </a:r>
          </a:p>
          <a:p>
            <a:pPr marL="341312">
              <a:lnSpc>
                <a:spcPct val="107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12800" indent="-3683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Cambria Math" panose="02040503050406030204" pitchFamily="18" charset="0"/>
              </a:rPr>
              <a:t>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plan to do ______________________________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help my math skills grow and develop.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1268</Words>
  <Application>Microsoft Office PowerPoint</Application>
  <PresentationFormat>Widescreen</PresentationFormat>
  <Paragraphs>325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Verdana</vt:lpstr>
      <vt:lpstr>Century Gothic</vt:lpstr>
      <vt:lpstr>Calibri</vt:lpstr>
      <vt:lpstr>Arial Black</vt:lpstr>
      <vt:lpstr>Cambria Math</vt:lpstr>
      <vt:lpstr>Courier New</vt:lpstr>
      <vt:lpstr>Arial</vt:lpstr>
      <vt:lpstr>1_Office Theme</vt:lpstr>
      <vt:lpstr>6th Grade Math  Unit 1, Lesson 7  Whole Numbers  Volume 1, pg. 37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38</cp:revision>
  <dcterms:created xsi:type="dcterms:W3CDTF">2015-03-17T18:51:18Z</dcterms:created>
  <dcterms:modified xsi:type="dcterms:W3CDTF">2022-06-04T23:09:40Z</dcterms:modified>
</cp:coreProperties>
</file>