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1" r:id="rId8"/>
    <p:sldId id="312" r:id="rId9"/>
    <p:sldId id="288" r:id="rId10"/>
    <p:sldId id="316" r:id="rId11"/>
    <p:sldId id="326" r:id="rId12"/>
    <p:sldId id="289" r:id="rId13"/>
    <p:sldId id="290" r:id="rId14"/>
    <p:sldId id="327" r:id="rId15"/>
    <p:sldId id="313" r:id="rId16"/>
    <p:sldId id="328" r:id="rId17"/>
    <p:sldId id="330" r:id="rId18"/>
    <p:sldId id="329" r:id="rId19"/>
    <p:sldId id="323" r:id="rId20"/>
    <p:sldId id="324" r:id="rId21"/>
    <p:sldId id="306" r:id="rId22"/>
    <p:sldId id="307" r:id="rId23"/>
    <p:sldId id="310"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1950"/>
    <p:restoredTop sz="94693"/>
  </p:normalViewPr>
  <p:slideViewPr>
    <p:cSldViewPr snapToGrid="0">
      <p:cViewPr varScale="1">
        <p:scale>
          <a:sx n="63" d="100"/>
          <a:sy n="63" d="100"/>
        </p:scale>
        <p:origin x="198" y="4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75771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48674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730379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807132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94470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883967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0.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20.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Adding and Subtracting Fractions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136278"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5362" y="1193804"/>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68"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25912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7677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3800" y="648349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82885" y="1600200"/>
                <a:ext cx="11414589" cy="454067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MA.5.AR.1.2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real-world problems involving the addition, subtraction, or multiplication of fractions, including mixed numbers and fractions greater than </a:t>
                </a:r>
                <a14:m>
                  <m:oMath xmlns:m="http://schemas.openxmlformats.org/officeDocument/2006/math">
                    <m:r>
                      <a:rPr lang="en-US" sz="2400">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482885" y="1600200"/>
                <a:ext cx="11414589" cy="4540670"/>
              </a:xfrm>
              <a:prstGeom prst="rect">
                <a:avLst/>
              </a:prstGeom>
              <a:blipFill>
                <a:blip r:embed="rId5"/>
                <a:stretch>
                  <a:fillRect l="-778"/>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527117"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369775" y="-174662"/>
            <a:ext cx="10445506" cy="177105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3800" y="65282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606175" y="1326149"/>
            <a:ext cx="11021975" cy="48744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6228"/>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19766"/>
            <a:ext cx="10756042" cy="141647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6574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3800" y="647901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22269" y="1589925"/>
            <a:ext cx="11313560" cy="45026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I </a:t>
            </a:r>
            <a:r>
              <a:rPr lang="en-US" sz="2400" dirty="0">
                <a:latin typeface="Verdana" panose="020B0604030504040204" pitchFamily="34" charset="0"/>
                <a:ea typeface="Verdana" panose="020B0604030504040204" pitchFamily="34" charset="0"/>
                <a:cs typeface="Verdana" panose="020B0604030504040204" pitchFamily="34" charset="0"/>
              </a:rPr>
              <a:t>can solve real-world problems involving adding and subtracting fractions.</a:t>
            </a:r>
            <a:r>
              <a:rPr lang="en-US" sz="2400" dirty="0"/>
              <a:t> </a:t>
            </a:r>
            <a:endParaRPr lang="en-US" sz="2400" i="1" dirty="0"/>
          </a:p>
          <a:p>
            <a:pPr marL="6350">
              <a:buClr>
                <a:srgbClr val="434343"/>
              </a:buClr>
              <a:buSzPts val="3500"/>
            </a:pPr>
            <a:endParaRPr lang="en-US" sz="3500" dirty="0">
              <a:solidFill>
                <a:schemeClr val="tx1"/>
              </a:solidFill>
              <a:latin typeface="Verdana"/>
              <a:ea typeface="Verdana"/>
              <a:cs typeface="Verdana"/>
              <a:sym typeface="Verdana"/>
            </a:endParaRP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17519"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2994" y="-18801"/>
            <a:ext cx="10589975" cy="130454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1.2.1 Warm-Up: True Statement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74447" y="15206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140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585627" y="1386026"/>
            <a:ext cx="11332395"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Place a digit in each blue box to make the statement true. Use only digits </a:t>
            </a:r>
            <a:r>
              <a:rPr lang="en-US" sz="2400" dirty="0">
                <a:latin typeface="Cambria Math" pitchFamily="18" charset="0"/>
                <a:ea typeface="Cambria Math"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to </a:t>
            </a:r>
            <a:r>
              <a:rPr lang="en-US" sz="2400" dirty="0">
                <a:latin typeface="Cambria Math" pitchFamily="18" charset="0"/>
                <a:ea typeface="Cambria Math" pitchFamily="18" charset="0"/>
                <a:cs typeface="Verdana" panose="020B0604030504040204" pitchFamily="34" charset="0"/>
              </a:rPr>
              <a:t>9</a:t>
            </a:r>
            <a:r>
              <a:rPr lang="en-US" sz="2400" dirty="0">
                <a:latin typeface="Verdana" panose="020B0604030504040204" pitchFamily="34" charset="0"/>
                <a:ea typeface="Verdana" panose="020B0604030504040204" pitchFamily="34" charset="0"/>
                <a:cs typeface="Verdana" panose="020B0604030504040204" pitchFamily="34" charset="0"/>
              </a:rPr>
              <a:t>, at most one time each. </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Box and whisker chart&#10;&#10;Description automatically generated">
            <a:extLst>
              <a:ext uri="{FF2B5EF4-FFF2-40B4-BE49-F238E27FC236}">
                <a16:creationId xmlns:a16="http://schemas.microsoft.com/office/drawing/2014/main" id="{77959825-7EF9-1748-BDB5-206AEAB4140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70156" y="2423723"/>
            <a:ext cx="4771176" cy="3048251"/>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2428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563" y="6214328"/>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08193" y="39931"/>
            <a:ext cx="9398172" cy="152189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1.2.2 Exploration: Framing a Piece of Art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55874"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5363" y="105406"/>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75353" y="1386026"/>
                <a:ext cx="11188557" cy="342600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Claudia bought a piece of art at the Winter Park Sidewalk Art Festival. She wanted to build her own frame for the piece of art. The piece of art has a height of </a:t>
                </a:r>
                <a14:m>
                  <m:oMath xmlns:m="http://schemas.openxmlformats.org/officeDocument/2006/math">
                    <m:r>
                      <a:rPr lang="en-US" sz="2000" i="1">
                        <a:latin typeface="Cambria Math"/>
                      </a:rPr>
                      <m:t>1</m:t>
                    </m:r>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feet (ft) and a width of </a:t>
                </a:r>
                <a14:m>
                  <m:oMath xmlns:m="http://schemas.openxmlformats.org/officeDocument/2006/math">
                    <m:f>
                      <m:fPr>
                        <m:ctrlPr>
                          <a:rPr lang="en-US" sz="2000" i="1">
                            <a:latin typeface="Cambria Math" panose="02040503050406030204" pitchFamily="18" charset="0"/>
                          </a:rPr>
                        </m:ctrlPr>
                      </m:fPr>
                      <m:num>
                        <m:r>
                          <a:rPr lang="en-US" sz="2000" i="1">
                            <a:latin typeface="Cambria Math"/>
                          </a:rPr>
                          <m:t>3</m:t>
                        </m:r>
                      </m:num>
                      <m:den>
                        <m:r>
                          <a:rPr lang="en-US" sz="2000" i="1">
                            <a:latin typeface="Cambria Math"/>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ft.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Claudia’s piece of art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Sketch a frame that Claudia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could use. Label the width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of the frame.</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75353" y="1386026"/>
                <a:ext cx="11188557" cy="3426002"/>
              </a:xfrm>
              <a:prstGeom prst="rect">
                <a:avLst/>
              </a:prstGeom>
              <a:blipFill>
                <a:blip r:embed="rId5"/>
                <a:stretch>
                  <a:fillRect l="-599" t="-890" r="-381"/>
                </a:stretch>
              </a:blipFill>
            </p:spPr>
            <p:txBody>
              <a:bodyPr/>
              <a:lstStyle/>
              <a:p>
                <a:r>
                  <a:rPr lang="en-PH">
                    <a:noFill/>
                  </a:rPr>
                  <a:t> </a:t>
                </a:r>
              </a:p>
            </p:txBody>
          </p:sp>
        </mc:Fallback>
      </mc:AlternateContent>
      <p:sp>
        <p:nvSpPr>
          <p:cNvPr id="9" name="Google Shape;278;g104476d1465_1_17">
            <a:extLst>
              <a:ext uri="{FF2B5EF4-FFF2-40B4-BE49-F238E27FC236}">
                <a16:creationId xmlns:a16="http://schemas.microsoft.com/office/drawing/2014/main" id="{77FDFF9E-9668-7F40-B604-2436455445A7}"/>
              </a:ext>
            </a:extLst>
          </p:cNvPr>
          <p:cNvSpPr/>
          <p:nvPr/>
        </p:nvSpPr>
        <p:spPr>
          <a:xfrm>
            <a:off x="11587"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3" name="Picture 2" descr="A palm tree with a moon in the background&#10;&#10;Description automatically generated with low confidence">
            <a:extLst>
              <a:ext uri="{FF2B5EF4-FFF2-40B4-BE49-F238E27FC236}">
                <a16:creationId xmlns:a16="http://schemas.microsoft.com/office/drawing/2014/main" id="{5556E1D1-FBD2-0D4B-B19E-70ADF312B64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360203" y="2387187"/>
            <a:ext cx="2909926" cy="3405666"/>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697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02076" y="490575"/>
            <a:ext cx="10233061" cy="44627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sketches of the frames of three classmates are shown.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3" name="Picture 2" descr="Diagram&#10;&#10;Description automatically generated">
            <a:extLst>
              <a:ext uri="{FF2B5EF4-FFF2-40B4-BE49-F238E27FC236}">
                <a16:creationId xmlns:a16="http://schemas.microsoft.com/office/drawing/2014/main" id="{F1208754-50ED-1F47-AE78-C72DE5D4880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31326" y="1642635"/>
            <a:ext cx="7682948" cy="3572729"/>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113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565078" y="410666"/>
            <a:ext cx="10950055"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Which of these frames, when combined with the art piece, will produce a height that is </a:t>
            </a:r>
            <a:r>
              <a:rPr lang="en-US" sz="2400" dirty="0">
                <a:latin typeface="Cambria Math" pitchFamily="18" charset="0"/>
                <a:ea typeface="Cambria Math" pitchFamily="18" charset="0"/>
                <a:cs typeface="Verdana" panose="020B0604030504040204" pitchFamily="34" charset="0"/>
              </a:rPr>
              <a:t>4</a:t>
            </a:r>
            <a:r>
              <a:rPr lang="en-US" sz="2400" dirty="0">
                <a:latin typeface="Verdana" panose="020B0604030504040204" pitchFamily="34" charset="0"/>
                <a:ea typeface="Verdana" panose="020B0604030504040204" pitchFamily="34" charset="0"/>
                <a:cs typeface="Verdana" panose="020B0604030504040204" pitchFamily="34" charset="0"/>
              </a:rPr>
              <a:t> ft. taller than the original piece of art?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Whose frame, when combined with the art piece, will produce a width that is </a:t>
            </a:r>
            <a:r>
              <a:rPr lang="en-US" sz="2400" dirty="0">
                <a:latin typeface="Cambria Math" pitchFamily="18" charset="0"/>
                <a:ea typeface="Cambria Math"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ft. longer than the original art piece?</a:t>
            </a: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The frames of Eduardo, Jahmelia, and Joshua show that the width of the frame can vary. Joshua’s frame shows that the frame does not have to be the same width on all four sides.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94FBB518-C8F9-0E4A-BCAE-1791A6EC09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36163" y="415388"/>
            <a:ext cx="4197565" cy="4448616"/>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5599" y="644567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620755" y="397766"/>
            <a:ext cx="4197565" cy="409342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Claudia wants to determine the amount of wood she needs to frame the piece of art. Since she is not sure of the widths of the frame, she labels the dimensions, as shown. </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write an expression that represents the width.</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11160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Box 6">
            <a:extLst>
              <a:ext uri="{FF2B5EF4-FFF2-40B4-BE49-F238E27FC236}">
                <a16:creationId xmlns:a16="http://schemas.microsoft.com/office/drawing/2014/main" id="{6D64DE28-A708-A24E-9549-55B788673148}"/>
              </a:ext>
            </a:extLst>
          </p:cNvPr>
          <p:cNvSpPr txBox="1"/>
          <p:nvPr/>
        </p:nvSpPr>
        <p:spPr>
          <a:xfrm rot="16200000">
            <a:off x="5821593" y="2071074"/>
            <a:ext cx="1229140"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height</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a:extLst>
              <a:ext uri="{FF2B5EF4-FFF2-40B4-BE49-F238E27FC236}">
                <a16:creationId xmlns:a16="http://schemas.microsoft.com/office/drawing/2014/main" id="{739846D9-9F4E-E64E-9767-14D8A01A333E}"/>
              </a:ext>
            </a:extLst>
          </p:cNvPr>
          <p:cNvSpPr txBox="1"/>
          <p:nvPr/>
        </p:nvSpPr>
        <p:spPr>
          <a:xfrm>
            <a:off x="8017180" y="4598926"/>
            <a:ext cx="1229140"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width</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Box 9">
            <a:extLst>
              <a:ext uri="{FF2B5EF4-FFF2-40B4-BE49-F238E27FC236}">
                <a16:creationId xmlns:a16="http://schemas.microsoft.com/office/drawing/2014/main" id="{86130C87-E868-2244-95B5-1D6AD1EBC938}"/>
              </a:ext>
            </a:extLst>
          </p:cNvPr>
          <p:cNvSpPr txBox="1"/>
          <p:nvPr/>
        </p:nvSpPr>
        <p:spPr>
          <a:xfrm>
            <a:off x="597344" y="5217846"/>
            <a:ext cx="8441952" cy="1015663"/>
          </a:xfrm>
          <a:prstGeom prst="rect">
            <a:avLst/>
          </a:prstGeom>
          <a:noFill/>
        </p:spPr>
        <p:txBody>
          <a:bodyPr wrap="square" rtlCol="0">
            <a:spAutoFit/>
          </a:bodyPr>
          <a:lstStyle/>
          <a:p>
            <a:pPr marL="893763" indent="-44132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write an expression that represents the height.</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2776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0168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3148" y="-45429"/>
            <a:ext cx="10697342" cy="15139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1.2.3 Guided Instruction: Adding and Subtracting Fractions with Unlike Denominators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94524" y="125954"/>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7642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sp>
        <p:nvSpPr>
          <p:cNvPr id="13" name="TextBox 12">
            <a:extLst>
              <a:ext uri="{FF2B5EF4-FFF2-40B4-BE49-F238E27FC236}">
                <a16:creationId xmlns:a16="http://schemas.microsoft.com/office/drawing/2014/main" id="{C01B13E8-EC8D-E443-A329-C5E3593DD13A}"/>
              </a:ext>
            </a:extLst>
          </p:cNvPr>
          <p:cNvSpPr txBox="1"/>
          <p:nvPr/>
        </p:nvSpPr>
        <p:spPr>
          <a:xfrm>
            <a:off x="698643" y="1455599"/>
            <a:ext cx="11178283"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One way to add or subtract fractions, is to first find </a:t>
            </a: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______________ </a:t>
            </a:r>
            <a:r>
              <a:rPr lang="en-US" sz="2400" b="1" dirty="0">
                <a:latin typeface="Verdana" panose="020B0604030504040204" pitchFamily="34" charset="0"/>
                <a:ea typeface="Verdana" panose="020B0604030504040204" pitchFamily="34" charset="0"/>
                <a:cs typeface="Verdana" panose="020B0604030504040204" pitchFamily="34" charset="0"/>
              </a:rPr>
              <a:t>fractions </a:t>
            </a:r>
            <a:r>
              <a:rPr lang="en-US" sz="2400" dirty="0">
                <a:latin typeface="Verdana" panose="020B0604030504040204" pitchFamily="34" charset="0"/>
                <a:ea typeface="Verdana" panose="020B0604030504040204" pitchFamily="34" charset="0"/>
                <a:cs typeface="Verdana" panose="020B0604030504040204" pitchFamily="34" charset="0"/>
              </a:rPr>
              <a:t>that have </a:t>
            </a:r>
            <a:r>
              <a:rPr lang="en-US" sz="2400" b="1" dirty="0">
                <a:latin typeface="Verdana" panose="020B0604030504040204" pitchFamily="34" charset="0"/>
                <a:ea typeface="Verdana" panose="020B0604030504040204" pitchFamily="34" charset="0"/>
                <a:cs typeface="Verdana" panose="020B0604030504040204" pitchFamily="34" charset="0"/>
              </a:rPr>
              <a:t>common, </a:t>
            </a:r>
            <a:r>
              <a:rPr lang="en-US" sz="2400" dirty="0">
                <a:latin typeface="Verdana" panose="020B0604030504040204" pitchFamily="34" charset="0"/>
                <a:ea typeface="Verdana" panose="020B0604030504040204" pitchFamily="34" charset="0"/>
                <a:cs typeface="Verdana" panose="020B0604030504040204" pitchFamily="34" charset="0"/>
              </a:rPr>
              <a:t>or </a:t>
            </a: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______________ </a:t>
            </a:r>
            <a:r>
              <a:rPr lang="en-US" sz="2400" b="1" dirty="0">
                <a:latin typeface="Verdana" panose="020B0604030504040204" pitchFamily="34" charset="0"/>
                <a:ea typeface="Verdana" panose="020B0604030504040204" pitchFamily="34" charset="0"/>
                <a:cs typeface="Verdana" panose="020B0604030504040204" pitchFamily="34" charset="0"/>
              </a:rPr>
              <a:t>denominators. </a:t>
            </a:r>
          </a:p>
          <a:p>
            <a:endParaRPr lang="en-US" sz="2400" b="1"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To find a common denominator for fractions, write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the  			  of the numbers in the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denominators.  </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a16="http://schemas.microsoft.com/office/drawing/2014/main" id="{7D185CEC-69E3-ED4E-87D7-D8AED7B32136}"/>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15" name="Rounded Rectangle 14">
            <a:extLst>
              <a:ext uri="{FF2B5EF4-FFF2-40B4-BE49-F238E27FC236}">
                <a16:creationId xmlns:a16="http://schemas.microsoft.com/office/drawing/2014/main" id="{CBC10020-3D93-8C4D-965E-EBA92AE8F4F1}"/>
              </a:ext>
            </a:extLst>
          </p:cNvPr>
          <p:cNvSpPr/>
          <p:nvPr/>
        </p:nvSpPr>
        <p:spPr>
          <a:xfrm>
            <a:off x="1427018" y="4073236"/>
            <a:ext cx="2216727" cy="1039091"/>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14000"/>
              </a:lnSpc>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factors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14000"/>
              </a:lnSpc>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multiples</a:t>
            </a:r>
            <a:r>
              <a:rPr lang="en-US" sz="2000" i="1"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08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0724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729465" y="281622"/>
                <a:ext cx="9328034" cy="608371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shows the number in each denominator of the fractions that represents the width and height of Claudia’s art piece. </a:t>
                </a: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List at least </a:t>
                </a:r>
                <a14:m>
                  <m:oMath xmlns:m="http://schemas.openxmlformats.org/officeDocument/2006/math">
                    <m:r>
                      <a:rPr lang="en-US" sz="2400" i="1">
                        <a:latin typeface="Cambria Math"/>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multiples of each.</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Circle the smallest multiple that both denominators have in common.</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729465" y="281622"/>
                <a:ext cx="9328034" cy="6083710"/>
              </a:xfrm>
              <a:prstGeom prst="rect">
                <a:avLst/>
              </a:prstGeom>
              <a:blipFill>
                <a:blip r:embed="rId4"/>
                <a:stretch>
                  <a:fillRect l="-1088" t="-833" r="-176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83330B2-83D2-5B4A-8121-1C912012963F}"/>
                  </a:ext>
                </a:extLst>
              </p:cNvPr>
              <p:cNvGraphicFramePr>
                <a:graphicFrameLocks noGrp="1"/>
              </p:cNvGraphicFramePr>
              <p:nvPr>
                <p:extLst>
                  <p:ext uri="{D42A27DB-BD31-4B8C-83A1-F6EECF244321}">
                    <p14:modId xmlns:p14="http://schemas.microsoft.com/office/powerpoint/2010/main" val="3356315660"/>
                  </p:ext>
                </p:extLst>
              </p:nvPr>
            </p:nvGraphicFramePr>
            <p:xfrm>
              <a:off x="1637550" y="2523370"/>
              <a:ext cx="6931828" cy="1802910"/>
            </p:xfrm>
            <a:graphic>
              <a:graphicData uri="http://schemas.openxmlformats.org/drawingml/2006/table">
                <a:tbl>
                  <a:tblPr bandRow="1">
                    <a:tableStyleId>{A91F0D33-8C57-4600-99A7-42BC86742BE1}</a:tableStyleId>
                  </a:tblPr>
                  <a:tblGrid>
                    <a:gridCol w="511588">
                      <a:extLst>
                        <a:ext uri="{9D8B030D-6E8A-4147-A177-3AD203B41FA5}">
                          <a16:colId xmlns:a16="http://schemas.microsoft.com/office/drawing/2014/main" val="1081559193"/>
                        </a:ext>
                      </a:extLst>
                    </a:gridCol>
                    <a:gridCol w="6420240">
                      <a:extLst>
                        <a:ext uri="{9D8B030D-6E8A-4147-A177-3AD203B41FA5}">
                          <a16:colId xmlns:a16="http://schemas.microsoft.com/office/drawing/2014/main" val="1552310806"/>
                        </a:ext>
                      </a:extLst>
                    </a:gridCol>
                  </a:tblGrid>
                  <a:tr h="901455">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a:rPr>
                                  <m:t>3</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800"/>
                            </a:spcAft>
                          </a:pPr>
                          <a:r>
                            <a:rPr lang="en-US" sz="2000">
                              <a:effectLst/>
                            </a:rPr>
                            <a:t> </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706526"/>
                      </a:ext>
                    </a:extLst>
                  </a:tr>
                  <a:tr h="901455">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a:rPr>
                                  <m:t>4</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800"/>
                            </a:spcAft>
                          </a:pPr>
                          <a:r>
                            <a:rPr lang="en-US" sz="2000" dirty="0">
                              <a:effectLst/>
                            </a:rPr>
                            <a:t>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957133"/>
                      </a:ext>
                    </a:extLst>
                  </a:tr>
                </a:tbl>
              </a:graphicData>
            </a:graphic>
          </p:graphicFrame>
        </mc:Choice>
        <mc:Fallback xmlns="">
          <p:graphicFrame>
            <p:nvGraphicFramePr>
              <p:cNvPr id="2" name="Table 1">
                <a:extLst>
                  <a:ext uri="{FF2B5EF4-FFF2-40B4-BE49-F238E27FC236}">
                    <a16:creationId xmlns:a16="http://schemas.microsoft.com/office/drawing/2014/main" id="{C83330B2-83D2-5B4A-8121-1C912012963F}"/>
                  </a:ext>
                </a:extLst>
              </p:cNvPr>
              <p:cNvGraphicFramePr>
                <a:graphicFrameLocks noGrp="1"/>
              </p:cNvGraphicFramePr>
              <p:nvPr>
                <p:extLst>
                  <p:ext uri="{D42A27DB-BD31-4B8C-83A1-F6EECF244321}">
                    <p14:modId xmlns:p14="http://schemas.microsoft.com/office/powerpoint/2010/main" val="3356315660"/>
                  </p:ext>
                </p:extLst>
              </p:nvPr>
            </p:nvGraphicFramePr>
            <p:xfrm>
              <a:off x="1637550" y="2523370"/>
              <a:ext cx="6931828" cy="1802910"/>
            </p:xfrm>
            <a:graphic>
              <a:graphicData uri="http://schemas.openxmlformats.org/drawingml/2006/table">
                <a:tbl>
                  <a:tblPr bandRow="1">
                    <a:tableStyleId>{A91F0D33-8C57-4600-99A7-42BC86742BE1}</a:tableStyleId>
                  </a:tblPr>
                  <a:tblGrid>
                    <a:gridCol w="511588">
                      <a:extLst>
                        <a:ext uri="{9D8B030D-6E8A-4147-A177-3AD203B41FA5}">
                          <a16:colId xmlns:a16="http://schemas.microsoft.com/office/drawing/2014/main" val="1081559193"/>
                        </a:ext>
                      </a:extLst>
                    </a:gridCol>
                    <a:gridCol w="6420240">
                      <a:extLst>
                        <a:ext uri="{9D8B030D-6E8A-4147-A177-3AD203B41FA5}">
                          <a16:colId xmlns:a16="http://schemas.microsoft.com/office/drawing/2014/main" val="1552310806"/>
                        </a:ext>
                      </a:extLst>
                    </a:gridCol>
                  </a:tblGrid>
                  <a:tr h="901455">
                    <a:tc>
                      <a:txBody>
                        <a:bodyPr/>
                        <a:lstStyle/>
                        <a:p>
                          <a:endParaRPr lang="en-US"/>
                        </a:p>
                      </a:txBody>
                      <a:tcPr marL="77259" marR="772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389" r="-1270000" b="-100000"/>
                          </a:stretch>
                        </a:blipFill>
                      </a:tcPr>
                    </a:tc>
                    <a:tc>
                      <a:txBody>
                        <a:bodyPr/>
                        <a:lstStyle/>
                        <a:p>
                          <a:pPr marL="0" marR="0">
                            <a:lnSpc>
                              <a:spcPct val="107000"/>
                            </a:lnSpc>
                            <a:spcBef>
                              <a:spcPts val="0"/>
                            </a:spcBef>
                            <a:spcAft>
                              <a:spcPts val="800"/>
                            </a:spcAft>
                          </a:pPr>
                          <a:r>
                            <a:rPr lang="en-US" sz="2000">
                              <a:effectLst/>
                            </a:rPr>
                            <a:t> </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706526"/>
                      </a:ext>
                    </a:extLst>
                  </a:tr>
                  <a:tr h="901455">
                    <a:tc>
                      <a:txBody>
                        <a:bodyPr/>
                        <a:lstStyle/>
                        <a:p>
                          <a:endParaRPr lang="en-US"/>
                        </a:p>
                      </a:txBody>
                      <a:tcPr marL="77259" marR="772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2817" r="-1270000" b="-1408"/>
                          </a:stretch>
                        </a:blipFill>
                      </a:tcPr>
                    </a:tc>
                    <a:tc>
                      <a:txBody>
                        <a:bodyPr/>
                        <a:lstStyle/>
                        <a:p>
                          <a:pPr marL="0" marR="0">
                            <a:lnSpc>
                              <a:spcPct val="107000"/>
                            </a:lnSpc>
                            <a:spcBef>
                              <a:spcPts val="0"/>
                            </a:spcBef>
                            <a:spcAft>
                              <a:spcPts val="800"/>
                            </a:spcAft>
                          </a:pPr>
                          <a:r>
                            <a:rPr lang="en-US" sz="2000" dirty="0">
                              <a:effectLst/>
                            </a:rPr>
                            <a:t>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7259" marR="7725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957133"/>
                      </a:ext>
                    </a:extLst>
                  </a:tr>
                </a:tbl>
              </a:graphicData>
            </a:graphic>
          </p:graphicFrame>
        </mc:Fallback>
      </mc:AlternateContent>
    </p:spTree>
    <p:extLst>
      <p:ext uri="{BB962C8B-B14F-4D97-AF65-F5344CB8AC3E}">
        <p14:creationId xmlns:p14="http://schemas.microsoft.com/office/powerpoint/2010/main" val="1021239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667013" y="328599"/>
            <a:ext cx="11281831"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Working with only the fractional portion of each number, multiply both the numerator and the denominator by the factor that will result in the circled denominator.</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120769DD-BB28-C740-A6A6-8565E70B1E53}"/>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Diagram&#10;&#10;Description automatically generated">
            <a:extLst>
              <a:ext uri="{FF2B5EF4-FFF2-40B4-BE49-F238E27FC236}">
                <a16:creationId xmlns:a16="http://schemas.microsoft.com/office/drawing/2014/main" id="{12F69351-ECCB-C04F-B33D-F70C62289CB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30" r="1"/>
          <a:stretch/>
        </p:blipFill>
        <p:spPr>
          <a:xfrm>
            <a:off x="1424953" y="1344262"/>
            <a:ext cx="3017086" cy="3697817"/>
          </a:xfrm>
          <a:prstGeom prst="rect">
            <a:avLst/>
          </a:prstGeom>
        </p:spPr>
      </p:pic>
      <p:grpSp>
        <p:nvGrpSpPr>
          <p:cNvPr id="8" name="Group 7">
            <a:extLst>
              <a:ext uri="{FF2B5EF4-FFF2-40B4-BE49-F238E27FC236}">
                <a16:creationId xmlns:a16="http://schemas.microsoft.com/office/drawing/2014/main" id="{40DE15E0-4DB5-6B4E-A6E8-20ACEA7189D7}"/>
              </a:ext>
            </a:extLst>
          </p:cNvPr>
          <p:cNvGrpSpPr/>
          <p:nvPr/>
        </p:nvGrpSpPr>
        <p:grpSpPr>
          <a:xfrm>
            <a:off x="5187957" y="2160938"/>
            <a:ext cx="6760887" cy="2236401"/>
            <a:chOff x="0" y="-1"/>
            <a:chExt cx="6629400" cy="1855177"/>
          </a:xfrm>
          <a:effectLst>
            <a:outerShdw blurRad="50800" dist="38100" dir="2700000" algn="tl" rotWithShape="0">
              <a:prstClr val="black">
                <a:alpha val="40000"/>
              </a:prstClr>
            </a:outerShdw>
          </a:effectLst>
        </p:grpSpPr>
        <p:grpSp>
          <p:nvGrpSpPr>
            <p:cNvPr id="9" name="Group 8">
              <a:extLst>
                <a:ext uri="{FF2B5EF4-FFF2-40B4-BE49-F238E27FC236}">
                  <a16:creationId xmlns:a16="http://schemas.microsoft.com/office/drawing/2014/main" id="{DCFAF40D-3ABE-3044-BF94-0E519E64A2AC}"/>
                </a:ext>
              </a:extLst>
            </p:cNvPr>
            <p:cNvGrpSpPr/>
            <p:nvPr/>
          </p:nvGrpSpPr>
          <p:grpSpPr>
            <a:xfrm>
              <a:off x="0" y="-1"/>
              <a:ext cx="6629400" cy="1855177"/>
              <a:chOff x="0" y="-1"/>
              <a:chExt cx="6629400" cy="1855300"/>
            </a:xfrm>
          </p:grpSpPr>
          <p:sp>
            <p:nvSpPr>
              <p:cNvPr id="11" name="Rectangle 10">
                <a:extLst>
                  <a:ext uri="{FF2B5EF4-FFF2-40B4-BE49-F238E27FC236}">
                    <a16:creationId xmlns:a16="http://schemas.microsoft.com/office/drawing/2014/main" id="{C3A4A8C9-75A2-9443-97C2-EA24EECEC1BE}"/>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614941EC-B035-084A-A237-BBB111FCCB51}"/>
                      </a:ext>
                    </a:extLst>
                  </p:cNvPr>
                  <p:cNvSpPr/>
                  <p:nvPr/>
                </p:nvSpPr>
                <p:spPr>
                  <a:xfrm>
                    <a:off x="0" y="-1"/>
                    <a:ext cx="4448907" cy="1855300"/>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511810">
                      <a:lnSpc>
                        <a:spcPct val="107000"/>
                      </a:lnSpc>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The circled fraction is equivalent to </a:t>
                    </a:r>
                    <a:r>
                      <a:rPr lang="en-US" sz="2000" dirty="0">
                        <a:solidFill>
                          <a:srgbClr val="00619E"/>
                        </a:solidFill>
                        <a:latin typeface="Cambria Math" panose="02040503050406030204" pitchFamily="18" charset="0"/>
                        <a:ea typeface="Cambria Math" panose="02040503050406030204" pitchFamily="18" charset="0"/>
                        <a:cs typeface="Verdana" panose="020B0604030504040204" pitchFamily="34" charset="0"/>
                      </a:rPr>
                      <a:t>1</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Multiplying by </a:t>
                    </a:r>
                    <a14:m>
                      <m:oMath xmlns:m="http://schemas.openxmlformats.org/officeDocument/2006/math">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means that the value of the original fraction remains the same.</a:t>
                    </a:r>
                    <a:r>
                      <a:rPr lang="en-US" sz="2000" dirty="0">
                        <a:solidFill>
                          <a:srgbClr val="00619E"/>
                        </a:solidFill>
                        <a:latin typeface="Cambria Math" panose="02040503050406030204" pitchFamily="18" charset="0"/>
                        <a:ea typeface="Cambria Math" panose="02040503050406030204" pitchFamily="18" charset="0"/>
                        <a:cs typeface="Cambria Math" panose="02040503050406030204" pitchFamily="18"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Rounded Rectangle 12">
                    <a:extLst>
                      <a:ext uri="{FF2B5EF4-FFF2-40B4-BE49-F238E27FC236}">
                        <a16:creationId xmlns:a16="http://schemas.microsoft.com/office/drawing/2014/main" xmlns:a14="http://schemas.microsoft.com/office/drawing/2010/main" xmlns="" id="{614941EC-B035-084A-A237-BBB111FCCB51}"/>
                      </a:ext>
                    </a:extLst>
                  </p:cNvPr>
                  <p:cNvSpPr>
                    <a:spLocks noRot="1" noChangeAspect="1" noMove="1" noResize="1" noEditPoints="1" noAdjustHandles="1" noChangeArrowheads="1" noChangeShapeType="1" noTextEdit="1"/>
                  </p:cNvSpPr>
                  <p:nvPr/>
                </p:nvSpPr>
                <p:spPr>
                  <a:xfrm>
                    <a:off x="0" y="-1"/>
                    <a:ext cx="4448907" cy="1855300"/>
                  </a:xfrm>
                  <a:prstGeom prst="roundRect">
                    <a:avLst>
                      <a:gd name="adj" fmla="val 16667"/>
                    </a:avLst>
                  </a:prstGeom>
                  <a:blipFill rotWithShape="1">
                    <a:blip r:embed="rId5"/>
                    <a:stretch>
                      <a:fillRect b="-656"/>
                    </a:stretch>
                  </a:blipFill>
                  <a:ln>
                    <a:noFill/>
                  </a:ln>
                </p:spPr>
                <p:txBody>
                  <a:bodyPr/>
                  <a:lstStyle/>
                  <a:p>
                    <a:r>
                      <a:rPr lang="en-PH">
                        <a:noFill/>
                      </a:rPr>
                      <a:t> </a:t>
                    </a:r>
                  </a:p>
                </p:txBody>
              </p:sp>
            </mc:Fallback>
          </mc:AlternateContent>
        </p:grpSp>
        <p:pic>
          <p:nvPicPr>
            <p:cNvPr id="10" name="Picture 9" descr="Icon&#10;&#10;Description automatically generated">
              <a:extLst>
                <a:ext uri="{FF2B5EF4-FFF2-40B4-BE49-F238E27FC236}">
                  <a16:creationId xmlns:a16="http://schemas.microsoft.com/office/drawing/2014/main" id="{686C8DC1-FFD0-1B44-855B-7973CF05C26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3411" y="227554"/>
              <a:ext cx="539750" cy="53975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12D9876A-667F-3942-8447-8DDF590AE42F}"/>
              </a:ext>
            </a:extLst>
          </p:cNvPr>
          <p:cNvGrpSpPr/>
          <p:nvPr/>
        </p:nvGrpSpPr>
        <p:grpSpPr>
          <a:xfrm>
            <a:off x="2364750" y="5169306"/>
            <a:ext cx="6629400" cy="1318866"/>
            <a:chOff x="2031300" y="3266763"/>
            <a:chExt cx="6629400" cy="1107831"/>
          </a:xfrm>
        </p:grpSpPr>
        <p:grpSp>
          <p:nvGrpSpPr>
            <p:cNvPr id="15" name="Group 14">
              <a:extLst>
                <a:ext uri="{FF2B5EF4-FFF2-40B4-BE49-F238E27FC236}">
                  <a16:creationId xmlns:a16="http://schemas.microsoft.com/office/drawing/2014/main" id="{7854BEC6-0DC2-BA45-B9BD-855AC54A49CE}"/>
                </a:ext>
              </a:extLst>
            </p:cNvPr>
            <p:cNvGrpSpPr/>
            <p:nvPr/>
          </p:nvGrpSpPr>
          <p:grpSpPr>
            <a:xfrm>
              <a:off x="2031300" y="3266763"/>
              <a:ext cx="6629400" cy="1107831"/>
              <a:chOff x="0" y="-106837"/>
              <a:chExt cx="6629400" cy="1107831"/>
            </a:xfrm>
          </p:grpSpPr>
          <p:sp>
            <p:nvSpPr>
              <p:cNvPr id="16" name="Rectangle 15">
                <a:extLst>
                  <a:ext uri="{FF2B5EF4-FFF2-40B4-BE49-F238E27FC236}">
                    <a16:creationId xmlns:a16="http://schemas.microsoft.com/office/drawing/2014/main" id="{6DC561C4-520D-D647-B58D-BD78701519A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429B66AA-BC46-6845-95CB-7A1ECE8534F7}"/>
                      </a:ext>
                    </a:extLst>
                  </p:cNvPr>
                  <p:cNvSpPr/>
                  <p:nvPr/>
                </p:nvSpPr>
                <p:spPr>
                  <a:xfrm>
                    <a:off x="0" y="-106837"/>
                    <a:ext cx="6629400" cy="1107831"/>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Multiplicative Identity Property of One</a:t>
                    </a:r>
                    <a:endParaRPr lang="en-US" sz="2000" i="1" dirty="0">
                      <a:latin typeface="Cambria Math" panose="02040503050406030204" pitchFamily="18" charset="0"/>
                      <a:ea typeface="Cambria Math" panose="02040503050406030204" pitchFamily="18" charset="0"/>
                      <a:cs typeface="Verdana" panose="020B0604030504040204" pitchFamily="34" charset="0"/>
                    </a:endParaRPr>
                  </a:p>
                  <a:p>
                    <a:pPr marL="742950">
                      <a:lnSpc>
                        <a:spcPct val="107000"/>
                      </a:lnSpc>
                    </a:pPr>
                    <a14:m>
                      <m:oMathPara xmlns:m="http://schemas.openxmlformats.org/officeDocument/2006/math">
                        <m:oMathParaPr>
                          <m:jc m:val="left"/>
                        </m:oMathParaPr>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 × 1=</m:t>
                          </m:r>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m:oMathPara>
                    </a14:m>
                    <a:endParaRPr lang="en-US" sz="2000" i="1" dirty="0">
                      <a:solidFill>
                        <a:srgbClr val="6C993D"/>
                      </a:solidFill>
                      <a:latin typeface="Cambria Math" panose="02040503050406030204" pitchFamily="18" charset="0"/>
                      <a:ea typeface="Verdana" panose="020B0604030504040204" pitchFamily="34" charset="0"/>
                      <a:cs typeface="Verdana" panose="020B0604030504040204" pitchFamily="34" charset="0"/>
                    </a:endParaRPr>
                  </a:p>
                  <a:p>
                    <a:pPr marL="742950">
                      <a:lnSpc>
                        <a:spcPct val="107000"/>
                      </a:lnSpc>
                    </a:pP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1 × </m:t>
                        </m:r>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7" name="Rounded Rectangle 16">
                    <a:extLst>
                      <a:ext uri="{FF2B5EF4-FFF2-40B4-BE49-F238E27FC236}">
                        <a16:creationId xmlns:a16="http://schemas.microsoft.com/office/drawing/2014/main" id="{429B66AA-BC46-6845-95CB-7A1ECE8534F7}"/>
                      </a:ext>
                    </a:extLst>
                  </p:cNvPr>
                  <p:cNvSpPr>
                    <a:spLocks noRot="1" noChangeAspect="1" noMove="1" noResize="1" noEditPoints="1" noAdjustHandles="1" noChangeArrowheads="1" noChangeShapeType="1" noTextEdit="1"/>
                  </p:cNvSpPr>
                  <p:nvPr/>
                </p:nvSpPr>
                <p:spPr>
                  <a:xfrm>
                    <a:off x="0" y="-106837"/>
                    <a:ext cx="6629400" cy="1107831"/>
                  </a:xfrm>
                  <a:prstGeom prst="roundRect">
                    <a:avLst>
                      <a:gd name="adj" fmla="val 16667"/>
                    </a:avLst>
                  </a:prstGeom>
                  <a:blipFill>
                    <a:blip r:embed="rId7"/>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8" name="Shape 7" descr="Icon&#10;&#10;Description automatically generated">
                <a:extLst>
                  <a:ext uri="{FF2B5EF4-FFF2-40B4-BE49-F238E27FC236}">
                    <a16:creationId xmlns:a16="http://schemas.microsoft.com/office/drawing/2014/main" id="{97974F0A-E0B6-0843-AD1B-9A603A3E79A6}"/>
                  </a:ext>
                </a:extLst>
              </p:cNvPr>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37652" y="37466"/>
                <a:ext cx="669941" cy="563979"/>
              </a:xfrm>
              <a:prstGeom prst="rect">
                <a:avLst/>
              </a:prstGeom>
              <a:noFill/>
              <a:ln>
                <a:noFill/>
              </a:ln>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687834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8391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59108" y="487104"/>
                <a:ext cx="11069041" cy="4415824"/>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r>
                      <a:rPr lang="en-US" sz="2000" i="1">
                        <a:latin typeface="Cambria Math" panose="02040503050406030204" pitchFamily="18" charset="0"/>
                        <a:ea typeface="Cambria Math" panose="02040503050406030204" pitchFamily="18" charset="0"/>
                      </a:rPr>
                      <m:t>1</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using the equivalent fraction found for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by completing the fractions.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000" i="1" dirty="0">
                    <a:latin typeface="Verdana" panose="020B0604030504040204" pitchFamily="34" charset="0"/>
                    <a:ea typeface="Verdana" panose="020B0604030504040204" pitchFamily="34" charset="0"/>
                    <a:cs typeface="Verdana" panose="020B0604030504040204" pitchFamily="34" charset="0"/>
                  </a:rPr>
                  <a:t>Because </a:t>
                </a:r>
                <a14:m>
                  <m:oMath xmlns:m="http://schemas.openxmlformats.org/officeDocument/2006/math">
                    <m:r>
                      <a:rPr lang="en-US" sz="2000" i="1">
                        <a:latin typeface="Cambria Math" panose="02040503050406030204" pitchFamily="18" charset="0"/>
                        <a:ea typeface="Cambria Math" panose="02040503050406030204" pitchFamily="18" charset="0"/>
                      </a:rPr>
                      <m:t>1</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3</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i="1" dirty="0">
                    <a:latin typeface="Cambria Math" panose="02040503050406030204" pitchFamily="18" charset="0"/>
                    <a:ea typeface="Cambria Math" panose="02040503050406030204" pitchFamily="18" charset="0"/>
                    <a:cs typeface="Verdana" panose="020B0604030504040204" pitchFamily="34" charset="0"/>
                  </a:rPr>
                  <a:t>  </a:t>
                </a:r>
                <a:r>
                  <a:rPr lang="en-US" sz="2000" i="1" dirty="0">
                    <a:latin typeface="Verdana" panose="020B0604030504040204" pitchFamily="34" charset="0"/>
                    <a:ea typeface="Verdana" panose="020B0604030504040204" pitchFamily="34" charset="0"/>
                    <a:cs typeface="Verdana" panose="020B0604030504040204" pitchFamily="34" charset="0"/>
                  </a:rPr>
                  <a:t>then </a:t>
                </a:r>
                <a14:m>
                  <m:oMath xmlns:m="http://schemas.openxmlformats.org/officeDocument/2006/math">
                    <m:r>
                      <a:rPr lang="en-US" sz="2000" i="1">
                        <a:latin typeface="Cambria Math" panose="02040503050406030204" pitchFamily="18" charset="0"/>
                        <a:ea typeface="Cambria Math" panose="02040503050406030204" pitchFamily="18" charset="0"/>
                      </a:rPr>
                      <m:t>1</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i="1" dirty="0">
                    <a:latin typeface="Cambria Math" panose="02040503050406030204" pitchFamily="18" charset="0"/>
                    <a:ea typeface="Cambria Math" panose="02040503050406030204" pitchFamily="18" charset="0"/>
                    <a:cs typeface="Verdana" panose="020B0604030504040204" pitchFamily="34" charset="0"/>
                  </a:rPr>
                  <a:t> </a:t>
                </a:r>
                <a:r>
                  <a:rPr lang="en-US" sz="2000" i="1" dirty="0">
                    <a:latin typeface="Verdana" panose="020B0604030504040204" pitchFamily="34" charset="0"/>
                    <a:ea typeface="Verdana" panose="020B0604030504040204" pitchFamily="34" charset="0"/>
                    <a:cs typeface="Verdana" panose="020B0604030504040204" pitchFamily="34" charset="0"/>
                  </a:rPr>
                  <a:t>can be rewritten using the equivalent fractions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3</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           </m:t>
                        </m:r>
                      </m:num>
                      <m:den>
                        <m:r>
                          <a:rPr lang="en-US" sz="2000" i="1">
                            <a:latin typeface="Cambria Math" panose="02040503050406030204" pitchFamily="18" charset="0"/>
                            <a:ea typeface="Cambria Math" panose="02040503050406030204" pitchFamily="18" charset="0"/>
                          </a:rPr>
                          <m:t> </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           </m:t>
                        </m:r>
                      </m:num>
                      <m:den>
                        <m:r>
                          <a:rPr lang="en-US" sz="2000" i="1">
                            <a:latin typeface="Cambria Math" panose="02040503050406030204" pitchFamily="18" charset="0"/>
                            <a:ea typeface="Cambria Math" panose="02040503050406030204" pitchFamily="18" charset="0"/>
                          </a:rPr>
                          <m:t> </m:t>
                        </m:r>
                      </m:den>
                    </m:f>
                  </m:oMath>
                </a14:m>
                <a:r>
                  <a:rPr lang="en-US" sz="2000" i="1" dirty="0">
                    <a:latin typeface="Cambria Math" panose="02040503050406030204" pitchFamily="18" charset="0"/>
                    <a:ea typeface="Cambria Math" panose="02040503050406030204" pitchFamily="18" charset="0"/>
                    <a:cs typeface="Verdana" panose="020B0604030504040204" pitchFamily="34" charset="0"/>
                  </a:rPr>
                  <a:t>.</a:t>
                </a:r>
              </a:p>
              <a:p>
                <a:pPr marL="457200"/>
                <a:endParaRPr lang="en-US" sz="2000" i="1" dirty="0">
                  <a:latin typeface="Cambria Math" panose="02040503050406030204" pitchFamily="18" charset="0"/>
                  <a:ea typeface="Cambria Math" panose="02040503050406030204" pitchFamily="18" charset="0"/>
                  <a:cs typeface="Verdana" panose="020B0604030504040204" pitchFamily="34" charset="0"/>
                </a:endParaRPr>
              </a:p>
              <a:p>
                <a:pPr marL="457200"/>
                <a:endParaRPr lang="en-US" sz="2000" i="1" dirty="0">
                  <a:latin typeface="Cambria Math" panose="02040503050406030204" pitchFamily="18" charset="0"/>
                  <a:ea typeface="Cambria Math" panose="02040503050406030204" pitchFamily="18"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Claudia’s art piece is shown.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i="1" dirty="0">
                  <a:latin typeface="Cambria Math" panose="02040503050406030204" pitchFamily="18" charset="0"/>
                  <a:ea typeface="Cambria Math" panose="02040503050406030204" pitchFamily="18"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perimeter,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in feet (ft), of Claudia’s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art piece?</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i="1" dirty="0">
                  <a:latin typeface="Cambria Math" panose="02040503050406030204" pitchFamily="18" charset="0"/>
                  <a:ea typeface="Cambria Math" panose="02040503050406030204" pitchFamily="18"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59108" y="487104"/>
                <a:ext cx="11069041" cy="4415824"/>
              </a:xfrm>
              <a:prstGeom prst="rect">
                <a:avLst/>
              </a:prstGeom>
              <a:blipFill>
                <a:blip r:embed="rId4"/>
                <a:stretch>
                  <a:fillRect l="-68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Diagram&#10;&#10;Description automatically generated">
            <a:extLst>
              <a:ext uri="{FF2B5EF4-FFF2-40B4-BE49-F238E27FC236}">
                <a16:creationId xmlns:a16="http://schemas.microsoft.com/office/drawing/2014/main" id="{DD803D94-E2EB-8D47-BB8D-DD25F0E46CE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08487" y="1970533"/>
            <a:ext cx="3785663" cy="4230191"/>
          </a:xfrm>
          <a:prstGeom prst="rect">
            <a:avLst/>
          </a:prstGeom>
        </p:spPr>
      </p:pic>
    </p:spTree>
    <p:extLst>
      <p:ext uri="{BB962C8B-B14F-4D97-AF65-F5344CB8AC3E}">
        <p14:creationId xmlns:p14="http://schemas.microsoft.com/office/powerpoint/2010/main" val="3522122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4FDDEE1A-B383-774B-AD88-90968973D775}"/>
              </a:ext>
            </a:extLst>
          </p:cNvPr>
          <p:cNvPicPr>
            <a:picLocks noChangeAspect="1"/>
          </p:cNvPicPr>
          <p:nvPr/>
        </p:nvPicPr>
        <p:blipFill>
          <a:blip r:embed="rId3"/>
          <a:stretch>
            <a:fillRect/>
          </a:stretch>
        </p:blipFill>
        <p:spPr>
          <a:xfrm>
            <a:off x="3129292" y="1034995"/>
            <a:ext cx="5484793" cy="5478452"/>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550177" y="399964"/>
            <a:ext cx="11186360"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Claudia decides to build a frame with the following dimensions.</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120769DD-BB28-C740-A6A6-8565E70B1E53}"/>
              </a:ext>
            </a:extLst>
          </p:cNvPr>
          <p:cNvSpPr/>
          <p:nvPr/>
        </p:nvSpPr>
        <p:spPr>
          <a:xfrm>
            <a:off x="-11160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784348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472612" y="374090"/>
            <a:ext cx="11270750" cy="4524315"/>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the numerical expression that represents the total width of the frame and art piece.</a:t>
            </a: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total width, in ft.</a:t>
            </a: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the numerical expression that represents the total height of the frame and art piece.</a:t>
            </a: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total height, in ft.</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120769DD-BB28-C740-A6A6-8565E70B1E53}"/>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987644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460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40845" y="622837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0515" y="195642"/>
            <a:ext cx="10518056" cy="132419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1.2.4 Guided Practice: Adding and Subtracting Fractions with Unlike Denominators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04103" y="65060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96046" y="6314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729465" y="1519840"/>
                <a:ext cx="10633753" cy="465229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Rewrite the following expressions as an expression with common denominators. Then, add or subtract the values.</a:t>
                </a: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2438" indent="-452438">
                  <a:tabLst>
                    <a:tab pos="536575" algn="l"/>
                  </a:tabLst>
                </a:pPr>
                <a:r>
                  <a:rPr lang="en-US" sz="2400" dirty="0">
                    <a:ea typeface="Cambria Math" panose="02040503050406030204" pitchFamily="18" charset="0"/>
                  </a:rPr>
                  <a:t>1.	</a:t>
                </a:r>
                <a14:m>
                  <m:oMath xmlns:m="http://schemas.openxmlformats.org/officeDocument/2006/math">
                    <m:r>
                      <a:rPr lang="en-US" sz="2400">
                        <a:latin typeface="Cambria Math" panose="02040503050406030204" pitchFamily="18" charset="0"/>
                        <a:ea typeface="Cambria Math" panose="02040503050406030204" pitchFamily="18" charset="0"/>
                      </a:rPr>
                      <m:t>4</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1</m:t>
                        </m:r>
                      </m:num>
                      <m:den>
                        <m:r>
                          <a:rPr lang="en-US" sz="2400">
                            <a:latin typeface="Cambria Math" panose="02040503050406030204" pitchFamily="18" charset="0"/>
                            <a:ea typeface="Cambria Math" panose="02040503050406030204" pitchFamily="18" charset="0"/>
                          </a:rPr>
                          <m:t>3</m:t>
                        </m:r>
                      </m:den>
                    </m:f>
                    <m:r>
                      <a:rPr lang="en-US" sz="240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3</m:t>
                        </m:r>
                      </m:num>
                      <m:den>
                        <m:r>
                          <a:rPr lang="en-US" sz="2400">
                            <a:latin typeface="Cambria Math" panose="02040503050406030204" pitchFamily="18" charset="0"/>
                            <a:ea typeface="Cambria Math" panose="02040503050406030204" pitchFamily="18" charset="0"/>
                          </a:rPr>
                          <m:t>5</m:t>
                        </m:r>
                      </m:den>
                    </m:f>
                    <m:r>
                      <a:rPr lang="en-US" sz="2400">
                        <a:latin typeface="Cambria Math" panose="02040503050406030204" pitchFamily="18" charset="0"/>
                        <a:ea typeface="Cambria Math" panose="02040503050406030204" pitchFamily="18" charset="0"/>
                      </a:rPr>
                      <m:t>=</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lvl="0"/>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452438" indent="-452438"/>
                <a:r>
                  <a:rPr lang="en-US" sz="2400" dirty="0">
                    <a:ea typeface="Cambria Math" panose="02040503050406030204" pitchFamily="18" charset="0"/>
                  </a:rPr>
                  <a:t>2.	</a:t>
                </a:r>
                <a14:m>
                  <m:oMath xmlns:m="http://schemas.openxmlformats.org/officeDocument/2006/math">
                    <m:r>
                      <a:rPr lang="en-US" sz="2400">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7</m:t>
                        </m:r>
                      </m:num>
                      <m:den>
                        <m:r>
                          <a:rPr lang="en-US" sz="2400">
                            <a:latin typeface="Cambria Math" panose="02040503050406030204" pitchFamily="18" charset="0"/>
                            <a:ea typeface="Cambria Math" panose="02040503050406030204" pitchFamily="18" charset="0"/>
                          </a:rPr>
                          <m:t>10</m:t>
                        </m:r>
                      </m:den>
                    </m:f>
                    <m:r>
                      <a:rPr lang="en-US" sz="2400">
                        <a:latin typeface="Cambria Math" panose="02040503050406030204" pitchFamily="18" charset="0"/>
                        <a:ea typeface="Cambria Math" panose="02040503050406030204" pitchFamily="18" charset="0"/>
                      </a:rPr>
                      <m:t>+6</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3</m:t>
                        </m:r>
                      </m:num>
                      <m:den>
                        <m:r>
                          <a:rPr lang="en-US" sz="2400">
                            <a:latin typeface="Cambria Math" panose="02040503050406030204" pitchFamily="18" charset="0"/>
                            <a:ea typeface="Cambria Math" panose="02040503050406030204" pitchFamily="18" charset="0"/>
                          </a:rPr>
                          <m:t>4</m:t>
                        </m:r>
                      </m:den>
                    </m:f>
                    <m:r>
                      <a:rPr lang="en-US" sz="2400">
                        <a:latin typeface="Cambria Math" panose="02040503050406030204" pitchFamily="18" charset="0"/>
                        <a:ea typeface="Cambria Math" panose="02040503050406030204" pitchFamily="18" charset="0"/>
                      </a:rPr>
                      <m:t>=</m:t>
                    </m:r>
                  </m:oMath>
                </a14:m>
                <a:endParaRPr lang="en-US" sz="2400" dirty="0">
                  <a:latin typeface="Cambria Math" panose="02040503050406030204" pitchFamily="18" charset="0"/>
                  <a:ea typeface="Cambria Math" panose="02040503050406030204" pitchFamily="18" charset="0"/>
                </a:endParaRPr>
              </a:p>
              <a:p>
                <a:pPr lvl="0"/>
                <a:endParaRPr lang="en-US" sz="2400" dirty="0">
                  <a:latin typeface="Cambria Math" panose="02040503050406030204" pitchFamily="18" charset="0"/>
                  <a:ea typeface="Cambria Math" panose="02040503050406030204" pitchFamily="18" charset="0"/>
                </a:endParaRPr>
              </a:p>
              <a:p>
                <a:pPr marL="452438" indent="-452438"/>
                <a:r>
                  <a:rPr lang="en-US" sz="2400" dirty="0">
                    <a:ea typeface="Cambria Math" panose="02040503050406030204" pitchFamily="18" charset="0"/>
                  </a:rPr>
                  <a:t>3.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3</m:t>
                        </m:r>
                      </m:num>
                      <m:den>
                        <m:r>
                          <a:rPr lang="en-US" sz="2400">
                            <a:latin typeface="Cambria Math" panose="02040503050406030204" pitchFamily="18" charset="0"/>
                            <a:ea typeface="Cambria Math" panose="02040503050406030204" pitchFamily="18" charset="0"/>
                          </a:rPr>
                          <m:t>5</m:t>
                        </m:r>
                      </m:den>
                    </m:f>
                    <m:r>
                      <a:rPr lang="en-US" sz="2400">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9</m:t>
                        </m:r>
                      </m:num>
                      <m:den>
                        <m:r>
                          <a:rPr lang="en-US" sz="2400">
                            <a:latin typeface="Cambria Math" panose="02040503050406030204" pitchFamily="18" charset="0"/>
                            <a:ea typeface="Cambria Math" panose="02040503050406030204" pitchFamily="18" charset="0"/>
                          </a:rPr>
                          <m:t>10</m:t>
                        </m:r>
                      </m:den>
                    </m:f>
                    <m:r>
                      <a:rPr lang="en-US" sz="2400">
                        <a:latin typeface="Cambria Math" panose="02040503050406030204" pitchFamily="18" charset="0"/>
                        <a:ea typeface="Cambria Math" panose="02040503050406030204" pitchFamily="18" charset="0"/>
                      </a:rPr>
                      <m:t>=</m:t>
                    </m:r>
                  </m:oMath>
                </a14:m>
                <a:endParaRPr lang="en-US" sz="2400" dirty="0">
                  <a:latin typeface="Cambria Math" panose="02040503050406030204" pitchFamily="18" charset="0"/>
                  <a:ea typeface="Cambria Math" panose="02040503050406030204" pitchFamily="18" charset="0"/>
                </a:endParaRPr>
              </a:p>
              <a:p>
                <a:pPr lvl="0"/>
                <a:endParaRPr lang="en-US" sz="2400" dirty="0">
                  <a:latin typeface="Cambria Math" panose="02040503050406030204" pitchFamily="18" charset="0"/>
                  <a:ea typeface="Cambria Math" panose="02040503050406030204" pitchFamily="18" charset="0"/>
                </a:endParaRPr>
              </a:p>
              <a:p>
                <a:pPr marL="452438" indent="-452438"/>
                <a:r>
                  <a:rPr lang="en-US" sz="2400" dirty="0">
                    <a:ea typeface="Cambria Math" panose="02040503050406030204" pitchFamily="18" charset="0"/>
                  </a:rPr>
                  <a:t>4.	</a:t>
                </a:r>
                <a14:m>
                  <m:oMath xmlns:m="http://schemas.openxmlformats.org/officeDocument/2006/math">
                    <m:r>
                      <a:rPr lang="en-US" sz="2400">
                        <a:latin typeface="Cambria Math" panose="02040503050406030204" pitchFamily="18" charset="0"/>
                        <a:ea typeface="Cambria Math" panose="02040503050406030204" pitchFamily="18" charset="0"/>
                      </a:rPr>
                      <m:t>2</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1</m:t>
                        </m:r>
                      </m:num>
                      <m:den>
                        <m:r>
                          <a:rPr lang="en-US" sz="2400">
                            <a:latin typeface="Cambria Math" panose="02040503050406030204" pitchFamily="18" charset="0"/>
                            <a:ea typeface="Cambria Math" panose="02040503050406030204" pitchFamily="18" charset="0"/>
                          </a:rPr>
                          <m:t>6</m:t>
                        </m:r>
                      </m:den>
                    </m:f>
                    <m:r>
                      <a:rPr lang="en-US" sz="2400">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1</m:t>
                        </m:r>
                      </m:num>
                      <m:den>
                        <m:r>
                          <a:rPr lang="en-US" sz="2400">
                            <a:latin typeface="Cambria Math" panose="02040503050406030204" pitchFamily="18" charset="0"/>
                            <a:ea typeface="Cambria Math" panose="02040503050406030204" pitchFamily="18" charset="0"/>
                          </a:rPr>
                          <m:t>4</m:t>
                        </m:r>
                      </m:den>
                    </m:f>
                    <m:r>
                      <a:rPr lang="en-US" sz="2400">
                        <a:latin typeface="Cambria Math" panose="02040503050406030204" pitchFamily="18" charset="0"/>
                        <a:ea typeface="Cambria Math" panose="02040503050406030204" pitchFamily="18" charset="0"/>
                      </a:rPr>
                      <m:t>=</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729465" y="1519840"/>
                <a:ext cx="10633753" cy="4652299"/>
              </a:xfrm>
              <a:prstGeom prst="rect">
                <a:avLst/>
              </a:prstGeom>
              <a:blipFill>
                <a:blip r:embed="rId5"/>
                <a:stretch>
                  <a:fillRect l="-955" t="-1090"/>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0D0C5ECD-32B3-814E-9ECE-3E62993CA726}"/>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7642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86908"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37400" y="4602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13707" y="1111046"/>
            <a:ext cx="11414589"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table below to answer the questions.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Complete the table. First, find the common denominator for </a:t>
            </a:r>
            <a:r>
              <a:rPr lang="en-US" sz="2000" b="1" dirty="0">
                <a:latin typeface="Verdana" panose="020B0604030504040204" pitchFamily="34" charset="0"/>
                <a:ea typeface="Verdana" panose="020B0604030504040204" pitchFamily="34" charset="0"/>
                <a:cs typeface="Verdana" panose="020B0604030504040204" pitchFamily="34" charset="0"/>
              </a:rPr>
              <a:t>Fraction A</a:t>
            </a:r>
            <a:r>
              <a:rPr lang="en-US" sz="2000" dirty="0">
                <a:latin typeface="Verdana" panose="020B0604030504040204" pitchFamily="34" charset="0"/>
                <a:ea typeface="Verdana" panose="020B0604030504040204" pitchFamily="34" charset="0"/>
                <a:cs typeface="Verdana" panose="020B0604030504040204" pitchFamily="34" charset="0"/>
              </a:rPr>
              <a:t> and </a:t>
            </a:r>
            <a:r>
              <a:rPr lang="en-US" sz="2000" b="1" dirty="0">
                <a:latin typeface="Verdana" panose="020B0604030504040204" pitchFamily="34" charset="0"/>
                <a:ea typeface="Verdana" panose="020B0604030504040204" pitchFamily="34" charset="0"/>
                <a:cs typeface="Verdana" panose="020B0604030504040204" pitchFamily="34" charset="0"/>
              </a:rPr>
              <a:t>Fraction B</a:t>
            </a:r>
            <a:r>
              <a:rPr lang="en-US" sz="2000" dirty="0">
                <a:latin typeface="Verdana" panose="020B0604030504040204" pitchFamily="34" charset="0"/>
                <a:ea typeface="Verdana" panose="020B0604030504040204" pitchFamily="34" charset="0"/>
                <a:cs typeface="Verdana" panose="020B0604030504040204" pitchFamily="34" charset="0"/>
              </a:rPr>
              <a:t>. Then, rewrite </a:t>
            </a:r>
            <a:r>
              <a:rPr lang="en-US" sz="2000" b="1" dirty="0">
                <a:latin typeface="Verdana" panose="020B0604030504040204" pitchFamily="34" charset="0"/>
                <a:ea typeface="Verdana" panose="020B0604030504040204" pitchFamily="34" charset="0"/>
                <a:cs typeface="Verdana" panose="020B0604030504040204" pitchFamily="34" charset="0"/>
              </a:rPr>
              <a:t>Fraction A</a:t>
            </a:r>
            <a:r>
              <a:rPr lang="en-US" sz="2000" dirty="0">
                <a:latin typeface="Verdana" panose="020B0604030504040204" pitchFamily="34" charset="0"/>
                <a:ea typeface="Verdana" panose="020B0604030504040204" pitchFamily="34" charset="0"/>
                <a:cs typeface="Verdana" panose="020B0604030504040204" pitchFamily="34" charset="0"/>
              </a:rPr>
              <a:t> and </a:t>
            </a:r>
            <a:r>
              <a:rPr lang="en-US" sz="2000" b="1" dirty="0">
                <a:latin typeface="Verdana" panose="020B0604030504040204" pitchFamily="34" charset="0"/>
                <a:ea typeface="Verdana" panose="020B0604030504040204" pitchFamily="34" charset="0"/>
                <a:cs typeface="Verdana" panose="020B0604030504040204" pitchFamily="34" charset="0"/>
              </a:rPr>
              <a:t>Fraction B </a:t>
            </a:r>
            <a:r>
              <a:rPr lang="en-US" sz="2000" dirty="0">
                <a:latin typeface="Verdana" panose="020B0604030504040204" pitchFamily="34" charset="0"/>
                <a:ea typeface="Verdana" panose="020B0604030504040204" pitchFamily="34" charset="0"/>
                <a:cs typeface="Verdana" panose="020B0604030504040204" pitchFamily="34" charset="0"/>
              </a:rPr>
              <a:t>using the common denominator.</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81E84D7-0904-8E4B-BE25-460C497D2A03}"/>
                  </a:ext>
                </a:extLst>
              </p:cNvPr>
              <p:cNvGraphicFramePr>
                <a:graphicFrameLocks noGrp="1"/>
              </p:cNvGraphicFramePr>
              <p:nvPr>
                <p:extLst>
                  <p:ext uri="{D42A27DB-BD31-4B8C-83A1-F6EECF244321}">
                    <p14:modId xmlns:p14="http://schemas.microsoft.com/office/powerpoint/2010/main" val="3222517728"/>
                  </p:ext>
                </p:extLst>
              </p:nvPr>
            </p:nvGraphicFramePr>
            <p:xfrm>
              <a:off x="2146200" y="2941120"/>
              <a:ext cx="8046724" cy="3135573"/>
            </p:xfrm>
            <a:graphic>
              <a:graphicData uri="http://schemas.openxmlformats.org/drawingml/2006/table">
                <a:tbl>
                  <a:tblPr bandRow="1">
                    <a:tableStyleId>{A91F0D33-8C57-4600-99A7-42BC86742BE1}</a:tableStyleId>
                  </a:tblPr>
                  <a:tblGrid>
                    <a:gridCol w="1338146">
                      <a:extLst>
                        <a:ext uri="{9D8B030D-6E8A-4147-A177-3AD203B41FA5}">
                          <a16:colId xmlns:a16="http://schemas.microsoft.com/office/drawing/2014/main" val="555358815"/>
                        </a:ext>
                      </a:extLst>
                    </a:gridCol>
                    <a:gridCol w="1338146">
                      <a:extLst>
                        <a:ext uri="{9D8B030D-6E8A-4147-A177-3AD203B41FA5}">
                          <a16:colId xmlns:a16="http://schemas.microsoft.com/office/drawing/2014/main" val="3608021838"/>
                        </a:ext>
                      </a:extLst>
                    </a:gridCol>
                    <a:gridCol w="2040673">
                      <a:extLst>
                        <a:ext uri="{9D8B030D-6E8A-4147-A177-3AD203B41FA5}">
                          <a16:colId xmlns:a16="http://schemas.microsoft.com/office/drawing/2014/main" val="2799870769"/>
                        </a:ext>
                      </a:extLst>
                    </a:gridCol>
                    <a:gridCol w="1695269">
                      <a:extLst>
                        <a:ext uri="{9D8B030D-6E8A-4147-A177-3AD203B41FA5}">
                          <a16:colId xmlns:a16="http://schemas.microsoft.com/office/drawing/2014/main" val="1676145195"/>
                        </a:ext>
                      </a:extLst>
                    </a:gridCol>
                    <a:gridCol w="1634490">
                      <a:extLst>
                        <a:ext uri="{9D8B030D-6E8A-4147-A177-3AD203B41FA5}">
                          <a16:colId xmlns:a16="http://schemas.microsoft.com/office/drawing/2014/main" val="3660447532"/>
                        </a:ext>
                      </a:extLst>
                    </a:gridCol>
                  </a:tblGrid>
                  <a:tr h="474594">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Fraction A</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Fraction B</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Common Denominator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Equivalent Fractions with a Common Denominator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4538487"/>
                      </a:ext>
                    </a:extLst>
                  </a:tr>
                  <a:tr h="73609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a:rPr>
                                      <m:t>7</m:t>
                                    </m:r>
                                  </m:num>
                                  <m:den>
                                    <m:r>
                                      <a:rPr lang="en-US" sz="2000">
                                        <a:effectLst/>
                                        <a:latin typeface="Cambria Math"/>
                                      </a:rPr>
                                      <m:t>8</m:t>
                                    </m:r>
                                  </m:den>
                                </m:f>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000" i="1" smtClean="0">
                                        <a:effectLst/>
                                        <a:latin typeface="Cambria Math" panose="02040503050406030204" pitchFamily="18" charset="0"/>
                                      </a:rPr>
                                    </m:ctrlPr>
                                  </m:fPr>
                                  <m:num>
                                    <m:r>
                                      <a:rPr lang="en-US" sz="2000" b="0" smtClean="0">
                                        <a:effectLst/>
                                        <a:latin typeface="Cambria Math"/>
                                      </a:rPr>
                                      <m:t>5</m:t>
                                    </m:r>
                                  </m:num>
                                  <m:den>
                                    <m:r>
                                      <a:rPr lang="en-US" sz="2000" b="0" smtClean="0">
                                        <a:effectLst/>
                                        <a:latin typeface="Cambria Math"/>
                                      </a:rPr>
                                      <m:t>6</m:t>
                                    </m:r>
                                  </m:den>
                                </m:f>
                              </m:oMath>
                            </m:oMathPara>
                          </a14:m>
                          <a:endParaRPr lang="en-US" sz="2000" dirty="0">
                            <a:effectLst/>
                            <a:latin typeface="Cambria Math" panose="02040503050406030204" pitchFamily="18" charset="0"/>
                            <a:ea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A: </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11410"/>
                      </a:ext>
                    </a:extLst>
                  </a:tr>
                  <a:tr h="337875">
                    <a:tc>
                      <a:txBody>
                        <a:bodyPr/>
                        <a:lstStyle/>
                        <a:p>
                          <a:pPr marL="0" marR="0" algn="ctr">
                            <a:lnSpc>
                              <a:spcPct val="100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a:rPr>
                                  <m:t>1 </m:t>
                                </m:r>
                                <m:f>
                                  <m:fPr>
                                    <m:ctrlPr>
                                      <a:rPr lang="en-US"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10</m:t>
                                    </m:r>
                                  </m:den>
                                </m:f>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800"/>
                            </a:spcAft>
                          </a:pPr>
                          <a14:m>
                            <m:oMathPara xmlns:m="http://schemas.openxmlformats.org/officeDocument/2006/math">
                              <m:oMathParaPr>
                                <m:jc m:val="center"/>
                              </m:oMathParaPr>
                              <m:oMath xmlns:m="http://schemas.openxmlformats.org/officeDocument/2006/math">
                                <m:r>
                                  <a:rPr lang="en-US" sz="2000">
                                    <a:effectLst/>
                                    <a:latin typeface="Cambria Math"/>
                                  </a:rPr>
                                  <m:t>3 </m:t>
                                </m:r>
                                <m:f>
                                  <m:fPr>
                                    <m:ctrlPr>
                                      <a:rPr lang="en-US" sz="2000" i="1">
                                        <a:effectLst/>
                                        <a:latin typeface="Cambria Math" panose="02040503050406030204" pitchFamily="18" charset="0"/>
                                      </a:rPr>
                                    </m:ctrlPr>
                                  </m:fPr>
                                  <m:num>
                                    <m:r>
                                      <a:rPr lang="en-US" sz="2000">
                                        <a:effectLst/>
                                        <a:latin typeface="Cambria Math"/>
                                      </a:rPr>
                                      <m:t>2</m:t>
                                    </m:r>
                                  </m:num>
                                  <m:den>
                                    <m:r>
                                      <a:rPr lang="en-US" sz="2000">
                                        <a:effectLst/>
                                        <a:latin typeface="Cambria Math"/>
                                      </a:rPr>
                                      <m:t>3</m:t>
                                    </m:r>
                                  </m:den>
                                </m:f>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A: </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p>
                        <a:p>
                          <a:pPr marL="0" marR="0">
                            <a:lnSpc>
                              <a:spcPct val="107000"/>
                            </a:lnSpc>
                            <a:spcBef>
                              <a:spcPts val="0"/>
                            </a:spcBef>
                            <a:spcAft>
                              <a:spcPts val="800"/>
                            </a:spcAft>
                          </a:pPr>
                          <a:r>
                            <a:rPr lang="en-US" sz="2000" dirty="0">
                              <a:effectLst/>
                              <a:latin typeface="Verdana" pitchFamily="34" charset="0"/>
                              <a:ea typeface="Verdana" pitchFamily="34" charset="0"/>
                            </a:rPr>
                            <a:t> </a:t>
                          </a: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581661"/>
                      </a:ext>
                    </a:extLst>
                  </a:tr>
                  <a:tr h="14963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a:rPr>
                                  <m:t>5</m:t>
                                </m:r>
                                <m:f>
                                  <m:fPr>
                                    <m:ctrlPr>
                                      <a:rPr lang="en-US"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4</m:t>
                                    </m:r>
                                  </m:den>
                                </m:f>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a:rPr>
                                  <m:t>2 </m:t>
                                </m:r>
                                <m:f>
                                  <m:fPr>
                                    <m:ctrlPr>
                                      <a:rPr lang="en-US"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3</m:t>
                                    </m:r>
                                  </m:den>
                                </m:f>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Verdana" pitchFamily="34" charset="0"/>
                              <a:ea typeface="Verdana" pitchFamily="34" charset="0"/>
                            </a:rPr>
                            <a:t>A:  </a:t>
                          </a:r>
                          <a14:m>
                            <m:oMath xmlns:m="http://schemas.openxmlformats.org/officeDocument/2006/math">
                              <m:r>
                                <a:rPr lang="en-US" sz="2000">
                                  <a:effectLst/>
                                  <a:latin typeface="Cambria Math"/>
                                </a:rPr>
                                <m:t> </m:t>
                              </m:r>
                            </m:oMath>
                          </a14:m>
                          <a:endParaRPr lang="en-US" sz="2000" i="1">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p>
                        <a:p>
                          <a:pPr marL="0" marR="0">
                            <a:lnSpc>
                              <a:spcPct val="107000"/>
                            </a:lnSpc>
                            <a:spcBef>
                              <a:spcPts val="0"/>
                            </a:spcBef>
                            <a:spcAft>
                              <a:spcPts val="800"/>
                            </a:spcAft>
                          </a:pPr>
                          <a:r>
                            <a:rPr lang="en-US" sz="2000" dirty="0">
                              <a:effectLst/>
                              <a:latin typeface="Verdana" pitchFamily="34" charset="0"/>
                              <a:ea typeface="Verdana" pitchFamily="34" charset="0"/>
                            </a:rPr>
                            <a:t> </a:t>
                          </a: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394229"/>
                      </a:ext>
                    </a:extLst>
                  </a:tr>
                </a:tbl>
              </a:graphicData>
            </a:graphic>
          </p:graphicFrame>
        </mc:Choice>
        <mc:Fallback xmlns="">
          <p:graphicFrame>
            <p:nvGraphicFramePr>
              <p:cNvPr id="2" name="Table 1">
                <a:extLst>
                  <a:ext uri="{FF2B5EF4-FFF2-40B4-BE49-F238E27FC236}">
                    <a16:creationId xmlns:a16="http://schemas.microsoft.com/office/drawing/2014/main" id="{581E84D7-0904-8E4B-BE25-460C497D2A03}"/>
                  </a:ext>
                </a:extLst>
              </p:cNvPr>
              <p:cNvGraphicFramePr>
                <a:graphicFrameLocks noGrp="1"/>
              </p:cNvGraphicFramePr>
              <p:nvPr>
                <p:extLst>
                  <p:ext uri="{D42A27DB-BD31-4B8C-83A1-F6EECF244321}">
                    <p14:modId xmlns:p14="http://schemas.microsoft.com/office/powerpoint/2010/main" val="3222517728"/>
                  </p:ext>
                </p:extLst>
              </p:nvPr>
            </p:nvGraphicFramePr>
            <p:xfrm>
              <a:off x="2146200" y="2941120"/>
              <a:ext cx="8046724" cy="3135573"/>
            </p:xfrm>
            <a:graphic>
              <a:graphicData uri="http://schemas.openxmlformats.org/drawingml/2006/table">
                <a:tbl>
                  <a:tblPr bandRow="1">
                    <a:tableStyleId>{A91F0D33-8C57-4600-99A7-42BC86742BE1}</a:tableStyleId>
                  </a:tblPr>
                  <a:tblGrid>
                    <a:gridCol w="1338146">
                      <a:extLst>
                        <a:ext uri="{9D8B030D-6E8A-4147-A177-3AD203B41FA5}">
                          <a16:colId xmlns:a16="http://schemas.microsoft.com/office/drawing/2014/main" val="555358815"/>
                        </a:ext>
                      </a:extLst>
                    </a:gridCol>
                    <a:gridCol w="1338146">
                      <a:extLst>
                        <a:ext uri="{9D8B030D-6E8A-4147-A177-3AD203B41FA5}">
                          <a16:colId xmlns:a16="http://schemas.microsoft.com/office/drawing/2014/main" val="3608021838"/>
                        </a:ext>
                      </a:extLst>
                    </a:gridCol>
                    <a:gridCol w="2040673">
                      <a:extLst>
                        <a:ext uri="{9D8B030D-6E8A-4147-A177-3AD203B41FA5}">
                          <a16:colId xmlns:a16="http://schemas.microsoft.com/office/drawing/2014/main" val="2799870769"/>
                        </a:ext>
                      </a:extLst>
                    </a:gridCol>
                    <a:gridCol w="1695269">
                      <a:extLst>
                        <a:ext uri="{9D8B030D-6E8A-4147-A177-3AD203B41FA5}">
                          <a16:colId xmlns:a16="http://schemas.microsoft.com/office/drawing/2014/main" val="1676145195"/>
                        </a:ext>
                      </a:extLst>
                    </a:gridCol>
                    <a:gridCol w="1634490">
                      <a:extLst>
                        <a:ext uri="{9D8B030D-6E8A-4147-A177-3AD203B41FA5}">
                          <a16:colId xmlns:a16="http://schemas.microsoft.com/office/drawing/2014/main" val="3660447532"/>
                        </a:ext>
                      </a:extLst>
                    </a:gridCol>
                  </a:tblGrid>
                  <a:tr h="949516">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Fraction A</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Fraction B</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Common Denominator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Equivalent Fractions with a Common Denominator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4538487"/>
                      </a:ext>
                    </a:extLst>
                  </a:tr>
                  <a:tr h="736097">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41379" r="-500943" b="-200000"/>
                          </a:stretch>
                        </a:blipFill>
                      </a:tcPr>
                    </a:tc>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52" t="-141379" r="-405714" b="-200000"/>
                          </a:stretch>
                        </a:blipFill>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A: </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11410"/>
                      </a:ext>
                    </a:extLst>
                  </a:tr>
                  <a:tr h="724980">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41379" r="-500943" b="-100000"/>
                          </a:stretch>
                        </a:blipFill>
                      </a:tcPr>
                    </a:tc>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52" t="-241379" r="-405714" b="-100000"/>
                          </a:stretch>
                        </a:blipFill>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A: </a:t>
                          </a:r>
                          <a:endParaRPr lang="en-US" sz="2000" i="1" dirty="0">
                            <a:effectLst/>
                            <a:latin typeface="Verdana" pitchFamily="34" charset="0"/>
                            <a:ea typeface="Verdana" pitchFamily="34"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p>
                        <a:p>
                          <a:pPr marL="0" marR="0">
                            <a:lnSpc>
                              <a:spcPct val="107000"/>
                            </a:lnSpc>
                            <a:spcBef>
                              <a:spcPts val="0"/>
                            </a:spcBef>
                            <a:spcAft>
                              <a:spcPts val="800"/>
                            </a:spcAft>
                          </a:pPr>
                          <a:r>
                            <a:rPr lang="en-US" sz="2000" dirty="0">
                              <a:effectLst/>
                              <a:latin typeface="Verdana" pitchFamily="34" charset="0"/>
                              <a:ea typeface="Verdana" pitchFamily="34" charset="0"/>
                            </a:rPr>
                            <a:t> </a:t>
                          </a: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581661"/>
                      </a:ext>
                    </a:extLst>
                  </a:tr>
                  <a:tr h="724980">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47368" r="-500943" b="-1754"/>
                          </a:stretch>
                        </a:blipFill>
                      </a:tcPr>
                    </a:tc>
                    <a:tc>
                      <a:txBody>
                        <a:bodyPr/>
                        <a:lstStyle/>
                        <a:p>
                          <a:endParaRPr lang="en-US"/>
                        </a:p>
                      </a:txBody>
                      <a:tcPr marL="63072" marR="630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52" t="-347368" r="-405714" b="-1754"/>
                          </a:stretch>
                        </a:blipFill>
                      </a:tcPr>
                    </a:tc>
                    <a:tc>
                      <a:txBody>
                        <a:bodyPr/>
                        <a:lstStyle/>
                        <a:p>
                          <a:pPr marL="0" marR="0">
                            <a:lnSpc>
                              <a:spcPct val="107000"/>
                            </a:lnSpc>
                            <a:spcBef>
                              <a:spcPts val="0"/>
                            </a:spcBef>
                            <a:spcAft>
                              <a:spcPts val="800"/>
                            </a:spcAft>
                          </a:pPr>
                          <a:r>
                            <a:rPr lang="en-US" sz="1700" dirty="0">
                              <a:effectLst/>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7612" t="-347368" r="-97761" b="-1754"/>
                          </a:stretch>
                        </a:blipFill>
                      </a:tcPr>
                    </a:tc>
                    <a:tc>
                      <a:txBody>
                        <a:bodyPr/>
                        <a:lstStyle/>
                        <a:p>
                          <a:pPr marL="0" marR="0">
                            <a:lnSpc>
                              <a:spcPct val="107000"/>
                            </a:lnSpc>
                            <a:spcBef>
                              <a:spcPts val="0"/>
                            </a:spcBef>
                            <a:spcAft>
                              <a:spcPts val="800"/>
                            </a:spcAft>
                          </a:pPr>
                          <a:r>
                            <a:rPr lang="en-US" sz="2000" dirty="0">
                              <a:effectLst/>
                              <a:latin typeface="Verdana" pitchFamily="34" charset="0"/>
                              <a:ea typeface="Verdana" pitchFamily="34" charset="0"/>
                            </a:rPr>
                            <a:t>B:</a:t>
                          </a:r>
                        </a:p>
                        <a:p>
                          <a:pPr marL="0" marR="0">
                            <a:lnSpc>
                              <a:spcPct val="107000"/>
                            </a:lnSpc>
                            <a:spcBef>
                              <a:spcPts val="0"/>
                            </a:spcBef>
                            <a:spcAft>
                              <a:spcPts val="800"/>
                            </a:spcAft>
                          </a:pPr>
                          <a:r>
                            <a:rPr lang="en-US" sz="2000" dirty="0">
                              <a:effectLst/>
                              <a:latin typeface="Verdana" pitchFamily="34" charset="0"/>
                              <a:ea typeface="Verdana" pitchFamily="34" charset="0"/>
                            </a:rPr>
                            <a:t> </a:t>
                          </a:r>
                        </a:p>
                      </a:txBody>
                      <a:tcPr marL="63072" marR="6307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394229"/>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8132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575353" y="433130"/>
                <a:ext cx="11414589" cy="3549626"/>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value of each.</a:t>
                </a: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pPr marL="457200"/>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7</m:t>
                          </m:r>
                        </m:num>
                        <m:den>
                          <m:r>
                            <a:rPr lang="en-US" sz="2400" i="1">
                              <a:latin typeface="Cambria Math" panose="02040503050406030204" pitchFamily="18" charset="0"/>
                              <a:ea typeface="Cambria Math" panose="02040503050406030204" pitchFamily="18" charset="0"/>
                            </a:rPr>
                            <m:t>8</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5</m:t>
                          </m:r>
                        </m:num>
                        <m:den>
                          <m:r>
                            <a:rPr lang="en-US" sz="2400" i="1">
                              <a:latin typeface="Cambria Math" panose="02040503050406030204" pitchFamily="18" charset="0"/>
                              <a:ea typeface="Cambria Math" panose="02040503050406030204" pitchFamily="18" charset="0"/>
                            </a:rPr>
                            <m:t>6</m:t>
                          </m:r>
                        </m:den>
                      </m:f>
                      <m:r>
                        <a:rPr lang="en-US" sz="2400" i="1">
                          <a:latin typeface="Cambria Math" panose="02040503050406030204" pitchFamily="18" charset="0"/>
                          <a:ea typeface="Cambria Math" panose="02040503050406030204" pitchFamily="18" charset="0"/>
                        </a:rPr>
                        <m:t>=</m:t>
                      </m:r>
                    </m:oMath>
                  </m:oMathPara>
                </a14:m>
                <a:endParaRPr lang="en-US" sz="2400" i="1" dirty="0">
                  <a:latin typeface="Cambria Math" panose="02040503050406030204" pitchFamily="18" charset="0"/>
                  <a:ea typeface="Cambria Math" panose="02040503050406030204" pitchFamily="18" charset="0"/>
                </a:endParaRPr>
              </a:p>
              <a:p>
                <a:pPr marL="457200"/>
                <a:r>
                  <a:rPr lang="en-US" sz="2400" dirty="0">
                    <a:latin typeface="Cambria Math" panose="02040503050406030204" pitchFamily="18" charset="0"/>
                    <a:ea typeface="Cambria Math" panose="02040503050406030204" pitchFamily="18" charset="0"/>
                  </a:rPr>
                  <a:t> </a:t>
                </a:r>
                <a:endParaRPr lang="en-US" sz="2400" i="1" dirty="0">
                  <a:latin typeface="Cambria Math" panose="02040503050406030204" pitchFamily="18" charset="0"/>
                  <a:ea typeface="Cambria Math" panose="02040503050406030204" pitchFamily="18" charset="0"/>
                </a:endParaRPr>
              </a:p>
              <a:p>
                <a:pPr marL="457200"/>
                <a:r>
                  <a:rPr lang="en-US" sz="2400" dirty="0">
                    <a:latin typeface="Cambria Math" panose="02040503050406030204" pitchFamily="18" charset="0"/>
                    <a:ea typeface="Cambria Math" panose="02040503050406030204" pitchFamily="18" charset="0"/>
                  </a:rPr>
                  <a:t> </a:t>
                </a:r>
                <a:endParaRPr lang="en-US" sz="2400" i="1" dirty="0">
                  <a:latin typeface="Cambria Math" panose="02040503050406030204" pitchFamily="18" charset="0"/>
                  <a:ea typeface="Cambria Math" panose="02040503050406030204" pitchFamily="18" charset="0"/>
                </a:endParaRPr>
              </a:p>
              <a:p>
                <a:pPr marL="457200"/>
                <a:r>
                  <a:rPr lang="en-US" sz="2400" dirty="0">
                    <a:latin typeface="Cambria Math" panose="02040503050406030204" pitchFamily="18" charset="0"/>
                    <a:ea typeface="Cambria Math" panose="02040503050406030204" pitchFamily="18" charset="0"/>
                  </a:rPr>
                  <a:t> </a:t>
                </a:r>
                <a:endParaRPr lang="en-US" sz="2400" i="1" dirty="0">
                  <a:latin typeface="Cambria Math" panose="02040503050406030204" pitchFamily="18" charset="0"/>
                  <a:ea typeface="Cambria Math" panose="02040503050406030204" pitchFamily="18" charset="0"/>
                </a:endParaRPr>
              </a:p>
              <a:p>
                <a:pPr marL="457200"/>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Math" panose="02040503050406030204" pitchFamily="18" charset="0"/>
                        </a:rPr>
                        <m:t>5</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4</m:t>
                          </m:r>
                        </m:den>
                      </m:f>
                      <m:r>
                        <a:rPr lang="en-US" sz="2400" i="1">
                          <a:latin typeface="Cambria Math" panose="02040503050406030204" pitchFamily="18" charset="0"/>
                          <a:ea typeface="Cambria Math" panose="02040503050406030204" pitchFamily="18" charset="0"/>
                        </a:rPr>
                        <m:t>−2</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3</m:t>
                          </m:r>
                        </m:den>
                      </m:f>
                      <m:r>
                        <a:rPr lang="en-US" sz="2400" i="1">
                          <a:latin typeface="Cambria Math" panose="02040503050406030204" pitchFamily="18" charset="0"/>
                          <a:ea typeface="Cambria Math" panose="02040503050406030204" pitchFamily="18" charset="0"/>
                        </a:rPr>
                        <m:t>=</m:t>
                      </m:r>
                    </m:oMath>
                  </m:oMathPara>
                </a14:m>
                <a:endParaRPr lang="en-US" sz="2400" i="1" dirty="0">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575353" y="433130"/>
                <a:ext cx="11414589" cy="3549626"/>
              </a:xfrm>
              <a:prstGeom prst="rect">
                <a:avLst/>
              </a:prstGeom>
              <a:blipFill>
                <a:blip r:embed="rId4"/>
                <a:stretch>
                  <a:fillRect l="-889" t="-1429" b="-35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1348</TotalTime>
  <Words>1062</Words>
  <Application>Microsoft Office PowerPoint</Application>
  <PresentationFormat>Widescreen</PresentationFormat>
  <Paragraphs>204</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Verdana</vt:lpstr>
      <vt:lpstr>Cambria Math</vt:lpstr>
      <vt:lpstr>Century Gothic</vt:lpstr>
      <vt:lpstr>Arial</vt:lpstr>
      <vt:lpstr>Courier New</vt:lpstr>
      <vt:lpstr>Arial Black</vt:lpstr>
      <vt:lpstr>1_Office Theme</vt:lpstr>
      <vt:lpstr>6th Grade Math  Unit 1, Lesson 2  Adding and Subtracting Fractions  Volume 1, pg. 8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29</cp:revision>
  <dcterms:created xsi:type="dcterms:W3CDTF">2015-03-17T18:51:18Z</dcterms:created>
  <dcterms:modified xsi:type="dcterms:W3CDTF">2022-07-07T01:21:27Z</dcterms:modified>
</cp:coreProperties>
</file>