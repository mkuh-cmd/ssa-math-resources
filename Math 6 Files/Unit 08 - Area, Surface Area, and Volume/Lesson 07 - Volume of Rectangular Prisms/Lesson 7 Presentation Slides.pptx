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Cambria Math" pitchFamily="18" charset="0"/>
      <p:regular r:id="rId27"/>
    </p:embeddedFont>
    <p:embeddedFont>
      <p:font typeface="Cambria" pitchFamily="18" charset="0"/>
      <p:regular r:id="rId28"/>
      <p:bold r:id="rId29"/>
      <p:italic r:id="rId30"/>
      <p:boldItalic r:id="rId31"/>
    </p:embeddedFont>
    <p:embeddedFont>
      <p:font typeface="Arial Black" pitchFamily="34" charset="0"/>
      <p:bold r:id="rId32"/>
    </p:embeddedFont>
    <p:embeddedFont>
      <p:font typeface="Verdana" pitchFamily="34" charset="0"/>
      <p:regular r:id="rId33"/>
      <p:bold r:id="rId34"/>
      <p:italic r:id="rId35"/>
      <p:boldItalic r:id="rId36"/>
    </p:embeddedFont>
    <p:embeddedFont>
      <p:font typeface="Calibri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iJuLmUMhsiEMgsJpDvgZqQ12Fu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BE64D962-E388-40FF-8CC7-7D8A1FA18EEC}">
  <a:tblStyle styleId="{BE64D962-E388-40FF-8CC7-7D8A1FA18E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1"/>
    <p:restoredTop sz="94694"/>
  </p:normalViewPr>
  <p:slideViewPr>
    <p:cSldViewPr snapToGrid="0">
      <p:cViewPr>
        <p:scale>
          <a:sx n="75" d="100"/>
          <a:sy n="75" d="100"/>
        </p:scale>
        <p:origin x="-1589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94612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7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of Rectangular Prisms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110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" y="1522577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905255" y="1609531"/>
            <a:ext cx="1053100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MA.6.GR.2.3</a:t>
            </a:r>
            <a:endParaRPr sz="3500" dirty="0"/>
          </a:p>
          <a:p>
            <a:pPr marL="46355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Solve mathematical and real-world problems involving the volume of right rectangular prisms with positive rational number edge lengths using a visual model and a formula.</a:t>
            </a:r>
            <a:endParaRPr sz="3500" dirty="0"/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endParaRPr sz="3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13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36;p1"/>
          <p:cNvSpPr txBox="1"/>
          <p:nvPr/>
        </p:nvSpPr>
        <p:spPr>
          <a:xfrm>
            <a:off x="1143000" y="129667"/>
            <a:ext cx="105437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4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143000" y="129667"/>
            <a:ext cx="105437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110</a:t>
            </a:r>
            <a:endParaRPr dirty="0"/>
          </a:p>
        </p:txBody>
      </p:sp>
      <p:sp>
        <p:nvSpPr>
          <p:cNvPr id="138" name="Google Shape;138;p1"/>
          <p:cNvSpPr txBox="1"/>
          <p:nvPr/>
        </p:nvSpPr>
        <p:spPr>
          <a:xfrm>
            <a:off x="905255" y="1596390"/>
            <a:ext cx="105437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110</a:t>
            </a:r>
            <a:endParaRPr dirty="0"/>
          </a:p>
        </p:txBody>
      </p:sp>
      <p:sp>
        <p:nvSpPr>
          <p:cNvPr id="149" name="Google Shape;149;p2"/>
          <p:cNvSpPr txBox="1"/>
          <p:nvPr/>
        </p:nvSpPr>
        <p:spPr>
          <a:xfrm>
            <a:off x="871799" y="1650304"/>
            <a:ext cx="1068972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8975" indent="-688975">
              <a:buSzPct val="1000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find the volume of a rectangular prism.</a:t>
            </a:r>
            <a:endParaRPr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g104476d1465_1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4"/>
          <p:cNvSpPr txBox="1"/>
          <p:nvPr/>
        </p:nvSpPr>
        <p:spPr>
          <a:xfrm>
            <a:off x="1143000" y="60325"/>
            <a:ext cx="92445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8.7.1 Warm-Up: A Box of Cubes</a:t>
            </a:r>
            <a:endParaRPr dirty="0"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111</a:t>
            </a:r>
            <a:endParaRPr dirty="0"/>
          </a:p>
        </p:txBody>
      </p:sp>
      <p:pic>
        <p:nvPicPr>
          <p:cNvPr id="171" name="Google Shape;171;p4" descr="A rectangular prism that represents a box. The horizontal edge length is labeled 10 inches, the vertical edge length is labeled 4 inches, and the bottom, right edge length of the box is labeled 3 inches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36023" y="2711725"/>
            <a:ext cx="4719955" cy="27051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05255" y="1386026"/>
                <a:ext cx="104809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How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many cubes with an edge length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inch (in.) fill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the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box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?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1386026"/>
                <a:ext cx="10480903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872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9" name="Google Shape;179;p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111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543533" cy="4340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If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cubes had an edge length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inches, explain if more or fewer cubes would be needed to fill the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box.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If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cubes had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  <a:ea typeface="Verdana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 inch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explain if more or fewer cubes would be needed to fill the box.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543533" cy="4340675"/>
              </a:xfrm>
              <a:prstGeom prst="rect">
                <a:avLst/>
              </a:prstGeom>
              <a:blipFill rotWithShape="1">
                <a:blip r:embed="rId4"/>
                <a:stretch>
                  <a:fillRect l="-867" t="-1264" b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8" name="Google Shape;188;p6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0" name="Google Shape;190;p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8" name="Google Shape;198;p7"/>
          <p:cNvSpPr txBox="1"/>
          <p:nvPr/>
        </p:nvSpPr>
        <p:spPr>
          <a:xfrm>
            <a:off x="1143000" y="121285"/>
            <a:ext cx="105688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8.7.2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Two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Methods for Finding the Volume of a Right Rectangular Prism</a:t>
            </a:r>
            <a:endParaRPr dirty="0"/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410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0" name="Google Shape;200;p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111</a:t>
            </a:r>
            <a:endParaRPr dirty="0"/>
          </a:p>
        </p:txBody>
      </p:sp>
      <p:sp>
        <p:nvSpPr>
          <p:cNvPr id="201" name="Google Shape;201;p7"/>
          <p:cNvSpPr txBox="1"/>
          <p:nvPr/>
        </p:nvSpPr>
        <p:spPr>
          <a:xfrm>
            <a:off x="905256" y="1767025"/>
            <a:ext cx="83271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Alan calculated the volume of the rectangular prism.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667251" y="2527700"/>
            <a:ext cx="1862250" cy="2967730"/>
          </a:xfrm>
          <a:prstGeom prst="cube">
            <a:avLst>
              <a:gd name="adj" fmla="val 25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660107" y="2950631"/>
            <a:ext cx="1102995" cy="772516"/>
          </a:xfrm>
          <a:prstGeom prst="rect">
            <a:avLst/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1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6398893" y="5121011"/>
            <a:ext cx="1364209" cy="616515"/>
          </a:xfrm>
          <a:prstGeom prst="rect">
            <a:avLst/>
          </a:prstGeom>
          <a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924" b="-816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4930405" y="5574788"/>
            <a:ext cx="941283" cy="625812"/>
          </a:xfrm>
          <a:prstGeom prst="rect">
            <a:avLst/>
          </a:prstGeom>
          <a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332" r="-6666" b="-588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3" name="Google Shape;213;p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111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543533" cy="494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Fill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in the blanks to complete Alan’s statement on how he calculated the volume. </a:t>
                </a: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>
                  <a:lnSpc>
                    <a:spcPct val="150000"/>
                  </a:lnSpc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To find the volume of this prism, I will fill the prism with cubes of side lengths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in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 Because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3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_____, _____ cubes will fit along the length and _____ cubes will fit along the width. _____ cubes will cover the base of the prism. The height of the prism can be used to determine how many layers of cubes are needed. It will take _____ layers of cubes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6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 pitchFamily="34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_____.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In total, it will take _______ of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in. cubes to fill the prism. </a:t>
                </a:r>
              </a:p>
              <a:p>
                <a:pPr marL="457200"/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543533" cy="4942379"/>
              </a:xfrm>
              <a:prstGeom prst="rect">
                <a:avLst/>
              </a:prstGeom>
              <a:blipFill rotWithShape="1">
                <a:blip r:embed="rId4"/>
                <a:stretch>
                  <a:fillRect l="-578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1" name="Google Shape;221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2" name="Google Shape;222;p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112</a:t>
            </a:r>
            <a:endParaRPr dirty="0"/>
          </a:p>
        </p:txBody>
      </p:sp>
      <p:graphicFrame>
        <p:nvGraphicFramePr>
          <p:cNvPr id="224" name="Google Shape;224;p9"/>
          <p:cNvGraphicFramePr/>
          <p:nvPr/>
        </p:nvGraphicFramePr>
        <p:xfrm>
          <a:off x="4307144" y="2407451"/>
          <a:ext cx="4493950" cy="3167350"/>
        </p:xfrm>
        <a:graphic>
          <a:graphicData uri="http://schemas.openxmlformats.org/drawingml/2006/table">
            <a:tbl>
              <a:tblPr firstRow="1" firstCol="1" bandRow="1">
                <a:noFill/>
                <a:tableStyleId>{BE64D962-E388-40FF-8CC7-7D8A1FA18EEC}</a:tableStyleId>
              </a:tblPr>
              <a:tblGrid>
                <a:gridCol w="44939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8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9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543533" cy="5297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The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volume of each small cube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Verdana" pitchFamily="34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in</a:t>
                </a:r>
                <a:r>
                  <a:rPr lang="en-US" sz="2000" baseline="30000" dirty="0" smtClean="0">
                    <a:latin typeface="Verdana" pitchFamily="34" charset="0"/>
                    <a:ea typeface="Verdana" pitchFamily="34" charset="0"/>
                  </a:rPr>
                  <a:t>3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Multiply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number of cubes needed to fill the prism by the volume of each cube to find the volume of the prism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Jai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used the formula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𝑉</m:t>
                    </m:r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to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find the volume of the prism.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Complete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Jai’s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work to find the volume of the prism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algn="ctr"/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2743200">
                  <a:lnSpc>
                    <a:spcPct val="150000"/>
                  </a:lnSpc>
                </a:pPr>
                <a:r>
                  <a:rPr lang="en-US" sz="2000" b="0" dirty="0" smtClean="0">
                    <a:ea typeface="Verdan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𝑉</m:t>
                    </m:r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36576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𝑉</m:t>
                    </m:r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=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_____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_____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_____</a:t>
                </a:r>
              </a:p>
              <a:p>
                <a:pPr marL="36576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𝑉</m:t>
                    </m:r>
                    <m:r>
                      <a:rPr lang="en-US" sz="2000" b="0" i="1" smtClean="0">
                        <a:latin typeface="Cambria Math"/>
                        <a:ea typeface="Verdana" pitchFamily="34" charset="0"/>
                      </a:rPr>
                      <m:t>=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 _____ in</a:t>
                </a:r>
                <a:r>
                  <a:rPr lang="en-US" sz="2000" baseline="30000" dirty="0" smtClean="0">
                    <a:latin typeface="Verdana" pitchFamily="34" charset="0"/>
                    <a:ea typeface="Verdana" pitchFamily="34" charset="0"/>
                  </a:rPr>
                  <a:t>3</a:t>
                </a:r>
                <a:endParaRPr lang="en-US" sz="2000" baseline="30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543533" cy="5297925"/>
              </a:xfrm>
              <a:prstGeom prst="rect">
                <a:avLst/>
              </a:prstGeom>
              <a:blipFill rotWithShape="1">
                <a:blip r:embed="rId4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543533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How are Alan and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Jai’s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methods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similar?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Discuss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with your partner how the formula </a:t>
                </a:r>
                <a14:m>
                  <m:oMath xmlns:m="http://schemas.openxmlformats.org/officeDocument/2006/math">
                    <m:r>
                      <a:rPr lang="en-US" sz="2000" i="1"/>
                      <m:t>𝑉</m:t>
                    </m:r>
                    <m:r>
                      <a:rPr lang="en-US" sz="2000" i="1"/>
                      <m:t>=</m:t>
                    </m:r>
                    <m:r>
                      <a:rPr lang="en-US" sz="2000" i="1"/>
                      <m:t>𝐵</m:t>
                    </m:r>
                    <m:r>
                      <a:rPr lang="en-US" sz="2000" i="1"/>
                      <m:t>∙</m:t>
                    </m:r>
                    <m:r>
                      <a:rPr lang="en-US" sz="2000" i="1"/>
                      <m:t>h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is related to the formula </a:t>
                </a:r>
                <a14:m>
                  <m:oMath xmlns:m="http://schemas.openxmlformats.org/officeDocument/2006/math">
                    <m:r>
                      <a:rPr lang="en-US" sz="2000" i="1"/>
                      <m:t>𝑉</m:t>
                    </m:r>
                    <m:r>
                      <a:rPr lang="en-US" sz="2000" i="1"/>
                      <m:t>=</m:t>
                    </m:r>
                    <m:r>
                      <a:rPr lang="en-US" sz="2000" i="1"/>
                      <m:t>𝑙</m:t>
                    </m:r>
                    <m:r>
                      <a:rPr lang="en-US" sz="2000" i="1"/>
                      <m:t>∙</m:t>
                    </m:r>
                    <m:r>
                      <a:rPr lang="en-US" sz="2000" i="1"/>
                      <m:t>𝑤</m:t>
                    </m:r>
                    <m:r>
                      <a:rPr lang="en-US" sz="2000" i="1"/>
                      <m:t>∙</m:t>
                    </m:r>
                    <m:r>
                      <a:rPr lang="en-US" sz="2000" i="1"/>
                      <m:t>h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543533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578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Google Shape;230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1" name="Google Shape;231;p1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2" name="Google Shape;232;p1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112</a:t>
            </a:r>
            <a:endParaRPr dirty="0"/>
          </a:p>
        </p:txBody>
      </p:sp>
      <p:grpSp>
        <p:nvGrpSpPr>
          <p:cNvPr id="2" name="Group 1"/>
          <p:cNvGrpSpPr/>
          <p:nvPr/>
        </p:nvGrpSpPr>
        <p:grpSpPr>
          <a:xfrm>
            <a:off x="2781300" y="2303145"/>
            <a:ext cx="6629400" cy="2251710"/>
            <a:chOff x="2781300" y="2303145"/>
            <a:chExt cx="6629400" cy="22517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Rounded Rectangle 12"/>
                <p:cNvSpPr/>
                <p:nvPr/>
              </p:nvSpPr>
              <p:spPr>
                <a:xfrm>
                  <a:off x="2781300" y="2303145"/>
                  <a:ext cx="6629400" cy="225171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286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The volume,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𝑉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, of a rectangular prism is</a:t>
                  </a:r>
                  <a:endParaRPr lang="en-US" sz="2000" dirty="0">
                    <a:effectLst/>
                    <a:latin typeface="Cambria"/>
                    <a:ea typeface="Times New Roman"/>
                    <a:cs typeface="Times New Roman"/>
                  </a:endParaRPr>
                </a:p>
                <a:p>
                  <a:pPr marL="628650"/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𝑉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𝑙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×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𝑤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×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h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𝑙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represents the length,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𝑤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 represents the width, and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h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 represents the height. This can also be written as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𝑉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𝐵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×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h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𝐵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 represents the area of the base and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effectLst/>
                          <a:latin typeface="Cambria Math"/>
                          <a:ea typeface="Times New Roman"/>
                          <a:cs typeface="Times New Roman"/>
                        </a:rPr>
                        <m:t>h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 represents the height</a:t>
                  </a:r>
                  <a:r>
                    <a:rPr lang="en-US" sz="2000" dirty="0" smtClean="0">
                      <a:solidFill>
                        <a:srgbClr val="00619E"/>
                      </a:solidFill>
                      <a:effectLst/>
                      <a:latin typeface="Verdana"/>
                      <a:ea typeface="Times New Roman"/>
                      <a:cs typeface="Times New Roman"/>
                    </a:rPr>
                    <a:t>.</a:t>
                  </a:r>
                  <a:endParaRPr lang="en-US" sz="2000" dirty="0">
                    <a:effectLst/>
                    <a:latin typeface="Cambria"/>
                    <a:ea typeface="Times New Roman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13" name="Rounded 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1300" y="2303145"/>
                  <a:ext cx="6629400" cy="2251710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Shape 15" descr="Icon&#10;&#10;Description automatically generated"/>
            <p:cNvPicPr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17825" y="2467533"/>
              <a:ext cx="539750" cy="58102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8" name="Google Shape;248;p1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112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543533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Complete the statements based on your discussion.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457200">
                  <a:lnSpc>
                    <a:spcPct val="200000"/>
                  </a:lnSpc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product of the length, </a:t>
                </a:r>
                <a14:m>
                  <m:oMath xmlns:m="http://schemas.openxmlformats.org/officeDocument/2006/math">
                    <m:r>
                      <a:rPr lang="en-US" sz="2000" i="1"/>
                      <m:t>𝑙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, and the width, </a:t>
                </a:r>
                <a14:m>
                  <m:oMath xmlns:m="http://schemas.openxmlformats.org/officeDocument/2006/math">
                    <m:r>
                      <a:rPr lang="en-US" sz="2000" i="1"/>
                      <m:t>𝑤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, is equal to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____________________________________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of the prism.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/>
                        <m:t>𝐵</m:t>
                      </m:r>
                      <m:r>
                        <a:rPr lang="en-US" sz="2000" i="1"/>
                        <m:t>=_______×_______</m:t>
                      </m:r>
                    </m:oMath>
                  </m:oMathPara>
                </a14:m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Both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formulas can be used to find the volume of a right rectangular prism.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543533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578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6" name="Google Shape;256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7" name="Google Shape;257;p12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113</a:t>
            </a:r>
            <a:endParaRPr/>
          </a:p>
        </p:txBody>
      </p:sp>
      <p:pic>
        <p:nvPicPr>
          <p:cNvPr id="259" name="Google Shape;259;p12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6" name="Google Shape;266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7" name="Google Shape;267;p13"/>
          <p:cNvSpPr txBox="1"/>
          <p:nvPr/>
        </p:nvSpPr>
        <p:spPr>
          <a:xfrm>
            <a:off x="1143000" y="-37211"/>
            <a:ext cx="105813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8.7.3 Guided Practice: Volume of a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Right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Rectangular Prism</a:t>
            </a:r>
            <a:endParaRPr dirty="0"/>
          </a:p>
        </p:txBody>
      </p:sp>
      <p:sp>
        <p:nvSpPr>
          <p:cNvPr id="268" name="Google Shape;268;p1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113</a:t>
            </a:r>
            <a:endParaRPr/>
          </a:p>
        </p:txBody>
      </p:sp>
      <p:pic>
        <p:nvPicPr>
          <p:cNvPr id="269" name="Google Shape;269;p13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201;p7"/>
              <p:cNvSpPr txBox="1"/>
              <p:nvPr/>
            </p:nvSpPr>
            <p:spPr>
              <a:xfrm>
                <a:off x="905256" y="1471828"/>
                <a:ext cx="8817864" cy="3922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Diego correctly points out that </a:t>
                </a:r>
                <a14:m>
                  <m:oMath xmlns:m="http://schemas.openxmlformats.org/officeDocument/2006/math">
                    <m:r>
                      <a:rPr lang="en-US" sz="2000" i="1"/>
                      <m:t>81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cubes with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centimeters (cm) are needed to fill a right rectangular prism that has length of </a:t>
                </a:r>
                <a14:m>
                  <m:oMath xmlns:m="http://schemas.openxmlformats.org/officeDocument/2006/math">
                    <m:r>
                      <a:rPr lang="en-US" sz="2000" i="1"/>
                      <m:t>3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cm, width of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cm, and height of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cm. 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Explain or show how this is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true. </a:t>
                </a: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What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is the volume, in cubic centimeters, of the rectangular prism?</a:t>
                </a:r>
                <a:endParaRPr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8" name="Google Shape;201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471828"/>
                <a:ext cx="8817864" cy="3922444"/>
              </a:xfrm>
              <a:prstGeom prst="rect">
                <a:avLst/>
              </a:prstGeom>
              <a:blipFill rotWithShape="1">
                <a:blip r:embed="rId5"/>
                <a:stretch>
                  <a:fillRect l="-761" t="-932" r="-1314" b="-18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7" name="Google Shape;277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8" name="Google Shape;278;p1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113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9925305" cy="2037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Lin and Noah are packing small cubes into a cube with an edge length of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inches. Lin is using cubes with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inch, and Noah is using cubes with an edge length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inch. 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  <a:endParaRPr lang="en-US" sz="2000" dirty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Explain who would need more cubes to fill the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in. cube.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9925305" cy="2037289"/>
              </a:xfrm>
              <a:prstGeom prst="rect">
                <a:avLst/>
              </a:prstGeom>
              <a:blipFill rotWithShape="1">
                <a:blip r:embed="rId4"/>
                <a:stretch>
                  <a:fillRect l="-614" t="-1791" b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6" name="Google Shape;286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7" name="Google Shape;287;p1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113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9122665" cy="3748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Explain whether Lin and Noah will find the same volume of the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inch cube using their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method. </a:t>
                </a: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What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is the volume of the cube with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inch edge lengths? Include units.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9122665" cy="3748590"/>
              </a:xfrm>
              <a:prstGeom prst="rect">
                <a:avLst/>
              </a:prstGeom>
              <a:blipFill rotWithShape="1">
                <a:blip r:embed="rId4"/>
                <a:stretch>
                  <a:fillRect t="-976" r="-1536" b="-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6" name="Google Shape;296;p1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113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9925305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A toy company is packaging its toys to be shipped. Some small toys are placed inside a cube-shaped box with side lengths of </a:t>
                </a:r>
                <a14:m>
                  <m:oMath xmlns:m="http://schemas.openxmlformats.org/officeDocument/2006/math">
                    <m:r>
                      <a:rPr lang="en-US" sz="2000" i="1"/>
                      <m:t>0.5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inches (in.). These smaller boxes are then packed into a shipping box with dimensions of </a:t>
                </a:r>
                <a14:m>
                  <m:oMath xmlns:m="http://schemas.openxmlformats.org/officeDocument/2006/math">
                    <m:r>
                      <a:rPr lang="en-US" sz="2000" i="1"/>
                      <m:t>12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in. </a:t>
                </a:r>
                <a14:m>
                  <m:oMath xmlns:m="http://schemas.openxmlformats.org/officeDocument/2006/math">
                    <m:r>
                      <a:rPr lang="en-US" sz="2000" i="1"/>
                      <m:t>×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35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in. </a:t>
                </a:r>
                <a14:m>
                  <m:oMath xmlns:m="http://schemas.openxmlformats.org/officeDocument/2006/math">
                    <m:r>
                      <a:rPr lang="en-US" sz="2000" i="1"/>
                      <m:t>×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2.5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in. </a:t>
                </a: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How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many small toys can be packed into the larger box for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shipping? </a:t>
                </a:r>
              </a:p>
              <a:p>
                <a:pPr marL="914400" lvl="0" indent="-457200"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PH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PH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Use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number of toys that can be shipped in the box to determine the volume of the box. Include units.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9925305" cy="4401205"/>
              </a:xfrm>
              <a:prstGeom prst="rect">
                <a:avLst/>
              </a:prstGeom>
              <a:blipFill rotWithShape="1">
                <a:blip r:embed="rId4"/>
                <a:stretch>
                  <a:fillRect l="-614" t="-831" r="-798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5" name="Google Shape;305;p17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6" name="Google Shape;30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7" name="Google Shape;307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114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5" name="Google Shape;315;p18"/>
          <p:cNvSpPr txBox="1"/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8.7.4 Your Turn!</a:t>
            </a:r>
            <a:endParaRPr dirty="0"/>
          </a:p>
        </p:txBody>
      </p:sp>
      <p:pic>
        <p:nvPicPr>
          <p:cNvPr id="316" name="Google Shape;31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17" name="Google Shape;317;p18"/>
          <p:cNvSpPr txBox="1"/>
          <p:nvPr/>
        </p:nvSpPr>
        <p:spPr>
          <a:xfrm>
            <a:off x="88971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114</a:t>
            </a:r>
            <a:endParaRPr dirty="0"/>
          </a:p>
        </p:txBody>
      </p:sp>
      <p:sp>
        <p:nvSpPr>
          <p:cNvPr id="318" name="Google Shape;318;p18"/>
          <p:cNvSpPr/>
          <p:nvPr/>
        </p:nvSpPr>
        <p:spPr>
          <a:xfrm>
            <a:off x="1357050" y="2406155"/>
            <a:ext cx="9144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319" name="Google Shape;319;p18" descr="A picture containing grass, outdoor, sitting, ol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6196" y="1181100"/>
            <a:ext cx="3354388" cy="28194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Google Shape;201;p7"/>
              <p:cNvSpPr txBox="1"/>
              <p:nvPr/>
            </p:nvSpPr>
            <p:spPr>
              <a:xfrm>
                <a:off x="883126" y="1189888"/>
                <a:ext cx="10647458" cy="4374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To give their animals essential minerals and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nutrients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, farmers and ranchers often have a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block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of salt, called a “salt lick” available for their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animals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 A rancher is ordering a box of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cube-shaped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salt licks. The edge lengths of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each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salt lick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5</m:t>
                        </m:r>
                      </m:num>
                      <m:den>
                        <m:r>
                          <a:rPr lang="en-US" sz="2000" i="1"/>
                          <m:t>12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foot (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ft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).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Explain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if the volume of one salt lick is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greater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than or less than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cubic foot (ft</a:t>
                </a:r>
                <a:r>
                  <a:rPr lang="en-US" sz="2000" baseline="30000" dirty="0">
                    <a:latin typeface="Verdana" pitchFamily="34" charset="0"/>
                    <a:ea typeface="Verdana" pitchFamily="34" charset="0"/>
                  </a:rPr>
                  <a:t>3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)?</a:t>
                </a:r>
              </a:p>
              <a:p>
                <a:pPr marL="914400" lvl="0" indent="-457200"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A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box that is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1</m:t>
                        </m:r>
                      </m:num>
                      <m:den>
                        <m:r>
                          <a:rPr lang="en-US" sz="2000" i="1"/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ft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×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2</m:t>
                        </m:r>
                      </m:num>
                      <m:den>
                        <m:r>
                          <a:rPr lang="en-US" sz="2000" i="1"/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ft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×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1</m:t>
                    </m:r>
                    <m:f>
                      <m:fPr>
                        <m:ctrlPr>
                          <a:rPr lang="en-US" sz="2000" i="1"/>
                        </m:ctrlPr>
                      </m:fPr>
                      <m:num>
                        <m:r>
                          <a:rPr lang="en-US" sz="2000" i="1"/>
                          <m:t>5</m:t>
                        </m:r>
                      </m:num>
                      <m:den>
                        <m:r>
                          <a:rPr lang="en-US" sz="2000" i="1"/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ft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is used to ship the salt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licks. How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many cubes of salt lick can fit in the box?</a:t>
                </a:r>
                <a:endParaRPr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1" name="Google Shape;201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26" y="1189888"/>
                <a:ext cx="10647458" cy="4374683"/>
              </a:xfrm>
              <a:prstGeom prst="rect">
                <a:avLst/>
              </a:prstGeom>
              <a:blipFill rotWithShape="1">
                <a:blip r:embed="rId6"/>
                <a:stretch>
                  <a:fillRect l="-630" t="-836" b="-15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8" name="Google Shape;328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9" name="Google Shape;329;p1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114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930885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 pool in the shape of a rectangular prism is being filled with water.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The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dimensions of the pool are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Times New Roman"/>
                        <a:cs typeface="Times New Roman"/>
                      </a:rPr>
                      <m:t>24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Times New Roman"/>
                    <a:cs typeface="Times New Roman"/>
                  </a:rPr>
                  <a:t> feet (</a:t>
                </a:r>
                <a:r>
                  <a:rPr lang="en-US" sz="2000" dirty="0" err="1">
                    <a:effectLst/>
                    <a:latin typeface="Verdana"/>
                    <a:ea typeface="Times New Roman"/>
                    <a:cs typeface="Times New Roman"/>
                  </a:rPr>
                  <a:t>ft</a:t>
                </a:r>
                <a:r>
                  <a:rPr lang="en-US" sz="2000" dirty="0">
                    <a:effectLst/>
                    <a:latin typeface="Verdana"/>
                    <a:ea typeface="Times New Roman"/>
                    <a:cs typeface="Times New Roman"/>
                  </a:rPr>
                  <a:t>) by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Times New Roman"/>
                        <a:cs typeface="Times New Roman"/>
                      </a:rPr>
                      <m:t>15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Times New Roman"/>
                    <a:cs typeface="Times New Roman"/>
                  </a:rPr>
                  <a:t> ft. If the height of the water in the pool is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Times New Roman"/>
                        <a:cs typeface="Times New Roman"/>
                      </a:rPr>
                      <m:t>1.3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Times New Roman"/>
                    <a:cs typeface="Times New Roman"/>
                  </a:rPr>
                  <a:t> </a:t>
                </a:r>
                <a:r>
                  <a:rPr lang="en-US" sz="2000" dirty="0" err="1">
                    <a:effectLst/>
                    <a:latin typeface="Verdana"/>
                    <a:ea typeface="Times New Roman"/>
                    <a:cs typeface="Times New Roman"/>
                  </a:rPr>
                  <a:t>ft</a:t>
                </a:r>
                <a:r>
                  <a:rPr lang="en-US" sz="2000" dirty="0">
                    <a:effectLst/>
                    <a:latin typeface="Verdana"/>
                    <a:ea typeface="Times New Roman"/>
                    <a:cs typeface="Times New Roman"/>
                  </a:rPr>
                  <a:t>, what is the volume of the water in cubic feet?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9308857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654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115</a:t>
            </a:r>
            <a:endParaRPr dirty="0"/>
          </a:p>
        </p:txBody>
      </p:sp>
      <p:pic>
        <p:nvPicPr>
          <p:cNvPr id="338" name="Google Shape;338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9" name="Google Shape;339;p20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0" name="Google Shape;34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115</a:t>
            </a:r>
            <a:endParaRPr/>
          </a:p>
        </p:txBody>
      </p:sp>
      <p:pic>
        <p:nvPicPr>
          <p:cNvPr id="348" name="Google Shape;348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9" name="Google Shape;349;p21"/>
          <p:cNvSpPr txBox="1"/>
          <p:nvPr/>
        </p:nvSpPr>
        <p:spPr>
          <a:xfrm>
            <a:off x="1133855" y="-82296"/>
            <a:ext cx="104902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8.7.5 Wrap-Up: Ticket Out the Door</a:t>
            </a:r>
            <a:endParaRPr dirty="0"/>
          </a:p>
        </p:txBody>
      </p:sp>
      <p:pic>
        <p:nvPicPr>
          <p:cNvPr id="350" name="Google Shape;35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201;p7"/>
              <p:cNvSpPr txBox="1"/>
              <p:nvPr/>
            </p:nvSpPr>
            <p:spPr>
              <a:xfrm>
                <a:off x="883126" y="1189888"/>
                <a:ext cx="10424954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Joy keeps her modeling clay in a plastic box that has a length of </a:t>
                </a:r>
                <a14:m>
                  <m:oMath xmlns:m="http://schemas.openxmlformats.org/officeDocument/2006/math">
                    <m:r>
                      <a:rPr lang="en-US" sz="2400" i="1"/>
                      <m:t>21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centimeters (cm), a width of </a:t>
                </a:r>
                <a14:m>
                  <m:oMath xmlns:m="http://schemas.openxmlformats.org/officeDocument/2006/math">
                    <m:r>
                      <a:rPr lang="en-US" sz="2400" i="1"/>
                      <m:t>21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and a height of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/>
                      <m:t>63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cm. </a:t>
                </a:r>
              </a:p>
              <a:p>
                <a:pPr marL="457200" lvl="0" indent="-457200"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What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is the volume of the plastic box? Include units.</a:t>
                </a:r>
                <a:endParaRPr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8" name="Google Shape;201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26" y="1189888"/>
                <a:ext cx="10424954" cy="2308284"/>
              </a:xfrm>
              <a:prstGeom prst="rect">
                <a:avLst/>
              </a:prstGeom>
              <a:blipFill rotWithShape="1">
                <a:blip r:embed="rId5"/>
                <a:stretch>
                  <a:fillRect l="-936" t="-2111" b="-50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8" name="Google Shape;358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9" name="Google Shape;359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115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972210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If each piece of cube-shaped clay has a side length of </a:t>
                </a:r>
                <a:r>
                  <a:rPr lang="en-US" sz="24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400" dirty="0" smtClean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/>
                        <a:ea typeface="Times New Roman"/>
                        <a:cs typeface="Times New Roman"/>
                      </a:rPr>
                      <m:t>4.2</m:t>
                    </m:r>
                  </m:oMath>
                </a14:m>
                <a:r>
                  <a:rPr lang="en-US" sz="2400" dirty="0">
                    <a:effectLst/>
                    <a:latin typeface="Verdana"/>
                    <a:ea typeface="Times New Roman"/>
                    <a:cs typeface="Times New Roman"/>
                  </a:rPr>
                  <a:t> cm, how many pieces of clay can be stored in the box?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9722105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940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1033</Words>
  <Application>Microsoft Office PowerPoint</Application>
  <PresentationFormat>Custom</PresentationFormat>
  <Paragraphs>172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Cambria Math</vt:lpstr>
      <vt:lpstr>Cambria</vt:lpstr>
      <vt:lpstr>Arial Black</vt:lpstr>
      <vt:lpstr>Verdana</vt:lpstr>
      <vt:lpstr>Calibri</vt:lpstr>
      <vt:lpstr>Times New Roman</vt:lpstr>
      <vt:lpstr>Noto Sans Symbols</vt:lpstr>
      <vt:lpstr>1_Office Theme</vt:lpstr>
      <vt:lpstr>6th Grade Math  Unit 8, Lesson 7  Volume of Rectangular Prisms  Volume 2, pg. 110  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Math  Unit 8, Lesson 7  Volume of Rectangular Prisms  Volume 2, pg. 110</dc:title>
  <dc:creator>Karen McKenzie</dc:creator>
  <cp:lastModifiedBy>John Patrick</cp:lastModifiedBy>
  <cp:revision>6</cp:revision>
  <dcterms:created xsi:type="dcterms:W3CDTF">2015-03-17T18:51:18Z</dcterms:created>
  <dcterms:modified xsi:type="dcterms:W3CDTF">2022-07-08T12:12:59Z</dcterms:modified>
</cp:coreProperties>
</file>