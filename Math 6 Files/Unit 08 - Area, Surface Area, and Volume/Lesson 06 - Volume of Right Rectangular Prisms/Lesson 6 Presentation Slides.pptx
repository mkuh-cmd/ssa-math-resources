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1"/>
  </p:notesMasterIdLst>
  <p:sldIdLst>
    <p:sldId id="256" r:id="rId2"/>
    <p:sldId id="257" r:id="rId3"/>
    <p:sldId id="285" r:id="rId4"/>
    <p:sldId id="286" r:id="rId5"/>
    <p:sldId id="261" r:id="rId6"/>
    <p:sldId id="287" r:id="rId7"/>
    <p:sldId id="367" r:id="rId8"/>
    <p:sldId id="311" r:id="rId9"/>
    <p:sldId id="312" r:id="rId10"/>
    <p:sldId id="353" r:id="rId11"/>
    <p:sldId id="368" r:id="rId12"/>
    <p:sldId id="314" r:id="rId13"/>
    <p:sldId id="315" r:id="rId14"/>
    <p:sldId id="352" r:id="rId15"/>
    <p:sldId id="362" r:id="rId16"/>
    <p:sldId id="363" r:id="rId17"/>
    <p:sldId id="364" r:id="rId18"/>
    <p:sldId id="369" r:id="rId19"/>
    <p:sldId id="329" r:id="rId20"/>
    <p:sldId id="330" r:id="rId21"/>
    <p:sldId id="370" r:id="rId22"/>
    <p:sldId id="371" r:id="rId23"/>
    <p:sldId id="372" r:id="rId24"/>
    <p:sldId id="373" r:id="rId25"/>
    <p:sldId id="374" r:id="rId26"/>
    <p:sldId id="375" r:id="rId27"/>
    <p:sldId id="376" r:id="rId28"/>
    <p:sldId id="377" r:id="rId29"/>
    <p:sldId id="378" r:id="rId30"/>
    <p:sldId id="379" r:id="rId31"/>
    <p:sldId id="380" r:id="rId32"/>
    <p:sldId id="381" r:id="rId33"/>
    <p:sldId id="365" r:id="rId34"/>
    <p:sldId id="366" r:id="rId35"/>
    <p:sldId id="382" r:id="rId36"/>
    <p:sldId id="383" r:id="rId37"/>
    <p:sldId id="306" r:id="rId38"/>
    <p:sldId id="307" r:id="rId39"/>
    <p:sldId id="384" r:id="rId40"/>
  </p:sldIdLst>
  <p:sldSz cx="12192000" cy="6858000"/>
  <p:notesSz cx="6858000" cy="9144000"/>
  <p:embeddedFontLst>
    <p:embeddedFont>
      <p:font typeface="Cambria Math" pitchFamily="18" charset="0"/>
      <p:regular r:id="rId42"/>
    </p:embeddedFont>
    <p:embeddedFont>
      <p:font typeface="Cambria" pitchFamily="18" charset="0"/>
      <p:regular r:id="rId43"/>
      <p:bold r:id="rId44"/>
      <p:italic r:id="rId45"/>
      <p:boldItalic r:id="rId46"/>
    </p:embeddedFont>
    <p:embeddedFont>
      <p:font typeface="Arial Black" pitchFamily="34" charset="0"/>
      <p:bold r:id="rId47"/>
    </p:embeddedFont>
    <p:embeddedFont>
      <p:font typeface="Verdana" pitchFamily="34" charset="0"/>
      <p:regular r:id="rId48"/>
      <p:bold r:id="rId49"/>
      <p:italic r:id="rId50"/>
      <p:boldItalic r:id="rId51"/>
    </p:embeddedFont>
    <p:embeddedFont>
      <p:font typeface="Cutive" charset="0"/>
      <p:regular r:id="rId52"/>
    </p:embeddedFont>
    <p:embeddedFont>
      <p:font typeface="Calibri" pitchFamily="34" charset="0"/>
      <p:regular r:id="rId53"/>
      <p:bold r:id="rId54"/>
      <p:italic r:id="rId55"/>
      <p:boldItalic r:id="rId56"/>
    </p:embeddedFont>
    <p:embeddedFont>
      <p:font typeface="Century Gothic" pitchFamily="34" charset="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2"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E5F"/>
    <a:srgbClr val="33BEA6"/>
    <a:srgbClr val="79B0DD"/>
    <a:srgbClr val="DA4487"/>
    <a:srgbClr val="276C46"/>
    <a:srgbClr val="C9DF6F"/>
    <a:srgbClr val="417DBF"/>
    <a:srgbClr val="3F2A67"/>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26286"/>
    <p:restoredTop sz="94694"/>
  </p:normalViewPr>
  <p:slideViewPr>
    <p:cSldViewPr snapToGrid="0">
      <p:cViewPr>
        <p:scale>
          <a:sx n="67" d="100"/>
          <a:sy n="67" d="100"/>
        </p:scale>
        <p:origin x="-1910" y="-466"/>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54" Type="http://schemas.openxmlformats.org/officeDocument/2006/relationships/font" Target="fonts/font13.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font" Target="fonts/font17.fntdata"/><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57"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font" Target="fonts/font19.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59"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917442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743026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5610474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406019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2676341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7405941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1114595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229694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248196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1215227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4037198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496073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40343540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31543685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0181240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5863119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38545493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31550041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29</a:t>
            </a:fld>
            <a:endParaRPr/>
          </a:p>
        </p:txBody>
      </p:sp>
    </p:spTree>
    <p:extLst>
      <p:ext uri="{BB962C8B-B14F-4D97-AF65-F5344CB8AC3E}">
        <p14:creationId xmlns:p14="http://schemas.microsoft.com/office/powerpoint/2010/main" val="31539314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9276780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31</a:t>
            </a:fld>
            <a:endParaRPr/>
          </a:p>
        </p:txBody>
      </p:sp>
    </p:spTree>
    <p:extLst>
      <p:ext uri="{BB962C8B-B14F-4D97-AF65-F5344CB8AC3E}">
        <p14:creationId xmlns:p14="http://schemas.microsoft.com/office/powerpoint/2010/main" val="12769642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32</a:t>
            </a:fld>
            <a:endParaRPr/>
          </a:p>
        </p:txBody>
      </p:sp>
    </p:spTree>
    <p:extLst>
      <p:ext uri="{BB962C8B-B14F-4D97-AF65-F5344CB8AC3E}">
        <p14:creationId xmlns:p14="http://schemas.microsoft.com/office/powerpoint/2010/main" val="12787678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1546041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34</a:t>
            </a:fld>
            <a:endParaRPr/>
          </a:p>
        </p:txBody>
      </p:sp>
    </p:spTree>
    <p:extLst>
      <p:ext uri="{BB962C8B-B14F-4D97-AF65-F5344CB8AC3E}">
        <p14:creationId xmlns:p14="http://schemas.microsoft.com/office/powerpoint/2010/main" val="23294323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35</a:t>
            </a:fld>
            <a:endParaRPr/>
          </a:p>
        </p:txBody>
      </p:sp>
    </p:spTree>
    <p:extLst>
      <p:ext uri="{BB962C8B-B14F-4D97-AF65-F5344CB8AC3E}">
        <p14:creationId xmlns:p14="http://schemas.microsoft.com/office/powerpoint/2010/main" val="15995281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36</a:t>
            </a:fld>
            <a:endParaRPr/>
          </a:p>
        </p:txBody>
      </p:sp>
    </p:spTree>
    <p:extLst>
      <p:ext uri="{BB962C8B-B14F-4D97-AF65-F5344CB8AC3E}">
        <p14:creationId xmlns:p14="http://schemas.microsoft.com/office/powerpoint/2010/main" val="39043324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38</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39</a:t>
            </a:fld>
            <a:endParaRPr/>
          </a:p>
        </p:txBody>
      </p:sp>
    </p:spTree>
    <p:extLst>
      <p:ext uri="{BB962C8B-B14F-4D97-AF65-F5344CB8AC3E}">
        <p14:creationId xmlns:p14="http://schemas.microsoft.com/office/powerpoint/2010/main" val="617449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9.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60.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8.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7"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43.png"/><Relationship Id="rId5" Type="http://schemas.openxmlformats.org/officeDocument/2006/relationships/image" Target="../media/image420.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47.png"/><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8.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8.xml"/><Relationship Id="rId5" Type="http://schemas.openxmlformats.org/officeDocument/2006/relationships/image" Target="../media/image50.png"/><Relationship Id="rId4" Type="http://schemas.openxmlformats.org/officeDocument/2006/relationships/image" Target="../media/image49.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8.xml"/><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8.xml"/><Relationship Id="rId4" Type="http://schemas.openxmlformats.org/officeDocument/2006/relationships/image" Target="../media/image52.png"/></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8.xml"/><Relationship Id="rId5" Type="http://schemas.openxmlformats.org/officeDocument/2006/relationships/image" Target="../media/image53.png"/><Relationship Id="rId4" Type="http://schemas.openxmlformats.org/officeDocument/2006/relationships/image" Target="../media/image52.png"/></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8, Lesson 6</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Volume of Right Rectangular Prisms</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102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4"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 xmlns:a16="http://schemas.microsoft.com/office/drawing/2014/main" id="{BCBDA1BA-1A31-F841-8D71-9CA2E864C51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102</a:t>
            </a:r>
            <a:endParaRPr i="1" dirty="0">
              <a:latin typeface="Calibri"/>
              <a:ea typeface="Calibri"/>
              <a:cs typeface="Calibri"/>
              <a:sym typeface="Calibri"/>
            </a:endParaRPr>
          </a:p>
        </p:txBody>
      </p:sp>
      <p:sp>
        <p:nvSpPr>
          <p:cNvPr id="9" name="Google Shape;279;g104476d1465_1_17"/>
          <p:cNvSpPr txBox="1">
            <a:spLocks/>
          </p:cNvSpPr>
          <p:nvPr/>
        </p:nvSpPr>
        <p:spPr>
          <a:xfrm>
            <a:off x="1143000" y="-91440"/>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13"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905255" y="1609531"/>
            <a:ext cx="10643741"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a:ea typeface="Verdana"/>
                <a:cs typeface="Verdana"/>
                <a:sym typeface="Verdana"/>
              </a:rPr>
              <a:t>MA.6.GR.2.3</a:t>
            </a:r>
          </a:p>
          <a:p>
            <a:pPr indent="0">
              <a:buNone/>
            </a:pPr>
            <a:r>
              <a:rPr lang="en-US" sz="3600" dirty="0">
                <a:solidFill>
                  <a:schemeClr val="tx1"/>
                </a:solidFill>
                <a:latin typeface="Verdana"/>
                <a:ea typeface="Verdana"/>
                <a:cs typeface="Verdana"/>
                <a:sym typeface="Verdana"/>
              </a:rPr>
              <a:t>Solve mathematical and real-world problems involving the volume of right rectangular prisms with positive rational number edge lengths using a visual model and a formula.</a:t>
            </a:r>
            <a:endParaRPr lang="en-US" sz="3600" dirty="0">
              <a:solidFill>
                <a:schemeClr val="tx1"/>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43000" y="129667"/>
            <a:ext cx="1054608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905256" y="1460584"/>
            <a:ext cx="10546080" cy="474001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 xmlns:a16="http://schemas.microsoft.com/office/drawing/2014/main" id="{BCBDA1BA-1A31-F841-8D71-9CA2E864C51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102</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143000" y="-9144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905256" y="1600200"/>
            <a:ext cx="1052474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ct val="100000"/>
              <a:buFont typeface="Verdana"/>
              <a:buChar char="❏"/>
            </a:pPr>
            <a:r>
              <a:rPr lang="en-US" sz="3500" dirty="0">
                <a:solidFill>
                  <a:schemeClr val="tx1"/>
                </a:solidFill>
                <a:latin typeface="Verdana"/>
                <a:ea typeface="Verdana"/>
                <a:cs typeface="Verdana"/>
                <a:sym typeface="Verdana"/>
              </a:rPr>
              <a:t>I can pack a rectangular prism using a cube with fractional edges. </a:t>
            </a:r>
          </a:p>
        </p:txBody>
      </p:sp>
      <p:sp>
        <p:nvSpPr>
          <p:cNvPr id="8" name="Google Shape;282;g104476d1465_1_17">
            <a:extLst>
              <a:ext uri="{FF2B5EF4-FFF2-40B4-BE49-F238E27FC236}">
                <a16:creationId xmlns="" xmlns:a16="http://schemas.microsoft.com/office/drawing/2014/main" id="{2CE09C99-2A7A-4642-81C4-47A479DC694E}"/>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102</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70632"/>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 xmlns:a16="http://schemas.microsoft.com/office/drawing/2014/main" id="{17BBDB14-F43F-3F42-9C2D-99752E20A39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103</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43000" y="60325"/>
            <a:ext cx="1050036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8.6.1 Warm-Up: Guess the Word</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4">
            <a:alphaModFix/>
          </a:blip>
          <a:stretch>
            <a:fillRect/>
          </a:stretch>
        </p:blipFill>
        <p:spPr>
          <a:xfrm>
            <a:off x="356616" y="34952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 xmlns:a16="http://schemas.microsoft.com/office/drawing/2014/main" id="{A4C0B51D-09DC-AA4D-9C14-AE2048199B26}"/>
              </a:ext>
            </a:extLst>
          </p:cNvPr>
          <p:cNvSpPr txBox="1"/>
          <p:nvPr/>
        </p:nvSpPr>
        <p:spPr>
          <a:xfrm>
            <a:off x="905256" y="1386025"/>
            <a:ext cx="10500360" cy="2308324"/>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Micah and his family are playing a game in which each person chooses a card with a word written on it. Once a person chooses, they have one minute to draw a picture of the word. Then, his team guesses the word.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Micah chose the word “volume”. His drawing is shown.</a:t>
            </a:r>
          </a:p>
        </p:txBody>
      </p:sp>
      <p:pic>
        <p:nvPicPr>
          <p:cNvPr id="9" name="Picture 8">
            <a:extLst>
              <a:ext uri="{FF2B5EF4-FFF2-40B4-BE49-F238E27FC236}">
                <a16:creationId xmlns="" xmlns:a16="http://schemas.microsoft.com/office/drawing/2014/main" id="{EDA83E4B-EE4B-C744-B221-664FE0836E6F}"/>
              </a:ext>
            </a:extLst>
          </p:cNvPr>
          <p:cNvPicPr>
            <a:picLocks noChangeAspect="1"/>
          </p:cNvPicPr>
          <p:nvPr/>
        </p:nvPicPr>
        <p:blipFill>
          <a:blip r:embed="rId5"/>
          <a:stretch>
            <a:fillRect/>
          </a:stretch>
        </p:blipFill>
        <p:spPr>
          <a:xfrm>
            <a:off x="4610100" y="4393468"/>
            <a:ext cx="2971800" cy="2103755"/>
          </a:xfrm>
          <a:prstGeom prst="rect">
            <a:avLst/>
          </a:prstGeom>
        </p:spPr>
      </p:pic>
      <p:sp>
        <p:nvSpPr>
          <p:cNvPr id="10" name="Google Shape;282;g104476d1465_1_17">
            <a:extLst>
              <a:ext uri="{FF2B5EF4-FFF2-40B4-BE49-F238E27FC236}">
                <a16:creationId xmlns="" xmlns:a16="http://schemas.microsoft.com/office/drawing/2014/main" id="{D1AE0D26-BB07-DE4B-AFB3-A469C86BF2EB}"/>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103</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TextBox 11">
            <a:extLst>
              <a:ext uri="{FF2B5EF4-FFF2-40B4-BE49-F238E27FC236}">
                <a16:creationId xmlns="" xmlns:a16="http://schemas.microsoft.com/office/drawing/2014/main" id="{A4C0B51D-09DC-AA4D-9C14-AE2048199B26}"/>
              </a:ext>
            </a:extLst>
          </p:cNvPr>
          <p:cNvSpPr txBox="1"/>
          <p:nvPr/>
        </p:nvSpPr>
        <p:spPr>
          <a:xfrm>
            <a:off x="905256" y="377838"/>
            <a:ext cx="10570464" cy="378565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Choose the statement(s) that best describe volume. Select all that apply.</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6672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the sum of the length of all the edges of a three-dimensional object</a:t>
            </a:r>
          </a:p>
          <a:p>
            <a:pPr marL="914400" indent="-46672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the distance around a two-dimensional shape</a:t>
            </a:r>
          </a:p>
          <a:p>
            <a:pPr marL="914400" indent="-46672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the amount of three-dimensional space enclosed within a container</a:t>
            </a:r>
          </a:p>
          <a:p>
            <a:pPr marL="914400" indent="-46672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the total area of the surface of a three-dimensional object</a:t>
            </a:r>
          </a:p>
          <a:p>
            <a:pPr marL="914400" indent="-46672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the formula length times width times height</a:t>
            </a:r>
          </a:p>
        </p:txBody>
      </p:sp>
      <p:sp>
        <p:nvSpPr>
          <p:cNvPr id="6" name="Google Shape;282;g104476d1465_1_17">
            <a:extLst>
              <a:ext uri="{FF2B5EF4-FFF2-40B4-BE49-F238E27FC236}">
                <a16:creationId xmlns="" xmlns:a16="http://schemas.microsoft.com/office/drawing/2014/main" id="{FFD6D459-41EA-F54F-A153-BCA566EE3EE9}"/>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103</a:t>
            </a:r>
            <a:endParaRPr i="1" dirty="0">
              <a:latin typeface="Calibri"/>
              <a:ea typeface="Calibri"/>
              <a:cs typeface="Calibri"/>
              <a:sym typeface="Calibri"/>
            </a:endParaRPr>
          </a:p>
        </p:txBody>
      </p:sp>
    </p:spTree>
    <p:extLst>
      <p:ext uri="{BB962C8B-B14F-4D97-AF65-F5344CB8AC3E}">
        <p14:creationId xmlns:p14="http://schemas.microsoft.com/office/powerpoint/2010/main" val="997896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70632"/>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 xmlns:a16="http://schemas.microsoft.com/office/drawing/2014/main" id="{FA13319E-DA3B-3E44-8EF7-BEF50B5A8B4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103</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43000" y="60325"/>
            <a:ext cx="1053084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8.6.2 Exploration: </a:t>
            </a:r>
            <a:r>
              <a:rPr lang="en-US" sz="3600" b="1" dirty="0" smtClean="0">
                <a:solidFill>
                  <a:srgbClr val="33BEA6"/>
                </a:solidFill>
                <a:latin typeface="Verdana"/>
                <a:ea typeface="Verdana"/>
                <a:cs typeface="Verdana"/>
                <a:sym typeface="Verdana"/>
              </a:rPr>
              <a:t>The </a:t>
            </a:r>
            <a:r>
              <a:rPr lang="en-US" sz="3600" b="1" dirty="0">
                <a:solidFill>
                  <a:srgbClr val="33BEA6"/>
                </a:solidFill>
                <a:latin typeface="Verdana"/>
                <a:ea typeface="Verdana"/>
                <a:cs typeface="Verdana"/>
                <a:sym typeface="Verdana"/>
              </a:rPr>
              <a:t>Unit Cube</a:t>
            </a:r>
          </a:p>
        </p:txBody>
      </p:sp>
      <p:pic>
        <p:nvPicPr>
          <p:cNvPr id="7"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4704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 xmlns:a16="http://schemas.microsoft.com/office/drawing/2014/main" id="{152D1D4D-DCB8-A246-B186-D40316579D77}"/>
              </a:ext>
            </a:extLst>
          </p:cNvPr>
          <p:cNvSpPr txBox="1"/>
          <p:nvPr/>
        </p:nvSpPr>
        <p:spPr>
          <a:xfrm>
            <a:off x="905256" y="1527694"/>
            <a:ext cx="10530840"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Two images of the same cube are shown. The image on the right shows the coordinates of some of the edges of the cube.</a:t>
            </a:r>
          </a:p>
        </p:txBody>
      </p:sp>
      <p:pic>
        <p:nvPicPr>
          <p:cNvPr id="11" name="Picture 10">
            <a:extLst>
              <a:ext uri="{FF2B5EF4-FFF2-40B4-BE49-F238E27FC236}">
                <a16:creationId xmlns="" xmlns:a16="http://schemas.microsoft.com/office/drawing/2014/main" id="{EA0A919C-A425-6645-A5DE-16B4D85FFE9E}"/>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32369" t="33484" r="33132" b="38794"/>
          <a:stretch/>
        </p:blipFill>
        <p:spPr bwMode="auto">
          <a:xfrm>
            <a:off x="2874606" y="3133207"/>
            <a:ext cx="2733675" cy="2197100"/>
          </a:xfrm>
          <a:prstGeom prst="rect">
            <a:avLst/>
          </a:prstGeom>
          <a:ln>
            <a:noFill/>
          </a:ln>
          <a:extLst>
            <a:ext uri="{53640926-AAD7-44D8-BBD7-CCE9431645EC}">
              <a14:shadowObscured xmlns:a14="http://schemas.microsoft.com/office/drawing/2010/main"/>
            </a:ext>
          </a:extLst>
        </p:spPr>
      </p:pic>
      <p:grpSp>
        <p:nvGrpSpPr>
          <p:cNvPr id="12" name="Group 11">
            <a:extLst>
              <a:ext uri="{FF2B5EF4-FFF2-40B4-BE49-F238E27FC236}">
                <a16:creationId xmlns="" xmlns:a16="http://schemas.microsoft.com/office/drawing/2014/main" id="{06443DCB-9A9A-3047-9FE7-E7A2736D4201}"/>
              </a:ext>
            </a:extLst>
          </p:cNvPr>
          <p:cNvGrpSpPr/>
          <p:nvPr/>
        </p:nvGrpSpPr>
        <p:grpSpPr>
          <a:xfrm>
            <a:off x="5608280" y="3123548"/>
            <a:ext cx="3136900" cy="2501900"/>
            <a:chOff x="38100" y="0"/>
            <a:chExt cx="3136900" cy="2501900"/>
          </a:xfrm>
        </p:grpSpPr>
        <p:grpSp>
          <p:nvGrpSpPr>
            <p:cNvPr id="13" name="Group 12">
              <a:extLst>
                <a:ext uri="{FF2B5EF4-FFF2-40B4-BE49-F238E27FC236}">
                  <a16:creationId xmlns="" xmlns:a16="http://schemas.microsoft.com/office/drawing/2014/main" id="{6FA9A6C8-B391-9A4D-A696-EB66787923A7}"/>
                </a:ext>
              </a:extLst>
            </p:cNvPr>
            <p:cNvGrpSpPr/>
            <p:nvPr/>
          </p:nvGrpSpPr>
          <p:grpSpPr>
            <a:xfrm>
              <a:off x="279400" y="0"/>
              <a:ext cx="2733675" cy="2197100"/>
              <a:chOff x="0" y="0"/>
              <a:chExt cx="2733675" cy="2197100"/>
            </a:xfrm>
          </p:grpSpPr>
          <p:pic>
            <p:nvPicPr>
              <p:cNvPr id="19" name="Picture 18">
                <a:extLst>
                  <a:ext uri="{FF2B5EF4-FFF2-40B4-BE49-F238E27FC236}">
                    <a16:creationId xmlns="" xmlns:a16="http://schemas.microsoft.com/office/drawing/2014/main" id="{AD2B7C7B-1386-6141-94D0-08BFBF9D056F}"/>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32369" t="33484" r="33132" b="38794"/>
              <a:stretch/>
            </p:blipFill>
            <p:spPr bwMode="auto">
              <a:xfrm>
                <a:off x="0" y="0"/>
                <a:ext cx="2733675" cy="2197100"/>
              </a:xfrm>
              <a:prstGeom prst="rect">
                <a:avLst/>
              </a:prstGeom>
              <a:ln>
                <a:noFill/>
              </a:ln>
              <a:extLst>
                <a:ext uri="{53640926-AAD7-44D8-BBD7-CCE9431645EC}">
                  <a14:shadowObscured xmlns:a14="http://schemas.microsoft.com/office/drawing/2010/main"/>
                </a:ext>
              </a:extLst>
            </p:spPr>
          </p:pic>
          <p:sp>
            <p:nvSpPr>
              <p:cNvPr id="20" name="Oval 19">
                <a:extLst>
                  <a:ext uri="{FF2B5EF4-FFF2-40B4-BE49-F238E27FC236}">
                    <a16:creationId xmlns="" xmlns:a16="http://schemas.microsoft.com/office/drawing/2014/main" id="{C006B22B-0FE9-2D4D-9807-AE8787B2222C}"/>
                  </a:ext>
                </a:extLst>
              </p:cNvPr>
              <p:cNvSpPr/>
              <p:nvPr/>
            </p:nvSpPr>
            <p:spPr>
              <a:xfrm>
                <a:off x="1879600" y="609600"/>
                <a:ext cx="152400" cy="1397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Oval 20">
                <a:extLst>
                  <a:ext uri="{FF2B5EF4-FFF2-40B4-BE49-F238E27FC236}">
                    <a16:creationId xmlns="" xmlns:a16="http://schemas.microsoft.com/office/drawing/2014/main" id="{586EE65C-9EAA-E646-A055-B2D0E0E3D321}"/>
                  </a:ext>
                </a:extLst>
              </p:cNvPr>
              <p:cNvSpPr/>
              <p:nvPr/>
            </p:nvSpPr>
            <p:spPr>
              <a:xfrm>
                <a:off x="596900" y="1866900"/>
                <a:ext cx="152400" cy="1397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Oval 21">
                <a:extLst>
                  <a:ext uri="{FF2B5EF4-FFF2-40B4-BE49-F238E27FC236}">
                    <a16:creationId xmlns="" xmlns:a16="http://schemas.microsoft.com/office/drawing/2014/main" id="{B4F97136-E340-024E-892E-33D7CEF3DD7D}"/>
                  </a:ext>
                </a:extLst>
              </p:cNvPr>
              <p:cNvSpPr/>
              <p:nvPr/>
            </p:nvSpPr>
            <p:spPr>
              <a:xfrm>
                <a:off x="1231900" y="1879600"/>
                <a:ext cx="152400" cy="1397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3" name="Oval 22">
                <a:extLst>
                  <a:ext uri="{FF2B5EF4-FFF2-40B4-BE49-F238E27FC236}">
                    <a16:creationId xmlns="" xmlns:a16="http://schemas.microsoft.com/office/drawing/2014/main" id="{3253D4BF-5F3E-A543-8361-75C0654CEAB4}"/>
                  </a:ext>
                </a:extLst>
              </p:cNvPr>
              <p:cNvSpPr/>
              <p:nvPr/>
            </p:nvSpPr>
            <p:spPr>
              <a:xfrm>
                <a:off x="1879600" y="1879600"/>
                <a:ext cx="152400" cy="1397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grpSp>
        <mc:AlternateContent xmlns:mc="http://schemas.openxmlformats.org/markup-compatibility/2006" xmlns:a14="http://schemas.microsoft.com/office/drawing/2010/main">
          <mc:Choice Requires="a14">
            <p:sp>
              <p:nvSpPr>
                <p:cNvPr id="14" name="Text Box 10">
                  <a:extLst>
                    <a:ext uri="{FF2B5EF4-FFF2-40B4-BE49-F238E27FC236}">
                      <a16:creationId xmlns="" xmlns:a16="http://schemas.microsoft.com/office/drawing/2014/main" id="{C35957D0-95B5-E04F-9995-8A0082F1FA5C}"/>
                    </a:ext>
                  </a:extLst>
                </p:cNvPr>
                <p:cNvSpPr txBox="1"/>
                <p:nvPr/>
              </p:nvSpPr>
              <p:spPr>
                <a:xfrm>
                  <a:off x="2235200" y="609600"/>
                  <a:ext cx="939800" cy="4953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(0, 1)</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 Box 10">
                  <a:extLst>
                    <a:ext uri="{FF2B5EF4-FFF2-40B4-BE49-F238E27FC236}">
                      <a16:creationId xmlns:a16="http://schemas.microsoft.com/office/drawing/2014/main" id="{C35957D0-95B5-E04F-9995-8A0082F1FA5C}"/>
                    </a:ext>
                  </a:extLst>
                </p:cNvPr>
                <p:cNvSpPr txBox="1">
                  <a:spLocks noRot="1" noChangeAspect="1" noMove="1" noResize="1" noEditPoints="1" noAdjustHandles="1" noChangeArrowheads="1" noChangeShapeType="1" noTextEdit="1"/>
                </p:cNvSpPr>
                <p:nvPr/>
              </p:nvSpPr>
              <p:spPr>
                <a:xfrm>
                  <a:off x="2235200" y="609600"/>
                  <a:ext cx="939800" cy="495300"/>
                </a:xfrm>
                <a:prstGeom prst="rect">
                  <a:avLst/>
                </a:prstGeom>
                <a:blipFill>
                  <a:blip r:embed="rId6"/>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6" name="Text Box 13">
                  <a:extLst>
                    <a:ext uri="{FF2B5EF4-FFF2-40B4-BE49-F238E27FC236}">
                      <a16:creationId xmlns="" xmlns:a16="http://schemas.microsoft.com/office/drawing/2014/main" id="{46730E55-9F0F-7A42-852F-335CCFD54F47}"/>
                    </a:ext>
                  </a:extLst>
                </p:cNvPr>
                <p:cNvSpPr txBox="1"/>
                <p:nvPr/>
              </p:nvSpPr>
              <p:spPr>
                <a:xfrm>
                  <a:off x="2235200" y="1892300"/>
                  <a:ext cx="939800" cy="4953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(0, 0)</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6" name="Text Box 13">
                  <a:extLst>
                    <a:ext uri="{FF2B5EF4-FFF2-40B4-BE49-F238E27FC236}">
                      <a16:creationId xmlns:a16="http://schemas.microsoft.com/office/drawing/2014/main" id="{46730E55-9F0F-7A42-852F-335CCFD54F47}"/>
                    </a:ext>
                  </a:extLst>
                </p:cNvPr>
                <p:cNvSpPr txBox="1">
                  <a:spLocks noRot="1" noChangeAspect="1" noMove="1" noResize="1" noEditPoints="1" noAdjustHandles="1" noChangeArrowheads="1" noChangeShapeType="1" noTextEdit="1"/>
                </p:cNvSpPr>
                <p:nvPr/>
              </p:nvSpPr>
              <p:spPr>
                <a:xfrm>
                  <a:off x="2235200" y="1892300"/>
                  <a:ext cx="939800" cy="495300"/>
                </a:xfrm>
                <a:prstGeom prst="rect">
                  <a:avLst/>
                </a:prstGeom>
                <a:blipFill>
                  <a:blip r:embed="rId7"/>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7" name="Text Box 20">
                  <a:extLst>
                    <a:ext uri="{FF2B5EF4-FFF2-40B4-BE49-F238E27FC236}">
                      <a16:creationId xmlns="" xmlns:a16="http://schemas.microsoft.com/office/drawing/2014/main" id="{16C8D483-EDB5-624E-9DDA-64ECFE3296CA}"/>
                    </a:ext>
                  </a:extLst>
                </p:cNvPr>
                <p:cNvSpPr txBox="1"/>
                <p:nvPr/>
              </p:nvSpPr>
              <p:spPr>
                <a:xfrm>
                  <a:off x="38100" y="1892300"/>
                  <a:ext cx="1028700" cy="4953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(−1, 0)</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7" name="Text Box 20">
                  <a:extLst>
                    <a:ext uri="{FF2B5EF4-FFF2-40B4-BE49-F238E27FC236}">
                      <a16:creationId xmlns:a16="http://schemas.microsoft.com/office/drawing/2014/main" id="{16C8D483-EDB5-624E-9DDA-64ECFE3296CA}"/>
                    </a:ext>
                  </a:extLst>
                </p:cNvPr>
                <p:cNvSpPr txBox="1">
                  <a:spLocks noRot="1" noChangeAspect="1" noMove="1" noResize="1" noEditPoints="1" noAdjustHandles="1" noChangeArrowheads="1" noChangeShapeType="1" noTextEdit="1"/>
                </p:cNvSpPr>
                <p:nvPr/>
              </p:nvSpPr>
              <p:spPr>
                <a:xfrm>
                  <a:off x="38100" y="1892300"/>
                  <a:ext cx="1028700" cy="495300"/>
                </a:xfrm>
                <a:prstGeom prst="rect">
                  <a:avLst/>
                </a:prstGeom>
                <a:blipFill>
                  <a:blip r:embed="rId8"/>
                  <a:stretch>
                    <a:fillRect/>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18" name="Text Box 21">
                  <a:extLst>
                    <a:ext uri="{FF2B5EF4-FFF2-40B4-BE49-F238E27FC236}">
                      <a16:creationId xmlns="" xmlns:a16="http://schemas.microsoft.com/office/drawing/2014/main" id="{57F6CFA6-064F-C049-923B-0388A2A427C6}"/>
                    </a:ext>
                  </a:extLst>
                </p:cNvPr>
                <p:cNvSpPr txBox="1"/>
                <p:nvPr/>
              </p:nvSpPr>
              <p:spPr>
                <a:xfrm>
                  <a:off x="1066800" y="2006600"/>
                  <a:ext cx="1282700" cy="4953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m:t>
                        </m:r>
                        <m:r>
                          <a:rPr lang="en-US" sz="1800">
                            <a:latin typeface="Cambria Math" panose="02040503050406030204" pitchFamily="18" charset="0"/>
                            <a:ea typeface="Times New Roman" panose="02020603050405020304" pitchFamily="18" charset="0"/>
                            <a:cs typeface="Times New Roman" panose="02020603050405020304" pitchFamily="18" charset="0"/>
                          </a:rPr>
                          <m:t>0.5, 0</m:t>
                        </m:r>
                        <m:r>
                          <a:rPr lang="en-US" sz="1800" i="1">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8" name="Text Box 21">
                  <a:extLst>
                    <a:ext uri="{FF2B5EF4-FFF2-40B4-BE49-F238E27FC236}">
                      <a16:creationId xmlns:a16="http://schemas.microsoft.com/office/drawing/2014/main" id="{57F6CFA6-064F-C049-923B-0388A2A427C6}"/>
                    </a:ext>
                  </a:extLst>
                </p:cNvPr>
                <p:cNvSpPr txBox="1">
                  <a:spLocks noRot="1" noChangeAspect="1" noMove="1" noResize="1" noEditPoints="1" noAdjustHandles="1" noChangeArrowheads="1" noChangeShapeType="1" noTextEdit="1"/>
                </p:cNvSpPr>
                <p:nvPr/>
              </p:nvSpPr>
              <p:spPr>
                <a:xfrm>
                  <a:off x="1066800" y="2006600"/>
                  <a:ext cx="1282700" cy="495300"/>
                </a:xfrm>
                <a:prstGeom prst="rect">
                  <a:avLst/>
                </a:prstGeom>
                <a:blipFill>
                  <a:blip r:embed="rId9"/>
                  <a:stretch>
                    <a:fillRect/>
                  </a:stretch>
                </a:blipFill>
                <a:ln w="6350">
                  <a:noFill/>
                </a:ln>
              </p:spPr>
              <p:txBody>
                <a:bodyPr/>
                <a:lstStyle/>
                <a:p>
                  <a:r>
                    <a:rPr lang="en-CO">
                      <a:noFill/>
                    </a:rPr>
                    <a:t> </a:t>
                  </a:r>
                </a:p>
              </p:txBody>
            </p:sp>
          </mc:Fallback>
        </mc:AlternateContent>
      </p:grpSp>
      <p:sp>
        <p:nvSpPr>
          <p:cNvPr id="24" name="Google Shape;282;g104476d1465_1_17">
            <a:extLst>
              <a:ext uri="{FF2B5EF4-FFF2-40B4-BE49-F238E27FC236}">
                <a16:creationId xmlns="" xmlns:a16="http://schemas.microsoft.com/office/drawing/2014/main" id="{3413C27D-0588-F545-8DFB-B739BB65964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103</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 xmlns:a16="http://schemas.microsoft.com/office/drawing/2014/main" id="{2FA392D8-3ED3-7940-83A8-1451AA8A08D4}"/>
              </a:ext>
            </a:extLst>
          </p:cNvPr>
          <p:cNvSpPr txBox="1"/>
          <p:nvPr/>
        </p:nvSpPr>
        <p:spPr>
          <a:xfrm>
            <a:off x="905256" y="378726"/>
            <a:ext cx="10616184" cy="830997"/>
          </a:xfrm>
          <a:prstGeom prst="rect">
            <a:avLst/>
          </a:prstGeom>
          <a:noFill/>
        </p:spPr>
        <p:txBody>
          <a:bodyPr wrap="square" rtlCol="0">
            <a:spAutoFit/>
          </a:bodyPr>
          <a:lstStyle/>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Share three things you know, two things you are not sure of, and one thing you have a question about.</a:t>
            </a:r>
          </a:p>
        </p:txBody>
      </p:sp>
      <p:graphicFrame>
        <p:nvGraphicFramePr>
          <p:cNvPr id="3" name="Table 2">
            <a:extLst>
              <a:ext uri="{FF2B5EF4-FFF2-40B4-BE49-F238E27FC236}">
                <a16:creationId xmlns="" xmlns:a16="http://schemas.microsoft.com/office/drawing/2014/main" id="{303FA0DC-299C-694B-AA35-D158E7B91AA3}"/>
              </a:ext>
            </a:extLst>
          </p:cNvPr>
          <p:cNvGraphicFramePr>
            <a:graphicFrameLocks noGrp="1"/>
          </p:cNvGraphicFramePr>
          <p:nvPr>
            <p:extLst>
              <p:ext uri="{D42A27DB-BD31-4B8C-83A1-F6EECF244321}">
                <p14:modId xmlns:p14="http://schemas.microsoft.com/office/powerpoint/2010/main" val="3017838799"/>
              </p:ext>
            </p:extLst>
          </p:nvPr>
        </p:nvGraphicFramePr>
        <p:xfrm>
          <a:off x="3047185" y="1825625"/>
          <a:ext cx="6097631" cy="4351338"/>
        </p:xfrm>
        <a:graphic>
          <a:graphicData uri="http://schemas.openxmlformats.org/drawingml/2006/table">
            <a:tbl>
              <a:tblPr firstRow="1" firstCol="1" bandRow="1"/>
              <a:tblGrid>
                <a:gridCol w="2064161">
                  <a:extLst>
                    <a:ext uri="{9D8B030D-6E8A-4147-A177-3AD203B41FA5}">
                      <a16:colId xmlns="" xmlns:a16="http://schemas.microsoft.com/office/drawing/2014/main" val="3302351101"/>
                    </a:ext>
                  </a:extLst>
                </a:gridCol>
                <a:gridCol w="2064161">
                  <a:extLst>
                    <a:ext uri="{9D8B030D-6E8A-4147-A177-3AD203B41FA5}">
                      <a16:colId xmlns="" xmlns:a16="http://schemas.microsoft.com/office/drawing/2014/main" val="2082457613"/>
                    </a:ext>
                  </a:extLst>
                </a:gridCol>
                <a:gridCol w="1969309">
                  <a:extLst>
                    <a:ext uri="{9D8B030D-6E8A-4147-A177-3AD203B41FA5}">
                      <a16:colId xmlns="" xmlns:a16="http://schemas.microsoft.com/office/drawing/2014/main" val="166552451"/>
                    </a:ext>
                  </a:extLst>
                </a:gridCol>
              </a:tblGrid>
              <a:tr h="643074">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 Know…</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0976" marR="6097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I’m Not </a:t>
                      </a:r>
                      <a:r>
                        <a:rPr lang="en-US" sz="2000" b="1" dirty="0" smtClea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r>
                      <a:br>
                        <a:rPr lang="en-US" sz="2000" b="1" dirty="0" smtClea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en-US" sz="2000" b="1" dirty="0" smtClea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Sure </a:t>
                      </a: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Of…</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0976" marR="6097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 Question </a:t>
                      </a:r>
                      <a:r>
                        <a:rPr lang="en-US" sz="2000" b="1" dirty="0" smtClea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r>
                      <a:br>
                        <a:rPr lang="en-US" sz="2000" b="1" dirty="0" smtClea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br>
                      <a:r>
                        <a:rPr lang="en-US" sz="2000" b="1" dirty="0" smtClean="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 </a:t>
                      </a: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Have…</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60976" marR="60976"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1672889728"/>
                  </a:ext>
                </a:extLst>
              </a:tr>
              <a:tr h="3708264">
                <a:tc>
                  <a:txBody>
                    <a:bodyPr/>
                    <a:lstStyle/>
                    <a:p>
                      <a:pPr marL="0" marR="0">
                        <a:spcBef>
                          <a:spcPts val="0"/>
                        </a:spcBef>
                        <a:spcAft>
                          <a:spcPts val="0"/>
                        </a:spcAft>
                      </a:pPr>
                      <a:r>
                        <a:rPr lang="en-US" sz="12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0976" marR="60976"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2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100">
                        <a:effectLst/>
                        <a:latin typeface="Cambria" panose="02040503050406030204" pitchFamily="18" charset="0"/>
                        <a:ea typeface="Times New Roman" panose="02020603050405020304" pitchFamily="18" charset="0"/>
                        <a:cs typeface="Times New Roman" panose="02020603050405020304" pitchFamily="18" charset="0"/>
                      </a:endParaRPr>
                    </a:p>
                  </a:txBody>
                  <a:tcPr marL="60976" marR="60976"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2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1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0976" marR="60976"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071996675"/>
                  </a:ext>
                </a:extLst>
              </a:tr>
            </a:tbl>
          </a:graphicData>
        </a:graphic>
      </p:graphicFrame>
      <p:sp>
        <p:nvSpPr>
          <p:cNvPr id="7" name="Google Shape;282;g104476d1465_1_17">
            <a:extLst>
              <a:ext uri="{FF2B5EF4-FFF2-40B4-BE49-F238E27FC236}">
                <a16:creationId xmlns="" xmlns:a16="http://schemas.microsoft.com/office/drawing/2014/main" id="{0A9699B5-6480-D045-8CAF-9E1FEA3A0EE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103</a:t>
            </a:r>
            <a:endParaRPr i="1" dirty="0">
              <a:latin typeface="Calibri"/>
              <a:ea typeface="Calibri"/>
              <a:cs typeface="Calibri"/>
              <a:sym typeface="Calibri"/>
            </a:endParaRPr>
          </a:p>
        </p:txBody>
      </p:sp>
    </p:spTree>
    <p:extLst>
      <p:ext uri="{BB962C8B-B14F-4D97-AF65-F5344CB8AC3E}">
        <p14:creationId xmlns:p14="http://schemas.microsoft.com/office/powerpoint/2010/main" val="40731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104</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905256" y="378725"/>
                <a:ext cx="10524744" cy="1938992"/>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This cube is known as a unit cube because each dimension (length, width, and height)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unit.  </a:t>
                </a:r>
              </a:p>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47675"/>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volume of the cube? Include the units for the cube's volume.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05256" y="378725"/>
                <a:ext cx="10524744" cy="1938992"/>
              </a:xfrm>
              <a:prstGeom prst="rect">
                <a:avLst/>
              </a:prstGeom>
              <a:blipFill>
                <a:blip r:embed="rId4"/>
                <a:stretch>
                  <a:fillRect l="-964" t="-2597" b="-5844"/>
                </a:stretch>
              </a:blipFill>
            </p:spPr>
            <p:txBody>
              <a:bodyPr/>
              <a:lstStyle/>
              <a:p>
                <a:r>
                  <a:rPr lang="en-US">
                    <a:noFill/>
                  </a:rPr>
                  <a:t> </a:t>
                </a:r>
              </a:p>
            </p:txBody>
          </p:sp>
        </mc:Fallback>
      </mc:AlternateContent>
      <p:grpSp>
        <p:nvGrpSpPr>
          <p:cNvPr id="7" name="Group 6">
            <a:extLst>
              <a:ext uri="{FF2B5EF4-FFF2-40B4-BE49-F238E27FC236}">
                <a16:creationId xmlns="" xmlns:a16="http://schemas.microsoft.com/office/drawing/2014/main" id="{79D9A2CC-3394-2841-B930-5AD5D2A87DE5}"/>
              </a:ext>
            </a:extLst>
          </p:cNvPr>
          <p:cNvGrpSpPr/>
          <p:nvPr/>
        </p:nvGrpSpPr>
        <p:grpSpPr>
          <a:xfrm>
            <a:off x="2781300" y="4774126"/>
            <a:ext cx="6629400" cy="812800"/>
            <a:chOff x="2031300" y="3373600"/>
            <a:chExt cx="6629400" cy="812800"/>
          </a:xfrm>
        </p:grpSpPr>
        <p:grpSp>
          <p:nvGrpSpPr>
            <p:cNvPr id="8" name="Group 7">
              <a:extLst>
                <a:ext uri="{FF2B5EF4-FFF2-40B4-BE49-F238E27FC236}">
                  <a16:creationId xmlns="" xmlns:a16="http://schemas.microsoft.com/office/drawing/2014/main" id="{51AFAFC1-35BD-D94F-8463-5BE57DAEFF35}"/>
                </a:ext>
              </a:extLst>
            </p:cNvPr>
            <p:cNvGrpSpPr/>
            <p:nvPr/>
          </p:nvGrpSpPr>
          <p:grpSpPr>
            <a:xfrm>
              <a:off x="2031300" y="3373600"/>
              <a:ext cx="6629400" cy="812800"/>
              <a:chOff x="2031300" y="3373600"/>
              <a:chExt cx="6629400" cy="812800"/>
            </a:xfrm>
          </p:grpSpPr>
          <p:sp>
            <p:nvSpPr>
              <p:cNvPr id="9" name="Rectangle 8">
                <a:extLst>
                  <a:ext uri="{FF2B5EF4-FFF2-40B4-BE49-F238E27FC236}">
                    <a16:creationId xmlns="" xmlns:a16="http://schemas.microsoft.com/office/drawing/2014/main" id="{0544CE6B-6FAD-204E-8F4E-754E25B691F3}"/>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grpSp>
            <p:nvGrpSpPr>
              <p:cNvPr id="10" name="Group 9">
                <a:extLst>
                  <a:ext uri="{FF2B5EF4-FFF2-40B4-BE49-F238E27FC236}">
                    <a16:creationId xmlns="" xmlns:a16="http://schemas.microsoft.com/office/drawing/2014/main" id="{04433E3B-E140-8349-B18F-8333C4084D1B}"/>
                  </a:ext>
                </a:extLst>
              </p:cNvPr>
              <p:cNvGrpSpPr/>
              <p:nvPr/>
            </p:nvGrpSpPr>
            <p:grpSpPr>
              <a:xfrm>
                <a:off x="2031300" y="3373600"/>
                <a:ext cx="6629400" cy="812800"/>
                <a:chOff x="0" y="0"/>
                <a:chExt cx="6629400" cy="812800"/>
              </a:xfrm>
            </p:grpSpPr>
            <p:sp>
              <p:nvSpPr>
                <p:cNvPr id="11" name="Rectangle 10">
                  <a:extLst>
                    <a:ext uri="{FF2B5EF4-FFF2-40B4-BE49-F238E27FC236}">
                      <a16:creationId xmlns="" xmlns:a16="http://schemas.microsoft.com/office/drawing/2014/main" id="{11238282-4ECC-284D-8A31-D37A54BF3CE3}"/>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3" name="Rounded Rectangle 12">
                  <a:extLst>
                    <a:ext uri="{FF2B5EF4-FFF2-40B4-BE49-F238E27FC236}">
                      <a16:creationId xmlns="" xmlns:a16="http://schemas.microsoft.com/office/drawing/2014/main" id="{064DE687-6DC8-0A4D-A995-C4FFE8A68109}"/>
                    </a:ext>
                  </a:extLst>
                </p:cNvPr>
                <p:cNvSpPr/>
                <p:nvPr/>
              </p:nvSpPr>
              <p:spPr>
                <a:xfrm>
                  <a:off x="0" y="0"/>
                  <a:ext cx="6629400" cy="81250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spcAft>
                      <a:spcPts val="1000"/>
                    </a:spcAft>
                  </a:pP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1800" b="1" i="1" dirty="0">
                      <a:solidFill>
                        <a:srgbClr val="6C993D"/>
                      </a:solidFill>
                      <a:latin typeface="Verdana" panose="020B0604030504040204" pitchFamily="34" charset="0"/>
                      <a:ea typeface="Verdana" panose="020B0604030504040204" pitchFamily="34" charset="0"/>
                      <a:cs typeface="Verdana" panose="020B0604030504040204" pitchFamily="34" charset="0"/>
                    </a:rPr>
                    <a:t>cube</a:t>
                  </a:r>
                  <a:r>
                    <a:rPr lang="en-US" sz="1800" dirty="0">
                      <a:solidFill>
                        <a:srgbClr val="6C993D"/>
                      </a:solidFill>
                      <a:latin typeface="Verdana" panose="020B0604030504040204" pitchFamily="34" charset="0"/>
                      <a:ea typeface="Verdana" panose="020B0604030504040204" pitchFamily="34" charset="0"/>
                      <a:cs typeface="Verdana" panose="020B0604030504040204" pitchFamily="34" charset="0"/>
                    </a:rPr>
                    <a:t> is a rectangular prism with six congruent square faces.</a:t>
                  </a:r>
                  <a:endParaRPr lang="x-none" sz="12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5" name="Shape 7" descr="Icon&#10;&#10;Description automatically generated">
                  <a:extLst>
                    <a:ext uri="{FF2B5EF4-FFF2-40B4-BE49-F238E27FC236}">
                      <a16:creationId xmlns="" xmlns:a16="http://schemas.microsoft.com/office/drawing/2014/main" id="{C9AC5D2C-9B70-7F45-9D6C-63FDCAED4710}"/>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38545" y="92367"/>
                  <a:ext cx="539750" cy="539750"/>
                </a:xfrm>
                <a:prstGeom prst="rect">
                  <a:avLst/>
                </a:prstGeom>
                <a:noFill/>
                <a:ln>
                  <a:noFill/>
                </a:ln>
                <a:effectLst>
                  <a:outerShdw blurRad="50800" dist="38100" dir="2700000" algn="tl" rotWithShape="0">
                    <a:prstClr val="black">
                      <a:alpha val="40000"/>
                    </a:prstClr>
                  </a:outerShdw>
                </a:effectLst>
              </p:spPr>
            </p:pic>
          </p:grpSp>
        </p:grpSp>
      </p:grpSp>
    </p:spTree>
    <p:extLst>
      <p:ext uri="{BB962C8B-B14F-4D97-AF65-F5344CB8AC3E}">
        <p14:creationId xmlns:p14="http://schemas.microsoft.com/office/powerpoint/2010/main" val="527575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282;g104476d1465_1_17">
            <a:extLst>
              <a:ext uri="{FF2B5EF4-FFF2-40B4-BE49-F238E27FC236}">
                <a16:creationId xmlns="" xmlns:a16="http://schemas.microsoft.com/office/drawing/2014/main"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104</a:t>
            </a:r>
            <a:endParaRPr i="1" dirty="0">
              <a:latin typeface="Calibri"/>
              <a:ea typeface="Calibri"/>
              <a:cs typeface="Calibri"/>
              <a:sym typeface="Calibri"/>
            </a:endParaRPr>
          </a:p>
        </p:txBody>
      </p:sp>
      <p:sp>
        <p:nvSpPr>
          <p:cNvPr id="8" name="Google Shape;313;g104476d1465_1_39">
            <a:extLst>
              <a:ext uri="{FF2B5EF4-FFF2-40B4-BE49-F238E27FC236}">
                <a16:creationId xmlns="" xmlns:a16="http://schemas.microsoft.com/office/drawing/2014/main" id="{7ED086E0-F626-5744-A50B-9D21ACA06D9A}"/>
              </a:ext>
            </a:extLst>
          </p:cNvPr>
          <p:cNvSpPr txBox="1">
            <a:spLocks/>
          </p:cNvSpPr>
          <p:nvPr/>
        </p:nvSpPr>
        <p:spPr>
          <a:xfrm>
            <a:off x="4215384" y="2770632"/>
            <a:ext cx="4396930" cy="1325700"/>
          </a:xfrm>
          <a:prstGeom prst="rect">
            <a:avLst/>
          </a:prstGeom>
          <a:noFill/>
          <a:ln>
            <a:noFill/>
          </a:ln>
        </p:spPr>
        <p:txBody>
          <a:bodyPr spcFirstLastPara="1" wrap="square" lIns="91425" tIns="45700" rIns="91425" bIns="45700" anchor="ctr" anchorCtr="0">
            <a:normAutofit fontScale="9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5500" b="1">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9" name="Picture 2" descr="Icon&#10;&#10;Description automatically generated">
            <a:extLst>
              <a:ext uri="{FF2B5EF4-FFF2-40B4-BE49-F238E27FC236}">
                <a16:creationId xmlns="" xmlns:a16="http://schemas.microsoft.com/office/drawing/2014/main" id="{154E887B-D1FF-854F-B436-62EA41A736C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43000" y="60325"/>
            <a:ext cx="1048512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8.6.3 Exploration: </a:t>
            </a:r>
            <a:r>
              <a:rPr lang="en-US" sz="3200" b="1" dirty="0" smtClean="0">
                <a:solidFill>
                  <a:srgbClr val="33BEA6"/>
                </a:solidFill>
                <a:latin typeface="Verdana"/>
                <a:ea typeface="Verdana"/>
                <a:cs typeface="Verdana"/>
                <a:sym typeface="Verdana"/>
              </a:rPr>
              <a:t/>
            </a:r>
            <a:br>
              <a:rPr lang="en-US" sz="3200" b="1" dirty="0" smtClean="0">
                <a:solidFill>
                  <a:srgbClr val="33BEA6"/>
                </a:solidFill>
                <a:latin typeface="Verdana"/>
                <a:ea typeface="Verdana"/>
                <a:cs typeface="Verdana"/>
                <a:sym typeface="Verdana"/>
              </a:rPr>
            </a:br>
            <a:r>
              <a:rPr lang="en-US" sz="3200" b="1" dirty="0" smtClean="0">
                <a:solidFill>
                  <a:srgbClr val="33BEA6"/>
                </a:solidFill>
                <a:latin typeface="Verdana"/>
                <a:ea typeface="Verdana"/>
                <a:cs typeface="Verdana"/>
                <a:sym typeface="Verdana"/>
              </a:rPr>
              <a:t>Drawing </a:t>
            </a:r>
            <a:r>
              <a:rPr lang="en-US" sz="3200" b="1" dirty="0">
                <a:solidFill>
                  <a:srgbClr val="33BEA6"/>
                </a:solidFill>
                <a:latin typeface="Verdana"/>
                <a:ea typeface="Verdana"/>
                <a:cs typeface="Verdana"/>
                <a:sym typeface="Verdana"/>
              </a:rPr>
              <a:t>Fractional Cubes</a:t>
            </a:r>
            <a:endParaRPr lang="en-US" sz="3200" b="1" dirty="0">
              <a:solidFill>
                <a:srgbClr val="33BEA6"/>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5" name="Google Shape;282;g104476d1465_1_17">
            <a:extLst>
              <a:ext uri="{FF2B5EF4-FFF2-40B4-BE49-F238E27FC236}">
                <a16:creationId xmlns="" xmlns:a16="http://schemas.microsoft.com/office/drawing/2014/main" id="{5B627696-920F-B441-B5C1-01510F09761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104</a:t>
            </a:r>
            <a:endParaRPr i="1" dirty="0">
              <a:latin typeface="Calibri"/>
              <a:ea typeface="Calibri"/>
              <a:cs typeface="Calibri"/>
              <a:sym typeface="Calibri"/>
            </a:endParaRPr>
          </a:p>
        </p:txBody>
      </p:sp>
      <p:sp>
        <p:nvSpPr>
          <p:cNvPr id="10" name="TextBox 9">
            <a:extLst>
              <a:ext uri="{FF2B5EF4-FFF2-40B4-BE49-F238E27FC236}">
                <a16:creationId xmlns="" xmlns:a16="http://schemas.microsoft.com/office/drawing/2014/main" id="{E44DF7DE-9172-3E4E-B74A-7A51585FB6EA}"/>
              </a:ext>
            </a:extLst>
          </p:cNvPr>
          <p:cNvSpPr txBox="1"/>
          <p:nvPr/>
        </p:nvSpPr>
        <p:spPr>
          <a:xfrm>
            <a:off x="905256" y="1386026"/>
            <a:ext cx="8327136"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Two cubes are shown.</a:t>
            </a:r>
          </a:p>
        </p:txBody>
      </p:sp>
      <p:pic>
        <p:nvPicPr>
          <p:cNvPr id="14" name="Picture 2" descr="Icon&#10;&#10;Description automatically generated">
            <a:extLst>
              <a:ext uri="{FF2B5EF4-FFF2-40B4-BE49-F238E27FC236}">
                <a16:creationId xmlns="" xmlns:a16="http://schemas.microsoft.com/office/drawing/2014/main" id="{2585E1EE-D46C-6345-9C9B-2AAA18C39078}"/>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34704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ture 15" descr="Shape, rectangle&#10;&#10;Description automatically generated">
            <a:extLst>
              <a:ext uri="{FF2B5EF4-FFF2-40B4-BE49-F238E27FC236}">
                <a16:creationId xmlns="" xmlns:a16="http://schemas.microsoft.com/office/drawing/2014/main" id="{6FE17FF1-DD24-B44A-A6FF-1255B6977716}"/>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706178" y="2030390"/>
            <a:ext cx="4779645" cy="2286000"/>
          </a:xfrm>
          <a:prstGeom prst="rect">
            <a:avLst/>
          </a:prstGeom>
        </p:spPr>
      </p:pic>
      <p:sp>
        <p:nvSpPr>
          <p:cNvPr id="17" name="TextBox 16">
            <a:extLst>
              <a:ext uri="{FF2B5EF4-FFF2-40B4-BE49-F238E27FC236}">
                <a16:creationId xmlns="" xmlns:a16="http://schemas.microsoft.com/office/drawing/2014/main" id="{E04B3332-F114-D340-84D9-B0EF537C25F9}"/>
              </a:ext>
            </a:extLst>
          </p:cNvPr>
          <p:cNvSpPr txBox="1"/>
          <p:nvPr/>
        </p:nvSpPr>
        <p:spPr>
          <a:xfrm>
            <a:off x="905256" y="4464077"/>
            <a:ext cx="7992528" cy="830997"/>
          </a:xfrm>
          <a:prstGeom prst="rect">
            <a:avLst/>
          </a:prstGeom>
          <a:noFill/>
        </p:spPr>
        <p:txBody>
          <a:bodyPr wrap="square" rtlCol="0">
            <a:spAutoFit/>
          </a:bodyPr>
          <a:lstStyle/>
          <a:p>
            <a:pPr marL="358775"/>
            <a:r>
              <a:rPr lang="en-US" sz="2400" dirty="0">
                <a:latin typeface="Verdana" panose="020B0604030504040204" pitchFamily="34" charset="0"/>
                <a:ea typeface="Times New Roman" panose="02020603050405020304" pitchFamily="18" charset="0"/>
                <a:cs typeface="Times New Roman" panose="02020603050405020304" pitchFamily="18" charset="0"/>
              </a:rPr>
              <a:t>The cube on the left is a unit cube. The cube on the right has different dimensions. </a:t>
            </a:r>
          </a:p>
        </p:txBody>
      </p:sp>
    </p:spTree>
    <p:extLst>
      <p:ext uri="{BB962C8B-B14F-4D97-AF65-F5344CB8AC3E}">
        <p14:creationId xmlns:p14="http://schemas.microsoft.com/office/powerpoint/2010/main" val="1674437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104</a:t>
            </a:r>
            <a:endParaRPr i="1" dirty="0">
              <a:latin typeface="Calibri"/>
              <a:ea typeface="Calibri"/>
              <a:cs typeface="Calibri"/>
              <a:sym typeface="Calibri"/>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905256" y="352968"/>
            <a:ext cx="10524744" cy="830997"/>
          </a:xfrm>
          <a:prstGeom prst="rect">
            <a:avLst/>
          </a:prstGeom>
          <a:noFill/>
        </p:spPr>
        <p:txBody>
          <a:bodyPr wrap="square" rtlCol="0">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Share an observation and something you wonder about this new cube.</a:t>
            </a:r>
          </a:p>
        </p:txBody>
      </p:sp>
      <p:graphicFrame>
        <p:nvGraphicFramePr>
          <p:cNvPr id="4" name="Table 3">
            <a:extLst>
              <a:ext uri="{FF2B5EF4-FFF2-40B4-BE49-F238E27FC236}">
                <a16:creationId xmlns="" xmlns:a16="http://schemas.microsoft.com/office/drawing/2014/main" id="{635B7E21-C345-AC4D-88E0-2E28557FD143}"/>
              </a:ext>
            </a:extLst>
          </p:cNvPr>
          <p:cNvGraphicFramePr>
            <a:graphicFrameLocks noGrp="1"/>
          </p:cNvGraphicFramePr>
          <p:nvPr>
            <p:extLst>
              <p:ext uri="{D42A27DB-BD31-4B8C-83A1-F6EECF244321}">
                <p14:modId xmlns:p14="http://schemas.microsoft.com/office/powerpoint/2010/main" val="1836172462"/>
              </p:ext>
            </p:extLst>
          </p:nvPr>
        </p:nvGraphicFramePr>
        <p:xfrm>
          <a:off x="3378616" y="1645150"/>
          <a:ext cx="5434769" cy="4478426"/>
        </p:xfrm>
        <a:graphic>
          <a:graphicData uri="http://schemas.openxmlformats.org/drawingml/2006/table">
            <a:tbl>
              <a:tblPr firstRow="1" firstCol="1" bandRow="1"/>
              <a:tblGrid>
                <a:gridCol w="2745062">
                  <a:extLst>
                    <a:ext uri="{9D8B030D-6E8A-4147-A177-3AD203B41FA5}">
                      <a16:colId xmlns="" xmlns:a16="http://schemas.microsoft.com/office/drawing/2014/main" val="1927776129"/>
                    </a:ext>
                  </a:extLst>
                </a:gridCol>
                <a:gridCol w="2689707">
                  <a:extLst>
                    <a:ext uri="{9D8B030D-6E8A-4147-A177-3AD203B41FA5}">
                      <a16:colId xmlns="" xmlns:a16="http://schemas.microsoft.com/office/drawing/2014/main" val="789929808"/>
                    </a:ext>
                  </a:extLst>
                </a:gridCol>
              </a:tblGrid>
              <a:tr h="457200">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Observation</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4348" marR="5434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Wondering</a:t>
                      </a:r>
                      <a:endParaRPr lang="x-none" sz="2000">
                        <a:effectLst/>
                        <a:latin typeface="Cambria" panose="02040503050406030204" pitchFamily="18" charset="0"/>
                        <a:ea typeface="Times New Roman" panose="02020603050405020304" pitchFamily="18" charset="0"/>
                        <a:cs typeface="Times New Roman" panose="02020603050405020304" pitchFamily="18" charset="0"/>
                      </a:endParaRPr>
                    </a:p>
                  </a:txBody>
                  <a:tcPr marL="54348" marR="54348"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 xmlns:a16="http://schemas.microsoft.com/office/drawing/2014/main" val="489109003"/>
                  </a:ext>
                </a:extLst>
              </a:tr>
              <a:tr h="4021226">
                <a:tc>
                  <a:txBody>
                    <a:bodyPr/>
                    <a:lstStyle/>
                    <a:p>
                      <a:pPr marL="0" marR="0">
                        <a:spcBef>
                          <a:spcPts val="0"/>
                        </a:spcBef>
                        <a:spcAft>
                          <a:spcPts val="0"/>
                        </a:spcAft>
                      </a:pPr>
                      <a:r>
                        <a:rPr lang="en-US" sz="11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000">
                        <a:effectLst/>
                        <a:latin typeface="Cambria" panose="02040503050406030204" pitchFamily="18" charset="0"/>
                        <a:ea typeface="Times New Roman" panose="02020603050405020304" pitchFamily="18" charset="0"/>
                        <a:cs typeface="Times New Roman" panose="02020603050405020304" pitchFamily="18" charset="0"/>
                      </a:endParaRPr>
                    </a:p>
                  </a:txBody>
                  <a:tcPr marL="54348" marR="5434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100" i="1"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0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54348" marR="54348"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920089450"/>
                  </a:ext>
                </a:extLst>
              </a:tr>
            </a:tbl>
          </a:graphicData>
        </a:graphic>
      </p:graphicFrame>
    </p:spTree>
    <p:extLst>
      <p:ext uri="{BB962C8B-B14F-4D97-AF65-F5344CB8AC3E}">
        <p14:creationId xmlns:p14="http://schemas.microsoft.com/office/powerpoint/2010/main" val="3755819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905256" y="391606"/>
            <a:ext cx="10494264" cy="461665"/>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cs typeface="Times New Roman" panose="02020603050405020304" pitchFamily="18" charset="0"/>
              </a:rPr>
              <a:t>A unit cube and a half-unit cube are shown.</a:t>
            </a:r>
          </a:p>
        </p:txBody>
      </p:sp>
      <p:pic>
        <p:nvPicPr>
          <p:cNvPr id="9" name="Picture 8" descr="Shape, rectangle&#10;&#10;Description automatically generated">
            <a:extLst>
              <a:ext uri="{FF2B5EF4-FFF2-40B4-BE49-F238E27FC236}">
                <a16:creationId xmlns="" xmlns:a16="http://schemas.microsoft.com/office/drawing/2014/main" id="{D9DFCD7D-9AE7-C84E-9C5D-0B1108D4A3A6}"/>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889058" y="1064672"/>
            <a:ext cx="4413885" cy="259080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5946341F-DD88-A543-AD6F-6E465A43CBCE}"/>
                  </a:ext>
                </a:extLst>
              </p:cNvPr>
              <p:cNvSpPr txBox="1"/>
              <p:nvPr/>
            </p:nvSpPr>
            <p:spPr>
              <a:xfrm>
                <a:off x="905256" y="3920416"/>
                <a:ext cx="10494264" cy="1135439"/>
              </a:xfrm>
              <a:prstGeom prst="rect">
                <a:avLst/>
              </a:prstGeom>
              <a:noFill/>
            </p:spPr>
            <p:txBody>
              <a:bodyPr wrap="square" rtlCol="0">
                <a:spAutoFit/>
              </a:bodyPr>
              <a:lstStyle/>
              <a:p>
                <a:pPr marL="447675"/>
                <a:r>
                  <a:rPr lang="en-US" sz="2400" dirty="0">
                    <a:latin typeface="Verdana" panose="020B0604030504040204" pitchFamily="34" charset="0"/>
                    <a:cs typeface="Times New Roman" panose="02020603050405020304" pitchFamily="18" charset="0"/>
                  </a:rPr>
                  <a:t>Make a guess of how many cubes with a length of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cs typeface="Times New Roman" panose="02020603050405020304" pitchFamily="18" charset="0"/>
                  </a:rPr>
                  <a:t> unit, width of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cs typeface="Times New Roman" panose="02020603050405020304" pitchFamily="18" charset="0"/>
                  </a:rPr>
                  <a:t> ​unit, and height of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cs typeface="Times New Roman" panose="02020603050405020304" pitchFamily="18" charset="0"/>
                  </a:rPr>
                  <a:t> unit will fit in the </a:t>
                </a:r>
                <a14:m>
                  <m:oMath xmlns:m="http://schemas.openxmlformats.org/officeDocument/2006/math">
                    <m:r>
                      <a:rPr lang="en-US" sz="2400" i="1" dirty="0">
                        <a:latin typeface="Cambria Math" panose="02040503050406030204" pitchFamily="18" charset="0"/>
                        <a:cs typeface="Times New Roman" panose="02020603050405020304" pitchFamily="18" charset="0"/>
                      </a:rPr>
                      <m:t>1</m:t>
                    </m:r>
                  </m:oMath>
                </a14:m>
                <a:r>
                  <a:rPr lang="en-US" sz="2400" dirty="0">
                    <a:latin typeface="Verdana" panose="020B0604030504040204" pitchFamily="34" charset="0"/>
                    <a:cs typeface="Times New Roman" panose="02020603050405020304" pitchFamily="18" charset="0"/>
                  </a:rPr>
                  <a:t>-unit cube.  </a:t>
                </a:r>
              </a:p>
            </p:txBody>
          </p:sp>
        </mc:Choice>
        <mc:Fallback xmlns="">
          <p:sp>
            <p:nvSpPr>
              <p:cNvPr id="10" name="TextBox 9">
                <a:extLst>
                  <a:ext uri="{FF2B5EF4-FFF2-40B4-BE49-F238E27FC236}">
                    <a16:creationId xmlns:a16="http://schemas.microsoft.com/office/drawing/2014/main" id="{5946341F-DD88-A543-AD6F-6E465A43CBCE}"/>
                  </a:ext>
                </a:extLst>
              </p:cNvPr>
              <p:cNvSpPr txBox="1">
                <a:spLocks noRot="1" noChangeAspect="1" noMove="1" noResize="1" noEditPoints="1" noAdjustHandles="1" noChangeArrowheads="1" noChangeShapeType="1" noTextEdit="1"/>
              </p:cNvSpPr>
              <p:nvPr/>
            </p:nvSpPr>
            <p:spPr>
              <a:xfrm>
                <a:off x="905256" y="3920416"/>
                <a:ext cx="10494264" cy="1135439"/>
              </a:xfrm>
              <a:prstGeom prst="rect">
                <a:avLst/>
              </a:prstGeom>
              <a:blipFill>
                <a:blip r:embed="rId5"/>
                <a:stretch>
                  <a:fillRect r="-242" b="-3333"/>
                </a:stretch>
              </a:blipFill>
            </p:spPr>
            <p:txBody>
              <a:bodyPr/>
              <a:lstStyle/>
              <a:p>
                <a:r>
                  <a:rPr lang="en-US">
                    <a:noFill/>
                  </a:rPr>
                  <a:t> </a:t>
                </a:r>
              </a:p>
            </p:txBody>
          </p:sp>
        </mc:Fallback>
      </mc:AlternateContent>
    </p:spTree>
    <p:extLst>
      <p:ext uri="{BB962C8B-B14F-4D97-AF65-F5344CB8AC3E}">
        <p14:creationId xmlns:p14="http://schemas.microsoft.com/office/powerpoint/2010/main" val="3259153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905256" y="563233"/>
            <a:ext cx="6044184" cy="2308324"/>
          </a:xfrm>
          <a:prstGeom prst="rect">
            <a:avLst/>
          </a:prstGeom>
          <a:noFill/>
        </p:spPr>
        <p:txBody>
          <a:bodyPr wrap="square" rtlCol="0">
            <a:spAutoFit/>
          </a:bodyPr>
          <a:lstStyle/>
          <a:p>
            <a:pPr marL="457200" indent="-457200" algn="just">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The figure shows a half-unit cube inside a unit cube.</a:t>
            </a:r>
          </a:p>
          <a:p>
            <a:pPr lvl="0" algn="just"/>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7675" algn="just"/>
            <a:r>
              <a:rPr lang="en-US" sz="2400" dirty="0">
                <a:latin typeface="Verdana" panose="020B0604030504040204" pitchFamily="34" charset="0"/>
                <a:ea typeface="Times New Roman" panose="02020603050405020304" pitchFamily="18" charset="0"/>
                <a:cs typeface="Times New Roman" panose="02020603050405020304" pitchFamily="18" charset="0"/>
              </a:rPr>
              <a:t>Explain how the figure helps you to visualize how to pack cubes that have a fractional length.   </a:t>
            </a:r>
          </a:p>
        </p:txBody>
      </p:sp>
      <p:pic>
        <p:nvPicPr>
          <p:cNvPr id="15" name="Picture 14" descr="Shape, rectangle&#10;&#10;Description automatically generated">
            <a:extLst>
              <a:ext uri="{FF2B5EF4-FFF2-40B4-BE49-F238E27FC236}">
                <a16:creationId xmlns="" xmlns:a16="http://schemas.microsoft.com/office/drawing/2014/main" id="{5B120D17-81CF-1A4E-871E-DFB9992698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7322476" y="327064"/>
            <a:ext cx="2730500" cy="3006725"/>
          </a:xfrm>
          <a:prstGeom prst="rect">
            <a:avLst/>
          </a:prstGeom>
        </p:spPr>
      </p:pic>
    </p:spTree>
    <p:extLst>
      <p:ext uri="{BB962C8B-B14F-4D97-AF65-F5344CB8AC3E}">
        <p14:creationId xmlns:p14="http://schemas.microsoft.com/office/powerpoint/2010/main" val="451812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0052976"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p:sp>
        <p:nvSpPr>
          <p:cNvPr id="14" name="TextBox 13">
            <a:extLst>
              <a:ext uri="{FF2B5EF4-FFF2-40B4-BE49-F238E27FC236}">
                <a16:creationId xmlns="" xmlns:a16="http://schemas.microsoft.com/office/drawing/2014/main" id="{2FA392D8-3ED3-7940-83A8-1451AA8A08D4}"/>
              </a:ext>
            </a:extLst>
          </p:cNvPr>
          <p:cNvSpPr txBox="1"/>
          <p:nvPr/>
        </p:nvSpPr>
        <p:spPr>
          <a:xfrm>
            <a:off x="905256" y="352969"/>
            <a:ext cx="8327136" cy="461665"/>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Three figures are shown.</a:t>
            </a:r>
          </a:p>
        </p:txBody>
      </p:sp>
      <p:pic>
        <p:nvPicPr>
          <p:cNvPr id="6" name="Picture 5" descr="Shape&#10;&#10;Description automatically generated">
            <a:extLst>
              <a:ext uri="{FF2B5EF4-FFF2-40B4-BE49-F238E27FC236}">
                <a16:creationId xmlns="" xmlns:a16="http://schemas.microsoft.com/office/drawing/2014/main" id="{62B0B40E-82FE-D549-B33B-B2845CB824EC}"/>
              </a:ext>
            </a:extLst>
          </p:cNvPr>
          <p:cNvPicPr>
            <a:picLocks noChangeAspect="1"/>
          </p:cNvPicPr>
          <p:nvPr/>
        </p:nvPicPr>
        <p:blipFill rotWithShape="1">
          <a:blip r:embed="rId4">
            <a:extLst>
              <a:ext uri="{28A0092B-C50C-407E-A947-70E740481C1C}">
                <a14:useLocalDpi xmlns:a14="http://schemas.microsoft.com/office/drawing/2010/main"/>
              </a:ext>
            </a:extLst>
          </a:blip>
          <a:srcRect l="1919" r="5500"/>
          <a:stretch/>
        </p:blipFill>
        <p:spPr bwMode="auto">
          <a:xfrm>
            <a:off x="2628583" y="1046453"/>
            <a:ext cx="6934835" cy="2768600"/>
          </a:xfrm>
          <a:prstGeom prst="rect">
            <a:avLst/>
          </a:prstGeom>
          <a:ln>
            <a:noFill/>
          </a:ln>
          <a:extLst>
            <a:ext uri="{53640926-AAD7-44D8-BBD7-CCE9431645EC}">
              <a14:shadowObscured xmlns:a14="http://schemas.microsoft.com/office/drawing/2010/main"/>
            </a:ext>
          </a:extLst>
        </p:spPr>
      </p:pic>
      <p:sp>
        <p:nvSpPr>
          <p:cNvPr id="7" name="TextBox 6">
            <a:extLst>
              <a:ext uri="{FF2B5EF4-FFF2-40B4-BE49-F238E27FC236}">
                <a16:creationId xmlns="" xmlns:a16="http://schemas.microsoft.com/office/drawing/2014/main" id="{A4D2819B-3409-3A48-8DCE-7C65551BCEC1}"/>
              </a:ext>
            </a:extLst>
          </p:cNvPr>
          <p:cNvSpPr txBox="1"/>
          <p:nvPr/>
        </p:nvSpPr>
        <p:spPr>
          <a:xfrm>
            <a:off x="905256" y="4023448"/>
            <a:ext cx="10509504" cy="830997"/>
          </a:xfrm>
          <a:prstGeom prst="rect">
            <a:avLst/>
          </a:prstGeom>
          <a:noFill/>
        </p:spPr>
        <p:txBody>
          <a:bodyPr wrap="square" rtlCol="0">
            <a:spAutoFit/>
          </a:bodyPr>
          <a:lstStyle/>
          <a:p>
            <a:pPr marL="1025525" indent="-57785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how the figures help you visualize how to pack cubes that have a fractional length.</a:t>
            </a:r>
          </a:p>
        </p:txBody>
      </p:sp>
    </p:spTree>
    <p:extLst>
      <p:ext uri="{BB962C8B-B14F-4D97-AF65-F5344CB8AC3E}">
        <p14:creationId xmlns:p14="http://schemas.microsoft.com/office/powerpoint/2010/main" val="2597134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647643F2-AA27-F54D-9B18-929351C91D7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 xmlns:a16="http://schemas.microsoft.com/office/drawing/2014/main" id="{2FA392D8-3ED3-7940-83A8-1451AA8A08D4}"/>
                  </a:ext>
                </a:extLst>
              </p:cNvPr>
              <p:cNvSpPr txBox="1"/>
              <p:nvPr/>
            </p:nvSpPr>
            <p:spPr>
              <a:xfrm>
                <a:off x="905256" y="352969"/>
                <a:ext cx="10524744" cy="4549066"/>
              </a:xfrm>
              <a:prstGeom prst="rect">
                <a:avLst/>
              </a:prstGeom>
              <a:noFill/>
            </p:spPr>
            <p:txBody>
              <a:bodyPr wrap="square" rtlCol="0">
                <a:spAutoFit/>
              </a:bodyPr>
              <a:lstStyle/>
              <a:p>
                <a:pPr marL="4572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To find the number of cubes whose dimensions are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unit that fit into a cube whose dimensions are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unit, Derek wrote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as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so he could see that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r>
                      <a:rPr lang="es-ES" sz="2400" i="1" dirty="0">
                        <a:latin typeface="Cambria Math" panose="02040503050406030204" pitchFamily="18" charset="0"/>
                        <a:cs typeface="Times New Roman" panose="02020603050405020304" pitchFamily="18" charset="0"/>
                      </a:rPr>
                      <m:t>+</m:t>
                    </m:r>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would add to length of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Complete his explanation. </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marL="447675"/>
                <a:r>
                  <a:rPr lang="en-US" sz="2400" dirty="0">
                    <a:latin typeface="Verdana" panose="020B0604030504040204" pitchFamily="34" charset="0"/>
                    <a:ea typeface="Verdana" panose="020B0604030504040204" pitchFamily="34" charset="0"/>
                    <a:cs typeface="Verdana" panose="020B0604030504040204" pitchFamily="34" charset="0"/>
                  </a:rPr>
                  <a:t>Since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r>
                      <a:rPr lang="es-ES" sz="2400" i="1" dirty="0">
                        <a:latin typeface="Cambria Math" panose="02040503050406030204" pitchFamily="18" charset="0"/>
                        <a:cs typeface="Times New Roman" panose="02020603050405020304" pitchFamily="18" charset="0"/>
                      </a:rPr>
                      <m:t>+</m:t>
                    </m:r>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r>
                      <a:rPr lang="es-ES" sz="2400" i="1" dirty="0">
                        <a:latin typeface="Cambria Math" panose="02040503050406030204" pitchFamily="18" charset="0"/>
                        <a:cs typeface="Times New Roman" panose="02020603050405020304" pitchFamily="18" charset="0"/>
                      </a:rPr>
                      <m:t>=</m:t>
                    </m:r>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I need _____ cubes for the length, ______ cubes for the width, and ______ cubes for the height.  </a:t>
                </a:r>
              </a:p>
              <a:p>
                <a:pPr marL="447675"/>
                <a:endParaRPr lang="en-US" sz="2400" dirty="0">
                  <a:latin typeface="Verdana" panose="020B0604030504040204" pitchFamily="34" charset="0"/>
                  <a:ea typeface="Verdana" panose="020B0604030504040204" pitchFamily="34" charset="0"/>
                  <a:cs typeface="Verdana" panose="020B0604030504040204" pitchFamily="34" charset="0"/>
                </a:endParaRPr>
              </a:p>
              <a:p>
                <a:pPr marL="447675"/>
                <a:r>
                  <a:rPr lang="en-US" sz="2400" dirty="0">
                    <a:latin typeface="Verdana" panose="020B0604030504040204" pitchFamily="34" charset="0"/>
                    <a:ea typeface="Verdana" panose="020B0604030504040204" pitchFamily="34" charset="0"/>
                    <a:cs typeface="Verdana" panose="020B0604030504040204" pitchFamily="34" charset="0"/>
                  </a:rPr>
                  <a:t>Since _____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_____</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_____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=8</m:t>
                    </m:r>
                  </m:oMath>
                </a14:m>
                <a:r>
                  <a:rPr lang="en-US" sz="2400" dirty="0">
                    <a:latin typeface="Verdana" panose="020B0604030504040204" pitchFamily="34" charset="0"/>
                    <a:ea typeface="Verdana" panose="020B0604030504040204" pitchFamily="34" charset="0"/>
                    <a:cs typeface="Verdana" panose="020B0604030504040204" pitchFamily="34" charset="0"/>
                  </a:rPr>
                  <a:t> I know that I need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8</m:t>
                    </m:r>
                  </m:oMath>
                </a14:m>
                <a:r>
                  <a:rPr lang="en-US" sz="2400" dirty="0">
                    <a:latin typeface="Verdana" panose="020B0604030504040204" pitchFamily="34" charset="0"/>
                    <a:ea typeface="Verdana" panose="020B0604030504040204" pitchFamily="34" charset="0"/>
                    <a:cs typeface="Verdana" panose="020B0604030504040204" pitchFamily="34" charset="0"/>
                  </a:rPr>
                  <a:t> cubes with dimensions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unit to fit into one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-unit cube.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905256" y="352969"/>
                <a:ext cx="10524744" cy="4549066"/>
              </a:xfrm>
              <a:prstGeom prst="rect">
                <a:avLst/>
              </a:prstGeom>
              <a:blipFill>
                <a:blip r:embed="rId4"/>
                <a:stretch>
                  <a:fillRect l="-964" r="-482"/>
                </a:stretch>
              </a:blipFill>
            </p:spPr>
            <p:txBody>
              <a:bodyPr/>
              <a:lstStyle/>
              <a:p>
                <a:r>
                  <a:rPr lang="en-US">
                    <a:noFill/>
                  </a:rPr>
                  <a:t> </a:t>
                </a:r>
              </a:p>
            </p:txBody>
          </p:sp>
        </mc:Fallback>
      </mc:AlternateContent>
    </p:spTree>
    <p:extLst>
      <p:ext uri="{BB962C8B-B14F-4D97-AF65-F5344CB8AC3E}">
        <p14:creationId xmlns:p14="http://schemas.microsoft.com/office/powerpoint/2010/main" val="221679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7024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Instruction</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pic>
        <p:nvPicPr>
          <p:cNvPr id="7" name="image6.png" descr="Icon&#10;&#10;Description automatically generated">
            <a:extLst>
              <a:ext uri="{FF2B5EF4-FFF2-40B4-BE49-F238E27FC236}">
                <a16:creationId xmlns="" xmlns:a16="http://schemas.microsoft.com/office/drawing/2014/main" id="{B079AFA8-B9EA-EB4C-B6ED-66C4D839C0CE}"/>
              </a:ext>
            </a:extLst>
          </p:cNvPr>
          <p:cNvPicPr/>
          <p:nvPr/>
        </p:nvPicPr>
        <p:blipFill>
          <a:blip r:embed="rId4"/>
          <a:srcRect/>
          <a:stretch>
            <a:fillRect/>
          </a:stretch>
        </p:blipFill>
        <p:spPr>
          <a:xfrm>
            <a:off x="3054096" y="2852928"/>
            <a:ext cx="1152144" cy="115214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56065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143000" y="-1282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8.6.4 Guided Instruction: </a:t>
            </a:r>
            <a:r>
              <a:rPr lang="en-US" sz="3200" b="1" dirty="0" smtClean="0">
                <a:solidFill>
                  <a:srgbClr val="54B5D1"/>
                </a:solidFill>
                <a:latin typeface="Verdana"/>
                <a:ea typeface="Verdana"/>
                <a:cs typeface="Verdana"/>
                <a:sym typeface="Verdana"/>
              </a:rPr>
              <a:t/>
            </a:r>
            <a:br>
              <a:rPr lang="en-US" sz="3200" b="1" dirty="0" smtClean="0">
                <a:solidFill>
                  <a:srgbClr val="54B5D1"/>
                </a:solidFill>
                <a:latin typeface="Verdana"/>
                <a:ea typeface="Verdana"/>
                <a:cs typeface="Verdana"/>
                <a:sym typeface="Verdana"/>
              </a:rPr>
            </a:br>
            <a:r>
              <a:rPr lang="en-US" sz="3200" b="1" dirty="0" smtClean="0">
                <a:solidFill>
                  <a:srgbClr val="54B5D1"/>
                </a:solidFill>
                <a:latin typeface="Verdana"/>
                <a:ea typeface="Verdana"/>
                <a:cs typeface="Verdana"/>
                <a:sym typeface="Verdana"/>
              </a:rPr>
              <a:t>Volume </a:t>
            </a:r>
            <a:r>
              <a:rPr lang="en-US" sz="3200" b="1" dirty="0">
                <a:solidFill>
                  <a:srgbClr val="54B5D1"/>
                </a:solidFill>
                <a:latin typeface="Verdana"/>
                <a:ea typeface="Verdana"/>
                <a:cs typeface="Verdana"/>
                <a:sym typeface="Verdana"/>
              </a:rPr>
              <a:t>with Fractional Cubes</a:t>
            </a:r>
            <a:endParaRPr lang="en-US" sz="3200" b="1" dirty="0">
              <a:solidFill>
                <a:srgbClr val="54B5D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669E00F9-F39F-5043-888E-B0A2D8C9AE0F}"/>
                  </a:ext>
                </a:extLst>
              </p:cNvPr>
              <p:cNvSpPr txBox="1"/>
              <p:nvPr/>
            </p:nvSpPr>
            <p:spPr>
              <a:xfrm>
                <a:off x="905256" y="1451535"/>
                <a:ext cx="6409494" cy="3351430"/>
              </a:xfrm>
              <a:prstGeom prst="rect">
                <a:avLst/>
              </a:prstGeom>
              <a:noFill/>
            </p:spPr>
            <p:txBody>
              <a:bodyPr wrap="square" rtlCol="0">
                <a:spAutoFit/>
              </a:bodyPr>
              <a:lstStyle/>
              <a:p>
                <a:pPr lvl="0"/>
                <a:r>
                  <a:rPr lang="en-US" sz="2400" dirty="0">
                    <a:latin typeface="Verdana" panose="020B0604030504040204" pitchFamily="34" charset="0"/>
                    <a:ea typeface="Times New Roman" panose="02020603050405020304" pitchFamily="18" charset="0"/>
                    <a:cs typeface="Times New Roman" panose="02020603050405020304" pitchFamily="18" charset="0"/>
                  </a:rPr>
                  <a:t>The cube shown is a scale model of a moving box.</a:t>
                </a:r>
              </a:p>
              <a:p>
                <a:pPr lvl="0"/>
                <a:endParaRPr lang="en-US" sz="24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The edges of the box are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f>
                      <m:fPr>
                        <m:ctrlPr>
                          <a:rPr lang="en-US" sz="2400" i="1" dirty="0">
                            <a:latin typeface="Cambria Math"/>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1</m:t>
                        </m:r>
                      </m:num>
                      <m:den>
                        <m:r>
                          <a:rPr lang="es-ES" sz="2400" i="1" dirty="0">
                            <a:latin typeface="Cambria Math" panose="02040503050406030204" pitchFamily="18" charset="0"/>
                            <a:ea typeface="Verdana" panose="020B0604030504040204" pitchFamily="34" charset="0"/>
                            <a:cs typeface="Verdana" panose="020B0604030504040204" pitchFamily="34"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feet long. How many cubes, whose dimensions are </a:t>
                </a:r>
                <a14:m>
                  <m:oMath xmlns:m="http://schemas.openxmlformats.org/officeDocument/2006/math">
                    <m:f>
                      <m:fPr>
                        <m:ctrlPr>
                          <a:rPr lang="en-US" sz="2400" i="1" dirty="0">
                            <a:latin typeface="Cambria Math"/>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1</m:t>
                        </m:r>
                      </m:num>
                      <m:den>
                        <m:r>
                          <a:rPr lang="es-ES" sz="2400" i="1" dirty="0">
                            <a:latin typeface="Cambria Math" panose="02040503050406030204" pitchFamily="18" charset="0"/>
                            <a:ea typeface="Verdana" panose="020B0604030504040204" pitchFamily="34" charset="0"/>
                            <a:cs typeface="Verdana" panose="020B0604030504040204" pitchFamily="34"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feet, can fit inside each dimension of the moving box?</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905256" y="1451535"/>
                <a:ext cx="6409494" cy="3351430"/>
              </a:xfrm>
              <a:prstGeom prst="rect">
                <a:avLst/>
              </a:prstGeom>
              <a:blipFill>
                <a:blip r:embed="rId4"/>
                <a:stretch>
                  <a:fillRect l="-1584" t="-1509"/>
                </a:stretch>
              </a:blipFill>
            </p:spPr>
            <p:txBody>
              <a:bodyPr/>
              <a:lstStyle/>
              <a:p>
                <a:r>
                  <a:rPr lang="en-US">
                    <a:noFill/>
                  </a:rPr>
                  <a:t> </a:t>
                </a:r>
              </a:p>
            </p:txBody>
          </p:sp>
        </mc:Fallback>
      </mc:AlternateContent>
      <p:pic>
        <p:nvPicPr>
          <p:cNvPr id="14" name="image6.png" descr="Icon&#10;&#10;Description automatically generated">
            <a:extLst>
              <a:ext uri="{FF2B5EF4-FFF2-40B4-BE49-F238E27FC236}">
                <a16:creationId xmlns="" xmlns:a16="http://schemas.microsoft.com/office/drawing/2014/main" id="{8A434195-83BC-AD47-961E-98BFF6E69192}"/>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356616" y="201168"/>
            <a:ext cx="749808" cy="749808"/>
          </a:xfrm>
          <a:prstGeom prst="rect">
            <a:avLst/>
          </a:prstGeom>
          <a:ln/>
          <a:effectLst>
            <a:outerShdw blurRad="50800" dist="38100" dir="2700000" algn="tl" rotWithShape="0">
              <a:prstClr val="black">
                <a:alpha val="40000"/>
              </a:prstClr>
            </a:outerShdw>
          </a:effectLst>
        </p:spPr>
      </p:pic>
      <p:pic>
        <p:nvPicPr>
          <p:cNvPr id="15" name="Picture 14" descr="Shape, rectangle&#10;&#10;Description automatically generated">
            <a:extLst>
              <a:ext uri="{FF2B5EF4-FFF2-40B4-BE49-F238E27FC236}">
                <a16:creationId xmlns="" xmlns:a16="http://schemas.microsoft.com/office/drawing/2014/main" id="{AC3814AE-6703-7347-8034-0C03D09A65B5}"/>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7314751" y="1787480"/>
            <a:ext cx="2444115" cy="2819400"/>
          </a:xfrm>
          <a:prstGeom prst="rect">
            <a:avLst/>
          </a:prstGeom>
        </p:spPr>
      </p:pic>
    </p:spTree>
    <p:extLst>
      <p:ext uri="{BB962C8B-B14F-4D97-AF65-F5344CB8AC3E}">
        <p14:creationId xmlns:p14="http://schemas.microsoft.com/office/powerpoint/2010/main" val="33998569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TextBox 7">
            <a:extLst>
              <a:ext uri="{FF2B5EF4-FFF2-40B4-BE49-F238E27FC236}">
                <a16:creationId xmlns="" xmlns:a16="http://schemas.microsoft.com/office/drawing/2014/main" id="{669E00F9-F39F-5043-888E-B0A2D8C9AE0F}"/>
              </a:ext>
            </a:extLst>
          </p:cNvPr>
          <p:cNvSpPr txBox="1"/>
          <p:nvPr/>
        </p:nvSpPr>
        <p:spPr>
          <a:xfrm>
            <a:off x="905256" y="421226"/>
            <a:ext cx="10467594"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Sketch the cubes that can fit inside each dimension of the moving box.</a:t>
            </a:r>
          </a:p>
        </p:txBody>
      </p:sp>
      <p:pic>
        <p:nvPicPr>
          <p:cNvPr id="9" name="Picture 8" descr="Shape, rectangle&#10;&#10;Description automatically generated">
            <a:extLst>
              <a:ext uri="{FF2B5EF4-FFF2-40B4-BE49-F238E27FC236}">
                <a16:creationId xmlns="" xmlns:a16="http://schemas.microsoft.com/office/drawing/2014/main" id="{2ABFD585-2061-6E4C-A614-67E0A90E8BA4}"/>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292600" y="1349058"/>
            <a:ext cx="3606800" cy="4159885"/>
          </a:xfrm>
          <a:prstGeom prst="rect">
            <a:avLst/>
          </a:prstGeom>
        </p:spPr>
      </p:pic>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spTree>
    <p:extLst>
      <p:ext uri="{BB962C8B-B14F-4D97-AF65-F5344CB8AC3E}">
        <p14:creationId xmlns:p14="http://schemas.microsoft.com/office/powerpoint/2010/main" val="30973234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669E00F9-F39F-5043-888E-B0A2D8C9AE0F}"/>
                  </a:ext>
                </a:extLst>
              </p:cNvPr>
              <p:cNvSpPr txBox="1"/>
              <p:nvPr/>
            </p:nvSpPr>
            <p:spPr>
              <a:xfrm>
                <a:off x="905256" y="421225"/>
                <a:ext cx="5362194" cy="2460545"/>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Since 3 cubes, whose dimensions are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2</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unit, will fit inside each dimension, how many of these cubes would be needed to pack the moving box?</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905256" y="421225"/>
                <a:ext cx="5362194" cy="2460545"/>
              </a:xfrm>
              <a:prstGeom prst="rect">
                <a:avLst/>
              </a:prstGeom>
              <a:blipFill>
                <a:blip r:embed="rId4"/>
                <a:stretch>
                  <a:fillRect l="-1891" t="-2051" r="-3073" b="-4615"/>
                </a:stretch>
              </a:blipFill>
            </p:spPr>
            <p:txBody>
              <a:bodyPr/>
              <a:lstStyle/>
              <a:p>
                <a:r>
                  <a:rPr lang="en-US">
                    <a:noFill/>
                  </a:rPr>
                  <a:t> </a:t>
                </a:r>
              </a:p>
            </p:txBody>
          </p:sp>
        </mc:Fallback>
      </mc:AlternateContent>
      <p:pic>
        <p:nvPicPr>
          <p:cNvPr id="7" name="Picture 6" descr="Shape, rectangle&#10;&#10;Description automatically generated">
            <a:extLst>
              <a:ext uri="{FF2B5EF4-FFF2-40B4-BE49-F238E27FC236}">
                <a16:creationId xmlns="" xmlns:a16="http://schemas.microsoft.com/office/drawing/2014/main" id="{0C879983-6A8F-564D-BE36-48AAAFDA0C60}"/>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555310" y="421225"/>
            <a:ext cx="3393440" cy="3657600"/>
          </a:xfrm>
          <a:prstGeom prst="rect">
            <a:avLst/>
          </a:prstGeom>
        </p:spPr>
      </p:pic>
    </p:spTree>
    <p:extLst>
      <p:ext uri="{BB962C8B-B14F-4D97-AF65-F5344CB8AC3E}">
        <p14:creationId xmlns:p14="http://schemas.microsoft.com/office/powerpoint/2010/main" val="2866679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669E00F9-F39F-5043-888E-B0A2D8C9AE0F}"/>
                  </a:ext>
                </a:extLst>
              </p:cNvPr>
              <p:cNvSpPr txBox="1"/>
              <p:nvPr/>
            </p:nvSpPr>
            <p:spPr>
              <a:xfrm>
                <a:off x="905256" y="421226"/>
                <a:ext cx="10467594" cy="908967"/>
              </a:xfrm>
              <a:prstGeom prst="rect">
                <a:avLst/>
              </a:prstGeom>
              <a:noFill/>
            </p:spPr>
            <p:txBody>
              <a:bodyPr wrap="square" rtlCol="0">
                <a:spAutoFit/>
              </a:bodyPr>
              <a:lstStyle/>
              <a:p>
                <a:pPr marL="457200" indent="-457200">
                  <a:buFont typeface="+mj-lt"/>
                  <a:buAutoNum type="arabicPeriod" startAt="4"/>
                </a:pPr>
                <a:r>
                  <a:rPr lang="en-US" sz="2200" dirty="0">
                    <a:latin typeface="Verdana" panose="020B0604030504040204" pitchFamily="34" charset="0"/>
                    <a:ea typeface="Times New Roman" panose="02020603050405020304" pitchFamily="18" charset="0"/>
                    <a:cs typeface="Times New Roman" panose="02020603050405020304" pitchFamily="18" charset="0"/>
                  </a:rPr>
                  <a:t>This cube is a scale model of a moving box. The edges of the box are </a:t>
                </a:r>
                <a14:m>
                  <m:oMath xmlns:m="http://schemas.openxmlformats.org/officeDocument/2006/math">
                    <m:r>
                      <a:rPr lang="en-US" sz="2200" i="1" dirty="0">
                        <a:latin typeface="Cambria Math" panose="02040503050406030204" pitchFamily="18" charset="0"/>
                        <a:ea typeface="Verdana" panose="020B0604030504040204" pitchFamily="34" charset="0"/>
                        <a:cs typeface="Verdana" panose="020B0604030504040204" pitchFamily="34" charset="0"/>
                      </a:rPr>
                      <m:t>1</m:t>
                    </m:r>
                    <m:f>
                      <m:fPr>
                        <m:ctrlPr>
                          <a:rPr lang="en-US" sz="2200" i="1" dirty="0">
                            <a:latin typeface="Cambria Math"/>
                            <a:ea typeface="Verdana" panose="020B0604030504040204" pitchFamily="34" charset="0"/>
                            <a:cs typeface="Verdana" panose="020B0604030504040204" pitchFamily="34" charset="0"/>
                          </a:rPr>
                        </m:ctrlPr>
                      </m:fPr>
                      <m:num>
                        <m:r>
                          <a:rPr lang="es-ES" sz="2200" i="1" dirty="0">
                            <a:latin typeface="Cambria Math" panose="02040503050406030204" pitchFamily="18" charset="0"/>
                            <a:ea typeface="Verdana" panose="020B0604030504040204" pitchFamily="34" charset="0"/>
                            <a:cs typeface="Verdana" panose="020B0604030504040204" pitchFamily="34" charset="0"/>
                          </a:rPr>
                          <m:t>1</m:t>
                        </m:r>
                      </m:num>
                      <m:den>
                        <m:r>
                          <a:rPr lang="es-ES" sz="2200" i="1" dirty="0">
                            <a:latin typeface="Cambria Math" panose="02040503050406030204" pitchFamily="18" charset="0"/>
                            <a:ea typeface="Verdana" panose="020B0604030504040204" pitchFamily="34" charset="0"/>
                            <a:cs typeface="Verdana" panose="020B0604030504040204" pitchFamily="34" charset="0"/>
                          </a:rPr>
                          <m:t>2</m:t>
                        </m:r>
                      </m:den>
                    </m:f>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feet long.</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905256" y="421226"/>
                <a:ext cx="10467594" cy="908967"/>
              </a:xfrm>
              <a:prstGeom prst="rect">
                <a:avLst/>
              </a:prstGeom>
              <a:blipFill>
                <a:blip r:embed="rId4"/>
                <a:stretch>
                  <a:fillRect l="-848" t="-5556" r="-1091" b="-5556"/>
                </a:stretch>
              </a:blipFill>
            </p:spPr>
            <p:txBody>
              <a:bodyPr/>
              <a:lstStyle/>
              <a:p>
                <a:r>
                  <a:rPr lang="en-US">
                    <a:noFill/>
                  </a:rPr>
                  <a:t> </a:t>
                </a:r>
              </a:p>
            </p:txBody>
          </p:sp>
        </mc:Fallback>
      </mc:AlternateContent>
      <p:pic>
        <p:nvPicPr>
          <p:cNvPr id="9" name="Picture 8" descr="A picture containing building, window&#10;&#10;Description automatically generated">
            <a:extLst>
              <a:ext uri="{FF2B5EF4-FFF2-40B4-BE49-F238E27FC236}">
                <a16:creationId xmlns="" xmlns:a16="http://schemas.microsoft.com/office/drawing/2014/main" id="{8A559C5A-24F9-9042-9E4D-4E3B0A7A2154}"/>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3683635" y="1303133"/>
            <a:ext cx="4824730" cy="259080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 xmlns:a16="http://schemas.microsoft.com/office/drawing/2014/main" id="{B4AF66FF-0EA1-9245-AC3E-A0BA8D84E0DB}"/>
                  </a:ext>
                </a:extLst>
              </p:cNvPr>
              <p:cNvSpPr txBox="1"/>
              <p:nvPr/>
            </p:nvSpPr>
            <p:spPr>
              <a:xfrm>
                <a:off x="905256" y="4014431"/>
                <a:ext cx="10600944" cy="1725601"/>
              </a:xfrm>
              <a:prstGeom prst="rect">
                <a:avLst/>
              </a:prstGeom>
              <a:noFill/>
            </p:spPr>
            <p:txBody>
              <a:bodyPr wrap="square" rtlCol="0">
                <a:spAutoFit/>
              </a:bodyPr>
              <a:lstStyle/>
              <a:p>
                <a:pPr marL="447675"/>
                <a:r>
                  <a:rPr lang="en-US" sz="2200" dirty="0">
                    <a:latin typeface="Verdana" panose="020B0604030504040204" pitchFamily="34" charset="0"/>
                    <a:ea typeface="Times New Roman" panose="02020603050405020304" pitchFamily="18" charset="0"/>
                    <a:cs typeface="Times New Roman" panose="02020603050405020304" pitchFamily="18" charset="0"/>
                  </a:rPr>
                  <a:t>Since there are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27</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cubes whose dimensions are </a:t>
                </a:r>
                <a14:m>
                  <m:oMath xmlns:m="http://schemas.openxmlformats.org/officeDocument/2006/math">
                    <m:f>
                      <m:fPr>
                        <m:ctrlPr>
                          <a:rPr lang="en-US" sz="2200" i="1" dirty="0">
                            <a:latin typeface="Cambria Math"/>
                            <a:ea typeface="Verdana" panose="020B0604030504040204" pitchFamily="34" charset="0"/>
                            <a:cs typeface="Verdana" panose="020B0604030504040204" pitchFamily="34" charset="0"/>
                          </a:rPr>
                        </m:ctrlPr>
                      </m:fPr>
                      <m:num>
                        <m:r>
                          <a:rPr lang="es-ES" sz="2200" i="1" dirty="0">
                            <a:latin typeface="Cambria Math" panose="02040503050406030204" pitchFamily="18" charset="0"/>
                            <a:ea typeface="Verdana" panose="020B0604030504040204" pitchFamily="34" charset="0"/>
                            <a:cs typeface="Verdana" panose="020B0604030504040204" pitchFamily="34" charset="0"/>
                          </a:rPr>
                          <m:t>1</m:t>
                        </m:r>
                      </m:num>
                      <m:den>
                        <m:r>
                          <a:rPr lang="es-ES" sz="2200" i="1" dirty="0">
                            <a:latin typeface="Cambria Math" panose="02040503050406030204" pitchFamily="18" charset="0"/>
                            <a:ea typeface="Verdana" panose="020B0604030504040204" pitchFamily="34" charset="0"/>
                            <a:cs typeface="Verdana" panose="020B0604030504040204" pitchFamily="34" charset="0"/>
                          </a:rPr>
                          <m:t>2</m:t>
                        </m:r>
                      </m:den>
                    </m:f>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feet that will fill the moving box, the volume of the moving box can be found by multiplying the volume of the fractional cube by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27</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What is the volume of a cube whose dimensions are </a:t>
                </a:r>
                <a14:m>
                  <m:oMath xmlns:m="http://schemas.openxmlformats.org/officeDocument/2006/math">
                    <m:f>
                      <m:fPr>
                        <m:ctrlPr>
                          <a:rPr lang="en-US" sz="2200" i="1" dirty="0">
                            <a:latin typeface="Cambria Math"/>
                            <a:ea typeface="Verdana" panose="020B0604030504040204" pitchFamily="34" charset="0"/>
                            <a:cs typeface="Verdana" panose="020B0604030504040204" pitchFamily="34" charset="0"/>
                          </a:rPr>
                        </m:ctrlPr>
                      </m:fPr>
                      <m:num>
                        <m:r>
                          <a:rPr lang="es-ES" sz="2200" i="1" dirty="0">
                            <a:latin typeface="Cambria Math" panose="02040503050406030204" pitchFamily="18" charset="0"/>
                            <a:ea typeface="Verdana" panose="020B0604030504040204" pitchFamily="34" charset="0"/>
                            <a:cs typeface="Verdana" panose="020B0604030504040204" pitchFamily="34" charset="0"/>
                          </a:rPr>
                          <m:t>1</m:t>
                        </m:r>
                      </m:num>
                      <m:den>
                        <m:r>
                          <a:rPr lang="es-ES" sz="2200" i="1" dirty="0">
                            <a:latin typeface="Cambria Math" panose="02040503050406030204" pitchFamily="18" charset="0"/>
                            <a:ea typeface="Verdana" panose="020B0604030504040204" pitchFamily="34" charset="0"/>
                            <a:cs typeface="Verdana" panose="020B0604030504040204" pitchFamily="34" charset="0"/>
                          </a:rPr>
                          <m:t>2</m:t>
                        </m:r>
                      </m:den>
                    </m:f>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feet?</a:t>
                </a:r>
              </a:p>
            </p:txBody>
          </p:sp>
        </mc:Choice>
        <mc:Fallback xmlns="">
          <p:sp>
            <p:nvSpPr>
              <p:cNvPr id="10" name="TextBox 9">
                <a:extLst>
                  <a:ext uri="{FF2B5EF4-FFF2-40B4-BE49-F238E27FC236}">
                    <a16:creationId xmlns:a16="http://schemas.microsoft.com/office/drawing/2014/main" id="{B4AF66FF-0EA1-9245-AC3E-A0BA8D84E0DB}"/>
                  </a:ext>
                </a:extLst>
              </p:cNvPr>
              <p:cNvSpPr txBox="1">
                <a:spLocks noRot="1" noChangeAspect="1" noMove="1" noResize="1" noEditPoints="1" noAdjustHandles="1" noChangeArrowheads="1" noChangeShapeType="1" noTextEdit="1"/>
              </p:cNvSpPr>
              <p:nvPr/>
            </p:nvSpPr>
            <p:spPr>
              <a:xfrm>
                <a:off x="905256" y="4014431"/>
                <a:ext cx="10600944" cy="1725601"/>
              </a:xfrm>
              <a:prstGeom prst="rect">
                <a:avLst/>
              </a:prstGeom>
              <a:blipFill>
                <a:blip r:embed="rId6"/>
                <a:stretch>
                  <a:fillRect b="-1460"/>
                </a:stretch>
              </a:blipFill>
            </p:spPr>
            <p:txBody>
              <a:bodyPr/>
              <a:lstStyle/>
              <a:p>
                <a:r>
                  <a:rPr lang="en-US">
                    <a:noFill/>
                  </a:rPr>
                  <a:t> </a:t>
                </a:r>
              </a:p>
            </p:txBody>
          </p:sp>
        </mc:Fallback>
      </mc:AlternateContent>
      <p:pic>
        <p:nvPicPr>
          <p:cNvPr id="11"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106</a:t>
            </a:r>
            <a:endParaRPr i="1" dirty="0">
              <a:latin typeface="Calibri"/>
              <a:ea typeface="Calibri"/>
              <a:cs typeface="Calibri"/>
              <a:sym typeface="Calibri"/>
            </a:endParaRPr>
          </a:p>
        </p:txBody>
      </p:sp>
    </p:spTree>
    <p:extLst>
      <p:ext uri="{BB962C8B-B14F-4D97-AF65-F5344CB8AC3E}">
        <p14:creationId xmlns:p14="http://schemas.microsoft.com/office/powerpoint/2010/main" val="11360497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669E00F9-F39F-5043-888E-B0A2D8C9AE0F}"/>
                  </a:ext>
                </a:extLst>
              </p:cNvPr>
              <p:cNvSpPr txBox="1"/>
              <p:nvPr/>
            </p:nvSpPr>
            <p:spPr>
              <a:xfrm>
                <a:off x="905256" y="421226"/>
                <a:ext cx="10505694" cy="5255285"/>
              </a:xfrm>
              <a:prstGeom prst="rect">
                <a:avLst/>
              </a:prstGeom>
              <a:noFill/>
            </p:spPr>
            <p:txBody>
              <a:bodyPr wrap="square" rtlCol="0">
                <a:spAutoFit/>
              </a:bodyPr>
              <a:lstStyle/>
              <a:p>
                <a:pPr marL="457200" indent="-457200">
                  <a:buFont typeface="+mj-lt"/>
                  <a:buAutoNum type="arabicPeriod" startAt="5"/>
                </a:pPr>
                <a:r>
                  <a:rPr lang="en-US" sz="2200" dirty="0">
                    <a:latin typeface="Verdana" panose="020B0604030504040204" pitchFamily="34" charset="0"/>
                    <a:ea typeface="Times New Roman" panose="02020603050405020304" pitchFamily="18" charset="0"/>
                    <a:cs typeface="Times New Roman" panose="02020603050405020304" pitchFamily="18" charset="0"/>
                  </a:rPr>
                  <a:t>Since there are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27</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cubes whose volume is </a:t>
                </a:r>
                <a14:m>
                  <m:oMath xmlns:m="http://schemas.openxmlformats.org/officeDocument/2006/math">
                    <m:f>
                      <m:fPr>
                        <m:ctrlPr>
                          <a:rPr lang="en-US" sz="2200" i="1" dirty="0">
                            <a:latin typeface="Cambria Math"/>
                            <a:cs typeface="Times New Roman" panose="02020603050405020304" pitchFamily="18" charset="0"/>
                          </a:rPr>
                        </m:ctrlPr>
                      </m:fPr>
                      <m:num>
                        <m:r>
                          <a:rPr lang="es-ES" sz="2200" i="1" dirty="0">
                            <a:latin typeface="Cambria Math" panose="02040503050406030204" pitchFamily="18" charset="0"/>
                            <a:cs typeface="Times New Roman" panose="02020603050405020304" pitchFamily="18" charset="0"/>
                          </a:rPr>
                          <m:t>1</m:t>
                        </m:r>
                      </m:num>
                      <m:den>
                        <m:r>
                          <a:rPr lang="es-ES" sz="2200" i="1" dirty="0">
                            <a:latin typeface="Cambria Math" panose="02040503050406030204" pitchFamily="18" charset="0"/>
                            <a:cs typeface="Times New Roman" panose="02020603050405020304" pitchFamily="18" charset="0"/>
                          </a:rPr>
                          <m:t>8</m:t>
                        </m:r>
                      </m:den>
                    </m:f>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cubic feet that will fill in the moving box, the volume of the moving box can be found by multiplying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27</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f>
                      <m:fPr>
                        <m:ctrlPr>
                          <a:rPr lang="en-US" sz="2200" i="1" dirty="0">
                            <a:latin typeface="Cambria Math"/>
                            <a:cs typeface="Times New Roman" panose="02020603050405020304" pitchFamily="18" charset="0"/>
                          </a:rPr>
                        </m:ctrlPr>
                      </m:fPr>
                      <m:num>
                        <m:r>
                          <a:rPr lang="es-ES" sz="2200" i="1" dirty="0">
                            <a:latin typeface="Cambria Math" panose="02040503050406030204" pitchFamily="18" charset="0"/>
                            <a:cs typeface="Times New Roman" panose="02020603050405020304" pitchFamily="18" charset="0"/>
                          </a:rPr>
                          <m:t>1</m:t>
                        </m:r>
                      </m:num>
                      <m:den>
                        <m:r>
                          <a:rPr lang="es-ES" sz="2200" i="1" dirty="0">
                            <a:latin typeface="Cambria Math" panose="02040503050406030204" pitchFamily="18" charset="0"/>
                            <a:cs typeface="Times New Roman" panose="02020603050405020304" pitchFamily="18" charset="0"/>
                          </a:rPr>
                          <m:t>8</m:t>
                        </m:r>
                      </m:den>
                    </m:f>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cubic feet. What is the volume of a cube of the moving box?</a:t>
                </a:r>
              </a:p>
              <a:p>
                <a:pPr marL="457200" indent="-457200">
                  <a:buFont typeface="+mj-lt"/>
                  <a:buAutoNum type="arabicPeriod" startAt="5"/>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5"/>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5"/>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5"/>
                </a:pPr>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5"/>
                </a:pPr>
                <a:r>
                  <a:rPr lang="en-US" sz="2200" dirty="0">
                    <a:latin typeface="Verdana" panose="020B0604030504040204" pitchFamily="34" charset="0"/>
                    <a:ea typeface="Times New Roman" panose="02020603050405020304" pitchFamily="18" charset="0"/>
                    <a:cs typeface="Times New Roman" panose="02020603050405020304" pitchFamily="18" charset="0"/>
                  </a:rPr>
                  <a:t>Find the volume of the moving box using the formula for volume of a rectangular prism or cube. </a:t>
                </a:r>
              </a:p>
              <a:p>
                <a:pPr lvl="0"/>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lvl="0" algn="ctr"/>
                <a14:m>
                  <m:oMathPara xmlns:m="http://schemas.openxmlformats.org/officeDocument/2006/math">
                    <m:oMathParaPr>
                      <m:jc m:val="centerGroup"/>
                    </m:oMathParaPr>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𝑉</m:t>
                      </m:r>
                      <m:r>
                        <a:rPr lang="en-US" sz="22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200" i="1" dirty="0">
                          <a:latin typeface="Cambria Math" panose="02040503050406030204" pitchFamily="18" charset="0"/>
                          <a:ea typeface="Times New Roman" panose="02020603050405020304" pitchFamily="18" charset="0"/>
                          <a:cs typeface="Times New Roman" panose="02020603050405020304" pitchFamily="18" charset="0"/>
                        </a:rPr>
                        <m:t>𝑙𝑤h</m:t>
                      </m:r>
                    </m:oMath>
                  </m:oMathPara>
                </a14:m>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lvl="0"/>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indent="447675"/>
                <a:r>
                  <a:rPr lang="en-US" sz="2200" dirty="0">
                    <a:latin typeface="Verdana" panose="020B0604030504040204" pitchFamily="34" charset="0"/>
                    <a:ea typeface="Times New Roman" panose="02020603050405020304" pitchFamily="18" charset="0"/>
                    <a:cs typeface="Times New Roman" panose="02020603050405020304" pitchFamily="18" charset="0"/>
                  </a:rPr>
                  <a:t>Each dimension of the box is </a:t>
                </a:r>
                <a14:m>
                  <m:oMath xmlns:m="http://schemas.openxmlformats.org/officeDocument/2006/math">
                    <m:r>
                      <a:rPr lang="es-ES" sz="2200" dirty="0">
                        <a:latin typeface="Cambria Math" panose="02040503050406030204" pitchFamily="18" charset="0"/>
                        <a:cs typeface="Times New Roman" panose="02020603050405020304" pitchFamily="18" charset="0"/>
                      </a:rPr>
                      <m:t>1</m:t>
                    </m:r>
                    <m:f>
                      <m:fPr>
                        <m:ctrlPr>
                          <a:rPr lang="en-US" sz="2200" i="1" dirty="0">
                            <a:latin typeface="Cambria Math"/>
                            <a:cs typeface="Times New Roman" panose="02020603050405020304" pitchFamily="18" charset="0"/>
                          </a:rPr>
                        </m:ctrlPr>
                      </m:fPr>
                      <m:num>
                        <m:r>
                          <a:rPr lang="es-ES" sz="2200" i="1" dirty="0">
                            <a:latin typeface="Cambria Math" panose="02040503050406030204" pitchFamily="18" charset="0"/>
                            <a:cs typeface="Times New Roman" panose="02020603050405020304" pitchFamily="18" charset="0"/>
                          </a:rPr>
                          <m:t>1</m:t>
                        </m:r>
                      </m:num>
                      <m:den>
                        <m:r>
                          <a:rPr lang="es-ES" sz="2200" i="1" dirty="0">
                            <a:latin typeface="Cambria Math" panose="02040503050406030204" pitchFamily="18" charset="0"/>
                            <a:cs typeface="Times New Roman" panose="02020603050405020304" pitchFamily="18" charset="0"/>
                          </a:rPr>
                          <m:t>2</m:t>
                        </m:r>
                      </m:den>
                    </m:f>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feet.</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905256" y="421226"/>
                <a:ext cx="10505694" cy="5255285"/>
              </a:xfrm>
              <a:prstGeom prst="rect">
                <a:avLst/>
              </a:prstGeom>
              <a:blipFill>
                <a:blip r:embed="rId4"/>
                <a:stretch>
                  <a:fillRect l="-845" r="-483"/>
                </a:stretch>
              </a:blipFill>
            </p:spPr>
            <p:txBody>
              <a:bodyPr/>
              <a:lstStyle/>
              <a:p>
                <a:r>
                  <a:rPr lang="en-US">
                    <a:noFill/>
                  </a:rPr>
                  <a:t> </a:t>
                </a:r>
              </a:p>
            </p:txBody>
          </p:sp>
        </mc:Fallback>
      </mc:AlternateContent>
    </p:spTree>
    <p:extLst>
      <p:ext uri="{BB962C8B-B14F-4D97-AF65-F5344CB8AC3E}">
        <p14:creationId xmlns:p14="http://schemas.microsoft.com/office/powerpoint/2010/main" val="40918120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sp>
        <p:nvSpPr>
          <p:cNvPr id="8" name="TextBox 7">
            <a:extLst>
              <a:ext uri="{FF2B5EF4-FFF2-40B4-BE49-F238E27FC236}">
                <a16:creationId xmlns="" xmlns:a16="http://schemas.microsoft.com/office/drawing/2014/main" id="{669E00F9-F39F-5043-888E-B0A2D8C9AE0F}"/>
              </a:ext>
            </a:extLst>
          </p:cNvPr>
          <p:cNvSpPr txBox="1"/>
          <p:nvPr/>
        </p:nvSpPr>
        <p:spPr>
          <a:xfrm>
            <a:off x="905256" y="421225"/>
            <a:ext cx="10524744" cy="2677656"/>
          </a:xfrm>
          <a:prstGeom prst="rect">
            <a:avLst/>
          </a:prstGeom>
          <a:noFill/>
        </p:spPr>
        <p:txBody>
          <a:bodyPr wrap="square" rtlCol="0">
            <a:spAutoFit/>
          </a:bodyPr>
          <a:lstStyle/>
          <a:p>
            <a:pPr marL="457200" indent="-457200">
              <a:buFont typeface="+mj-lt"/>
              <a:buAutoNum type="arabicPeriod" startAt="7"/>
            </a:pPr>
            <a:r>
              <a:rPr lang="en-US" sz="2400" dirty="0">
                <a:latin typeface="Verdana" panose="020B0604030504040204" pitchFamily="34" charset="0"/>
                <a:ea typeface="Times New Roman" panose="02020603050405020304" pitchFamily="18" charset="0"/>
                <a:cs typeface="Times New Roman" panose="02020603050405020304" pitchFamily="18" charset="0"/>
              </a:rPr>
              <a:t>Does the volume you found using the formula match the volume you found by counting the number of fractional cubes?</a:t>
            </a:r>
          </a:p>
          <a:p>
            <a:pPr marL="457200" indent="-457200">
              <a:buFont typeface="+mj-lt"/>
              <a:buAutoNum type="arabicPeriod" startAt="7"/>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7"/>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7"/>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7"/>
            </a:pPr>
            <a:r>
              <a:rPr lang="en-US" sz="2400" dirty="0">
                <a:latin typeface="Verdana" panose="020B0604030504040204" pitchFamily="34" charset="0"/>
                <a:ea typeface="Times New Roman" panose="02020603050405020304" pitchFamily="18" charset="0"/>
                <a:cs typeface="Times New Roman" panose="02020603050405020304" pitchFamily="18" charset="0"/>
              </a:rPr>
              <a:t>The images show different rectangular prisms composed of various numbers of cubes.</a:t>
            </a:r>
          </a:p>
        </p:txBody>
      </p:sp>
      <p:pic>
        <p:nvPicPr>
          <p:cNvPr id="6" name="Picture 5" descr="Shape&#10;&#10;Description automatically generated">
            <a:extLst>
              <a:ext uri="{FF2B5EF4-FFF2-40B4-BE49-F238E27FC236}">
                <a16:creationId xmlns="" xmlns:a16="http://schemas.microsoft.com/office/drawing/2014/main" id="{21A706FF-E0E8-6543-B18B-AC6EA566314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544307" y="3547316"/>
            <a:ext cx="5146030" cy="2831257"/>
          </a:xfrm>
          <a:prstGeom prst="rect">
            <a:avLst/>
          </a:prstGeom>
        </p:spPr>
      </p:pic>
    </p:spTree>
    <p:extLst>
      <p:ext uri="{BB962C8B-B14F-4D97-AF65-F5344CB8AC3E}">
        <p14:creationId xmlns:p14="http://schemas.microsoft.com/office/powerpoint/2010/main" val="32189017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107</a:t>
            </a:r>
            <a:endParaRPr i="1" dirty="0">
              <a:latin typeface="Calibri"/>
              <a:ea typeface="Calibri"/>
              <a:cs typeface="Calibri"/>
              <a:sym typeface="Calibri"/>
            </a:endParaRPr>
          </a:p>
        </p:txBody>
      </p:sp>
      <p:sp>
        <p:nvSpPr>
          <p:cNvPr id="8" name="TextBox 7">
            <a:extLst>
              <a:ext uri="{FF2B5EF4-FFF2-40B4-BE49-F238E27FC236}">
                <a16:creationId xmlns="" xmlns:a16="http://schemas.microsoft.com/office/drawing/2014/main" id="{669E00F9-F39F-5043-888E-B0A2D8C9AE0F}"/>
              </a:ext>
            </a:extLst>
          </p:cNvPr>
          <p:cNvSpPr txBox="1"/>
          <p:nvPr/>
        </p:nvSpPr>
        <p:spPr>
          <a:xfrm>
            <a:off x="905256" y="421225"/>
            <a:ext cx="10543794" cy="3416320"/>
          </a:xfrm>
          <a:prstGeom prst="rect">
            <a:avLst/>
          </a:prstGeom>
          <a:noFill/>
        </p:spPr>
        <p:txBody>
          <a:bodyPr wrap="square" rtlCol="0">
            <a:spAutoFit/>
          </a:bodyPr>
          <a:lstStyle/>
          <a:p>
            <a:pPr marL="4572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do you notice?</a:t>
            </a: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how the dimensions of the prism can be determined using the cubes shown if each small blue cube is 1 unit cube.</a:t>
            </a:r>
          </a:p>
        </p:txBody>
      </p:sp>
    </p:spTree>
    <p:extLst>
      <p:ext uri="{BB962C8B-B14F-4D97-AF65-F5344CB8AC3E}">
        <p14:creationId xmlns:p14="http://schemas.microsoft.com/office/powerpoint/2010/main" val="26711685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669E00F9-F39F-5043-888E-B0A2D8C9AE0F}"/>
                  </a:ext>
                </a:extLst>
              </p:cNvPr>
              <p:cNvSpPr txBox="1"/>
              <p:nvPr/>
            </p:nvSpPr>
            <p:spPr>
              <a:xfrm>
                <a:off x="905256" y="202285"/>
                <a:ext cx="10505694" cy="570413"/>
              </a:xfrm>
              <a:prstGeom prst="rect">
                <a:avLst/>
              </a:prstGeom>
              <a:noFill/>
            </p:spPr>
            <p:txBody>
              <a:bodyPr wrap="square" rtlCol="0">
                <a:spAutoFit/>
              </a:bodyPr>
              <a:lstStyle/>
              <a:p>
                <a:pPr marL="457200" indent="-457200">
                  <a:buFont typeface="+mj-lt"/>
                  <a:buAutoNum type="arabicPeriod" startAt="9"/>
                </a:pPr>
                <a:r>
                  <a:rPr lang="en-US" sz="2200" dirty="0">
                    <a:latin typeface="Verdana" panose="020B0604030504040204" pitchFamily="34" charset="0"/>
                    <a:ea typeface="Times New Roman" panose="02020603050405020304" pitchFamily="18" charset="0"/>
                    <a:cs typeface="Times New Roman" panose="02020603050405020304" pitchFamily="18" charset="0"/>
                  </a:rPr>
                  <a:t>The diagram shows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cubes whose dimensions are </a:t>
                </a:r>
                <a14:m>
                  <m:oMath xmlns:m="http://schemas.openxmlformats.org/officeDocument/2006/math">
                    <m:f>
                      <m:fPr>
                        <m:ctrlPr>
                          <a:rPr lang="en-US" sz="2200" i="1" dirty="0">
                            <a:latin typeface="Cambria Math"/>
                            <a:cs typeface="Times New Roman" panose="02020603050405020304" pitchFamily="18" charset="0"/>
                          </a:rPr>
                        </m:ctrlPr>
                      </m:fPr>
                      <m:num>
                        <m:r>
                          <a:rPr lang="es-ES" sz="2200" i="1" dirty="0">
                            <a:latin typeface="Cambria Math" panose="02040503050406030204" pitchFamily="18" charset="0"/>
                            <a:cs typeface="Times New Roman" panose="02020603050405020304" pitchFamily="18" charset="0"/>
                          </a:rPr>
                          <m:t>1</m:t>
                        </m:r>
                      </m:num>
                      <m:den>
                        <m:r>
                          <a:rPr lang="es-ES" sz="2200" i="1" dirty="0">
                            <a:latin typeface="Cambria Math" panose="02040503050406030204" pitchFamily="18" charset="0"/>
                            <a:cs typeface="Times New Roman" panose="02020603050405020304" pitchFamily="18" charset="0"/>
                          </a:rPr>
                          <m:t>4</m:t>
                        </m:r>
                      </m:den>
                    </m:f>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inches. </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905256" y="202285"/>
                <a:ext cx="10505694" cy="570413"/>
              </a:xfrm>
              <a:prstGeom prst="rect">
                <a:avLst/>
              </a:prstGeom>
              <a:blipFill>
                <a:blip r:embed="rId4"/>
                <a:stretch>
                  <a:fillRect l="-845" b="-8696"/>
                </a:stretch>
              </a:blipFill>
            </p:spPr>
            <p:txBody>
              <a:bodyPr/>
              <a:lstStyle/>
              <a:p>
                <a:r>
                  <a:rPr lang="en-US">
                    <a:noFill/>
                  </a:rPr>
                  <a:t> </a:t>
                </a:r>
              </a:p>
            </p:txBody>
          </p:sp>
        </mc:Fallback>
      </mc:AlternateContent>
      <p:pic>
        <p:nvPicPr>
          <p:cNvPr id="6" name="Picture 5" descr="A picture containing building, window&#10;&#10;Description automatically generated">
            <a:extLst>
              <a:ext uri="{FF2B5EF4-FFF2-40B4-BE49-F238E27FC236}">
                <a16:creationId xmlns="" xmlns:a16="http://schemas.microsoft.com/office/drawing/2014/main" id="{0F047EF9-0337-E941-820A-2846740BD3D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764334" y="929344"/>
            <a:ext cx="2663333" cy="1346886"/>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 xmlns:a16="http://schemas.microsoft.com/office/drawing/2014/main" id="{D67A6B21-5499-A246-9AD7-1AD57E680FF3}"/>
                  </a:ext>
                </a:extLst>
              </p:cNvPr>
              <p:cNvSpPr txBox="1"/>
              <p:nvPr/>
            </p:nvSpPr>
            <p:spPr>
              <a:xfrm>
                <a:off x="905256" y="2374254"/>
                <a:ext cx="10505694" cy="4140942"/>
              </a:xfrm>
              <a:prstGeom prst="rect">
                <a:avLst/>
              </a:prstGeom>
              <a:noFill/>
            </p:spPr>
            <p:txBody>
              <a:bodyPr wrap="square" rtlCol="0">
                <a:spAutoFit/>
              </a:bodyPr>
              <a:lstStyle/>
              <a:p>
                <a:pPr marL="447675"/>
                <a:r>
                  <a:rPr lang="en-US" sz="2200" dirty="0" smtClean="0">
                    <a:latin typeface="Verdana" panose="020B0604030504040204" pitchFamily="34" charset="0"/>
                    <a:ea typeface="Times New Roman" panose="02020603050405020304" pitchFamily="18" charset="0"/>
                    <a:cs typeface="Times New Roman" panose="02020603050405020304" pitchFamily="18" charset="0"/>
                  </a:rPr>
                  <a:t>Select the statements that correctly describe the volume of the diagram as shown.</a:t>
                </a:r>
              </a:p>
              <a:p>
                <a:pPr lvl="0"/>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marL="846138" indent="-398463">
                  <a:buFont typeface="Wingdings" pitchFamily="2" charset="2"/>
                  <a:buChar char="q"/>
                </a:pPr>
                <a:r>
                  <a:rPr lang="en-US" sz="2200" dirty="0">
                    <a:latin typeface="Verdana" panose="020B0604030504040204" pitchFamily="34" charset="0"/>
                    <a:ea typeface="Times New Roman" panose="02020603050405020304" pitchFamily="18" charset="0"/>
                    <a:cs typeface="Times New Roman" panose="02020603050405020304" pitchFamily="18" charset="0"/>
                  </a:rPr>
                  <a:t>Each cube has a volume of </a:t>
                </a:r>
                <a:r>
                  <a:rPr lang="en-US" sz="2200" dirty="0" smtClean="0">
                    <a:latin typeface="Verdana" panose="020B0604030504040204" pitchFamily="34" charset="0"/>
                    <a:ea typeface="Times New Roman" panose="02020603050405020304" pitchFamily="18" charset="0"/>
                    <a:cs typeface="Times New Roman" panose="02020603050405020304" pitchFamily="18" charset="0"/>
                  </a:rPr>
                  <a:t>​</a:t>
                </a:r>
                <a14:m>
                  <m:oMath xmlns:m="http://schemas.openxmlformats.org/officeDocument/2006/math">
                    <m:f>
                      <m:fPr>
                        <m:ctrlPr>
                          <a:rPr lang="en-US" sz="2200" i="1" smtClean="0">
                            <a:latin typeface="Cambria Math"/>
                            <a:cs typeface="Times New Roman" panose="02020603050405020304" pitchFamily="18" charset="0"/>
                          </a:rPr>
                        </m:ctrlPr>
                      </m:fPr>
                      <m:num>
                        <m:r>
                          <a:rPr lang="en-US" sz="2200" b="0" i="1" smtClean="0">
                            <a:latin typeface="Cambria Math"/>
                            <a:cs typeface="Times New Roman" panose="02020603050405020304" pitchFamily="18" charset="0"/>
                          </a:rPr>
                          <m:t>1</m:t>
                        </m:r>
                      </m:num>
                      <m:den>
                        <m:r>
                          <a:rPr lang="en-US" sz="2200" b="0" i="1" smtClean="0">
                            <a:latin typeface="Cambria Math"/>
                            <a:cs typeface="Times New Roman" panose="02020603050405020304" pitchFamily="18" charset="0"/>
                          </a:rPr>
                          <m:t>4</m:t>
                        </m:r>
                      </m:den>
                    </m:f>
                  </m:oMath>
                </a14:m>
                <a:r>
                  <a:rPr lang="en-US" sz="2200" dirty="0" smtClean="0">
                    <a:latin typeface="Verdana" panose="020B0604030504040204" pitchFamily="34" charset="0"/>
                    <a:ea typeface="Times New Roman" panose="02020603050405020304" pitchFamily="18" charset="0"/>
                    <a:cs typeface="Times New Roman" panose="02020603050405020304" pitchFamily="18" charset="0"/>
                  </a:rPr>
                  <a:t> </a:t>
                </a:r>
                <a:r>
                  <a:rPr lang="en-US" sz="2200" dirty="0">
                    <a:latin typeface="Verdana" panose="020B0604030504040204" pitchFamily="34" charset="0"/>
                    <a:ea typeface="Times New Roman" panose="02020603050405020304" pitchFamily="18" charset="0"/>
                    <a:cs typeface="Times New Roman" panose="02020603050405020304" pitchFamily="18" charset="0"/>
                  </a:rPr>
                  <a:t>cubic inches.</a:t>
                </a:r>
              </a:p>
              <a:p>
                <a:pPr marL="846138" indent="-398463">
                  <a:spcAft>
                    <a:spcPts val="300"/>
                  </a:spcAft>
                  <a:buFont typeface="Wingdings" pitchFamily="2" charset="2"/>
                  <a:buChar char="q"/>
                </a:pPr>
                <a:r>
                  <a:rPr lang="en-US" sz="2200" dirty="0">
                    <a:latin typeface="Verdana" panose="020B0604030504040204" pitchFamily="34" charset="0"/>
                    <a:ea typeface="Times New Roman" panose="02020603050405020304" pitchFamily="18" charset="0"/>
                    <a:cs typeface="Times New Roman" panose="02020603050405020304" pitchFamily="18" charset="0"/>
                  </a:rPr>
                  <a:t>Each cube has a volume of </a:t>
                </a:r>
                <a:r>
                  <a:rPr lang="en-US" sz="2200" dirty="0" smtClean="0">
                    <a:latin typeface="Verdana" panose="020B0604030504040204" pitchFamily="34" charset="0"/>
                    <a:ea typeface="Times New Roman" panose="02020603050405020304" pitchFamily="18" charset="0"/>
                    <a:cs typeface="Times New Roman" panose="02020603050405020304" pitchFamily="18" charset="0"/>
                  </a:rPr>
                  <a:t>​</a:t>
                </a:r>
                <a14:m>
                  <m:oMath xmlns:m="http://schemas.openxmlformats.org/officeDocument/2006/math">
                    <m:f>
                      <m:fPr>
                        <m:ctrlPr>
                          <a:rPr lang="en-US" sz="2200" i="1" smtClean="0">
                            <a:latin typeface="Cambria Math"/>
                            <a:cs typeface="Times New Roman" panose="02020603050405020304" pitchFamily="18" charset="0"/>
                          </a:rPr>
                        </m:ctrlPr>
                      </m:fPr>
                      <m:num>
                        <m:r>
                          <a:rPr lang="en-US" sz="2200" b="0" i="1" smtClean="0">
                            <a:latin typeface="Cambria Math"/>
                            <a:cs typeface="Times New Roman" panose="02020603050405020304" pitchFamily="18" charset="0"/>
                          </a:rPr>
                          <m:t>1</m:t>
                        </m:r>
                      </m:num>
                      <m:den>
                        <m:r>
                          <a:rPr lang="en-US" sz="2200" b="0" i="1" smtClean="0">
                            <a:latin typeface="Cambria Math"/>
                            <a:cs typeface="Times New Roman" panose="02020603050405020304" pitchFamily="18" charset="0"/>
                          </a:rPr>
                          <m:t>16</m:t>
                        </m:r>
                      </m:den>
                    </m:f>
                  </m:oMath>
                </a14:m>
                <a:r>
                  <a:rPr lang="en-US" sz="2200" dirty="0" smtClean="0">
                    <a:latin typeface="Verdana" panose="020B0604030504040204" pitchFamily="34" charset="0"/>
                    <a:ea typeface="Times New Roman" panose="02020603050405020304" pitchFamily="18" charset="0"/>
                    <a:cs typeface="Times New Roman" panose="02020603050405020304" pitchFamily="18" charset="0"/>
                  </a:rPr>
                  <a:t> </a:t>
                </a:r>
                <a:r>
                  <a:rPr lang="en-US" sz="2200" dirty="0">
                    <a:latin typeface="Verdana" panose="020B0604030504040204" pitchFamily="34" charset="0"/>
                    <a:ea typeface="Times New Roman" panose="02020603050405020304" pitchFamily="18" charset="0"/>
                    <a:cs typeface="Times New Roman" panose="02020603050405020304" pitchFamily="18" charset="0"/>
                  </a:rPr>
                  <a:t>cubic inches.</a:t>
                </a:r>
              </a:p>
              <a:p>
                <a:pPr marL="846138" indent="-398463">
                  <a:spcAft>
                    <a:spcPts val="300"/>
                  </a:spcAft>
                  <a:buFont typeface="Wingdings" pitchFamily="2" charset="2"/>
                  <a:buChar char="q"/>
                </a:pPr>
                <a:r>
                  <a:rPr lang="en-US" sz="2200" dirty="0">
                    <a:latin typeface="Verdana" panose="020B0604030504040204" pitchFamily="34" charset="0"/>
                    <a:ea typeface="Times New Roman" panose="02020603050405020304" pitchFamily="18" charset="0"/>
                    <a:cs typeface="Times New Roman" panose="02020603050405020304" pitchFamily="18" charset="0"/>
                  </a:rPr>
                  <a:t>Each cube has a volume of </a:t>
                </a:r>
                <a:r>
                  <a:rPr lang="en-US" sz="2200" dirty="0" smtClean="0">
                    <a:latin typeface="Verdana" panose="020B0604030504040204" pitchFamily="34" charset="0"/>
                    <a:ea typeface="Times New Roman" panose="02020603050405020304" pitchFamily="18" charset="0"/>
                    <a:cs typeface="Times New Roman" panose="02020603050405020304" pitchFamily="18" charset="0"/>
                  </a:rPr>
                  <a:t>​</a:t>
                </a:r>
                <a14:m>
                  <m:oMath xmlns:m="http://schemas.openxmlformats.org/officeDocument/2006/math">
                    <m:f>
                      <m:fPr>
                        <m:ctrlPr>
                          <a:rPr lang="en-US" sz="2200" i="1" smtClean="0">
                            <a:latin typeface="Cambria Math"/>
                            <a:cs typeface="Times New Roman" panose="02020603050405020304" pitchFamily="18" charset="0"/>
                          </a:rPr>
                        </m:ctrlPr>
                      </m:fPr>
                      <m:num>
                        <m:r>
                          <a:rPr lang="en-US" sz="2200" b="0" i="1" smtClean="0">
                            <a:latin typeface="Cambria Math"/>
                            <a:cs typeface="Times New Roman" panose="02020603050405020304" pitchFamily="18" charset="0"/>
                          </a:rPr>
                          <m:t>1</m:t>
                        </m:r>
                      </m:num>
                      <m:den>
                        <m:r>
                          <a:rPr lang="en-US" sz="2200" b="0" i="1" smtClean="0">
                            <a:latin typeface="Cambria Math"/>
                            <a:cs typeface="Times New Roman" panose="02020603050405020304" pitchFamily="18" charset="0"/>
                          </a:rPr>
                          <m:t>64</m:t>
                        </m:r>
                      </m:den>
                    </m:f>
                  </m:oMath>
                </a14:m>
                <a:r>
                  <a:rPr lang="en-US" sz="2200" dirty="0" smtClean="0">
                    <a:latin typeface="Verdana" panose="020B0604030504040204" pitchFamily="34" charset="0"/>
                    <a:ea typeface="Times New Roman" panose="02020603050405020304" pitchFamily="18" charset="0"/>
                    <a:cs typeface="Times New Roman" panose="02020603050405020304" pitchFamily="18" charset="0"/>
                  </a:rPr>
                  <a:t> </a:t>
                </a:r>
                <a:r>
                  <a:rPr lang="en-US" sz="2200" dirty="0">
                    <a:latin typeface="Verdana" panose="020B0604030504040204" pitchFamily="34" charset="0"/>
                    <a:ea typeface="Times New Roman" panose="02020603050405020304" pitchFamily="18" charset="0"/>
                    <a:cs typeface="Times New Roman" panose="02020603050405020304" pitchFamily="18" charset="0"/>
                  </a:rPr>
                  <a:t>cubic inches.</a:t>
                </a:r>
              </a:p>
              <a:p>
                <a:pPr marL="846138" indent="-398463">
                  <a:spcAft>
                    <a:spcPts val="300"/>
                  </a:spcAft>
                  <a:buFont typeface="Wingdings" pitchFamily="2" charset="2"/>
                  <a:buChar char="q"/>
                </a:pPr>
                <a:r>
                  <a:rPr lang="en-US" sz="2200" dirty="0">
                    <a:latin typeface="Verdana" panose="020B0604030504040204" pitchFamily="34" charset="0"/>
                    <a:ea typeface="Times New Roman" panose="02020603050405020304" pitchFamily="18" charset="0"/>
                    <a:cs typeface="Times New Roman" panose="02020603050405020304" pitchFamily="18" charset="0"/>
                  </a:rPr>
                  <a:t>The volume of all three cubes is </a:t>
                </a:r>
                <a:r>
                  <a:rPr lang="en-US" sz="2200" dirty="0" smtClean="0">
                    <a:latin typeface="Verdana" panose="020B0604030504040204" pitchFamily="34" charset="0"/>
                    <a:ea typeface="Times New Roman" panose="02020603050405020304" pitchFamily="18" charset="0"/>
                    <a:cs typeface="Times New Roman" panose="02020603050405020304" pitchFamily="18" charset="0"/>
                  </a:rPr>
                  <a:t>​</a:t>
                </a:r>
                <a14:m>
                  <m:oMath xmlns:m="http://schemas.openxmlformats.org/officeDocument/2006/math">
                    <m:f>
                      <m:fPr>
                        <m:ctrlPr>
                          <a:rPr lang="en-US" sz="2200" i="1" smtClean="0">
                            <a:latin typeface="Cambria Math"/>
                            <a:cs typeface="Times New Roman" panose="02020603050405020304" pitchFamily="18" charset="0"/>
                          </a:rPr>
                        </m:ctrlPr>
                      </m:fPr>
                      <m:num>
                        <m:r>
                          <a:rPr lang="en-US" sz="2200" b="0" i="1" smtClean="0">
                            <a:latin typeface="Cambria Math"/>
                            <a:cs typeface="Times New Roman" panose="02020603050405020304" pitchFamily="18" charset="0"/>
                          </a:rPr>
                          <m:t>3</m:t>
                        </m:r>
                      </m:num>
                      <m:den>
                        <m:r>
                          <a:rPr lang="en-US" sz="2200" b="0" i="1" smtClean="0">
                            <a:latin typeface="Cambria Math"/>
                            <a:cs typeface="Times New Roman" panose="02020603050405020304" pitchFamily="18" charset="0"/>
                          </a:rPr>
                          <m:t>4</m:t>
                        </m:r>
                      </m:den>
                    </m:f>
                  </m:oMath>
                </a14:m>
                <a:r>
                  <a:rPr lang="en-US" sz="2200" dirty="0" smtClean="0">
                    <a:latin typeface="Verdana" panose="020B0604030504040204" pitchFamily="34" charset="0"/>
                    <a:ea typeface="Times New Roman" panose="02020603050405020304" pitchFamily="18" charset="0"/>
                    <a:cs typeface="Times New Roman" panose="02020603050405020304" pitchFamily="18" charset="0"/>
                  </a:rPr>
                  <a:t> </a:t>
                </a:r>
                <a:r>
                  <a:rPr lang="en-US" sz="2200" dirty="0">
                    <a:latin typeface="Verdana" panose="020B0604030504040204" pitchFamily="34" charset="0"/>
                    <a:ea typeface="Times New Roman" panose="02020603050405020304" pitchFamily="18" charset="0"/>
                    <a:cs typeface="Times New Roman" panose="02020603050405020304" pitchFamily="18" charset="0"/>
                  </a:rPr>
                  <a:t>cubic inches.</a:t>
                </a:r>
              </a:p>
              <a:p>
                <a:pPr marL="846138" indent="-398463">
                  <a:spcAft>
                    <a:spcPts val="300"/>
                  </a:spcAft>
                  <a:buFont typeface="Wingdings" pitchFamily="2" charset="2"/>
                  <a:buChar char="q"/>
                </a:pPr>
                <a:r>
                  <a:rPr lang="en-US" sz="2200" dirty="0">
                    <a:latin typeface="Verdana" panose="020B0604030504040204" pitchFamily="34" charset="0"/>
                    <a:ea typeface="Times New Roman" panose="02020603050405020304" pitchFamily="18" charset="0"/>
                    <a:cs typeface="Times New Roman" panose="02020603050405020304" pitchFamily="18" charset="0"/>
                  </a:rPr>
                  <a:t>The volume of all three cubes is </a:t>
                </a:r>
                <a:r>
                  <a:rPr lang="en-US" sz="2200" dirty="0" smtClean="0">
                    <a:latin typeface="Verdana" panose="020B0604030504040204" pitchFamily="34" charset="0"/>
                    <a:ea typeface="Times New Roman" panose="02020603050405020304" pitchFamily="18" charset="0"/>
                    <a:cs typeface="Times New Roman" panose="02020603050405020304" pitchFamily="18" charset="0"/>
                  </a:rPr>
                  <a:t>​</a:t>
                </a:r>
                <a14:m>
                  <m:oMath xmlns:m="http://schemas.openxmlformats.org/officeDocument/2006/math">
                    <m:f>
                      <m:fPr>
                        <m:ctrlPr>
                          <a:rPr lang="en-US" sz="2200" i="1" smtClean="0">
                            <a:latin typeface="Cambria Math"/>
                            <a:cs typeface="Times New Roman" panose="02020603050405020304" pitchFamily="18" charset="0"/>
                          </a:rPr>
                        </m:ctrlPr>
                      </m:fPr>
                      <m:num>
                        <m:r>
                          <a:rPr lang="en-US" sz="2200" b="0" i="1" smtClean="0">
                            <a:latin typeface="Cambria Math"/>
                            <a:cs typeface="Times New Roman" panose="02020603050405020304" pitchFamily="18" charset="0"/>
                          </a:rPr>
                          <m:t>3</m:t>
                        </m:r>
                      </m:num>
                      <m:den>
                        <m:r>
                          <a:rPr lang="en-US" sz="2200" b="0" i="1" smtClean="0">
                            <a:latin typeface="Cambria Math"/>
                            <a:cs typeface="Times New Roman" panose="02020603050405020304" pitchFamily="18" charset="0"/>
                          </a:rPr>
                          <m:t>16</m:t>
                        </m:r>
                      </m:den>
                    </m:f>
                  </m:oMath>
                </a14:m>
                <a:r>
                  <a:rPr lang="en-US" sz="2200" dirty="0" smtClean="0">
                    <a:latin typeface="Verdana" panose="020B0604030504040204" pitchFamily="34" charset="0"/>
                    <a:ea typeface="Times New Roman" panose="02020603050405020304" pitchFamily="18" charset="0"/>
                    <a:cs typeface="Times New Roman" panose="02020603050405020304" pitchFamily="18" charset="0"/>
                  </a:rPr>
                  <a:t> </a:t>
                </a:r>
                <a:r>
                  <a:rPr lang="en-US" sz="2200" dirty="0">
                    <a:latin typeface="Verdana" panose="020B0604030504040204" pitchFamily="34" charset="0"/>
                    <a:ea typeface="Times New Roman" panose="02020603050405020304" pitchFamily="18" charset="0"/>
                    <a:cs typeface="Times New Roman" panose="02020603050405020304" pitchFamily="18" charset="0"/>
                  </a:rPr>
                  <a:t>cubic inches.</a:t>
                </a:r>
              </a:p>
              <a:p>
                <a:pPr marL="846138" indent="-398463">
                  <a:buFont typeface="Wingdings" pitchFamily="2" charset="2"/>
                  <a:buChar char="q"/>
                </a:pPr>
                <a:r>
                  <a:rPr lang="en-US" sz="2200" dirty="0">
                    <a:latin typeface="Verdana" panose="020B0604030504040204" pitchFamily="34" charset="0"/>
                    <a:ea typeface="Times New Roman" panose="02020603050405020304" pitchFamily="18" charset="0"/>
                    <a:cs typeface="Times New Roman" panose="02020603050405020304" pitchFamily="18" charset="0"/>
                  </a:rPr>
                  <a:t>The volume of all three cubes is </a:t>
                </a:r>
                <a:r>
                  <a:rPr lang="en-US" sz="2200" dirty="0" smtClean="0">
                    <a:latin typeface="Verdana" panose="020B0604030504040204" pitchFamily="34" charset="0"/>
                    <a:ea typeface="Times New Roman" panose="02020603050405020304" pitchFamily="18" charset="0"/>
                    <a:cs typeface="Times New Roman" panose="02020603050405020304" pitchFamily="18" charset="0"/>
                  </a:rPr>
                  <a:t>​</a:t>
                </a:r>
                <a14:m>
                  <m:oMath xmlns:m="http://schemas.openxmlformats.org/officeDocument/2006/math">
                    <m:f>
                      <m:fPr>
                        <m:ctrlPr>
                          <a:rPr lang="en-US" sz="2200" i="1" smtClean="0">
                            <a:latin typeface="Cambria Math"/>
                            <a:cs typeface="Times New Roman" panose="02020603050405020304" pitchFamily="18" charset="0"/>
                          </a:rPr>
                        </m:ctrlPr>
                      </m:fPr>
                      <m:num>
                        <m:r>
                          <a:rPr lang="en-US" sz="2200" b="0" i="1" smtClean="0">
                            <a:latin typeface="Cambria Math"/>
                            <a:cs typeface="Times New Roman" panose="02020603050405020304" pitchFamily="18" charset="0"/>
                          </a:rPr>
                          <m:t>3</m:t>
                        </m:r>
                      </m:num>
                      <m:den>
                        <m:r>
                          <a:rPr lang="en-US" sz="2200" b="0" i="1" smtClean="0">
                            <a:latin typeface="Cambria Math"/>
                            <a:cs typeface="Times New Roman" panose="02020603050405020304" pitchFamily="18" charset="0"/>
                          </a:rPr>
                          <m:t>64</m:t>
                        </m:r>
                      </m:den>
                    </m:f>
                  </m:oMath>
                </a14:m>
                <a:r>
                  <a:rPr lang="en-US" sz="2200" dirty="0" smtClean="0">
                    <a:latin typeface="Verdana" panose="020B0604030504040204" pitchFamily="34" charset="0"/>
                    <a:ea typeface="Times New Roman" panose="02020603050405020304" pitchFamily="18" charset="0"/>
                    <a:cs typeface="Times New Roman" panose="02020603050405020304" pitchFamily="18" charset="0"/>
                  </a:rPr>
                  <a:t> </a:t>
                </a:r>
                <a:r>
                  <a:rPr lang="en-US" sz="2200" dirty="0">
                    <a:latin typeface="Verdana" panose="020B0604030504040204" pitchFamily="34" charset="0"/>
                    <a:ea typeface="Times New Roman" panose="02020603050405020304" pitchFamily="18" charset="0"/>
                    <a:cs typeface="Times New Roman" panose="02020603050405020304" pitchFamily="18" charset="0"/>
                  </a:rPr>
                  <a:t>cubic inches.</a:t>
                </a:r>
              </a:p>
            </p:txBody>
          </p:sp>
        </mc:Choice>
        <mc:Fallback>
          <p:sp>
            <p:nvSpPr>
              <p:cNvPr id="7" name="TextBox 6">
                <a:extLst>
                  <a:ext uri="{FF2B5EF4-FFF2-40B4-BE49-F238E27FC236}">
                    <a16:creationId xmlns="" xmlns:a16="http://schemas.microsoft.com/office/drawing/2014/main" id="{D67A6B21-5499-A246-9AD7-1AD57E680FF3}"/>
                  </a:ext>
                </a:extLst>
              </p:cNvPr>
              <p:cNvSpPr txBox="1">
                <a:spLocks noRot="1" noChangeAspect="1" noMove="1" noResize="1" noEditPoints="1" noAdjustHandles="1" noChangeArrowheads="1" noChangeShapeType="1" noTextEdit="1"/>
              </p:cNvSpPr>
              <p:nvPr/>
            </p:nvSpPr>
            <p:spPr>
              <a:xfrm>
                <a:off x="905256" y="2374254"/>
                <a:ext cx="10505694" cy="4140942"/>
              </a:xfrm>
              <a:prstGeom prst="rect">
                <a:avLst/>
              </a:prstGeom>
              <a:blipFill rotWithShape="1">
                <a:blip r:embed="rId6"/>
                <a:stretch>
                  <a:fillRect t="-735"/>
                </a:stretch>
              </a:blipFill>
            </p:spPr>
            <p:txBody>
              <a:bodyPr/>
              <a:lstStyle/>
              <a:p>
                <a:r>
                  <a:rPr lang="en-US">
                    <a:noFill/>
                  </a:rPr>
                  <a:t> </a:t>
                </a:r>
              </a:p>
            </p:txBody>
          </p:sp>
        </mc:Fallback>
      </mc:AlternateContent>
    </p:spTree>
    <p:extLst>
      <p:ext uri="{BB962C8B-B14F-4D97-AF65-F5344CB8AC3E}">
        <p14:creationId xmlns:p14="http://schemas.microsoft.com/office/powerpoint/2010/main" val="26466361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9" name="Picture 8" descr="Shape, rectangle&#10;&#10;Description automatically generated">
            <a:extLst>
              <a:ext uri="{FF2B5EF4-FFF2-40B4-BE49-F238E27FC236}">
                <a16:creationId xmlns="" xmlns:a16="http://schemas.microsoft.com/office/drawing/2014/main" id="{6A88D90E-2F77-074D-8B0B-FEA53791F17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85114" y="1181303"/>
            <a:ext cx="3021773" cy="1543802"/>
          </a:xfrm>
          <a:prstGeom prst="rect">
            <a:avLst/>
          </a:prstGeom>
        </p:spPr>
      </p:pic>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669E00F9-F39F-5043-888E-B0A2D8C9AE0F}"/>
                  </a:ext>
                </a:extLst>
              </p:cNvPr>
              <p:cNvSpPr txBox="1"/>
              <p:nvPr/>
            </p:nvSpPr>
            <p:spPr>
              <a:xfrm>
                <a:off x="905256" y="202284"/>
                <a:ext cx="10467594" cy="939616"/>
              </a:xfrm>
              <a:prstGeom prst="rect">
                <a:avLst/>
              </a:prstGeom>
              <a:noFill/>
            </p:spPr>
            <p:txBody>
              <a:bodyPr wrap="square" rtlCol="0">
                <a:spAutoFit/>
              </a:bodyPr>
              <a:lstStyle/>
              <a:p>
                <a:pPr marL="538163" indent="-538163">
                  <a:buFont typeface="+mj-lt"/>
                  <a:buAutoNum type="arabicPeriod" startAt="10"/>
                </a:pPr>
                <a:r>
                  <a:rPr lang="en-US" sz="2200" dirty="0">
                    <a:latin typeface="Verdana" panose="020B0604030504040204" pitchFamily="34" charset="0"/>
                    <a:ea typeface="Times New Roman" panose="02020603050405020304" pitchFamily="18" charset="0"/>
                    <a:cs typeface="Times New Roman" panose="02020603050405020304" pitchFamily="18" charset="0"/>
                  </a:rPr>
                  <a:t>The same diagram of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cubes whose dimensions are </a:t>
                </a:r>
                <a14:m>
                  <m:oMath xmlns:m="http://schemas.openxmlformats.org/officeDocument/2006/math">
                    <m:f>
                      <m:fPr>
                        <m:ctrlPr>
                          <a:rPr lang="en-US" sz="2200" i="1" dirty="0">
                            <a:latin typeface="Cambria Math"/>
                            <a:cs typeface="Times New Roman" panose="02020603050405020304" pitchFamily="18" charset="0"/>
                          </a:rPr>
                        </m:ctrlPr>
                      </m:fPr>
                      <m:num>
                        <m:r>
                          <a:rPr lang="es-ES" sz="2200" i="1" dirty="0">
                            <a:latin typeface="Cambria Math" panose="02040503050406030204" pitchFamily="18" charset="0"/>
                            <a:cs typeface="Times New Roman" panose="02020603050405020304" pitchFamily="18" charset="0"/>
                          </a:rPr>
                          <m:t>1</m:t>
                        </m:r>
                      </m:num>
                      <m:den>
                        <m:r>
                          <a:rPr lang="es-ES" sz="2200" i="1" dirty="0">
                            <a:latin typeface="Cambria Math" panose="02040503050406030204" pitchFamily="18" charset="0"/>
                            <a:cs typeface="Times New Roman" panose="02020603050405020304" pitchFamily="18" charset="0"/>
                          </a:rPr>
                          <m:t>4</m:t>
                        </m:r>
                      </m:den>
                    </m:f>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inches is shown.</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905256" y="202284"/>
                <a:ext cx="10467594" cy="939616"/>
              </a:xfrm>
              <a:prstGeom prst="rect">
                <a:avLst/>
              </a:prstGeom>
              <a:blipFill>
                <a:blip r:embed="rId5"/>
                <a:stretch>
                  <a:fillRect l="-848" b="-9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D67A6B21-5499-A246-9AD7-1AD57E680FF3}"/>
                  </a:ext>
                </a:extLst>
              </p:cNvPr>
              <p:cNvSpPr txBox="1"/>
              <p:nvPr/>
            </p:nvSpPr>
            <p:spPr>
              <a:xfrm>
                <a:off x="905256" y="2912309"/>
                <a:ext cx="10467594" cy="3021020"/>
              </a:xfrm>
              <a:prstGeom prst="rect">
                <a:avLst/>
              </a:prstGeom>
              <a:noFill/>
            </p:spPr>
            <p:txBody>
              <a:bodyPr wrap="square" rtlCol="0">
                <a:spAutoFit/>
              </a:bodyPr>
              <a:lstStyle/>
              <a:p>
                <a:pPr marL="904875" indent="-457200">
                  <a:buFont typeface="+mj-lt"/>
                  <a:buAutoNum type="alphaL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The dotted line represents the total length of the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cubes. How long, in inches, is the dotted line?</a:t>
                </a:r>
              </a:p>
              <a:p>
                <a:pPr marL="447675"/>
                <a:r>
                  <a:rPr lang="en-US" sz="2200" dirty="0">
                    <a:latin typeface="Verdana" panose="020B0604030504040204" pitchFamily="34" charset="0"/>
                    <a:ea typeface="Times New Roman" panose="02020603050405020304" pitchFamily="18" charset="0"/>
                    <a:cs typeface="Times New Roman" panose="02020603050405020304" pitchFamily="18" charset="0"/>
                  </a:rPr>
                  <a:t> </a:t>
                </a:r>
              </a:p>
              <a:p>
                <a:pPr marL="1295400" indent="-398463">
                  <a:buFont typeface="+mj-lt"/>
                  <a:buAutoNum type="alphaU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200" i="1" dirty="0">
                            <a:latin typeface="Cambria Math"/>
                            <a:cs typeface="Times New Roman" panose="02020603050405020304" pitchFamily="18" charset="0"/>
                          </a:rPr>
                        </m:ctrlPr>
                      </m:fPr>
                      <m:num>
                        <m:r>
                          <a:rPr lang="es-ES" sz="2200" i="1" dirty="0">
                            <a:latin typeface="Cambria Math" panose="02040503050406030204" pitchFamily="18" charset="0"/>
                            <a:cs typeface="Times New Roman" panose="02020603050405020304" pitchFamily="18" charset="0"/>
                          </a:rPr>
                          <m:t>4</m:t>
                        </m:r>
                      </m:num>
                      <m:den>
                        <m:r>
                          <a:rPr lang="es-ES" sz="2200" i="1" dirty="0">
                            <a:latin typeface="Cambria Math" panose="02040503050406030204" pitchFamily="18" charset="0"/>
                            <a:cs typeface="Times New Roman" panose="02020603050405020304" pitchFamily="18" charset="0"/>
                          </a:rPr>
                          <m:t>4</m:t>
                        </m:r>
                      </m:den>
                    </m:f>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inches</a:t>
                </a:r>
              </a:p>
              <a:p>
                <a:pPr marL="1295400" indent="-398463">
                  <a:buFont typeface="+mj-lt"/>
                  <a:buAutoNum type="alphaU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200" i="1" dirty="0">
                            <a:latin typeface="Cambria Math"/>
                            <a:cs typeface="Times New Roman" panose="02020603050405020304" pitchFamily="18" charset="0"/>
                          </a:rPr>
                        </m:ctrlPr>
                      </m:fPr>
                      <m:num>
                        <m:r>
                          <a:rPr lang="es-ES" sz="2200" i="1" dirty="0">
                            <a:latin typeface="Cambria Math" panose="02040503050406030204" pitchFamily="18" charset="0"/>
                            <a:cs typeface="Times New Roman" panose="02020603050405020304" pitchFamily="18" charset="0"/>
                          </a:rPr>
                          <m:t>1</m:t>
                        </m:r>
                      </m:num>
                      <m:den>
                        <m:r>
                          <a:rPr lang="es-ES" sz="2200" i="1" dirty="0">
                            <a:latin typeface="Cambria Math" panose="02040503050406030204" pitchFamily="18" charset="0"/>
                            <a:cs typeface="Times New Roman" panose="02020603050405020304" pitchFamily="18" charset="0"/>
                          </a:rPr>
                          <m:t>4</m:t>
                        </m:r>
                      </m:den>
                    </m:f>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inches</a:t>
                </a:r>
              </a:p>
              <a:p>
                <a:pPr marL="1295400" indent="-398463">
                  <a:buFont typeface="+mj-lt"/>
                  <a:buAutoNum type="alphaU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200" i="1" dirty="0">
                            <a:latin typeface="Cambria Math"/>
                            <a:cs typeface="Times New Roman" panose="02020603050405020304" pitchFamily="18" charset="0"/>
                          </a:rPr>
                        </m:ctrlPr>
                      </m:fPr>
                      <m:num>
                        <m:r>
                          <a:rPr lang="es-ES" sz="2200" i="1" dirty="0">
                            <a:latin typeface="Cambria Math" panose="02040503050406030204" pitchFamily="18" charset="0"/>
                            <a:cs typeface="Times New Roman" panose="02020603050405020304" pitchFamily="18" charset="0"/>
                          </a:rPr>
                          <m:t>3</m:t>
                        </m:r>
                      </m:num>
                      <m:den>
                        <m:r>
                          <a:rPr lang="es-ES" sz="2200" i="1" dirty="0">
                            <a:latin typeface="Cambria Math" panose="02040503050406030204" pitchFamily="18" charset="0"/>
                            <a:cs typeface="Times New Roman" panose="02020603050405020304" pitchFamily="18" charset="0"/>
                          </a:rPr>
                          <m:t>4</m:t>
                        </m:r>
                      </m:den>
                    </m:f>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inches</a:t>
                </a:r>
              </a:p>
              <a:p>
                <a:pPr marL="1295400" indent="-398463">
                  <a:buFont typeface="+mj-lt"/>
                  <a:buAutoNum type="alphaU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200" i="1" dirty="0">
                            <a:latin typeface="Cambria Math"/>
                            <a:cs typeface="Times New Roman" panose="02020603050405020304" pitchFamily="18" charset="0"/>
                          </a:rPr>
                        </m:ctrlPr>
                      </m:fPr>
                      <m:num>
                        <m:r>
                          <a:rPr lang="es-ES" sz="2200" i="1" dirty="0">
                            <a:latin typeface="Cambria Math" panose="02040503050406030204" pitchFamily="18" charset="0"/>
                            <a:cs typeface="Times New Roman" panose="02020603050405020304" pitchFamily="18" charset="0"/>
                          </a:rPr>
                          <m:t>2</m:t>
                        </m:r>
                      </m:num>
                      <m:den>
                        <m:r>
                          <a:rPr lang="es-ES" sz="2200" i="1" dirty="0">
                            <a:latin typeface="Cambria Math" panose="02040503050406030204" pitchFamily="18" charset="0"/>
                            <a:cs typeface="Times New Roman" panose="02020603050405020304" pitchFamily="18" charset="0"/>
                          </a:rPr>
                          <m:t>4</m:t>
                        </m:r>
                      </m:den>
                    </m:f>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inches</a:t>
                </a:r>
              </a:p>
            </p:txBody>
          </p:sp>
        </mc:Choice>
        <mc:Fallback xmlns="">
          <p:sp>
            <p:nvSpPr>
              <p:cNvPr id="7" name="TextBox 6">
                <a:extLst>
                  <a:ext uri="{FF2B5EF4-FFF2-40B4-BE49-F238E27FC236}">
                    <a16:creationId xmlns:a16="http://schemas.microsoft.com/office/drawing/2014/main" id="{D67A6B21-5499-A246-9AD7-1AD57E680FF3}"/>
                  </a:ext>
                </a:extLst>
              </p:cNvPr>
              <p:cNvSpPr txBox="1">
                <a:spLocks noRot="1" noChangeAspect="1" noMove="1" noResize="1" noEditPoints="1" noAdjustHandles="1" noChangeArrowheads="1" noChangeShapeType="1" noTextEdit="1"/>
              </p:cNvSpPr>
              <p:nvPr/>
            </p:nvSpPr>
            <p:spPr>
              <a:xfrm>
                <a:off x="905256" y="2912309"/>
                <a:ext cx="10467594" cy="3021020"/>
              </a:xfrm>
              <a:prstGeom prst="rect">
                <a:avLst/>
              </a:prstGeom>
              <a:blipFill>
                <a:blip r:embed="rId6"/>
                <a:stretch>
                  <a:fillRect t="-1255" b="-418"/>
                </a:stretch>
              </a:blipFill>
            </p:spPr>
            <p:txBody>
              <a:bodyPr/>
              <a:lstStyle/>
              <a:p>
                <a:r>
                  <a:rPr lang="en-US">
                    <a:noFill/>
                  </a:rPr>
                  <a:t> </a:t>
                </a:r>
              </a:p>
            </p:txBody>
          </p:sp>
        </mc:Fallback>
      </mc:AlternateContent>
    </p:spTree>
    <p:extLst>
      <p:ext uri="{BB962C8B-B14F-4D97-AF65-F5344CB8AC3E}">
        <p14:creationId xmlns:p14="http://schemas.microsoft.com/office/powerpoint/2010/main" val="24387769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D67A6B21-5499-A246-9AD7-1AD57E680FF3}"/>
                  </a:ext>
                </a:extLst>
              </p:cNvPr>
              <p:cNvSpPr txBox="1"/>
              <p:nvPr/>
            </p:nvSpPr>
            <p:spPr>
              <a:xfrm>
                <a:off x="905256" y="336533"/>
                <a:ext cx="10562844" cy="3656642"/>
              </a:xfrm>
              <a:prstGeom prst="rect">
                <a:avLst/>
              </a:prstGeom>
              <a:noFill/>
            </p:spPr>
            <p:txBody>
              <a:bodyPr wrap="square" rtlCol="0">
                <a:spAutoFit/>
              </a:bodyPr>
              <a:lstStyle/>
              <a:p>
                <a:pPr marL="4699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 </a:t>
                </a:r>
                <a:r>
                  <a:rPr lang="en-US" sz="2400" dirty="0">
                    <a:solidFill>
                      <a:srgbClr val="00B0F0"/>
                    </a:solidFill>
                    <a:latin typeface="Verdana" panose="020B0604030504040204" pitchFamily="34" charset="0"/>
                    <a:ea typeface="Times New Roman" panose="02020603050405020304" pitchFamily="18" charset="0"/>
                    <a:cs typeface="Times New Roman" panose="02020603050405020304" pitchFamily="18" charset="0"/>
                  </a:rPr>
                  <a:t>blue</a:t>
                </a:r>
                <a:r>
                  <a:rPr lang="en-US" sz="2400" dirty="0">
                    <a:latin typeface="Verdana" panose="020B0604030504040204" pitchFamily="34" charset="0"/>
                    <a:ea typeface="Times New Roman" panose="02020603050405020304" pitchFamily="18" charset="0"/>
                    <a:cs typeface="Times New Roman" panose="02020603050405020304" pitchFamily="18" charset="0"/>
                  </a:rPr>
                  <a:t> line represents the </a:t>
                </a:r>
                <a:r>
                  <a:rPr lang="en-US" sz="2400" dirty="0">
                    <a:solidFill>
                      <a:srgbClr val="00B0F0"/>
                    </a:solidFill>
                    <a:latin typeface="Verdana" panose="020B0604030504040204" pitchFamily="34" charset="0"/>
                    <a:ea typeface="Times New Roman" panose="02020603050405020304" pitchFamily="18" charset="0"/>
                    <a:cs typeface="Times New Roman" panose="02020603050405020304" pitchFamily="18" charset="0"/>
                  </a:rPr>
                  <a:t>width</a:t>
                </a:r>
                <a:r>
                  <a:rPr lang="en-US" sz="2400" dirty="0">
                    <a:latin typeface="Verdana" panose="020B0604030504040204" pitchFamily="34" charset="0"/>
                    <a:ea typeface="Times New Roman" panose="02020603050405020304" pitchFamily="18" charset="0"/>
                    <a:cs typeface="Times New Roman" panose="02020603050405020304" pitchFamily="18" charset="0"/>
                  </a:rPr>
                  <a:t> of the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cubes.</a:t>
                </a:r>
              </a:p>
              <a:p>
                <a:pPr marL="127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12700"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width, in inches?</a:t>
                </a:r>
              </a:p>
              <a:p>
                <a:pPr marL="447675"/>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896938" indent="-449263">
                  <a:buFont typeface="+mj-lt"/>
                  <a:buAutoNum type="alphaU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400" i="1" dirty="0">
                            <a:latin typeface="Cambria Math"/>
                            <a:cs typeface="Times New Roman" panose="02020603050405020304" pitchFamily="18" charset="0"/>
                          </a:rPr>
                        </m:ctrlPr>
                      </m:fPr>
                      <m:num>
                        <m:r>
                          <a:rPr lang="en-U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a:t>
                </a:r>
              </a:p>
              <a:p>
                <a:pPr marL="896938" indent="-449263">
                  <a:buFont typeface="+mj-lt"/>
                  <a:buAutoNum type="alphaU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a:t>
                </a:r>
              </a:p>
              <a:p>
                <a:pPr marL="896938" indent="-449263">
                  <a:buFont typeface="+mj-lt"/>
                  <a:buAutoNum type="alphaU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3</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a:t>
                </a:r>
              </a:p>
              <a:p>
                <a:pPr marL="896938" indent="-449263">
                  <a:buFont typeface="+mj-lt"/>
                  <a:buAutoNum type="alphaU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4</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a:t>
                </a:r>
              </a:p>
            </p:txBody>
          </p:sp>
        </mc:Choice>
        <mc:Fallback xmlns="">
          <p:sp>
            <p:nvSpPr>
              <p:cNvPr id="7" name="TextBox 6">
                <a:extLst>
                  <a:ext uri="{FF2B5EF4-FFF2-40B4-BE49-F238E27FC236}">
                    <a16:creationId xmlns:a16="http://schemas.microsoft.com/office/drawing/2014/main" id="{D67A6B21-5499-A246-9AD7-1AD57E680FF3}"/>
                  </a:ext>
                </a:extLst>
              </p:cNvPr>
              <p:cNvSpPr txBox="1">
                <a:spLocks noRot="1" noChangeAspect="1" noMove="1" noResize="1" noEditPoints="1" noAdjustHandles="1" noChangeArrowheads="1" noChangeShapeType="1" noTextEdit="1"/>
              </p:cNvSpPr>
              <p:nvPr/>
            </p:nvSpPr>
            <p:spPr>
              <a:xfrm>
                <a:off x="905256" y="336533"/>
                <a:ext cx="10562844" cy="3656642"/>
              </a:xfrm>
              <a:prstGeom prst="rect">
                <a:avLst/>
              </a:prstGeom>
              <a:blipFill>
                <a:blip r:embed="rId4"/>
                <a:stretch>
                  <a:fillRect l="-841" t="-1384" b="-346"/>
                </a:stretch>
              </a:blipFill>
            </p:spPr>
            <p:txBody>
              <a:bodyPr/>
              <a:lstStyle/>
              <a:p>
                <a:r>
                  <a:rPr lang="en-US">
                    <a:noFill/>
                  </a:rPr>
                  <a:t> </a:t>
                </a:r>
              </a:p>
            </p:txBody>
          </p:sp>
        </mc:Fallback>
      </mc:AlternateContent>
    </p:spTree>
    <p:extLst>
      <p:ext uri="{BB962C8B-B14F-4D97-AF65-F5344CB8AC3E}">
        <p14:creationId xmlns:p14="http://schemas.microsoft.com/office/powerpoint/2010/main" val="8739294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D67A6B21-5499-A246-9AD7-1AD57E680FF3}"/>
                  </a:ext>
                </a:extLst>
              </p:cNvPr>
              <p:cNvSpPr txBox="1"/>
              <p:nvPr/>
            </p:nvSpPr>
            <p:spPr>
              <a:xfrm>
                <a:off x="905256" y="336534"/>
                <a:ext cx="10600944" cy="5133970"/>
              </a:xfrm>
              <a:prstGeom prst="rect">
                <a:avLst/>
              </a:prstGeom>
              <a:noFill/>
            </p:spPr>
            <p:txBody>
              <a:bodyPr wrap="square" rtlCol="0">
                <a:spAutoFit/>
              </a:bodyPr>
              <a:lstStyle/>
              <a:p>
                <a:pPr marL="4699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The </a:t>
                </a:r>
                <a:r>
                  <a:rPr lang="en-US" sz="2400" dirty="0">
                    <a:solidFill>
                      <a:srgbClr val="92D050"/>
                    </a:solidFill>
                    <a:latin typeface="Verdana" panose="020B0604030504040204" pitchFamily="34" charset="0"/>
                    <a:ea typeface="Times New Roman" panose="02020603050405020304" pitchFamily="18" charset="0"/>
                    <a:cs typeface="Times New Roman" panose="02020603050405020304" pitchFamily="18" charset="0"/>
                  </a:rPr>
                  <a:t>green</a:t>
                </a:r>
                <a:r>
                  <a:rPr lang="en-US" sz="2400" dirty="0">
                    <a:latin typeface="Verdana" panose="020B0604030504040204" pitchFamily="34" charset="0"/>
                    <a:ea typeface="Times New Roman" panose="02020603050405020304" pitchFamily="18" charset="0"/>
                    <a:cs typeface="Times New Roman" panose="02020603050405020304" pitchFamily="18" charset="0"/>
                  </a:rPr>
                  <a:t> line represents the </a:t>
                </a:r>
                <a:r>
                  <a:rPr lang="en-US" sz="2400" dirty="0">
                    <a:solidFill>
                      <a:srgbClr val="92D050"/>
                    </a:solidFill>
                    <a:latin typeface="Verdana" panose="020B0604030504040204" pitchFamily="34" charset="0"/>
                    <a:ea typeface="Times New Roman" panose="02020603050405020304" pitchFamily="18" charset="0"/>
                    <a:cs typeface="Times New Roman" panose="02020603050405020304" pitchFamily="18" charset="0"/>
                  </a:rPr>
                  <a:t>height</a:t>
                </a:r>
                <a:r>
                  <a:rPr lang="en-US" sz="2400" dirty="0">
                    <a:latin typeface="Verdana" panose="020B0604030504040204" pitchFamily="34" charset="0"/>
                    <a:ea typeface="Times New Roman" panose="02020603050405020304" pitchFamily="18" charset="0"/>
                    <a:cs typeface="Times New Roman" panose="02020603050405020304" pitchFamily="18" charset="0"/>
                  </a:rPr>
                  <a:t> of the cubes.</a:t>
                </a:r>
              </a:p>
              <a:p>
                <a:pPr marL="1270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12700" indent="396875"/>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height, in inches?</a:t>
                </a:r>
              </a:p>
              <a:p>
                <a:pPr marL="447675"/>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896938" indent="-449263">
                  <a:buFont typeface="+mj-lt"/>
                  <a:buAutoNum type="alphaU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a:t>
                </a:r>
              </a:p>
              <a:p>
                <a:pPr marL="896938" indent="-449263">
                  <a:buFont typeface="+mj-lt"/>
                  <a:buAutoNum type="alphaU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2</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a:t>
                </a:r>
              </a:p>
              <a:p>
                <a:pPr marL="896938" indent="-449263">
                  <a:buFont typeface="+mj-lt"/>
                  <a:buAutoNum type="alphaU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3</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a:t>
                </a:r>
              </a:p>
              <a:p>
                <a:pPr marL="896938" indent="-449263">
                  <a:buFont typeface="+mj-lt"/>
                  <a:buAutoNum type="alphaU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4</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inches</a:t>
                </a:r>
              </a:p>
              <a:p>
                <a:pPr marL="447675"/>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69900"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Use the dimensions you found to determine the volume of all three cubes with the formula,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𝑉</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𝑙𝑤h</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pPr marL="447675"/>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a16="http://schemas.microsoft.com/office/drawing/2014/main" id="{D67A6B21-5499-A246-9AD7-1AD57E680FF3}"/>
                  </a:ext>
                </a:extLst>
              </p:cNvPr>
              <p:cNvSpPr txBox="1">
                <a:spLocks noRot="1" noChangeAspect="1" noMove="1" noResize="1" noEditPoints="1" noAdjustHandles="1" noChangeArrowheads="1" noChangeShapeType="1" noTextEdit="1"/>
              </p:cNvSpPr>
              <p:nvPr/>
            </p:nvSpPr>
            <p:spPr>
              <a:xfrm>
                <a:off x="905256" y="336534"/>
                <a:ext cx="10600944" cy="5133970"/>
              </a:xfrm>
              <a:prstGeom prst="rect">
                <a:avLst/>
              </a:prstGeom>
              <a:blipFill>
                <a:blip r:embed="rId4"/>
                <a:stretch>
                  <a:fillRect l="-837" t="-988"/>
                </a:stretch>
              </a:blipFill>
            </p:spPr>
            <p:txBody>
              <a:bodyPr/>
              <a:lstStyle/>
              <a:p>
                <a:r>
                  <a:rPr lang="en-US">
                    <a:noFill/>
                  </a:rPr>
                  <a:t> </a:t>
                </a:r>
              </a:p>
            </p:txBody>
          </p:sp>
        </mc:Fallback>
      </mc:AlternateContent>
    </p:spTree>
    <p:extLst>
      <p:ext uri="{BB962C8B-B14F-4D97-AF65-F5344CB8AC3E}">
        <p14:creationId xmlns:p14="http://schemas.microsoft.com/office/powerpoint/2010/main" val="802058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sp>
        <p:nvSpPr>
          <p:cNvPr id="7" name="TextBox 6">
            <a:extLst>
              <a:ext uri="{FF2B5EF4-FFF2-40B4-BE49-F238E27FC236}">
                <a16:creationId xmlns="" xmlns:a16="http://schemas.microsoft.com/office/drawing/2014/main" id="{D67A6B21-5499-A246-9AD7-1AD57E680FF3}"/>
              </a:ext>
            </a:extLst>
          </p:cNvPr>
          <p:cNvSpPr txBox="1"/>
          <p:nvPr/>
        </p:nvSpPr>
        <p:spPr>
          <a:xfrm>
            <a:off x="905256" y="336533"/>
            <a:ext cx="10524744" cy="1200329"/>
          </a:xfrm>
          <a:prstGeom prst="rect">
            <a:avLst/>
          </a:prstGeom>
          <a:noFill/>
        </p:spPr>
        <p:txBody>
          <a:bodyPr wrap="square" rtlCol="0">
            <a:spAutoFit/>
          </a:bodyPr>
          <a:lstStyle/>
          <a:p>
            <a:pPr marL="12700"/>
            <a:r>
              <a:rPr lang="en-US" sz="2400" dirty="0">
                <a:latin typeface="Verdana" panose="020B0604030504040204" pitchFamily="34" charset="0"/>
                <a:ea typeface="Times New Roman" panose="02020603050405020304" pitchFamily="18" charset="0"/>
                <a:cs typeface="Times New Roman" panose="02020603050405020304" pitchFamily="18" charset="0"/>
              </a:rPr>
              <a:t>Finding volume using fractional unit cubes can be done by first finding the volume of one of the fractional unit cubes, and then multiplying that by the total number of fractional unit cubes.</a:t>
            </a:r>
          </a:p>
        </p:txBody>
      </p:sp>
      <mc:AlternateContent xmlns:mc="http://schemas.openxmlformats.org/markup-compatibility/2006" xmlns:a14="http://schemas.microsoft.com/office/drawing/2010/main">
        <mc:Choice Requires="a14">
          <p:sp>
            <p:nvSpPr>
              <p:cNvPr id="6" name="TextBox 5">
                <a:extLst>
                  <a:ext uri="{FF2B5EF4-FFF2-40B4-BE49-F238E27FC236}">
                    <a16:creationId xmlns="" xmlns:a16="http://schemas.microsoft.com/office/drawing/2014/main" id="{8F63A44E-D36F-664B-A6F3-D5D0A1EAF4D9}"/>
                  </a:ext>
                </a:extLst>
              </p:cNvPr>
              <p:cNvSpPr txBox="1"/>
              <p:nvPr/>
            </p:nvSpPr>
            <p:spPr>
              <a:xfrm>
                <a:off x="905256" y="2255486"/>
                <a:ext cx="5557444" cy="2460545"/>
              </a:xfrm>
              <a:prstGeom prst="rect">
                <a:avLst/>
              </a:prstGeom>
              <a:noFill/>
            </p:spPr>
            <p:txBody>
              <a:bodyPr wrap="square" rtlCol="0">
                <a:spAutoFit/>
              </a:bodyPr>
              <a:lstStyle/>
              <a:p>
                <a:pPr marL="588963" indent="-576263">
                  <a:buFont typeface="+mj-lt"/>
                  <a:buAutoNum type="arabicPeriod" startAt="11"/>
                </a:pPr>
                <a:r>
                  <a:rPr lang="en-US" sz="2400" dirty="0">
                    <a:latin typeface="Verdana" panose="020B0604030504040204" pitchFamily="34" charset="0"/>
                    <a:ea typeface="Times New Roman" panose="02020603050405020304" pitchFamily="18" charset="0"/>
                    <a:cs typeface="Times New Roman" panose="02020603050405020304" pitchFamily="18" charset="0"/>
                  </a:rPr>
                  <a:t>A rectangular prism is shown.</a:t>
                </a:r>
              </a:p>
              <a:p>
                <a:pPr marL="127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1025525" indent="-436563">
                  <a:buFont typeface="+mj-lt"/>
                  <a:buAutoNum type="alphaLcPeriod"/>
                  <a:tabLst>
                    <a:tab pos="576263" algn="l"/>
                  </a:tabLst>
                </a:pPr>
                <a:r>
                  <a:rPr lang="en-US" sz="2400" dirty="0">
                    <a:latin typeface="Verdana" panose="020B0604030504040204" pitchFamily="34" charset="0"/>
                    <a:ea typeface="Times New Roman" panose="02020603050405020304" pitchFamily="18" charset="0"/>
                    <a:cs typeface="Times New Roman" panose="02020603050405020304" pitchFamily="18" charset="0"/>
                  </a:rPr>
                  <a:t>How many unit cubes whose dimensions are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 fill up the rectangular prism?</a:t>
                </a:r>
              </a:p>
            </p:txBody>
          </p:sp>
        </mc:Choice>
        <mc:Fallback xmlns="">
          <p:sp>
            <p:nvSpPr>
              <p:cNvPr id="6" name="TextBox 5">
                <a:extLst>
                  <a:ext uri="{FF2B5EF4-FFF2-40B4-BE49-F238E27FC236}">
                    <a16:creationId xmlns:a16="http://schemas.microsoft.com/office/drawing/2014/main" id="{8F63A44E-D36F-664B-A6F3-D5D0A1EAF4D9}"/>
                  </a:ext>
                </a:extLst>
              </p:cNvPr>
              <p:cNvSpPr txBox="1">
                <a:spLocks noRot="1" noChangeAspect="1" noMove="1" noResize="1" noEditPoints="1" noAdjustHandles="1" noChangeArrowheads="1" noChangeShapeType="1" noTextEdit="1"/>
              </p:cNvSpPr>
              <p:nvPr/>
            </p:nvSpPr>
            <p:spPr>
              <a:xfrm>
                <a:off x="905256" y="2255486"/>
                <a:ext cx="5557444" cy="2460545"/>
              </a:xfrm>
              <a:prstGeom prst="rect">
                <a:avLst/>
              </a:prstGeom>
              <a:blipFill>
                <a:blip r:embed="rId4"/>
                <a:stretch>
                  <a:fillRect l="-1598" t="-2051" b="-5128"/>
                </a:stretch>
              </a:blipFill>
            </p:spPr>
            <p:txBody>
              <a:bodyPr/>
              <a:lstStyle/>
              <a:p>
                <a:r>
                  <a:rPr lang="en-US">
                    <a:noFill/>
                  </a:rPr>
                  <a:t> </a:t>
                </a:r>
              </a:p>
            </p:txBody>
          </p:sp>
        </mc:Fallback>
      </mc:AlternateContent>
      <p:pic>
        <p:nvPicPr>
          <p:cNvPr id="8" name="Picture 7" descr="A picture containing building, building material&#10;&#10;Description automatically generated">
            <a:extLst>
              <a:ext uri="{FF2B5EF4-FFF2-40B4-BE49-F238E27FC236}">
                <a16:creationId xmlns="" xmlns:a16="http://schemas.microsoft.com/office/drawing/2014/main" id="{B18CBE56-D3E7-8C46-96AC-58EC8A4F7AFE}"/>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3373" r="4873"/>
          <a:stretch/>
        </p:blipFill>
        <p:spPr bwMode="auto">
          <a:xfrm>
            <a:off x="6685900" y="2255485"/>
            <a:ext cx="3454400" cy="294513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5429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 xmlns:a16="http://schemas.microsoft.com/office/drawing/2014/main" id="{D67A6B21-5499-A246-9AD7-1AD57E680FF3}"/>
                  </a:ext>
                </a:extLst>
              </p:cNvPr>
              <p:cNvSpPr txBox="1"/>
              <p:nvPr/>
            </p:nvSpPr>
            <p:spPr>
              <a:xfrm>
                <a:off x="905256" y="336533"/>
                <a:ext cx="10600944" cy="4831066"/>
              </a:xfrm>
              <a:prstGeom prst="rect">
                <a:avLst/>
              </a:prstGeom>
              <a:noFill/>
            </p:spPr>
            <p:txBody>
              <a:bodyPr wrap="square" rtlCol="0">
                <a:spAutoFit/>
              </a:bodyPr>
              <a:lstStyle/>
              <a:p>
                <a:pPr marL="4699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Each unit cube whose dimensions are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 has a volume of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m:t>
                        </m:r>
                      </m:num>
                      <m:den>
                        <m:r>
                          <a:rPr lang="es-ES" sz="2400" i="1" dirty="0">
                            <a:latin typeface="Cambria Math" panose="02040503050406030204" pitchFamily="18" charset="0"/>
                            <a:cs typeface="Times New Roman" panose="02020603050405020304" pitchFamily="18" charset="0"/>
                          </a:rPr>
                          <m:t>64</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​cubic inches. </a:t>
                </a:r>
              </a:p>
              <a:p>
                <a:pPr marL="127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500063"/>
                <a:r>
                  <a:rPr lang="en-US" sz="2400" dirty="0">
                    <a:latin typeface="Verdana" panose="020B0604030504040204" pitchFamily="34" charset="0"/>
                    <a:ea typeface="Times New Roman" panose="02020603050405020304" pitchFamily="18" charset="0"/>
                    <a:cs typeface="Times New Roman" panose="02020603050405020304" pitchFamily="18" charset="0"/>
                  </a:rPr>
                  <a:t>Find the total volume, in cubic inches, represented in the diagram by multiplying the number of cubes that fill the rectangular prism by the volume of one of the cubes.</a:t>
                </a:r>
              </a:p>
              <a:p>
                <a:pPr marL="127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127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12700"/>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699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Find the total volume represented in the diagram, in cubic inches, using the formula,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𝑉</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𝑙𝑤h</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Show your work and your answer.</a:t>
                </a:r>
              </a:p>
            </p:txBody>
          </p:sp>
        </mc:Choice>
        <mc:Fallback xmlns="">
          <p:sp>
            <p:nvSpPr>
              <p:cNvPr id="7" name="TextBox 6">
                <a:extLst>
                  <a:ext uri="{FF2B5EF4-FFF2-40B4-BE49-F238E27FC236}">
                    <a16:creationId xmlns:a16="http://schemas.microsoft.com/office/drawing/2014/main" id="{D67A6B21-5499-A246-9AD7-1AD57E680FF3}"/>
                  </a:ext>
                </a:extLst>
              </p:cNvPr>
              <p:cNvSpPr txBox="1">
                <a:spLocks noRot="1" noChangeAspect="1" noMove="1" noResize="1" noEditPoints="1" noAdjustHandles="1" noChangeArrowheads="1" noChangeShapeType="1" noTextEdit="1"/>
              </p:cNvSpPr>
              <p:nvPr/>
            </p:nvSpPr>
            <p:spPr>
              <a:xfrm>
                <a:off x="905256" y="336533"/>
                <a:ext cx="10600944" cy="4831066"/>
              </a:xfrm>
              <a:prstGeom prst="rect">
                <a:avLst/>
              </a:prstGeom>
              <a:blipFill>
                <a:blip r:embed="rId4"/>
                <a:stretch>
                  <a:fillRect l="-837" b="-1832"/>
                </a:stretch>
              </a:blipFill>
            </p:spPr>
            <p:txBody>
              <a:bodyPr/>
              <a:lstStyle/>
              <a:p>
                <a:r>
                  <a:rPr lang="en-US">
                    <a:noFill/>
                  </a:rPr>
                  <a:t> </a:t>
                </a:r>
              </a:p>
            </p:txBody>
          </p:sp>
        </mc:Fallback>
      </mc:AlternateContent>
    </p:spTree>
    <p:extLst>
      <p:ext uri="{BB962C8B-B14F-4D97-AF65-F5344CB8AC3E}">
        <p14:creationId xmlns:p14="http://schemas.microsoft.com/office/powerpoint/2010/main" val="39425169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sp>
        <p:nvSpPr>
          <p:cNvPr id="8" name="Google Shape;282;g104476d1465_1_17">
            <a:extLst>
              <a:ext uri="{FF2B5EF4-FFF2-40B4-BE49-F238E27FC236}">
                <a16:creationId xmlns=""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pic>
        <p:nvPicPr>
          <p:cNvPr id="7" name="image3.png" descr="Icon&#10;&#10;Description automatically generated">
            <a:extLst>
              <a:ext uri="{FF2B5EF4-FFF2-40B4-BE49-F238E27FC236}">
                <a16:creationId xmlns="" xmlns:a16="http://schemas.microsoft.com/office/drawing/2014/main" id="{F62D86F1-5AD3-AC42-91A9-A629B3BF8BF7}"/>
              </a:ext>
            </a:extLst>
          </p:cNvPr>
          <p:cNvPicPr/>
          <p:nvPr/>
        </p:nvPicPr>
        <p:blipFill>
          <a:blip r:embed="rId4"/>
          <a:srcRect/>
          <a:stretch>
            <a:fillRect/>
          </a:stretch>
        </p:blipFill>
        <p:spPr>
          <a:xfrm>
            <a:off x="3054096" y="2852921"/>
            <a:ext cx="1152149" cy="1152149"/>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416990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143000" y="-9144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000" b="1" dirty="0">
                <a:solidFill>
                  <a:srgbClr val="E24E5F"/>
                </a:solidFill>
                <a:latin typeface="Verdana"/>
                <a:ea typeface="Verdana"/>
                <a:cs typeface="Verdana"/>
                <a:sym typeface="Verdana"/>
              </a:rPr>
              <a:t>8.6.5 Your Turn!</a:t>
            </a:r>
            <a:endParaRPr lang="en-US" sz="4000" b="1" dirty="0">
              <a:solidFill>
                <a:srgbClr val="E24E5F"/>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sp>
        <p:nvSpPr>
          <p:cNvPr id="8" name="TextBox 7">
            <a:extLst>
              <a:ext uri="{FF2B5EF4-FFF2-40B4-BE49-F238E27FC236}">
                <a16:creationId xmlns="" xmlns:a16="http://schemas.microsoft.com/office/drawing/2014/main" id="{669E00F9-F39F-5043-888E-B0A2D8C9AE0F}"/>
              </a:ext>
            </a:extLst>
          </p:cNvPr>
          <p:cNvSpPr txBox="1"/>
          <p:nvPr/>
        </p:nvSpPr>
        <p:spPr>
          <a:xfrm>
            <a:off x="905256" y="1416155"/>
            <a:ext cx="5990844" cy="1938992"/>
          </a:xfrm>
          <a:prstGeom prst="rect">
            <a:avLst/>
          </a:prstGeom>
          <a:noFill/>
        </p:spPr>
        <p:txBody>
          <a:bodyPr wrap="square" rtlCol="0">
            <a:spAutoFit/>
          </a:bodyPr>
          <a:lstStyle/>
          <a:p>
            <a:pPr marL="409575" indent="-409575">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A rectangular prism with one cube inside is shown.</a:t>
            </a:r>
          </a:p>
          <a:p>
            <a:pPr lvl="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808038" indent="-449263">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How many cubes will it take to fill the rectangular prism?</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14" name="image3.png" descr="Icon&#10;&#10;Description automatically generated">
            <a:extLst>
              <a:ext uri="{FF2B5EF4-FFF2-40B4-BE49-F238E27FC236}">
                <a16:creationId xmlns="" xmlns:a16="http://schemas.microsoft.com/office/drawing/2014/main" id="{DD594980-EA87-4A47-866F-5252F0DE172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356616" y="201168"/>
            <a:ext cx="749808" cy="749808"/>
          </a:xfrm>
          <a:prstGeom prst="rect">
            <a:avLst/>
          </a:prstGeom>
          <a:ln/>
          <a:effectLst>
            <a:outerShdw blurRad="50800" dist="38100" dir="2700000" algn="tl" rotWithShape="0">
              <a:prstClr val="black">
                <a:alpha val="40000"/>
              </a:prstClr>
            </a:outerShdw>
          </a:effectLst>
        </p:spPr>
      </p:pic>
      <p:pic>
        <p:nvPicPr>
          <p:cNvPr id="15" name="Picture 14" descr="Shape, rectangle&#10;&#10;Description automatically generated">
            <a:extLst>
              <a:ext uri="{FF2B5EF4-FFF2-40B4-BE49-F238E27FC236}">
                <a16:creationId xmlns="" xmlns:a16="http://schemas.microsoft.com/office/drawing/2014/main" id="{A8D9FA46-5350-FA44-BEC6-469A279AA304}"/>
              </a:ext>
            </a:extLst>
          </p:cNvPr>
          <p:cNvPicPr>
            <a:picLocks noChangeAspect="1"/>
          </p:cNvPicPr>
          <p:nvPr/>
        </p:nvPicPr>
        <p:blipFill rotWithShape="1">
          <a:blip r:embed="rId5">
            <a:extLst>
              <a:ext uri="{28A0092B-C50C-407E-A947-70E740481C1C}">
                <a14:useLocalDpi xmlns:a14="http://schemas.microsoft.com/office/drawing/2010/main"/>
              </a:ext>
            </a:extLst>
          </a:blip>
          <a:srcRect l="8130" t="9677"/>
          <a:stretch/>
        </p:blipFill>
        <p:spPr bwMode="auto">
          <a:xfrm>
            <a:off x="7078550" y="1416155"/>
            <a:ext cx="2870200" cy="3556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29276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0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 xmlns:a16="http://schemas.microsoft.com/office/drawing/2014/main" id="{669E00F9-F39F-5043-888E-B0A2D8C9AE0F}"/>
                  </a:ext>
                </a:extLst>
              </p:cNvPr>
              <p:cNvSpPr txBox="1"/>
              <p:nvPr/>
            </p:nvSpPr>
            <p:spPr>
              <a:xfrm>
                <a:off x="886206" y="400325"/>
                <a:ext cx="10524744" cy="4175117"/>
              </a:xfrm>
              <a:prstGeom prst="rect">
                <a:avLst/>
              </a:prstGeom>
              <a:noFill/>
            </p:spPr>
            <p:txBody>
              <a:bodyPr wrap="square" rtlCol="0">
                <a:spAutoFit/>
              </a:bodyPr>
              <a:lstStyle/>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The rectangular prism has a length of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16</m:t>
                        </m:r>
                      </m:num>
                      <m:den>
                        <m:r>
                          <a:rPr lang="es-ES" sz="2400" i="1" dirty="0">
                            <a:latin typeface="Cambria Math" panose="02040503050406030204" pitchFamily="18" charset="0"/>
                            <a:cs typeface="Times New Roman" panose="02020603050405020304" pitchFamily="18" charset="0"/>
                          </a:rPr>
                          <m:t>3</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centimeters (cm), width of </a:t>
                </a:r>
                <a14:m>
                  <m:oMath xmlns:m="http://schemas.openxmlformats.org/officeDocument/2006/math">
                    <m:f>
                      <m:fPr>
                        <m:ctrlPr>
                          <a:rPr lang="en-US" sz="2400" i="1" dirty="0">
                            <a:latin typeface="Cambria Math"/>
                            <a:cs typeface="Times New Roman" panose="02020603050405020304" pitchFamily="18" charset="0"/>
                          </a:rPr>
                        </m:ctrlPr>
                      </m:fPr>
                      <m:num>
                        <m:r>
                          <a:rPr lang="es-ES" sz="2400" i="1" dirty="0">
                            <a:latin typeface="Cambria Math" panose="02040503050406030204" pitchFamily="18" charset="0"/>
                            <a:cs typeface="Times New Roman" panose="02020603050405020304" pitchFamily="18" charset="0"/>
                          </a:rPr>
                          <m:t>16</m:t>
                        </m:r>
                      </m:num>
                      <m:den>
                        <m:r>
                          <a:rPr lang="es-ES" sz="2400" i="1" dirty="0">
                            <a:latin typeface="Cambria Math" panose="02040503050406030204" pitchFamily="18" charset="0"/>
                            <a:cs typeface="Times New Roman" panose="02020603050405020304" pitchFamily="18" charset="0"/>
                          </a:rPr>
                          <m:t>3</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cm, and height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cm as shown. </a:t>
                </a:r>
              </a:p>
              <a:p>
                <a:pPr marL="447675"/>
                <a:r>
                  <a:rPr lang="en-US" sz="2400" dirty="0">
                    <a:latin typeface="Verdana" panose="020B0604030504040204" pitchFamily="34" charset="0"/>
                    <a:ea typeface="Times New Roman" panose="02020603050405020304" pitchFamily="18" charset="0"/>
                    <a:cs typeface="Times New Roman" panose="02020603050405020304" pitchFamily="18" charset="0"/>
                  </a:rPr>
                  <a:t>Use the number of cubes in each dimension to determine the dimensions of the fractional unit cube. </a:t>
                </a:r>
              </a:p>
              <a:p>
                <a:pPr lvl="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pPr lvl="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7675"/>
                <a:r>
                  <a:rPr lang="en-US" sz="2400" dirty="0">
                    <a:latin typeface="Verdana" panose="020B0604030504040204" pitchFamily="34" charset="0"/>
                    <a:ea typeface="Times New Roman" panose="02020603050405020304" pitchFamily="18" charset="0"/>
                    <a:cs typeface="Times New Roman" panose="02020603050405020304" pitchFamily="18" charset="0"/>
                  </a:rPr>
                  <a:t>The unit cube shown has dimensions of </a:t>
                </a:r>
                <a14:m>
                  <m:oMath xmlns:m="http://schemas.openxmlformats.org/officeDocument/2006/math">
                    <m:f>
                      <m:fPr>
                        <m:ctrlPr>
                          <a:rPr lang="en-US" sz="2400" i="1">
                            <a:latin typeface="Cambria Math"/>
                            <a:cs typeface="Times New Roman" panose="02020603050405020304" pitchFamily="18" charset="0"/>
                          </a:rPr>
                        </m:ctrlPr>
                      </m:fPr>
                      <m:num>
                        <m:r>
                          <a:rPr lang="es-ES" sz="2400" i="1">
                            <a:latin typeface="Cambria Math" panose="02040503050406030204" pitchFamily="18" charset="0"/>
                            <a:cs typeface="Times New Roman" panose="02020603050405020304" pitchFamily="18" charset="0"/>
                          </a:rPr>
                          <m:t>                 </m:t>
                        </m:r>
                      </m:num>
                      <m:den>
                        <m:r>
                          <a:rPr lang="es-ES" sz="2400" i="1">
                            <a:latin typeface="Cambria Math" panose="02040503050406030204" pitchFamily="18" charset="0"/>
                            <a:cs typeface="Times New Roman" panose="02020603050405020304" pitchFamily="18" charset="0"/>
                          </a:rPr>
                          <m:t>3</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cm. It will take _____ of these unit cubes to fill the rectangular prism.</a:t>
                </a:r>
              </a:p>
              <a:p>
                <a:pPr lvl="0"/>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886206" y="400325"/>
                <a:ext cx="10524744" cy="4175117"/>
              </a:xfrm>
              <a:prstGeom prst="rect">
                <a:avLst/>
              </a:prstGeom>
              <a:blipFill>
                <a:blip r:embed="rId4"/>
                <a:stretch>
                  <a:fillRect l="-843"/>
                </a:stretch>
              </a:blipFill>
            </p:spPr>
            <p:txBody>
              <a:bodyPr/>
              <a:lstStyle/>
              <a:p>
                <a:r>
                  <a:rPr lang="en-US">
                    <a:noFill/>
                  </a:rPr>
                  <a:t> </a:t>
                </a:r>
              </a:p>
            </p:txBody>
          </p:sp>
        </mc:Fallback>
      </mc:AlternateContent>
      <p:sp>
        <p:nvSpPr>
          <p:cNvPr id="9" name="Rectangle 8">
            <a:extLst>
              <a:ext uri="{FF2B5EF4-FFF2-40B4-BE49-F238E27FC236}">
                <a16:creationId xmlns="" xmlns:a16="http://schemas.microsoft.com/office/drawing/2014/main" id="{C6A9117B-403A-A942-824D-DCF831B563EC}"/>
              </a:ext>
            </a:extLst>
          </p:cNvPr>
          <p:cNvSpPr/>
          <p:nvPr/>
        </p:nvSpPr>
        <p:spPr>
          <a:xfrm>
            <a:off x="7796268" y="3056890"/>
            <a:ext cx="382270" cy="372110"/>
          </a:xfrm>
          <a:prstGeom prst="rect">
            <a:avLst/>
          </a:prstGeom>
          <a:no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1994189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 xmlns:a16="http://schemas.microsoft.com/office/drawing/2014/main" id="{B2B1ECCC-8E07-F247-BB16-7B958B8E6B2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109</a:t>
            </a:r>
            <a:endParaRPr i="1" dirty="0">
              <a:latin typeface="Calibri"/>
              <a:ea typeface="Calibri"/>
              <a:cs typeface="Calibri"/>
              <a:sym typeface="Calibri"/>
            </a:endParaRPr>
          </a:p>
        </p:txBody>
      </p:sp>
      <p:sp>
        <p:nvSpPr>
          <p:cNvPr id="8" name="TextBox 7">
            <a:extLst>
              <a:ext uri="{FF2B5EF4-FFF2-40B4-BE49-F238E27FC236}">
                <a16:creationId xmlns="" xmlns:a16="http://schemas.microsoft.com/office/drawing/2014/main" id="{669E00F9-F39F-5043-888E-B0A2D8C9AE0F}"/>
              </a:ext>
            </a:extLst>
          </p:cNvPr>
          <p:cNvSpPr txBox="1"/>
          <p:nvPr/>
        </p:nvSpPr>
        <p:spPr>
          <a:xfrm>
            <a:off x="905256" y="527514"/>
            <a:ext cx="10600944" cy="830997"/>
          </a:xfrm>
          <a:prstGeom prst="rect">
            <a:avLst/>
          </a:prstGeom>
          <a:noFill/>
        </p:spPr>
        <p:txBody>
          <a:bodyPr wrap="square" rtlCol="0">
            <a:spAutoFit/>
          </a:bodyPr>
          <a:lstStyle/>
          <a:p>
            <a:pPr marL="457200"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how to find the volume of the rectangular prism using the information from Part C.</a:t>
            </a:r>
          </a:p>
        </p:txBody>
      </p:sp>
    </p:spTree>
    <p:extLst>
      <p:ext uri="{BB962C8B-B14F-4D97-AF65-F5344CB8AC3E}">
        <p14:creationId xmlns:p14="http://schemas.microsoft.com/office/powerpoint/2010/main" val="10249701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776"/>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143000" y="63584"/>
            <a:ext cx="102108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8.6.6 Wrap-Up: </a:t>
            </a:r>
            <a:r>
              <a:rPr lang="en-US" sz="3600" b="1" dirty="0" smtClean="0">
                <a:solidFill>
                  <a:srgbClr val="3F2A67"/>
                </a:solidFill>
                <a:latin typeface="Verdana"/>
                <a:ea typeface="Verdana"/>
                <a:cs typeface="Verdana"/>
                <a:sym typeface="Verdana"/>
              </a:rPr>
              <a:t/>
            </a:r>
            <a:br>
              <a:rPr lang="en-US" sz="3600" b="1" dirty="0" smtClean="0">
                <a:solidFill>
                  <a:srgbClr val="3F2A67"/>
                </a:solidFill>
                <a:latin typeface="Verdana"/>
                <a:ea typeface="Verdana"/>
                <a:cs typeface="Verdana"/>
                <a:sym typeface="Verdana"/>
              </a:rPr>
            </a:br>
            <a:r>
              <a:rPr lang="en-US" sz="3600" b="1" dirty="0" smtClean="0">
                <a:solidFill>
                  <a:srgbClr val="3F2A67"/>
                </a:solidFill>
                <a:latin typeface="Verdana"/>
                <a:ea typeface="Verdana"/>
                <a:cs typeface="Verdana"/>
                <a:sym typeface="Verdana"/>
              </a:rPr>
              <a:t>Ticket </a:t>
            </a:r>
            <a:r>
              <a:rPr lang="en-US" sz="3600" b="1" dirty="0">
                <a:solidFill>
                  <a:srgbClr val="3F2A67"/>
                </a:solidFill>
                <a:latin typeface="Verdana"/>
                <a:ea typeface="Verdana"/>
                <a:cs typeface="Verdana"/>
                <a:sym typeface="Verdana"/>
              </a:rPr>
              <a:t>Out the Door</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4">
            <a:alphaModFix/>
          </a:blip>
          <a:srcRect/>
          <a:stretch/>
        </p:blipFill>
        <p:spPr>
          <a:xfrm>
            <a:off x="356616" y="352784"/>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 xmlns:a16="http://schemas.microsoft.com/office/drawing/2014/main" id="{0370EDB7-6994-3D43-ABF9-E04CBAFB9CD9}"/>
              </a:ext>
            </a:extLst>
          </p:cNvPr>
          <p:cNvSpPr txBox="1"/>
          <p:nvPr/>
        </p:nvSpPr>
        <p:spPr>
          <a:xfrm>
            <a:off x="905256" y="1514814"/>
            <a:ext cx="5118354" cy="1323439"/>
          </a:xfrm>
          <a:prstGeom prst="rect">
            <a:avLst/>
          </a:prstGeom>
          <a:noFill/>
        </p:spPr>
        <p:txBody>
          <a:bodyPr wrap="square" rtlCol="0">
            <a:spAutoFit/>
          </a:bodyPr>
          <a:lstStyle/>
          <a:p>
            <a:pPr marL="342900" indent="-3429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Match each image with its corresponding dimensions and volume. Use the table below to record your answers.</a:t>
            </a:r>
          </a:p>
        </p:txBody>
      </p:sp>
      <p:pic>
        <p:nvPicPr>
          <p:cNvPr id="4" name="Picture 3" descr="Diagram&#10;&#10;Description automatically generated">
            <a:extLst>
              <a:ext uri="{FF2B5EF4-FFF2-40B4-BE49-F238E27FC236}">
                <a16:creationId xmlns="" xmlns:a16="http://schemas.microsoft.com/office/drawing/2014/main" id="{EB76635D-9A19-CB4D-AE3F-505C668BEE3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172433" y="1514814"/>
            <a:ext cx="5181368" cy="4942861"/>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110</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graphicFrame>
        <p:nvGraphicFramePr>
          <p:cNvPr id="3" name="Table 2">
            <a:extLst>
              <a:ext uri="{FF2B5EF4-FFF2-40B4-BE49-F238E27FC236}">
                <a16:creationId xmlns="" xmlns:a16="http://schemas.microsoft.com/office/drawing/2014/main" id="{6D108591-B084-1A4A-9213-9B7881C7BE87}"/>
              </a:ext>
            </a:extLst>
          </p:cNvPr>
          <p:cNvGraphicFramePr>
            <a:graphicFrameLocks noGrp="1"/>
          </p:cNvGraphicFramePr>
          <p:nvPr>
            <p:extLst>
              <p:ext uri="{D42A27DB-BD31-4B8C-83A1-F6EECF244321}">
                <p14:modId xmlns:p14="http://schemas.microsoft.com/office/powerpoint/2010/main" val="3295009251"/>
              </p:ext>
            </p:extLst>
          </p:nvPr>
        </p:nvGraphicFramePr>
        <p:xfrm>
          <a:off x="2351715" y="1334647"/>
          <a:ext cx="7488571" cy="1588857"/>
        </p:xfrm>
        <a:graphic>
          <a:graphicData uri="http://schemas.openxmlformats.org/drawingml/2006/table">
            <a:tbl>
              <a:tblPr firstRow="1" firstCol="1" bandRow="1"/>
              <a:tblGrid>
                <a:gridCol w="2495679">
                  <a:extLst>
                    <a:ext uri="{9D8B030D-6E8A-4147-A177-3AD203B41FA5}">
                      <a16:colId xmlns="" xmlns:a16="http://schemas.microsoft.com/office/drawing/2014/main" val="383172400"/>
                    </a:ext>
                  </a:extLst>
                </a:gridCol>
                <a:gridCol w="2496446">
                  <a:extLst>
                    <a:ext uri="{9D8B030D-6E8A-4147-A177-3AD203B41FA5}">
                      <a16:colId xmlns="" xmlns:a16="http://schemas.microsoft.com/office/drawing/2014/main" val="4173242224"/>
                    </a:ext>
                  </a:extLst>
                </a:gridCol>
                <a:gridCol w="2496446">
                  <a:extLst>
                    <a:ext uri="{9D8B030D-6E8A-4147-A177-3AD203B41FA5}">
                      <a16:colId xmlns="" xmlns:a16="http://schemas.microsoft.com/office/drawing/2014/main" val="222396535"/>
                    </a:ext>
                  </a:extLst>
                </a:gridCol>
              </a:tblGrid>
              <a:tr h="392803">
                <a:tc>
                  <a:txBody>
                    <a:bodyPr/>
                    <a:lstStyle/>
                    <a:p>
                      <a:pPr marL="0" marR="0" algn="ctr">
                        <a:spcBef>
                          <a:spcPts val="0"/>
                        </a:spcBef>
                        <a:spcAft>
                          <a:spcPts val="0"/>
                        </a:spcAft>
                      </a:pPr>
                      <a:r>
                        <a:rPr lang="en-US" sz="22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Image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2857" marR="8285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Dimensions</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2857" marR="8285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200" b="1">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Volume</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2857" marR="8285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 xmlns:a16="http://schemas.microsoft.com/office/drawing/2014/main" val="999294983"/>
                  </a:ext>
                </a:extLst>
              </a:tr>
              <a:tr h="410448">
                <a:tc>
                  <a:txBody>
                    <a:bodyPr/>
                    <a:lstStyle/>
                    <a:p>
                      <a:pPr marL="0" marR="0" algn="ctr">
                        <a:spcBef>
                          <a:spcPts val="0"/>
                        </a:spcBef>
                        <a:spcAft>
                          <a:spcPts val="0"/>
                        </a:spcAft>
                      </a:pPr>
                      <a:r>
                        <a:rPr lang="en-US" sz="22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A</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2857" marR="8285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b="1" u="none" strike="noStrike">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2857" marR="8285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b="1" u="none" strike="noStrike">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2857" marR="8285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799509759"/>
                  </a:ext>
                </a:extLst>
              </a:tr>
              <a:tr h="392803">
                <a:tc>
                  <a:txBody>
                    <a:bodyPr/>
                    <a:lstStyle/>
                    <a:p>
                      <a:pPr marL="0" marR="0" algn="ctr">
                        <a:spcBef>
                          <a:spcPts val="0"/>
                        </a:spcBef>
                        <a:spcAft>
                          <a:spcPts val="0"/>
                        </a:spcAft>
                      </a:pPr>
                      <a:r>
                        <a:rPr lang="en-US" sz="22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B</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2857" marR="8285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b="1" u="none" strike="noStrike">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2857" marR="8285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b="1" u="none" strike="noStrike">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2857" marR="8285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048313592"/>
                  </a:ext>
                </a:extLst>
              </a:tr>
              <a:tr h="392803">
                <a:tc>
                  <a:txBody>
                    <a:bodyPr/>
                    <a:lstStyle/>
                    <a:p>
                      <a:pPr marL="0" marR="0" algn="ctr">
                        <a:spcBef>
                          <a:spcPts val="0"/>
                        </a:spcBef>
                        <a:spcAft>
                          <a:spcPts val="0"/>
                        </a:spcAft>
                      </a:pPr>
                      <a:r>
                        <a:rPr lang="en-US" sz="220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2857" marR="8285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b="1" u="none" strike="noStrike">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82857" marR="8285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200" b="1" u="none" strike="noStrike"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x-none"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82857" marR="82857"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3228478107"/>
                  </a:ext>
                </a:extLst>
              </a:tr>
            </a:tbl>
          </a:graphicData>
        </a:graphic>
      </p:graphicFrame>
    </p:spTree>
    <p:extLst>
      <p:ext uri="{BB962C8B-B14F-4D97-AF65-F5344CB8AC3E}">
        <p14:creationId xmlns:p14="http://schemas.microsoft.com/office/powerpoint/2010/main" val="359863042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1475</TotalTime>
  <Words>1477</Words>
  <Application>Microsoft Office PowerPoint</Application>
  <PresentationFormat>Custom</PresentationFormat>
  <Paragraphs>248</Paragraphs>
  <Slides>39</Slides>
  <Notes>39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39</vt:i4>
      </vt:variant>
    </vt:vector>
  </HeadingPairs>
  <TitlesOfParts>
    <vt:vector size="50" baseType="lpstr">
      <vt:lpstr>Arial</vt:lpstr>
      <vt:lpstr>Wingdings</vt:lpstr>
      <vt:lpstr>Cambria Math</vt:lpstr>
      <vt:lpstr>Cambria</vt:lpstr>
      <vt:lpstr>Arial Black</vt:lpstr>
      <vt:lpstr>Verdana</vt:lpstr>
      <vt:lpstr>Cutive</vt:lpstr>
      <vt:lpstr>Calibri</vt:lpstr>
      <vt:lpstr>Times New Roman</vt:lpstr>
      <vt:lpstr>Century Gothic</vt:lpstr>
      <vt:lpstr>1_Office Theme</vt:lpstr>
      <vt:lpstr>6th Grade Math  Unit 8, Lesson 6  Volume of Right Rectangular Prisms  Volume 2, pg. 102  </vt:lpstr>
      <vt:lpstr>PowerPoint Presentation</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27</cp:revision>
  <dcterms:created xsi:type="dcterms:W3CDTF">2015-03-17T18:51:18Z</dcterms:created>
  <dcterms:modified xsi:type="dcterms:W3CDTF">2022-07-08T11:25:02Z</dcterms:modified>
</cp:coreProperties>
</file>