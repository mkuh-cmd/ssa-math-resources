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8"/>
  </p:notesMasterIdLst>
  <p:sldIdLst>
    <p:sldId id="256" r:id="rId5"/>
    <p:sldId id="257" r:id="rId6"/>
    <p:sldId id="285" r:id="rId7"/>
    <p:sldId id="286" r:id="rId8"/>
    <p:sldId id="261" r:id="rId9"/>
    <p:sldId id="287" r:id="rId10"/>
    <p:sldId id="311" r:id="rId11"/>
    <p:sldId id="312" r:id="rId12"/>
    <p:sldId id="353" r:id="rId13"/>
    <p:sldId id="329" r:id="rId14"/>
    <p:sldId id="330" r:id="rId15"/>
    <p:sldId id="370" r:id="rId16"/>
    <p:sldId id="371" r:id="rId17"/>
    <p:sldId id="372" r:id="rId18"/>
    <p:sldId id="385" r:id="rId19"/>
    <p:sldId id="386" r:id="rId20"/>
    <p:sldId id="387" r:id="rId21"/>
    <p:sldId id="365" r:id="rId22"/>
    <p:sldId id="366" r:id="rId23"/>
    <p:sldId id="382" r:id="rId24"/>
    <p:sldId id="306" r:id="rId25"/>
    <p:sldId id="307" r:id="rId26"/>
    <p:sldId id="384" r:id="rId27"/>
  </p:sldIdLst>
  <p:sldSz cx="12192000" cy="6858000"/>
  <p:notesSz cx="6858000" cy="9144000"/>
  <p:embeddedFontLst>
    <p:embeddedFont>
      <p:font typeface="Calibri" pitchFamily="34" charset="0"/>
      <p:regular r:id="rId29"/>
      <p:bold r:id="rId30"/>
      <p:italic r:id="rId31"/>
      <p:boldItalic r:id="rId32"/>
    </p:embeddedFont>
    <p:embeddedFont>
      <p:font typeface="Century Gothic" pitchFamily="34" charset="0"/>
      <p:regular r:id="rId33"/>
      <p:bold r:id="rId34"/>
      <p:italic r:id="rId35"/>
      <p:boldItalic r:id="rId36"/>
    </p:embeddedFont>
    <p:embeddedFont>
      <p:font typeface="Cambria Math" pitchFamily="18" charset="0"/>
      <p:regular r:id="rId37"/>
    </p:embeddedFont>
    <p:embeddedFont>
      <p:font typeface="Cambria" pitchFamily="18" charset="0"/>
      <p:regular r:id="rId38"/>
      <p:bold r:id="rId39"/>
      <p:italic r:id="rId40"/>
      <p:boldItalic r:id="rId41"/>
    </p:embeddedFont>
    <p:embeddedFont>
      <p:font typeface="Arial Black" pitchFamily="34" charset="0"/>
      <p:bold r:id="rId42"/>
    </p:embeddedFont>
    <p:embeddedFont>
      <p:font typeface="Verdana"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33BEA6"/>
    <a:srgbClr val="79B0DD"/>
    <a:srgbClr val="DA4487"/>
    <a:srgbClr val="276C46"/>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6325"/>
    <p:restoredTop sz="94743" autoAdjust="0"/>
  </p:normalViewPr>
  <p:slideViewPr>
    <p:cSldViewPr snapToGrid="0">
      <p:cViewPr varScale="1">
        <p:scale>
          <a:sx n="112" d="100"/>
          <a:sy n="112" d="100"/>
        </p:scale>
        <p:origin x="-18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63"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openxmlformats.org/officeDocument/2006/relationships/font" Target="fonts/font13.fntdata"/><Relationship Id="rId62"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66"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64"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369436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496073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034354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489018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429099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056227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54604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329432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5995281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61744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11" Type="http://schemas.openxmlformats.org/officeDocument/2006/relationships/image" Target="../media/image10.png"/><Relationship Id="rId5" Type="http://schemas.openxmlformats.org/officeDocument/2006/relationships/image" Target="../media/image15.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6.jpe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0.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47.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181600" y="2017701"/>
            <a:ext cx="6242304"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8</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the Missing Dimension of a Rectangular Prism</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9" name="Google Shape;279;g104476d1465_1_17"/>
          <p:cNvSpPr txBox="1">
            <a:spLocks noGrp="1"/>
          </p:cNvSpPr>
          <p:nvPr>
            <p:ph type="title" idx="4294967295"/>
          </p:nvPr>
        </p:nvSpPr>
        <p:spPr>
          <a:xfrm>
            <a:off x="1283658" y="343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36358" y="323532"/>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6358" y="1609531"/>
            <a:ext cx="1135084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MA.6.GR.2.3</a:t>
            </a:r>
          </a:p>
          <a:p>
            <a:pPr indent="0">
              <a:buNone/>
            </a:pPr>
            <a:r>
              <a:rPr lang="en-US" sz="2400" dirty="0">
                <a:solidFill>
                  <a:schemeClr val="tx1"/>
                </a:solidFill>
                <a:latin typeface="Verdana"/>
                <a:ea typeface="Verdana"/>
                <a:cs typeface="Verdana"/>
                <a:sym typeface="Verdana"/>
              </a:rPr>
              <a:t>Solve mathematical and real-world problems involving the volume of right rectangular prisms with positive rational number edge lengths using a visual model and a formula.</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
        <p:nvSpPr>
          <p:cNvPr id="11"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508690" y="29914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5990" y="33284"/>
            <a:ext cx="101193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508690" y="1460584"/>
            <a:ext cx="11024942" cy="47400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23916" y="30660"/>
            <a:ext cx="906164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76616"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24619" y="1600200"/>
            <a:ext cx="108175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indent="-684213">
              <a:buClr>
                <a:srgbClr val="434343"/>
              </a:buClr>
              <a:buSzPct val="100000"/>
              <a:buFont typeface="Verdana"/>
              <a:buChar char="❏"/>
            </a:pPr>
            <a:r>
              <a:rPr lang="en-US" sz="3500" dirty="0">
                <a:solidFill>
                  <a:schemeClr val="tx1"/>
                </a:solidFill>
                <a:latin typeface="Verdana"/>
                <a:ea typeface="Verdana"/>
                <a:cs typeface="Verdana"/>
                <a:sym typeface="Verdana"/>
              </a:rPr>
              <a:t>I can find the value of a missing dimension of a rectangular prism.</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475350" y="291312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5835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53630" y="60326"/>
            <a:ext cx="904538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8.8.1 Warm-Up: Area of a Wall</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06330" y="30914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A4C0B51D-09DC-AA4D-9C14-AE2048199B26}"/>
                  </a:ext>
                </a:extLst>
              </p:cNvPr>
              <p:cNvSpPr txBox="1"/>
              <p:nvPr/>
            </p:nvSpPr>
            <p:spPr>
              <a:xfrm>
                <a:off x="1007590" y="1386026"/>
                <a:ext cx="10343162"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Using the digits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0−9</m:t>
                    </m:r>
                  </m:oMath>
                </a14:m>
                <a:r>
                  <a:rPr lang="en-US" sz="2400" dirty="0">
                    <a:latin typeface="Verdana" panose="020B0604030504040204" pitchFamily="34" charset="0"/>
                    <a:ea typeface="Verdana" panose="020B0604030504040204" pitchFamily="34" charset="0"/>
                    <a:cs typeface="Verdana" panose="020B0604030504040204" pitchFamily="34" charset="0"/>
                  </a:rPr>
                  <a:t>, at most one time each, fill in the boxes to make a true statement.</a:t>
                </a:r>
              </a:p>
            </p:txBody>
          </p:sp>
        </mc:Choice>
        <mc:Fallback xmlns="">
          <p:sp>
            <p:nvSpPr>
              <p:cNvPr id="12" name="TextBox 11">
                <a:extLst>
                  <a:ext uri="{FF2B5EF4-FFF2-40B4-BE49-F238E27FC236}">
                    <a16:creationId xmlns:a16="http://schemas.microsoft.com/office/drawing/2014/main" id="{A4C0B51D-09DC-AA4D-9C14-AE2048199B26}"/>
                  </a:ext>
                </a:extLst>
              </p:cNvPr>
              <p:cNvSpPr txBox="1">
                <a:spLocks noRot="1" noChangeAspect="1" noMove="1" noResize="1" noEditPoints="1" noAdjustHandles="1" noChangeArrowheads="1" noChangeShapeType="1" noTextEdit="1"/>
              </p:cNvSpPr>
              <p:nvPr/>
            </p:nvSpPr>
            <p:spPr>
              <a:xfrm>
                <a:off x="1007590" y="1386026"/>
                <a:ext cx="10343162" cy="830997"/>
              </a:xfrm>
              <a:prstGeom prst="rect">
                <a:avLst/>
              </a:prstGeom>
              <a:blipFill>
                <a:blip r:embed="rId5"/>
                <a:stretch>
                  <a:fillRect l="-859" t="-4478" b="-16418"/>
                </a:stretch>
              </a:blipFill>
            </p:spPr>
            <p:txBody>
              <a:bodyPr/>
              <a:lstStyle/>
              <a:p>
                <a:r>
                  <a:rPr lang="en-US">
                    <a:noFill/>
                  </a:rPr>
                  <a:t> </a:t>
                </a:r>
              </a:p>
            </p:txBody>
          </p:sp>
        </mc:Fallback>
      </mc:AlternateContent>
      <p:pic>
        <p:nvPicPr>
          <p:cNvPr id="3" name="Picture 2" descr="Shape&#10;&#10;Description automatically generated">
            <a:extLst>
              <a:ext uri="{FF2B5EF4-FFF2-40B4-BE49-F238E27FC236}">
                <a16:creationId xmlns:a16="http://schemas.microsoft.com/office/drawing/2014/main" xmlns="" id="{01EEECE5-B30D-DF4E-86BA-FC4F6FE508B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908822" y="2382016"/>
            <a:ext cx="6215270" cy="3089958"/>
          </a:xfrm>
          <a:prstGeom prst="rect">
            <a:avLst/>
          </a:prstGeom>
        </p:spPr>
      </p:pic>
      <p:pic>
        <p:nvPicPr>
          <p:cNvPr id="9"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444861" y="2694528"/>
            <a:ext cx="5145024"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Collaboration</a:t>
            </a:r>
            <a:endParaRPr sz="4400" b="1" dirty="0">
              <a:solidFill>
                <a:srgbClr val="33BEA6"/>
              </a:solidFill>
              <a:latin typeface="Verdana"/>
              <a:ea typeface="Verdana"/>
              <a:cs typeface="Verdana"/>
              <a:sym typeface="Verdana"/>
            </a:endParaRPr>
          </a:p>
        </p:txBody>
      </p:sp>
      <p:pic>
        <p:nvPicPr>
          <p:cNvPr id="7" name="image4.png">
            <a:extLst>
              <a:ext uri="{FF2B5EF4-FFF2-40B4-BE49-F238E27FC236}">
                <a16:creationId xmlns:a16="http://schemas.microsoft.com/office/drawing/2014/main" xmlns="" id="{BD8DF36C-9A55-DA43-8C80-CB570CB2EE3A}"/>
              </a:ext>
            </a:extLst>
          </p:cNvPr>
          <p:cNvPicPr/>
          <p:nvPr/>
        </p:nvPicPr>
        <p:blipFill>
          <a:blip r:embed="rId3"/>
          <a:srcRect/>
          <a:stretch>
            <a:fillRect/>
          </a:stretch>
        </p:blipFill>
        <p:spPr>
          <a:xfrm>
            <a:off x="3288633" y="2779264"/>
            <a:ext cx="1156228" cy="1156228"/>
          </a:xfrm>
          <a:prstGeom prst="rect">
            <a:avLst/>
          </a:prstGeom>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80085" y="60325"/>
            <a:ext cx="9015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8.8.2 Collaboration: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Missing Measurement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1037826" y="1527693"/>
                <a:ext cx="10471422" cy="1249958"/>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Jolene works for a textbook company filling orders. She has discovered each textbook has a width of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7</m:t>
                    </m:r>
                  </m:oMath>
                </a14:m>
                <a:r>
                  <a:rPr lang="en-US" sz="2200" dirty="0">
                    <a:latin typeface="Verdana" panose="020B0604030504040204" pitchFamily="34" charset="0"/>
                    <a:ea typeface="Verdana" panose="020B0604030504040204" pitchFamily="34" charset="0"/>
                    <a:cs typeface="Verdana" panose="020B0604030504040204" pitchFamily="34" charset="0"/>
                  </a:rPr>
                  <a:t> inches (in.), a height of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2</m:t>
                    </m:r>
                    <m:f>
                      <m:fPr>
                        <m:ctrlPr>
                          <a:rPr lang="en-US" sz="2200" i="1" dirty="0">
                            <a:latin typeface="Cambria Math"/>
                            <a:ea typeface="Verdana" panose="020B0604030504040204" pitchFamily="34" charset="0"/>
                            <a:cs typeface="Verdana" panose="020B0604030504040204" pitchFamily="34" charset="0"/>
                          </a:rPr>
                        </m:ctrlPr>
                      </m:fPr>
                      <m:num>
                        <m:r>
                          <a:rPr lang="es-ES" sz="2200" i="1" dirty="0">
                            <a:latin typeface="Cambria Math" panose="02040503050406030204" pitchFamily="18" charset="0"/>
                            <a:ea typeface="Verdana" panose="020B0604030504040204" pitchFamily="34" charset="0"/>
                            <a:cs typeface="Verdana" panose="020B0604030504040204" pitchFamily="34" charset="0"/>
                          </a:rPr>
                          <m:t>2</m:t>
                        </m:r>
                      </m:num>
                      <m:den>
                        <m:r>
                          <a:rPr lang="es-ES" sz="2200" i="1" dirty="0">
                            <a:latin typeface="Cambria Math" panose="02040503050406030204" pitchFamily="18" charset="0"/>
                            <a:ea typeface="Verdana" panose="020B0604030504040204" pitchFamily="34" charset="0"/>
                            <a:cs typeface="Verdana" panose="020B0604030504040204" pitchFamily="34" charset="0"/>
                          </a:rPr>
                          <m:t>3</m:t>
                        </m:r>
                      </m:den>
                    </m:f>
                  </m:oMath>
                </a14:m>
                <a:r>
                  <a:rPr lang="en-US" sz="2200" dirty="0">
                    <a:latin typeface="Verdana" panose="020B0604030504040204" pitchFamily="34" charset="0"/>
                    <a:ea typeface="Verdana" panose="020B0604030504040204" pitchFamily="34" charset="0"/>
                    <a:cs typeface="Verdana" panose="020B0604030504040204" pitchFamily="34" charset="0"/>
                  </a:rPr>
                  <a:t> in., and a length of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10</m:t>
                    </m:r>
                  </m:oMath>
                </a14:m>
                <a:r>
                  <a:rPr lang="en-US" sz="2200" dirty="0">
                    <a:latin typeface="Verdana" panose="020B0604030504040204" pitchFamily="34" charset="0"/>
                    <a:ea typeface="Verdana" panose="020B0604030504040204" pitchFamily="34" charset="0"/>
                    <a:cs typeface="Verdana" panose="020B0604030504040204" pitchFamily="34" charset="0"/>
                  </a:rPr>
                  <a:t> in.</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1037826" y="1527693"/>
                <a:ext cx="10471422" cy="1249958"/>
              </a:xfrm>
              <a:prstGeom prst="rect">
                <a:avLst/>
              </a:prstGeom>
              <a:blipFill>
                <a:blip r:embed="rId4"/>
                <a:stretch>
                  <a:fillRect l="-726" t="-3030" b="-9091"/>
                </a:stretch>
              </a:blipFill>
            </p:spPr>
            <p:txBody>
              <a:bodyPr/>
              <a:lstStyle/>
              <a:p>
                <a:r>
                  <a:rPr lang="en-US">
                    <a:noFill/>
                  </a:rPr>
                  <a:t> </a:t>
                </a:r>
              </a:p>
            </p:txBody>
          </p:sp>
        </mc:Fallback>
      </mc:AlternateContent>
      <p:pic>
        <p:nvPicPr>
          <p:cNvPr id="25" name="image4.png">
            <a:extLst>
              <a:ext uri="{FF2B5EF4-FFF2-40B4-BE49-F238E27FC236}">
                <a16:creationId xmlns:a16="http://schemas.microsoft.com/office/drawing/2014/main" xmlns="" id="{626ED38C-AA05-2441-93AB-A63B83136926}"/>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86909" y="347048"/>
            <a:ext cx="752254" cy="752254"/>
          </a:xfrm>
          <a:prstGeom prst="rect">
            <a:avLst/>
          </a:prstGeom>
          <a:ln/>
          <a:effectLst>
            <a:outerShdw blurRad="50800" dist="38100" dir="2700000" algn="tl" rotWithShape="0">
              <a:prstClr val="black">
                <a:alpha val="40000"/>
              </a:prstClr>
            </a:outerShdw>
          </a:effectLst>
        </p:spPr>
      </p:pic>
      <p:pic>
        <p:nvPicPr>
          <p:cNvPr id="26" name="Picture 25" descr="Author, Book, Closed, Cover, Literature, Novel, Read">
            <a:extLst>
              <a:ext uri="{FF2B5EF4-FFF2-40B4-BE49-F238E27FC236}">
                <a16:creationId xmlns:a16="http://schemas.microsoft.com/office/drawing/2014/main" xmlns="" id="{C356E8A3-0637-0942-A93A-1F64B077EA2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759643" y="3228995"/>
            <a:ext cx="2672715" cy="1837055"/>
          </a:xfrm>
          <a:prstGeom prst="rect">
            <a:avLst/>
          </a:prstGeom>
          <a:noFill/>
          <a:ln>
            <a:noFill/>
          </a:ln>
        </p:spPr>
      </p:pic>
      <mc:AlternateContent xmlns:mc="http://schemas.openxmlformats.org/markup-compatibility/2006" xmlns:a14="http://schemas.microsoft.com/office/drawing/2010/main">
        <mc:Choice Requires="a14">
          <p:sp>
            <p:nvSpPr>
              <p:cNvPr id="27" name="Text Box 29">
                <a:extLst>
                  <a:ext uri="{FF2B5EF4-FFF2-40B4-BE49-F238E27FC236}">
                    <a16:creationId xmlns:a16="http://schemas.microsoft.com/office/drawing/2014/main" xmlns="" id="{291A56F0-010B-D74A-B2B8-676430B3F376}"/>
                  </a:ext>
                </a:extLst>
              </p:cNvPr>
              <p:cNvSpPr txBox="1"/>
              <p:nvPr/>
            </p:nvSpPr>
            <p:spPr>
              <a:xfrm>
                <a:off x="6516305" y="2847994"/>
                <a:ext cx="1308100" cy="381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1800">
                    <a:latin typeface="Verdana" panose="020B0604030504040204" pitchFamily="34" charset="0"/>
                    <a:ea typeface="Times New Roman" panose="02020603050405020304" pitchFamily="18" charset="0"/>
                    <a:cs typeface="Times New Roman" panose="02020603050405020304" pitchFamily="18" charset="0"/>
                  </a:rPr>
                  <a:t> 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7" name="Text Box 29">
                <a:extLst>
                  <a:ext uri="{FF2B5EF4-FFF2-40B4-BE49-F238E27FC236}">
                    <a16:creationId xmlns:a16="http://schemas.microsoft.com/office/drawing/2014/main" id="{291A56F0-010B-D74A-B2B8-676430B3F376}"/>
                  </a:ext>
                </a:extLst>
              </p:cNvPr>
              <p:cNvSpPr txBox="1">
                <a:spLocks noRot="1" noChangeAspect="1" noMove="1" noResize="1" noEditPoints="1" noAdjustHandles="1" noChangeArrowheads="1" noChangeShapeType="1" noTextEdit="1"/>
              </p:cNvSpPr>
              <p:nvPr/>
            </p:nvSpPr>
            <p:spPr>
              <a:xfrm>
                <a:off x="6516305" y="2847994"/>
                <a:ext cx="1308100" cy="381000"/>
              </a:xfrm>
              <a:prstGeom prst="rect">
                <a:avLst/>
              </a:prstGeom>
              <a:blipFill>
                <a:blip r:embed="rId7"/>
                <a:stretch>
                  <a:fillRect t="-6452" b="-22581"/>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 Box 60">
                <a:extLst>
                  <a:ext uri="{FF2B5EF4-FFF2-40B4-BE49-F238E27FC236}">
                    <a16:creationId xmlns:a16="http://schemas.microsoft.com/office/drawing/2014/main" xmlns="" id="{FCA17276-8286-F843-9EDF-0238E86C4B98}"/>
                  </a:ext>
                </a:extLst>
              </p:cNvPr>
              <p:cNvSpPr txBox="1"/>
              <p:nvPr/>
            </p:nvSpPr>
            <p:spPr>
              <a:xfrm>
                <a:off x="3915345" y="3923684"/>
                <a:ext cx="889000" cy="711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2</m:t>
                    </m:r>
                    <m:f>
                      <m:fPr>
                        <m:ctrlPr>
                          <a:rPr lang="x-none" sz="1800" i="1">
                            <a:latin typeface="Cambria Math"/>
                            <a:ea typeface="Times New Roman" panose="02020603050405020304" pitchFamily="18" charset="0"/>
                            <a:cs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1800" i="1">
                            <a:latin typeface="Cambria Math" panose="02040503050406030204" pitchFamily="18" charset="0"/>
                            <a:ea typeface="Times New Roman" panose="02020603050405020304" pitchFamily="18" charset="0"/>
                            <a:cs typeface="Times New Roman" panose="02020603050405020304" pitchFamily="18" charset="0"/>
                          </a:rPr>
                          <m:t>3</m:t>
                        </m:r>
                      </m:den>
                    </m:f>
                  </m:oMath>
                </a14:m>
                <a:r>
                  <a:rPr lang="en-US" sz="1800">
                    <a:latin typeface="Verdana" panose="020B0604030504040204" pitchFamily="34" charset="0"/>
                    <a:ea typeface="Times New Roman" panose="02020603050405020304" pitchFamily="18" charset="0"/>
                    <a:cs typeface="Times New Roman" panose="02020603050405020304" pitchFamily="18" charset="0"/>
                  </a:rPr>
                  <a:t> 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8" name="Text Box 60">
                <a:extLst>
                  <a:ext uri="{FF2B5EF4-FFF2-40B4-BE49-F238E27FC236}">
                    <a16:creationId xmlns:a16="http://schemas.microsoft.com/office/drawing/2014/main" id="{FCA17276-8286-F843-9EDF-0238E86C4B98}"/>
                  </a:ext>
                </a:extLst>
              </p:cNvPr>
              <p:cNvSpPr txBox="1">
                <a:spLocks noRot="1" noChangeAspect="1" noMove="1" noResize="1" noEditPoints="1" noAdjustHandles="1" noChangeArrowheads="1" noChangeShapeType="1" noTextEdit="1"/>
              </p:cNvSpPr>
              <p:nvPr/>
            </p:nvSpPr>
            <p:spPr>
              <a:xfrm>
                <a:off x="3915345" y="3923684"/>
                <a:ext cx="889000" cy="711200"/>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 Box 61">
                <a:extLst>
                  <a:ext uri="{FF2B5EF4-FFF2-40B4-BE49-F238E27FC236}">
                    <a16:creationId xmlns:a16="http://schemas.microsoft.com/office/drawing/2014/main" xmlns="" id="{089C19F1-F06B-564A-87C5-A853022AAF97}"/>
                  </a:ext>
                </a:extLst>
              </p:cNvPr>
              <p:cNvSpPr txBox="1"/>
              <p:nvPr/>
            </p:nvSpPr>
            <p:spPr>
              <a:xfrm>
                <a:off x="6879276" y="4536269"/>
                <a:ext cx="1308100" cy="381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1800">
                    <a:latin typeface="Verdana" panose="020B0604030504040204" pitchFamily="34" charset="0"/>
                    <a:ea typeface="Times New Roman" panose="02020603050405020304" pitchFamily="18" charset="0"/>
                    <a:cs typeface="Times New Roman" panose="02020603050405020304" pitchFamily="18" charset="0"/>
                  </a:rPr>
                  <a:t> 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9" name="Text Box 61">
                <a:extLst>
                  <a:ext uri="{FF2B5EF4-FFF2-40B4-BE49-F238E27FC236}">
                    <a16:creationId xmlns:a16="http://schemas.microsoft.com/office/drawing/2014/main" id="{089C19F1-F06B-564A-87C5-A853022AAF97}"/>
                  </a:ext>
                </a:extLst>
              </p:cNvPr>
              <p:cNvSpPr txBox="1">
                <a:spLocks noRot="1" noChangeAspect="1" noMove="1" noResize="1" noEditPoints="1" noAdjustHandles="1" noChangeArrowheads="1" noChangeShapeType="1" noTextEdit="1"/>
              </p:cNvSpPr>
              <p:nvPr/>
            </p:nvSpPr>
            <p:spPr>
              <a:xfrm>
                <a:off x="6879276" y="4536269"/>
                <a:ext cx="1308100" cy="381000"/>
              </a:xfrm>
              <a:prstGeom prst="rect">
                <a:avLst/>
              </a:prstGeom>
              <a:blipFill>
                <a:blip r:embed="rId9"/>
                <a:stretch>
                  <a:fillRect t="-6452" b="-22581"/>
                </a:stretch>
              </a:blipFill>
              <a:ln w="6350">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xmlns="" id="{3C026728-3B4E-E443-93B8-C7C2E7ADD4AB}"/>
                  </a:ext>
                </a:extLst>
              </p:cNvPr>
              <p:cNvSpPr txBox="1"/>
              <p:nvPr/>
            </p:nvSpPr>
            <p:spPr>
              <a:xfrm>
                <a:off x="1133856" y="5278058"/>
                <a:ext cx="10939242" cy="769441"/>
              </a:xfrm>
              <a:prstGeom prst="rect">
                <a:avLst/>
              </a:prstGeom>
              <a:noFill/>
            </p:spPr>
            <p:txBody>
              <a:bodyPr wrap="square" rtlCol="0">
                <a:spAutoFit/>
              </a:bodyPr>
              <a:lstStyle/>
              <a:p>
                <a:r>
                  <a:rPr lang="en-US" sz="2200" dirty="0" smtClean="0">
                    <a:latin typeface="Verdana" panose="020B0604030504040204" pitchFamily="34" charset="0"/>
                    <a:ea typeface="Verdana" panose="020B0604030504040204" pitchFamily="34" charset="0"/>
                    <a:cs typeface="Verdana" panose="020B0604030504040204" pitchFamily="34" charset="0"/>
                  </a:rPr>
                  <a:t>The textbook company has decided to make the textbooks smaller by reducing the length. The new volume of the textbook will be </a:t>
                </a:r>
                <a14:m>
                  <m:oMath xmlns:m="http://schemas.openxmlformats.org/officeDocument/2006/math">
                    <m:r>
                      <a:rPr lang="en-US" sz="2200" b="0" i="1" dirty="0" smtClean="0">
                        <a:latin typeface="Cambria Math"/>
                        <a:ea typeface="Verdana" panose="020B0604030504040204" pitchFamily="34" charset="0"/>
                        <a:cs typeface="Verdana" panose="020B0604030504040204" pitchFamily="34" charset="0"/>
                      </a:rPr>
                      <m:t>168 </m:t>
                    </m:r>
                    <m:sSup>
                      <m:sSupPr>
                        <m:ctrlPr>
                          <a:rPr lang="es-ES" sz="2200" i="1" dirty="0">
                            <a:latin typeface="Cambria Math"/>
                            <a:ea typeface="Verdana" panose="020B0604030504040204" pitchFamily="34" charset="0"/>
                            <a:cs typeface="Verdana" panose="020B0604030504040204" pitchFamily="34" charset="0"/>
                          </a:rPr>
                        </m:ctrlPr>
                      </m:sSupPr>
                      <m:e>
                        <m:r>
                          <m:rPr>
                            <m:sty m:val="p"/>
                          </m:rPr>
                          <a:rPr lang="es-ES" sz="2200" dirty="0">
                            <a:latin typeface="Cambria Math" panose="02040503050406030204" pitchFamily="18" charset="0"/>
                            <a:ea typeface="Verdana" panose="020B0604030504040204" pitchFamily="34" charset="0"/>
                            <a:cs typeface="Verdana" panose="020B0604030504040204" pitchFamily="34" charset="0"/>
                          </a:rPr>
                          <m:t>in</m:t>
                        </m:r>
                      </m:e>
                      <m:sup>
                        <m:r>
                          <a:rPr lang="es-ES" sz="2200" dirty="0">
                            <a:latin typeface="Cambria Math" panose="02040503050406030204" pitchFamily="18" charset="0"/>
                            <a:ea typeface="Verdana" panose="020B0604030504040204" pitchFamily="34" charset="0"/>
                            <a:cs typeface="Verdana" panose="020B0604030504040204" pitchFamily="34" charset="0"/>
                          </a:rPr>
                          <m:t>3</m:t>
                        </m:r>
                      </m:sup>
                    </m:sSup>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30" name="TextBox 29">
                <a:extLst>
                  <a:ext uri="{FF2B5EF4-FFF2-40B4-BE49-F238E27FC236}">
                    <a16:creationId xmlns:a16="http://schemas.microsoft.com/office/drawing/2014/main" xmlns:a14="http://schemas.microsoft.com/office/drawing/2010/main" xmlns="" id="{3C026728-3B4E-E443-93B8-C7C2E7ADD4AB}"/>
                  </a:ext>
                </a:extLst>
              </p:cNvPr>
              <p:cNvSpPr txBox="1">
                <a:spLocks noRot="1" noChangeAspect="1" noMove="1" noResize="1" noEditPoints="1" noAdjustHandles="1" noChangeArrowheads="1" noChangeShapeType="1" noTextEdit="1"/>
              </p:cNvSpPr>
              <p:nvPr/>
            </p:nvSpPr>
            <p:spPr>
              <a:xfrm>
                <a:off x="1133856" y="5278058"/>
                <a:ext cx="10939242" cy="769441"/>
              </a:xfrm>
              <a:prstGeom prst="rect">
                <a:avLst/>
              </a:prstGeom>
              <a:blipFill rotWithShape="1">
                <a:blip r:embed="rId10"/>
                <a:stretch>
                  <a:fillRect l="-669" t="-3968" b="-15079"/>
                </a:stretch>
              </a:blipFill>
            </p:spPr>
            <p:txBody>
              <a:bodyPr/>
              <a:lstStyle/>
              <a:p>
                <a:r>
                  <a:rPr lang="en-PH">
                    <a:noFill/>
                  </a:rPr>
                  <a:t> </a:t>
                </a:r>
              </a:p>
            </p:txBody>
          </p:sp>
        </mc:Fallback>
      </mc:AlternateContent>
      <p:pic>
        <p:nvPicPr>
          <p:cNvPr id="13" name="Google Shape;283;g104476d1465_1_17"/>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731520" y="378726"/>
            <a:ext cx="10204704"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841643B0-24CA-3547-9CA6-3D5E72A80672}"/>
                  </a:ext>
                </a:extLst>
              </p:cNvPr>
              <p:cNvGraphicFramePr>
                <a:graphicFrameLocks noGrp="1"/>
              </p:cNvGraphicFramePr>
              <p:nvPr>
                <p:extLst>
                  <p:ext uri="{D42A27DB-BD31-4B8C-83A1-F6EECF244321}">
                    <p14:modId xmlns:p14="http://schemas.microsoft.com/office/powerpoint/2010/main" val="3045319925"/>
                  </p:ext>
                </p:extLst>
              </p:nvPr>
            </p:nvGraphicFramePr>
            <p:xfrm>
              <a:off x="1364298" y="1116047"/>
              <a:ext cx="6821805" cy="2034540"/>
            </p:xfrm>
            <a:graphic>
              <a:graphicData uri="http://schemas.openxmlformats.org/drawingml/2006/table">
                <a:tbl>
                  <a:tblPr firstRow="1" firstCol="1" bandRow="1"/>
                  <a:tblGrid>
                    <a:gridCol w="3383915">
                      <a:extLst>
                        <a:ext uri="{9D8B030D-6E8A-4147-A177-3AD203B41FA5}">
                          <a16:colId xmlns:a16="http://schemas.microsoft.com/office/drawing/2014/main" xmlns="" val="61414442"/>
                        </a:ext>
                      </a:extLst>
                    </a:gridCol>
                    <a:gridCol w="3437890">
                      <a:extLst>
                        <a:ext uri="{9D8B030D-6E8A-4147-A177-3AD203B41FA5}">
                          <a16:colId xmlns:a16="http://schemas.microsoft.com/office/drawing/2014/main" xmlns="" val="3374511567"/>
                        </a:ext>
                      </a:extLst>
                    </a:gridCol>
                  </a:tblGrid>
                  <a:tr h="457200">
                    <a:tc>
                      <a:txBody>
                        <a:bodyPr/>
                        <a:lstStyle/>
                        <a:p>
                          <a:pPr marL="0" marR="0" algn="ctr">
                            <a:lnSpc>
                              <a:spcPct val="115000"/>
                            </a:lnSpc>
                            <a:spcBef>
                              <a:spcPts val="0"/>
                            </a:spcBef>
                            <a:spcAft>
                              <a:spcPts val="0"/>
                            </a:spcAft>
                          </a:pPr>
                          <a:r>
                            <a:rPr lang="en-US" sz="1800" b="1" dirty="0">
                              <a:effectLst/>
                              <a:latin typeface="Verdana" panose="020B0604030504040204" pitchFamily="34" charset="0"/>
                              <a:ea typeface="Times New Roman" panose="02020603050405020304" pitchFamily="18" charset="0"/>
                              <a:cs typeface="Times New Roman" panose="02020603050405020304" pitchFamily="18" charset="0"/>
                            </a:rPr>
                            <a:t>Old </a:t>
                          </a: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Textbook</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New Textbook</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481773715"/>
                      </a:ext>
                    </a:extLst>
                  </a:tr>
                  <a:tr h="457200">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𝑙</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h</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_______×_______×_______</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effectLst/>
                              <a:latin typeface="Verdana" panose="020B0604030504040204" pitchFamily="34" charset="0"/>
                              <a:ea typeface="Times New Roman" panose="02020603050405020304" pitchFamily="18" charset="0"/>
                              <a:cs typeface="Times New Roman" panose="02020603050405020304" pitchFamily="18" charset="0"/>
                            </a:rPr>
                            <a:t>______</a:t>
                          </a:r>
                          <a14:m>
                            <m:oMath xmlns:m="http://schemas.openxmlformats.org/officeDocument/2006/math">
                              <m:sSup>
                                <m:sSupPr>
                                  <m:ctrlPr>
                                    <a:rPr lang="x-none" sz="1800" i="1">
                                      <a:effectLst/>
                                      <a:latin typeface="Cambria Math"/>
                                      <a:ea typeface="Times New Roman" panose="02020603050405020304" pitchFamily="18" charset="0"/>
                                      <a:cs typeface="Times New Roman" panose="02020603050405020304" pitchFamily="18" charset="0"/>
                                    </a:rPr>
                                  </m:ctrlPr>
                                </m:sSup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sup>
                              </m:sSup>
                            </m:oMath>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𝑙</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h</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98 </m:t>
                                </m:r>
                                <m:sSup>
                                  <m:sSupPr>
                                    <m:ctrlPr>
                                      <a:rPr lang="x-none" sz="1800" i="1">
                                        <a:effectLst/>
                                        <a:latin typeface="Cambria Math"/>
                                        <a:ea typeface="Times New Roman" panose="02020603050405020304" pitchFamily="18" charset="0"/>
                                        <a:cs typeface="Times New Roman" panose="02020603050405020304" pitchFamily="18" charset="0"/>
                                      </a:rPr>
                                    </m:ctrlPr>
                                  </m:sSup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𝑙</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×______</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  ______</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98 </m:t>
                                </m:r>
                                <m:sSup>
                                  <m:sSupPr>
                                    <m:ctrlPr>
                                      <a:rPr lang="x-none" sz="1800" i="1">
                                        <a:effectLst/>
                                        <a:latin typeface="Cambria Math"/>
                                        <a:ea typeface="Times New Roman" panose="02020603050405020304" pitchFamily="18" charset="0"/>
                                        <a:cs typeface="Times New Roman" panose="02020603050405020304" pitchFamily="18" charset="0"/>
                                      </a:rPr>
                                    </m:ctrlPr>
                                  </m:sSup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=________</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 ________</m:t>
                                </m:r>
                                <m:sSup>
                                  <m:sSupPr>
                                    <m:ctrlPr>
                                      <a:rPr lang="x-none" sz="1800" i="1">
                                        <a:effectLst/>
                                        <a:latin typeface="Cambria Math"/>
                                        <a:ea typeface="Times New Roman" panose="02020603050405020304" pitchFamily="18" charset="0"/>
                                        <a:cs typeface="Times New Roman" panose="02020603050405020304" pitchFamily="18" charset="0"/>
                                      </a:rPr>
                                    </m:ctrlPr>
                                  </m:sSupPr>
                                  <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in</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92361364"/>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841643B0-24CA-3547-9CA6-3D5E72A80672}"/>
                  </a:ext>
                </a:extLst>
              </p:cNvPr>
              <p:cNvGraphicFramePr>
                <a:graphicFrameLocks noGrp="1"/>
              </p:cNvGraphicFramePr>
              <p:nvPr>
                <p:extLst>
                  <p:ext uri="{D42A27DB-BD31-4B8C-83A1-F6EECF244321}">
                    <p14:modId xmlns:p14="http://schemas.microsoft.com/office/powerpoint/2010/main" val="3045319925"/>
                  </p:ext>
                </p:extLst>
              </p:nvPr>
            </p:nvGraphicFramePr>
            <p:xfrm>
              <a:off x="1364298" y="1116047"/>
              <a:ext cx="6821805" cy="2034540"/>
            </p:xfrm>
            <a:graphic>
              <a:graphicData uri="http://schemas.openxmlformats.org/drawingml/2006/table">
                <a:tbl>
                  <a:tblPr firstRow="1" firstCol="1" bandRow="1"/>
                  <a:tblGrid>
                    <a:gridCol w="3383915">
                      <a:extLst>
                        <a:ext uri="{9D8B030D-6E8A-4147-A177-3AD203B41FA5}">
                          <a16:colId xmlns:a16="http://schemas.microsoft.com/office/drawing/2014/main" xmlns:a14="http://schemas.microsoft.com/office/drawing/2010/main" xmlns="" val="61414442"/>
                        </a:ext>
                      </a:extLst>
                    </a:gridCol>
                    <a:gridCol w="3437890">
                      <a:extLst>
                        <a:ext uri="{9D8B030D-6E8A-4147-A177-3AD203B41FA5}">
                          <a16:colId xmlns:a16="http://schemas.microsoft.com/office/drawing/2014/main" xmlns:a14="http://schemas.microsoft.com/office/drawing/2010/main" xmlns="" val="3374511567"/>
                        </a:ext>
                      </a:extLst>
                    </a:gridCol>
                  </a:tblGrid>
                  <a:tr h="457200">
                    <a:tc>
                      <a:txBody>
                        <a:bodyPr/>
                        <a:lstStyle/>
                        <a:p>
                          <a:pPr marL="0" marR="0" algn="ctr">
                            <a:lnSpc>
                              <a:spcPct val="115000"/>
                            </a:lnSpc>
                            <a:spcBef>
                              <a:spcPts val="0"/>
                            </a:spcBef>
                            <a:spcAft>
                              <a:spcPts val="0"/>
                            </a:spcAft>
                          </a:pPr>
                          <a:r>
                            <a:rPr lang="en-US" sz="1800" b="1" dirty="0">
                              <a:effectLst/>
                              <a:latin typeface="Verdana" panose="020B0604030504040204" pitchFamily="34" charset="0"/>
                              <a:ea typeface="Times New Roman" panose="02020603050405020304" pitchFamily="18" charset="0"/>
                              <a:cs typeface="Times New Roman" panose="02020603050405020304" pitchFamily="18" charset="0"/>
                            </a:rPr>
                            <a:t>Old </a:t>
                          </a: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Textbook</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New Textbook</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481773715"/>
                      </a:ext>
                    </a:extLst>
                  </a:tr>
                  <a:tr h="15773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80" t="-28958" r="-101622" b="-733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8582" t="-28958" b="-7336"/>
                          </a:stretch>
                        </a:blipFill>
                      </a:tcPr>
                    </a:tc>
                    <a:extLst>
                      <a:ext uri="{0D108BD9-81ED-4DB2-BD59-A6C34878D82A}">
                        <a16:rowId xmlns:a16="http://schemas.microsoft.com/office/drawing/2014/main" xmlns:a14="http://schemas.microsoft.com/office/drawing/2010/main" xmlns="" val="492361364"/>
                      </a:ext>
                    </a:extLst>
                  </a:tr>
                </a:tbl>
              </a:graphicData>
            </a:graphic>
          </p:graphicFrame>
        </mc:Fallback>
      </mc:AlternateContent>
      <p:sp>
        <p:nvSpPr>
          <p:cNvPr id="9" name="TextBox 8">
            <a:extLst>
              <a:ext uri="{FF2B5EF4-FFF2-40B4-BE49-F238E27FC236}">
                <a16:creationId xmlns:a16="http://schemas.microsoft.com/office/drawing/2014/main" xmlns="" id="{5778D3C7-5C69-7344-AB25-6CA80A76DB70}"/>
              </a:ext>
            </a:extLst>
          </p:cNvPr>
          <p:cNvSpPr txBox="1"/>
          <p:nvPr/>
        </p:nvSpPr>
        <p:spPr>
          <a:xfrm>
            <a:off x="731520" y="3797787"/>
            <a:ext cx="11143488"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the new length of the textbook. Explain your process.</a:t>
            </a: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116</a:t>
            </a:r>
            <a:endParaRPr i="1" dirty="0">
              <a:latin typeface="Calibri"/>
              <a:ea typeface="Calibri"/>
              <a:cs typeface="Calibri"/>
              <a:sym typeface="Calibri"/>
            </a:endParaRPr>
          </a:p>
        </p:txBody>
      </p:sp>
    </p:spTree>
    <p:extLst>
      <p:ext uri="{BB962C8B-B14F-4D97-AF65-F5344CB8AC3E}">
        <p14:creationId xmlns:p14="http://schemas.microsoft.com/office/powerpoint/2010/main" val="40731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584192" y="2766145"/>
            <a:ext cx="475488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pic>
        <p:nvPicPr>
          <p:cNvPr id="7" name="image6.png" descr="Icon&#10;&#10;Description automatically generated">
            <a:extLst>
              <a:ext uri="{FF2B5EF4-FFF2-40B4-BE49-F238E27FC236}">
                <a16:creationId xmlns:a16="http://schemas.microsoft.com/office/drawing/2014/main" xmlns="" id="{B079AFA8-B9EA-EB4C-B6ED-66C4D839C0CE}"/>
              </a:ext>
            </a:extLst>
          </p:cNvPr>
          <p:cNvPicPr/>
          <p:nvPr/>
        </p:nvPicPr>
        <p:blipFill>
          <a:blip r:embed="rId3"/>
          <a:srcRect/>
          <a:stretch>
            <a:fillRect/>
          </a:stretch>
        </p:blipFill>
        <p:spPr>
          <a:xfrm>
            <a:off x="3164256" y="2848753"/>
            <a:ext cx="1152144" cy="1152144"/>
          </a:xfrm>
          <a:prstGeom prst="rect">
            <a:avLst/>
          </a:prstGeom>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117</a:t>
            </a:r>
            <a:endParaRPr i="1" dirty="0">
              <a:latin typeface="Calibri"/>
              <a:ea typeface="Calibri"/>
              <a:cs typeface="Calibri"/>
              <a:sym typeface="Calibri"/>
            </a:endParaRPr>
          </a:p>
        </p:txBody>
      </p:sp>
    </p:spTree>
    <p:extLst>
      <p:ext uri="{BB962C8B-B14F-4D97-AF65-F5344CB8AC3E}">
        <p14:creationId xmlns:p14="http://schemas.microsoft.com/office/powerpoint/2010/main" val="2456065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02434" y="-12827"/>
            <a:ext cx="91072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8.8.3 Guided Instruction: Finding a Missing Dimension</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1202434" y="2417909"/>
            <a:ext cx="10404349" cy="1785104"/>
          </a:xfrm>
          <a:prstGeom prst="rect">
            <a:avLst/>
          </a:prstGeom>
          <a:noFill/>
        </p:spPr>
        <p:txBody>
          <a:bodyPr wrap="square" rtlCol="0">
            <a:spAutoFit/>
          </a:bodyPr>
          <a:lstStyle/>
          <a:p>
            <a:pPr lvl="0"/>
            <a:r>
              <a:rPr lang="en-US" sz="2200" dirty="0">
                <a:latin typeface="Verdana" panose="020B0604030504040204" pitchFamily="34" charset="0"/>
                <a:ea typeface="Times New Roman" panose="02020603050405020304" pitchFamily="18" charset="0"/>
                <a:cs typeface="Times New Roman" panose="02020603050405020304" pitchFamily="18" charset="0"/>
              </a:rPr>
              <a:t>When only two dimensions of a three-dimensional prism are given, the product of the two given dimensions represents the area of that face of the prism. </a:t>
            </a:r>
          </a:p>
          <a:p>
            <a:pPr lvl="0"/>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What is the area of the front face of this prism? Include units.</a:t>
            </a:r>
          </a:p>
        </p:txBody>
      </p:sp>
      <p:pic>
        <p:nvPicPr>
          <p:cNvPr id="14" name="image6.png" descr="Icon&#10;&#10;Description automatically generated">
            <a:extLst>
              <a:ext uri="{FF2B5EF4-FFF2-40B4-BE49-F238E27FC236}">
                <a16:creationId xmlns:a16="http://schemas.microsoft.com/office/drawing/2014/main" xmlns="" id="{8A434195-83BC-AD47-961E-98BFF6E69192}"/>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52626" y="275119"/>
            <a:ext cx="749808" cy="749808"/>
          </a:xfrm>
          <a:prstGeom prst="rect">
            <a:avLst/>
          </a:prstGeom>
          <a:ln/>
          <a:effectLst>
            <a:outerShdw blurRad="50800" dist="38100" dir="2700000" algn="tl" rotWithShape="0">
              <a:prstClr val="black">
                <a:alpha val="40000"/>
              </a:prstClr>
            </a:outerShdw>
          </a:effectLst>
        </p:spPr>
      </p:pic>
      <p:sp>
        <p:nvSpPr>
          <p:cNvPr id="9" name="Rounded Rectangle 8">
            <a:extLst>
              <a:ext uri="{FF2B5EF4-FFF2-40B4-BE49-F238E27FC236}">
                <a16:creationId xmlns:a16="http://schemas.microsoft.com/office/drawing/2014/main" xmlns="" id="{74BC3EF4-166B-C04C-964C-AE627A9C99FC}"/>
              </a:ext>
            </a:extLst>
          </p:cNvPr>
          <p:cNvSpPr/>
          <p:nvPr/>
        </p:nvSpPr>
        <p:spPr>
          <a:xfrm>
            <a:off x="2781300" y="1457740"/>
            <a:ext cx="6629400" cy="781878"/>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lgn="ctr"/>
            <a:r>
              <a:rPr lang="en-US" sz="18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Each flat surface of a prism is called a face.</a:t>
            </a:r>
            <a:r>
              <a:rPr lang="en-US" sz="1200" dirty="0">
                <a:latin typeface="Cambria" panose="02040503050406030204" pitchFamily="18" charset="0"/>
                <a:ea typeface="Times New Roman" panose="02020603050405020304" pitchFamily="18" charset="0"/>
                <a:cs typeface="Times New Roman" panose="02020603050405020304" pitchFamily="18" charset="0"/>
              </a:rPr>
              <a:t> </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0" name="Shape 15" descr="Icon&#10;&#10;Description automatically generated">
            <a:extLst>
              <a:ext uri="{FF2B5EF4-FFF2-40B4-BE49-F238E27FC236}">
                <a16:creationId xmlns:a16="http://schemas.microsoft.com/office/drawing/2014/main" xmlns="" id="{A51C7AC6-2467-4E4F-9800-9ED5B71E1236}"/>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2937152" y="1572495"/>
            <a:ext cx="539750" cy="539115"/>
          </a:xfrm>
          <a:prstGeom prst="rect">
            <a:avLst/>
          </a:prstGeom>
          <a:noFill/>
          <a:ln>
            <a:noFill/>
          </a:ln>
          <a:effectLst>
            <a:outerShdw blurRad="50800" dist="38100" dir="2700000" algn="tl" rotWithShape="0">
              <a:prstClr val="black">
                <a:alpha val="40000"/>
              </a:prstClr>
            </a:outerShdw>
          </a:effectLst>
        </p:spPr>
      </p:pic>
      <p:pic>
        <p:nvPicPr>
          <p:cNvPr id="11" name="Picture 10" descr="Closed Box Clip Art">
            <a:extLst>
              <a:ext uri="{FF2B5EF4-FFF2-40B4-BE49-F238E27FC236}">
                <a16:creationId xmlns:a16="http://schemas.microsoft.com/office/drawing/2014/main" xmlns="" id="{976DDE49-9F76-3C40-878B-3F9B295F4AF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227686" y="5068291"/>
            <a:ext cx="1736629" cy="1389384"/>
          </a:xfrm>
          <a:prstGeom prst="rect">
            <a:avLst/>
          </a:prstGeom>
          <a:noFill/>
          <a:ln>
            <a:noFill/>
          </a:ln>
        </p:spPr>
      </p:pic>
      <mc:AlternateContent xmlns:mc="http://schemas.openxmlformats.org/markup-compatibility/2006" xmlns:a14="http://schemas.microsoft.com/office/drawing/2010/main">
        <mc:Choice Requires="a14">
          <p:sp>
            <p:nvSpPr>
              <p:cNvPr id="13" name="Text Box 8">
                <a:extLst>
                  <a:ext uri="{FF2B5EF4-FFF2-40B4-BE49-F238E27FC236}">
                    <a16:creationId xmlns:a16="http://schemas.microsoft.com/office/drawing/2014/main" xmlns="" id="{0C36DC4C-93AF-EC4B-8F1A-611EC08AEF56}"/>
                  </a:ext>
                </a:extLst>
              </p:cNvPr>
              <p:cNvSpPr txBox="1"/>
              <p:nvPr/>
            </p:nvSpPr>
            <p:spPr>
              <a:xfrm>
                <a:off x="5524500" y="6250936"/>
                <a:ext cx="57150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7 </m:t>
                      </m:r>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in</m:t>
                      </m:r>
                      <m:r>
                        <a:rPr lang="en-US" sz="1800" i="1">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8">
                <a:extLst>
                  <a:ext uri="{FF2B5EF4-FFF2-40B4-BE49-F238E27FC236}">
                    <a16:creationId xmlns:a16="http://schemas.microsoft.com/office/drawing/2014/main" id="{0C36DC4C-93AF-EC4B-8F1A-611EC08AEF56}"/>
                  </a:ext>
                </a:extLst>
              </p:cNvPr>
              <p:cNvSpPr txBox="1">
                <a:spLocks noRot="1" noChangeAspect="1" noMove="1" noResize="1" noEditPoints="1" noAdjustHandles="1" noChangeArrowheads="1" noChangeShapeType="1" noTextEdit="1"/>
              </p:cNvSpPr>
              <p:nvPr/>
            </p:nvSpPr>
            <p:spPr>
              <a:xfrm>
                <a:off x="5524500" y="6250936"/>
                <a:ext cx="571500" cy="342900"/>
              </a:xfrm>
              <a:prstGeom prst="rect">
                <a:avLst/>
              </a:prstGeom>
              <a:blipFill>
                <a:blip r:embed="rId7"/>
                <a:stretch>
                  <a:fillRect b="-28571"/>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9">
                <a:extLst>
                  <a:ext uri="{FF2B5EF4-FFF2-40B4-BE49-F238E27FC236}">
                    <a16:creationId xmlns:a16="http://schemas.microsoft.com/office/drawing/2014/main" xmlns="" id="{DDD9E205-C1A3-C243-BE15-3B6A67BFE3FB}"/>
                  </a:ext>
                </a:extLst>
              </p:cNvPr>
              <p:cNvSpPr txBox="1"/>
              <p:nvPr/>
            </p:nvSpPr>
            <p:spPr>
              <a:xfrm>
                <a:off x="4610349" y="5270782"/>
                <a:ext cx="863600" cy="714375"/>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6</m:t>
                      </m:r>
                      <m:f>
                        <m:fPr>
                          <m:ctrlPr>
                            <a:rPr lang="x-none" sz="1800" i="1">
                              <a:latin typeface="Cambria Math"/>
                              <a:ea typeface="Times New Roman" panose="02020603050405020304" pitchFamily="18" charset="0"/>
                              <a:cs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18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1800" i="1">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in</m:t>
                      </m:r>
                      <m:r>
                        <a:rPr lang="en-US" sz="1800" i="1">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9">
                <a:extLst>
                  <a:ext uri="{FF2B5EF4-FFF2-40B4-BE49-F238E27FC236}">
                    <a16:creationId xmlns:a16="http://schemas.microsoft.com/office/drawing/2014/main" id="{DDD9E205-C1A3-C243-BE15-3B6A67BFE3FB}"/>
                  </a:ext>
                </a:extLst>
              </p:cNvPr>
              <p:cNvSpPr txBox="1">
                <a:spLocks noRot="1" noChangeAspect="1" noMove="1" noResize="1" noEditPoints="1" noAdjustHandles="1" noChangeArrowheads="1" noChangeShapeType="1" noTextEdit="1"/>
              </p:cNvSpPr>
              <p:nvPr/>
            </p:nvSpPr>
            <p:spPr>
              <a:xfrm>
                <a:off x="4610349" y="5270782"/>
                <a:ext cx="863600" cy="714375"/>
              </a:xfrm>
              <a:prstGeom prst="rect">
                <a:avLst/>
              </a:prstGeom>
              <a:blipFill>
                <a:blip r:embed="rId8"/>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p:sp>
        <p:nvSpPr>
          <p:cNvPr id="17" name="Text Box 26">
            <a:extLst>
              <a:ext uri="{FF2B5EF4-FFF2-40B4-BE49-F238E27FC236}">
                <a16:creationId xmlns:a16="http://schemas.microsoft.com/office/drawing/2014/main" xmlns="" id="{3EA1148C-2068-A849-9DCE-3E94DEA58F4A}"/>
              </a:ext>
            </a:extLst>
          </p:cNvPr>
          <p:cNvSpPr txBox="1"/>
          <p:nvPr/>
        </p:nvSpPr>
        <p:spPr>
          <a:xfrm>
            <a:off x="6529500" y="6182856"/>
            <a:ext cx="50165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a:latin typeface="Verdana" panose="020B0604030504040204" pitchFamily="34" charset="0"/>
                <a:ea typeface="Times New Roman" panose="02020603050405020304" pitchFamily="18" charset="0"/>
                <a:cs typeface="Times New Roman" panose="02020603050405020304" pitchFamily="18" charset="0"/>
              </a:rPr>
              <a: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5"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117</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646176" y="315208"/>
                <a:ext cx="11204447" cy="4863832"/>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The volume of the prism is equal to the area of the face multiplied by the length of the missing dimension. The value of the missing dimension can then be calculated by dividing the volume by the area of the face.</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100" i="1" dirty="0">
                          <a:latin typeface="Cambria Math" panose="02040503050406030204" pitchFamily="18" charset="0"/>
                          <a:ea typeface="Times New Roman" panose="02020603050405020304" pitchFamily="18" charset="0"/>
                          <a:cs typeface="Times New Roman" panose="02020603050405020304" pitchFamily="18" charset="0"/>
                        </a:rPr>
                        <m:t>𝑉</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𝐴𝑟𝑒𝑎</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𝑜𝑓</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𝑡h𝑒</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𝑓𝑎𝑐𝑒</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𝑚𝑒𝑎𝑠𝑢𝑟𝑒𝑚𝑒𝑛𝑡</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𝑜𝑓</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𝑡h𝑒</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𝑚𝑖𝑠𝑠𝑖𝑛𝑔</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100" i="1" dirty="0">
                          <a:latin typeface="Cambria Math" panose="02040503050406030204" pitchFamily="18" charset="0"/>
                          <a:ea typeface="Times New Roman" panose="02020603050405020304" pitchFamily="18" charset="0"/>
                          <a:cs typeface="Times New Roman" panose="02020603050405020304" pitchFamily="18" charset="0"/>
                        </a:rPr>
                        <m:t>𝑑𝑖𝑚𝑒𝑛𝑠𝑖𝑜𝑛</m:t>
                      </m:r>
                    </m:oMath>
                  </m:oMathPara>
                </a14:m>
                <a:endParaRPr lang="en-US" sz="2100" dirty="0">
                  <a:latin typeface="Verdana" panose="020B0604030504040204" pitchFamily="34" charset="0"/>
                  <a:ea typeface="Times New Roman" panose="02020603050405020304" pitchFamily="18" charset="0"/>
                  <a:cs typeface="Times New Roman" panose="02020603050405020304" pitchFamily="18" charset="0"/>
                </a:endParaRPr>
              </a:p>
              <a:p>
                <a:pPr lvl="0"/>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lvl="0"/>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𝑀𝑒𝑎𝑠𝑢𝑟𝑒𝑚𝑒𝑛𝑡</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𝑜𝑓</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𝑡h𝑒</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𝑚𝑖𝑠𝑠𝑖𝑛𝑔</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𝑑𝑖𝑚𝑒𝑛𝑠𝑖𝑜𝑛</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𝑉</m:t>
                          </m:r>
                        </m:num>
                        <m:den>
                          <m:r>
                            <a:rPr lang="es-ES" sz="2200" i="1" dirty="0">
                              <a:latin typeface="Cambria Math" panose="02040503050406030204" pitchFamily="18" charset="0"/>
                              <a:cs typeface="Times New Roman" panose="02020603050405020304" pitchFamily="18" charset="0"/>
                            </a:rPr>
                            <m:t>𝐴𝑟𝑒𝑎</m:t>
                          </m:r>
                          <m:r>
                            <a:rPr lang="es-ES" sz="2200" i="1" dirty="0">
                              <a:latin typeface="Cambria Math" panose="02040503050406030204" pitchFamily="18" charset="0"/>
                              <a:cs typeface="Times New Roman" panose="02020603050405020304" pitchFamily="18" charset="0"/>
                            </a:rPr>
                            <m:t> </m:t>
                          </m:r>
                          <m:r>
                            <a:rPr lang="es-ES" sz="2200" i="1" dirty="0">
                              <a:latin typeface="Cambria Math" panose="02040503050406030204" pitchFamily="18" charset="0"/>
                              <a:cs typeface="Times New Roman" panose="02020603050405020304" pitchFamily="18" charset="0"/>
                            </a:rPr>
                            <m:t>𝑜𝑓</m:t>
                          </m:r>
                          <m:r>
                            <a:rPr lang="es-ES" sz="2200" i="1" dirty="0">
                              <a:latin typeface="Cambria Math" panose="02040503050406030204" pitchFamily="18" charset="0"/>
                              <a:cs typeface="Times New Roman" panose="02020603050405020304" pitchFamily="18" charset="0"/>
                            </a:rPr>
                            <m:t> </m:t>
                          </m:r>
                          <m:r>
                            <a:rPr lang="es-ES" sz="2200" i="1" dirty="0">
                              <a:latin typeface="Cambria Math" panose="02040503050406030204" pitchFamily="18" charset="0"/>
                              <a:cs typeface="Times New Roman" panose="02020603050405020304" pitchFamily="18" charset="0"/>
                            </a:rPr>
                            <m:t>𝑡h𝑒</m:t>
                          </m:r>
                          <m:r>
                            <a:rPr lang="es-ES" sz="2200" i="1" dirty="0">
                              <a:latin typeface="Cambria Math" panose="02040503050406030204" pitchFamily="18" charset="0"/>
                              <a:cs typeface="Times New Roman" panose="02020603050405020304" pitchFamily="18" charset="0"/>
                            </a:rPr>
                            <m:t> </m:t>
                          </m:r>
                          <m:r>
                            <a:rPr lang="es-ES" sz="2200" i="1" dirty="0">
                              <a:latin typeface="Cambria Math" panose="02040503050406030204" pitchFamily="18" charset="0"/>
                              <a:cs typeface="Times New Roman" panose="02020603050405020304" pitchFamily="18" charset="0"/>
                            </a:rPr>
                            <m:t>𝑓𝑎𝑐𝑒</m:t>
                          </m:r>
                        </m:den>
                      </m:f>
                    </m:oMath>
                  </m:oMathPara>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If the volume of the box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233</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3</a:t>
                </a:r>
                <a:r>
                  <a:rPr lang="en-US" sz="2400" dirty="0">
                    <a:latin typeface="Verdana" panose="020B0604030504040204" pitchFamily="34" charset="0"/>
                    <a:ea typeface="Times New Roman" panose="02020603050405020304" pitchFamily="18" charset="0"/>
                    <a:cs typeface="Times New Roman" panose="02020603050405020304" pitchFamily="18" charset="0"/>
                  </a:rPr>
                  <a:t>, what is the value of the missing dimension of the box?</a:t>
                </a:r>
              </a:p>
              <a:p>
                <a:pPr lvl="0"/>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646176" y="315208"/>
                <a:ext cx="11204447" cy="4863832"/>
              </a:xfrm>
              <a:prstGeom prst="rect">
                <a:avLst/>
              </a:prstGeom>
              <a:blipFill>
                <a:blip r:embed="rId4"/>
                <a:stretch>
                  <a:fillRect l="-792" t="-779" r="-1697"/>
                </a:stretch>
              </a:blipFill>
            </p:spPr>
            <p:txBody>
              <a:bodyPr/>
              <a:lstStyle/>
              <a:p>
                <a:r>
                  <a:rPr lang="en-US">
                    <a:noFill/>
                  </a:rPr>
                  <a:t> </a:t>
                </a:r>
              </a:p>
            </p:txBody>
          </p:sp>
        </mc:Fallback>
      </mc:AlternateContent>
      <p:pic>
        <p:nvPicPr>
          <p:cNvPr id="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117</a:t>
            </a:r>
            <a:endParaRPr i="1" dirty="0">
              <a:latin typeface="Calibri"/>
              <a:ea typeface="Calibri"/>
              <a:cs typeface="Calibri"/>
              <a:sym typeface="Calibri"/>
            </a:endParaRPr>
          </a:p>
        </p:txBody>
      </p:sp>
    </p:spTree>
    <p:extLst>
      <p:ext uri="{BB962C8B-B14F-4D97-AF65-F5344CB8AC3E}">
        <p14:creationId xmlns:p14="http://schemas.microsoft.com/office/powerpoint/2010/main" val="3097323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585216" y="421226"/>
            <a:ext cx="11082528" cy="83099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Rafael was trying to find the missing dimension of the cereal box shown. </a:t>
            </a:r>
          </a:p>
        </p:txBody>
      </p:sp>
      <p:pic>
        <p:nvPicPr>
          <p:cNvPr id="9" name="Picture 8" descr="ree cereal-box Clipart - Free Clipart Graphics, Images and Photos. Public  Doma | Cereal box, Plane shapes, Solid figures">
            <a:extLst>
              <a:ext uri="{FF2B5EF4-FFF2-40B4-BE49-F238E27FC236}">
                <a16:creationId xmlns:a16="http://schemas.microsoft.com/office/drawing/2014/main" xmlns="" id="{04F6479A-D9A2-6640-B609-E91DB7038A5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12105" y="1439793"/>
            <a:ext cx="1367790" cy="1633855"/>
          </a:xfrm>
          <a:prstGeom prst="rect">
            <a:avLst/>
          </a:prstGeom>
          <a:noFill/>
          <a:ln>
            <a:noFill/>
          </a:ln>
        </p:spPr>
      </p:pic>
      <mc:AlternateContent xmlns:mc="http://schemas.openxmlformats.org/markup-compatibility/2006" xmlns:a14="http://schemas.microsoft.com/office/drawing/2010/main">
        <mc:Choice Requires="a14">
          <p:sp>
            <p:nvSpPr>
              <p:cNvPr id="10" name="Text Box 2">
                <a:extLst>
                  <a:ext uri="{FF2B5EF4-FFF2-40B4-BE49-F238E27FC236}">
                    <a16:creationId xmlns:a16="http://schemas.microsoft.com/office/drawing/2014/main" xmlns="" id="{2661A9CF-0101-E74F-B47E-3A378D68D898}"/>
                  </a:ext>
                </a:extLst>
              </p:cNvPr>
              <p:cNvSpPr txBox="1"/>
              <p:nvPr/>
            </p:nvSpPr>
            <p:spPr>
              <a:xfrm>
                <a:off x="6717956" y="2075181"/>
                <a:ext cx="974725"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1800">
                    <a:latin typeface="Cambria" panose="02040503050406030204" pitchFamily="18" charset="0"/>
                    <a:ea typeface="Times New Roman" panose="02020603050405020304" pitchFamily="18" charset="0"/>
                    <a:cs typeface="Times New Roman" panose="02020603050405020304" pitchFamily="18" charset="0"/>
                  </a:rPr>
                  <a:t> </a:t>
                </a:r>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2">
                <a:extLst>
                  <a:ext uri="{FF2B5EF4-FFF2-40B4-BE49-F238E27FC236}">
                    <a16:creationId xmlns:a16="http://schemas.microsoft.com/office/drawing/2014/main" id="{2661A9CF-0101-E74F-B47E-3A378D68D898}"/>
                  </a:ext>
                </a:extLst>
              </p:cNvPr>
              <p:cNvSpPr txBox="1">
                <a:spLocks noRot="1" noChangeAspect="1" noMove="1" noResize="1" noEditPoints="1" noAdjustHandles="1" noChangeArrowheads="1" noChangeShapeType="1" noTextEdit="1"/>
              </p:cNvSpPr>
              <p:nvPr/>
            </p:nvSpPr>
            <p:spPr>
              <a:xfrm>
                <a:off x="6717956" y="2075181"/>
                <a:ext cx="974725" cy="396875"/>
              </a:xfrm>
              <a:prstGeom prst="rect">
                <a:avLst/>
              </a:prstGeom>
              <a:blipFill>
                <a:blip r:embed="rId5"/>
                <a:stretch>
                  <a:fillRect t="-6250" b="-1875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13">
                <a:extLst>
                  <a:ext uri="{FF2B5EF4-FFF2-40B4-BE49-F238E27FC236}">
                    <a16:creationId xmlns:a16="http://schemas.microsoft.com/office/drawing/2014/main" xmlns="" id="{77CB2587-AD2F-8944-8927-B18233FD72F6}"/>
                  </a:ext>
                </a:extLst>
              </p:cNvPr>
              <p:cNvSpPr txBox="1"/>
              <p:nvPr/>
            </p:nvSpPr>
            <p:spPr>
              <a:xfrm>
                <a:off x="5930556" y="3032126"/>
                <a:ext cx="1038225" cy="39687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20.3 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13">
                <a:extLst>
                  <a:ext uri="{FF2B5EF4-FFF2-40B4-BE49-F238E27FC236}">
                    <a16:creationId xmlns:a16="http://schemas.microsoft.com/office/drawing/2014/main" id="{77CB2587-AD2F-8944-8927-B18233FD72F6}"/>
                  </a:ext>
                </a:extLst>
              </p:cNvPr>
              <p:cNvSpPr txBox="1">
                <a:spLocks noRot="1" noChangeAspect="1" noMove="1" noResize="1" noEditPoints="1" noAdjustHandles="1" noChangeArrowheads="1" noChangeShapeType="1" noTextEdit="1"/>
              </p:cNvSpPr>
              <p:nvPr/>
            </p:nvSpPr>
            <p:spPr>
              <a:xfrm>
                <a:off x="5930556" y="3032126"/>
                <a:ext cx="1038225" cy="396875"/>
              </a:xfrm>
              <a:prstGeom prst="rect">
                <a:avLst/>
              </a:prstGeom>
              <a:blipFill>
                <a:blip r:embed="rId6"/>
                <a:stretch>
                  <a:fillRect t="-6061" r="-2439" b="-15152"/>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6D8BC71F-C45B-584F-BCB4-BEC7EA185F4D}"/>
                  </a:ext>
                </a:extLst>
              </p:cNvPr>
              <p:cNvSpPr txBox="1"/>
              <p:nvPr/>
            </p:nvSpPr>
            <p:spPr>
              <a:xfrm>
                <a:off x="585216" y="3866790"/>
                <a:ext cx="11277600" cy="1569660"/>
              </a:xfrm>
              <a:prstGeom prst="rect">
                <a:avLst/>
              </a:prstGeom>
              <a:noFill/>
            </p:spPr>
            <p:txBody>
              <a:bodyPr wrap="square" rtlCol="0">
                <a:spAutoFit/>
              </a:bodyPr>
              <a:lstStyle/>
              <a:p>
                <a:pPr lvl="0" algn="ctr"/>
                <a:r>
                  <a:rPr lang="en-US" sz="2400" dirty="0">
                    <a:latin typeface="Verdana" panose="020B0604030504040204" pitchFamily="34" charset="0"/>
                    <a:ea typeface="Times New Roman" panose="02020603050405020304" pitchFamily="18" charset="0"/>
                    <a:cs typeface="Times New Roman" panose="02020603050405020304" pitchFamily="18" charset="0"/>
                  </a:rPr>
                  <a:t>Volume =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r>
                      <a:rPr lang="en-US" sz="2400" b="0" i="1" dirty="0" smtClean="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218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cm</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88950"/>
                <a:r>
                  <a:rPr lang="en-US" sz="2400" dirty="0">
                    <a:latin typeface="Verdana" panose="020B0604030504040204" pitchFamily="34" charset="0"/>
                    <a:ea typeface="Times New Roman" panose="02020603050405020304" pitchFamily="18" charset="0"/>
                    <a:cs typeface="Times New Roman" panose="02020603050405020304" pitchFamily="18" charset="0"/>
                  </a:rPr>
                  <a:t>He made a mistake while solving for the width of the box, but he cannot find it. Inspect his work below.</a:t>
                </a:r>
              </a:p>
            </p:txBody>
          </p:sp>
        </mc:Choice>
        <mc:Fallback xmlns="">
          <p:sp>
            <p:nvSpPr>
              <p:cNvPr id="13" name="TextBox 12">
                <a:extLst>
                  <a:ext uri="{FF2B5EF4-FFF2-40B4-BE49-F238E27FC236}">
                    <a16:creationId xmlns:a16="http://schemas.microsoft.com/office/drawing/2014/main" id="{6D8BC71F-C45B-584F-BCB4-BEC7EA185F4D}"/>
                  </a:ext>
                </a:extLst>
              </p:cNvPr>
              <p:cNvSpPr txBox="1">
                <a:spLocks noRot="1" noChangeAspect="1" noMove="1" noResize="1" noEditPoints="1" noAdjustHandles="1" noChangeArrowheads="1" noChangeShapeType="1" noTextEdit="1"/>
              </p:cNvSpPr>
              <p:nvPr/>
            </p:nvSpPr>
            <p:spPr>
              <a:xfrm>
                <a:off x="585216" y="3866790"/>
                <a:ext cx="11277600" cy="1569660"/>
              </a:xfrm>
              <a:prstGeom prst="rect">
                <a:avLst/>
              </a:prstGeom>
              <a:blipFill>
                <a:blip r:embed="rId7"/>
                <a:stretch>
                  <a:fillRect t="-3488" b="-7752"/>
                </a:stretch>
              </a:blipFill>
            </p:spPr>
            <p:txBody>
              <a:bodyPr/>
              <a:lstStyle/>
              <a:p>
                <a:r>
                  <a:rPr lang="en-US">
                    <a:noFill/>
                  </a:rPr>
                  <a:t> </a:t>
                </a:r>
              </a:p>
            </p:txBody>
          </p:sp>
        </mc:Fallback>
      </mc:AlternateContent>
      <p:pic>
        <p:nvPicPr>
          <p:cNvPr id="14"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p:spTree>
    <p:extLst>
      <p:ext uri="{BB962C8B-B14F-4D97-AF65-F5344CB8AC3E}">
        <p14:creationId xmlns:p14="http://schemas.microsoft.com/office/powerpoint/2010/main" val="286667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646176" y="4383626"/>
            <a:ext cx="9406800" cy="430887"/>
          </a:xfrm>
          <a:prstGeom prst="rect">
            <a:avLst/>
          </a:prstGeom>
          <a:noFill/>
        </p:spPr>
        <p:txBody>
          <a:bodyPr wrap="square" rtlCol="0">
            <a:spAutoFit/>
          </a:bodyPr>
          <a:lstStyle/>
          <a:p>
            <a:pPr lvl="0"/>
            <a:r>
              <a:rPr lang="en-US" sz="2200" dirty="0">
                <a:latin typeface="Verdana" panose="020B0604030504040204" pitchFamily="34" charset="0"/>
                <a:ea typeface="Times New Roman" panose="02020603050405020304" pitchFamily="18" charset="0"/>
                <a:cs typeface="Times New Roman" panose="02020603050405020304" pitchFamily="18" charset="0"/>
              </a:rPr>
              <a:t>Write a note to Rafael on how to correct his error(s).</a:t>
            </a:r>
          </a:p>
        </p:txBody>
      </p:sp>
      <p:graphicFrame>
        <p:nvGraphicFramePr>
          <p:cNvPr id="3" name="Table 2">
            <a:extLst>
              <a:ext uri="{FF2B5EF4-FFF2-40B4-BE49-F238E27FC236}">
                <a16:creationId xmlns:a16="http://schemas.microsoft.com/office/drawing/2014/main" xmlns="" id="{674E265E-4B35-1A43-9B0A-990D45D06E66}"/>
              </a:ext>
            </a:extLst>
          </p:cNvPr>
          <p:cNvGraphicFramePr>
            <a:graphicFrameLocks noGrp="1"/>
          </p:cNvGraphicFramePr>
          <p:nvPr>
            <p:extLst>
              <p:ext uri="{D42A27DB-BD31-4B8C-83A1-F6EECF244321}">
                <p14:modId xmlns:p14="http://schemas.microsoft.com/office/powerpoint/2010/main" val="840600679"/>
              </p:ext>
            </p:extLst>
          </p:nvPr>
        </p:nvGraphicFramePr>
        <p:xfrm>
          <a:off x="2652713" y="533196"/>
          <a:ext cx="6886575" cy="3412363"/>
        </p:xfrm>
        <a:graphic>
          <a:graphicData uri="http://schemas.openxmlformats.org/drawingml/2006/table">
            <a:tbl>
              <a:tblPr firstRow="1" firstCol="1" bandRow="1"/>
              <a:tblGrid>
                <a:gridCol w="6886575">
                  <a:extLst>
                    <a:ext uri="{9D8B030D-6E8A-4147-A177-3AD203B41FA5}">
                      <a16:colId xmlns:a16="http://schemas.microsoft.com/office/drawing/2014/main" xmlns="" val="991549610"/>
                    </a:ext>
                  </a:extLst>
                </a:gridCol>
              </a:tblGrid>
              <a:tr h="0">
                <a:tc>
                  <a:txBody>
                    <a:bodyPr/>
                    <a:lstStyle/>
                    <a:p>
                      <a:pPr marL="0" marR="0" algn="ctr">
                        <a:lnSpc>
                          <a:spcPct val="115000"/>
                        </a:lnSpc>
                        <a:spcBef>
                          <a:spcPts val="0"/>
                        </a:spcBef>
                        <a:spcAft>
                          <a:spcPts val="0"/>
                        </a:spcAft>
                      </a:pPr>
                      <a:r>
                        <a:rPr lang="en-US" sz="1800" b="1">
                          <a:effectLst/>
                          <a:latin typeface="Verdana" panose="020B0604030504040204" pitchFamily="34" charset="0"/>
                          <a:ea typeface="Times New Roman" panose="02020603050405020304" pitchFamily="18" charset="0"/>
                          <a:cs typeface="Times New Roman" panose="02020603050405020304" pitchFamily="18" charset="0"/>
                        </a:rPr>
                        <a:t>Rafael’s Work</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2719307199"/>
                  </a:ext>
                </a:extLst>
              </a:tr>
              <a:tr h="3096895">
                <a:tc>
                  <a:txBody>
                    <a:bodyPr/>
                    <a:lstStyle/>
                    <a:p>
                      <a:pPr marL="0" marR="0" algn="ctr">
                        <a:lnSpc>
                          <a:spcPct val="115000"/>
                        </a:lnSpc>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r>
                      <a:br>
                        <a:rPr lang="en-US" sz="1800" dirty="0">
                          <a:effectLst/>
                          <a:latin typeface="Verdana" panose="020B0604030504040204" pitchFamily="34" charset="0"/>
                          <a:ea typeface="Times New Roman" panose="02020603050405020304" pitchFamily="18" charset="0"/>
                          <a:cs typeface="Times New Roman" panose="02020603050405020304" pitchFamily="18" charset="0"/>
                        </a:rPr>
                      </a:b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73512049"/>
                  </a:ext>
                </a:extLst>
              </a:tr>
            </a:tbl>
          </a:graphicData>
        </a:graphic>
      </p:graphicFrame>
      <p:pic>
        <p:nvPicPr>
          <p:cNvPr id="5" name="Picture 4" descr="Text, letter&#10;&#10;Description automatically generated">
            <a:extLst>
              <a:ext uri="{FF2B5EF4-FFF2-40B4-BE49-F238E27FC236}">
                <a16:creationId xmlns:a16="http://schemas.microsoft.com/office/drawing/2014/main" xmlns="" id="{06B7445A-8493-D340-9DC4-484A00984A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46395" y="979407"/>
            <a:ext cx="4589223" cy="2734005"/>
          </a:xfrm>
          <a:prstGeom prst="rect">
            <a:avLst/>
          </a:prstGeom>
        </p:spPr>
      </p:pic>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p:spTree>
    <p:extLst>
      <p:ext uri="{BB962C8B-B14F-4D97-AF65-F5344CB8AC3E}">
        <p14:creationId xmlns:p14="http://schemas.microsoft.com/office/powerpoint/2010/main" val="1136049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60464" y="276197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pic>
        <p:nvPicPr>
          <p:cNvPr id="9" name="image12.png" descr="Icon&#10;&#10;Description automatically generated">
            <a:extLst>
              <a:ext uri="{FF2B5EF4-FFF2-40B4-BE49-F238E27FC236}">
                <a16:creationId xmlns:a16="http://schemas.microsoft.com/office/drawing/2014/main" xmlns="" id="{05A29D4D-284E-C245-A797-AF6FAB672289}"/>
              </a:ext>
            </a:extLst>
          </p:cNvPr>
          <p:cNvPicPr/>
          <p:nvPr/>
        </p:nvPicPr>
        <p:blipFill>
          <a:blip r:embed="rId3"/>
          <a:srcRect/>
          <a:stretch>
            <a:fillRect/>
          </a:stretch>
        </p:blipFill>
        <p:spPr>
          <a:xfrm>
            <a:off x="3456432" y="2848753"/>
            <a:ext cx="1152144" cy="1152144"/>
          </a:xfrm>
          <a:prstGeom prst="rect">
            <a:avLst/>
          </a:prstGeom>
          <a:ln/>
          <a:effectLst>
            <a:outerShdw blurRad="50800" dist="38100" dir="2700000" algn="tl" rotWithShape="0">
              <a:prstClr val="black">
                <a:alpha val="40000"/>
              </a:prstClr>
            </a:outerShdw>
          </a:effec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p:spTree>
    <p:extLst>
      <p:ext uri="{BB962C8B-B14F-4D97-AF65-F5344CB8AC3E}">
        <p14:creationId xmlns:p14="http://schemas.microsoft.com/office/powerpoint/2010/main" val="323854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17326" y="-4050"/>
            <a:ext cx="1020470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8.8.4 Guided Practice: Find the Missing Dimension</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939102" y="1451535"/>
                <a:ext cx="9988993"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Sally broke her ruler before she finished measuring her toy chest. She knows the toy chest has a volume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25.</m:t>
                    </m:r>
                    <m:r>
                      <a:rPr lang="en-US" sz="2400" b="0" i="1" dirty="0" smtClean="0">
                        <a:latin typeface="Cambria Math" panose="02040503050406030204" pitchFamily="18" charset="0"/>
                        <a:ea typeface="Times New Roman" panose="02020603050405020304" pitchFamily="18" charset="0"/>
                        <a:cs typeface="Times New Roman" panose="02020603050405020304" pitchFamily="18" charset="0"/>
                      </a:rPr>
                      <m:t>2</m:t>
                    </m:r>
                    <m:r>
                      <a:rPr lang="es-ES" sz="2400" i="1" dirty="0">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s-ES" sz="2400" i="1" dirty="0">
                            <a:latin typeface="Cambria Math"/>
                            <a:cs typeface="Times New Roman" panose="02020603050405020304" pitchFamily="18" charset="0"/>
                          </a:rPr>
                        </m:ctrlPr>
                      </m:sSupPr>
                      <m:e>
                        <m:r>
                          <m:rPr>
                            <m:sty m:val="p"/>
                          </m:rPr>
                          <a:rPr lang="es-ES" sz="2400" dirty="0">
                            <a:latin typeface="Cambria Math" panose="02040503050406030204" pitchFamily="18" charset="0"/>
                            <a:cs typeface="Times New Roman" panose="02020603050405020304" pitchFamily="18" charset="0"/>
                          </a:rPr>
                          <m:t>ft</m:t>
                        </m:r>
                      </m:e>
                      <m:sup>
                        <m:r>
                          <a:rPr lang="es-ES" sz="2400"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39102" y="1451535"/>
                <a:ext cx="9988993" cy="830997"/>
              </a:xfrm>
              <a:prstGeom prst="rect">
                <a:avLst/>
              </a:prstGeom>
              <a:blipFill>
                <a:blip r:embed="rId3"/>
                <a:stretch>
                  <a:fillRect l="-915" t="-5882" b="-15441"/>
                </a:stretch>
              </a:blipFill>
            </p:spPr>
            <p:txBody>
              <a:bodyPr/>
              <a:lstStyle/>
              <a:p>
                <a:r>
                  <a:rPr lang="en-US">
                    <a:noFill/>
                  </a:rPr>
                  <a:t> </a:t>
                </a:r>
              </a:p>
            </p:txBody>
          </p:sp>
        </mc:Fallback>
      </mc:AlternateContent>
      <p:pic>
        <p:nvPicPr>
          <p:cNvPr id="9" name="image12.png" descr="Icon&#10;&#10;Description automatically generated">
            <a:extLst>
              <a:ext uri="{FF2B5EF4-FFF2-40B4-BE49-F238E27FC236}">
                <a16:creationId xmlns:a16="http://schemas.microsoft.com/office/drawing/2014/main" xmlns="" id="{C34AF932-3BB1-4B41-8042-C39DE0026473}"/>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32817" y="275119"/>
            <a:ext cx="749808" cy="749808"/>
          </a:xfrm>
          <a:prstGeom prst="rect">
            <a:avLst/>
          </a:prstGeom>
          <a:ln/>
          <a:effectLst>
            <a:outerShdw blurRad="50800" dist="38100" dir="2700000" algn="tl" rotWithShape="0">
              <a:prstClr val="black">
                <a:alpha val="40000"/>
              </a:prstClr>
            </a:outerShdw>
          </a:effectLst>
        </p:spPr>
      </p:pic>
      <p:pic>
        <p:nvPicPr>
          <p:cNvPr id="10" name="Picture 9" descr="clipart box wood box">
            <a:extLst>
              <a:ext uri="{FF2B5EF4-FFF2-40B4-BE49-F238E27FC236}">
                <a16:creationId xmlns:a16="http://schemas.microsoft.com/office/drawing/2014/main" xmlns="" id="{0E46C69E-512F-B94B-873B-FF6C4455DE0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152390" y="2822138"/>
            <a:ext cx="1887220" cy="1711325"/>
          </a:xfrm>
          <a:prstGeom prst="rect">
            <a:avLst/>
          </a:prstGeom>
          <a:noFill/>
          <a:ln>
            <a:noFill/>
          </a:ln>
        </p:spPr>
      </p:pic>
      <mc:AlternateContent xmlns:mc="http://schemas.openxmlformats.org/markup-compatibility/2006" xmlns:a14="http://schemas.microsoft.com/office/drawing/2010/main">
        <mc:Choice Requires="a14">
          <p:sp>
            <p:nvSpPr>
              <p:cNvPr id="11" name="Text Box 17">
                <a:extLst>
                  <a:ext uri="{FF2B5EF4-FFF2-40B4-BE49-F238E27FC236}">
                    <a16:creationId xmlns:a16="http://schemas.microsoft.com/office/drawing/2014/main" xmlns="" id="{560B54D6-79F8-BE47-9270-5CEF42CC72C5}"/>
                  </a:ext>
                </a:extLst>
              </p:cNvPr>
              <p:cNvSpPr txBox="1"/>
              <p:nvPr/>
            </p:nvSpPr>
            <p:spPr>
              <a:xfrm>
                <a:off x="4553685" y="3147344"/>
                <a:ext cx="55880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3 </m:t>
                      </m:r>
                      <m:r>
                        <m:rPr>
                          <m:sty m:val="p"/>
                        </m:rPr>
                        <a:rPr lang="en-US" sz="1600">
                          <a:latin typeface="Cambria Math" panose="02040503050406030204" pitchFamily="18" charset="0"/>
                          <a:ea typeface="Times New Roman" panose="02020603050405020304" pitchFamily="18" charset="0"/>
                          <a:cs typeface="Times New Roman" panose="02020603050405020304" pitchFamily="18" charset="0"/>
                        </a:rPr>
                        <m:t>ft</m:t>
                      </m:r>
                      <m:r>
                        <a:rPr lang="en-US" sz="1600" i="1">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17">
                <a:extLst>
                  <a:ext uri="{FF2B5EF4-FFF2-40B4-BE49-F238E27FC236}">
                    <a16:creationId xmlns:a16="http://schemas.microsoft.com/office/drawing/2014/main" id="{560B54D6-79F8-BE47-9270-5CEF42CC72C5}"/>
                  </a:ext>
                </a:extLst>
              </p:cNvPr>
              <p:cNvSpPr txBox="1">
                <a:spLocks noRot="1" noChangeAspect="1" noMove="1" noResize="1" noEditPoints="1" noAdjustHandles="1" noChangeArrowheads="1" noChangeShapeType="1" noTextEdit="1"/>
              </p:cNvSpPr>
              <p:nvPr/>
            </p:nvSpPr>
            <p:spPr>
              <a:xfrm>
                <a:off x="4553685" y="3147344"/>
                <a:ext cx="558800" cy="342900"/>
              </a:xfrm>
              <a:prstGeom prst="rect">
                <a:avLst/>
              </a:prstGeom>
              <a:blipFill>
                <a:blip r:embed="rId7"/>
                <a:stretch>
                  <a:fillRect b="-13793"/>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18">
                <a:extLst>
                  <a:ext uri="{FF2B5EF4-FFF2-40B4-BE49-F238E27FC236}">
                    <a16:creationId xmlns:a16="http://schemas.microsoft.com/office/drawing/2014/main" xmlns="" id="{800FDE15-F4BD-3C4F-9EC7-0CD18A6C2C8F}"/>
                  </a:ext>
                </a:extLst>
              </p:cNvPr>
              <p:cNvSpPr txBox="1"/>
              <p:nvPr/>
            </p:nvSpPr>
            <p:spPr>
              <a:xfrm>
                <a:off x="6452335" y="4388769"/>
                <a:ext cx="78105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Times New Roman" panose="02020603050405020304" pitchFamily="18" charset="0"/>
                          <a:cs typeface="Times New Roman" panose="02020603050405020304" pitchFamily="18" charset="0"/>
                        </a:rPr>
                        <m:t>2.4 </m:t>
                      </m:r>
                      <m:r>
                        <m:rPr>
                          <m:sty m:val="p"/>
                        </m:rPr>
                        <a:rPr lang="en-US" sz="1600">
                          <a:latin typeface="Cambria Math" panose="02040503050406030204" pitchFamily="18" charset="0"/>
                          <a:ea typeface="Times New Roman" panose="02020603050405020304" pitchFamily="18" charset="0"/>
                          <a:cs typeface="Times New Roman" panose="02020603050405020304" pitchFamily="18" charset="0"/>
                        </a:rPr>
                        <m:t>ft</m:t>
                      </m:r>
                      <m:r>
                        <a:rPr lang="en-US" sz="1600">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18">
                <a:extLst>
                  <a:ext uri="{FF2B5EF4-FFF2-40B4-BE49-F238E27FC236}">
                    <a16:creationId xmlns:a16="http://schemas.microsoft.com/office/drawing/2014/main" id="{800FDE15-F4BD-3C4F-9EC7-0CD18A6C2C8F}"/>
                  </a:ext>
                </a:extLst>
              </p:cNvPr>
              <p:cNvSpPr txBox="1">
                <a:spLocks noRot="1" noChangeAspect="1" noMove="1" noResize="1" noEditPoints="1" noAdjustHandles="1" noChangeArrowheads="1" noChangeShapeType="1" noTextEdit="1"/>
              </p:cNvSpPr>
              <p:nvPr/>
            </p:nvSpPr>
            <p:spPr>
              <a:xfrm>
                <a:off x="6452335" y="4388769"/>
                <a:ext cx="781050" cy="342900"/>
              </a:xfrm>
              <a:prstGeom prst="rect">
                <a:avLst/>
              </a:prstGeom>
              <a:blipFill>
                <a:blip r:embed="rId8"/>
                <a:stretch>
                  <a:fillRect b="-14286"/>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p:sp>
        <p:nvSpPr>
          <p:cNvPr id="16" name="TextBox 15">
            <a:extLst>
              <a:ext uri="{FF2B5EF4-FFF2-40B4-BE49-F238E27FC236}">
                <a16:creationId xmlns:a16="http://schemas.microsoft.com/office/drawing/2014/main" xmlns="" id="{9C9E26D8-19E5-184B-812D-5369C8FB6910}"/>
              </a:ext>
            </a:extLst>
          </p:cNvPr>
          <p:cNvSpPr txBox="1"/>
          <p:nvPr/>
        </p:nvSpPr>
        <p:spPr>
          <a:xfrm>
            <a:off x="1182625" y="4923605"/>
            <a:ext cx="8870352" cy="461665"/>
          </a:xfrm>
          <a:prstGeom prst="rect">
            <a:avLst/>
          </a:prstGeom>
          <a:noFill/>
        </p:spPr>
        <p:txBody>
          <a:bodyPr wrap="square" rtlCol="0">
            <a:spAutoFit/>
          </a:bodyPr>
          <a:lstStyle/>
          <a:p>
            <a:pPr indent="488950"/>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length of the toy chest?</a:t>
            </a:r>
          </a:p>
        </p:txBody>
      </p:sp>
      <p:pic>
        <p:nvPicPr>
          <p:cNvPr id="14"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p:spTree>
    <p:extLst>
      <p:ext uri="{BB962C8B-B14F-4D97-AF65-F5344CB8AC3E}">
        <p14:creationId xmlns:p14="http://schemas.microsoft.com/office/powerpoint/2010/main" val="303173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463296" y="421225"/>
                <a:ext cx="11423903"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Damion works in construction and needs to cut a wooden beam to fill a cement hole. He knows that the beam has a width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meters (m) and a length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 If Damion knows that the volume of the beam needs to be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cubic meters (m</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3</a:t>
                </a:r>
                <a:r>
                  <a:rPr lang="en-US" sz="2400" dirty="0">
                    <a:latin typeface="Verdana" panose="020B0604030504040204" pitchFamily="34" charset="0"/>
                    <a:ea typeface="Times New Roman" panose="02020603050405020304" pitchFamily="18" charset="0"/>
                    <a:cs typeface="Times New Roman" panose="02020603050405020304" pitchFamily="18" charset="0"/>
                  </a:rPr>
                  <a:t>), what is the height?</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463296" y="421225"/>
                <a:ext cx="11423903" cy="1569660"/>
              </a:xfrm>
              <a:prstGeom prst="rect">
                <a:avLst/>
              </a:prstGeom>
              <a:blipFill>
                <a:blip r:embed="rId4"/>
                <a:stretch>
                  <a:fillRect l="-888" t="-3226" r="-777" b="-8065"/>
                </a:stretch>
              </a:blipFill>
            </p:spPr>
            <p:txBody>
              <a:bodyPr/>
              <a:lstStyle/>
              <a:p>
                <a:r>
                  <a:rPr lang="en-US">
                    <a:noFill/>
                  </a:rPr>
                  <a:t> </a:t>
                </a:r>
              </a:p>
            </p:txBody>
          </p:sp>
        </mc:Fallback>
      </mc:AlternateContent>
    </p:spTree>
    <p:extLst>
      <p:ext uri="{BB962C8B-B14F-4D97-AF65-F5344CB8AC3E}">
        <p14:creationId xmlns:p14="http://schemas.microsoft.com/office/powerpoint/2010/main" val="3213950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735735" y="276614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7" name="image3.png" descr="Icon&#10;&#10;Description automatically generated">
            <a:extLst>
              <a:ext uri="{FF2B5EF4-FFF2-40B4-BE49-F238E27FC236}">
                <a16:creationId xmlns:a16="http://schemas.microsoft.com/office/drawing/2014/main" xmlns="" id="{F62D86F1-5AD3-AC42-91A9-A629B3BF8BF7}"/>
              </a:ext>
            </a:extLst>
          </p:cNvPr>
          <p:cNvPicPr/>
          <p:nvPr/>
        </p:nvPicPr>
        <p:blipFill>
          <a:blip r:embed="rId3"/>
          <a:srcRect/>
          <a:stretch>
            <a:fillRect/>
          </a:stretch>
        </p:blipFill>
        <p:spPr>
          <a:xfrm>
            <a:off x="3294751" y="2852920"/>
            <a:ext cx="1152149" cy="1152149"/>
          </a:xfrm>
          <a:prstGeom prst="rect">
            <a:avLst/>
          </a:prstGeom>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extLst>
      <p:ext uri="{BB962C8B-B14F-4D97-AF65-F5344CB8AC3E}">
        <p14:creationId xmlns:p14="http://schemas.microsoft.com/office/powerpoint/2010/main" val="164169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92223" y="-4698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8.8.5 Your Turn!</a:t>
            </a:r>
            <a:endParaRPr lang="en-US" sz="4000" b="1" dirty="0">
              <a:solidFill>
                <a:srgbClr val="E24E5F"/>
              </a:solidFill>
              <a:latin typeface="Verdana" panose="020B0604030504040204" pitchFamily="34" charset="0"/>
              <a:ea typeface="Verdana" panose="020B0604030504040204" pitchFamily="34" charset="0"/>
              <a:cs typeface="Verdana" panose="020B0604030504040204" pitchFamily="34" charset="0"/>
              <a:sym typeface="Verdana"/>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1192223" y="1091451"/>
                <a:ext cx="10292641" cy="1353319"/>
              </a:xfrm>
              <a:prstGeom prst="rect">
                <a:avLst/>
              </a:prstGeom>
              <a:noFill/>
            </p:spPr>
            <p:txBody>
              <a:bodyPr wrap="square" rtlCol="0">
                <a:spAutoFit/>
              </a:bodyPr>
              <a:lstStyle/>
              <a:p>
                <a:pPr marL="409575" indent="-409575">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Mr. Rodrigo knows that his briefcase has a volume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r>
                      <a:rPr lang="en-US" sz="2400" b="0" i="1" dirty="0" smtClean="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068</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cubic centimeters (cm</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3</a:t>
                </a:r>
                <a:r>
                  <a:rPr lang="en-US" sz="2400" dirty="0">
                    <a:latin typeface="Verdana" panose="020B0604030504040204" pitchFamily="34" charset="0"/>
                    <a:ea typeface="Times New Roman" panose="02020603050405020304" pitchFamily="18" charset="0"/>
                    <a:cs typeface="Times New Roman" panose="02020603050405020304" pitchFamily="18" charset="0"/>
                  </a:rPr>
                  <a:t>). He labeled the dimensions of the briefcase that he knew.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1192223" y="1091451"/>
                <a:ext cx="10292641" cy="1353319"/>
              </a:xfrm>
              <a:prstGeom prst="rect">
                <a:avLst/>
              </a:prstGeom>
              <a:blipFill>
                <a:blip r:embed="rId3"/>
                <a:stretch>
                  <a:fillRect l="-948" b="-9009"/>
                </a:stretch>
              </a:blipFill>
            </p:spPr>
            <p:txBody>
              <a:bodyPr/>
              <a:lstStyle/>
              <a:p>
                <a:r>
                  <a:rPr lang="en-US">
                    <a:noFill/>
                  </a:rPr>
                  <a:t> </a:t>
                </a:r>
              </a:p>
            </p:txBody>
          </p:sp>
        </mc:Fallback>
      </mc:AlternateContent>
      <p:pic>
        <p:nvPicPr>
          <p:cNvPr id="14" name="image3.png" descr="Icon&#10;&#10;Description automatically generated">
            <a:extLst>
              <a:ext uri="{FF2B5EF4-FFF2-40B4-BE49-F238E27FC236}">
                <a16:creationId xmlns:a16="http://schemas.microsoft.com/office/drawing/2014/main" xmlns="" id="{DD594980-EA87-4A47-866F-5252F0DE172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42415" y="210604"/>
            <a:ext cx="749808" cy="749808"/>
          </a:xfrm>
          <a:prstGeom prst="rect">
            <a:avLst/>
          </a:prstGeom>
          <a:ln/>
          <a:effectLst>
            <a:outerShdw blurRad="50800" dist="38100" dir="2700000" algn="tl" rotWithShape="0">
              <a:prstClr val="black">
                <a:alpha val="40000"/>
              </a:prstClr>
            </a:outerShdw>
          </a:effectLst>
        </p:spPr>
      </p:pic>
      <p:pic>
        <p:nvPicPr>
          <p:cNvPr id="9" name="Picture 8" descr="riefcase clipart, cliparts of Briefcase free download (wmf, eps, emf, svg,  png, gif) formats">
            <a:extLst>
              <a:ext uri="{FF2B5EF4-FFF2-40B4-BE49-F238E27FC236}">
                <a16:creationId xmlns:a16="http://schemas.microsoft.com/office/drawing/2014/main" xmlns="" id="{0E83FD88-17C2-D04C-8B07-D8DC77FB08FB}"/>
              </a:ext>
            </a:extLst>
          </p:cNvPr>
          <p:cNvPicPr>
            <a:picLocks noChangeAspect="1"/>
          </p:cNvPicPr>
          <p:nvPr/>
        </p:nvPicPr>
        <p:blipFill rotWithShape="1">
          <a:blip r:embed="rId5">
            <a:extLst>
              <a:ext uri="{28A0092B-C50C-407E-A947-70E740481C1C}">
                <a14:useLocalDpi xmlns:a14="http://schemas.microsoft.com/office/drawing/2010/main"/>
              </a:ext>
            </a:extLst>
          </a:blip>
          <a:srcRect t="21854" b="24457"/>
          <a:stretch/>
        </p:blipFill>
        <p:spPr bwMode="auto">
          <a:xfrm>
            <a:off x="4610100" y="2631440"/>
            <a:ext cx="2971800" cy="1595120"/>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Text Box 21">
                <a:extLst>
                  <a:ext uri="{FF2B5EF4-FFF2-40B4-BE49-F238E27FC236}">
                    <a16:creationId xmlns:a16="http://schemas.microsoft.com/office/drawing/2014/main" xmlns="" id="{D910EEC3-87F7-7243-853D-77D82BC397FA}"/>
                  </a:ext>
                </a:extLst>
              </p:cNvPr>
              <p:cNvSpPr txBox="1"/>
              <p:nvPr/>
            </p:nvSpPr>
            <p:spPr>
              <a:xfrm>
                <a:off x="5375427" y="4226560"/>
                <a:ext cx="835025"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1800">
                    <a:latin typeface="Cambria Math" panose="02040503050406030204" pitchFamily="18" charset="0"/>
                    <a:ea typeface="Times New Roman" panose="02020603050405020304" pitchFamily="18" charset="0"/>
                    <a:cs typeface="Times New Roman" panose="02020603050405020304" pitchFamily="18" charset="0"/>
                  </a:rPr>
                  <a:t> </a:t>
                </a:r>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21">
                <a:extLst>
                  <a:ext uri="{FF2B5EF4-FFF2-40B4-BE49-F238E27FC236}">
                    <a16:creationId xmlns:a16="http://schemas.microsoft.com/office/drawing/2014/main" id="{D910EEC3-87F7-7243-853D-77D82BC397FA}"/>
                  </a:ext>
                </a:extLst>
              </p:cNvPr>
              <p:cNvSpPr txBox="1">
                <a:spLocks noRot="1" noChangeAspect="1" noMove="1" noResize="1" noEditPoints="1" noAdjustHandles="1" noChangeArrowheads="1" noChangeShapeType="1" noTextEdit="1"/>
              </p:cNvSpPr>
              <p:nvPr/>
            </p:nvSpPr>
            <p:spPr>
              <a:xfrm>
                <a:off x="5375427" y="4226560"/>
                <a:ext cx="835025" cy="342900"/>
              </a:xfrm>
              <a:prstGeom prst="rect">
                <a:avLst/>
              </a:prstGeom>
              <a:blipFill>
                <a:blip r:embed="rId7"/>
                <a:stretch>
                  <a:fillRect t="-10714" r="-4478" b="-32143"/>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22">
                <a:extLst>
                  <a:ext uri="{FF2B5EF4-FFF2-40B4-BE49-F238E27FC236}">
                    <a16:creationId xmlns:a16="http://schemas.microsoft.com/office/drawing/2014/main" xmlns="" id="{195707CA-AFA1-E742-BF93-05476748E8B3}"/>
                  </a:ext>
                </a:extLst>
              </p:cNvPr>
              <p:cNvSpPr txBox="1"/>
              <p:nvPr/>
            </p:nvSpPr>
            <p:spPr>
              <a:xfrm>
                <a:off x="7318527" y="3553460"/>
                <a:ext cx="1031875" cy="6223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14</m:t>
                    </m:r>
                    <m:f>
                      <m:fPr>
                        <m:ctrlPr>
                          <a:rPr lang="x-none" sz="1800" i="1">
                            <a:latin typeface="Cambria Math"/>
                            <a:ea typeface="Times New Roman" panose="02020603050405020304" pitchFamily="18" charset="0"/>
                            <a:cs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latin typeface="Cambria Math" panose="02040503050406030204" pitchFamily="18" charset="0"/>
                            <a:ea typeface="Times New Roman" panose="02020603050405020304" pitchFamily="18" charset="0"/>
                            <a:cs typeface="Times New Roman" panose="02020603050405020304" pitchFamily="18" charset="0"/>
                          </a:rPr>
                          <m:t>4</m:t>
                        </m:r>
                      </m:den>
                    </m:f>
                    <m:r>
                      <a:rPr lang="en-US" sz="18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22">
                <a:extLst>
                  <a:ext uri="{FF2B5EF4-FFF2-40B4-BE49-F238E27FC236}">
                    <a16:creationId xmlns:a16="http://schemas.microsoft.com/office/drawing/2014/main" id="{195707CA-AFA1-E742-BF93-05476748E8B3}"/>
                  </a:ext>
                </a:extLst>
              </p:cNvPr>
              <p:cNvSpPr txBox="1">
                <a:spLocks noRot="1" noChangeAspect="1" noMove="1" noResize="1" noEditPoints="1" noAdjustHandles="1" noChangeArrowheads="1" noChangeShapeType="1" noTextEdit="1"/>
              </p:cNvSpPr>
              <p:nvPr/>
            </p:nvSpPr>
            <p:spPr>
              <a:xfrm>
                <a:off x="7318527" y="3553460"/>
                <a:ext cx="1031875" cy="622300"/>
              </a:xfrm>
              <a:prstGeom prst="rect">
                <a:avLst/>
              </a:prstGeom>
              <a:blipFill>
                <a:blip r:embed="rId8"/>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p:sp>
        <p:nvSpPr>
          <p:cNvPr id="13" name="Text Box 24">
            <a:extLst>
              <a:ext uri="{FF2B5EF4-FFF2-40B4-BE49-F238E27FC236}">
                <a16:creationId xmlns:a16="http://schemas.microsoft.com/office/drawing/2014/main" xmlns="" id="{AEC002F8-BC75-E94D-BCA2-217DDF2E8A7A}"/>
              </a:ext>
            </a:extLst>
          </p:cNvPr>
          <p:cNvSpPr txBox="1"/>
          <p:nvPr/>
        </p:nvSpPr>
        <p:spPr>
          <a:xfrm>
            <a:off x="7669681" y="2887345"/>
            <a:ext cx="102870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a:latin typeface="Verdana" panose="020B0604030504040204" pitchFamily="34" charset="0"/>
                <a:ea typeface="Times New Roman" panose="02020603050405020304" pitchFamily="18" charset="0"/>
                <a:cs typeface="Times New Roman" panose="02020603050405020304" pitchFamily="18" charset="0"/>
              </a:rPr>
              <a:t>?</a:t>
            </a:r>
            <a:endParaRPr lang="x-none" sz="1200">
              <a:ea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42744148-7529-BE44-8263-552C74224F0A}"/>
              </a:ext>
            </a:extLst>
          </p:cNvPr>
          <p:cNvSpPr txBox="1"/>
          <p:nvPr/>
        </p:nvSpPr>
        <p:spPr>
          <a:xfrm>
            <a:off x="1192223" y="4722548"/>
            <a:ext cx="8860753" cy="461665"/>
          </a:xfrm>
          <a:prstGeom prst="rect">
            <a:avLst/>
          </a:prstGeom>
          <a:noFill/>
        </p:spPr>
        <p:txBody>
          <a:bodyPr wrap="square" rtlCol="0">
            <a:spAutoFit/>
          </a:bodyPr>
          <a:lstStyle/>
          <a:p>
            <a:pPr indent="449263"/>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height of the briefcase?</a:t>
            </a:r>
          </a:p>
        </p:txBody>
      </p:sp>
      <p:pic>
        <p:nvPicPr>
          <p:cNvPr id="15"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7"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42927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499872" y="321451"/>
                <a:ext cx="11375136"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Victor works in a factory that makes juice boxes. He knows that the juice boxes have a height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centimeters (cm), a length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cm, and a volume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192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cubic centimeters (cm</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3</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499872" y="321451"/>
                <a:ext cx="11375136" cy="1200329"/>
              </a:xfrm>
              <a:prstGeom prst="rect">
                <a:avLst/>
              </a:prstGeom>
              <a:blipFill>
                <a:blip r:embed="rId3"/>
                <a:stretch>
                  <a:fillRect l="-804" t="-4061" b="-10152"/>
                </a:stretch>
              </a:blipFill>
            </p:spPr>
            <p:txBody>
              <a:bodyPr/>
              <a:lstStyle/>
              <a:p>
                <a:r>
                  <a:rPr lang="en-US">
                    <a:noFill/>
                  </a:rPr>
                  <a:t> </a:t>
                </a:r>
              </a:p>
            </p:txBody>
          </p:sp>
        </mc:Fallback>
      </mc:AlternateContent>
      <p:pic>
        <p:nvPicPr>
          <p:cNvPr id="7" name="Picture 6" descr="ree Cartoon Juice Box, Download Free Clip Art, Free Clip Art on Clipart  Library">
            <a:extLst>
              <a:ext uri="{FF2B5EF4-FFF2-40B4-BE49-F238E27FC236}">
                <a16:creationId xmlns:a16="http://schemas.microsoft.com/office/drawing/2014/main" xmlns="" id="{6AD48DA6-A3C8-F74F-9279-A29F23C88887}"/>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500370" y="2303415"/>
            <a:ext cx="1191260" cy="1742440"/>
          </a:xfrm>
          <a:prstGeom prst="rect">
            <a:avLst/>
          </a:prstGeom>
          <a:noFill/>
          <a:ln>
            <a:noFill/>
          </a:ln>
        </p:spPr>
      </p:pic>
      <mc:AlternateContent xmlns:mc="http://schemas.openxmlformats.org/markup-compatibility/2006" xmlns:a14="http://schemas.microsoft.com/office/drawing/2010/main">
        <mc:Choice Requires="a14">
          <p:sp>
            <p:nvSpPr>
              <p:cNvPr id="10" name="Text Box 25">
                <a:extLst>
                  <a:ext uri="{FF2B5EF4-FFF2-40B4-BE49-F238E27FC236}">
                    <a16:creationId xmlns:a16="http://schemas.microsoft.com/office/drawing/2014/main" xmlns="" id="{3A8D0F28-302A-794D-BBCD-9FC58A2523E9}"/>
                  </a:ext>
                </a:extLst>
              </p:cNvPr>
              <p:cNvSpPr txBox="1"/>
              <p:nvPr/>
            </p:nvSpPr>
            <p:spPr>
              <a:xfrm>
                <a:off x="6152700" y="4004310"/>
                <a:ext cx="77470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6 </m:t>
                    </m:r>
                  </m:oMath>
                </a14:m>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ea typeface="Times New Roman" panose="02020603050405020304" pitchFamily="18" charset="0"/>
                  <a:cs typeface="Times New Roman" panose="02020603050405020304" pitchFamily="18" charset="0"/>
                </a:endParaRPr>
              </a:p>
            </p:txBody>
          </p:sp>
        </mc:Choice>
        <mc:Fallback xmlns="">
          <p:sp>
            <p:nvSpPr>
              <p:cNvPr id="10" name="Text Box 25">
                <a:extLst>
                  <a:ext uri="{FF2B5EF4-FFF2-40B4-BE49-F238E27FC236}">
                    <a16:creationId xmlns:a16="http://schemas.microsoft.com/office/drawing/2014/main" id="{3A8D0F28-302A-794D-BBCD-9FC58A2523E9}"/>
                  </a:ext>
                </a:extLst>
              </p:cNvPr>
              <p:cNvSpPr txBox="1">
                <a:spLocks noRot="1" noChangeAspect="1" noMove="1" noResize="1" noEditPoints="1" noAdjustHandles="1" noChangeArrowheads="1" noChangeShapeType="1" noTextEdit="1"/>
              </p:cNvSpPr>
              <p:nvPr/>
            </p:nvSpPr>
            <p:spPr>
              <a:xfrm>
                <a:off x="6152700" y="4004310"/>
                <a:ext cx="774700" cy="342900"/>
              </a:xfrm>
              <a:prstGeom prst="rect">
                <a:avLst/>
              </a:prstGeom>
              <a:blipFill>
                <a:blip r:embed="rId6"/>
                <a:stretch>
                  <a:fillRect t="-10714" b="-35714"/>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27">
                <a:extLst>
                  <a:ext uri="{FF2B5EF4-FFF2-40B4-BE49-F238E27FC236}">
                    <a16:creationId xmlns:a16="http://schemas.microsoft.com/office/drawing/2014/main" xmlns="" id="{9094D0DA-066B-3743-92E9-7466CB1844FD}"/>
                  </a:ext>
                </a:extLst>
              </p:cNvPr>
              <p:cNvSpPr txBox="1"/>
              <p:nvPr/>
            </p:nvSpPr>
            <p:spPr>
              <a:xfrm>
                <a:off x="6540050" y="3257550"/>
                <a:ext cx="77470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8 </m:t>
                    </m:r>
                  </m:oMath>
                </a14:m>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ea typeface="Times New Roman" panose="02020603050405020304" pitchFamily="18" charset="0"/>
                  <a:cs typeface="Times New Roman" panose="02020603050405020304" pitchFamily="18" charset="0"/>
                </a:endParaRPr>
              </a:p>
            </p:txBody>
          </p:sp>
        </mc:Choice>
        <mc:Fallback xmlns="">
          <p:sp>
            <p:nvSpPr>
              <p:cNvPr id="11" name="Text Box 27">
                <a:extLst>
                  <a:ext uri="{FF2B5EF4-FFF2-40B4-BE49-F238E27FC236}">
                    <a16:creationId xmlns:a16="http://schemas.microsoft.com/office/drawing/2014/main" id="{9094D0DA-066B-3743-92E9-7466CB1844FD}"/>
                  </a:ext>
                </a:extLst>
              </p:cNvPr>
              <p:cNvSpPr txBox="1">
                <a:spLocks noRot="1" noChangeAspect="1" noMove="1" noResize="1" noEditPoints="1" noAdjustHandles="1" noChangeArrowheads="1" noChangeShapeType="1" noTextEdit="1"/>
              </p:cNvSpPr>
              <p:nvPr/>
            </p:nvSpPr>
            <p:spPr>
              <a:xfrm>
                <a:off x="6540050" y="3257550"/>
                <a:ext cx="774700" cy="342900"/>
              </a:xfrm>
              <a:prstGeom prst="rect">
                <a:avLst/>
              </a:prstGeom>
              <a:blipFill>
                <a:blip r:embed="rId7"/>
                <a:stretch>
                  <a:fillRect t="-7143" b="-35714"/>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xmlns:a14="http://schemas.microsoft.com/office/drawing/2010/main"/>
                </a:ext>
              </a:extLst>
            </p:spPr>
            <p:txBody>
              <a:bodyPr/>
              <a:lstStyle/>
              <a:p>
                <a:r>
                  <a:rPr lang="en-US">
                    <a:noFill/>
                  </a:rPr>
                  <a:t> </a:t>
                </a:r>
              </a:p>
            </p:txBody>
          </p:sp>
        </mc:Fallback>
      </mc:AlternateContent>
      <p:sp>
        <p:nvSpPr>
          <p:cNvPr id="13" name="Text Box 28">
            <a:extLst>
              <a:ext uri="{FF2B5EF4-FFF2-40B4-BE49-F238E27FC236}">
                <a16:creationId xmlns:a16="http://schemas.microsoft.com/office/drawing/2014/main" xmlns="" id="{BB8D8B97-69C8-3C49-8ACC-A364794C8BA3}"/>
              </a:ext>
            </a:extLst>
          </p:cNvPr>
          <p:cNvSpPr txBox="1"/>
          <p:nvPr/>
        </p:nvSpPr>
        <p:spPr>
          <a:xfrm>
            <a:off x="5319580" y="3999230"/>
            <a:ext cx="501650" cy="3429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a:latin typeface="Verdana" panose="020B0604030504040204" pitchFamily="34" charset="0"/>
                <a:ea typeface="Times New Roman" panose="02020603050405020304" pitchFamily="18" charset="0"/>
                <a:cs typeface="Times New Roman" panose="02020603050405020304" pitchFamily="18" charset="0"/>
              </a:rPr>
              <a: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6816E59B-8D98-7541-BCCA-6BBD8A92A806}"/>
              </a:ext>
            </a:extLst>
          </p:cNvPr>
          <p:cNvSpPr txBox="1"/>
          <p:nvPr/>
        </p:nvSpPr>
        <p:spPr>
          <a:xfrm>
            <a:off x="646176" y="4601904"/>
            <a:ext cx="9406800" cy="461665"/>
          </a:xfrm>
          <a:prstGeom prst="rect">
            <a:avLst/>
          </a:prstGeom>
          <a:noFill/>
        </p:spPr>
        <p:txBody>
          <a:bodyPr wrap="square" rtlCol="0">
            <a:spAutoFit/>
          </a:bodyPr>
          <a:lstStyle/>
          <a:p>
            <a:pPr indent="449263"/>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width of the juice box?</a:t>
            </a: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extLst>
      <p:ext uri="{BB962C8B-B14F-4D97-AF65-F5344CB8AC3E}">
        <p14:creationId xmlns:p14="http://schemas.microsoft.com/office/powerpoint/2010/main" val="1199418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405993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3051637" y="2933693"/>
            <a:ext cx="1008299" cy="1016513"/>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
        <p:nvSpPr>
          <p:cNvPr id="10"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8402" y="-1014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8.8.6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391102" y="27905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764752" y="1315555"/>
            <a:ext cx="10668000" cy="1938992"/>
          </a:xfrm>
          <a:prstGeom prst="rect">
            <a:avLst/>
          </a:prstGeom>
          <a:noFill/>
        </p:spPr>
        <p:txBody>
          <a:bodyPr wrap="square" rtlCol="0">
            <a:spAutoFit/>
          </a:bodyPr>
          <a:lstStyle/>
          <a:p>
            <a:pPr marL="488950" indent="-48895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Rate your strength on the following areas using the scale. </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indent="2143125"/>
            <a:r>
              <a:rPr lang="en-US" sz="2400" dirty="0">
                <a:latin typeface="Verdana" panose="020B0604030504040204" pitchFamily="34" charset="0"/>
                <a:ea typeface="Times New Roman" panose="02020603050405020304" pitchFamily="18" charset="0"/>
                <a:cs typeface="Times New Roman" panose="02020603050405020304" pitchFamily="18" charset="0"/>
              </a:rPr>
              <a:t>1 – still learning </a:t>
            </a:r>
          </a:p>
          <a:p>
            <a:pPr indent="2143125"/>
            <a:r>
              <a:rPr lang="en-US" sz="2400" dirty="0">
                <a:latin typeface="Verdana" panose="020B0604030504040204" pitchFamily="34" charset="0"/>
                <a:ea typeface="Times New Roman" panose="02020603050405020304" pitchFamily="18" charset="0"/>
                <a:cs typeface="Times New Roman" panose="02020603050405020304" pitchFamily="18" charset="0"/>
              </a:rPr>
              <a:t>2 – making progress </a:t>
            </a:r>
          </a:p>
          <a:p>
            <a:pPr indent="2143125"/>
            <a:r>
              <a:rPr lang="en-US" sz="2400" dirty="0">
                <a:latin typeface="Verdana" panose="020B0604030504040204" pitchFamily="34" charset="0"/>
                <a:ea typeface="Times New Roman" panose="02020603050405020304" pitchFamily="18" charset="0"/>
                <a:cs typeface="Times New Roman" panose="02020603050405020304" pitchFamily="18" charset="0"/>
              </a:rPr>
              <a:t>3 – got it</a:t>
            </a:r>
          </a:p>
        </p:txBody>
      </p:sp>
      <p:graphicFrame>
        <p:nvGraphicFramePr>
          <p:cNvPr id="3" name="Table 2">
            <a:extLst>
              <a:ext uri="{FF2B5EF4-FFF2-40B4-BE49-F238E27FC236}">
                <a16:creationId xmlns:a16="http://schemas.microsoft.com/office/drawing/2014/main" xmlns="" id="{072B540A-83CB-B244-B6FD-5F3C51BA08EC}"/>
              </a:ext>
            </a:extLst>
          </p:cNvPr>
          <p:cNvGraphicFramePr>
            <a:graphicFrameLocks noGrp="1"/>
          </p:cNvGraphicFramePr>
          <p:nvPr>
            <p:extLst>
              <p:ext uri="{D42A27DB-BD31-4B8C-83A1-F6EECF244321}">
                <p14:modId xmlns:p14="http://schemas.microsoft.com/office/powerpoint/2010/main" val="3374650854"/>
              </p:ext>
            </p:extLst>
          </p:nvPr>
        </p:nvGraphicFramePr>
        <p:xfrm>
          <a:off x="1548384" y="3823139"/>
          <a:ext cx="9168383" cy="1371600"/>
        </p:xfrm>
        <a:graphic>
          <a:graphicData uri="http://schemas.openxmlformats.org/drawingml/2006/table">
            <a:tbl>
              <a:tblPr firstRow="1" firstCol="1" bandRow="1"/>
              <a:tblGrid>
                <a:gridCol w="7625492">
                  <a:extLst>
                    <a:ext uri="{9D8B030D-6E8A-4147-A177-3AD203B41FA5}">
                      <a16:colId xmlns:a16="http://schemas.microsoft.com/office/drawing/2014/main" xmlns="" val="893189681"/>
                    </a:ext>
                  </a:extLst>
                </a:gridCol>
                <a:gridCol w="1542891">
                  <a:extLst>
                    <a:ext uri="{9D8B030D-6E8A-4147-A177-3AD203B41FA5}">
                      <a16:colId xmlns:a16="http://schemas.microsoft.com/office/drawing/2014/main" xmlns="" val="37425310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Skill</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Rating</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57078647"/>
                  </a:ext>
                </a:extLst>
              </a:tr>
              <a:tr h="4572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Find the volume of a rectangular prism.</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47077266"/>
                  </a:ext>
                </a:extLst>
              </a:tr>
              <a:tr h="4572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Find a missing dimension of a rectangular prism.</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4409553"/>
                  </a:ext>
                </a:extLst>
              </a:tr>
            </a:tbl>
          </a:graphicData>
        </a:graphic>
      </p:graphicFrame>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6D0846E5-A3BF-994C-87FF-851D3F7DE3F9}"/>
              </a:ext>
            </a:extLst>
          </p:cNvPr>
          <p:cNvSpPr txBox="1"/>
          <p:nvPr/>
        </p:nvSpPr>
        <p:spPr>
          <a:xfrm>
            <a:off x="560832" y="498612"/>
            <a:ext cx="10899648" cy="461665"/>
          </a:xfrm>
          <a:prstGeom prst="rect">
            <a:avLst/>
          </a:prstGeom>
          <a:noFill/>
        </p:spPr>
        <p:txBody>
          <a:bodyPr wrap="square" rtlCol="0">
            <a:spAutoFit/>
          </a:bodyPr>
          <a:lstStyle/>
          <a:p>
            <a:pPr marL="488950" indent="-48895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explanation of why you rated yourself the way you did.</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6016" y="618444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B2B1ECCC-8E07-F247-BB16-7B958B8E6B20}"/>
              </a:ext>
            </a:extLst>
          </p:cNvPr>
          <p:cNvSpPr txBox="1"/>
          <p:nvPr/>
        </p:nvSpPr>
        <p:spPr>
          <a:xfrm>
            <a:off x="8882016" y="64415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119</a:t>
            </a:r>
            <a:endParaRPr i="1" dirty="0">
              <a:latin typeface="Calibri"/>
              <a:ea typeface="Calibri"/>
              <a:cs typeface="Calibri"/>
              <a:sym typeface="Calibri"/>
            </a:endParaRPr>
          </a:p>
        </p:txBody>
      </p:sp>
    </p:spTree>
    <p:extLst>
      <p:ext uri="{BB962C8B-B14F-4D97-AF65-F5344CB8AC3E}">
        <p14:creationId xmlns:p14="http://schemas.microsoft.com/office/powerpoint/2010/main" val="359863042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BB8F98C8-B19B-470F-8282-7BA41F7F07E3}">
  <ds:schemaRefs>
    <ds:schemaRef ds:uri="http://schemas.microsoft.com/sharepoint/v3/contenttype/forms"/>
  </ds:schemaRefs>
</ds:datastoreItem>
</file>

<file path=customXml/itemProps2.xml><?xml version="1.0" encoding="utf-8"?>
<ds:datastoreItem xmlns:ds="http://schemas.openxmlformats.org/officeDocument/2006/customXml" ds:itemID="{793585F5-21FD-405B-9966-3204A055B0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E73B18-E390-4577-A2DC-E58F282CE58A}">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1523</TotalTime>
  <Words>806</Words>
  <Application>Microsoft Office PowerPoint</Application>
  <PresentationFormat>Custom</PresentationFormat>
  <Paragraphs>145</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Times New Roman</vt:lpstr>
      <vt:lpstr>Century Gothic</vt:lpstr>
      <vt:lpstr>Cambria Math</vt:lpstr>
      <vt:lpstr>Cambria</vt:lpstr>
      <vt:lpstr>Arial Black</vt:lpstr>
      <vt:lpstr>Verdana</vt:lpstr>
      <vt:lpstr>1_Office Theme</vt:lpstr>
      <vt:lpstr>6th Grade Math  Unit 8, Lesson 8  Finding the Missing Dimension of a Rectangular Prism  Volume 2, pg. 115  </vt:lpstr>
      <vt:lpstr>Benchmark</vt:lpstr>
      <vt:lpstr>PowerPoint Presentation</vt:lpstr>
      <vt:lpstr>PowerPoint Presentation</vt:lpstr>
      <vt:lpstr>Warm-Up</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2023-07-06T22:49:17Z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