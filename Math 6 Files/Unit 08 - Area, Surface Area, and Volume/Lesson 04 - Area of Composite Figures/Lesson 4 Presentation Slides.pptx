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62" r:id="rId10"/>
    <p:sldId id="363" r:id="rId11"/>
    <p:sldId id="364" r:id="rId12"/>
    <p:sldId id="365" r:id="rId13"/>
    <p:sldId id="323" r:id="rId14"/>
    <p:sldId id="324" r:id="rId15"/>
    <p:sldId id="357" r:id="rId16"/>
    <p:sldId id="366" r:id="rId17"/>
    <p:sldId id="302" r:id="rId18"/>
    <p:sldId id="303" r:id="rId19"/>
    <p:sldId id="360" r:id="rId20"/>
    <p:sldId id="367" r:id="rId21"/>
    <p:sldId id="306" r:id="rId22"/>
    <p:sldId id="307" r:id="rId23"/>
  </p:sldIdLst>
  <p:sldSz cx="12192000" cy="6858000"/>
  <p:notesSz cx="6858000" cy="9144000"/>
  <p:embeddedFontLst>
    <p:embeddedFont>
      <p:font typeface="Cambria Math" pitchFamily="18" charset="0"/>
      <p:regular r:id="rId25"/>
    </p:embeddedFont>
    <p:embeddedFont>
      <p:font typeface="Cambria" pitchFamily="18" charset="0"/>
      <p:regular r:id="rId26"/>
      <p:bold r:id="rId27"/>
      <p:italic r:id="rId28"/>
      <p:boldItalic r:id="rId29"/>
    </p:embeddedFont>
    <p:embeddedFont>
      <p:font typeface="Arial Black" pitchFamily="34" charset="0"/>
      <p:bold r:id="rId30"/>
    </p:embeddedFont>
    <p:embeddedFont>
      <p:font typeface="Verdana" pitchFamily="34" charset="0"/>
      <p:regular r:id="rId31"/>
      <p:bold r:id="rId32"/>
      <p:italic r:id="rId33"/>
      <p:boldItalic r:id="rId34"/>
    </p:embeddedFont>
    <p:embeddedFont>
      <p:font typeface="Calibri" pitchFamily="34" charset="0"/>
      <p:regular r:id="rId35"/>
      <p:bold r:id="rId36"/>
      <p:italic r:id="rId37"/>
      <p:boldItalic r:id="rId38"/>
    </p:embeddedFont>
    <p:embeddedFont>
      <p:font typeface="Century Gothic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750"/>
    <p:restoredTop sz="94694"/>
  </p:normalViewPr>
  <p:slideViewPr>
    <p:cSldViewPr snapToGrid="0">
      <p:cViewPr varScale="1">
        <p:scale>
          <a:sx n="85" d="100"/>
          <a:sy n="85" d="100"/>
        </p:scale>
        <p:origin x="-1205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80747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118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441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4465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0739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5466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189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jpeg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Composite Figures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444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9531"/>
            <a:ext cx="107152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MA.6.GR.2.2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area of quadrilaterals and composite figures by decomposing them into triangles or rectangles.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28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10528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5501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8975" indent="-6826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area of composite figures.</a:t>
            </a:r>
          </a:p>
          <a:p>
            <a:pPr marL="688975" indent="-682625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8.4.1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905256" y="1386026"/>
            <a:ext cx="10537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figure, each square of the grid paper is 1 centimeter (cm) by 1 cm.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shaded region. Include units.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FD0126-BC47-3E44-B70F-85A9DCEB72F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5647" y="2930729"/>
            <a:ext cx="3815306" cy="254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5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8.4.2 Guided Instruction: Area of Composite Figures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2060448" y="1386026"/>
                <a:ext cx="832713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Jackson and Danna were instructed to find the area of the composite figure below. The length of each square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 (cm).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8" y="1386026"/>
                <a:ext cx="8327136" cy="2554545"/>
              </a:xfrm>
              <a:prstGeom prst="rect">
                <a:avLst/>
              </a:prstGeom>
              <a:blipFill>
                <a:blip r:embed="rId5"/>
                <a:stretch>
                  <a:fillRect l="-762" b="-2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51">
            <a:extLst>
              <a:ext uri="{FF2B5EF4-FFF2-40B4-BE49-F238E27FC236}">
                <a16:creationId xmlns:a16="http://schemas.microsoft.com/office/drawing/2014/main" xmlns="" id="{85396D51-88B5-0E43-88D4-0D7005A83786}"/>
              </a:ext>
            </a:extLst>
          </p:cNvPr>
          <p:cNvSpPr/>
          <p:nvPr/>
        </p:nvSpPr>
        <p:spPr>
          <a:xfrm>
            <a:off x="2146200" y="1446985"/>
            <a:ext cx="7167450" cy="1118416"/>
          </a:xfrm>
          <a:prstGeom prst="roundRect">
            <a:avLst/>
          </a:prstGeom>
          <a:solidFill>
            <a:srgbClr val="E2EFD5"/>
          </a:solidFill>
          <a:ln>
            <a:solidFill>
              <a:srgbClr val="E2EE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>
              <a:spcAft>
                <a:spcPts val="1000"/>
              </a:spcAft>
            </a:pPr>
            <a:r>
              <a:rPr lang="en-US" sz="2000" dirty="0">
                <a:solidFill>
                  <a:srgbClr val="6E983C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dirty="0">
                <a:solidFill>
                  <a:srgbClr val="6E983C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6E983C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composite figure </a:t>
            </a:r>
            <a:r>
              <a:rPr lang="en-US" sz="2000" dirty="0">
                <a:solidFill>
                  <a:srgbClr val="6E983C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two- or three- dimensional figure that can be decomposed into smaller figures.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Shape 15" descr="Icon&#10;&#10;Description automatically generated">
            <a:extLst>
              <a:ext uri="{FF2B5EF4-FFF2-40B4-BE49-F238E27FC236}">
                <a16:creationId xmlns:a16="http://schemas.microsoft.com/office/drawing/2014/main" xmlns="" id="{66C24497-774B-F648-9917-3E66EB688493}"/>
              </a:ext>
            </a:extLst>
          </p:cNvPr>
          <p:cNvPicPr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9975" y="1589604"/>
            <a:ext cx="539750" cy="5492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F29F63D8-88D6-6545-A874-72FC78253DC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7360" y="3890386"/>
            <a:ext cx="3088657" cy="263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49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Jackson and Danna decomposed the figure, but their teacher noticed they each decomposed it differently.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480D692-BB6A-9A44-8BC8-EE2ED01415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3788" y="2044532"/>
            <a:ext cx="3135207" cy="2684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75EAE33-FEE0-444F-8CA9-619014651F0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790" y="2044532"/>
            <a:ext cx="3102567" cy="2684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CE9867-096B-3740-841D-58ED68AB85AE}"/>
              </a:ext>
            </a:extLst>
          </p:cNvPr>
          <p:cNvSpPr txBox="1"/>
          <p:nvPr/>
        </p:nvSpPr>
        <p:spPr>
          <a:xfrm>
            <a:off x="3233193" y="1468358"/>
            <a:ext cx="1650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Jackson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2F7488-A019-124D-AE85-00BB9E984A9A}"/>
              </a:ext>
            </a:extLst>
          </p:cNvPr>
          <p:cNvSpPr txBox="1"/>
          <p:nvPr/>
        </p:nvSpPr>
        <p:spPr>
          <a:xfrm>
            <a:off x="6997825" y="1468358"/>
            <a:ext cx="2239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Danna</a:t>
            </a:r>
          </a:p>
        </p:txBody>
      </p:sp>
    </p:spTree>
    <p:extLst>
      <p:ext uri="{BB962C8B-B14F-4D97-AF65-F5344CB8AC3E}">
        <p14:creationId xmlns:p14="http://schemas.microsoft.com/office/powerpoint/2010/main" val="188831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8327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about each student’s work. Include units.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/>
              <a:t> 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F33F6C55-4A7C-3140-9C1E-605E3B3EC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79201"/>
              </p:ext>
            </p:extLst>
          </p:nvPr>
        </p:nvGraphicFramePr>
        <p:xfrm>
          <a:off x="1196699" y="1563829"/>
          <a:ext cx="8606644" cy="271897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088371">
                  <a:extLst>
                    <a:ext uri="{9D8B030D-6E8A-4147-A177-3AD203B41FA5}">
                      <a16:colId xmlns:a16="http://schemas.microsoft.com/office/drawing/2014/main" xmlns="" val="4121267564"/>
                    </a:ext>
                  </a:extLst>
                </a:gridCol>
                <a:gridCol w="2172225">
                  <a:extLst>
                    <a:ext uri="{9D8B030D-6E8A-4147-A177-3AD203B41FA5}">
                      <a16:colId xmlns:a16="http://schemas.microsoft.com/office/drawing/2014/main" xmlns="" val="1141330143"/>
                    </a:ext>
                  </a:extLst>
                </a:gridCol>
                <a:gridCol w="2173024">
                  <a:extLst>
                    <a:ext uri="{9D8B030D-6E8A-4147-A177-3AD203B41FA5}">
                      <a16:colId xmlns:a16="http://schemas.microsoft.com/office/drawing/2014/main" xmlns="" val="3098736313"/>
                    </a:ext>
                  </a:extLst>
                </a:gridCol>
                <a:gridCol w="2173024">
                  <a:extLst>
                    <a:ext uri="{9D8B030D-6E8A-4147-A177-3AD203B41FA5}">
                      <a16:colId xmlns:a16="http://schemas.microsoft.com/office/drawing/2014/main" xmlns="" val="1021756988"/>
                    </a:ext>
                  </a:extLst>
                </a:gridCol>
              </a:tblGrid>
              <a:tr h="8882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Student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Red Rectangle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Blue Rectangle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Green Rectangle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24857105"/>
                  </a:ext>
                </a:extLst>
              </a:tr>
              <a:tr h="9153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Jackson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3215971"/>
                  </a:ext>
                </a:extLst>
              </a:tr>
              <a:tr h="9153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Danna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281383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97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43584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find the area of the composite figure, find the sum of the areas of the rectangles for each student. Include units.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/>
              <a:t> 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CED802EE-631F-844A-8660-975F1794C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6669"/>
              </p:ext>
            </p:extLst>
          </p:nvPr>
        </p:nvGraphicFramePr>
        <p:xfrm>
          <a:off x="2374175" y="1692509"/>
          <a:ext cx="4586333" cy="227241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55384">
                  <a:extLst>
                    <a:ext uri="{9D8B030D-6E8A-4147-A177-3AD203B41FA5}">
                      <a16:colId xmlns:a16="http://schemas.microsoft.com/office/drawing/2014/main" xmlns="" val="1676172303"/>
                    </a:ext>
                  </a:extLst>
                </a:gridCol>
                <a:gridCol w="3030949">
                  <a:extLst>
                    <a:ext uri="{9D8B030D-6E8A-4147-A177-3AD203B41FA5}">
                      <a16:colId xmlns:a16="http://schemas.microsoft.com/office/drawing/2014/main" xmlns="" val="4194299579"/>
                    </a:ext>
                  </a:extLst>
                </a:gridCol>
              </a:tblGrid>
              <a:tr h="7601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the Composite Figure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70059167"/>
                  </a:ext>
                </a:extLst>
              </a:tr>
              <a:tr h="7520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Jackson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18674956"/>
                  </a:ext>
                </a:extLst>
              </a:tr>
              <a:tr h="7601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Danna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052669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98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524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both students got the same area of the composite shape.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/>
              <a:t> </a:t>
            </a:r>
            <a:endParaRPr lang="en-US" dirty="0"/>
          </a:p>
        </p:txBody>
      </p:sp>
      <p:sp>
        <p:nvSpPr>
          <p:cNvPr id="7" name="Rectangle: Rounded Corners 23">
            <a:extLst>
              <a:ext uri="{FF2B5EF4-FFF2-40B4-BE49-F238E27FC236}">
                <a16:creationId xmlns:a16="http://schemas.microsoft.com/office/drawing/2014/main" xmlns="" id="{AC75541F-3B0D-0749-9FBF-AB9BD3E1E777}"/>
              </a:ext>
            </a:extLst>
          </p:cNvPr>
          <p:cNvSpPr/>
          <p:nvPr/>
        </p:nvSpPr>
        <p:spPr>
          <a:xfrm>
            <a:off x="2333988" y="4833031"/>
            <a:ext cx="7036616" cy="844141"/>
          </a:xfrm>
          <a:prstGeom prst="roundRect">
            <a:avLst/>
          </a:prstGeom>
          <a:solidFill>
            <a:srgbClr val="B8E7F5"/>
          </a:solidFill>
          <a:ln>
            <a:solidFill>
              <a:srgbClr val="B7E7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>
              <a:spcAft>
                <a:spcPts val="1000"/>
              </a:spcAft>
            </a:pP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area of a composite figure </a:t>
            </a: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sum of the areas of the figure’s decomposed parts.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Shape 27" descr="Icon&#10;&#10;Description automatically generated">
            <a:extLst>
              <a:ext uri="{FF2B5EF4-FFF2-40B4-BE49-F238E27FC236}">
                <a16:creationId xmlns:a16="http://schemas.microsoft.com/office/drawing/2014/main" xmlns="" id="{7BEE6F24-2614-D145-9B54-B59DA522A723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325" y="4985543"/>
            <a:ext cx="539750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574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6392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28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8.4.3 Guided Practice: Area of Composite Figures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05256" y="1386026"/>
                <a:ext cx="1052830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composite shape is shown. The length of each square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 (in).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lines to decompose the figure into rectangles and/or triangles.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86026"/>
                <a:ext cx="10528300" cy="4093428"/>
              </a:xfrm>
              <a:prstGeom prst="rect">
                <a:avLst/>
              </a:prstGeom>
              <a:blipFill>
                <a:blip r:embed="rId5"/>
                <a:stretch>
                  <a:fillRect l="-602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2_8a083e6fe722393b6b8795de382eb0c6">
            <a:extLst>
              <a:ext uri="{FF2B5EF4-FFF2-40B4-BE49-F238E27FC236}">
                <a16:creationId xmlns:a16="http://schemas.microsoft.com/office/drawing/2014/main" xmlns="" id="{3269C5D6-BBB3-E54A-86C2-E513BFD2AF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06254" y="1908559"/>
            <a:ext cx="2823618" cy="2135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52474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7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each rectangle and/or triangle. Include units.</a:t>
            </a: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sum of the areas of the rectangles and/or triangles to find the area of the composite figure. Include units.</a:t>
            </a: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 classmate who decomposed the shape differently than you did. Describe their process.</a:t>
            </a:r>
          </a:p>
          <a:p>
            <a:r>
              <a:rPr lang="en-US" dirty="0"/>
              <a:t> </a:t>
            </a: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48664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Thomas has decided to put grass sod in his backyard. A drawing of his backyard is shown.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sod does Thomas need to buy?</a:t>
            </a:r>
          </a:p>
          <a:p>
            <a:r>
              <a:rPr lang="en-US" dirty="0"/>
              <a:t> </a:t>
            </a:r>
          </a:p>
          <a:p>
            <a:pPr marL="922337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xmlns="" id="{B475D81A-A9D6-0B49-A4D8-A60F60173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5586"/>
            <a:ext cx="5573486" cy="303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70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632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905256" y="1389888"/>
            <a:ext cx="105755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composite figure, find the area, in square feet (ft</a:t>
            </a:r>
            <a:r>
              <a:rPr lang="en-US" sz="20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Show your work.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en-US" dirty="0"/>
              <a:t> </a:t>
            </a:r>
          </a:p>
        </p:txBody>
      </p:sp>
      <p:sp>
        <p:nvSpPr>
          <p:cNvPr id="8" name="Text Box 140">
            <a:extLst>
              <a:ext uri="{FF2B5EF4-FFF2-40B4-BE49-F238E27FC236}">
                <a16:creationId xmlns:a16="http://schemas.microsoft.com/office/drawing/2014/main" xmlns="" id="{39ED64C9-3566-6142-814A-2C81EB037914}"/>
              </a:ext>
            </a:extLst>
          </p:cNvPr>
          <p:cNvSpPr txBox="1"/>
          <p:nvPr/>
        </p:nvSpPr>
        <p:spPr>
          <a:xfrm>
            <a:off x="6908764" y="4134998"/>
            <a:ext cx="3630387" cy="65913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Area = ____________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xmlns="" id="{6ED14BF0-AB8C-C74D-A0D2-811844221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240" y="2205433"/>
            <a:ext cx="2633999" cy="45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xmlns="" id="{60157959-9277-2F4D-B59F-9D13EF0C8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765" y="1214979"/>
            <a:ext cx="6436442" cy="3705365"/>
          </a:xfrm>
          <a:prstGeom prst="rect">
            <a:avLst/>
          </a:prstGeom>
        </p:spPr>
      </p:pic>
      <p:sp>
        <p:nvSpPr>
          <p:cNvPr id="8" name="Text Box 140">
            <a:extLst>
              <a:ext uri="{FF2B5EF4-FFF2-40B4-BE49-F238E27FC236}">
                <a16:creationId xmlns:a16="http://schemas.microsoft.com/office/drawing/2014/main" xmlns="" id="{217E3DB8-4831-2A4D-9531-057723410DF2}"/>
              </a:ext>
            </a:extLst>
          </p:cNvPr>
          <p:cNvSpPr txBox="1"/>
          <p:nvPr/>
        </p:nvSpPr>
        <p:spPr>
          <a:xfrm>
            <a:off x="7037614" y="2738095"/>
            <a:ext cx="3630387" cy="65913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Area = ____________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8" name="Text Box 140">
            <a:extLst>
              <a:ext uri="{FF2B5EF4-FFF2-40B4-BE49-F238E27FC236}">
                <a16:creationId xmlns:a16="http://schemas.microsoft.com/office/drawing/2014/main" xmlns="" id="{217E3DB8-4831-2A4D-9531-057723410DF2}"/>
              </a:ext>
            </a:extLst>
          </p:cNvPr>
          <p:cNvSpPr txBox="1"/>
          <p:nvPr/>
        </p:nvSpPr>
        <p:spPr>
          <a:xfrm>
            <a:off x="7360901" y="1902771"/>
            <a:ext cx="3255926" cy="40011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Area = ____________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xmlns="" id="{A0667CAC-8707-504C-BC6E-A4C6CB63B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083" y="1085967"/>
            <a:ext cx="5422819" cy="279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74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10452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8.4.5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905256" y="1386026"/>
            <a:ext cx="1045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in one of the quadrants below to indicate how you feel about today’s learning target: “I can find the area of composite figures.”</a:t>
            </a:r>
          </a:p>
        </p:txBody>
      </p:sp>
      <p:pic>
        <p:nvPicPr>
          <p:cNvPr id="8" name="Picture 7" descr="A close up of a flower&#10;&#10;Description automatically generated">
            <a:extLst>
              <a:ext uri="{FF2B5EF4-FFF2-40B4-BE49-F238E27FC236}">
                <a16:creationId xmlns:a16="http://schemas.microsoft.com/office/drawing/2014/main" xmlns="" id="{2468CD50-5EF5-AE4B-9F87-B71A2DC5D3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32937" y="2401688"/>
            <a:ext cx="4877503" cy="4354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614</Words>
  <Application>Microsoft Office PowerPoint</Application>
  <PresentationFormat>Custom</PresentationFormat>
  <Paragraphs>171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Cambria Math</vt:lpstr>
      <vt:lpstr>Cambria</vt:lpstr>
      <vt:lpstr>Arial Black</vt:lpstr>
      <vt:lpstr>Verdana</vt:lpstr>
      <vt:lpstr>Calibri</vt:lpstr>
      <vt:lpstr>Times New Roman</vt:lpstr>
      <vt:lpstr>Century Gothic</vt:lpstr>
      <vt:lpstr>1_Office Theme</vt:lpstr>
      <vt:lpstr>6th Grade Math  Unit 8, Lesson 4  Area of Composite Figures  Volume 2, pg. 92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22</cp:revision>
  <dcterms:created xsi:type="dcterms:W3CDTF">2015-03-17T18:51:18Z</dcterms:created>
  <dcterms:modified xsi:type="dcterms:W3CDTF">2022-07-08T10:49:28Z</dcterms:modified>
</cp:coreProperties>
</file>