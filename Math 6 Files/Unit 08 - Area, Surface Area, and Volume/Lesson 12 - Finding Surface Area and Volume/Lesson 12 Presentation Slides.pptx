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0"/>
  </p:notesMasterIdLst>
  <p:sldIdLst>
    <p:sldId id="256" r:id="rId5"/>
    <p:sldId id="257" r:id="rId6"/>
    <p:sldId id="285" r:id="rId7"/>
    <p:sldId id="286" r:id="rId8"/>
    <p:sldId id="261" r:id="rId9"/>
    <p:sldId id="287" r:id="rId10"/>
    <p:sldId id="314" r:id="rId11"/>
    <p:sldId id="315" r:id="rId12"/>
    <p:sldId id="352" r:id="rId13"/>
    <p:sldId id="366" r:id="rId14"/>
    <p:sldId id="365" r:id="rId15"/>
    <p:sldId id="323" r:id="rId16"/>
    <p:sldId id="324" r:id="rId17"/>
    <p:sldId id="357" r:id="rId18"/>
    <p:sldId id="367" r:id="rId19"/>
    <p:sldId id="368" r:id="rId20"/>
    <p:sldId id="302" r:id="rId21"/>
    <p:sldId id="303" r:id="rId22"/>
    <p:sldId id="360" r:id="rId23"/>
    <p:sldId id="369" r:id="rId24"/>
    <p:sldId id="371" r:id="rId25"/>
    <p:sldId id="370" r:id="rId26"/>
    <p:sldId id="306" r:id="rId27"/>
    <p:sldId id="307" r:id="rId28"/>
    <p:sldId id="361" r:id="rId29"/>
  </p:sldIdLst>
  <p:sldSz cx="12192000" cy="6858000"/>
  <p:notesSz cx="6858000" cy="9144000"/>
  <p:embeddedFontLst>
    <p:embeddedFont>
      <p:font typeface="Century Gothic" pitchFamily="34" charset="0"/>
      <p:regular r:id="rId31"/>
      <p:bold r:id="rId32"/>
      <p:italic r:id="rId33"/>
      <p:boldItalic r:id="rId34"/>
    </p:embeddedFont>
    <p:embeddedFont>
      <p:font typeface="Cambria Math" pitchFamily="18" charset="0"/>
      <p:regular r:id="rId35"/>
    </p:embeddedFont>
    <p:embeddedFont>
      <p:font typeface="Cambria" pitchFamily="18" charset="0"/>
      <p:regular r:id="rId36"/>
      <p:bold r:id="rId37"/>
      <p:italic r:id="rId38"/>
      <p:boldItalic r:id="rId39"/>
    </p:embeddedFont>
    <p:embeddedFont>
      <p:font typeface="Arial Black" pitchFamily="34" charset="0"/>
      <p:bold r:id="rId40"/>
    </p:embeddedFont>
    <p:embeddedFont>
      <p:font typeface="Verdana" pitchFamily="34" charset="0"/>
      <p:regular r:id="rId41"/>
      <p:bold r:id="rId42"/>
      <p:italic r:id="rId43"/>
      <p:boldItalic r:id="rId44"/>
    </p:embeddedFont>
    <p:embeddedFont>
      <p:font typeface="Calibri"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1160"/>
    <p:restoredTop sz="94743" autoAdjust="0"/>
  </p:normalViewPr>
  <p:slideViewPr>
    <p:cSldViewPr snapToGrid="0">
      <p:cViewPr>
        <p:scale>
          <a:sx n="100" d="100"/>
          <a:sy n="100" d="100"/>
        </p:scale>
        <p:origin x="-660" y="-3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6009875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277676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0609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746909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100820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139405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216283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689532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403809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20184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7970881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7576010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7708091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42324497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109583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24388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17945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1.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8.xml"/><Relationship Id="rId11" Type="http://schemas.openxmlformats.org/officeDocument/2006/relationships/image" Target="../media/image10.png"/><Relationship Id="rId5" Type="http://schemas.openxmlformats.org/officeDocument/2006/relationships/image" Target="../media/image32.gif"/><Relationship Id="rId10" Type="http://schemas.openxmlformats.org/officeDocument/2006/relationships/image" Target="../media/image43.png"/><Relationship Id="rId4" Type="http://schemas.openxmlformats.org/officeDocument/2006/relationships/image" Target="../media/image310.png"/><Relationship Id="rId9" Type="http://schemas.openxmlformats.org/officeDocument/2006/relationships/image" Target="../media/image42.png"/></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3.jpg"/><Relationship Id="rId7"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8.xml"/><Relationship Id="rId11" Type="http://schemas.openxmlformats.org/officeDocument/2006/relationships/image" Target="../media/image35.png"/><Relationship Id="rId10" Type="http://schemas.openxmlformats.org/officeDocument/2006/relationships/image" Target="../media/image10.png"/><Relationship Id="rId4" Type="http://schemas.openxmlformats.org/officeDocument/2006/relationships/hyperlink" Target="https://outdoors.stackexchange.com/questions/21078/what-methods-can-be-used-to-keep-a-cooler-cold-longer" TargetMode="External"/><Relationship Id="rId9" Type="http://schemas.openxmlformats.org/officeDocument/2006/relationships/image" Target="../media/image48.png"/></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4.jpe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49.png"/><Relationship Id="rId5" Type="http://schemas.openxmlformats.org/officeDocument/2006/relationships/image" Target="../media/image45.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12</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Surface Area and Volume</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135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892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79911" y="1321974"/>
            <a:ext cx="10947127" cy="468693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MA.6.GR.2.4</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Given a mathematical or real-world context, find the surface area of right rectangular prisms and right rectangular pyramids using the figure’s net.</a:t>
            </a:r>
          </a:p>
          <a:p>
            <a:pPr indent="0">
              <a:buNone/>
            </a:pPr>
            <a:endParaRPr lang="en-US" sz="3200" dirty="0">
              <a:latin typeface="Verdana" panose="020B0604030504040204" pitchFamily="34" charset="0"/>
              <a:ea typeface="Verdana" panose="020B0604030504040204" pitchFamily="34" charset="0"/>
              <a:cs typeface="Verdana" panose="020B0604030504040204" pitchFamily="34" charset="0"/>
            </a:endParaRPr>
          </a:p>
          <a:p>
            <a:pPr indent="-387350">
              <a:buNone/>
            </a:pPr>
            <a:r>
              <a:rPr lang="en-US" sz="3200" dirty="0">
                <a:latin typeface="Verdana" panose="020B0604030504040204" pitchFamily="34" charset="0"/>
                <a:ea typeface="Verdana" panose="020B0604030504040204" pitchFamily="34" charset="0"/>
                <a:cs typeface="Verdana" panose="020B0604030504040204" pitchFamily="34" charset="0"/>
              </a:rPr>
              <a:t>MA.6.GR.2.3</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volume of right rectangular prisms with positive rational number edge lengths using a visual model and a formula.</a:t>
            </a:r>
            <a:endParaRPr lang="en-US" sz="3200" dirty="0"/>
          </a:p>
        </p:txBody>
      </p:sp>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37713" y="280975"/>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85013" y="-8225"/>
            <a:ext cx="103420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t>
            </a:r>
            <a:br>
              <a:rPr lang="en-US" sz="3000" b="1" dirty="0">
                <a:solidFill>
                  <a:srgbClr val="54B5D1"/>
                </a:solidFill>
                <a:latin typeface="Verdana"/>
                <a:ea typeface="Verdana"/>
                <a:cs typeface="Verdana"/>
                <a:sym typeface="Verdana"/>
              </a:rPr>
            </a:br>
            <a:r>
              <a:rPr lang="en-US" sz="3000" b="1" dirty="0">
                <a:solidFill>
                  <a:srgbClr val="54B5D1"/>
                </a:solidFill>
                <a:latin typeface="Verdana"/>
                <a:ea typeface="Verdana"/>
                <a:cs typeface="Verdana"/>
                <a:sym typeface="Verdana"/>
              </a:rPr>
              <a:t>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85013" y="1317474"/>
            <a:ext cx="10342025" cy="45489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2200" y="-7619"/>
            <a:ext cx="92530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54900" y="27118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28551" y="1488231"/>
            <a:ext cx="10798488" cy="47124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find the surface area of right rectangular prisms and right rectangular pyramids.</a:t>
            </a:r>
          </a:p>
          <a:p>
            <a:pPr marL="685800" indent="-679450">
              <a:buClr>
                <a:srgbClr val="434343"/>
              </a:buClr>
              <a:buSzPct val="1000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685800" indent="-679450">
              <a:buClr>
                <a:srgbClr val="434343"/>
              </a:buClr>
              <a:buSzPct val="1000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find the volume of right rectangular prisms. </a:t>
            </a:r>
          </a:p>
        </p:txBody>
      </p:sp>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0919"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2939" y="-8225"/>
            <a:ext cx="105499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8.12.1 Warm-Up: Would You Rather? </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389064" y="25815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762714" y="1323464"/>
                <a:ext cx="10258867"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Cake A and Cake B are shown below. Cake A is cut into </a:t>
                </a:r>
                <a14:m>
                  <m:oMath xmlns:m="http://schemas.openxmlformats.org/officeDocument/2006/math">
                    <m:r>
                      <a:rPr lang="en-US" sz="2000" i="1">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equal slices. Cake B is cut into </a:t>
                </a:r>
                <a14:m>
                  <m:oMath xmlns:m="http://schemas.openxmlformats.org/officeDocument/2006/math">
                    <m:r>
                      <a:rPr lang="en-US" sz="2000" i="1">
                        <a:latin typeface="Cambria Math" panose="02040503050406030204" pitchFamily="18"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equal slices. Would you rather have a slice from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Cake A or Cake B?</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762714" y="1323464"/>
                <a:ext cx="10258867" cy="1015663"/>
              </a:xfrm>
              <a:prstGeom prst="rect">
                <a:avLst/>
              </a:prstGeom>
              <a:blipFill rotWithShape="1">
                <a:blip r:embed="rId4"/>
                <a:stretch>
                  <a:fillRect l="-594" t="-3593" b="-958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xmlns="" id="{1644CD11-6E79-F44D-A97F-DD0B2B9CF9A7}"/>
              </a:ext>
            </a:extLst>
          </p:cNvPr>
          <p:cNvSpPr>
            <a:spLocks noChangeAspect="1"/>
          </p:cNvSpPr>
          <p:nvPr/>
        </p:nvSpPr>
        <p:spPr>
          <a:xfrm>
            <a:off x="2029960" y="3086215"/>
            <a:ext cx="2798638" cy="2657991"/>
          </a:xfrm>
          <a:prstGeom prst="rect">
            <a:avLst/>
          </a:prstGeom>
          <a:solidFill>
            <a:schemeClr val="bg1"/>
          </a:solidFill>
          <a:ln w="76200">
            <a:solidFill>
              <a:srgbClr val="7030A0"/>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 name="TextBox 3">
            <a:extLst>
              <a:ext uri="{FF2B5EF4-FFF2-40B4-BE49-F238E27FC236}">
                <a16:creationId xmlns:a16="http://schemas.microsoft.com/office/drawing/2014/main" xmlns="" id="{DD3CD806-E48C-994F-9456-06231249C106}"/>
              </a:ext>
            </a:extLst>
          </p:cNvPr>
          <p:cNvSpPr txBox="1"/>
          <p:nvPr/>
        </p:nvSpPr>
        <p:spPr>
          <a:xfrm>
            <a:off x="2510397" y="4056606"/>
            <a:ext cx="1837765" cy="830997"/>
          </a:xfrm>
          <a:prstGeom prst="rect">
            <a:avLst/>
          </a:prstGeom>
          <a:noFill/>
        </p:spPr>
        <p:txBody>
          <a:bodyPr wrap="square" rtlCol="0">
            <a:spAutoFit/>
          </a:bodyPr>
          <a:lstStyle/>
          <a:p>
            <a:pPr algn="ctr"/>
            <a:r>
              <a:rPr lang="en-US" sz="2400" dirty="0">
                <a:latin typeface="Verdana" panose="020B0604030504040204" pitchFamily="34" charset="0"/>
                <a:ea typeface="Verdana" panose="020B0604030504040204" pitchFamily="34" charset="0"/>
                <a:cs typeface="Verdana" panose="020B0604030504040204" pitchFamily="34" charset="0"/>
              </a:rPr>
              <a:t>Happy Birthday!</a:t>
            </a:r>
          </a:p>
        </p:txBody>
      </p:sp>
      <p:sp>
        <p:nvSpPr>
          <p:cNvPr id="11" name="Rectangle 10">
            <a:extLst>
              <a:ext uri="{FF2B5EF4-FFF2-40B4-BE49-F238E27FC236}">
                <a16:creationId xmlns:a16="http://schemas.microsoft.com/office/drawing/2014/main" xmlns="" id="{B02FE8DD-B175-E748-A950-D9DAC0B69DD1}"/>
              </a:ext>
            </a:extLst>
          </p:cNvPr>
          <p:cNvSpPr>
            <a:spLocks/>
          </p:cNvSpPr>
          <p:nvPr/>
        </p:nvSpPr>
        <p:spPr>
          <a:xfrm>
            <a:off x="6653261" y="3086215"/>
            <a:ext cx="3956976" cy="2098723"/>
          </a:xfrm>
          <a:prstGeom prst="rect">
            <a:avLst/>
          </a:prstGeom>
          <a:solidFill>
            <a:schemeClr val="bg1"/>
          </a:solidFill>
          <a:ln w="76200">
            <a:solidFill>
              <a:srgbClr val="7030A0"/>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dirty="0">
                <a:latin typeface="Verdana" panose="020B0604030504040204" pitchFamily="34" charset="0"/>
                <a:ea typeface="Verdana" panose="020B0604030504040204" pitchFamily="34" charset="0"/>
                <a:cs typeface="Verdana" panose="020B0604030504040204" pitchFamily="34" charset="0"/>
              </a:rPr>
              <a:t>!</a:t>
            </a:r>
            <a:endParaRPr lang="en-US" dirty="0"/>
          </a:p>
        </p:txBody>
      </p:sp>
      <p:sp>
        <p:nvSpPr>
          <p:cNvPr id="5" name="TextBox 4">
            <a:extLst>
              <a:ext uri="{FF2B5EF4-FFF2-40B4-BE49-F238E27FC236}">
                <a16:creationId xmlns:a16="http://schemas.microsoft.com/office/drawing/2014/main" xmlns="" id="{A90CEE87-17FC-8549-933B-3F1AA0B9EC11}"/>
              </a:ext>
            </a:extLst>
          </p:cNvPr>
          <p:cNvSpPr txBox="1"/>
          <p:nvPr/>
        </p:nvSpPr>
        <p:spPr>
          <a:xfrm>
            <a:off x="7616605" y="3641107"/>
            <a:ext cx="2030288" cy="830997"/>
          </a:xfrm>
          <a:prstGeom prst="rect">
            <a:avLst/>
          </a:prstGeom>
          <a:noFill/>
        </p:spPr>
        <p:txBody>
          <a:bodyPr wrap="square" rtlCol="0">
            <a:spAutoFit/>
          </a:bodyPr>
          <a:lstStyle/>
          <a:p>
            <a:pPr algn="ctr"/>
            <a:r>
              <a:rPr lang="en-US" sz="2400" dirty="0">
                <a:latin typeface="Verdana" panose="020B0604030504040204" pitchFamily="34" charset="0"/>
                <a:ea typeface="Verdana" panose="020B0604030504040204" pitchFamily="34" charset="0"/>
                <a:cs typeface="Verdana" panose="020B0604030504040204" pitchFamily="34" charset="0"/>
              </a:rPr>
              <a:t>Happy Birthday!</a:t>
            </a:r>
          </a:p>
        </p:txBody>
      </p:sp>
      <mc:AlternateContent xmlns:mc="http://schemas.openxmlformats.org/markup-compatibility/2006" xmlns:a14="http://schemas.microsoft.com/office/drawing/2010/main">
        <mc:Choice Requires="a14">
          <p:sp>
            <p:nvSpPr>
              <p:cNvPr id="14" name="Text Box 45">
                <a:extLst>
                  <a:ext uri="{FF2B5EF4-FFF2-40B4-BE49-F238E27FC236}">
                    <a16:creationId xmlns:a16="http://schemas.microsoft.com/office/drawing/2014/main" xmlns="" id="{29AA1027-1697-AF41-9A17-0BD09566DAFF}"/>
                  </a:ext>
                </a:extLst>
              </p:cNvPr>
              <p:cNvSpPr txBox="1"/>
              <p:nvPr/>
            </p:nvSpPr>
            <p:spPr>
              <a:xfrm>
                <a:off x="1314495" y="4208578"/>
                <a:ext cx="574040" cy="52705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15"</m:t>
                      </m:r>
                    </m:oMath>
                  </m:oMathPara>
                </a14:m>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 Box 45">
                <a:extLst>
                  <a:ext uri="{FF2B5EF4-FFF2-40B4-BE49-F238E27FC236}">
                    <a16:creationId xmlns:a16="http://schemas.microsoft.com/office/drawing/2014/main" xmlns:a14="http://schemas.microsoft.com/office/drawing/2010/main" xmlns="" id="{29AA1027-1697-AF41-9A17-0BD09566DAFF}"/>
                  </a:ext>
                </a:extLst>
              </p:cNvPr>
              <p:cNvSpPr txBox="1">
                <a:spLocks noRot="1" noChangeAspect="1" noMove="1" noResize="1" noEditPoints="1" noAdjustHandles="1" noChangeArrowheads="1" noChangeShapeType="1" noTextEdit="1"/>
              </p:cNvSpPr>
              <p:nvPr/>
            </p:nvSpPr>
            <p:spPr>
              <a:xfrm>
                <a:off x="1314495" y="4208578"/>
                <a:ext cx="574040" cy="527050"/>
              </a:xfrm>
              <a:prstGeom prst="rect">
                <a:avLst/>
              </a:prstGeom>
              <a:blipFill rotWithShape="1">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9410047F-C084-0B4F-9263-9B3CE8BAC08B}"/>
                  </a:ext>
                </a:extLst>
              </p:cNvPr>
              <p:cNvSpPr txBox="1"/>
              <p:nvPr/>
            </p:nvSpPr>
            <p:spPr>
              <a:xfrm>
                <a:off x="3033991" y="5838827"/>
                <a:ext cx="790575" cy="589905"/>
              </a:xfrm>
              <a:prstGeom prst="rect">
                <a:avLst/>
              </a:prstGeom>
              <a:noFill/>
            </p:spPr>
            <p:txBody>
              <a:bodyPr wrap="square">
                <a:spAutoFit/>
              </a:bodyPr>
              <a:lstStyle/>
              <a:p>
                <a:pPr>
                  <a:spcAft>
                    <a:spcPts val="1000"/>
                  </a:spcAft>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15"</m:t>
                      </m:r>
                    </m:oMath>
                  </m:oMathPara>
                </a14:m>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xmlns:a14="http://schemas.microsoft.com/office/drawing/2010/main" xmlns="" id="{9410047F-C084-0B4F-9263-9B3CE8BAC08B}"/>
                  </a:ext>
                </a:extLst>
              </p:cNvPr>
              <p:cNvSpPr txBox="1">
                <a:spLocks noRot="1" noChangeAspect="1" noMove="1" noResize="1" noEditPoints="1" noAdjustHandles="1" noChangeArrowheads="1" noChangeShapeType="1" noTextEdit="1"/>
              </p:cNvSpPr>
              <p:nvPr/>
            </p:nvSpPr>
            <p:spPr>
              <a:xfrm>
                <a:off x="3033991" y="5838827"/>
                <a:ext cx="790575" cy="589905"/>
              </a:xfrm>
              <a:prstGeom prst="rect">
                <a:avLst/>
              </a:prstGeom>
              <a:blipFill rotWithShape="1">
                <a:blip r:embed="rId6"/>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xmlns="" id="{C6C74F1B-D640-DB4C-B328-6E2FE415EC0A}"/>
              </a:ext>
            </a:extLst>
          </p:cNvPr>
          <p:cNvSpPr txBox="1"/>
          <p:nvPr/>
        </p:nvSpPr>
        <p:spPr>
          <a:xfrm>
            <a:off x="2795131" y="2522958"/>
            <a:ext cx="1268296" cy="461665"/>
          </a:xfrm>
          <a:prstGeom prst="rect">
            <a:avLst/>
          </a:prstGeom>
          <a:noFill/>
        </p:spPr>
        <p:txBody>
          <a:bodyPr wrap="non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Cake A</a:t>
            </a:r>
          </a:p>
        </p:txBody>
      </p:sp>
      <p:sp>
        <p:nvSpPr>
          <p:cNvPr id="10" name="TextBox 9">
            <a:extLst>
              <a:ext uri="{FF2B5EF4-FFF2-40B4-BE49-F238E27FC236}">
                <a16:creationId xmlns:a16="http://schemas.microsoft.com/office/drawing/2014/main" xmlns="" id="{C742893F-E2F9-1D4B-97F7-2866DA085B13}"/>
              </a:ext>
            </a:extLst>
          </p:cNvPr>
          <p:cNvSpPr txBox="1"/>
          <p:nvPr/>
        </p:nvSpPr>
        <p:spPr>
          <a:xfrm>
            <a:off x="7996799" y="2531316"/>
            <a:ext cx="1269899" cy="461665"/>
          </a:xfrm>
          <a:prstGeom prst="rect">
            <a:avLst/>
          </a:prstGeom>
          <a:noFill/>
        </p:spPr>
        <p:txBody>
          <a:bodyPr wrap="non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Cake B</a:t>
            </a:r>
          </a:p>
        </p:txBody>
      </p:sp>
      <mc:AlternateContent xmlns:mc="http://schemas.openxmlformats.org/markup-compatibility/2006" xmlns:a14="http://schemas.microsoft.com/office/drawing/2010/main">
        <mc:Choice Requires="a14">
          <p:sp>
            <p:nvSpPr>
              <p:cNvPr id="18" name="Text Box 39">
                <a:extLst>
                  <a:ext uri="{FF2B5EF4-FFF2-40B4-BE49-F238E27FC236}">
                    <a16:creationId xmlns:a16="http://schemas.microsoft.com/office/drawing/2014/main" xmlns="" id="{7554D6B6-E942-7B42-9903-9D94639D8FDA}"/>
                  </a:ext>
                </a:extLst>
              </p:cNvPr>
              <p:cNvSpPr txBox="1"/>
              <p:nvPr/>
            </p:nvSpPr>
            <p:spPr>
              <a:xfrm>
                <a:off x="5997077" y="3941879"/>
                <a:ext cx="480060" cy="53022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12"</m:t>
                      </m:r>
                    </m:oMath>
                  </m:oMathPara>
                </a14:m>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8" name="Text Box 39">
                <a:extLst>
                  <a:ext uri="{FF2B5EF4-FFF2-40B4-BE49-F238E27FC236}">
                    <a16:creationId xmlns:a16="http://schemas.microsoft.com/office/drawing/2014/main" xmlns:a14="http://schemas.microsoft.com/office/drawing/2010/main" xmlns="" id="{7554D6B6-E942-7B42-9903-9D94639D8FDA}"/>
                  </a:ext>
                </a:extLst>
              </p:cNvPr>
              <p:cNvSpPr txBox="1">
                <a:spLocks noRot="1" noChangeAspect="1" noMove="1" noResize="1" noEditPoints="1" noAdjustHandles="1" noChangeArrowheads="1" noChangeShapeType="1" noTextEdit="1"/>
              </p:cNvSpPr>
              <p:nvPr/>
            </p:nvSpPr>
            <p:spPr>
              <a:xfrm>
                <a:off x="5997077" y="3941879"/>
                <a:ext cx="480060" cy="530225"/>
              </a:xfrm>
              <a:prstGeom prst="rect">
                <a:avLst/>
              </a:prstGeom>
              <a:blipFill rotWithShape="1">
                <a:blip r:embed="rId7"/>
                <a:stretch>
                  <a:fillRect r="-11392"/>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 Box 46">
                <a:extLst>
                  <a:ext uri="{FF2B5EF4-FFF2-40B4-BE49-F238E27FC236}">
                    <a16:creationId xmlns:a16="http://schemas.microsoft.com/office/drawing/2014/main" xmlns="" id="{08CE7A4E-E4B5-0F4D-ADA1-A95BC36DA953}"/>
                  </a:ext>
                </a:extLst>
              </p:cNvPr>
              <p:cNvSpPr txBox="1"/>
              <p:nvPr/>
            </p:nvSpPr>
            <p:spPr>
              <a:xfrm>
                <a:off x="8344729" y="5312810"/>
                <a:ext cx="574040" cy="52705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17"</m:t>
                      </m:r>
                    </m:oMath>
                  </m:oMathPara>
                </a14:m>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9" name="Text Box 46">
                <a:extLst>
                  <a:ext uri="{FF2B5EF4-FFF2-40B4-BE49-F238E27FC236}">
                    <a16:creationId xmlns:a16="http://schemas.microsoft.com/office/drawing/2014/main" id="{08CE7A4E-E4B5-0F4D-ADA1-A95BC36DA953}"/>
                  </a:ext>
                </a:extLst>
              </p:cNvPr>
              <p:cNvSpPr txBox="1">
                <a:spLocks noRot="1" noChangeAspect="1" noMove="1" noResize="1" noEditPoints="1" noAdjustHandles="1" noChangeArrowheads="1" noChangeShapeType="1" noTextEdit="1"/>
              </p:cNvSpPr>
              <p:nvPr/>
            </p:nvSpPr>
            <p:spPr>
              <a:xfrm>
                <a:off x="8344729" y="5312810"/>
                <a:ext cx="574040" cy="527050"/>
              </a:xfrm>
              <a:prstGeom prst="rect">
                <a:avLst/>
              </a:prstGeom>
              <a:blipFill>
                <a:blip r:embed="rId9"/>
                <a:stretch>
                  <a:fillRect l="-4348" r="-13043"/>
                </a:stretch>
              </a:blipFill>
              <a:ln w="6350">
                <a:noFill/>
              </a:ln>
            </p:spPr>
            <p:txBody>
              <a:bodyPr/>
              <a:lstStyle/>
              <a:p>
                <a:r>
                  <a:rPr lang="en-US">
                    <a:noFill/>
                  </a:rPr>
                  <a:t> </a:t>
                </a:r>
              </a:p>
            </p:txBody>
          </p:sp>
        </mc:Fallback>
      </mc:AlternateContent>
      <p:sp>
        <p:nvSpPr>
          <p:cNvPr id="2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21" name="Google Shape;283;g104476d1465_1_17"/>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82623" y="0"/>
            <a:ext cx="1089458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8.12.2 Collaboration: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Which Juice Box is Better?</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28008"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E44DF7DE-9172-3E4E-B74A-7A51585FB6EA}"/>
                  </a:ext>
                </a:extLst>
              </p:cNvPr>
              <p:cNvSpPr txBox="1"/>
              <p:nvPr/>
            </p:nvSpPr>
            <p:spPr>
              <a:xfrm>
                <a:off x="581891" y="1418559"/>
                <a:ext cx="10945147"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Julius is designing a juice box. He drew a model of his box.</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If the juice box has a volume of</a:t>
                </a:r>
                <a:r>
                  <a:rPr lang="en-US" sz="2000" dirty="0" smtClean="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m:t>196.875</m:t>
                    </m:r>
                  </m:oMath>
                </a14:m>
                <a:r>
                  <a:rPr lang="en-US" sz="2000" dirty="0" smtClean="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cubic centimeters (cm</a:t>
                </a:r>
                <a:r>
                  <a:rPr lang="en-US" sz="2000" baseline="30000" dirty="0">
                    <a:latin typeface="Verdana" panose="020B0604030504040204" pitchFamily="34" charset="0"/>
                    <a:ea typeface="Verdana" panose="020B0604030504040204" pitchFamily="34" charset="0"/>
                    <a:cs typeface="Verdana" panose="020B0604030504040204" pitchFamily="34" charset="0"/>
                  </a:rPr>
                  <a:t>3</a:t>
                </a:r>
                <a:r>
                  <a:rPr lang="en-US" sz="2000" dirty="0">
                    <a:latin typeface="Verdana" panose="020B0604030504040204" pitchFamily="34" charset="0"/>
                    <a:ea typeface="Verdana" panose="020B0604030504040204" pitchFamily="34" charset="0"/>
                    <a:cs typeface="Verdana" panose="020B0604030504040204" pitchFamily="34" charset="0"/>
                  </a:rPr>
                  <a:t>), what is the width of the box?</a:t>
                </a:r>
              </a:p>
            </p:txBody>
          </p:sp>
        </mc:Choice>
        <mc:Fallback>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81891" y="1418559"/>
                <a:ext cx="10945147" cy="4093428"/>
              </a:xfrm>
              <a:prstGeom prst="rect">
                <a:avLst/>
              </a:prstGeom>
              <a:blipFill rotWithShape="1">
                <a:blip r:embed="rId4"/>
                <a:stretch>
                  <a:fillRect l="-557" t="-745" b="-1788"/>
                </a:stretch>
              </a:blipFill>
            </p:spPr>
            <p:txBody>
              <a:bodyPr/>
              <a:lstStyle/>
              <a:p>
                <a:r>
                  <a:rPr lang="en-PH">
                    <a:noFill/>
                  </a:rPr>
                  <a:t> </a:t>
                </a:r>
              </a:p>
            </p:txBody>
          </p:sp>
        </mc:Fallback>
      </mc:AlternateContent>
      <p:pic>
        <p:nvPicPr>
          <p:cNvPr id="11" name="Picture 10" descr="A picture containing diagram&#10;&#10;Description automatically generated">
            <a:extLst>
              <a:ext uri="{FF2B5EF4-FFF2-40B4-BE49-F238E27FC236}">
                <a16:creationId xmlns:a16="http://schemas.microsoft.com/office/drawing/2014/main" xmlns="" id="{4C172282-053D-EF45-BEB2-872D0EB3CE0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14010" y="2005879"/>
            <a:ext cx="1363980" cy="2419985"/>
          </a:xfrm>
          <a:prstGeom prst="rect">
            <a:avLst/>
          </a:prstGeom>
        </p:spPr>
      </p:pic>
      <mc:AlternateContent xmlns:mc="http://schemas.openxmlformats.org/markup-compatibility/2006">
        <mc:Choice xmlns:a14="http://schemas.microsoft.com/office/drawing/2010/main" Requires="a14">
          <p:sp>
            <p:nvSpPr>
              <p:cNvPr id="12" name="Text Box 10">
                <a:extLst>
                  <a:ext uri="{FF2B5EF4-FFF2-40B4-BE49-F238E27FC236}">
                    <a16:creationId xmlns:a16="http://schemas.microsoft.com/office/drawing/2014/main" xmlns="" id="{42467910-8E2E-4F4A-B189-7AA0C3EC70F0}"/>
                  </a:ext>
                </a:extLst>
              </p:cNvPr>
              <p:cNvSpPr txBox="1"/>
              <p:nvPr/>
            </p:nvSpPr>
            <p:spPr>
              <a:xfrm>
                <a:off x="4428417" y="2783954"/>
                <a:ext cx="1201523"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10.5</m:t>
                    </m:r>
                  </m:oMath>
                </a14:m>
                <a:r>
                  <a:rPr lang="en-US" sz="1800" dirty="0">
                    <a:latin typeface="Cambria" panose="02040503050406030204" pitchFamily="18" charset="0"/>
                    <a:ea typeface="Times New Roman" panose="02020603050405020304" pitchFamily="18" charset="0"/>
                    <a:cs typeface="Times New Roman" panose="02020603050405020304" pitchFamily="18" charset="0"/>
                  </a:rPr>
                  <a:t> </a:t>
                </a:r>
                <a:r>
                  <a:rPr lang="en-US" sz="1800" dirty="0">
                    <a:latin typeface="Verdana" panose="020B0604030504040204" pitchFamily="34" charset="0"/>
                    <a:ea typeface="Times New Roman" panose="02020603050405020304" pitchFamily="18" charset="0"/>
                    <a:cs typeface="Times New Roman" panose="02020603050405020304" pitchFamily="18" charset="0"/>
                  </a:rPr>
                  <a:t>cm</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2" name="Text Box 10">
                <a:extLst>
                  <a:ext uri="{FF2B5EF4-FFF2-40B4-BE49-F238E27FC236}">
                    <a16:creationId xmlns:a16="http://schemas.microsoft.com/office/drawing/2014/main" xmlns:a14="http://schemas.microsoft.com/office/drawing/2010/main" xmlns="" id="{42467910-8E2E-4F4A-B189-7AA0C3EC70F0}"/>
                  </a:ext>
                </a:extLst>
              </p:cNvPr>
              <p:cNvSpPr txBox="1">
                <a:spLocks noRot="1" noChangeAspect="1" noMove="1" noResize="1" noEditPoints="1" noAdjustHandles="1" noChangeArrowheads="1" noChangeShapeType="1" noTextEdit="1"/>
              </p:cNvSpPr>
              <p:nvPr/>
            </p:nvSpPr>
            <p:spPr>
              <a:xfrm>
                <a:off x="4428417" y="2783954"/>
                <a:ext cx="1201523" cy="352425"/>
              </a:xfrm>
              <a:prstGeom prst="rect">
                <a:avLst/>
              </a:prstGeom>
              <a:blipFill rotWithShape="1">
                <a:blip r:embed="rId6"/>
                <a:stretch>
                  <a:fillRect t="-3509" b="-38596"/>
                </a:stretch>
              </a:blipFill>
              <a:ln w="6350">
                <a:noFill/>
              </a:ln>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3" name="Text Box 15">
                <a:extLst>
                  <a:ext uri="{FF2B5EF4-FFF2-40B4-BE49-F238E27FC236}">
                    <a16:creationId xmlns:a16="http://schemas.microsoft.com/office/drawing/2014/main" xmlns="" id="{FBD61CF0-D976-4840-B8E6-5CE09F0DFE27}"/>
                  </a:ext>
                </a:extLst>
              </p:cNvPr>
              <p:cNvSpPr txBox="1"/>
              <p:nvPr/>
            </p:nvSpPr>
            <p:spPr>
              <a:xfrm>
                <a:off x="5029178" y="3914453"/>
                <a:ext cx="1282752"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3" name="Text Box 15">
                <a:extLst>
                  <a:ext uri="{FF2B5EF4-FFF2-40B4-BE49-F238E27FC236}">
                    <a16:creationId xmlns:a16="http://schemas.microsoft.com/office/drawing/2014/main" xmlns:a14="http://schemas.microsoft.com/office/drawing/2010/main" xmlns="" id="{FBD61CF0-D976-4840-B8E6-5CE09F0DFE27}"/>
                  </a:ext>
                </a:extLst>
              </p:cNvPr>
              <p:cNvSpPr txBox="1">
                <a:spLocks noRot="1" noChangeAspect="1" noMove="1" noResize="1" noEditPoints="1" noAdjustHandles="1" noChangeArrowheads="1" noChangeShapeType="1" noTextEdit="1"/>
              </p:cNvSpPr>
              <p:nvPr/>
            </p:nvSpPr>
            <p:spPr>
              <a:xfrm>
                <a:off x="5029178" y="3914453"/>
                <a:ext cx="1282752" cy="352425"/>
              </a:xfrm>
              <a:prstGeom prst="rect">
                <a:avLst/>
              </a:prstGeom>
              <a:blipFill rotWithShape="1">
                <a:blip r:embed="rId7"/>
                <a:stretch>
                  <a:fillRect t="-8621" b="-43103"/>
                </a:stretch>
              </a:blipFill>
              <a:ln w="6350">
                <a:noFill/>
              </a:ln>
            </p:spPr>
            <p:txBody>
              <a:bodyPr/>
              <a:lstStyle/>
              <a:p>
                <a:r>
                  <a:rPr lang="en-PH">
                    <a:noFill/>
                  </a:rPr>
                  <a:t> </a:t>
                </a:r>
              </a:p>
            </p:txBody>
          </p:sp>
        </mc:Fallback>
      </mc:AlternateContent>
      <p:sp>
        <p:nvSpPr>
          <p:cNvPr id="14" name="Text Box 23">
            <a:extLst>
              <a:ext uri="{FF2B5EF4-FFF2-40B4-BE49-F238E27FC236}">
                <a16:creationId xmlns:a16="http://schemas.microsoft.com/office/drawing/2014/main" xmlns="" id="{537451C0-2912-1045-AF9F-E8FA88866973}"/>
              </a:ext>
            </a:extLst>
          </p:cNvPr>
          <p:cNvSpPr txBox="1"/>
          <p:nvPr/>
        </p:nvSpPr>
        <p:spPr>
          <a:xfrm>
            <a:off x="6290888" y="4130443"/>
            <a:ext cx="533400" cy="4413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dirty="0">
                <a:latin typeface="Cambria" panose="02040503050406030204" pitchFamily="18" charset="0"/>
                <a:ea typeface="Times New Roman" panose="02020603050405020304" pitchFamily="18" charset="0"/>
                <a:cs typeface="Times New Roman" panose="02020603050405020304" pitchFamily="18" charset="0"/>
              </a:rPr>
              <a:t>?</a:t>
            </a:r>
          </a:p>
        </p:txBody>
      </p:sp>
      <p:sp>
        <p:nvSpPr>
          <p:cNvPr id="1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17"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71777" y="390049"/>
            <a:ext cx="10955261" cy="92333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How much packaging board would Julius need to make a juice box with these dimensions, not taking into consideration any overlap of the faces?</a:t>
            </a:r>
          </a:p>
          <a:p>
            <a:r>
              <a:rPr lang="en-US" dirty="0"/>
              <a:t> </a:t>
            </a:r>
          </a:p>
        </p:txBody>
      </p:sp>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55819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3" name="TextBox 12">
            <a:extLst>
              <a:ext uri="{FF2B5EF4-FFF2-40B4-BE49-F238E27FC236}">
                <a16:creationId xmlns:a16="http://schemas.microsoft.com/office/drawing/2014/main" xmlns="" id="{2FA392D8-3ED3-7940-83A8-1451AA8A08D4}"/>
              </a:ext>
            </a:extLst>
          </p:cNvPr>
          <p:cNvSpPr txBox="1"/>
          <p:nvPr/>
        </p:nvSpPr>
        <p:spPr>
          <a:xfrm>
            <a:off x="571777" y="390049"/>
            <a:ext cx="10955261" cy="532453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Julius wondered how the juice box would be affected if he changed the dimensions, but kept the volume the same.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new length?</a:t>
            </a: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How much packaging board would Julius need to make the new juice box?</a:t>
            </a:r>
            <a:endParaRPr lang="en-US" sz="2000" dirty="0"/>
          </a:p>
        </p:txBody>
      </p:sp>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a:extLst>
              <a:ext uri="{FF2B5EF4-FFF2-40B4-BE49-F238E27FC236}">
                <a16:creationId xmlns:a16="http://schemas.microsoft.com/office/drawing/2014/main" xmlns="" id="{D9BDF972-35BF-3341-8617-E866D01946A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18006" y="1370601"/>
            <a:ext cx="1896745" cy="2054225"/>
          </a:xfrm>
          <a:prstGeom prst="rect">
            <a:avLst/>
          </a:prstGeom>
        </p:spPr>
      </p:pic>
      <mc:AlternateContent xmlns:mc="http://schemas.openxmlformats.org/markup-compatibility/2006">
        <mc:Choice xmlns:a14="http://schemas.microsoft.com/office/drawing/2010/main" Requires="a14">
          <p:sp>
            <p:nvSpPr>
              <p:cNvPr id="7" name="Text Box 27">
                <a:extLst>
                  <a:ext uri="{FF2B5EF4-FFF2-40B4-BE49-F238E27FC236}">
                    <a16:creationId xmlns:a16="http://schemas.microsoft.com/office/drawing/2014/main" xmlns="" id="{98457090-234C-9545-8F99-AF138C280EF8}"/>
                  </a:ext>
                </a:extLst>
              </p:cNvPr>
              <p:cNvSpPr txBox="1"/>
              <p:nvPr/>
            </p:nvSpPr>
            <p:spPr>
              <a:xfrm>
                <a:off x="4533900" y="2228604"/>
                <a:ext cx="1163598" cy="36923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7.</m:t>
                    </m:r>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7" name="Text Box 27">
                <a:extLst>
                  <a:ext uri="{FF2B5EF4-FFF2-40B4-BE49-F238E27FC236}">
                    <a16:creationId xmlns:a16="http://schemas.microsoft.com/office/drawing/2014/main" xmlns:a14="http://schemas.microsoft.com/office/drawing/2010/main" xmlns="" id="{98457090-234C-9545-8F99-AF138C280EF8}"/>
                  </a:ext>
                </a:extLst>
              </p:cNvPr>
              <p:cNvSpPr txBox="1">
                <a:spLocks noRot="1" noChangeAspect="1" noMove="1" noResize="1" noEditPoints="1" noAdjustHandles="1" noChangeArrowheads="1" noChangeShapeType="1" noTextEdit="1"/>
              </p:cNvSpPr>
              <p:nvPr/>
            </p:nvSpPr>
            <p:spPr>
              <a:xfrm>
                <a:off x="4533900" y="2228604"/>
                <a:ext cx="1163598" cy="369231"/>
              </a:xfrm>
              <a:prstGeom prst="rect">
                <a:avLst/>
              </a:prstGeom>
              <a:blipFill rotWithShape="1">
                <a:blip r:embed="rId4"/>
                <a:stretch>
                  <a:fillRect t="-8333" b="-38333"/>
                </a:stretch>
              </a:blipFill>
              <a:ln w="6350">
                <a:noFill/>
              </a:ln>
            </p:spPr>
            <p:txBody>
              <a:bodyPr/>
              <a:lstStyle/>
              <a:p>
                <a:r>
                  <a:rPr lang="en-PH">
                    <a:noFill/>
                  </a:rPr>
                  <a:t> </a:t>
                </a:r>
              </a:p>
            </p:txBody>
          </p:sp>
        </mc:Fallback>
      </mc:AlternateContent>
      <p:sp>
        <p:nvSpPr>
          <p:cNvPr id="8" name="Text Box 29">
            <a:extLst>
              <a:ext uri="{FF2B5EF4-FFF2-40B4-BE49-F238E27FC236}">
                <a16:creationId xmlns:a16="http://schemas.microsoft.com/office/drawing/2014/main" xmlns="" id="{52906AEB-5511-3247-BAFC-3A132B4E44F0}"/>
              </a:ext>
            </a:extLst>
          </p:cNvPr>
          <p:cNvSpPr txBox="1"/>
          <p:nvPr/>
        </p:nvSpPr>
        <p:spPr>
          <a:xfrm>
            <a:off x="5706658" y="3072401"/>
            <a:ext cx="40957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a:latin typeface="Verdana" panose="020B0604030504040204" pitchFamily="34" charset="0"/>
                <a:ea typeface="Times New Roman" panose="02020603050405020304" pitchFamily="18" charset="0"/>
                <a:cs typeface="Times New Roman" panose="02020603050405020304" pitchFamily="18" charset="0"/>
              </a:rPr>
              <a:t>?</a:t>
            </a:r>
            <a:endParaRPr lang="en-US" sz="200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Text Box 28">
                <a:extLst>
                  <a:ext uri="{FF2B5EF4-FFF2-40B4-BE49-F238E27FC236}">
                    <a16:creationId xmlns:a16="http://schemas.microsoft.com/office/drawing/2014/main" xmlns="" id="{C3122401-EB53-534F-BDC9-9A27ADF8C101}"/>
                  </a:ext>
                </a:extLst>
              </p:cNvPr>
              <p:cNvSpPr txBox="1"/>
              <p:nvPr/>
            </p:nvSpPr>
            <p:spPr>
              <a:xfrm>
                <a:off x="6431163" y="3248613"/>
                <a:ext cx="988564"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9" name="Text Box 28">
                <a:extLst>
                  <a:ext uri="{FF2B5EF4-FFF2-40B4-BE49-F238E27FC236}">
                    <a16:creationId xmlns:a16="http://schemas.microsoft.com/office/drawing/2014/main" xmlns:a14="http://schemas.microsoft.com/office/drawing/2010/main" xmlns="" id="{C3122401-EB53-534F-BDC9-9A27ADF8C101}"/>
                  </a:ext>
                </a:extLst>
              </p:cNvPr>
              <p:cNvSpPr txBox="1">
                <a:spLocks noRot="1" noChangeAspect="1" noMove="1" noResize="1" noEditPoints="1" noAdjustHandles="1" noChangeArrowheads="1" noChangeShapeType="1" noTextEdit="1"/>
              </p:cNvSpPr>
              <p:nvPr/>
            </p:nvSpPr>
            <p:spPr>
              <a:xfrm>
                <a:off x="6431163" y="3248613"/>
                <a:ext cx="988564" cy="352425"/>
              </a:xfrm>
              <a:prstGeom prst="rect">
                <a:avLst/>
              </a:prstGeom>
              <a:blipFill rotWithShape="1">
                <a:blip r:embed="rId5"/>
                <a:stretch>
                  <a:fillRect t="-8621" b="-43103"/>
                </a:stretch>
              </a:blipFill>
              <a:ln w="6350">
                <a:noFill/>
              </a:ln>
            </p:spPr>
            <p:txBody>
              <a:bodyPr/>
              <a:lstStyle/>
              <a:p>
                <a:r>
                  <a:rPr lang="en-PH">
                    <a:noFill/>
                  </a:rPr>
                  <a:t> </a:t>
                </a:r>
              </a:p>
            </p:txBody>
          </p:sp>
        </mc:Fallback>
      </mc:AlternateContent>
      <p:sp>
        <p:nvSpPr>
          <p:cNvPr id="1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137</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0428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id="{2FA392D8-3ED3-7940-83A8-1451AA8A08D4}"/>
              </a:ext>
            </a:extLst>
          </p:cNvPr>
          <p:cNvSpPr txBox="1"/>
          <p:nvPr/>
        </p:nvSpPr>
        <p:spPr>
          <a:xfrm>
            <a:off x="571777" y="390049"/>
            <a:ext cx="10955261" cy="707886"/>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If Julius wants to use the least amount of material to construct the juice box, which juice box should he choose? Explain your reasoning.</a:t>
            </a:r>
          </a:p>
        </p:txBody>
      </p:sp>
    </p:spTree>
    <p:extLst>
      <p:ext uri="{BB962C8B-B14F-4D97-AF65-F5344CB8AC3E}">
        <p14:creationId xmlns:p14="http://schemas.microsoft.com/office/powerpoint/2010/main" val="1555388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95470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839"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94811" y="0"/>
            <a:ext cx="1072212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8.12.3 Guided Practice: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Surface Area and Volume</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5003"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914400" y="1475894"/>
            <a:ext cx="10343408"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With your partner, complete the chart for the three-dimensional figures below.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PH"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4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a:t>
            </a:r>
            <a:endParaRPr i="1" dirty="0">
              <a:latin typeface="Calibri"/>
              <a:ea typeface="Calibri"/>
              <a:cs typeface="Calibri"/>
              <a:sym typeface="Calibri"/>
            </a:endParaRPr>
          </a:p>
        </p:txBody>
      </p:sp>
      <p:pic>
        <p:nvPicPr>
          <p:cNvPr id="5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pic>
        <p:nvPicPr>
          <p:cNvPr id="1027" name="Picture 3"/>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t="6126"/>
          <a:stretch/>
        </p:blipFill>
        <p:spPr bwMode="auto">
          <a:xfrm>
            <a:off x="3569123" y="2809526"/>
            <a:ext cx="5033962" cy="3315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2869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xmlns="" id="{16C0DE3E-0E8D-954C-9CA4-CC403EBA6951}"/>
              </a:ext>
            </a:extLst>
          </p:cNvPr>
          <p:cNvGraphicFramePr>
            <a:graphicFrameLocks noGrp="1"/>
          </p:cNvGraphicFramePr>
          <p:nvPr>
            <p:extLst>
              <p:ext uri="{D42A27DB-BD31-4B8C-83A1-F6EECF244321}">
                <p14:modId xmlns:p14="http://schemas.microsoft.com/office/powerpoint/2010/main" val="4114172739"/>
              </p:ext>
            </p:extLst>
          </p:nvPr>
        </p:nvGraphicFramePr>
        <p:xfrm>
          <a:off x="2345095" y="390049"/>
          <a:ext cx="7884061" cy="4114800"/>
        </p:xfrm>
        <a:graphic>
          <a:graphicData uri="http://schemas.openxmlformats.org/drawingml/2006/table">
            <a:tbl>
              <a:tblPr firstRow="1" firstCol="1" bandRow="1">
                <a:tableStyleId>{A91F0D33-8C57-4600-99A7-42BC86742BE1}</a:tableStyleId>
              </a:tblPr>
              <a:tblGrid>
                <a:gridCol w="2926080">
                  <a:extLst>
                    <a:ext uri="{9D8B030D-6E8A-4147-A177-3AD203B41FA5}">
                      <a16:colId xmlns:a16="http://schemas.microsoft.com/office/drawing/2014/main" xmlns="" val="1349617777"/>
                    </a:ext>
                  </a:extLst>
                </a:gridCol>
                <a:gridCol w="4957981">
                  <a:extLst>
                    <a:ext uri="{9D8B030D-6E8A-4147-A177-3AD203B41FA5}">
                      <a16:colId xmlns:a16="http://schemas.microsoft.com/office/drawing/2014/main" xmlns="" val="8834322"/>
                    </a:ext>
                  </a:extLst>
                </a:gridCol>
              </a:tblGrid>
              <a:tr h="1371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What is the type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of figure?</a:t>
                      </a: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1000" dirty="0">
                          <a:effectLst/>
                        </a:rPr>
                        <a:t> </a:t>
                      </a:r>
                      <a:endParaRPr lang="en-US" sz="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8052" marR="480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7649067"/>
                  </a:ext>
                </a:extLst>
              </a:tr>
              <a:tr h="1371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Draw a net or the individual faces of the figure. Label the measurements.</a:t>
                      </a: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000" dirty="0">
                          <a:effectLst/>
                        </a:rPr>
                        <a:t> </a:t>
                      </a:r>
                      <a:endParaRPr lang="en-US" sz="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06849741"/>
                  </a:ext>
                </a:extLst>
              </a:tr>
              <a:tr h="1371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Find the surface area of the figure.</a:t>
                      </a: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1000" dirty="0">
                          <a:effectLst/>
                        </a:rPr>
                        <a:t> </a:t>
                      </a:r>
                      <a:endParaRPr lang="en-US" sz="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8052" marR="480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90090924"/>
                  </a:ext>
                </a:extLst>
              </a:tr>
            </a:tbl>
          </a:graphicData>
        </a:graphic>
      </p:graphicFrame>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369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a:extLst>
              <a:ext uri="{FF2B5EF4-FFF2-40B4-BE49-F238E27FC236}">
                <a16:creationId xmlns:a16="http://schemas.microsoft.com/office/drawing/2014/main" xmlns="" id="{DA2B294B-AE02-C44B-9DF2-12147F73DFA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22441" y="1152128"/>
            <a:ext cx="4053932" cy="3184259"/>
          </a:xfrm>
          <a:prstGeom prst="rect">
            <a:avLst/>
          </a:prstGeom>
        </p:spPr>
      </p:pic>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a16="http://schemas.microsoft.com/office/drawing/2014/main" xmlns="" id="{2FA392D8-3ED3-7940-83A8-1451AA8A08D4}"/>
              </a:ext>
            </a:extLst>
          </p:cNvPr>
          <p:cNvSpPr txBox="1"/>
          <p:nvPr/>
        </p:nvSpPr>
        <p:spPr>
          <a:xfrm>
            <a:off x="571777" y="390049"/>
            <a:ext cx="10955261" cy="400110"/>
          </a:xfrm>
          <a:prstGeom prst="rect">
            <a:avLst/>
          </a:prstGeom>
          <a:noFill/>
        </p:spPr>
        <p:txBody>
          <a:bodyPr wrap="square" rtlCol="0">
            <a:spAutoFit/>
          </a:bodyPr>
          <a:lstStyle/>
          <a:p>
            <a:pPr marL="457200" indent="-457200">
              <a:buFont typeface="+mj-lt"/>
              <a:buAutoNum type="arabicPeriod" startAt="2"/>
            </a:pPr>
            <a:r>
              <a:rPr lang="en-PH"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65329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9" name="Table 8">
            <a:extLst>
              <a:ext uri="{FF2B5EF4-FFF2-40B4-BE49-F238E27FC236}">
                <a16:creationId xmlns:a16="http://schemas.microsoft.com/office/drawing/2014/main" xmlns="" id="{16C0DE3E-0E8D-954C-9CA4-CC403EBA6951}"/>
              </a:ext>
            </a:extLst>
          </p:cNvPr>
          <p:cNvGraphicFramePr>
            <a:graphicFrameLocks noGrp="1"/>
          </p:cNvGraphicFramePr>
          <p:nvPr>
            <p:extLst>
              <p:ext uri="{D42A27DB-BD31-4B8C-83A1-F6EECF244321}">
                <p14:modId xmlns:p14="http://schemas.microsoft.com/office/powerpoint/2010/main" val="292881168"/>
              </p:ext>
            </p:extLst>
          </p:nvPr>
        </p:nvGraphicFramePr>
        <p:xfrm>
          <a:off x="2345095" y="390049"/>
          <a:ext cx="7884061" cy="5486400"/>
        </p:xfrm>
        <a:graphic>
          <a:graphicData uri="http://schemas.openxmlformats.org/drawingml/2006/table">
            <a:tbl>
              <a:tblPr firstRow="1" firstCol="1" bandRow="1">
                <a:tableStyleId>{A91F0D33-8C57-4600-99A7-42BC86742BE1}</a:tableStyleId>
              </a:tblPr>
              <a:tblGrid>
                <a:gridCol w="2926080">
                  <a:extLst>
                    <a:ext uri="{9D8B030D-6E8A-4147-A177-3AD203B41FA5}">
                      <a16:colId xmlns:a16="http://schemas.microsoft.com/office/drawing/2014/main" xmlns="" val="1349617777"/>
                    </a:ext>
                  </a:extLst>
                </a:gridCol>
                <a:gridCol w="4957981">
                  <a:extLst>
                    <a:ext uri="{9D8B030D-6E8A-4147-A177-3AD203B41FA5}">
                      <a16:colId xmlns:a16="http://schemas.microsoft.com/office/drawing/2014/main" xmlns="" val="8834322"/>
                    </a:ext>
                  </a:extLst>
                </a:gridCol>
              </a:tblGrid>
              <a:tr h="1371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What is the type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of figure?</a:t>
                      </a: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1000" dirty="0">
                          <a:effectLst/>
                        </a:rPr>
                        <a:t> </a:t>
                      </a:r>
                      <a:endParaRPr lang="en-US" sz="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8052" marR="480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7649067"/>
                  </a:ext>
                </a:extLst>
              </a:tr>
              <a:tr h="1371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Draw a net or the individual faces of the figure. Label the measurements.</a:t>
                      </a: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000" dirty="0">
                          <a:effectLst/>
                        </a:rPr>
                        <a:t> </a:t>
                      </a:r>
                      <a:endParaRPr lang="en-US" sz="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06849741"/>
                  </a:ext>
                </a:extLst>
              </a:tr>
              <a:tr h="1371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Find the surface area of the figure.</a:t>
                      </a: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1000" dirty="0">
                          <a:effectLst/>
                        </a:rPr>
                        <a:t> </a:t>
                      </a:r>
                      <a:endParaRPr lang="en-US" sz="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8052" marR="480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90090924"/>
                  </a:ext>
                </a:extLst>
              </a:tr>
              <a:tr h="137160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effectLst/>
                          <a:latin typeface="Verdana" panose="020B0604030504040204" pitchFamily="34" charset="0"/>
                          <a:ea typeface="Verdana" panose="020B0604030504040204" pitchFamily="34" charset="0"/>
                          <a:cs typeface="Verdana" panose="020B0604030504040204" pitchFamily="34" charset="0"/>
                        </a:rPr>
                        <a:t>Find the volume of the figure.</a:t>
                      </a:r>
                    </a:p>
                  </a:txBody>
                  <a:tcPr marL="48052" marR="4805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endParaRPr lang="en-US" sz="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8052" marR="480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158174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43592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48675" y="169210"/>
            <a:ext cx="9700373"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8.12.4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394524" y="155327"/>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688769" y="1137758"/>
                <a:ext cx="10818421" cy="3170099"/>
              </a:xfrm>
              <a:prstGeom prst="rect">
                <a:avLst/>
              </a:prstGeom>
              <a:noFill/>
            </p:spPr>
            <p:txBody>
              <a:bodyPr wrap="square" rtlCol="0">
                <a:spAutoFit/>
              </a:bodyPr>
              <a:lstStyle/>
              <a:p>
                <a:pPr marL="460375" indent="-460375">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Nikolas is constructing a skyscraper with walls made of only glass that is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rPr>
                      <m:t>350</m:t>
                    </m:r>
                  </m:oMath>
                </a14:m>
                <a:r>
                  <a:rPr lang="en-US" sz="2000" dirty="0">
                    <a:latin typeface="Verdana" panose="020B0604030504040204" pitchFamily="34" charset="0"/>
                    <a:ea typeface="Verdana" panose="020B0604030504040204" pitchFamily="34" charset="0"/>
                    <a:cs typeface="Verdana" panose="020B0604030504040204" pitchFamily="34" charset="0"/>
                  </a:rPr>
                  <a:t> meters (m) high and is in the shape of a rectangular pyramid. </a:t>
                </a:r>
              </a:p>
              <a:p>
                <a:endParaRPr lang="en-US" sz="2000" dirty="0">
                  <a:latin typeface="Verdana" pitchFamily="34" charset="0"/>
                  <a:ea typeface="Verdana"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surface area of the skyscraper?</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Using the model shown, determine how much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of the surface area will be made of glass.</a:t>
                </a: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688769" y="1137758"/>
                <a:ext cx="10818421" cy="3170099"/>
              </a:xfrm>
              <a:prstGeom prst="rect">
                <a:avLst/>
              </a:prstGeom>
              <a:blipFill rotWithShape="1">
                <a:blip r:embed="rId4"/>
                <a:stretch>
                  <a:fillRect l="-620" t="-1154" b="-2500"/>
                </a:stretch>
              </a:blipFill>
            </p:spPr>
            <p:txBody>
              <a:bodyPr/>
              <a:lstStyle/>
              <a:p>
                <a:r>
                  <a:rPr lang="en-US">
                    <a:noFill/>
                  </a:rPr>
                  <a:t> </a:t>
                </a:r>
              </a:p>
            </p:txBody>
          </p:sp>
        </mc:Fallback>
      </mc:AlternateContent>
      <p:grpSp>
        <p:nvGrpSpPr>
          <p:cNvPr id="4" name="Group 3"/>
          <p:cNvGrpSpPr/>
          <p:nvPr/>
        </p:nvGrpSpPr>
        <p:grpSpPr>
          <a:xfrm>
            <a:off x="8273663" y="2106553"/>
            <a:ext cx="3233527" cy="3837653"/>
            <a:chOff x="2519850" y="2748336"/>
            <a:chExt cx="3233527" cy="3837653"/>
          </a:xfrm>
        </p:grpSpPr>
        <p:pic>
          <p:nvPicPr>
            <p:cNvPr id="8" name="Picture 7">
              <a:extLst>
                <a:ext uri="{FF2B5EF4-FFF2-40B4-BE49-F238E27FC236}">
                  <a16:creationId xmlns:a16="http://schemas.microsoft.com/office/drawing/2014/main" xmlns="" id="{5AB7888A-0FEF-C944-9EB3-F7D7105A0624}"/>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bwMode="auto">
            <a:xfrm>
              <a:off x="2519850" y="2748337"/>
              <a:ext cx="2900514" cy="3583647"/>
            </a:xfrm>
            <a:prstGeom prst="rect">
              <a:avLst/>
            </a:prstGeom>
            <a:noFill/>
            <a:ln>
              <a:noFill/>
            </a:ln>
          </p:spPr>
        </p:pic>
        <mc:AlternateContent xmlns:mc="http://schemas.openxmlformats.org/markup-compatibility/2006" xmlns:a14="http://schemas.microsoft.com/office/drawing/2010/main">
          <mc:Choice Requires="a14">
            <p:sp>
              <p:nvSpPr>
                <p:cNvPr id="10" name="Text Box 18">
                  <a:extLst>
                    <a:ext uri="{FF2B5EF4-FFF2-40B4-BE49-F238E27FC236}">
                      <a16:creationId xmlns:a16="http://schemas.microsoft.com/office/drawing/2014/main" xmlns="" id="{8CEF4018-0DB2-1E46-B8FA-36EA86D36E7D}"/>
                    </a:ext>
                  </a:extLst>
                </p:cNvPr>
                <p:cNvSpPr txBox="1"/>
                <p:nvPr/>
              </p:nvSpPr>
              <p:spPr>
                <a:xfrm rot="16913982">
                  <a:off x="2724868" y="4276318"/>
                  <a:ext cx="1479550" cy="5276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357.4 </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m</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 Box 18">
                  <a:extLst>
                    <a:ext uri="{FF2B5EF4-FFF2-40B4-BE49-F238E27FC236}">
                      <a16:creationId xmlns:a16="http://schemas.microsoft.com/office/drawing/2014/main" id="{8CEF4018-0DB2-1E46-B8FA-36EA86D36E7D}"/>
                    </a:ext>
                  </a:extLst>
                </p:cNvPr>
                <p:cNvSpPr txBox="1">
                  <a:spLocks noRot="1" noChangeAspect="1" noMove="1" noResize="1" noEditPoints="1" noAdjustHandles="1" noChangeArrowheads="1" noChangeShapeType="1" noTextEdit="1"/>
                </p:cNvSpPr>
                <p:nvPr/>
              </p:nvSpPr>
              <p:spPr>
                <a:xfrm rot="16913982">
                  <a:off x="2724868" y="4276318"/>
                  <a:ext cx="1479550" cy="527685"/>
                </a:xfrm>
                <a:prstGeom prst="rect">
                  <a:avLst/>
                </a:prstGeom>
                <a:blipFill>
                  <a:blip r:embed="rId7"/>
                  <a:stretch>
                    <a:fillRect/>
                  </a:stretch>
                </a:blipFill>
                <a:ln w="6350">
                  <a:noFill/>
                </a:ln>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xmlns="" id="{5E912F9A-6C5B-7749-89A1-730363E8F373}"/>
                </a:ext>
              </a:extLst>
            </p:cNvPr>
            <p:cNvCxnSpPr>
              <a:cxnSpLocks/>
              <a:stCxn id="8" idx="0"/>
            </p:cNvCxnSpPr>
            <p:nvPr/>
          </p:nvCxnSpPr>
          <p:spPr>
            <a:xfrm flipH="1">
              <a:off x="3296817" y="2748336"/>
              <a:ext cx="673291" cy="3297870"/>
            </a:xfrm>
            <a:prstGeom prst="line">
              <a:avLst/>
            </a:prstGeom>
            <a:ln>
              <a:prstDash val="sysDash"/>
            </a:ln>
            <a:effectLst/>
          </p:spPr>
          <p:style>
            <a:lnRef idx="2">
              <a:schemeClr val="accent1"/>
            </a:lnRef>
            <a:fillRef idx="0">
              <a:schemeClr val="accent1"/>
            </a:fillRef>
            <a:effectRef idx="1">
              <a:schemeClr val="accent1"/>
            </a:effectRef>
            <a:fontRef idx="minor">
              <a:schemeClr val="tx1"/>
            </a:fontRef>
          </p:style>
        </p:cxnSp>
        <p:sp>
          <p:nvSpPr>
            <p:cNvPr id="14" name="Parallelogram 13">
              <a:extLst>
                <a:ext uri="{FF2B5EF4-FFF2-40B4-BE49-F238E27FC236}">
                  <a16:creationId xmlns:a16="http://schemas.microsoft.com/office/drawing/2014/main" xmlns="" id="{82E9671B-2C2C-AC44-A231-715F740585B8}"/>
                </a:ext>
              </a:extLst>
            </p:cNvPr>
            <p:cNvSpPr/>
            <p:nvPr/>
          </p:nvSpPr>
          <p:spPr>
            <a:xfrm rot="634277">
              <a:off x="3096159" y="5957807"/>
              <a:ext cx="190123" cy="132437"/>
            </a:xfrm>
            <a:prstGeom prst="parallelogram">
              <a:avLst/>
            </a:prstGeom>
            <a:solidFill>
              <a:srgbClr val="0070C0"/>
            </a:solidFill>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Connector 14">
              <a:extLst>
                <a:ext uri="{FF2B5EF4-FFF2-40B4-BE49-F238E27FC236}">
                  <a16:creationId xmlns:a16="http://schemas.microsoft.com/office/drawing/2014/main" xmlns="" id="{8C5B0C1C-C02F-4748-8C36-E3AB6FAE35D7}"/>
                </a:ext>
              </a:extLst>
            </p:cNvPr>
            <p:cNvCxnSpPr>
              <a:cxnSpLocks/>
            </p:cNvCxnSpPr>
            <p:nvPr/>
          </p:nvCxnSpPr>
          <p:spPr>
            <a:xfrm>
              <a:off x="3970108" y="2814500"/>
              <a:ext cx="944793" cy="3126990"/>
            </a:xfrm>
            <a:prstGeom prst="line">
              <a:avLst/>
            </a:prstGeom>
            <a:ln>
              <a:prstDash val="sysDash"/>
            </a:ln>
            <a:effectLst/>
          </p:spPr>
          <p:style>
            <a:lnRef idx="2">
              <a:schemeClr val="accent1"/>
            </a:lnRef>
            <a:fillRef idx="0">
              <a:schemeClr val="accent1"/>
            </a:fillRef>
            <a:effectRef idx="1">
              <a:schemeClr val="accent1"/>
            </a:effectRef>
            <a:fontRef idx="minor">
              <a:schemeClr val="tx1"/>
            </a:fontRef>
          </p:style>
        </p:cxnSp>
        <p:sp>
          <p:nvSpPr>
            <p:cNvPr id="17" name="Parallelogram 16">
              <a:extLst>
                <a:ext uri="{FF2B5EF4-FFF2-40B4-BE49-F238E27FC236}">
                  <a16:creationId xmlns:a16="http://schemas.microsoft.com/office/drawing/2014/main" xmlns="" id="{94F73288-E4D3-2145-8071-23ABCA7FEC47}"/>
                </a:ext>
              </a:extLst>
            </p:cNvPr>
            <p:cNvSpPr/>
            <p:nvPr/>
          </p:nvSpPr>
          <p:spPr>
            <a:xfrm rot="20033426">
              <a:off x="4895652" y="5752281"/>
              <a:ext cx="155575" cy="123825"/>
            </a:xfrm>
            <a:prstGeom prst="parallelogram">
              <a:avLst/>
            </a:prstGeom>
            <a:solidFill>
              <a:srgbClr val="0070C0"/>
            </a:solidFill>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9" name="Text Box 11">
                  <a:extLst>
                    <a:ext uri="{FF2B5EF4-FFF2-40B4-BE49-F238E27FC236}">
                      <a16:creationId xmlns:a16="http://schemas.microsoft.com/office/drawing/2014/main" xmlns="" id="{0761664D-7FC2-7946-9D7D-DCF45955CABB}"/>
                    </a:ext>
                  </a:extLst>
                </p:cNvPr>
                <p:cNvSpPr txBox="1"/>
                <p:nvPr/>
              </p:nvSpPr>
              <p:spPr>
                <a:xfrm rot="4385304">
                  <a:off x="4086661" y="4690962"/>
                  <a:ext cx="1299661" cy="4476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361.4 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9" name="Text Box 11">
                  <a:extLst>
                    <a:ext uri="{FF2B5EF4-FFF2-40B4-BE49-F238E27FC236}">
                      <a16:creationId xmlns:a16="http://schemas.microsoft.com/office/drawing/2014/main" xmlns:a14="http://schemas.microsoft.com/office/drawing/2010/main" xmlns="" id="{0761664D-7FC2-7946-9D7D-DCF45955CABB}"/>
                    </a:ext>
                  </a:extLst>
                </p:cNvPr>
                <p:cNvSpPr txBox="1">
                  <a:spLocks noRot="1" noChangeAspect="1" noMove="1" noResize="1" noEditPoints="1" noAdjustHandles="1" noChangeArrowheads="1" noChangeShapeType="1" noTextEdit="1"/>
                </p:cNvSpPr>
                <p:nvPr/>
              </p:nvSpPr>
              <p:spPr>
                <a:xfrm rot="4385304">
                  <a:off x="4086661" y="4690962"/>
                  <a:ext cx="1299661" cy="447675"/>
                </a:xfrm>
                <a:prstGeom prst="rect">
                  <a:avLst/>
                </a:prstGeom>
                <a:blipFill rotWithShape="1">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 Box 7">
                  <a:extLst>
                    <a:ext uri="{FF2B5EF4-FFF2-40B4-BE49-F238E27FC236}">
                      <a16:creationId xmlns:a16="http://schemas.microsoft.com/office/drawing/2014/main" xmlns="" id="{F2CF094F-4110-1F45-8E2F-FF9864489CEF}"/>
                    </a:ext>
                  </a:extLst>
                </p:cNvPr>
                <p:cNvSpPr txBox="1"/>
                <p:nvPr/>
              </p:nvSpPr>
              <p:spPr>
                <a:xfrm rot="19566819">
                  <a:off x="4617997" y="5842717"/>
                  <a:ext cx="1135380" cy="5276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145 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0" name="Text Box 7">
                  <a:extLst>
                    <a:ext uri="{FF2B5EF4-FFF2-40B4-BE49-F238E27FC236}">
                      <a16:creationId xmlns:a16="http://schemas.microsoft.com/office/drawing/2014/main" id="{F2CF094F-4110-1F45-8E2F-FF9864489CEF}"/>
                    </a:ext>
                  </a:extLst>
                </p:cNvPr>
                <p:cNvSpPr txBox="1">
                  <a:spLocks noRot="1" noChangeAspect="1" noMove="1" noResize="1" noEditPoints="1" noAdjustHandles="1" noChangeArrowheads="1" noChangeShapeType="1" noTextEdit="1"/>
                </p:cNvSpPr>
                <p:nvPr/>
              </p:nvSpPr>
              <p:spPr>
                <a:xfrm rot="19566819">
                  <a:off x="4617997" y="5842717"/>
                  <a:ext cx="1135380" cy="527685"/>
                </a:xfrm>
                <a:prstGeom prst="rect">
                  <a:avLst/>
                </a:prstGeom>
                <a:blipFill>
                  <a:blip r:embed="rId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 Box 2">
                  <a:extLst>
                    <a:ext uri="{FF2B5EF4-FFF2-40B4-BE49-F238E27FC236}">
                      <a16:creationId xmlns:a16="http://schemas.microsoft.com/office/drawing/2014/main" xmlns="" id="{6E4A2535-63C8-D644-A649-6073211B077D}"/>
                    </a:ext>
                  </a:extLst>
                </p:cNvPr>
                <p:cNvSpPr txBox="1"/>
                <p:nvPr/>
              </p:nvSpPr>
              <p:spPr>
                <a:xfrm rot="773590">
                  <a:off x="2663601" y="6137679"/>
                  <a:ext cx="1337945" cy="4483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180 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1" name="Text Box 2">
                  <a:extLst>
                    <a:ext uri="{FF2B5EF4-FFF2-40B4-BE49-F238E27FC236}">
                      <a16:creationId xmlns:a16="http://schemas.microsoft.com/office/drawing/2014/main" id="{6E4A2535-63C8-D644-A649-6073211B077D}"/>
                    </a:ext>
                  </a:extLst>
                </p:cNvPr>
                <p:cNvSpPr txBox="1">
                  <a:spLocks noRot="1" noChangeAspect="1" noMove="1" noResize="1" noEditPoints="1" noAdjustHandles="1" noChangeArrowheads="1" noChangeShapeType="1" noTextEdit="1"/>
                </p:cNvSpPr>
                <p:nvPr/>
              </p:nvSpPr>
              <p:spPr>
                <a:xfrm rot="773590">
                  <a:off x="2663601" y="6137679"/>
                  <a:ext cx="1337945" cy="448310"/>
                </a:xfrm>
                <a:prstGeom prst="rect">
                  <a:avLst/>
                </a:prstGeom>
                <a:blipFill>
                  <a:blip r:embed="rId10"/>
                  <a:stretch>
                    <a:fillRect/>
                  </a:stretch>
                </a:blipFill>
                <a:ln w="6350">
                  <a:noFill/>
                </a:ln>
              </p:spPr>
              <p:txBody>
                <a:bodyPr/>
                <a:lstStyle/>
                <a:p>
                  <a:r>
                    <a:rPr lang="en-US">
                      <a:noFill/>
                    </a:rPr>
                    <a:t> </a:t>
                  </a:r>
                </a:p>
              </p:txBody>
            </p:sp>
          </mc:Fallback>
        </mc:AlternateContent>
      </p:grpSp>
      <p:sp>
        <p:nvSpPr>
          <p:cNvPr id="1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pic>
        <p:nvPicPr>
          <p:cNvPr id="22" name="Google Shape;283;g104476d1465_1_17"/>
          <p:cNvPicPr preferRelativeResize="0"/>
          <p:nvPr/>
        </p:nvPicPr>
        <p:blipFill>
          <a:blip r:embed="rId11"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74215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5" name="Picture 14" descr="gear - What methods can be used to keep a cooler cold ...">
            <a:extLst>
              <a:ext uri="{FF2B5EF4-FFF2-40B4-BE49-F238E27FC236}">
                <a16:creationId xmlns:a16="http://schemas.microsoft.com/office/drawing/2014/main" xmlns="" id="{D6550CB6-3838-1C40-9D40-E2B987CCB0CE}"/>
              </a:ext>
            </a:extLst>
          </p:cNvPr>
          <p:cNvPicPr>
            <a:picLocks noChangeAspect="1"/>
          </p:cNvPicPr>
          <p:nvPr/>
        </p:nvPicPr>
        <p:blipFill rotWithShape="1">
          <a:blip r:embed="rId3">
            <a:extLst>
              <a:ext uri="{28A0092B-C50C-407E-A947-70E740481C1C}">
                <a14:useLocalDpi xmlns:a14="http://schemas.microsoft.com/office/drawing/2010/main"/>
              </a:ext>
              <a:ext uri="{837473B0-CC2E-450A-ABE3-18F120FF3D39}">
                <a1611:picAttrSrcUrl xmlns:a1611="http://schemas.microsoft.com/office/drawing/2016/11/main" xmlns="" r:id="rId4"/>
              </a:ext>
            </a:extLst>
          </a:blip>
          <a:srcRect l="15058" r="14944"/>
          <a:stretch/>
        </p:blipFill>
        <p:spPr bwMode="auto">
          <a:xfrm>
            <a:off x="4680751" y="1278206"/>
            <a:ext cx="2940394" cy="215079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6" name="Text Box 36">
                <a:extLst>
                  <a:ext uri="{FF2B5EF4-FFF2-40B4-BE49-F238E27FC236}">
                    <a16:creationId xmlns:a16="http://schemas.microsoft.com/office/drawing/2014/main" xmlns="" id="{5E2AB9D4-3115-EF4F-AADE-B755805120AB}"/>
                  </a:ext>
                </a:extLst>
              </p:cNvPr>
              <p:cNvSpPr txBox="1"/>
              <p:nvPr/>
            </p:nvSpPr>
            <p:spPr>
              <a:xfrm>
                <a:off x="7462260" y="1934502"/>
                <a:ext cx="95250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74 </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cm</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 Box 36">
                <a:extLst>
                  <a:ext uri="{FF2B5EF4-FFF2-40B4-BE49-F238E27FC236}">
                    <a16:creationId xmlns:a16="http://schemas.microsoft.com/office/drawing/2014/main" id="{5E2AB9D4-3115-EF4F-AADE-B755805120AB}"/>
                  </a:ext>
                </a:extLst>
              </p:cNvPr>
              <p:cNvSpPr txBox="1">
                <a:spLocks noRot="1" noChangeAspect="1" noMove="1" noResize="1" noEditPoints="1" noAdjustHandles="1" noChangeArrowheads="1" noChangeShapeType="1" noTextEdit="1"/>
              </p:cNvSpPr>
              <p:nvPr/>
            </p:nvSpPr>
            <p:spPr>
              <a:xfrm>
                <a:off x="7462260" y="1934502"/>
                <a:ext cx="952500" cy="419100"/>
              </a:xfrm>
              <a:prstGeom prst="rect">
                <a:avLst/>
              </a:prstGeom>
              <a:blipFill>
                <a:blip r:embed="rId7"/>
                <a:stretch>
                  <a:fillRect t="-2941" b="-14706"/>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 Box 34">
                <a:extLst>
                  <a:ext uri="{FF2B5EF4-FFF2-40B4-BE49-F238E27FC236}">
                    <a16:creationId xmlns:a16="http://schemas.microsoft.com/office/drawing/2014/main" xmlns="" id="{EFBD2B67-B5F1-C44F-9F0C-DEBB48F4DA01}"/>
                  </a:ext>
                </a:extLst>
              </p:cNvPr>
              <p:cNvSpPr txBox="1"/>
              <p:nvPr/>
            </p:nvSpPr>
            <p:spPr>
              <a:xfrm>
                <a:off x="6171333" y="3071337"/>
                <a:ext cx="95250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78 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7" name="Text Box 34">
                <a:extLst>
                  <a:ext uri="{FF2B5EF4-FFF2-40B4-BE49-F238E27FC236}">
                    <a16:creationId xmlns:a16="http://schemas.microsoft.com/office/drawing/2014/main" id="{EFBD2B67-B5F1-C44F-9F0C-DEBB48F4DA01}"/>
                  </a:ext>
                </a:extLst>
              </p:cNvPr>
              <p:cNvSpPr txBox="1">
                <a:spLocks noRot="1" noChangeAspect="1" noMove="1" noResize="1" noEditPoints="1" noAdjustHandles="1" noChangeArrowheads="1" noChangeShapeType="1" noTextEdit="1"/>
              </p:cNvSpPr>
              <p:nvPr/>
            </p:nvSpPr>
            <p:spPr>
              <a:xfrm>
                <a:off x="6171333" y="3071337"/>
                <a:ext cx="952500" cy="419100"/>
              </a:xfrm>
              <a:prstGeom prst="rect">
                <a:avLst/>
              </a:prstGeom>
              <a:blipFill>
                <a:blip r:embed="rId8"/>
                <a:stretch>
                  <a:fillRect t="-5714" r="-1299" b="-17143"/>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xmlns="" id="{9B7EFF4C-1F5D-BD4E-955D-EA6F30AF4F04}"/>
                  </a:ext>
                </a:extLst>
              </p:cNvPr>
              <p:cNvSpPr txBox="1"/>
              <p:nvPr/>
            </p:nvSpPr>
            <p:spPr>
              <a:xfrm>
                <a:off x="4347212" y="2921400"/>
                <a:ext cx="1078831" cy="400110"/>
              </a:xfrm>
              <a:prstGeom prst="rect">
                <a:avLst/>
              </a:prstGeom>
              <a:noFill/>
            </p:spPr>
            <p:txBody>
              <a:bodyPr wrap="square">
                <a:sp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40 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9B7EFF4C-1F5D-BD4E-955D-EA6F30AF4F04}"/>
                  </a:ext>
                </a:extLst>
              </p:cNvPr>
              <p:cNvSpPr txBox="1">
                <a:spLocks noRot="1" noChangeAspect="1" noMove="1" noResize="1" noEditPoints="1" noAdjustHandles="1" noChangeArrowheads="1" noChangeShapeType="1" noTextEdit="1"/>
              </p:cNvSpPr>
              <p:nvPr/>
            </p:nvSpPr>
            <p:spPr>
              <a:xfrm>
                <a:off x="4347212" y="2921400"/>
                <a:ext cx="1078831" cy="400110"/>
              </a:xfrm>
              <a:prstGeom prst="rect">
                <a:avLst/>
              </a:prstGeom>
              <a:blipFill>
                <a:blip r:embed="rId9"/>
                <a:stretch>
                  <a:fillRect t="-6061" b="-24242"/>
                </a:stretch>
              </a:blipFill>
            </p:spPr>
            <p:txBody>
              <a:bodyPr/>
              <a:lstStyle/>
              <a:p>
                <a:r>
                  <a:rPr lang="en-US">
                    <a:noFill/>
                  </a:rPr>
                  <a:t> </a:t>
                </a:r>
              </a:p>
            </p:txBody>
          </p:sp>
        </mc:Fallback>
      </mc:AlternateContent>
      <p:sp>
        <p:nvSpPr>
          <p:cNvPr id="1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p:pic>
        <p:nvPicPr>
          <p:cNvPr id="11" name="Google Shape;283;g104476d1465_1_17"/>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2FA392D8-3ED3-7940-83A8-1451AA8A08D4}"/>
                  </a:ext>
                </a:extLst>
              </p:cNvPr>
              <p:cNvSpPr txBox="1"/>
              <p:nvPr/>
            </p:nvSpPr>
            <p:spPr>
              <a:xfrm>
                <a:off x="571777" y="390049"/>
                <a:ext cx="10955261"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cooler has a length of </a:t>
                </a:r>
                <a14:m>
                  <m:oMath xmlns:m="http://schemas.openxmlformats.org/officeDocument/2006/math">
                    <m:r>
                      <a:rPr lang="en-US" sz="2000" i="1">
                        <a:latin typeface="Cambria Math" panose="02040503050406030204" pitchFamily="18" charset="0"/>
                      </a:rPr>
                      <m:t>78</m:t>
                    </m:r>
                  </m:oMath>
                </a14:m>
                <a:r>
                  <a:rPr lang="en-US" sz="2000" dirty="0">
                    <a:latin typeface="Verdana" panose="020B0604030504040204" pitchFamily="34" charset="0"/>
                    <a:ea typeface="Verdana" panose="020B0604030504040204" pitchFamily="34" charset="0"/>
                    <a:cs typeface="Verdana" panose="020B0604030504040204" pitchFamily="34" charset="0"/>
                  </a:rPr>
                  <a:t> centimeters (cm), a height of </a:t>
                </a:r>
                <a14:m>
                  <m:oMath xmlns:m="http://schemas.openxmlformats.org/officeDocument/2006/math">
                    <m:r>
                      <a:rPr lang="en-US" sz="2000" i="1">
                        <a:latin typeface="Cambria Math" panose="02040503050406030204" pitchFamily="18" charset="0"/>
                      </a:rPr>
                      <m:t>74</m:t>
                    </m:r>
                  </m:oMath>
                </a14:m>
                <a:r>
                  <a:rPr lang="en-US" sz="2000" dirty="0">
                    <a:latin typeface="Verdana" panose="020B0604030504040204" pitchFamily="34" charset="0"/>
                    <a:ea typeface="Verdana" panose="020B0604030504040204" pitchFamily="34" charset="0"/>
                    <a:cs typeface="Verdana" panose="020B0604030504040204" pitchFamily="34" charset="0"/>
                  </a:rPr>
                  <a:t> cm, and a width of </a:t>
                </a:r>
                <a14:m>
                  <m:oMath xmlns:m="http://schemas.openxmlformats.org/officeDocument/2006/math">
                    <m:r>
                      <a:rPr lang="en-US" sz="2000" i="1">
                        <a:latin typeface="Cambria Math" panose="02040503050406030204" pitchFamily="18" charset="0"/>
                      </a:rPr>
                      <m:t>40</m:t>
                    </m:r>
                  </m:oMath>
                </a14:m>
                <a:r>
                  <a:rPr lang="en-US" sz="2000" dirty="0">
                    <a:latin typeface="Verdana" panose="020B0604030504040204" pitchFamily="34" charset="0"/>
                    <a:ea typeface="Verdana" panose="020B0604030504040204" pitchFamily="34" charset="0"/>
                    <a:cs typeface="Verdana" panose="020B0604030504040204" pitchFamily="34" charset="0"/>
                  </a:rPr>
                  <a:t> cm.</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445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surface area of the cooler.</a:t>
                </a:r>
              </a:p>
              <a:p>
                <a:pPr marL="920750"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445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volume of the cooler.</a:t>
                </a:r>
              </a:p>
            </p:txBody>
          </p:sp>
        </mc:Choice>
        <mc:Fallback xmlns="">
          <p:sp>
            <p:nvSpPr>
              <p:cNvPr id="13" name="TextBox 12">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571777" y="390049"/>
                <a:ext cx="10955261" cy="5324535"/>
              </a:xfrm>
              <a:prstGeom prst="rect">
                <a:avLst/>
              </a:prstGeom>
              <a:blipFill rotWithShape="1">
                <a:blip r:embed="rId11"/>
                <a:stretch>
                  <a:fillRect l="-612" t="-687" b="-1145"/>
                </a:stretch>
              </a:blipFill>
            </p:spPr>
            <p:txBody>
              <a:bodyPr/>
              <a:lstStyle/>
              <a:p>
                <a:r>
                  <a:rPr lang="en-US">
                    <a:noFill/>
                  </a:rPr>
                  <a:t> </a:t>
                </a:r>
              </a:p>
            </p:txBody>
          </p:sp>
        </mc:Fallback>
      </mc:AlternateContent>
    </p:spTree>
    <p:extLst>
      <p:ext uri="{BB962C8B-B14F-4D97-AF65-F5344CB8AC3E}">
        <p14:creationId xmlns:p14="http://schemas.microsoft.com/office/powerpoint/2010/main" val="363300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a:extLst>
              <a:ext uri="{FF2B5EF4-FFF2-40B4-BE49-F238E27FC236}">
                <a16:creationId xmlns:a16="http://schemas.microsoft.com/office/drawing/2014/main" xmlns="" id="{23BE2B04-489D-584D-B2EB-DC526AEFE2E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78825" y="1497120"/>
            <a:ext cx="2448061" cy="3017209"/>
          </a:xfrm>
          <a:prstGeom prst="rect">
            <a:avLst/>
          </a:prstGeom>
          <a:noFill/>
          <a:ln>
            <a:noFill/>
          </a:ln>
        </p:spPr>
      </p:pic>
      <mc:AlternateContent xmlns:mc="http://schemas.openxmlformats.org/markup-compatibility/2006" xmlns:a14="http://schemas.microsoft.com/office/drawing/2010/main">
        <mc:Choice Requires="a14">
          <p:sp>
            <p:nvSpPr>
              <p:cNvPr id="7" name="Text Box 44">
                <a:extLst>
                  <a:ext uri="{FF2B5EF4-FFF2-40B4-BE49-F238E27FC236}">
                    <a16:creationId xmlns:a16="http://schemas.microsoft.com/office/drawing/2014/main" xmlns="" id="{57A83B31-0CE1-174F-AD18-91FDC960F032}"/>
                  </a:ext>
                </a:extLst>
              </p:cNvPr>
              <p:cNvSpPr txBox="1"/>
              <p:nvPr/>
            </p:nvSpPr>
            <p:spPr>
              <a:xfrm>
                <a:off x="4114556" y="3885678"/>
                <a:ext cx="95250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panose="02040503050406030204" pitchFamily="18" charset="0"/>
                        <a:ea typeface="Times New Roman" panose="02020603050405020304" pitchFamily="18" charset="0"/>
                        <a:cs typeface="Times New Roman" panose="02020603050405020304" pitchFamily="18" charset="0"/>
                      </a:rPr>
                      <m:t>28 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7" name="Text Box 44">
                <a:extLst>
                  <a:ext uri="{FF2B5EF4-FFF2-40B4-BE49-F238E27FC236}">
                    <a16:creationId xmlns:a16="http://schemas.microsoft.com/office/drawing/2014/main" id="{57A83B31-0CE1-174F-AD18-91FDC960F032}"/>
                  </a:ext>
                </a:extLst>
              </p:cNvPr>
              <p:cNvSpPr txBox="1">
                <a:spLocks noRot="1" noChangeAspect="1" noMove="1" noResize="1" noEditPoints="1" noAdjustHandles="1" noChangeArrowheads="1" noChangeShapeType="1" noTextEdit="1"/>
              </p:cNvSpPr>
              <p:nvPr/>
            </p:nvSpPr>
            <p:spPr>
              <a:xfrm>
                <a:off x="4114556" y="3885678"/>
                <a:ext cx="952500" cy="419100"/>
              </a:xfrm>
              <a:prstGeom prst="rect">
                <a:avLst/>
              </a:prstGeom>
              <a:blipFill>
                <a:blip r:embed="rId4"/>
                <a:stretch>
                  <a:fillRect t="-7246" r="-1282" b="-2029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2">
                <a:extLst>
                  <a:ext uri="{FF2B5EF4-FFF2-40B4-BE49-F238E27FC236}">
                    <a16:creationId xmlns:a16="http://schemas.microsoft.com/office/drawing/2014/main" xmlns="" id="{F6460ECE-4CB3-0F4A-A209-1D24D6C00190}"/>
                  </a:ext>
                </a:extLst>
              </p:cNvPr>
              <p:cNvSpPr txBox="1"/>
              <p:nvPr/>
            </p:nvSpPr>
            <p:spPr>
              <a:xfrm>
                <a:off x="6107787" y="4095228"/>
                <a:ext cx="95250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62 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Text Box 42">
                <a:extLst>
                  <a:ext uri="{FF2B5EF4-FFF2-40B4-BE49-F238E27FC236}">
                    <a16:creationId xmlns:a16="http://schemas.microsoft.com/office/drawing/2014/main" xmlns:a14="http://schemas.microsoft.com/office/drawing/2010/main" xmlns="" id="{F6460ECE-4CB3-0F4A-A209-1D24D6C00190}"/>
                  </a:ext>
                </a:extLst>
              </p:cNvPr>
              <p:cNvSpPr txBox="1">
                <a:spLocks noRot="1" noChangeAspect="1" noMove="1" noResize="1" noEditPoints="1" noAdjustHandles="1" noChangeArrowheads="1" noChangeShapeType="1" noTextEdit="1"/>
              </p:cNvSpPr>
              <p:nvPr/>
            </p:nvSpPr>
            <p:spPr>
              <a:xfrm>
                <a:off x="6107787" y="4095228"/>
                <a:ext cx="952500" cy="419100"/>
              </a:xfrm>
              <a:prstGeom prst="rect">
                <a:avLst/>
              </a:prstGeom>
              <a:blipFill rotWithShape="1">
                <a:blip r:embed="rId5"/>
                <a:stretch>
                  <a:fillRect t="-7246" r="-1282" b="-2029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3">
                <a:extLst>
                  <a:ext uri="{FF2B5EF4-FFF2-40B4-BE49-F238E27FC236}">
                    <a16:creationId xmlns:a16="http://schemas.microsoft.com/office/drawing/2014/main" xmlns="" id="{20ED5E77-5CA3-9848-B416-B5025E7A74EC}"/>
                  </a:ext>
                </a:extLst>
              </p:cNvPr>
              <p:cNvSpPr txBox="1"/>
              <p:nvPr/>
            </p:nvSpPr>
            <p:spPr>
              <a:xfrm>
                <a:off x="7455276" y="2893452"/>
                <a:ext cx="95250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58 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9" name="Text Box 43">
                <a:extLst>
                  <a:ext uri="{FF2B5EF4-FFF2-40B4-BE49-F238E27FC236}">
                    <a16:creationId xmlns:a16="http://schemas.microsoft.com/office/drawing/2014/main" xmlns:a14="http://schemas.microsoft.com/office/drawing/2010/main" xmlns="" id="{20ED5E77-5CA3-9848-B416-B5025E7A74EC}"/>
                  </a:ext>
                </a:extLst>
              </p:cNvPr>
              <p:cNvSpPr txBox="1">
                <a:spLocks noRot="1" noChangeAspect="1" noMove="1" noResize="1" noEditPoints="1" noAdjustHandles="1" noChangeArrowheads="1" noChangeShapeType="1" noTextEdit="1"/>
              </p:cNvSpPr>
              <p:nvPr/>
            </p:nvSpPr>
            <p:spPr>
              <a:xfrm>
                <a:off x="7455276" y="2893452"/>
                <a:ext cx="952500" cy="419100"/>
              </a:xfrm>
              <a:prstGeom prst="rect">
                <a:avLst/>
              </a:prstGeom>
              <a:blipFill rotWithShape="1">
                <a:blip r:embed="rId6"/>
                <a:stretch>
                  <a:fillRect t="-7353" r="-1282" b="-22059"/>
                </a:stretch>
              </a:blipFill>
              <a:ln w="6350">
                <a:noFill/>
              </a:ln>
            </p:spPr>
            <p:txBody>
              <a:bodyPr/>
              <a:lstStyle/>
              <a:p>
                <a:r>
                  <a:rPr lang="en-US">
                    <a:noFill/>
                  </a:rPr>
                  <a:t> </a:t>
                </a:r>
              </a:p>
            </p:txBody>
          </p:sp>
        </mc:Fallback>
      </mc:AlternateContent>
      <p:sp>
        <p:nvSpPr>
          <p:cNvPr id="1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2FA392D8-3ED3-7940-83A8-1451AA8A08D4}"/>
                  </a:ext>
                </a:extLst>
              </p:cNvPr>
              <p:cNvSpPr txBox="1"/>
              <p:nvPr/>
            </p:nvSpPr>
            <p:spPr>
              <a:xfrm>
                <a:off x="571777" y="390049"/>
                <a:ext cx="10955261" cy="1015663"/>
              </a:xfrm>
              <a:prstGeom prst="rect">
                <a:avLst/>
              </a:prstGeom>
              <a:noFill/>
            </p:spPr>
            <p:txBody>
              <a:bodyPr wrap="square" rtlCol="0">
                <a:spAutoFit/>
              </a:bodyPr>
              <a:lstStyle/>
              <a:p>
                <a:pPr marL="914400" indent="-454025">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If the </a:t>
                </a:r>
                <a:r>
                  <a:rPr lang="en-US" sz="2000" b="1" dirty="0">
                    <a:latin typeface="Verdana" panose="020B0604030504040204" pitchFamily="34" charset="0"/>
                    <a:ea typeface="Verdana" panose="020B0604030504040204" pitchFamily="34" charset="0"/>
                    <a:cs typeface="Verdana" panose="020B0604030504040204" pitchFamily="34" charset="0"/>
                  </a:rPr>
                  <a:t>inside</a:t>
                </a:r>
                <a:r>
                  <a:rPr lang="en-US" sz="2000" dirty="0">
                    <a:latin typeface="Verdana" panose="020B0604030504040204" pitchFamily="34" charset="0"/>
                    <a:ea typeface="Verdana" panose="020B0604030504040204" pitchFamily="34" charset="0"/>
                    <a:cs typeface="Verdana" panose="020B0604030504040204" pitchFamily="34" charset="0"/>
                  </a:rPr>
                  <a:t> of the cooler has a length </a:t>
                </a:r>
                <a14:m>
                  <m:oMath xmlns:m="http://schemas.openxmlformats.org/officeDocument/2006/math">
                    <m:r>
                      <a:rPr lang="en-US" sz="2000" i="1">
                        <a:latin typeface="Cambria Math" panose="02040503050406030204" pitchFamily="18" charset="0"/>
                      </a:rPr>
                      <m:t>62</m:t>
                    </m:r>
                  </m:oMath>
                </a14:m>
                <a:r>
                  <a:rPr lang="en-US" sz="2000" dirty="0">
                    <a:latin typeface="Verdana" panose="020B0604030504040204" pitchFamily="34" charset="0"/>
                    <a:ea typeface="Verdana" panose="020B0604030504040204" pitchFamily="34" charset="0"/>
                    <a:cs typeface="Verdana" panose="020B0604030504040204" pitchFamily="34" charset="0"/>
                  </a:rPr>
                  <a:t> cm, a height of </a:t>
                </a:r>
                <a14:m>
                  <m:oMath xmlns:m="http://schemas.openxmlformats.org/officeDocument/2006/math">
                    <m:r>
                      <a:rPr lang="en-US" sz="2000" i="1">
                        <a:latin typeface="Cambria Math" panose="02040503050406030204" pitchFamily="18" charset="0"/>
                      </a:rPr>
                      <m:t>58</m:t>
                    </m:r>
                  </m:oMath>
                </a14:m>
                <a:r>
                  <a:rPr lang="en-US" sz="2000" dirty="0">
                    <a:latin typeface="Verdana" panose="020B0604030504040204" pitchFamily="34" charset="0"/>
                    <a:ea typeface="Verdana" panose="020B0604030504040204" pitchFamily="34" charset="0"/>
                    <a:cs typeface="Verdana" panose="020B0604030504040204" pitchFamily="34" charset="0"/>
                  </a:rPr>
                  <a:t> cm, and a width of </a:t>
                </a:r>
                <a14:m>
                  <m:oMath xmlns:m="http://schemas.openxmlformats.org/officeDocument/2006/math">
                    <m:r>
                      <a:rPr lang="en-US" sz="2000" i="1">
                        <a:latin typeface="Cambria Math" panose="02040503050406030204" pitchFamily="18" charset="0"/>
                      </a:rPr>
                      <m:t>28</m:t>
                    </m:r>
                  </m:oMath>
                </a14:m>
                <a:r>
                  <a:rPr lang="en-US" sz="2000" dirty="0">
                    <a:latin typeface="Verdana" panose="020B0604030504040204" pitchFamily="34" charset="0"/>
                    <a:ea typeface="Verdana" panose="020B0604030504040204" pitchFamily="34" charset="0"/>
                    <a:cs typeface="Verdana" panose="020B0604030504040204" pitchFamily="34" charset="0"/>
                  </a:rPr>
                  <a:t> cm, how much smaller is the volume of the inside of the cooler than the volume of the entire cooler?</a:t>
                </a:r>
              </a:p>
            </p:txBody>
          </p:sp>
        </mc:Choice>
        <mc:Fallback xmlns="">
          <p:sp>
            <p:nvSpPr>
              <p:cNvPr id="13" name="TextBox 12">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71777" y="390049"/>
                <a:ext cx="10955261" cy="1015663"/>
              </a:xfrm>
              <a:prstGeom prst="rect">
                <a:avLst/>
              </a:prstGeom>
              <a:blipFill>
                <a:blip r:embed="rId8"/>
                <a:stretch>
                  <a:fillRect t="-4192" b="-9581"/>
                </a:stretch>
              </a:blipFill>
            </p:spPr>
            <p:txBody>
              <a:bodyPr/>
              <a:lstStyle/>
              <a:p>
                <a:r>
                  <a:rPr lang="en-US">
                    <a:noFill/>
                  </a:rPr>
                  <a:t> </a:t>
                </a:r>
              </a:p>
            </p:txBody>
          </p:sp>
        </mc:Fallback>
      </mc:AlternateContent>
    </p:spTree>
    <p:extLst>
      <p:ext uri="{BB962C8B-B14F-4D97-AF65-F5344CB8AC3E}">
        <p14:creationId xmlns:p14="http://schemas.microsoft.com/office/powerpoint/2010/main" val="830104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2FA392D8-3ED3-7940-83A8-1451AA8A08D4}"/>
                  </a:ext>
                </a:extLst>
              </p:cNvPr>
              <p:cNvSpPr txBox="1"/>
              <p:nvPr/>
            </p:nvSpPr>
            <p:spPr>
              <a:xfrm>
                <a:off x="571777" y="390049"/>
                <a:ext cx="10955261" cy="5060488"/>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Tamya is creating a gardening box that needs to have a volume of </a:t>
                </a:r>
                <a14:m>
                  <m:oMath xmlns:m="http://schemas.openxmlformats.org/officeDocument/2006/math">
                    <m:r>
                      <a:rPr lang="en-US" sz="2000" i="1">
                        <a:latin typeface="Cambria Math" panose="02040503050406030204" pitchFamily="18" charset="0"/>
                      </a:rPr>
                      <m:t>13.5 </m:t>
                    </m:r>
                    <m:sSup>
                      <m:sSupPr>
                        <m:ctrlPr>
                          <a:rPr lang="en-US" sz="2000" i="1">
                            <a:latin typeface="Cambria Math"/>
                          </a:rPr>
                        </m:ctrlPr>
                      </m:sSupPr>
                      <m:e>
                        <m:r>
                          <m:rPr>
                            <m:nor/>
                          </m:rPr>
                          <a:rPr lang="en-US" sz="2000">
                            <a:latin typeface="Verdana" panose="020B0604030504040204" pitchFamily="34" charset="0"/>
                            <a:ea typeface="Verdana" panose="020B0604030504040204" pitchFamily="34" charset="0"/>
                            <a:cs typeface="Verdana" panose="020B0604030504040204" pitchFamily="34" charset="0"/>
                          </a:rPr>
                          <m:t>ft</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20750" indent="-460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If the box has a width of 3 feet and a length of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feet, what is the height?</a:t>
                </a: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lphaLcPeriod"/>
                </a:pPr>
                <a:r>
                  <a:rPr lang="en-US" sz="2000" dirty="0" err="1">
                    <a:latin typeface="Verdana" panose="020B0604030504040204" pitchFamily="34" charset="0"/>
                    <a:ea typeface="Verdana" panose="020B0604030504040204" pitchFamily="34" charset="0"/>
                    <a:cs typeface="Verdana" panose="020B0604030504040204" pitchFamily="34" charset="0"/>
                  </a:rPr>
                  <a:t>Tamya</a:t>
                </a:r>
                <a:r>
                  <a:rPr lang="en-US" sz="2000" dirty="0">
                    <a:latin typeface="Verdana" panose="020B0604030504040204" pitchFamily="34" charset="0"/>
                    <a:ea typeface="Verdana" panose="020B0604030504040204" pitchFamily="34" charset="0"/>
                    <a:cs typeface="Verdana" panose="020B0604030504040204" pitchFamily="34" charset="0"/>
                  </a:rPr>
                  <a:t> decided to paint the exterior walls of the gardening box and needs to know how much paint to buy. What is the surface area of the area she wants to paint?</a:t>
                </a:r>
              </a:p>
            </p:txBody>
          </p:sp>
        </mc:Choice>
        <mc:Fallback xmlns="">
          <p:sp>
            <p:nvSpPr>
              <p:cNvPr id="9" name="TextBox 8">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571777" y="390049"/>
                <a:ext cx="10955261" cy="5060488"/>
              </a:xfrm>
              <a:prstGeom prst="rect">
                <a:avLst/>
              </a:prstGeom>
              <a:blipFill rotWithShape="1">
                <a:blip r:embed="rId3"/>
                <a:stretch>
                  <a:fillRect l="-612" r="-890" b="-1205"/>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descr="A picture containing container&#10;&#10;Description automatically generated">
            <a:extLst>
              <a:ext uri="{FF2B5EF4-FFF2-40B4-BE49-F238E27FC236}">
                <a16:creationId xmlns:a16="http://schemas.microsoft.com/office/drawing/2014/main" xmlns="" id="{87C0CDF2-05A1-7F49-8346-11BE974897E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48225" y="1472091"/>
            <a:ext cx="2495550" cy="2743200"/>
          </a:xfrm>
          <a:prstGeom prst="rect">
            <a:avLst/>
          </a:prstGeom>
        </p:spPr>
      </p:pic>
      <p:sp>
        <p:nvSpPr>
          <p:cNvPr id="7"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63558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xmlns="" id="{2FA392D8-3ED3-7940-83A8-1451AA8A08D4}"/>
                  </a:ext>
                </a:extLst>
              </p:cNvPr>
              <p:cNvSpPr txBox="1"/>
              <p:nvPr/>
            </p:nvSpPr>
            <p:spPr>
              <a:xfrm>
                <a:off x="571777" y="390049"/>
                <a:ext cx="10955261" cy="4708981"/>
              </a:xfrm>
              <a:prstGeom prst="rect">
                <a:avLst/>
              </a:prstGeom>
              <a:noFill/>
            </p:spPr>
            <p:txBody>
              <a:bodyPr wrap="square" rtlCol="0">
                <a:spAutoFit/>
              </a:bodyPr>
              <a:lstStyle/>
              <a:p>
                <a:pPr marL="457200" indent="-457200">
                  <a:buFont typeface="+mj-lt"/>
                  <a:buAutoNum type="arabicPeriod" startAt="4"/>
                </a:pPr>
                <a:r>
                  <a:rPr lang="en-US" sz="2000" dirty="0" smtClean="0">
                    <a:latin typeface="Verdana" panose="020B0604030504040204" pitchFamily="34" charset="0"/>
                    <a:ea typeface="Verdana" panose="020B0604030504040204" pitchFamily="34" charset="0"/>
                    <a:cs typeface="Verdana" panose="020B0604030504040204" pitchFamily="34" charset="0"/>
                  </a:rPr>
                  <a:t>Ryan </a:t>
                </a:r>
                <a:r>
                  <a:rPr lang="en-US" sz="2000" dirty="0">
                    <a:latin typeface="Verdana" panose="020B0604030504040204" pitchFamily="34" charset="0"/>
                    <a:ea typeface="Verdana" panose="020B0604030504040204" pitchFamily="34" charset="0"/>
                    <a:cs typeface="Verdana" panose="020B0604030504040204" pitchFamily="34" charset="0"/>
                  </a:rPr>
                  <a:t>makes custom jewelry and recently received an order for a pendant in the shape of a rectangular pyramid. </a:t>
                </a:r>
                <a:r>
                  <a:rPr lang="en-US" sz="2000" dirty="0">
                    <a:latin typeface="Verdana" panose="020B0604030504040204" pitchFamily="34" charset="0"/>
                    <a:ea typeface="Verdana" panose="020B0604030504040204" pitchFamily="34" charset="0"/>
                    <a:cs typeface="Verdana" panose="020B0604030504040204" pitchFamily="34" charset="0"/>
                  </a:rPr>
                  <a:t>Ryan designed a hollow gold pendant to have a square base with a side length of </a:t>
                </a:r>
                <a14:m>
                  <m:oMath xmlns:m="http://schemas.openxmlformats.org/officeDocument/2006/math">
                    <m:r>
                      <a:rPr lang="en-US" sz="2000" b="0" i="1" dirty="0" smtClean="0">
                        <a:latin typeface="Cambria Math"/>
                        <a:ea typeface="Verdana" panose="020B0604030504040204" pitchFamily="34" charset="0"/>
                        <a:cs typeface="Verdana" panose="020B0604030504040204" pitchFamily="34"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millimeters (mm) and a slant height of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b="0" i="1" dirty="0" smtClean="0">
                        <a:latin typeface="Cambria Math"/>
                        <a:ea typeface="Verdana" panose="020B0604030504040204" pitchFamily="34" charset="0"/>
                        <a:cs typeface="Verdana" panose="020B0604030504040204" pitchFamily="34" charset="0"/>
                      </a:rPr>
                      <m:t>13.24</m:t>
                    </m:r>
                  </m:oMath>
                </a14:m>
                <a:r>
                  <a:rPr lang="en-US" sz="2000" dirty="0">
                    <a:latin typeface="Verdana" panose="020B0604030504040204" pitchFamily="34" charset="0"/>
                    <a:ea typeface="Verdana" panose="020B0604030504040204" pitchFamily="34" charset="0"/>
                    <a:cs typeface="Verdana" panose="020B0604030504040204" pitchFamily="34" charset="0"/>
                  </a:rPr>
                  <a:t> mm.  </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How much gold does Ryan need to make the pendant?</a:t>
                </a:r>
              </a:p>
            </p:txBody>
          </p:sp>
        </mc:Choice>
        <mc:Fallback>
          <p:sp>
            <p:nvSpPr>
              <p:cNvPr id="9" name="TextBox 8">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71777" y="390049"/>
                <a:ext cx="10955261" cy="4708981"/>
              </a:xfrm>
              <a:prstGeom prst="rect">
                <a:avLst/>
              </a:prstGeom>
              <a:blipFill rotWithShape="1">
                <a:blip r:embed="rId3"/>
                <a:stretch>
                  <a:fillRect l="-612" t="-777" r="-779" b="-1425"/>
                </a:stretch>
              </a:blipFill>
            </p:spPr>
            <p:txBody>
              <a:bodyPr/>
              <a:lstStyle/>
              <a:p>
                <a:r>
                  <a:rPr lang="en-PH">
                    <a:noFill/>
                  </a:rPr>
                  <a:t> </a:t>
                </a:r>
              </a:p>
            </p:txBody>
          </p:sp>
        </mc:Fallback>
      </mc:AlternateContent>
      <p:sp>
        <p:nvSpPr>
          <p:cNvPr id="278" name="Google Shape;278;g104476d1465_1_17"/>
          <p:cNvSpPr/>
          <p:nvPr/>
        </p:nvSpPr>
        <p:spPr>
          <a:xfrm>
            <a:off x="-15620" y="-822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31408" y="620059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997408" y="6529236"/>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141</a:t>
            </a:r>
          </a:p>
        </p:txBody>
      </p:sp>
      <p:pic>
        <p:nvPicPr>
          <p:cNvPr id="6" name="Picture 5">
            <a:extLst>
              <a:ext uri="{FF2B5EF4-FFF2-40B4-BE49-F238E27FC236}">
                <a16:creationId xmlns:a16="http://schemas.microsoft.com/office/drawing/2014/main" xmlns="" id="{A0C56CCD-3800-A64A-9618-7085C216E19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75628" y="1915251"/>
            <a:ext cx="2639122" cy="2390793"/>
          </a:xfrm>
          <a:prstGeom prst="rect">
            <a:avLst/>
          </a:prstGeom>
        </p:spPr>
      </p:pic>
      <mc:AlternateContent xmlns:mc="http://schemas.openxmlformats.org/markup-compatibility/2006">
        <mc:Choice xmlns:a14="http://schemas.microsoft.com/office/drawing/2010/main" Requires="a14">
          <p:sp>
            <p:nvSpPr>
              <p:cNvPr id="7" name="Text Box 53">
                <a:extLst>
                  <a:ext uri="{FF2B5EF4-FFF2-40B4-BE49-F238E27FC236}">
                    <a16:creationId xmlns:a16="http://schemas.microsoft.com/office/drawing/2014/main" xmlns="" id="{E042135E-0BA7-5943-B4C6-4BAE95DF9A1C}"/>
                  </a:ext>
                </a:extLst>
              </p:cNvPr>
              <p:cNvSpPr txBox="1"/>
              <p:nvPr/>
            </p:nvSpPr>
            <p:spPr>
              <a:xfrm>
                <a:off x="6748013" y="2901096"/>
                <a:ext cx="1353251"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13.24</m:t>
                    </m:r>
                    <m:r>
                      <a:rPr lang="en-US" sz="20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mm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7" name="Text Box 53">
                <a:extLst>
                  <a:ext uri="{FF2B5EF4-FFF2-40B4-BE49-F238E27FC236}">
                    <a16:creationId xmlns:a16="http://schemas.microsoft.com/office/drawing/2014/main" xmlns:a14="http://schemas.microsoft.com/office/drawing/2010/main" xmlns="" id="{E042135E-0BA7-5943-B4C6-4BAE95DF9A1C}"/>
                  </a:ext>
                </a:extLst>
              </p:cNvPr>
              <p:cNvSpPr txBox="1">
                <a:spLocks noRot="1" noChangeAspect="1" noMove="1" noResize="1" noEditPoints="1" noAdjustHandles="1" noChangeArrowheads="1" noChangeShapeType="1" noTextEdit="1"/>
              </p:cNvSpPr>
              <p:nvPr/>
            </p:nvSpPr>
            <p:spPr>
              <a:xfrm>
                <a:off x="6748013" y="2901096"/>
                <a:ext cx="1353251" cy="419100"/>
              </a:xfrm>
              <a:prstGeom prst="rect">
                <a:avLst/>
              </a:prstGeom>
              <a:blipFill rotWithShape="1">
                <a:blip r:embed="rId6"/>
                <a:stretch>
                  <a:fillRect t="-7246" r="-4505" b="-20290"/>
                </a:stretch>
              </a:blipFill>
              <a:ln w="6350">
                <a:noFill/>
              </a:ln>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8" name="Text Box 52">
                <a:extLst>
                  <a:ext uri="{FF2B5EF4-FFF2-40B4-BE49-F238E27FC236}">
                    <a16:creationId xmlns:a16="http://schemas.microsoft.com/office/drawing/2014/main" xmlns="" id="{473D1648-641C-A341-9963-49052E571D4D}"/>
                  </a:ext>
                </a:extLst>
              </p:cNvPr>
              <p:cNvSpPr txBox="1"/>
              <p:nvPr/>
            </p:nvSpPr>
            <p:spPr>
              <a:xfrm>
                <a:off x="5464396" y="3939405"/>
                <a:ext cx="1061587"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15</m:t>
                    </m:r>
                    <m:r>
                      <a:rPr lang="en-US" sz="20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mm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8" name="Text Box 52">
                <a:extLst>
                  <a:ext uri="{FF2B5EF4-FFF2-40B4-BE49-F238E27FC236}">
                    <a16:creationId xmlns:a16="http://schemas.microsoft.com/office/drawing/2014/main" xmlns:a14="http://schemas.microsoft.com/office/drawing/2010/main" xmlns="" id="{473D1648-641C-A341-9963-49052E571D4D}"/>
                  </a:ext>
                </a:extLst>
              </p:cNvPr>
              <p:cNvSpPr txBox="1">
                <a:spLocks noRot="1" noChangeAspect="1" noMove="1" noResize="1" noEditPoints="1" noAdjustHandles="1" noChangeArrowheads="1" noChangeShapeType="1" noTextEdit="1"/>
              </p:cNvSpPr>
              <p:nvPr/>
            </p:nvSpPr>
            <p:spPr>
              <a:xfrm>
                <a:off x="5464396" y="3939405"/>
                <a:ext cx="1061587" cy="419100"/>
              </a:xfrm>
              <a:prstGeom prst="rect">
                <a:avLst/>
              </a:prstGeom>
              <a:blipFill rotWithShape="1">
                <a:blip r:embed="rId7"/>
                <a:stretch>
                  <a:fillRect t="-7246" r="-1714" b="-20290"/>
                </a:stretch>
              </a:blipFill>
              <a:ln w="6350">
                <a:noFill/>
              </a:ln>
            </p:spPr>
            <p:txBody>
              <a:bodyPr/>
              <a:lstStyle/>
              <a:p>
                <a:r>
                  <a:rPr lang="en-PH">
                    <a:noFill/>
                  </a:rPr>
                  <a:t> </a:t>
                </a:r>
              </a:p>
            </p:txBody>
          </p:sp>
        </mc:Fallback>
      </mc:AlternateContent>
    </p:spTree>
    <p:extLst>
      <p:ext uri="{BB962C8B-B14F-4D97-AF65-F5344CB8AC3E}">
        <p14:creationId xmlns:p14="http://schemas.microsoft.com/office/powerpoint/2010/main" val="321157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48836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38402" y="-40114"/>
            <a:ext cx="92491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8.12.5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391102" y="24908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764752" y="1226469"/>
            <a:ext cx="10905506" cy="193899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Rate yourself on each of the concepts.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4 – I can do this on my own.</a:t>
            </a:r>
          </a:p>
          <a:p>
            <a:pPr marL="457200"/>
            <a:r>
              <a:rPr lang="en-US" sz="2000" dirty="0">
                <a:latin typeface="Verdana" panose="020B0604030504040204" pitchFamily="34" charset="0"/>
                <a:ea typeface="Verdana" panose="020B0604030504040204" pitchFamily="34" charset="0"/>
                <a:cs typeface="Verdana" panose="020B0604030504040204" pitchFamily="34" charset="0"/>
              </a:rPr>
              <a:t>3 – I can do this but need more practice.</a:t>
            </a:r>
          </a:p>
          <a:p>
            <a:pPr marL="457200"/>
            <a:r>
              <a:rPr lang="en-US" sz="2000" dirty="0">
                <a:latin typeface="Verdana" panose="020B0604030504040204" pitchFamily="34" charset="0"/>
                <a:ea typeface="Verdana" panose="020B0604030504040204" pitchFamily="34" charset="0"/>
                <a:cs typeface="Verdana" panose="020B0604030504040204" pitchFamily="34" charset="0"/>
              </a:rPr>
              <a:t>2 – I need help getting started.</a:t>
            </a:r>
          </a:p>
          <a:p>
            <a:pPr marL="457200"/>
            <a:r>
              <a:rPr lang="en-US" sz="2000" dirty="0">
                <a:latin typeface="Verdana" panose="020B0604030504040204" pitchFamily="34" charset="0"/>
                <a:ea typeface="Verdana" panose="020B0604030504040204" pitchFamily="34" charset="0"/>
                <a:cs typeface="Verdana" panose="020B0604030504040204" pitchFamily="34" charset="0"/>
              </a:rPr>
              <a:t>1 – I do not understand yet.</a:t>
            </a:r>
          </a:p>
        </p:txBody>
      </p:sp>
      <p:graphicFrame>
        <p:nvGraphicFramePr>
          <p:cNvPr id="2" name="Table 1">
            <a:extLst>
              <a:ext uri="{FF2B5EF4-FFF2-40B4-BE49-F238E27FC236}">
                <a16:creationId xmlns:a16="http://schemas.microsoft.com/office/drawing/2014/main" xmlns="" id="{9EDA57F7-7A73-1F42-8C12-211A1C1ABDBF}"/>
              </a:ext>
            </a:extLst>
          </p:cNvPr>
          <p:cNvGraphicFramePr>
            <a:graphicFrameLocks noGrp="1"/>
          </p:cNvGraphicFramePr>
          <p:nvPr>
            <p:extLst>
              <p:ext uri="{D42A27DB-BD31-4B8C-83A1-F6EECF244321}">
                <p14:modId xmlns:p14="http://schemas.microsoft.com/office/powerpoint/2010/main" val="542484380"/>
              </p:ext>
            </p:extLst>
          </p:nvPr>
        </p:nvGraphicFramePr>
        <p:xfrm>
          <a:off x="1363271" y="3372090"/>
          <a:ext cx="8019300" cy="3169920"/>
        </p:xfrm>
        <a:graphic>
          <a:graphicData uri="http://schemas.openxmlformats.org/drawingml/2006/table">
            <a:tbl>
              <a:tblPr firstRow="1" firstCol="1" bandRow="1">
                <a:tableStyleId>{A91F0D33-8C57-4600-99A7-42BC86742BE1}</a:tableStyleId>
              </a:tblPr>
              <a:tblGrid>
                <a:gridCol w="3997359">
                  <a:extLst>
                    <a:ext uri="{9D8B030D-6E8A-4147-A177-3AD203B41FA5}">
                      <a16:colId xmlns:a16="http://schemas.microsoft.com/office/drawing/2014/main" xmlns="" val="3707462418"/>
                    </a:ext>
                  </a:extLst>
                </a:gridCol>
                <a:gridCol w="4021941">
                  <a:extLst>
                    <a:ext uri="{9D8B030D-6E8A-4147-A177-3AD203B41FA5}">
                      <a16:colId xmlns:a16="http://schemas.microsoft.com/office/drawing/2014/main" xmlns="" val="83944583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Concept</a:t>
                      </a: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Rating</a:t>
                      </a: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651457259"/>
                  </a:ext>
                </a:extLst>
              </a:tr>
              <a:tr h="457200">
                <a:tc>
                  <a:txBody>
                    <a:bodyPr/>
                    <a:lstStyle/>
                    <a:p>
                      <a:pPr marL="0" marR="0">
                        <a:spcBef>
                          <a:spcPts val="0"/>
                        </a:spcBef>
                        <a:spcAft>
                          <a:spcPts val="0"/>
                        </a:spcAft>
                      </a:pPr>
                      <a:r>
                        <a:rPr lang="en-US" sz="2000" dirty="0">
                          <a:effectLst/>
                          <a:latin typeface="Verdana" pitchFamily="34" charset="0"/>
                          <a:ea typeface="Verdana" pitchFamily="34" charset="0"/>
                        </a:rPr>
                        <a:t>I can find the surface area of a right rectangular pyramid using a net or the figure.</a:t>
                      </a:r>
                      <a:endParaRPr lang="en-US" sz="2000" dirty="0">
                        <a:effectLst/>
                        <a:latin typeface="Verdana" pitchFamily="34" charset="0"/>
                        <a:ea typeface="Verdana" pitchFamily="34"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1        2        3        4</a:t>
                      </a:r>
                      <a:endParaRPr lang="en-US" sz="2000" dirty="0">
                        <a:effectLst/>
                        <a:latin typeface="Verdana" pitchFamily="34" charset="0"/>
                        <a:ea typeface="Verdana" pitchFamily="34"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36717836"/>
                  </a:ext>
                </a:extLst>
              </a:tr>
              <a:tr h="457200">
                <a:tc>
                  <a:txBody>
                    <a:bodyPr/>
                    <a:lstStyle/>
                    <a:p>
                      <a:pPr marL="0" marR="0">
                        <a:spcBef>
                          <a:spcPts val="0"/>
                        </a:spcBef>
                        <a:spcAft>
                          <a:spcPts val="0"/>
                        </a:spcAft>
                      </a:pPr>
                      <a:r>
                        <a:rPr lang="en-US" sz="2000">
                          <a:effectLst/>
                          <a:latin typeface="Verdana" pitchFamily="34" charset="0"/>
                          <a:ea typeface="Verdana" pitchFamily="34" charset="0"/>
                        </a:rPr>
                        <a:t>I can find the surface area of a right rectangular prism using a net or the figure.</a:t>
                      </a:r>
                      <a:endParaRPr lang="en-US" sz="2000">
                        <a:effectLst/>
                        <a:latin typeface="Verdana" pitchFamily="34" charset="0"/>
                        <a:ea typeface="Verdana" pitchFamily="34"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1        2        3        4</a:t>
                      </a:r>
                      <a:endParaRPr lang="en-US" sz="2000" dirty="0">
                        <a:effectLst/>
                        <a:latin typeface="Verdana" pitchFamily="34" charset="0"/>
                        <a:ea typeface="Verdana" pitchFamily="34"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57244115"/>
                  </a:ext>
                </a:extLst>
              </a:tr>
              <a:tr h="457200">
                <a:tc>
                  <a:txBody>
                    <a:bodyPr/>
                    <a:lstStyle/>
                    <a:p>
                      <a:pPr marL="0" marR="0">
                        <a:spcBef>
                          <a:spcPts val="0"/>
                        </a:spcBef>
                        <a:spcAft>
                          <a:spcPts val="0"/>
                        </a:spcAft>
                      </a:pPr>
                      <a:r>
                        <a:rPr lang="en-US" sz="2000" dirty="0">
                          <a:effectLst/>
                          <a:latin typeface="Verdana" pitchFamily="34" charset="0"/>
                          <a:ea typeface="Verdana" pitchFamily="34" charset="0"/>
                        </a:rPr>
                        <a:t>I can find the volume of a right rectangular prism.</a:t>
                      </a:r>
                      <a:endParaRPr lang="en-US" sz="2000" dirty="0">
                        <a:effectLst/>
                        <a:latin typeface="Verdana" pitchFamily="34" charset="0"/>
                        <a:ea typeface="Verdana" pitchFamily="34"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1        2        3        4</a:t>
                      </a:r>
                      <a:endParaRPr lang="en-US" sz="2000" dirty="0">
                        <a:effectLst/>
                        <a:latin typeface="Verdana" pitchFamily="34" charset="0"/>
                        <a:ea typeface="Verdana" pitchFamily="34" charset="0"/>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61652282"/>
                  </a:ext>
                </a:extLst>
              </a:tr>
            </a:tbl>
          </a:graphicData>
        </a:graphic>
      </p:graphicFrame>
      <p:sp>
        <p:nvSpPr>
          <p:cNvPr id="10"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2254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303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141</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94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a16="http://schemas.microsoft.com/office/drawing/2014/main" xmlns="" id="{2FA392D8-3ED3-7940-83A8-1451AA8A08D4}"/>
              </a:ext>
            </a:extLst>
          </p:cNvPr>
          <p:cNvSpPr txBox="1"/>
          <p:nvPr/>
        </p:nvSpPr>
        <p:spPr>
          <a:xfrm>
            <a:off x="571777" y="390049"/>
            <a:ext cx="10955261" cy="317009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barrier to my learning today was … </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 will try to overcome this by …</a:t>
            </a:r>
          </a:p>
        </p:txBody>
      </p:sp>
    </p:spTree>
    <p:extLst>
      <p:ext uri="{BB962C8B-B14F-4D97-AF65-F5344CB8AC3E}">
        <p14:creationId xmlns:p14="http://schemas.microsoft.com/office/powerpoint/2010/main" val="65349498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E2B487-74C2-47DF-80B4-B11A10A5F734}">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B33ACB75-CBF7-4A95-9288-99CFF7DC4C6B}">
  <ds:schemaRefs>
    <ds:schemaRef ds:uri="http://schemas.microsoft.com/sharepoint/v3/contenttype/forms"/>
  </ds:schemaRefs>
</ds:datastoreItem>
</file>

<file path=customXml/itemProps3.xml><?xml version="1.0" encoding="utf-8"?>
<ds:datastoreItem xmlns:ds="http://schemas.openxmlformats.org/officeDocument/2006/customXml" ds:itemID="{6BC320F5-BD5F-440E-80A9-3ABC60CFC1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4991</TotalTime>
  <Words>917</Words>
  <Application>Microsoft Office PowerPoint</Application>
  <PresentationFormat>Custom</PresentationFormat>
  <Paragraphs>231</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Century Gothic</vt:lpstr>
      <vt:lpstr>Wingdings</vt:lpstr>
      <vt:lpstr>Cambria Math</vt:lpstr>
      <vt:lpstr>Cambria</vt:lpstr>
      <vt:lpstr>Arial Black</vt:lpstr>
      <vt:lpstr>Verdana</vt:lpstr>
      <vt:lpstr>Calibri</vt:lpstr>
      <vt:lpstr>Times New Roman</vt:lpstr>
      <vt:lpstr>1_Office Theme</vt:lpstr>
      <vt:lpstr>6th Grade  Unit 8, Lesson 12  Finding Surface Area and Volume  Volume 2, pg. 135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29</cp:revision>
  <dcterms:created xsi:type="dcterms:W3CDTF">2015-03-17T18:51:18Z</dcterms:created>
  <dcterms:modified xsi:type="dcterms:W3CDTF">2023-07-07T05:52:28Z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