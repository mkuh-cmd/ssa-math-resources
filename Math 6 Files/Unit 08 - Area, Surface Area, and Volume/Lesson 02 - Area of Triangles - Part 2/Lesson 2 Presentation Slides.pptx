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289" r:id="rId9"/>
    <p:sldId id="290" r:id="rId10"/>
    <p:sldId id="356" r:id="rId11"/>
    <p:sldId id="362" r:id="rId12"/>
    <p:sldId id="363" r:id="rId13"/>
    <p:sldId id="366" r:id="rId14"/>
    <p:sldId id="365" r:id="rId15"/>
    <p:sldId id="323" r:id="rId16"/>
    <p:sldId id="324" r:id="rId17"/>
    <p:sldId id="357" r:id="rId18"/>
    <p:sldId id="302" r:id="rId19"/>
    <p:sldId id="303" r:id="rId20"/>
    <p:sldId id="360" r:id="rId21"/>
    <p:sldId id="306" r:id="rId22"/>
    <p:sldId id="307" r:id="rId23"/>
  </p:sldIdLst>
  <p:sldSz cx="12192000" cy="6858000"/>
  <p:notesSz cx="6858000" cy="9144000"/>
  <p:embeddedFontLst>
    <p:embeddedFont>
      <p:font typeface="Century Gothic" pitchFamily="34" charset="0"/>
      <p:regular r:id="rId25"/>
      <p:bold r:id="rId26"/>
      <p:italic r:id="rId27"/>
      <p:boldItalic r:id="rId28"/>
    </p:embeddedFont>
    <p:embeddedFont>
      <p:font typeface="Cambria Math" pitchFamily="18" charset="0"/>
      <p:regular r:id="rId29"/>
    </p:embeddedFont>
    <p:embeddedFont>
      <p:font typeface="Cambria" pitchFamily="18" charset="0"/>
      <p:regular r:id="rId30"/>
      <p:bold r:id="rId31"/>
      <p:italic r:id="rId32"/>
      <p:boldItalic r:id="rId33"/>
    </p:embeddedFont>
    <p:embeddedFont>
      <p:font typeface="Arial Black" pitchFamily="34" charset="0"/>
      <p:bold r:id="rId34"/>
    </p:embeddedFont>
    <p:embeddedFont>
      <p:font typeface="Verdana" pitchFamily="34" charset="0"/>
      <p:regular r:id="rId35"/>
      <p:bold r:id="rId36"/>
      <p:italic r:id="rId37"/>
      <p:boldItalic r:id="rId38"/>
    </p:embeddedFont>
    <p:embeddedFont>
      <p:font typeface="Calibri"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1"/>
    <p:restoredTop sz="94783"/>
  </p:normalViewPr>
  <p:slideViewPr>
    <p:cSldViewPr snapToGrid="0">
      <p:cViewPr varScale="1">
        <p:scale>
          <a:sx n="78" d="100"/>
          <a:sy n="78" d="100"/>
        </p:scale>
        <p:origin x="-78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481809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02343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13433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367243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15654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916943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97931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0.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2</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Area of Triangles – Part 2</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80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444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905256" y="1609531"/>
            <a:ext cx="1113434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MA.6.GR.2.1</a:t>
            </a:r>
          </a:p>
          <a:p>
            <a:pPr indent="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Derive </a:t>
            </a:r>
            <a:r>
              <a:rPr lang="en-US" sz="3500" dirty="0">
                <a:latin typeface="Verdana" panose="020B0604030504040204" pitchFamily="34" charset="0"/>
                <a:ea typeface="Verdana" panose="020B0604030504040204" pitchFamily="34" charset="0"/>
                <a:cs typeface="Verdana" panose="020B0604030504040204" pitchFamily="34" charset="0"/>
              </a:rPr>
              <a:t>a formula for the area of a right triangle using a rectangle. Apply a formula to find the area of a triangle.</a:t>
            </a: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43000" y="129667"/>
            <a:ext cx="1069238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80</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05256" y="1596390"/>
            <a:ext cx="1042314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43000" y="274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80</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05256" y="1600200"/>
            <a:ext cx="1013155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apply a formula to find the area of triangles.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15384"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3000" y="60325"/>
            <a:ext cx="86410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8.2.1 Warm-Up: Bell Work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81</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905256" y="1386025"/>
            <a:ext cx="10143744" cy="5047536"/>
          </a:xfrm>
          <a:prstGeom prst="rect">
            <a:avLst/>
          </a:prstGeom>
          <a:noFill/>
        </p:spPr>
        <p:txBody>
          <a:bodyPr wrap="square" rtlCol="0">
            <a:spAutoFit/>
          </a:bodyPr>
          <a:lstStyle/>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rectangle? Include units.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shaded triangle? Include units. </a:t>
            </a:r>
          </a:p>
          <a:p>
            <a:endParaRPr lang="en-US" dirty="0"/>
          </a:p>
          <a:p>
            <a:r>
              <a:rPr lang="en-US" dirty="0"/>
              <a:t> </a:t>
            </a:r>
          </a:p>
          <a:p>
            <a:r>
              <a:rPr lang="en-US" dirty="0"/>
              <a:t> </a:t>
            </a:r>
          </a:p>
        </p:txBody>
      </p:sp>
      <p:pic>
        <p:nvPicPr>
          <p:cNvPr id="9" name="Picture 8" descr="Chart, pie chart&#10;&#10;Description automatically generated">
            <a:extLst>
              <a:ext uri="{FF2B5EF4-FFF2-40B4-BE49-F238E27FC236}">
                <a16:creationId xmlns:a16="http://schemas.microsoft.com/office/drawing/2014/main" xmlns="" id="{E90D25E8-72DF-2842-8EC2-78DD19CD629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91914" y="974233"/>
            <a:ext cx="4222836" cy="2450592"/>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81</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4"/>
            <a:ext cx="10128504" cy="1015663"/>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Explain the relationship between the area of a rectangle and triangle that have the same height and base.</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81</a:t>
            </a: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85979"/>
            <a:ext cx="10388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8.2.2 Guided Instruction: Find the Area of a Triangle</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81</a:t>
            </a:r>
          </a:p>
        </p:txBody>
      </p:sp>
      <p:sp>
        <p:nvSpPr>
          <p:cNvPr id="13" name="TextBox 12">
            <a:extLst>
              <a:ext uri="{FF2B5EF4-FFF2-40B4-BE49-F238E27FC236}">
                <a16:creationId xmlns:a16="http://schemas.microsoft.com/office/drawing/2014/main" xmlns="" id="{C01B13E8-EC8D-E443-A329-C5E3593DD13A}"/>
              </a:ext>
            </a:extLst>
          </p:cNvPr>
          <p:cNvSpPr txBox="1"/>
          <p:nvPr/>
        </p:nvSpPr>
        <p:spPr>
          <a:xfrm>
            <a:off x="905256" y="1386025"/>
            <a:ext cx="10484104"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To find the area of any triangle, identify a base of the triangle and its corresponding height. </a:t>
            </a:r>
          </a:p>
        </p:txBody>
      </p:sp>
      <p:grpSp>
        <p:nvGrpSpPr>
          <p:cNvPr id="8" name="Group 7">
            <a:extLst>
              <a:ext uri="{FF2B5EF4-FFF2-40B4-BE49-F238E27FC236}">
                <a16:creationId xmlns:a16="http://schemas.microsoft.com/office/drawing/2014/main" xmlns="" id="{92A7F360-B4DB-D64E-B564-A835DFC10C2D}"/>
              </a:ext>
            </a:extLst>
          </p:cNvPr>
          <p:cNvGrpSpPr/>
          <p:nvPr/>
        </p:nvGrpSpPr>
        <p:grpSpPr>
          <a:xfrm>
            <a:off x="2146200" y="2273020"/>
            <a:ext cx="7257526" cy="1265600"/>
            <a:chOff x="1403174" y="3275735"/>
            <a:chExt cx="7257526" cy="1265600"/>
          </a:xfrm>
        </p:grpSpPr>
        <p:grpSp>
          <p:nvGrpSpPr>
            <p:cNvPr id="10" name="Group 9">
              <a:extLst>
                <a:ext uri="{FF2B5EF4-FFF2-40B4-BE49-F238E27FC236}">
                  <a16:creationId xmlns:a16="http://schemas.microsoft.com/office/drawing/2014/main" xmlns="" id="{AA4FB772-3E0E-5A46-8066-E569F1E0E7B9}"/>
                </a:ext>
              </a:extLst>
            </p:cNvPr>
            <p:cNvGrpSpPr/>
            <p:nvPr/>
          </p:nvGrpSpPr>
          <p:grpSpPr>
            <a:xfrm>
              <a:off x="1403174" y="3275735"/>
              <a:ext cx="7257526" cy="1265600"/>
              <a:chOff x="-628126" y="0"/>
              <a:chExt cx="7257526" cy="1265600"/>
            </a:xfrm>
          </p:grpSpPr>
          <p:sp>
            <p:nvSpPr>
              <p:cNvPr id="11" name="Rectangle 10">
                <a:extLst>
                  <a:ext uri="{FF2B5EF4-FFF2-40B4-BE49-F238E27FC236}">
                    <a16:creationId xmlns:a16="http://schemas.microsoft.com/office/drawing/2014/main" xmlns="" id="{477BD192-B91B-D24C-B268-77D511C7244A}"/>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4" name="Group 13">
                <a:extLst>
                  <a:ext uri="{FF2B5EF4-FFF2-40B4-BE49-F238E27FC236}">
                    <a16:creationId xmlns:a16="http://schemas.microsoft.com/office/drawing/2014/main" xmlns="" id="{420DFA0C-21B0-794F-AFF7-417A041C3608}"/>
                  </a:ext>
                </a:extLst>
              </p:cNvPr>
              <p:cNvGrpSpPr/>
              <p:nvPr/>
            </p:nvGrpSpPr>
            <p:grpSpPr>
              <a:xfrm>
                <a:off x="-628126" y="0"/>
                <a:ext cx="7257526" cy="1265600"/>
                <a:chOff x="-628126" y="0"/>
                <a:chExt cx="7257526" cy="1265600"/>
              </a:xfrm>
            </p:grpSpPr>
            <p:sp>
              <p:nvSpPr>
                <p:cNvPr id="16" name="Rectangle 15">
                  <a:extLst>
                    <a:ext uri="{FF2B5EF4-FFF2-40B4-BE49-F238E27FC236}">
                      <a16:creationId xmlns:a16="http://schemas.microsoft.com/office/drawing/2014/main" xmlns="" id="{CBE94218-5CC5-024B-9F47-FA438F371F90}"/>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7" name="Rectangle 16">
                  <a:extLst>
                    <a:ext uri="{FF2B5EF4-FFF2-40B4-BE49-F238E27FC236}">
                      <a16:creationId xmlns:a16="http://schemas.microsoft.com/office/drawing/2014/main" xmlns="" id="{D37A5167-CD58-4B46-AC40-BFAAC1203B50}"/>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8" name="Rounded Rectangle 17">
                  <a:extLst>
                    <a:ext uri="{FF2B5EF4-FFF2-40B4-BE49-F238E27FC236}">
                      <a16:creationId xmlns:a16="http://schemas.microsoft.com/office/drawing/2014/main" xmlns="" id="{BC2A360E-8DF7-BC49-93AF-1864EBDC47CA}"/>
                    </a:ext>
                  </a:extLst>
                </p:cNvPr>
                <p:cNvSpPr/>
                <p:nvPr/>
              </p:nvSpPr>
              <p:spPr>
                <a:xfrm>
                  <a:off x="-628126" y="0"/>
                  <a:ext cx="7257526" cy="126560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15000"/>
                    </a:lnSpc>
                    <a:spcAft>
                      <a:spcPts val="1000"/>
                    </a:spcAft>
                  </a:pPr>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a:lnSpc>
                      <a:spcPct val="115000"/>
                    </a:lnSpc>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Any of the three sides of a triangle can be the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base.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The term “base” can refer to the side of a triangle and also its measurement.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indent="742950">
                    <a:spcAft>
                      <a:spcPts val="1000"/>
                    </a:spcAft>
                  </a:pPr>
                  <a:r>
                    <a:rPr lang="en-US" sz="1200" dirty="0">
                      <a:solidFill>
                        <a:srgbClr val="2475BF"/>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15" name="Shape 15" descr="Icon&#10;&#10;Description automatically generated">
                <a:extLst>
                  <a:ext uri="{FF2B5EF4-FFF2-40B4-BE49-F238E27FC236}">
                    <a16:creationId xmlns:a16="http://schemas.microsoft.com/office/drawing/2014/main" xmlns="" id="{E5E19326-408B-D64B-BA42-D975802DB2AC}"/>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42986" y="123312"/>
                <a:ext cx="539750" cy="539750"/>
              </a:xfrm>
              <a:prstGeom prst="rect">
                <a:avLst/>
              </a:prstGeom>
              <a:noFill/>
              <a:ln>
                <a:noFill/>
              </a:ln>
              <a:effectLst>
                <a:outerShdw blurRad="50800" dist="38100" dir="2700000" algn="tl" rotWithShape="0">
                  <a:prstClr val="black">
                    <a:alpha val="40000"/>
                  </a:prstClr>
                </a:outerShdw>
              </a:effectLst>
            </p:spPr>
          </p:pic>
        </p:grpSp>
      </p:grpSp>
      <p:grpSp>
        <p:nvGrpSpPr>
          <p:cNvPr id="19" name="Group 18">
            <a:extLst>
              <a:ext uri="{FF2B5EF4-FFF2-40B4-BE49-F238E27FC236}">
                <a16:creationId xmlns:a16="http://schemas.microsoft.com/office/drawing/2014/main" xmlns="" id="{1DC6DCA4-CA81-D349-8DF4-4ED83874D02D}"/>
              </a:ext>
            </a:extLst>
          </p:cNvPr>
          <p:cNvGrpSpPr/>
          <p:nvPr/>
        </p:nvGrpSpPr>
        <p:grpSpPr>
          <a:xfrm>
            <a:off x="2146200" y="3812347"/>
            <a:ext cx="7257526" cy="1869336"/>
            <a:chOff x="1403174" y="3054827"/>
            <a:chExt cx="7257526" cy="1869598"/>
          </a:xfrm>
        </p:grpSpPr>
        <p:grpSp>
          <p:nvGrpSpPr>
            <p:cNvPr id="20" name="Group 19">
              <a:extLst>
                <a:ext uri="{FF2B5EF4-FFF2-40B4-BE49-F238E27FC236}">
                  <a16:creationId xmlns:a16="http://schemas.microsoft.com/office/drawing/2014/main" xmlns="" id="{7DD2A6A2-5071-3F4C-9545-7B3F333715E4}"/>
                </a:ext>
              </a:extLst>
            </p:cNvPr>
            <p:cNvGrpSpPr/>
            <p:nvPr/>
          </p:nvGrpSpPr>
          <p:grpSpPr>
            <a:xfrm>
              <a:off x="1403174" y="3054827"/>
              <a:ext cx="7257526" cy="1869598"/>
              <a:chOff x="-628126" y="-220908"/>
              <a:chExt cx="7257526" cy="1869598"/>
            </a:xfrm>
          </p:grpSpPr>
          <p:sp>
            <p:nvSpPr>
              <p:cNvPr id="21" name="Rectangle 20">
                <a:extLst>
                  <a:ext uri="{FF2B5EF4-FFF2-40B4-BE49-F238E27FC236}">
                    <a16:creationId xmlns:a16="http://schemas.microsoft.com/office/drawing/2014/main" xmlns="" id="{A17074B5-7BF8-894A-BC12-A466AF198BAE}"/>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2" name="Group 21">
                <a:extLst>
                  <a:ext uri="{FF2B5EF4-FFF2-40B4-BE49-F238E27FC236}">
                    <a16:creationId xmlns:a16="http://schemas.microsoft.com/office/drawing/2014/main" xmlns="" id="{180EDA9C-6445-384B-9967-B1560EA5193B}"/>
                  </a:ext>
                </a:extLst>
              </p:cNvPr>
              <p:cNvGrpSpPr/>
              <p:nvPr/>
            </p:nvGrpSpPr>
            <p:grpSpPr>
              <a:xfrm>
                <a:off x="-628126" y="-220908"/>
                <a:ext cx="7257526" cy="1869598"/>
                <a:chOff x="-628126" y="-220908"/>
                <a:chExt cx="7257526" cy="1869598"/>
              </a:xfrm>
            </p:grpSpPr>
            <p:sp>
              <p:nvSpPr>
                <p:cNvPr id="24" name="Rectangle 23">
                  <a:extLst>
                    <a:ext uri="{FF2B5EF4-FFF2-40B4-BE49-F238E27FC236}">
                      <a16:creationId xmlns:a16="http://schemas.microsoft.com/office/drawing/2014/main" xmlns="" id="{42E36727-68CA-2A4B-84B9-4520D85F471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5" name="Rectangle 24">
                  <a:extLst>
                    <a:ext uri="{FF2B5EF4-FFF2-40B4-BE49-F238E27FC236}">
                      <a16:creationId xmlns:a16="http://schemas.microsoft.com/office/drawing/2014/main" xmlns="" id="{60A0EA73-5ABA-A84E-A223-B19639C707B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6" name="Rounded Rectangle 25">
                  <a:extLst>
                    <a:ext uri="{FF2B5EF4-FFF2-40B4-BE49-F238E27FC236}">
                      <a16:creationId xmlns:a16="http://schemas.microsoft.com/office/drawing/2014/main" xmlns="" id="{F3A506AF-65F3-984D-B2A5-350AE8C18C02}"/>
                    </a:ext>
                  </a:extLst>
                </p:cNvPr>
                <p:cNvSpPr/>
                <p:nvPr/>
              </p:nvSpPr>
              <p:spPr>
                <a:xfrm>
                  <a:off x="-628126" y="-220908"/>
                  <a:ext cx="7257526" cy="1869598"/>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The corresponding </a:t>
                  </a: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height </a:t>
                  </a: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of a triangle</a:t>
                  </a:r>
                  <a:r>
                    <a:rPr lang="en-US" sz="2000" b="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t>
                  </a: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is the length of the perpendicular segment drawn from a base to its opposite vertex. The opposite vertex is the vertex of the triangle that is </a:t>
                  </a:r>
                  <a:r>
                    <a:rPr lang="en-US" sz="2000" i="1"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not</a:t>
                  </a:r>
                  <a:r>
                    <a:rPr lang="en-US" sz="2000" dirty="0">
                      <a:solidFill>
                        <a:srgbClr val="00619E"/>
                      </a:solidFill>
                      <a:latin typeface="Verdana" panose="020B0604030504040204" pitchFamily="34" charset="0"/>
                      <a:ea typeface="Times New Roman" panose="02020603050405020304" pitchFamily="18" charset="0"/>
                      <a:cs typeface="Times New Roman" panose="02020603050405020304" pitchFamily="18" charset="0"/>
                    </a:rPr>
                    <a:t> an endpoint of the base.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23" name="Shape 15" descr="Icon&#10;&#10;Description automatically generated">
                <a:extLst>
                  <a:ext uri="{FF2B5EF4-FFF2-40B4-BE49-F238E27FC236}">
                    <a16:creationId xmlns:a16="http://schemas.microsoft.com/office/drawing/2014/main" xmlns="" id="{DC67B8E1-53DA-9E45-BF39-5EBDA5BA7839}"/>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09461" y="-56740"/>
                <a:ext cx="539750" cy="539750"/>
              </a:xfrm>
              <a:prstGeom prst="rect">
                <a:avLst/>
              </a:prstGeom>
              <a:noFill/>
              <a:ln>
                <a:noFill/>
              </a:ln>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81</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4"/>
            <a:ext cx="10331704" cy="563231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Examples of bases and their corresponding heights on copies of the same triangle are shown. Each dashed line segment represents the height of the triangle.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each example the height is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to the base.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pic>
        <p:nvPicPr>
          <p:cNvPr id="6" name="Picture 5" descr="A picture containing shape&#10;&#10;Description automatically generated">
            <a:extLst>
              <a:ext uri="{FF2B5EF4-FFF2-40B4-BE49-F238E27FC236}">
                <a16:creationId xmlns:a16="http://schemas.microsoft.com/office/drawing/2014/main" xmlns="" id="{0C343569-BE36-334B-8090-DE1D1402181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6541" r="12250" b="8784"/>
          <a:stretch/>
        </p:blipFill>
        <p:spPr bwMode="auto">
          <a:xfrm>
            <a:off x="2098767" y="1919516"/>
            <a:ext cx="6376987" cy="2102369"/>
          </a:xfrm>
          <a:prstGeom prst="rect">
            <a:avLst/>
          </a:prstGeom>
          <a:ln>
            <a:noFill/>
          </a:ln>
          <a:extLst>
            <a:ext uri="{53640926-AAD7-44D8-BBD7-CCE9431645EC}">
              <a14:shadowObscured xmlns:a14="http://schemas.microsoft.com/office/drawing/2010/main"/>
            </a:ext>
          </a:extLst>
        </p:spPr>
      </p:pic>
      <p:sp>
        <p:nvSpPr>
          <p:cNvPr id="8" name="Rectangle: Rounded Corners 7">
            <a:extLst>
              <a:ext uri="{FF2B5EF4-FFF2-40B4-BE49-F238E27FC236}">
                <a16:creationId xmlns:a16="http://schemas.microsoft.com/office/drawing/2014/main" xmlns="" id="{821143CA-2DE0-1C4B-B543-AD1CE2D5BC5C}"/>
              </a:ext>
            </a:extLst>
          </p:cNvPr>
          <p:cNvSpPr/>
          <p:nvPr/>
        </p:nvSpPr>
        <p:spPr>
          <a:xfrm>
            <a:off x="5472564" y="4411310"/>
            <a:ext cx="2438779" cy="1009697"/>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endParaRPr lang="en-US" sz="1800" dirty="0">
              <a:latin typeface="Verdana" panose="020B060403050404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perpendicular</a:t>
            </a:r>
            <a:endParaRPr lang="en-US" sz="2000" dirty="0">
              <a:ea typeface="Times New Roman" panose="02020603050405020304" pitchFamily="18" charset="0"/>
              <a:cs typeface="Times New Roman" panose="02020603050405020304" pitchFamily="18"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opposite</a:t>
            </a:r>
            <a:endParaRPr lang="en-US" sz="2000" dirty="0">
              <a:ea typeface="Times New Roman" panose="02020603050405020304" pitchFamily="18" charset="0"/>
              <a:cs typeface="Times New Roman" panose="02020603050405020304" pitchFamily="18" charset="0"/>
            </a:endParaRPr>
          </a:p>
          <a:p>
            <a:pPr algn="ctr">
              <a:spcAft>
                <a:spcPts val="1000"/>
              </a:spcAft>
            </a:pPr>
            <a:r>
              <a:rPr lang="en-US" sz="1200" dirty="0">
                <a:ea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640120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82</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10240264" cy="163121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side used for the base is labeled on three triangles below. Complete the table to explain why each of the dashed lines do not represent the height of each triangle.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 name="Table 3">
            <a:extLst>
              <a:ext uri="{FF2B5EF4-FFF2-40B4-BE49-F238E27FC236}">
                <a16:creationId xmlns:a16="http://schemas.microsoft.com/office/drawing/2014/main" xmlns="" id="{A20DB8BE-3B9C-F143-A26F-743EECF200D9}"/>
              </a:ext>
            </a:extLst>
          </p:cNvPr>
          <p:cNvGraphicFramePr>
            <a:graphicFrameLocks noGrp="1"/>
          </p:cNvGraphicFramePr>
          <p:nvPr>
            <p:extLst>
              <p:ext uri="{D42A27DB-BD31-4B8C-83A1-F6EECF244321}">
                <p14:modId xmlns:p14="http://schemas.microsoft.com/office/powerpoint/2010/main" val="1260556094"/>
              </p:ext>
            </p:extLst>
          </p:nvPr>
        </p:nvGraphicFramePr>
        <p:xfrm>
          <a:off x="2129686" y="3360077"/>
          <a:ext cx="7331303" cy="3152206"/>
        </p:xfrm>
        <a:graphic>
          <a:graphicData uri="http://schemas.openxmlformats.org/drawingml/2006/table">
            <a:tbl>
              <a:tblPr firstRow="1" firstCol="1" bandRow="1">
                <a:tableStyleId>{A91F0D33-8C57-4600-99A7-42BC86742BE1}</a:tableStyleId>
              </a:tblPr>
              <a:tblGrid>
                <a:gridCol w="1609695">
                  <a:extLst>
                    <a:ext uri="{9D8B030D-6E8A-4147-A177-3AD203B41FA5}">
                      <a16:colId xmlns:a16="http://schemas.microsoft.com/office/drawing/2014/main" xmlns="" val="4219796663"/>
                    </a:ext>
                  </a:extLst>
                </a:gridCol>
                <a:gridCol w="5721608">
                  <a:extLst>
                    <a:ext uri="{9D8B030D-6E8A-4147-A177-3AD203B41FA5}">
                      <a16:colId xmlns:a16="http://schemas.microsoft.com/office/drawing/2014/main" xmlns="" val="3309915010"/>
                    </a:ext>
                  </a:extLst>
                </a:gridCol>
              </a:tblGrid>
              <a:tr h="410341">
                <a:tc>
                  <a:txBody>
                    <a:bodyPr/>
                    <a:lstStyle/>
                    <a:p>
                      <a:pPr marL="0" marR="0" algn="ctr">
                        <a:spcBef>
                          <a:spcPts val="0"/>
                        </a:spcBef>
                        <a:spcAft>
                          <a:spcPts val="0"/>
                        </a:spcAft>
                        <a:tabLst>
                          <a:tab pos="1722755"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Explanation </a:t>
                      </a: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394083450"/>
                  </a:ext>
                </a:extLst>
              </a:tr>
              <a:tr h="913955">
                <a:tc>
                  <a:txBody>
                    <a:bodyPr/>
                    <a:lstStyle/>
                    <a:p>
                      <a:pPr marL="0" marR="0" algn="ctr">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Triangle A</a:t>
                      </a: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911" marR="53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6524813"/>
                  </a:ext>
                </a:extLst>
              </a:tr>
              <a:tr h="913955">
                <a:tc>
                  <a:txBody>
                    <a:bodyPr/>
                    <a:lstStyle/>
                    <a:p>
                      <a:pPr marL="0" marR="0" algn="ctr">
                        <a:spcBef>
                          <a:spcPts val="0"/>
                        </a:spcBef>
                        <a:spcAft>
                          <a:spcPts val="0"/>
                        </a:spcAft>
                        <a:tabLst>
                          <a:tab pos="1722755" algn="l"/>
                        </a:tabLst>
                      </a:pPr>
                      <a:r>
                        <a:rPr lang="en-US" sz="2000">
                          <a:effectLst/>
                          <a:latin typeface="Verdana" panose="020B0604030504040204" pitchFamily="34" charset="0"/>
                          <a:ea typeface="Verdana" panose="020B0604030504040204" pitchFamily="34" charset="0"/>
                          <a:cs typeface="Verdana" panose="020B0604030504040204" pitchFamily="34" charset="0"/>
                        </a:rPr>
                        <a:t>Triangle B</a:t>
                      </a: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911" marR="53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75232301"/>
                  </a:ext>
                </a:extLst>
              </a:tr>
              <a:tr h="913955">
                <a:tc>
                  <a:txBody>
                    <a:bodyPr/>
                    <a:lstStyle/>
                    <a:p>
                      <a:pPr marL="0" marR="0" algn="ctr">
                        <a:spcBef>
                          <a:spcPts val="0"/>
                        </a:spcBef>
                        <a:spcAft>
                          <a:spcPts val="0"/>
                        </a:spcAft>
                        <a:tabLst>
                          <a:tab pos="1722755" algn="l"/>
                        </a:tabLst>
                      </a:pPr>
                      <a:r>
                        <a:rPr lang="en-US" sz="2000">
                          <a:effectLst/>
                          <a:latin typeface="Verdana" panose="020B0604030504040204" pitchFamily="34" charset="0"/>
                          <a:ea typeface="Verdana" panose="020B0604030504040204" pitchFamily="34" charset="0"/>
                          <a:cs typeface="Verdana" panose="020B0604030504040204" pitchFamily="34" charset="0"/>
                        </a:rPr>
                        <a:t>Triangle C</a:t>
                      </a:r>
                    </a:p>
                  </a:txBody>
                  <a:tcPr marL="53911" marR="53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3911" marR="53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29553575"/>
                  </a:ext>
                </a:extLst>
              </a:tr>
            </a:tbl>
          </a:graphicData>
        </a:graphic>
      </p:graphicFrame>
      <p:pic>
        <p:nvPicPr>
          <p:cNvPr id="7" name="Picture 6" descr="Chart&#10;&#10;Description automatically generated with low confidence">
            <a:extLst>
              <a:ext uri="{FF2B5EF4-FFF2-40B4-BE49-F238E27FC236}">
                <a16:creationId xmlns:a16="http://schemas.microsoft.com/office/drawing/2014/main" xmlns="" id="{D56EC15C-DCDE-2E4A-BB1F-7E014E9BF7F5}"/>
              </a:ext>
            </a:extLst>
          </p:cNvPr>
          <p:cNvPicPr>
            <a:picLocks noChangeAspect="1"/>
          </p:cNvPicPr>
          <p:nvPr/>
        </p:nvPicPr>
        <p:blipFill>
          <a:blip r:embed="rId4"/>
          <a:stretch>
            <a:fillRect/>
          </a:stretch>
        </p:blipFill>
        <p:spPr>
          <a:xfrm>
            <a:off x="2505272" y="1540032"/>
            <a:ext cx="5698203" cy="1722286"/>
          </a:xfrm>
          <a:prstGeom prst="rect">
            <a:avLst/>
          </a:prstGeom>
        </p:spPr>
      </p:pic>
    </p:spTree>
    <p:extLst>
      <p:ext uri="{BB962C8B-B14F-4D97-AF65-F5344CB8AC3E}">
        <p14:creationId xmlns:p14="http://schemas.microsoft.com/office/powerpoint/2010/main" val="740093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82</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8327136" cy="1631216"/>
          </a:xfrm>
          <a:prstGeom prst="rect">
            <a:avLst/>
          </a:prstGeom>
          <a:noFill/>
        </p:spPr>
        <p:txBody>
          <a:bodyPr wrap="square" rtlCol="0">
            <a:spAutoFit/>
          </a:bodyPr>
          <a:lstStyle/>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nvGrpSpPr>
          <p:cNvPr id="8" name="Group 7">
            <a:extLst>
              <a:ext uri="{FF2B5EF4-FFF2-40B4-BE49-F238E27FC236}">
                <a16:creationId xmlns:a16="http://schemas.microsoft.com/office/drawing/2014/main" xmlns="" id="{FD4BDDD3-C0BA-D140-BD5D-5D14881E8062}"/>
              </a:ext>
            </a:extLst>
          </p:cNvPr>
          <p:cNvGrpSpPr/>
          <p:nvPr/>
        </p:nvGrpSpPr>
        <p:grpSpPr>
          <a:xfrm>
            <a:off x="905256" y="831811"/>
            <a:ext cx="6630359" cy="1008380"/>
            <a:chOff x="2030341" y="3275735"/>
            <a:chExt cx="6630359" cy="1008530"/>
          </a:xfrm>
        </p:grpSpPr>
        <p:grpSp>
          <p:nvGrpSpPr>
            <p:cNvPr id="9" name="Group 8">
              <a:extLst>
                <a:ext uri="{FF2B5EF4-FFF2-40B4-BE49-F238E27FC236}">
                  <a16:creationId xmlns:a16="http://schemas.microsoft.com/office/drawing/2014/main" xmlns="" id="{2470BD1C-367C-1049-8E8A-FA5ED9477F05}"/>
                </a:ext>
              </a:extLst>
            </p:cNvPr>
            <p:cNvGrpSpPr/>
            <p:nvPr/>
          </p:nvGrpSpPr>
          <p:grpSpPr>
            <a:xfrm>
              <a:off x="2030341" y="3275735"/>
              <a:ext cx="6630359" cy="1008530"/>
              <a:chOff x="-959" y="0"/>
              <a:chExt cx="6630359" cy="1008530"/>
            </a:xfrm>
          </p:grpSpPr>
          <p:sp>
            <p:nvSpPr>
              <p:cNvPr id="10" name="Rectangle 9">
                <a:extLst>
                  <a:ext uri="{FF2B5EF4-FFF2-40B4-BE49-F238E27FC236}">
                    <a16:creationId xmlns:a16="http://schemas.microsoft.com/office/drawing/2014/main" xmlns="" id="{C2E953AC-8613-1348-9541-91477EEC1C49}"/>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xmlns="" id="{B49455EA-53E5-A148-9D3B-122D78B9C3BA}"/>
                  </a:ext>
                </a:extLst>
              </p:cNvPr>
              <p:cNvGrpSpPr/>
              <p:nvPr/>
            </p:nvGrpSpPr>
            <p:grpSpPr>
              <a:xfrm>
                <a:off x="-959" y="0"/>
                <a:ext cx="6630359" cy="1008530"/>
                <a:chOff x="-959" y="0"/>
                <a:chExt cx="6630359" cy="1008530"/>
              </a:xfrm>
            </p:grpSpPr>
            <p:sp>
              <p:nvSpPr>
                <p:cNvPr id="15" name="Rectangle 14">
                  <a:extLst>
                    <a:ext uri="{FF2B5EF4-FFF2-40B4-BE49-F238E27FC236}">
                      <a16:creationId xmlns:a16="http://schemas.microsoft.com/office/drawing/2014/main" xmlns="" id="{D2A5939D-17A3-C744-B685-2AFDFC75097F}"/>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6" name="Rectangle 15">
                  <a:extLst>
                    <a:ext uri="{FF2B5EF4-FFF2-40B4-BE49-F238E27FC236}">
                      <a16:creationId xmlns:a16="http://schemas.microsoft.com/office/drawing/2014/main" xmlns="" id="{B08B1694-3565-614C-9D0C-62C10F22EFEC}"/>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xmlns="" id="{AD819E46-6D73-1840-90A7-0477347FA83F}"/>
                        </a:ext>
                      </a:extLst>
                    </p:cNvPr>
                    <p:cNvSpPr/>
                    <p:nvPr/>
                  </p:nvSpPr>
                  <p:spPr>
                    <a:xfrm>
                      <a:off x="-959" y="0"/>
                      <a:ext cx="6629400" cy="100853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endPar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Area of a Triangle </a:t>
                      </a:r>
                      <a14:m>
                        <m:oMath xmlns:m="http://schemas.openxmlformats.org/officeDocument/2006/math">
                          <m:r>
                            <a:rPr lang="en-US" sz="20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b="1" i="1">
                                  <a:solidFill>
                                    <a:srgbClr val="00619E"/>
                                  </a:solidFill>
                                  <a:latin typeface="Cambria Math"/>
                                  <a:ea typeface="Times New Roman" panose="02020603050405020304" pitchFamily="18" charset="0"/>
                                  <a:cs typeface="Times New Roman" panose="02020603050405020304" pitchFamily="18" charset="0"/>
                                </a:rPr>
                              </m:ctrlPr>
                            </m:fPr>
                            <m:num>
                              <m:r>
                                <a:rPr lang="en-US" sz="20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𝟏</m:t>
                              </m:r>
                            </m:num>
                            <m:den>
                              <m:r>
                                <a:rPr lang="en-US" sz="20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𝟐</m:t>
                              </m:r>
                            </m:den>
                          </m:f>
                          <m:r>
                            <a:rPr lang="en-US" sz="2000" b="1"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𝒃𝒉</m:t>
                          </m:r>
                        </m:oMath>
                      </a14:m>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where </a:t>
                      </a:r>
                      <a14:m>
                        <m:oMath xmlns:m="http://schemas.openxmlformats.org/officeDocument/2006/math">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is the base and </a:t>
                      </a:r>
                      <a14:m>
                        <m:oMath xmlns:m="http://schemas.openxmlformats.org/officeDocument/2006/math">
                          <m:r>
                            <a:rPr lang="en-US" sz="2000" i="1">
                              <a:solidFill>
                                <a:srgbClr val="00619E"/>
                              </a:solidFill>
                              <a:latin typeface="Cambria Math" panose="02040503050406030204" pitchFamily="18" charset="0"/>
                              <a:ea typeface="Times New Roman" panose="02020603050405020304" pitchFamily="18" charset="0"/>
                              <a:cs typeface="Times New Roman" panose="02020603050405020304" pitchFamily="18" charset="0"/>
                            </a:rPr>
                            <m:t>h</m:t>
                          </m:r>
                        </m:oMath>
                      </a14:m>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is the height.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indent="74295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p:txBody>
                </p:sp>
              </mc:Choice>
              <mc:Fallback xmlns="">
                <p:sp>
                  <p:nvSpPr>
                    <p:cNvPr id="17" name="Rounded Rectangle 16">
                      <a:extLst>
                        <a:ext uri="{FF2B5EF4-FFF2-40B4-BE49-F238E27FC236}">
                          <a16:creationId xmlns:a16="http://schemas.microsoft.com/office/drawing/2014/main" id="{AD819E46-6D73-1840-90A7-0477347FA83F}"/>
                        </a:ext>
                      </a:extLst>
                    </p:cNvPr>
                    <p:cNvSpPr>
                      <a:spLocks noRot="1" noChangeAspect="1" noMove="1" noResize="1" noEditPoints="1" noAdjustHandles="1" noChangeArrowheads="1" noChangeShapeType="1" noTextEdit="1"/>
                    </p:cNvSpPr>
                    <p:nvPr/>
                  </p:nvSpPr>
                  <p:spPr>
                    <a:xfrm>
                      <a:off x="-959" y="0"/>
                      <a:ext cx="6629400" cy="1008530"/>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pic>
            <p:nvPicPr>
              <p:cNvPr id="13" name="Shape 15" descr="Icon&#10;&#10;Description automatically generated">
                <a:extLst>
                  <a:ext uri="{FF2B5EF4-FFF2-40B4-BE49-F238E27FC236}">
                    <a16:creationId xmlns:a16="http://schemas.microsoft.com/office/drawing/2014/main" xmlns="" id="{462401A7-EBCD-0A41-9312-F39C19EB5FB0}"/>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57788" y="123312"/>
                <a:ext cx="539750" cy="539750"/>
              </a:xfrm>
              <a:prstGeom prst="rect">
                <a:avLst/>
              </a:prstGeom>
              <a:noFill/>
              <a:ln>
                <a:noFill/>
              </a:ln>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1189838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10473944" cy="5632311"/>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Four triangles are shown on the grid. The side length of each square on the grid is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centimeter (cm).</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For each triangle, label the line segment that is drawn to represent the height, </a:t>
                </a:r>
                <a14:m>
                  <m:oMath xmlns:m="http://schemas.openxmlformats.org/officeDocument/2006/math">
                    <m:r>
                      <a:rPr lang="en-US" sz="2000" i="1">
                        <a:latin typeface="Cambria Math" panose="02040503050406030204" pitchFamily="18" charset="0"/>
                        <a:ea typeface="Cambria Math" panose="02040503050406030204" pitchFamily="18"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 Then, label the side that is the base, </a:t>
                </a:r>
                <a14:m>
                  <m:oMath xmlns:m="http://schemas.openxmlformats.org/officeDocument/2006/math">
                    <m:r>
                      <a:rPr lang="en-US" sz="2000" i="1">
                        <a:latin typeface="Cambria Math" panose="02040503050406030204" pitchFamily="18" charset="0"/>
                        <a:ea typeface="Cambria Math" panose="020405030504060302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05256" y="520393"/>
                <a:ext cx="10473944" cy="5632311"/>
              </a:xfrm>
              <a:prstGeom prst="rect">
                <a:avLst/>
              </a:prstGeom>
              <a:blipFill>
                <a:blip r:embed="rId4"/>
                <a:stretch>
                  <a:fillRect l="-605" t="-449" b="-899"/>
                </a:stretch>
              </a:blipFill>
            </p:spPr>
            <p:txBody>
              <a:bodyPr/>
              <a:lstStyle/>
              <a:p>
                <a:r>
                  <a:rPr lang="en-US">
                    <a:noFill/>
                  </a:rPr>
                  <a:t> </a:t>
                </a:r>
              </a:p>
            </p:txBody>
          </p:sp>
        </mc:Fallback>
      </mc:AlternateContent>
      <p:pic>
        <p:nvPicPr>
          <p:cNvPr id="18" name="Picture 17" descr="Chart&#10;&#10;Description automatically generated">
            <a:extLst>
              <a:ext uri="{FF2B5EF4-FFF2-40B4-BE49-F238E27FC236}">
                <a16:creationId xmlns:a16="http://schemas.microsoft.com/office/drawing/2014/main" xmlns="" id="{800119F4-8332-D54B-9582-9D3A58792B0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29245" y="1273485"/>
            <a:ext cx="5362100" cy="3941086"/>
          </a:xfrm>
          <a:prstGeom prst="rect">
            <a:avLst/>
          </a:prstGeom>
        </p:spPr>
      </p:pic>
    </p:spTree>
    <p:extLst>
      <p:ext uri="{BB962C8B-B14F-4D97-AF65-F5344CB8AC3E}">
        <p14:creationId xmlns:p14="http://schemas.microsoft.com/office/powerpoint/2010/main" val="2839767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905256" y="520393"/>
                <a:ext cx="10473944" cy="1631216"/>
              </a:xfrm>
              <a:prstGeom prst="rect">
                <a:avLst/>
              </a:prstGeom>
              <a:noFill/>
            </p:spPr>
            <p:txBody>
              <a:bodyPr wrap="square" rtlCol="0">
                <a:spAutoFit/>
              </a:bodyPr>
              <a:lstStyle/>
              <a:p>
                <a:pPr marL="914400" indent="-44926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In the table, record the measurement for the base and corresponding height for each triangle. Then, find the area of each triangle. Each square on the grid represents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centimeter (cm) by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cm.</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05256" y="520393"/>
                <a:ext cx="10473944" cy="1631216"/>
              </a:xfrm>
              <a:prstGeom prst="rect">
                <a:avLst/>
              </a:prstGeom>
              <a:blipFill>
                <a:blip r:embed="rId4"/>
                <a:stretch>
                  <a:fillRect t="-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23861332-167C-9A43-B2FA-3E91A67CAE10}"/>
                  </a:ext>
                </a:extLst>
              </p:cNvPr>
              <p:cNvGraphicFramePr>
                <a:graphicFrameLocks noGrp="1"/>
              </p:cNvGraphicFramePr>
              <p:nvPr>
                <p:extLst>
                  <p:ext uri="{D42A27DB-BD31-4B8C-83A1-F6EECF244321}">
                    <p14:modId xmlns:p14="http://schemas.microsoft.com/office/powerpoint/2010/main" val="2488677537"/>
                  </p:ext>
                </p:extLst>
              </p:nvPr>
            </p:nvGraphicFramePr>
            <p:xfrm>
              <a:off x="2243251" y="1935196"/>
              <a:ext cx="6524117" cy="4594043"/>
            </p:xfrm>
            <a:graphic>
              <a:graphicData uri="http://schemas.openxmlformats.org/drawingml/2006/table">
                <a:tbl>
                  <a:tblPr firstRow="1" firstCol="1" bandRow="1">
                    <a:tableStyleId>{A91F0D33-8C57-4600-99A7-42BC86742BE1}</a:tableStyleId>
                  </a:tblPr>
                  <a:tblGrid>
                    <a:gridCol w="1630879">
                      <a:extLst>
                        <a:ext uri="{9D8B030D-6E8A-4147-A177-3AD203B41FA5}">
                          <a16:colId xmlns:a16="http://schemas.microsoft.com/office/drawing/2014/main" xmlns="" val="1584408957"/>
                        </a:ext>
                      </a:extLst>
                    </a:gridCol>
                    <a:gridCol w="1224675">
                      <a:extLst>
                        <a:ext uri="{9D8B030D-6E8A-4147-A177-3AD203B41FA5}">
                          <a16:colId xmlns:a16="http://schemas.microsoft.com/office/drawing/2014/main" xmlns="" val="340552791"/>
                        </a:ext>
                      </a:extLst>
                    </a:gridCol>
                    <a:gridCol w="1098991">
                      <a:extLst>
                        <a:ext uri="{9D8B030D-6E8A-4147-A177-3AD203B41FA5}">
                          <a16:colId xmlns:a16="http://schemas.microsoft.com/office/drawing/2014/main" xmlns="" val="879544329"/>
                        </a:ext>
                      </a:extLst>
                    </a:gridCol>
                    <a:gridCol w="2569572">
                      <a:extLst>
                        <a:ext uri="{9D8B030D-6E8A-4147-A177-3AD203B41FA5}">
                          <a16:colId xmlns:a16="http://schemas.microsoft.com/office/drawing/2014/main" xmlns="" val="1239399227"/>
                        </a:ext>
                      </a:extLst>
                    </a:gridCol>
                  </a:tblGrid>
                  <a:tr h="1040641">
                    <a:tc>
                      <a:txBody>
                        <a:bodyPr/>
                        <a:lstStyle/>
                        <a:p>
                          <a:pPr marL="0" marR="0" algn="ctr">
                            <a:spcBef>
                              <a:spcPts val="0"/>
                            </a:spcBef>
                            <a:spcAft>
                              <a:spcPts val="0"/>
                            </a:spcAft>
                            <a:tabLst>
                              <a:tab pos="1722755" algn="l"/>
                            </a:tabLst>
                          </a:pPr>
                          <a:r>
                            <a:rPr lang="en-US" sz="2000" b="1" dirty="0">
                              <a:effectLst/>
                            </a:rPr>
                            <a:t>Triangle</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rPr>
                            <a:t>Base</a:t>
                          </a:r>
                        </a:p>
                        <a:p>
                          <a:pPr marL="0" marR="0" algn="ctr">
                            <a:spcBef>
                              <a:spcPts val="0"/>
                            </a:spcBef>
                            <a:spcAft>
                              <a:spcPts val="0"/>
                            </a:spcAft>
                            <a:tabLst>
                              <a:tab pos="1722755" algn="l"/>
                            </a:tabLst>
                          </a:pPr>
                          <a:r>
                            <a:rPr lang="en-US" sz="2000" b="1" dirty="0">
                              <a:effectLst/>
                            </a:rPr>
                            <a:t>(cm)</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rPr>
                            <a:t>Height (cm)</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rPr>
                            <a:t>Area</a:t>
                          </a:r>
                        </a:p>
                        <a:p>
                          <a:pPr marL="0" marR="0" algn="ctr">
                            <a:spcBef>
                              <a:spcPts val="0"/>
                            </a:spcBef>
                            <a:spcAft>
                              <a:spcPts val="0"/>
                            </a:spcAft>
                            <a:tabLst>
                              <a:tab pos="1722755" algn="l"/>
                            </a:tabLst>
                          </a:pPr>
                          <a:r>
                            <a:rPr lang="en-US" sz="2000" b="1" dirty="0">
                              <a:effectLst/>
                            </a:rPr>
                            <a:t>(cm</a:t>
                          </a:r>
                          <a:r>
                            <a:rPr lang="en-US" sz="2000" b="1" baseline="30000" dirty="0">
                              <a:effectLst/>
                            </a:rPr>
                            <a:t>2</a:t>
                          </a:r>
                          <a:r>
                            <a:rPr lang="en-US" sz="2000" b="1" dirty="0">
                              <a:effectLst/>
                            </a:rPr>
                            <a:t>)</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22100430"/>
                      </a:ext>
                    </a:extLst>
                  </a:tr>
                  <a:tr h="780482">
                    <a:tc>
                      <a:txBody>
                        <a:bodyPr/>
                        <a:lstStyle/>
                        <a:p>
                          <a:pPr marL="0" marR="0" algn="ctr">
                            <a:spcBef>
                              <a:spcPts val="0"/>
                            </a:spcBef>
                            <a:spcAft>
                              <a:spcPts val="0"/>
                            </a:spcAft>
                            <a:tabLst>
                              <a:tab pos="1722755" algn="l"/>
                            </a:tabLst>
                          </a:pPr>
                          <a:r>
                            <a:rPr lang="en-US" sz="2000" dirty="0">
                              <a:effectLst/>
                            </a:rPr>
                            <a:t>Any Triangle</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tabLst>
                              <a:tab pos="1722755"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𝑏</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tabLst>
                              <a:tab pos="1722755" algn="l"/>
                            </a:tabLs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h</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tabLst>
                              <a:tab pos="1722755" algn="l"/>
                            </a:tabLst>
                          </a:pPr>
                          <a14:m>
                            <m:oMathPara xmlns:m="http://schemas.openxmlformats.org/officeDocument/2006/math">
                              <m:oMathParaPr>
                                <m:jc m:val="centerGroup"/>
                              </m:oMathParaPr>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r>
                                  <a:rPr lang="en-US" sz="2000">
                                    <a:effectLst/>
                                    <a:latin typeface="Cambria Math" panose="02040503050406030204" pitchFamily="18" charset="0"/>
                                    <a:ea typeface="Cambria Math" panose="02040503050406030204" pitchFamily="18" charset="0"/>
                                  </a:rPr>
                                  <m:t>𝑏h</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86295059"/>
                      </a:ext>
                    </a:extLst>
                  </a:tr>
                  <a:tr h="693230">
                    <a:tc>
                      <a:txBody>
                        <a:bodyPr/>
                        <a:lstStyle/>
                        <a:p>
                          <a:pPr marL="0" marR="0" algn="ctr">
                            <a:spcBef>
                              <a:spcPts val="0"/>
                            </a:spcBef>
                            <a:spcAft>
                              <a:spcPts val="0"/>
                            </a:spcAft>
                            <a:tabLst>
                              <a:tab pos="1722755" algn="l"/>
                            </a:tabLst>
                          </a:pPr>
                          <a:r>
                            <a:rPr lang="en-US" sz="2000">
                              <a:effectLst/>
                            </a:rPr>
                            <a:t>Triangle A</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86672881"/>
                      </a:ext>
                    </a:extLst>
                  </a:tr>
                  <a:tr h="693230">
                    <a:tc>
                      <a:txBody>
                        <a:bodyPr/>
                        <a:lstStyle/>
                        <a:p>
                          <a:pPr marL="0" marR="0" algn="ctr">
                            <a:spcBef>
                              <a:spcPts val="0"/>
                            </a:spcBef>
                            <a:spcAft>
                              <a:spcPts val="0"/>
                            </a:spcAft>
                            <a:tabLst>
                              <a:tab pos="1722755" algn="l"/>
                            </a:tabLst>
                          </a:pPr>
                          <a:r>
                            <a:rPr lang="en-US" sz="2000">
                              <a:effectLst/>
                            </a:rPr>
                            <a:t>Triangle B</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40933006"/>
                      </a:ext>
                    </a:extLst>
                  </a:tr>
                  <a:tr h="693230">
                    <a:tc>
                      <a:txBody>
                        <a:bodyPr/>
                        <a:lstStyle/>
                        <a:p>
                          <a:pPr marL="0" marR="0" algn="ctr">
                            <a:spcBef>
                              <a:spcPts val="0"/>
                            </a:spcBef>
                            <a:spcAft>
                              <a:spcPts val="0"/>
                            </a:spcAft>
                            <a:tabLst>
                              <a:tab pos="1722755" algn="l"/>
                            </a:tabLst>
                          </a:pPr>
                          <a:r>
                            <a:rPr lang="en-US" sz="2000">
                              <a:effectLst/>
                            </a:rPr>
                            <a:t>Triangle C</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75555349"/>
                      </a:ext>
                    </a:extLst>
                  </a:tr>
                  <a:tr h="693230">
                    <a:tc>
                      <a:txBody>
                        <a:bodyPr/>
                        <a:lstStyle/>
                        <a:p>
                          <a:pPr marL="0" marR="0" algn="ctr">
                            <a:spcBef>
                              <a:spcPts val="0"/>
                            </a:spcBef>
                            <a:spcAft>
                              <a:spcPts val="0"/>
                            </a:spcAft>
                            <a:tabLst>
                              <a:tab pos="1722755" algn="l"/>
                            </a:tabLst>
                          </a:pPr>
                          <a:r>
                            <a:rPr lang="en-US" sz="2000">
                              <a:effectLst/>
                            </a:rPr>
                            <a:t>Triangle D</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89227795"/>
                      </a:ext>
                    </a:extLst>
                  </a:tr>
                </a:tbl>
              </a:graphicData>
            </a:graphic>
          </p:graphicFrame>
        </mc:Choice>
        <mc:Fallback xmlns="">
          <p:graphicFrame>
            <p:nvGraphicFramePr>
              <p:cNvPr id="2" name="Table 1">
                <a:extLst>
                  <a:ext uri="{FF2B5EF4-FFF2-40B4-BE49-F238E27FC236}">
                    <a16:creationId xmlns:a16="http://schemas.microsoft.com/office/drawing/2014/main" id="{23861332-167C-9A43-B2FA-3E91A67CAE10}"/>
                  </a:ext>
                </a:extLst>
              </p:cNvPr>
              <p:cNvGraphicFramePr>
                <a:graphicFrameLocks noGrp="1"/>
              </p:cNvGraphicFramePr>
              <p:nvPr>
                <p:extLst>
                  <p:ext uri="{D42A27DB-BD31-4B8C-83A1-F6EECF244321}">
                    <p14:modId xmlns:p14="http://schemas.microsoft.com/office/powerpoint/2010/main" val="2488677537"/>
                  </p:ext>
                </p:extLst>
              </p:nvPr>
            </p:nvGraphicFramePr>
            <p:xfrm>
              <a:off x="2243251" y="1935196"/>
              <a:ext cx="6524117" cy="4594043"/>
            </p:xfrm>
            <a:graphic>
              <a:graphicData uri="http://schemas.openxmlformats.org/drawingml/2006/table">
                <a:tbl>
                  <a:tblPr firstRow="1" firstCol="1" bandRow="1">
                    <a:tableStyleId>{A91F0D33-8C57-4600-99A7-42BC86742BE1}</a:tableStyleId>
                  </a:tblPr>
                  <a:tblGrid>
                    <a:gridCol w="1630879">
                      <a:extLst>
                        <a:ext uri="{9D8B030D-6E8A-4147-A177-3AD203B41FA5}">
                          <a16:colId xmlns:a16="http://schemas.microsoft.com/office/drawing/2014/main" val="1584408957"/>
                        </a:ext>
                      </a:extLst>
                    </a:gridCol>
                    <a:gridCol w="1224675">
                      <a:extLst>
                        <a:ext uri="{9D8B030D-6E8A-4147-A177-3AD203B41FA5}">
                          <a16:colId xmlns:a16="http://schemas.microsoft.com/office/drawing/2014/main" val="340552791"/>
                        </a:ext>
                      </a:extLst>
                    </a:gridCol>
                    <a:gridCol w="1098991">
                      <a:extLst>
                        <a:ext uri="{9D8B030D-6E8A-4147-A177-3AD203B41FA5}">
                          <a16:colId xmlns:a16="http://schemas.microsoft.com/office/drawing/2014/main" val="879544329"/>
                        </a:ext>
                      </a:extLst>
                    </a:gridCol>
                    <a:gridCol w="2569572">
                      <a:extLst>
                        <a:ext uri="{9D8B030D-6E8A-4147-A177-3AD203B41FA5}">
                          <a16:colId xmlns:a16="http://schemas.microsoft.com/office/drawing/2014/main" val="1239399227"/>
                        </a:ext>
                      </a:extLst>
                    </a:gridCol>
                  </a:tblGrid>
                  <a:tr h="1040641">
                    <a:tc>
                      <a:txBody>
                        <a:bodyPr/>
                        <a:lstStyle/>
                        <a:p>
                          <a:pPr marL="0" marR="0" algn="ctr">
                            <a:spcBef>
                              <a:spcPts val="0"/>
                            </a:spcBef>
                            <a:spcAft>
                              <a:spcPts val="0"/>
                            </a:spcAft>
                            <a:tabLst>
                              <a:tab pos="1722755" algn="l"/>
                            </a:tabLst>
                          </a:pPr>
                          <a:r>
                            <a:rPr lang="en-US" sz="2000" b="1" dirty="0">
                              <a:effectLst/>
                            </a:rPr>
                            <a:t>Triangle</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rPr>
                            <a:t>Base</a:t>
                          </a:r>
                        </a:p>
                        <a:p>
                          <a:pPr marL="0" marR="0" algn="ctr">
                            <a:spcBef>
                              <a:spcPts val="0"/>
                            </a:spcBef>
                            <a:spcAft>
                              <a:spcPts val="0"/>
                            </a:spcAft>
                            <a:tabLst>
                              <a:tab pos="1722755" algn="l"/>
                            </a:tabLst>
                          </a:pPr>
                          <a:r>
                            <a:rPr lang="en-US" sz="2000" b="1" dirty="0">
                              <a:effectLst/>
                            </a:rPr>
                            <a:t>(cm)</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rPr>
                            <a:t>Height (cm)</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tabLst>
                              <a:tab pos="1722755" algn="l"/>
                            </a:tabLst>
                          </a:pPr>
                          <a:r>
                            <a:rPr lang="en-US" sz="2000" b="1" dirty="0">
                              <a:effectLst/>
                            </a:rPr>
                            <a:t>Area</a:t>
                          </a:r>
                        </a:p>
                        <a:p>
                          <a:pPr marL="0" marR="0" algn="ctr">
                            <a:spcBef>
                              <a:spcPts val="0"/>
                            </a:spcBef>
                            <a:spcAft>
                              <a:spcPts val="0"/>
                            </a:spcAft>
                            <a:tabLst>
                              <a:tab pos="1722755" algn="l"/>
                            </a:tabLst>
                          </a:pPr>
                          <a:r>
                            <a:rPr lang="en-US" sz="2000" b="1" dirty="0">
                              <a:effectLst/>
                            </a:rPr>
                            <a:t>(cm</a:t>
                          </a:r>
                          <a:r>
                            <a:rPr lang="en-US" sz="2000" b="1" baseline="30000" dirty="0">
                              <a:effectLst/>
                            </a:rPr>
                            <a:t>2</a:t>
                          </a:r>
                          <a:r>
                            <a:rPr lang="en-US" sz="2000" b="1" dirty="0">
                              <a:effectLst/>
                            </a:rPr>
                            <a:t>)</a:t>
                          </a:r>
                          <a:endParaRPr lang="en-US" sz="20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22100430"/>
                      </a:ext>
                    </a:extLst>
                  </a:tr>
                  <a:tr h="780482">
                    <a:tc>
                      <a:txBody>
                        <a:bodyPr/>
                        <a:lstStyle/>
                        <a:p>
                          <a:pPr marL="0" marR="0" algn="ctr">
                            <a:spcBef>
                              <a:spcPts val="0"/>
                            </a:spcBef>
                            <a:spcAft>
                              <a:spcPts val="0"/>
                            </a:spcAft>
                            <a:tabLst>
                              <a:tab pos="1722755" algn="l"/>
                            </a:tabLst>
                          </a:pPr>
                          <a:r>
                            <a:rPr lang="en-US" sz="2000" dirty="0">
                              <a:effectLst/>
                            </a:rPr>
                            <a:t>Any Triangle</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5417" t="-133871" r="-303125" b="-354839"/>
                          </a:stretch>
                        </a:blipFill>
                      </a:tcPr>
                    </a:tc>
                    <a:tc>
                      <a:txBody>
                        <a:bodyPr/>
                        <a:lstStyle/>
                        <a:p>
                          <a:endParaRPr lang="en-US"/>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59770" t="-133871" r="-234483" b="-354839"/>
                          </a:stretch>
                        </a:blipFill>
                      </a:tcPr>
                    </a:tc>
                    <a:tc>
                      <a:txBody>
                        <a:bodyPr/>
                        <a:lstStyle/>
                        <a:p>
                          <a:endParaRPr lang="en-US"/>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4187" t="-133871" r="-493" b="-354839"/>
                          </a:stretch>
                        </a:blipFill>
                      </a:tcPr>
                    </a:tc>
                    <a:extLst>
                      <a:ext uri="{0D108BD9-81ED-4DB2-BD59-A6C34878D82A}">
                        <a16:rowId xmlns:a16="http://schemas.microsoft.com/office/drawing/2014/main" val="3486295059"/>
                      </a:ext>
                    </a:extLst>
                  </a:tr>
                  <a:tr h="693230">
                    <a:tc>
                      <a:txBody>
                        <a:bodyPr/>
                        <a:lstStyle/>
                        <a:p>
                          <a:pPr marL="0" marR="0" algn="ctr">
                            <a:spcBef>
                              <a:spcPts val="0"/>
                            </a:spcBef>
                            <a:spcAft>
                              <a:spcPts val="0"/>
                            </a:spcAft>
                            <a:tabLst>
                              <a:tab pos="1722755" algn="l"/>
                            </a:tabLst>
                          </a:pPr>
                          <a:r>
                            <a:rPr lang="en-US" sz="2000">
                              <a:effectLst/>
                            </a:rPr>
                            <a:t>Triangle A</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6672881"/>
                      </a:ext>
                    </a:extLst>
                  </a:tr>
                  <a:tr h="693230">
                    <a:tc>
                      <a:txBody>
                        <a:bodyPr/>
                        <a:lstStyle/>
                        <a:p>
                          <a:pPr marL="0" marR="0" algn="ctr">
                            <a:spcBef>
                              <a:spcPts val="0"/>
                            </a:spcBef>
                            <a:spcAft>
                              <a:spcPts val="0"/>
                            </a:spcAft>
                            <a:tabLst>
                              <a:tab pos="1722755" algn="l"/>
                            </a:tabLst>
                          </a:pPr>
                          <a:r>
                            <a:rPr lang="en-US" sz="2000">
                              <a:effectLst/>
                            </a:rPr>
                            <a:t>Triangle B</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0933006"/>
                      </a:ext>
                    </a:extLst>
                  </a:tr>
                  <a:tr h="693230">
                    <a:tc>
                      <a:txBody>
                        <a:bodyPr/>
                        <a:lstStyle/>
                        <a:p>
                          <a:pPr marL="0" marR="0" algn="ctr">
                            <a:spcBef>
                              <a:spcPts val="0"/>
                            </a:spcBef>
                            <a:spcAft>
                              <a:spcPts val="0"/>
                            </a:spcAft>
                            <a:tabLst>
                              <a:tab pos="1722755" algn="l"/>
                            </a:tabLst>
                          </a:pPr>
                          <a:r>
                            <a:rPr lang="en-US" sz="2000">
                              <a:effectLst/>
                            </a:rPr>
                            <a:t>Triangle C</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5555349"/>
                      </a:ext>
                    </a:extLst>
                  </a:tr>
                  <a:tr h="693230">
                    <a:tc>
                      <a:txBody>
                        <a:bodyPr/>
                        <a:lstStyle/>
                        <a:p>
                          <a:pPr marL="0" marR="0" algn="ctr">
                            <a:spcBef>
                              <a:spcPts val="0"/>
                            </a:spcBef>
                            <a:spcAft>
                              <a:spcPts val="0"/>
                            </a:spcAft>
                            <a:tabLst>
                              <a:tab pos="1722755" algn="l"/>
                            </a:tabLst>
                          </a:pPr>
                          <a:r>
                            <a:rPr lang="en-US" sz="2000">
                              <a:effectLst/>
                            </a:rPr>
                            <a:t>Triangle D</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tabLst>
                              <a:tab pos="1722755" algn="l"/>
                            </a:tabLs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32608" marR="326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227795"/>
                      </a:ext>
                    </a:extLst>
                  </a:tr>
                </a:tbl>
              </a:graphicData>
            </a:graphic>
          </p:graphicFrame>
        </mc:Fallback>
      </mc:AlternateContent>
    </p:spTree>
    <p:extLst>
      <p:ext uri="{BB962C8B-B14F-4D97-AF65-F5344CB8AC3E}">
        <p14:creationId xmlns:p14="http://schemas.microsoft.com/office/powerpoint/2010/main" val="3949521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83</a:t>
            </a: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136392"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37211"/>
            <a:ext cx="1069238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8.2.3 Guided Practice: Find the Area of a Triangle</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83</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31D40250-DEDD-2C41-8538-3D4DD18CCC4A}"/>
                  </a:ext>
                </a:extLst>
              </p:cNvPr>
              <p:cNvSpPr txBox="1"/>
              <p:nvPr/>
            </p:nvSpPr>
            <p:spPr>
              <a:xfrm>
                <a:off x="905256" y="1386025"/>
                <a:ext cx="10494264" cy="92333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drawings correctly label base, </a:t>
                </a:r>
                <a14:m>
                  <m:oMath xmlns:m="http://schemas.openxmlformats.org/officeDocument/2006/math">
                    <m:r>
                      <a:rPr lang="en-US" sz="2000" i="1">
                        <a:latin typeface="Cambria Math" panose="02040503050406030204" pitchFamily="18" charset="0"/>
                        <a:ea typeface="Cambria Math" panose="02040503050406030204" pitchFamily="18" charset="0"/>
                      </a:rPr>
                      <m:t>𝑏</m:t>
                    </m:r>
                  </m:oMath>
                </a14:m>
                <a:r>
                  <a:rPr lang="en-US" sz="2000" dirty="0">
                    <a:latin typeface="Verdana" panose="020B0604030504040204" pitchFamily="34" charset="0"/>
                    <a:ea typeface="Verdana" panose="020B0604030504040204" pitchFamily="34" charset="0"/>
                    <a:cs typeface="Verdana" panose="020B0604030504040204" pitchFamily="34" charset="0"/>
                  </a:rPr>
                  <a:t>, and its corresponding height, </a:t>
                </a:r>
                <a14:m>
                  <m:oMath xmlns:m="http://schemas.openxmlformats.org/officeDocument/2006/math">
                    <m:r>
                      <a:rPr lang="en-US" sz="2000" i="1">
                        <a:latin typeface="Cambria Math" panose="02040503050406030204" pitchFamily="18" charset="0"/>
                        <a:ea typeface="Cambria Math" panose="02040503050406030204" pitchFamily="18"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 Circle all the correct drawings.</a:t>
                </a:r>
              </a:p>
              <a:p>
                <a:r>
                  <a:rPr lang="en-US" dirty="0"/>
                  <a:t> </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905256" y="1386025"/>
                <a:ext cx="10494264" cy="923330"/>
              </a:xfrm>
              <a:prstGeom prst="rect">
                <a:avLst/>
              </a:prstGeom>
              <a:blipFill>
                <a:blip r:embed="rId5"/>
                <a:stretch>
                  <a:fillRect l="-605" t="-2703"/>
                </a:stretch>
              </a:blipFill>
            </p:spPr>
            <p:txBody>
              <a:bodyPr/>
              <a:lstStyle/>
              <a:p>
                <a:r>
                  <a:rPr lang="en-US">
                    <a:noFill/>
                  </a:rPr>
                  <a:t> </a:t>
                </a:r>
              </a:p>
            </p:txBody>
          </p:sp>
        </mc:Fallback>
      </mc:AlternateContent>
      <p:pic>
        <p:nvPicPr>
          <p:cNvPr id="9" name="Picture 8" descr="Shape&#10;&#10;Description automatically generated">
            <a:extLst>
              <a:ext uri="{FF2B5EF4-FFF2-40B4-BE49-F238E27FC236}">
                <a16:creationId xmlns:a16="http://schemas.microsoft.com/office/drawing/2014/main" xmlns="" id="{B5277128-B41D-D243-B2BF-2B8F6C4AC87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615645" y="2714667"/>
            <a:ext cx="6261825" cy="4112054"/>
          </a:xfrm>
          <a:prstGeom prst="rect">
            <a:avLst/>
          </a:prstGeom>
        </p:spPr>
      </p:pic>
    </p:spTree>
    <p:extLst>
      <p:ext uri="{BB962C8B-B14F-4D97-AF65-F5344CB8AC3E}">
        <p14:creationId xmlns:p14="http://schemas.microsoft.com/office/powerpoint/2010/main" val="74552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84</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4"/>
            <a:ext cx="10473944"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For each triangle below, circle the base measurement and put a square around the height measurement. Then, use the base and height to find the area of each triangle. Show your work. Include units.</a:t>
            </a:r>
          </a:p>
        </p:txBody>
      </p:sp>
      <p:pic>
        <p:nvPicPr>
          <p:cNvPr id="23" name="Picture 22" descr="Diagram, shape, polygon&#10;&#10;Description automatically generated">
            <a:extLst>
              <a:ext uri="{FF2B5EF4-FFF2-40B4-BE49-F238E27FC236}">
                <a16:creationId xmlns:a16="http://schemas.microsoft.com/office/drawing/2014/main" xmlns="" id="{E15B4A8C-997E-3F48-AF7E-5F21961C0B2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670" r="210"/>
          <a:stretch/>
        </p:blipFill>
        <p:spPr>
          <a:xfrm>
            <a:off x="3728930" y="1536057"/>
            <a:ext cx="3533707" cy="5014043"/>
          </a:xfrm>
          <a:prstGeom prst="rect">
            <a:avLst/>
          </a:prstGeom>
        </p:spPr>
      </p:pic>
    </p:spTree>
    <p:extLst>
      <p:ext uri="{BB962C8B-B14F-4D97-AF65-F5344CB8AC3E}">
        <p14:creationId xmlns:p14="http://schemas.microsoft.com/office/powerpoint/2010/main" val="2059042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3054096" y="2897923"/>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EE3C8BB3-D8AE-154C-9B2D-B1D7451436F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84</a:t>
            </a:r>
          </a:p>
        </p:txBody>
      </p:sp>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43000"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8.2.4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xmlns="" id="{F9486181-07A1-C74B-A129-E8949F43C159}"/>
              </a:ext>
            </a:extLst>
          </p:cNvPr>
          <p:cNvSpPr txBox="1"/>
          <p:nvPr/>
        </p:nvSpPr>
        <p:spPr>
          <a:xfrm>
            <a:off x="8897112" y="6463250"/>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84</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905256" y="1386025"/>
                <a:ext cx="10524744"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triangle, a base and its corresponding height are labeled. Complete the table by finding the area of each triangle. The side length of each square on the grid is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inch (in.).</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905256" y="1386025"/>
                <a:ext cx="10524744" cy="1323439"/>
              </a:xfrm>
              <a:prstGeom prst="rect">
                <a:avLst/>
              </a:prstGeom>
              <a:blipFill>
                <a:blip r:embed="rId5"/>
                <a:stretch>
                  <a:fillRect l="-602" t="-1887" r="-723"/>
                </a:stretch>
              </a:blipFill>
            </p:spPr>
            <p:txBody>
              <a:bodyPr/>
              <a:lstStyle/>
              <a:p>
                <a:r>
                  <a:rPr lang="en-US">
                    <a:noFill/>
                  </a:rPr>
                  <a:t> </a:t>
                </a:r>
              </a:p>
            </p:txBody>
          </p:sp>
        </mc:Fallback>
      </mc:AlternateContent>
      <p:pic>
        <p:nvPicPr>
          <p:cNvPr id="8" name="Picture 7" descr="A picture containing text, shoji&#10;&#10;Description automatically generated">
            <a:extLst>
              <a:ext uri="{FF2B5EF4-FFF2-40B4-BE49-F238E27FC236}">
                <a16:creationId xmlns:a16="http://schemas.microsoft.com/office/drawing/2014/main" xmlns="" id="{3F58853C-55A8-C749-996C-75E2BD42072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146200" y="2809660"/>
            <a:ext cx="5816056" cy="2062201"/>
          </a:xfrm>
          <a:prstGeom prst="rect">
            <a:avLst/>
          </a:prstGeom>
        </p:spPr>
      </p:pic>
      <p:graphicFrame>
        <p:nvGraphicFramePr>
          <p:cNvPr id="2" name="Table 1">
            <a:extLst>
              <a:ext uri="{FF2B5EF4-FFF2-40B4-BE49-F238E27FC236}">
                <a16:creationId xmlns:a16="http://schemas.microsoft.com/office/drawing/2014/main" xmlns="" id="{F516494A-88D3-064B-803B-5C32B76BA2FF}"/>
              </a:ext>
            </a:extLst>
          </p:cNvPr>
          <p:cNvGraphicFramePr>
            <a:graphicFrameLocks noGrp="1"/>
          </p:cNvGraphicFramePr>
          <p:nvPr>
            <p:extLst>
              <p:ext uri="{D42A27DB-BD31-4B8C-83A1-F6EECF244321}">
                <p14:modId xmlns:p14="http://schemas.microsoft.com/office/powerpoint/2010/main" val="4176103656"/>
              </p:ext>
            </p:extLst>
          </p:nvPr>
        </p:nvGraphicFramePr>
        <p:xfrm>
          <a:off x="3283771" y="4947760"/>
          <a:ext cx="3540915" cy="1715590"/>
        </p:xfrm>
        <a:graphic>
          <a:graphicData uri="http://schemas.openxmlformats.org/drawingml/2006/table">
            <a:tbl>
              <a:tblPr firstRow="1" firstCol="1" bandRow="1">
                <a:tableStyleId>{A91F0D33-8C57-4600-99A7-42BC86742BE1}</a:tableStyleId>
              </a:tblPr>
              <a:tblGrid>
                <a:gridCol w="1321329">
                  <a:extLst>
                    <a:ext uri="{9D8B030D-6E8A-4147-A177-3AD203B41FA5}">
                      <a16:colId xmlns:a16="http://schemas.microsoft.com/office/drawing/2014/main" xmlns="" val="2437605542"/>
                    </a:ext>
                  </a:extLst>
                </a:gridCol>
                <a:gridCol w="2219586">
                  <a:extLst>
                    <a:ext uri="{9D8B030D-6E8A-4147-A177-3AD203B41FA5}">
                      <a16:colId xmlns:a16="http://schemas.microsoft.com/office/drawing/2014/main" xmlns="" val="365496280"/>
                    </a:ext>
                  </a:extLst>
                </a:gridCol>
              </a:tblGrid>
              <a:tr h="52635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(in</a:t>
                      </a:r>
                      <a:r>
                        <a:rPr lang="en-US" sz="2000" b="1" baseline="30000" dirty="0">
                          <a:effectLst/>
                          <a:latin typeface="Verdana" panose="020B0604030504040204" pitchFamily="34" charset="0"/>
                          <a:ea typeface="Verdana" panose="020B0604030504040204" pitchFamily="34"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637700225"/>
                  </a:ext>
                </a:extLst>
              </a:tr>
              <a:tr h="39476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26833168"/>
                  </a:ext>
                </a:extLst>
              </a:tr>
              <a:tr h="399702">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59987747"/>
                  </a:ext>
                </a:extLst>
              </a:tr>
              <a:tr h="394766">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24397555"/>
                  </a:ext>
                </a:extLst>
              </a:tr>
            </a:tbl>
          </a:graphicData>
        </a:graphic>
      </p:graphicFrame>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85</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05256" y="520394"/>
            <a:ext cx="10158984" cy="563231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Find the area of each triangle. Include units.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5200650" indent="-5192713"/>
            <a:r>
              <a:rPr lang="en-US" sz="2000" dirty="0">
                <a:latin typeface="Verdana" panose="020B0604030504040204" pitchFamily="34" charset="0"/>
                <a:ea typeface="Verdana" panose="020B0604030504040204" pitchFamily="34" charset="0"/>
                <a:cs typeface="Verdana" panose="020B0604030504040204" pitchFamily="34" charset="0"/>
              </a:rPr>
              <a:t>                                                      Area = ___________</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r>
              <a:rPr lang="en-US" sz="2000" dirty="0">
                <a:latin typeface="Verdana" panose="020B0604030504040204" pitchFamily="34" charset="0"/>
                <a:ea typeface="Verdana" panose="020B0604030504040204" pitchFamily="34" charset="0"/>
                <a:cs typeface="Verdana" panose="020B0604030504040204" pitchFamily="34" charset="0"/>
              </a:rPr>
              <a:t>                                                      Area = ___________ </a:t>
            </a:r>
          </a:p>
        </p:txBody>
      </p:sp>
      <p:pic>
        <p:nvPicPr>
          <p:cNvPr id="5" name="Picture 4" descr="Diagram&#10;&#10;Description automatically generated">
            <a:extLst>
              <a:ext uri="{FF2B5EF4-FFF2-40B4-BE49-F238E27FC236}">
                <a16:creationId xmlns:a16="http://schemas.microsoft.com/office/drawing/2014/main" xmlns="" id="{44E0BC58-C9A4-1B41-A138-678C56642AEC}"/>
              </a:ext>
            </a:extLst>
          </p:cNvPr>
          <p:cNvPicPr>
            <a:picLocks noChangeAspect="1"/>
          </p:cNvPicPr>
          <p:nvPr/>
        </p:nvPicPr>
        <p:blipFill>
          <a:blip r:embed="rId4"/>
          <a:stretch>
            <a:fillRect/>
          </a:stretch>
        </p:blipFill>
        <p:spPr>
          <a:xfrm>
            <a:off x="2447110" y="1104640"/>
            <a:ext cx="3811469" cy="2195908"/>
          </a:xfrm>
          <a:prstGeom prst="rect">
            <a:avLst/>
          </a:prstGeom>
        </p:spPr>
      </p:pic>
      <p:pic>
        <p:nvPicPr>
          <p:cNvPr id="8" name="Picture 7" descr="Chart, diagram&#10;&#10;Description automatically generated">
            <a:extLst>
              <a:ext uri="{FF2B5EF4-FFF2-40B4-BE49-F238E27FC236}">
                <a16:creationId xmlns:a16="http://schemas.microsoft.com/office/drawing/2014/main" xmlns="" id="{C0407D66-801C-A147-9F78-99014B01B045}"/>
              </a:ext>
            </a:extLst>
          </p:cNvPr>
          <p:cNvPicPr>
            <a:picLocks noChangeAspect="1"/>
          </p:cNvPicPr>
          <p:nvPr/>
        </p:nvPicPr>
        <p:blipFill rotWithShape="1">
          <a:blip r:embed="rId5"/>
          <a:srcRect l="1558"/>
          <a:stretch/>
        </p:blipFill>
        <p:spPr>
          <a:xfrm>
            <a:off x="2713357" y="4113265"/>
            <a:ext cx="3578436" cy="2347661"/>
          </a:xfrm>
          <a:prstGeom prst="rect">
            <a:avLst/>
          </a:prstGeom>
        </p:spPr>
      </p:pic>
    </p:spTree>
    <p:extLst>
      <p:ext uri="{BB962C8B-B14F-4D97-AF65-F5344CB8AC3E}">
        <p14:creationId xmlns:p14="http://schemas.microsoft.com/office/powerpoint/2010/main" val="658435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85</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85</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43000" y="-82571"/>
            <a:ext cx="98094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8.2.5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0370EDB7-6994-3D43-ABF9-E04CBAFB9CD9}"/>
                  </a:ext>
                </a:extLst>
              </p:cNvPr>
              <p:cNvSpPr txBox="1"/>
              <p:nvPr/>
            </p:nvSpPr>
            <p:spPr>
              <a:xfrm>
                <a:off x="905256" y="1386025"/>
                <a:ext cx="10524744" cy="47089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diagram of a triangle is shown on a grid. The side length of each square on the grid represents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foot (ft).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a base and its corresponding height for the triangle.</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area of the triangle. Include units.</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905256" y="1386025"/>
                <a:ext cx="10524744" cy="4708981"/>
              </a:xfrm>
              <a:prstGeom prst="rect">
                <a:avLst/>
              </a:prstGeom>
              <a:blipFill>
                <a:blip r:embed="rId5"/>
                <a:stretch>
                  <a:fillRect l="-602" t="-536" r="-132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xmlns="" id="{381B6B1A-8BA5-8946-8DF9-F1BF7A7E0575}"/>
              </a:ext>
            </a:extLst>
          </p:cNvPr>
          <p:cNvPicPr>
            <a:picLocks noChangeAspect="1"/>
          </p:cNvPicPr>
          <p:nvPr/>
        </p:nvPicPr>
        <p:blipFill>
          <a:blip r:embed="rId6"/>
          <a:stretch>
            <a:fillRect/>
          </a:stretch>
        </p:blipFill>
        <p:spPr>
          <a:xfrm>
            <a:off x="2311037" y="2285826"/>
            <a:ext cx="3645626" cy="1814527"/>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1299</TotalTime>
  <Words>798</Words>
  <Application>Microsoft Office PowerPoint</Application>
  <PresentationFormat>Custom</PresentationFormat>
  <Paragraphs>225</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Century Gothic</vt:lpstr>
      <vt:lpstr>Cambria Math</vt:lpstr>
      <vt:lpstr>Cambria</vt:lpstr>
      <vt:lpstr>Arial Black</vt:lpstr>
      <vt:lpstr>Verdana</vt:lpstr>
      <vt:lpstr>Calibri</vt:lpstr>
      <vt:lpstr>Courier New</vt:lpstr>
      <vt:lpstr>Times New Roman</vt:lpstr>
      <vt:lpstr>1_Office Theme</vt:lpstr>
      <vt:lpstr>6th Grade Math  Unit 8, Lesson 2  Area of Triangles – Part 2  Volume 2, pg. 80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21</cp:revision>
  <dcterms:created xsi:type="dcterms:W3CDTF">2015-03-17T18:51:18Z</dcterms:created>
  <dcterms:modified xsi:type="dcterms:W3CDTF">2022-06-05T08:35:32Z</dcterms:modified>
</cp:coreProperties>
</file>