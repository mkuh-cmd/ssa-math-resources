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52" r:id="rId10"/>
    <p:sldId id="289" r:id="rId11"/>
    <p:sldId id="290" r:id="rId12"/>
    <p:sldId id="356" r:id="rId13"/>
    <p:sldId id="362" r:id="rId14"/>
    <p:sldId id="363" r:id="rId15"/>
    <p:sldId id="323" r:id="rId16"/>
    <p:sldId id="324" r:id="rId17"/>
    <p:sldId id="357" r:id="rId18"/>
    <p:sldId id="364" r:id="rId19"/>
    <p:sldId id="302" r:id="rId20"/>
    <p:sldId id="303" r:id="rId21"/>
    <p:sldId id="360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A040201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B0DD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496"/>
    <p:restoredTop sz="94694"/>
  </p:normalViewPr>
  <p:slideViewPr>
    <p:cSldViewPr snapToGrid="0">
      <p:cViewPr varScale="1">
        <p:scale>
          <a:sx n="75" d="100"/>
          <a:sy n="75" d="100"/>
        </p:scale>
        <p:origin x="110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446555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6107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5173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0015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34184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69433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4259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79314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0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5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Finding the Missing Dimension of a Composite Figure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97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05255" y="1609531"/>
            <a:ext cx="1064374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MA.6.GR.2.2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S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olve mathematical and real-world problems involving the area of quadrilaterals and composite figures by decomposing them into triangles or rectangles.</a:t>
            </a: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873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05255" y="1596390"/>
            <a:ext cx="1051873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-9144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05255" y="1600200"/>
            <a:ext cx="1054353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8975" indent="-682625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I 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can find the value of a missing dimension for a quadrilateral or a composite figure. 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-9144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8.5.1 Warm-Up: Closest to Six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905255" y="1386026"/>
                <a:ext cx="104809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digits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at most one time each, to fill in ordered pairs for all three points, such that the area of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closest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units.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1386026"/>
                <a:ext cx="10480903" cy="707886"/>
              </a:xfrm>
              <a:prstGeom prst="rect">
                <a:avLst/>
              </a:prstGeom>
              <a:blipFill>
                <a:blip r:embed="rId5"/>
                <a:stretch>
                  <a:fillRect l="-605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picture containing table&#10;&#10;Description automatically generated">
            <a:extLst>
              <a:ext uri="{FF2B5EF4-FFF2-40B4-BE49-F238E27FC236}">
                <a16:creationId xmlns:a16="http://schemas.microsoft.com/office/drawing/2014/main" id="{E5DA0DC4-ED63-3141-9C25-165148EB7A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8681" y="2496383"/>
            <a:ext cx="4814127" cy="3633041"/>
          </a:xfrm>
          <a:prstGeom prst="rect">
            <a:avLst/>
          </a:prstGeom>
        </p:spPr>
      </p:pic>
      <p:pic>
        <p:nvPicPr>
          <p:cNvPr id="18" name="Picture 17" descr="Shape, square&#10;&#10;Description automatically generated">
            <a:extLst>
              <a:ext uri="{FF2B5EF4-FFF2-40B4-BE49-F238E27FC236}">
                <a16:creationId xmlns:a16="http://schemas.microsoft.com/office/drawing/2014/main" id="{8DCC4642-8A14-1049-AC5B-C112B0F442B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4437" y="2496382"/>
            <a:ext cx="3512390" cy="397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98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2999" y="60325"/>
            <a:ext cx="104811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8.5.2 Collaboration: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Finding a Missing Value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98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905256" y="1386025"/>
            <a:ext cx="1048115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filling in the blanks for the following math facts.</a:t>
            </a:r>
          </a:p>
          <a:p>
            <a:r>
              <a:rPr lang="en-US" dirty="0"/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6B42BDA-C400-1642-A0EC-EC0B1FB03A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9653487"/>
                  </p:ext>
                </p:extLst>
              </p:nvPr>
            </p:nvGraphicFramePr>
            <p:xfrm>
              <a:off x="1493870" y="2001578"/>
              <a:ext cx="6571302" cy="422130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85651">
                      <a:extLst>
                        <a:ext uri="{9D8B030D-6E8A-4147-A177-3AD203B41FA5}">
                          <a16:colId xmlns:a16="http://schemas.microsoft.com/office/drawing/2014/main" val="1868208405"/>
                        </a:ext>
                      </a:extLst>
                    </a:gridCol>
                    <a:gridCol w="3285651">
                      <a:extLst>
                        <a:ext uri="{9D8B030D-6E8A-4147-A177-3AD203B41FA5}">
                          <a16:colId xmlns:a16="http://schemas.microsoft.com/office/drawing/2014/main" val="820981502"/>
                        </a:ext>
                      </a:extLst>
                    </a:gridCol>
                  </a:tblGrid>
                  <a:tr h="58989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If…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Then…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2367914"/>
                      </a:ext>
                    </a:extLst>
                  </a:tr>
                  <a:tr h="12104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40 ÷ 8 = ______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  ×   </m:t>
                                </m:r>
                                <m:r>
                                  <m:rPr>
                                    <m:nor/>
                                  </m:rP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Verdana" panose="020B0604030504040204" pitchFamily="34" charset="0"/>
                                  </a:rPr>
                                  <m:t>______ 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40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83276451"/>
                      </a:ext>
                    </a:extLst>
                  </a:tr>
                  <a:tr h="12104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27 ÷ 3 ÷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______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Verdana" panose="020B0604030504040204" pitchFamily="34" charset="0"/>
                                  </a:rPr>
                                  <m:t>  ×  ______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 3 = 27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40514184"/>
                      </a:ext>
                    </a:extLst>
                  </a:tr>
                  <a:tr h="12104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 ÷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_______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Verdana" panose="020B0604030504040204" pitchFamily="34" charset="0"/>
                                  </a:rPr>
                                  <m:t>______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254793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6B42BDA-C400-1642-A0EC-EC0B1FB03A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9653487"/>
                  </p:ext>
                </p:extLst>
              </p:nvPr>
            </p:nvGraphicFramePr>
            <p:xfrm>
              <a:off x="1493870" y="2001578"/>
              <a:ext cx="6571302" cy="422130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8565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868208405"/>
                        </a:ext>
                      </a:extLst>
                    </a:gridCol>
                    <a:gridCol w="328565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820981502"/>
                        </a:ext>
                      </a:extLst>
                    </a:gridCol>
                  </a:tblGrid>
                  <a:tr h="58989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If…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Then…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092367914"/>
                      </a:ext>
                    </a:extLst>
                  </a:tr>
                  <a:tr h="121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48744" r="-100186" b="-1994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48744" r="-186" b="-1994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83276451"/>
                      </a:ext>
                    </a:extLst>
                  </a:tr>
                  <a:tr h="121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49495" r="-100186" b="-1005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149495" r="-186" b="-1005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440514184"/>
                      </a:ext>
                    </a:extLst>
                  </a:tr>
                  <a:tr h="121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48241" r="-1001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248241" r="-1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8254793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05255" y="520394"/>
            <a:ext cx="10543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use the previous math facts to find the missing dimensions of the quadrilaterals. All measurements are in centimeters (cm).</a:t>
            </a:r>
          </a:p>
        </p:txBody>
      </p:sp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7A652053-41CC-6C41-8866-61CBFB70E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613" y="1485784"/>
            <a:ext cx="7753888" cy="423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819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4952" y="2852928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2999" y="-85979"/>
            <a:ext cx="1050620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8.5.3 Guided Instruction: </a:t>
            </a:r>
            <a:b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Finding a Missing Dimension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905256" y="1386025"/>
            <a:ext cx="10506204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find the area of a composite figure, find the sum of the decomposed parts of the figure.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figure shown is composed of two rectangles.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/>
          </a:p>
          <a:p>
            <a:r>
              <a:rPr lang="en-US" dirty="0"/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3F3542-FD2D-A6FE-372A-1980DFC45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5260" y="3340406"/>
            <a:ext cx="4597777" cy="267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3"/>
                <a:ext cx="10531007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the rectangle on the left A, and the rectangle on the right B.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area of the figure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26 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square inches (in</a:t>
                </a:r>
                <a:r>
                  <a:rPr lang="en-US" sz="2000" baseline="30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area of the composite figure is the           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the area of Rectangle A and the area of Rectangle B.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Therefore, the area of the composite figure                  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area of Rectangle A is equal to the area of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Rectangle B.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3"/>
                <a:ext cx="10531007" cy="5632311"/>
              </a:xfrm>
              <a:prstGeom prst="rect">
                <a:avLst/>
              </a:prstGeom>
              <a:blipFill>
                <a:blip r:embed="rId4"/>
                <a:stretch>
                  <a:fillRect l="-602" t="-449" b="-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47">
            <a:extLst>
              <a:ext uri="{FF2B5EF4-FFF2-40B4-BE49-F238E27FC236}">
                <a16:creationId xmlns:a16="http://schemas.microsoft.com/office/drawing/2014/main" id="{CB69C21C-12B2-6E42-98D5-169997921933}"/>
              </a:ext>
            </a:extLst>
          </p:cNvPr>
          <p:cNvSpPr/>
          <p:nvPr/>
        </p:nvSpPr>
        <p:spPr>
          <a:xfrm>
            <a:off x="6696140" y="3060700"/>
            <a:ext cx="1911758" cy="73660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</a:t>
            </a: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difference</a:t>
            </a:r>
          </a:p>
        </p:txBody>
      </p:sp>
      <p:sp>
        <p:nvSpPr>
          <p:cNvPr id="7" name="Rectangle: Rounded Corners 45">
            <a:extLst>
              <a:ext uri="{FF2B5EF4-FFF2-40B4-BE49-F238E27FC236}">
                <a16:creationId xmlns:a16="http://schemas.microsoft.com/office/drawing/2014/main" id="{FFBE5AF3-085C-244B-85AB-C27511E48FA6}"/>
              </a:ext>
            </a:extLst>
          </p:cNvPr>
          <p:cNvSpPr/>
          <p:nvPr/>
        </p:nvSpPr>
        <p:spPr>
          <a:xfrm>
            <a:off x="7131243" y="4335284"/>
            <a:ext cx="1374135" cy="731532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plus</a:t>
            </a: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minus</a:t>
            </a:r>
          </a:p>
        </p:txBody>
      </p:sp>
    </p:spTree>
    <p:extLst>
      <p:ext uri="{BB962C8B-B14F-4D97-AF65-F5344CB8AC3E}">
        <p14:creationId xmlns:p14="http://schemas.microsoft.com/office/powerpoint/2010/main" val="1640120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3"/>
                <a:ext cx="10493429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area of the composite figure is ________ in</a:t>
                </a:r>
                <a:r>
                  <a:rPr lang="en-US" sz="2000" baseline="30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area of Rectangle A is _______ in</a:t>
                </a:r>
                <a:r>
                  <a:rPr lang="en-US" sz="2000" baseline="30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area of Rectangle B.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3"/>
                <a:ext cx="10493429" cy="4093428"/>
              </a:xfrm>
              <a:prstGeom prst="rect">
                <a:avLst/>
              </a:prstGeom>
              <a:blipFill>
                <a:blip r:embed="rId4"/>
                <a:stretch>
                  <a:fillRect l="-605" t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045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4"/>
                <a:ext cx="10330591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The missing dimension of Rectangle B can be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determined by                          the                  of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Rectangle B by the given dimension.                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missing dimension,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of Rectangle B?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4"/>
                <a:ext cx="10330591" cy="4708981"/>
              </a:xfrm>
              <a:prstGeom prst="rect">
                <a:avLst/>
              </a:prstGeom>
              <a:blipFill>
                <a:blip r:embed="rId4"/>
                <a:stretch>
                  <a:fillRect l="-614" t="-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41">
            <a:extLst>
              <a:ext uri="{FF2B5EF4-FFF2-40B4-BE49-F238E27FC236}">
                <a16:creationId xmlns:a16="http://schemas.microsoft.com/office/drawing/2014/main" id="{B68461FC-183E-414F-A53C-558686987BBD}"/>
              </a:ext>
            </a:extLst>
          </p:cNvPr>
          <p:cNvSpPr/>
          <p:nvPr/>
        </p:nvSpPr>
        <p:spPr>
          <a:xfrm>
            <a:off x="3894275" y="1625400"/>
            <a:ext cx="2027555" cy="701296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multiplying</a:t>
            </a: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dividing</a:t>
            </a:r>
          </a:p>
        </p:txBody>
      </p:sp>
      <p:sp>
        <p:nvSpPr>
          <p:cNvPr id="7" name="Rectangle: Rounded Corners 40">
            <a:extLst>
              <a:ext uri="{FF2B5EF4-FFF2-40B4-BE49-F238E27FC236}">
                <a16:creationId xmlns:a16="http://schemas.microsoft.com/office/drawing/2014/main" id="{7DFA35E6-2D3D-F74F-9DCB-6B84B4D28160}"/>
              </a:ext>
            </a:extLst>
          </p:cNvPr>
          <p:cNvSpPr/>
          <p:nvPr/>
        </p:nvSpPr>
        <p:spPr>
          <a:xfrm>
            <a:off x="6583680" y="1625400"/>
            <a:ext cx="1418727" cy="701296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area</a:t>
            </a: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3180715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100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66145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2999" y="-37211"/>
            <a:ext cx="1050620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8.5.4 Guided Practice: Finding the Value of the Missing Dimension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100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905256" y="1386026"/>
                <a:ext cx="1050620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Xavier is painting the back wall of a dollhouse. He knows the back wall of the dollhouse has an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6.875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feet (ft</a:t>
                </a:r>
                <a:r>
                  <a:rPr lang="en-US" sz="2000" baseline="30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386026"/>
                <a:ext cx="10506204" cy="707886"/>
              </a:xfrm>
              <a:prstGeom prst="rect">
                <a:avLst/>
              </a:prstGeom>
              <a:blipFill>
                <a:blip r:embed="rId5"/>
                <a:stretch>
                  <a:fillRect l="-604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4AE0011B-58D6-B94C-B163-66210F8937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046" y="2235637"/>
            <a:ext cx="3805909" cy="444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4"/>
                <a:ext cx="10493429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area of the triangular top? Include units.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area of the rectangular base? Include units.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height,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of the rectangular base? Include units.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4"/>
                <a:ext cx="10493429" cy="4093428"/>
              </a:xfrm>
              <a:prstGeom prst="rect">
                <a:avLst/>
              </a:prstGeom>
              <a:blipFill>
                <a:blip r:embed="rId4"/>
                <a:stretch>
                  <a:fillRect t="-617" b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100</a:t>
            </a:r>
          </a:p>
        </p:txBody>
      </p:sp>
    </p:spTree>
    <p:extLst>
      <p:ext uri="{BB962C8B-B14F-4D97-AF65-F5344CB8AC3E}">
        <p14:creationId xmlns:p14="http://schemas.microsoft.com/office/powerpoint/2010/main" val="2059042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05255" y="520393"/>
            <a:ext cx="105184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area of the composite figure is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84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square inches (in</a:t>
            </a:r>
            <a:r>
              <a:rPr lang="en-US" sz="2000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). Find the missing dimension. Include units.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CB69E0D2-4D24-524B-8623-8B9AEFFC6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977" y="1314992"/>
            <a:ext cx="5824730" cy="521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77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101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8.5.5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97112" y="646480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905255" y="1386026"/>
                <a:ext cx="1050595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Julio is building a new patio at his house. He needs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feet (ft</a:t>
                </a:r>
                <a:r>
                  <a:rPr lang="en-US" sz="2000" baseline="30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 of material to cover the area of his design, as shown. Find the missing dimension. Include units.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1386026"/>
                <a:ext cx="10505955" cy="1015663"/>
              </a:xfrm>
              <a:prstGeom prst="rect">
                <a:avLst/>
              </a:prstGeom>
              <a:blipFill>
                <a:blip r:embed="rId5"/>
                <a:stretch>
                  <a:fillRect l="-604" t="-2439"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B60A2A4F-019C-1D4E-908B-6F60D3D78E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8885" y="2486548"/>
            <a:ext cx="6280268" cy="410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3"/>
                <a:ext cx="1054353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area of the composite figure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87.5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yards (yd</a:t>
                </a:r>
                <a:r>
                  <a:rPr lang="en-US" sz="2000" baseline="30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). Find the value of the missing dimension. Include units.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3"/>
                <a:ext cx="10543533" cy="707886"/>
              </a:xfrm>
              <a:prstGeom prst="rect">
                <a:avLst/>
              </a:prstGeom>
              <a:blipFill>
                <a:blip r:embed="rId4"/>
                <a:stretch>
                  <a:fillRect l="-602" t="-3509" r="-722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111">
            <a:extLst>
              <a:ext uri="{FF2B5EF4-FFF2-40B4-BE49-F238E27FC236}">
                <a16:creationId xmlns:a16="http://schemas.microsoft.com/office/drawing/2014/main" id="{7B8342FE-72D6-8049-BCFA-A5D459CD7741}"/>
              </a:ext>
            </a:extLst>
          </p:cNvPr>
          <p:cNvSpPr txBox="1"/>
          <p:nvPr/>
        </p:nvSpPr>
        <p:spPr>
          <a:xfrm>
            <a:off x="6772844" y="5839275"/>
            <a:ext cx="2653116" cy="498332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drawn to scale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hart, histogram&#10;&#10;Description automatically generated">
            <a:extLst>
              <a:ext uri="{FF2B5EF4-FFF2-40B4-BE49-F238E27FC236}">
                <a16:creationId xmlns:a16="http://schemas.microsoft.com/office/drawing/2014/main" id="{3D634718-F875-9941-9A59-B2924D0F804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68"/>
          <a:stretch/>
        </p:blipFill>
        <p:spPr>
          <a:xfrm>
            <a:off x="2517439" y="1348348"/>
            <a:ext cx="4545746" cy="457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35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102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102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8229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8.5.6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905256" y="1386026"/>
            <a:ext cx="107690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 based about today’s lesson.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am still unsure about …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question I still have about today’s lesson is …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 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 </a:t>
            </a:r>
          </a:p>
        </p:txBody>
      </p:sp>
      <p:pic>
        <p:nvPicPr>
          <p:cNvPr id="3" name="Picture 2" descr="Rectangle&#10;&#10;Description automatically generated">
            <a:extLst>
              <a:ext uri="{FF2B5EF4-FFF2-40B4-BE49-F238E27FC236}">
                <a16:creationId xmlns:a16="http://schemas.microsoft.com/office/drawing/2014/main" id="{87B05840-F5C0-A64B-8D4E-734C97EA3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238" y="2546767"/>
            <a:ext cx="6794859" cy="1536108"/>
          </a:xfrm>
          <a:prstGeom prst="rect">
            <a:avLst/>
          </a:prstGeom>
        </p:spPr>
      </p:pic>
      <p:pic>
        <p:nvPicPr>
          <p:cNvPr id="10" name="Picture 9" descr="Rectangle&#10;&#10;Description automatically generated">
            <a:extLst>
              <a:ext uri="{FF2B5EF4-FFF2-40B4-BE49-F238E27FC236}">
                <a16:creationId xmlns:a16="http://schemas.microsoft.com/office/drawing/2014/main" id="{87B05840-F5C0-A64B-8D4E-734C97EA3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238" y="5079463"/>
            <a:ext cx="6794859" cy="153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894</Words>
  <Application>Microsoft Office PowerPoint</Application>
  <PresentationFormat>Widescreen</PresentationFormat>
  <Paragraphs>183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Calibri</vt:lpstr>
      <vt:lpstr>Courier New</vt:lpstr>
      <vt:lpstr>Arial</vt:lpstr>
      <vt:lpstr>Cambria Math</vt:lpstr>
      <vt:lpstr>Arial Black</vt:lpstr>
      <vt:lpstr>Verdana</vt:lpstr>
      <vt:lpstr>Cambria</vt:lpstr>
      <vt:lpstr>Century Gothic</vt:lpstr>
      <vt:lpstr>1_Office Theme</vt:lpstr>
      <vt:lpstr>6th Grade Math  Unit 8, Lesson 5  Finding the Missing Dimension of a Composite Figure  Volume 2, pg. 97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Heather  Rideout</cp:lastModifiedBy>
  <cp:revision>26</cp:revision>
  <dcterms:created xsi:type="dcterms:W3CDTF">2015-03-17T18:51:18Z</dcterms:created>
  <dcterms:modified xsi:type="dcterms:W3CDTF">2023-01-17T17:15:45Z</dcterms:modified>
</cp:coreProperties>
</file>