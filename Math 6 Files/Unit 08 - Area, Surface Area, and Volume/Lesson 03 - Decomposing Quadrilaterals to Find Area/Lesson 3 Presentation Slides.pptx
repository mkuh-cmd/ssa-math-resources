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52" r:id="rId11"/>
    <p:sldId id="362" r:id="rId12"/>
    <p:sldId id="311" r:id="rId13"/>
    <p:sldId id="312" r:id="rId14"/>
    <p:sldId id="353" r:id="rId15"/>
    <p:sldId id="363" r:id="rId16"/>
    <p:sldId id="364" r:id="rId17"/>
    <p:sldId id="365" r:id="rId18"/>
    <p:sldId id="366" r:id="rId19"/>
    <p:sldId id="367" r:id="rId20"/>
    <p:sldId id="323" r:id="rId21"/>
    <p:sldId id="324" r:id="rId22"/>
    <p:sldId id="357" r:id="rId23"/>
    <p:sldId id="368" r:id="rId24"/>
    <p:sldId id="302" r:id="rId25"/>
    <p:sldId id="303" r:id="rId26"/>
    <p:sldId id="360" r:id="rId27"/>
    <p:sldId id="369" r:id="rId28"/>
    <p:sldId id="306" r:id="rId29"/>
    <p:sldId id="307" r:id="rId30"/>
  </p:sldIdLst>
  <p:sldSz cx="12192000" cy="6858000"/>
  <p:notesSz cx="6858000" cy="9144000"/>
  <p:embeddedFontLst>
    <p:embeddedFont>
      <p:font typeface="Century Gothic" pitchFamily="34" charset="0"/>
      <p:regular r:id="rId32"/>
      <p:bold r:id="rId33"/>
      <p:italic r:id="rId34"/>
      <p:boldItalic r:id="rId35"/>
    </p:embeddedFont>
    <p:embeddedFont>
      <p:font typeface="Cambria Math" pitchFamily="18" charset="0"/>
      <p:regular r:id="rId36"/>
    </p:embeddedFont>
    <p:embeddedFont>
      <p:font typeface="Cambria" pitchFamily="18" charset="0"/>
      <p:regular r:id="rId37"/>
      <p:bold r:id="rId38"/>
      <p:italic r:id="rId39"/>
      <p:boldItalic r:id="rId40"/>
    </p:embeddedFont>
    <p:embeddedFont>
      <p:font typeface="Arial Black" pitchFamily="34" charset="0"/>
      <p:bold r:id="rId41"/>
    </p:embeddedFont>
    <p:embeddedFont>
      <p:font typeface="Verdana" pitchFamily="34" charset="0"/>
      <p:regular r:id="rId42"/>
      <p:bold r:id="rId43"/>
      <p:italic r:id="rId44"/>
      <p:boldItalic r:id="rId45"/>
    </p:embeddedFont>
    <p:embeddedFont>
      <p:font typeface="Calibri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B0DD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/>
    <p:restoredTop sz="94658"/>
  </p:normalViewPr>
  <p:slideViewPr>
    <p:cSldViewPr snapToGrid="0">
      <p:cViewPr varScale="1">
        <p:scale>
          <a:sx n="78" d="100"/>
          <a:sy n="78" d="100"/>
        </p:scale>
        <p:origin x="-734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933458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6107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6557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610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2144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94007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8307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3611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69433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50046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9314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54650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338506" y="2140969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3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Decomposing Quadrilaterals to Find Area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86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444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05256" y="1609531"/>
            <a:ext cx="1068377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MA.6.GR.2.2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Solve 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mathematical and real-world problems involving the area of quadrilaterals and composite figures by decomposing them into triangles or rectangles.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2999" y="129667"/>
            <a:ext cx="102969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05256" y="1596390"/>
            <a:ext cx="1053468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05255" y="1600200"/>
            <a:ext cx="1051480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the area of quadrilaterals by decomposing them into triangles and rectangles.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3547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8.3.1 Warm-Up: Perimeter and Area of a Rectangle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905255" y="1386025"/>
            <a:ext cx="10535477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rectangle is shown with side lengths given in centimeters (cm). 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perimeter of the rectangle. Include units.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Perimeter = _________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 </a:t>
            </a:r>
          </a:p>
          <a:p>
            <a:pPr lvl="0"/>
            <a:endParaRPr lang="en-US" dirty="0"/>
          </a:p>
        </p:txBody>
      </p:sp>
      <p:pic>
        <p:nvPicPr>
          <p:cNvPr id="4" name="Picture 3" descr="Shape, rectangle&#10;&#10;Description automatically generated">
            <a:extLst>
              <a:ext uri="{FF2B5EF4-FFF2-40B4-BE49-F238E27FC236}">
                <a16:creationId xmlns:a16="http://schemas.microsoft.com/office/drawing/2014/main" xmlns="" id="{F88A9CB9-A669-214D-AF52-656300385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111" y="2127165"/>
            <a:ext cx="4943396" cy="179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5" y="520394"/>
            <a:ext cx="105148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the rectangle. Include units.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Area = __________</a:t>
            </a: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2999" y="60325"/>
            <a:ext cx="1050566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8.3.2 Collaboration: Decomposing Parallelograms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44DF7DE-9172-3E4E-B74A-7A51585FB6EA}"/>
              </a:ext>
            </a:extLst>
          </p:cNvPr>
          <p:cNvSpPr txBox="1"/>
          <p:nvPr/>
        </p:nvSpPr>
        <p:spPr>
          <a:xfrm>
            <a:off x="905255" y="1386025"/>
            <a:ext cx="10505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 parallelograms are shown on the grid. Each square is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centimeter (cm) by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cm.</a:t>
            </a:r>
          </a:p>
        </p:txBody>
      </p:sp>
      <p:pic>
        <p:nvPicPr>
          <p:cNvPr id="11" name="Picture 10" descr="Chart, surface chart&#10;&#10;Description automatically generated">
            <a:extLst>
              <a:ext uri="{FF2B5EF4-FFF2-40B4-BE49-F238E27FC236}">
                <a16:creationId xmlns:a16="http://schemas.microsoft.com/office/drawing/2014/main" xmlns="" id="{FE343326-4F9D-274E-A639-B41A9C6DBDF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50" y="2422846"/>
            <a:ext cx="6319520" cy="234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5" y="520393"/>
            <a:ext cx="10514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table using the figures shown in the grid. Include units.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6919E903-0C5F-6344-9B30-A0138E892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167265"/>
              </p:ext>
            </p:extLst>
          </p:nvPr>
        </p:nvGraphicFramePr>
        <p:xfrm>
          <a:off x="2447109" y="1611480"/>
          <a:ext cx="7437120" cy="3918426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298747">
                  <a:extLst>
                    <a:ext uri="{9D8B030D-6E8A-4147-A177-3AD203B41FA5}">
                      <a16:colId xmlns:a16="http://schemas.microsoft.com/office/drawing/2014/main" xmlns="" val="362107467"/>
                    </a:ext>
                  </a:extLst>
                </a:gridCol>
                <a:gridCol w="1660957">
                  <a:extLst>
                    <a:ext uri="{9D8B030D-6E8A-4147-A177-3AD203B41FA5}">
                      <a16:colId xmlns:a16="http://schemas.microsoft.com/office/drawing/2014/main" xmlns="" val="877313861"/>
                    </a:ext>
                  </a:extLst>
                </a:gridCol>
                <a:gridCol w="1490429">
                  <a:extLst>
                    <a:ext uri="{9D8B030D-6E8A-4147-A177-3AD203B41FA5}">
                      <a16:colId xmlns:a16="http://schemas.microsoft.com/office/drawing/2014/main" xmlns="" val="1582279439"/>
                    </a:ext>
                  </a:extLst>
                </a:gridCol>
                <a:gridCol w="1986987">
                  <a:extLst>
                    <a:ext uri="{9D8B030D-6E8A-4147-A177-3AD203B41FA5}">
                      <a16:colId xmlns:a16="http://schemas.microsoft.com/office/drawing/2014/main" xmlns="" val="1528859524"/>
                    </a:ext>
                  </a:extLst>
                </a:gridCol>
              </a:tblGrid>
              <a:tr h="138018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Parallelogram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Area of Blue Triangle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Area of Gold Triangle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Sum of the Two Triangles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53004285"/>
                  </a:ext>
                </a:extLst>
              </a:tr>
              <a:tr h="84608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611948534"/>
                  </a:ext>
                </a:extLst>
              </a:tr>
              <a:tr h="84608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363700660"/>
                  </a:ext>
                </a:extLst>
              </a:tr>
              <a:tr h="84608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055469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819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4"/>
            <a:ext cx="10524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the areas of the triangles are related to the area of the parallelogram they form. Write a brief summary of your discussion. </a:t>
            </a:r>
          </a:p>
        </p:txBody>
      </p:sp>
    </p:spTree>
    <p:extLst>
      <p:ext uri="{BB962C8B-B14F-4D97-AF65-F5344CB8AC3E}">
        <p14:creationId xmlns:p14="http://schemas.microsoft.com/office/powerpoint/2010/main" val="2688675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5384" y="2770632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3565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8.3.3 Exploration: Finding Area by Decomposing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905256" y="1386025"/>
            <a:ext cx="1050486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quadrilateral with measurements in centimeters (cm) is shown.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 the image on a piece of paper. </a:t>
            </a:r>
          </a:p>
        </p:txBody>
      </p:sp>
      <p:pic>
        <p:nvPicPr>
          <p:cNvPr id="5" name="Picture 4" descr="Diagram&#10;&#10;Description automatically generated with low confidence">
            <a:extLst>
              <a:ext uri="{FF2B5EF4-FFF2-40B4-BE49-F238E27FC236}">
                <a16:creationId xmlns:a16="http://schemas.microsoft.com/office/drawing/2014/main" xmlns="" id="{AAE284FC-AA2B-E940-93F4-60F26972F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865" y="1855816"/>
            <a:ext cx="4446270" cy="2690239"/>
          </a:xfrm>
          <a:prstGeom prst="rect">
            <a:avLst/>
          </a:prstGeom>
        </p:spPr>
      </p:pic>
      <p:sp>
        <p:nvSpPr>
          <p:cNvPr id="13" name="Text Box 65">
            <a:extLst>
              <a:ext uri="{FF2B5EF4-FFF2-40B4-BE49-F238E27FC236}">
                <a16:creationId xmlns:a16="http://schemas.microsoft.com/office/drawing/2014/main" xmlns="" id="{BDFC5E51-4653-D345-9387-1E5C8E6DFAC4}"/>
              </a:ext>
            </a:extLst>
          </p:cNvPr>
          <p:cNvSpPr txBox="1"/>
          <p:nvPr/>
        </p:nvSpPr>
        <p:spPr>
          <a:xfrm>
            <a:off x="2065593" y="3200935"/>
            <a:ext cx="1623446" cy="1057557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not drawn to scale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5" y="520393"/>
            <a:ext cx="10514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Decompose the quadrilateral into two triangles and a rectangle by cutting along the dotted lines. Glue or tape the three figures here.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4"/>
            <a:ext cx="10504866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the measurements given in the original image, label the base and height of each figure.</a:t>
            </a: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 of each figure? Include units.</a:t>
            </a: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the original quadrilateral by finding the sum of the three figures. Include units.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33270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5" y="520393"/>
            <a:ext cx="10465109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Another quadrilateral is shown.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Decompose the quadrilateral into triangles. Sketch the decomposed triangles here.</a:t>
            </a:r>
          </a:p>
          <a:p>
            <a:r>
              <a:rPr lang="en-US" dirty="0"/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dirty="0"/>
              <a:t> 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xmlns="" id="{0EC278FF-39F7-2E4B-9C61-57228E5CD05E}"/>
              </a:ext>
            </a:extLst>
          </p:cNvPr>
          <p:cNvSpPr txBox="1"/>
          <p:nvPr/>
        </p:nvSpPr>
        <p:spPr>
          <a:xfrm>
            <a:off x="2294786" y="2189683"/>
            <a:ext cx="1581604" cy="101971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not drawn to scale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xmlns="" id="{497009D1-051C-6A47-99C3-673602A1977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5073" y="971175"/>
            <a:ext cx="3141397" cy="345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09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5" y="520393"/>
            <a:ext cx="105148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the measurements given in the original image, label the base and height of each triangle.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dirty="0"/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26183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4"/>
            <a:ext cx="1052474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the original quadrilateral by finding the sum of the areas of the decomposed triangles. Include units.</a:t>
            </a: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Sketch any other ways you could have decomposed the original figure.</a:t>
            </a:r>
          </a:p>
          <a:p>
            <a:r>
              <a:rPr lang="en-US" dirty="0"/>
              <a:t> 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dirty="0"/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83178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5" y="520393"/>
            <a:ext cx="1056450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if decomposing the figure changes the area of the original figure.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dirty="0"/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914400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887794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89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66145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2999" y="-37211"/>
            <a:ext cx="1050566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8.3.4 Guided Practice: Finding Area by Decomposing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89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D40250-DEDD-2C41-8538-3D4DD18CCC4A}"/>
              </a:ext>
            </a:extLst>
          </p:cNvPr>
          <p:cNvSpPr txBox="1"/>
          <p:nvPr/>
        </p:nvSpPr>
        <p:spPr>
          <a:xfrm>
            <a:off x="905255" y="1386025"/>
            <a:ext cx="10624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Decompose the quadrilateral to find the area. Lengths are shown in feet (ft). Include units.</a:t>
            </a:r>
          </a:p>
          <a:p>
            <a:r>
              <a:rPr lang="en-US" dirty="0"/>
              <a:t> </a:t>
            </a: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xmlns="" id="{0B345613-FE0C-EC44-BA73-34015973C099}"/>
              </a:ext>
            </a:extLst>
          </p:cNvPr>
          <p:cNvSpPr txBox="1"/>
          <p:nvPr/>
        </p:nvSpPr>
        <p:spPr>
          <a:xfrm>
            <a:off x="6607175" y="3748914"/>
            <a:ext cx="3244850" cy="49530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Area = _______________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 </a:t>
            </a:r>
            <a:endParaRPr lang="en-US" sz="1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88">
            <a:extLst>
              <a:ext uri="{FF2B5EF4-FFF2-40B4-BE49-F238E27FC236}">
                <a16:creationId xmlns:a16="http://schemas.microsoft.com/office/drawing/2014/main" xmlns="" id="{69A47129-6D20-D642-961D-5A86B730A44C}"/>
              </a:ext>
            </a:extLst>
          </p:cNvPr>
          <p:cNvSpPr txBox="1"/>
          <p:nvPr/>
        </p:nvSpPr>
        <p:spPr>
          <a:xfrm>
            <a:off x="2144947" y="5769801"/>
            <a:ext cx="3869145" cy="50137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not drawn to scale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xmlns="" id="{AC082949-644D-C24C-B2A8-E4AA2D3CBC1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47" y="2142236"/>
            <a:ext cx="3045363" cy="312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05255" y="520394"/>
                <a:ext cx="10514805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floor plan of a store is shown with measurements in yards (yd).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store found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yards (yd</a:t>
                </a:r>
                <a:r>
                  <a:rPr lang="en-US" sz="2000" baseline="30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 of tile on sale. Based on the floor plan drawn, will the store have enough tiles to redo the flooring if they buy what is on sale?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" y="520394"/>
                <a:ext cx="10514805" cy="4708981"/>
              </a:xfrm>
              <a:prstGeom prst="rect">
                <a:avLst/>
              </a:prstGeom>
              <a:blipFill>
                <a:blip r:embed="rId4"/>
                <a:stretch>
                  <a:fillRect l="-603" t="-538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9B3AFB72-1511-4C41-A5BF-907607CCB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192" y="1254405"/>
            <a:ext cx="5754301" cy="245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042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5" y="520394"/>
            <a:ext cx="105148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amount of tile, in yd</a:t>
            </a:r>
            <a:r>
              <a:rPr lang="en-US" sz="20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the store is short or has left over.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601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97112" y="6457676"/>
            <a:ext cx="263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90</a:t>
            </a:r>
          </a:p>
          <a:p>
            <a:pPr algn="r"/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28438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8.3.5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905255" y="1386026"/>
            <a:ext cx="104750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each quadrilateral by decomposing. Lengths are shown in inches (in.). Include units.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xmlns="" id="{94AF96DE-C2F7-9D4A-9BC6-44C610D49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145" y="2402431"/>
            <a:ext cx="3440874" cy="3680506"/>
          </a:xfrm>
          <a:prstGeom prst="rect">
            <a:avLst/>
          </a:prstGeom>
        </p:spPr>
      </p:pic>
      <p:sp>
        <p:nvSpPr>
          <p:cNvPr id="13" name="Text Box 78">
            <a:extLst>
              <a:ext uri="{FF2B5EF4-FFF2-40B4-BE49-F238E27FC236}">
                <a16:creationId xmlns:a16="http://schemas.microsoft.com/office/drawing/2014/main" xmlns="" id="{4AA17085-04B9-6843-8F97-98A57B754DBA}"/>
              </a:ext>
            </a:extLst>
          </p:cNvPr>
          <p:cNvSpPr txBox="1"/>
          <p:nvPr/>
        </p:nvSpPr>
        <p:spPr>
          <a:xfrm>
            <a:off x="6783977" y="4136417"/>
            <a:ext cx="3335383" cy="63723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Area = _____________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6" name="Text Box 87">
            <a:extLst>
              <a:ext uri="{FF2B5EF4-FFF2-40B4-BE49-F238E27FC236}">
                <a16:creationId xmlns:a16="http://schemas.microsoft.com/office/drawing/2014/main" xmlns="" id="{16288F99-D767-1042-8206-4F46D163900B}"/>
              </a:ext>
            </a:extLst>
          </p:cNvPr>
          <p:cNvSpPr txBox="1"/>
          <p:nvPr/>
        </p:nvSpPr>
        <p:spPr>
          <a:xfrm>
            <a:off x="6895015" y="2563530"/>
            <a:ext cx="3439886" cy="75037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Area = _____________</a:t>
            </a:r>
          </a:p>
          <a:p>
            <a:pPr>
              <a:spcAft>
                <a:spcPts val="1000"/>
              </a:spcAft>
            </a:pPr>
            <a:r>
              <a:rPr lang="en-US" sz="12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3" name="Picture 2" descr="A picture containing chart&#10;&#10;Description automatically generated">
            <a:extLst>
              <a:ext uri="{FF2B5EF4-FFF2-40B4-BE49-F238E27FC236}">
                <a16:creationId xmlns:a16="http://schemas.microsoft.com/office/drawing/2014/main" xmlns="" id="{55BAFBB5-9021-DE46-99E4-B2672C1FE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686" y="896395"/>
            <a:ext cx="4132333" cy="495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35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05256" y="52039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6" name="Text Box 87">
            <a:extLst>
              <a:ext uri="{FF2B5EF4-FFF2-40B4-BE49-F238E27FC236}">
                <a16:creationId xmlns:a16="http://schemas.microsoft.com/office/drawing/2014/main" xmlns="" id="{16288F99-D767-1042-8206-4F46D163900B}"/>
              </a:ext>
            </a:extLst>
          </p:cNvPr>
          <p:cNvSpPr txBox="1"/>
          <p:nvPr/>
        </p:nvSpPr>
        <p:spPr>
          <a:xfrm>
            <a:off x="6911807" y="1832010"/>
            <a:ext cx="3439886" cy="75037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Area = _____________</a:t>
            </a:r>
          </a:p>
          <a:p>
            <a:pPr>
              <a:spcAft>
                <a:spcPts val="1000"/>
              </a:spcAft>
            </a:pPr>
            <a:r>
              <a:rPr lang="en-US" sz="12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Text Box 97">
            <a:extLst>
              <a:ext uri="{FF2B5EF4-FFF2-40B4-BE49-F238E27FC236}">
                <a16:creationId xmlns:a16="http://schemas.microsoft.com/office/drawing/2014/main" xmlns="" id="{85C2CD0C-34F7-774A-8628-34E145DEDDFB}"/>
              </a:ext>
            </a:extLst>
          </p:cNvPr>
          <p:cNvSpPr txBox="1"/>
          <p:nvPr/>
        </p:nvSpPr>
        <p:spPr>
          <a:xfrm>
            <a:off x="2421023" y="5262706"/>
            <a:ext cx="3750311" cy="617992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not drawn to scale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cture containing chart&#10;&#10;Description automatically generated">
            <a:extLst>
              <a:ext uri="{FF2B5EF4-FFF2-40B4-BE49-F238E27FC236}">
                <a16:creationId xmlns:a16="http://schemas.microsoft.com/office/drawing/2014/main" xmlns="" id="{D0727158-9281-F848-A6F3-DD396D727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648" y="920504"/>
            <a:ext cx="4666367" cy="367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66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2999" y="-82571"/>
            <a:ext cx="105255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8.3.6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905256" y="1386025"/>
            <a:ext cx="10525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each quadrilateral by decomposing. Lengths are given in yards (yd). Include units.</a:t>
            </a:r>
          </a:p>
        </p:txBody>
      </p:sp>
      <p:pic>
        <p:nvPicPr>
          <p:cNvPr id="3" name="Picture 2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xmlns="" id="{3BA02DD0-70B0-2C46-BCB7-8C522D6F650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51" y="2323894"/>
            <a:ext cx="3170997" cy="3229522"/>
          </a:xfrm>
          <a:prstGeom prst="rect">
            <a:avLst/>
          </a:prstGeom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xmlns="" id="{D71F06C9-2973-FE4D-91EF-1CED9D8CA939}"/>
              </a:ext>
            </a:extLst>
          </p:cNvPr>
          <p:cNvSpPr txBox="1"/>
          <p:nvPr/>
        </p:nvSpPr>
        <p:spPr>
          <a:xfrm>
            <a:off x="6611651" y="3367921"/>
            <a:ext cx="3579223" cy="707886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Area = _____________</a:t>
            </a:r>
          </a:p>
          <a:p>
            <a:pPr>
              <a:spcAft>
                <a:spcPts val="1000"/>
              </a:spcAft>
            </a:pPr>
            <a:r>
              <a:rPr lang="en-US" sz="12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804</Words>
  <Application>Microsoft Office PowerPoint</Application>
  <PresentationFormat>Custom</PresentationFormat>
  <Paragraphs>231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Century Gothic</vt:lpstr>
      <vt:lpstr>Cambria Math</vt:lpstr>
      <vt:lpstr>Cambria</vt:lpstr>
      <vt:lpstr>Arial Black</vt:lpstr>
      <vt:lpstr>Verdana</vt:lpstr>
      <vt:lpstr>Calibri</vt:lpstr>
      <vt:lpstr>Times New Roman</vt:lpstr>
      <vt:lpstr>1_Office Theme</vt:lpstr>
      <vt:lpstr>6th Grade Math  Unit 8, Lesson 3  Decomposing Quadrilaterals to Find Area  Volume 2, pg. 86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21</cp:revision>
  <dcterms:created xsi:type="dcterms:W3CDTF">2015-03-17T18:51:18Z</dcterms:created>
  <dcterms:modified xsi:type="dcterms:W3CDTF">2022-06-05T08:36:51Z</dcterms:modified>
</cp:coreProperties>
</file>