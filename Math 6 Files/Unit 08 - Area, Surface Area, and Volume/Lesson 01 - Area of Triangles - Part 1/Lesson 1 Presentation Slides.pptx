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365" r:id="rId8"/>
    <p:sldId id="311" r:id="rId9"/>
    <p:sldId id="312" r:id="rId10"/>
    <p:sldId id="366" r:id="rId11"/>
    <p:sldId id="353" r:id="rId12"/>
    <p:sldId id="367" r:id="rId13"/>
    <p:sldId id="314" r:id="rId14"/>
    <p:sldId id="315" r:id="rId15"/>
    <p:sldId id="372" r:id="rId16"/>
    <p:sldId id="352" r:id="rId17"/>
    <p:sldId id="368" r:id="rId18"/>
    <p:sldId id="362" r:id="rId19"/>
    <p:sldId id="363" r:id="rId20"/>
    <p:sldId id="369" r:id="rId21"/>
    <p:sldId id="364" r:id="rId22"/>
    <p:sldId id="329" r:id="rId23"/>
    <p:sldId id="330" r:id="rId24"/>
    <p:sldId id="370" r:id="rId25"/>
    <p:sldId id="306" r:id="rId26"/>
    <p:sldId id="307" r:id="rId27"/>
    <p:sldId id="371" r:id="rId28"/>
  </p:sldIdLst>
  <p:sldSz cx="12192000" cy="6858000"/>
  <p:notesSz cx="6858000" cy="9144000"/>
  <p:embeddedFontLst>
    <p:embeddedFont>
      <p:font typeface="Century Gothic" pitchFamily="34" charset="0"/>
      <p:regular r:id="rId30"/>
      <p:bold r:id="rId31"/>
      <p:italic r:id="rId32"/>
      <p:boldItalic r:id="rId33"/>
    </p:embeddedFont>
    <p:embeddedFont>
      <p:font typeface="Cambria Math" pitchFamily="18" charset="0"/>
      <p:regular r:id="rId34"/>
    </p:embeddedFont>
    <p:embeddedFont>
      <p:font typeface="Cambria" pitchFamily="18" charset="0"/>
      <p:regular r:id="rId35"/>
      <p:bold r:id="rId36"/>
      <p:italic r:id="rId37"/>
      <p:boldItalic r:id="rId38"/>
    </p:embeddedFont>
    <p:embeddedFont>
      <p:font typeface="Arial Black" pitchFamily="34" charset="0"/>
      <p:bold r:id="rId39"/>
    </p:embeddedFont>
    <p:embeddedFont>
      <p:font typeface="Verdana" pitchFamily="34" charset="0"/>
      <p:regular r:id="rId40"/>
      <p:bold r:id="rId41"/>
      <p:italic r:id="rId42"/>
      <p:boldItalic r:id="rId43"/>
    </p:embeddedFont>
    <p:embeddedFont>
      <p:font typeface="Calibri"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BEA6"/>
    <a:srgbClr val="79B0DD"/>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3201"/>
    <p:restoredTop sz="94645"/>
  </p:normalViewPr>
  <p:slideViewPr>
    <p:cSldViewPr snapToGrid="0">
      <p:cViewPr varScale="1">
        <p:scale>
          <a:sx n="68" d="100"/>
          <a:sy n="68" d="100"/>
        </p:scale>
        <p:origin x="-126" y="-10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84904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501428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112633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889125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2354026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879628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2676341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7405941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047093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111459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1824859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5632133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0.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5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1</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Area of Triangles -  Part 1</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75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444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905256" y="1609531"/>
            <a:ext cx="10496752"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sym typeface="Verdana"/>
              </a:rPr>
              <a:t>MA.6.GR.2.1</a:t>
            </a:r>
          </a:p>
          <a:p>
            <a:pPr indent="0">
              <a:buNone/>
            </a:pPr>
            <a:r>
              <a:rPr lang="en-US" sz="2400" dirty="0">
                <a:solidFill>
                  <a:schemeClr val="tx1"/>
                </a:solidFill>
                <a:latin typeface="Verdana"/>
                <a:ea typeface="Verdana"/>
                <a:cs typeface="Verdana"/>
                <a:sym typeface="Verdana"/>
              </a:rPr>
              <a:t>Derive a formula for the area of a right triangle using a rectangle. Apply a formula to find the area of a triangle.</a:t>
            </a:r>
            <a:endParaRPr lang="en-US" sz="24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06424" y="128016"/>
            <a:ext cx="107289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75</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905255" y="1596390"/>
            <a:ext cx="1017951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6424" y="274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75</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905256" y="1600200"/>
            <a:ext cx="106833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2400" dirty="0">
                <a:solidFill>
                  <a:schemeClr val="tx1"/>
                </a:solidFill>
                <a:latin typeface="Verdana"/>
                <a:ea typeface="Verdana"/>
                <a:cs typeface="Verdana"/>
                <a:sym typeface="Verdana"/>
              </a:rPr>
              <a:t>I can discover the formula for the area of a triangle.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75</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6424" y="64008"/>
            <a:ext cx="107289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8.1.1 Warm-Up: The Importance of Struggle</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75</a:t>
            </a:r>
            <a:endParaRPr i="1" dirty="0">
              <a:latin typeface="Calibri"/>
              <a:ea typeface="Calibri"/>
              <a:cs typeface="Calibri"/>
              <a:sym typeface="Calibri"/>
            </a:endParaRPr>
          </a:p>
        </p:txBody>
      </p:sp>
      <p:sp>
        <p:nvSpPr>
          <p:cNvPr id="12" name="TextBox 11">
            <a:extLst>
              <a:ext uri="{FF2B5EF4-FFF2-40B4-BE49-F238E27FC236}">
                <a16:creationId xmlns:a16="http://schemas.microsoft.com/office/drawing/2014/main" xmlns="" id="{A4C0B51D-09DC-AA4D-9C14-AE2048199B26}"/>
              </a:ext>
            </a:extLst>
          </p:cNvPr>
          <p:cNvSpPr txBox="1"/>
          <p:nvPr/>
        </p:nvSpPr>
        <p:spPr>
          <a:xfrm>
            <a:off x="905256" y="1375813"/>
            <a:ext cx="10930128" cy="2923877"/>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When learning something new, whether it is a sport, a musical instrument, or even math, you may experience failure before you experience success. The key is to keep going even when you make mistakes. Learning takes place during the time you practice and during the time you struggle.</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Which choice would you feel less comfortable doing?</a:t>
            </a:r>
          </a:p>
          <a:p>
            <a:pPr lvl="1"/>
            <a:endParaRPr lang="en-US" sz="2000" dirty="0">
              <a:latin typeface="Verdana" panose="020B0604030504040204" pitchFamily="34" charset="0"/>
              <a:ea typeface="Verdana" panose="020B0604030504040204" pitchFamily="34" charset="0"/>
              <a:cs typeface="Verdana" panose="020B0604030504040204" pitchFamily="34" charset="0"/>
            </a:endParaRPr>
          </a:p>
          <a:p>
            <a:pPr lvl="1"/>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2" name="TextBox 1">
            <a:extLst>
              <a:ext uri="{FF2B5EF4-FFF2-40B4-BE49-F238E27FC236}">
                <a16:creationId xmlns:a16="http://schemas.microsoft.com/office/drawing/2014/main" xmlns="" id="{9A880022-C7D7-8245-97F7-C70B349220DE}"/>
              </a:ext>
            </a:extLst>
          </p:cNvPr>
          <p:cNvSpPr txBox="1"/>
          <p:nvPr/>
        </p:nvSpPr>
        <p:spPr>
          <a:xfrm>
            <a:off x="1103916" y="3867032"/>
            <a:ext cx="7810083" cy="1231106"/>
          </a:xfrm>
          <a:prstGeom prst="rect">
            <a:avLst/>
          </a:prstGeom>
          <a:noFill/>
        </p:spPr>
        <p:txBody>
          <a:bodyPr wrap="square" rtlCol="0">
            <a:spAutoFit/>
          </a:bodyPr>
          <a:lstStyle/>
          <a:p>
            <a:pPr marL="457200" lvl="1" indent="-4572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Answering a question and getting it wrong.</a:t>
            </a:r>
          </a:p>
          <a:p>
            <a:pPr marL="457200" lvl="1" indent="-457200">
              <a:buFont typeface="Courier New" panose="02070309020205020404" pitchFamily="49" charset="0"/>
              <a:buChar char="o"/>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Saying, “I do not know,” as your answer to a question. </a:t>
            </a:r>
          </a:p>
          <a:p>
            <a:endParaRPr lang="en-US" dirty="0"/>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251985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endParaRPr lang="en-US" sz="3600" b="1" dirty="0">
              <a:solidFill>
                <a:srgbClr val="3F2A67"/>
              </a:solidFill>
              <a:latin typeface="Verdana"/>
              <a:ea typeface="Verdana"/>
              <a:cs typeface="Verdana"/>
              <a:sym typeface="Verdana"/>
            </a:endParaRP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75</a:t>
            </a:r>
            <a:endParaRPr i="1" dirty="0">
              <a:latin typeface="Calibri"/>
              <a:ea typeface="Calibri"/>
              <a:cs typeface="Calibri"/>
              <a:sym typeface="Calibri"/>
            </a:endParaRPr>
          </a:p>
        </p:txBody>
      </p:sp>
      <p:sp>
        <p:nvSpPr>
          <p:cNvPr id="12" name="TextBox 11">
            <a:extLst>
              <a:ext uri="{FF2B5EF4-FFF2-40B4-BE49-F238E27FC236}">
                <a16:creationId xmlns:a16="http://schemas.microsoft.com/office/drawing/2014/main" xmlns="" id="{A4C0B51D-09DC-AA4D-9C14-AE2048199B26}"/>
              </a:ext>
            </a:extLst>
          </p:cNvPr>
          <p:cNvSpPr txBox="1"/>
          <p:nvPr/>
        </p:nvSpPr>
        <p:spPr>
          <a:xfrm>
            <a:off x="905256" y="202290"/>
            <a:ext cx="10403446" cy="3231654"/>
          </a:xfrm>
          <a:prstGeom prst="rect">
            <a:avLst/>
          </a:prstGeom>
          <a:noFill/>
        </p:spPr>
        <p:txBody>
          <a:bodyPr wrap="square" rtlCol="0">
            <a:spAutoFit/>
          </a:bodyPr>
          <a:lstStyle/>
          <a:p>
            <a:pPr lvl="1"/>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Describe a time that you persevered when learning something new.</a:t>
            </a:r>
          </a:p>
          <a:p>
            <a:pPr marL="457200" indent="-457200">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When you persevered in learning, how did you overcome any initial fear(s)?</a:t>
            </a:r>
          </a:p>
          <a:p>
            <a:pPr lvl="1"/>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50596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76</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6424" y="60325"/>
            <a:ext cx="108740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8.1.2 Exploration: Discovering the Area of a Right Triangle</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76</a:t>
            </a:r>
            <a:endParaRPr i="1" dirty="0">
              <a:latin typeface="Calibri"/>
              <a:ea typeface="Calibri"/>
              <a:cs typeface="Calibri"/>
              <a:sym typeface="Calibri"/>
            </a:endParaRPr>
          </a:p>
        </p:txBody>
      </p:sp>
      <p:pic>
        <p:nvPicPr>
          <p:cNvPr id="7"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152D1D4D-DCB8-A246-B186-D40316579D77}"/>
                  </a:ext>
                </a:extLst>
              </p:cNvPr>
              <p:cNvSpPr txBox="1"/>
              <p:nvPr/>
            </p:nvSpPr>
            <p:spPr>
              <a:xfrm>
                <a:off x="905255" y="1386026"/>
                <a:ext cx="6938465" cy="7078861"/>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a:t>
                </a:r>
                <a:r>
                  <a:rPr lang="en-US" sz="2000" b="1" i="1" dirty="0">
                    <a:latin typeface="Verdana" panose="020B0604030504040204" pitchFamily="34" charset="0"/>
                    <a:ea typeface="Verdana" panose="020B0604030504040204" pitchFamily="34" charset="0"/>
                    <a:cs typeface="Verdana" panose="020B0604030504040204" pitchFamily="34" charset="0"/>
                  </a:rPr>
                  <a:t>right triangle</a:t>
                </a:r>
                <a:r>
                  <a:rPr lang="en-US" sz="2000" dirty="0">
                    <a:latin typeface="Verdana" panose="020B0604030504040204" pitchFamily="34" charset="0"/>
                    <a:ea typeface="Verdana" panose="020B0604030504040204" pitchFamily="34" charset="0"/>
                    <a:cs typeface="Verdana" panose="020B0604030504040204" pitchFamily="34" charset="0"/>
                  </a:rPr>
                  <a:t> is shown. Each square of the grid paper is </a:t>
                </a:r>
                <a14:m>
                  <m:oMath xmlns:m="http://schemas.openxmlformats.org/officeDocument/2006/math">
                    <m:r>
                      <a:rPr lang="en-US" sz="2000" i="1">
                        <a:latin typeface="Cambria Math" panose="02040503050406030204" pitchFamily="18" charset="0"/>
                      </a:rPr>
                      <m:t>1 </m:t>
                    </m:r>
                  </m:oMath>
                </a14:m>
                <a:r>
                  <a:rPr lang="en-US" sz="2000" dirty="0">
                    <a:latin typeface="Verdana" panose="020B0604030504040204" pitchFamily="34" charset="0"/>
                    <a:ea typeface="Verdana" panose="020B0604030504040204" pitchFamily="34" charset="0"/>
                    <a:cs typeface="Verdana" panose="020B0604030504040204" pitchFamily="34" charset="0"/>
                  </a:rPr>
                  <a:t>centimeter (cm) by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cm.</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Trace two copies of the right triangle on paper, then cut them out.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03225" indent="-403225"/>
                <a:r>
                  <a:rPr lang="en-US" sz="2000" dirty="0">
                    <a:latin typeface="Verdana" panose="020B0604030504040204" pitchFamily="34" charset="0"/>
                    <a:ea typeface="Verdana" panose="020B0604030504040204" pitchFamily="34" charset="0"/>
                    <a:cs typeface="Verdana" panose="020B0604030504040204" pitchFamily="34" charset="0"/>
                  </a:rPr>
                  <a:t>2. Form a rectangle using the two right triangles. Paste the triangles here.</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lvl="0"/>
                <a:endParaRPr lang="en-US" sz="1800" dirty="0">
                  <a:latin typeface="Verdana" panose="020B0604030504040204" pitchFamily="34" charset="0"/>
                  <a:ea typeface="Verdana" panose="020B0604030504040204" pitchFamily="34" charset="0"/>
                  <a:cs typeface="Verdana" panose="020B0604030504040204" pitchFamily="34" charset="0"/>
                </a:endParaRPr>
              </a:p>
              <a:p>
                <a:pPr lvl="0"/>
                <a:endParaRPr lang="en-US" sz="1800" dirty="0">
                  <a:latin typeface="Verdana" panose="020B0604030504040204" pitchFamily="34" charset="0"/>
                  <a:ea typeface="Verdana" panose="020B0604030504040204" pitchFamily="34" charset="0"/>
                  <a:cs typeface="Verdana" panose="020B0604030504040204" pitchFamily="34" charset="0"/>
                </a:endParaRPr>
              </a:p>
              <a:p>
                <a:pPr lvl="0"/>
                <a:endParaRPr lang="en-US" sz="1800" dirty="0">
                  <a:latin typeface="Verdana" panose="020B0604030504040204" pitchFamily="34" charset="0"/>
                  <a:ea typeface="Verdana" panose="020B0604030504040204" pitchFamily="34" charset="0"/>
                  <a:cs typeface="Verdana" panose="020B0604030504040204" pitchFamily="34" charset="0"/>
                </a:endParaRPr>
              </a:p>
              <a:p>
                <a:pPr lvl="0"/>
                <a:endParaRPr lang="en-US" sz="1800" dirty="0">
                  <a:latin typeface="Verdana" panose="020B0604030504040204" pitchFamily="34" charset="0"/>
                  <a:ea typeface="Verdana" panose="020B0604030504040204" pitchFamily="34" charset="0"/>
                  <a:cs typeface="Verdana" panose="020B0604030504040204" pitchFamily="34" charset="0"/>
                </a:endParaRPr>
              </a:p>
              <a:p>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dirty="0"/>
              </a:p>
              <a:p>
                <a:pPr lvl="0"/>
                <a:endParaRPr lang="en-US" dirty="0"/>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905255" y="1386026"/>
                <a:ext cx="6938465" cy="7078861"/>
              </a:xfrm>
              <a:prstGeom prst="rect">
                <a:avLst/>
              </a:prstGeom>
              <a:blipFill>
                <a:blip r:embed="rId5"/>
                <a:stretch>
                  <a:fillRect l="-914" t="-358"/>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xmlns="" id="{A19B28B8-079D-BC47-A5CC-F94011E528A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947947" y="1505946"/>
            <a:ext cx="2450231" cy="3628807"/>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630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251985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endParaRPr lang="en-US" sz="3600" b="1" dirty="0">
              <a:solidFill>
                <a:srgbClr val="33BEA6"/>
              </a:solidFill>
              <a:latin typeface="Verdana"/>
              <a:ea typeface="Verdana"/>
              <a:cs typeface="Verdana"/>
              <a:sym typeface="Verdana"/>
            </a:endParaRP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76</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xmlns="" id="{152D1D4D-DCB8-A246-B186-D40316579D77}"/>
              </a:ext>
            </a:extLst>
          </p:cNvPr>
          <p:cNvSpPr txBox="1"/>
          <p:nvPr/>
        </p:nvSpPr>
        <p:spPr>
          <a:xfrm>
            <a:off x="905256" y="62050"/>
            <a:ext cx="10216834" cy="3323987"/>
          </a:xfrm>
          <a:prstGeom prst="rect">
            <a:avLst/>
          </a:prstGeom>
          <a:noFill/>
        </p:spPr>
        <p:txBody>
          <a:bodyPr wrap="square" rtlCol="0">
            <a:spAutoFit/>
          </a:bodyPr>
          <a:lstStyle/>
          <a:p>
            <a:pPr lvl="0"/>
            <a:endParaRPr lang="en-US" sz="2800" dirty="0">
              <a:latin typeface="Verdana" panose="020B0604030504040204" pitchFamily="34" charset="0"/>
              <a:ea typeface="Verdana" panose="020B0604030504040204" pitchFamily="34" charset="0"/>
              <a:cs typeface="Verdana" panose="020B0604030504040204" pitchFamily="34" charset="0"/>
            </a:endParaRPr>
          </a:p>
          <a:p>
            <a:pPr marL="342900" indent="-342900"/>
            <a:r>
              <a:rPr lang="en-US" sz="2800" dirty="0">
                <a:latin typeface="Verdana" panose="020B0604030504040204" pitchFamily="34" charset="0"/>
                <a:ea typeface="Verdana" panose="020B0604030504040204" pitchFamily="34" charset="0"/>
                <a:cs typeface="Verdana" panose="020B0604030504040204" pitchFamily="34" charset="0"/>
              </a:rPr>
              <a:t>3. Using the image just created, complete the table.</a:t>
            </a:r>
          </a:p>
          <a:p>
            <a:pPr marL="342900" indent="-342900">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lvl="0"/>
            <a:endParaRPr lang="en-US" sz="1800" dirty="0">
              <a:latin typeface="Verdana" panose="020B0604030504040204" pitchFamily="34" charset="0"/>
              <a:ea typeface="Verdana" panose="020B0604030504040204" pitchFamily="34" charset="0"/>
              <a:cs typeface="Verdana" panose="020B0604030504040204" pitchFamily="34" charset="0"/>
            </a:endParaRPr>
          </a:p>
          <a:p>
            <a:pPr lvl="0"/>
            <a:endParaRPr lang="en-US" sz="1800" dirty="0">
              <a:latin typeface="Verdana" panose="020B0604030504040204" pitchFamily="34" charset="0"/>
              <a:ea typeface="Verdana" panose="020B0604030504040204" pitchFamily="34" charset="0"/>
              <a:cs typeface="Verdana" panose="020B0604030504040204" pitchFamily="34" charset="0"/>
            </a:endParaRPr>
          </a:p>
          <a:p>
            <a:pPr lvl="0"/>
            <a:endParaRPr lang="en-US" sz="1800" dirty="0">
              <a:latin typeface="Verdana" panose="020B0604030504040204" pitchFamily="34" charset="0"/>
              <a:ea typeface="Verdana" panose="020B0604030504040204" pitchFamily="34" charset="0"/>
              <a:cs typeface="Verdana" panose="020B0604030504040204" pitchFamily="34" charset="0"/>
            </a:endParaRPr>
          </a:p>
          <a:p>
            <a:pPr lvl="0"/>
            <a:endParaRPr lang="en-US" sz="1800" dirty="0">
              <a:latin typeface="Verdana" panose="020B0604030504040204" pitchFamily="34" charset="0"/>
              <a:ea typeface="Verdana" panose="020B0604030504040204" pitchFamily="34" charset="0"/>
              <a:cs typeface="Verdana" panose="020B0604030504040204" pitchFamily="34" charset="0"/>
            </a:endParaRPr>
          </a:p>
          <a:p>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dirty="0"/>
          </a:p>
          <a:p>
            <a:pPr lvl="0"/>
            <a:endParaRPr lang="en-US" dirty="0"/>
          </a:p>
        </p:txBody>
      </p:sp>
      <p:pic>
        <p:nvPicPr>
          <p:cNvPr id="3" name="Picture 2" descr="Table&#10;&#10;Description automatically generated">
            <a:extLst>
              <a:ext uri="{FF2B5EF4-FFF2-40B4-BE49-F238E27FC236}">
                <a16:creationId xmlns:a16="http://schemas.microsoft.com/office/drawing/2014/main" xmlns="" id="{BC652D48-7A27-F849-BBDF-CE2359C1A335}"/>
              </a:ext>
            </a:extLst>
          </p:cNvPr>
          <p:cNvPicPr>
            <a:picLocks noChangeAspect="1"/>
          </p:cNvPicPr>
          <p:nvPr/>
        </p:nvPicPr>
        <p:blipFill>
          <a:blip r:embed="rId4"/>
          <a:stretch>
            <a:fillRect/>
          </a:stretch>
        </p:blipFill>
        <p:spPr>
          <a:xfrm>
            <a:off x="1956881" y="2087325"/>
            <a:ext cx="6674869" cy="2370338"/>
          </a:xfrm>
          <a:prstGeom prst="rect">
            <a:avLst/>
          </a:prstGeom>
        </p:spPr>
      </p:pic>
    </p:spTree>
    <p:extLst>
      <p:ext uri="{BB962C8B-B14F-4D97-AF65-F5344CB8AC3E}">
        <p14:creationId xmlns:p14="http://schemas.microsoft.com/office/powerpoint/2010/main" val="493978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76</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05256" y="520394"/>
            <a:ext cx="10104866" cy="5139869"/>
          </a:xfrm>
          <a:prstGeom prst="rect">
            <a:avLst/>
          </a:prstGeom>
          <a:noFill/>
        </p:spPr>
        <p:txBody>
          <a:bodyPr wrap="square" rtlCol="0">
            <a:spAutoFit/>
          </a:bodyPr>
          <a:lstStyle/>
          <a:p>
            <a:pPr marL="457200" indent="-457200">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area of the rectangle? Include units.</a:t>
            </a:r>
          </a:p>
          <a:p>
            <a:pPr marL="457200" indent="-457200">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Arial"/>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Describe the relationship between the area of one right triangle and the area of the rectangle. </a:t>
            </a:r>
          </a:p>
          <a:p>
            <a:pPr marL="457200" indent="-457200">
              <a:buFont typeface="Arial"/>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Arial"/>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457200" indent="-457200">
              <a:buFont typeface="Arial"/>
              <a:buAutoNum type="arabi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0731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76</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05255" y="160630"/>
            <a:ext cx="10571397" cy="4524315"/>
          </a:xfrm>
          <a:prstGeom prst="rect">
            <a:avLst/>
          </a:prstGeom>
          <a:noFill/>
        </p:spPr>
        <p:txBody>
          <a:bodyPr wrap="square" rtlCol="0">
            <a:spAutoFit/>
          </a:bodyPr>
          <a:lstStyle/>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6"/>
            </a:pPr>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formula for the area of a rectangle?</a:t>
            </a:r>
          </a:p>
          <a:p>
            <a:pPr marL="457200" indent="-457200">
              <a:buFont typeface="Arial"/>
              <a:buAutoNum type="arabi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Arial"/>
              <a:buAutoNum type="arabi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Arial"/>
              <a:buAutoNum type="arabi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Arial"/>
              <a:buAutoNum type="arabi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Arial"/>
              <a:buAutoNum type="arabi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Arial"/>
              <a:buAutoNum type="arabicPeriod" startAt="6"/>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relationship observed and the formula for the area of a rectangle to write a formula that can be used to find the area of a right triangle.</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457200" indent="-457200">
              <a:buFont typeface="Arial"/>
              <a:buAutoNum type="arabicPeriod" startAt="6"/>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962598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6424" y="60325"/>
            <a:ext cx="1053818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8.1.3 Collaboration: </a:t>
            </a:r>
            <a:r>
              <a:rPr lang="en-US" sz="3200" b="1" dirty="0">
                <a:solidFill>
                  <a:srgbClr val="33BEA6"/>
                </a:solidFill>
                <a:latin typeface="Verdana" panose="020B0604030504040204" pitchFamily="34" charset="0"/>
                <a:ea typeface="Verdana" panose="020B0604030504040204" pitchFamily="34" charset="0"/>
                <a:cs typeface="Verdana" panose="020B0604030504040204" pitchFamily="34" charset="0"/>
              </a:rPr>
              <a:t>Area of an Acute and an Obtuse Triangle </a:t>
            </a:r>
            <a:endParaRPr lang="en-US" sz="3200" b="1" dirty="0">
              <a:solidFill>
                <a:srgbClr val="33BEA6"/>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E44DF7DE-9172-3E4E-B74A-7A51585FB6EA}"/>
                  </a:ext>
                </a:extLst>
              </p:cNvPr>
              <p:cNvSpPr txBox="1"/>
              <p:nvPr/>
            </p:nvSpPr>
            <p:spPr>
              <a:xfrm>
                <a:off x="905255" y="1386026"/>
                <a:ext cx="10179511" cy="3467616"/>
              </a:xfrm>
              <a:prstGeom prst="rect">
                <a:avLst/>
              </a:prstGeom>
              <a:noFill/>
            </p:spPr>
            <p:txBody>
              <a:bodyPr wrap="square" rtlCol="0">
                <a:spAutoFit/>
              </a:bodyPr>
              <a:lstStyle/>
              <a:p>
                <a:r>
                  <a:rPr lang="en-US" sz="2200" dirty="0" smtClean="0">
                    <a:latin typeface="Verdana" panose="020B0604030504040204" pitchFamily="34" charset="0"/>
                    <a:ea typeface="Verdana" panose="020B0604030504040204" pitchFamily="34" charset="0"/>
                    <a:cs typeface="Verdana" panose="020B0604030504040204" pitchFamily="34" charset="0"/>
                  </a:rPr>
                  <a:t>An </a:t>
                </a:r>
                <a:r>
                  <a:rPr lang="en-US" sz="2200" b="1" i="1" dirty="0">
                    <a:latin typeface="Verdana" panose="020B0604030504040204" pitchFamily="34" charset="0"/>
                    <a:ea typeface="Verdana" panose="020B0604030504040204" pitchFamily="34" charset="0"/>
                    <a:cs typeface="Verdana" panose="020B0604030504040204" pitchFamily="34" charset="0"/>
                  </a:rPr>
                  <a:t>acute triangle</a:t>
                </a:r>
                <a:r>
                  <a:rPr lang="en-US" sz="2200" dirty="0">
                    <a:latin typeface="Verdana" panose="020B0604030504040204" pitchFamily="34" charset="0"/>
                    <a:ea typeface="Verdana" panose="020B0604030504040204" pitchFamily="34" charset="0"/>
                    <a:cs typeface="Verdana" panose="020B0604030504040204" pitchFamily="34" charset="0"/>
                  </a:rPr>
                  <a:t> is shown. Each square of the grid paper in Diagram 1 and Diagram 2 is </a:t>
                </a:r>
                <a14:m>
                  <m:oMath xmlns:m="http://schemas.openxmlformats.org/officeDocument/2006/math">
                    <m:r>
                      <a:rPr lang="en-US" sz="2200" i="1">
                        <a:latin typeface="Cambria Math" panose="02040503050406030204" pitchFamily="18" charset="0"/>
                        <a:ea typeface="Times New Roman" panose="02020603050405020304" pitchFamily="18" charset="0"/>
                        <a:cs typeface="Times New Roman" panose="02020603050405020304" pitchFamily="18" charset="0"/>
                      </a:rPr>
                      <m:t>1 </m:t>
                    </m:r>
                  </m:oMath>
                </a14:m>
                <a:r>
                  <a:rPr lang="en-US" sz="2200" dirty="0">
                    <a:latin typeface="Verdana" panose="020B0604030504040204" pitchFamily="34" charset="0"/>
                    <a:ea typeface="Verdana" panose="020B0604030504040204" pitchFamily="34" charset="0"/>
                    <a:cs typeface="Verdana" panose="020B0604030504040204" pitchFamily="34" charset="0"/>
                  </a:rPr>
                  <a:t>centimeter (cm) by </a:t>
                </a:r>
                <a14:m>
                  <m:oMath xmlns:m="http://schemas.openxmlformats.org/officeDocument/2006/math">
                    <m:r>
                      <a:rPr lang="en-US" sz="22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200" dirty="0">
                    <a:latin typeface="Verdana" panose="020B0604030504040204" pitchFamily="34" charset="0"/>
                    <a:ea typeface="Verdana" panose="020B0604030504040204" pitchFamily="34" charset="0"/>
                    <a:cs typeface="Verdana" panose="020B0604030504040204" pitchFamily="34" charset="0"/>
                  </a:rPr>
                  <a:t> cm.</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algn="r">
                  <a:spcAft>
                    <a:spcPts val="1000"/>
                  </a:spcAft>
                </a:pPr>
                <a:r>
                  <a:rPr lang="en-US" sz="2400" dirty="0">
                    <a:latin typeface="Verdana" panose="020B0604030504040204" pitchFamily="34" charset="0"/>
                    <a:ea typeface="Verdana" panose="020B0604030504040204" pitchFamily="34" charset="0"/>
                    <a:cs typeface="Verdana" panose="020B0604030504040204" pitchFamily="34" charset="0"/>
                  </a:rPr>
                  <a:t>                              </a:t>
                </a:r>
              </a:p>
              <a:p>
                <a:pPr algn="r">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algn="r">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1" algn="r"/>
                <a:r>
                  <a:rPr lang="en-US" sz="2000" dirty="0"/>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lvl="1" algn="r">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905255" y="1386026"/>
                <a:ext cx="10179511" cy="3467616"/>
              </a:xfrm>
              <a:prstGeom prst="rect">
                <a:avLst/>
              </a:prstGeom>
              <a:blipFill rotWithShape="1">
                <a:blip r:embed="rId5"/>
                <a:stretch>
                  <a:fillRect l="-719" t="-879" r="-1677"/>
                </a:stretch>
              </a:blipFill>
            </p:spPr>
            <p:txBody>
              <a:bodyPr/>
              <a:lstStyle/>
              <a:p>
                <a:r>
                  <a:rPr lang="en-PH">
                    <a:noFill/>
                  </a:rPr>
                  <a:t> </a:t>
                </a:r>
              </a:p>
            </p:txBody>
          </p:sp>
        </mc:Fallback>
      </mc:AlternateContent>
      <p:pic>
        <p:nvPicPr>
          <p:cNvPr id="11" name="Picture 10" descr="Chart, line chart&#10;&#10;Description automatically generated">
            <a:extLst>
              <a:ext uri="{FF2B5EF4-FFF2-40B4-BE49-F238E27FC236}">
                <a16:creationId xmlns:a16="http://schemas.microsoft.com/office/drawing/2014/main" xmlns="" id="{D0C5217B-0B3E-FA47-A7D4-D8D7A639E40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719421" y="3352704"/>
            <a:ext cx="3666885" cy="2827339"/>
          </a:xfrm>
          <a:prstGeom prst="rect">
            <a:avLst/>
          </a:prstGeom>
        </p:spPr>
      </p:pic>
      <p:sp>
        <p:nvSpPr>
          <p:cNvPr id="13" name="TextBox 12">
            <a:extLst>
              <a:ext uri="{FF2B5EF4-FFF2-40B4-BE49-F238E27FC236}">
                <a16:creationId xmlns:a16="http://schemas.microsoft.com/office/drawing/2014/main" xmlns="" id="{5244FBFD-06F1-894E-B20D-2E41AD3F93C7}"/>
              </a:ext>
            </a:extLst>
          </p:cNvPr>
          <p:cNvSpPr txBox="1"/>
          <p:nvPr/>
        </p:nvSpPr>
        <p:spPr>
          <a:xfrm>
            <a:off x="5727334" y="3726018"/>
            <a:ext cx="4889493" cy="769441"/>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Rectangle B is drawn around acute Triangle A, as shown. </a:t>
            </a:r>
          </a:p>
        </p:txBody>
      </p:sp>
    </p:spTree>
    <p:extLst>
      <p:ext uri="{BB962C8B-B14F-4D97-AF65-F5344CB8AC3E}">
        <p14:creationId xmlns:p14="http://schemas.microsoft.com/office/powerpoint/2010/main" val="16744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pic>
        <p:nvPicPr>
          <p:cNvPr id="12" name="Picture 11" descr="Chart, line chart&#10;&#10;Description automatically generated">
            <a:extLst>
              <a:ext uri="{FF2B5EF4-FFF2-40B4-BE49-F238E27FC236}">
                <a16:creationId xmlns:a16="http://schemas.microsoft.com/office/drawing/2014/main" xmlns="" id="{32E91CE9-3FEB-F44B-9B98-9E6DA96773E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2639" y="485686"/>
            <a:ext cx="4306520" cy="2943314"/>
          </a:xfrm>
          <a:prstGeom prst="rect">
            <a:avLst/>
          </a:prstGeom>
        </p:spPr>
      </p:pic>
      <p:sp>
        <p:nvSpPr>
          <p:cNvPr id="2" name="TextBox 1">
            <a:extLst>
              <a:ext uri="{FF2B5EF4-FFF2-40B4-BE49-F238E27FC236}">
                <a16:creationId xmlns:a16="http://schemas.microsoft.com/office/drawing/2014/main" xmlns="" id="{6AF0FFC2-7904-6148-9173-FC7CD39D63E7}"/>
              </a:ext>
            </a:extLst>
          </p:cNvPr>
          <p:cNvSpPr txBox="1"/>
          <p:nvPr/>
        </p:nvSpPr>
        <p:spPr>
          <a:xfrm>
            <a:off x="5635690" y="523503"/>
            <a:ext cx="4981136" cy="2677656"/>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height of acute Triangle A is shown as a dashed red line. It divides Rectangle B into two smaller rectangles, </a:t>
            </a:r>
          </a:p>
          <a:p>
            <a:r>
              <a:rPr lang="en-US" sz="2400" dirty="0">
                <a:latin typeface="Verdana" panose="020B0604030504040204" pitchFamily="34" charset="0"/>
                <a:ea typeface="Verdana" panose="020B0604030504040204" pitchFamily="34" charset="0"/>
                <a:cs typeface="Verdana" panose="020B0604030504040204" pitchFamily="34" charset="0"/>
              </a:rPr>
              <a:t>Rectangle K and Rectangle M, and divides Triangle A into two smaller right triangles. </a:t>
            </a:r>
          </a:p>
        </p:txBody>
      </p:sp>
    </p:spTree>
    <p:extLst>
      <p:ext uri="{BB962C8B-B14F-4D97-AF65-F5344CB8AC3E}">
        <p14:creationId xmlns:p14="http://schemas.microsoft.com/office/powerpoint/2010/main" val="3257695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05256" y="520394"/>
            <a:ext cx="8328932" cy="3170099"/>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Use the two diagrams to complete the table.</a:t>
            </a:r>
          </a:p>
          <a:p>
            <a:pPr marL="457200" indent="-457200">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pic>
        <p:nvPicPr>
          <p:cNvPr id="3" name="Picture 2" descr="Table&#10;&#10;Description automatically generated">
            <a:extLst>
              <a:ext uri="{FF2B5EF4-FFF2-40B4-BE49-F238E27FC236}">
                <a16:creationId xmlns:a16="http://schemas.microsoft.com/office/drawing/2014/main" xmlns="" id="{71965EC2-C2B7-CD48-961A-035ABEB20B99}"/>
              </a:ext>
            </a:extLst>
          </p:cNvPr>
          <p:cNvPicPr>
            <a:picLocks noChangeAspect="1"/>
          </p:cNvPicPr>
          <p:nvPr/>
        </p:nvPicPr>
        <p:blipFill rotWithShape="1">
          <a:blip r:embed="rId4"/>
          <a:srcRect l="1080" r="545"/>
          <a:stretch/>
        </p:blipFill>
        <p:spPr>
          <a:xfrm>
            <a:off x="2215223" y="1081955"/>
            <a:ext cx="7914016" cy="4685741"/>
          </a:xfrm>
          <a:prstGeom prst="rect">
            <a:avLst/>
          </a:prstGeom>
        </p:spPr>
      </p:pic>
    </p:spTree>
    <p:extLst>
      <p:ext uri="{BB962C8B-B14F-4D97-AF65-F5344CB8AC3E}">
        <p14:creationId xmlns:p14="http://schemas.microsoft.com/office/powerpoint/2010/main" val="3755819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05256" y="520393"/>
            <a:ext cx="10832654" cy="4493538"/>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The area of acute Triangle A is equal to the sum of the right triangle inscribed in Rectangle K and the right triangle inscribed in Rectangle M.</a:t>
            </a:r>
          </a:p>
          <a:p>
            <a:pPr marL="457200" indent="-457200">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898525" indent="-461963">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What is the area of acute Triangle A?</a:t>
            </a:r>
          </a:p>
          <a:p>
            <a:pPr marL="898525" indent="-461963">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898525" indent="-461963">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898525" indent="-461963">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898525" indent="-461963">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What is the area of Rectangle B?</a:t>
            </a:r>
          </a:p>
          <a:p>
            <a:pPr marL="898525" indent="-461963">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898525" indent="-461963">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898525" indent="-461963">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898525" indent="-461963">
              <a:buFont typeface="+mj-lt"/>
              <a:buAutoNum type="alphaLcPeriod"/>
            </a:pPr>
            <a:r>
              <a:rPr lang="en-US" sz="2200" dirty="0" smtClean="0">
                <a:latin typeface="Verdana" panose="020B0604030504040204" pitchFamily="34" charset="0"/>
                <a:ea typeface="Verdana" panose="020B0604030504040204" pitchFamily="34" charset="0"/>
                <a:cs typeface="Verdana" panose="020B0604030504040204" pitchFamily="34" charset="0"/>
              </a:rPr>
              <a:t>What </a:t>
            </a:r>
            <a:r>
              <a:rPr lang="en-US" sz="2200" dirty="0">
                <a:latin typeface="Verdana" panose="020B0604030504040204" pitchFamily="34" charset="0"/>
                <a:ea typeface="Verdana" panose="020B0604030504040204" pitchFamily="34" charset="0"/>
                <a:cs typeface="Verdana" panose="020B0604030504040204" pitchFamily="34" charset="0"/>
              </a:rPr>
              <a:t>is the relationship between the area of Rectangle B</a:t>
            </a:r>
            <a:r>
              <a:rPr lang="en-US" sz="2200" i="1" dirty="0">
                <a:latin typeface="Verdana" panose="020B0604030504040204" pitchFamily="34" charset="0"/>
                <a:ea typeface="Verdana" panose="020B0604030504040204" pitchFamily="34" charset="0"/>
                <a:cs typeface="Verdana" panose="020B0604030504040204" pitchFamily="34" charset="0"/>
              </a:rPr>
              <a:t> </a:t>
            </a:r>
            <a:r>
              <a:rPr lang="en-US" sz="2200" dirty="0">
                <a:latin typeface="Verdana" panose="020B0604030504040204" pitchFamily="34" charset="0"/>
                <a:ea typeface="Verdana" panose="020B0604030504040204" pitchFamily="34" charset="0"/>
                <a:cs typeface="Verdana" panose="020B0604030504040204" pitchFamily="34" charset="0"/>
              </a:rPr>
              <a:t>and the area of acute Triangle A? </a:t>
            </a:r>
          </a:p>
        </p:txBody>
      </p:sp>
    </p:spTree>
    <p:extLst>
      <p:ext uri="{BB962C8B-B14F-4D97-AF65-F5344CB8AC3E}">
        <p14:creationId xmlns:p14="http://schemas.microsoft.com/office/powerpoint/2010/main" val="1942746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905256" y="520393"/>
                <a:ext cx="8327136" cy="4093428"/>
              </a:xfrm>
              <a:prstGeom prst="rect">
                <a:avLst/>
              </a:prstGeom>
              <a:noFill/>
            </p:spPr>
            <p:txBody>
              <a:bodyPr wrap="square" rtlCol="0">
                <a:spAutoFit/>
              </a:bodyPr>
              <a:lstStyle/>
              <a:p>
                <a:pPr marL="461963" indent="-461963">
                  <a:buFont typeface="+mj-lt"/>
                  <a:buAutoNum type="arabicPeriod" startAt="3"/>
                </a:pPr>
                <a:r>
                  <a:rPr lang="en-US" sz="2000" dirty="0" smtClean="0">
                    <a:latin typeface="Verdana" panose="020B0604030504040204" pitchFamily="34" charset="0"/>
                    <a:ea typeface="Times New Roman" panose="02020603050405020304" pitchFamily="18" charset="0"/>
                    <a:cs typeface="Times New Roman" panose="02020603050405020304" pitchFamily="18" charset="0"/>
                  </a:rPr>
                  <a:t>An </a:t>
                </a:r>
                <a:r>
                  <a:rPr lang="en-US" sz="2000" b="1" i="1" dirty="0">
                    <a:latin typeface="Verdana" panose="020B0604030504040204" pitchFamily="34" charset="0"/>
                    <a:ea typeface="Times New Roman" panose="02020603050405020304" pitchFamily="18" charset="0"/>
                    <a:cs typeface="Times New Roman" panose="02020603050405020304" pitchFamily="18" charset="0"/>
                  </a:rPr>
                  <a:t>obtuse triangle</a:t>
                </a:r>
                <a:r>
                  <a:rPr lang="en-US" sz="2000" dirty="0">
                    <a:latin typeface="Verdana" panose="020B0604030504040204" pitchFamily="34" charset="0"/>
                    <a:ea typeface="Times New Roman" panose="02020603050405020304" pitchFamily="18" charset="0"/>
                    <a:cs typeface="Times New Roman" panose="02020603050405020304" pitchFamily="18" charset="0"/>
                  </a:rPr>
                  <a:t> is shown. Each square of the grid paper 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centimeter (cm) by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cm.</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lgn="r"/>
                <a:endParaRPr lang="en-US" sz="2000" dirty="0">
                  <a:latin typeface="Verdana" panose="020B0604030504040204" pitchFamily="34" charset="0"/>
                  <a:ea typeface="Verdana" panose="020B0604030504040204" pitchFamily="34" charset="0"/>
                  <a:cs typeface="Verdana" panose="020B0604030504040204" pitchFamily="34" charset="0"/>
                </a:endParaRPr>
              </a:p>
              <a:p>
                <a:pPr lvl="0" algn="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905256" y="520393"/>
                <a:ext cx="8327136" cy="4093428"/>
              </a:xfrm>
              <a:prstGeom prst="rect">
                <a:avLst/>
              </a:prstGeom>
              <a:blipFill rotWithShape="1">
                <a:blip r:embed="rId4"/>
                <a:stretch>
                  <a:fillRect l="-805" t="-893"/>
                </a:stretch>
              </a:blipFill>
            </p:spPr>
            <p:txBody>
              <a:bodyPr/>
              <a:lstStyle/>
              <a:p>
                <a:r>
                  <a:rPr lang="en-PH">
                    <a:noFill/>
                  </a:rPr>
                  <a:t> </a:t>
                </a:r>
              </a:p>
            </p:txBody>
          </p:sp>
        </mc:Fallback>
      </mc:AlternateContent>
      <p:pic>
        <p:nvPicPr>
          <p:cNvPr id="10" name="Picture 9">
            <a:extLst>
              <a:ext uri="{FF2B5EF4-FFF2-40B4-BE49-F238E27FC236}">
                <a16:creationId xmlns:a16="http://schemas.microsoft.com/office/drawing/2014/main" xmlns="" id="{5FBA90C9-2CC6-0B44-A111-9D3C23578FE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94332" y="1435357"/>
            <a:ext cx="3963638" cy="2263499"/>
          </a:xfrm>
          <a:prstGeom prst="rect">
            <a:avLst/>
          </a:prstGeom>
        </p:spPr>
      </p:pic>
      <p:pic>
        <p:nvPicPr>
          <p:cNvPr id="3" name="Picture 2" descr="Chart, line chart&#10;&#10;Description automatically generated">
            <a:extLst>
              <a:ext uri="{FF2B5EF4-FFF2-40B4-BE49-F238E27FC236}">
                <a16:creationId xmlns:a16="http://schemas.microsoft.com/office/drawing/2014/main" xmlns="" id="{AF8B0D72-A308-9A43-8581-F2E725D5D807}"/>
              </a:ext>
            </a:extLst>
          </p:cNvPr>
          <p:cNvPicPr>
            <a:picLocks noChangeAspect="1"/>
          </p:cNvPicPr>
          <p:nvPr/>
        </p:nvPicPr>
        <p:blipFill>
          <a:blip r:embed="rId6"/>
          <a:stretch>
            <a:fillRect/>
          </a:stretch>
        </p:blipFill>
        <p:spPr>
          <a:xfrm>
            <a:off x="1433908" y="4156169"/>
            <a:ext cx="3363096" cy="2228224"/>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xmlns="" id="{5272E1F1-8308-3443-BFE4-D9E6FEA4AF42}"/>
                  </a:ext>
                </a:extLst>
              </p:cNvPr>
              <p:cNvSpPr txBox="1"/>
              <p:nvPr/>
            </p:nvSpPr>
            <p:spPr>
              <a:xfrm>
                <a:off x="5325656" y="4090838"/>
                <a:ext cx="4303536" cy="2246769"/>
              </a:xfrm>
              <a:prstGeom prst="rect">
                <a:avLst/>
              </a:prstGeom>
              <a:noFill/>
            </p:spPr>
            <p:txBody>
              <a:bodyPr wrap="square" rtlCol="0">
                <a:spAutoFit/>
              </a:bodyPr>
              <a:lstStyle/>
              <a:p>
                <a:pPr marL="342900" indent="-3429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length of the triangle’s base (</a:t>
                </a:r>
                <a14:m>
                  <m:oMath xmlns:m="http://schemas.openxmlformats.org/officeDocument/2006/math">
                    <m:r>
                      <a:rPr lang="en-US" sz="2000" i="1">
                        <a:latin typeface="Cambria Math" panose="02040503050406030204" pitchFamily="18" charset="0"/>
                      </a:rPr>
                      <m:t>𝑏</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height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h</m:t>
                    </m:r>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of the triangle?</a:t>
                </a: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 name="TextBox 3">
                <a:extLst>
                  <a:ext uri="{FF2B5EF4-FFF2-40B4-BE49-F238E27FC236}">
                    <a16:creationId xmlns:a16="http://schemas.microsoft.com/office/drawing/2014/main" id="{5272E1F1-8308-3443-BFE4-D9E6FEA4AF42}"/>
                  </a:ext>
                </a:extLst>
              </p:cNvPr>
              <p:cNvSpPr txBox="1">
                <a:spLocks noRot="1" noChangeAspect="1" noMove="1" noResize="1" noEditPoints="1" noAdjustHandles="1" noChangeArrowheads="1" noChangeShapeType="1" noTextEdit="1"/>
              </p:cNvSpPr>
              <p:nvPr/>
            </p:nvSpPr>
            <p:spPr>
              <a:xfrm>
                <a:off x="5325656" y="4090838"/>
                <a:ext cx="4303536" cy="2246769"/>
              </a:xfrm>
              <a:prstGeom prst="rect">
                <a:avLst/>
              </a:prstGeom>
              <a:blipFill>
                <a:blip r:embed="rId7"/>
                <a:stretch>
                  <a:fillRect l="-1471" t="-1685"/>
                </a:stretch>
              </a:blipFill>
            </p:spPr>
            <p:txBody>
              <a:bodyPr/>
              <a:lstStyle/>
              <a:p>
                <a:r>
                  <a:rPr lang="en-US">
                    <a:noFill/>
                  </a:rPr>
                  <a:t> </a:t>
                </a:r>
              </a:p>
            </p:txBody>
          </p:sp>
        </mc:Fallback>
      </mc:AlternateContent>
    </p:spTree>
    <p:extLst>
      <p:ext uri="{BB962C8B-B14F-4D97-AF65-F5344CB8AC3E}">
        <p14:creationId xmlns:p14="http://schemas.microsoft.com/office/powerpoint/2010/main" val="3259153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905255" y="520393"/>
                <a:ext cx="10328802" cy="6586418"/>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A copy of the triangle is made, and the two triangles are </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arranged </a:t>
                </a:r>
                <a:r>
                  <a:rPr lang="en-US" sz="2000" dirty="0">
                    <a:latin typeface="Verdana" panose="020B0604030504040204" pitchFamily="34" charset="0"/>
                    <a:ea typeface="Times New Roman" panose="02020603050405020304" pitchFamily="18" charset="0"/>
                    <a:cs typeface="Times New Roman" panose="02020603050405020304" pitchFamily="18" charset="0"/>
                  </a:rPr>
                  <a:t>to form a parallelogram with a base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cm and a height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cm, as shown.</a:t>
                </a:r>
                <a:r>
                  <a:rPr lang="en-US" dirty="0">
                    <a:latin typeface="Cambria" panose="02040503050406030204" pitchFamily="18" charset="0"/>
                    <a:ea typeface="Times New Roman" panose="02020603050405020304" pitchFamily="18" charset="0"/>
                    <a:cs typeface="Times New Roman" panose="02020603050405020304" pitchFamily="18" charset="0"/>
                  </a:rPr>
                  <a:t> </a:t>
                </a:r>
              </a:p>
              <a:p>
                <a:pPr marL="342900" indent="-342900" algn="just">
                  <a:buAutoNum type="arabicPeriod" startAt="4"/>
                </a:pPr>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lgn="just">
                  <a:buAutoNum type="arabicPeriod" startAt="4"/>
                </a:pPr>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lgn="just">
                  <a:buAutoNum type="arabicPeriod" startAt="4"/>
                </a:pPr>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lgn="just">
                  <a:buAutoNum type="arabicPeriod" startAt="4"/>
                </a:pPr>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lvl="0" algn="just"/>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lvl="0" algn="just"/>
                <a:endParaRPr lang="en-US" dirty="0" smtClean="0">
                  <a:latin typeface="Cambria" panose="02040503050406030204" pitchFamily="18" charset="0"/>
                  <a:ea typeface="Times New Roman" panose="02020603050405020304" pitchFamily="18" charset="0"/>
                  <a:cs typeface="Times New Roman" panose="02020603050405020304" pitchFamily="18" charset="0"/>
                </a:endParaRPr>
              </a:p>
              <a:p>
                <a:pPr lvl="0" algn="just"/>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lvl="0" algn="just"/>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lvl="0" algn="just"/>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lvl="0" algn="just"/>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lvl="0" algn="just"/>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lvl="0" algn="just"/>
                <a:endParaRPr lang="en-US" dirty="0">
                  <a:latin typeface="Cambria" panose="02040503050406030204" pitchFamily="18" charset="0"/>
                  <a:ea typeface="Times New Roman" panose="02020603050405020304" pitchFamily="18" charset="0"/>
                  <a:cs typeface="Times New Roman" panose="02020603050405020304" pitchFamily="18" charset="0"/>
                </a:endParaRPr>
              </a:p>
              <a:p>
                <a:pPr marL="461963" algn="just"/>
                <a:r>
                  <a:rPr lang="en-US" sz="2000" dirty="0">
                    <a:latin typeface="Verdana" panose="020B0604030504040204" pitchFamily="34" charset="0"/>
                    <a:ea typeface="Verdana" panose="020B0604030504040204" pitchFamily="34" charset="0"/>
                    <a:cs typeface="Verdana" panose="020B0604030504040204" pitchFamily="34" charset="0"/>
                  </a:rPr>
                  <a:t>The parallelogram is then decomposed, and the parts are rearranged to form a rectangle.</a:t>
                </a:r>
              </a:p>
              <a:p>
                <a:pPr marL="342900" indent="-342900" algn="just">
                  <a:buAutoNum type="arabicPeriod" startAt="5"/>
                </a:pPr>
                <a:endParaRPr lang="en-US" dirty="0">
                  <a:latin typeface="Cambria" panose="02040503050406030204" pitchFamily="18"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905255" y="520393"/>
                <a:ext cx="10328802" cy="6586418"/>
              </a:xfrm>
              <a:prstGeom prst="rect">
                <a:avLst/>
              </a:prstGeom>
              <a:blipFill rotWithShape="1">
                <a:blip r:embed="rId4"/>
                <a:stretch>
                  <a:fillRect l="-590" t="-555" r="-590"/>
                </a:stretch>
              </a:blipFill>
            </p:spPr>
            <p:txBody>
              <a:bodyPr/>
              <a:lstStyle/>
              <a:p>
                <a:r>
                  <a:rPr lang="en-PH">
                    <a:noFill/>
                  </a:rPr>
                  <a:t> </a:t>
                </a:r>
              </a:p>
            </p:txBody>
          </p:sp>
        </mc:Fallback>
      </mc:AlternateContent>
      <p:pic>
        <p:nvPicPr>
          <p:cNvPr id="4" name="Picture 3" descr="A picture containing text, shoji, toilet&#10;&#10;Description automatically generated">
            <a:extLst>
              <a:ext uri="{FF2B5EF4-FFF2-40B4-BE49-F238E27FC236}">
                <a16:creationId xmlns:a16="http://schemas.microsoft.com/office/drawing/2014/main" xmlns="" id="{65BA1325-0A69-274B-9B4B-FBA7BE78A43D}"/>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r="1233"/>
          <a:stretch/>
        </p:blipFill>
        <p:spPr>
          <a:xfrm>
            <a:off x="2622551" y="1536126"/>
            <a:ext cx="6246630" cy="1919357"/>
          </a:xfrm>
          <a:prstGeom prst="rect">
            <a:avLst/>
          </a:prstGeom>
        </p:spPr>
      </p:pic>
      <p:pic>
        <p:nvPicPr>
          <p:cNvPr id="6" name="Picture 5" descr="Chart, line chart&#10;&#10;Description automatically generated">
            <a:extLst>
              <a:ext uri="{FF2B5EF4-FFF2-40B4-BE49-F238E27FC236}">
                <a16:creationId xmlns:a16="http://schemas.microsoft.com/office/drawing/2014/main" xmlns="" id="{A901880D-AFE4-454F-ABD3-6271415BCA8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598763" y="4511476"/>
            <a:ext cx="6270418" cy="1947979"/>
          </a:xfrm>
          <a:prstGeom prst="rect">
            <a:avLst/>
          </a:prstGeom>
        </p:spPr>
      </p:pic>
    </p:spTree>
    <p:extLst>
      <p:ext uri="{BB962C8B-B14F-4D97-AF65-F5344CB8AC3E}">
        <p14:creationId xmlns:p14="http://schemas.microsoft.com/office/powerpoint/2010/main" val="451812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05256" y="520393"/>
            <a:ext cx="10366124" cy="4493538"/>
          </a:xfrm>
          <a:prstGeom prst="rect">
            <a:avLst/>
          </a:prstGeom>
          <a:noFill/>
        </p:spPr>
        <p:txBody>
          <a:bodyPr wrap="square" rtlCol="0">
            <a:spAutoFit/>
          </a:bodyPr>
          <a:lstStyle/>
          <a:p>
            <a:pPr marL="457200" indent="-457200">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Complete the table.</a:t>
            </a:r>
          </a:p>
          <a:p>
            <a:pPr marL="457200" indent="-4572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Arial"/>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How many obtuse triangles were needed to create the rectangle?                                 </a:t>
            </a:r>
          </a:p>
        </p:txBody>
      </p:sp>
      <p:pic>
        <p:nvPicPr>
          <p:cNvPr id="5" name="Picture 4" descr="Table&#10;&#10;Description automatically generated">
            <a:extLst>
              <a:ext uri="{FF2B5EF4-FFF2-40B4-BE49-F238E27FC236}">
                <a16:creationId xmlns:a16="http://schemas.microsoft.com/office/drawing/2014/main" xmlns="" id="{92C85CF6-E424-774B-8BF8-6C124FFC85F0}"/>
              </a:ext>
            </a:extLst>
          </p:cNvPr>
          <p:cNvPicPr>
            <a:picLocks noChangeAspect="1"/>
          </p:cNvPicPr>
          <p:nvPr/>
        </p:nvPicPr>
        <p:blipFill>
          <a:blip r:embed="rId4"/>
          <a:stretch>
            <a:fillRect/>
          </a:stretch>
        </p:blipFill>
        <p:spPr>
          <a:xfrm>
            <a:off x="2324101" y="1272412"/>
            <a:ext cx="7309578" cy="2631448"/>
          </a:xfrm>
          <a:prstGeom prst="rect">
            <a:avLst/>
          </a:prstGeom>
        </p:spPr>
      </p:pic>
    </p:spTree>
    <p:extLst>
      <p:ext uri="{BB962C8B-B14F-4D97-AF65-F5344CB8AC3E}">
        <p14:creationId xmlns:p14="http://schemas.microsoft.com/office/powerpoint/2010/main" val="3217188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05256" y="520393"/>
            <a:ext cx="10888638" cy="5570756"/>
          </a:xfrm>
          <a:prstGeom prst="rect">
            <a:avLst/>
          </a:prstGeom>
          <a:noFill/>
        </p:spPr>
        <p:txBody>
          <a:bodyPr wrap="square" rtlCol="0">
            <a:spAutoFit/>
          </a:bodyPr>
          <a:lstStyle/>
          <a:p>
            <a:pPr marL="461963" indent="-461963">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area of the rectangle?</a:t>
            </a:r>
          </a:p>
          <a:p>
            <a:pPr marL="342900" indent="-342900">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1963" indent="-461963">
              <a:buFont typeface="Arial"/>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relationship between the area of the rectangle and the obtuse triangle?</a:t>
            </a:r>
          </a:p>
          <a:p>
            <a:pPr marL="461963" indent="-461963">
              <a:buFont typeface="Arial"/>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61963" indent="-461963"/>
            <a:r>
              <a:rPr lang="en-US" sz="2400" dirty="0">
                <a:latin typeface="Verdana" panose="020B0604030504040204" pitchFamily="34" charset="0"/>
                <a:ea typeface="Verdana" panose="020B0604030504040204" pitchFamily="34" charset="0"/>
                <a:cs typeface="Verdana" panose="020B0604030504040204" pitchFamily="34" charset="0"/>
              </a:rPr>
              <a:t>e. Based on this relationship, what is the area of the obtuse triangle?</a:t>
            </a:r>
          </a:p>
          <a:p>
            <a:pPr marL="342900" indent="-342900">
              <a:buAutoNum type="alphaLcPeriod" startAt="3"/>
            </a:pPr>
            <a:endParaRPr lang="en-US" dirty="0"/>
          </a:p>
          <a:p>
            <a:r>
              <a:rPr lang="en-US" dirty="0"/>
              <a:t> </a:t>
            </a:r>
            <a:endParaRPr lang="en-US" dirty="0">
              <a:latin typeface="Cambria" panose="02040503050406030204" pitchFamily="18"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cs typeface="Times New Roman" panose="02020603050405020304" pitchFamily="18" charset="0"/>
            </a:endParaRPr>
          </a:p>
          <a:p>
            <a:endParaRPr lang="en-US" sz="2000" dirty="0">
              <a:latin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597134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p:pic>
        <p:nvPicPr>
          <p:cNvPr id="13314" name="Picture 2" descr="Icon&#10;&#10;Description automatically generated">
            <a:extLst>
              <a:ext uri="{FF2B5EF4-FFF2-40B4-BE49-F238E27FC236}">
                <a16:creationId xmlns:a16="http://schemas.microsoft.com/office/drawing/2014/main" xmlns=""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065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06424" y="-12827"/>
            <a:ext cx="108740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8.1.4 Bring It Together: </a:t>
            </a:r>
            <a:r>
              <a:rPr lang="en-US" sz="3200" b="1" dirty="0">
                <a:solidFill>
                  <a:srgbClr val="4BB8D4"/>
                </a:solidFill>
                <a:latin typeface="Verdana" panose="020B0604030504040204" pitchFamily="34" charset="0"/>
                <a:ea typeface="Verdana" panose="020B0604030504040204" pitchFamily="34" charset="0"/>
                <a:cs typeface="Verdana" panose="020B0604030504040204" pitchFamily="34" charset="0"/>
              </a:rPr>
              <a:t>Formula for the Area of a Triangle</a:t>
            </a:r>
            <a:r>
              <a:rPr lang="en-US" sz="3200" b="1" dirty="0">
                <a:latin typeface="Verdana" panose="020B0604030504040204" pitchFamily="34" charset="0"/>
                <a:ea typeface="Verdana" panose="020B0604030504040204" pitchFamily="34" charset="0"/>
                <a:cs typeface="Verdana" panose="020B0604030504040204" pitchFamily="34" charset="0"/>
              </a:rPr>
              <a:t> </a:t>
            </a:r>
            <a:endParaRPr lang="en-US" sz="3200" b="1" dirty="0">
              <a:solidFill>
                <a:srgbClr val="54B5D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p:sp>
        <p:nvSpPr>
          <p:cNvPr id="8" name="TextBox 7">
            <a:extLst>
              <a:ext uri="{FF2B5EF4-FFF2-40B4-BE49-F238E27FC236}">
                <a16:creationId xmlns:a16="http://schemas.microsoft.com/office/drawing/2014/main" xmlns="" id="{669E00F9-F39F-5043-888E-B0A2D8C9AE0F}"/>
              </a:ext>
            </a:extLst>
          </p:cNvPr>
          <p:cNvSpPr txBox="1"/>
          <p:nvPr/>
        </p:nvSpPr>
        <p:spPr>
          <a:xfrm>
            <a:off x="905256" y="1248358"/>
            <a:ext cx="10366124" cy="5016758"/>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Complete the statements</a:t>
            </a:r>
          </a:p>
          <a:p>
            <a:pPr marL="342900" indent="-3429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area of the </a:t>
            </a:r>
            <a:r>
              <a:rPr lang="en-US" sz="2000" b="1" dirty="0">
                <a:latin typeface="Verdana" panose="020B0604030504040204" pitchFamily="34" charset="0"/>
                <a:ea typeface="Verdana" panose="020B0604030504040204" pitchFamily="34" charset="0"/>
                <a:cs typeface="Verdana" panose="020B0604030504040204" pitchFamily="34" charset="0"/>
              </a:rPr>
              <a:t>right</a:t>
            </a:r>
            <a:r>
              <a:rPr lang="en-US" sz="2000" dirty="0">
                <a:latin typeface="Verdana" panose="020B0604030504040204" pitchFamily="34" charset="0"/>
                <a:ea typeface="Verdana" panose="020B0604030504040204" pitchFamily="34" charset="0"/>
                <a:cs typeface="Verdana" panose="020B0604030504040204" pitchFamily="34" charset="0"/>
              </a:rPr>
              <a:t> triangle was </a:t>
            </a:r>
            <a:r>
              <a:rPr lang="en-US" sz="2000" dirty="0" smtClean="0">
                <a:latin typeface="Verdana" panose="020B0604030504040204" pitchFamily="34" charset="0"/>
                <a:ea typeface="Verdana" panose="020B0604030504040204" pitchFamily="34" charset="0"/>
                <a:cs typeface="Verdana" panose="020B0604030504040204" pitchFamily="34" charset="0"/>
              </a:rPr>
              <a:t>			  the</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area of the rectangle with the same base and height.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The area of the </a:t>
            </a:r>
            <a:r>
              <a:rPr lang="en-US" sz="2000" b="1" dirty="0">
                <a:latin typeface="Verdana" panose="020B0604030504040204" pitchFamily="34" charset="0"/>
                <a:ea typeface="Times New Roman" panose="02020603050405020304" pitchFamily="18" charset="0"/>
                <a:cs typeface="Times New Roman" panose="02020603050405020304" pitchFamily="18" charset="0"/>
              </a:rPr>
              <a:t>acute</a:t>
            </a:r>
            <a:r>
              <a:rPr lang="en-US" sz="2000" dirty="0">
                <a:latin typeface="Verdana" panose="020B0604030504040204" pitchFamily="34" charset="0"/>
                <a:ea typeface="Times New Roman" panose="02020603050405020304" pitchFamily="18" charset="0"/>
                <a:cs typeface="Times New Roman" panose="02020603050405020304" pitchFamily="18" charset="0"/>
              </a:rPr>
              <a:t> triangle was </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			  the</a:t>
            </a:r>
            <a:endParaRPr lang="en-US" dirty="0">
              <a:latin typeface="Cambria" panose="02040503050406030204" pitchFamily="18"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dirty="0">
              <a:latin typeface="Cambria" panose="02040503050406030204" pitchFamily="18"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area of the rectangle with the same base and height.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10" name="Picture 2" descr="Icon&#10;&#10;Description automatically generated">
            <a:extLst>
              <a:ext uri="{FF2B5EF4-FFF2-40B4-BE49-F238E27FC236}">
                <a16:creationId xmlns:a16="http://schemas.microsoft.com/office/drawing/2014/main" xmlns="" id="{649008E9-40B8-C74A-99EE-3168B937C19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Rectangle: Rounded Corners 102">
            <a:extLst>
              <a:ext uri="{FF2B5EF4-FFF2-40B4-BE49-F238E27FC236}">
                <a16:creationId xmlns:a16="http://schemas.microsoft.com/office/drawing/2014/main" xmlns="" id="{84347D73-CC6B-4A4B-BC47-CF9A8EBA3EE3}"/>
              </a:ext>
            </a:extLst>
          </p:cNvPr>
          <p:cNvSpPr/>
          <p:nvPr/>
        </p:nvSpPr>
        <p:spPr>
          <a:xfrm>
            <a:off x="5589377" y="1520788"/>
            <a:ext cx="1908175" cy="781050"/>
          </a:xfrm>
          <a:prstGeom prst="roundRect">
            <a:avLst/>
          </a:prstGeom>
          <a:solidFill>
            <a:sysClr val="window" lastClr="FFFFFF"/>
          </a:solidFill>
          <a:ln w="1270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1800" dirty="0">
                <a:latin typeface="Verdana" panose="020B0604030504040204" pitchFamily="34" charset="0"/>
                <a:ea typeface="Times New Roman" panose="02020603050405020304" pitchFamily="18" charset="0"/>
                <a:cs typeface="Times New Roman" panose="02020603050405020304" pitchFamily="18" charset="0"/>
              </a:rPr>
              <a:t>half</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r>
              <a:rPr lang="en-US" sz="1800" dirty="0">
                <a:latin typeface="Verdana" panose="020B0604030504040204" pitchFamily="34" charset="0"/>
                <a:ea typeface="Times New Roman" panose="02020603050405020304" pitchFamily="18" charset="0"/>
                <a:cs typeface="Times New Roman" panose="02020603050405020304" pitchFamily="18" charset="0"/>
              </a:rPr>
              <a:t>the same as</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1" name="Rectangle: Rounded Corners 57">
            <a:extLst>
              <a:ext uri="{FF2B5EF4-FFF2-40B4-BE49-F238E27FC236}">
                <a16:creationId xmlns:a16="http://schemas.microsoft.com/office/drawing/2014/main" xmlns="" id="{FAD620EC-D25E-6E4D-B0F1-D780ACC436E5}"/>
              </a:ext>
            </a:extLst>
          </p:cNvPr>
          <p:cNvSpPr/>
          <p:nvPr/>
        </p:nvSpPr>
        <p:spPr>
          <a:xfrm>
            <a:off x="5597059" y="3756737"/>
            <a:ext cx="1908175" cy="781050"/>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1800" dirty="0">
                <a:latin typeface="Verdana" panose="020B0604030504040204" pitchFamily="34" charset="0"/>
                <a:ea typeface="Times New Roman" panose="02020603050405020304" pitchFamily="18" charset="0"/>
                <a:cs typeface="Times New Roman" panose="02020603050405020304" pitchFamily="18" charset="0"/>
              </a:rPr>
              <a:t>half</a:t>
            </a:r>
            <a:endParaRPr lang="en-US" sz="1200" dirty="0">
              <a:ea typeface="Times New Roman" panose="020206030504050203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r>
              <a:rPr lang="en-US" sz="1800" dirty="0">
                <a:latin typeface="Verdana" panose="020B0604030504040204" pitchFamily="34" charset="0"/>
                <a:ea typeface="Times New Roman" panose="02020603050405020304" pitchFamily="18" charset="0"/>
                <a:cs typeface="Times New Roman" panose="02020603050405020304" pitchFamily="18" charset="0"/>
              </a:rPr>
              <a:t>the same as</a:t>
            </a:r>
            <a:endParaRPr lang="en-US" sz="1200" dirty="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9856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xmlns="" id="{669E00F9-F39F-5043-888E-B0A2D8C9AE0F}"/>
                  </a:ext>
                </a:extLst>
              </p:cNvPr>
              <p:cNvSpPr txBox="1"/>
              <p:nvPr/>
            </p:nvSpPr>
            <p:spPr>
              <a:xfrm>
                <a:off x="905256" y="373707"/>
                <a:ext cx="10254156" cy="5878532"/>
              </a:xfrm>
              <a:prstGeom prst="rect">
                <a:avLst/>
              </a:prstGeom>
              <a:noFill/>
            </p:spPr>
            <p:txBody>
              <a:bodyPr wrap="square" rtlCol="0">
                <a:spAutoFit/>
              </a:bodyPr>
              <a:lstStyle/>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area of the </a:t>
                </a:r>
                <a:r>
                  <a:rPr lang="en-US" sz="2000" b="1" dirty="0">
                    <a:latin typeface="Verdana" panose="020B0604030504040204" pitchFamily="34" charset="0"/>
                    <a:ea typeface="Verdana" panose="020B0604030504040204" pitchFamily="34" charset="0"/>
                    <a:cs typeface="Verdana" panose="020B0604030504040204" pitchFamily="34" charset="0"/>
                  </a:rPr>
                  <a:t>obtuse</a:t>
                </a:r>
                <a:r>
                  <a:rPr lang="en-US" sz="2000" dirty="0">
                    <a:latin typeface="Verdana" panose="020B0604030504040204" pitchFamily="34" charset="0"/>
                    <a:ea typeface="Verdana" panose="020B0604030504040204" pitchFamily="34" charset="0"/>
                    <a:cs typeface="Verdana" panose="020B0604030504040204" pitchFamily="34" charset="0"/>
                  </a:rPr>
                  <a:t> triangle was </a:t>
                </a:r>
                <a:r>
                  <a:rPr lang="en-US" sz="2000" dirty="0" smtClean="0">
                    <a:latin typeface="Verdana" panose="020B0604030504040204" pitchFamily="34" charset="0"/>
                    <a:ea typeface="Verdana" panose="020B0604030504040204" pitchFamily="34" charset="0"/>
                    <a:cs typeface="Verdana" panose="020B0604030504040204" pitchFamily="34" charset="0"/>
                  </a:rPr>
                  <a:t>		     the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area of the rectangle with the same base and height.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formula for the area of any rectangle 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𝐴</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𝑏h</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AutoNum type="arabicPeriod" startAt="2"/>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algn="ct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𝐴</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𝑏𝑎𝑠𝑒</m:t>
                    </m:r>
                    <m:r>
                      <a:rPr lang="en-US" sz="2000" i="1">
                        <a:latin typeface="Cambria Math" panose="02040503050406030204" pitchFamily="18" charset="0"/>
                        <a:ea typeface="Times New Roman" panose="02020603050405020304" pitchFamily="18" charset="0"/>
                        <a:cs typeface="Times New Roman" panose="02020603050405020304" pitchFamily="18" charset="0"/>
                      </a:rPr>
                      <m:t> ∙ </m:t>
                    </m:r>
                    <m:r>
                      <a:rPr lang="en-US" sz="2000" i="1">
                        <a:latin typeface="Cambria Math" panose="02040503050406030204" pitchFamily="18" charset="0"/>
                        <a:ea typeface="Times New Roman" panose="02020603050405020304" pitchFamily="18" charset="0"/>
                        <a:cs typeface="Times New Roman" panose="02020603050405020304" pitchFamily="18" charset="0"/>
                      </a:rPr>
                      <m:t>h𝑒𝑖𝑔h𝑡</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algn="ctr"/>
                <a:endParaRPr lang="en-US" sz="1800" dirty="0">
                  <a:latin typeface="Verdana" panose="020B0604030504040204" pitchFamily="34" charset="0"/>
                  <a:ea typeface="Verdana" panose="020B0604030504040204" pitchFamily="34" charset="0"/>
                  <a:cs typeface="Verdana" panose="020B0604030504040204" pitchFamily="34" charset="0"/>
                </a:endParaRPr>
              </a:p>
              <a:p>
                <a:pPr algn="ct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The formula for the area of any triangle 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𝐴</m:t>
                    </m:r>
                    <m:r>
                      <a:rPr lang="en-US" sz="2000" i="1">
                        <a:latin typeface="Cambria Math" panose="02040503050406030204" pitchFamily="18" charset="0"/>
                        <a:ea typeface="Times New Roman" panose="02020603050405020304" pitchFamily="18" charset="0"/>
                        <a:cs typeface="Times New Roman" panose="02020603050405020304" pitchFamily="18" charset="0"/>
                      </a:rPr>
                      <m:t>=________</m:t>
                    </m:r>
                    <m:r>
                      <a:rPr lang="en-US" sz="2000" i="1">
                        <a:latin typeface="Cambria Math" panose="02040503050406030204" pitchFamily="18" charset="0"/>
                        <a:ea typeface="Times New Roman" panose="02020603050405020304" pitchFamily="18" charset="0"/>
                        <a:cs typeface="Times New Roman" panose="02020603050405020304" pitchFamily="18" charset="0"/>
                      </a:rPr>
                      <m:t>𝑏h</m:t>
                    </m:r>
                  </m:oMath>
                </a14:m>
                <a:r>
                  <a:rPr lang="en-US" sz="2000" dirty="0">
                    <a:latin typeface="Verdana" panose="020B0604030504040204" pitchFamily="34" charset="0"/>
                    <a:ea typeface="Verdana" panose="020B0604030504040204" pitchFamily="34" charset="0"/>
                    <a:cs typeface="Verdana" panose="020B0604030504040204" pitchFamily="34" charset="0"/>
                  </a:rPr>
                  <a:t>.</a:t>
                </a:r>
                <a:endParaRPr lang="en-US" sz="1800" i="1" dirty="0">
                  <a:latin typeface="Verdana" panose="020B0604030504040204" pitchFamily="34" charset="0"/>
                  <a:ea typeface="Verdana" panose="020B0604030504040204" pitchFamily="34" charset="0"/>
                  <a:cs typeface="Verdana" panose="020B0604030504040204" pitchFamily="34" charset="0"/>
                </a:endParaRPr>
              </a:p>
              <a:p>
                <a:pPr algn="ctr"/>
                <a:endParaRPr lang="en-US" sz="2000" i="1" dirty="0">
                  <a:latin typeface="Cambria Math" panose="02040503050406030204" pitchFamily="18" charset="0"/>
                  <a:ea typeface="Times New Roman" panose="02020603050405020304" pitchFamily="18" charset="0"/>
                  <a:cs typeface="Times New Roman" panose="02020603050405020304" pitchFamily="18" charset="0"/>
                </a:endParaRPr>
              </a:p>
              <a:p>
                <a:pPr algn="ct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𝐴</m:t>
                    </m:r>
                    <m:r>
                      <a:rPr lang="en-US" sz="2000" i="1">
                        <a:latin typeface="Cambria Math" panose="02040503050406030204" pitchFamily="18" charset="0"/>
                        <a:ea typeface="Times New Roman" panose="02020603050405020304" pitchFamily="18" charset="0"/>
                        <a:cs typeface="Times New Roman" panose="02020603050405020304" pitchFamily="18" charset="0"/>
                      </a:rPr>
                      <m:t>=______(</m:t>
                    </m:r>
                    <m:r>
                      <a:rPr lang="en-US" sz="2000" i="1">
                        <a:latin typeface="Cambria Math" panose="02040503050406030204" pitchFamily="18" charset="0"/>
                        <a:ea typeface="Times New Roman" panose="02020603050405020304" pitchFamily="18" charset="0"/>
                        <a:cs typeface="Times New Roman" panose="02020603050405020304" pitchFamily="18" charset="0"/>
                      </a:rPr>
                      <m:t>𝑏𝑎𝑠𝑒</m:t>
                    </m:r>
                    <m:r>
                      <a:rPr lang="en-US" sz="2000" i="1">
                        <a:latin typeface="Cambria Math" panose="02040503050406030204" pitchFamily="18" charset="0"/>
                        <a:ea typeface="Times New Roman" panose="02020603050405020304" pitchFamily="18" charset="0"/>
                        <a:cs typeface="Times New Roman" panose="02020603050405020304" pitchFamily="18" charset="0"/>
                      </a:rPr>
                      <m:t> ∙ </m:t>
                    </m:r>
                    <m:r>
                      <a:rPr lang="en-US" sz="2000" i="1">
                        <a:latin typeface="Cambria Math" panose="02040503050406030204" pitchFamily="18" charset="0"/>
                        <a:ea typeface="Times New Roman" panose="02020603050405020304" pitchFamily="18" charset="0"/>
                        <a:cs typeface="Times New Roman" panose="02020603050405020304" pitchFamily="18" charset="0"/>
                      </a:rPr>
                      <m:t>h𝑒𝑖𝑔h𝑡</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algn="ct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8" name="TextBox 7">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905256" y="373707"/>
                <a:ext cx="10254156" cy="5878532"/>
              </a:xfrm>
              <a:prstGeom prst="rect">
                <a:avLst/>
              </a:prstGeom>
              <a:blipFill rotWithShape="1">
                <a:blip r:embed="rId4"/>
                <a:stretch>
                  <a:fillRect l="-654"/>
                </a:stretch>
              </a:blipFill>
            </p:spPr>
            <p:txBody>
              <a:bodyPr/>
              <a:lstStyle/>
              <a:p>
                <a:r>
                  <a:rPr lang="en-PH">
                    <a:noFill/>
                  </a:rPr>
                  <a:t> </a:t>
                </a:r>
              </a:p>
            </p:txBody>
          </p:sp>
        </mc:Fallback>
      </mc:AlternateContent>
      <p:sp>
        <p:nvSpPr>
          <p:cNvPr id="14" name="Rectangle: Rounded Corners 58">
            <a:extLst>
              <a:ext uri="{FF2B5EF4-FFF2-40B4-BE49-F238E27FC236}">
                <a16:creationId xmlns:a16="http://schemas.microsoft.com/office/drawing/2014/main" xmlns="" id="{0DEF382E-3968-3348-9B0B-40E32D3BD5AB}"/>
              </a:ext>
            </a:extLst>
          </p:cNvPr>
          <p:cNvSpPr/>
          <p:nvPr/>
        </p:nvSpPr>
        <p:spPr>
          <a:xfrm>
            <a:off x="5783886" y="605761"/>
            <a:ext cx="1908175" cy="781050"/>
          </a:xfrm>
          <a:prstGeom prst="roundRect">
            <a:avLst/>
          </a:prstGeom>
          <a:solidFill>
            <a:sysClr val="window" lastClr="FFFFFF"/>
          </a:solidFill>
          <a:ln w="1270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1800" dirty="0">
                <a:latin typeface="Verdana" panose="020B0604030504040204" pitchFamily="34" charset="0"/>
                <a:ea typeface="Times New Roman" panose="02020603050405020304" pitchFamily="18" charset="0"/>
                <a:cs typeface="Times New Roman" panose="02020603050405020304" pitchFamily="18" charset="0"/>
              </a:rPr>
              <a:t>half</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r>
              <a:rPr lang="en-US" sz="1800" dirty="0">
                <a:latin typeface="Verdana" panose="020B0604030504040204" pitchFamily="34" charset="0"/>
                <a:ea typeface="Times New Roman" panose="02020603050405020304" pitchFamily="18" charset="0"/>
                <a:cs typeface="Times New Roman" panose="02020603050405020304" pitchFamily="18" charset="0"/>
              </a:rPr>
              <a:t>the same as</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1392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06423" y="-82571"/>
            <a:ext cx="832713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8.1.5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905256" y="1386025"/>
            <a:ext cx="10925960" cy="3760004"/>
          </a:xfrm>
          <a:prstGeom prst="rect">
            <a:avLst/>
          </a:prstGeom>
          <a:noFill/>
        </p:spPr>
        <p:txBody>
          <a:bodyPr wrap="square" rtlCol="0">
            <a:spAutoFit/>
          </a:bodyPr>
          <a:lstStyle/>
          <a:p>
            <a:pPr marL="342900" indent="-342900">
              <a:buFont typeface="+mj-lt"/>
              <a:buAutoNum type="arabi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Place an </a:t>
            </a:r>
            <a:r>
              <a:rPr lang="en-US" sz="2200" b="1" dirty="0">
                <a:latin typeface="Verdana" panose="020B0604030504040204" pitchFamily="34" charset="0"/>
                <a:ea typeface="Times New Roman" panose="02020603050405020304" pitchFamily="18" charset="0"/>
                <a:cs typeface="Times New Roman" panose="02020603050405020304" pitchFamily="18" charset="0"/>
              </a:rPr>
              <a:t>X</a:t>
            </a:r>
            <a:r>
              <a:rPr lang="en-US" sz="2200" dirty="0">
                <a:latin typeface="Verdana" panose="020B0604030504040204" pitchFamily="34" charset="0"/>
                <a:ea typeface="Times New Roman" panose="02020603050405020304" pitchFamily="18" charset="0"/>
                <a:cs typeface="Times New Roman" panose="02020603050405020304" pitchFamily="18" charset="0"/>
              </a:rPr>
              <a:t> on the line to indicate your mastery of today’s lesson. </a:t>
            </a:r>
          </a:p>
          <a:p>
            <a:pPr marL="342900" indent="-342900">
              <a:buFont typeface="+mj-lt"/>
              <a:buAutoNum type="arabicPeriod"/>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393700">
              <a:spcAft>
                <a:spcPts val="1000"/>
              </a:spcAft>
            </a:pPr>
            <a:r>
              <a:rPr lang="en-US" sz="2200" dirty="0">
                <a:latin typeface="Verdana" panose="020B0604030504040204" pitchFamily="34" charset="0"/>
                <a:ea typeface="Verdana" panose="020B0604030504040204" pitchFamily="34" charset="0"/>
                <a:cs typeface="Verdana" panose="020B0604030504040204" pitchFamily="34" charset="0"/>
              </a:rPr>
              <a:t>I can explain why the area of a triangle is half the area of a rectangle with the same base and height for right triangles, acute triangles, and obtuse triangles.</a:t>
            </a:r>
          </a:p>
          <a:p>
            <a:pPr lvl="1"/>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1"/>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1"/>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1"/>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1"/>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1"/>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8" name="Picture 7" descr="Text, table&#10;&#10;Description automatically generated with medium confidence">
            <a:extLst>
              <a:ext uri="{FF2B5EF4-FFF2-40B4-BE49-F238E27FC236}">
                <a16:creationId xmlns:a16="http://schemas.microsoft.com/office/drawing/2014/main" xmlns="" id="{C1316119-DD2A-3F41-9968-0172F4F1C94E}"/>
              </a:ext>
            </a:extLst>
          </p:cNvPr>
          <p:cNvPicPr>
            <a:picLocks noChangeAspect="1"/>
          </p:cNvPicPr>
          <p:nvPr/>
        </p:nvPicPr>
        <p:blipFill rotWithShape="1">
          <a:blip r:embed="rId5"/>
          <a:srcRect l="857" r="3921"/>
          <a:stretch/>
        </p:blipFill>
        <p:spPr>
          <a:xfrm>
            <a:off x="2146201" y="4003255"/>
            <a:ext cx="8327137" cy="1624225"/>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905255" y="561565"/>
            <a:ext cx="10328801" cy="830997"/>
          </a:xfrm>
          <a:prstGeom prst="rect">
            <a:avLst/>
          </a:prstGeom>
          <a:noFill/>
        </p:spPr>
        <p:txBody>
          <a:bodyPr wrap="square" rtlCol="0">
            <a:spAutoFit/>
          </a:bodyPr>
          <a:lstStyle/>
          <a:p>
            <a:pPr marL="514350" indent="-514350">
              <a:buFont typeface="+mj-lt"/>
              <a:buAutoNum type="arabicPeriod" startAt="2"/>
            </a:pPr>
            <a:r>
              <a:rPr lang="en-US" sz="2800" dirty="0">
                <a:latin typeface="Verdana" panose="020B0604030504040204" pitchFamily="34" charset="0"/>
                <a:ea typeface="Verdana" panose="020B0604030504040204" pitchFamily="34" charset="0"/>
                <a:cs typeface="Verdana" panose="020B0604030504040204" pitchFamily="34" charset="0"/>
              </a:rPr>
              <a:t>Write a brief explanation of your placement of the X.</a:t>
            </a:r>
          </a:p>
          <a:p>
            <a:pPr lvl="1"/>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2681524"/>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1500</TotalTime>
  <Words>939</Words>
  <Application>Microsoft Office PowerPoint</Application>
  <PresentationFormat>Custom</PresentationFormat>
  <Paragraphs>280</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Century Gothic</vt:lpstr>
      <vt:lpstr>Cambria Math</vt:lpstr>
      <vt:lpstr>Cambria</vt:lpstr>
      <vt:lpstr>Arial Black</vt:lpstr>
      <vt:lpstr>Verdana</vt:lpstr>
      <vt:lpstr>Calibri</vt:lpstr>
      <vt:lpstr>Times New Roman</vt:lpstr>
      <vt:lpstr>Courier New</vt:lpstr>
      <vt:lpstr>1_Office Theme</vt:lpstr>
      <vt:lpstr>6th Grade Math  Unit 8, Lesson 1  Area of Triangles -  Part 1  Volume 2, pg. 75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22</cp:revision>
  <dcterms:created xsi:type="dcterms:W3CDTF">2015-03-17T18:51:18Z</dcterms:created>
  <dcterms:modified xsi:type="dcterms:W3CDTF">2022-07-08T08:22:37Z</dcterms:modified>
</cp:coreProperties>
</file>