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85" r:id="rId4"/>
    <p:sldId id="286" r:id="rId5"/>
    <p:sldId id="261" r:id="rId6"/>
    <p:sldId id="287" r:id="rId7"/>
    <p:sldId id="289" r:id="rId8"/>
    <p:sldId id="290" r:id="rId9"/>
    <p:sldId id="356" r:id="rId10"/>
    <p:sldId id="365" r:id="rId11"/>
    <p:sldId id="366" r:id="rId12"/>
    <p:sldId id="367" r:id="rId13"/>
    <p:sldId id="314" r:id="rId14"/>
    <p:sldId id="315" r:id="rId15"/>
    <p:sldId id="302" r:id="rId16"/>
    <p:sldId id="303" r:id="rId17"/>
    <p:sldId id="352" r:id="rId18"/>
    <p:sldId id="360" r:id="rId19"/>
    <p:sldId id="306" r:id="rId20"/>
    <p:sldId id="307" r:id="rId21"/>
  </p:sldIdLst>
  <p:sldSz cx="12192000" cy="6858000"/>
  <p:notesSz cx="6858000" cy="9144000"/>
  <p:embeddedFontLst>
    <p:embeddedFont>
      <p:font typeface="Calibri" pitchFamily="34" charset="0"/>
      <p:regular r:id="rId23"/>
      <p:bold r:id="rId24"/>
      <p:italic r:id="rId25"/>
      <p:boldItalic r:id="rId26"/>
    </p:embeddedFont>
    <p:embeddedFont>
      <p:font typeface="Century Gothic" pitchFamily="34" charset="0"/>
      <p:regular r:id="rId27"/>
      <p:bold r:id="rId28"/>
      <p:italic r:id="rId29"/>
      <p:boldItalic r:id="rId30"/>
    </p:embeddedFont>
    <p:embeddedFont>
      <p:font typeface="Cambria Math" pitchFamily="18" charset="0"/>
      <p:regular r:id="rId31"/>
    </p:embeddedFont>
    <p:embeddedFont>
      <p:font typeface="Arial Black" pitchFamily="34" charset="0"/>
      <p:bold r:id="rId32"/>
    </p:embeddedFont>
    <p:embeddedFont>
      <p:font typeface="Verdana"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6286"/>
    <p:restoredTop sz="94694"/>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453125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036498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42357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56716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9364542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89789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03007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37798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240244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8548776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5444333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0637571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a:alphaModFix/>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0.png"/><Relationship Id="rId11" Type="http://schemas.openxmlformats.org/officeDocument/2006/relationships/image" Target="../media/image10.png"/><Relationship Id="rId5" Type="http://schemas.openxmlformats.org/officeDocument/2006/relationships/image" Target="../media/image16.png"/><Relationship Id="rId10" Type="http://schemas.openxmlformats.org/officeDocument/2006/relationships/image" Target="../media/image17.tiff"/><Relationship Id="rId4" Type="http://schemas.openxmlformats.org/officeDocument/2006/relationships/image" Target="../media/image15.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5.png"/><Relationship Id="rId10" Type="http://schemas.openxmlformats.org/officeDocument/2006/relationships/image" Target="../media/image10.png"/><Relationship Id="rId4" Type="http://schemas.openxmlformats.org/officeDocument/2006/relationships/image" Target="../media/image23.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4.png"/><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0.png"/><Relationship Id="rId10" Type="http://schemas.openxmlformats.org/officeDocument/2006/relationships/image" Target="../media/image10.png"/><Relationship Id="rId4" Type="http://schemas.openxmlformats.org/officeDocument/2006/relationships/image" Target="../media/image23.pn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5.tiff"/><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11</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Surface Area of a Rectangular Pyramid</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130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a:stretch>
            <a:fillRect/>
          </a:stretch>
        </p:blipFill>
        <p:spPr>
          <a:xfrm>
            <a:off x="411640" y="1522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2892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76146" y="1321975"/>
            <a:ext cx="11052004" cy="481408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itchFamily="34" charset="0"/>
                <a:ea typeface="Verdana" pitchFamily="34" charset="0"/>
                <a:cs typeface="Verdana"/>
                <a:sym typeface="Verdana"/>
              </a:rPr>
              <a:t>MA.6.GR.2.4</a:t>
            </a:r>
          </a:p>
          <a:p>
            <a:pPr indent="0">
              <a:buNone/>
            </a:pPr>
            <a:r>
              <a:rPr lang="en-US" sz="3500" dirty="0">
                <a:latin typeface="Verdana" pitchFamily="34" charset="0"/>
                <a:ea typeface="Verdana" pitchFamily="34" charset="0"/>
              </a:rPr>
              <a:t>Given a mathematical or real-world context, find the surface area of right rectangular prisms and right rectangular pyramids using the figure’s net.</a:t>
            </a:r>
          </a:p>
          <a:p>
            <a:pPr indent="0">
              <a:buNone/>
            </a:pPr>
            <a:endParaRPr lang="en-US" sz="3500" dirty="0">
              <a:solidFill>
                <a:schemeClr val="tx1"/>
              </a:solidFill>
              <a:latin typeface="Verdana" pitchFamily="34" charset="0"/>
              <a:ea typeface="Verdana" pitchFamily="34" charset="0"/>
              <a:cs typeface="Century Gothic"/>
              <a:sym typeface="Century Gothic"/>
            </a:endParaRPr>
          </a:p>
        </p:txBody>
      </p:sp>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130</a:t>
            </a:r>
            <a:endParaRPr i="1" dirty="0">
              <a:latin typeface="Calibri"/>
              <a:ea typeface="Calibri"/>
              <a:cs typeface="Calibri"/>
              <a:sym typeface="Calibri"/>
            </a:endParaRPr>
          </a:p>
        </p:txBody>
      </p:sp>
      <p:pic>
        <p:nvPicPr>
          <p:cNvPr id="10"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84999" y="299307"/>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32299" y="10107"/>
            <a:ext cx="108161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t>
            </a:r>
            <a:r>
              <a:rPr lang="en-US" sz="3000" b="1" dirty="0" smtClean="0">
                <a:solidFill>
                  <a:srgbClr val="54B5D1"/>
                </a:solidFill>
                <a:latin typeface="Verdana"/>
                <a:ea typeface="Verdana"/>
                <a:cs typeface="Verdana"/>
                <a:sym typeface="Verdana"/>
              </a:rPr>
              <a:t/>
            </a:r>
            <a:br>
              <a:rPr lang="en-US" sz="3000" b="1" dirty="0" smtClean="0">
                <a:solidFill>
                  <a:srgbClr val="54B5D1"/>
                </a:solidFill>
                <a:latin typeface="Verdana"/>
                <a:ea typeface="Verdana"/>
                <a:cs typeface="Verdana"/>
                <a:sym typeface="Verdana"/>
              </a:rPr>
            </a:br>
            <a:r>
              <a:rPr lang="en-US" sz="3000" b="1" dirty="0" smtClean="0">
                <a:solidFill>
                  <a:srgbClr val="54B5D1"/>
                </a:solidFill>
                <a:latin typeface="Verdana"/>
                <a:ea typeface="Verdana"/>
                <a:cs typeface="Verdana"/>
                <a:sym typeface="Verdana"/>
              </a:rPr>
              <a:t>and </a:t>
            </a:r>
            <a:r>
              <a:rPr lang="en-US" sz="3000" b="1" dirty="0">
                <a:solidFill>
                  <a:srgbClr val="54B5D1"/>
                </a:solidFill>
                <a:latin typeface="Verdana"/>
                <a:ea typeface="Verdana"/>
                <a:cs typeface="Verdana"/>
                <a:sym typeface="Verdana"/>
              </a:rPr>
              <a:t>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251775" y="1338114"/>
            <a:ext cx="10275264" cy="460421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130</a:t>
            </a:r>
            <a:endParaRPr i="1" dirty="0">
              <a:latin typeface="Calibri"/>
              <a:ea typeface="Calibri"/>
              <a:cs typeface="Calibri"/>
              <a:sym typeface="Calibri"/>
            </a:endParaRPr>
          </a:p>
        </p:txBody>
      </p:sp>
      <p:pic>
        <p:nvPicPr>
          <p:cNvPr id="12"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33900" y="449"/>
            <a:ext cx="1079826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354900" y="289649"/>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94400" y="1459499"/>
            <a:ext cx="10736540" cy="44055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find the surface area of a rectangular pyramid using a net or the figure. </a:t>
            </a:r>
          </a:p>
          <a:p>
            <a:pPr marL="685800" indent="-685800"/>
            <a:r>
              <a:rPr lang="en-US" sz="3500" dirty="0"/>
              <a:t> </a:t>
            </a:r>
          </a:p>
        </p:txBody>
      </p:sp>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130</a:t>
            </a:r>
            <a:endParaRPr i="1" dirty="0">
              <a:latin typeface="Calibri"/>
              <a:ea typeface="Calibri"/>
              <a:cs typeface="Calibri"/>
              <a:sym typeface="Calibri"/>
            </a:endParaRPr>
          </a:p>
        </p:txBody>
      </p:sp>
      <p:pic>
        <p:nvPicPr>
          <p:cNvPr id="9"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131</a:t>
            </a:r>
            <a:endParaRPr i="1" dirty="0">
              <a:latin typeface="Calibri"/>
              <a:ea typeface="Calibri"/>
              <a:cs typeface="Calibri"/>
              <a:sym typeface="Calibri"/>
            </a:endParaRPr>
          </a:p>
        </p:txBody>
      </p:sp>
      <p:pic>
        <p:nvPicPr>
          <p:cNvPr id="9"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6466"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15538" y="0"/>
            <a:ext cx="106901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8.11.1 Warm-Up: Would You Rather? </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282486" y="28920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897226" y="1356753"/>
            <a:ext cx="10629811" cy="317009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Would you rather have Room 1 or Room 2?</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Write an explanation of your choice.</a:t>
            </a:r>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xmlns="" id="{F818A0A5-FE52-8244-B0EA-5E38BE37E2A5}"/>
                  </a:ext>
                </a:extLst>
              </p:cNvPr>
              <p:cNvGraphicFramePr>
                <a:graphicFrameLocks noGrp="1"/>
              </p:cNvGraphicFramePr>
              <p:nvPr>
                <p:extLst>
                  <p:ext uri="{D42A27DB-BD31-4B8C-83A1-F6EECF244321}">
                    <p14:modId xmlns:p14="http://schemas.microsoft.com/office/powerpoint/2010/main" val="1780953016"/>
                  </p:ext>
                </p:extLst>
              </p:nvPr>
            </p:nvGraphicFramePr>
            <p:xfrm>
              <a:off x="1462224" y="2079282"/>
              <a:ext cx="5431535" cy="1371600"/>
            </p:xfrm>
            <a:graphic>
              <a:graphicData uri="http://schemas.openxmlformats.org/drawingml/2006/table">
                <a:tbl>
                  <a:tblPr firstRow="1" firstCol="1" bandRow="1">
                    <a:tableStyleId>{A91F0D33-8C57-4600-99A7-42BC86742BE1}</a:tableStyleId>
                  </a:tblPr>
                  <a:tblGrid>
                    <a:gridCol w="2077895">
                      <a:extLst>
                        <a:ext uri="{9D8B030D-6E8A-4147-A177-3AD203B41FA5}">
                          <a16:colId xmlns:a16="http://schemas.microsoft.com/office/drawing/2014/main" xmlns="" val="2764271810"/>
                        </a:ext>
                      </a:extLst>
                    </a:gridCol>
                    <a:gridCol w="1676820">
                      <a:extLst>
                        <a:ext uri="{9D8B030D-6E8A-4147-A177-3AD203B41FA5}">
                          <a16:colId xmlns:a16="http://schemas.microsoft.com/office/drawing/2014/main" xmlns="" val="117382795"/>
                        </a:ext>
                      </a:extLst>
                    </a:gridCol>
                    <a:gridCol w="1676820">
                      <a:extLst>
                        <a:ext uri="{9D8B030D-6E8A-4147-A177-3AD203B41FA5}">
                          <a16:colId xmlns:a16="http://schemas.microsoft.com/office/drawing/2014/main" xmlns="" val="83723213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Room 1</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Room 2</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927282455"/>
                      </a:ext>
                    </a:extLst>
                  </a:tr>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20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feet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14</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feet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35905852"/>
                      </a:ext>
                    </a:extLst>
                  </a:tr>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Perimeter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58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feet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56</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feet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39495909"/>
                      </a:ext>
                    </a:extLst>
                  </a:tr>
                </a:tbl>
              </a:graphicData>
            </a:graphic>
          </p:graphicFrame>
        </mc:Choice>
        <mc:Fallback>
          <p:graphicFrame>
            <p:nvGraphicFramePr>
              <p:cNvPr id="5" name="Table 4">
                <a:extLst>
                  <a:ext uri="{FF2B5EF4-FFF2-40B4-BE49-F238E27FC236}">
                    <a16:creationId xmlns:a16="http://schemas.microsoft.com/office/drawing/2014/main" xmlns:a14="http://schemas.microsoft.com/office/drawing/2010/main" xmlns="" id="{F818A0A5-FE52-8244-B0EA-5E38BE37E2A5}"/>
                  </a:ext>
                </a:extLst>
              </p:cNvPr>
              <p:cNvGraphicFramePr>
                <a:graphicFrameLocks noGrp="1"/>
              </p:cNvGraphicFramePr>
              <p:nvPr>
                <p:extLst>
                  <p:ext uri="{D42A27DB-BD31-4B8C-83A1-F6EECF244321}">
                    <p14:modId xmlns:p14="http://schemas.microsoft.com/office/powerpoint/2010/main" val="1780953016"/>
                  </p:ext>
                </p:extLst>
              </p:nvPr>
            </p:nvGraphicFramePr>
            <p:xfrm>
              <a:off x="1462224" y="2079282"/>
              <a:ext cx="5431535" cy="1371600"/>
            </p:xfrm>
            <a:graphic>
              <a:graphicData uri="http://schemas.openxmlformats.org/drawingml/2006/table">
                <a:tbl>
                  <a:tblPr firstRow="1" firstCol="1" bandRow="1">
                    <a:tableStyleId>{A91F0D33-8C57-4600-99A7-42BC86742BE1}</a:tableStyleId>
                  </a:tblPr>
                  <a:tblGrid>
                    <a:gridCol w="2077895">
                      <a:extLst>
                        <a:ext uri="{9D8B030D-6E8A-4147-A177-3AD203B41FA5}">
                          <a16:colId xmlns:a16="http://schemas.microsoft.com/office/drawing/2014/main" xmlns:a14="http://schemas.microsoft.com/office/drawing/2010/main" xmlns="" val="2764271810"/>
                        </a:ext>
                      </a:extLst>
                    </a:gridCol>
                    <a:gridCol w="1676820">
                      <a:extLst>
                        <a:ext uri="{9D8B030D-6E8A-4147-A177-3AD203B41FA5}">
                          <a16:colId xmlns:a16="http://schemas.microsoft.com/office/drawing/2014/main" xmlns:a14="http://schemas.microsoft.com/office/drawing/2010/main" xmlns="" val="117382795"/>
                        </a:ext>
                      </a:extLst>
                    </a:gridCol>
                    <a:gridCol w="1676820">
                      <a:extLst>
                        <a:ext uri="{9D8B030D-6E8A-4147-A177-3AD203B41FA5}">
                          <a16:colId xmlns:a16="http://schemas.microsoft.com/office/drawing/2014/main" xmlns:a14="http://schemas.microsoft.com/office/drawing/2010/main" xmlns="" val="83723213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Room 1</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Room 2</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927282455"/>
                      </a:ext>
                    </a:extLst>
                  </a:tr>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24364" t="-100000" r="-100000" b="-117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4364" t="-100000" b="-117333"/>
                          </a:stretch>
                        </a:blipFill>
                      </a:tcPr>
                    </a:tc>
                    <a:extLst>
                      <a:ext uri="{0D108BD9-81ED-4DB2-BD59-A6C34878D82A}">
                        <a16:rowId xmlns:a16="http://schemas.microsoft.com/office/drawing/2014/main" xmlns:a14="http://schemas.microsoft.com/office/drawing/2010/main" xmlns="" val="2935905852"/>
                      </a:ext>
                    </a:extLst>
                  </a:tr>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Perimeter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24364" t="-200000" r="-100000" b="-1733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4364" t="-200000" b="-17333"/>
                          </a:stretch>
                        </a:blipFill>
                      </a:tcPr>
                    </a:tc>
                    <a:extLst>
                      <a:ext uri="{0D108BD9-81ED-4DB2-BD59-A6C34878D82A}">
                        <a16:rowId xmlns:a16="http://schemas.microsoft.com/office/drawing/2014/main" xmlns:a14="http://schemas.microsoft.com/office/drawing/2010/main" xmlns="" val="3439495909"/>
                      </a:ext>
                    </a:extLst>
                  </a:tr>
                </a:tbl>
              </a:graphicData>
            </a:graphic>
          </p:graphicFrame>
        </mc:Fallback>
      </mc:AlternateContent>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131</a:t>
            </a:r>
            <a:endParaRPr i="1" dirty="0">
              <a:latin typeface="Calibri"/>
              <a:ea typeface="Calibri"/>
              <a:cs typeface="Calibri"/>
              <a:sym typeface="Calibri"/>
            </a:endParaRPr>
          </a:p>
        </p:txBody>
      </p:sp>
      <p:pic>
        <p:nvPicPr>
          <p:cNvPr id="10" name="Google Shape;283;g104476d1465_1_17"/>
          <p:cNvPicPr preferRelativeResize="0"/>
          <p:nvPr/>
        </p:nvPicPr>
        <p:blipFill>
          <a:blip r:embed="rId5">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131</a:t>
            </a:r>
            <a:endParaRPr i="1" dirty="0">
              <a:latin typeface="Calibri"/>
              <a:ea typeface="Calibri"/>
              <a:cs typeface="Calibri"/>
              <a:sym typeface="Calibri"/>
            </a:endParaRPr>
          </a:p>
        </p:txBody>
      </p:sp>
      <p:pic>
        <p:nvPicPr>
          <p:cNvPr id="10"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67649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15481" y="-46666"/>
            <a:ext cx="10853794" cy="108491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8.11.2 Guided Instruction: Surface Area of a Rectangular Pyramid</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368181" y="6281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xmlns="" id="{C01B13E8-EC8D-E443-A329-C5E3593DD13A}"/>
                  </a:ext>
                </a:extLst>
              </p:cNvPr>
              <p:cNvSpPr txBox="1"/>
              <p:nvPr/>
            </p:nvSpPr>
            <p:spPr>
              <a:xfrm>
                <a:off x="462765" y="1081245"/>
                <a:ext cx="11068175" cy="193899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Around 2500 B.C. the Egyptians began building pyramids with intricate hallways and layouts to house the tombs of pharaohs and their families. One of the most famous is the Great Pyramid of Giza, also known as the Pyramid of Khufu, seen below. The Egyptians designed the pyramid to have a square base with approximate side lengths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230</m:t>
                    </m:r>
                  </m:oMath>
                </a14:m>
                <a:r>
                  <a:rPr lang="en-US" sz="2000" dirty="0">
                    <a:latin typeface="Verdana" panose="020B0604030504040204" pitchFamily="34" charset="0"/>
                    <a:ea typeface="Verdana" panose="020B0604030504040204" pitchFamily="34" charset="0"/>
                    <a:cs typeface="Verdana" panose="020B0604030504040204" pitchFamily="34" charset="0"/>
                  </a:rPr>
                  <a:t> meters, a height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146.5</m:t>
                    </m:r>
                  </m:oMath>
                </a14:m>
                <a:r>
                  <a:rPr lang="en-US" sz="2000" dirty="0">
                    <a:latin typeface="Verdana" panose="020B0604030504040204" pitchFamily="34" charset="0"/>
                    <a:ea typeface="Verdana" panose="020B0604030504040204" pitchFamily="34" charset="0"/>
                    <a:cs typeface="Verdana" panose="020B0604030504040204" pitchFamily="34" charset="0"/>
                  </a:rPr>
                  <a:t> meters, and a slant height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186.4</m:t>
                    </m:r>
                  </m:oMath>
                </a14:m>
                <a:r>
                  <a:rPr lang="en-US" sz="2000" dirty="0">
                    <a:latin typeface="Verdana" panose="020B0604030504040204" pitchFamily="34" charset="0"/>
                    <a:ea typeface="Verdana" panose="020B0604030504040204" pitchFamily="34" charset="0"/>
                    <a:cs typeface="Verdana" panose="020B0604030504040204" pitchFamily="34" charset="0"/>
                  </a:rPr>
                  <a:t> meters.</a:t>
                </a:r>
              </a:p>
            </p:txBody>
          </p:sp>
        </mc:Choice>
        <mc:Fallback>
          <p:sp>
            <p:nvSpPr>
              <p:cNvPr id="13" name="TextBox 12">
                <a:extLst>
                  <a:ext uri="{FF2B5EF4-FFF2-40B4-BE49-F238E27FC236}">
                    <a16:creationId xmlns:a16="http://schemas.microsoft.com/office/drawing/2014/main" xmlns="" id="{C01B13E8-EC8D-E443-A329-C5E3593DD13A}"/>
                  </a:ext>
                </a:extLst>
              </p:cNvPr>
              <p:cNvSpPr txBox="1">
                <a:spLocks noRot="1" noChangeAspect="1" noMove="1" noResize="1" noEditPoints="1" noAdjustHandles="1" noChangeArrowheads="1" noChangeShapeType="1" noTextEdit="1"/>
              </p:cNvSpPr>
              <p:nvPr/>
            </p:nvSpPr>
            <p:spPr>
              <a:xfrm>
                <a:off x="462765" y="1081245"/>
                <a:ext cx="11068175" cy="1938992"/>
              </a:xfrm>
              <a:prstGeom prst="rect">
                <a:avLst/>
              </a:prstGeom>
              <a:blipFill rotWithShape="1">
                <a:blip r:embed="rId4"/>
                <a:stretch>
                  <a:fillRect l="-606" t="-1887" r="-55" b="-4717"/>
                </a:stretch>
              </a:blipFill>
            </p:spPr>
            <p:txBody>
              <a:bodyPr/>
              <a:lstStyle/>
              <a:p>
                <a:r>
                  <a:rPr lang="en-US">
                    <a:noFill/>
                  </a:rPr>
                  <a:t> </a:t>
                </a:r>
              </a:p>
            </p:txBody>
          </p:sp>
        </mc:Fallback>
      </mc:AlternateContent>
      <p:grpSp>
        <p:nvGrpSpPr>
          <p:cNvPr id="2" name="Group 1"/>
          <p:cNvGrpSpPr/>
          <p:nvPr/>
        </p:nvGrpSpPr>
        <p:grpSpPr>
          <a:xfrm>
            <a:off x="2008171" y="2961389"/>
            <a:ext cx="4265284" cy="2613055"/>
            <a:chOff x="2008171" y="3268710"/>
            <a:chExt cx="4265284" cy="2613055"/>
          </a:xfrm>
        </p:grpSpPr>
        <p:pic>
          <p:nvPicPr>
            <p:cNvPr id="8" name="Picture 7" descr="A picture containing text, antenna&#10;&#10;Description automatically generated">
              <a:extLst>
                <a:ext uri="{FF2B5EF4-FFF2-40B4-BE49-F238E27FC236}">
                  <a16:creationId xmlns:a16="http://schemas.microsoft.com/office/drawing/2014/main" xmlns="" id="{C04D5060-B0BE-6B45-9C7D-6687BA96A10D}"/>
                </a:ext>
              </a:extLst>
            </p:cNvPr>
            <p:cNvPicPr>
              <a:picLocks noChangeAspect="1"/>
            </p:cNvPicPr>
            <p:nvPr/>
          </p:nvPicPr>
          <p:blipFill rotWithShape="1">
            <a:blip r:embed="rId5">
              <a:extLst>
                <a:ext uri="{28A0092B-C50C-407E-A947-70E740481C1C}">
                  <a14:useLocalDpi xmlns:a14="http://schemas.microsoft.com/office/drawing/2010/main" val="0"/>
                </a:ext>
              </a:extLst>
            </a:blip>
            <a:srcRect l="23949" t="6786" r="39854" b="7260"/>
            <a:stretch/>
          </p:blipFill>
          <p:spPr bwMode="auto">
            <a:xfrm>
              <a:off x="2477593" y="3268710"/>
              <a:ext cx="2514600" cy="241300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3C40A0BC-B525-1546-B539-3BF82E2D9F35}"/>
                    </a:ext>
                  </a:extLst>
                </p:cNvPr>
                <p:cNvSpPr txBox="1"/>
                <p:nvPr/>
              </p:nvSpPr>
              <p:spPr>
                <a:xfrm>
                  <a:off x="2243983" y="3328014"/>
                  <a:ext cx="1407768" cy="400110"/>
                </a:xfrm>
                <a:prstGeom prst="rect">
                  <a:avLst/>
                </a:prstGeom>
                <a:noFill/>
              </p:spPr>
              <p:txBody>
                <a:bodyPr wrap="square">
                  <a:sp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146.5</m:t>
                      </m:r>
                    </m:oMath>
                  </a14:m>
                  <a:r>
                    <a:rPr lang="en-US" sz="2000" dirty="0">
                      <a:latin typeface="Verdana" panose="020B0604030504040204" pitchFamily="34" charset="0"/>
                      <a:ea typeface="Times New Roman" panose="02020603050405020304" pitchFamily="18" charset="0"/>
                    </a:rPr>
                    <a:t> m</a:t>
                  </a:r>
                  <a:endParaRPr lang="en-US" sz="2000" dirty="0">
                    <a:latin typeface="Times New Roman" panose="02020603050405020304" pitchFamily="18" charset="0"/>
                    <a:ea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3C40A0BC-B525-1546-B539-3BF82E2D9F35}"/>
                    </a:ext>
                  </a:extLst>
                </p:cNvPr>
                <p:cNvSpPr txBox="1">
                  <a:spLocks noRot="1" noChangeAspect="1" noMove="1" noResize="1" noEditPoints="1" noAdjustHandles="1" noChangeArrowheads="1" noChangeShapeType="1" noTextEdit="1"/>
                </p:cNvSpPr>
                <p:nvPr/>
              </p:nvSpPr>
              <p:spPr>
                <a:xfrm>
                  <a:off x="2243983" y="3328014"/>
                  <a:ext cx="1407768" cy="400110"/>
                </a:xfrm>
                <a:prstGeom prst="rect">
                  <a:avLst/>
                </a:prstGeom>
                <a:blipFill>
                  <a:blip r:embed="rId6"/>
                  <a:stretch>
                    <a:fillRect t="-12500" b="-218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xmlns="" id="{8039CB9A-71FC-9940-B9C8-8B460F73A409}"/>
                    </a:ext>
                  </a:extLst>
                </p:cNvPr>
                <p:cNvSpPr txBox="1"/>
                <p:nvPr/>
              </p:nvSpPr>
              <p:spPr>
                <a:xfrm>
                  <a:off x="2008171" y="3867807"/>
                  <a:ext cx="1091966" cy="400110"/>
                </a:xfrm>
                <a:prstGeom prst="rect">
                  <a:avLst/>
                </a:prstGeom>
                <a:noFill/>
              </p:spPr>
              <p:txBody>
                <a:bodyPr wrap="none" rtlCol="0">
                  <a:spAutoFit/>
                </a:bodyPr>
                <a:lstStyle/>
                <a:p>
                  <a14:m>
                    <m:oMath xmlns:m="http://schemas.openxmlformats.org/officeDocument/2006/math">
                      <m:r>
                        <a:rPr lang="en-US" sz="2000" i="1">
                          <a:latin typeface="Cambria Math" panose="02040503050406030204" pitchFamily="18" charset="0"/>
                        </a:rPr>
                        <m:t>186.4</m:t>
                      </m:r>
                    </m:oMath>
                  </a14:m>
                  <a:r>
                    <a:rPr lang="en-US" sz="2000" dirty="0"/>
                    <a:t> m</a:t>
                  </a:r>
                </a:p>
              </p:txBody>
            </p:sp>
          </mc:Choice>
          <mc:Fallback xmlns="">
            <p:sp>
              <p:nvSpPr>
                <p:cNvPr id="3" name="TextBox 2">
                  <a:extLst>
                    <a:ext uri="{FF2B5EF4-FFF2-40B4-BE49-F238E27FC236}">
                      <a16:creationId xmlns:a16="http://schemas.microsoft.com/office/drawing/2014/main" id="{8039CB9A-71FC-9940-B9C8-8B460F73A409}"/>
                    </a:ext>
                  </a:extLst>
                </p:cNvPr>
                <p:cNvSpPr txBox="1">
                  <a:spLocks noRot="1" noChangeAspect="1" noMove="1" noResize="1" noEditPoints="1" noAdjustHandles="1" noChangeArrowheads="1" noChangeShapeType="1" noTextEdit="1"/>
                </p:cNvSpPr>
                <p:nvPr/>
              </p:nvSpPr>
              <p:spPr>
                <a:xfrm>
                  <a:off x="2008171" y="3867807"/>
                  <a:ext cx="1091966" cy="400110"/>
                </a:xfrm>
                <a:prstGeom prst="rect">
                  <a:avLst/>
                </a:prstGeom>
                <a:blipFill>
                  <a:blip r:embed="rId7"/>
                  <a:stretch>
                    <a:fillRect t="-9375" r="-4545" b="-2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64342DA8-A38F-AD44-8FD2-6409831EAA99}"/>
                    </a:ext>
                  </a:extLst>
                </p:cNvPr>
                <p:cNvSpPr txBox="1"/>
                <p:nvPr/>
              </p:nvSpPr>
              <p:spPr>
                <a:xfrm>
                  <a:off x="4700687" y="3790637"/>
                  <a:ext cx="1572768" cy="400110"/>
                </a:xfrm>
                <a:prstGeom prst="rect">
                  <a:avLst/>
                </a:prstGeom>
                <a:noFill/>
              </p:spPr>
              <p:txBody>
                <a:bodyPr wrap="square">
                  <a:sp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186.4</m:t>
                      </m:r>
                    </m:oMath>
                  </a14:m>
                  <a:r>
                    <a:rPr lang="en-US" sz="2000" dirty="0">
                      <a:latin typeface="Verdana" panose="020B0604030504040204" pitchFamily="34" charset="0"/>
                      <a:ea typeface="Times New Roman" panose="02020603050405020304" pitchFamily="18" charset="0"/>
                    </a:rPr>
                    <a:t> m</a:t>
                  </a:r>
                  <a:endParaRPr lang="en-US" sz="2000" dirty="0">
                    <a:latin typeface="Times New Roman" panose="02020603050405020304" pitchFamily="18" charset="0"/>
                    <a:ea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64342DA8-A38F-AD44-8FD2-6409831EAA99}"/>
                    </a:ext>
                  </a:extLst>
                </p:cNvPr>
                <p:cNvSpPr txBox="1">
                  <a:spLocks noRot="1" noChangeAspect="1" noMove="1" noResize="1" noEditPoints="1" noAdjustHandles="1" noChangeArrowheads="1" noChangeShapeType="1" noTextEdit="1"/>
                </p:cNvSpPr>
                <p:nvPr/>
              </p:nvSpPr>
              <p:spPr>
                <a:xfrm>
                  <a:off x="4700687" y="3790637"/>
                  <a:ext cx="1572768" cy="400110"/>
                </a:xfrm>
                <a:prstGeom prst="rect">
                  <a:avLst/>
                </a:prstGeom>
                <a:blipFill>
                  <a:blip r:embed="rId8"/>
                  <a:stretch>
                    <a:fillRect t="-125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xmlns="" id="{3D850C42-73C9-D14F-99C2-6DA6E1AFD2FF}"/>
                    </a:ext>
                  </a:extLst>
                </p:cNvPr>
                <p:cNvSpPr txBox="1"/>
                <p:nvPr/>
              </p:nvSpPr>
              <p:spPr>
                <a:xfrm>
                  <a:off x="3056109" y="5481655"/>
                  <a:ext cx="1407768" cy="400110"/>
                </a:xfrm>
                <a:prstGeom prst="rect">
                  <a:avLst/>
                </a:prstGeom>
                <a:noFill/>
              </p:spPr>
              <p:txBody>
                <a:bodyPr wrap="square">
                  <a:sp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230</m:t>
                      </m:r>
                    </m:oMath>
                  </a14:m>
                  <a:r>
                    <a:rPr lang="en-US" sz="2000" dirty="0">
                      <a:latin typeface="Verdana" panose="020B0604030504040204" pitchFamily="34" charset="0"/>
                      <a:ea typeface="Times New Roman" panose="02020603050405020304" pitchFamily="18" charset="0"/>
                    </a:rPr>
                    <a:t> m</a:t>
                  </a:r>
                  <a:endParaRPr lang="en-US" sz="2000" dirty="0">
                    <a:latin typeface="Times New Roman" panose="02020603050405020304" pitchFamily="18" charset="0"/>
                    <a:ea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3D850C42-73C9-D14F-99C2-6DA6E1AFD2FF}"/>
                    </a:ext>
                  </a:extLst>
                </p:cNvPr>
                <p:cNvSpPr txBox="1">
                  <a:spLocks noRot="1" noChangeAspect="1" noMove="1" noResize="1" noEditPoints="1" noAdjustHandles="1" noChangeArrowheads="1" noChangeShapeType="1" noTextEdit="1"/>
                </p:cNvSpPr>
                <p:nvPr/>
              </p:nvSpPr>
              <p:spPr>
                <a:xfrm>
                  <a:off x="3056109" y="5481655"/>
                  <a:ext cx="1407768" cy="400110"/>
                </a:xfrm>
                <a:prstGeom prst="rect">
                  <a:avLst/>
                </a:prstGeom>
                <a:blipFill>
                  <a:blip r:embed="rId9"/>
                  <a:stretch>
                    <a:fillRect t="-9091" b="-21212"/>
                  </a:stretch>
                </a:blipFill>
              </p:spPr>
              <p:txBody>
                <a:bodyPr/>
                <a:lstStyle/>
                <a:p>
                  <a:r>
                    <a:rPr lang="en-US">
                      <a:noFill/>
                    </a:rPr>
                    <a:t> </a:t>
                  </a:r>
                </a:p>
              </p:txBody>
            </p:sp>
          </mc:Fallback>
        </mc:AlternateContent>
      </p:grpSp>
      <p:pic>
        <p:nvPicPr>
          <p:cNvPr id="16" name="Picture 15">
            <a:extLst>
              <a:ext uri="{FF2B5EF4-FFF2-40B4-BE49-F238E27FC236}">
                <a16:creationId xmlns:a16="http://schemas.microsoft.com/office/drawing/2014/main" xmlns="" id="{C8DF58F8-C214-0047-BEF7-0C756BE7167A}"/>
              </a:ext>
            </a:extLst>
          </p:cNvPr>
          <p:cNvPicPr>
            <a:picLocks noChangeAspect="1"/>
          </p:cNvPicPr>
          <p:nvPr/>
        </p:nvPicPr>
        <p:blipFill rotWithShape="1">
          <a:blip r:embed="rId10">
            <a:extLst>
              <a:ext uri="{28A0092B-C50C-407E-A947-70E740481C1C}">
                <a14:useLocalDpi xmlns:a14="http://schemas.microsoft.com/office/drawing/2010/main" val="0"/>
              </a:ext>
            </a:extLst>
          </a:blip>
          <a:srcRect l="6565" r="5337" b="16273"/>
          <a:stretch/>
        </p:blipFill>
        <p:spPr bwMode="auto">
          <a:xfrm>
            <a:off x="6196794" y="3065772"/>
            <a:ext cx="3488814" cy="2204233"/>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xmlns="" id="{C3D25AB6-6429-AC43-BD52-88EBA67BF6D7}"/>
              </a:ext>
            </a:extLst>
          </p:cNvPr>
          <p:cNvSpPr txBox="1"/>
          <p:nvPr/>
        </p:nvSpPr>
        <p:spPr>
          <a:xfrm>
            <a:off x="500865" y="5726512"/>
            <a:ext cx="11097075" cy="707886"/>
          </a:xfrm>
          <a:prstGeom prst="rect">
            <a:avLst/>
          </a:prstGeom>
          <a:noFill/>
        </p:spPr>
        <p:txBody>
          <a:bodyPr wrap="square" rtlCol="0">
            <a:spAutoFit/>
          </a:bodyPr>
          <a:lstStyle/>
          <a:p>
            <a:pPr marL="415925"/>
            <a:r>
              <a:rPr lang="en-US" sz="2000" dirty="0">
                <a:latin typeface="Verdana" panose="020B0604030504040204" pitchFamily="34" charset="0"/>
                <a:ea typeface="Verdana" panose="020B0604030504040204" pitchFamily="34" charset="0"/>
                <a:cs typeface="Verdana" panose="020B0604030504040204" pitchFamily="34" charset="0"/>
              </a:rPr>
              <a:t>Looking at the model of the pyramid, why is there a measurement called height and a measurement called slant height?</a:t>
            </a:r>
          </a:p>
        </p:txBody>
      </p:sp>
      <p:sp>
        <p:nvSpPr>
          <p:cNvPr id="1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131</a:t>
            </a:r>
            <a:endParaRPr i="1" dirty="0">
              <a:latin typeface="Calibri"/>
              <a:ea typeface="Calibri"/>
              <a:cs typeface="Calibri"/>
              <a:sym typeface="Calibri"/>
            </a:endParaRPr>
          </a:p>
        </p:txBody>
      </p:sp>
      <p:pic>
        <p:nvPicPr>
          <p:cNvPr id="18" name="Google Shape;283;g104476d1465_1_17"/>
          <p:cNvPicPr preferRelativeResize="0"/>
          <p:nvPr/>
        </p:nvPicPr>
        <p:blipFill>
          <a:blip r:embed="rId11">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43546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131</a:t>
            </a:r>
            <a:endParaRPr i="1" dirty="0">
              <a:latin typeface="Calibri"/>
              <a:ea typeface="Calibri"/>
              <a:cs typeface="Calibri"/>
              <a:sym typeface="Calibri"/>
            </a:endParaRPr>
          </a:p>
        </p:txBody>
      </p:sp>
      <p:pic>
        <p:nvPicPr>
          <p:cNvPr id="17" name="Google Shape;283;g104476d1465_1_17"/>
          <p:cNvPicPr preferRelativeResize="0"/>
          <p:nvPr/>
        </p:nvPicPr>
        <p:blipFill>
          <a:blip r:embed="rId3">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grpSp>
        <p:nvGrpSpPr>
          <p:cNvPr id="2" name="Group 1"/>
          <p:cNvGrpSpPr/>
          <p:nvPr/>
        </p:nvGrpSpPr>
        <p:grpSpPr>
          <a:xfrm>
            <a:off x="2328672" y="2838775"/>
            <a:ext cx="6629400" cy="1123667"/>
            <a:chOff x="2328672" y="2838775"/>
            <a:chExt cx="6629400" cy="1123667"/>
          </a:xfrm>
        </p:grpSpPr>
        <p:sp>
          <p:nvSpPr>
            <p:cNvPr id="18" name="Rounded Rectangle 17">
              <a:extLst>
                <a:ext uri="{FF2B5EF4-FFF2-40B4-BE49-F238E27FC236}">
                  <a16:creationId xmlns:a16="http://schemas.microsoft.com/office/drawing/2014/main" xmlns="" id="{4518EB93-7277-CD43-9B74-325EF6DB7B70}"/>
                </a:ext>
              </a:extLst>
            </p:cNvPr>
            <p:cNvSpPr/>
            <p:nvPr/>
          </p:nvSpPr>
          <p:spPr>
            <a:xfrm>
              <a:off x="2328672" y="2838775"/>
              <a:ext cx="6629400" cy="1123667"/>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742950"/>
              <a:r>
                <a:rPr lang="en-US" sz="2000" dirty="0">
                  <a:solidFill>
                    <a:srgbClr val="00619E"/>
                  </a:solidFill>
                  <a:latin typeface="Verdana" panose="020B0604030504040204" pitchFamily="34" charset="0"/>
                  <a:ea typeface="Times New Roman" panose="02020603050405020304" pitchFamily="18" charset="0"/>
                </a:rPr>
                <a:t>When finding the surface area of a pyramid, use the </a:t>
              </a:r>
              <a:r>
                <a:rPr lang="en-US" sz="2000" b="1" dirty="0">
                  <a:solidFill>
                    <a:srgbClr val="00619E"/>
                  </a:solidFill>
                  <a:latin typeface="Verdana" panose="020B0604030504040204" pitchFamily="34" charset="0"/>
                  <a:ea typeface="Times New Roman" panose="02020603050405020304" pitchFamily="18" charset="0"/>
                </a:rPr>
                <a:t>slant height </a:t>
              </a:r>
              <a:r>
                <a:rPr lang="en-US" sz="2000" dirty="0">
                  <a:solidFill>
                    <a:srgbClr val="00619E"/>
                  </a:solidFill>
                  <a:latin typeface="Verdana" panose="020B0604030504040204" pitchFamily="34" charset="0"/>
                  <a:ea typeface="Times New Roman" panose="02020603050405020304" pitchFamily="18" charset="0"/>
                </a:rPr>
                <a:t>to find the area of the faces.</a:t>
              </a:r>
              <a:endParaRPr lang="en-US" sz="2000" dirty="0">
                <a:latin typeface="Times New Roman" panose="02020603050405020304" pitchFamily="18" charset="0"/>
                <a:ea typeface="Times New Roman" panose="02020603050405020304" pitchFamily="18" charset="0"/>
              </a:endParaRPr>
            </a:p>
          </p:txBody>
        </p:sp>
        <p:pic>
          <p:nvPicPr>
            <p:cNvPr id="19" name="Shape 15" descr="Icon&#10;&#10;Description automatically generated">
              <a:extLst>
                <a:ext uri="{FF2B5EF4-FFF2-40B4-BE49-F238E27FC236}">
                  <a16:creationId xmlns:a16="http://schemas.microsoft.com/office/drawing/2014/main" xmlns="" id="{501B3BAD-8DAD-6F4A-A9B6-108F56272F75}"/>
                </a:ext>
              </a:extLst>
            </p:cNvPr>
            <p:cNvPicPr preferRelativeResize="0"/>
            <p:nvPr/>
          </p:nvPicPr>
          <p:blipFill rotWithShape="1">
            <a:blip r:embed="rId4">
              <a:alphaModFix/>
            </a:blip>
            <a:srcRect/>
            <a:stretch/>
          </p:blipFill>
          <p:spPr>
            <a:xfrm>
              <a:off x="2511425" y="3130773"/>
              <a:ext cx="539750" cy="539670"/>
            </a:xfrm>
            <a:prstGeom prst="rect">
              <a:avLst/>
            </a:prstGeom>
            <a:noFill/>
            <a:ln>
              <a:noFill/>
            </a:ln>
            <a:effectLst>
              <a:outerShdw blurRad="50800" dist="38100" dir="2700000" algn="tl" rotWithShape="0">
                <a:prstClr val="black">
                  <a:alpha val="40000"/>
                </a:prstClr>
              </a:outerShdw>
            </a:effectLst>
          </p:spPr>
        </p:pic>
      </p:grpSp>
      <p:sp>
        <p:nvSpPr>
          <p:cNvPr id="20" name="TextBox 19">
            <a:extLst>
              <a:ext uri="{FF2B5EF4-FFF2-40B4-BE49-F238E27FC236}">
                <a16:creationId xmlns:a16="http://schemas.microsoft.com/office/drawing/2014/main" xmlns="" id="{2FA392D8-3ED3-7940-83A8-1451AA8A08D4}"/>
              </a:ext>
            </a:extLst>
          </p:cNvPr>
          <p:cNvSpPr txBox="1"/>
          <p:nvPr/>
        </p:nvSpPr>
        <p:spPr>
          <a:xfrm>
            <a:off x="579881" y="335637"/>
            <a:ext cx="10947157" cy="830997"/>
          </a:xfrm>
          <a:prstGeom prst="rect">
            <a:avLst/>
          </a:prstGeom>
          <a:noFill/>
        </p:spPr>
        <p:txBody>
          <a:bodyPr wrap="square" rtlCol="0">
            <a:spAutoFit/>
          </a:bodyPr>
          <a:lstStyle/>
          <a:p>
            <a:pPr marL="457200"/>
            <a:r>
              <a:rPr lang="en-US" sz="2400" dirty="0">
                <a:latin typeface="Verdana" panose="020B0604030504040204" pitchFamily="34" charset="0"/>
                <a:ea typeface="Verdana" panose="020B0604030504040204" pitchFamily="34" charset="0"/>
                <a:cs typeface="Verdana" panose="020B0604030504040204" pitchFamily="34" charset="0"/>
              </a:rPr>
              <a:t>The slant height of the pyramid represents the height of each triangular face.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67413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579881" y="335637"/>
            <a:ext cx="10947157"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Using the information about the pyramid, complete the table to determine the surface area of the pyramid. Begin by labeling the sides of the net.</a:t>
            </a:r>
          </a:p>
        </p:txBody>
      </p:sp>
      <p:grpSp>
        <p:nvGrpSpPr>
          <p:cNvPr id="6" name="Group 5">
            <a:extLst>
              <a:ext uri="{FF2B5EF4-FFF2-40B4-BE49-F238E27FC236}">
                <a16:creationId xmlns:a16="http://schemas.microsoft.com/office/drawing/2014/main" xmlns="" id="{1AB7A79A-6BFF-2A41-8E5B-ABAE0B915BED}"/>
              </a:ext>
            </a:extLst>
          </p:cNvPr>
          <p:cNvGrpSpPr/>
          <p:nvPr/>
        </p:nvGrpSpPr>
        <p:grpSpPr>
          <a:xfrm>
            <a:off x="3806540" y="1347074"/>
            <a:ext cx="4493837" cy="5120249"/>
            <a:chOff x="0" y="0"/>
            <a:chExt cx="2057400" cy="2057400"/>
          </a:xfrm>
        </p:grpSpPr>
        <p:grpSp>
          <p:nvGrpSpPr>
            <p:cNvPr id="7" name="Group 6">
              <a:extLst>
                <a:ext uri="{FF2B5EF4-FFF2-40B4-BE49-F238E27FC236}">
                  <a16:creationId xmlns:a16="http://schemas.microsoft.com/office/drawing/2014/main" xmlns="" id="{4CF1C14D-2F81-134F-A090-5261A01E4EC4}"/>
                </a:ext>
              </a:extLst>
            </p:cNvPr>
            <p:cNvGrpSpPr/>
            <p:nvPr/>
          </p:nvGrpSpPr>
          <p:grpSpPr>
            <a:xfrm>
              <a:off x="0" y="0"/>
              <a:ext cx="2057400" cy="2057400"/>
              <a:chOff x="0" y="0"/>
              <a:chExt cx="2057400" cy="2057400"/>
            </a:xfrm>
          </p:grpSpPr>
          <p:sp>
            <p:nvSpPr>
              <p:cNvPr id="13" name="Rectangle 12">
                <a:extLst>
                  <a:ext uri="{FF2B5EF4-FFF2-40B4-BE49-F238E27FC236}">
                    <a16:creationId xmlns:a16="http://schemas.microsoft.com/office/drawing/2014/main" xmlns="" id="{824C81F9-1021-174A-A06D-26DE03268A4C}"/>
                  </a:ext>
                </a:extLst>
              </p:cNvPr>
              <p:cNvSpPr/>
              <p:nvPr/>
            </p:nvSpPr>
            <p:spPr>
              <a:xfrm>
                <a:off x="685800" y="685800"/>
                <a:ext cx="685800" cy="68580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Isosceles Triangle 14">
                <a:extLst>
                  <a:ext uri="{FF2B5EF4-FFF2-40B4-BE49-F238E27FC236}">
                    <a16:creationId xmlns:a16="http://schemas.microsoft.com/office/drawing/2014/main" xmlns="" id="{495E1074-235E-F744-B2B4-F36AB53290B2}"/>
                  </a:ext>
                </a:extLst>
              </p:cNvPr>
              <p:cNvSpPr/>
              <p:nvPr/>
            </p:nvSpPr>
            <p:spPr>
              <a:xfrm rot="5400000">
                <a:off x="1371600" y="6858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Isosceles Triangle 15">
                <a:extLst>
                  <a:ext uri="{FF2B5EF4-FFF2-40B4-BE49-F238E27FC236}">
                    <a16:creationId xmlns:a16="http://schemas.microsoft.com/office/drawing/2014/main" xmlns="" id="{34F43378-5545-9C4C-8678-8F00E5B3D1A6}"/>
                  </a:ext>
                </a:extLst>
              </p:cNvPr>
              <p:cNvSpPr/>
              <p:nvPr/>
            </p:nvSpPr>
            <p:spPr>
              <a:xfrm rot="16200000">
                <a:off x="0" y="6858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Isosceles Triangle 16">
                <a:extLst>
                  <a:ext uri="{FF2B5EF4-FFF2-40B4-BE49-F238E27FC236}">
                    <a16:creationId xmlns:a16="http://schemas.microsoft.com/office/drawing/2014/main" xmlns="" id="{CD903368-541A-EF45-8841-3072A39CD6FA}"/>
                  </a:ext>
                </a:extLst>
              </p:cNvPr>
              <p:cNvSpPr/>
              <p:nvPr/>
            </p:nvSpPr>
            <p:spPr>
              <a:xfrm>
                <a:off x="685800" y="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Isosceles Triangle 17">
                <a:extLst>
                  <a:ext uri="{FF2B5EF4-FFF2-40B4-BE49-F238E27FC236}">
                    <a16:creationId xmlns:a16="http://schemas.microsoft.com/office/drawing/2014/main" xmlns="" id="{912351EF-0360-304A-BA65-8396335C3276}"/>
                  </a:ext>
                </a:extLst>
              </p:cNvPr>
              <p:cNvSpPr/>
              <p:nvPr/>
            </p:nvSpPr>
            <p:spPr>
              <a:xfrm rot="10800000">
                <a:off x="685800" y="1371600"/>
                <a:ext cx="685800" cy="685800"/>
              </a:xfrm>
              <a:prstGeom prst="triangle">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cxnSp>
          <p:nvCxnSpPr>
            <p:cNvPr id="8" name="Straight Connector 7">
              <a:extLst>
                <a:ext uri="{FF2B5EF4-FFF2-40B4-BE49-F238E27FC236}">
                  <a16:creationId xmlns:a16="http://schemas.microsoft.com/office/drawing/2014/main" xmlns="" id="{57D1FFF6-7763-184E-9FAB-7D4689964458}"/>
                </a:ext>
              </a:extLst>
            </p:cNvPr>
            <p:cNvCxnSpPr/>
            <p:nvPr/>
          </p:nvCxnSpPr>
          <p:spPr>
            <a:xfrm>
              <a:off x="1032510" y="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xmlns="" id="{35D57CF8-9E86-9C4D-AD63-0998BFECCF0C}"/>
                </a:ext>
              </a:extLst>
            </p:cNvPr>
            <p:cNvCxnSpPr/>
            <p:nvPr/>
          </p:nvCxnSpPr>
          <p:spPr>
            <a:xfrm>
              <a:off x="1025525" y="13716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xmlns="" id="{18AE86DF-2623-5347-885D-0DCC6021C703}"/>
                </a:ext>
              </a:extLst>
            </p:cNvPr>
            <p:cNvCxnSpPr/>
            <p:nvPr/>
          </p:nvCxnSpPr>
          <p:spPr>
            <a:xfrm rot="5400000">
              <a:off x="1701800" y="6858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xmlns="" id="{E7772500-74AF-3A46-96F5-1738E69618D7}"/>
                </a:ext>
              </a:extLst>
            </p:cNvPr>
            <p:cNvCxnSpPr/>
            <p:nvPr/>
          </p:nvCxnSpPr>
          <p:spPr>
            <a:xfrm rot="5400000">
              <a:off x="354330" y="685800"/>
              <a:ext cx="0" cy="685800"/>
            </a:xfrm>
            <a:prstGeom prst="line">
              <a:avLst/>
            </a:prstGeom>
            <a:ln w="12700" cmpd="sng">
              <a:prstDash val="dash"/>
            </a:ln>
            <a:effectLst/>
          </p:spPr>
          <p:style>
            <a:lnRef idx="2">
              <a:schemeClr val="dk1"/>
            </a:lnRef>
            <a:fillRef idx="0">
              <a:schemeClr val="dk1"/>
            </a:fillRef>
            <a:effectRef idx="1">
              <a:schemeClr val="dk1"/>
            </a:effectRef>
            <a:fontRef idx="minor">
              <a:schemeClr val="tx1"/>
            </a:fontRef>
          </p:style>
        </p:cxnSp>
      </p:grpSp>
      <p:sp>
        <p:nvSpPr>
          <p:cNvPr id="1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132</a:t>
            </a:r>
            <a:endParaRPr i="1" dirty="0">
              <a:latin typeface="Calibri"/>
              <a:ea typeface="Calibri"/>
              <a:cs typeface="Calibri"/>
              <a:sym typeface="Calibri"/>
            </a:endParaRPr>
          </a:p>
        </p:txBody>
      </p:sp>
      <p:pic>
        <p:nvPicPr>
          <p:cNvPr id="20" name="Google Shape;283;g104476d1465_1_17"/>
          <p:cNvPicPr preferRelativeResize="0"/>
          <p:nvPr/>
        </p:nvPicPr>
        <p:blipFill>
          <a:blip r:embed="rId3">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
        <p:nvSpPr>
          <p:cNvPr id="21"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463620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38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xmlns="" id="{E3B2A05C-D37A-CE43-A98F-F34B03B12CED}"/>
                  </a:ext>
                </a:extLst>
              </p:cNvPr>
              <p:cNvGraphicFramePr>
                <a:graphicFrameLocks noGrp="1"/>
              </p:cNvGraphicFramePr>
              <p:nvPr>
                <p:extLst>
                  <p:ext uri="{D42A27DB-BD31-4B8C-83A1-F6EECF244321}">
                    <p14:modId xmlns:p14="http://schemas.microsoft.com/office/powerpoint/2010/main" val="2821427461"/>
                  </p:ext>
                </p:extLst>
              </p:nvPr>
            </p:nvGraphicFramePr>
            <p:xfrm>
              <a:off x="2287834" y="216644"/>
              <a:ext cx="6890587" cy="6464808"/>
            </p:xfrm>
            <a:graphic>
              <a:graphicData uri="http://schemas.openxmlformats.org/drawingml/2006/table">
                <a:tbl>
                  <a:tblPr firstRow="1" firstCol="1" bandRow="1">
                    <a:tableStyleId>{A91F0D33-8C57-4600-99A7-42BC86742BE1}</a:tableStyleId>
                  </a:tblPr>
                  <a:tblGrid>
                    <a:gridCol w="1463040">
                      <a:extLst>
                        <a:ext uri="{9D8B030D-6E8A-4147-A177-3AD203B41FA5}">
                          <a16:colId xmlns:a16="http://schemas.microsoft.com/office/drawing/2014/main" xmlns="" val="4175397338"/>
                        </a:ext>
                      </a:extLst>
                    </a:gridCol>
                    <a:gridCol w="1783212">
                      <a:extLst>
                        <a:ext uri="{9D8B030D-6E8A-4147-A177-3AD203B41FA5}">
                          <a16:colId xmlns:a16="http://schemas.microsoft.com/office/drawing/2014/main" xmlns="" val="2645040865"/>
                        </a:ext>
                      </a:extLst>
                    </a:gridCol>
                    <a:gridCol w="1748787">
                      <a:extLst>
                        <a:ext uri="{9D8B030D-6E8A-4147-A177-3AD203B41FA5}">
                          <a16:colId xmlns:a16="http://schemas.microsoft.com/office/drawing/2014/main" xmlns="" val="2061966872"/>
                        </a:ext>
                      </a:extLst>
                    </a:gridCol>
                    <a:gridCol w="1895548">
                      <a:extLst>
                        <a:ext uri="{9D8B030D-6E8A-4147-A177-3AD203B41FA5}">
                          <a16:colId xmlns:a16="http://schemas.microsoft.com/office/drawing/2014/main" xmlns="" val="917147963"/>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Side</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Formula</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xmlns="" val="1637828609"/>
                      </a:ext>
                    </a:extLst>
                  </a:tr>
                  <a:tr h="45720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Rectangular base</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m:t>
                                </m:r>
                                <m:r>
                                  <a:rPr lang="en-US" sz="1800">
                                    <a:effectLst/>
                                    <a:latin typeface="Cambria Math" panose="02040503050406030204" pitchFamily="18" charset="0"/>
                                  </a:rPr>
                                  <m:t>𝑙</m:t>
                                </m:r>
                                <m:r>
                                  <a:rPr lang="en-US" sz="1800">
                                    <a:effectLst/>
                                    <a:latin typeface="Cambria Math" panose="02040503050406030204" pitchFamily="18" charset="0"/>
                                  </a:rPr>
                                  <m:t>∙</m:t>
                                </m:r>
                                <m:r>
                                  <a:rPr lang="en-US" sz="1800">
                                    <a:effectLst/>
                                    <a:latin typeface="Cambria Math" panose="02040503050406030204" pitchFamily="18" charset="0"/>
                                  </a:rPr>
                                  <m:t>𝑤</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=___________∙___________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 _______________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 val="3204350990"/>
                      </a:ext>
                    </a:extLst>
                  </a:tr>
                  <a:tr h="45720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Triangular Face 1</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m:t>
                                </m:r>
                                <m:f>
                                  <m:fPr>
                                    <m:ctrlPr>
                                      <a:rPr lang="en-US"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m:t>
                                </m:r>
                                <m:r>
                                  <a:rPr lang="en-US" sz="1800">
                                    <a:effectLst/>
                                    <a:latin typeface="Cambria Math" panose="02040503050406030204" pitchFamily="18" charset="0"/>
                                  </a:rPr>
                                  <m:t>𝑏</m:t>
                                </m:r>
                                <m:r>
                                  <a:rPr lang="en-US" sz="1800">
                                    <a:effectLst/>
                                    <a:latin typeface="Cambria Math" panose="02040503050406030204" pitchFamily="18" charset="0"/>
                                  </a:rPr>
                                  <m:t>∙</m:t>
                                </m:r>
                                <m:r>
                                  <a:rPr lang="en-US" sz="1800">
                                    <a:effectLst/>
                                    <a:latin typeface="Cambria Math" panose="02040503050406030204" pitchFamily="18" charset="0"/>
                                  </a:rPr>
                                  <m:t>h</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m:t>
                                </m:r>
                                <m:f>
                                  <m:fPr>
                                    <m:ctrlPr>
                                      <a:rPr lang="en-US"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∙___________∙___________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 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 val="1805643331"/>
                      </a:ext>
                    </a:extLst>
                  </a:tr>
                  <a:tr h="45720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Triangular Face 2</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m:t>
                                </m:r>
                                <m:f>
                                  <m:fPr>
                                    <m:ctrlPr>
                                      <a:rPr lang="en-US"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m:t>
                                </m:r>
                                <m:r>
                                  <a:rPr lang="en-US" sz="1800">
                                    <a:effectLst/>
                                    <a:latin typeface="Cambria Math" panose="02040503050406030204" pitchFamily="18" charset="0"/>
                                  </a:rPr>
                                  <m:t>𝑏</m:t>
                                </m:r>
                                <m:r>
                                  <a:rPr lang="en-US" sz="1800">
                                    <a:effectLst/>
                                    <a:latin typeface="Cambria Math" panose="02040503050406030204" pitchFamily="18" charset="0"/>
                                  </a:rPr>
                                  <m:t>∙</m:t>
                                </m:r>
                                <m:r>
                                  <a:rPr lang="en-US" sz="1800">
                                    <a:effectLst/>
                                    <a:latin typeface="Cambria Math" panose="02040503050406030204" pitchFamily="18" charset="0"/>
                                  </a:rPr>
                                  <m:t>h</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m:t>
                                </m:r>
                                <m:f>
                                  <m:fPr>
                                    <m:ctrlPr>
                                      <a:rPr lang="en-US"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∙___________∙___________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 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 val="772516917"/>
                      </a:ext>
                    </a:extLst>
                  </a:tr>
                  <a:tr h="45720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Triangular Face 3</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m:t>
                                </m:r>
                                <m:f>
                                  <m:fPr>
                                    <m:ctrlPr>
                                      <a:rPr lang="en-US"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m:t>
                                </m:r>
                                <m:r>
                                  <a:rPr lang="en-US" sz="1800">
                                    <a:effectLst/>
                                    <a:latin typeface="Cambria Math" panose="02040503050406030204" pitchFamily="18" charset="0"/>
                                  </a:rPr>
                                  <m:t>𝑏</m:t>
                                </m:r>
                                <m:r>
                                  <a:rPr lang="en-US" sz="1800">
                                    <a:effectLst/>
                                    <a:latin typeface="Cambria Math" panose="02040503050406030204" pitchFamily="18" charset="0"/>
                                  </a:rPr>
                                  <m:t>∙</m:t>
                                </m:r>
                                <m:r>
                                  <a:rPr lang="en-US" sz="1800">
                                    <a:effectLst/>
                                    <a:latin typeface="Cambria Math" panose="02040503050406030204" pitchFamily="18" charset="0"/>
                                  </a:rPr>
                                  <m:t>h</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m:t>
                                </m:r>
                                <m:f>
                                  <m:fPr>
                                    <m:ctrlPr>
                                      <a:rPr lang="en-US"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∙___________∙___________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 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 val="2006442609"/>
                      </a:ext>
                    </a:extLst>
                  </a:tr>
                  <a:tr h="45720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Triangular Face 4</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m:t>
                                </m:r>
                                <m:f>
                                  <m:fPr>
                                    <m:ctrlPr>
                                      <a:rPr lang="en-US"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m:t>
                                </m:r>
                                <m:r>
                                  <a:rPr lang="en-US" sz="1800">
                                    <a:effectLst/>
                                    <a:latin typeface="Cambria Math" panose="02040503050406030204" pitchFamily="18" charset="0"/>
                                  </a:rPr>
                                  <m:t>𝑏</m:t>
                                </m:r>
                                <m:r>
                                  <a:rPr lang="en-US" sz="1800">
                                    <a:effectLst/>
                                    <a:latin typeface="Cambria Math" panose="02040503050406030204" pitchFamily="18" charset="0"/>
                                  </a:rPr>
                                  <m:t>∙</m:t>
                                </m:r>
                                <m:r>
                                  <a:rPr lang="en-US" sz="1800">
                                    <a:effectLst/>
                                    <a:latin typeface="Cambria Math" panose="02040503050406030204" pitchFamily="18" charset="0"/>
                                  </a:rPr>
                                  <m:t>h</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m:t>
                                </m:r>
                                <m:f>
                                  <m:fPr>
                                    <m:ctrlPr>
                                      <a:rPr lang="en-US" sz="1800" i="1">
                                        <a:effectLst/>
                                        <a:latin typeface="Cambria Math"/>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∙___________∙___________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𝐴</m:t>
                                </m:r>
                                <m:r>
                                  <a:rPr lang="en-US" sz="1800">
                                    <a:effectLst/>
                                    <a:latin typeface="Cambria Math" panose="02040503050406030204" pitchFamily="18" charset="0"/>
                                  </a:rPr>
                                  <m:t>= ______________</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 val="1348980212"/>
                      </a:ext>
                    </a:extLst>
                  </a:tr>
                  <a:tr h="45720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Surface Area:</a:t>
                          </a:r>
                        </a:p>
                      </a:txBody>
                      <a:tcPr marL="44131" marR="44131"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2525845"/>
                      </a:ext>
                    </a:extLst>
                  </a:tr>
                </a:tbl>
              </a:graphicData>
            </a:graphic>
          </p:graphicFrame>
        </mc:Choice>
        <mc:Fallback>
          <p:graphicFrame>
            <p:nvGraphicFramePr>
              <p:cNvPr id="2" name="Table 1">
                <a:extLst>
                  <a:ext uri="{FF2B5EF4-FFF2-40B4-BE49-F238E27FC236}">
                    <a16:creationId xmlns:a16="http://schemas.microsoft.com/office/drawing/2014/main" xmlns:a14="http://schemas.microsoft.com/office/drawing/2010/main" xmlns="" id="{E3B2A05C-D37A-CE43-A98F-F34B03B12CED}"/>
                  </a:ext>
                </a:extLst>
              </p:cNvPr>
              <p:cNvGraphicFramePr>
                <a:graphicFrameLocks noGrp="1"/>
              </p:cNvGraphicFramePr>
              <p:nvPr>
                <p:extLst>
                  <p:ext uri="{D42A27DB-BD31-4B8C-83A1-F6EECF244321}">
                    <p14:modId xmlns:p14="http://schemas.microsoft.com/office/powerpoint/2010/main" val="2821427461"/>
                  </p:ext>
                </p:extLst>
              </p:nvPr>
            </p:nvGraphicFramePr>
            <p:xfrm>
              <a:off x="2287834" y="216644"/>
              <a:ext cx="6890587" cy="6464808"/>
            </p:xfrm>
            <a:graphic>
              <a:graphicData uri="http://schemas.openxmlformats.org/drawingml/2006/table">
                <a:tbl>
                  <a:tblPr firstRow="1" firstCol="1" bandRow="1">
                    <a:tableStyleId>{A91F0D33-8C57-4600-99A7-42BC86742BE1}</a:tableStyleId>
                  </a:tblPr>
                  <a:tblGrid>
                    <a:gridCol w="1463040">
                      <a:extLst>
                        <a:ext uri="{9D8B030D-6E8A-4147-A177-3AD203B41FA5}">
                          <a16:colId xmlns:a16="http://schemas.microsoft.com/office/drawing/2014/main" xmlns:a14="http://schemas.microsoft.com/office/drawing/2010/main" xmlns="" val="4175397338"/>
                        </a:ext>
                      </a:extLst>
                    </a:gridCol>
                    <a:gridCol w="1783212">
                      <a:extLst>
                        <a:ext uri="{9D8B030D-6E8A-4147-A177-3AD203B41FA5}">
                          <a16:colId xmlns:a16="http://schemas.microsoft.com/office/drawing/2014/main" xmlns:a14="http://schemas.microsoft.com/office/drawing/2010/main" xmlns="" val="2645040865"/>
                        </a:ext>
                      </a:extLst>
                    </a:gridCol>
                    <a:gridCol w="1748787">
                      <a:extLst>
                        <a:ext uri="{9D8B030D-6E8A-4147-A177-3AD203B41FA5}">
                          <a16:colId xmlns:a16="http://schemas.microsoft.com/office/drawing/2014/main" xmlns:a14="http://schemas.microsoft.com/office/drawing/2010/main" xmlns="" val="2061966872"/>
                        </a:ext>
                      </a:extLst>
                    </a:gridCol>
                    <a:gridCol w="1895548">
                      <a:extLst>
                        <a:ext uri="{9D8B030D-6E8A-4147-A177-3AD203B41FA5}">
                          <a16:colId xmlns:a16="http://schemas.microsoft.com/office/drawing/2014/main" xmlns:a14="http://schemas.microsoft.com/office/drawing/2010/main" xmlns="" val="917147963"/>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Side</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Formula</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xmlns:a14="http://schemas.microsoft.com/office/drawing/2010/main" xmlns="" val="1637828609"/>
                      </a:ext>
                    </a:extLst>
                  </a:tr>
                  <a:tr h="82296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Rectangular base</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1911" t="-56296" r="-204096" b="-636296"/>
                          </a:stretch>
                        </a:blipFill>
                      </a:tcPr>
                    </a:tc>
                    <a:tc gridSpan="2">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9130" t="-56296" b="-636296"/>
                          </a:stretch>
                        </a:blipFill>
                      </a:tcPr>
                    </a:tc>
                    <a:tc hMerge="1">
                      <a:txBody>
                        <a:bodyPr/>
                        <a:lstStyle/>
                        <a:p>
                          <a:endParaRPr lang="en-US"/>
                        </a:p>
                      </a:txBody>
                      <a:tcPr/>
                    </a:tc>
                    <a:extLst>
                      <a:ext uri="{0D108BD9-81ED-4DB2-BD59-A6C34878D82A}">
                        <a16:rowId xmlns:a16="http://schemas.microsoft.com/office/drawing/2014/main" xmlns:a14="http://schemas.microsoft.com/office/drawing/2010/main" xmlns="" val="3204350990"/>
                      </a:ext>
                    </a:extLst>
                  </a:tr>
                  <a:tr h="1181862">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Triangular Face 1</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1911" t="-108763" r="-204096" b="-342784"/>
                          </a:stretch>
                        </a:blipFill>
                      </a:tcPr>
                    </a:tc>
                    <a:tc gridSpan="2">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9130" t="-108763" b="-342784"/>
                          </a:stretch>
                        </a:blipFill>
                      </a:tcPr>
                    </a:tc>
                    <a:tc hMerge="1">
                      <a:txBody>
                        <a:bodyPr/>
                        <a:lstStyle/>
                        <a:p>
                          <a:endParaRPr lang="en-US"/>
                        </a:p>
                      </a:txBody>
                      <a:tcPr/>
                    </a:tc>
                    <a:extLst>
                      <a:ext uri="{0D108BD9-81ED-4DB2-BD59-A6C34878D82A}">
                        <a16:rowId xmlns:a16="http://schemas.microsoft.com/office/drawing/2014/main" xmlns:a14="http://schemas.microsoft.com/office/drawing/2010/main" xmlns="" val="1805643331"/>
                      </a:ext>
                    </a:extLst>
                  </a:tr>
                  <a:tr h="1181862">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Triangular Face 2</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1911" t="-209845" r="-204096" b="-244560"/>
                          </a:stretch>
                        </a:blipFill>
                      </a:tcPr>
                    </a:tc>
                    <a:tc gridSpan="2">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9130" t="-209845" b="-244560"/>
                          </a:stretch>
                        </a:blipFill>
                      </a:tcPr>
                    </a:tc>
                    <a:tc hMerge="1">
                      <a:txBody>
                        <a:bodyPr/>
                        <a:lstStyle/>
                        <a:p>
                          <a:endParaRPr lang="en-US"/>
                        </a:p>
                      </a:txBody>
                      <a:tcPr/>
                    </a:tc>
                    <a:extLst>
                      <a:ext uri="{0D108BD9-81ED-4DB2-BD59-A6C34878D82A}">
                        <a16:rowId xmlns:a16="http://schemas.microsoft.com/office/drawing/2014/main" xmlns:a14="http://schemas.microsoft.com/office/drawing/2010/main" xmlns="" val="772516917"/>
                      </a:ext>
                    </a:extLst>
                  </a:tr>
                  <a:tr h="1181862">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Triangular Face 3</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1911" t="-308247" r="-204096" b="-143299"/>
                          </a:stretch>
                        </a:blipFill>
                      </a:tcPr>
                    </a:tc>
                    <a:tc gridSpan="2">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9130" t="-308247" b="-143299"/>
                          </a:stretch>
                        </a:blipFill>
                      </a:tcPr>
                    </a:tc>
                    <a:tc hMerge="1">
                      <a:txBody>
                        <a:bodyPr/>
                        <a:lstStyle/>
                        <a:p>
                          <a:endParaRPr lang="en-US"/>
                        </a:p>
                      </a:txBody>
                      <a:tcPr/>
                    </a:tc>
                    <a:extLst>
                      <a:ext uri="{0D108BD9-81ED-4DB2-BD59-A6C34878D82A}">
                        <a16:rowId xmlns:a16="http://schemas.microsoft.com/office/drawing/2014/main" xmlns:a14="http://schemas.microsoft.com/office/drawing/2010/main" xmlns="" val="2006442609"/>
                      </a:ext>
                    </a:extLst>
                  </a:tr>
                  <a:tr h="1181862">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Triangular Face 4</a:t>
                          </a:r>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1911" t="-408247" r="-204096" b="-43299"/>
                          </a:stretch>
                        </a:blipFill>
                      </a:tcPr>
                    </a:tc>
                    <a:tc gridSpan="2">
                      <a:txBody>
                        <a:bodyPr/>
                        <a:lstStyle/>
                        <a:p>
                          <a:endParaRPr lang="en-US"/>
                        </a:p>
                      </a:txBody>
                      <a:tcPr marL="44131" marR="44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9130" t="-408247" b="-43299"/>
                          </a:stretch>
                        </a:blipFill>
                      </a:tcPr>
                    </a:tc>
                    <a:tc hMerge="1">
                      <a:txBody>
                        <a:bodyPr/>
                        <a:lstStyle/>
                        <a:p>
                          <a:endParaRPr lang="en-US"/>
                        </a:p>
                      </a:txBody>
                      <a:tcPr/>
                    </a:tc>
                    <a:extLst>
                      <a:ext uri="{0D108BD9-81ED-4DB2-BD59-A6C34878D82A}">
                        <a16:rowId xmlns:a16="http://schemas.microsoft.com/office/drawing/2014/main" xmlns:a14="http://schemas.microsoft.com/office/drawing/2010/main" xmlns="" val="1348980212"/>
                      </a:ext>
                    </a:extLst>
                  </a:tr>
                  <a:tr h="45720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p>
                      </a:txBody>
                      <a:tcPr marL="44131" marR="44131" marT="0" marB="0"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Surface Area:</a:t>
                          </a:r>
                        </a:p>
                      </a:txBody>
                      <a:tcPr marL="44131" marR="44131"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44131" marR="44131" marT="0" marB="0" anchor="ctr">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62525845"/>
                      </a:ext>
                    </a:extLst>
                  </a:tr>
                </a:tbl>
              </a:graphicData>
            </a:graphic>
          </p:graphicFrame>
        </mc:Fallback>
      </mc:AlternateContent>
      <p:sp>
        <p:nvSpPr>
          <p:cNvPr id="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132</a:t>
            </a:r>
            <a:endParaRPr i="1" dirty="0">
              <a:latin typeface="Calibri"/>
              <a:ea typeface="Calibri"/>
              <a:cs typeface="Calibri"/>
              <a:sym typeface="Calibri"/>
            </a:endParaRPr>
          </a:p>
        </p:txBody>
      </p:sp>
      <p:pic>
        <p:nvPicPr>
          <p:cNvPr id="7"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66313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7" name="TextBox 16">
            <a:extLst>
              <a:ext uri="{FF2B5EF4-FFF2-40B4-BE49-F238E27FC236}">
                <a16:creationId xmlns:a16="http://schemas.microsoft.com/office/drawing/2014/main" xmlns="" id="{2FA392D8-3ED3-7940-83A8-1451AA8A08D4}"/>
              </a:ext>
            </a:extLst>
          </p:cNvPr>
          <p:cNvSpPr txBox="1"/>
          <p:nvPr/>
        </p:nvSpPr>
        <p:spPr>
          <a:xfrm>
            <a:off x="579881" y="335637"/>
            <a:ext cx="10947157" cy="2862322"/>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following statement</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3"/>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eaLnBrk="0" fontAlgn="base" hangingPunct="0">
              <a:spcBef>
                <a:spcPct val="0"/>
              </a:spcBef>
              <a:spcAft>
                <a:spcPct val="0"/>
              </a:spcAft>
              <a:buClrTx/>
            </a:pPr>
            <a:r>
              <a:rPr lang="en-US"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To find the surface area of a rectangular pyramid you </a:t>
            </a:r>
            <a:r>
              <a:rPr lang="en-US" altLang="en-US" sz="2000" dirty="0" smtClean="0">
                <a:solidFill>
                  <a:schemeClr val="tx1"/>
                </a:solidFill>
                <a:latin typeface="Verdana" panose="020B0604030504040204" pitchFamily="34" charset="0"/>
                <a:ea typeface="Verdana" panose="020B0604030504040204" pitchFamily="34" charset="0"/>
                <a:cs typeface="Verdana" panose="020B0604030504040204" pitchFamily="34" charset="0"/>
              </a:rPr>
              <a:t>need</a:t>
            </a:r>
          </a:p>
          <a:p>
            <a:pPr marL="457200" eaLnBrk="0" fontAlgn="base" hangingPunct="0">
              <a:spcBef>
                <a:spcPct val="0"/>
              </a:spcBef>
              <a:spcAft>
                <a:spcPct val="0"/>
              </a:spcAft>
              <a:buClrTx/>
            </a:pPr>
            <a:endParaRPr lang="en-PH" altLang="en-US" sz="2000"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457200" eaLnBrk="0" fontAlgn="base" hangingPunct="0">
              <a:spcBef>
                <a:spcPct val="0"/>
              </a:spcBef>
              <a:spcAft>
                <a:spcPct val="0"/>
              </a:spcAft>
              <a:buClrTx/>
            </a:pPr>
            <a:endParaRPr lang="en-PH" altLang="en-US" sz="20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457200" eaLnBrk="0" fontAlgn="base" hangingPunct="0">
              <a:spcBef>
                <a:spcPct val="0"/>
              </a:spcBef>
              <a:spcAft>
                <a:spcPct val="0"/>
              </a:spcAft>
              <a:buClrTx/>
              <a:tabLst>
                <a:tab pos="4114800" algn="l"/>
              </a:tabLst>
            </a:pPr>
            <a:r>
              <a:rPr lang="en-US" altLang="en-US" sz="2000" dirty="0">
                <a:solidFill>
                  <a:schemeClr val="tx1"/>
                </a:solidFill>
                <a:latin typeface="Verdana" panose="020B0604030504040204" pitchFamily="34" charset="0"/>
                <a:ea typeface="Times New Roman" panose="02020603050405020304" pitchFamily="18" charset="0"/>
              </a:rPr>
              <a:t>the sum of </a:t>
            </a:r>
            <a:r>
              <a:rPr lang="en-US" altLang="en-US" sz="2000" dirty="0" smtClean="0">
                <a:solidFill>
                  <a:schemeClr val="tx1"/>
                </a:solidFill>
                <a:latin typeface="Verdana" panose="020B0604030504040204" pitchFamily="34" charset="0"/>
                <a:ea typeface="Times New Roman" panose="02020603050405020304" pitchFamily="18" charset="0"/>
              </a:rPr>
              <a:t>the	of </a:t>
            </a:r>
            <a:r>
              <a:rPr lang="en-US" altLang="en-US" sz="2000" dirty="0">
                <a:solidFill>
                  <a:schemeClr val="tx1"/>
                </a:solidFill>
                <a:latin typeface="Verdana" panose="020B0604030504040204" pitchFamily="34" charset="0"/>
                <a:ea typeface="Times New Roman" panose="02020603050405020304" pitchFamily="18" charset="0"/>
              </a:rPr>
              <a:t>the base plus the area </a:t>
            </a:r>
            <a:r>
              <a:rPr lang="en-US" altLang="en-US" sz="2000" dirty="0" smtClean="0">
                <a:solidFill>
                  <a:schemeClr val="tx1"/>
                </a:solidFill>
                <a:latin typeface="Verdana" panose="020B0604030504040204" pitchFamily="34" charset="0"/>
                <a:ea typeface="Times New Roman" panose="02020603050405020304" pitchFamily="18" charset="0"/>
              </a:rPr>
              <a:t>of</a:t>
            </a:r>
          </a:p>
          <a:p>
            <a:pPr marL="457200" eaLnBrk="0" fontAlgn="base" hangingPunct="0">
              <a:spcBef>
                <a:spcPct val="0"/>
              </a:spcBef>
              <a:spcAft>
                <a:spcPct val="0"/>
              </a:spcAft>
              <a:buClrTx/>
              <a:tabLst>
                <a:tab pos="4114800" algn="l"/>
              </a:tabLst>
            </a:pPr>
            <a:endParaRPr lang="en-PH" altLang="en-US" sz="2000" dirty="0" smtClean="0">
              <a:solidFill>
                <a:schemeClr val="tx1"/>
              </a:solidFill>
              <a:latin typeface="Verdana" panose="020B0604030504040204" pitchFamily="34" charset="0"/>
            </a:endParaRPr>
          </a:p>
          <a:p>
            <a:pPr marL="457200" eaLnBrk="0" fontAlgn="base" hangingPunct="0">
              <a:spcBef>
                <a:spcPct val="0"/>
              </a:spcBef>
              <a:spcAft>
                <a:spcPct val="0"/>
              </a:spcAft>
              <a:buClrTx/>
              <a:tabLst>
                <a:tab pos="4114800" algn="l"/>
              </a:tabLst>
            </a:pPr>
            <a:endParaRPr lang="en-PH" altLang="en-US" sz="2000" dirty="0">
              <a:solidFill>
                <a:schemeClr val="tx1"/>
              </a:solidFill>
              <a:latin typeface="Verdana" panose="020B0604030504040204" pitchFamily="34" charset="0"/>
            </a:endParaRPr>
          </a:p>
          <a:p>
            <a:pPr marL="457200" eaLnBrk="0" fontAlgn="base" hangingPunct="0">
              <a:spcBef>
                <a:spcPct val="0"/>
              </a:spcBef>
              <a:spcAft>
                <a:spcPct val="0"/>
              </a:spcAft>
              <a:buClrTx/>
              <a:tabLst>
                <a:tab pos="2171700" algn="l"/>
              </a:tabLst>
            </a:pPr>
            <a:r>
              <a:rPr lang="en-US" altLang="en-US" sz="2000" dirty="0" smtClean="0">
                <a:solidFill>
                  <a:schemeClr val="tx1"/>
                </a:solidFill>
                <a:latin typeface="Verdana" panose="020B0604030504040204" pitchFamily="34" charset="0"/>
                <a:ea typeface="Times New Roman" panose="02020603050405020304" pitchFamily="18" charset="0"/>
              </a:rPr>
              <a:t>	the </a:t>
            </a:r>
            <a:r>
              <a:rPr lang="en-US" altLang="en-US" sz="2000" dirty="0">
                <a:solidFill>
                  <a:schemeClr val="tx1"/>
                </a:solidFill>
                <a:latin typeface="Verdana" panose="020B0604030504040204" pitchFamily="34" charset="0"/>
                <a:ea typeface="Times New Roman" panose="02020603050405020304" pitchFamily="18" charset="0"/>
              </a:rPr>
              <a:t>other faces.</a:t>
            </a:r>
            <a:endParaRPr lang="en-US" altLang="en-US" sz="2000" dirty="0">
              <a:solidFill>
                <a:schemeClr val="tx1"/>
              </a:solidFill>
            </a:endParaRPr>
          </a:p>
        </p:txBody>
      </p:sp>
      <p:sp>
        <p:nvSpPr>
          <p:cNvPr id="278" name="Google Shape;278;g104476d1465_1_17"/>
          <p:cNvSpPr/>
          <p:nvPr/>
        </p:nvSpPr>
        <p:spPr>
          <a:xfrm>
            <a:off x="-5474"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Rectangle: Rounded Corners 25">
            <a:extLst>
              <a:ext uri="{FF2B5EF4-FFF2-40B4-BE49-F238E27FC236}">
                <a16:creationId xmlns:a16="http://schemas.microsoft.com/office/drawing/2014/main" xmlns="" id="{AB9A85DA-4A35-ED4C-AD87-EE6144FE5B7B}"/>
              </a:ext>
            </a:extLst>
          </p:cNvPr>
          <p:cNvSpPr>
            <a:spLocks noChangeArrowheads="1"/>
          </p:cNvSpPr>
          <p:nvPr/>
        </p:nvSpPr>
        <p:spPr bwMode="auto">
          <a:xfrm>
            <a:off x="3172578" y="1587722"/>
            <a:ext cx="1468755" cy="955602"/>
          </a:xfrm>
          <a:prstGeom prst="roundRect">
            <a:avLst>
              <a:gd name="adj" fmla="val 16667"/>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285750" indent="-285750" eaLnBrk="0" fontAlgn="base" hangingPunct="0">
              <a:spcBef>
                <a:spcPct val="0"/>
              </a:spcBef>
              <a:spcAft>
                <a:spcPct val="0"/>
              </a:spcAft>
              <a:buClrTx/>
              <a:buFont typeface="Courier New" panose="02070309020205020404" pitchFamily="49" charset="0"/>
              <a:buChar char="o"/>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height</a:t>
            </a:r>
            <a:endParaRPr lang="en-US" altLang="en-US" sz="2000" dirty="0">
              <a:solidFill>
                <a:schemeClr val="tx1"/>
              </a:solidFill>
            </a:endParaRPr>
          </a:p>
          <a:p>
            <a:pPr marL="285750" indent="-285750" eaLnBrk="0" fontAlgn="base" hangingPunct="0">
              <a:spcBef>
                <a:spcPct val="0"/>
              </a:spcBef>
              <a:spcAft>
                <a:spcPct val="0"/>
              </a:spcAft>
              <a:buClrTx/>
              <a:buFont typeface="Courier New" panose="02070309020205020404" pitchFamily="49" charset="0"/>
              <a:buChar char="o"/>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area</a:t>
            </a:r>
            <a:endParaRPr lang="en-US" altLang="en-US" sz="2000" dirty="0">
              <a:solidFill>
                <a:schemeClr val="tx1"/>
              </a:solidFill>
              <a:latin typeface="Arial" panose="020B0604020202020204" pitchFamily="34" charset="0"/>
            </a:endParaRPr>
          </a:p>
        </p:txBody>
      </p:sp>
      <p:sp>
        <p:nvSpPr>
          <p:cNvPr id="9" name="Rectangle: Rounded Corners 28">
            <a:extLst>
              <a:ext uri="{FF2B5EF4-FFF2-40B4-BE49-F238E27FC236}">
                <a16:creationId xmlns:a16="http://schemas.microsoft.com/office/drawing/2014/main" xmlns="" id="{4C908B61-4407-444F-B371-A894F0CAF05A}"/>
              </a:ext>
            </a:extLst>
          </p:cNvPr>
          <p:cNvSpPr>
            <a:spLocks noChangeArrowheads="1"/>
          </p:cNvSpPr>
          <p:nvPr/>
        </p:nvSpPr>
        <p:spPr bwMode="auto">
          <a:xfrm>
            <a:off x="1151671" y="2427353"/>
            <a:ext cx="1468756" cy="1005697"/>
          </a:xfrm>
          <a:prstGeom prst="roundRect">
            <a:avLst>
              <a:gd name="adj" fmla="val 16667"/>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285750" indent="-285750" eaLnBrk="0" fontAlgn="base" hangingPunct="0">
              <a:spcBef>
                <a:spcPct val="0"/>
              </a:spcBef>
              <a:spcAft>
                <a:spcPct val="0"/>
              </a:spcAft>
              <a:buClrTx/>
              <a:buFont typeface="Courier New" panose="02070309020205020404" pitchFamily="49" charset="0"/>
              <a:buChar char="o"/>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one of</a:t>
            </a:r>
            <a:endParaRPr lang="en-US" altLang="en-US" sz="2000" dirty="0">
              <a:solidFill>
                <a:schemeClr val="tx1"/>
              </a:solidFill>
            </a:endParaRPr>
          </a:p>
          <a:p>
            <a:pPr marL="285750" indent="-285750" eaLnBrk="0" fontAlgn="base" hangingPunct="0">
              <a:spcBef>
                <a:spcPct val="0"/>
              </a:spcBef>
              <a:spcAft>
                <a:spcPct val="0"/>
              </a:spcAft>
              <a:buClrTx/>
              <a:buFont typeface="Courier New" panose="02070309020205020404" pitchFamily="49" charset="0"/>
              <a:buChar char="o"/>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all</a:t>
            </a:r>
            <a:endParaRPr lang="en-US" altLang="en-US" sz="2000" dirty="0">
              <a:solidFill>
                <a:schemeClr val="tx1"/>
              </a:solidFill>
              <a:latin typeface="Arial" panose="020B0604020202020204" pitchFamily="34" charset="0"/>
            </a:endParaRPr>
          </a:p>
        </p:txBody>
      </p:sp>
      <p:sp>
        <p:nvSpPr>
          <p:cNvPr id="13"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132</a:t>
            </a:r>
            <a:endParaRPr i="1" dirty="0">
              <a:latin typeface="Calibri"/>
              <a:ea typeface="Calibri"/>
              <a:cs typeface="Calibri"/>
              <a:sym typeface="Calibri"/>
            </a:endParaRPr>
          </a:p>
        </p:txBody>
      </p:sp>
      <p:pic>
        <p:nvPicPr>
          <p:cNvPr id="16" name="Google Shape;283;g104476d1465_1_17"/>
          <p:cNvPicPr preferRelativeResize="0"/>
          <p:nvPr/>
        </p:nvPicPr>
        <p:blipFill>
          <a:blip r:embed="rId3">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81488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133</a:t>
            </a:r>
            <a:endParaRPr i="1" dirty="0">
              <a:latin typeface="Calibri"/>
              <a:ea typeface="Calibri"/>
              <a:cs typeface="Calibri"/>
              <a:sym typeface="Calibri"/>
            </a:endParaRPr>
          </a:p>
        </p:txBody>
      </p:sp>
      <p:pic>
        <p:nvPicPr>
          <p:cNvPr id="9"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764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26308" y="-41546"/>
            <a:ext cx="1082815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8.11.3 Collaboration: Surface Area of a Rectangular Pyramid</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196" y="16985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 name="Group 1"/>
          <p:cNvGrpSpPr/>
          <p:nvPr/>
        </p:nvGrpSpPr>
        <p:grpSpPr>
          <a:xfrm>
            <a:off x="6855890" y="1374047"/>
            <a:ext cx="4671148" cy="3616198"/>
            <a:chOff x="5996852" y="1657350"/>
            <a:chExt cx="4671148" cy="3616198"/>
          </a:xfrm>
        </p:grpSpPr>
        <p:pic>
          <p:nvPicPr>
            <p:cNvPr id="11" name="Picture 10">
              <a:extLst>
                <a:ext uri="{FF2B5EF4-FFF2-40B4-BE49-F238E27FC236}">
                  <a16:creationId xmlns:a16="http://schemas.microsoft.com/office/drawing/2014/main" xmlns="" id="{FFB41F4C-DCAF-4945-8B73-38F5C3AA5468}"/>
                </a:ext>
              </a:extLst>
            </p:cNvPr>
            <p:cNvPicPr>
              <a:picLocks noChangeAspect="1"/>
            </p:cNvPicPr>
            <p:nvPr/>
          </p:nvPicPr>
          <p:blipFill rotWithShape="1">
            <a:blip r:embed="rId4"/>
            <a:srcRect l="8161" t="7608" r="11167"/>
            <a:stretch/>
          </p:blipFill>
          <p:spPr>
            <a:xfrm>
              <a:off x="5996852" y="1657350"/>
              <a:ext cx="4429538" cy="3616198"/>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A3153D28-273E-7B4B-AB6F-13C516C19337}"/>
                    </a:ext>
                  </a:extLst>
                </p:cNvPr>
                <p:cNvSpPr txBox="1"/>
                <p:nvPr/>
              </p:nvSpPr>
              <p:spPr>
                <a:xfrm>
                  <a:off x="9087450" y="3228945"/>
                  <a:ext cx="1097280" cy="400110"/>
                </a:xfrm>
                <a:prstGeom prst="rect">
                  <a:avLst/>
                </a:prstGeom>
                <a:noFill/>
              </p:spPr>
              <p:txBody>
                <a:bodyPr wrap="square">
                  <a:sp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2.2</m:t>
                      </m:r>
                    </m:oMath>
                  </a14:m>
                  <a:r>
                    <a:rPr lang="en-US" sz="2000" dirty="0">
                      <a:latin typeface="Verdana" panose="020B0604030504040204" pitchFamily="34" charset="0"/>
                      <a:ea typeface="Times New Roman" panose="02020603050405020304" pitchFamily="18" charset="0"/>
                    </a:rPr>
                    <a:t> ft</a:t>
                  </a:r>
                  <a:endParaRPr lang="en-US" sz="2000" dirty="0">
                    <a:latin typeface="Times New Roman" panose="02020603050405020304" pitchFamily="18" charset="0"/>
                    <a:ea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A3153D28-273E-7B4B-AB6F-13C516C19337}"/>
                    </a:ext>
                  </a:extLst>
                </p:cNvPr>
                <p:cNvSpPr txBox="1">
                  <a:spLocks noRot="1" noChangeAspect="1" noMove="1" noResize="1" noEditPoints="1" noAdjustHandles="1" noChangeArrowheads="1" noChangeShapeType="1" noTextEdit="1"/>
                </p:cNvSpPr>
                <p:nvPr/>
              </p:nvSpPr>
              <p:spPr>
                <a:xfrm>
                  <a:off x="9087450" y="3228945"/>
                  <a:ext cx="1097280" cy="400110"/>
                </a:xfrm>
                <a:prstGeom prst="rect">
                  <a:avLst/>
                </a:prstGeom>
                <a:blipFill>
                  <a:blip r:embed="rId6"/>
                  <a:stretch>
                    <a:fillRect t="-125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6B23D044-3AC6-0C4D-839D-20E1930C7B33}"/>
                    </a:ext>
                  </a:extLst>
                </p:cNvPr>
                <p:cNvSpPr txBox="1"/>
                <p:nvPr/>
              </p:nvSpPr>
              <p:spPr>
                <a:xfrm>
                  <a:off x="7690512" y="3644646"/>
                  <a:ext cx="919249" cy="400110"/>
                </a:xfrm>
                <a:prstGeom prst="rect">
                  <a:avLst/>
                </a:prstGeom>
                <a:noFill/>
              </p:spPr>
              <p:txBody>
                <a:bodyPr wrap="square">
                  <a:sp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2.1</m:t>
                      </m:r>
                    </m:oMath>
                  </a14:m>
                  <a:r>
                    <a:rPr lang="en-US" sz="2000" dirty="0">
                      <a:latin typeface="Verdana" panose="020B0604030504040204" pitchFamily="34" charset="0"/>
                      <a:ea typeface="Times New Roman" panose="02020603050405020304" pitchFamily="18" charset="0"/>
                    </a:rPr>
                    <a:t> ft</a:t>
                  </a:r>
                  <a:endParaRPr lang="en-US" sz="2000" dirty="0">
                    <a:latin typeface="Times New Roman" panose="02020603050405020304" pitchFamily="18" charset="0"/>
                    <a:ea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6B23D044-3AC6-0C4D-839D-20E1930C7B33}"/>
                    </a:ext>
                  </a:extLst>
                </p:cNvPr>
                <p:cNvSpPr txBox="1">
                  <a:spLocks noRot="1" noChangeAspect="1" noMove="1" noResize="1" noEditPoints="1" noAdjustHandles="1" noChangeArrowheads="1" noChangeShapeType="1" noTextEdit="1"/>
                </p:cNvSpPr>
                <p:nvPr/>
              </p:nvSpPr>
              <p:spPr>
                <a:xfrm>
                  <a:off x="7690512" y="3644646"/>
                  <a:ext cx="919249" cy="400110"/>
                </a:xfrm>
                <a:prstGeom prst="rect">
                  <a:avLst/>
                </a:prstGeom>
                <a:blipFill>
                  <a:blip r:embed="rId7"/>
                  <a:stretch>
                    <a:fillRect t="-12500" b="-218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xmlns="" id="{E045DF04-5385-8D42-B9B9-7957971F76D1}"/>
                    </a:ext>
                  </a:extLst>
                </p:cNvPr>
                <p:cNvSpPr txBox="1"/>
                <p:nvPr/>
              </p:nvSpPr>
              <p:spPr>
                <a:xfrm>
                  <a:off x="6947502" y="4832023"/>
                  <a:ext cx="734496" cy="400110"/>
                </a:xfrm>
                <a:prstGeom prst="rect">
                  <a:avLst/>
                </a:prstGeom>
                <a:noFill/>
              </p:spPr>
              <p:txBody>
                <a:bodyPr wrap="none" rtlCol="0">
                  <a:spAutoFit/>
                </a:bodyPr>
                <a:lstStyle/>
                <a:p>
                  <a14:m>
                    <m:oMath xmlns:m="http://schemas.openxmlformats.org/officeDocument/2006/math">
                      <m:r>
                        <a:rPr lang="en-US" sz="2000" i="1">
                          <a:latin typeface="Cambria Math" panose="02040503050406030204" pitchFamily="18" charset="0"/>
                        </a:rPr>
                        <m:t>1.6</m:t>
                      </m:r>
                    </m:oMath>
                  </a14:m>
                  <a:r>
                    <a:rPr lang="en-US" sz="2000" dirty="0"/>
                    <a:t> ft</a:t>
                  </a:r>
                </a:p>
              </p:txBody>
            </p:sp>
          </mc:Choice>
          <mc:Fallback xmlns="">
            <p:sp>
              <p:nvSpPr>
                <p:cNvPr id="4" name="TextBox 3">
                  <a:extLst>
                    <a:ext uri="{FF2B5EF4-FFF2-40B4-BE49-F238E27FC236}">
                      <a16:creationId xmlns:a16="http://schemas.microsoft.com/office/drawing/2014/main" id="{E045DF04-5385-8D42-B9B9-7957971F76D1}"/>
                    </a:ext>
                  </a:extLst>
                </p:cNvPr>
                <p:cNvSpPr txBox="1">
                  <a:spLocks noRot="1" noChangeAspect="1" noMove="1" noResize="1" noEditPoints="1" noAdjustHandles="1" noChangeArrowheads="1" noChangeShapeType="1" noTextEdit="1"/>
                </p:cNvSpPr>
                <p:nvPr/>
              </p:nvSpPr>
              <p:spPr>
                <a:xfrm>
                  <a:off x="6947502" y="4832023"/>
                  <a:ext cx="734496" cy="400110"/>
                </a:xfrm>
                <a:prstGeom prst="rect">
                  <a:avLst/>
                </a:prstGeom>
                <a:blipFill>
                  <a:blip r:embed="rId8"/>
                  <a:stretch>
                    <a:fillRect t="-9375" r="-8621" b="-28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xmlns="" id="{17B109A2-4398-F744-961E-ABCAF9CF5395}"/>
                    </a:ext>
                  </a:extLst>
                </p:cNvPr>
                <p:cNvSpPr txBox="1"/>
                <p:nvPr/>
              </p:nvSpPr>
              <p:spPr>
                <a:xfrm>
                  <a:off x="9476844" y="4458478"/>
                  <a:ext cx="1191156" cy="400110"/>
                </a:xfrm>
                <a:prstGeom prst="rect">
                  <a:avLst/>
                </a:prstGeom>
                <a:noFill/>
              </p:spPr>
              <p:txBody>
                <a:bodyPr wrap="square">
                  <a:sp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0.74</m:t>
                      </m:r>
                    </m:oMath>
                  </a14:m>
                  <a:r>
                    <a:rPr lang="en-US" sz="2000" dirty="0">
                      <a:latin typeface="Verdana" panose="020B0604030504040204" pitchFamily="34" charset="0"/>
                      <a:ea typeface="Times New Roman" panose="02020603050405020304" pitchFamily="18" charset="0"/>
                    </a:rPr>
                    <a:t> ft</a:t>
                  </a:r>
                  <a:endParaRPr lang="en-US" sz="2000" dirty="0">
                    <a:latin typeface="Times New Roman" panose="02020603050405020304" pitchFamily="18" charset="0"/>
                    <a:ea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17B109A2-4398-F744-961E-ABCAF9CF5395}"/>
                    </a:ext>
                  </a:extLst>
                </p:cNvPr>
                <p:cNvSpPr txBox="1">
                  <a:spLocks noRot="1" noChangeAspect="1" noMove="1" noResize="1" noEditPoints="1" noAdjustHandles="1" noChangeArrowheads="1" noChangeShapeType="1" noTextEdit="1"/>
                </p:cNvSpPr>
                <p:nvPr/>
              </p:nvSpPr>
              <p:spPr>
                <a:xfrm>
                  <a:off x="9476844" y="4458478"/>
                  <a:ext cx="1191156" cy="400110"/>
                </a:xfrm>
                <a:prstGeom prst="rect">
                  <a:avLst/>
                </a:prstGeom>
                <a:blipFill>
                  <a:blip r:embed="rId9"/>
                  <a:stretch>
                    <a:fillRect t="-9091" b="-21212"/>
                  </a:stretch>
                </a:blipFill>
              </p:spPr>
              <p:txBody>
                <a:bodyPr/>
                <a:lstStyle/>
                <a:p>
                  <a:r>
                    <a:rPr lang="en-US">
                      <a:noFill/>
                    </a:rPr>
                    <a:t> </a:t>
                  </a:r>
                </a:p>
              </p:txBody>
            </p:sp>
          </mc:Fallback>
        </mc:AlternateContent>
      </p:grpSp>
      <p:sp>
        <p:nvSpPr>
          <p:cNvPr id="14"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133</a:t>
            </a:r>
            <a:endParaRPr i="1" dirty="0">
              <a:latin typeface="Calibri"/>
              <a:ea typeface="Calibri"/>
              <a:cs typeface="Calibri"/>
              <a:sym typeface="Calibri"/>
            </a:endParaRPr>
          </a:p>
        </p:txBody>
      </p:sp>
      <p:pic>
        <p:nvPicPr>
          <p:cNvPr id="18" name="Google Shape;283;g104476d1465_1_17"/>
          <p:cNvPicPr preferRelativeResize="0"/>
          <p:nvPr/>
        </p:nvPicPr>
        <p:blipFill>
          <a:blip r:embed="rId10">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
        <p:nvSpPr>
          <p:cNvPr id="20" name="TextBox 19">
            <a:extLst>
              <a:ext uri="{FF2B5EF4-FFF2-40B4-BE49-F238E27FC236}">
                <a16:creationId xmlns:a16="http://schemas.microsoft.com/office/drawing/2014/main" xmlns="" id="{C01B13E8-EC8D-E443-A329-C5E3593DD13A}"/>
              </a:ext>
            </a:extLst>
          </p:cNvPr>
          <p:cNvSpPr txBox="1"/>
          <p:nvPr/>
        </p:nvSpPr>
        <p:spPr>
          <a:xfrm>
            <a:off x="462765" y="1374047"/>
            <a:ext cx="6393125" cy="3170099"/>
          </a:xfrm>
          <a:prstGeom prst="rect">
            <a:avLst/>
          </a:prstGeom>
          <a:noFill/>
        </p:spPr>
        <p:txBody>
          <a:bodyPr wrap="square" rtlCol="0">
            <a:spAutoFit/>
          </a:bodyPr>
          <a:lstStyle/>
          <a:p>
            <a:r>
              <a:rPr lang="en-US" sz="2000" dirty="0" err="1">
                <a:latin typeface="Verdana" panose="020B0604030504040204" pitchFamily="34" charset="0"/>
                <a:ea typeface="Verdana" panose="020B0604030504040204" pitchFamily="34" charset="0"/>
                <a:cs typeface="Verdana" panose="020B0604030504040204" pitchFamily="34" charset="0"/>
              </a:rPr>
              <a:t>Papier-mache</a:t>
            </a:r>
            <a:r>
              <a:rPr lang="en-US" sz="2000" dirty="0">
                <a:latin typeface="Verdana" panose="020B0604030504040204" pitchFamily="34" charset="0"/>
                <a:ea typeface="Verdana" panose="020B0604030504040204" pitchFamily="34" charset="0"/>
                <a:cs typeface="Verdana" panose="020B0604030504040204" pitchFamily="34" charset="0"/>
              </a:rPr>
              <a:t> is a type of art that uses paper and glue. Jose is using the art of </a:t>
            </a:r>
            <a:r>
              <a:rPr lang="en-US" sz="2000" dirty="0" err="1">
                <a:latin typeface="Verdana" panose="020B0604030504040204" pitchFamily="34" charset="0"/>
                <a:ea typeface="Verdana" panose="020B0604030504040204" pitchFamily="34" charset="0"/>
                <a:cs typeface="Verdana" panose="020B0604030504040204" pitchFamily="34" charset="0"/>
              </a:rPr>
              <a:t>papier-mache</a:t>
            </a:r>
            <a:r>
              <a:rPr lang="en-US" sz="2000" dirty="0">
                <a:latin typeface="Verdana" panose="020B0604030504040204" pitchFamily="34" charset="0"/>
                <a:ea typeface="Verdana" panose="020B0604030504040204" pitchFamily="34" charset="0"/>
                <a:cs typeface="Verdana" panose="020B0604030504040204" pitchFamily="34" charset="0"/>
              </a:rPr>
              <a:t> to create a rectangular pyramid for his art project. To create his project, Jose needs to determine the amount of area that will be covered in newspaper. Below is the drawing Jose created to find the surface area</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Work with your partner to find the surface area of the pyramid</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t>
            </a:r>
            <a:r>
              <a:rPr lang="en-US" sz="2000" dirty="0" smtClean="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133</a:t>
            </a:r>
            <a:endParaRPr i="1" dirty="0">
              <a:latin typeface="Calibri"/>
              <a:ea typeface="Calibri"/>
              <a:cs typeface="Calibri"/>
              <a:sym typeface="Calibri"/>
            </a:endParaRPr>
          </a:p>
        </p:txBody>
      </p:sp>
      <p:pic>
        <p:nvPicPr>
          <p:cNvPr id="10"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27695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05129" y="235302"/>
            <a:ext cx="10838187"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8.11.4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437400" y="235302"/>
            <a:ext cx="747300" cy="747300"/>
          </a:xfrm>
          <a:prstGeom prst="rect">
            <a:avLst/>
          </a:prstGeom>
          <a:noFill/>
          <a:ln>
            <a:noFill/>
          </a:ln>
          <a:effectLst>
            <a:outerShdw blurRad="50800" dist="38100" dir="2700000" algn="tl" rotWithShape="0">
              <a:prstClr val="black">
                <a:alpha val="40000"/>
              </a:prstClr>
            </a:outerShdw>
          </a:effectLst>
        </p:spPr>
      </p:pic>
      <p:grpSp>
        <p:nvGrpSpPr>
          <p:cNvPr id="2" name="Group 1"/>
          <p:cNvGrpSpPr/>
          <p:nvPr/>
        </p:nvGrpSpPr>
        <p:grpSpPr>
          <a:xfrm>
            <a:off x="6915571" y="1374047"/>
            <a:ext cx="4615369" cy="3752851"/>
            <a:chOff x="3705226" y="2295524"/>
            <a:chExt cx="4615369" cy="3752851"/>
          </a:xfrm>
        </p:grpSpPr>
        <p:pic>
          <p:nvPicPr>
            <p:cNvPr id="8" name="Picture 7">
              <a:extLst>
                <a:ext uri="{FF2B5EF4-FFF2-40B4-BE49-F238E27FC236}">
                  <a16:creationId xmlns:a16="http://schemas.microsoft.com/office/drawing/2014/main" xmlns="" id="{59D6B302-71EB-3E49-B0D1-5C68660A647B}"/>
                </a:ext>
              </a:extLst>
            </p:cNvPr>
            <p:cNvPicPr>
              <a:picLocks noChangeAspect="1"/>
            </p:cNvPicPr>
            <p:nvPr/>
          </p:nvPicPr>
          <p:blipFill rotWithShape="1">
            <a:blip r:embed="rId4"/>
            <a:srcRect l="9383" t="6928" r="12206" b="3628"/>
            <a:stretch/>
          </p:blipFill>
          <p:spPr>
            <a:xfrm>
              <a:off x="3705226" y="2295524"/>
              <a:ext cx="4615369" cy="3752851"/>
            </a:xfrm>
            <a:prstGeom prst="rect">
              <a:avLst/>
            </a:prstGeom>
          </p:spPr>
        </p:pic>
        <mc:AlternateContent xmlns:mc="http://schemas.openxmlformats.org/markup-compatibility/2006" xmlns:a14="http://schemas.microsoft.com/office/drawing/2010/main">
          <mc:Choice Requires="a14">
            <p:sp>
              <p:nvSpPr>
                <p:cNvPr id="10" name="Text Box 48">
                  <a:extLst>
                    <a:ext uri="{FF2B5EF4-FFF2-40B4-BE49-F238E27FC236}">
                      <a16:creationId xmlns:a16="http://schemas.microsoft.com/office/drawing/2014/main" xmlns="" id="{F1EC0F09-B93B-CE46-8338-5B23328A667C}"/>
                    </a:ext>
                  </a:extLst>
                </p:cNvPr>
                <p:cNvSpPr txBox="1"/>
                <p:nvPr/>
              </p:nvSpPr>
              <p:spPr>
                <a:xfrm rot="3804439">
                  <a:off x="6501822" y="3628833"/>
                  <a:ext cx="914400" cy="50292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16.2</m:t>
                      </m:r>
                    </m:oMath>
                  </a14:m>
                  <a:r>
                    <a:rPr lang="en-US" sz="1800" dirty="0">
                      <a:latin typeface="Verdana" panose="020B0604030504040204" pitchFamily="34" charset="0"/>
                      <a:ea typeface="Times New Roman" panose="02020603050405020304" pitchFamily="18" charset="0"/>
                    </a:rPr>
                    <a:t> ft</a:t>
                  </a:r>
                  <a:endParaRPr lang="en-US" sz="1200" dirty="0">
                    <a:latin typeface="Times New Roman" panose="02020603050405020304" pitchFamily="18" charset="0"/>
                    <a:ea typeface="Times New Roman" panose="02020603050405020304" pitchFamily="18" charset="0"/>
                  </a:endParaRPr>
                </a:p>
                <a:p>
                  <a:r>
                    <a:rPr lang="en-US" sz="1800" dirty="0">
                      <a:latin typeface="Times New Roman" panose="02020603050405020304" pitchFamily="18" charset="0"/>
                      <a:ea typeface="Times New Roman" panose="02020603050405020304" pitchFamily="18" charset="0"/>
                    </a:rPr>
                    <a:t> </a:t>
                  </a:r>
                  <a:endParaRPr lang="en-US" sz="1200" dirty="0">
                    <a:latin typeface="Times New Roman" panose="02020603050405020304" pitchFamily="18" charset="0"/>
                    <a:ea typeface="Times New Roman" panose="02020603050405020304" pitchFamily="18" charset="0"/>
                  </a:endParaRPr>
                </a:p>
              </p:txBody>
            </p:sp>
          </mc:Choice>
          <mc:Fallback xmlns="">
            <p:sp>
              <p:nvSpPr>
                <p:cNvPr id="10" name="Text Box 48">
                  <a:extLst>
                    <a:ext uri="{FF2B5EF4-FFF2-40B4-BE49-F238E27FC236}">
                      <a16:creationId xmlns:a16="http://schemas.microsoft.com/office/drawing/2014/main" id="{F1EC0F09-B93B-CE46-8338-5B23328A667C}"/>
                    </a:ext>
                  </a:extLst>
                </p:cNvPr>
                <p:cNvSpPr txBox="1">
                  <a:spLocks noRot="1" noChangeAspect="1" noMove="1" noResize="1" noEditPoints="1" noAdjustHandles="1" noChangeArrowheads="1" noChangeShapeType="1" noTextEdit="1"/>
                </p:cNvSpPr>
                <p:nvPr/>
              </p:nvSpPr>
              <p:spPr>
                <a:xfrm rot="3804439">
                  <a:off x="6501822" y="3628833"/>
                  <a:ext cx="914400" cy="502920"/>
                </a:xfrm>
                <a:prstGeom prst="rect">
                  <a:avLst/>
                </a:prstGeom>
                <a:blipFill>
                  <a:blip r:embed="rId6"/>
                  <a:stretch>
                    <a:fillRect r="-2899" b="-119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46">
                  <a:extLst>
                    <a:ext uri="{FF2B5EF4-FFF2-40B4-BE49-F238E27FC236}">
                      <a16:creationId xmlns:a16="http://schemas.microsoft.com/office/drawing/2014/main" xmlns="" id="{E2890E37-CBBE-0F45-9F24-5325CBC04E94}"/>
                    </a:ext>
                  </a:extLst>
                </p:cNvPr>
                <p:cNvSpPr txBox="1"/>
                <p:nvPr/>
              </p:nvSpPr>
              <p:spPr>
                <a:xfrm rot="19231652">
                  <a:off x="7421286" y="5158985"/>
                  <a:ext cx="866566" cy="41390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rPr>
                    <a:t> ft</a:t>
                  </a:r>
                  <a:endParaRPr lang="en-US" sz="2000" dirty="0">
                    <a:latin typeface="Times New Roman" panose="02020603050405020304" pitchFamily="18" charset="0"/>
                    <a:ea typeface="Times New Roman" panose="02020603050405020304" pitchFamily="18" charset="0"/>
                  </a:endParaRPr>
                </a:p>
                <a:p>
                  <a:r>
                    <a:rPr lang="en-US" sz="2000" dirty="0">
                      <a:latin typeface="Times New Roman" panose="02020603050405020304" pitchFamily="18" charset="0"/>
                      <a:ea typeface="Times New Roman" panose="02020603050405020304" pitchFamily="18" charset="0"/>
                    </a:rPr>
                    <a:t> </a:t>
                  </a:r>
                </a:p>
              </p:txBody>
            </p:sp>
          </mc:Choice>
          <mc:Fallback xmlns="">
            <p:sp>
              <p:nvSpPr>
                <p:cNvPr id="14" name="Text Box 46">
                  <a:extLst>
                    <a:ext uri="{FF2B5EF4-FFF2-40B4-BE49-F238E27FC236}">
                      <a16:creationId xmlns:a16="http://schemas.microsoft.com/office/drawing/2014/main" id="{E2890E37-CBBE-0F45-9F24-5325CBC04E94}"/>
                    </a:ext>
                  </a:extLst>
                </p:cNvPr>
                <p:cNvSpPr txBox="1">
                  <a:spLocks noRot="1" noChangeAspect="1" noMove="1" noResize="1" noEditPoints="1" noAdjustHandles="1" noChangeArrowheads="1" noChangeShapeType="1" noTextEdit="1"/>
                </p:cNvSpPr>
                <p:nvPr/>
              </p:nvSpPr>
              <p:spPr>
                <a:xfrm rot="19231652">
                  <a:off x="7421286" y="5158985"/>
                  <a:ext cx="866566" cy="413904"/>
                </a:xfrm>
                <a:prstGeom prst="rect">
                  <a:avLst/>
                </a:prstGeom>
                <a:blipFill>
                  <a:blip r:embed="rId7"/>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47">
                  <a:extLst>
                    <a:ext uri="{FF2B5EF4-FFF2-40B4-BE49-F238E27FC236}">
                      <a16:creationId xmlns:a16="http://schemas.microsoft.com/office/drawing/2014/main" xmlns="" id="{F44F2D28-8A5B-9346-81BF-54F7EB4640B4}"/>
                    </a:ext>
                  </a:extLst>
                </p:cNvPr>
                <p:cNvSpPr txBox="1"/>
                <p:nvPr/>
              </p:nvSpPr>
              <p:spPr>
                <a:xfrm rot="17070044">
                  <a:off x="5399620" y="3916061"/>
                  <a:ext cx="958215" cy="50228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15.3</m:t>
                      </m:r>
                    </m:oMath>
                  </a14:m>
                  <a:r>
                    <a:rPr lang="en-US" sz="2000" dirty="0">
                      <a:latin typeface="Verdana" panose="020B0604030504040204" pitchFamily="34" charset="0"/>
                      <a:ea typeface="Times New Roman" panose="02020603050405020304" pitchFamily="18" charset="0"/>
                    </a:rPr>
                    <a:t> ft</a:t>
                  </a:r>
                  <a:endParaRPr lang="en-US" sz="2000" dirty="0">
                    <a:latin typeface="Times New Roman" panose="02020603050405020304" pitchFamily="18" charset="0"/>
                    <a:ea typeface="Times New Roman" panose="02020603050405020304" pitchFamily="18" charset="0"/>
                  </a:endParaRPr>
                </a:p>
                <a:p>
                  <a:r>
                    <a:rPr lang="en-US" sz="2000" dirty="0">
                      <a:latin typeface="Times New Roman" panose="02020603050405020304" pitchFamily="18" charset="0"/>
                      <a:ea typeface="Times New Roman" panose="02020603050405020304" pitchFamily="18" charset="0"/>
                    </a:rPr>
                    <a:t> `</a:t>
                  </a:r>
                </a:p>
              </p:txBody>
            </p:sp>
          </mc:Choice>
          <mc:Fallback xmlns="">
            <p:sp>
              <p:nvSpPr>
                <p:cNvPr id="15" name="Text Box 47">
                  <a:extLst>
                    <a:ext uri="{FF2B5EF4-FFF2-40B4-BE49-F238E27FC236}">
                      <a16:creationId xmlns:a16="http://schemas.microsoft.com/office/drawing/2014/main" id="{F44F2D28-8A5B-9346-81BF-54F7EB4640B4}"/>
                    </a:ext>
                  </a:extLst>
                </p:cNvPr>
                <p:cNvSpPr txBox="1">
                  <a:spLocks noRot="1" noChangeAspect="1" noMove="1" noResize="1" noEditPoints="1" noAdjustHandles="1" noChangeArrowheads="1" noChangeShapeType="1" noTextEdit="1"/>
                </p:cNvSpPr>
                <p:nvPr/>
              </p:nvSpPr>
              <p:spPr>
                <a:xfrm rot="17070044">
                  <a:off x="5399620" y="3916061"/>
                  <a:ext cx="958215" cy="502285"/>
                </a:xfrm>
                <a:prstGeom prst="rect">
                  <a:avLst/>
                </a:prstGeom>
                <a:blipFill>
                  <a:blip r:embed="rId8"/>
                  <a:stretch>
                    <a:fillRect t="-4706" r="-22034" b="-5882"/>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45">
                  <a:extLst>
                    <a:ext uri="{FF2B5EF4-FFF2-40B4-BE49-F238E27FC236}">
                      <a16:creationId xmlns:a16="http://schemas.microsoft.com/office/drawing/2014/main" xmlns="" id="{A400BD19-6368-9C41-8D3E-C512629E7CAD}"/>
                    </a:ext>
                  </a:extLst>
                </p:cNvPr>
                <p:cNvSpPr txBox="1"/>
                <p:nvPr/>
              </p:nvSpPr>
              <p:spPr>
                <a:xfrm rot="982390">
                  <a:off x="4872657" y="5094166"/>
                  <a:ext cx="1033145" cy="3962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14:m>
                    <m:oMath xmlns:m="http://schemas.openxmlformats.org/officeDocument/2006/math">
                      <m:r>
                        <a:rPr lang="en-US" sz="2000" i="1">
                          <a:latin typeface="Cambria Math" panose="02040503050406030204" pitchFamily="18" charset="0"/>
                          <a:ea typeface="Times New Roman" panose="02020603050405020304" pitchFamily="18" charset="0"/>
                        </a:rPr>
                        <m:t>12</m:t>
                      </m:r>
                    </m:oMath>
                  </a14:m>
                  <a:r>
                    <a:rPr lang="en-US" sz="2000">
                      <a:latin typeface="Verdana" panose="020B0604030504040204" pitchFamily="34" charset="0"/>
                      <a:ea typeface="Times New Roman" panose="02020603050405020304" pitchFamily="18" charset="0"/>
                    </a:rPr>
                    <a:t> ft</a:t>
                  </a:r>
                  <a:endParaRPr lang="en-US" sz="2000">
                    <a:latin typeface="Times New Roman" panose="02020603050405020304" pitchFamily="18" charset="0"/>
                    <a:ea typeface="Times New Roman" panose="02020603050405020304" pitchFamily="18" charset="0"/>
                  </a:endParaRPr>
                </a:p>
                <a:p>
                  <a:r>
                    <a:rPr lang="en-US" sz="2000">
                      <a:latin typeface="Times New Roman" panose="02020603050405020304" pitchFamily="18" charset="0"/>
                      <a:ea typeface="Times New Roman" panose="02020603050405020304" pitchFamily="18" charset="0"/>
                    </a:rPr>
                    <a:t> </a:t>
                  </a:r>
                </a:p>
              </p:txBody>
            </p:sp>
          </mc:Choice>
          <mc:Fallback xmlns="">
            <p:sp>
              <p:nvSpPr>
                <p:cNvPr id="16" name="Text Box 45">
                  <a:extLst>
                    <a:ext uri="{FF2B5EF4-FFF2-40B4-BE49-F238E27FC236}">
                      <a16:creationId xmlns:a16="http://schemas.microsoft.com/office/drawing/2014/main" id="{A400BD19-6368-9C41-8D3E-C512629E7CAD}"/>
                    </a:ext>
                  </a:extLst>
                </p:cNvPr>
                <p:cNvSpPr txBox="1">
                  <a:spLocks noRot="1" noChangeAspect="1" noMove="1" noResize="1" noEditPoints="1" noAdjustHandles="1" noChangeArrowheads="1" noChangeShapeType="1" noTextEdit="1"/>
                </p:cNvSpPr>
                <p:nvPr/>
              </p:nvSpPr>
              <p:spPr>
                <a:xfrm rot="982390">
                  <a:off x="4872657" y="5094166"/>
                  <a:ext cx="1033145" cy="396240"/>
                </a:xfrm>
                <a:prstGeom prst="rect">
                  <a:avLst/>
                </a:prstGeom>
                <a:blipFill>
                  <a:blip r:embed="rId9"/>
                  <a:stretch>
                    <a:fillRect b="-3704"/>
                  </a:stretch>
                </a:blipFill>
                <a:ln w="6350">
                  <a:noFill/>
                </a:ln>
              </p:spPr>
              <p:txBody>
                <a:bodyPr/>
                <a:lstStyle/>
                <a:p>
                  <a:r>
                    <a:rPr lang="en-US">
                      <a:noFill/>
                    </a:rPr>
                    <a:t> </a:t>
                  </a:r>
                </a:p>
              </p:txBody>
            </p:sp>
          </mc:Fallback>
        </mc:AlternateContent>
      </p:grpSp>
      <p:sp>
        <p:nvSpPr>
          <p:cNvPr id="13"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133</a:t>
            </a:r>
            <a:endParaRPr i="1" dirty="0">
              <a:latin typeface="Calibri"/>
              <a:ea typeface="Calibri"/>
              <a:cs typeface="Calibri"/>
              <a:sym typeface="Calibri"/>
            </a:endParaRPr>
          </a:p>
        </p:txBody>
      </p:sp>
      <p:pic>
        <p:nvPicPr>
          <p:cNvPr id="17" name="Google Shape;283;g104476d1465_1_17"/>
          <p:cNvPicPr preferRelativeResize="0"/>
          <p:nvPr/>
        </p:nvPicPr>
        <p:blipFill>
          <a:blip r:embed="rId10">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
        <p:nvSpPr>
          <p:cNvPr id="18" name="TextBox 17">
            <a:extLst>
              <a:ext uri="{FF2B5EF4-FFF2-40B4-BE49-F238E27FC236}">
                <a16:creationId xmlns:a16="http://schemas.microsoft.com/office/drawing/2014/main" xmlns="" id="{C01B13E8-EC8D-E443-A329-C5E3593DD13A}"/>
              </a:ext>
            </a:extLst>
          </p:cNvPr>
          <p:cNvSpPr txBox="1"/>
          <p:nvPr/>
        </p:nvSpPr>
        <p:spPr>
          <a:xfrm>
            <a:off x="462765" y="1374047"/>
            <a:ext cx="11068175" cy="101566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Calculate the surface area for the pyramids.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Calculate the surface area of the pyramid</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26663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descr="Diagram&#10;&#10;Description automatically generated">
            <a:extLst>
              <a:ext uri="{FF2B5EF4-FFF2-40B4-BE49-F238E27FC236}">
                <a16:creationId xmlns:a16="http://schemas.microsoft.com/office/drawing/2014/main" xmlns="" id="{8BAD5A40-99E0-FF4E-81D0-A574814C1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1669" y="2058234"/>
            <a:ext cx="8383579" cy="3387916"/>
          </a:xfrm>
          <a:prstGeom prst="rect">
            <a:avLst/>
          </a:prstGeom>
        </p:spPr>
      </p:pic>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134</a:t>
            </a:r>
            <a:endParaRPr i="1" dirty="0">
              <a:latin typeface="Calibri"/>
              <a:ea typeface="Calibri"/>
              <a:cs typeface="Calibri"/>
              <a:sym typeface="Calibri"/>
            </a:endParaRPr>
          </a:p>
        </p:txBody>
      </p:sp>
      <p:pic>
        <p:nvPicPr>
          <p:cNvPr id="9"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2FA392D8-3ED3-7940-83A8-1451AA8A08D4}"/>
                  </a:ext>
                </a:extLst>
              </p:cNvPr>
              <p:cNvSpPr txBox="1"/>
              <p:nvPr/>
            </p:nvSpPr>
            <p:spPr>
              <a:xfrm>
                <a:off x="579881" y="335637"/>
                <a:ext cx="10947157" cy="132343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Find the surface area of a rectangular pyramid that has a rectangular base with a side length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600</m:t>
                    </m:r>
                  </m:oMath>
                </a14:m>
                <a:r>
                  <a:rPr lang="en-US" sz="2000" dirty="0">
                    <a:latin typeface="Verdana" panose="020B0604030504040204" pitchFamily="34" charset="0"/>
                    <a:ea typeface="Verdana" panose="020B0604030504040204" pitchFamily="34" charset="0"/>
                    <a:cs typeface="Verdana" panose="020B0604030504040204" pitchFamily="34" charset="0"/>
                  </a:rPr>
                  <a:t> feet (ft), which is the base of the triangle with a slant height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545</m:t>
                    </m:r>
                  </m:oMath>
                </a14:m>
                <a:r>
                  <a:rPr lang="en-US" sz="2000" dirty="0">
                    <a:latin typeface="Verdana" panose="020B0604030504040204" pitchFamily="34" charset="0"/>
                    <a:ea typeface="Verdana" panose="020B0604030504040204" pitchFamily="34" charset="0"/>
                    <a:cs typeface="Verdana" panose="020B0604030504040204" pitchFamily="34" charset="0"/>
                  </a:rPr>
                  <a:t> ft, and a side length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756</m:t>
                    </m:r>
                  </m:oMath>
                </a14:m>
                <a:r>
                  <a:rPr lang="en-US" sz="2000" dirty="0">
                    <a:latin typeface="Verdana" panose="020B0604030504040204" pitchFamily="34" charset="0"/>
                    <a:ea typeface="Verdana" panose="020B0604030504040204" pitchFamily="34" charset="0"/>
                    <a:cs typeface="Verdana" panose="020B0604030504040204" pitchFamily="34" charset="0"/>
                  </a:rPr>
                  <a:t> ft, which is the base of the triangle with a slant height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591.5</m:t>
                    </m:r>
                  </m:oMath>
                </a14:m>
                <a:r>
                  <a:rPr lang="en-US" sz="2000" dirty="0">
                    <a:latin typeface="Verdana" panose="020B0604030504040204" pitchFamily="34" charset="0"/>
                    <a:ea typeface="Verdana" panose="020B0604030504040204" pitchFamily="34" charset="0"/>
                    <a:cs typeface="Verdana" panose="020B0604030504040204" pitchFamily="34" charset="0"/>
                  </a:rPr>
                  <a:t> ft.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579881" y="335637"/>
                <a:ext cx="10947157" cy="1323439"/>
              </a:xfrm>
              <a:prstGeom prst="rect">
                <a:avLst/>
              </a:prstGeom>
              <a:blipFill rotWithShape="1">
                <a:blip r:embed="rId5"/>
                <a:stretch>
                  <a:fillRect l="-557" t="-2765" r="-223" b="-7373"/>
                </a:stretch>
              </a:blipFill>
            </p:spPr>
            <p:txBody>
              <a:bodyPr/>
              <a:lstStyle/>
              <a:p>
                <a:r>
                  <a:rPr lang="en-US">
                    <a:noFill/>
                  </a:rPr>
                  <a:t> </a:t>
                </a:r>
              </a:p>
            </p:txBody>
          </p:sp>
        </mc:Fallback>
      </mc:AlternateContent>
    </p:spTree>
    <p:extLst>
      <p:ext uri="{BB962C8B-B14F-4D97-AF65-F5344CB8AC3E}">
        <p14:creationId xmlns:p14="http://schemas.microsoft.com/office/powerpoint/2010/main" val="3755819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8"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a:extLst>
              <a:ext uri="{FF2B5EF4-FFF2-40B4-BE49-F238E27FC236}">
                <a16:creationId xmlns:a16="http://schemas.microsoft.com/office/drawing/2014/main" xmlns="" id="{D92B9B9D-9213-2B48-A0A3-F167716C78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538002" y="2582398"/>
            <a:ext cx="5030914" cy="3352215"/>
          </a:xfrm>
          <a:prstGeom prst="rect">
            <a:avLst/>
          </a:prstGeom>
          <a:noFill/>
          <a:ln>
            <a:noFill/>
          </a:ln>
        </p:spPr>
      </p:pic>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134</a:t>
            </a:r>
            <a:endParaRPr i="1" dirty="0">
              <a:latin typeface="Calibri"/>
              <a:ea typeface="Calibri"/>
              <a:cs typeface="Calibri"/>
              <a:sym typeface="Calibri"/>
            </a:endParaRPr>
          </a:p>
        </p:txBody>
      </p:sp>
      <p:pic>
        <p:nvPicPr>
          <p:cNvPr id="8"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2FA392D8-3ED3-7940-83A8-1451AA8A08D4}"/>
                  </a:ext>
                </a:extLst>
              </p:cNvPr>
              <p:cNvSpPr txBox="1"/>
              <p:nvPr/>
            </p:nvSpPr>
            <p:spPr>
              <a:xfrm>
                <a:off x="579881" y="335637"/>
                <a:ext cx="10947157" cy="1631216"/>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At the entrance to the Louvre Museum in Paris, France, is an architectural pyramid that was completed in </a:t>
                </a:r>
                <a:r>
                  <a:rPr lang="en-US" sz="2000" i="0" dirty="0" smtClean="0">
                    <a:latin typeface="+mj-lt"/>
                  </a:rPr>
                  <a:t>1989</a:t>
                </a:r>
                <a:r>
                  <a:rPr lang="en-US" sz="2000" dirty="0" smtClean="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The pyramid has a square base with side lengths of </a:t>
                </a:r>
                <a14:m>
                  <m:oMath xmlns:m="http://schemas.openxmlformats.org/officeDocument/2006/math">
                    <m:r>
                      <a:rPr lang="en-US" sz="2000" i="1">
                        <a:latin typeface="Cambria Math" panose="02040503050406030204" pitchFamily="18" charset="0"/>
                      </a:rPr>
                      <m:t>34</m:t>
                    </m:r>
                  </m:oMath>
                </a14:m>
                <a:r>
                  <a:rPr lang="en-US" sz="2000" dirty="0">
                    <a:latin typeface="Verdana" panose="020B0604030504040204" pitchFamily="34" charset="0"/>
                    <a:ea typeface="Verdana" panose="020B0604030504040204" pitchFamily="34" charset="0"/>
                    <a:cs typeface="Verdana" panose="020B0604030504040204" pitchFamily="34" charset="0"/>
                  </a:rPr>
                  <a:t> meters, and the pyramid stands at a height of </a:t>
                </a:r>
                <a14:m>
                  <m:oMath xmlns:m="http://schemas.openxmlformats.org/officeDocument/2006/math">
                    <m:r>
                      <a:rPr lang="en-US" sz="2000" i="1">
                        <a:latin typeface="Cambria Math" panose="02040503050406030204" pitchFamily="18" charset="0"/>
                      </a:rPr>
                      <m:t>21.6</m:t>
                    </m:r>
                  </m:oMath>
                </a14:m>
                <a:r>
                  <a:rPr lang="en-US" sz="2000" dirty="0">
                    <a:latin typeface="Verdana" panose="020B0604030504040204" pitchFamily="34" charset="0"/>
                    <a:ea typeface="Verdana" panose="020B0604030504040204" pitchFamily="34" charset="0"/>
                    <a:cs typeface="Verdana" panose="020B0604030504040204" pitchFamily="34" charset="0"/>
                  </a:rPr>
                  <a:t> meters and a slant height of </a:t>
                </a:r>
                <a14:m>
                  <m:oMath xmlns:m="http://schemas.openxmlformats.org/officeDocument/2006/math">
                    <m:r>
                      <a:rPr lang="en-US" sz="2000" i="1">
                        <a:latin typeface="Cambria Math" panose="02040503050406030204" pitchFamily="18" charset="0"/>
                      </a:rPr>
                      <m:t>27.5</m:t>
                    </m:r>
                  </m:oMath>
                </a14:m>
                <a:r>
                  <a:rPr lang="en-US" sz="2000" dirty="0">
                    <a:latin typeface="Verdana" panose="020B0604030504040204" pitchFamily="34" charset="0"/>
                    <a:ea typeface="Verdana" panose="020B0604030504040204" pitchFamily="34" charset="0"/>
                    <a:cs typeface="Verdana" panose="020B0604030504040204" pitchFamily="34" charset="0"/>
                  </a:rPr>
                  <a:t> meters. Using this information, calculate the surface area of the rectangular pyramid.</a:t>
                </a:r>
              </a:p>
            </p:txBody>
          </p:sp>
        </mc:Choice>
        <mc:Fallback>
          <p:sp>
            <p:nvSpPr>
              <p:cNvPr id="9" name="TextBox 8">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579881" y="335637"/>
                <a:ext cx="10947157" cy="1631216"/>
              </a:xfrm>
              <a:prstGeom prst="rect">
                <a:avLst/>
              </a:prstGeom>
              <a:blipFill rotWithShape="1">
                <a:blip r:embed="rId5"/>
                <a:stretch>
                  <a:fillRect l="-557" t="-2239" r="-111" b="-5597"/>
                </a:stretch>
              </a:blipFill>
            </p:spPr>
            <p:txBody>
              <a:bodyPr/>
              <a:lstStyle/>
              <a:p>
                <a:r>
                  <a:rPr lang="en-US">
                    <a:noFill/>
                  </a:rPr>
                  <a:t> </a:t>
                </a:r>
              </a:p>
            </p:txBody>
          </p:sp>
        </mc:Fallback>
      </mc:AlternateContent>
    </p:spTree>
    <p:extLst>
      <p:ext uri="{BB962C8B-B14F-4D97-AF65-F5344CB8AC3E}">
        <p14:creationId xmlns:p14="http://schemas.microsoft.com/office/powerpoint/2010/main" val="3572005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135</a:t>
            </a:r>
            <a:endParaRPr i="1" dirty="0">
              <a:latin typeface="Calibri"/>
              <a:ea typeface="Calibri"/>
              <a:cs typeface="Calibri"/>
              <a:sym typeface="Calibri"/>
            </a:endParaRPr>
          </a:p>
        </p:txBody>
      </p:sp>
      <p:pic>
        <p:nvPicPr>
          <p:cNvPr id="9" name="Google Shape;283;g104476d1465_1_17"/>
          <p:cNvPicPr preferRelativeResize="0"/>
          <p:nvPr/>
        </p:nvPicPr>
        <p:blipFill>
          <a:blip r:embed="rId4">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611955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31034" y="0"/>
            <a:ext cx="103150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8.11.5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394524" y="28920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0370EDB7-6994-3D43-ABF9-E04CBAFB9CD9}"/>
                  </a:ext>
                </a:extLst>
              </p:cNvPr>
              <p:cNvSpPr txBox="1"/>
              <p:nvPr/>
            </p:nvSpPr>
            <p:spPr>
              <a:xfrm>
                <a:off x="667014" y="1447440"/>
                <a:ext cx="10961136"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the surface area of a rectangular pyramid that has a square base with side lengths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75</m:t>
                    </m:r>
                  </m:oMath>
                </a14:m>
                <a:r>
                  <a:rPr lang="en-US" sz="2000" dirty="0">
                    <a:latin typeface="Verdana" panose="020B0604030504040204" pitchFamily="34" charset="0"/>
                    <a:ea typeface="Verdana" panose="020B0604030504040204" pitchFamily="34" charset="0"/>
                    <a:cs typeface="Verdana" panose="020B0604030504040204" pitchFamily="34" charset="0"/>
                  </a:rPr>
                  <a:t> centimeters (cm), a height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100</m:t>
                    </m:r>
                  </m:oMath>
                </a14:m>
                <a:r>
                  <a:rPr lang="en-US" sz="2000" dirty="0">
                    <a:latin typeface="Verdana" panose="020B0604030504040204" pitchFamily="34" charset="0"/>
                    <a:ea typeface="Verdana" panose="020B0604030504040204" pitchFamily="34" charset="0"/>
                    <a:cs typeface="Verdana" panose="020B0604030504040204" pitchFamily="34" charset="0"/>
                  </a:rPr>
                  <a:t> cm, and a slant height of </a:t>
                </a:r>
                <a14:m>
                  <m:oMath xmlns:m="http://schemas.openxmlformats.org/officeDocument/2006/math">
                    <m:r>
                      <a:rPr lang="en-US" sz="2000" i="1" dirty="0" smtClean="0">
                        <a:latin typeface="Cambria Math"/>
                        <a:ea typeface="Verdana" panose="020B0604030504040204" pitchFamily="34" charset="0"/>
                        <a:cs typeface="Verdana" panose="020B0604030504040204" pitchFamily="34" charset="0"/>
                      </a:rPr>
                      <m:t>125</m:t>
                    </m:r>
                  </m:oMath>
                </a14:m>
                <a:r>
                  <a:rPr lang="en-US" sz="2000" dirty="0">
                    <a:latin typeface="Verdana" panose="020B0604030504040204" pitchFamily="34" charset="0"/>
                    <a:ea typeface="Verdana" panose="020B0604030504040204" pitchFamily="34" charset="0"/>
                    <a:cs typeface="Verdana" panose="020B0604030504040204" pitchFamily="34" charset="0"/>
                  </a:rPr>
                  <a:t> cm</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dirty="0"/>
              </a:p>
            </p:txBody>
          </p:sp>
        </mc:Choice>
        <mc:Fallback>
          <p:sp>
            <p:nvSpPr>
              <p:cNvPr id="12" name="TextBox 11">
                <a:extLst>
                  <a:ext uri="{FF2B5EF4-FFF2-40B4-BE49-F238E27FC236}">
                    <a16:creationId xmlns:a16="http://schemas.microsoft.com/office/drawing/2014/main" xmlns="" id="{0370EDB7-6994-3D43-ABF9-E04CBAFB9CD9}"/>
                  </a:ext>
                </a:extLst>
              </p:cNvPr>
              <p:cNvSpPr txBox="1">
                <a:spLocks noRot="1" noChangeAspect="1" noMove="1" noResize="1" noEditPoints="1" noAdjustHandles="1" noChangeArrowheads="1" noChangeShapeType="1" noTextEdit="1"/>
              </p:cNvSpPr>
              <p:nvPr/>
            </p:nvSpPr>
            <p:spPr>
              <a:xfrm>
                <a:off x="667014" y="1447440"/>
                <a:ext cx="10961136" cy="707886"/>
              </a:xfrm>
              <a:prstGeom prst="rect">
                <a:avLst/>
              </a:prstGeom>
              <a:blipFill rotWithShape="1">
                <a:blip r:embed="rId4"/>
                <a:stretch>
                  <a:fillRect l="-556" t="-5128" r="-167" b="-13675"/>
                </a:stretch>
              </a:blipFill>
            </p:spPr>
            <p:txBody>
              <a:bodyPr/>
              <a:lstStyle/>
              <a:p>
                <a:r>
                  <a:rPr lang="en-US">
                    <a:noFill/>
                  </a:rPr>
                  <a:t> </a:t>
                </a:r>
              </a:p>
            </p:txBody>
          </p:sp>
        </mc:Fallback>
      </mc:AlternateContent>
      <p:pic>
        <p:nvPicPr>
          <p:cNvPr id="8" name="Picture 7" descr="Diagram&#10;&#10;Description automatically generated">
            <a:extLst>
              <a:ext uri="{FF2B5EF4-FFF2-40B4-BE49-F238E27FC236}">
                <a16:creationId xmlns:a16="http://schemas.microsoft.com/office/drawing/2014/main" xmlns="" id="{9EE39201-7025-9540-B97C-38C115C59A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44266" y="2520968"/>
            <a:ext cx="4288537" cy="3936832"/>
          </a:xfrm>
          <a:prstGeom prst="rect">
            <a:avLst/>
          </a:prstGeom>
        </p:spPr>
      </p:pic>
      <p:sp>
        <p:nvSpPr>
          <p:cNvPr id="10"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135</a:t>
            </a:r>
            <a:endParaRPr i="1" dirty="0">
              <a:latin typeface="Calibri"/>
              <a:ea typeface="Calibri"/>
              <a:cs typeface="Calibri"/>
              <a:sym typeface="Calibri"/>
            </a:endParaRPr>
          </a:p>
        </p:txBody>
      </p:sp>
      <p:pic>
        <p:nvPicPr>
          <p:cNvPr id="11" name="Google Shape;283;g104476d1465_1_17"/>
          <p:cNvPicPr preferRelativeResize="0"/>
          <p:nvPr/>
        </p:nvPicPr>
        <p:blipFill>
          <a:blip r:embed="rId6">
            <a:alphaModFix/>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43633089"/>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2302</TotalTime>
  <Words>904</Words>
  <Application>Microsoft Office PowerPoint</Application>
  <PresentationFormat>Custom</PresentationFormat>
  <Paragraphs>154</Paragraphs>
  <Slides>20</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Calibri</vt:lpstr>
      <vt:lpstr>Courier New</vt:lpstr>
      <vt:lpstr>Times New Roman</vt:lpstr>
      <vt:lpstr>Century Gothic</vt:lpstr>
      <vt:lpstr>Wingdings</vt:lpstr>
      <vt:lpstr>Cambria Math</vt:lpstr>
      <vt:lpstr>Arial Black</vt:lpstr>
      <vt:lpstr>Verdana</vt:lpstr>
      <vt:lpstr>1_Office Theme</vt:lpstr>
      <vt:lpstr>6th Grade Math  Unit 8, Lesson 11  Surface Area of a Rectangular Pyramid  Volume 2, pg. 130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24</cp:revision>
  <dcterms:created xsi:type="dcterms:W3CDTF">2015-03-17T18:51:18Z</dcterms:created>
  <dcterms:modified xsi:type="dcterms:W3CDTF">2022-07-09T01:16:04Z</dcterms:modified>
</cp:coreProperties>
</file>