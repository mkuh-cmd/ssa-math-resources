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67" r:id="rId8"/>
    <p:sldId id="329" r:id="rId9"/>
    <p:sldId id="330" r:id="rId10"/>
    <p:sldId id="370" r:id="rId11"/>
    <p:sldId id="371" r:id="rId12"/>
    <p:sldId id="372" r:id="rId13"/>
    <p:sldId id="373" r:id="rId14"/>
    <p:sldId id="385" r:id="rId15"/>
    <p:sldId id="386" r:id="rId16"/>
    <p:sldId id="387" r:id="rId17"/>
    <p:sldId id="388" r:id="rId18"/>
    <p:sldId id="389" r:id="rId19"/>
    <p:sldId id="390" r:id="rId20"/>
    <p:sldId id="365" r:id="rId21"/>
    <p:sldId id="366" r:id="rId22"/>
    <p:sldId id="382" r:id="rId23"/>
    <p:sldId id="306" r:id="rId24"/>
    <p:sldId id="307" r:id="rId25"/>
    <p:sldId id="384" r:id="rId26"/>
  </p:sldIdLst>
  <p:sldSz cx="12192000" cy="6858000"/>
  <p:notesSz cx="6858000" cy="9144000"/>
  <p:embeddedFontLst>
    <p:embeddedFont>
      <p:font typeface="Calibri" pitchFamily="34" charset="0"/>
      <p:regular r:id="rId28"/>
      <p:bold r:id="rId29"/>
      <p:italic r:id="rId30"/>
      <p:boldItalic r:id="rId31"/>
    </p:embeddedFont>
    <p:embeddedFont>
      <p:font typeface="Century Gothic" pitchFamily="34" charset="0"/>
      <p:regular r:id="rId32"/>
      <p:bold r:id="rId33"/>
      <p:italic r:id="rId34"/>
      <p:boldItalic r:id="rId35"/>
    </p:embeddedFont>
    <p:embeddedFont>
      <p:font typeface="Cambria Math" pitchFamily="18" charset="0"/>
      <p:regular r:id="rId36"/>
    </p:embeddedFont>
    <p:embeddedFont>
      <p:font typeface="Cambria" pitchFamily="18" charset="0"/>
      <p:regular r:id="rId37"/>
      <p:bold r:id="rId38"/>
      <p:italic r:id="rId39"/>
      <p:boldItalic r:id="rId40"/>
    </p:embeddedFont>
    <p:embeddedFont>
      <p:font typeface="Arial Black" pitchFamily="34" charset="0"/>
      <p:bold r:id="rId41"/>
    </p:embeddedFont>
    <p:embeddedFont>
      <p:font typeface="Verdana"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33BEA6"/>
    <a:srgbClr val="79B0DD"/>
    <a:srgbClr val="DA4487"/>
    <a:srgbClr val="276C46"/>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3517"/>
    <p:restoredTop sz="94640"/>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63"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64"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451393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743026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403719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496073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34354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154368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105714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68077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95121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755222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57396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209813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54604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3294323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99528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61744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http://www.clker.com/cliparts/c/9/b/0/1393003661889587595tissuebox-md.png" TargetMode="External"/><Relationship Id="rId5" Type="http://schemas.openxmlformats.org/officeDocument/2006/relationships/image" Target="../media/image21.png"/><Relationship Id="rId4" Type="http://schemas.openxmlformats.org/officeDocument/2006/relationships/image" Target="../media/image20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3.png"/><Relationship Id="rId4" Type="http://schemas.openxmlformats.org/officeDocument/2006/relationships/image" Target="../media/image32.tiff"/><Relationship Id="rId9"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10</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Surface Area of Rectangular Prisms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124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1873"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9767"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6579"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09279"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38151" y="1609531"/>
            <a:ext cx="1059278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MA.6.GR.2.4</a:t>
            </a:r>
          </a:p>
          <a:p>
            <a:pPr indent="0">
              <a:buNone/>
            </a:pPr>
            <a:r>
              <a:rPr lang="en-US" sz="3500" dirty="0">
                <a:solidFill>
                  <a:schemeClr val="tx1"/>
                </a:solidFill>
                <a:latin typeface="Verdana"/>
                <a:ea typeface="Verdana"/>
                <a:cs typeface="Verdana"/>
                <a:sym typeface="Verdana"/>
              </a:rPr>
              <a:t>Given a mathematical or real-world context, find the surface area of right rectangular prisms and right rectangular pyramids using the figure’s net.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517755" y="41886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65055" y="129667"/>
            <a:ext cx="1008215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16281" y="1460584"/>
            <a:ext cx="10429617" cy="47400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39428" y="30660"/>
            <a:ext cx="92995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92128"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11253" y="1600200"/>
            <a:ext cx="1063156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500" dirty="0">
                <a:solidFill>
                  <a:schemeClr val="tx1"/>
                </a:solidFill>
                <a:latin typeface="Verdana"/>
                <a:ea typeface="Verdana"/>
                <a:cs typeface="Verdana"/>
                <a:sym typeface="Verdana"/>
              </a:rPr>
              <a:t>I can find the surface area of a rectangular prism using a net or the figure.</a:t>
            </a:r>
          </a:p>
        </p:txBody>
      </p:sp>
      <p:sp>
        <p:nvSpPr>
          <p:cNvPr id="9"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256025" y="290895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583550" y="276197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00075" y="60325"/>
            <a:ext cx="99515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8.10.1 Warm-Up: </a:t>
            </a:r>
            <a:r>
              <a:rPr lang="en-US" sz="3600" b="1" dirty="0" smtClean="0">
                <a:solidFill>
                  <a:srgbClr val="3F2A67"/>
                </a:solidFill>
                <a:latin typeface="Verdana"/>
                <a:ea typeface="Verdana"/>
                <a:cs typeface="Verdana"/>
                <a:sym typeface="Verdana"/>
              </a:rPr>
              <a:t/>
            </a:r>
            <a:br>
              <a:rPr lang="en-US" sz="3600" b="1" dirty="0" smtClean="0">
                <a:solidFill>
                  <a:srgbClr val="3F2A67"/>
                </a:solidFill>
                <a:latin typeface="Verdana"/>
                <a:ea typeface="Verdana"/>
                <a:cs typeface="Verdana"/>
                <a:sym typeface="Verdana"/>
              </a:rPr>
            </a:br>
            <a:r>
              <a:rPr lang="en-US" sz="3600" b="1" dirty="0" smtClean="0">
                <a:solidFill>
                  <a:srgbClr val="3F2A67"/>
                </a:solidFill>
                <a:latin typeface="Verdana"/>
                <a:ea typeface="Verdana"/>
                <a:cs typeface="Verdana"/>
                <a:sym typeface="Verdana"/>
              </a:rPr>
              <a:t>Which </a:t>
            </a:r>
            <a:r>
              <a:rPr lang="en-US" sz="3600" b="1" dirty="0">
                <a:solidFill>
                  <a:srgbClr val="3F2A67"/>
                </a:solidFill>
                <a:latin typeface="Verdana"/>
                <a:ea typeface="Verdana"/>
                <a:cs typeface="Verdana"/>
                <a:sym typeface="Verdana"/>
              </a:rPr>
              <a:t>One Doesn’t Belong?</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52775" y="3495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A4C0B51D-09DC-AA4D-9C14-AE2048199B26}"/>
              </a:ext>
            </a:extLst>
          </p:cNvPr>
          <p:cNvSpPr txBox="1"/>
          <p:nvPr/>
        </p:nvSpPr>
        <p:spPr>
          <a:xfrm>
            <a:off x="826425" y="1386026"/>
            <a:ext cx="8568560"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Four figures are shown.</a:t>
            </a:r>
          </a:p>
        </p:txBody>
      </p:sp>
      <p:graphicFrame>
        <p:nvGraphicFramePr>
          <p:cNvPr id="4" name="Table 3">
            <a:extLst>
              <a:ext uri="{FF2B5EF4-FFF2-40B4-BE49-F238E27FC236}">
                <a16:creationId xmlns:a16="http://schemas.microsoft.com/office/drawing/2014/main" xmlns="" id="{62F18F14-5F2E-A044-9953-84F36F8FD844}"/>
              </a:ext>
            </a:extLst>
          </p:cNvPr>
          <p:cNvGraphicFramePr>
            <a:graphicFrameLocks noGrp="1"/>
          </p:cNvGraphicFramePr>
          <p:nvPr>
            <p:extLst>
              <p:ext uri="{D42A27DB-BD31-4B8C-83A1-F6EECF244321}">
                <p14:modId xmlns:p14="http://schemas.microsoft.com/office/powerpoint/2010/main" val="3307626603"/>
              </p:ext>
            </p:extLst>
          </p:nvPr>
        </p:nvGraphicFramePr>
        <p:xfrm>
          <a:off x="5874748" y="1601469"/>
          <a:ext cx="5295899" cy="4360754"/>
        </p:xfrm>
        <a:graphic>
          <a:graphicData uri="http://schemas.openxmlformats.org/drawingml/2006/table">
            <a:tbl>
              <a:tblPr firstRow="1" firstCol="1" bandRow="1"/>
              <a:tblGrid>
                <a:gridCol w="2671134">
                  <a:extLst>
                    <a:ext uri="{9D8B030D-6E8A-4147-A177-3AD203B41FA5}">
                      <a16:colId xmlns:a16="http://schemas.microsoft.com/office/drawing/2014/main" xmlns="" val="2463519494"/>
                    </a:ext>
                  </a:extLst>
                </a:gridCol>
                <a:gridCol w="2624765">
                  <a:extLst>
                    <a:ext uri="{9D8B030D-6E8A-4147-A177-3AD203B41FA5}">
                      <a16:colId xmlns:a16="http://schemas.microsoft.com/office/drawing/2014/main" xmlns="" val="2750535857"/>
                    </a:ext>
                  </a:extLst>
                </a:gridCol>
              </a:tblGrid>
              <a:tr h="300092">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918089924"/>
                  </a:ext>
                </a:extLst>
              </a:tr>
              <a:tr h="1875577">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01681575"/>
                  </a:ext>
                </a:extLst>
              </a:tr>
              <a:tr h="300092">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349566695"/>
                  </a:ext>
                </a:extLst>
              </a:tr>
              <a:tr h="1875577">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entury Gothic" panose="020B050202020202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6267" marR="5626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12732094"/>
                  </a:ext>
                </a:extLst>
              </a:tr>
            </a:tbl>
          </a:graphicData>
        </a:graphic>
      </p:graphicFrame>
      <p:pic>
        <p:nvPicPr>
          <p:cNvPr id="14" name="Picture">
            <a:extLst>
              <a:ext uri="{FF2B5EF4-FFF2-40B4-BE49-F238E27FC236}">
                <a16:creationId xmlns:a16="http://schemas.microsoft.com/office/drawing/2014/main" xmlns="" id="{356B65A2-2F90-0847-A710-1CA7638BE8C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auto">
          <a:xfrm>
            <a:off x="6603936" y="2010031"/>
            <a:ext cx="1225708" cy="1652909"/>
          </a:xfrm>
          <a:prstGeom prst="rect">
            <a:avLst/>
          </a:prstGeom>
          <a:noFill/>
          <a:ln w="9525">
            <a:noFill/>
            <a:headEnd/>
            <a:tailEnd/>
          </a:ln>
        </p:spPr>
      </p:pic>
      <p:pic>
        <p:nvPicPr>
          <p:cNvPr id="15" name="Picture" descr="A screenshot of a computer&#10;&#10;Description automatically generated with low confidence">
            <a:extLst>
              <a:ext uri="{FF2B5EF4-FFF2-40B4-BE49-F238E27FC236}">
                <a16:creationId xmlns:a16="http://schemas.microsoft.com/office/drawing/2014/main" xmlns="" id="{DEC4A5F7-97F3-B944-AE64-32A787D59144}"/>
              </a:ext>
            </a:extLst>
          </p:cNvPr>
          <p:cNvPicPr/>
          <p:nvPr/>
        </p:nvPicPr>
        <p:blipFill rotWithShape="1">
          <a:blip r:embed="rId5" cstate="screen">
            <a:extLst>
              <a:ext uri="{28A0092B-C50C-407E-A947-70E740481C1C}">
                <a14:useLocalDpi xmlns:a14="http://schemas.microsoft.com/office/drawing/2010/main"/>
              </a:ext>
            </a:extLst>
          </a:blip>
          <a:srcRect l="67234" t="14325"/>
          <a:stretch/>
        </p:blipFill>
        <p:spPr bwMode="auto">
          <a:xfrm>
            <a:off x="8890285" y="1935756"/>
            <a:ext cx="1702325" cy="1765066"/>
          </a:xfrm>
          <a:prstGeom prst="rect">
            <a:avLst/>
          </a:prstGeom>
          <a:noFill/>
          <a:ln>
            <a:noFill/>
          </a:ln>
          <a:extLst>
            <a:ext uri="{53640926-AAD7-44D8-BBD7-CCE9431645EC}">
              <a14:shadowObscured xmlns:a14="http://schemas.microsoft.com/office/drawing/2010/main"/>
            </a:ext>
          </a:extLst>
        </p:spPr>
      </p:pic>
      <p:pic>
        <p:nvPicPr>
          <p:cNvPr id="16" name="Picture" descr="A screenshot of a computer&#10;&#10;Description automatically generated with low confidence">
            <a:extLst>
              <a:ext uri="{FF2B5EF4-FFF2-40B4-BE49-F238E27FC236}">
                <a16:creationId xmlns:a16="http://schemas.microsoft.com/office/drawing/2014/main" xmlns="" id="{00C3E671-D44B-E643-9561-3448AA696417}"/>
              </a:ext>
            </a:extLst>
          </p:cNvPr>
          <p:cNvPicPr/>
          <p:nvPr/>
        </p:nvPicPr>
        <p:blipFill rotWithShape="1">
          <a:blip r:embed="rId6" cstate="screen">
            <a:extLst>
              <a:ext uri="{28A0092B-C50C-407E-A947-70E740481C1C}">
                <a14:useLocalDpi xmlns:a14="http://schemas.microsoft.com/office/drawing/2010/main"/>
              </a:ext>
            </a:extLst>
          </a:blip>
          <a:srcRect l="2131" t="12537" r="51232"/>
          <a:stretch/>
        </p:blipFill>
        <p:spPr bwMode="auto">
          <a:xfrm>
            <a:off x="6017562" y="4113606"/>
            <a:ext cx="2398456" cy="1784271"/>
          </a:xfrm>
          <a:prstGeom prst="rect">
            <a:avLst/>
          </a:prstGeom>
          <a:noFill/>
          <a:ln>
            <a:noFill/>
          </a:ln>
          <a:extLst>
            <a:ext uri="{53640926-AAD7-44D8-BBD7-CCE9431645EC}">
              <a14:shadowObscured xmlns:a14="http://schemas.microsoft.com/office/drawing/2010/main"/>
            </a:ext>
          </a:extLst>
        </p:spPr>
      </p:pic>
      <p:pic>
        <p:nvPicPr>
          <p:cNvPr id="17" name="Picture" descr="Shape, polygon&#10;&#10;Description automatically generated">
            <a:extLst>
              <a:ext uri="{FF2B5EF4-FFF2-40B4-BE49-F238E27FC236}">
                <a16:creationId xmlns:a16="http://schemas.microsoft.com/office/drawing/2014/main" xmlns="" id="{4130B170-07D8-B64F-9B61-627BDBE96E0D}"/>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36568" t="8862" r="30097" b="52200"/>
          <a:stretch/>
        </p:blipFill>
        <p:spPr bwMode="auto">
          <a:xfrm>
            <a:off x="8890284" y="3975912"/>
            <a:ext cx="2026920" cy="2011680"/>
          </a:xfrm>
          <a:prstGeom prst="rect">
            <a:avLst/>
          </a:prstGeom>
          <a:noFill/>
          <a:ln>
            <a:noFill/>
          </a:ln>
          <a:extLst>
            <a:ext uri="{53640926-AAD7-44D8-BBD7-CCE9431645EC}">
              <a14:shadowObscured xmlns:a14="http://schemas.microsoft.com/office/drawing/2010/main"/>
            </a:ext>
          </a:extLst>
        </p:spPr>
      </p:pic>
      <p:sp>
        <p:nvSpPr>
          <p:cNvPr id="23"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24"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TextBox 11">
            <a:extLst>
              <a:ext uri="{FF2B5EF4-FFF2-40B4-BE49-F238E27FC236}">
                <a16:creationId xmlns:a16="http://schemas.microsoft.com/office/drawing/2014/main" xmlns="" id="{A4C0B51D-09DC-AA4D-9C14-AE2048199B26}"/>
              </a:ext>
            </a:extLst>
          </p:cNvPr>
          <p:cNvSpPr txBox="1"/>
          <p:nvPr/>
        </p:nvSpPr>
        <p:spPr>
          <a:xfrm>
            <a:off x="712519" y="377837"/>
            <a:ext cx="9340457" cy="2677656"/>
          </a:xfrm>
          <a:prstGeom prst="rect">
            <a:avLst/>
          </a:prstGeom>
          <a:noFill/>
        </p:spPr>
        <p:txBody>
          <a:bodyPr wrap="square" rtlCol="0">
            <a:spAutoFit/>
          </a:bodyPr>
          <a:lstStyle/>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Which one doesn’t belong?</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Justify your choice using mathematics.</a:t>
            </a:r>
          </a:p>
        </p:txBody>
      </p:sp>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9789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895106" y="2766145"/>
            <a:ext cx="6291215"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pic>
        <p:nvPicPr>
          <p:cNvPr id="7" name="image6.png" descr="Icon&#10;&#10;Description automatically generated">
            <a:extLst>
              <a:ext uri="{FF2B5EF4-FFF2-40B4-BE49-F238E27FC236}">
                <a16:creationId xmlns:a16="http://schemas.microsoft.com/office/drawing/2014/main" xmlns="" id="{B079AFA8-B9EA-EB4C-B6ED-66C4D839C0CE}"/>
              </a:ext>
            </a:extLst>
          </p:cNvPr>
          <p:cNvPicPr/>
          <p:nvPr/>
        </p:nvPicPr>
        <p:blipFill>
          <a:blip r:embed="rId3"/>
          <a:srcRect/>
          <a:stretch>
            <a:fillRect/>
          </a:stretch>
        </p:blipFill>
        <p:spPr>
          <a:xfrm>
            <a:off x="3294759" y="2861305"/>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82076" y="146197"/>
            <a:ext cx="900637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8.10.2 Guided Instruction: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Surface </a:t>
            </a:r>
            <a:r>
              <a:rPr lang="en-US" sz="3200" b="1" dirty="0">
                <a:solidFill>
                  <a:srgbClr val="54B5D1"/>
                </a:solidFill>
                <a:latin typeface="Verdana"/>
                <a:ea typeface="Verdana"/>
                <a:cs typeface="Verdana"/>
                <a:sym typeface="Verdana"/>
              </a:rPr>
              <a:t>Area of a Rectangular Prism</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1202434" y="1471897"/>
            <a:ext cx="10257253" cy="830997"/>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To find the surface area of a three-dimensional object, use the nets of a shape to find the area of each face.</a:t>
            </a:r>
          </a:p>
        </p:txBody>
      </p:sp>
      <p:pic>
        <p:nvPicPr>
          <p:cNvPr id="14" name="image6.png" descr="Icon&#10;&#10;Description automatically generated">
            <a:extLst>
              <a:ext uri="{FF2B5EF4-FFF2-40B4-BE49-F238E27FC236}">
                <a16:creationId xmlns:a16="http://schemas.microsoft.com/office/drawing/2014/main" xmlns="" id="{8A434195-83BC-AD47-961E-98BFF6E69192}"/>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432268" y="434143"/>
            <a:ext cx="749808" cy="749808"/>
          </a:xfrm>
          <a:prstGeom prst="rect">
            <a:avLst/>
          </a:prstGeom>
          <a:ln/>
          <a:effectLst>
            <a:outerShdw blurRad="50800" dist="38100" dir="2700000" algn="tl" rotWithShape="0">
              <a:prstClr val="black">
                <a:alpha val="40000"/>
              </a:prstClr>
            </a:outerShdw>
          </a:effectLst>
        </p:spPr>
      </p:pic>
      <p:sp>
        <p:nvSpPr>
          <p:cNvPr id="15" name="Rounded Rectangle 14">
            <a:extLst>
              <a:ext uri="{FF2B5EF4-FFF2-40B4-BE49-F238E27FC236}">
                <a16:creationId xmlns:a16="http://schemas.microsoft.com/office/drawing/2014/main" xmlns="" id="{153F6351-6EB1-9648-A09D-D5BA6354DD54}"/>
              </a:ext>
            </a:extLst>
          </p:cNvPr>
          <p:cNvSpPr/>
          <p:nvPr/>
        </p:nvSpPr>
        <p:spPr>
          <a:xfrm>
            <a:off x="2896341" y="3363316"/>
            <a:ext cx="5577840" cy="105410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Surface area</a:t>
            </a:r>
            <a:r>
              <a:rPr lang="en-US" sz="2000" b="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is the total area of the </a:t>
            </a:r>
            <a: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br>
            <a: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two-dimensional </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surfaces that make up a </a:t>
            </a:r>
            <a: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br>
            <a:r>
              <a:rPr lang="en-US" sz="2000" dirty="0" smtClean="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three-dimensional </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object</a:t>
            </a:r>
            <a:endParaRPr lang="x-none"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125</a:t>
            </a:r>
            <a:endParaRPr i="1" dirty="0">
              <a:latin typeface="Calibri"/>
              <a:ea typeface="Calibri"/>
              <a:cs typeface="Calibri"/>
              <a:sym typeface="Calibri"/>
            </a:endParaRPr>
          </a:p>
        </p:txBody>
      </p:sp>
      <p:pic>
        <p:nvPicPr>
          <p:cNvPr id="2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xmlns="" id="{669E00F9-F39F-5043-888E-B0A2D8C9AE0F}"/>
                  </a:ext>
                </a:extLst>
              </p:cNvPr>
              <p:cNvSpPr txBox="1"/>
              <p:nvPr/>
            </p:nvSpPr>
            <p:spPr>
              <a:xfrm>
                <a:off x="724395" y="421225"/>
                <a:ext cx="10925299"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net of a rectangular prism is shown below with each face labeled. </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38213" indent="-48895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find the area of each face. Each unit of the grid is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latin typeface="Verdana" panose="020B0604030504040204" pitchFamily="34" charset="0"/>
                    <a:ea typeface="Times New Roman" panose="02020603050405020304" pitchFamily="18" charset="0"/>
                    <a:cs typeface="Times New Roman" panose="02020603050405020304" pitchFamily="18" charset="0"/>
                  </a:rPr>
                </a:b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centimeter (cm).</a:t>
                </a:r>
              </a:p>
            </p:txBody>
          </p:sp>
        </mc:Choice>
        <mc:Fallback>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724395" y="421225"/>
                <a:ext cx="10925299" cy="1323439"/>
              </a:xfrm>
              <a:prstGeom prst="rect">
                <a:avLst/>
              </a:prstGeom>
              <a:blipFill rotWithShape="1">
                <a:blip r:embed="rId3"/>
                <a:stretch>
                  <a:fillRect l="-614" t="-2765" b="-7373"/>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xmlns="" id="{4F8572B8-CC78-6F4C-AA3A-F9C8FDC24BCA}"/>
              </a:ext>
            </a:extLst>
          </p:cNvPr>
          <p:cNvGraphicFramePr>
            <a:graphicFrameLocks noGrp="1"/>
          </p:cNvGraphicFramePr>
          <p:nvPr>
            <p:extLst>
              <p:ext uri="{D42A27DB-BD31-4B8C-83A1-F6EECF244321}">
                <p14:modId xmlns:p14="http://schemas.microsoft.com/office/powerpoint/2010/main" val="1558649455"/>
              </p:ext>
            </p:extLst>
          </p:nvPr>
        </p:nvGraphicFramePr>
        <p:xfrm>
          <a:off x="4824813" y="2227260"/>
          <a:ext cx="3965036" cy="3320849"/>
        </p:xfrm>
        <a:graphic>
          <a:graphicData uri="http://schemas.openxmlformats.org/drawingml/2006/table">
            <a:tbl>
              <a:tblPr firstRow="1" firstCol="1" bandRow="1"/>
              <a:tblGrid>
                <a:gridCol w="914400">
                  <a:extLst>
                    <a:ext uri="{9D8B030D-6E8A-4147-A177-3AD203B41FA5}">
                      <a16:colId xmlns:a16="http://schemas.microsoft.com/office/drawing/2014/main" xmlns="" val="1636048863"/>
                    </a:ext>
                  </a:extLst>
                </a:gridCol>
                <a:gridCol w="1920240">
                  <a:extLst>
                    <a:ext uri="{9D8B030D-6E8A-4147-A177-3AD203B41FA5}">
                      <a16:colId xmlns:a16="http://schemas.microsoft.com/office/drawing/2014/main" xmlns="" val="1628401076"/>
                    </a:ext>
                  </a:extLst>
                </a:gridCol>
                <a:gridCol w="1130396">
                  <a:extLst>
                    <a:ext uri="{9D8B030D-6E8A-4147-A177-3AD203B41FA5}">
                      <a16:colId xmlns:a16="http://schemas.microsoft.com/office/drawing/2014/main" xmlns="" val="2043267839"/>
                    </a:ext>
                  </a:extLst>
                </a:gridCol>
              </a:tblGrid>
              <a:tr h="476306">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Face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Dimensions</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Area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760962128"/>
                  </a:ext>
                </a:extLst>
              </a:tr>
              <a:tr h="471875">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22816877"/>
                  </a:ext>
                </a:extLst>
              </a:tr>
              <a:tr h="476306">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B</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08709456"/>
                  </a:ext>
                </a:extLst>
              </a:tr>
              <a:tr h="476306">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C</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2328512"/>
                  </a:ext>
                </a:extLst>
              </a:tr>
              <a:tr h="471875">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D</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16927715"/>
                  </a:ext>
                </a:extLst>
              </a:tr>
              <a:tr h="476306">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01273136"/>
                  </a:ext>
                </a:extLst>
              </a:tr>
              <a:tr h="471875">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F</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47624920"/>
                  </a:ext>
                </a:extLst>
              </a:tr>
            </a:tbl>
          </a:graphicData>
        </a:graphic>
      </p:graphicFrame>
      <p:pic>
        <p:nvPicPr>
          <p:cNvPr id="3074"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710631" y="2019990"/>
            <a:ext cx="2816072" cy="3735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125</a:t>
            </a:r>
            <a:endParaRPr i="1" dirty="0">
              <a:latin typeface="Calibri"/>
              <a:ea typeface="Calibri"/>
              <a:cs typeface="Calibri"/>
              <a:sym typeface="Calibri"/>
            </a:endParaRPr>
          </a:p>
        </p:txBody>
      </p:sp>
      <p:pic>
        <p:nvPicPr>
          <p:cNvPr id="1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9732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2" name="Group 1"/>
          <p:cNvGrpSpPr/>
          <p:nvPr/>
        </p:nvGrpSpPr>
        <p:grpSpPr>
          <a:xfrm>
            <a:off x="2781300" y="4756939"/>
            <a:ext cx="6629400" cy="1464186"/>
            <a:chOff x="2790825" y="4575964"/>
            <a:chExt cx="6629400" cy="1464186"/>
          </a:xfrm>
        </p:grpSpPr>
        <p:sp>
          <p:nvSpPr>
            <p:cNvPr id="17" name="Rounded Rectangle 16">
              <a:extLst>
                <a:ext uri="{FF2B5EF4-FFF2-40B4-BE49-F238E27FC236}">
                  <a16:creationId xmlns:a16="http://schemas.microsoft.com/office/drawing/2014/main" xmlns="" id="{26EB6EB6-C9AB-0D47-BC56-96F6F826D32A}"/>
                </a:ext>
              </a:extLst>
            </p:cNvPr>
            <p:cNvSpPr/>
            <p:nvPr/>
          </p:nvSpPr>
          <p:spPr>
            <a:xfrm>
              <a:off x="2790825" y="4575964"/>
              <a:ext cx="6629400" cy="1464186"/>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628650"/>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When calculating surface area, find the sum of the areas of each face of the figure. Use the figure’s net to label the dimensions needed to calculate the area of each face.</a:t>
              </a:r>
              <a:endParaRPr lang="x-none" sz="20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Shape 15" descr="Icon&#10;&#10;Description automatically generated">
              <a:extLst>
                <a:ext uri="{FF2B5EF4-FFF2-40B4-BE49-F238E27FC236}">
                  <a16:creationId xmlns:a16="http://schemas.microsoft.com/office/drawing/2014/main" xmlns="" id="{C9913C0D-EEEC-FF4C-A304-EE89552CB71E}"/>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965214" y="4710526"/>
              <a:ext cx="539750" cy="539712"/>
            </a:xfrm>
            <a:prstGeom prst="rect">
              <a:avLst/>
            </a:prstGeom>
            <a:noFill/>
            <a:ln>
              <a:noFill/>
            </a:ln>
            <a:effectLst>
              <a:outerShdw blurRad="50800" dist="38100" dir="2700000" algn="tl" rotWithShape="0">
                <a:prstClr val="black">
                  <a:alpha val="40000"/>
                </a:prstClr>
              </a:outerShdw>
            </a:effectLst>
          </p:spPr>
        </p:pic>
      </p:grpSp>
      <p:sp>
        <p:nvSpPr>
          <p:cNvPr id="18" name="TextBox 17">
            <a:extLst>
              <a:ext uri="{FF2B5EF4-FFF2-40B4-BE49-F238E27FC236}">
                <a16:creationId xmlns:a16="http://schemas.microsoft.com/office/drawing/2014/main" xmlns:a14="http://schemas.microsoft.com/office/drawing/2010/main" xmlns:mc="http://schemas.openxmlformats.org/markup-compatibility/2006" xmlns="" id="{669E00F9-F39F-5043-888E-B0A2D8C9AE0F}"/>
              </a:ext>
            </a:extLst>
          </p:cNvPr>
          <p:cNvSpPr txBox="1"/>
          <p:nvPr/>
        </p:nvSpPr>
        <p:spPr>
          <a:xfrm>
            <a:off x="724395" y="421225"/>
            <a:ext cx="10925299" cy="255454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How can the net and the area of the six faces be used to find the surface area of the prism?</a:t>
            </a:r>
          </a:p>
          <a:p>
            <a:pPr marL="9144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surface area of this rectangular prism?</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
        <p:nvSpPr>
          <p:cNvPr id="22"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125</a:t>
            </a:r>
            <a:endParaRPr i="1" dirty="0">
              <a:latin typeface="Calibri"/>
              <a:ea typeface="Calibri"/>
              <a:cs typeface="Calibri"/>
              <a:sym typeface="Calibri"/>
            </a:endParaRPr>
          </a:p>
        </p:txBody>
      </p:sp>
      <p:pic>
        <p:nvPicPr>
          <p:cNvPr id="2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6667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534390" y="421226"/>
                <a:ext cx="11174680"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 tissue box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 (in.) long,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wide,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tall. </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534390" y="421226"/>
                <a:ext cx="11174680" cy="461665"/>
              </a:xfrm>
              <a:prstGeom prst="rect">
                <a:avLst/>
              </a:prstGeom>
              <a:blipFill>
                <a:blip r:embed="rId4"/>
                <a:stretch>
                  <a:fillRect l="-908" t="-10811" b="-29730"/>
                </a:stretch>
              </a:blipFill>
            </p:spPr>
            <p:txBody>
              <a:bodyPr/>
              <a:lstStyle/>
              <a:p>
                <a:r>
                  <a:rPr lang="en-US">
                    <a:noFill/>
                  </a:rPr>
                  <a:t> </a:t>
                </a:r>
              </a:p>
            </p:txBody>
          </p:sp>
        </mc:Fallback>
      </mc:AlternateContent>
      <p:pic>
        <p:nvPicPr>
          <p:cNvPr id="3073" name="Picture 1" descr="Tissuebox Image">
            <a:extLst>
              <a:ext uri="{FF2B5EF4-FFF2-40B4-BE49-F238E27FC236}">
                <a16:creationId xmlns:a16="http://schemas.microsoft.com/office/drawing/2014/main" xmlns="" id="{9CA1B290-AA56-4C4F-A7E3-3CC9EE48E390}"/>
              </a:ext>
            </a:extLst>
          </p:cNvPr>
          <p:cNvPicPr>
            <a:picLocks noChangeAspect="1" noChangeArrowheads="1"/>
          </p:cNvPicPr>
          <p:nvPr/>
        </p:nvPicPr>
        <p:blipFill>
          <a:blip r:embed="rId5" r:link="rId6">
            <a:extLst>
              <a:ext uri="{28A0092B-C50C-407E-A947-70E740481C1C}">
                <a14:useLocalDpi xmlns:a14="http://schemas.microsoft.com/office/drawing/2010/main"/>
              </a:ext>
            </a:extLst>
          </a:blip>
          <a:srcRect/>
          <a:stretch>
            <a:fillRect/>
          </a:stretch>
        </p:blipFill>
        <p:spPr bwMode="auto">
          <a:xfrm>
            <a:off x="5022850" y="1368508"/>
            <a:ext cx="2146300" cy="2247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xmlns="" id="{0F28C340-5D87-7B49-BA43-5506ABAA0E6B}"/>
              </a:ext>
            </a:extLst>
          </p:cNvPr>
          <p:cNvSpPr txBox="1"/>
          <p:nvPr/>
        </p:nvSpPr>
        <p:spPr>
          <a:xfrm>
            <a:off x="534389" y="3999313"/>
            <a:ext cx="10533413" cy="461665"/>
          </a:xfrm>
          <a:prstGeom prst="rect">
            <a:avLst/>
          </a:prstGeom>
          <a:noFill/>
        </p:spPr>
        <p:txBody>
          <a:bodyPr wrap="square" rtlCol="0">
            <a:spAutoFit/>
          </a:bodyPr>
          <a:lstStyle/>
          <a:p>
            <a:pPr marL="938213" indent="-48895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Sketch the net of the tissue box.</a:t>
            </a:r>
          </a:p>
        </p:txBody>
      </p:sp>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126</a:t>
            </a:r>
            <a:endParaRPr i="1" dirty="0">
              <a:latin typeface="Calibri"/>
              <a:ea typeface="Calibri"/>
              <a:cs typeface="Calibri"/>
              <a:sym typeface="Calibri"/>
            </a:endParaRPr>
          </a:p>
        </p:txBody>
      </p:sp>
      <p:pic>
        <p:nvPicPr>
          <p:cNvPr id="10"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36049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551543" y="421226"/>
            <a:ext cx="11132457" cy="5262979"/>
          </a:xfrm>
          <a:prstGeom prst="rect">
            <a:avLst/>
          </a:prstGeom>
          <a:noFill/>
        </p:spPr>
        <p:txBody>
          <a:bodyPr wrap="square" rtlCol="0">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Label the dimensions of each face on the net.</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Find the area of each face. Include units.</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Add the area of the faces to find the surface area of the tissue box. Include units.</a:t>
            </a:r>
          </a:p>
        </p:txBody>
      </p:sp>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126</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91812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642313" y="2766150"/>
            <a:ext cx="5632895"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pic>
        <p:nvPicPr>
          <p:cNvPr id="9" name="image12.png" descr="Icon&#10;&#10;Description automatically generated">
            <a:extLst>
              <a:ext uri="{FF2B5EF4-FFF2-40B4-BE49-F238E27FC236}">
                <a16:creationId xmlns:a16="http://schemas.microsoft.com/office/drawing/2014/main" xmlns="" id="{D7C47849-5596-1744-A2BC-016147DEFB9F}"/>
              </a:ext>
            </a:extLst>
          </p:cNvPr>
          <p:cNvPicPr/>
          <p:nvPr/>
        </p:nvPicPr>
        <p:blipFill>
          <a:blip r:embed="rId3"/>
          <a:srcRect/>
          <a:stretch>
            <a:fillRect/>
          </a:stretch>
        </p:blipFill>
        <p:spPr>
          <a:xfrm>
            <a:off x="3066241" y="2856239"/>
            <a:ext cx="1152144" cy="1152144"/>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5789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20397" y="-12827"/>
            <a:ext cx="918680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8.10.3 Guided Practice: Surface Area of a Rectangular Prism</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821481" y="1451535"/>
            <a:ext cx="9984632"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Gretchen is preparing to paint a jewelry box but does not know how much paint she needs to buy. </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77900" indent="-48895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information about the jewelry box does Gretchen need to know in order to buy paint?</a:t>
            </a:r>
          </a:p>
        </p:txBody>
      </p:sp>
      <p:pic>
        <p:nvPicPr>
          <p:cNvPr id="9" name="image12.png" descr="Icon&#10;&#10;Description automatically generated">
            <a:extLst>
              <a:ext uri="{FF2B5EF4-FFF2-40B4-BE49-F238E27FC236}">
                <a16:creationId xmlns:a16="http://schemas.microsoft.com/office/drawing/2014/main" xmlns="" id="{65306B3D-A182-0949-852E-6C78050C38EC}"/>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470588" y="275119"/>
            <a:ext cx="749808" cy="749808"/>
          </a:xfrm>
          <a:prstGeom prst="rect">
            <a:avLst/>
          </a:prstGeom>
          <a:ln/>
          <a:effectLst>
            <a:outerShdw blurRad="50800" dist="38100" dir="2700000" algn="tl" rotWithShape="0">
              <a:prstClr val="black">
                <a:alpha val="40000"/>
              </a:prstClr>
            </a:outerShdw>
          </a:effectLst>
        </p:spPr>
      </p:pic>
      <p:sp>
        <p:nvSpPr>
          <p:cNvPr id="10"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27256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783771" y="421226"/>
                <a:ext cx="10784115" cy="830997"/>
              </a:xfrm>
              <a:prstGeom prst="rect">
                <a:avLst/>
              </a:prstGeom>
              <a:noFill/>
            </p:spPr>
            <p:txBody>
              <a:bodyPr wrap="square" rtlCol="0">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Gretchen measured the box to be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17.5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 (in.) long,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wide,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tall.</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783771" y="421226"/>
                <a:ext cx="10784115" cy="830997"/>
              </a:xfrm>
              <a:prstGeom prst="rect">
                <a:avLst/>
              </a:prstGeom>
              <a:blipFill>
                <a:blip r:embed="rId4"/>
                <a:stretch>
                  <a:fillRect l="-823" t="-6061" b="-15152"/>
                </a:stretch>
              </a:blipFill>
            </p:spPr>
            <p:txBody>
              <a:bodyPr/>
              <a:lstStyle/>
              <a:p>
                <a:r>
                  <a:rPr lang="en-US">
                    <a:noFill/>
                  </a:rPr>
                  <a:t> </a:t>
                </a:r>
              </a:p>
            </p:txBody>
          </p:sp>
        </mc:Fallback>
      </mc:AlternateContent>
      <p:pic>
        <p:nvPicPr>
          <p:cNvPr id="3" name="Picture 2" descr="Shape, rectangle&#10;&#10;Description automatically generated">
            <a:extLst>
              <a:ext uri="{FF2B5EF4-FFF2-40B4-BE49-F238E27FC236}">
                <a16:creationId xmlns:a16="http://schemas.microsoft.com/office/drawing/2014/main" xmlns="" id="{9C9D678E-07A1-754A-A196-DC66508F474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52731" y="1336412"/>
            <a:ext cx="3286539" cy="1705529"/>
          </a:xfrm>
          <a:prstGeom prst="rect">
            <a:avLst/>
          </a:prstGeom>
        </p:spPr>
      </p:pic>
      <p:sp>
        <p:nvSpPr>
          <p:cNvPr id="10" name="TextBox 9">
            <a:extLst>
              <a:ext uri="{FF2B5EF4-FFF2-40B4-BE49-F238E27FC236}">
                <a16:creationId xmlns:a16="http://schemas.microsoft.com/office/drawing/2014/main" xmlns="" id="{671E72E3-4072-414C-9D8A-661C772DE253}"/>
              </a:ext>
            </a:extLst>
          </p:cNvPr>
          <p:cNvSpPr txBox="1"/>
          <p:nvPr/>
        </p:nvSpPr>
        <p:spPr>
          <a:xfrm>
            <a:off x="783771" y="3084913"/>
            <a:ext cx="10885715" cy="830997"/>
          </a:xfrm>
          <a:prstGeom prst="rect">
            <a:avLst/>
          </a:prstGeom>
          <a:noFill/>
        </p:spPr>
        <p:txBody>
          <a:bodyPr wrap="square" rtlCol="0">
            <a:spAutoFit/>
          </a:bodyPr>
          <a:lstStyle/>
          <a:p>
            <a:pPr marL="488950"/>
            <a:r>
              <a:rPr lang="en-US" sz="2400" dirty="0">
                <a:latin typeface="Verdana" panose="020B0604030504040204" pitchFamily="34" charset="0"/>
                <a:ea typeface="Times New Roman" panose="02020603050405020304" pitchFamily="18" charset="0"/>
                <a:cs typeface="Times New Roman" panose="02020603050405020304" pitchFamily="18" charset="0"/>
              </a:rPr>
              <a:t>The net of the jewelry box is shown. Label the side lengths of the net. Record the dimensions in the table.</a:t>
            </a:r>
          </a:p>
        </p:txBody>
      </p:sp>
      <p:pic>
        <p:nvPicPr>
          <p:cNvPr id="5" name="Picture 4" descr="A picture containing chart&#10;&#10;Description automatically generated">
            <a:extLst>
              <a:ext uri="{FF2B5EF4-FFF2-40B4-BE49-F238E27FC236}">
                <a16:creationId xmlns:a16="http://schemas.microsoft.com/office/drawing/2014/main" xmlns="" id="{FE957AC9-F174-BF42-9782-6039E88EBE9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826404" y="4097787"/>
            <a:ext cx="2581834" cy="2572759"/>
          </a:xfrm>
          <a:prstGeom prst="rect">
            <a:avLst/>
          </a:prstGeom>
        </p:spPr>
      </p:pic>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127</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34801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754743" y="4767939"/>
            <a:ext cx="10827657" cy="830997"/>
          </a:xfrm>
          <a:prstGeom prst="rect">
            <a:avLst/>
          </a:prstGeom>
          <a:noFill/>
        </p:spPr>
        <p:txBody>
          <a:bodyPr wrap="square" rtlCol="0">
            <a:spAutoFit/>
          </a:bodyPr>
          <a:lstStyle/>
          <a:p>
            <a:pPr marL="4572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surface area of the box that Gretchen needs to buy paint for? Include units.</a:t>
            </a:r>
          </a:p>
        </p:txBody>
      </p:sp>
      <p:graphicFrame>
        <p:nvGraphicFramePr>
          <p:cNvPr id="3" name="Table 2">
            <a:extLst>
              <a:ext uri="{FF2B5EF4-FFF2-40B4-BE49-F238E27FC236}">
                <a16:creationId xmlns:a16="http://schemas.microsoft.com/office/drawing/2014/main" xmlns="" id="{82B6F11A-661F-DE4A-BF28-64F68C542725}"/>
              </a:ext>
            </a:extLst>
          </p:cNvPr>
          <p:cNvGraphicFramePr>
            <a:graphicFrameLocks noGrp="1"/>
          </p:cNvGraphicFramePr>
          <p:nvPr>
            <p:extLst>
              <p:ext uri="{D42A27DB-BD31-4B8C-83A1-F6EECF244321}">
                <p14:modId xmlns:p14="http://schemas.microsoft.com/office/powerpoint/2010/main" val="357338899"/>
              </p:ext>
            </p:extLst>
          </p:nvPr>
        </p:nvGraphicFramePr>
        <p:xfrm>
          <a:off x="3554413" y="650422"/>
          <a:ext cx="5083175" cy="3622675"/>
        </p:xfrm>
        <a:graphic>
          <a:graphicData uri="http://schemas.openxmlformats.org/drawingml/2006/table">
            <a:tbl>
              <a:tblPr firstRow="1" firstCol="1" bandRow="1"/>
              <a:tblGrid>
                <a:gridCol w="1035685">
                  <a:extLst>
                    <a:ext uri="{9D8B030D-6E8A-4147-A177-3AD203B41FA5}">
                      <a16:colId xmlns:a16="http://schemas.microsoft.com/office/drawing/2014/main" xmlns="" val="1788573873"/>
                    </a:ext>
                  </a:extLst>
                </a:gridCol>
                <a:gridCol w="2739390">
                  <a:extLst>
                    <a:ext uri="{9D8B030D-6E8A-4147-A177-3AD203B41FA5}">
                      <a16:colId xmlns:a16="http://schemas.microsoft.com/office/drawing/2014/main" xmlns="" val="3081318989"/>
                    </a:ext>
                  </a:extLst>
                </a:gridCol>
                <a:gridCol w="1308100">
                  <a:extLst>
                    <a:ext uri="{9D8B030D-6E8A-4147-A177-3AD203B41FA5}">
                      <a16:colId xmlns:a16="http://schemas.microsoft.com/office/drawing/2014/main" xmlns="" val="2009575115"/>
                    </a:ext>
                  </a:extLst>
                </a:gridCol>
              </a:tblGrid>
              <a:tr h="51943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Face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Dimensions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Area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996913222"/>
                  </a:ext>
                </a:extLst>
              </a:tr>
              <a:tr h="514985">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86161704"/>
                  </a:ext>
                </a:extLst>
              </a:tr>
              <a:tr h="51943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B</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24698079"/>
                  </a:ext>
                </a:extLst>
              </a:tr>
              <a:tr h="51943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C</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2896933"/>
                  </a:ext>
                </a:extLst>
              </a:tr>
              <a:tr h="514985">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D</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33586268"/>
                  </a:ext>
                </a:extLst>
              </a:tr>
              <a:tr h="51943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79811601"/>
                  </a:ext>
                </a:extLst>
              </a:tr>
              <a:tr h="514985">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F</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00107934"/>
                  </a:ext>
                </a:extLst>
              </a:tr>
            </a:tbl>
          </a:graphicData>
        </a:graphic>
      </p:graphicFrame>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09123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595085" y="421225"/>
            <a:ext cx="11132457"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Jillian and Victor are finding the surface area, in square feet (ft</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r>
              <a:rPr lang="en-US" sz="2400" dirty="0">
                <a:latin typeface="Verdana" panose="020B0604030504040204" pitchFamily="34" charset="0"/>
                <a:ea typeface="Times New Roman" panose="02020603050405020304" pitchFamily="18" charset="0"/>
                <a:cs typeface="Times New Roman" panose="02020603050405020304" pitchFamily="18" charset="0"/>
              </a:rPr>
              <a:t>), of the rectangular prism shown and each got the same answer; however, they solved the problem differently. </a:t>
            </a:r>
          </a:p>
        </p:txBody>
      </p:sp>
      <p:pic>
        <p:nvPicPr>
          <p:cNvPr id="11" name="Picture 10">
            <a:extLst>
              <a:ext uri="{FF2B5EF4-FFF2-40B4-BE49-F238E27FC236}">
                <a16:creationId xmlns:a16="http://schemas.microsoft.com/office/drawing/2014/main" xmlns="" id="{264E3CD3-A259-F544-AA23-EE551AD2CDAF}"/>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4476750" y="2609850"/>
            <a:ext cx="3238500" cy="1638300"/>
          </a:xfrm>
          <a:prstGeom prst="rect">
            <a:avLst/>
          </a:prstGeom>
          <a:noFill/>
          <a:ln>
            <a:noFill/>
          </a:ln>
        </p:spPr>
      </p:pic>
      <mc:AlternateContent xmlns:mc="http://schemas.openxmlformats.org/markup-compatibility/2006" xmlns:a14="http://schemas.microsoft.com/office/drawing/2010/main">
        <mc:Choice Requires="a14">
          <p:sp>
            <p:nvSpPr>
              <p:cNvPr id="13" name="Text Box 6">
                <a:extLst>
                  <a:ext uri="{FF2B5EF4-FFF2-40B4-BE49-F238E27FC236}">
                    <a16:creationId xmlns:a16="http://schemas.microsoft.com/office/drawing/2014/main" xmlns="" id="{DEF06EB6-299A-8746-B304-072812691525}"/>
                  </a:ext>
                </a:extLst>
              </p:cNvPr>
              <p:cNvSpPr txBox="1"/>
              <p:nvPr/>
            </p:nvSpPr>
            <p:spPr>
              <a:xfrm>
                <a:off x="7168804" y="2938031"/>
                <a:ext cx="914400" cy="454025"/>
              </a:xfrm>
              <a:prstGeom prst="rect">
                <a:avLst/>
              </a:prstGeom>
              <a:solidFill>
                <a:sysClr val="window" lastClr="FFFFFF"/>
              </a:solidFill>
              <a:ln w="25400" cap="flat" cmpd="sng" algn="ctr">
                <a:noFill/>
                <a:prstDash val="solid"/>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arto="http://schemas.microsoft.com/office/word/2006/arto"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1.5 </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ft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 Box 6">
                <a:extLst>
                  <a:ext uri="{FF2B5EF4-FFF2-40B4-BE49-F238E27FC236}">
                    <a16:creationId xmlns:a16="http://schemas.microsoft.com/office/drawing/2014/main" id="{DEF06EB6-299A-8746-B304-072812691525}"/>
                  </a:ext>
                </a:extLst>
              </p:cNvPr>
              <p:cNvSpPr txBox="1">
                <a:spLocks noRot="1" noChangeAspect="1" noMove="1" noResize="1" noEditPoints="1" noAdjustHandles="1" noChangeArrowheads="1" noChangeShapeType="1" noTextEdit="1"/>
              </p:cNvSpPr>
              <p:nvPr/>
            </p:nvSpPr>
            <p:spPr>
              <a:xfrm>
                <a:off x="7168804" y="2938031"/>
                <a:ext cx="914400" cy="454025"/>
              </a:xfrm>
              <a:prstGeom prst="rect">
                <a:avLst/>
              </a:prstGeom>
              <a:blipFill>
                <a:blip r:embed="rId5"/>
                <a:stretch>
                  <a:fillRect t="-5556" b="-5556"/>
                </a:stretch>
              </a:blipFill>
              <a:ln w="25400" cap="flat" cmpd="sng" algn="ctr">
                <a:noFill/>
                <a:prstDash val="solid"/>
              </a:ln>
              <a:effectLst/>
              <a:extLst>
                <a:ext uri="{C572A759-6A51-4108-AA02-DFA0A04FC94B}">
                  <ma14:wrappingTextBoxFlag xmlns:lc="http://schemas.openxmlformats.org/drawingml/2006/lockedCanvas" xmlns:arto="http://schemas.microsoft.com/office/word/2006/arto"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a14="http://schemas.microsoft.com/office/drawing/2010/main"/>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7">
                <a:extLst>
                  <a:ext uri="{FF2B5EF4-FFF2-40B4-BE49-F238E27FC236}">
                    <a16:creationId xmlns:a16="http://schemas.microsoft.com/office/drawing/2014/main" xmlns="" id="{EE1ACCF4-5986-D643-BBF3-252D953693A3}"/>
                  </a:ext>
                </a:extLst>
              </p:cNvPr>
              <p:cNvSpPr txBox="1"/>
              <p:nvPr/>
            </p:nvSpPr>
            <p:spPr>
              <a:xfrm rot="18847946">
                <a:off x="6736369" y="3643515"/>
                <a:ext cx="914400" cy="370840"/>
              </a:xfrm>
              <a:prstGeom prst="rect">
                <a:avLst/>
              </a:prstGeom>
              <a:solidFill>
                <a:sysClr val="window" lastClr="FFFFFF"/>
              </a:solidFill>
              <a:ln w="25400" cap="flat" cmpd="sng" algn="ctr">
                <a:noFill/>
                <a:prstDash val="solid"/>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arto="http://schemas.microsoft.com/office/word/2006/arto"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2 </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ft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 Box 7">
                <a:extLst>
                  <a:ext uri="{FF2B5EF4-FFF2-40B4-BE49-F238E27FC236}">
                    <a16:creationId xmlns:a16="http://schemas.microsoft.com/office/drawing/2014/main" id="{EE1ACCF4-5986-D643-BBF3-252D953693A3}"/>
                  </a:ext>
                </a:extLst>
              </p:cNvPr>
              <p:cNvSpPr txBox="1">
                <a:spLocks noRot="1" noChangeAspect="1" noMove="1" noResize="1" noEditPoints="1" noAdjustHandles="1" noChangeArrowheads="1" noChangeShapeType="1" noTextEdit="1"/>
              </p:cNvSpPr>
              <p:nvPr/>
            </p:nvSpPr>
            <p:spPr>
              <a:xfrm rot="18847946">
                <a:off x="6736369" y="3643515"/>
                <a:ext cx="914400" cy="370840"/>
              </a:xfrm>
              <a:prstGeom prst="rect">
                <a:avLst/>
              </a:prstGeom>
              <a:blipFill>
                <a:blip r:embed="rId6"/>
                <a:stretch>
                  <a:fillRect/>
                </a:stretch>
              </a:blipFill>
              <a:ln w="25400" cap="flat" cmpd="sng" algn="ctr">
                <a:noFill/>
                <a:prstDash val="solid"/>
              </a:ln>
              <a:effectLst/>
              <a:extLst>
                <a:ext uri="{C572A759-6A51-4108-AA02-DFA0A04FC94B}">
                  <ma14:wrappingTextBoxFlag xmlns:lc="http://schemas.openxmlformats.org/drawingml/2006/lockedCanvas" xmlns:arto="http://schemas.microsoft.com/office/word/2006/arto"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a14="http://schemas.microsoft.com/office/drawing/2010/main"/>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9">
                <a:extLst>
                  <a:ext uri="{FF2B5EF4-FFF2-40B4-BE49-F238E27FC236}">
                    <a16:creationId xmlns:a16="http://schemas.microsoft.com/office/drawing/2014/main" xmlns="" id="{319C5DA8-178D-7E42-BE6D-698BEC294D74}"/>
                  </a:ext>
                </a:extLst>
              </p:cNvPr>
              <p:cNvSpPr txBox="1"/>
              <p:nvPr/>
            </p:nvSpPr>
            <p:spPr>
              <a:xfrm>
                <a:off x="4930429" y="3990860"/>
                <a:ext cx="914400" cy="419100"/>
              </a:xfrm>
              <a:prstGeom prst="rect">
                <a:avLst/>
              </a:prstGeom>
              <a:solidFill>
                <a:sysClr val="window" lastClr="FFFFFF"/>
              </a:solidFill>
              <a:ln w="25400" cap="flat" cmpd="sng" algn="ctr">
                <a:noFill/>
                <a:prstDash val="solid"/>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arto="http://schemas.microsoft.com/office/word/2006/arto"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1800" dirty="0">
                    <a:latin typeface="Cambria Math" panose="02040503050406030204" pitchFamily="18" charset="0"/>
                    <a:ea typeface="Times New Roman" panose="02020603050405020304" pitchFamily="18" charset="0"/>
                    <a:cs typeface="Times New Roman" panose="02020603050405020304" pitchFamily="18" charset="0"/>
                  </a:rPr>
                  <a:t> </a:t>
                </a:r>
                <a:r>
                  <a:rPr lang="en-US" sz="1800" dirty="0">
                    <a:latin typeface="Verdana" panose="020B0604030504040204" pitchFamily="34" charset="0"/>
                    <a:ea typeface="Times New Roman" panose="02020603050405020304" pitchFamily="18" charset="0"/>
                    <a:cs typeface="Times New Roman" panose="02020603050405020304" pitchFamily="18" charset="0"/>
                  </a:rPr>
                  <a:t>ft</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5" name="Text Box 9">
                <a:extLst>
                  <a:ext uri="{FF2B5EF4-FFF2-40B4-BE49-F238E27FC236}">
                    <a16:creationId xmlns:a16="http://schemas.microsoft.com/office/drawing/2014/main" id="{319C5DA8-178D-7E42-BE6D-698BEC294D74}"/>
                  </a:ext>
                </a:extLst>
              </p:cNvPr>
              <p:cNvSpPr txBox="1">
                <a:spLocks noRot="1" noChangeAspect="1" noMove="1" noResize="1" noEditPoints="1" noAdjustHandles="1" noChangeArrowheads="1" noChangeShapeType="1" noTextEdit="1"/>
              </p:cNvSpPr>
              <p:nvPr/>
            </p:nvSpPr>
            <p:spPr>
              <a:xfrm>
                <a:off x="4930429" y="3990860"/>
                <a:ext cx="914400" cy="419100"/>
              </a:xfrm>
              <a:prstGeom prst="rect">
                <a:avLst/>
              </a:prstGeom>
              <a:blipFill>
                <a:blip r:embed="rId7"/>
                <a:stretch>
                  <a:fillRect t="-8824" b="-5882"/>
                </a:stretch>
              </a:blipFill>
              <a:ln w="25400" cap="flat" cmpd="sng" algn="ctr">
                <a:noFill/>
                <a:prstDash val="solid"/>
              </a:ln>
              <a:effectLst/>
              <a:extLst>
                <a:ext uri="{C572A759-6A51-4108-AA02-DFA0A04FC94B}">
                  <ma14:wrappingTextBoxFlag xmlns:lc="http://schemas.openxmlformats.org/drawingml/2006/lockedCanvas" xmlns:arto="http://schemas.microsoft.com/office/word/2006/arto"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a14="http://schemas.microsoft.com/office/drawing/2010/main"/>
                </a:ext>
              </a:extLst>
            </p:spPr>
            <p:txBody>
              <a:bodyPr/>
              <a:lstStyle/>
              <a:p>
                <a:r>
                  <a:rPr lang="en-US">
                    <a:noFill/>
                  </a:rPr>
                  <a:t> </a:t>
                </a:r>
              </a:p>
            </p:txBody>
          </p:sp>
        </mc:Fallback>
      </mc:AlternateContent>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128</a:t>
            </a:r>
            <a:endParaRPr i="1" dirty="0">
              <a:latin typeface="Calibri"/>
              <a:ea typeface="Calibri"/>
              <a:cs typeface="Calibri"/>
              <a:sym typeface="Calibri"/>
            </a:endParaRPr>
          </a:p>
        </p:txBody>
      </p:sp>
      <p:pic>
        <p:nvPicPr>
          <p:cNvPr id="16"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85535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870857" y="5440391"/>
            <a:ext cx="10656181" cy="707886"/>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each student’s strategy and how they are similar or different. Draw arrows to show connections between each student’s work.</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38798530-6590-E845-88C3-78DC7D7CA0AF}"/>
                  </a:ext>
                </a:extLst>
              </p:cNvPr>
              <p:cNvGraphicFramePr>
                <a:graphicFrameLocks noGrp="1"/>
              </p:cNvGraphicFramePr>
              <p:nvPr>
                <p:extLst>
                  <p:ext uri="{D42A27DB-BD31-4B8C-83A1-F6EECF244321}">
                    <p14:modId xmlns:p14="http://schemas.microsoft.com/office/powerpoint/2010/main" val="3154797091"/>
                  </p:ext>
                </p:extLst>
              </p:nvPr>
            </p:nvGraphicFramePr>
            <p:xfrm>
              <a:off x="2481263" y="453863"/>
              <a:ext cx="7109460" cy="4815840"/>
            </p:xfrm>
            <a:graphic>
              <a:graphicData uri="http://schemas.openxmlformats.org/drawingml/2006/table">
                <a:tbl>
                  <a:tblPr firstRow="1" firstCol="1" bandRow="1"/>
                  <a:tblGrid>
                    <a:gridCol w="3543300">
                      <a:extLst>
                        <a:ext uri="{9D8B030D-6E8A-4147-A177-3AD203B41FA5}">
                          <a16:colId xmlns:a16="http://schemas.microsoft.com/office/drawing/2014/main" xmlns="" val="249318630"/>
                        </a:ext>
                      </a:extLst>
                    </a:gridCol>
                    <a:gridCol w="3566160">
                      <a:extLst>
                        <a:ext uri="{9D8B030D-6E8A-4147-A177-3AD203B41FA5}">
                          <a16:colId xmlns:a16="http://schemas.microsoft.com/office/drawing/2014/main" xmlns="" val="91653482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Jillian’s Work</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Victor’s Work</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415053137"/>
                      </a:ext>
                    </a:extLst>
                  </a:tr>
                  <a:tr h="457200">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Side 1: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8.25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Side 2: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8.25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Side 3: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Side 4: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Side 5: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Side 6: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Total Surface Area: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44.5 </m:t>
                              </m:r>
                              <m:sSup>
                                <m:sSupPr>
                                  <m:ctrlPr>
                                    <a:rPr lang="x-none" sz="2000" i="1">
                                      <a:effectLst/>
                                      <a:latin typeface="Cambria Math"/>
                                      <a:ea typeface="Times New Roman" panose="02020603050405020304" pitchFamily="18" charset="0"/>
                                      <a:cs typeface="Times New Roman" panose="02020603050405020304" pitchFamily="18" charset="0"/>
                                    </a:rPr>
                                  </m:ctrlPr>
                                </m:sSupPr>
                                <m:e>
                                  <m:r>
                                    <m:rPr>
                                      <m:nor/>
                                    </m:rPr>
                                    <a:rPr lang="en-US" sz="2000">
                                      <a:effectLst/>
                                      <a:latin typeface="Cambria Math" panose="02040503050406030204" pitchFamily="18" charset="0"/>
                                      <a:ea typeface="Times New Roman" panose="02020603050405020304" pitchFamily="18" charset="0"/>
                                      <a:cs typeface="Times New Roman" panose="02020603050405020304" pitchFamily="18" charset="0"/>
                                    </a:rPr>
                                    <m:t>ft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2 sides: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16.5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2 sides: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2 sides: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ft</a:t>
                          </a:r>
                          <a:r>
                            <a:rPr lang="en-US" sz="2000" baseline="30000" dirty="0">
                              <a:effectLst/>
                              <a:latin typeface="Verdana" panose="020B0604030504040204" pitchFamily="34" charset="0"/>
                              <a:ea typeface="Times New Roman" panose="02020603050405020304" pitchFamily="18" charset="0"/>
                              <a:cs typeface="Times New Roman" panose="02020603050405020304" pitchFamily="18" charset="0"/>
                            </a:rPr>
                            <a:t>2</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Total Surface Area: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44.5 </m:t>
                              </m:r>
                              <m:sSup>
                                <m:sSupPr>
                                  <m:ctrlPr>
                                    <a:rPr lang="x-none" sz="2000" i="1">
                                      <a:effectLst/>
                                      <a:latin typeface="Cambria Math"/>
                                      <a:ea typeface="Times New Roman" panose="02020603050405020304" pitchFamily="18" charset="0"/>
                                      <a:cs typeface="Times New Roman" panose="02020603050405020304" pitchFamily="18" charset="0"/>
                                    </a:rPr>
                                  </m:ctrlPr>
                                </m:sSupPr>
                                <m:e>
                                  <m:r>
                                    <m:rPr>
                                      <m:sty m:val="p"/>
                                    </m:rPr>
                                    <a:rPr lang="en-US" sz="2000">
                                      <a:effectLst/>
                                      <a:latin typeface="Cambria Math" panose="02040503050406030204" pitchFamily="18" charset="0"/>
                                      <a:ea typeface="Times New Roman" panose="02020603050405020304" pitchFamily="18" charset="0"/>
                                      <a:cs typeface="Times New Roman" panose="02020603050405020304" pitchFamily="18" charset="0"/>
                                    </a:rPr>
                                    <m:t>ft</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3641909"/>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38798530-6590-E845-88C3-78DC7D7CA0AF}"/>
                  </a:ext>
                </a:extLst>
              </p:cNvPr>
              <p:cNvGraphicFramePr>
                <a:graphicFrameLocks noGrp="1"/>
              </p:cNvGraphicFramePr>
              <p:nvPr>
                <p:extLst>
                  <p:ext uri="{D42A27DB-BD31-4B8C-83A1-F6EECF244321}">
                    <p14:modId xmlns:p14="http://schemas.microsoft.com/office/powerpoint/2010/main" val="3154797091"/>
                  </p:ext>
                </p:extLst>
              </p:nvPr>
            </p:nvGraphicFramePr>
            <p:xfrm>
              <a:off x="2481263" y="453863"/>
              <a:ext cx="7109460" cy="4815840"/>
            </p:xfrm>
            <a:graphic>
              <a:graphicData uri="http://schemas.openxmlformats.org/drawingml/2006/table">
                <a:tbl>
                  <a:tblPr firstRow="1" firstCol="1" bandRow="1"/>
                  <a:tblGrid>
                    <a:gridCol w="3543300">
                      <a:extLst>
                        <a:ext uri="{9D8B030D-6E8A-4147-A177-3AD203B41FA5}">
                          <a16:colId xmlns:a16="http://schemas.microsoft.com/office/drawing/2014/main" xmlns:a14="http://schemas.microsoft.com/office/drawing/2010/main" xmlns="" val="249318630"/>
                        </a:ext>
                      </a:extLst>
                    </a:gridCol>
                    <a:gridCol w="3566160">
                      <a:extLst>
                        <a:ext uri="{9D8B030D-6E8A-4147-A177-3AD203B41FA5}">
                          <a16:colId xmlns:a16="http://schemas.microsoft.com/office/drawing/2014/main" xmlns:a14="http://schemas.microsoft.com/office/drawing/2010/main" xmlns="" val="91653482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Jillian’s Work</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Victor’s Work</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415053137"/>
                      </a:ext>
                    </a:extLst>
                  </a:tr>
                  <a:tr h="4358640">
                    <a:tc>
                      <a:txBody>
                        <a:bodyPr/>
                        <a:lstStyle/>
                        <a:p>
                          <a:endParaRPr lang="en-US"/>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0490" r="-100861" b="-2517"/>
                          </a:stretch>
                        </a:blipFill>
                      </a:tcPr>
                    </a:tc>
                    <a:tc>
                      <a:txBody>
                        <a:bodyPr/>
                        <a:lstStyle/>
                        <a:p>
                          <a:endParaRPr lang="en-US"/>
                        </a:p>
                      </a:txBody>
                      <a:tcPr marL="68580" marR="685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99316" t="-10490" r="-171" b="-2517"/>
                          </a:stretch>
                        </a:blipFill>
                      </a:tcPr>
                    </a:tc>
                    <a:extLst>
                      <a:ext uri="{0D108BD9-81ED-4DB2-BD59-A6C34878D82A}">
                        <a16:rowId xmlns:a16="http://schemas.microsoft.com/office/drawing/2014/main" xmlns:a14="http://schemas.microsoft.com/office/drawing/2010/main" xmlns="" val="253641909"/>
                      </a:ext>
                    </a:extLst>
                  </a:tr>
                </a:tbl>
              </a:graphicData>
            </a:graphic>
          </p:graphicFrame>
        </mc:Fallback>
      </mc:AlternateContent>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65200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149600" y="2766145"/>
            <a:ext cx="7188549"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7" name="image3.png" descr="Icon&#10;&#10;Description automatically generated">
            <a:extLst>
              <a:ext uri="{FF2B5EF4-FFF2-40B4-BE49-F238E27FC236}">
                <a16:creationId xmlns:a16="http://schemas.microsoft.com/office/drawing/2014/main" xmlns="" id="{F62D86F1-5AD3-AC42-91A9-A629B3BF8BF7}"/>
              </a:ext>
            </a:extLst>
          </p:cNvPr>
          <p:cNvPicPr/>
          <p:nvPr/>
        </p:nvPicPr>
        <p:blipFill>
          <a:blip r:embed="rId3"/>
          <a:srcRect/>
          <a:stretch>
            <a:fillRect/>
          </a:stretch>
        </p:blipFill>
        <p:spPr>
          <a:xfrm>
            <a:off x="3294751" y="2852920"/>
            <a:ext cx="1152149" cy="1152149"/>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41699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83116" y="-77342"/>
            <a:ext cx="948488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8.10.4 Your Turn!</a:t>
            </a:r>
            <a:endParaRPr lang="en-US" sz="4000" b="1" dirty="0">
              <a:solidFill>
                <a:srgbClr val="E24E5F"/>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808212" y="1416155"/>
            <a:ext cx="10722728" cy="1200329"/>
          </a:xfrm>
          <a:prstGeom prst="rect">
            <a:avLst/>
          </a:prstGeom>
          <a:noFill/>
        </p:spPr>
        <p:txBody>
          <a:bodyPr wrap="square" rtlCol="0">
            <a:spAutoFit/>
          </a:bodyPr>
          <a:lstStyle/>
          <a:p>
            <a:pPr marL="457200" indent="-457200">
              <a:buFont typeface="+mj-lt"/>
              <a:buAutoNum type="arabicPeriod"/>
            </a:pPr>
            <a:r>
              <a:rPr lang="en-US" sz="2400" dirty="0" err="1">
                <a:latin typeface="Verdana" panose="020B0604030504040204" pitchFamily="34" charset="0"/>
                <a:ea typeface="Times New Roman" panose="02020603050405020304" pitchFamily="18" charset="0"/>
                <a:cs typeface="Times New Roman" panose="02020603050405020304" pitchFamily="18" charset="0"/>
              </a:rPr>
              <a:t>Darsey</a:t>
            </a:r>
            <a:r>
              <a:rPr lang="en-US" sz="2400" dirty="0">
                <a:latin typeface="Verdana" panose="020B0604030504040204" pitchFamily="34" charset="0"/>
                <a:ea typeface="Times New Roman" panose="02020603050405020304" pitchFamily="18" charset="0"/>
                <a:cs typeface="Times New Roman" panose="02020603050405020304" pitchFamily="18" charset="0"/>
              </a:rPr>
              <a:t> wants to build trinket boxes made of wood to sell at the local craft festival. A drawing of her box is shown. How much wood does </a:t>
            </a:r>
            <a:r>
              <a:rPr lang="en-US" sz="2400" dirty="0" err="1">
                <a:latin typeface="Verdana" panose="020B0604030504040204" pitchFamily="34" charset="0"/>
                <a:ea typeface="Times New Roman" panose="02020603050405020304" pitchFamily="18" charset="0"/>
                <a:cs typeface="Times New Roman" panose="02020603050405020304" pitchFamily="18" charset="0"/>
              </a:rPr>
              <a:t>Darsey</a:t>
            </a:r>
            <a:r>
              <a:rPr lang="en-US" sz="2400" dirty="0">
                <a:latin typeface="Verdana" panose="020B0604030504040204" pitchFamily="34" charset="0"/>
                <a:ea typeface="Times New Roman" panose="02020603050405020304" pitchFamily="18" charset="0"/>
                <a:cs typeface="Times New Roman" panose="02020603050405020304" pitchFamily="18" charset="0"/>
              </a:rPr>
              <a:t> need to buy for each trinket box?</a:t>
            </a:r>
          </a:p>
        </p:txBody>
      </p:sp>
      <p:pic>
        <p:nvPicPr>
          <p:cNvPr id="14" name="image3.png" descr="Icon&#10;&#10;Description automatically generated">
            <a:extLst>
              <a:ext uri="{FF2B5EF4-FFF2-40B4-BE49-F238E27FC236}">
                <a16:creationId xmlns:a16="http://schemas.microsoft.com/office/drawing/2014/main" xmlns="" id="{DD594980-EA87-4A47-866F-5252F0DE1727}"/>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433308" y="210604"/>
            <a:ext cx="749808" cy="749808"/>
          </a:xfrm>
          <a:prstGeom prst="rect">
            <a:avLst/>
          </a:prstGeom>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xmlns="" id="{63520A78-2A0C-4245-98A4-45C4F43B99E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bwMode="auto">
          <a:xfrm>
            <a:off x="4598670" y="3429001"/>
            <a:ext cx="2994660" cy="2245995"/>
          </a:xfrm>
          <a:prstGeom prst="rect">
            <a:avLst/>
          </a:prstGeom>
          <a:noFill/>
          <a:ln>
            <a:noFill/>
          </a:ln>
        </p:spPr>
      </p:pic>
      <mc:AlternateContent xmlns:mc="http://schemas.openxmlformats.org/markup-compatibility/2006" xmlns:a14="http://schemas.microsoft.com/office/drawing/2010/main">
        <mc:Choice Requires="a14">
          <p:sp>
            <p:nvSpPr>
              <p:cNvPr id="10" name="Text Box 2">
                <a:extLst>
                  <a:ext uri="{FF2B5EF4-FFF2-40B4-BE49-F238E27FC236}">
                    <a16:creationId xmlns:a16="http://schemas.microsoft.com/office/drawing/2014/main" xmlns="" id="{CC77E589-AA07-A04B-86C9-931B3067C1E9}"/>
                  </a:ext>
                </a:extLst>
              </p:cNvPr>
              <p:cNvSpPr txBox="1">
                <a:spLocks noChangeArrowheads="1"/>
              </p:cNvSpPr>
              <p:nvPr/>
            </p:nvSpPr>
            <p:spPr bwMode="auto">
              <a:xfrm>
                <a:off x="7556500" y="3989705"/>
                <a:ext cx="844550" cy="36933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8 </m:t>
                    </m:r>
                  </m:oMath>
                </a14:m>
                <a:r>
                  <a:rPr lang="en-US" sz="1800">
                    <a:latin typeface="Verdana" panose="020B0604030504040204" pitchFamily="34" charset="0"/>
                    <a:ea typeface="Times New Roman" panose="02020603050405020304" pitchFamily="18" charset="0"/>
                    <a:cs typeface="Times New Roman" panose="02020603050405020304" pitchFamily="18" charset="0"/>
                  </a:rPr>
                  <a:t>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2">
                <a:extLst>
                  <a:ext uri="{FF2B5EF4-FFF2-40B4-BE49-F238E27FC236}">
                    <a16:creationId xmlns:a16="http://schemas.microsoft.com/office/drawing/2014/main" id="{CC77E589-AA07-A04B-86C9-931B3067C1E9}"/>
                  </a:ext>
                </a:extLst>
              </p:cNvPr>
              <p:cNvSpPr txBox="1">
                <a:spLocks noRot="1" noChangeAspect="1" noMove="1" noResize="1" noEditPoints="1" noAdjustHandles="1" noChangeArrowheads="1" noChangeShapeType="1" noTextEdit="1"/>
              </p:cNvSpPr>
              <p:nvPr/>
            </p:nvSpPr>
            <p:spPr bwMode="auto">
              <a:xfrm>
                <a:off x="7556500" y="3989705"/>
                <a:ext cx="844550" cy="369332"/>
              </a:xfrm>
              <a:prstGeom prst="rect">
                <a:avLst/>
              </a:prstGeom>
              <a:blipFill>
                <a:blip r:embed="rId6"/>
                <a:stretch>
                  <a:fillRect t="-3226" b="-22581"/>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2">
                <a:extLst>
                  <a:ext uri="{FF2B5EF4-FFF2-40B4-BE49-F238E27FC236}">
                    <a16:creationId xmlns:a16="http://schemas.microsoft.com/office/drawing/2014/main" xmlns="" id="{6E681720-3D68-2F4F-A766-9B088B4AD9C0}"/>
                  </a:ext>
                </a:extLst>
              </p:cNvPr>
              <p:cNvSpPr txBox="1">
                <a:spLocks noChangeArrowheads="1"/>
              </p:cNvSpPr>
              <p:nvPr/>
            </p:nvSpPr>
            <p:spPr bwMode="auto">
              <a:xfrm>
                <a:off x="5673725" y="5674995"/>
                <a:ext cx="844550" cy="36933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10 </m:t>
                    </m:r>
                  </m:oMath>
                </a14:m>
                <a:r>
                  <a:rPr lang="en-US" sz="1800">
                    <a:latin typeface="Verdana" panose="020B0604030504040204" pitchFamily="34" charset="0"/>
                    <a:ea typeface="Times New Roman" panose="02020603050405020304" pitchFamily="18" charset="0"/>
                    <a:cs typeface="Times New Roman" panose="02020603050405020304" pitchFamily="18" charset="0"/>
                  </a:rPr>
                  <a:t>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2">
                <a:extLst>
                  <a:ext uri="{FF2B5EF4-FFF2-40B4-BE49-F238E27FC236}">
                    <a16:creationId xmlns:a16="http://schemas.microsoft.com/office/drawing/2014/main" id="{6E681720-3D68-2F4F-A766-9B088B4AD9C0}"/>
                  </a:ext>
                </a:extLst>
              </p:cNvPr>
              <p:cNvSpPr txBox="1">
                <a:spLocks noRot="1" noChangeAspect="1" noMove="1" noResize="1" noEditPoints="1" noAdjustHandles="1" noChangeArrowheads="1" noChangeShapeType="1" noTextEdit="1"/>
              </p:cNvSpPr>
              <p:nvPr/>
            </p:nvSpPr>
            <p:spPr bwMode="auto">
              <a:xfrm>
                <a:off x="5673725" y="5674995"/>
                <a:ext cx="844550" cy="369332"/>
              </a:xfrm>
              <a:prstGeom prst="rect">
                <a:avLst/>
              </a:prstGeom>
              <a:blipFill>
                <a:blip r:embed="rId7"/>
                <a:stretch>
                  <a:fillRect t="-6452" b="-22581"/>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xmlns="" id="{E6B85F5E-E557-0047-9DCA-C3EA0E4E5B7B}"/>
                  </a:ext>
                </a:extLst>
              </p:cNvPr>
              <p:cNvSpPr txBox="1">
                <a:spLocks noChangeArrowheads="1"/>
              </p:cNvSpPr>
              <p:nvPr/>
            </p:nvSpPr>
            <p:spPr bwMode="auto">
              <a:xfrm>
                <a:off x="7393305" y="5267325"/>
                <a:ext cx="844550" cy="369332"/>
              </a:xfrm>
              <a:prstGeom prst="rect">
                <a:avLst/>
              </a:prstGeom>
              <a:noFill/>
              <a:ln w="9525">
                <a:noFill/>
                <a:miter lim="800000"/>
                <a:headEnd/>
                <a:tailEnd/>
              </a:ln>
            </p:spPr>
            <p:txBody>
              <a:bodyPr rot="0" vert="horz" wrap="square" lIns="91440" tIns="45720" rIns="91440" bIns="45720" anchor="t" anchorCtr="0">
                <a:sp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5 </m:t>
                    </m:r>
                  </m:oMath>
                </a14:m>
                <a:r>
                  <a:rPr lang="en-US" sz="1800">
                    <a:latin typeface="Verdana" panose="020B0604030504040204" pitchFamily="34" charset="0"/>
                    <a:ea typeface="Times New Roman" panose="02020603050405020304" pitchFamily="18" charset="0"/>
                    <a:cs typeface="Times New Roman" panose="02020603050405020304" pitchFamily="18" charset="0"/>
                  </a:rPr>
                  <a:t>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 Box 2">
                <a:extLst>
                  <a:ext uri="{FF2B5EF4-FFF2-40B4-BE49-F238E27FC236}">
                    <a16:creationId xmlns:a16="http://schemas.microsoft.com/office/drawing/2014/main" id="{E6B85F5E-E557-0047-9DCA-C3EA0E4E5B7B}"/>
                  </a:ext>
                </a:extLst>
              </p:cNvPr>
              <p:cNvSpPr txBox="1">
                <a:spLocks noRot="1" noChangeAspect="1" noMove="1" noResize="1" noEditPoints="1" noAdjustHandles="1" noChangeArrowheads="1" noChangeShapeType="1" noTextEdit="1"/>
              </p:cNvSpPr>
              <p:nvPr/>
            </p:nvSpPr>
            <p:spPr bwMode="auto">
              <a:xfrm>
                <a:off x="7393305" y="5267325"/>
                <a:ext cx="844550" cy="369332"/>
              </a:xfrm>
              <a:prstGeom prst="rect">
                <a:avLst/>
              </a:prstGeom>
              <a:blipFill>
                <a:blip r:embed="rId8"/>
                <a:stretch>
                  <a:fillRect t="-6452" b="-22581"/>
                </a:stretch>
              </a:blipFill>
              <a:ln w="9525">
                <a:noFill/>
                <a:miter lim="800000"/>
                <a:headEnd/>
                <a:tailEnd/>
              </a:ln>
            </p:spPr>
            <p:txBody>
              <a:bodyPr/>
              <a:lstStyle/>
              <a:p>
                <a:r>
                  <a:rPr lang="en-US">
                    <a:noFill/>
                  </a:rPr>
                  <a:t> </a:t>
                </a:r>
              </a:p>
            </p:txBody>
          </p:sp>
        </mc:Fallback>
      </mc:AlternateContent>
      <p:sp>
        <p:nvSpPr>
          <p:cNvPr id="1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129</a:t>
            </a:r>
            <a:endParaRPr i="1" dirty="0">
              <a:latin typeface="Calibri"/>
              <a:ea typeface="Calibri"/>
              <a:cs typeface="Calibri"/>
              <a:sym typeface="Calibri"/>
            </a:endParaRPr>
          </a:p>
        </p:txBody>
      </p:sp>
      <p:pic>
        <p:nvPicPr>
          <p:cNvPr id="18"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29276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609600" y="321451"/>
                <a:ext cx="11277600" cy="2244204"/>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 carpenter is staining planks of wood to build the top of a long picnic table. The carpenter determines the surface area of each plank in order to purchase the right amount of stain. Each plank is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 (in.) thick, </a:t>
                </a:r>
                <a14:m>
                  <m:oMath xmlns:m="http://schemas.openxmlformats.org/officeDocument/2006/math">
                    <m:r>
                      <a:rPr lang="es-ES" sz="2400" dirty="0">
                        <a:latin typeface="Cambria Math" panose="02040503050406030204" pitchFamily="18" charset="0"/>
                        <a:cs typeface="Times New Roman" panose="02020603050405020304" pitchFamily="18" charset="0"/>
                      </a:rPr>
                      <m:t>5</m:t>
                    </m:r>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wide,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long. What is the surface area of each plank?</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609600" y="321451"/>
                <a:ext cx="11277600" cy="2244204"/>
              </a:xfrm>
              <a:prstGeom prst="rect">
                <a:avLst/>
              </a:prstGeom>
              <a:blipFill>
                <a:blip r:embed="rId4"/>
                <a:stretch>
                  <a:fillRect l="-900" t="-2247" b="-5056"/>
                </a:stretch>
              </a:blipFill>
            </p:spPr>
            <p:txBody>
              <a:bodyPr/>
              <a:lstStyle/>
              <a:p>
                <a:r>
                  <a:rPr lang="en-US">
                    <a:noFill/>
                  </a:rPr>
                  <a:t> </a:t>
                </a:r>
              </a:p>
            </p:txBody>
          </p:sp>
        </mc:Fallback>
      </mc:AlternateContent>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129</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199418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51000" y="276197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3340761" y="291656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27007" y="63584"/>
            <a:ext cx="1002476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8.10.5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601904" y="29100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1427007" y="1514814"/>
            <a:ext cx="10024763" cy="1938992"/>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Ted is preparing a holiday display for the post office. He takes an unfolded box and uses it to determine the amount of wrapping paper needed to wrap the box.</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The shipping box Ted uses for the display is shown.</a:t>
            </a:r>
          </a:p>
        </p:txBody>
      </p:sp>
      <p:pic>
        <p:nvPicPr>
          <p:cNvPr id="10" name="Picture 9" descr="Shape&#10;&#10;Description automatically generated with medium confidence">
            <a:extLst>
              <a:ext uri="{FF2B5EF4-FFF2-40B4-BE49-F238E27FC236}">
                <a16:creationId xmlns:a16="http://schemas.microsoft.com/office/drawing/2014/main" xmlns="" id="{744D1892-79B2-BB44-85EA-C6D6A662CB36}"/>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4548823" y="4456084"/>
            <a:ext cx="3094355" cy="1205865"/>
          </a:xfrm>
          <a:prstGeom prst="rect">
            <a:avLst/>
          </a:prstGeom>
          <a:noFill/>
          <a:ln>
            <a:noFill/>
          </a:ln>
        </p:spPr>
      </p:pic>
      <p:grpSp>
        <p:nvGrpSpPr>
          <p:cNvPr id="11" name="Group 10">
            <a:extLst>
              <a:ext uri="{FF2B5EF4-FFF2-40B4-BE49-F238E27FC236}">
                <a16:creationId xmlns:a16="http://schemas.microsoft.com/office/drawing/2014/main" xmlns="" id="{60904498-545C-824C-90D4-896D0C9EB212}"/>
              </a:ext>
            </a:extLst>
          </p:cNvPr>
          <p:cNvGrpSpPr/>
          <p:nvPr/>
        </p:nvGrpSpPr>
        <p:grpSpPr>
          <a:xfrm>
            <a:off x="5737060" y="4830479"/>
            <a:ext cx="2599689" cy="1210945"/>
            <a:chOff x="0" y="140714"/>
            <a:chExt cx="2599911" cy="1211560"/>
          </a:xfrm>
        </p:grpSpPr>
        <mc:AlternateContent xmlns:mc="http://schemas.openxmlformats.org/markup-compatibility/2006" xmlns:a14="http://schemas.microsoft.com/office/drawing/2010/main">
          <mc:Choice Requires="a14">
            <p:sp>
              <p:nvSpPr>
                <p:cNvPr id="13" name="Text Box 16">
                  <a:extLst>
                    <a:ext uri="{FF2B5EF4-FFF2-40B4-BE49-F238E27FC236}">
                      <a16:creationId xmlns:a16="http://schemas.microsoft.com/office/drawing/2014/main" xmlns="" id="{B3C5AE7B-17E6-7C4F-9A74-0C2A70728B90}"/>
                    </a:ext>
                  </a:extLst>
                </p:cNvPr>
                <p:cNvSpPr txBox="1"/>
                <p:nvPr/>
              </p:nvSpPr>
              <p:spPr>
                <a:xfrm>
                  <a:off x="0" y="983974"/>
                  <a:ext cx="1054100" cy="3683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arto="http://schemas.microsoft.com/office/word/2006/arto" xmlns:lc="http://schemas.openxmlformats.org/drawingml/2006/locked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12 </m:t>
                      </m:r>
                    </m:oMath>
                  </a14:m>
                  <a:r>
                    <a:rPr lang="en-US" sz="1800">
                      <a:latin typeface="Cambria Math" panose="02040503050406030204" pitchFamily="18" charset="0"/>
                      <a:ea typeface="Times New Roman" panose="02020603050405020304" pitchFamily="18" charset="0"/>
                      <a:cs typeface="Times New Roman" panose="02020603050405020304" pitchFamily="18" charset="0"/>
                    </a:rPr>
                    <a:t>in.</a:t>
                  </a:r>
                  <a:endParaRPr lang="x-none" sz="1200">
                    <a:ea typeface="Times New Roman" panose="02020603050405020304" pitchFamily="18" charset="0"/>
                    <a:cs typeface="Times New Roman" panose="02020603050405020304" pitchFamily="18" charset="0"/>
                  </a:endParaRPr>
                </a:p>
              </p:txBody>
            </p:sp>
          </mc:Choice>
          <mc:Fallback xmlns="">
            <p:sp>
              <p:nvSpPr>
                <p:cNvPr id="13" name="Text Box 16">
                  <a:extLst>
                    <a:ext uri="{FF2B5EF4-FFF2-40B4-BE49-F238E27FC236}">
                      <a16:creationId xmlns:a16="http://schemas.microsoft.com/office/drawing/2014/main" id="{B3C5AE7B-17E6-7C4F-9A74-0C2A70728B90}"/>
                    </a:ext>
                  </a:extLst>
                </p:cNvPr>
                <p:cNvSpPr txBox="1">
                  <a:spLocks noRot="1" noChangeAspect="1" noMove="1" noResize="1" noEditPoints="1" noAdjustHandles="1" noChangeArrowheads="1" noChangeShapeType="1" noTextEdit="1"/>
                </p:cNvSpPr>
                <p:nvPr/>
              </p:nvSpPr>
              <p:spPr>
                <a:xfrm>
                  <a:off x="0" y="983974"/>
                  <a:ext cx="1054100" cy="368300"/>
                </a:xfrm>
                <a:prstGeom prst="rect">
                  <a:avLst/>
                </a:prstGeom>
                <a:blipFill>
                  <a:blip r:embed="rId6"/>
                  <a:stretch>
                    <a:fillRect t="-6667" b="-26667"/>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arto="http://schemas.microsoft.com/office/word/2006/arto" xmlns:lc="http://schemas.openxmlformats.org/drawingml/2006/lockedCanvas"/>
                  </a:ext>
                </a:extLst>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Text Box 73">
                  <a:extLst>
                    <a:ext uri="{FF2B5EF4-FFF2-40B4-BE49-F238E27FC236}">
                      <a16:creationId xmlns:a16="http://schemas.microsoft.com/office/drawing/2014/main" xmlns="" id="{7E6E641D-2B91-A249-BD77-07B7A56B3530}"/>
                    </a:ext>
                  </a:extLst>
                </p:cNvPr>
                <p:cNvSpPr txBox="1"/>
                <p:nvPr/>
              </p:nvSpPr>
              <p:spPr>
                <a:xfrm>
                  <a:off x="1649896" y="705678"/>
                  <a:ext cx="790575" cy="3683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arto="http://schemas.microsoft.com/office/word/2006/arto" xmlns:lc="http://schemas.openxmlformats.org/drawingml/2006/locked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4.5 </m:t>
                      </m:r>
                    </m:oMath>
                  </a14:m>
                  <a:r>
                    <a:rPr lang="en-US" sz="1800">
                      <a:latin typeface="Cambria Math" panose="02040503050406030204" pitchFamily="18" charset="0"/>
                      <a:ea typeface="Times New Roman" panose="02020603050405020304" pitchFamily="18" charset="0"/>
                      <a:cs typeface="Times New Roman" panose="02020603050405020304" pitchFamily="18" charset="0"/>
                    </a:rPr>
                    <a:t>in.</a:t>
                  </a:r>
                  <a:endParaRPr lang="x-none" sz="1200">
                    <a:ea typeface="Times New Roman" panose="02020603050405020304" pitchFamily="18" charset="0"/>
                    <a:cs typeface="Times New Roman" panose="02020603050405020304" pitchFamily="18" charset="0"/>
                  </a:endParaRPr>
                </a:p>
              </p:txBody>
            </p:sp>
          </mc:Choice>
          <mc:Fallback xmlns="">
            <p:sp>
              <p:nvSpPr>
                <p:cNvPr id="14" name="Text Box 73">
                  <a:extLst>
                    <a:ext uri="{FF2B5EF4-FFF2-40B4-BE49-F238E27FC236}">
                      <a16:creationId xmlns:a16="http://schemas.microsoft.com/office/drawing/2014/main" id="{7E6E641D-2B91-A249-BD77-07B7A56B3530}"/>
                    </a:ext>
                  </a:extLst>
                </p:cNvPr>
                <p:cNvSpPr txBox="1">
                  <a:spLocks noRot="1" noChangeAspect="1" noMove="1" noResize="1" noEditPoints="1" noAdjustHandles="1" noChangeArrowheads="1" noChangeShapeType="1" noTextEdit="1"/>
                </p:cNvSpPr>
                <p:nvPr/>
              </p:nvSpPr>
              <p:spPr>
                <a:xfrm>
                  <a:off x="1649896" y="705678"/>
                  <a:ext cx="790575" cy="368300"/>
                </a:xfrm>
                <a:prstGeom prst="rect">
                  <a:avLst/>
                </a:prstGeom>
                <a:blipFill>
                  <a:blip r:embed="rId7"/>
                  <a:stretch>
                    <a:fillRect t="-6667" r="-4762" b="-26667"/>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arto="http://schemas.microsoft.com/office/word/2006/arto" xmlns:lc="http://schemas.openxmlformats.org/drawingml/2006/lockedCanvas"/>
                  </a:ext>
                </a:extLst>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Text Box 74">
                  <a:extLst>
                    <a:ext uri="{FF2B5EF4-FFF2-40B4-BE49-F238E27FC236}">
                      <a16:creationId xmlns:a16="http://schemas.microsoft.com/office/drawing/2014/main" xmlns="" id="{AD788BDC-E299-3A49-8DEB-1EB3B560B245}"/>
                    </a:ext>
                  </a:extLst>
                </p:cNvPr>
                <p:cNvSpPr txBox="1"/>
                <p:nvPr/>
              </p:nvSpPr>
              <p:spPr>
                <a:xfrm>
                  <a:off x="1818861" y="140714"/>
                  <a:ext cx="781050" cy="368300"/>
                </a:xfrm>
                <a:prstGeom prst="rect">
                  <a:avLst/>
                </a:prstGeom>
                <a:no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arto="http://schemas.microsoft.com/office/word/2006/arto"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4.8 </m:t>
                      </m:r>
                    </m:oMath>
                  </a14:m>
                  <a:r>
                    <a:rPr lang="en-US" sz="1800">
                      <a:latin typeface="Cambria Math" panose="02040503050406030204" pitchFamily="18" charset="0"/>
                      <a:ea typeface="Times New Roman" panose="02020603050405020304" pitchFamily="18" charset="0"/>
                      <a:cs typeface="Times New Roman" panose="02020603050405020304" pitchFamily="18" charset="0"/>
                    </a:rPr>
                    <a:t>in.</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5" name="Text Box 74">
                  <a:extLst>
                    <a:ext uri="{FF2B5EF4-FFF2-40B4-BE49-F238E27FC236}">
                      <a16:creationId xmlns:a16="http://schemas.microsoft.com/office/drawing/2014/main" id="{AD788BDC-E299-3A49-8DEB-1EB3B560B245}"/>
                    </a:ext>
                  </a:extLst>
                </p:cNvPr>
                <p:cNvSpPr txBox="1">
                  <a:spLocks noRot="1" noChangeAspect="1" noMove="1" noResize="1" noEditPoints="1" noAdjustHandles="1" noChangeArrowheads="1" noChangeShapeType="1" noTextEdit="1"/>
                </p:cNvSpPr>
                <p:nvPr/>
              </p:nvSpPr>
              <p:spPr>
                <a:xfrm>
                  <a:off x="1818861" y="140714"/>
                  <a:ext cx="781050" cy="368300"/>
                </a:xfrm>
                <a:prstGeom prst="rect">
                  <a:avLst/>
                </a:prstGeom>
                <a:blipFill>
                  <a:blip r:embed="rId8"/>
                  <a:stretch>
                    <a:fillRect t="-6667" r="-4762" b="-26667"/>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arto="http://schemas.microsoft.com/office/word/2006/arto" xmlns:lc="http://schemas.openxmlformats.org/drawingml/2006/lockedCanvas"/>
                  </a:ext>
                </a:extLst>
              </p:spPr>
              <p:txBody>
                <a:bodyPr/>
                <a:lstStyle/>
                <a:p>
                  <a:r>
                    <a:rPr lang="en-CO">
                      <a:noFill/>
                    </a:rPr>
                    <a:t> </a:t>
                  </a:r>
                </a:p>
              </p:txBody>
            </p:sp>
          </mc:Fallback>
        </mc:AlternateContent>
      </p:grpSp>
      <p:sp>
        <p:nvSpPr>
          <p:cNvPr id="1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130</a:t>
            </a:r>
            <a:endParaRPr i="1" dirty="0">
              <a:latin typeface="Calibri"/>
              <a:ea typeface="Calibri"/>
              <a:cs typeface="Calibri"/>
              <a:sym typeface="Calibri"/>
            </a:endParaRPr>
          </a:p>
        </p:txBody>
      </p:sp>
      <p:pic>
        <p:nvPicPr>
          <p:cNvPr id="17"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B7173D2A-63BE-9E42-9C3D-920FB015F5F5}"/>
              </a:ext>
            </a:extLst>
          </p:cNvPr>
          <p:cNvSpPr txBox="1"/>
          <p:nvPr/>
        </p:nvSpPr>
        <p:spPr>
          <a:xfrm>
            <a:off x="682171" y="467893"/>
            <a:ext cx="9370805"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the measurements on the net of the box.</a:t>
            </a:r>
          </a:p>
        </p:txBody>
      </p:sp>
      <p:graphicFrame>
        <p:nvGraphicFramePr>
          <p:cNvPr id="4" name="Table 3">
            <a:extLst>
              <a:ext uri="{FF2B5EF4-FFF2-40B4-BE49-F238E27FC236}">
                <a16:creationId xmlns:a16="http://schemas.microsoft.com/office/drawing/2014/main" xmlns="" id="{24EF02FF-6AC7-3740-ADBE-87EB975F83CB}"/>
              </a:ext>
            </a:extLst>
          </p:cNvPr>
          <p:cNvGraphicFramePr>
            <a:graphicFrameLocks noGrp="1"/>
          </p:cNvGraphicFramePr>
          <p:nvPr>
            <p:extLst>
              <p:ext uri="{D42A27DB-BD31-4B8C-83A1-F6EECF244321}">
                <p14:modId xmlns:p14="http://schemas.microsoft.com/office/powerpoint/2010/main" val="2824732777"/>
              </p:ext>
            </p:extLst>
          </p:nvPr>
        </p:nvGraphicFramePr>
        <p:xfrm>
          <a:off x="4912043" y="1282335"/>
          <a:ext cx="2367915" cy="2142490"/>
        </p:xfrm>
        <a:graphic>
          <a:graphicData uri="http://schemas.openxmlformats.org/drawingml/2006/table">
            <a:tbl>
              <a:tblPr firstRow="1" firstCol="1" bandRow="1"/>
              <a:tblGrid>
                <a:gridCol w="591820">
                  <a:extLst>
                    <a:ext uri="{9D8B030D-6E8A-4147-A177-3AD203B41FA5}">
                      <a16:colId xmlns:a16="http://schemas.microsoft.com/office/drawing/2014/main" xmlns="" val="1701318265"/>
                    </a:ext>
                  </a:extLst>
                </a:gridCol>
                <a:gridCol w="591820">
                  <a:extLst>
                    <a:ext uri="{9D8B030D-6E8A-4147-A177-3AD203B41FA5}">
                      <a16:colId xmlns:a16="http://schemas.microsoft.com/office/drawing/2014/main" xmlns="" val="1420399"/>
                    </a:ext>
                  </a:extLst>
                </a:gridCol>
                <a:gridCol w="591820">
                  <a:extLst>
                    <a:ext uri="{9D8B030D-6E8A-4147-A177-3AD203B41FA5}">
                      <a16:colId xmlns:a16="http://schemas.microsoft.com/office/drawing/2014/main" xmlns="" val="1827490120"/>
                    </a:ext>
                  </a:extLst>
                </a:gridCol>
                <a:gridCol w="592455">
                  <a:extLst>
                    <a:ext uri="{9D8B030D-6E8A-4147-A177-3AD203B41FA5}">
                      <a16:colId xmlns:a16="http://schemas.microsoft.com/office/drawing/2014/main" xmlns="" val="629261780"/>
                    </a:ext>
                  </a:extLst>
                </a:gridCol>
              </a:tblGrid>
              <a:tr h="535940">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w="28575"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47392780"/>
                  </a:ext>
                </a:extLst>
              </a:tr>
              <a:tr h="1070610">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87089839"/>
                  </a:ext>
                </a:extLst>
              </a:tr>
              <a:tr h="535940">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a:noFill/>
                    </a:lnB>
                  </a:tcPr>
                </a:tc>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994836162"/>
                  </a:ext>
                </a:extLst>
              </a:tr>
            </a:tbl>
          </a:graphicData>
        </a:graphic>
      </p:graphicFrame>
      <p:sp>
        <p:nvSpPr>
          <p:cNvPr id="9" name="TextBox 8">
            <a:extLst>
              <a:ext uri="{FF2B5EF4-FFF2-40B4-BE49-F238E27FC236}">
                <a16:creationId xmlns:a16="http://schemas.microsoft.com/office/drawing/2014/main" xmlns="" id="{1BC30EF3-3673-0943-AD85-2BEC93BC57CC}"/>
              </a:ext>
            </a:extLst>
          </p:cNvPr>
          <p:cNvSpPr txBox="1"/>
          <p:nvPr/>
        </p:nvSpPr>
        <p:spPr>
          <a:xfrm>
            <a:off x="682171" y="3886954"/>
            <a:ext cx="1076960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net to find the surface area of the shipping box.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Include </a:t>
            </a:r>
            <a:r>
              <a:rPr lang="en-US" sz="2400" dirty="0">
                <a:latin typeface="Verdana" panose="020B0604030504040204" pitchFamily="34" charset="0"/>
                <a:ea typeface="Times New Roman" panose="02020603050405020304" pitchFamily="18" charset="0"/>
                <a:cs typeface="Times New Roman" panose="02020603050405020304" pitchFamily="18" charset="0"/>
              </a:rPr>
              <a:t>units.</a:t>
            </a:r>
          </a:p>
        </p:txBody>
      </p:sp>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130</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9863042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1490</TotalTime>
  <Words>952</Words>
  <Application>Microsoft Office PowerPoint</Application>
  <PresentationFormat>Custom</PresentationFormat>
  <Paragraphs>221</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Times New Roman</vt:lpstr>
      <vt:lpstr>Century Gothic</vt:lpstr>
      <vt:lpstr>Cambria Math</vt:lpstr>
      <vt:lpstr>Cambria</vt:lpstr>
      <vt:lpstr>Arial Black</vt:lpstr>
      <vt:lpstr>Verdana</vt:lpstr>
      <vt:lpstr>1_Office Theme</vt:lpstr>
      <vt:lpstr>6th Grade Math  Unit 8, Lesson 10  Surface Area of Rectangular Prisms  Volume 2, pg. 124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30</cp:revision>
  <dcterms:created xsi:type="dcterms:W3CDTF">2015-03-17T18:51:18Z</dcterms:created>
  <dcterms:modified xsi:type="dcterms:W3CDTF">2022-07-09T00:39:28Z</dcterms:modified>
</cp:coreProperties>
</file>