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26" r:id="rId9"/>
    <p:sldId id="327" r:id="rId10"/>
    <p:sldId id="328" r:id="rId11"/>
    <p:sldId id="311" r:id="rId12"/>
    <p:sldId id="312" r:id="rId13"/>
    <p:sldId id="313" r:id="rId14"/>
    <p:sldId id="332" r:id="rId15"/>
    <p:sldId id="333" r:id="rId16"/>
    <p:sldId id="329" r:id="rId17"/>
    <p:sldId id="330" r:id="rId18"/>
    <p:sldId id="323" r:id="rId19"/>
    <p:sldId id="324" r:id="rId20"/>
    <p:sldId id="325" r:id="rId21"/>
    <p:sldId id="302" r:id="rId22"/>
    <p:sldId id="303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A04020102020204" pitchFamily="34" charset="0"/>
      <p:regular r:id="rId27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3F25C-DD18-446F-863D-822780229B2A}" v="38" dt="2021-12-30T19:11:12.814"/>
  </p1510:revLst>
</p1510:revInfo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1" autoAdjust="0"/>
    <p:restoredTop sz="94694"/>
  </p:normalViewPr>
  <p:slideViewPr>
    <p:cSldViewPr snapToGrid="0">
      <p:cViewPr varScale="1">
        <p:scale>
          <a:sx n="73" d="100"/>
          <a:sy n="73" d="100"/>
        </p:scale>
        <p:origin x="78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0617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2284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979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70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0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Dividing Multi-Digit Numbers with Decimals to the Thousandths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73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461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86993" y="-12020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93" y="136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317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7178" y="612916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9229" y="1600200"/>
            <a:ext cx="1136468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MA.6.NSO.2.1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Multiply and divide positive multi-digit numbers with decimals to the thousandths, including using a standard algorithm with procedural fluency.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07" y="2852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162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75227" y="0"/>
            <a:ext cx="114719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9017901" y="652923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73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428807" y="1596390"/>
            <a:ext cx="978199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95885" y="-51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585" y="2218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53261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73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8585" y="1600200"/>
            <a:ext cx="97622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</a:rPr>
              <a:t>I can fluently divide multi-digit numbers with decimals to the thousandths. </a:t>
            </a:r>
            <a:endParaRPr lang="en-US" sz="3500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47607" y="65100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523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19328"/>
            <a:ext cx="108651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2.6.1 Warm-Up: Quotients as Decimals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865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18857" y="647376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22514" y="1306372"/>
            <a:ext cx="9865070" cy="39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quotients of several division expressions are shown.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6851839-F32B-4367-B6E0-35E6E9F74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924174"/>
                  </p:ext>
                </p:extLst>
              </p:nvPr>
            </p:nvGraphicFramePr>
            <p:xfrm>
              <a:off x="1491343" y="2223977"/>
              <a:ext cx="8744514" cy="174066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914838">
                      <a:extLst>
                        <a:ext uri="{9D8B030D-6E8A-4147-A177-3AD203B41FA5}">
                          <a16:colId xmlns:a16="http://schemas.microsoft.com/office/drawing/2014/main" val="2927383159"/>
                        </a:ext>
                      </a:extLst>
                    </a:gridCol>
                    <a:gridCol w="2914838">
                      <a:extLst>
                        <a:ext uri="{9D8B030D-6E8A-4147-A177-3AD203B41FA5}">
                          <a16:colId xmlns:a16="http://schemas.microsoft.com/office/drawing/2014/main" val="3497517757"/>
                        </a:ext>
                      </a:extLst>
                    </a:gridCol>
                    <a:gridCol w="2914838">
                      <a:extLst>
                        <a:ext uri="{9D8B030D-6E8A-4147-A177-3AD203B41FA5}">
                          <a16:colId xmlns:a16="http://schemas.microsoft.com/office/drawing/2014/main" val="1765417215"/>
                        </a:ext>
                      </a:extLst>
                    </a:gridCol>
                  </a:tblGrid>
                  <a:tr h="43516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1÷2=0.5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1÷3=0.333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572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1÷4=0.25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9020134"/>
                      </a:ext>
                    </a:extLst>
                  </a:tr>
                  <a:tr h="43516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1÷5=0.2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1÷6=0.666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1÷7=0.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142857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6907230"/>
                      </a:ext>
                    </a:extLst>
                  </a:tr>
                  <a:tr h="43516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1÷8=0.125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1÷9=0.111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1÷10=0.1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3899877"/>
                      </a:ext>
                    </a:extLst>
                  </a:tr>
                  <a:tr h="43516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1÷11=0.0909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09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1÷12=0.08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33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1÷13=0.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076923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94375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6851839-F32B-4367-B6E0-35E6E9F74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924174"/>
                  </p:ext>
                </p:extLst>
              </p:nvPr>
            </p:nvGraphicFramePr>
            <p:xfrm>
              <a:off x="1491343" y="2223977"/>
              <a:ext cx="8744514" cy="174066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914838">
                      <a:extLst>
                        <a:ext uri="{9D8B030D-6E8A-4147-A177-3AD203B41FA5}">
                          <a16:colId xmlns:a16="http://schemas.microsoft.com/office/drawing/2014/main" val="2927383159"/>
                        </a:ext>
                      </a:extLst>
                    </a:gridCol>
                    <a:gridCol w="2914838">
                      <a:extLst>
                        <a:ext uri="{9D8B030D-6E8A-4147-A177-3AD203B41FA5}">
                          <a16:colId xmlns:a16="http://schemas.microsoft.com/office/drawing/2014/main" val="3497517757"/>
                        </a:ext>
                      </a:extLst>
                    </a:gridCol>
                    <a:gridCol w="2914838">
                      <a:extLst>
                        <a:ext uri="{9D8B030D-6E8A-4147-A177-3AD203B41FA5}">
                          <a16:colId xmlns:a16="http://schemas.microsoft.com/office/drawing/2014/main" val="1765417215"/>
                        </a:ext>
                      </a:extLst>
                    </a:gridCol>
                  </a:tblGrid>
                  <a:tr h="435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9" t="-1389" r="-200209" b="-3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18" t="-1389" r="-100628" b="-3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389" r="-418" b="-30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9020134"/>
                      </a:ext>
                    </a:extLst>
                  </a:tr>
                  <a:tr h="435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9" t="-101389" r="-200209" b="-2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18" t="-101389" r="-100628" b="-2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1389" r="-418" b="-20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6907230"/>
                      </a:ext>
                    </a:extLst>
                  </a:tr>
                  <a:tr h="435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9" t="-204225" r="-200209" b="-1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18" t="-204225" r="-100628" b="-1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204225" r="-418" b="-1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899877"/>
                      </a:ext>
                    </a:extLst>
                  </a:tr>
                  <a:tr h="435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9" t="-300000" r="-200209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18" t="-300000" r="-100628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300000" r="-418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43753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5589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9943" y="520393"/>
            <a:ext cx="10124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something you notice about the values of the quotients and something you still wonder.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-13257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7B2EE0-1F64-45A3-9350-59E60F94E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045030"/>
              </p:ext>
            </p:extLst>
          </p:nvPr>
        </p:nvGraphicFramePr>
        <p:xfrm>
          <a:off x="2601310" y="1405427"/>
          <a:ext cx="6442040" cy="4517758"/>
        </p:xfrm>
        <a:graphic>
          <a:graphicData uri="http://schemas.openxmlformats.org/drawingml/2006/table">
            <a:tbl>
              <a:tblPr bandRow="1"/>
              <a:tblGrid>
                <a:gridCol w="3231528">
                  <a:extLst>
                    <a:ext uri="{9D8B030D-6E8A-4147-A177-3AD203B41FA5}">
                      <a16:colId xmlns:a16="http://schemas.microsoft.com/office/drawing/2014/main" val="3303038005"/>
                    </a:ext>
                  </a:extLst>
                </a:gridCol>
                <a:gridCol w="3210512">
                  <a:extLst>
                    <a:ext uri="{9D8B030D-6E8A-4147-A177-3AD203B41FA5}">
                      <a16:colId xmlns:a16="http://schemas.microsoft.com/office/drawing/2014/main" val="3082721971"/>
                    </a:ext>
                  </a:extLst>
                </a:gridCol>
              </a:tblGrid>
              <a:tr h="2987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notice…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wonder…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824955"/>
                  </a:ext>
                </a:extLst>
              </a:tr>
              <a:tr h="421632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206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68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7766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2434" y="279196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0040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0640" y="-85979"/>
            <a:ext cx="92285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2.6.2 Refresher: Long Division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9914074" y="6457921"/>
            <a:ext cx="156754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9615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51FF2-AD43-3B4B-B9DE-330920D33388}"/>
              </a:ext>
            </a:extLst>
          </p:cNvPr>
          <p:cNvSpPr txBox="1"/>
          <p:nvPr/>
        </p:nvSpPr>
        <p:spPr>
          <a:xfrm>
            <a:off x="392016" y="1386025"/>
            <a:ext cx="9995568" cy="1055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Jiang was dividing using long division and got stuck. 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problem to show Jiang the missing steps.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EC5E91AA-DDB4-004E-BEFE-A614CB2375B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43260-50F1-4771-84C4-C42AE4E3887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7829" y="2561208"/>
            <a:ext cx="2731897" cy="415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50" y="6531429"/>
            <a:ext cx="419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EAAB6-B932-C047-9261-EF734547974E}"/>
              </a:ext>
            </a:extLst>
          </p:cNvPr>
          <p:cNvSpPr txBox="1"/>
          <p:nvPr/>
        </p:nvSpPr>
        <p:spPr>
          <a:xfrm>
            <a:off x="391886" y="422857"/>
            <a:ext cx="98676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advice about long division do you have that could help Jiang in the future? 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21CC1F2-CA8B-744A-9D8A-E95BEA8B18D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271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63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5511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7314750" y="6520543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939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6213" y="60325"/>
            <a:ext cx="116118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2.6.3 Exploration: Dividing Decimals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7314749" y="6457675"/>
            <a:ext cx="4154643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3959" y="177822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44286" y="1386025"/>
                <a:ext cx="9843298" cy="1024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Giovanny and Alina used different strategies to find the quotient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48.78 ÷ 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86" y="1386025"/>
                <a:ext cx="9843298" cy="1024896"/>
              </a:xfrm>
              <a:prstGeom prst="rect">
                <a:avLst/>
              </a:prstGeom>
              <a:blipFill>
                <a:blip r:embed="rId5"/>
                <a:stretch>
                  <a:fillRect l="-619" t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8778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6B66B1-DD35-4199-B8F8-C22F053EFB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5806" y="2282551"/>
            <a:ext cx="6951684" cy="417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15962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49" y="6457675"/>
            <a:ext cx="4229569" cy="4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11629" y="374089"/>
            <a:ext cx="9823272" cy="138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answer the questions about Giovanny and Alina’s strategies.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are the two students’ calculations alike and different?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2A0092-5C5D-422F-89E2-A78C35637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467753"/>
              </p:ext>
            </p:extLst>
          </p:nvPr>
        </p:nvGraphicFramePr>
        <p:xfrm>
          <a:off x="2633472" y="2165802"/>
          <a:ext cx="6194298" cy="3884835"/>
        </p:xfrm>
        <a:graphic>
          <a:graphicData uri="http://schemas.openxmlformats.org/drawingml/2006/table">
            <a:tbl>
              <a:tblPr bandRow="1"/>
              <a:tblGrid>
                <a:gridCol w="3101760">
                  <a:extLst>
                    <a:ext uri="{9D8B030D-6E8A-4147-A177-3AD203B41FA5}">
                      <a16:colId xmlns:a16="http://schemas.microsoft.com/office/drawing/2014/main" val="3487721031"/>
                    </a:ext>
                  </a:extLst>
                </a:gridCol>
                <a:gridCol w="3092538">
                  <a:extLst>
                    <a:ext uri="{9D8B030D-6E8A-4147-A177-3AD203B41FA5}">
                      <a16:colId xmlns:a16="http://schemas.microsoft.com/office/drawing/2014/main" val="737324697"/>
                    </a:ext>
                  </a:extLst>
                </a:gridCol>
              </a:tblGrid>
              <a:tr h="321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Similarities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Differences</a:t>
                      </a:r>
                      <a:endPara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07971"/>
                  </a:ext>
                </a:extLst>
              </a:tr>
              <a:tr h="35629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11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1393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50" y="6476999"/>
            <a:ext cx="403905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468086" y="100037"/>
                <a:ext cx="9866815" cy="5335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Look at Giovanny’s calculations. Complete the statements with the appropriate place value to explain how you can tell that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means “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tenths” and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means “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hundredths” in his calculations.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914400" indent="-452438">
                  <a:lnSpc>
                    <a:spcPct val="107000"/>
                  </a:lnSpc>
                  <a:buFont typeface="Arial" panose="020B0604020202020204" pitchFamily="34" charset="0"/>
                  <a:buChar char="●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 the ____________ place and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 the ____________ place, 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this calculation means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tenths.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Noto Sans Symbols"/>
                </a:endParaRPr>
              </a:p>
              <a:p>
                <a:pPr marL="914400" indent="-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914400" indent="-452438">
                  <a:lnSpc>
                    <a:spcPct val="107000"/>
                  </a:lnSpc>
                  <a:buFont typeface="Arial" panose="020B0604020202020204" pitchFamily="34" charset="0"/>
                  <a:buChar char="●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 the ____________ place, so it has the same value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hundredths.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 the ____________ place. Together, they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hundredths.</a:t>
                </a:r>
              </a:p>
              <a:p>
                <a:pPr marL="342900" indent="-342900">
                  <a:lnSpc>
                    <a:spcPct val="107000"/>
                  </a:lnSpc>
                  <a:buFont typeface="Arial" panose="020B0604020202020204" pitchFamily="34" charset="0"/>
                  <a:buChar char="●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Look at Alina’s calculations. Complete the statement to describe the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3600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her calculation.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914400" indent="-452438">
                  <a:lnSpc>
                    <a:spcPct val="107000"/>
                  </a:lnSpc>
                  <a:buFont typeface="Arial" panose="020B0604020202020204" pitchFamily="34" charset="0"/>
                  <a:buChar char="●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Alina’s calculations,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3600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3600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____________, and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1800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1800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____________.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86" y="100037"/>
                <a:ext cx="9866815" cy="5335435"/>
              </a:xfrm>
              <a:prstGeom prst="rect">
                <a:avLst/>
              </a:prstGeom>
              <a:blipFill>
                <a:blip r:embed="rId4"/>
                <a:stretch>
                  <a:fillRect l="-680" t="-799" b="-1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3373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7314750" y="6483911"/>
            <a:ext cx="419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468086" y="374089"/>
                <a:ext cx="9866815" cy="5299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Why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48.78 ÷ 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the same as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4878 ÷ 900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mbria Math" panose="02040503050406030204" pitchFamily="18" charset="0"/>
                  </a:rPr>
                  <a:t>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xplain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51.84 ÷ 6.4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the same value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518.4 ÷ 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51.84 ÷ 6.4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long division. Show your work.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86" y="374089"/>
                <a:ext cx="9866815" cy="5299336"/>
              </a:xfrm>
              <a:prstGeom prst="rect">
                <a:avLst/>
              </a:prstGeom>
              <a:blipFill>
                <a:blip r:embed="rId4"/>
                <a:stretch>
                  <a:fillRect l="-680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998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9840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49" y="6476999"/>
            <a:ext cx="41642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76</a:t>
            </a: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8739" y="61407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1144" y="-166098"/>
            <a:ext cx="116186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2.6.4 Bring It Together: Dividing Decimals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7314749" y="6493785"/>
            <a:ext cx="409347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411336" y="1386026"/>
                <a:ext cx="9976248" cy="4881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summary of the exploration of dividing decimals using the words and phrases from the bank below.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way to find a quotient of two decimals is to first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1588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 each decimal by a _______________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 that both values are _______________. If we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multiply both values by the same power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this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131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 the value of the quotient.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6" y="1386026"/>
                <a:ext cx="9976248" cy="4881336"/>
              </a:xfrm>
              <a:prstGeom prst="rect">
                <a:avLst/>
              </a:prstGeom>
              <a:blipFill>
                <a:blip r:embed="rId4"/>
                <a:stretch>
                  <a:fillRect l="-672" t="-749" r="-550" b="-1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3021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336" y="12184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264">
                <a:extLst>
                  <a:ext uri="{FF2B5EF4-FFF2-40B4-BE49-F238E27FC236}">
                    <a16:creationId xmlns:a16="http://schemas.microsoft.com/office/drawing/2014/main" id="{8B979DF3-7419-4345-91BF-FB065F38554E}"/>
                  </a:ext>
                </a:extLst>
              </p:cNvPr>
              <p:cNvSpPr/>
              <p:nvPr/>
            </p:nvSpPr>
            <p:spPr>
              <a:xfrm>
                <a:off x="2081765" y="2122827"/>
                <a:ext cx="4762754" cy="1118616"/>
              </a:xfrm>
              <a:prstGeom prst="roundRect">
                <a:avLst>
                  <a:gd name="adj" fmla="val 1666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does not change          multiply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power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whole numbers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ounded Rectangle 264">
                <a:extLst>
                  <a:ext uri="{FF2B5EF4-FFF2-40B4-BE49-F238E27FC236}">
                    <a16:creationId xmlns:a16="http://schemas.microsoft.com/office/drawing/2014/main" id="{8B979DF3-7419-4345-91BF-FB065F385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765" y="2122827"/>
                <a:ext cx="4762754" cy="1118616"/>
              </a:xfrm>
              <a:prstGeom prst="roundRect">
                <a:avLst>
                  <a:gd name="adj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6200" y="618101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509657"/>
            <a:ext cx="4191450" cy="4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76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09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-191788"/>
            <a:ext cx="108651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2.6.5 Guided Practice: Dividing Decimals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09093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76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9615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392016" y="1386026"/>
                <a:ext cx="9995568" cy="3689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each quotient using a strategy similar to Giovanny’s or Alina’s. Show your work.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1313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mbria Math" panose="02040503050406030204" pitchFamily="18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24.2÷1.1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indent="341313"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mbria Math" panose="02040503050406030204" pitchFamily="18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17.028÷0.08</m:t>
                    </m:r>
                  </m:oMath>
                </a14:m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16" y="1386026"/>
                <a:ext cx="9995568" cy="3689921"/>
              </a:xfrm>
              <a:prstGeom prst="rect">
                <a:avLst/>
              </a:prstGeom>
              <a:blipFill>
                <a:blip r:embed="rId5"/>
                <a:stretch>
                  <a:fillRect l="-671" t="-1155" r="-1037" b="-1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6776" y="645239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348343" y="386282"/>
                <a:ext cx="9911225" cy="4976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Coby and Olivia each found the quotient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10.92÷2.6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values they each used are listed.</a:t>
                </a:r>
              </a:p>
              <a:p>
                <a:pPr marL="457200" indent="-457200">
                  <a:lnSpc>
                    <a:spcPct val="107000"/>
                  </a:lnSpc>
                  <a:buFont typeface="Arial" panose="020B0604020202020204" pitchFamily="34" charset="0"/>
                  <a:buChar char="•"/>
                  <a:tabLst>
                    <a:tab pos="23876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Arial" panose="020B0604020202020204" pitchFamily="34" charset="0"/>
                  <a:buChar char="•"/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Coby calculated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1092 ÷ 260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2438">
                  <a:lnSpc>
                    <a:spcPct val="107000"/>
                  </a:lnSpc>
                  <a:buFont typeface="Arial" panose="020B0604020202020204" pitchFamily="34" charset="0"/>
                  <a:buChar char="•"/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Noto Sans Symbols"/>
                  </a:rPr>
                  <a:t>Ol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ivia calculated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Noto Sans Symbols"/>
                        <a:cs typeface="Noto Sans Symbols"/>
                      </a:rPr>
                      <m:t>109.2 ÷ 26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lnSpc>
                    <a:spcPct val="107000"/>
                  </a:lnSpc>
                  <a:buFont typeface="Arial" panose="020B0604020202020204" pitchFamily="34" charset="0"/>
                  <a:buChar char="•"/>
                  <a:tabLst>
                    <a:tab pos="23876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Noto Sans Symbols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Will the values they used result in the same quotient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10.92 ÷ 2.6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Explain.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  <a:tabLst>
                    <a:tab pos="23876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  <a:tabLst>
                    <a:tab pos="23876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  <a:tabLst>
                    <a:tab pos="23876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  <a:tabLst>
                    <a:tab pos="23876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  <a:tabLst>
                    <a:tab pos="23876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  <a:tabLst>
                    <a:tab pos="2387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quotient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10.92 ÷ 2.6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2387600" algn="l"/>
                  </a:tabLst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43" y="386282"/>
                <a:ext cx="9911225" cy="4976747"/>
              </a:xfrm>
              <a:prstGeom prst="rect">
                <a:avLst/>
              </a:prstGeom>
              <a:blipFill>
                <a:blip r:embed="rId4"/>
                <a:stretch>
                  <a:fillRect l="-677" t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7314749" y="6487885"/>
            <a:ext cx="42186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77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46222" y="60325"/>
            <a:ext cx="9292928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2.6.6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922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7317744" y="6465395"/>
            <a:ext cx="416125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498922" y="1386025"/>
            <a:ext cx="9888662" cy="392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  <a:tabLst>
                <a:tab pos="23876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each quotient. Show your work.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134A47CD-5DBB-654A-843E-9182A1B8FB7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BB04157-8A83-40F2-BB67-6BA396282C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601081"/>
                  </p:ext>
                </p:extLst>
              </p:nvPr>
            </p:nvGraphicFramePr>
            <p:xfrm>
              <a:off x="2519850" y="2227795"/>
              <a:ext cx="7512282" cy="4016567"/>
            </p:xfrm>
            <a:graphic>
              <a:graphicData uri="http://schemas.openxmlformats.org/drawingml/2006/table">
                <a:tbl>
                  <a:tblPr bandRow="1"/>
                  <a:tblGrid>
                    <a:gridCol w="3756141">
                      <a:extLst>
                        <a:ext uri="{9D8B030D-6E8A-4147-A177-3AD203B41FA5}">
                          <a16:colId xmlns:a16="http://schemas.microsoft.com/office/drawing/2014/main" val="2996056572"/>
                        </a:ext>
                      </a:extLst>
                    </a:gridCol>
                    <a:gridCol w="3756141">
                      <a:extLst>
                        <a:ext uri="{9D8B030D-6E8A-4147-A177-3AD203B41FA5}">
                          <a16:colId xmlns:a16="http://schemas.microsoft.com/office/drawing/2014/main" val="3943810261"/>
                        </a:ext>
                      </a:extLst>
                    </a:gridCol>
                  </a:tblGrid>
                  <a:tr h="2138255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2387600" algn="l"/>
                            </a:tabLs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a.</a:t>
                          </a:r>
                          <a:r>
                            <a:rPr lang="en-US" sz="2000" i="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43.396 ÷ 57.1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36337" marR="3633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23876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b.</a:t>
                          </a:r>
                          <a:r>
                            <a:rPr lang="en-US" sz="200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29.88 ÷ 0.36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36337" marR="3633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0737591"/>
                      </a:ext>
                    </a:extLst>
                  </a:tr>
                  <a:tr h="1878312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23876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c.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262.5 ÷ 5.25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36337" marR="3633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23876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d.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15.129  ÷ 12.3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36337" marR="3633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69869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BB04157-8A83-40F2-BB67-6BA396282C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601081"/>
                  </p:ext>
                </p:extLst>
              </p:nvPr>
            </p:nvGraphicFramePr>
            <p:xfrm>
              <a:off x="2519850" y="2227795"/>
              <a:ext cx="7512282" cy="4016567"/>
            </p:xfrm>
            <a:graphic>
              <a:graphicData uri="http://schemas.openxmlformats.org/drawingml/2006/table">
                <a:tbl>
                  <a:tblPr bandRow="1"/>
                  <a:tblGrid>
                    <a:gridCol w="3756141">
                      <a:extLst>
                        <a:ext uri="{9D8B030D-6E8A-4147-A177-3AD203B41FA5}">
                          <a16:colId xmlns:a16="http://schemas.microsoft.com/office/drawing/2014/main" val="2996056572"/>
                        </a:ext>
                      </a:extLst>
                    </a:gridCol>
                    <a:gridCol w="3756141">
                      <a:extLst>
                        <a:ext uri="{9D8B030D-6E8A-4147-A177-3AD203B41FA5}">
                          <a16:colId xmlns:a16="http://schemas.microsoft.com/office/drawing/2014/main" val="3943810261"/>
                        </a:ext>
                      </a:extLst>
                    </a:gridCol>
                  </a:tblGrid>
                  <a:tr h="21382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337" marR="3633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3989" r="-99838" b="-88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337" marR="3633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162" t="-3989" b="-88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737591"/>
                      </a:ext>
                    </a:extLst>
                  </a:tr>
                  <a:tr h="18783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337" marR="3633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18123" r="-99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337" marR="3633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162" t="-1181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9869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797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341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77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7766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77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38950" y="-135162"/>
            <a:ext cx="9513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650" y="1038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81252" y="1429568"/>
            <a:ext cx="9886841" cy="507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  <a:tabLst>
                <a:tab pos="23876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the line to indicate where your current learning is in relation to the learning target.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  <a:tabLst>
                <a:tab pos="23876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341313">
              <a:lnSpc>
                <a:spcPct val="107000"/>
              </a:lnSpc>
              <a:tabLst>
                <a:tab pos="23876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fluently divide multi-digit numbers with decimals to the thousandths.</a:t>
            </a:r>
          </a:p>
          <a:p>
            <a:pPr marL="341313">
              <a:lnSpc>
                <a:spcPct val="107000"/>
              </a:lnSpc>
              <a:tabLst>
                <a:tab pos="2387600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1313">
              <a:lnSpc>
                <a:spcPct val="107000"/>
              </a:lnSpc>
              <a:tabLst>
                <a:tab pos="2387600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Briefly explain why you placed the X where you did.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800100" indent="-342900">
              <a:lnSpc>
                <a:spcPct val="107000"/>
              </a:lnSpc>
              <a:buFont typeface="+mj-lt"/>
              <a:buAutoNum type="arabicPeriod" startAt="2"/>
              <a:tabLst>
                <a:tab pos="2387600" algn="l"/>
              </a:tabLst>
            </a:pP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31DABE-C4D9-404D-8446-D58EE3C39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97" y="3235418"/>
            <a:ext cx="8848153" cy="137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875</Words>
  <Application>Microsoft Office PowerPoint</Application>
  <PresentationFormat>Widescreen</PresentationFormat>
  <Paragraphs>181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Verdana</vt:lpstr>
      <vt:lpstr>Century Gothic</vt:lpstr>
      <vt:lpstr>Calibri</vt:lpstr>
      <vt:lpstr>Arial Black</vt:lpstr>
      <vt:lpstr>Cambria Math</vt:lpstr>
      <vt:lpstr>Arial</vt:lpstr>
      <vt:lpstr>1_Office Theme</vt:lpstr>
      <vt:lpstr>6th Grade Math  Unit 2, Lesson 6  Dividing Multi-Digit Numbers with Decimals to the Thousandths  Volume 1, pg. 73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Refresher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20</cp:revision>
  <dcterms:created xsi:type="dcterms:W3CDTF">2015-03-17T18:51:18Z</dcterms:created>
  <dcterms:modified xsi:type="dcterms:W3CDTF">2022-06-04T23:15:37Z</dcterms:modified>
</cp:coreProperties>
</file>