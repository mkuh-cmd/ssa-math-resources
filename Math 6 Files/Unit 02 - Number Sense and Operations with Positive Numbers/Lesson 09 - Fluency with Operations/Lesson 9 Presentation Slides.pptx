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23" r:id="rId9"/>
    <p:sldId id="326" r:id="rId10"/>
    <p:sldId id="317" r:id="rId11"/>
    <p:sldId id="318" r:id="rId12"/>
    <p:sldId id="319" r:id="rId13"/>
    <p:sldId id="325" r:id="rId14"/>
    <p:sldId id="302" r:id="rId15"/>
    <p:sldId id="303" r:id="rId16"/>
    <p:sldId id="309" r:id="rId17"/>
    <p:sldId id="306" r:id="rId18"/>
    <p:sldId id="307" r:id="rId19"/>
  </p:sldIdLst>
  <p:sldSz cx="12192000" cy="6858000"/>
  <p:notesSz cx="6858000" cy="9144000"/>
  <p:embeddedFontLst>
    <p:embeddedFont>
      <p:font typeface="Arial Black" panose="020B0A04020102020204" pitchFamily="34" charset="0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67985-2C5E-492D-B1DA-3462AB3C5AEE}" v="7" dt="2021-12-30T19:39:06.548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99" autoAdjust="0"/>
    <p:restoredTop sz="94694"/>
  </p:normalViewPr>
  <p:slideViewPr>
    <p:cSldViewPr snapToGrid="0">
      <p:cViewPr varScale="1">
        <p:scale>
          <a:sx n="79" d="100"/>
          <a:sy n="79" d="100"/>
        </p:scale>
        <p:origin x="58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5335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1972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Fluency with Operations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86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375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86992" y="-9767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92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50" y="6466113"/>
            <a:ext cx="414138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613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85800" y="1315099"/>
            <a:ext cx="10134601" cy="488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MA.6.NSO.2.1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Multiply and divide positive multi-digit numbers with decimals to the thousandths, including using a standard algorithm with procedural fluency.</a:t>
            </a:r>
          </a:p>
          <a:p>
            <a:pPr indent="0">
              <a:lnSpc>
                <a:spcPct val="100000"/>
              </a:lnSpc>
              <a:buNone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Century Gothic"/>
            </a:endParaRPr>
          </a:p>
          <a:p>
            <a:pPr marL="0" indent="0">
              <a:lnSpc>
                <a:spcPct val="100000"/>
              </a:lnSpc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MA.6.NSO.2.2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Multiply and divide positive multi-digit numbers with decimals to the thousandths, including using a standard algorithm with procedural fluency.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36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80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74009" y="0"/>
            <a:ext cx="112554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7314750" y="6444343"/>
            <a:ext cx="4088054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59436" y="1596390"/>
            <a:ext cx="96513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06286" y="30660"/>
            <a:ext cx="92326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56" y="18923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7314750" y="6469567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7686" y="1600200"/>
            <a:ext cx="91331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I can fluently multiply and divide multi-digit numbers with decimals to the thousandths. </a:t>
            </a:r>
            <a:endParaRPr lang="en-US" sz="35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I can fluently multiply and divide positive fractions by positive fractions. </a:t>
            </a:r>
            <a:endParaRPr lang="en-US" sz="35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7314749" y="6509657"/>
            <a:ext cx="42077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33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6221" y="-80598"/>
            <a:ext cx="92929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2.9.1 Warm-Up: Math Anxiety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921" y="16482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7314750" y="6533575"/>
            <a:ext cx="42615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664029" y="1386025"/>
                <a:ext cx="9723555" cy="4673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Researchers believe that approximately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 of people have math anxiety.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But, having math anxiety does not mean that someone is bad at math. If time is spent worrying about math, it takes up a person’s </a:t>
                </a:r>
                <a:r>
                  <a:rPr lang="en-US" sz="2000" b="1" dirty="0">
                    <a:solidFill>
                      <a:srgbClr val="C0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WORKING MEMORY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 which can mean less of that working memory is available to focus on doing the math.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Many times, when someone is spending time worrying about math, it’s because they worry about getting the answer wrong. But mistakes are an opportunity to grow!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 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libri" panose="020F050202020403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9" y="1386025"/>
                <a:ext cx="9723555" cy="4673652"/>
              </a:xfrm>
              <a:prstGeom prst="rect">
                <a:avLst/>
              </a:prstGeom>
              <a:blipFill>
                <a:blip r:embed="rId5"/>
                <a:stretch>
                  <a:fillRect l="-690" t="-782" r="-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98C79830-C19C-475E-9A06-EF1B1AC423B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5485" y="1052984"/>
            <a:ext cx="1918208" cy="133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45005" y="644298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31091" y="682651"/>
            <a:ext cx="9736187" cy="4943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What is a mistake you made in math that worked as a learning opportunity?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It’s also helpful to remember that your brain grows and improves each time you learn something new. This is called having a </a:t>
            </a:r>
            <a:r>
              <a:rPr lang="en-US" sz="2000" b="1" dirty="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GROWTH MINDSET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and can help improve your confidence in math when you realize that everyone can be successful in math – including you!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Describe a time when you weren’t very confident on something, but after practicing you became successful.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800" dirty="0"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8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1400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92571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433457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4833" y="612903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7221" y="-37211"/>
            <a:ext cx="115999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2.9.2 Guided Practice: Fluency with Operations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7314750" y="6415924"/>
            <a:ext cx="387576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</a:p>
          <a:p>
            <a:pPr algn="r"/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7414" y="13970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29343" y="1386025"/>
            <a:ext cx="9658241" cy="1055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 with your partner to find each product or quotient. Share strategies and discuss any questions you still have about how to perform each operation.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10797" y="-8224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A58EBB2-9465-459B-BE91-3215FB18EE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8220266"/>
                  </p:ext>
                </p:extLst>
              </p:nvPr>
            </p:nvGraphicFramePr>
            <p:xfrm>
              <a:off x="2519848" y="2652765"/>
              <a:ext cx="8096978" cy="32690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48489">
                      <a:extLst>
                        <a:ext uri="{9D8B030D-6E8A-4147-A177-3AD203B41FA5}">
                          <a16:colId xmlns:a16="http://schemas.microsoft.com/office/drawing/2014/main" val="1480218870"/>
                        </a:ext>
                      </a:extLst>
                    </a:gridCol>
                    <a:gridCol w="4048489">
                      <a:extLst>
                        <a:ext uri="{9D8B030D-6E8A-4147-A177-3AD203B41FA5}">
                          <a16:colId xmlns:a16="http://schemas.microsoft.com/office/drawing/2014/main" val="622791183"/>
                        </a:ext>
                      </a:extLst>
                    </a:gridCol>
                  </a:tblGrid>
                  <a:tr h="2305437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a.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15.5 × 4.87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870" marR="428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870" marR="428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5867869"/>
                      </a:ext>
                    </a:extLst>
                  </a:tr>
                  <a:tr h="963627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c.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9</m:t>
                                      </m:r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870" marR="428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d.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1.162 ÷ 8.3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870" marR="428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96167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A58EBB2-9465-459B-BE91-3215FB18EE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8220266"/>
                  </p:ext>
                </p:extLst>
              </p:nvPr>
            </p:nvGraphicFramePr>
            <p:xfrm>
              <a:off x="2519848" y="2652765"/>
              <a:ext cx="8096978" cy="32690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48489">
                      <a:extLst>
                        <a:ext uri="{9D8B030D-6E8A-4147-A177-3AD203B41FA5}">
                          <a16:colId xmlns:a16="http://schemas.microsoft.com/office/drawing/2014/main" val="1480218870"/>
                        </a:ext>
                      </a:extLst>
                    </a:gridCol>
                    <a:gridCol w="4048489">
                      <a:extLst>
                        <a:ext uri="{9D8B030D-6E8A-4147-A177-3AD203B41FA5}">
                          <a16:colId xmlns:a16="http://schemas.microsoft.com/office/drawing/2014/main" val="622791183"/>
                        </a:ext>
                      </a:extLst>
                    </a:gridCol>
                  </a:tblGrid>
                  <a:tr h="23054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870" marR="428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694" r="-99850" b="-416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870" marR="428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151" t="-3694" b="-41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5867869"/>
                      </a:ext>
                    </a:extLst>
                  </a:tr>
                  <a:tr h="9636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870" marR="428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248734" r="-998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870" marR="428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151" t="-2487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96167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8899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3693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54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7314750" y="6487885"/>
            <a:ext cx="41207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45583"/>
            <a:ext cx="93973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2.9.3 Activity: Fraction War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7314750" y="6400800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5030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D319AF-12D0-4ABC-80EF-01113EC267B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4036" y="1492917"/>
            <a:ext cx="7837714" cy="26139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CB905F-31CC-4D54-89C9-C8F223C3695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286" y="4301831"/>
            <a:ext cx="7206343" cy="231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578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49" y="6449288"/>
            <a:ext cx="4051039" cy="40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544286" y="337513"/>
                <a:ext cx="9715282" cy="6320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How to Play: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To begin, each player will flip over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a card from each stack to create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two fractions, as shown.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341313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Each player performs the </a:t>
                </a:r>
              </a:p>
              <a:p>
                <a:pPr marL="571500" indent="342900">
                  <a:lnSpc>
                    <a:spcPct val="107000"/>
                  </a:lnSpc>
                  <a:tabLst>
                    <a:tab pos="974725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operation indicated for the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round. Correct answers</a:t>
                </a:r>
              </a:p>
              <a:p>
                <a:pPr marL="9144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earn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point and incorrect 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answers earn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points. 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Both players can earn 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points in any round.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341313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Each round, the operation 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switches between 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multiplication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) and 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division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).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341313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When a player gives an answer, both players will 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check the answer provided. A correct answer is the </a:t>
                </a:r>
              </a:p>
              <a:p>
                <a:pPr marL="571500" indent="3429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only way to move to the next round.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  <a:tabLst>
                    <a:tab pos="803275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Repeat this process until time is called.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86" y="337513"/>
                <a:ext cx="9715282" cy="6320256"/>
              </a:xfrm>
              <a:prstGeom prst="rect">
                <a:avLst/>
              </a:prstGeom>
              <a:blipFill>
                <a:blip r:embed="rId4"/>
                <a:stretch>
                  <a:fillRect l="-627" t="-579" b="-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BC800-E618-40BD-9D27-6D66B98E7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660" y="408712"/>
            <a:ext cx="4119936" cy="46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9972" y="616189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50" y="6434254"/>
            <a:ext cx="406522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ABA798-0873-49C2-8C15-E5BC1C5F4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07520"/>
              </p:ext>
            </p:extLst>
          </p:nvPr>
        </p:nvGraphicFramePr>
        <p:xfrm>
          <a:off x="2427890" y="294290"/>
          <a:ext cx="7189076" cy="603950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377423">
                  <a:extLst>
                    <a:ext uri="{9D8B030D-6E8A-4147-A177-3AD203B41FA5}">
                      <a16:colId xmlns:a16="http://schemas.microsoft.com/office/drawing/2014/main" val="480045444"/>
                    </a:ext>
                  </a:extLst>
                </a:gridCol>
                <a:gridCol w="1495812">
                  <a:extLst>
                    <a:ext uri="{9D8B030D-6E8A-4147-A177-3AD203B41FA5}">
                      <a16:colId xmlns:a16="http://schemas.microsoft.com/office/drawing/2014/main" val="639316886"/>
                    </a:ext>
                  </a:extLst>
                </a:gridCol>
                <a:gridCol w="4315841">
                  <a:extLst>
                    <a:ext uri="{9D8B030D-6E8A-4147-A177-3AD203B41FA5}">
                      <a16:colId xmlns:a16="http://schemas.microsoft.com/office/drawing/2014/main" val="1530155842"/>
                    </a:ext>
                  </a:extLst>
                </a:gridCol>
              </a:tblGrid>
              <a:tr h="50730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Scoreboard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816" marR="2781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Workspace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816" marR="2781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701718"/>
                  </a:ext>
                </a:extLst>
              </a:tr>
              <a:tr h="10554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Player A: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_______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816" marR="2781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Player B: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_______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816" marR="2781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 </a:t>
                      </a:r>
                      <a:endParaRPr lang="en-US" sz="600" i="1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816" marR="278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228242"/>
                  </a:ext>
                </a:extLst>
              </a:tr>
              <a:tr h="4476744">
                <a:tc>
                  <a:txBody>
                    <a:bodyPr/>
                    <a:lstStyle/>
                    <a:p>
                      <a:pPr marL="43815" marR="0" indent="571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 </a:t>
                      </a:r>
                      <a:endParaRPr lang="en-US" sz="600" i="1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816" marR="278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 </a:t>
                      </a:r>
                      <a:endParaRPr lang="en-US" sz="600" i="1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816" marR="278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901875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11408067-4E04-4034-8E91-8AC75023A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9873" y="2050523"/>
            <a:ext cx="133841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98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7314749" y="6411686"/>
            <a:ext cx="41424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5461" y="616381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98622" y="8064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2.9.4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150" y="80643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7321310" y="6444343"/>
            <a:ext cx="4021604" cy="41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762000" y="1386026"/>
            <a:ext cx="9625584" cy="108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Find each product or quotient. Show your work.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DB397B4-8D51-4044-90E2-297F4AF870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0279033"/>
                  </p:ext>
                </p:extLst>
              </p:nvPr>
            </p:nvGraphicFramePr>
            <p:xfrm>
              <a:off x="2487648" y="2100106"/>
              <a:ext cx="7643904" cy="420021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32386">
                      <a:extLst>
                        <a:ext uri="{9D8B030D-6E8A-4147-A177-3AD203B41FA5}">
                          <a16:colId xmlns:a16="http://schemas.microsoft.com/office/drawing/2014/main" val="2552447141"/>
                        </a:ext>
                      </a:extLst>
                    </a:gridCol>
                    <a:gridCol w="2757227">
                      <a:extLst>
                        <a:ext uri="{9D8B030D-6E8A-4147-A177-3AD203B41FA5}">
                          <a16:colId xmlns:a16="http://schemas.microsoft.com/office/drawing/2014/main" val="3161002738"/>
                        </a:ext>
                      </a:extLst>
                    </a:gridCol>
                    <a:gridCol w="2254291">
                      <a:extLst>
                        <a:ext uri="{9D8B030D-6E8A-4147-A177-3AD203B41FA5}">
                          <a16:colId xmlns:a16="http://schemas.microsoft.com/office/drawing/2014/main" val="2537807809"/>
                        </a:ext>
                      </a:extLst>
                    </a:gridCol>
                  </a:tblGrid>
                  <a:tr h="2333451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a.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26.22 ÷ 9.6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15.928 × 1.6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12763" marR="0" lvl="0" indent="-51276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81.2 ÷ 2.9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31792137"/>
                      </a:ext>
                    </a:extLst>
                  </a:tr>
                  <a:tr h="1866760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d.</a:t>
                          </a:r>
                          <a:r>
                            <a:rPr lang="en-US" sz="2000" i="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×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	    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12763" marR="0" lvl="0" indent="-51276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baseline="0" dirty="0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Times New Roman" panose="02020603050405020304" pitchFamily="18" charset="0"/>
                                </a:rPr>
                                <m:t>.     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3.834 ÷ 1.42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	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12763" marR="0" lvl="0" indent="-51276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b="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f.</a:t>
                          </a:r>
                          <a:r>
                            <a:rPr lang="en-US" sz="2000" b="0" i="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7.23 × 9.4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830488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DB397B4-8D51-4044-90E2-297F4AF870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0279033"/>
                  </p:ext>
                </p:extLst>
              </p:nvPr>
            </p:nvGraphicFramePr>
            <p:xfrm>
              <a:off x="2487648" y="2100106"/>
              <a:ext cx="7643904" cy="420021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32386">
                      <a:extLst>
                        <a:ext uri="{9D8B030D-6E8A-4147-A177-3AD203B41FA5}">
                          <a16:colId xmlns:a16="http://schemas.microsoft.com/office/drawing/2014/main" val="2552447141"/>
                        </a:ext>
                      </a:extLst>
                    </a:gridCol>
                    <a:gridCol w="2757227">
                      <a:extLst>
                        <a:ext uri="{9D8B030D-6E8A-4147-A177-3AD203B41FA5}">
                          <a16:colId xmlns:a16="http://schemas.microsoft.com/office/drawing/2014/main" val="3161002738"/>
                        </a:ext>
                      </a:extLst>
                    </a:gridCol>
                    <a:gridCol w="2254291">
                      <a:extLst>
                        <a:ext uri="{9D8B030D-6E8A-4147-A177-3AD203B41FA5}">
                          <a16:colId xmlns:a16="http://schemas.microsoft.com/office/drawing/2014/main" val="2537807809"/>
                        </a:ext>
                      </a:extLst>
                    </a:gridCol>
                  </a:tblGrid>
                  <a:tr h="23334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394" r="-190278" b="-801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95575" t="-3394" r="-81858" b="-801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38919" t="-3394" b="-801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1792137"/>
                      </a:ext>
                    </a:extLst>
                  </a:tr>
                  <a:tr h="1866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28990" r="-190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95575" t="-128990" r="-818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261" marR="36261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38919" t="-128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0488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49" y="6455229"/>
            <a:ext cx="4142483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15956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6663FFC-F22C-4221-9D81-B7D7BC3A25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6231171"/>
                  </p:ext>
                </p:extLst>
              </p:nvPr>
            </p:nvGraphicFramePr>
            <p:xfrm>
              <a:off x="1077687" y="715723"/>
              <a:ext cx="9720944" cy="503193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47671">
                      <a:extLst>
                        <a:ext uri="{9D8B030D-6E8A-4147-A177-3AD203B41FA5}">
                          <a16:colId xmlns:a16="http://schemas.microsoft.com/office/drawing/2014/main" val="1491783862"/>
                        </a:ext>
                      </a:extLst>
                    </a:gridCol>
                    <a:gridCol w="3506434">
                      <a:extLst>
                        <a:ext uri="{9D8B030D-6E8A-4147-A177-3AD203B41FA5}">
                          <a16:colId xmlns:a16="http://schemas.microsoft.com/office/drawing/2014/main" val="3175219115"/>
                        </a:ext>
                      </a:extLst>
                    </a:gridCol>
                    <a:gridCol w="2866839">
                      <a:extLst>
                        <a:ext uri="{9D8B030D-6E8A-4147-A177-3AD203B41FA5}">
                          <a16:colId xmlns:a16="http://schemas.microsoft.com/office/drawing/2014/main" val="554018163"/>
                        </a:ext>
                      </a:extLst>
                    </a:gridCol>
                  </a:tblGrid>
                  <a:tr h="5031934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g.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51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∙ 1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5270" marR="652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h.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(21.8)(15.12)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	       </a:t>
                          </a:r>
                        </a:p>
                      </a:txBody>
                      <a:tcPr marL="65270" marR="652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5270" marR="652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2521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6663FFC-F22C-4221-9D81-B7D7BC3A25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6231171"/>
                  </p:ext>
                </p:extLst>
              </p:nvPr>
            </p:nvGraphicFramePr>
            <p:xfrm>
              <a:off x="1077687" y="715723"/>
              <a:ext cx="9720944" cy="503193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47671">
                      <a:extLst>
                        <a:ext uri="{9D8B030D-6E8A-4147-A177-3AD203B41FA5}">
                          <a16:colId xmlns:a16="http://schemas.microsoft.com/office/drawing/2014/main" val="1491783862"/>
                        </a:ext>
                      </a:extLst>
                    </a:gridCol>
                    <a:gridCol w="3506434">
                      <a:extLst>
                        <a:ext uri="{9D8B030D-6E8A-4147-A177-3AD203B41FA5}">
                          <a16:colId xmlns:a16="http://schemas.microsoft.com/office/drawing/2014/main" val="3175219115"/>
                        </a:ext>
                      </a:extLst>
                    </a:gridCol>
                    <a:gridCol w="2866839">
                      <a:extLst>
                        <a:ext uri="{9D8B030D-6E8A-4147-A177-3AD203B41FA5}">
                          <a16:colId xmlns:a16="http://schemas.microsoft.com/office/drawing/2014/main" val="554018163"/>
                        </a:ext>
                      </a:extLst>
                    </a:gridCol>
                  </a:tblGrid>
                  <a:tr h="50319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70" marR="652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695" r="-190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70" marR="652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5652" t="-1695" r="-81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70" marR="652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238854" t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25215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5023C75-4623-49A0-8A23-3E8E8D713A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6098086"/>
                  </p:ext>
                </p:extLst>
              </p:nvPr>
            </p:nvGraphicFramePr>
            <p:xfrm>
              <a:off x="343382" y="3597790"/>
              <a:ext cx="9225752" cy="36004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10768">
                      <a:extLst>
                        <a:ext uri="{9D8B030D-6E8A-4147-A177-3AD203B41FA5}">
                          <a16:colId xmlns:a16="http://schemas.microsoft.com/office/drawing/2014/main" val="2421474158"/>
                        </a:ext>
                      </a:extLst>
                    </a:gridCol>
                    <a:gridCol w="4614984">
                      <a:extLst>
                        <a:ext uri="{9D8B030D-6E8A-4147-A177-3AD203B41FA5}">
                          <a16:colId xmlns:a16="http://schemas.microsoft.com/office/drawing/2014/main" val="4166099488"/>
                        </a:ext>
                      </a:extLst>
                    </a:gridCol>
                  </a:tblGrid>
                  <a:tr h="3600450">
                    <a:tc>
                      <a:txBody>
                        <a:bodyPr/>
                        <a:lstStyle/>
                        <a:p>
                          <a:pPr marL="0" marR="0" lvl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j.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11.516 × 2.3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k.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5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73571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5023C75-4623-49A0-8A23-3E8E8D713A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6098086"/>
                  </p:ext>
                </p:extLst>
              </p:nvPr>
            </p:nvGraphicFramePr>
            <p:xfrm>
              <a:off x="343382" y="3597790"/>
              <a:ext cx="9225752" cy="36004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10768">
                      <a:extLst>
                        <a:ext uri="{9D8B030D-6E8A-4147-A177-3AD203B41FA5}">
                          <a16:colId xmlns:a16="http://schemas.microsoft.com/office/drawing/2014/main" val="2421474158"/>
                        </a:ext>
                      </a:extLst>
                    </a:gridCol>
                    <a:gridCol w="4614984">
                      <a:extLst>
                        <a:ext uri="{9D8B030D-6E8A-4147-A177-3AD203B41FA5}">
                          <a16:colId xmlns:a16="http://schemas.microsoft.com/office/drawing/2014/main" val="4166099488"/>
                        </a:ext>
                      </a:extLst>
                    </a:gridCol>
                  </a:tblGrid>
                  <a:tr h="3600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236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 t="-23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73571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7314749" y="6422571"/>
            <a:ext cx="40880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8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16749" y="644186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54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3838" y="-13214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2.9.5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538" y="15705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07083" y="904352"/>
            <a:ext cx="9511013" cy="561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 in the arrow up to the statement that best describes your current level of confidence with multiplying and dividing fractions and decimals.</a:t>
            </a:r>
          </a:p>
          <a:p>
            <a:pPr marL="974725">
              <a:lnSpc>
                <a:spcPct val="107000"/>
              </a:lnSpc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974725">
              <a:lnSpc>
                <a:spcPct val="107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I’m very confident! I can perform each operation and I could explain this to someone else.</a:t>
            </a:r>
          </a:p>
          <a:p>
            <a:pPr marL="974725">
              <a:lnSpc>
                <a:spcPct val="107000"/>
              </a:lnSpc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974725">
              <a:lnSpc>
                <a:spcPct val="107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 can get to the right answer when performing each operation, but I don’t understand well enough to explain it yet.</a:t>
            </a:r>
          </a:p>
          <a:p>
            <a:pPr marL="974725">
              <a:lnSpc>
                <a:spcPct val="107000"/>
              </a:lnSpc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974725">
              <a:lnSpc>
                <a:spcPct val="107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 understand some of this, but I don’t understand all of it yet. Check off what you do understand.</a:t>
            </a: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316038" indent="-341313">
              <a:lnSpc>
                <a:spcPct val="107000"/>
              </a:lnSpc>
              <a:buFont typeface="Wingdings" panose="05000000000000000000" pitchFamily="2" charset="2"/>
              <a:buChar char="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Multiplying decimals</a:t>
            </a: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316038" indent="-342900">
              <a:lnSpc>
                <a:spcPct val="107000"/>
              </a:lnSpc>
              <a:buFont typeface="Wingdings" panose="05000000000000000000" pitchFamily="2" charset="2"/>
              <a:buChar char="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Dividing decimals</a:t>
            </a: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316038" indent="-342900">
              <a:lnSpc>
                <a:spcPct val="107000"/>
              </a:lnSpc>
              <a:buFont typeface="Wingdings" panose="05000000000000000000" pitchFamily="2" charset="2"/>
              <a:buChar char="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Multiplying fractions</a:t>
            </a: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316038" indent="-341313">
              <a:lnSpc>
                <a:spcPct val="107000"/>
              </a:lnSpc>
              <a:buFont typeface="Wingdings" panose="05000000000000000000" pitchFamily="2" charset="2"/>
              <a:buChar char="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Dividing fractions</a:t>
            </a:r>
          </a:p>
          <a:p>
            <a:pPr marL="1316038" indent="-341313">
              <a:lnSpc>
                <a:spcPct val="107000"/>
              </a:lnSpc>
              <a:buFont typeface="Wingdings" panose="05000000000000000000" pitchFamily="2" charset="2"/>
              <a:buChar char=""/>
            </a:pP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974725">
              <a:lnSpc>
                <a:spcPct val="107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 have been trying hard and listening, but I am </a:t>
            </a: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974725">
              <a:lnSpc>
                <a:spcPct val="107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finding this challenging. I will get help by _____</a:t>
            </a: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  <a:endParaRPr lang="en-US" sz="12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974725">
              <a:lnSpc>
                <a:spcPct val="107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_______________________________________.</a:t>
            </a:r>
          </a:p>
          <a:p>
            <a:pPr>
              <a:lnSpc>
                <a:spcPct val="107000"/>
              </a:lnSpc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974725">
              <a:lnSpc>
                <a:spcPct val="107000"/>
              </a:lnSpc>
            </a:pPr>
            <a:r>
              <a:rPr lang="en-US" sz="1200" dirty="0"/>
              <a:t>I do not understand any of this yet. I will get </a:t>
            </a:r>
          </a:p>
          <a:p>
            <a:pPr>
              <a:lnSpc>
                <a:spcPct val="107000"/>
              </a:lnSpc>
            </a:pPr>
            <a:r>
              <a:rPr lang="en-US" sz="1200" dirty="0"/>
              <a:t> </a:t>
            </a:r>
          </a:p>
          <a:p>
            <a:pPr indent="974725">
              <a:lnSpc>
                <a:spcPct val="107000"/>
              </a:lnSpc>
            </a:pPr>
            <a:r>
              <a:rPr lang="en-US" sz="1200" dirty="0"/>
              <a:t>help by _________________________________</a:t>
            </a:r>
          </a:p>
          <a:p>
            <a:pPr>
              <a:lnSpc>
                <a:spcPct val="107000"/>
              </a:lnSpc>
            </a:pPr>
            <a:r>
              <a:rPr lang="en-US" sz="1200" dirty="0"/>
              <a:t> </a:t>
            </a:r>
          </a:p>
          <a:p>
            <a:pPr indent="974725">
              <a:lnSpc>
                <a:spcPct val="107000"/>
              </a:lnSpc>
            </a:pPr>
            <a:r>
              <a:rPr lang="en-US" sz="1200" dirty="0"/>
              <a:t>_______________________________________.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1940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Up Arrow 31">
            <a:extLst>
              <a:ext uri="{FF2B5EF4-FFF2-40B4-BE49-F238E27FC236}">
                <a16:creationId xmlns:a16="http://schemas.microsoft.com/office/drawing/2014/main" id="{21C3E181-93EB-4E9D-B45A-856143A1B985}"/>
              </a:ext>
            </a:extLst>
          </p:cNvPr>
          <p:cNvSpPr/>
          <p:nvPr/>
        </p:nvSpPr>
        <p:spPr>
          <a:xfrm>
            <a:off x="1087261" y="1968095"/>
            <a:ext cx="1116047" cy="4673865"/>
          </a:xfrm>
          <a:prstGeom prst="up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838</Words>
  <Application>Microsoft Office PowerPoint</Application>
  <PresentationFormat>Widescreen</PresentationFormat>
  <Paragraphs>145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Verdana</vt:lpstr>
      <vt:lpstr>Century Gothic</vt:lpstr>
      <vt:lpstr>Arial</vt:lpstr>
      <vt:lpstr>Wingdings</vt:lpstr>
      <vt:lpstr>Cambria Math</vt:lpstr>
      <vt:lpstr>Calibri</vt:lpstr>
      <vt:lpstr>Arial Black</vt:lpstr>
      <vt:lpstr>Symbol</vt:lpstr>
      <vt:lpstr>1_Office Theme</vt:lpstr>
      <vt:lpstr>6th Grade Math  Unit 2, Lesson 9  Fluency with Operations  Volume 1, pg. 86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Practice</vt:lpstr>
      <vt:lpstr>PowerPoint Presentation</vt:lpstr>
      <vt:lpstr>Activity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22</cp:revision>
  <dcterms:created xsi:type="dcterms:W3CDTF">2015-03-17T18:51:18Z</dcterms:created>
  <dcterms:modified xsi:type="dcterms:W3CDTF">2022-07-09T05:34:55Z</dcterms:modified>
</cp:coreProperties>
</file>