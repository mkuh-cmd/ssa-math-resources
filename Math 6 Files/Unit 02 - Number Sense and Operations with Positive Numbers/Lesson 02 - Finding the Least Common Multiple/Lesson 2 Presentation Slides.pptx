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32" r:id="rId9"/>
    <p:sldId id="289" r:id="rId10"/>
    <p:sldId id="290" r:id="rId11"/>
    <p:sldId id="308" r:id="rId12"/>
    <p:sldId id="333" r:id="rId13"/>
    <p:sldId id="334" r:id="rId14"/>
    <p:sldId id="335" r:id="rId15"/>
    <p:sldId id="320" r:id="rId16"/>
    <p:sldId id="321" r:id="rId17"/>
    <p:sldId id="322" r:id="rId18"/>
    <p:sldId id="314" r:id="rId19"/>
    <p:sldId id="315" r:id="rId20"/>
    <p:sldId id="316" r:id="rId21"/>
    <p:sldId id="302" r:id="rId22"/>
    <p:sldId id="303" r:id="rId23"/>
    <p:sldId id="309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9AC52-E008-4AF5-9776-7C092F234D08}" v="192" dt="2021-12-23T20:48:10.297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114" autoAdjust="0"/>
    <p:restoredTop sz="94694"/>
  </p:normalViewPr>
  <p:slideViewPr>
    <p:cSldViewPr snapToGrid="0">
      <p:cViewPr varScale="1">
        <p:scale>
          <a:sx n="77" d="100"/>
          <a:sy n="77" d="100"/>
        </p:scale>
        <p:origin x="106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0704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2336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5931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4124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5485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Least Common Multiple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74250" y="-8225"/>
            <a:ext cx="10353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32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8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63752" y="1087589"/>
            <a:ext cx="11054398" cy="5465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MA.6.NSO.3.1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find the greatest common factor and least common multiple of two whole numbers.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54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718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28679" y="0"/>
            <a:ext cx="107229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89718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81470" y="1274163"/>
            <a:ext cx="11229059" cy="49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4432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9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70768" y="0"/>
            <a:ext cx="94504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17" y="2068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380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272414" y="1284937"/>
            <a:ext cx="11352508" cy="47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 can find the least common multiple (LCM) in mathematical and real-world contexts.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3228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74285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87882" y="35191"/>
            <a:ext cx="106328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Hourglass Timing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651" y="2240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91110" y="1273995"/>
            <a:ext cx="8507002" cy="2379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video shows three different hourglass sand timers. The timers are all started at the same time. As one of the times runs out, it is flipped over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again to restart.</a:t>
            </a:r>
          </a:p>
          <a:p>
            <a:pPr>
              <a:lnSpc>
                <a:spcPct val="107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screenshots taken from the video are shown.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Qr code&#10;&#10;Description automatically generated">
            <a:extLst>
              <a:ext uri="{FF2B5EF4-FFF2-40B4-BE49-F238E27FC236}">
                <a16:creationId xmlns:a16="http://schemas.microsoft.com/office/drawing/2014/main" id="{3E0345E6-E7F4-4EA4-9E55-7166D7CAFC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9043" y="1273995"/>
            <a:ext cx="1080000" cy="108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/>
          <p:cNvGrpSpPr/>
          <p:nvPr/>
        </p:nvGrpSpPr>
        <p:grpSpPr>
          <a:xfrm>
            <a:off x="2206104" y="3793995"/>
            <a:ext cx="6613282" cy="2186535"/>
            <a:chOff x="759694" y="4185150"/>
            <a:chExt cx="6613282" cy="218653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79E4C4E-C0EA-46D1-B360-67360CD7D1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9694" y="4195540"/>
              <a:ext cx="1932940" cy="2171700"/>
              <a:chOff x="0" y="0"/>
              <a:chExt cx="3636010" cy="408559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F84FEDC-D804-40F9-96F2-F7BD1AA01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636010" cy="4085590"/>
              </a:xfrm>
              <a:prstGeom prst="rect">
                <a:avLst/>
              </a:prstGeom>
            </p:spPr>
          </p:pic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0C8626F4-B6F2-4AD1-898E-BEA09B611C72}"/>
                  </a:ext>
                </a:extLst>
              </p:cNvPr>
              <p:cNvSpPr txBox="1"/>
              <p:nvPr/>
            </p:nvSpPr>
            <p:spPr>
              <a:xfrm>
                <a:off x="196769" y="150470"/>
                <a:ext cx="3183038" cy="1064871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>
                    <a:solidFill>
                      <a:srgbClr val="FFFFFF"/>
                    </a:solidFill>
                    <a:latin typeface="Verdana" panose="020B0604030504040204" pitchFamily="34" charset="0"/>
                    <a:ea typeface="Calibri" panose="020F0502020204030204" pitchFamily="34" charset="0"/>
                  </a:rPr>
                  <a:t>00:00:19.45</a:t>
                </a:r>
                <a:endParaRPr lang="en-US" sz="110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0CF9491-A315-43E4-A83E-7D1C3766B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61130" y="4195540"/>
              <a:ext cx="1944370" cy="2176145"/>
              <a:chOff x="0" y="0"/>
              <a:chExt cx="3651885" cy="4086860"/>
            </a:xfrm>
          </p:grpSpPr>
          <p:pic>
            <p:nvPicPr>
              <p:cNvPr id="18" name="Picture 17" descr="A picture containing indoor, yellow&#10;&#10;Description automatically generated">
                <a:extLst>
                  <a:ext uri="{FF2B5EF4-FFF2-40B4-BE49-F238E27FC236}">
                    <a16:creationId xmlns:a16="http://schemas.microsoft.com/office/drawing/2014/main" id="{A61BDDBF-219A-44C2-9CEF-E4ED984F5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651885" cy="4086860"/>
              </a:xfrm>
              <a:prstGeom prst="rect">
                <a:avLst/>
              </a:prstGeom>
            </p:spPr>
          </p:pic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1A5EEC77-0BB6-4C8D-84D9-5B8D00A784B3}"/>
                  </a:ext>
                </a:extLst>
              </p:cNvPr>
              <p:cNvSpPr txBox="1"/>
              <p:nvPr/>
            </p:nvSpPr>
            <p:spPr>
              <a:xfrm>
                <a:off x="254643" y="173620"/>
                <a:ext cx="3183038" cy="1064871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dirty="0">
                    <a:solidFill>
                      <a:srgbClr val="FFFFFF"/>
                    </a:solidFill>
                    <a:latin typeface="Verdana" panose="020B0604030504040204" pitchFamily="34" charset="0"/>
                    <a:ea typeface="Calibri" panose="020F0502020204030204" pitchFamily="34" charset="0"/>
                  </a:rPr>
                  <a:t>00:01:56.80</a:t>
                </a:r>
                <a:endParaRPr lang="en-US" sz="11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5D3DC5E-3FAC-4A62-B2EE-C7DD57E63B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73996" y="4185150"/>
              <a:ext cx="1998980" cy="2168525"/>
              <a:chOff x="0" y="2"/>
              <a:chExt cx="3645405" cy="3956007"/>
            </a:xfrm>
          </p:grpSpPr>
          <p:pic>
            <p:nvPicPr>
              <p:cNvPr id="21" name="Picture 20" descr="A picture containing indoor&#10;&#10;Description automatically generated">
                <a:extLst>
                  <a:ext uri="{FF2B5EF4-FFF2-40B4-BE49-F238E27FC236}">
                    <a16:creationId xmlns:a16="http://schemas.microsoft.com/office/drawing/2014/main" id="{5DD068C1-E9EE-458D-B31C-52814979A1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563" r="4" b="3202"/>
              <a:stretch/>
            </p:blipFill>
            <p:spPr bwMode="auto">
              <a:xfrm>
                <a:off x="0" y="2"/>
                <a:ext cx="3645405" cy="3956007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22" name="Text Box 27">
                <a:extLst>
                  <a:ext uri="{FF2B5EF4-FFF2-40B4-BE49-F238E27FC236}">
                    <a16:creationId xmlns:a16="http://schemas.microsoft.com/office/drawing/2014/main" id="{9E2CDB8D-019A-491E-92B9-7243C19DB434}"/>
                  </a:ext>
                </a:extLst>
              </p:cNvPr>
              <p:cNvSpPr txBox="1"/>
              <p:nvPr/>
            </p:nvSpPr>
            <p:spPr>
              <a:xfrm>
                <a:off x="196770" y="150471"/>
                <a:ext cx="3183038" cy="1064871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>
                    <a:solidFill>
                      <a:srgbClr val="FFFFFF"/>
                    </a:solidFill>
                    <a:latin typeface="Verdana" panose="020B0604030504040204" pitchFamily="34" charset="0"/>
                    <a:ea typeface="Calibri" panose="020F0502020204030204" pitchFamily="34" charset="0"/>
                  </a:rPr>
                  <a:t>00:03:02.78</a:t>
                </a:r>
                <a:endParaRPr lang="en-US" sz="110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p:grpSp>
      </p:grpSp>
      <p:sp>
        <p:nvSpPr>
          <p:cNvPr id="23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735976" y="64781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670939" y="6394249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4"/>
            <a:ext cx="8327136" cy="3253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one question you have as you watch the video or review the images.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questions with your partner.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69148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9108" y="374358"/>
            <a:ext cx="11328091" cy="1724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ecord your partner’s question in the table and have them initial that you recorded it correctly. If you had the same question, work with your partner to generate a different question to ask about the video.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3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98FCB2-C28A-4914-BA14-ABA55C78B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794053"/>
              </p:ext>
            </p:extLst>
          </p:nvPr>
        </p:nvGraphicFramePr>
        <p:xfrm>
          <a:off x="2508709" y="2393473"/>
          <a:ext cx="7325248" cy="3071907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5773287">
                  <a:extLst>
                    <a:ext uri="{9D8B030D-6E8A-4147-A177-3AD203B41FA5}">
                      <a16:colId xmlns:a16="http://schemas.microsoft.com/office/drawing/2014/main" val="3248812229"/>
                    </a:ext>
                  </a:extLst>
                </a:gridCol>
                <a:gridCol w="1551961">
                  <a:extLst>
                    <a:ext uri="{9D8B030D-6E8A-4147-A177-3AD203B41FA5}">
                      <a16:colId xmlns:a16="http://schemas.microsoft.com/office/drawing/2014/main" val="358079087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My Partner’s Question From the Video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420494"/>
                  </a:ext>
                </a:extLst>
              </a:tr>
              <a:tr h="25319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</a:rPr>
                        <a:t> 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</a:rPr>
                        <a:t> 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03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39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69148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3285" y="59996"/>
            <a:ext cx="95214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2.2.2 Guided Instruction: Least Common Multiple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692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76340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23692" y="1385695"/>
                <a:ext cx="11353234" cy="2394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timers were used in the video,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-,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-minute timer.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each number line model, plot a point indicating the time at which each hourglass would need to be flipped over to restart the timer during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 period.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92" y="1385695"/>
                <a:ext cx="11353234" cy="2394502"/>
              </a:xfrm>
              <a:prstGeom prst="rect">
                <a:avLst/>
              </a:prstGeom>
              <a:blipFill>
                <a:blip r:embed="rId5"/>
                <a:stretch>
                  <a:fillRect l="-559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FB36C-42B6-444D-83DC-7F3692DC3C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0430" y="3457254"/>
            <a:ext cx="7213779" cy="303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527101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65968" y="271432"/>
                <a:ext cx="10519847" cy="4640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41325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times plotted on the number line for each timer?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the </a:t>
                </a:r>
                <a:r>
                  <a:rPr lang="en-US" sz="18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multiples</a:t>
                </a: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8, …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.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68" y="271432"/>
                <a:ext cx="10519847" cy="4640694"/>
              </a:xfrm>
              <a:prstGeom prst="rect">
                <a:avLst/>
              </a:prstGeom>
              <a:blipFill>
                <a:blip r:embed="rId4"/>
                <a:stretch>
                  <a:fillRect l="-482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9BB3A9F2-2D2F-4F35-8CBD-7F4AF09DEB62}"/>
              </a:ext>
            </a:extLst>
          </p:cNvPr>
          <p:cNvSpPr txBox="1"/>
          <p:nvPr/>
        </p:nvSpPr>
        <p:spPr>
          <a:xfrm>
            <a:off x="1932431" y="2740342"/>
            <a:ext cx="7516369" cy="970023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108000" rIns="91440" bIns="108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Multiples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positive whole numbers are the product of that number multiplied by a positive whole number.</a:t>
            </a:r>
            <a:r>
              <a:rPr lang="es-ES" sz="1100" b="1" dirty="0">
                <a:solidFill>
                  <a:srgbClr val="6C993D"/>
                </a:solidFill>
                <a:ea typeface="Calibri" panose="020F0502020204030204" pitchFamily="34" charset="0"/>
              </a:rPr>
              <a:t> </a:t>
            </a:r>
            <a:endParaRPr lang="en-US" sz="1100" dirty="0">
              <a:ea typeface="Calibri" panose="020F0502020204030204" pitchFamily="34" charset="0"/>
            </a:endParaRP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8ADC7085-AFA4-4EED-920C-37326C6AE54D}"/>
              </a:ext>
            </a:extLst>
          </p:cNvPr>
          <p:cNvSpPr txBox="1"/>
          <p:nvPr/>
        </p:nvSpPr>
        <p:spPr>
          <a:xfrm>
            <a:off x="1932433" y="4401895"/>
            <a:ext cx="7516368" cy="1559576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ellipses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(…) at the end of the list of multiples means that the list continues beyond the last number listed. There are an </a:t>
            </a: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infinite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number of multiples for any given whole number.</a:t>
            </a:r>
            <a:r>
              <a:rPr lang="es-ES" sz="1100" b="1" dirty="0">
                <a:solidFill>
                  <a:srgbClr val="0075BF"/>
                </a:solidFill>
                <a:ea typeface="Calibri" panose="020F0502020204030204" pitchFamily="34" charset="0"/>
              </a:rPr>
              <a:t> </a:t>
            </a:r>
            <a:endParaRPr lang="en-US" sz="1100" dirty="0">
              <a:ea typeface="Calibri" panose="020F0502020204030204" pitchFamily="34" charset="0"/>
            </a:endParaRPr>
          </a:p>
        </p:txBody>
      </p:sp>
      <p:pic>
        <p:nvPicPr>
          <p:cNvPr id="10" name="image15.png" descr="Icon&#10;&#10;Description automatically generated">
            <a:extLst>
              <a:ext uri="{FF2B5EF4-FFF2-40B4-BE49-F238E27FC236}">
                <a16:creationId xmlns:a16="http://schemas.microsoft.com/office/drawing/2014/main" id="{097C8B79-385B-4F86-B403-E2DB230CDCE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37518" y="4912126"/>
            <a:ext cx="539750" cy="53911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0176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53944" y="257923"/>
            <a:ext cx="10991467" cy="533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 line models for each of the timers and the definition of multiples to answer the questions.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61963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all the common multiples among the three timers?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61963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these common multiples represent in this scenario?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>
              <a:lnSpc>
                <a:spcPct val="107000"/>
              </a:lnSpc>
            </a:pP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517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6340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-1" y="288745"/>
                <a:ext cx="11959119" cy="4640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41325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After how many minutes will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-minute timers run out of sand at the same time?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3763" indent="-441325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fter how many minutes will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-minute timers run out of sand at the same time?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88745"/>
                <a:ext cx="11959119" cy="4640694"/>
              </a:xfrm>
              <a:prstGeom prst="rect">
                <a:avLst/>
              </a:prstGeom>
              <a:blipFill>
                <a:blip r:embed="rId4"/>
                <a:stretch>
                  <a:fillRect t="-817" r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EC831F-A854-4A0F-A6A6-D60066B30ED1}"/>
              </a:ext>
            </a:extLst>
          </p:cNvPr>
          <p:cNvGrpSpPr/>
          <p:nvPr/>
        </p:nvGrpSpPr>
        <p:grpSpPr>
          <a:xfrm>
            <a:off x="2619900" y="851556"/>
            <a:ext cx="6952203" cy="5147752"/>
            <a:chOff x="1708497" y="3373600"/>
            <a:chExt cx="6952203" cy="51496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3D3C5E5-CC63-4B1E-81AE-F734A4780ED9}"/>
                </a:ext>
              </a:extLst>
            </p:cNvPr>
            <p:cNvGrpSpPr/>
            <p:nvPr/>
          </p:nvGrpSpPr>
          <p:grpSpPr>
            <a:xfrm>
              <a:off x="1708497" y="3373600"/>
              <a:ext cx="6952203" cy="5149618"/>
              <a:chOff x="1708497" y="3373600"/>
              <a:chExt cx="6952203" cy="514961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EC9A032-BB8B-4F9A-ABFC-0266C66C77B7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B87A9F8-5CF2-4E9E-9E93-211783ACA46A}"/>
                  </a:ext>
                </a:extLst>
              </p:cNvPr>
              <p:cNvGrpSpPr/>
              <p:nvPr/>
            </p:nvGrpSpPr>
            <p:grpSpPr>
              <a:xfrm>
                <a:off x="1708497" y="3373600"/>
                <a:ext cx="6952203" cy="5149618"/>
                <a:chOff x="-322803" y="0"/>
                <a:chExt cx="6952203" cy="5149618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D6D088E-CF0F-460C-B97C-115EC5077B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p:sp>
              <p:nvSpPr>
                <p:cNvPr id="23" name="Rounded Rectangle 43">
                  <a:extLst>
                    <a:ext uri="{FF2B5EF4-FFF2-40B4-BE49-F238E27FC236}">
                      <a16:creationId xmlns:a16="http://schemas.microsoft.com/office/drawing/2014/main" id="{5C650FCF-BBA0-4A0E-AAE2-D73F2BC3D0C7}"/>
                    </a:ext>
                  </a:extLst>
                </p:cNvPr>
                <p:cNvSpPr/>
                <p:nvPr/>
              </p:nvSpPr>
              <p:spPr>
                <a:xfrm>
                  <a:off x="-322803" y="3821909"/>
                  <a:ext cx="6952203" cy="132770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108000" rIns="91425" bIns="0" anchor="ctr" anchorCtr="0">
                  <a:spAutoFit/>
                </a:bodyPr>
                <a:lstStyle/>
                <a:p>
                  <a:pPr marL="68580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Least Common Multiple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or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LCM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lowest number that is a multiple of two or more given numbers.</a:t>
                  </a:r>
                  <a:endParaRPr lang="en-US" sz="1200" dirty="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p:grpSp>
        </p:grpSp>
      </p:grpSp>
      <p:pic>
        <p:nvPicPr>
          <p:cNvPr id="3076" name="Picture 4" descr="Icon&#10;&#10;Description automatically generated">
            <a:extLst>
              <a:ext uri="{FF2B5EF4-FFF2-40B4-BE49-F238E27FC236}">
                <a16:creationId xmlns:a16="http://schemas.microsoft.com/office/drawing/2014/main" id="{890F629B-2CE3-4C2F-82DB-587A3D6D3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1439" y="5017126"/>
            <a:ext cx="637128" cy="6371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69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2231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80144" y="271193"/>
                <a:ext cx="10520737" cy="6307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definition to complete the statement.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least common multiple (LCM)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context of the hourglass timers, this value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represents ___________________________________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____________________________________________.</a:t>
                </a:r>
              </a:p>
              <a:p>
                <a:pPr marL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LCM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>
                  <a:lnSpc>
                    <a:spcPct val="107000"/>
                  </a:lnSpc>
                </a:pP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44" y="271193"/>
                <a:ext cx="10520737" cy="6307263"/>
              </a:xfrm>
              <a:prstGeom prst="rect">
                <a:avLst/>
              </a:prstGeom>
              <a:blipFill>
                <a:blip r:embed="rId4"/>
                <a:stretch>
                  <a:fillRect l="-602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443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39" y="-80742"/>
            <a:ext cx="1030498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2.2.3 Try It: Least Common Multiple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629843" y="648167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218" y="10540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2060448" y="1386026"/>
                <a:ext cx="8327136" cy="4930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LCM of each pair of numbers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weeks, Fort Caroline Middle has an early release day. 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weeks, they host an assembly with a guest speaker for all students. After how many weeks will Fort Caroline Middle have an assembly and early release in the same week?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8" y="1386026"/>
                <a:ext cx="8327136" cy="4930581"/>
              </a:xfrm>
              <a:prstGeom prst="rect">
                <a:avLst/>
              </a:prstGeom>
              <a:blipFill>
                <a:blip r:embed="rId5"/>
                <a:stretch>
                  <a:fillRect l="-762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F37EE21E-8B35-FE4A-9307-F19691384C89}"/>
              </a:ext>
            </a:extLst>
          </p:cNvPr>
          <p:cNvSpPr/>
          <p:nvPr/>
        </p:nvSpPr>
        <p:spPr>
          <a:xfrm>
            <a:off x="-27595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7E255A9-0F9A-4C06-93DA-3D21E9C15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290787"/>
                  </p:ext>
                </p:extLst>
              </p:nvPr>
            </p:nvGraphicFramePr>
            <p:xfrm>
              <a:off x="2519851" y="1918212"/>
              <a:ext cx="6933997" cy="761926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35319983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204173545"/>
                        </a:ext>
                      </a:extLst>
                    </a:gridCol>
                    <a:gridCol w="1893997">
                      <a:extLst>
                        <a:ext uri="{9D8B030D-6E8A-4147-A177-3AD203B41FA5}">
                          <a16:colId xmlns:a16="http://schemas.microsoft.com/office/drawing/2014/main" val="4170623268"/>
                        </a:ext>
                      </a:extLst>
                    </a:gridCol>
                  </a:tblGrid>
                  <a:tr h="761926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a.</a:t>
                          </a:r>
                          <a:r>
                            <a:rPr lang="en-US" sz="200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10 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4 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13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c.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21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80401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7E255A9-0F9A-4C06-93DA-3D21E9C15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0290787"/>
                  </p:ext>
                </p:extLst>
              </p:nvPr>
            </p:nvGraphicFramePr>
            <p:xfrm>
              <a:off x="2519851" y="1918212"/>
              <a:ext cx="6933997" cy="761926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35319983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204173545"/>
                        </a:ext>
                      </a:extLst>
                    </a:gridCol>
                    <a:gridCol w="1893997">
                      <a:extLst>
                        <a:ext uri="{9D8B030D-6E8A-4147-A177-3AD203B41FA5}">
                          <a16:colId xmlns:a16="http://schemas.microsoft.com/office/drawing/2014/main" val="4170623268"/>
                        </a:ext>
                      </a:extLst>
                    </a:gridCol>
                  </a:tblGrid>
                  <a:tr h="7619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1475" r="-174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000" t="-11475" r="-74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67114" t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80401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4003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62337" y="514088"/>
                <a:ext cx="11414589" cy="4015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radio station is running two ongoing promotions. For the first promotion, every 30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caller wins a pair of movie tickets. For the second promotion, every 100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caller wins an annual pass to a theme park. Which caller number would be eligible for both prizes?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Vincenzo and Marie both joined a local gym. Vincenzo plans to go to the gym 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days at 7:00 am when they open. Marie plans to go 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days at 7:00 am. If they both joined the gym on the same day, after how many days will they arrive at the gym on the same day? 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37" y="514088"/>
                <a:ext cx="11414589" cy="4015010"/>
              </a:xfrm>
              <a:prstGeom prst="rect">
                <a:avLst/>
              </a:prstGeom>
              <a:blipFill>
                <a:blip r:embed="rId4"/>
                <a:stretch>
                  <a:fillRect l="-556" t="-1262" r="-1000" b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66066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1611" y="139257"/>
            <a:ext cx="104769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2.2.4 Collaboration: Least Common Multiple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681213" y="644841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7143" y="19415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7143" y="1464957"/>
                <a:ext cx="11401428" cy="4327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Place a digit in each blue box to make a true statement.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only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A: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 indent="-45243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                         LCM: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B: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were some of the challenges you faced with this problem? </a:t>
                </a: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43" y="1464957"/>
                <a:ext cx="11401428" cy="4327403"/>
              </a:xfrm>
              <a:prstGeom prst="rect">
                <a:avLst/>
              </a:prstGeom>
              <a:blipFill>
                <a:blip r:embed="rId5"/>
                <a:stretch>
                  <a:fillRect l="-557" t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-2131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13B17-DFB5-4653-BC85-FE8384AC2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3166" y="2517612"/>
            <a:ext cx="2028825" cy="2162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7C5BEF-609B-4727-854A-97F1738E1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681" y="3081155"/>
            <a:ext cx="2928084" cy="10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650391" y="644249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1062541" y="667520"/>
            <a:ext cx="10221849" cy="702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What methods did you use to solve this problem?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691487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28047" y="350334"/>
            <a:ext cx="10487233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2.2.5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280" y="17334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5351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88280" y="1386025"/>
                <a:ext cx="11327000" cy="3685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 indent="-452438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LCM of each pair of numbers.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Jasmine and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Teia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running a race. Jasmine runs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minutes per lap and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Teia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runs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6 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minutes per lap. If they both start running at the same time, after how many minutes will they both be at the starting line at the same time again?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80" y="1386025"/>
                <a:ext cx="11327000" cy="3685689"/>
              </a:xfrm>
              <a:prstGeom prst="rect">
                <a:avLst/>
              </a:prstGeom>
              <a:blipFill>
                <a:blip r:embed="rId5"/>
                <a:stretch>
                  <a:fillRect l="-560" t="-1027" r="-448" b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0FF6BAA-EDC4-424F-946F-5ABE2E914C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8825479"/>
                  </p:ext>
                </p:extLst>
              </p:nvPr>
            </p:nvGraphicFramePr>
            <p:xfrm>
              <a:off x="1554080" y="2070330"/>
              <a:ext cx="7222021" cy="842979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3598594689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771087460"/>
                        </a:ext>
                      </a:extLst>
                    </a:gridCol>
                    <a:gridCol w="2182021">
                      <a:extLst>
                        <a:ext uri="{9D8B030D-6E8A-4147-A177-3AD203B41FA5}">
                          <a16:colId xmlns:a16="http://schemas.microsoft.com/office/drawing/2014/main" val="2113618885"/>
                        </a:ext>
                      </a:extLst>
                    </a:gridCol>
                  </a:tblGrid>
                  <a:tr h="842979"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a.</a:t>
                          </a:r>
                          <a:r>
                            <a:rPr lang="en-US" sz="200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15 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20 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18 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24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c.</a:t>
                          </a:r>
                          <a:r>
                            <a:rPr lang="en-US" sz="2000" baseline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22 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11 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27079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0FF6BAA-EDC4-424F-946F-5ABE2E914C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8825479"/>
                  </p:ext>
                </p:extLst>
              </p:nvPr>
            </p:nvGraphicFramePr>
            <p:xfrm>
              <a:off x="1554080" y="2070330"/>
              <a:ext cx="7222021" cy="842979"/>
            </p:xfrm>
            <a:graphic>
              <a:graphicData uri="http://schemas.openxmlformats.org/drawingml/2006/table">
                <a:tbl>
                  <a:tblPr bandRow="1"/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3598594689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771087460"/>
                        </a:ext>
                      </a:extLst>
                    </a:gridCol>
                    <a:gridCol w="2182021">
                      <a:extLst>
                        <a:ext uri="{9D8B030D-6E8A-4147-A177-3AD203B41FA5}">
                          <a16:colId xmlns:a16="http://schemas.microsoft.com/office/drawing/2014/main" val="2113618885"/>
                        </a:ext>
                      </a:extLst>
                    </a:gridCol>
                  </a:tblGrid>
                  <a:tr h="84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503" t="-10448" r="-186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503" t="-10448" r="-86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31977" t="-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27079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42568" y="64526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97682" y="596077"/>
                <a:ext cx="11196635" cy="1709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Lin’s uncle is opening a bakery. On the bakery’s grand opening day, he plans to give away prizes to the first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customers that enter the shop. Every 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9</a:t>
                </a:r>
                <a:r>
                  <a:rPr lang="en-US" sz="2000" baseline="30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customer will get a free blueberry muffin. Every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baseline="30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customer will get a free slice of carrot cake. Which customer will get both free bakery items? 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82" y="596077"/>
                <a:ext cx="11196635" cy="1709763"/>
              </a:xfrm>
              <a:prstGeom prst="rect">
                <a:avLst/>
              </a:prstGeom>
              <a:blipFill>
                <a:blip r:embed="rId4"/>
                <a:stretch>
                  <a:fillRect l="-567" t="-2963" b="-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77368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735976" y="646974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1668" y="13039"/>
            <a:ext cx="103164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799" y="14363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474799" y="1252698"/>
            <a:ext cx="10405533" cy="4714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Rate your level of mathematical confidence on the concepts listed by circling the statement that best describes your understanding.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14375" indent="-261938">
              <a:lnSpc>
                <a:spcPct val="107000"/>
              </a:lnSpc>
              <a:buFont typeface="Arial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Greatest Common Factor (GCF)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●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14375" indent="-261938">
              <a:lnSpc>
                <a:spcPct val="107000"/>
              </a:lnSpc>
              <a:buFont typeface="Arial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Noto Sans Symbols"/>
              </a:rPr>
              <a:t>Least Common Multiple (LCM)</a:t>
            </a:r>
            <a:endParaRPr lang="en-US" sz="2000" dirty="0">
              <a:latin typeface="Noto Sans Symbols"/>
              <a:ea typeface="Noto Sans Symbols"/>
              <a:cs typeface="Noto Sans Symbol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-6574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8DE018-C611-40A9-B851-261CC1180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152384"/>
              </p:ext>
            </p:extLst>
          </p:nvPr>
        </p:nvGraphicFramePr>
        <p:xfrm>
          <a:off x="2513027" y="2750479"/>
          <a:ext cx="6222949" cy="141715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272651">
                  <a:extLst>
                    <a:ext uri="{9D8B030D-6E8A-4147-A177-3AD203B41FA5}">
                      <a16:colId xmlns:a16="http://schemas.microsoft.com/office/drawing/2014/main" val="3173969427"/>
                    </a:ext>
                  </a:extLst>
                </a:gridCol>
                <a:gridCol w="1273233">
                  <a:extLst>
                    <a:ext uri="{9D8B030D-6E8A-4147-A177-3AD203B41FA5}">
                      <a16:colId xmlns:a16="http://schemas.microsoft.com/office/drawing/2014/main" val="68329795"/>
                    </a:ext>
                  </a:extLst>
                </a:gridCol>
                <a:gridCol w="1273233">
                  <a:extLst>
                    <a:ext uri="{9D8B030D-6E8A-4147-A177-3AD203B41FA5}">
                      <a16:colId xmlns:a16="http://schemas.microsoft.com/office/drawing/2014/main" val="1381930354"/>
                    </a:ext>
                  </a:extLst>
                </a:gridCol>
                <a:gridCol w="1273233">
                  <a:extLst>
                    <a:ext uri="{9D8B030D-6E8A-4147-A177-3AD203B41FA5}">
                      <a16:colId xmlns:a16="http://schemas.microsoft.com/office/drawing/2014/main" val="2060182360"/>
                    </a:ext>
                  </a:extLst>
                </a:gridCol>
                <a:gridCol w="1130599">
                  <a:extLst>
                    <a:ext uri="{9D8B030D-6E8A-4147-A177-3AD203B41FA5}">
                      <a16:colId xmlns:a16="http://schemas.microsoft.com/office/drawing/2014/main" val="2472065412"/>
                    </a:ext>
                  </a:extLst>
                </a:gridCol>
              </a:tblGrid>
              <a:tr h="1417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don’t know what GCF 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need a little more practice.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am okay at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I’m pretty good at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could teach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970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6EF28C-EDA9-45E6-857C-02479886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16864"/>
              </p:ext>
            </p:extLst>
          </p:nvPr>
        </p:nvGraphicFramePr>
        <p:xfrm>
          <a:off x="2513027" y="5068053"/>
          <a:ext cx="6484208" cy="1401689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323481">
                  <a:extLst>
                    <a:ext uri="{9D8B030D-6E8A-4147-A177-3AD203B41FA5}">
                      <a16:colId xmlns:a16="http://schemas.microsoft.com/office/drawing/2014/main" val="3842571154"/>
                    </a:ext>
                  </a:extLst>
                </a:gridCol>
                <a:gridCol w="1324086">
                  <a:extLst>
                    <a:ext uri="{9D8B030D-6E8A-4147-A177-3AD203B41FA5}">
                      <a16:colId xmlns:a16="http://schemas.microsoft.com/office/drawing/2014/main" val="715296106"/>
                    </a:ext>
                  </a:extLst>
                </a:gridCol>
                <a:gridCol w="1324086">
                  <a:extLst>
                    <a:ext uri="{9D8B030D-6E8A-4147-A177-3AD203B41FA5}">
                      <a16:colId xmlns:a16="http://schemas.microsoft.com/office/drawing/2014/main" val="1293003326"/>
                    </a:ext>
                  </a:extLst>
                </a:gridCol>
                <a:gridCol w="1324086">
                  <a:extLst>
                    <a:ext uri="{9D8B030D-6E8A-4147-A177-3AD203B41FA5}">
                      <a16:colId xmlns:a16="http://schemas.microsoft.com/office/drawing/2014/main" val="2237466382"/>
                    </a:ext>
                  </a:extLst>
                </a:gridCol>
                <a:gridCol w="1188469">
                  <a:extLst>
                    <a:ext uri="{9D8B030D-6E8A-4147-A177-3AD203B41FA5}">
                      <a16:colId xmlns:a16="http://schemas.microsoft.com/office/drawing/2014/main" val="757941185"/>
                    </a:ext>
                  </a:extLst>
                </a:gridCol>
              </a:tblGrid>
              <a:tr h="1401689">
                <a:tc>
                  <a:txBody>
                    <a:bodyPr/>
                    <a:lstStyle/>
                    <a:p>
                      <a:pPr marL="0" marR="0" indent="31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don’t know what LCM 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need a little more practice.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am okay at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I’m pretty good at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 could teach this.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88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1255</Words>
  <Application>Microsoft Office PowerPoint</Application>
  <PresentationFormat>Widescreen</PresentationFormat>
  <Paragraphs>218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Verdana</vt:lpstr>
      <vt:lpstr>Century Gothic</vt:lpstr>
      <vt:lpstr>Calibri</vt:lpstr>
      <vt:lpstr>Arial Black</vt:lpstr>
      <vt:lpstr>Noto Sans Symbols</vt:lpstr>
      <vt:lpstr>Cambria Math</vt:lpstr>
      <vt:lpstr>Arial</vt:lpstr>
      <vt:lpstr>Cambria</vt:lpstr>
      <vt:lpstr>1_Office Theme</vt:lpstr>
      <vt:lpstr>6th Grade Math  Unit 2, Lesson 2  Finding the Least Common Multiple  Volume 1, pg. 53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Collaboration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24</cp:revision>
  <dcterms:created xsi:type="dcterms:W3CDTF">2015-03-17T18:51:18Z</dcterms:created>
  <dcterms:modified xsi:type="dcterms:W3CDTF">2022-06-04T23:14:07Z</dcterms:modified>
</cp:coreProperties>
</file>