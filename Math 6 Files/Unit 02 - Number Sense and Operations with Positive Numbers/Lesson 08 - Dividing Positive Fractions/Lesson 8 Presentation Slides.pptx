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289" r:id="rId9"/>
    <p:sldId id="290" r:id="rId10"/>
    <p:sldId id="331" r:id="rId11"/>
    <p:sldId id="326" r:id="rId12"/>
    <p:sldId id="327" r:id="rId13"/>
    <p:sldId id="329" r:id="rId14"/>
    <p:sldId id="328" r:id="rId15"/>
    <p:sldId id="323" r:id="rId16"/>
    <p:sldId id="324" r:id="rId17"/>
    <p:sldId id="325" r:id="rId18"/>
    <p:sldId id="302" r:id="rId19"/>
    <p:sldId id="303" r:id="rId20"/>
    <p:sldId id="306" r:id="rId21"/>
    <p:sldId id="307" r:id="rId22"/>
  </p:sldIdLst>
  <p:sldSz cx="12192000" cy="6858000"/>
  <p:notesSz cx="6858000" cy="9144000"/>
  <p:embeddedFontLst>
    <p:embeddedFont>
      <p:font typeface="Arial Black" panose="020B0A04020102020204" pitchFamily="34" charset="0"/>
      <p:regular r:id="rId24"/>
      <p:bold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mbria Math" panose="02040503050406030204" pitchFamily="18" charset="0"/>
      <p:regular r:id="rId30"/>
    </p:embeddedFont>
    <p:embeddedFont>
      <p:font typeface="Century Gothic" panose="020B0502020202020204" pitchFamily="34" charset="0"/>
      <p:regular r:id="rId31"/>
      <p:bold r:id="rId32"/>
      <p:italic r:id="rId33"/>
      <p:boldItalic r:id="rId34"/>
    </p:embeddedFont>
    <p:embeddedFont>
      <p:font typeface="Verdana" panose="020B060403050404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75" autoAdjust="0"/>
    <p:restoredTop sz="94694"/>
  </p:normalViewPr>
  <p:slideViewPr>
    <p:cSldViewPr snapToGrid="0">
      <p:cViewPr varScale="1">
        <p:scale>
          <a:sx n="57" d="100"/>
          <a:sy n="57" d="100"/>
        </p:scale>
        <p:origin x="84" y="12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92648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040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73969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86805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95827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0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8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Dividing Positive Fractions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81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175" y="1435885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19650" y="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350" y="24167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7314749" y="6417129"/>
            <a:ext cx="414790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4319" y="612684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219649" y="1600200"/>
            <a:ext cx="1071109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MA.6.NSO.2.2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Extend previous understanding of multiplication and division to compute products and quotients of positive fractions by positive fractions with procedural fluency.</a:t>
            </a:r>
            <a:endParaRPr lang="en-US" sz="35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350" y="31787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19650" y="129667"/>
            <a:ext cx="1113563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7314749" y="6455229"/>
            <a:ext cx="4131597" cy="40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81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077685" y="1596596"/>
            <a:ext cx="1078774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3690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48212" y="-99968"/>
            <a:ext cx="929954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127" y="18923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7314750" y="6469568"/>
            <a:ext cx="4098940" cy="40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81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1252" y="1600200"/>
            <a:ext cx="929954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I </a:t>
            </a: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</a:rPr>
              <a:t>can fluently divide positive fractions by positive fractions.</a:t>
            </a:r>
            <a:r>
              <a:rPr lang="en-US" sz="35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0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7314750" y="6455229"/>
            <a:ext cx="4175140" cy="40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54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1824" y="-80829"/>
            <a:ext cx="93973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2.8.1 Warm-Up: Error Analysis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524" y="20837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7314749" y="6433457"/>
            <a:ext cx="4120711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653143" y="1386026"/>
                <a:ext cx="9734441" cy="4462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Mateo tried to multiply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3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6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∙ 4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, but he made an error. His work is shown. </a:t>
                </a:r>
              </a:p>
              <a:p>
                <a:pPr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What error did Mateo make?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What is something that Mateo did correctly?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1800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1386026"/>
                <a:ext cx="9734441" cy="4462184"/>
              </a:xfrm>
              <a:prstGeom prst="rect">
                <a:avLst/>
              </a:prstGeom>
              <a:blipFill>
                <a:blip r:embed="rId5"/>
                <a:stretch>
                  <a:fillRect l="-689" r="-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1" name="Picture 10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FE2A2C7B-AC9F-4D8E-8C58-49C17449BC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1289" y="2050105"/>
            <a:ext cx="6217823" cy="128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00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7314749" y="6498771"/>
            <a:ext cx="416425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22514" y="520394"/>
                <a:ext cx="9812387" cy="6124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Help Mateo understand and learn from his mistake. Write a brief note to Mateo explaining the mistake he made and how to fix it moving forward.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Find the product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3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6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∙ 4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. Show your work.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US" sz="1800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14" y="520394"/>
                <a:ext cx="9812387" cy="6124049"/>
              </a:xfrm>
              <a:prstGeom prst="rect">
                <a:avLst/>
              </a:prstGeom>
              <a:blipFill>
                <a:blip r:embed="rId4"/>
                <a:stretch>
                  <a:fillRect l="-684" t="-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3114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287B364E-B4D4-4B7D-B55B-7D2B776BD318}"/>
              </a:ext>
            </a:extLst>
          </p:cNvPr>
          <p:cNvSpPr/>
          <p:nvPr/>
        </p:nvSpPr>
        <p:spPr>
          <a:xfrm>
            <a:off x="2466278" y="1627403"/>
            <a:ext cx="2042083" cy="31443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</a:pPr>
            <a:endParaRPr lang="en-US" sz="2000" b="1" dirty="0">
              <a:solidFill>
                <a:srgbClr val="DB2B2A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DB2B2A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US" sz="20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eans</a:t>
            </a:r>
            <a:endParaRPr lang="en-US" sz="20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F25756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endParaRPr lang="en-US" sz="20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E9923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20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tart</a:t>
            </a:r>
            <a:endParaRPr lang="en-US" sz="20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FACD1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</a:t>
            </a:r>
            <a:r>
              <a:rPr lang="en-US" sz="20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endParaRPr lang="en-US" sz="20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7BA43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sz="20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cquire</a:t>
            </a:r>
            <a:endParaRPr lang="en-US" sz="20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24B7D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sz="20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nowledge</a:t>
            </a:r>
            <a:endParaRPr lang="en-US" sz="20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1B74B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lang="en-US" sz="20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xperience </a:t>
            </a:r>
            <a:endParaRPr lang="en-US" sz="20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4A2B7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20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kills</a:t>
            </a:r>
            <a:endParaRPr lang="en-US" sz="20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218">
            <a:extLst>
              <a:ext uri="{FF2B5EF4-FFF2-40B4-BE49-F238E27FC236}">
                <a16:creationId xmlns:a16="http://schemas.microsoft.com/office/drawing/2014/main" id="{11C9F217-04C0-407C-A3D0-BA1294862603}"/>
              </a:ext>
            </a:extLst>
          </p:cNvPr>
          <p:cNvSpPr/>
          <p:nvPr/>
        </p:nvSpPr>
        <p:spPr>
          <a:xfrm>
            <a:off x="5573486" y="1717839"/>
            <a:ext cx="4058894" cy="3053903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</a:pPr>
            <a:r>
              <a:rPr lang="en-US" sz="1600" i="1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150621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16381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7314750" y="6487885"/>
            <a:ext cx="41860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82</a:t>
            </a: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5566" y="614249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31809" y="-85979"/>
            <a:ext cx="1106019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2.8.2 Guided Instruction: Dividing Fractions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509" y="7039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9017901" y="647113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384509" y="1386026"/>
                <a:ext cx="10003075" cy="48973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Recall how tape diagrams can be used to illustrate division.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division equation represented by the tape diagram.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How many groups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are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509" y="1386026"/>
                <a:ext cx="10003075" cy="4897366"/>
              </a:xfrm>
              <a:prstGeom prst="rect">
                <a:avLst/>
              </a:prstGeom>
              <a:blipFill>
                <a:blip r:embed="rId5"/>
                <a:stretch>
                  <a:fillRect l="-670" t="-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2260A17C-F127-D647-A05B-7BB351158843}"/>
              </a:ext>
            </a:extLst>
          </p:cNvPr>
          <p:cNvSpPr/>
          <p:nvPr/>
        </p:nvSpPr>
        <p:spPr>
          <a:xfrm>
            <a:off x="-2003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Picture 7" descr="A picture containing table&#10;&#10;Description automatically generated">
            <a:extLst>
              <a:ext uri="{FF2B5EF4-FFF2-40B4-BE49-F238E27FC236}">
                <a16:creationId xmlns:a16="http://schemas.microsoft.com/office/drawing/2014/main" id="{12B3F1BF-3241-44F1-B1D0-3CC1BF13B7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9248" y="1763385"/>
            <a:ext cx="4913596" cy="16614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0DA962-6BCF-4E61-A225-DDE230F3C39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3911" y="4047529"/>
            <a:ext cx="5581138" cy="99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004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7314750" y="6422571"/>
            <a:ext cx="416425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446314" y="288746"/>
            <a:ext cx="9813254" cy="721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 startAt="3"/>
              <a:tabLst>
                <a:tab pos="1041400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Complete the table by finding each quotient. Use the tape diagram shown.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FE2DC6-FEFD-4C58-9269-4FAE28D9662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0139"/>
          <a:stretch/>
        </p:blipFill>
        <p:spPr>
          <a:xfrm>
            <a:off x="1932432" y="1190505"/>
            <a:ext cx="8561844" cy="457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015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7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7314749" y="6457679"/>
            <a:ext cx="4149011" cy="4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46314" y="288746"/>
                <a:ext cx="9813254" cy="61689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  <a:tabLst>
                    <a:tab pos="10414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Jacquelyn is making ground beef flautas, where each flauta will use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pounds of ground beef. She has a total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pounds of ground beef to use. 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  <a:tabLst>
                    <a:tab pos="10414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  <a:tabLst>
                    <a:tab pos="10414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Which division statement below represents the number of flautas Jacquelyn can make? </a:t>
                </a:r>
              </a:p>
              <a:p>
                <a:pPr marL="914400" indent="-573088">
                  <a:lnSpc>
                    <a:spcPct val="107000"/>
                  </a:lnSpc>
                  <a:buFont typeface="+mj-lt"/>
                  <a:buAutoNum type="alphaLcPeriod"/>
                  <a:tabLst>
                    <a:tab pos="10414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341312" algn="ctr">
                  <a:lnSpc>
                    <a:spcPct val="107000"/>
                  </a:lnSpc>
                  <a:tabLst>
                    <a:tab pos="1041400" algn="l"/>
                  </a:tabLs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10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÷ 1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÷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61962">
                  <a:lnSpc>
                    <a:spcPct val="107000"/>
                  </a:lnSpc>
                  <a:tabLst>
                    <a:tab pos="10414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61962">
                  <a:lnSpc>
                    <a:spcPct val="107000"/>
                  </a:lnSpc>
                  <a:tabLst>
                    <a:tab pos="10414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919162" indent="-457200">
                  <a:lnSpc>
                    <a:spcPct val="107000"/>
                  </a:lnSpc>
                  <a:buFont typeface="+mj-lt"/>
                  <a:buAutoNum type="alphaLcPeriod" startAt="2"/>
                  <a:tabLst>
                    <a:tab pos="10414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Draw a tape diagram to illustrate the division statement you chose.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tabLst>
                    <a:tab pos="1041400" algn="l"/>
                  </a:tabLst>
                </a:pPr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800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 indent="-573088">
                  <a:lnSpc>
                    <a:spcPct val="107000"/>
                  </a:lnSpc>
                  <a:buFont typeface="+mj-lt"/>
                  <a:buAutoNum type="alphaLcPeriod"/>
                  <a:tabLst>
                    <a:tab pos="1041400" algn="l"/>
                  </a:tabLst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tabLst>
                    <a:tab pos="1041400" algn="l"/>
                  </a:tabLst>
                </a:pPr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800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  <a:tabLst>
                    <a:tab pos="1041400" algn="l"/>
                  </a:tabLst>
                </a:pPr>
                <a:endParaRPr lang="en-US" sz="1800" i="1" dirty="0">
                  <a:latin typeface="Cambria Math" panose="02040503050406030204" pitchFamily="18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07000"/>
                  </a:lnSpc>
                  <a:tabLst>
                    <a:tab pos="1041400" algn="l"/>
                  </a:tabLst>
                </a:pPr>
                <a:endParaRPr lang="en-US" sz="2000" i="1" dirty="0">
                  <a:latin typeface="Cambria Mah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  <a:tabLst>
                    <a:tab pos="1041400" algn="l"/>
                  </a:tabLst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14" y="288746"/>
                <a:ext cx="9813254" cy="6168933"/>
              </a:xfrm>
              <a:prstGeom prst="rect">
                <a:avLst/>
              </a:prstGeom>
              <a:blipFill>
                <a:blip r:embed="rId4"/>
                <a:stretch>
                  <a:fillRect l="-683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2213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0" y="614203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7314750" y="6476999"/>
            <a:ext cx="427853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02771" y="288746"/>
                <a:ext cx="9856797" cy="4713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2438">
                  <a:lnSpc>
                    <a:spcPct val="107000"/>
                  </a:lnSpc>
                  <a:buFont typeface="+mj-lt"/>
                  <a:buAutoNum type="alphaLcPeriod" startAt="3"/>
                  <a:tabLst>
                    <a:tab pos="10414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Solve the division statement.</a:t>
                </a:r>
              </a:p>
              <a:p>
                <a:pPr marL="914400" indent="-573088">
                  <a:lnSpc>
                    <a:spcPct val="107000"/>
                  </a:lnSpc>
                  <a:buFont typeface="+mj-lt"/>
                  <a:buAutoNum type="alphaLcPeriod" startAt="3"/>
                  <a:tabLst>
                    <a:tab pos="10414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914400" indent="-573088">
                  <a:lnSpc>
                    <a:spcPct val="107000"/>
                  </a:lnSpc>
                  <a:buFont typeface="+mj-lt"/>
                  <a:buAutoNum type="alphaLcPeriod" startAt="3"/>
                  <a:tabLst>
                    <a:tab pos="10414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914400" indent="-573088">
                  <a:lnSpc>
                    <a:spcPct val="107000"/>
                  </a:lnSpc>
                  <a:buFont typeface="+mj-lt"/>
                  <a:buAutoNum type="alphaLcPeriod" startAt="3"/>
                  <a:tabLst>
                    <a:tab pos="10414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914400" indent="-573088">
                  <a:lnSpc>
                    <a:spcPct val="107000"/>
                  </a:lnSpc>
                  <a:buFont typeface="+mj-lt"/>
                  <a:buAutoNum type="alphaLcPeriod" startAt="3"/>
                  <a:tabLst>
                    <a:tab pos="10414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914400" indent="-573088">
                  <a:lnSpc>
                    <a:spcPct val="107000"/>
                  </a:lnSpc>
                  <a:buFont typeface="+mj-lt"/>
                  <a:buAutoNum type="alphaLcPeriod" startAt="3"/>
                  <a:tabLst>
                    <a:tab pos="10414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914400" indent="-573088">
                  <a:lnSpc>
                    <a:spcPct val="107000"/>
                  </a:lnSpc>
                  <a:buFont typeface="+mj-lt"/>
                  <a:buAutoNum type="alphaLcPeriod" startAt="3"/>
                  <a:tabLst>
                    <a:tab pos="10414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914400" indent="-452438">
                  <a:lnSpc>
                    <a:spcPct val="107000"/>
                  </a:lnSpc>
                  <a:buFont typeface="+mj-lt"/>
                  <a:buAutoNum type="alphaLcPeriod" startAt="3"/>
                  <a:tabLst>
                    <a:tab pos="10414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How many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pound flautas can she make?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tabLst>
                    <a:tab pos="1041400" algn="l"/>
                  </a:tabLst>
                </a:pPr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800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 indent="-573088">
                  <a:lnSpc>
                    <a:spcPct val="107000"/>
                  </a:lnSpc>
                  <a:buFont typeface="+mj-lt"/>
                  <a:buAutoNum type="alphaLcPeriod" startAt="3"/>
                  <a:tabLst>
                    <a:tab pos="1041400" algn="l"/>
                  </a:tabLst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tabLst>
                    <a:tab pos="1041400" algn="l"/>
                  </a:tabLst>
                </a:pPr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800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  <a:tabLst>
                    <a:tab pos="1041400" algn="l"/>
                  </a:tabLst>
                </a:pPr>
                <a:endParaRPr lang="en-US" sz="1800" i="1" dirty="0">
                  <a:latin typeface="Cambria Math" panose="02040503050406030204" pitchFamily="18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07000"/>
                  </a:lnSpc>
                  <a:tabLst>
                    <a:tab pos="1041400" algn="l"/>
                  </a:tabLst>
                </a:pPr>
                <a:endParaRPr lang="en-US" sz="2000" i="1" dirty="0">
                  <a:latin typeface="Cambria Mah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  <a:tabLst>
                    <a:tab pos="1041400" algn="l"/>
                  </a:tabLst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71" y="288746"/>
                <a:ext cx="9856797" cy="4713213"/>
              </a:xfrm>
              <a:prstGeom prst="rect">
                <a:avLst/>
              </a:prstGeom>
              <a:blipFill>
                <a:blip r:embed="rId4"/>
                <a:stretch>
                  <a:fillRect t="-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8884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233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7314749" y="6466113"/>
            <a:ext cx="41424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391886" y="288746"/>
            <a:ext cx="9867682" cy="2302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tabLst>
                <a:tab pos="1041400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You previously developed an algorithm to use when dividing fractions.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1041400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 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914400" indent="-573088">
              <a:lnSpc>
                <a:spcPct val="107000"/>
              </a:lnSpc>
              <a:buFont typeface="+mj-lt"/>
              <a:buAutoNum type="alphaLcPeriod" startAt="3"/>
              <a:tabLst>
                <a:tab pos="1041400" algn="l"/>
              </a:tabLst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914400">
              <a:lnSpc>
                <a:spcPct val="107000"/>
              </a:lnSpc>
              <a:tabLst>
                <a:tab pos="1041400" algn="l"/>
              </a:tabLst>
            </a:pPr>
            <a:r>
              <a:rPr lang="en-US" sz="18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 startAt="2"/>
              <a:tabLst>
                <a:tab pos="1041400" algn="l"/>
              </a:tabLst>
            </a:pPr>
            <a:endParaRPr lang="en-US" sz="1800" i="1" dirty="0">
              <a:latin typeface="Cambria Math" panose="020405030504060302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tabLst>
                <a:tab pos="1041400" algn="l"/>
              </a:tabLst>
            </a:pPr>
            <a:endParaRPr lang="en-US" sz="2000" i="1" dirty="0">
              <a:latin typeface="Cambria Mah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 startAt="2"/>
              <a:tabLst>
                <a:tab pos="1041400" algn="l"/>
              </a:tabLst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44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9503DB8-9C19-451E-99C9-9D814DFD8023}"/>
              </a:ext>
            </a:extLst>
          </p:cNvPr>
          <p:cNvGrpSpPr/>
          <p:nvPr/>
        </p:nvGrpSpPr>
        <p:grpSpPr>
          <a:xfrm>
            <a:off x="1969538" y="1095018"/>
            <a:ext cx="7222693" cy="2810192"/>
            <a:chOff x="-593293" y="-2024529"/>
            <a:chExt cx="7222693" cy="281090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9D09E92-6F0A-4D08-B3D9-2844E1AFA5EC}"/>
                </a:ext>
              </a:extLst>
            </p:cNvPr>
            <p:cNvGrpSpPr/>
            <p:nvPr/>
          </p:nvGrpSpPr>
          <p:grpSpPr>
            <a:xfrm>
              <a:off x="-593293" y="-2024529"/>
              <a:ext cx="7222693" cy="2810904"/>
              <a:chOff x="1438007" y="1362279"/>
              <a:chExt cx="7222693" cy="2810904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C173796B-A76B-4BAE-B5BE-EEE2FBA8874D}"/>
                  </a:ext>
                </a:extLst>
              </p:cNvPr>
              <p:cNvGrpSpPr/>
              <p:nvPr/>
            </p:nvGrpSpPr>
            <p:grpSpPr>
              <a:xfrm>
                <a:off x="1438007" y="1362279"/>
                <a:ext cx="7222693" cy="2810904"/>
                <a:chOff x="-593293" y="-2024529"/>
                <a:chExt cx="7222693" cy="2810904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012B754-BBB1-4376-906D-78CF78CC06D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600" i="1">
                      <a:latin typeface="Cambria Math" panose="020405030504060302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C4C692F7-724E-4955-985C-83479BC87EB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600" i="1">
                      <a:latin typeface="Cambria Math" panose="020405030504060302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Rounded Rectangle 12">
                      <a:extLst>
                        <a:ext uri="{FF2B5EF4-FFF2-40B4-BE49-F238E27FC236}">
                          <a16:creationId xmlns:a16="http://schemas.microsoft.com/office/drawing/2014/main" id="{02F8BAF1-4DD4-4A43-A2D5-82A3BE210D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593293" y="-2024529"/>
                      <a:ext cx="6971157" cy="2349672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B8E6F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6858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dirty="0">
                        <a:solidFill>
                          <a:srgbClr val="00619E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858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When </a:t>
                      </a:r>
                      <a:r>
                        <a:rPr lang="en-US" sz="2000" b="1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dividing fractions</a:t>
                      </a:r>
                      <a:r>
                        <a:rPr lang="en-US" sz="2000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, the division statement can be rewritten as an equivalent multiplication sentence by using the </a:t>
                      </a:r>
                      <a:r>
                        <a:rPr lang="en-US" sz="2000" b="1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reciprocal</a:t>
                      </a:r>
                      <a:r>
                        <a:rPr lang="en-US" sz="2000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, or multiplicative inverse,</a:t>
                      </a:r>
                      <a:r>
                        <a:rPr lang="en-US" sz="2000" b="1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of the second fraction.</a:t>
                      </a:r>
                      <a:endParaRPr lang="en-US" sz="2000" i="1" dirty="0"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858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20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÷ 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US" sz="20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= 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20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× 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0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= 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15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en-US" sz="20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= 1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den>
                          </m:f>
                        </m:oMath>
                      </a14:m>
                      <a:r>
                        <a:rPr lang="en-US" sz="2000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000" i="1" dirty="0"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858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i="1" dirty="0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4" name="Rounded Rectangle 12">
                      <a:extLst>
                        <a:ext uri="{FF2B5EF4-FFF2-40B4-BE49-F238E27FC236}">
                          <a16:creationId xmlns:a16="http://schemas.microsoft.com/office/drawing/2014/main" id="{02F8BAF1-4DD4-4A43-A2D5-82A3BE210D0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593293" y="-2024529"/>
                      <a:ext cx="6971157" cy="2349672"/>
                    </a:xfrm>
                    <a:prstGeom prst="roundRect">
                      <a:avLst>
                        <a:gd name="adj" fmla="val 16667"/>
                      </a:avLst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9" name="image15.png" descr="Icon&#10;&#10;Description automatically generated">
              <a:extLst>
                <a:ext uri="{FF2B5EF4-FFF2-40B4-BE49-F238E27FC236}">
                  <a16:creationId xmlns:a16="http://schemas.microsoft.com/office/drawing/2014/main" id="{A7B2A79F-BB7D-4283-9896-D50D685A67DA}"/>
                </a:ext>
              </a:extLst>
            </p:cNvPr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-367896" y="-1784644"/>
              <a:ext cx="539750" cy="53975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37E1BE1-1470-4DF9-A503-4AB546514BBF}"/>
              </a:ext>
            </a:extLst>
          </p:cNvPr>
          <p:cNvGrpSpPr/>
          <p:nvPr/>
        </p:nvGrpSpPr>
        <p:grpSpPr>
          <a:xfrm>
            <a:off x="1994914" y="2690495"/>
            <a:ext cx="7415786" cy="2563789"/>
            <a:chOff x="1244914" y="3373600"/>
            <a:chExt cx="7415786" cy="256395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E818E41-80EF-4B76-9BD3-5A036E88B5A2}"/>
                </a:ext>
              </a:extLst>
            </p:cNvPr>
            <p:cNvGrpSpPr/>
            <p:nvPr/>
          </p:nvGrpSpPr>
          <p:grpSpPr>
            <a:xfrm>
              <a:off x="1244914" y="3373600"/>
              <a:ext cx="7415786" cy="2563959"/>
              <a:chOff x="1244914" y="3373600"/>
              <a:chExt cx="7415786" cy="256395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E264A5E-A1B9-4D65-8890-194001D29D0B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i="1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36CAE89-75CE-4CA5-AB03-21D29EED0183}"/>
                  </a:ext>
                </a:extLst>
              </p:cNvPr>
              <p:cNvGrpSpPr/>
              <p:nvPr/>
            </p:nvGrpSpPr>
            <p:grpSpPr>
              <a:xfrm>
                <a:off x="1244914" y="3373600"/>
                <a:ext cx="7415786" cy="2563959"/>
                <a:chOff x="-786386" y="0"/>
                <a:chExt cx="7415786" cy="2563959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21717F91-2EA3-4126-806D-E764E1AA651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600" i="1">
                      <a:latin typeface="Cambria Math" panose="020405030504060302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Rounded Rectangle 18">
                      <a:extLst>
                        <a:ext uri="{FF2B5EF4-FFF2-40B4-BE49-F238E27FC236}">
                          <a16:creationId xmlns:a16="http://schemas.microsoft.com/office/drawing/2014/main" id="{65F0260C-159D-405A-B60E-1D378200A3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786386" y="1087358"/>
                      <a:ext cx="6971157" cy="1476601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2EED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6858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1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Existence of multiplicative inverses</a:t>
                      </a:r>
                      <a:endParaRPr lang="en-US" sz="20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858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For every</a:t>
                      </a:r>
                      <a:r>
                        <a:rPr lang="en-US" sz="2000" i="1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𝑎</m:t>
                          </m:r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≠0</m:t>
                          </m:r>
                        </m:oMath>
                      </a14:m>
                      <a:r>
                        <a:rPr lang="en-US" sz="2000" i="1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there exists</a:t>
                      </a:r>
                      <a:r>
                        <a:rPr lang="en-US" sz="2000" i="1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𝑎</m:t>
                              </m:r>
                            </m:den>
                          </m:f>
                        </m:oMath>
                      </a14:m>
                      <a:r>
                        <a:rPr lang="en-US" sz="2000" i="1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 that</a:t>
                      </a:r>
                      <a:r>
                        <a:rPr lang="en-US" sz="2000" i="1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𝑎</m:t>
                          </m:r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=1</m:t>
                          </m:r>
                        </m:oMath>
                      </a14:m>
                      <a:r>
                        <a:rPr lang="en-US" sz="2000" i="1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and</a:t>
                      </a:r>
                      <a:r>
                        <a:rPr lang="en-US" sz="2000" i="1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×</m:t>
                          </m:r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𝑎</m:t>
                          </m:r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=1</m:t>
                          </m:r>
                        </m:oMath>
                      </a14:m>
                      <a:r>
                        <a:rPr lang="en-US" sz="2000" i="1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.</a:t>
                      </a:r>
                      <a:endParaRPr lang="en-US" sz="20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Rounded Rectangle 18">
                      <a:extLst>
                        <a:ext uri="{FF2B5EF4-FFF2-40B4-BE49-F238E27FC236}">
                          <a16:creationId xmlns:a16="http://schemas.microsoft.com/office/drawing/2014/main" id="{65F0260C-159D-405A-B60E-1D378200A30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786386" y="1087358"/>
                      <a:ext cx="6971157" cy="1476601"/>
                    </a:xfrm>
                    <a:prstGeom prst="roundRect">
                      <a:avLst>
                        <a:gd name="adj" fmla="val 16667"/>
                      </a:avLst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21" name="Shape 7" descr="Icon&#10;&#10;Description automatically generated">
                  <a:extLst>
                    <a:ext uri="{FF2B5EF4-FFF2-40B4-BE49-F238E27FC236}">
                      <a16:creationId xmlns:a16="http://schemas.microsoft.com/office/drawing/2014/main" id="{EED87B28-807F-445E-B9C9-23DE725E3976}"/>
                    </a:ext>
                  </a:extLst>
                </p:cNvPr>
                <p:cNvPicPr preferRelativeResize="0"/>
                <p:nvPr/>
              </p:nvPicPr>
              <p:blipFill rotWithShape="1">
                <a:blip r:embed="rId7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-630295" y="1194518"/>
                  <a:ext cx="539750" cy="53975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1254347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8446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764446" y="64944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98716" y="315686"/>
                <a:ext cx="9144000" cy="75185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With the tape diagrams, you determined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÷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 4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.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The standard algorithm can also be used to determine the quotient.</a:t>
                </a:r>
              </a:p>
              <a:p>
                <a:pPr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Find the quotient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÷ 2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using the algorithm.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5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914400" indent="-573088">
                  <a:lnSpc>
                    <a:spcPct val="107000"/>
                  </a:lnSpc>
                  <a:buFont typeface="+mj-lt"/>
                  <a:buAutoNum type="alphaLcPeriod" startAt="3"/>
                  <a:tabLst>
                    <a:tab pos="1041400" algn="l"/>
                  </a:tabLst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tabLst>
                    <a:tab pos="1041400" algn="l"/>
                  </a:tabLst>
                </a:pPr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800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  <a:tabLst>
                    <a:tab pos="1041400" algn="l"/>
                  </a:tabLst>
                </a:pPr>
                <a:endParaRPr lang="en-US" sz="1800" i="1" dirty="0">
                  <a:latin typeface="Cambria Math" panose="02040503050406030204" pitchFamily="18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07000"/>
                  </a:lnSpc>
                  <a:tabLst>
                    <a:tab pos="1041400" algn="l"/>
                  </a:tabLst>
                </a:pPr>
                <a:endParaRPr lang="en-US" sz="2000" i="1" dirty="0">
                  <a:latin typeface="Cambria Mah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  <a:tabLst>
                    <a:tab pos="1041400" algn="l"/>
                  </a:tabLst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716" y="315686"/>
                <a:ext cx="9144000" cy="7518597"/>
              </a:xfrm>
              <a:prstGeom prst="rect">
                <a:avLst/>
              </a:prstGeom>
              <a:blipFill>
                <a:blip r:embed="rId4"/>
                <a:stretch>
                  <a:fillRect l="-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54642BD-4BD0-485D-A19C-B04C7C9626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6141682"/>
                  </p:ext>
                </p:extLst>
              </p:nvPr>
            </p:nvGraphicFramePr>
            <p:xfrm>
              <a:off x="1932432" y="2000840"/>
              <a:ext cx="7419915" cy="3208631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166224">
                      <a:extLst>
                        <a:ext uri="{9D8B030D-6E8A-4147-A177-3AD203B41FA5}">
                          <a16:colId xmlns:a16="http://schemas.microsoft.com/office/drawing/2014/main" val="3263314340"/>
                        </a:ext>
                      </a:extLst>
                    </a:gridCol>
                    <a:gridCol w="3253691">
                      <a:extLst>
                        <a:ext uri="{9D8B030D-6E8A-4147-A177-3AD203B41FA5}">
                          <a16:colId xmlns:a16="http://schemas.microsoft.com/office/drawing/2014/main" val="2819152847"/>
                        </a:ext>
                      </a:extLst>
                    </a:gridCol>
                  </a:tblGrid>
                  <a:tr h="65324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3876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Write the given division expression.</a:t>
                          </a:r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387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÷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25377556"/>
                      </a:ext>
                    </a:extLst>
                  </a:tr>
                  <a:tr h="910382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3876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Rewrite the expression, rewriting any mixed numbers as fractions greater than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.</a:t>
                          </a:r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387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÷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55322446"/>
                      </a:ext>
                    </a:extLst>
                  </a:tr>
                  <a:tr h="90816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3876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Rewrite the division using multiplication by the reciprocal of the second fraction.</a:t>
                          </a:r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387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26845345"/>
                      </a:ext>
                    </a:extLst>
                  </a:tr>
                  <a:tr h="65324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38760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Multiply the fractions and simplify.</a:t>
                          </a:r>
                          <a:endParaRPr lang="en-US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387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52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=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= 4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727611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54642BD-4BD0-485D-A19C-B04C7C9626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6141682"/>
                  </p:ext>
                </p:extLst>
              </p:nvPr>
            </p:nvGraphicFramePr>
            <p:xfrm>
              <a:off x="1932432" y="2000840"/>
              <a:ext cx="7419915" cy="3208631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166224">
                      <a:extLst>
                        <a:ext uri="{9D8B030D-6E8A-4147-A177-3AD203B41FA5}">
                          <a16:colId xmlns:a16="http://schemas.microsoft.com/office/drawing/2014/main" val="3263314340"/>
                        </a:ext>
                      </a:extLst>
                    </a:gridCol>
                    <a:gridCol w="3253691">
                      <a:extLst>
                        <a:ext uri="{9D8B030D-6E8A-4147-A177-3AD203B41FA5}">
                          <a16:colId xmlns:a16="http://schemas.microsoft.com/office/drawing/2014/main" val="2819152847"/>
                        </a:ext>
                      </a:extLst>
                    </a:gridCol>
                  </a:tblGrid>
                  <a:tr h="65324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3876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Write the given division expression.</a:t>
                          </a:r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8464" t="-10280" r="-375" b="-4140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5377556"/>
                      </a:ext>
                    </a:extLst>
                  </a:tr>
                  <a:tr h="9526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2" t="-75159" r="-78363" b="-1821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8464" t="-75159" r="-375" b="-1821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5322446"/>
                      </a:ext>
                    </a:extLst>
                  </a:tr>
                  <a:tr h="94951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3876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Rewrite the division using multiplication by the reciprocal of the second fraction.</a:t>
                          </a:r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8464" t="-176282" r="-375" b="-8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6845345"/>
                      </a:ext>
                    </a:extLst>
                  </a:tr>
                  <a:tr h="65324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38760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Multiply the fractions and simplify.</a:t>
                          </a:r>
                          <a:endParaRPr lang="en-US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8464" t="-402804" r="-375" b="-214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7611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81352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0" y="618545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7314750" y="6509657"/>
            <a:ext cx="417514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85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00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1824" y="-180903"/>
            <a:ext cx="1148007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2.8.3 Guided Practice: Dividing Fractions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7314749" y="6429468"/>
            <a:ext cx="416425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85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016" y="107043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766920" y="1157157"/>
            <a:ext cx="8327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Complete the table to find each quotient.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46CE9362-15C8-D54E-981B-E2717DFC665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8E807ED-4F2D-4F29-AEAF-740C044552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9505833"/>
                  </p:ext>
                </p:extLst>
              </p:nvPr>
            </p:nvGraphicFramePr>
            <p:xfrm>
              <a:off x="2238066" y="1938958"/>
              <a:ext cx="7405634" cy="447815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81353">
                      <a:extLst>
                        <a:ext uri="{9D8B030D-6E8A-4147-A177-3AD203B41FA5}">
                          <a16:colId xmlns:a16="http://schemas.microsoft.com/office/drawing/2014/main" val="2935579799"/>
                        </a:ext>
                      </a:extLst>
                    </a:gridCol>
                    <a:gridCol w="1882043">
                      <a:extLst>
                        <a:ext uri="{9D8B030D-6E8A-4147-A177-3AD203B41FA5}">
                          <a16:colId xmlns:a16="http://schemas.microsoft.com/office/drawing/2014/main" val="1104349261"/>
                        </a:ext>
                      </a:extLst>
                    </a:gridCol>
                    <a:gridCol w="2093375">
                      <a:extLst>
                        <a:ext uri="{9D8B030D-6E8A-4147-A177-3AD203B41FA5}">
                          <a16:colId xmlns:a16="http://schemas.microsoft.com/office/drawing/2014/main" val="1379156035"/>
                        </a:ext>
                      </a:extLst>
                    </a:gridCol>
                    <a:gridCol w="1548863">
                      <a:extLst>
                        <a:ext uri="{9D8B030D-6E8A-4147-A177-3AD203B41FA5}">
                          <a16:colId xmlns:a16="http://schemas.microsoft.com/office/drawing/2014/main" val="595891014"/>
                        </a:ext>
                      </a:extLst>
                    </a:gridCol>
                  </a:tblGrid>
                  <a:tr h="1588898">
                    <a:tc>
                      <a:txBody>
                        <a:bodyPr/>
                        <a:lstStyle/>
                        <a:p>
                          <a:pPr marL="0" marR="0" indent="698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Division Sentence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Rewritten as Fractions (If Needed)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Equivalent Multiplication Sentence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Quotient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1390002"/>
                      </a:ext>
                    </a:extLst>
                  </a:tr>
                  <a:tr h="7223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÷ 2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extLst>
                      <a:ext uri="{0D108BD9-81ED-4DB2-BD59-A6C34878D82A}">
                        <a16:rowId xmlns:a16="http://schemas.microsoft.com/office/drawing/2014/main" val="2679136637"/>
                      </a:ext>
                    </a:extLst>
                  </a:tr>
                  <a:tr h="7223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÷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extLst>
                      <a:ext uri="{0D108BD9-81ED-4DB2-BD59-A6C34878D82A}">
                        <a16:rowId xmlns:a16="http://schemas.microsoft.com/office/drawing/2014/main" val="3967153025"/>
                      </a:ext>
                    </a:extLst>
                  </a:tr>
                  <a:tr h="7223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÷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extLst>
                      <a:ext uri="{0D108BD9-81ED-4DB2-BD59-A6C34878D82A}">
                        <a16:rowId xmlns:a16="http://schemas.microsoft.com/office/drawing/2014/main" val="3038928115"/>
                      </a:ext>
                    </a:extLst>
                  </a:tr>
                  <a:tr h="7223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÷ 1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extLst>
                      <a:ext uri="{0D108BD9-81ED-4DB2-BD59-A6C34878D82A}">
                        <a16:rowId xmlns:a16="http://schemas.microsoft.com/office/drawing/2014/main" val="13321440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8E807ED-4F2D-4F29-AEAF-740C044552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9505833"/>
                  </p:ext>
                </p:extLst>
              </p:nvPr>
            </p:nvGraphicFramePr>
            <p:xfrm>
              <a:off x="2238066" y="1938958"/>
              <a:ext cx="7405634" cy="447815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81353">
                      <a:extLst>
                        <a:ext uri="{9D8B030D-6E8A-4147-A177-3AD203B41FA5}">
                          <a16:colId xmlns:a16="http://schemas.microsoft.com/office/drawing/2014/main" val="2935579799"/>
                        </a:ext>
                      </a:extLst>
                    </a:gridCol>
                    <a:gridCol w="1882043">
                      <a:extLst>
                        <a:ext uri="{9D8B030D-6E8A-4147-A177-3AD203B41FA5}">
                          <a16:colId xmlns:a16="http://schemas.microsoft.com/office/drawing/2014/main" val="1104349261"/>
                        </a:ext>
                      </a:extLst>
                    </a:gridCol>
                    <a:gridCol w="2093375">
                      <a:extLst>
                        <a:ext uri="{9D8B030D-6E8A-4147-A177-3AD203B41FA5}">
                          <a16:colId xmlns:a16="http://schemas.microsoft.com/office/drawing/2014/main" val="1379156035"/>
                        </a:ext>
                      </a:extLst>
                    </a:gridCol>
                    <a:gridCol w="1548863">
                      <a:extLst>
                        <a:ext uri="{9D8B030D-6E8A-4147-A177-3AD203B41FA5}">
                          <a16:colId xmlns:a16="http://schemas.microsoft.com/office/drawing/2014/main" val="595891014"/>
                        </a:ext>
                      </a:extLst>
                    </a:gridCol>
                  </a:tblGrid>
                  <a:tr h="1588898">
                    <a:tc>
                      <a:txBody>
                        <a:bodyPr/>
                        <a:lstStyle/>
                        <a:p>
                          <a:pPr marL="0" marR="0" indent="698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Division Sentence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Rewritten as Fractions (If Needed)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Equivalent Multiplication Sentence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Quotient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1390002"/>
                      </a:ext>
                    </a:extLst>
                  </a:tr>
                  <a:tr h="7223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266" marR="68266" marT="0" marB="0" anchor="ctr">
                        <a:blipFill>
                          <a:blip r:embed="rId5"/>
                          <a:stretch>
                            <a:fillRect l="-324" t="-233051" r="-293851" b="-3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extLst>
                      <a:ext uri="{0D108BD9-81ED-4DB2-BD59-A6C34878D82A}">
                        <a16:rowId xmlns:a16="http://schemas.microsoft.com/office/drawing/2014/main" val="2679136637"/>
                      </a:ext>
                    </a:extLst>
                  </a:tr>
                  <a:tr h="7223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266" marR="68266" marT="0" marB="0" anchor="ctr">
                        <a:blipFill>
                          <a:blip r:embed="rId5"/>
                          <a:stretch>
                            <a:fillRect l="-324" t="-330252" r="-293851" b="-2008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extLst>
                      <a:ext uri="{0D108BD9-81ED-4DB2-BD59-A6C34878D82A}">
                        <a16:rowId xmlns:a16="http://schemas.microsoft.com/office/drawing/2014/main" val="3967153025"/>
                      </a:ext>
                    </a:extLst>
                  </a:tr>
                  <a:tr h="7223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266" marR="68266" marT="0" marB="0" anchor="ctr">
                        <a:blipFill>
                          <a:blip r:embed="rId5"/>
                          <a:stretch>
                            <a:fillRect l="-324" t="-433898" r="-293851" b="-102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extLst>
                      <a:ext uri="{0D108BD9-81ED-4DB2-BD59-A6C34878D82A}">
                        <a16:rowId xmlns:a16="http://schemas.microsoft.com/office/drawing/2014/main" val="3038928115"/>
                      </a:ext>
                    </a:extLst>
                  </a:tr>
                  <a:tr h="7223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266" marR="68266" marT="0" marB="0" anchor="ctr">
                        <a:blipFill>
                          <a:blip r:embed="rId5"/>
                          <a:stretch>
                            <a:fillRect l="-324" t="-529412" r="-293851" b="-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266" marR="68266" marT="0" marB="0" anchor="ctr"/>
                    </a:tc>
                    <a:extLst>
                      <a:ext uri="{0D108BD9-81ED-4DB2-BD59-A6C34878D82A}">
                        <a16:rowId xmlns:a16="http://schemas.microsoft.com/office/drawing/2014/main" val="133214402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118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7314750" y="6422571"/>
            <a:ext cx="4153368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664371" y="628835"/>
            <a:ext cx="9704397" cy="1025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 startAt="2"/>
              <a:tabLst>
                <a:tab pos="2216150" algn="l"/>
              </a:tabLst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each quotient using your preferred method. Simplify when possible.</a:t>
            </a:r>
          </a:p>
          <a:p>
            <a:pPr marL="342900" indent="-342900">
              <a:lnSpc>
                <a:spcPct val="107000"/>
              </a:lnSpc>
              <a:buFont typeface="+mj-lt"/>
              <a:buAutoNum type="arabicPeriod" startAt="2"/>
              <a:tabLst>
                <a:tab pos="2216150" algn="l"/>
              </a:tabLst>
            </a:pPr>
            <a:endParaRPr lang="en-US" sz="18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01E1BEEC-C47B-3A48-99B3-7CB267A11974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6C382C2-E869-4089-A64C-0C0E68788A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1253887"/>
                  </p:ext>
                </p:extLst>
              </p:nvPr>
            </p:nvGraphicFramePr>
            <p:xfrm>
              <a:off x="1776689" y="1689314"/>
              <a:ext cx="6949440" cy="3200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000500">
                      <a:extLst>
                        <a:ext uri="{9D8B030D-6E8A-4147-A177-3AD203B41FA5}">
                          <a16:colId xmlns:a16="http://schemas.microsoft.com/office/drawing/2014/main" val="2689324627"/>
                        </a:ext>
                      </a:extLst>
                    </a:gridCol>
                    <a:gridCol w="2948940">
                      <a:extLst>
                        <a:ext uri="{9D8B030D-6E8A-4147-A177-3AD203B41FA5}">
                          <a16:colId xmlns:a16="http://schemas.microsoft.com/office/drawing/2014/main" val="3591933443"/>
                        </a:ext>
                      </a:extLst>
                    </a:gridCol>
                  </a:tblGrid>
                  <a:tr h="3200400"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  <a:tabLst>
                              <a:tab pos="2216150" algn="l"/>
                            </a:tabLs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a.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÷ 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i="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                                         </a:t>
                          </a: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b.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  <a:tabLst>
                              <a:tab pos="2216150" algn="l"/>
                            </a:tabLs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8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÷ 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7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i="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757835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6C382C2-E869-4089-A64C-0C0E68788A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1253887"/>
                  </p:ext>
                </p:extLst>
              </p:nvPr>
            </p:nvGraphicFramePr>
            <p:xfrm>
              <a:off x="1776689" y="1689314"/>
              <a:ext cx="6949440" cy="3200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000500">
                      <a:extLst>
                        <a:ext uri="{9D8B030D-6E8A-4147-A177-3AD203B41FA5}">
                          <a16:colId xmlns:a16="http://schemas.microsoft.com/office/drawing/2014/main" val="2689324627"/>
                        </a:ext>
                      </a:extLst>
                    </a:gridCol>
                    <a:gridCol w="2948940">
                      <a:extLst>
                        <a:ext uri="{9D8B030D-6E8A-4147-A177-3AD203B41FA5}">
                          <a16:colId xmlns:a16="http://schemas.microsoft.com/office/drawing/2014/main" val="3591933443"/>
                        </a:ext>
                      </a:extLst>
                    </a:gridCol>
                  </a:tblGrid>
                  <a:tr h="3200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r="-736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1357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757835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254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7314749" y="6466113"/>
            <a:ext cx="420779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85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5462" y="613461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41824" y="115367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2.8.4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524" y="136525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7261020" y="6477000"/>
            <a:ext cx="4174442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768174" y="1313878"/>
            <a:ext cx="8327136" cy="1087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Find each quotient. Simplify when possible.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8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8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134A47CD-5DBB-654A-843E-9182A1B8FB7F}"/>
              </a:ext>
            </a:extLst>
          </p:cNvPr>
          <p:cNvSpPr/>
          <p:nvPr/>
        </p:nvSpPr>
        <p:spPr>
          <a:xfrm>
            <a:off x="0" y="-8224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5A5DD5E-9C69-4195-ACF0-63CE65401A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0772853"/>
                  </p:ext>
                </p:extLst>
              </p:nvPr>
            </p:nvGraphicFramePr>
            <p:xfrm>
              <a:off x="2464052" y="2120203"/>
              <a:ext cx="8081488" cy="408039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17215">
                      <a:extLst>
                        <a:ext uri="{9D8B030D-6E8A-4147-A177-3AD203B41FA5}">
                          <a16:colId xmlns:a16="http://schemas.microsoft.com/office/drawing/2014/main" val="1920048937"/>
                        </a:ext>
                      </a:extLst>
                    </a:gridCol>
                    <a:gridCol w="2686615">
                      <a:extLst>
                        <a:ext uri="{9D8B030D-6E8A-4147-A177-3AD203B41FA5}">
                          <a16:colId xmlns:a16="http://schemas.microsoft.com/office/drawing/2014/main" val="2741842046"/>
                        </a:ext>
                      </a:extLst>
                    </a:gridCol>
                    <a:gridCol w="2577658">
                      <a:extLst>
                        <a:ext uri="{9D8B030D-6E8A-4147-A177-3AD203B41FA5}">
                          <a16:colId xmlns:a16="http://schemas.microsoft.com/office/drawing/2014/main" val="4098698994"/>
                        </a:ext>
                      </a:extLst>
                    </a:gridCol>
                  </a:tblGrid>
                  <a:tr h="1360881"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a.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18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÷ 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9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	</a:t>
                          </a:r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370" marR="323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b.</a:t>
                          </a:r>
                          <a:r>
                            <a:rPr lang="en-US" sz="2000" i="0" baseline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÷ 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	</a:t>
                          </a:r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370" marR="323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c.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15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÷ 6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370" marR="323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47658754"/>
                      </a:ext>
                    </a:extLst>
                  </a:tr>
                  <a:tr h="1385334"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d.</a:t>
                          </a:r>
                          <a:r>
                            <a:rPr lang="en-US" sz="2000" i="0" baseline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9 ÷ 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370" marR="323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e.</a:t>
                          </a:r>
                          <a:r>
                            <a:rPr lang="en-US" sz="2000" i="0" baseline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9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÷ 5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	</a:t>
                          </a:r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370" marR="323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f.</a:t>
                          </a:r>
                          <a:r>
                            <a:rPr lang="en-US" sz="2000" i="0" baseline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20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÷ 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370" marR="323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51742331"/>
                      </a:ext>
                    </a:extLst>
                  </a:tr>
                  <a:tr h="1334182"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g.</a:t>
                          </a:r>
                          <a:r>
                            <a:rPr lang="en-US" sz="2000" i="0" baseline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÷ 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7</m:t>
                                  </m:r>
                                </m:den>
                              </m:f>
                            </m:oMath>
                          </a14:m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370" marR="323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h.</a:t>
                          </a:r>
                          <a:r>
                            <a:rPr lang="en-US" sz="2000" i="0" baseline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 ÷ 3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15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	</a:t>
                          </a:r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370" marR="323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i="0" dirty="0" err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r>
                            <a:rPr lang="en-US" sz="2000" i="0" baseline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÷ 5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370" marR="323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722902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5A5DD5E-9C69-4195-ACF0-63CE65401A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0772853"/>
                  </p:ext>
                </p:extLst>
              </p:nvPr>
            </p:nvGraphicFramePr>
            <p:xfrm>
              <a:off x="2464052" y="2120203"/>
              <a:ext cx="8081488" cy="408039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17215">
                      <a:extLst>
                        <a:ext uri="{9D8B030D-6E8A-4147-A177-3AD203B41FA5}">
                          <a16:colId xmlns:a16="http://schemas.microsoft.com/office/drawing/2014/main" val="1920048937"/>
                        </a:ext>
                      </a:extLst>
                    </a:gridCol>
                    <a:gridCol w="2686615">
                      <a:extLst>
                        <a:ext uri="{9D8B030D-6E8A-4147-A177-3AD203B41FA5}">
                          <a16:colId xmlns:a16="http://schemas.microsoft.com/office/drawing/2014/main" val="2741842046"/>
                        </a:ext>
                      </a:extLst>
                    </a:gridCol>
                    <a:gridCol w="2577658">
                      <a:extLst>
                        <a:ext uri="{9D8B030D-6E8A-4147-A177-3AD203B41FA5}">
                          <a16:colId xmlns:a16="http://schemas.microsoft.com/office/drawing/2014/main" val="4098698994"/>
                        </a:ext>
                      </a:extLst>
                    </a:gridCol>
                  </a:tblGrid>
                  <a:tr h="13608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370" marR="323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r="-187013" b="-1995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370" marR="323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04762" r="-95918" b="-1995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370" marR="323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213475" b="-1995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7658754"/>
                      </a:ext>
                    </a:extLst>
                  </a:tr>
                  <a:tr h="13853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370" marR="323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98246" r="-187013" b="-96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370" marR="323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04762" t="-98246" r="-95918" b="-96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370" marR="323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213475" t="-98246" b="-96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1742331"/>
                      </a:ext>
                    </a:extLst>
                  </a:tr>
                  <a:tr h="13341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370" marR="323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206393" r="-1870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370" marR="323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04762" t="-206393" r="-95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370" marR="3237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213475" t="-2063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229023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7314749" y="6422571"/>
            <a:ext cx="42186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86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7314750" y="6503258"/>
            <a:ext cx="420779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86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254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27338" y="-207103"/>
            <a:ext cx="948334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2.8.5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0659" y="8209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468086" y="1386025"/>
            <a:ext cx="99194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 each product or quotient. Simplify when possible.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-7729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91F95E-CBAE-442C-875B-78958665F8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2398579"/>
                  </p:ext>
                </p:extLst>
              </p:nvPr>
            </p:nvGraphicFramePr>
            <p:xfrm>
              <a:off x="1502229" y="2100105"/>
              <a:ext cx="9246158" cy="382172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23079">
                      <a:extLst>
                        <a:ext uri="{9D8B030D-6E8A-4147-A177-3AD203B41FA5}">
                          <a16:colId xmlns:a16="http://schemas.microsoft.com/office/drawing/2014/main" val="3893136187"/>
                        </a:ext>
                      </a:extLst>
                    </a:gridCol>
                    <a:gridCol w="4623079">
                      <a:extLst>
                        <a:ext uri="{9D8B030D-6E8A-4147-A177-3AD203B41FA5}">
                          <a16:colId xmlns:a16="http://schemas.microsoft.com/office/drawing/2014/main" val="2399751211"/>
                        </a:ext>
                      </a:extLst>
                    </a:gridCol>
                  </a:tblGrid>
                  <a:tr h="2480524"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a.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11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÷ 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i="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635" marR="40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b.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23</m:t>
                                      </m:r>
                                    </m:den>
                                  </m:f>
                                </m:e>
                              </m:d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  <m:f>
                                    <m:fPr>
                                      <m:ctrlP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23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635" marR="40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51821044"/>
                      </a:ext>
                    </a:extLst>
                  </a:tr>
                  <a:tr h="1341200"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c.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 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27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32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× 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182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635" marR="40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d.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÷ 4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i="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635" marR="40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630664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91F95E-CBAE-442C-875B-78958665F8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2398579"/>
                  </p:ext>
                </p:extLst>
              </p:nvPr>
            </p:nvGraphicFramePr>
            <p:xfrm>
              <a:off x="1502229" y="2100105"/>
              <a:ext cx="9246158" cy="382172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23079">
                      <a:extLst>
                        <a:ext uri="{9D8B030D-6E8A-4147-A177-3AD203B41FA5}">
                          <a16:colId xmlns:a16="http://schemas.microsoft.com/office/drawing/2014/main" val="3893136187"/>
                        </a:ext>
                      </a:extLst>
                    </a:gridCol>
                    <a:gridCol w="4623079">
                      <a:extLst>
                        <a:ext uri="{9D8B030D-6E8A-4147-A177-3AD203B41FA5}">
                          <a16:colId xmlns:a16="http://schemas.microsoft.com/office/drawing/2014/main" val="2399751211"/>
                        </a:ext>
                      </a:extLst>
                    </a:gridCol>
                  </a:tblGrid>
                  <a:tr h="24805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635" marR="40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r="-100000" b="-5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635" marR="40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00000" b="-539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1821044"/>
                      </a:ext>
                    </a:extLst>
                  </a:tr>
                  <a:tr h="1341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635" marR="40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185455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635" marR="40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00000" t="-18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30664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1286</TotalTime>
  <Words>844</Words>
  <Application>Microsoft Office PowerPoint</Application>
  <PresentationFormat>Widescreen</PresentationFormat>
  <Paragraphs>220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Verdana</vt:lpstr>
      <vt:lpstr>Cambria Mah</vt:lpstr>
      <vt:lpstr>Century Gothic</vt:lpstr>
      <vt:lpstr>Calibri</vt:lpstr>
      <vt:lpstr>Arial Black</vt:lpstr>
      <vt:lpstr>Cambria Math</vt:lpstr>
      <vt:lpstr>Arial</vt:lpstr>
      <vt:lpstr>1_Office Theme</vt:lpstr>
      <vt:lpstr>6th Grade Math  Unit 2, Lesson 8  Dividing Positive Fractions  Volume 1, pg. 81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vaanmx</cp:lastModifiedBy>
  <cp:revision>21</cp:revision>
  <dcterms:created xsi:type="dcterms:W3CDTF">2015-03-17T18:51:18Z</dcterms:created>
  <dcterms:modified xsi:type="dcterms:W3CDTF">2022-06-04T23:56:27Z</dcterms:modified>
</cp:coreProperties>
</file>