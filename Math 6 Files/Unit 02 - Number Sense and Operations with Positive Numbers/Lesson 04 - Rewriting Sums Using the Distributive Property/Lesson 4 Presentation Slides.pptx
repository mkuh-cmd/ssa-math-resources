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85" r:id="rId4"/>
    <p:sldId id="286" r:id="rId5"/>
    <p:sldId id="261" r:id="rId6"/>
    <p:sldId id="287" r:id="rId7"/>
    <p:sldId id="288" r:id="rId8"/>
    <p:sldId id="314" r:id="rId9"/>
    <p:sldId id="315" r:id="rId10"/>
    <p:sldId id="316" r:id="rId11"/>
    <p:sldId id="289" r:id="rId12"/>
    <p:sldId id="290" r:id="rId13"/>
    <p:sldId id="308" r:id="rId14"/>
    <p:sldId id="335" r:id="rId15"/>
    <p:sldId id="336" r:id="rId16"/>
    <p:sldId id="337" r:id="rId17"/>
    <p:sldId id="332" r:id="rId18"/>
    <p:sldId id="333" r:id="rId19"/>
    <p:sldId id="334" r:id="rId20"/>
    <p:sldId id="302" r:id="rId21"/>
    <p:sldId id="339" r:id="rId22"/>
    <p:sldId id="338" r:id="rId23"/>
    <p:sldId id="306" r:id="rId24"/>
    <p:sldId id="307" r:id="rId25"/>
  </p:sldIdLst>
  <p:sldSz cx="12192000" cy="6858000"/>
  <p:notesSz cx="6858000" cy="9144000"/>
  <p:embeddedFontLst>
    <p:embeddedFont>
      <p:font typeface="Arial Black" panose="020B0A04020102020204" pitchFamily="34" charset="0"/>
      <p:regular r:id="rId27"/>
      <p:bold r:id="rId28"/>
    </p:embeddedFont>
    <p:embeddedFont>
      <p:font typeface="Calibri" panose="020F0502020204030204" pitchFamily="34" charset="0"/>
      <p:regular r:id="rId29"/>
      <p:bold r:id="rId30"/>
      <p:italic r:id="rId31"/>
      <p:boldItalic r:id="rId32"/>
    </p:embeddedFont>
    <p:embeddedFont>
      <p:font typeface="Cambria Math" panose="02040503050406030204" pitchFamily="18" charset="0"/>
      <p:regular r:id="rId33"/>
    </p:embeddedFont>
    <p:embeddedFont>
      <p:font typeface="Century Gothic" panose="020B0502020202020204" pitchFamily="34" charset="0"/>
      <p:regular r:id="rId34"/>
      <p:bold r:id="rId35"/>
      <p:italic r:id="rId36"/>
      <p:boldItalic r:id="rId37"/>
    </p:embeddedFont>
    <p:embeddedFont>
      <p:font typeface="Verdana" panose="020B0604030504040204" pitchFamily="34" charset="0"/>
      <p:regular r:id="rId38"/>
      <p:bold r:id="rId39"/>
      <p:italic r:id="rId40"/>
      <p:boldItalic r:id="rId4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79647"/>
    <a:srgbClr val="FCBD1E"/>
    <a:srgbClr val="C9DF6F"/>
    <a:srgbClr val="417DBF"/>
    <a:srgbClr val="3F2A67"/>
    <a:srgbClr val="E24E5F"/>
    <a:srgbClr val="26B7D4"/>
    <a:srgbClr val="54B5D1"/>
    <a:srgbClr val="33BEA6"/>
    <a:srgbClr val="2DA4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422" autoAdjust="0"/>
    <p:restoredTop sz="94694"/>
  </p:normalViewPr>
  <p:slideViewPr>
    <p:cSldViewPr snapToGrid="0">
      <p:cViewPr varScale="1">
        <p:scale>
          <a:sx n="73" d="100"/>
          <a:sy n="73" d="100"/>
        </p:scale>
        <p:origin x="912" y="6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font" Target="fonts/font13.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8.fntdata"/><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font" Target="fonts/font12.fntdata"/><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41"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font" Target="fonts/font11.fntdata"/><Relationship Id="rId40" Type="http://schemas.openxmlformats.org/officeDocument/2006/relationships/font" Target="fonts/font14.fntdata"/><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font" Target="fonts/font10.fntdata"/><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schemas.openxmlformats.org/officeDocument/2006/relationships/font" Target="fonts/font9.fntdata"/><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7</a:t>
            </a:fld>
            <a:endParaRPr/>
          </a:p>
        </p:txBody>
      </p:sp>
    </p:spTree>
    <p:extLst>
      <p:ext uri="{BB962C8B-B14F-4D97-AF65-F5344CB8AC3E}">
        <p14:creationId xmlns:p14="http://schemas.microsoft.com/office/powerpoint/2010/main" val="306399360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8</a:t>
            </a:fld>
            <a:endParaRPr/>
          </a:p>
        </p:txBody>
      </p:sp>
    </p:spTree>
    <p:extLst>
      <p:ext uri="{BB962C8B-B14F-4D97-AF65-F5344CB8AC3E}">
        <p14:creationId xmlns:p14="http://schemas.microsoft.com/office/powerpoint/2010/main" val="2580380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19134147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3918865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84807107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58333981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1588526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8191823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a:p>
        </p:txBody>
      </p:sp>
    </p:spTree>
    <p:extLst>
      <p:ext uri="{BB962C8B-B14F-4D97-AF65-F5344CB8AC3E}">
        <p14:creationId xmlns:p14="http://schemas.microsoft.com/office/powerpoint/2010/main" val="347379324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41459210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4828802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20</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29087057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23</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17.png"/><Relationship Id="rId5" Type="http://schemas.openxmlformats.org/officeDocument/2006/relationships/image" Target="../media/image160.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0.png"/><Relationship Id="rId7" Type="http://schemas.openxmlformats.org/officeDocument/2006/relationships/image" Target="../media/image22.png"/><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5" Type="http://schemas.openxmlformats.org/officeDocument/2006/relationships/image" Target="../media/image25.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27.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5.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30.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5" Type="http://schemas.openxmlformats.org/officeDocument/2006/relationships/image" Target="../media/image32.png"/><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5" Type="http://schemas.openxmlformats.org/officeDocument/2006/relationships/image" Target="../media/image35.png"/><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742834" y="2054277"/>
            <a:ext cx="4925167" cy="3194455"/>
          </a:xfrm>
          <a:prstGeom prst="rect">
            <a:avLst/>
          </a:prstGeom>
        </p:spPr>
        <p:txBody>
          <a:bodyPr spcFirstLastPara="1" wrap="square" lIns="91425" tIns="45700" rIns="91425" bIns="45700" anchor="ctr" anchorCtr="0">
            <a:noAutofit/>
          </a:bodyPr>
          <a:lstStyle/>
          <a:p>
            <a:pPr algn="ctr">
              <a:lnSpc>
                <a:spcPct val="100000"/>
              </a:lnSpc>
            </a:pPr>
            <a:r>
              <a:rPr lang="en-US" sz="3800" b="1" dirty="0">
                <a:solidFill>
                  <a:srgbClr val="417DBF"/>
                </a:solidFill>
                <a:latin typeface="Verdana"/>
                <a:ea typeface="Verdana"/>
                <a:cs typeface="Verdana"/>
                <a:sym typeface="Verdana"/>
              </a:rPr>
              <a:t>6</a:t>
            </a:r>
            <a:r>
              <a:rPr lang="en-US" sz="3800" b="1" baseline="30000" dirty="0">
                <a:solidFill>
                  <a:srgbClr val="417DBF"/>
                </a:solidFill>
                <a:latin typeface="Verdana"/>
                <a:ea typeface="Verdana"/>
                <a:cs typeface="Verdana"/>
                <a:sym typeface="Verdana"/>
              </a:rPr>
              <a:t>th</a:t>
            </a:r>
            <a:r>
              <a:rPr lang="en-US" sz="3800" b="1" dirty="0">
                <a:solidFill>
                  <a:srgbClr val="417DBF"/>
                </a:solidFill>
                <a:latin typeface="Verdana"/>
                <a:ea typeface="Verdana"/>
                <a:cs typeface="Verdana"/>
                <a:sym typeface="Verdana"/>
              </a:rPr>
              <a:t> Grade Math</a:t>
            </a:r>
            <a:br>
              <a:rPr lang="en-US" sz="3800" b="1" dirty="0">
                <a:solidFill>
                  <a:srgbClr val="417DBF"/>
                </a:solidFill>
                <a:latin typeface="Verdana"/>
                <a:ea typeface="Verdana"/>
                <a:cs typeface="Verdana"/>
                <a:sym typeface="Verdana"/>
              </a:rPr>
            </a:br>
            <a:endParaRPr lang="en-US" sz="3800" b="1" dirty="0">
              <a:solidFill>
                <a:srgbClr val="417DBF"/>
              </a:solidFill>
              <a:latin typeface="Verdana"/>
              <a:ea typeface="Verdana"/>
              <a:cs typeface="Verdana"/>
              <a:sym typeface="Verdana"/>
            </a:endParaRPr>
          </a:p>
          <a:p>
            <a:pPr algn="ctr">
              <a:lnSpc>
                <a:spcPct val="100000"/>
              </a:lnSpc>
              <a:buClr>
                <a:srgbClr val="000000"/>
              </a:buClr>
            </a:pPr>
            <a:r>
              <a:rPr lang="en-US" sz="3800" b="1" dirty="0">
                <a:solidFill>
                  <a:srgbClr val="417DBF"/>
                </a:solidFill>
                <a:latin typeface="Verdana"/>
                <a:ea typeface="Verdana"/>
                <a:cs typeface="Verdana"/>
                <a:sym typeface="Verdana"/>
              </a:rPr>
              <a:t>Unit 2, Lesson 4</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3800" b="1" dirty="0">
                <a:solidFill>
                  <a:srgbClr val="417DBF"/>
                </a:solidFill>
                <a:latin typeface="Verdana"/>
                <a:ea typeface="Verdana"/>
                <a:cs typeface="Verdana"/>
                <a:sym typeface="Verdana"/>
              </a:rPr>
              <a:t>Rewriting Sums Using the Distributive Property</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1, pg. 63</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0"/>
            <a:ext cx="4094106"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640" y="1435885"/>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470022" y="0"/>
            <a:ext cx="10569578"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581207" y="274328"/>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93800"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63</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583405" y="1345114"/>
            <a:ext cx="10994570" cy="5052879"/>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buSzPts val="1100"/>
              <a:buNone/>
            </a:pPr>
            <a:r>
              <a:rPr lang="en-US" sz="3500" dirty="0">
                <a:solidFill>
                  <a:schemeClr val="tx1"/>
                </a:solidFill>
                <a:latin typeface="Verdana"/>
                <a:ea typeface="Verdana"/>
                <a:cs typeface="Verdana"/>
                <a:sym typeface="Verdana"/>
              </a:rPr>
              <a:t>MA.6.NSO.3.2</a:t>
            </a:r>
          </a:p>
          <a:p>
            <a:pPr indent="0">
              <a:buNone/>
            </a:pPr>
            <a:r>
              <a:rPr lang="en-US" sz="3500" dirty="0">
                <a:latin typeface="Verdana" panose="020B0604030504040204" pitchFamily="34" charset="0"/>
                <a:ea typeface="Calibri" panose="020F0502020204030204" pitchFamily="34" charset="0"/>
                <a:cs typeface="Times New Roman" panose="02020603050405020304" pitchFamily="18" charset="0"/>
              </a:rPr>
              <a:t>Rewrite the sum of two composite whole numbers having a common factor, as a common factor multiplied by the sum of two whole numbers.</a:t>
            </a:r>
            <a:endParaRPr lang="en-US" sz="3500" dirty="0">
              <a:solidFill>
                <a:schemeClr val="tx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1" name="Google Shape;281;g104476d1465_1_17"/>
          <p:cNvPicPr preferRelativeResize="0"/>
          <p:nvPr/>
        </p:nvPicPr>
        <p:blipFill>
          <a:blip r:embed="rId3">
            <a:alphaModFix/>
          </a:blip>
          <a:stretch>
            <a:fillRect/>
          </a:stretch>
        </p:blipFill>
        <p:spPr>
          <a:xfrm>
            <a:off x="548550" y="230786"/>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0519"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492943" y="86124"/>
            <a:ext cx="1042691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729893"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63</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762000" y="1411823"/>
            <a:ext cx="11070771" cy="4612114"/>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35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
        <p:nvSpPr>
          <p:cNvPr id="12" name="Google Shape;278;g104476d1465_1_17">
            <a:extLst>
              <a:ext uri="{FF2B5EF4-FFF2-40B4-BE49-F238E27FC236}">
                <a16:creationId xmlns:a16="http://schemas.microsoft.com/office/drawing/2014/main" id="{79998D09-ED40-CB40-ADB3-2C926DC27F8F}"/>
              </a:ext>
            </a:extLst>
          </p:cNvPr>
          <p:cNvSpPr/>
          <p:nvPr/>
        </p:nvSpPr>
        <p:spPr>
          <a:xfrm>
            <a:off x="7631"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383145" y="30660"/>
            <a:ext cx="1069999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524785" y="178346"/>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93800" y="642714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63</a:t>
            </a: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524785" y="1553384"/>
            <a:ext cx="11312871" cy="476381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57200" indent="-450850">
              <a:buClr>
                <a:srgbClr val="434343"/>
              </a:buClr>
              <a:buSzPts val="3500"/>
              <a:buFont typeface="Verdana"/>
              <a:buChar char="❏"/>
            </a:pPr>
            <a:r>
              <a:rPr lang="en-US" sz="3500" dirty="0">
                <a:latin typeface="Verdana" panose="020B0604030504040204" pitchFamily="34" charset="0"/>
                <a:ea typeface="Verdana" panose="020B0604030504040204" pitchFamily="34" charset="0"/>
              </a:rPr>
              <a:t>I can rewrite the sum of two composite numbers with a common factor using the distributive property.</a:t>
            </a:r>
          </a:p>
        </p:txBody>
      </p:sp>
      <p:sp>
        <p:nvSpPr>
          <p:cNvPr id="9" name="Google Shape;278;g104476d1465_1_17">
            <a:extLst>
              <a:ext uri="{FF2B5EF4-FFF2-40B4-BE49-F238E27FC236}">
                <a16:creationId xmlns:a16="http://schemas.microsoft.com/office/drawing/2014/main" id="{4411E69F-FF2D-4E45-A95C-56414991DB11}"/>
              </a:ext>
            </a:extLst>
          </p:cNvPr>
          <p:cNvSpPr/>
          <p:nvPr/>
        </p:nvSpPr>
        <p:spPr>
          <a:xfrm>
            <a:off x="0" y="-8225"/>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04150" y="6444598"/>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543026" y="29021"/>
            <a:ext cx="1050801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2.4.1 Warm-Up: Secret Number</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597714" y="208996"/>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788650" y="644890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63</a:t>
            </a: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1D7562E-134F-D14B-AF1A-DF40E11EF758}"/>
                  </a:ext>
                </a:extLst>
              </p:cNvPr>
              <p:cNvSpPr txBox="1"/>
              <p:nvPr/>
            </p:nvSpPr>
            <p:spPr>
              <a:xfrm>
                <a:off x="587932" y="1245521"/>
                <a:ext cx="11322143" cy="4955203"/>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cs typeface="Times New Roman" panose="02020603050405020304" pitchFamily="18" charset="0"/>
                  </a:rPr>
                  <a:t>Juanita has a secret number. Read her clues and answer the questions that follow.</a:t>
                </a:r>
              </a:p>
              <a:p>
                <a:endParaRPr lang="en-US" sz="2000" dirty="0">
                  <a:latin typeface="Verdana" panose="020B0604030504040204" pitchFamily="34" charset="0"/>
                  <a:ea typeface="Verdana" panose="020B0604030504040204" pitchFamily="34" charset="0"/>
                  <a:cs typeface="Times New Roman" panose="02020603050405020304" pitchFamily="18" charset="0"/>
                </a:endParaRPr>
              </a:p>
              <a:p>
                <a:r>
                  <a:rPr lang="en-US" sz="2000" b="1" dirty="0">
                    <a:latin typeface="Verdana" panose="020B0604030504040204" pitchFamily="34" charset="0"/>
                    <a:ea typeface="Verdana" panose="020B0604030504040204" pitchFamily="34" charset="0"/>
                    <a:cs typeface="Times New Roman" panose="02020603050405020304" pitchFamily="18" charset="0"/>
                  </a:rPr>
                  <a:t>Clue 1:</a:t>
                </a:r>
                <a:r>
                  <a:rPr lang="en-US" sz="2000" dirty="0">
                    <a:latin typeface="Verdana" panose="020B0604030504040204" pitchFamily="34" charset="0"/>
                    <a:ea typeface="Verdana" panose="020B0604030504040204" pitchFamily="34" charset="0"/>
                    <a:cs typeface="Times New Roman" panose="02020603050405020304" pitchFamily="18" charset="0"/>
                  </a:rPr>
                  <a:t> My secret number is a factor of </a:t>
                </a:r>
                <a14:m>
                  <m:oMath xmlns:m="http://schemas.openxmlformats.org/officeDocument/2006/math">
                    <m:r>
                      <a:rPr lang="en-US" sz="2000" i="1">
                        <a:latin typeface="Cambria Math" panose="02040503050406030204" pitchFamily="18" charset="0"/>
                        <a:ea typeface="Calibri" panose="020F0502020204030204" pitchFamily="34" charset="0"/>
                        <a:cs typeface="Times New Roman" panose="02020603050405020304" pitchFamily="18" charset="0"/>
                      </a:rPr>
                      <m:t>60</m:t>
                    </m:r>
                  </m:oMath>
                </a14:m>
                <a:r>
                  <a:rPr lang="en-US" sz="2000" dirty="0">
                    <a:latin typeface="Verdana" panose="020B0604030504040204" pitchFamily="34" charset="0"/>
                    <a:ea typeface="Verdana" panose="020B0604030504040204" pitchFamily="34" charset="0"/>
                    <a:cs typeface="Times New Roman" panose="02020603050405020304" pitchFamily="18" charset="0"/>
                  </a:rPr>
                  <a:t>.</a:t>
                </a:r>
              </a:p>
              <a:p>
                <a:pPr indent="457200"/>
                <a:r>
                  <a:rPr lang="en-US" sz="2000" dirty="0">
                    <a:latin typeface="Verdana" panose="020B0604030504040204" pitchFamily="34" charset="0"/>
                    <a:ea typeface="Verdana" panose="020B0604030504040204" pitchFamily="34" charset="0"/>
                    <a:cs typeface="Times New Roman" panose="02020603050405020304" pitchFamily="18" charset="0"/>
                  </a:rPr>
                  <a:t> </a:t>
                </a:r>
              </a:p>
              <a:p>
                <a:pPr marL="342900" indent="-342900">
                  <a:buFont typeface="+mj-lt"/>
                  <a:buAutoNum type="arabicPeriod"/>
                </a:pPr>
                <a:r>
                  <a:rPr lang="en-US" sz="2000" dirty="0">
                    <a:latin typeface="Verdana" panose="020B0604030504040204" pitchFamily="34" charset="0"/>
                    <a:ea typeface="Verdana" panose="020B0604030504040204" pitchFamily="34" charset="0"/>
                    <a:cs typeface="Times New Roman" panose="02020603050405020304" pitchFamily="18" charset="0"/>
                  </a:rPr>
                  <a:t>What is the smallest value Juanita’s number could be?</a:t>
                </a: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342900" indent="-342900">
                  <a:buFont typeface="+mj-lt"/>
                  <a:buAutoNum type="arabicPeriod"/>
                </a:pPr>
                <a:r>
                  <a:rPr lang="en-US" sz="2000" dirty="0">
                    <a:latin typeface="Verdana" panose="020B0604030504040204" pitchFamily="34" charset="0"/>
                    <a:ea typeface="Verdana" panose="020B0604030504040204" pitchFamily="34" charset="0"/>
                    <a:cs typeface="Times New Roman" panose="02020603050405020304" pitchFamily="18" charset="0"/>
                  </a:rPr>
                  <a:t>What is the largest value Juanita’s number could be?</a:t>
                </a:r>
              </a:p>
              <a:p>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342900" indent="-342900">
                  <a:buFont typeface="+mj-lt"/>
                  <a:buAutoNum type="arabicPeriod" startAt="2"/>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r>
                  <a:rPr lang="en-US" sz="2000" b="1" dirty="0">
                    <a:latin typeface="Verdana" panose="020B0604030504040204" pitchFamily="34" charset="0"/>
                    <a:ea typeface="Verdana" panose="020B0604030504040204" pitchFamily="34" charset="0"/>
                    <a:cs typeface="Times New Roman" panose="02020603050405020304" pitchFamily="18" charset="0"/>
                  </a:rPr>
                  <a:t>Clue 2:</a:t>
                </a:r>
                <a:r>
                  <a:rPr lang="en-US" sz="2000" dirty="0">
                    <a:latin typeface="Verdana" panose="020B0604030504040204" pitchFamily="34" charset="0"/>
                    <a:ea typeface="Verdana" panose="020B0604030504040204" pitchFamily="34" charset="0"/>
                    <a:cs typeface="Times New Roman" panose="02020603050405020304" pitchFamily="18" charset="0"/>
                  </a:rPr>
                  <a:t> My number is prime.</a:t>
                </a:r>
              </a:p>
              <a:p>
                <a:r>
                  <a:rPr lang="en-US" sz="2000" dirty="0">
                    <a:latin typeface="Verdana" panose="020B0604030504040204" pitchFamily="34" charset="0"/>
                    <a:ea typeface="Verdana" panose="020B0604030504040204" pitchFamily="34" charset="0"/>
                    <a:cs typeface="Times New Roman" panose="02020603050405020304" pitchFamily="18" charset="0"/>
                  </a:rPr>
                  <a:t> </a:t>
                </a:r>
              </a:p>
              <a:p>
                <a:pPr marL="457200" indent="-457200">
                  <a:buFont typeface="+mj-lt"/>
                  <a:buAutoNum type="arabicPeriod" startAt="3"/>
                  <a:tabLst>
                    <a:tab pos="341313" algn="l"/>
                  </a:tabLst>
                </a:pPr>
                <a:r>
                  <a:rPr lang="en-US" sz="2000" dirty="0">
                    <a:latin typeface="Verdana" panose="020B0604030504040204" pitchFamily="34" charset="0"/>
                    <a:ea typeface="Verdana" panose="020B0604030504040204" pitchFamily="34" charset="0"/>
                    <a:cs typeface="Times New Roman" panose="02020603050405020304" pitchFamily="18" charset="0"/>
                  </a:rPr>
                  <a:t>What values are possible for Juanita’s number at this point?</a:t>
                </a:r>
              </a:p>
              <a:p>
                <a:pPr marL="457200"/>
                <a:r>
                  <a:rPr lang="en-US" sz="1800" dirty="0">
                    <a:latin typeface="Verdana" panose="020B0604030504040204" pitchFamily="34" charset="0"/>
                    <a:ea typeface="Calibri" panose="020F0502020204030204" pitchFamily="34" charset="0"/>
                    <a:cs typeface="Times New Roman" panose="02020603050405020304" pitchFamily="18" charset="0"/>
                  </a:rPr>
                  <a:t> </a:t>
                </a: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marL="342900" indent="-342900">
                  <a:buFont typeface="+mj-lt"/>
                  <a:buAutoNum type="arabi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endParaRPr lang="en-US" sz="180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587932" y="1245521"/>
                <a:ext cx="11322143" cy="4955203"/>
              </a:xfrm>
              <a:prstGeom prst="rect">
                <a:avLst/>
              </a:prstGeom>
              <a:blipFill>
                <a:blip r:embed="rId5"/>
                <a:stretch>
                  <a:fillRect l="-561" t="-510"/>
                </a:stretch>
              </a:blipFill>
            </p:spPr>
            <p:txBody>
              <a:bodyPr/>
              <a:lstStyle/>
              <a:p>
                <a:r>
                  <a:rPr lang="en-US">
                    <a:noFill/>
                  </a:rPr>
                  <a:t> </a:t>
                </a:r>
              </a:p>
            </p:txBody>
          </p:sp>
        </mc:Fallback>
      </mc:AlternateContent>
      <p:sp>
        <p:nvSpPr>
          <p:cNvPr id="10" name="Google Shape;278;g104476d1465_1_17">
            <a:extLst>
              <a:ext uri="{FF2B5EF4-FFF2-40B4-BE49-F238E27FC236}">
                <a16:creationId xmlns:a16="http://schemas.microsoft.com/office/drawing/2014/main" id="{733F64CC-F62E-3D45-B066-56DBFBB732F6}"/>
              </a:ext>
            </a:extLst>
          </p:cNvPr>
          <p:cNvSpPr/>
          <p:nvPr/>
        </p:nvSpPr>
        <p:spPr>
          <a:xfrm>
            <a:off x="0" y="-8225"/>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27864"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63</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00728" y="520392"/>
                <a:ext cx="11549758" cy="3450560"/>
              </a:xfrm>
              <a:prstGeom prst="rect">
                <a:avLst/>
              </a:prstGeom>
              <a:noFill/>
            </p:spPr>
            <p:txBody>
              <a:bodyPr wrap="square" rtlCol="0">
                <a:spAutoFit/>
              </a:bodyPr>
              <a:lstStyle/>
              <a:p>
                <a:r>
                  <a:rPr lang="en-US" sz="2000" b="1" dirty="0">
                    <a:latin typeface="Verdana" panose="020B0604030504040204" pitchFamily="34" charset="0"/>
                    <a:ea typeface="Verdana" panose="020B0604030504040204" pitchFamily="34" charset="0"/>
                    <a:cs typeface="Times New Roman" panose="02020603050405020304" pitchFamily="18" charset="0"/>
                  </a:rPr>
                  <a:t>Clue 3:</a:t>
                </a:r>
                <a:r>
                  <a:rPr lang="en-US" sz="2000" dirty="0">
                    <a:latin typeface="Verdana" panose="020B0604030504040204" pitchFamily="34" charset="0"/>
                    <a:ea typeface="Verdana" panose="020B0604030504040204" pitchFamily="34" charset="0"/>
                    <a:cs typeface="Times New Roman" panose="02020603050405020304" pitchFamily="18" charset="0"/>
                  </a:rPr>
                  <a:t> </a:t>
                </a:r>
                <a14:m>
                  <m:oMath xmlns:m="http://schemas.openxmlformats.org/officeDocument/2006/math">
                    <m:r>
                      <a:rPr lang="en-US" sz="2000" i="1">
                        <a:latin typeface="Cambria Math" panose="02040503050406030204" pitchFamily="18" charset="0"/>
                        <a:ea typeface="Calibri" panose="020F0502020204030204" pitchFamily="34" charset="0"/>
                        <a:cs typeface="Times New Roman" panose="02020603050405020304" pitchFamily="18" charset="0"/>
                      </a:rPr>
                      <m:t>15</m:t>
                    </m:r>
                  </m:oMath>
                </a14:m>
                <a:r>
                  <a:rPr lang="en-US" sz="2000" dirty="0">
                    <a:latin typeface="Verdana" panose="020B0604030504040204" pitchFamily="34" charset="0"/>
                    <a:ea typeface="Verdana" panose="020B0604030504040204" pitchFamily="34" charset="0"/>
                    <a:cs typeface="Times New Roman" panose="02020603050405020304" pitchFamily="18" charset="0"/>
                  </a:rPr>
                  <a:t> is a multiple of my secret number.</a:t>
                </a:r>
              </a:p>
              <a:p>
                <a:r>
                  <a:rPr lang="en-US" sz="2000" dirty="0">
                    <a:latin typeface="Verdana" panose="020B0604030504040204" pitchFamily="34" charset="0"/>
                    <a:ea typeface="Verdana" panose="020B0604030504040204" pitchFamily="34" charset="0"/>
                    <a:cs typeface="Times New Roman" panose="02020603050405020304" pitchFamily="18" charset="0"/>
                  </a:rPr>
                  <a:t> </a:t>
                </a:r>
              </a:p>
              <a:p>
                <a:r>
                  <a:rPr lang="en-US" sz="2000" b="1" dirty="0">
                    <a:latin typeface="Verdana" panose="020B0604030504040204" pitchFamily="34" charset="0"/>
                    <a:ea typeface="Verdana" panose="020B0604030504040204" pitchFamily="34" charset="0"/>
                    <a:cs typeface="Times New Roman" panose="02020603050405020304" pitchFamily="18" charset="0"/>
                  </a:rPr>
                  <a:t>Clue 4:</a:t>
                </a:r>
                <a:r>
                  <a:rPr lang="en-US" sz="2000" dirty="0">
                    <a:latin typeface="Verdana" panose="020B0604030504040204" pitchFamily="34" charset="0"/>
                    <a:ea typeface="Verdana" panose="020B0604030504040204" pitchFamily="34" charset="0"/>
                    <a:cs typeface="Times New Roman" panose="02020603050405020304" pitchFamily="18" charset="0"/>
                  </a:rPr>
                  <a:t> My secret number is a factor of </a:t>
                </a:r>
                <a14:m>
                  <m:oMath xmlns:m="http://schemas.openxmlformats.org/officeDocument/2006/math">
                    <m:r>
                      <a:rPr lang="en-US" sz="2000" i="1">
                        <a:latin typeface="Cambria Math" panose="02040503050406030204" pitchFamily="18" charset="0"/>
                        <a:ea typeface="Calibri" panose="020F0502020204030204" pitchFamily="34" charset="0"/>
                        <a:cs typeface="Times New Roman" panose="02020603050405020304" pitchFamily="18" charset="0"/>
                      </a:rPr>
                      <m:t>20</m:t>
                    </m:r>
                  </m:oMath>
                </a14:m>
                <a:r>
                  <a:rPr lang="en-US" sz="2000" dirty="0">
                    <a:latin typeface="Verdana" panose="020B0604030504040204" pitchFamily="34" charset="0"/>
                    <a:ea typeface="Verdana" panose="020B0604030504040204" pitchFamily="34" charset="0"/>
                    <a:cs typeface="Times New Roman" panose="02020603050405020304" pitchFamily="18" charset="0"/>
                  </a:rPr>
                  <a:t>.</a:t>
                </a:r>
              </a:p>
              <a:p>
                <a:pPr marL="457200"/>
                <a:r>
                  <a:rPr lang="en-US" sz="2000" dirty="0">
                    <a:latin typeface="Verdana" panose="020B0604030504040204" pitchFamily="34" charset="0"/>
                    <a:ea typeface="Verdana" panose="020B0604030504040204" pitchFamily="34" charset="0"/>
                    <a:cs typeface="Times New Roman" panose="02020603050405020304" pitchFamily="18" charset="0"/>
                  </a:rPr>
                  <a:t> </a:t>
                </a:r>
              </a:p>
              <a:p>
                <a:pPr marL="457200" indent="-457200">
                  <a:buFont typeface="+mj-lt"/>
                  <a:buAutoNum type="arabicPeriod" startAt="4"/>
                </a:pPr>
                <a:r>
                  <a:rPr lang="en-US" sz="2000" dirty="0">
                    <a:latin typeface="Verdana" panose="020B0604030504040204" pitchFamily="34" charset="0"/>
                    <a:ea typeface="Verdana" panose="020B0604030504040204" pitchFamily="34" charset="0"/>
                    <a:cs typeface="Times New Roman" panose="02020603050405020304" pitchFamily="18" charset="0"/>
                  </a:rPr>
                  <a:t>What is Juanita’s secret number?</a:t>
                </a:r>
              </a:p>
              <a:p>
                <a:pPr marL="457200" indent="-457200"/>
                <a:r>
                  <a:rPr lang="en-US" sz="2000" dirty="0">
                    <a:latin typeface="Verdana" panose="020B0604030504040204" pitchFamily="34" charset="0"/>
                    <a:ea typeface="Verdana" panose="020B0604030504040204" pitchFamily="34" charset="0"/>
                    <a:cs typeface="Times New Roman" panose="02020603050405020304" pitchFamily="18" charset="0"/>
                  </a:rPr>
                  <a:t> </a:t>
                </a:r>
              </a:p>
              <a:p>
                <a:pPr marL="457200" indent="-457200"/>
                <a:r>
                  <a:rPr lang="en-US" sz="2000" dirty="0">
                    <a:latin typeface="Verdana" panose="020B0604030504040204" pitchFamily="34" charset="0"/>
                    <a:ea typeface="Verdana" panose="020B0604030504040204" pitchFamily="34" charset="0"/>
                    <a:cs typeface="Times New Roman" panose="02020603050405020304" pitchFamily="18" charset="0"/>
                  </a:rPr>
                  <a:t> </a:t>
                </a:r>
              </a:p>
              <a:p>
                <a:pPr marL="457200" indent="-457200"/>
                <a:r>
                  <a:rPr lang="en-US" sz="2000" dirty="0">
                    <a:latin typeface="Verdana" panose="020B0604030504040204" pitchFamily="34" charset="0"/>
                    <a:ea typeface="Verdana" panose="020B0604030504040204" pitchFamily="34" charset="0"/>
                    <a:cs typeface="Times New Roman" panose="02020603050405020304" pitchFamily="18" charset="0"/>
                  </a:rPr>
                  <a:t> </a:t>
                </a:r>
              </a:p>
              <a:p>
                <a:pPr marL="457200" indent="-457200">
                  <a:buFont typeface="+mj-lt"/>
                  <a:buAutoNum type="arabicPeriod" startAt="5"/>
                </a:pPr>
                <a:r>
                  <a:rPr lang="en-US" sz="2000" dirty="0">
                    <a:latin typeface="Verdana" panose="020B0604030504040204" pitchFamily="34" charset="0"/>
                    <a:ea typeface="Verdana" panose="020B0604030504040204" pitchFamily="34" charset="0"/>
                    <a:cs typeface="Times New Roman" panose="02020603050405020304" pitchFamily="18" charset="0"/>
                  </a:rPr>
                  <a:t>Could you have determined her secret number only using the first three clues? Explain.</a:t>
                </a:r>
              </a:p>
              <a:p>
                <a:pPr>
                  <a:lnSpc>
                    <a:spcPct val="107000"/>
                  </a:lnSpc>
                </a:pPr>
                <a:r>
                  <a:rPr lang="en-US" sz="1800" dirty="0">
                    <a:latin typeface="Verdana" panose="020B0604030504040204" pitchFamily="34" charset="0"/>
                    <a:ea typeface="Times New Roman" panose="02020603050405020304" pitchFamily="18" charset="0"/>
                    <a:cs typeface="Times New Roman" panose="02020603050405020304" pitchFamily="18" charset="0"/>
                  </a:rPr>
                  <a:t> </a:t>
                </a:r>
                <a:endParaRPr lang="en-US" sz="180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00728" y="520392"/>
                <a:ext cx="11549758" cy="3450560"/>
              </a:xfrm>
              <a:prstGeom prst="rect">
                <a:avLst/>
              </a:prstGeom>
              <a:blipFill>
                <a:blip r:embed="rId4"/>
                <a:stretch>
                  <a:fillRect l="-549" t="-733"/>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9B2481D9-8B52-C443-ABEF-765D2549936D}"/>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5982330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729893"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64</a:t>
            </a: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078870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551021" y="83173"/>
            <a:ext cx="1053212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500" b="1" dirty="0">
                <a:solidFill>
                  <a:srgbClr val="33BEA6"/>
                </a:solidFill>
                <a:latin typeface="Verdana"/>
                <a:ea typeface="Verdana"/>
                <a:cs typeface="Verdana"/>
                <a:sym typeface="Verdana"/>
              </a:rPr>
              <a:t>2.4.2 Collaboration: Equivalent Numeric Expressions </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751664" y="63889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64</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621717" y="3482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4DF7DE-9172-3E4E-B74A-7A51585FB6EA}"/>
                  </a:ext>
                </a:extLst>
              </p:cNvPr>
              <p:cNvSpPr txBox="1"/>
              <p:nvPr/>
            </p:nvSpPr>
            <p:spPr>
              <a:xfrm>
                <a:off x="621717" y="1457032"/>
                <a:ext cx="10840940" cy="4743567"/>
              </a:xfrm>
              <a:prstGeom prst="rect">
                <a:avLst/>
              </a:prstGeom>
              <a:noFill/>
            </p:spPr>
            <p:txBody>
              <a:bodyPr wrap="square" rtlCol="0">
                <a:spAutoFit/>
              </a:bodyPr>
              <a:lstStyle/>
              <a:p>
                <a:pPr>
                  <a:lnSpc>
                    <a:spcPct val="107000"/>
                  </a:lnSpc>
                </a:pPr>
                <a:r>
                  <a:rPr lang="en-US" sz="2000" dirty="0">
                    <a:latin typeface="Verdana" panose="020B0604030504040204" pitchFamily="34" charset="0"/>
                    <a:ea typeface="Verdana" panose="020B0604030504040204" pitchFamily="34" charset="0"/>
                    <a:cs typeface="Times New Roman" panose="02020603050405020304" pitchFamily="18" charset="0"/>
                  </a:rPr>
                  <a:t>In each equation, two numeric expressions are set equal to each other. </a:t>
                </a:r>
              </a:p>
              <a:p>
                <a:pPr>
                  <a:lnSpc>
                    <a:spcPct val="107000"/>
                  </a:lnSpc>
                </a:pPr>
                <a:r>
                  <a:rPr lang="en-US" sz="2000" dirty="0">
                    <a:latin typeface="Verdana" panose="020B0604030504040204" pitchFamily="34" charset="0"/>
                    <a:ea typeface="Verdana" panose="020B0604030504040204" pitchFamily="34" charset="0"/>
                    <a:cs typeface="Times New Roman" panose="02020603050405020304" pitchFamily="18" charset="0"/>
                  </a:rPr>
                  <a:t> </a:t>
                </a:r>
              </a:p>
              <a:p>
                <a:pPr marL="342900" indent="-342900">
                  <a:lnSpc>
                    <a:spcPct val="107000"/>
                  </a:lnSpc>
                  <a:buFont typeface="+mj-lt"/>
                  <a:buAutoNum type="arabicPeriod"/>
                </a:pPr>
                <a:r>
                  <a:rPr lang="en-US" sz="2000" dirty="0">
                    <a:latin typeface="Verdana" panose="020B0604030504040204" pitchFamily="34" charset="0"/>
                    <a:ea typeface="Verdana" panose="020B0604030504040204" pitchFamily="34" charset="0"/>
                    <a:cs typeface="Times New Roman" panose="02020603050405020304" pitchFamily="18" charset="0"/>
                  </a:rPr>
                  <a:t>With your partner, discuss whether each equation is true or false and complete the table.</a:t>
                </a:r>
              </a:p>
              <a:p>
                <a:pPr marL="342900" indent="-342900">
                  <a:lnSpc>
                    <a:spcPct val="107000"/>
                  </a:lnSpc>
                  <a:buFont typeface="+mj-lt"/>
                  <a:buAutoNum type="arabi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342900" indent="-342900">
                  <a:lnSpc>
                    <a:spcPct val="107000"/>
                  </a:lnSpc>
                  <a:buFont typeface="+mj-lt"/>
                  <a:buAutoNum type="arabi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342900" indent="-342900">
                  <a:lnSpc>
                    <a:spcPct val="107000"/>
                  </a:lnSpc>
                  <a:buFont typeface="+mj-lt"/>
                  <a:buAutoNum type="arabi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342900" indent="-342900">
                  <a:lnSpc>
                    <a:spcPct val="107000"/>
                  </a:lnSpc>
                  <a:buFont typeface="+mj-lt"/>
                  <a:buAutoNum type="arabi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342900" indent="-342900">
                  <a:lnSpc>
                    <a:spcPct val="107000"/>
                  </a:lnSpc>
                  <a:buFont typeface="+mj-lt"/>
                  <a:buAutoNum type="arabi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342900" indent="-342900">
                  <a:lnSpc>
                    <a:spcPct val="107000"/>
                  </a:lnSpc>
                  <a:buFont typeface="+mj-lt"/>
                  <a:buAutoNum type="arabi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342900" indent="-342900">
                  <a:lnSpc>
                    <a:spcPct val="107000"/>
                  </a:lnSpc>
                  <a:buFont typeface="+mj-lt"/>
                  <a:buAutoNum type="arabi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342900" indent="-342900">
                  <a:lnSpc>
                    <a:spcPct val="107000"/>
                  </a:lnSpc>
                  <a:buFont typeface="+mj-lt"/>
                  <a:buAutoNum type="arabicPeriod"/>
                </a:pPr>
                <a:r>
                  <a:rPr lang="en-US" sz="2000" dirty="0">
                    <a:latin typeface="Verdana" panose="020B0604030504040204" pitchFamily="34" charset="0"/>
                    <a:ea typeface="Verdana" panose="020B0604030504040204" pitchFamily="34" charset="0"/>
                    <a:cs typeface="Times New Roman" panose="02020603050405020304" pitchFamily="18" charset="0"/>
                  </a:rPr>
                  <a:t>How is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6</m:t>
                    </m:r>
                  </m:oMath>
                </a14:m>
                <a:r>
                  <a:rPr lang="en-US" sz="2000" dirty="0">
                    <a:latin typeface="Verdana" panose="020B0604030504040204" pitchFamily="34" charset="0"/>
                    <a:ea typeface="Verdana" panose="020B0604030504040204" pitchFamily="34" charset="0"/>
                    <a:cs typeface="Times New Roman" panose="02020603050405020304" pitchFamily="18" charset="0"/>
                  </a:rPr>
                  <a:t> related to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42</m:t>
                    </m:r>
                  </m:oMath>
                </a14:m>
                <a:r>
                  <a:rPr lang="en-US" sz="2000" dirty="0">
                    <a:latin typeface="Verdana" panose="020B0604030504040204" pitchFamily="34" charset="0"/>
                    <a:ea typeface="Verdana" panose="020B0604030504040204" pitchFamily="34" charset="0"/>
                    <a:cs typeface="Times New Roman" panose="02020603050405020304" pitchFamily="18" charset="0"/>
                  </a:rPr>
                  <a:t> and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12</m:t>
                    </m:r>
                  </m:oMath>
                </a14:m>
                <a:r>
                  <a:rPr lang="en-US" sz="2000" dirty="0">
                    <a:latin typeface="Verdana" panose="020B0604030504040204" pitchFamily="34" charset="0"/>
                    <a:ea typeface="Verdana" panose="020B0604030504040204" pitchFamily="34" charset="0"/>
                    <a:cs typeface="Times New Roman" panose="02020603050405020304" pitchFamily="18" charset="0"/>
                  </a:rPr>
                  <a:t>?</a:t>
                </a:r>
              </a:p>
              <a:p>
                <a:pPr marL="342900" indent="-342900">
                  <a:lnSpc>
                    <a:spcPct val="107000"/>
                  </a:lnSpc>
                  <a:buFont typeface="+mj-lt"/>
                  <a:buAutoNum type="arabi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a:lnSpc>
                    <a:spcPct val="107000"/>
                  </a:lnSpc>
                </a:pPr>
                <a:r>
                  <a:rPr lang="en-US" sz="2000" dirty="0">
                    <a:latin typeface="Verdana" panose="020B0604030504040204" pitchFamily="34" charset="0"/>
                    <a:ea typeface="Verdana" panose="020B0604030504040204" pitchFamily="34" charset="0"/>
                    <a:cs typeface="Times New Roman" panose="02020603050405020304" pitchFamily="18" charset="0"/>
                  </a:rPr>
                  <a:t> </a:t>
                </a:r>
              </a:p>
            </p:txBody>
          </p:sp>
        </mc:Choice>
        <mc:Fallback xmlns="">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621717" y="1457032"/>
                <a:ext cx="10840940" cy="4743567"/>
              </a:xfrm>
              <a:prstGeom prst="rect">
                <a:avLst/>
              </a:prstGeom>
              <a:blipFill>
                <a:blip r:embed="rId5"/>
                <a:stretch>
                  <a:fillRect l="-585" t="-1067"/>
                </a:stretch>
              </a:blipFill>
            </p:spPr>
            <p:txBody>
              <a:bodyPr/>
              <a:lstStyle/>
              <a:p>
                <a:r>
                  <a:rPr lang="en-US">
                    <a:noFill/>
                  </a:rPr>
                  <a:t> </a:t>
                </a:r>
              </a:p>
            </p:txBody>
          </p:sp>
        </mc:Fallback>
      </mc:AlternateContent>
      <p:sp>
        <p:nvSpPr>
          <p:cNvPr id="12" name="Google Shape;278;g104476d1465_1_17">
            <a:extLst>
              <a:ext uri="{FF2B5EF4-FFF2-40B4-BE49-F238E27FC236}">
                <a16:creationId xmlns:a16="http://schemas.microsoft.com/office/drawing/2014/main" id="{6A18DD6C-446D-A641-972C-BC7EF386945F}"/>
              </a:ext>
            </a:extLst>
          </p:cNvPr>
          <p:cNvSpPr/>
          <p:nvPr/>
        </p:nvSpPr>
        <p:spPr>
          <a:xfrm>
            <a:off x="0" y="-8225"/>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E8C45A08-1B40-49CB-A16B-1421AD62ED17}"/>
                  </a:ext>
                </a:extLst>
              </p:cNvPr>
              <p:cNvGraphicFramePr>
                <a:graphicFrameLocks noGrp="1"/>
              </p:cNvGraphicFramePr>
              <p:nvPr>
                <p:extLst>
                  <p:ext uri="{D42A27DB-BD31-4B8C-83A1-F6EECF244321}">
                    <p14:modId xmlns:p14="http://schemas.microsoft.com/office/powerpoint/2010/main" val="733048398"/>
                  </p:ext>
                </p:extLst>
              </p:nvPr>
            </p:nvGraphicFramePr>
            <p:xfrm>
              <a:off x="2775857" y="2998060"/>
              <a:ext cx="7146890" cy="1817615"/>
            </p:xfrm>
            <a:graphic>
              <a:graphicData uri="http://schemas.openxmlformats.org/drawingml/2006/table">
                <a:tbl>
                  <a:tblPr firstRow="1" firstCol="1" bandRow="1">
                    <a:tableStyleId>{A91F0D33-8C57-4600-99A7-42BC86742BE1}</a:tableStyleId>
                  </a:tblPr>
                  <a:tblGrid>
                    <a:gridCol w="3513888">
                      <a:extLst>
                        <a:ext uri="{9D8B030D-6E8A-4147-A177-3AD203B41FA5}">
                          <a16:colId xmlns:a16="http://schemas.microsoft.com/office/drawing/2014/main" val="3974410591"/>
                        </a:ext>
                      </a:extLst>
                    </a:gridCol>
                    <a:gridCol w="3633002">
                      <a:extLst>
                        <a:ext uri="{9D8B030D-6E8A-4147-A177-3AD203B41FA5}">
                          <a16:colId xmlns:a16="http://schemas.microsoft.com/office/drawing/2014/main" val="1585573895"/>
                        </a:ext>
                      </a:extLst>
                    </a:gridCol>
                  </a:tblGrid>
                  <a:tr h="306925">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rPr>
                            <a:t>Equation</a:t>
                          </a:r>
                          <a:endParaRPr lang="en-US" sz="2000" b="1"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rPr>
                            <a:t>Is it true or false?</a:t>
                          </a:r>
                          <a:endParaRPr lang="en-US" sz="2000" b="1"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937296892"/>
                      </a:ext>
                    </a:extLst>
                  </a:tr>
                  <a:tr h="755345">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42 + 12 = 6(7 + 2)</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7242040"/>
                      </a:ext>
                    </a:extLst>
                  </a:tr>
                  <a:tr h="755345">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6</m:t>
                                </m:r>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7 + 2</m:t>
                                    </m:r>
                                  </m:e>
                                </m:d>
                                <m:r>
                                  <a:rPr lang="en-US" sz="2000">
                                    <a:effectLst/>
                                    <a:latin typeface="Cambria Math" panose="02040503050406030204" pitchFamily="18" charset="0"/>
                                    <a:ea typeface="Cambria Math" panose="02040503050406030204" pitchFamily="18" charset="0"/>
                                  </a:rPr>
                                  <m:t>= </m:t>
                                </m:r>
                                <m:d>
                                  <m:dPr>
                                    <m:ctrlPr>
                                      <a:rPr lang="en-US" sz="2000" i="1">
                                        <a:effectLst/>
                                        <a:latin typeface="Cambria Math" panose="02040503050406030204" pitchFamily="18" charset="0"/>
                                        <a:ea typeface="Cambria Math" panose="02040503050406030204" pitchFamily="18" charset="0"/>
                                      </a:rPr>
                                    </m:ctrlPr>
                                  </m:dPr>
                                  <m:e>
                                    <m:r>
                                      <a:rPr lang="en-US" sz="2000">
                                        <a:effectLst/>
                                        <a:latin typeface="Cambria Math" panose="02040503050406030204" pitchFamily="18" charset="0"/>
                                        <a:ea typeface="Cambria Math" panose="02040503050406030204" pitchFamily="18" charset="0"/>
                                      </a:rPr>
                                      <m:t>6 ∙ 7</m:t>
                                    </m:r>
                                  </m:e>
                                </m:d>
                                <m:r>
                                  <a:rPr lang="en-US" sz="2000">
                                    <a:effectLst/>
                                    <a:latin typeface="Cambria Math" panose="02040503050406030204" pitchFamily="18" charset="0"/>
                                    <a:ea typeface="Cambria Math" panose="02040503050406030204" pitchFamily="18" charset="0"/>
                                  </a:rPr>
                                  <m:t>+ (6 ∙ 2)</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r>
                            <a:rPr lang="en-US" sz="18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2516020"/>
                      </a:ext>
                    </a:extLst>
                  </a:tr>
                </a:tbl>
              </a:graphicData>
            </a:graphic>
          </p:graphicFrame>
        </mc:Choice>
        <mc:Fallback xmlns="">
          <p:graphicFrame>
            <p:nvGraphicFramePr>
              <p:cNvPr id="2" name="Table 1">
                <a:extLst>
                  <a:ext uri="{FF2B5EF4-FFF2-40B4-BE49-F238E27FC236}">
                    <a16:creationId xmlns:a16="http://schemas.microsoft.com/office/drawing/2014/main" id="{E8C45A08-1B40-49CB-A16B-1421AD62ED17}"/>
                  </a:ext>
                </a:extLst>
              </p:cNvPr>
              <p:cNvGraphicFramePr>
                <a:graphicFrameLocks noGrp="1"/>
              </p:cNvGraphicFramePr>
              <p:nvPr>
                <p:extLst>
                  <p:ext uri="{D42A27DB-BD31-4B8C-83A1-F6EECF244321}">
                    <p14:modId xmlns:p14="http://schemas.microsoft.com/office/powerpoint/2010/main" val="733048398"/>
                  </p:ext>
                </p:extLst>
              </p:nvPr>
            </p:nvGraphicFramePr>
            <p:xfrm>
              <a:off x="2775857" y="2998060"/>
              <a:ext cx="7146890" cy="1817615"/>
            </p:xfrm>
            <a:graphic>
              <a:graphicData uri="http://schemas.openxmlformats.org/drawingml/2006/table">
                <a:tbl>
                  <a:tblPr firstRow="1" firstCol="1" bandRow="1">
                    <a:tableStyleId>{A91F0D33-8C57-4600-99A7-42BC86742BE1}</a:tableStyleId>
                  </a:tblPr>
                  <a:tblGrid>
                    <a:gridCol w="3513888">
                      <a:extLst>
                        <a:ext uri="{9D8B030D-6E8A-4147-A177-3AD203B41FA5}">
                          <a16:colId xmlns:a16="http://schemas.microsoft.com/office/drawing/2014/main" val="3974410591"/>
                        </a:ext>
                      </a:extLst>
                    </a:gridCol>
                    <a:gridCol w="3633002">
                      <a:extLst>
                        <a:ext uri="{9D8B030D-6E8A-4147-A177-3AD203B41FA5}">
                          <a16:colId xmlns:a16="http://schemas.microsoft.com/office/drawing/2014/main" val="1585573895"/>
                        </a:ext>
                      </a:extLst>
                    </a:gridCol>
                  </a:tblGrid>
                  <a:tr h="306925">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rPr>
                            <a:t>Equation</a:t>
                          </a:r>
                          <a:endParaRPr lang="en-US" sz="2000" b="1"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rPr>
                            <a:t>Is it true or false?</a:t>
                          </a:r>
                          <a:endParaRPr lang="en-US" sz="2000" b="1"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937296892"/>
                      </a:ext>
                    </a:extLst>
                  </a:tr>
                  <a:tr h="755345">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361" t="-53333" r="-103971" b="-101667"/>
                          </a:stretch>
                        </a:blipFill>
                      </a:tcPr>
                    </a:tc>
                    <a:tc>
                      <a:txBody>
                        <a:bodyPr/>
                        <a:lstStyle/>
                        <a:p>
                          <a:pPr marL="0" marR="0" algn="ctr">
                            <a:lnSpc>
                              <a:spcPct val="107000"/>
                            </a:lnSpc>
                            <a:spcBef>
                              <a:spcPts val="0"/>
                            </a:spcBef>
                            <a:spcAft>
                              <a:spcPts val="0"/>
                            </a:spcAft>
                          </a:pPr>
                          <a:r>
                            <a:rPr lang="en-US" sz="18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37242040"/>
                      </a:ext>
                    </a:extLst>
                  </a:tr>
                  <a:tr h="755345">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6"/>
                          <a:stretch>
                            <a:fillRect l="-361" t="-153333" r="-103971" b="-1667"/>
                          </a:stretch>
                        </a:blipFill>
                      </a:tcPr>
                    </a:tc>
                    <a:tc>
                      <a:txBody>
                        <a:bodyPr/>
                        <a:lstStyle/>
                        <a:p>
                          <a:pPr marL="0" marR="0" algn="ctr">
                            <a:lnSpc>
                              <a:spcPct val="107000"/>
                            </a:lnSpc>
                            <a:spcBef>
                              <a:spcPts val="0"/>
                            </a:spcBef>
                            <a:spcAft>
                              <a:spcPts val="0"/>
                            </a:spcAft>
                          </a:pPr>
                          <a:r>
                            <a:rPr lang="en-US" sz="18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502516020"/>
                      </a:ext>
                    </a:extLst>
                  </a:tr>
                </a:tbl>
              </a:graphicData>
            </a:graphic>
          </p:graphicFrame>
        </mc:Fallback>
      </mc:AlternateContent>
    </p:spTree>
    <p:extLst>
      <p:ext uri="{BB962C8B-B14F-4D97-AF65-F5344CB8AC3E}">
        <p14:creationId xmlns:p14="http://schemas.microsoft.com/office/powerpoint/2010/main" val="16744370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93179" y="632926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64</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2AA35BC6-D428-FC41-BDE5-6438AB8840FC}"/>
                  </a:ext>
                </a:extLst>
              </p:cNvPr>
              <p:cNvSpPr txBox="1"/>
              <p:nvPr/>
            </p:nvSpPr>
            <p:spPr>
              <a:xfrm>
                <a:off x="723252" y="856130"/>
                <a:ext cx="11120406" cy="1120307"/>
              </a:xfrm>
              <a:prstGeom prst="rect">
                <a:avLst/>
              </a:prstGeom>
              <a:noFill/>
            </p:spPr>
            <p:txBody>
              <a:bodyPr wrap="square" rtlCol="0">
                <a:spAutoFit/>
              </a:bodyPr>
              <a:lstStyle/>
              <a:p>
                <a:pPr marL="457200">
                  <a:lnSpc>
                    <a:spcPct val="107000"/>
                  </a:lnSpc>
                </a:pPr>
                <a:r>
                  <a:rPr lang="en-US" sz="2000" dirty="0">
                    <a:latin typeface="Verdana" panose="020B0604030504040204" pitchFamily="34" charset="0"/>
                    <a:ea typeface="Verdana" panose="020B0604030504040204" pitchFamily="34" charset="0"/>
                    <a:cs typeface="Times New Roman" panose="02020603050405020304" pitchFamily="18" charset="0"/>
                  </a:rPr>
                  <a:t> </a:t>
                </a:r>
              </a:p>
              <a:p>
                <a:pPr marL="342900" indent="-342900">
                  <a:lnSpc>
                    <a:spcPct val="107000"/>
                  </a:lnSpc>
                  <a:buFont typeface="+mj-lt"/>
                  <a:buAutoNum type="arabicPeriod" startAt="3"/>
                </a:pPr>
                <a:r>
                  <a:rPr lang="en-US" sz="2000" dirty="0">
                    <a:latin typeface="Verdana" panose="020B0604030504040204" pitchFamily="34" charset="0"/>
                    <a:ea typeface="Verdana" panose="020B0604030504040204" pitchFamily="34" charset="0"/>
                    <a:cs typeface="Times New Roman" panose="02020603050405020304" pitchFamily="18" charset="0"/>
                  </a:rPr>
                  <a:t>How do the values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7</m:t>
                    </m:r>
                  </m:oMath>
                </a14:m>
                <a:r>
                  <a:rPr lang="en-US" sz="2000" dirty="0">
                    <a:latin typeface="Verdana" panose="020B0604030504040204" pitchFamily="34" charset="0"/>
                    <a:ea typeface="Verdana" panose="020B0604030504040204" pitchFamily="34" charset="0"/>
                    <a:cs typeface="Times New Roman" panose="02020603050405020304" pitchFamily="18" charset="0"/>
                  </a:rPr>
                  <a:t> and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2</m:t>
                    </m:r>
                  </m:oMath>
                </a14:m>
                <a:r>
                  <a:rPr lang="en-US" sz="2000" dirty="0">
                    <a:latin typeface="Verdana" panose="020B0604030504040204" pitchFamily="34" charset="0"/>
                    <a:ea typeface="Verdana" panose="020B0604030504040204" pitchFamily="34" charset="0"/>
                    <a:cs typeface="Times New Roman" panose="02020603050405020304" pitchFamily="18" charset="0"/>
                  </a:rPr>
                  <a:t> relate to the original values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42</m:t>
                    </m:r>
                  </m:oMath>
                </a14:m>
                <a:r>
                  <a:rPr lang="en-US" sz="2000" dirty="0">
                    <a:latin typeface="Verdana" panose="020B0604030504040204" pitchFamily="34" charset="0"/>
                    <a:ea typeface="Verdana" panose="020B0604030504040204" pitchFamily="34" charset="0"/>
                    <a:cs typeface="Times New Roman" panose="02020603050405020304" pitchFamily="18" charset="0"/>
                  </a:rPr>
                  <a:t> and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12</m:t>
                    </m:r>
                  </m:oMath>
                </a14:m>
                <a:r>
                  <a:rPr lang="en-US" sz="2000" dirty="0">
                    <a:latin typeface="Verdana" panose="020B0604030504040204" pitchFamily="34" charset="0"/>
                    <a:ea typeface="Verdana" panose="020B0604030504040204" pitchFamily="34" charset="0"/>
                    <a:cs typeface="Times New Roman" panose="02020603050405020304" pitchFamily="18" charset="0"/>
                  </a:rPr>
                  <a:t>?</a:t>
                </a:r>
              </a:p>
              <a:p>
                <a:endParaRPr lang="en-US" sz="2400" b="1"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id="{2AA35BC6-D428-FC41-BDE5-6438AB8840FC}"/>
                  </a:ext>
                </a:extLst>
              </p:cNvPr>
              <p:cNvSpPr txBox="1">
                <a:spLocks noRot="1" noChangeAspect="1" noMove="1" noResize="1" noEditPoints="1" noAdjustHandles="1" noChangeArrowheads="1" noChangeShapeType="1" noTextEdit="1"/>
              </p:cNvSpPr>
              <p:nvPr/>
            </p:nvSpPr>
            <p:spPr>
              <a:xfrm>
                <a:off x="723252" y="856130"/>
                <a:ext cx="11120406" cy="1120307"/>
              </a:xfrm>
              <a:prstGeom prst="rect">
                <a:avLst/>
              </a:prstGeom>
              <a:blipFill>
                <a:blip r:embed="rId4"/>
                <a:stretch>
                  <a:fillRect l="-685"/>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C2F4C951-E46B-E944-87E2-3B81D09643B6}"/>
              </a:ext>
            </a:extLst>
          </p:cNvPr>
          <p:cNvSpPr/>
          <p:nvPr/>
        </p:nvSpPr>
        <p:spPr>
          <a:xfrm>
            <a:off x="0" y="-8225"/>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12518468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28617" y="632913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64</a:t>
            </a:r>
          </a:p>
        </p:txBody>
      </p:sp>
    </p:spTree>
    <p:extLst>
      <p:ext uri="{BB962C8B-B14F-4D97-AF65-F5344CB8AC3E}">
        <p14:creationId xmlns:p14="http://schemas.microsoft.com/office/powerpoint/2010/main" val="37026124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6800"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142499" y="-54028"/>
            <a:ext cx="1091887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2.4.3 Guided Instruction: Rewriting Sums Using Distributive Property</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4">
            <a:alphaModFix/>
          </a:blip>
          <a:srcRect/>
          <a:stretch/>
        </p:blipFill>
        <p:spPr>
          <a:xfrm>
            <a:off x="395199" y="121285"/>
            <a:ext cx="747300" cy="747300"/>
          </a:xfrm>
          <a:prstGeom prst="rect">
            <a:avLst/>
          </a:prstGeom>
          <a:noFill/>
          <a:ln>
            <a:noFill/>
          </a:ln>
          <a:effectLst>
            <a:outerShdw blurRad="50800" dist="38100" dir="2700000" algn="tl" rotWithShape="0">
              <a:prstClr val="black">
                <a:alpha val="40000"/>
              </a:prstClr>
            </a:outerShdw>
          </a:effectLst>
        </p:spPr>
      </p:pic>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992800"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64</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01B13E8-EC8D-E443-A329-C5E3593DD13A}"/>
                  </a:ext>
                </a:extLst>
              </p:cNvPr>
              <p:cNvSpPr txBox="1"/>
              <p:nvPr/>
            </p:nvSpPr>
            <p:spPr>
              <a:xfrm>
                <a:off x="565197" y="1281777"/>
                <a:ext cx="10918871" cy="4294445"/>
              </a:xfrm>
              <a:prstGeom prst="rect">
                <a:avLst/>
              </a:prstGeom>
              <a:noFill/>
            </p:spPr>
            <p:txBody>
              <a:bodyPr wrap="square" rtlCol="0">
                <a:spAutoFit/>
              </a:bodyPr>
              <a:lstStyle/>
              <a:p>
                <a:pPr>
                  <a:lnSpc>
                    <a:spcPct val="107000"/>
                  </a:lnSpc>
                </a:pPr>
                <a:r>
                  <a:rPr lang="en-US" sz="2000" dirty="0">
                    <a:latin typeface="Verdana" panose="020B0604030504040204" pitchFamily="34" charset="0"/>
                    <a:ea typeface="Verdana" panose="020B0604030504040204" pitchFamily="34" charset="0"/>
                    <a:cs typeface="Times New Roman" panose="02020603050405020304" pitchFamily="18" charset="0"/>
                  </a:rPr>
                  <a:t>Sums of </a:t>
                </a:r>
                <a:r>
                  <a:rPr lang="en-US" sz="2000" b="1" i="1" dirty="0">
                    <a:latin typeface="Verdana" panose="020B0604030504040204" pitchFamily="34" charset="0"/>
                    <a:ea typeface="Verdana" panose="020B0604030504040204" pitchFamily="34" charset="0"/>
                    <a:cs typeface="Times New Roman" panose="02020603050405020304" pitchFamily="18" charset="0"/>
                  </a:rPr>
                  <a:t>composite whole numbers</a:t>
                </a:r>
                <a:r>
                  <a:rPr lang="en-US" sz="2000" dirty="0">
                    <a:latin typeface="Verdana" panose="020B0604030504040204" pitchFamily="34" charset="0"/>
                    <a:ea typeface="Verdana" panose="020B0604030504040204" pitchFamily="34" charset="0"/>
                    <a:cs typeface="Times New Roman" panose="02020603050405020304" pitchFamily="18" charset="0"/>
                  </a:rPr>
                  <a:t> can be rewritten using the distributive property and a common factor of the numbers.</a:t>
                </a:r>
              </a:p>
              <a:p>
                <a:pPr>
                  <a:lnSpc>
                    <a:spcPct val="107000"/>
                  </a:lnSpc>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a:lnSpc>
                    <a:spcPct val="107000"/>
                  </a:lnSpc>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a:lnSpc>
                    <a:spcPct val="107000"/>
                  </a:lnSpc>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a:lnSpc>
                    <a:spcPct val="107000"/>
                  </a:lnSpc>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a:lnSpc>
                    <a:spcPct val="107000"/>
                  </a:lnSpc>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a:lnSpc>
                    <a:spcPct val="107000"/>
                  </a:lnSpc>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a:lnSpc>
                    <a:spcPct val="107000"/>
                  </a:lnSpc>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342900" indent="-342900">
                  <a:lnSpc>
                    <a:spcPct val="107000"/>
                  </a:lnSpc>
                  <a:buFont typeface="+mj-lt"/>
                  <a:buAutoNum type="arabicPeriod"/>
                </a:pPr>
                <a:r>
                  <a:rPr lang="en-US" sz="2000" dirty="0">
                    <a:latin typeface="Verdana" panose="020B0604030504040204" pitchFamily="34" charset="0"/>
                    <a:ea typeface="Verdana" panose="020B0604030504040204" pitchFamily="34" charset="0"/>
                    <a:cs typeface="Times New Roman" panose="02020603050405020304" pitchFamily="18" charset="0"/>
                  </a:rPr>
                  <a:t>What are the common factors of </a:t>
                </a:r>
                <a14:m>
                  <m:oMath xmlns:m="http://schemas.openxmlformats.org/officeDocument/2006/math">
                    <m:r>
                      <a:rPr lang="en-US" sz="2000" i="1">
                        <a:latin typeface="Cambria Math" panose="02040503050406030204" pitchFamily="18" charset="0"/>
                        <a:ea typeface="Calibri" panose="020F0502020204030204" pitchFamily="34" charset="0"/>
                        <a:cs typeface="Times New Roman" panose="02020603050405020304" pitchFamily="18" charset="0"/>
                      </a:rPr>
                      <m:t>16</m:t>
                    </m:r>
                  </m:oMath>
                </a14:m>
                <a:r>
                  <a:rPr lang="en-US" sz="2000" dirty="0">
                    <a:latin typeface="Verdana" panose="020B0604030504040204" pitchFamily="34" charset="0"/>
                    <a:ea typeface="Verdana" panose="020B0604030504040204" pitchFamily="34" charset="0"/>
                    <a:cs typeface="Times New Roman" panose="02020603050405020304" pitchFamily="18" charset="0"/>
                  </a:rPr>
                  <a:t> and </a:t>
                </a:r>
                <a14:m>
                  <m:oMath xmlns:m="http://schemas.openxmlformats.org/officeDocument/2006/math">
                    <m:r>
                      <a:rPr lang="en-US" sz="2000" i="1">
                        <a:latin typeface="Cambria Math" panose="02040503050406030204" pitchFamily="18" charset="0"/>
                        <a:ea typeface="Calibri" panose="020F0502020204030204" pitchFamily="34" charset="0"/>
                        <a:cs typeface="Times New Roman" panose="02020603050405020304" pitchFamily="18" charset="0"/>
                      </a:rPr>
                      <m:t>24</m:t>
                    </m:r>
                  </m:oMath>
                </a14:m>
                <a:r>
                  <a:rPr lang="en-US" sz="2000" dirty="0">
                    <a:latin typeface="Verdana" panose="020B0604030504040204" pitchFamily="34" charset="0"/>
                    <a:ea typeface="Verdana" panose="020B0604030504040204" pitchFamily="34" charset="0"/>
                    <a:cs typeface="Times New Roman" panose="02020603050405020304" pitchFamily="18" charset="0"/>
                  </a:rPr>
                  <a:t>?</a:t>
                </a:r>
              </a:p>
              <a:p>
                <a:pPr marL="342900" indent="-342900">
                  <a:lnSpc>
                    <a:spcPct val="107000"/>
                  </a:lnSpc>
                  <a:buFont typeface="+mj-lt"/>
                  <a:buAutoNum type="arabi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a:lnSpc>
                    <a:spcPct val="107000"/>
                  </a:lnSpc>
                </a:pPr>
                <a:r>
                  <a:rPr lang="en-US" sz="1800" dirty="0">
                    <a:latin typeface="Verdana" panose="020B0604030504040204" pitchFamily="34" charset="0"/>
                    <a:ea typeface="Calibri" panose="020F0502020204030204" pitchFamily="34" charset="0"/>
                    <a:cs typeface="Times New Roman" panose="02020603050405020304" pitchFamily="18" charset="0"/>
                  </a:rPr>
                  <a:t> </a:t>
                </a: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marL="342900" indent="-342900">
                  <a:lnSpc>
                    <a:spcPct val="107000"/>
                  </a:lnSpc>
                  <a:buFont typeface="+mj-lt"/>
                  <a:buAutoNum type="arabicPeriod"/>
                </a:pPr>
                <a:endParaRPr lang="en-US" sz="1800" dirty="0">
                  <a:latin typeface="Calibri" panose="020F0502020204030204" pitchFamily="34" charset="0"/>
                  <a:ea typeface="Calibri" panose="020F0502020204030204" pitchFamily="34" charset="0"/>
                  <a:cs typeface="Times New Roman" panose="02020603050405020304" pitchFamily="18" charset="0"/>
                </a:endParaRPr>
              </a:p>
            </p:txBody>
          </p:sp>
        </mc:Choice>
        <mc:Fallback xmlns="">
          <p:sp>
            <p:nvSpPr>
              <p:cNvPr id="13" name="TextBox 12">
                <a:extLst>
                  <a:ext uri="{FF2B5EF4-FFF2-40B4-BE49-F238E27FC236}">
                    <a16:creationId xmlns:a16="http://schemas.microsoft.com/office/drawing/2014/main" id="{C01B13E8-EC8D-E443-A329-C5E3593DD13A}"/>
                  </a:ext>
                </a:extLst>
              </p:cNvPr>
              <p:cNvSpPr txBox="1">
                <a:spLocks noRot="1" noChangeAspect="1" noMove="1" noResize="1" noEditPoints="1" noAdjustHandles="1" noChangeArrowheads="1" noChangeShapeType="1" noTextEdit="1"/>
              </p:cNvSpPr>
              <p:nvPr/>
            </p:nvSpPr>
            <p:spPr>
              <a:xfrm>
                <a:off x="565197" y="1281777"/>
                <a:ext cx="10918871" cy="4294445"/>
              </a:xfrm>
              <a:prstGeom prst="rect">
                <a:avLst/>
              </a:prstGeom>
              <a:blipFill>
                <a:blip r:embed="rId5"/>
                <a:stretch>
                  <a:fillRect l="-581" t="-882"/>
                </a:stretch>
              </a:blipFill>
            </p:spPr>
            <p:txBody>
              <a:bodyPr/>
              <a:lstStyle/>
              <a:p>
                <a:r>
                  <a:rPr lang="en-US">
                    <a:noFill/>
                  </a:rPr>
                  <a:t> </a:t>
                </a:r>
              </a:p>
            </p:txBody>
          </p:sp>
        </mc:Fallback>
      </mc:AlternateContent>
      <p:sp>
        <p:nvSpPr>
          <p:cNvPr id="10" name="Google Shape;278;g104476d1465_1_17">
            <a:extLst>
              <a:ext uri="{FF2B5EF4-FFF2-40B4-BE49-F238E27FC236}">
                <a16:creationId xmlns:a16="http://schemas.microsoft.com/office/drawing/2014/main" id="{2260A17C-F127-D647-A05B-7BB351158843}"/>
              </a:ext>
            </a:extLst>
          </p:cNvPr>
          <p:cNvSpPr/>
          <p:nvPr/>
        </p:nvSpPr>
        <p:spPr>
          <a:xfrm>
            <a:off x="135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grpSp>
        <p:nvGrpSpPr>
          <p:cNvPr id="8" name="Group 7">
            <a:extLst>
              <a:ext uri="{FF2B5EF4-FFF2-40B4-BE49-F238E27FC236}">
                <a16:creationId xmlns:a16="http://schemas.microsoft.com/office/drawing/2014/main" id="{F1EEC535-2C41-46D5-8C95-8D9B0FC70C6D}"/>
              </a:ext>
            </a:extLst>
          </p:cNvPr>
          <p:cNvGrpSpPr/>
          <p:nvPr/>
        </p:nvGrpSpPr>
        <p:grpSpPr>
          <a:xfrm>
            <a:off x="2781300" y="2381462"/>
            <a:ext cx="6629400" cy="1342517"/>
            <a:chOff x="2031300" y="2843397"/>
            <a:chExt cx="6629400" cy="1343003"/>
          </a:xfrm>
        </p:grpSpPr>
        <p:grpSp>
          <p:nvGrpSpPr>
            <p:cNvPr id="11" name="Group 10">
              <a:extLst>
                <a:ext uri="{FF2B5EF4-FFF2-40B4-BE49-F238E27FC236}">
                  <a16:creationId xmlns:a16="http://schemas.microsoft.com/office/drawing/2014/main" id="{8D8E100A-DFD5-42D0-AECA-DFC039E5AD7B}"/>
                </a:ext>
              </a:extLst>
            </p:cNvPr>
            <p:cNvGrpSpPr/>
            <p:nvPr/>
          </p:nvGrpSpPr>
          <p:grpSpPr>
            <a:xfrm>
              <a:off x="2031300" y="2843397"/>
              <a:ext cx="6629400" cy="1343003"/>
              <a:chOff x="2031300" y="2843397"/>
              <a:chExt cx="6629400" cy="1343003"/>
            </a:xfrm>
          </p:grpSpPr>
          <p:sp>
            <p:nvSpPr>
              <p:cNvPr id="14" name="Rectangle 13">
                <a:extLst>
                  <a:ext uri="{FF2B5EF4-FFF2-40B4-BE49-F238E27FC236}">
                    <a16:creationId xmlns:a16="http://schemas.microsoft.com/office/drawing/2014/main" id="{39F21221-6166-41FF-9202-A84D2AB56CDA}"/>
                  </a:ext>
                </a:extLst>
              </p:cNvPr>
              <p:cNvSpPr/>
              <p:nvPr/>
            </p:nvSpPr>
            <p:spPr>
              <a:xfrm>
                <a:off x="2031300" y="3373600"/>
                <a:ext cx="6629400" cy="812800"/>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100">
                    <a:latin typeface="Calibri" panose="020F0502020204030204" pitchFamily="34" charset="0"/>
                    <a:ea typeface="Calibri" panose="020F0502020204030204" pitchFamily="34" charset="0"/>
                    <a:cs typeface="Times New Roman" panose="02020603050405020304" pitchFamily="18" charset="0"/>
                  </a:rPr>
                  <a:t> </a:t>
                </a:r>
              </a:p>
            </p:txBody>
          </p:sp>
          <p:grpSp>
            <p:nvGrpSpPr>
              <p:cNvPr id="15" name="Group 14">
                <a:extLst>
                  <a:ext uri="{FF2B5EF4-FFF2-40B4-BE49-F238E27FC236}">
                    <a16:creationId xmlns:a16="http://schemas.microsoft.com/office/drawing/2014/main" id="{3FE7FB42-7C5C-40AF-9CF0-32E8B8F1D570}"/>
                  </a:ext>
                </a:extLst>
              </p:cNvPr>
              <p:cNvGrpSpPr/>
              <p:nvPr/>
            </p:nvGrpSpPr>
            <p:grpSpPr>
              <a:xfrm>
                <a:off x="2031300" y="2843397"/>
                <a:ext cx="6629400" cy="1343003"/>
                <a:chOff x="0" y="-530203"/>
                <a:chExt cx="6629400" cy="1343003"/>
              </a:xfrm>
            </p:grpSpPr>
            <p:sp>
              <p:nvSpPr>
                <p:cNvPr id="16" name="Rectangle 15">
                  <a:extLst>
                    <a:ext uri="{FF2B5EF4-FFF2-40B4-BE49-F238E27FC236}">
                      <a16:creationId xmlns:a16="http://schemas.microsoft.com/office/drawing/2014/main" id="{AC67BFDD-C717-4956-B9BC-C577D4D5B634}"/>
                    </a:ext>
                  </a:extLst>
                </p:cNvPr>
                <p:cNvSpPr/>
                <p:nvPr/>
              </p:nvSpPr>
              <p:spPr>
                <a:xfrm>
                  <a:off x="0" y="0"/>
                  <a:ext cx="6629400" cy="812800"/>
                </a:xfrm>
                <a:prstGeom prst="rect">
                  <a:avLst/>
                </a:prstGeom>
                <a:noFill/>
                <a:ln>
                  <a:noFill/>
                </a:ln>
              </p:spPr>
              <p:txBody>
                <a:bodyPr spcFirstLastPara="1" wrap="square" lIns="91425" tIns="91425" rIns="91425" bIns="91425" anchor="ctr" anchorCtr="0">
                  <a:noAutofit/>
                </a:bodyPr>
                <a:lstStyle/>
                <a:p>
                  <a:pPr>
                    <a:lnSpc>
                      <a:spcPct val="107000"/>
                    </a:lnSpc>
                    <a:spcAft>
                      <a:spcPts val="800"/>
                    </a:spcAft>
                  </a:pPr>
                  <a:r>
                    <a:rPr lang="en-US" sz="1100">
                      <a:latin typeface="Calibri" panose="020F0502020204030204" pitchFamily="34" charset="0"/>
                      <a:ea typeface="Calibri" panose="020F0502020204030204" pitchFamily="34" charset="0"/>
                      <a:cs typeface="Times New Roman" panose="02020603050405020304" pitchFamily="18" charset="0"/>
                    </a:rPr>
                    <a:t> </a:t>
                  </a:r>
                </a:p>
              </p:txBody>
            </p:sp>
            <mc:AlternateContent xmlns:mc="http://schemas.openxmlformats.org/markup-compatibility/2006" xmlns:a14="http://schemas.microsoft.com/office/drawing/2010/main">
              <mc:Choice Requires="a14">
                <p:sp>
                  <p:nvSpPr>
                    <p:cNvPr id="17" name="Rounded Rectangle 18">
                      <a:extLst>
                        <a:ext uri="{FF2B5EF4-FFF2-40B4-BE49-F238E27FC236}">
                          <a16:creationId xmlns:a16="http://schemas.microsoft.com/office/drawing/2014/main" id="{183873EB-8198-48EA-ADC4-F5043041D3D4}"/>
                        </a:ext>
                      </a:extLst>
                    </p:cNvPr>
                    <p:cNvSpPr/>
                    <p:nvPr/>
                  </p:nvSpPr>
                  <p:spPr>
                    <a:xfrm>
                      <a:off x="0" y="-530203"/>
                      <a:ext cx="6629400" cy="1171056"/>
                    </a:xfrm>
                    <a:prstGeom prst="roundRect">
                      <a:avLst>
                        <a:gd name="adj" fmla="val 16667"/>
                      </a:avLst>
                    </a:prstGeom>
                    <a:solidFill>
                      <a:srgbClr val="E2EED5"/>
                    </a:solidFill>
                    <a:ln>
                      <a:noFill/>
                    </a:ln>
                    <a:effectLst>
                      <a:outerShdw blurRad="50800" dist="38100" dir="2700000" algn="tl" rotWithShape="0">
                        <a:prstClr val="black">
                          <a:alpha val="40000"/>
                        </a:prstClr>
                      </a:outerShdw>
                    </a:effectLst>
                  </p:spPr>
                  <p:txBody>
                    <a:bodyPr spcFirstLastPara="1" wrap="square" lIns="91425" tIns="45700" rIns="91425" bIns="45700" anchor="ctr" anchorCtr="0">
                      <a:noAutofit/>
                    </a:bodyPr>
                    <a:lstStyle/>
                    <a:p>
                      <a:pPr marL="742950">
                        <a:lnSpc>
                          <a:spcPct val="107000"/>
                        </a:lnSpc>
                        <a:spcAft>
                          <a:spcPts val="800"/>
                        </a:spcAft>
                      </a:pPr>
                      <a:endPar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endParaRPr>
                    </a:p>
                    <a:p>
                      <a:pPr marL="742950">
                        <a:lnSpc>
                          <a:spcPct val="107000"/>
                        </a:lnSpc>
                        <a:spcAft>
                          <a:spcPts val="800"/>
                        </a:spcAft>
                      </a:pP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A </a:t>
                      </a:r>
                      <a:r>
                        <a:rPr lang="en-US" sz="2000" b="1" i="1" dirty="0">
                          <a:solidFill>
                            <a:srgbClr val="6C993D"/>
                          </a:solidFill>
                          <a:latin typeface="Verdana" panose="020B0604030504040204" pitchFamily="34" charset="0"/>
                          <a:ea typeface="Verdana" panose="020B0604030504040204" pitchFamily="34" charset="0"/>
                          <a:cs typeface="Verdana" panose="020B0604030504040204" pitchFamily="34" charset="0"/>
                        </a:rPr>
                        <a:t>composite number</a:t>
                      </a:r>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is a whole number greater than </a:t>
                      </a:r>
                      <a14:m>
                        <m:oMath xmlns:m="http://schemas.openxmlformats.org/officeDocument/2006/math">
                          <m:r>
                            <a:rPr lang="en-US" sz="2000" i="1">
                              <a:solidFill>
                                <a:srgbClr val="6C993D"/>
                              </a:solidFill>
                              <a:latin typeface="Cambria Math" panose="02040503050406030204" pitchFamily="18" charset="0"/>
                              <a:ea typeface="Verdana" panose="020B0604030504040204" pitchFamily="34" charset="0"/>
                              <a:cs typeface="Verdana" panose="020B0604030504040204" pitchFamily="34" charset="0"/>
                            </a:rPr>
                            <m:t>1</m:t>
                          </m:r>
                        </m:oMath>
                      </a14:m>
                      <a:r>
                        <a:rPr lang="en-US" sz="2000" dirty="0">
                          <a:solidFill>
                            <a:srgbClr val="6C993D"/>
                          </a:solidFill>
                          <a:latin typeface="Verdana" panose="020B0604030504040204" pitchFamily="34" charset="0"/>
                          <a:ea typeface="Verdana" panose="020B0604030504040204" pitchFamily="34" charset="0"/>
                          <a:cs typeface="Verdana" panose="020B0604030504040204" pitchFamily="34" charset="0"/>
                        </a:rPr>
                        <a:t> that has at least one whole-number factor other than one and itself.</a:t>
                      </a: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685800">
                        <a:lnSpc>
                          <a:spcPct val="107000"/>
                        </a:lnSpc>
                        <a:spcAft>
                          <a:spcPts val="800"/>
                        </a:spcAft>
                      </a:pPr>
                      <a:r>
                        <a:rPr lang="en-US" sz="1100" dirty="0">
                          <a:latin typeface="Calibri" panose="020F0502020204030204" pitchFamily="34" charset="0"/>
                          <a:ea typeface="Calibri" panose="020F0502020204030204" pitchFamily="34" charset="0"/>
                          <a:cs typeface="Times New Roman" panose="02020603050405020304" pitchFamily="18" charset="0"/>
                        </a:rPr>
                        <a:t> </a:t>
                      </a:r>
                    </a:p>
                  </p:txBody>
                </p:sp>
              </mc:Choice>
              <mc:Fallback xmlns="">
                <p:sp>
                  <p:nvSpPr>
                    <p:cNvPr id="17" name="Rounded Rectangle 18">
                      <a:extLst>
                        <a:ext uri="{FF2B5EF4-FFF2-40B4-BE49-F238E27FC236}">
                          <a16:creationId xmlns:a16="http://schemas.microsoft.com/office/drawing/2014/main" id="{183873EB-8198-48EA-ADC4-F5043041D3D4}"/>
                        </a:ext>
                      </a:extLst>
                    </p:cNvPr>
                    <p:cNvSpPr>
                      <a:spLocks noRot="1" noChangeAspect="1" noMove="1" noResize="1" noEditPoints="1" noAdjustHandles="1" noChangeArrowheads="1" noChangeShapeType="1" noTextEdit="1"/>
                    </p:cNvSpPr>
                    <p:nvPr/>
                  </p:nvSpPr>
                  <p:spPr>
                    <a:xfrm>
                      <a:off x="0" y="-530203"/>
                      <a:ext cx="6629400" cy="1171056"/>
                    </a:xfrm>
                    <a:prstGeom prst="roundRect">
                      <a:avLst>
                        <a:gd name="adj" fmla="val 16667"/>
                      </a:avLst>
                    </a:prstGeom>
                    <a:blipFill>
                      <a:blip r:embed="rId6"/>
                      <a:stretch>
                        <a:fillRect/>
                      </a:stretch>
                    </a:blipFill>
                    <a:ln>
                      <a:noFill/>
                    </a:ln>
                    <a:effectLst>
                      <a:outerShdw blurRad="50800" dist="38100" dir="2700000" algn="tl" rotWithShape="0">
                        <a:prstClr val="black">
                          <a:alpha val="40000"/>
                        </a:prstClr>
                      </a:outerShdw>
                    </a:effectLst>
                  </p:spPr>
                  <p:txBody>
                    <a:bodyPr/>
                    <a:lstStyle/>
                    <a:p>
                      <a:r>
                        <a:rPr lang="en-US">
                          <a:noFill/>
                        </a:rPr>
                        <a:t> </a:t>
                      </a:r>
                    </a:p>
                  </p:txBody>
                </p:sp>
              </mc:Fallback>
            </mc:AlternateContent>
            <p:pic>
              <p:nvPicPr>
                <p:cNvPr id="18" name="Shape 7" descr="Icon&#10;&#10;Description automatically generated">
                  <a:extLst>
                    <a:ext uri="{FF2B5EF4-FFF2-40B4-BE49-F238E27FC236}">
                      <a16:creationId xmlns:a16="http://schemas.microsoft.com/office/drawing/2014/main" id="{956E51DE-AD43-443B-895B-1CB3BD21353C}"/>
                    </a:ext>
                  </a:extLst>
                </p:cNvPr>
                <p:cNvPicPr preferRelativeResize="0"/>
                <p:nvPr/>
              </p:nvPicPr>
              <p:blipFill rotWithShape="1">
                <a:blip r:embed="rId7" cstate="screen">
                  <a:alphaModFix/>
                  <a:extLst>
                    <a:ext uri="{28A0092B-C50C-407E-A947-70E740481C1C}">
                      <a14:useLocalDpi xmlns:a14="http://schemas.microsoft.com/office/drawing/2010/main"/>
                    </a:ext>
                  </a:extLst>
                </a:blip>
                <a:srcRect/>
                <a:stretch/>
              </p:blipFill>
              <p:spPr>
                <a:xfrm>
                  <a:off x="169857" y="-379952"/>
                  <a:ext cx="539750" cy="539750"/>
                </a:xfrm>
                <a:prstGeom prst="rect">
                  <a:avLst/>
                </a:prstGeom>
                <a:noFill/>
                <a:ln>
                  <a:noFill/>
                </a:ln>
                <a:effectLst>
                  <a:outerShdw blurRad="50800" dist="38100" dir="2700000" algn="tl" rotWithShape="0">
                    <a:prstClr val="black">
                      <a:alpha val="40000"/>
                    </a:prstClr>
                  </a:outerShdw>
                </a:effectLst>
              </p:spPr>
            </p:pic>
          </p:grpSp>
        </p:grpSp>
      </p:gr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4D96F75C-AD27-47ED-B276-9DEF817D7621}"/>
                  </a:ext>
                </a:extLst>
              </p:cNvPr>
              <p:cNvGraphicFramePr>
                <a:graphicFrameLocks noGrp="1"/>
              </p:cNvGraphicFramePr>
              <p:nvPr>
                <p:extLst>
                  <p:ext uri="{D42A27DB-BD31-4B8C-83A1-F6EECF244321}">
                    <p14:modId xmlns:p14="http://schemas.microsoft.com/office/powerpoint/2010/main" val="1202400019"/>
                  </p:ext>
                </p:extLst>
              </p:nvPr>
            </p:nvGraphicFramePr>
            <p:xfrm>
              <a:off x="2724149" y="4937171"/>
              <a:ext cx="6743700" cy="1540891"/>
            </p:xfrm>
            <a:graphic>
              <a:graphicData uri="http://schemas.openxmlformats.org/drawingml/2006/table">
                <a:tbl>
                  <a:tblPr firstRow="1" firstCol="1" bandRow="1">
                    <a:tableStyleId>{A91F0D33-8C57-4600-99A7-42BC86742BE1}</a:tableStyleId>
                  </a:tblPr>
                  <a:tblGrid>
                    <a:gridCol w="2686050">
                      <a:extLst>
                        <a:ext uri="{9D8B030D-6E8A-4147-A177-3AD203B41FA5}">
                          <a16:colId xmlns:a16="http://schemas.microsoft.com/office/drawing/2014/main" val="250615155"/>
                        </a:ext>
                      </a:extLst>
                    </a:gridCol>
                    <a:gridCol w="4057650">
                      <a:extLst>
                        <a:ext uri="{9D8B030D-6E8A-4147-A177-3AD203B41FA5}">
                          <a16:colId xmlns:a16="http://schemas.microsoft.com/office/drawing/2014/main" val="2754238403"/>
                        </a:ext>
                      </a:extLst>
                    </a:gridCol>
                  </a:tblGrid>
                  <a:tr h="457200">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rPr>
                            <a:t>Factors of </a:t>
                          </a:r>
                          <a14:m>
                            <m:oMath xmlns:m="http://schemas.openxmlformats.org/officeDocument/2006/math">
                              <m:r>
                                <a:rPr lang="en-US" sz="2000" b="1">
                                  <a:effectLst/>
                                  <a:latin typeface="Cambria Math" panose="02040503050406030204" pitchFamily="18" charset="0"/>
                                </a:rPr>
                                <m:t>𝟏𝟔</m:t>
                              </m:r>
                            </m:oMath>
                          </a14:m>
                          <a:endParaRPr lang="en-US" sz="2000" b="1"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18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94564"/>
                      </a:ext>
                    </a:extLst>
                  </a:tr>
                  <a:tr h="457200">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rPr>
                            <a:t>Factors of </a:t>
                          </a:r>
                          <a14:m>
                            <m:oMath xmlns:m="http://schemas.openxmlformats.org/officeDocument/2006/math">
                              <m:r>
                                <a:rPr lang="en-US" sz="2000" b="1">
                                  <a:effectLst/>
                                  <a:latin typeface="Cambria Math" panose="02040503050406030204" pitchFamily="18" charset="0"/>
                                </a:rPr>
                                <m:t>𝟐𝟒</m:t>
                              </m:r>
                            </m:oMath>
                          </a14:m>
                          <a:endParaRPr lang="en-US" sz="2000" b="1"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18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5274306"/>
                      </a:ext>
                    </a:extLst>
                  </a:tr>
                  <a:tr h="274320">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rPr>
                            <a:t>Common Factors of </a:t>
                          </a:r>
                          <a14:m>
                            <m:oMath xmlns:m="http://schemas.openxmlformats.org/officeDocument/2006/math">
                              <m:r>
                                <a:rPr lang="en-US" sz="2000" b="1">
                                  <a:effectLst/>
                                  <a:latin typeface="Cambria Math" panose="02040503050406030204" pitchFamily="18" charset="0"/>
                                </a:rPr>
                                <m:t>𝟏𝟔</m:t>
                              </m:r>
                            </m:oMath>
                          </a14:m>
                          <a:r>
                            <a:rPr lang="en-US" sz="2000" b="1" dirty="0">
                              <a:effectLst/>
                              <a:latin typeface="Verdana" panose="020B0604030504040204" pitchFamily="34" charset="0"/>
                              <a:ea typeface="Verdana" panose="020B0604030504040204" pitchFamily="34" charset="0"/>
                            </a:rPr>
                            <a:t> and </a:t>
                          </a:r>
                          <a14:m>
                            <m:oMath xmlns:m="http://schemas.openxmlformats.org/officeDocument/2006/math">
                              <m:r>
                                <a:rPr lang="en-US" sz="2000" b="1">
                                  <a:effectLst/>
                                  <a:latin typeface="Cambria Math" panose="02040503050406030204" pitchFamily="18" charset="0"/>
                                </a:rPr>
                                <m:t>𝟐𝟒</m:t>
                              </m:r>
                            </m:oMath>
                          </a14:m>
                          <a:endParaRPr lang="en-US" sz="2000" b="1"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a:txBody>
                        <a:bodyPr/>
                        <a:lstStyle/>
                        <a:p>
                          <a:pPr marL="0" marR="0" algn="ctr">
                            <a:lnSpc>
                              <a:spcPct val="107000"/>
                            </a:lnSpc>
                            <a:spcBef>
                              <a:spcPts val="0"/>
                            </a:spcBef>
                            <a:spcAft>
                              <a:spcPts val="0"/>
                            </a:spcAft>
                          </a:pPr>
                          <a:r>
                            <a:rPr lang="en-US" sz="18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1890088"/>
                      </a:ext>
                    </a:extLst>
                  </a:tr>
                </a:tbl>
              </a:graphicData>
            </a:graphic>
          </p:graphicFrame>
        </mc:Choice>
        <mc:Fallback xmlns="">
          <p:graphicFrame>
            <p:nvGraphicFramePr>
              <p:cNvPr id="2" name="Table 1">
                <a:extLst>
                  <a:ext uri="{FF2B5EF4-FFF2-40B4-BE49-F238E27FC236}">
                    <a16:creationId xmlns:a16="http://schemas.microsoft.com/office/drawing/2014/main" id="{4D96F75C-AD27-47ED-B276-9DEF817D7621}"/>
                  </a:ext>
                </a:extLst>
              </p:cNvPr>
              <p:cNvGraphicFramePr>
                <a:graphicFrameLocks noGrp="1"/>
              </p:cNvGraphicFramePr>
              <p:nvPr>
                <p:extLst>
                  <p:ext uri="{D42A27DB-BD31-4B8C-83A1-F6EECF244321}">
                    <p14:modId xmlns:p14="http://schemas.microsoft.com/office/powerpoint/2010/main" val="1202400019"/>
                  </p:ext>
                </p:extLst>
              </p:nvPr>
            </p:nvGraphicFramePr>
            <p:xfrm>
              <a:off x="2724149" y="4937171"/>
              <a:ext cx="6743700" cy="1540891"/>
            </p:xfrm>
            <a:graphic>
              <a:graphicData uri="http://schemas.openxmlformats.org/drawingml/2006/table">
                <a:tbl>
                  <a:tblPr firstRow="1" firstCol="1" bandRow="1">
                    <a:tableStyleId>{A91F0D33-8C57-4600-99A7-42BC86742BE1}</a:tableStyleId>
                  </a:tblPr>
                  <a:tblGrid>
                    <a:gridCol w="2686050">
                      <a:extLst>
                        <a:ext uri="{9D8B030D-6E8A-4147-A177-3AD203B41FA5}">
                          <a16:colId xmlns:a16="http://schemas.microsoft.com/office/drawing/2014/main" val="250615155"/>
                        </a:ext>
                      </a:extLst>
                    </a:gridCol>
                    <a:gridCol w="4057650">
                      <a:extLst>
                        <a:ext uri="{9D8B030D-6E8A-4147-A177-3AD203B41FA5}">
                          <a16:colId xmlns:a16="http://schemas.microsoft.com/office/drawing/2014/main" val="2754238403"/>
                        </a:ext>
                      </a:extLst>
                    </a:gridCol>
                  </a:tblGrid>
                  <a:tr h="45720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472" t="-2778" r="-151415" b="-272222"/>
                          </a:stretch>
                        </a:blipFill>
                      </a:tcPr>
                    </a:tc>
                    <a:tc>
                      <a:txBody>
                        <a:bodyPr/>
                        <a:lstStyle/>
                        <a:p>
                          <a:pPr marL="0" marR="0" algn="ctr">
                            <a:lnSpc>
                              <a:spcPct val="107000"/>
                            </a:lnSpc>
                            <a:spcBef>
                              <a:spcPts val="0"/>
                            </a:spcBef>
                            <a:spcAft>
                              <a:spcPts val="0"/>
                            </a:spcAft>
                          </a:pPr>
                          <a:r>
                            <a:rPr lang="en-US" sz="18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794564"/>
                      </a:ext>
                    </a:extLst>
                  </a:tr>
                  <a:tr h="457200">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472" t="-100000" r="-151415" b="-164865"/>
                          </a:stretch>
                        </a:blipFill>
                      </a:tcPr>
                    </a:tc>
                    <a:tc>
                      <a:txBody>
                        <a:bodyPr/>
                        <a:lstStyle/>
                        <a:p>
                          <a:pPr marL="0" marR="0" algn="ctr">
                            <a:lnSpc>
                              <a:spcPct val="107000"/>
                            </a:lnSpc>
                            <a:spcBef>
                              <a:spcPts val="0"/>
                            </a:spcBef>
                            <a:spcAft>
                              <a:spcPts val="0"/>
                            </a:spcAft>
                          </a:pPr>
                          <a:r>
                            <a:rPr lang="en-US" sz="18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5274306"/>
                      </a:ext>
                    </a:extLst>
                  </a:tr>
                  <a:tr h="626491">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8"/>
                          <a:stretch>
                            <a:fillRect l="-472" t="-148000" r="-151415" b="-22000"/>
                          </a:stretch>
                        </a:blipFill>
                      </a:tcPr>
                    </a:tc>
                    <a:tc>
                      <a:txBody>
                        <a:bodyPr/>
                        <a:lstStyle/>
                        <a:p>
                          <a:pPr marL="0" marR="0" algn="ctr">
                            <a:lnSpc>
                              <a:spcPct val="107000"/>
                            </a:lnSpc>
                            <a:spcBef>
                              <a:spcPts val="0"/>
                            </a:spcBef>
                            <a:spcAft>
                              <a:spcPts val="0"/>
                            </a:spcAft>
                          </a:pPr>
                          <a:r>
                            <a:rPr lang="en-US" sz="18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51890088"/>
                      </a:ext>
                    </a:extLst>
                  </a:tr>
                </a:tbl>
              </a:graphicData>
            </a:graphic>
          </p:graphicFrame>
        </mc:Fallback>
      </mc:AlternateContent>
    </p:spTree>
    <p:extLst>
      <p:ext uri="{BB962C8B-B14F-4D97-AF65-F5344CB8AC3E}">
        <p14:creationId xmlns:p14="http://schemas.microsoft.com/office/powerpoint/2010/main" val="39024578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39825" y="6432892"/>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65</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E5E1E0-A54D-BE42-84B5-F917038ADE99}"/>
                  </a:ext>
                </a:extLst>
              </p:cNvPr>
              <p:cNvSpPr txBox="1"/>
              <p:nvPr/>
            </p:nvSpPr>
            <p:spPr>
              <a:xfrm>
                <a:off x="615259" y="293387"/>
                <a:ext cx="11315483" cy="1384995"/>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Times New Roman" panose="02020603050405020304" pitchFamily="18" charset="0"/>
                  </a:rPr>
                  <a:t>Isaiah rewrote the sum </a:t>
                </a:r>
                <a14:m>
                  <m:oMath xmlns:m="http://schemas.openxmlformats.org/officeDocument/2006/math">
                    <m:r>
                      <a:rPr lang="en-US" sz="2000" i="1">
                        <a:latin typeface="Cambria Math" panose="02040503050406030204" pitchFamily="18" charset="0"/>
                        <a:ea typeface="Calibri" panose="020F0502020204030204" pitchFamily="34" charset="0"/>
                        <a:cs typeface="Times New Roman" panose="02020603050405020304" pitchFamily="18" charset="0"/>
                      </a:rPr>
                      <m:t>16 + 24</m:t>
                    </m:r>
                  </m:oMath>
                </a14:m>
                <a:r>
                  <a:rPr lang="en-US" sz="2000" dirty="0">
                    <a:latin typeface="Verdana" panose="020B0604030504040204" pitchFamily="34" charset="0"/>
                    <a:ea typeface="Verdana" panose="020B0604030504040204" pitchFamily="34" charset="0"/>
                    <a:cs typeface="Times New Roman" panose="02020603050405020304" pitchFamily="18" charset="0"/>
                  </a:rPr>
                  <a:t> using the distributive property. Each step in his thinking is shown. Complete the descriptions of Isaiah’s process by examining his thinking and work. Use the words in the bank below to complete each description.</a:t>
                </a: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id="{8AE5E1E0-A54D-BE42-84B5-F917038ADE99}"/>
                  </a:ext>
                </a:extLst>
              </p:cNvPr>
              <p:cNvSpPr txBox="1">
                <a:spLocks noRot="1" noChangeAspect="1" noMove="1" noResize="1" noEditPoints="1" noAdjustHandles="1" noChangeArrowheads="1" noChangeShapeType="1" noTextEdit="1"/>
              </p:cNvSpPr>
              <p:nvPr/>
            </p:nvSpPr>
            <p:spPr>
              <a:xfrm>
                <a:off x="615259" y="293387"/>
                <a:ext cx="11315483" cy="1384995"/>
              </a:xfrm>
              <a:prstGeom prst="rect">
                <a:avLst/>
              </a:prstGeom>
              <a:blipFill>
                <a:blip r:embed="rId4"/>
                <a:stretch>
                  <a:fillRect l="-561" t="-2752"/>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A7817ACE-0EAD-F54B-BF54-D1C44606A01D}"/>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p>
        </p:txBody>
      </p:sp>
      <p:sp>
        <p:nvSpPr>
          <p:cNvPr id="6" name="Rounded Rectangle 6">
            <a:extLst>
              <a:ext uri="{FF2B5EF4-FFF2-40B4-BE49-F238E27FC236}">
                <a16:creationId xmlns:a16="http://schemas.microsoft.com/office/drawing/2014/main" id="{EDBBDB01-9C53-48EC-9C6D-29528977D106}"/>
              </a:ext>
            </a:extLst>
          </p:cNvPr>
          <p:cNvSpPr/>
          <p:nvPr/>
        </p:nvSpPr>
        <p:spPr>
          <a:xfrm>
            <a:off x="2320671" y="1893735"/>
            <a:ext cx="7550658" cy="568207"/>
          </a:xfrm>
          <a:prstGeom prst="round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algn="ctr">
              <a:lnSpc>
                <a:spcPct val="107000"/>
              </a:lnSpc>
              <a:spcAft>
                <a:spcPts val="800"/>
              </a:spcAft>
            </a:pPr>
            <a:r>
              <a:rPr lang="en-US" sz="2000" dirty="0">
                <a:solidFill>
                  <a:srgbClr val="000000"/>
                </a:solidFill>
                <a:latin typeface="Verdana" panose="020B0604030504040204" pitchFamily="34" charset="0"/>
                <a:ea typeface="Calibri" panose="020F0502020204030204" pitchFamily="34" charset="0"/>
                <a:cs typeface="Times New Roman" panose="02020603050405020304" pitchFamily="18" charset="0"/>
              </a:rPr>
              <a:t>distributive       equivalent       factor       multiplication</a:t>
            </a:r>
            <a:endParaRPr lang="en-US" sz="2000" dirty="0">
              <a:ea typeface="Calibri" panose="020F0502020204030204" pitchFamily="34" charset="0"/>
              <a:cs typeface="Times New Roman" panose="02020603050405020304" pitchFamily="18" charset="0"/>
            </a:endParaRPr>
          </a:p>
        </p:txBody>
      </p:sp>
      <p:pic>
        <p:nvPicPr>
          <p:cNvPr id="4" name="Picture 3">
            <a:extLst>
              <a:ext uri="{FF2B5EF4-FFF2-40B4-BE49-F238E27FC236}">
                <a16:creationId xmlns:a16="http://schemas.microsoft.com/office/drawing/2014/main" id="{338F3752-2A97-473C-BF60-82A59F750AD5}"/>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3112861" y="2734525"/>
            <a:ext cx="6147640" cy="4068456"/>
          </a:xfrm>
          <a:prstGeom prst="rect">
            <a:avLst/>
          </a:prstGeom>
        </p:spPr>
      </p:pic>
    </p:spTree>
    <p:extLst>
      <p:ext uri="{BB962C8B-B14F-4D97-AF65-F5344CB8AC3E}">
        <p14:creationId xmlns:p14="http://schemas.microsoft.com/office/powerpoint/2010/main" val="33938133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942568"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65</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E5E1E0-A54D-BE42-84B5-F917038ADE99}"/>
                  </a:ext>
                </a:extLst>
              </p:cNvPr>
              <p:cNvSpPr txBox="1"/>
              <p:nvPr/>
            </p:nvSpPr>
            <p:spPr>
              <a:xfrm>
                <a:off x="585620" y="400324"/>
                <a:ext cx="11432207" cy="4210383"/>
              </a:xfrm>
              <a:prstGeom prst="rect">
                <a:avLst/>
              </a:prstGeom>
              <a:noFill/>
            </p:spPr>
            <p:txBody>
              <a:bodyPr wrap="square" rtlCol="0">
                <a:spAutoFit/>
              </a:bodyPr>
              <a:lstStyle/>
              <a:p>
                <a:pPr marL="342900" indent="-342900">
                  <a:buFont typeface="+mj-lt"/>
                  <a:buAutoNum type="arabicPeriod" startAt="3"/>
                </a:pPr>
                <a:r>
                  <a:rPr lang="en-US" sz="2000" dirty="0">
                    <a:latin typeface="Verdana" panose="020B0604030504040204" pitchFamily="34" charset="0"/>
                    <a:ea typeface="Verdana" panose="020B0604030504040204" pitchFamily="34" charset="0"/>
                  </a:rPr>
                  <a:t>Rewrite the sum </a:t>
                </a:r>
                <a14:m>
                  <m:oMath xmlns:m="http://schemas.openxmlformats.org/officeDocument/2006/math">
                    <m:r>
                      <a:rPr lang="en-US" sz="2000" i="1">
                        <a:latin typeface="Cambria Math" panose="02040503050406030204" pitchFamily="18" charset="0"/>
                        <a:ea typeface="Cambria Math" panose="02040503050406030204" pitchFamily="18" charset="0"/>
                      </a:rPr>
                      <m:t>16 + 24</m:t>
                    </m:r>
                  </m:oMath>
                </a14:m>
                <a:r>
                  <a:rPr lang="en-US" sz="2000" dirty="0">
                    <a:latin typeface="Cambria Math" panose="02040503050406030204" pitchFamily="18" charset="0"/>
                    <a:ea typeface="Cambria Math" panose="02040503050406030204" pitchFamily="18" charset="0"/>
                  </a:rPr>
                  <a:t> </a:t>
                </a:r>
                <a:r>
                  <a:rPr lang="en-US" sz="2000" dirty="0">
                    <a:latin typeface="Verdana" panose="020B0604030504040204" pitchFamily="34" charset="0"/>
                    <a:ea typeface="Verdana" panose="020B0604030504040204" pitchFamily="34" charset="0"/>
                  </a:rPr>
                  <a:t>using the distributive property in two additional ways.</a:t>
                </a:r>
              </a:p>
              <a:p>
                <a:pPr marL="342900" indent="-342900">
                  <a:buFont typeface="+mj-lt"/>
                  <a:buAutoNum type="arabicPeriod" startAt="3"/>
                </a:pPr>
                <a:endParaRPr lang="en-US" sz="2000" dirty="0">
                  <a:latin typeface="Verdana" panose="020B0604030504040204" pitchFamily="34" charset="0"/>
                  <a:ea typeface="Verdana" panose="020B0604030504040204" pitchFamily="34" charset="0"/>
                </a:endParaRPr>
              </a:p>
              <a:p>
                <a:pPr marL="341313" indent="115888" algn="just">
                  <a:lnSpc>
                    <a:spcPct val="107000"/>
                  </a:lnSpc>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16 + 24 = ____ ( ____+____ )</m:t>
                      </m:r>
                    </m:oMath>
                  </m:oMathPara>
                </a14:m>
                <a:endParaRPr lang="en-US" sz="20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endParaRPr lang="en-US" sz="20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7000"/>
                  </a:lnSpc>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endParaRPr lang="en-US" sz="2000" dirty="0">
                  <a:latin typeface="Calibri" panose="020F0502020204030204" pitchFamily="34" charset="0"/>
                  <a:ea typeface="Calibri" panose="020F0502020204030204" pitchFamily="34" charset="0"/>
                  <a:cs typeface="Times New Roman" panose="02020603050405020304" pitchFamily="18" charset="0"/>
                </a:endParaRPr>
              </a:p>
              <a:p>
                <a:pPr marL="280988" algn="just">
                  <a:lnSpc>
                    <a:spcPct val="107000"/>
                  </a:lnSpc>
                </a:pPr>
                <a:r>
                  <a:rPr lang="en-US" sz="2000" dirty="0">
                    <a:latin typeface="Verdana" panose="020B0604030504040204" pitchFamily="34" charset="0"/>
                    <a:ea typeface="Times New Roman" panose="02020603050405020304" pitchFamily="18" charset="0"/>
                    <a:cs typeface="Times New Roman" panose="02020603050405020304" pitchFamily="18" charset="0"/>
                  </a:rPr>
                  <a:t>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16 + 24 = ____ ( ____+____ )</m:t>
                    </m:r>
                  </m:oMath>
                </a14:m>
                <a:endParaRPr lang="en-US" sz="2000" dirty="0">
                  <a:latin typeface="Calibri" panose="020F0502020204030204" pitchFamily="34" charset="0"/>
                  <a:ea typeface="Calibri" panose="020F0502020204030204" pitchFamily="34" charset="0"/>
                  <a:cs typeface="Times New Roman" panose="02020603050405020304" pitchFamily="18" charset="0"/>
                </a:endParaRPr>
              </a:p>
              <a:p>
                <a:endParaRPr lang="en-US" sz="2000" dirty="0">
                  <a:latin typeface="Cambria Math" panose="02040503050406030204" pitchFamily="18" charset="0"/>
                  <a:ea typeface="Cambria Math" panose="02040503050406030204" pitchFamily="18" charset="0"/>
                </a:endParaRPr>
              </a:p>
              <a:p>
                <a:endParaRPr lang="en-US" sz="2000" dirty="0">
                  <a:latin typeface="Cambria Math" panose="02040503050406030204" pitchFamily="18" charset="0"/>
                  <a:ea typeface="Cambria Math" panose="02040503050406030204" pitchFamily="18" charset="0"/>
                </a:endParaRPr>
              </a:p>
              <a:p>
                <a:pPr marL="457200" indent="-457200">
                  <a:buFont typeface="+mj-lt"/>
                  <a:buAutoNum type="arabicPeriod" startAt="4"/>
                </a:pPr>
                <a:r>
                  <a:rPr lang="en-US" sz="2000" dirty="0">
                    <a:latin typeface="Verdana" panose="020B0604030504040204" pitchFamily="34" charset="0"/>
                    <a:ea typeface="Verdana" panose="020B0604030504040204" pitchFamily="34" charset="0"/>
                  </a:rPr>
                  <a:t>T</a:t>
                </a:r>
                <a:r>
                  <a:rPr lang="en-US" sz="2000" dirty="0">
                    <a:latin typeface="Verdana" panose="020B0604030504040204" pitchFamily="34" charset="0"/>
                    <a:ea typeface="Verdana" panose="020B0604030504040204" pitchFamily="34" charset="0"/>
                    <a:cs typeface="Times New Roman" panose="02020603050405020304" pitchFamily="18" charset="0"/>
                  </a:rPr>
                  <a:t>wo students made errors rewriting the sum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54 + 36</m:t>
                    </m:r>
                  </m:oMath>
                </a14:m>
                <a:r>
                  <a:rPr lang="en-US" sz="2000" dirty="0">
                    <a:latin typeface="Verdana" panose="020B0604030504040204" pitchFamily="34" charset="0"/>
                    <a:ea typeface="Verdana" panose="020B0604030504040204" pitchFamily="34" charset="0"/>
                    <a:cs typeface="Times New Roman" panose="02020603050405020304" pitchFamily="18" charset="0"/>
                  </a:rPr>
                  <a:t> using the distributive property. Each student’s expression is shown.</a:t>
                </a:r>
              </a:p>
              <a:p>
                <a:pPr marL="457200" indent="-457200">
                  <a:buFont typeface="+mj-lt"/>
                  <a:buAutoNum type="arabicPeriod" startAt="4"/>
                </a:pP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marL="457200" indent="-457200">
                  <a:buFont typeface="+mj-lt"/>
                  <a:buAutoNum type="arabicPeriod" startAt="4"/>
                </a:pPr>
                <a:endParaRPr lang="en-US" sz="2000" dirty="0">
                  <a:latin typeface="Cambria Math" panose="02040503050406030204" pitchFamily="18" charset="0"/>
                  <a:ea typeface="Cambria Math" panose="02040503050406030204" pitchFamily="18"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id="{8AE5E1E0-A54D-BE42-84B5-F917038ADE99}"/>
                  </a:ext>
                </a:extLst>
              </p:cNvPr>
              <p:cNvSpPr txBox="1">
                <a:spLocks noRot="1" noChangeAspect="1" noMove="1" noResize="1" noEditPoints="1" noAdjustHandles="1" noChangeArrowheads="1" noChangeShapeType="1" noTextEdit="1"/>
              </p:cNvSpPr>
              <p:nvPr/>
            </p:nvSpPr>
            <p:spPr>
              <a:xfrm>
                <a:off x="585620" y="400324"/>
                <a:ext cx="11432207" cy="4210383"/>
              </a:xfrm>
              <a:prstGeom prst="rect">
                <a:avLst/>
              </a:prstGeom>
              <a:blipFill>
                <a:blip r:embed="rId4"/>
                <a:stretch>
                  <a:fillRect l="-555" t="-1205"/>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A7817ACE-0EAD-F54B-BF54-D1C44606A01D}"/>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E3FF0E82-4F02-4888-AA94-F61EDDCD3681}"/>
                  </a:ext>
                </a:extLst>
              </p:cNvPr>
              <p:cNvGraphicFramePr>
                <a:graphicFrameLocks noGrp="1"/>
              </p:cNvGraphicFramePr>
              <p:nvPr>
                <p:extLst>
                  <p:ext uri="{D42A27DB-BD31-4B8C-83A1-F6EECF244321}">
                    <p14:modId xmlns:p14="http://schemas.microsoft.com/office/powerpoint/2010/main" val="1552494642"/>
                  </p:ext>
                </p:extLst>
              </p:nvPr>
            </p:nvGraphicFramePr>
            <p:xfrm>
              <a:off x="2456381" y="4610707"/>
              <a:ext cx="7279238" cy="1701421"/>
            </p:xfrm>
            <a:graphic>
              <a:graphicData uri="http://schemas.openxmlformats.org/drawingml/2006/table">
                <a:tbl>
                  <a:tblPr firstRow="1" firstCol="1" bandRow="1">
                    <a:tableStyleId>{A91F0D33-8C57-4600-99A7-42BC86742BE1}</a:tableStyleId>
                  </a:tblPr>
                  <a:tblGrid>
                    <a:gridCol w="3059857">
                      <a:extLst>
                        <a:ext uri="{9D8B030D-6E8A-4147-A177-3AD203B41FA5}">
                          <a16:colId xmlns:a16="http://schemas.microsoft.com/office/drawing/2014/main" val="100051436"/>
                        </a:ext>
                      </a:extLst>
                    </a:gridCol>
                    <a:gridCol w="4219381">
                      <a:extLst>
                        <a:ext uri="{9D8B030D-6E8A-4147-A177-3AD203B41FA5}">
                          <a16:colId xmlns:a16="http://schemas.microsoft.com/office/drawing/2014/main" val="2352236875"/>
                        </a:ext>
                      </a:extLst>
                    </a:gridCol>
                  </a:tblGrid>
                  <a:tr h="622451">
                    <a:tc gridSpan="2">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rPr>
                            <a:t>Rewrite </a:t>
                          </a:r>
                          <a14:m>
                            <m:oMath xmlns:m="http://schemas.openxmlformats.org/officeDocument/2006/math">
                              <m:r>
                                <a:rPr lang="en-US" sz="2000" b="1">
                                  <a:effectLst/>
                                  <a:latin typeface="Cambria Math" panose="02040503050406030204" pitchFamily="18" charset="0"/>
                                  <a:ea typeface="Cambria Math" panose="02040503050406030204" pitchFamily="18" charset="0"/>
                                </a:rPr>
                                <m:t>𝟓𝟒</m:t>
                              </m:r>
                              <m:r>
                                <a:rPr lang="en-US" sz="2000" b="1">
                                  <a:effectLst/>
                                  <a:latin typeface="Cambria Math" panose="02040503050406030204" pitchFamily="18" charset="0"/>
                                  <a:ea typeface="Cambria Math" panose="02040503050406030204" pitchFamily="18" charset="0"/>
                                </a:rPr>
                                <m:t> + </m:t>
                              </m:r>
                              <m:r>
                                <a:rPr lang="en-US" sz="2000" b="1">
                                  <a:effectLst/>
                                  <a:latin typeface="Cambria Math" panose="02040503050406030204" pitchFamily="18" charset="0"/>
                                  <a:ea typeface="Cambria Math" panose="02040503050406030204" pitchFamily="18" charset="0"/>
                                </a:rPr>
                                <m:t>𝟑𝟔</m:t>
                              </m:r>
                            </m:oMath>
                          </a14:m>
                          <a:r>
                            <a:rPr lang="en-US" sz="2000" b="1" dirty="0">
                              <a:effectLst/>
                              <a:latin typeface="Cambria Math" panose="02040503050406030204" pitchFamily="18" charset="0"/>
                              <a:ea typeface="Cambria Math" panose="02040503050406030204" pitchFamily="18" charset="0"/>
                            </a:rPr>
                            <a:t> </a:t>
                          </a:r>
                          <a:r>
                            <a:rPr lang="en-US" sz="2000" b="1" dirty="0">
                              <a:effectLst/>
                              <a:latin typeface="Verdana" panose="020B0604030504040204" pitchFamily="34" charset="0"/>
                              <a:ea typeface="Verdana" panose="020B0604030504040204" pitchFamily="34" charset="0"/>
                            </a:rPr>
                            <a:t>using the distributive property.</a:t>
                          </a:r>
                          <a:endParaRPr lang="en-US" sz="2000" b="1"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75000"/>
                          </a:schemeClr>
                        </a:solidFill>
                      </a:tcPr>
                    </a:tc>
                    <a:tc hMerge="1">
                      <a:txBody>
                        <a:bodyPr/>
                        <a:lstStyle/>
                        <a:p>
                          <a:endParaRPr lang="en-US"/>
                        </a:p>
                      </a:txBody>
                      <a:tcPr/>
                    </a:tc>
                    <a:extLst>
                      <a:ext uri="{0D108BD9-81ED-4DB2-BD59-A6C34878D82A}">
                        <a16:rowId xmlns:a16="http://schemas.microsoft.com/office/drawing/2014/main" val="3047999521"/>
                      </a:ext>
                    </a:extLst>
                  </a:tr>
                  <a:tr h="622451">
                    <a:tc>
                      <a:txBody>
                        <a:bodyPr/>
                        <a:lstStyle/>
                        <a:p>
                          <a:pPr marL="0" marR="0" algn="ctr">
                            <a:lnSpc>
                              <a:spcPct val="107000"/>
                            </a:lnSpc>
                            <a:spcBef>
                              <a:spcPts val="0"/>
                            </a:spcBef>
                            <a:spcAft>
                              <a:spcPts val="0"/>
                            </a:spcAft>
                          </a:pPr>
                          <a:r>
                            <a:rPr lang="en-US" sz="2000" dirty="0" err="1">
                              <a:effectLst/>
                              <a:latin typeface="Verdana" panose="020B0604030504040204" pitchFamily="34" charset="0"/>
                              <a:ea typeface="Verdana" panose="020B0604030504040204" pitchFamily="34" charset="0"/>
                            </a:rPr>
                            <a:t>Naveah’s</a:t>
                          </a:r>
                          <a:r>
                            <a:rPr lang="en-US" sz="2000" dirty="0">
                              <a:effectLst/>
                              <a:latin typeface="Verdana" panose="020B0604030504040204" pitchFamily="34" charset="0"/>
                              <a:ea typeface="Verdana" panose="020B0604030504040204" pitchFamily="34" charset="0"/>
                            </a:rPr>
                            <a:t> Expression</a:t>
                          </a:r>
                          <a:endParaRPr lang="en-US" sz="2000"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4(14 + 9)</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22778960"/>
                      </a:ext>
                    </a:extLst>
                  </a:tr>
                  <a:tr h="456519">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Gavin’s Expression</a:t>
                          </a:r>
                          <a:endParaRPr lang="en-US" sz="2000"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panose="02040503050406030204" pitchFamily="18" charset="0"/>
                                    <a:ea typeface="Cambria Math" panose="02040503050406030204" pitchFamily="18" charset="0"/>
                                  </a:rPr>
                                  <m:t>3(18 + 36)</m:t>
                                </m:r>
                              </m:oMath>
                            </m:oMathPara>
                          </a14:m>
                          <a:endParaRPr lang="en-US" sz="2000"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778287120"/>
                      </a:ext>
                    </a:extLst>
                  </a:tr>
                </a:tbl>
              </a:graphicData>
            </a:graphic>
          </p:graphicFrame>
        </mc:Choice>
        <mc:Fallback xmlns="">
          <p:graphicFrame>
            <p:nvGraphicFramePr>
              <p:cNvPr id="2" name="Table 1">
                <a:extLst>
                  <a:ext uri="{FF2B5EF4-FFF2-40B4-BE49-F238E27FC236}">
                    <a16:creationId xmlns:a16="http://schemas.microsoft.com/office/drawing/2014/main" id="{E3FF0E82-4F02-4888-AA94-F61EDDCD3681}"/>
                  </a:ext>
                </a:extLst>
              </p:cNvPr>
              <p:cNvGraphicFramePr>
                <a:graphicFrameLocks noGrp="1"/>
              </p:cNvGraphicFramePr>
              <p:nvPr>
                <p:extLst>
                  <p:ext uri="{D42A27DB-BD31-4B8C-83A1-F6EECF244321}">
                    <p14:modId xmlns:p14="http://schemas.microsoft.com/office/powerpoint/2010/main" val="1552494642"/>
                  </p:ext>
                </p:extLst>
              </p:nvPr>
            </p:nvGraphicFramePr>
            <p:xfrm>
              <a:off x="2456381" y="4610707"/>
              <a:ext cx="7279238" cy="1701421"/>
            </p:xfrm>
            <a:graphic>
              <a:graphicData uri="http://schemas.openxmlformats.org/drawingml/2006/table">
                <a:tbl>
                  <a:tblPr firstRow="1" firstCol="1" bandRow="1">
                    <a:tableStyleId>{A91F0D33-8C57-4600-99A7-42BC86742BE1}</a:tableStyleId>
                  </a:tblPr>
                  <a:tblGrid>
                    <a:gridCol w="3059857">
                      <a:extLst>
                        <a:ext uri="{9D8B030D-6E8A-4147-A177-3AD203B41FA5}">
                          <a16:colId xmlns:a16="http://schemas.microsoft.com/office/drawing/2014/main" val="100051436"/>
                        </a:ext>
                      </a:extLst>
                    </a:gridCol>
                    <a:gridCol w="4219381">
                      <a:extLst>
                        <a:ext uri="{9D8B030D-6E8A-4147-A177-3AD203B41FA5}">
                          <a16:colId xmlns:a16="http://schemas.microsoft.com/office/drawing/2014/main" val="2352236875"/>
                        </a:ext>
                      </a:extLst>
                    </a:gridCol>
                  </a:tblGrid>
                  <a:tr h="622451">
                    <a:tc gridSpan="2">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174" t="-2041" r="-174" b="-185714"/>
                          </a:stretch>
                        </a:blipFill>
                      </a:tcPr>
                    </a:tc>
                    <a:tc hMerge="1">
                      <a:txBody>
                        <a:bodyPr/>
                        <a:lstStyle/>
                        <a:p>
                          <a:endParaRPr lang="en-US"/>
                        </a:p>
                      </a:txBody>
                      <a:tcPr/>
                    </a:tc>
                    <a:extLst>
                      <a:ext uri="{0D108BD9-81ED-4DB2-BD59-A6C34878D82A}">
                        <a16:rowId xmlns:a16="http://schemas.microsoft.com/office/drawing/2014/main" val="3047999521"/>
                      </a:ext>
                    </a:extLst>
                  </a:tr>
                  <a:tr h="622451">
                    <a:tc>
                      <a:txBody>
                        <a:bodyPr/>
                        <a:lstStyle/>
                        <a:p>
                          <a:pPr marL="0" marR="0" algn="ctr">
                            <a:lnSpc>
                              <a:spcPct val="107000"/>
                            </a:lnSpc>
                            <a:spcBef>
                              <a:spcPts val="0"/>
                            </a:spcBef>
                            <a:spcAft>
                              <a:spcPts val="0"/>
                            </a:spcAft>
                          </a:pPr>
                          <a:r>
                            <a:rPr lang="en-US" sz="2000" dirty="0" err="1">
                              <a:effectLst/>
                              <a:latin typeface="Verdana" panose="020B0604030504040204" pitchFamily="34" charset="0"/>
                              <a:ea typeface="Verdana" panose="020B0604030504040204" pitchFamily="34" charset="0"/>
                            </a:rPr>
                            <a:t>Naveah’s</a:t>
                          </a:r>
                          <a:r>
                            <a:rPr lang="en-US" sz="2000" dirty="0">
                              <a:effectLst/>
                              <a:latin typeface="Verdana" panose="020B0604030504040204" pitchFamily="34" charset="0"/>
                              <a:ea typeface="Verdana" panose="020B0604030504040204" pitchFamily="34" charset="0"/>
                            </a:rPr>
                            <a:t> Expression</a:t>
                          </a:r>
                          <a:endParaRPr lang="en-US" sz="2000"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72673" t="-100000" r="-300" b="-82000"/>
                          </a:stretch>
                        </a:blipFill>
                      </a:tcPr>
                    </a:tc>
                    <a:extLst>
                      <a:ext uri="{0D108BD9-81ED-4DB2-BD59-A6C34878D82A}">
                        <a16:rowId xmlns:a16="http://schemas.microsoft.com/office/drawing/2014/main" val="2722778960"/>
                      </a:ext>
                    </a:extLst>
                  </a:tr>
                  <a:tr h="456519">
                    <a:tc>
                      <a:txBody>
                        <a:bodyPr/>
                        <a:lstStyle/>
                        <a:p>
                          <a:pPr marL="0" marR="0" algn="ctr">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rPr>
                            <a:t>Gavin’s Expression</a:t>
                          </a:r>
                          <a:endParaRPr lang="en-US" sz="2000"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endParaRPr lang="en-US"/>
                        </a:p>
                      </a:txBody>
                      <a:tcPr marL="68580" marR="6858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blipFill>
                          <a:blip r:embed="rId5"/>
                          <a:stretch>
                            <a:fillRect l="-72673" t="-277778" r="-300" b="-13889"/>
                          </a:stretch>
                        </a:blipFill>
                      </a:tcPr>
                    </a:tc>
                    <a:extLst>
                      <a:ext uri="{0D108BD9-81ED-4DB2-BD59-A6C34878D82A}">
                        <a16:rowId xmlns:a16="http://schemas.microsoft.com/office/drawing/2014/main" val="2778287120"/>
                      </a:ext>
                    </a:extLst>
                  </a:tr>
                </a:tbl>
              </a:graphicData>
            </a:graphic>
          </p:graphicFrame>
        </mc:Fallback>
      </mc:AlternateContent>
    </p:spTree>
    <p:extLst>
      <p:ext uri="{BB962C8B-B14F-4D97-AF65-F5344CB8AC3E}">
        <p14:creationId xmlns:p14="http://schemas.microsoft.com/office/powerpoint/2010/main" val="13001174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795208" y="636915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65</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E5E1E0-A54D-BE42-84B5-F917038ADE99}"/>
                  </a:ext>
                </a:extLst>
              </p:cNvPr>
              <p:cNvSpPr txBox="1"/>
              <p:nvPr/>
            </p:nvSpPr>
            <p:spPr>
              <a:xfrm>
                <a:off x="598715" y="582659"/>
                <a:ext cx="11440886" cy="5078313"/>
              </a:xfrm>
              <a:prstGeom prst="rect">
                <a:avLst/>
              </a:prstGeom>
              <a:noFill/>
            </p:spPr>
            <p:txBody>
              <a:bodyPr wrap="square" rtlCol="0">
                <a:spAutoFit/>
              </a:bodyPr>
              <a:lstStyle/>
              <a:p>
                <a:r>
                  <a:rPr lang="en-US" sz="2000" dirty="0">
                    <a:latin typeface="Verdana" panose="020B0604030504040204" pitchFamily="34" charset="0"/>
                    <a:ea typeface="Verdana" panose="020B0604030504040204" pitchFamily="34" charset="0"/>
                  </a:rPr>
                  <a:t>Work with your partner to answer the following questions.</a:t>
                </a:r>
              </a:p>
              <a:p>
                <a:r>
                  <a:rPr lang="en-US" sz="2000" dirty="0">
                    <a:latin typeface="Verdana" panose="020B0604030504040204" pitchFamily="34" charset="0"/>
                    <a:ea typeface="Verdana" panose="020B0604030504040204" pitchFamily="34" charset="0"/>
                  </a:rPr>
                  <a:t> </a:t>
                </a:r>
              </a:p>
              <a:p>
                <a:pPr marL="914400" indent="-452438">
                  <a:buFont typeface="+mj-lt"/>
                  <a:buAutoNum type="alphaLcPeriod"/>
                </a:pPr>
                <a:r>
                  <a:rPr lang="en-US" sz="2000" dirty="0">
                    <a:latin typeface="Verdana" panose="020B0604030504040204" pitchFamily="34" charset="0"/>
                    <a:ea typeface="Verdana" panose="020B0604030504040204" pitchFamily="34" charset="0"/>
                  </a:rPr>
                  <a:t>What error did </a:t>
                </a:r>
                <a:r>
                  <a:rPr lang="en-US" sz="2000" dirty="0" err="1">
                    <a:latin typeface="Verdana" panose="020B0604030504040204" pitchFamily="34" charset="0"/>
                    <a:ea typeface="Verdana" panose="020B0604030504040204" pitchFamily="34" charset="0"/>
                  </a:rPr>
                  <a:t>Naveah</a:t>
                </a:r>
                <a:r>
                  <a:rPr lang="en-US" sz="2000" dirty="0">
                    <a:latin typeface="Verdana" panose="020B0604030504040204" pitchFamily="34" charset="0"/>
                    <a:ea typeface="Verdana" panose="020B0604030504040204" pitchFamily="34" charset="0"/>
                  </a:rPr>
                  <a:t> make?</a:t>
                </a:r>
              </a:p>
              <a:p>
                <a:pPr marL="342900" indent="-342900">
                  <a:buFont typeface="+mj-lt"/>
                  <a:buAutoNum type="alphaLcPeriod"/>
                </a:pPr>
                <a:endParaRPr lang="en-US" sz="2000" dirty="0">
                  <a:latin typeface="Verdana" panose="020B0604030504040204" pitchFamily="34" charset="0"/>
                  <a:ea typeface="Verdana" panose="020B0604030504040204" pitchFamily="34" charset="0"/>
                </a:endParaRPr>
              </a:p>
              <a:p>
                <a:pPr marL="342900" indent="-342900">
                  <a:buFont typeface="+mj-lt"/>
                  <a:buAutoNum type="alphaLcPeriod"/>
                </a:pPr>
                <a:endParaRPr lang="en-US" sz="2000" dirty="0">
                  <a:latin typeface="Verdana" panose="020B0604030504040204" pitchFamily="34" charset="0"/>
                  <a:ea typeface="Verdana" panose="020B0604030504040204" pitchFamily="34" charset="0"/>
                </a:endParaRPr>
              </a:p>
              <a:p>
                <a:pPr marL="342900" indent="-342900">
                  <a:buFont typeface="+mj-lt"/>
                  <a:buAutoNum type="alphaLcPeriod"/>
                </a:pPr>
                <a:endParaRPr lang="en-US" sz="2000" dirty="0">
                  <a:latin typeface="Verdana" panose="020B0604030504040204" pitchFamily="34" charset="0"/>
                  <a:ea typeface="Verdana" panose="020B0604030504040204" pitchFamily="34" charset="0"/>
                </a:endParaRPr>
              </a:p>
              <a:p>
                <a:pPr marL="914400" indent="-452438">
                  <a:buFont typeface="+mj-lt"/>
                  <a:buAutoNum type="alphaLcPeriod"/>
                </a:pPr>
                <a:r>
                  <a:rPr lang="en-US" sz="2000" dirty="0">
                    <a:latin typeface="Verdana" panose="020B0604030504040204" pitchFamily="34" charset="0"/>
                    <a:ea typeface="Verdana" panose="020B0604030504040204" pitchFamily="34" charset="0"/>
                  </a:rPr>
                  <a:t>What error did Gavin make?</a:t>
                </a:r>
              </a:p>
              <a:p>
                <a:pPr marL="342900" indent="-342900">
                  <a:buFont typeface="+mj-lt"/>
                  <a:buAutoNum type="alphaLcPeriod"/>
                </a:pPr>
                <a:endParaRPr lang="en-US" sz="2000" dirty="0">
                  <a:latin typeface="Verdana" panose="020B0604030504040204" pitchFamily="34" charset="0"/>
                  <a:ea typeface="Verdana" panose="020B0604030504040204" pitchFamily="34" charset="0"/>
                </a:endParaRPr>
              </a:p>
              <a:p>
                <a:pPr marL="342900" indent="-342900">
                  <a:buFont typeface="+mj-lt"/>
                  <a:buAutoNum type="alphaLcPeriod"/>
                </a:pPr>
                <a:endParaRPr lang="en-US" sz="2000" dirty="0">
                  <a:latin typeface="Verdana" panose="020B0604030504040204" pitchFamily="34" charset="0"/>
                  <a:ea typeface="Verdana" panose="020B0604030504040204" pitchFamily="34" charset="0"/>
                </a:endParaRPr>
              </a:p>
              <a:p>
                <a:pPr marL="342900" indent="-342900">
                  <a:buFont typeface="+mj-lt"/>
                  <a:buAutoNum type="alphaLcPeriod"/>
                </a:pPr>
                <a:endParaRPr lang="en-US" sz="2000" dirty="0">
                  <a:latin typeface="Verdana" panose="020B0604030504040204" pitchFamily="34" charset="0"/>
                  <a:ea typeface="Verdana" panose="020B0604030504040204" pitchFamily="34" charset="0"/>
                </a:endParaRPr>
              </a:p>
              <a:p>
                <a:pPr marL="342900" indent="-342900">
                  <a:buFont typeface="+mj-lt"/>
                  <a:buAutoNum type="alphaLcPeriod"/>
                </a:pPr>
                <a:endParaRPr lang="en-US" sz="2000" dirty="0">
                  <a:latin typeface="Verdana" panose="020B0604030504040204" pitchFamily="34" charset="0"/>
                  <a:ea typeface="Verdana" panose="020B0604030504040204" pitchFamily="34" charset="0"/>
                </a:endParaRPr>
              </a:p>
              <a:p>
                <a:pPr marL="914400" indent="-452438">
                  <a:buFont typeface="+mj-lt"/>
                  <a:buAutoNum type="alphaLcPeriod"/>
                </a:pPr>
                <a:r>
                  <a:rPr lang="en-US" sz="2000" dirty="0">
                    <a:latin typeface="Verdana" panose="020B0604030504040204" pitchFamily="34" charset="0"/>
                    <a:ea typeface="Verdana" panose="020B0604030504040204" pitchFamily="34" charset="0"/>
                  </a:rPr>
                  <a:t>Generate two different equivalent expressions for the sum </a:t>
                </a:r>
                <a14:m>
                  <m:oMath xmlns:m="http://schemas.openxmlformats.org/officeDocument/2006/math">
                    <m:r>
                      <a:rPr lang="en-US" sz="2000" i="1">
                        <a:latin typeface="Cambria Math" panose="02040503050406030204" pitchFamily="18" charset="0"/>
                        <a:ea typeface="Cambria Math" panose="02040503050406030204" pitchFamily="18" charset="0"/>
                      </a:rPr>
                      <m:t>54 + 36</m:t>
                    </m:r>
                  </m:oMath>
                </a14:m>
                <a:r>
                  <a:rPr lang="en-US" sz="2000" dirty="0">
                    <a:latin typeface="Cambria Math" panose="02040503050406030204" pitchFamily="18" charset="0"/>
                    <a:ea typeface="Cambria Math" panose="02040503050406030204" pitchFamily="18" charset="0"/>
                  </a:rPr>
                  <a:t> </a:t>
                </a:r>
                <a:r>
                  <a:rPr lang="en-US" sz="2000" dirty="0">
                    <a:latin typeface="Verdana" panose="020B0604030504040204" pitchFamily="34" charset="0"/>
                    <a:ea typeface="Verdana" panose="020B0604030504040204" pitchFamily="34" charset="0"/>
                  </a:rPr>
                  <a:t>by rewriting it using the distributive property.</a:t>
                </a: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457200" indent="-457200">
                  <a:buFont typeface="+mj-lt"/>
                  <a:buAutoNum type="arabicPeriod" startAt="4"/>
                </a:pPr>
                <a:endParaRPr lang="en-US" sz="2000" dirty="0">
                  <a:latin typeface="Cambria Math" panose="02040503050406030204" pitchFamily="18" charset="0"/>
                  <a:ea typeface="Cambria Math" panose="02040503050406030204" pitchFamily="18"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id="{8AE5E1E0-A54D-BE42-84B5-F917038ADE99}"/>
                  </a:ext>
                </a:extLst>
              </p:cNvPr>
              <p:cNvSpPr txBox="1">
                <a:spLocks noRot="1" noChangeAspect="1" noMove="1" noResize="1" noEditPoints="1" noAdjustHandles="1" noChangeArrowheads="1" noChangeShapeType="1" noTextEdit="1"/>
              </p:cNvSpPr>
              <p:nvPr/>
            </p:nvSpPr>
            <p:spPr>
              <a:xfrm>
                <a:off x="598715" y="582659"/>
                <a:ext cx="11440886" cy="5078313"/>
              </a:xfrm>
              <a:prstGeom prst="rect">
                <a:avLst/>
              </a:prstGeom>
              <a:blipFill>
                <a:blip r:embed="rId4"/>
                <a:stretch>
                  <a:fillRect l="-554" t="-750"/>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A7817ACE-0EAD-F54B-BF54-D1C44606A01D}"/>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29984293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27865" y="64578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65</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8AE5E1E0-A54D-BE42-84B5-F917038ADE99}"/>
                  </a:ext>
                </a:extLst>
              </p:cNvPr>
              <p:cNvSpPr txBox="1"/>
              <p:nvPr/>
            </p:nvSpPr>
            <p:spPr>
              <a:xfrm>
                <a:off x="511671" y="539117"/>
                <a:ext cx="10828007" cy="1735860"/>
              </a:xfrm>
              <a:prstGeom prst="rect">
                <a:avLst/>
              </a:prstGeom>
              <a:noFill/>
            </p:spPr>
            <p:txBody>
              <a:bodyPr wrap="square" rtlCol="0">
                <a:spAutoFit/>
              </a:bodyPr>
              <a:lstStyle/>
              <a:p>
                <a:pPr marL="342900" indent="-342900">
                  <a:lnSpc>
                    <a:spcPct val="107000"/>
                  </a:lnSpc>
                  <a:buFont typeface="+mj-lt"/>
                  <a:buAutoNum type="arabicPeriod" startAt="5"/>
                </a:pPr>
                <a:r>
                  <a:rPr lang="en-US" sz="2000" dirty="0">
                    <a:latin typeface="Verdana" panose="020B0604030504040204" pitchFamily="34" charset="0"/>
                    <a:ea typeface="Verdana" panose="020B0604030504040204" pitchFamily="34" charset="0"/>
                    <a:cs typeface="Times New Roman" panose="02020603050405020304" pitchFamily="18" charset="0"/>
                  </a:rPr>
                  <a:t>Rewrite an equivalent expression for the sum of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40 + 64</m:t>
                    </m:r>
                  </m:oMath>
                </a14:m>
                <a:r>
                  <a:rPr lang="en-US" sz="2000" dirty="0">
                    <a:latin typeface="Verdana" panose="020B0604030504040204" pitchFamily="34" charset="0"/>
                    <a:ea typeface="Verdana" panose="020B0604030504040204" pitchFamily="34" charset="0"/>
                    <a:cs typeface="Times New Roman" panose="02020603050405020304" pitchFamily="18" charset="0"/>
                  </a:rPr>
                  <a:t> using the distributive property with the </a:t>
                </a:r>
                <a:r>
                  <a:rPr lang="en-US" sz="2000" b="1" dirty="0">
                    <a:latin typeface="Verdana" panose="020B0604030504040204" pitchFamily="34" charset="0"/>
                    <a:ea typeface="Verdana" panose="020B0604030504040204" pitchFamily="34" charset="0"/>
                    <a:cs typeface="Times New Roman" panose="02020603050405020304" pitchFamily="18" charset="0"/>
                  </a:rPr>
                  <a:t>greatest common factor</a:t>
                </a:r>
                <a:r>
                  <a:rPr lang="en-US" sz="2000" dirty="0">
                    <a:latin typeface="Verdana" panose="020B0604030504040204" pitchFamily="34" charset="0"/>
                    <a:ea typeface="Verdana" panose="020B0604030504040204" pitchFamily="34" charset="0"/>
                    <a:cs typeface="Times New Roman" panose="02020603050405020304" pitchFamily="18" charset="0"/>
                  </a:rPr>
                  <a:t> (GCF).</a:t>
                </a:r>
              </a:p>
              <a:p>
                <a:pPr marL="457200" indent="-457200">
                  <a:buFont typeface="+mj-lt"/>
                  <a:buAutoNum type="arabicPeriod" startAt="4"/>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457200" indent="-457200">
                  <a:buFont typeface="+mj-lt"/>
                  <a:buAutoNum type="arabicPeriod" startAt="4"/>
                </a:pPr>
                <a:endParaRPr lang="en-US" sz="2000" dirty="0">
                  <a:latin typeface="Cambria Math" panose="02040503050406030204" pitchFamily="18" charset="0"/>
                  <a:ea typeface="Cambria Math" panose="02040503050406030204" pitchFamily="18" charset="0"/>
                </a:endParaRP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id="{8AE5E1E0-A54D-BE42-84B5-F917038ADE99}"/>
                  </a:ext>
                </a:extLst>
              </p:cNvPr>
              <p:cNvSpPr txBox="1">
                <a:spLocks noRot="1" noChangeAspect="1" noMove="1" noResize="1" noEditPoints="1" noAdjustHandles="1" noChangeArrowheads="1" noChangeShapeType="1" noTextEdit="1"/>
              </p:cNvSpPr>
              <p:nvPr/>
            </p:nvSpPr>
            <p:spPr>
              <a:xfrm>
                <a:off x="511671" y="539117"/>
                <a:ext cx="10828007" cy="1735860"/>
              </a:xfrm>
              <a:prstGeom prst="rect">
                <a:avLst/>
              </a:prstGeom>
              <a:blipFill>
                <a:blip r:embed="rId4"/>
                <a:stretch>
                  <a:fillRect l="-586" t="-2899"/>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A7817ACE-0EAD-F54B-BF54-D1C44606A01D}"/>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16123020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2160"/>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914950" y="6449236"/>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66</a:t>
            </a: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81070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541206" y="0"/>
            <a:ext cx="1008694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500" b="1" dirty="0">
                <a:solidFill>
                  <a:srgbClr val="33BEA6"/>
                </a:solidFill>
                <a:latin typeface="Verdana"/>
                <a:ea typeface="Verdana"/>
                <a:cs typeface="Verdana"/>
                <a:sym typeface="Verdana"/>
              </a:rPr>
              <a:t>2.4.4 Collaboration: Missing Values</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49636" y="6465900"/>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66</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507299" y="174099"/>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E44DF7DE-9172-3E4E-B74A-7A51585FB6EA}"/>
              </a:ext>
            </a:extLst>
          </p:cNvPr>
          <p:cNvSpPr txBox="1"/>
          <p:nvPr/>
        </p:nvSpPr>
        <p:spPr>
          <a:xfrm>
            <a:off x="925286" y="1386024"/>
            <a:ext cx="11027228" cy="1676806"/>
          </a:xfrm>
          <a:prstGeom prst="rect">
            <a:avLst/>
          </a:prstGeom>
          <a:noFill/>
        </p:spPr>
        <p:txBody>
          <a:bodyPr wrap="square" rtlCol="0">
            <a:spAutoFit/>
          </a:bodyPr>
          <a:lstStyle/>
          <a:p>
            <a:pPr marL="457200" indent="-457200">
              <a:lnSpc>
                <a:spcPct val="107000"/>
              </a:lnSpc>
              <a:buFont typeface="+mj-lt"/>
              <a:buAutoNum type="arabicPeriod"/>
              <a:tabLst>
                <a:tab pos="4511675" algn="l"/>
              </a:tabLst>
            </a:pPr>
            <a:r>
              <a:rPr lang="en-US" sz="2000" dirty="0">
                <a:latin typeface="Verdana" panose="020B0604030504040204" pitchFamily="34" charset="0"/>
                <a:ea typeface="Verdana" panose="020B0604030504040204" pitchFamily="34" charset="0"/>
                <a:cs typeface="Times New Roman" panose="02020603050405020304" pitchFamily="18" charset="0"/>
              </a:rPr>
              <a:t>Work with your partner to determine the missing values that make each equation true.</a:t>
            </a:r>
          </a:p>
          <a:p>
            <a:pPr marL="457200" indent="-457200">
              <a:lnSpc>
                <a:spcPct val="107000"/>
              </a:lnSpc>
              <a:buFont typeface="+mj-lt"/>
              <a:buAutoNum type="arabicPeriod"/>
              <a:tabLst>
                <a:tab pos="4511675" algn="l"/>
              </a:tabLst>
            </a:pPr>
            <a:endParaRPr lang="en-US" sz="1800" dirty="0">
              <a:latin typeface="Calibri" panose="020F0502020204030204" pitchFamily="34" charset="0"/>
              <a:ea typeface="Verdana" panose="020B0604030504040204" pitchFamily="34" charset="0"/>
              <a:cs typeface="Times New Roman" panose="02020603050405020304" pitchFamily="18" charset="0"/>
            </a:endParaRPr>
          </a:p>
          <a:p>
            <a:pPr marL="457200" indent="-457200">
              <a:lnSpc>
                <a:spcPct val="107000"/>
              </a:lnSpc>
              <a:buFont typeface="+mj-lt"/>
              <a:buAutoNum type="arabicPeriod"/>
              <a:tabLst>
                <a:tab pos="4511675" algn="l"/>
              </a:tabLst>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a:lnSpc>
                <a:spcPct val="107000"/>
              </a:lnSpc>
            </a:pPr>
            <a:r>
              <a:rPr lang="en-US" sz="2000" dirty="0">
                <a:latin typeface="Verdana" panose="020B0604030504040204" pitchFamily="34" charset="0"/>
                <a:ea typeface="Verdana" panose="020B0604030504040204" pitchFamily="34" charset="0"/>
                <a:cs typeface="Times New Roman" panose="02020603050405020304" pitchFamily="18" charset="0"/>
              </a:rPr>
              <a:t> </a:t>
            </a:r>
          </a:p>
        </p:txBody>
      </p:sp>
      <p:sp>
        <p:nvSpPr>
          <p:cNvPr id="12" name="Google Shape;278;g104476d1465_1_17">
            <a:extLst>
              <a:ext uri="{FF2B5EF4-FFF2-40B4-BE49-F238E27FC236}">
                <a16:creationId xmlns:a16="http://schemas.microsoft.com/office/drawing/2014/main" id="{6A18DD6C-446D-A641-972C-BC7EF386945F}"/>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128E6821-5ECB-4712-B105-371BCBAE1CFD}"/>
                  </a:ext>
                </a:extLst>
              </p:cNvPr>
              <p:cNvGraphicFramePr>
                <a:graphicFrameLocks noGrp="1"/>
              </p:cNvGraphicFramePr>
              <p:nvPr>
                <p:extLst>
                  <p:ext uri="{D42A27DB-BD31-4B8C-83A1-F6EECF244321}">
                    <p14:modId xmlns:p14="http://schemas.microsoft.com/office/powerpoint/2010/main" val="1895575156"/>
                  </p:ext>
                </p:extLst>
              </p:nvPr>
            </p:nvGraphicFramePr>
            <p:xfrm>
              <a:off x="2162133" y="2711400"/>
              <a:ext cx="7867734" cy="3497424"/>
            </p:xfrm>
            <a:graphic>
              <a:graphicData uri="http://schemas.openxmlformats.org/drawingml/2006/table">
                <a:tbl>
                  <a:tblPr firstRow="1" firstCol="1" bandRow="1"/>
                  <a:tblGrid>
                    <a:gridCol w="4094455">
                      <a:extLst>
                        <a:ext uri="{9D8B030D-6E8A-4147-A177-3AD203B41FA5}">
                          <a16:colId xmlns:a16="http://schemas.microsoft.com/office/drawing/2014/main" val="2466441525"/>
                        </a:ext>
                      </a:extLst>
                    </a:gridCol>
                    <a:gridCol w="3773279">
                      <a:extLst>
                        <a:ext uri="{9D8B030D-6E8A-4147-A177-3AD203B41FA5}">
                          <a16:colId xmlns:a16="http://schemas.microsoft.com/office/drawing/2014/main" val="180922798"/>
                        </a:ext>
                      </a:extLst>
                    </a:gridCol>
                  </a:tblGrid>
                  <a:tr h="1165808">
                    <a:tc>
                      <a:txBody>
                        <a:bodyPr/>
                        <a:lstStyle/>
                        <a:p>
                          <a:pPr marL="0" marR="0" lvl="0" indent="0">
                            <a:lnSpc>
                              <a:spcPct val="107000"/>
                            </a:lnSpc>
                            <a:spcBef>
                              <a:spcPts val="0"/>
                            </a:spcBef>
                            <a:spcAft>
                              <a:spcPts val="0"/>
                            </a:spcAft>
                            <a:buFont typeface="+mj-lt"/>
                            <a:buNone/>
                          </a:pPr>
                          <a:r>
                            <a:rPr lang="en-US" sz="2000" dirty="0">
                              <a:effectLst/>
                              <a:latin typeface="Verdana" panose="020B0604030504040204" pitchFamily="34" charset="0"/>
                              <a:ea typeface="Verdana" panose="020B0604030504040204" pitchFamily="34" charset="0"/>
                              <a:cs typeface="Times New Roman" panose="02020603050405020304" pitchFamily="18" charset="0"/>
                            </a:rPr>
                            <a:t>a.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40+16=4(10+____ )</m:t>
                              </m:r>
                            </m:oMath>
                          </a14:m>
                          <a:endParaRPr lang="en-US" sz="2000"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a:noFill/>
                        </a:lnL>
                        <a:lnR>
                          <a:noFill/>
                        </a:lnR>
                        <a:lnT>
                          <a:noFill/>
                        </a:lnT>
                        <a:lnB>
                          <a:noFill/>
                        </a:lnB>
                      </a:tcPr>
                    </a:tc>
                    <a:tc>
                      <a:txBody>
                        <a:bodyPr/>
                        <a:lstStyle/>
                        <a:p>
                          <a:pPr marL="0" marR="0" lvl="0" indent="0">
                            <a:lnSpc>
                              <a:spcPct val="107000"/>
                            </a:lnSpc>
                            <a:spcBef>
                              <a:spcPts val="0"/>
                            </a:spcBef>
                            <a:spcAft>
                              <a:spcPts val="0"/>
                            </a:spcAft>
                            <a:buFont typeface="+mj-lt"/>
                            <a:buNone/>
                          </a:pPr>
                          <a:r>
                            <a:rPr lang="en-US" sz="2000" dirty="0">
                              <a:effectLst/>
                              <a:latin typeface="Verdana" panose="020B0604030504040204" pitchFamily="34" charset="0"/>
                              <a:ea typeface="Verdana" panose="020B0604030504040204" pitchFamily="34" charset="0"/>
                              <a:cs typeface="Times New Roman" panose="02020603050405020304" pitchFamily="18" charset="0"/>
                            </a:rPr>
                            <a:t>b.</a:t>
                          </a:r>
                          <a:r>
                            <a:rPr lang="en-US" sz="2000" baseline="0" dirty="0">
                              <a:effectLst/>
                              <a:latin typeface="Verdana" panose="020B0604030504040204" pitchFamily="34" charset="0"/>
                              <a:ea typeface="Verdana" panose="020B0604030504040204" pitchFamily="34" charset="0"/>
                              <a:cs typeface="Times New Roman" panose="02020603050405020304" pitchFamily="18" charset="0"/>
                            </a:rPr>
                            <a:t> </a:t>
                          </a:r>
                          <a14:m>
                            <m:oMath xmlns:m="http://schemas.openxmlformats.org/officeDocument/2006/math">
                              <m:r>
                                <a:rPr lang="en-US" sz="2000" b="0" i="0"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15+80=5( ____+ 16)</m:t>
                              </m:r>
                            </m:oMath>
                          </a14:m>
                          <a:endParaRPr lang="en-US" sz="2000"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a:noFill/>
                        </a:lnL>
                        <a:lnR>
                          <a:noFill/>
                        </a:lnR>
                        <a:lnT>
                          <a:noFill/>
                        </a:lnT>
                        <a:lnB>
                          <a:noFill/>
                        </a:lnB>
                      </a:tcPr>
                    </a:tc>
                    <a:extLst>
                      <a:ext uri="{0D108BD9-81ED-4DB2-BD59-A6C34878D82A}">
                        <a16:rowId xmlns:a16="http://schemas.microsoft.com/office/drawing/2014/main" val="3623126757"/>
                      </a:ext>
                    </a:extLst>
                  </a:tr>
                  <a:tr h="1165808">
                    <a:tc>
                      <a:txBody>
                        <a:bodyPr/>
                        <a:lstStyle/>
                        <a:p>
                          <a:pPr marL="0" marR="0" lvl="0" indent="0">
                            <a:lnSpc>
                              <a:spcPct val="107000"/>
                            </a:lnSpc>
                            <a:spcBef>
                              <a:spcPts val="0"/>
                            </a:spcBef>
                            <a:spcAft>
                              <a:spcPts val="0"/>
                            </a:spcAft>
                            <a:buFont typeface="+mj-lt"/>
                            <a:buNone/>
                          </a:pPr>
                          <a:r>
                            <a:rPr lang="en-US" sz="2000" dirty="0">
                              <a:effectLst/>
                              <a:latin typeface="Verdana" panose="020B0604030504040204" pitchFamily="34" charset="0"/>
                              <a:ea typeface="Verdana" panose="020B0604030504040204" pitchFamily="34" charset="0"/>
                              <a:cs typeface="Times New Roman" panose="02020603050405020304" pitchFamily="18" charset="0"/>
                            </a:rPr>
                            <a:t>c. </a:t>
                          </a:r>
                          <a14:m>
                            <m:oMath xmlns:m="http://schemas.openxmlformats.org/officeDocument/2006/math">
                              <m:r>
                                <a:rPr lang="en-US" sz="2000" b="0" i="0"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108+198=____ (6+11)</m:t>
                              </m:r>
                            </m:oMath>
                          </a14:m>
                          <a:endParaRPr lang="en-US" sz="2000"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a:noFill/>
                        </a:lnL>
                        <a:lnR>
                          <a:noFill/>
                        </a:lnR>
                        <a:lnT>
                          <a:noFill/>
                        </a:lnT>
                        <a:lnB>
                          <a:noFill/>
                        </a:lnB>
                      </a:tcPr>
                    </a:tc>
                    <a:tc>
                      <a:txBody>
                        <a:bodyPr/>
                        <a:lstStyle/>
                        <a:p>
                          <a:pPr marL="0" marR="0" lvl="0" indent="0">
                            <a:lnSpc>
                              <a:spcPct val="107000"/>
                            </a:lnSpc>
                            <a:spcBef>
                              <a:spcPts val="0"/>
                            </a:spcBef>
                            <a:spcAft>
                              <a:spcPts val="0"/>
                            </a:spcAft>
                            <a:buFont typeface="+mj-lt"/>
                            <a:buNone/>
                          </a:pPr>
                          <a:r>
                            <a:rPr lang="en-US" sz="2000" dirty="0">
                              <a:effectLst/>
                              <a:latin typeface="Verdana" panose="020B0604030504040204" pitchFamily="34" charset="0"/>
                              <a:ea typeface="Verdana" panose="020B0604030504040204" pitchFamily="34" charset="0"/>
                              <a:cs typeface="Times New Roman" panose="02020603050405020304" pitchFamily="18" charset="0"/>
                            </a:rPr>
                            <a:t>d. </a:t>
                          </a:r>
                          <a14:m>
                            <m:oMath xmlns:m="http://schemas.openxmlformats.org/officeDocument/2006/math">
                              <m:r>
                                <a:rPr lang="en-US" sz="2000" b="0" i="0"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28+63=7( ____+____ )</m:t>
                              </m:r>
                            </m:oMath>
                          </a14:m>
                          <a:endParaRPr lang="en-US" sz="2000"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a:noFill/>
                        </a:lnL>
                        <a:lnR>
                          <a:noFill/>
                        </a:lnR>
                        <a:lnT>
                          <a:noFill/>
                        </a:lnT>
                        <a:lnB>
                          <a:noFill/>
                        </a:lnB>
                      </a:tcPr>
                    </a:tc>
                    <a:extLst>
                      <a:ext uri="{0D108BD9-81ED-4DB2-BD59-A6C34878D82A}">
                        <a16:rowId xmlns:a16="http://schemas.microsoft.com/office/drawing/2014/main" val="2991924574"/>
                      </a:ext>
                    </a:extLst>
                  </a:tr>
                  <a:tr h="1165808">
                    <a:tc>
                      <a:txBody>
                        <a:bodyPr/>
                        <a:lstStyle/>
                        <a:p>
                          <a:pPr marL="0" marR="0" lvl="0" indent="0">
                            <a:lnSpc>
                              <a:spcPct val="107000"/>
                            </a:lnSpc>
                            <a:spcBef>
                              <a:spcPts val="0"/>
                            </a:spcBef>
                            <a:spcAft>
                              <a:spcPts val="0"/>
                            </a:spcAft>
                            <a:buFont typeface="+mj-lt"/>
                            <a:buNone/>
                          </a:pPr>
                          <a:r>
                            <a:rPr lang="en-US" sz="2000" dirty="0">
                              <a:effectLst/>
                              <a:latin typeface="Verdana" panose="020B0604030504040204" pitchFamily="34" charset="0"/>
                              <a:ea typeface="Verdana" panose="020B0604030504040204" pitchFamily="34" charset="0"/>
                              <a:cs typeface="Times New Roman" panose="02020603050405020304" pitchFamily="18" charset="0"/>
                            </a:rPr>
                            <a:t>e.</a:t>
                          </a:r>
                          <a:r>
                            <a:rPr lang="en-US" sz="2000" baseline="0" dirty="0">
                              <a:effectLst/>
                              <a:latin typeface="Verdana" panose="020B0604030504040204" pitchFamily="34" charset="0"/>
                              <a:ea typeface="Verdana" panose="020B0604030504040204" pitchFamily="34" charset="0"/>
                              <a:cs typeface="Times New Roman" panose="02020603050405020304" pitchFamily="18" charset="0"/>
                            </a:rPr>
                            <a:t> </a:t>
                          </a:r>
                          <a14:m>
                            <m:oMath xmlns:m="http://schemas.openxmlformats.org/officeDocument/2006/math">
                              <m:r>
                                <a:rPr lang="en-US" sz="2000" b="0" i="0" smtClean="0">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45+18=____ ( ____+6)</m:t>
                              </m:r>
                            </m:oMath>
                          </a14:m>
                          <a:endParaRPr lang="en-US" sz="2000"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a:noFill/>
                        </a:lnL>
                        <a:lnR>
                          <a:noFill/>
                        </a:lnR>
                        <a:lnT>
                          <a:noFill/>
                        </a:lnT>
                        <a:lnB>
                          <a:noFill/>
                        </a:lnB>
                      </a:tcPr>
                    </a:tc>
                    <a:tc>
                      <a:txBody>
                        <a:bodyPr/>
                        <a:lstStyle/>
                        <a:p>
                          <a:pPr marL="0" marR="0" lvl="0" indent="0">
                            <a:lnSpc>
                              <a:spcPct val="107000"/>
                            </a:lnSpc>
                            <a:spcBef>
                              <a:spcPts val="0"/>
                            </a:spcBef>
                            <a:spcAft>
                              <a:spcPts val="0"/>
                            </a:spcAft>
                            <a:buFont typeface="+mj-lt"/>
                            <a:buNone/>
                          </a:pPr>
                          <a:r>
                            <a:rPr lang="en-US" sz="2000" dirty="0">
                              <a:effectLst/>
                              <a:latin typeface="Verdana" panose="020B0604030504040204" pitchFamily="34" charset="0"/>
                              <a:ea typeface="Verdana" panose="020B0604030504040204" pitchFamily="34" charset="0"/>
                              <a:cs typeface="Times New Roman" panose="02020603050405020304" pitchFamily="18" charset="0"/>
                            </a:rPr>
                            <a:t>f.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135+27=9( ____+3)</m:t>
                              </m:r>
                            </m:oMath>
                          </a14:m>
                          <a:endParaRPr lang="en-US" sz="2000" dirty="0">
                            <a:effectLst/>
                            <a:latin typeface="Verdana" panose="020B0604030504040204" pitchFamily="34" charset="0"/>
                            <a:ea typeface="Verdana" panose="020B0604030504040204" pitchFamily="34" charset="0"/>
                            <a:cs typeface="Times New Roman" panose="02020603050405020304" pitchFamily="18" charset="0"/>
                          </a:endParaRPr>
                        </a:p>
                      </a:txBody>
                      <a:tcPr marL="68580" marR="68580" marT="0" marB="0">
                        <a:lnL>
                          <a:noFill/>
                        </a:lnL>
                        <a:lnR>
                          <a:noFill/>
                        </a:lnR>
                        <a:lnT>
                          <a:noFill/>
                        </a:lnT>
                        <a:lnB>
                          <a:noFill/>
                        </a:lnB>
                      </a:tcPr>
                    </a:tc>
                    <a:extLst>
                      <a:ext uri="{0D108BD9-81ED-4DB2-BD59-A6C34878D82A}">
                        <a16:rowId xmlns:a16="http://schemas.microsoft.com/office/drawing/2014/main" val="2056082768"/>
                      </a:ext>
                    </a:extLst>
                  </a:tr>
                </a:tbl>
              </a:graphicData>
            </a:graphic>
          </p:graphicFrame>
        </mc:Choice>
        <mc:Fallback xmlns="">
          <p:graphicFrame>
            <p:nvGraphicFramePr>
              <p:cNvPr id="3" name="Table 2">
                <a:extLst>
                  <a:ext uri="{FF2B5EF4-FFF2-40B4-BE49-F238E27FC236}">
                    <a16:creationId xmlns:a16="http://schemas.microsoft.com/office/drawing/2014/main" id="{128E6821-5ECB-4712-B105-371BCBAE1CFD}"/>
                  </a:ext>
                </a:extLst>
              </p:cNvPr>
              <p:cNvGraphicFramePr>
                <a:graphicFrameLocks noGrp="1"/>
              </p:cNvGraphicFramePr>
              <p:nvPr>
                <p:extLst>
                  <p:ext uri="{D42A27DB-BD31-4B8C-83A1-F6EECF244321}">
                    <p14:modId xmlns:p14="http://schemas.microsoft.com/office/powerpoint/2010/main" val="1895575156"/>
                  </p:ext>
                </p:extLst>
              </p:nvPr>
            </p:nvGraphicFramePr>
            <p:xfrm>
              <a:off x="2162133" y="2711400"/>
              <a:ext cx="7867734" cy="3497424"/>
            </p:xfrm>
            <a:graphic>
              <a:graphicData uri="http://schemas.openxmlformats.org/drawingml/2006/table">
                <a:tbl>
                  <a:tblPr firstRow="1" firstCol="1" bandRow="1"/>
                  <a:tblGrid>
                    <a:gridCol w="4094455">
                      <a:extLst>
                        <a:ext uri="{9D8B030D-6E8A-4147-A177-3AD203B41FA5}">
                          <a16:colId xmlns:a16="http://schemas.microsoft.com/office/drawing/2014/main" val="2466441525"/>
                        </a:ext>
                      </a:extLst>
                    </a:gridCol>
                    <a:gridCol w="3773279">
                      <a:extLst>
                        <a:ext uri="{9D8B030D-6E8A-4147-A177-3AD203B41FA5}">
                          <a16:colId xmlns:a16="http://schemas.microsoft.com/office/drawing/2014/main" val="180922798"/>
                        </a:ext>
                      </a:extLst>
                    </a:gridCol>
                  </a:tblGrid>
                  <a:tr h="1165808">
                    <a:tc>
                      <a:txBody>
                        <a:bodyPr/>
                        <a:lstStyle/>
                        <a:p>
                          <a:endParaRPr lang="en-US"/>
                        </a:p>
                      </a:txBody>
                      <a:tcPr marL="68580" marR="68580" marT="0" marB="0">
                        <a:lnL>
                          <a:noFill/>
                        </a:lnL>
                        <a:lnR>
                          <a:noFill/>
                        </a:lnR>
                        <a:lnT>
                          <a:noFill/>
                        </a:lnT>
                        <a:lnB>
                          <a:noFill/>
                        </a:lnB>
                        <a:blipFill>
                          <a:blip r:embed="rId5"/>
                          <a:stretch>
                            <a:fillRect l="-310" t="-7609" r="-92260" b="-201087"/>
                          </a:stretch>
                        </a:blipFill>
                      </a:tcPr>
                    </a:tc>
                    <a:tc>
                      <a:txBody>
                        <a:bodyPr/>
                        <a:lstStyle/>
                        <a:p>
                          <a:endParaRPr lang="en-US"/>
                        </a:p>
                      </a:txBody>
                      <a:tcPr marL="68580" marR="68580" marT="0" marB="0">
                        <a:lnL>
                          <a:noFill/>
                        </a:lnL>
                        <a:lnR>
                          <a:noFill/>
                        </a:lnR>
                        <a:lnT>
                          <a:noFill/>
                        </a:lnT>
                        <a:lnB>
                          <a:noFill/>
                        </a:lnB>
                        <a:blipFill>
                          <a:blip r:embed="rId5"/>
                          <a:stretch>
                            <a:fillRect l="-109091" t="-7609" r="-337" b="-201087"/>
                          </a:stretch>
                        </a:blipFill>
                      </a:tcPr>
                    </a:tc>
                    <a:extLst>
                      <a:ext uri="{0D108BD9-81ED-4DB2-BD59-A6C34878D82A}">
                        <a16:rowId xmlns:a16="http://schemas.microsoft.com/office/drawing/2014/main" val="3623126757"/>
                      </a:ext>
                    </a:extLst>
                  </a:tr>
                  <a:tr h="1165808">
                    <a:tc>
                      <a:txBody>
                        <a:bodyPr/>
                        <a:lstStyle/>
                        <a:p>
                          <a:endParaRPr lang="en-US"/>
                        </a:p>
                      </a:txBody>
                      <a:tcPr marL="68580" marR="68580" marT="0" marB="0">
                        <a:lnL>
                          <a:noFill/>
                        </a:lnL>
                        <a:lnR>
                          <a:noFill/>
                        </a:lnR>
                        <a:lnT>
                          <a:noFill/>
                        </a:lnT>
                        <a:lnB>
                          <a:noFill/>
                        </a:lnB>
                        <a:blipFill>
                          <a:blip r:embed="rId5"/>
                          <a:stretch>
                            <a:fillRect l="-310" t="-107609" r="-92260" b="-101087"/>
                          </a:stretch>
                        </a:blipFill>
                      </a:tcPr>
                    </a:tc>
                    <a:tc>
                      <a:txBody>
                        <a:bodyPr/>
                        <a:lstStyle/>
                        <a:p>
                          <a:endParaRPr lang="en-US"/>
                        </a:p>
                      </a:txBody>
                      <a:tcPr marL="68580" marR="68580" marT="0" marB="0">
                        <a:lnL>
                          <a:noFill/>
                        </a:lnL>
                        <a:lnR>
                          <a:noFill/>
                        </a:lnR>
                        <a:lnT>
                          <a:noFill/>
                        </a:lnT>
                        <a:lnB>
                          <a:noFill/>
                        </a:lnB>
                        <a:blipFill>
                          <a:blip r:embed="rId5"/>
                          <a:stretch>
                            <a:fillRect l="-109091" t="-107609" r="-337" b="-101087"/>
                          </a:stretch>
                        </a:blipFill>
                      </a:tcPr>
                    </a:tc>
                    <a:extLst>
                      <a:ext uri="{0D108BD9-81ED-4DB2-BD59-A6C34878D82A}">
                        <a16:rowId xmlns:a16="http://schemas.microsoft.com/office/drawing/2014/main" val="2991924574"/>
                      </a:ext>
                    </a:extLst>
                  </a:tr>
                  <a:tr h="1165808">
                    <a:tc>
                      <a:txBody>
                        <a:bodyPr/>
                        <a:lstStyle/>
                        <a:p>
                          <a:endParaRPr lang="en-US"/>
                        </a:p>
                      </a:txBody>
                      <a:tcPr marL="68580" marR="68580" marT="0" marB="0">
                        <a:lnL>
                          <a:noFill/>
                        </a:lnL>
                        <a:lnR>
                          <a:noFill/>
                        </a:lnR>
                        <a:lnT>
                          <a:noFill/>
                        </a:lnT>
                        <a:lnB>
                          <a:noFill/>
                        </a:lnB>
                        <a:blipFill>
                          <a:blip r:embed="rId5"/>
                          <a:stretch>
                            <a:fillRect l="-310" t="-207609" r="-92260" b="-1087"/>
                          </a:stretch>
                        </a:blipFill>
                      </a:tcPr>
                    </a:tc>
                    <a:tc>
                      <a:txBody>
                        <a:bodyPr/>
                        <a:lstStyle/>
                        <a:p>
                          <a:endParaRPr lang="en-US"/>
                        </a:p>
                      </a:txBody>
                      <a:tcPr marL="68580" marR="68580" marT="0" marB="0">
                        <a:lnL>
                          <a:noFill/>
                        </a:lnL>
                        <a:lnR>
                          <a:noFill/>
                        </a:lnR>
                        <a:lnT>
                          <a:noFill/>
                        </a:lnT>
                        <a:lnB>
                          <a:noFill/>
                        </a:lnB>
                        <a:blipFill>
                          <a:blip r:embed="rId5"/>
                          <a:stretch>
                            <a:fillRect l="-109091" t="-207609" r="-337" b="-1087"/>
                          </a:stretch>
                        </a:blipFill>
                      </a:tcPr>
                    </a:tc>
                    <a:extLst>
                      <a:ext uri="{0D108BD9-81ED-4DB2-BD59-A6C34878D82A}">
                        <a16:rowId xmlns:a16="http://schemas.microsoft.com/office/drawing/2014/main" val="2056082768"/>
                      </a:ext>
                    </a:extLst>
                  </a:tr>
                </a:tbl>
              </a:graphicData>
            </a:graphic>
          </p:graphicFrame>
        </mc:Fallback>
      </mc:AlternateContent>
    </p:spTree>
    <p:extLst>
      <p:ext uri="{BB962C8B-B14F-4D97-AF65-F5344CB8AC3E}">
        <p14:creationId xmlns:p14="http://schemas.microsoft.com/office/powerpoint/2010/main" val="41619218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27864" y="644733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66</a:t>
            </a:r>
          </a:p>
        </p:txBody>
      </p:sp>
      <p:sp>
        <p:nvSpPr>
          <p:cNvPr id="5" name="TextBox 4">
            <a:extLst>
              <a:ext uri="{FF2B5EF4-FFF2-40B4-BE49-F238E27FC236}">
                <a16:creationId xmlns:a16="http://schemas.microsoft.com/office/drawing/2014/main" id="{2AA35BC6-D428-FC41-BDE5-6438AB8840FC}"/>
              </a:ext>
            </a:extLst>
          </p:cNvPr>
          <p:cNvSpPr txBox="1"/>
          <p:nvPr/>
        </p:nvSpPr>
        <p:spPr>
          <a:xfrm>
            <a:off x="524721" y="388892"/>
            <a:ext cx="11103429" cy="4179606"/>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Times New Roman" panose="02020603050405020304" pitchFamily="18" charset="0"/>
              </a:rPr>
              <a:t>Choose one of the equations from the table and explain how you determined the missing value(s).</a:t>
            </a: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461963">
              <a:tabLst>
                <a:tab pos="461963" algn="l"/>
              </a:tabLst>
            </a:pPr>
            <a:r>
              <a:rPr lang="en-US" sz="2000" dirty="0">
                <a:latin typeface="Verdana" panose="020B0604030504040204" pitchFamily="34" charset="0"/>
                <a:ea typeface="Verdana" panose="020B0604030504040204" pitchFamily="34" charset="0"/>
                <a:cs typeface="Times New Roman" panose="02020603050405020304" pitchFamily="18" charset="0"/>
              </a:rPr>
              <a:t>To find the missing value in equation </a:t>
            </a:r>
            <a:r>
              <a:rPr lang="en-US" sz="2000" dirty="0">
                <a:solidFill>
                  <a:schemeClr val="tx1"/>
                </a:solidFill>
                <a:latin typeface="Verdana" panose="020B0604030504040204" pitchFamily="34" charset="0"/>
                <a:ea typeface="Verdana" panose="020B0604030504040204" pitchFamily="34" charset="0"/>
                <a:cs typeface="Times New Roman" panose="02020603050405020304" pitchFamily="18" charset="0"/>
              </a:rPr>
              <a:t>_________, I ___________________________________________</a:t>
            </a:r>
          </a:p>
          <a:p>
            <a:endParaRPr lang="en-US" sz="2000" dirty="0">
              <a:solidFill>
                <a:schemeClr val="tx1"/>
              </a:solidFill>
              <a:latin typeface="Verdana" panose="020B0604030504040204" pitchFamily="34" charset="0"/>
              <a:ea typeface="Verdana" panose="020B0604030504040204" pitchFamily="34" charset="0"/>
              <a:cs typeface="Times New Roman" panose="02020603050405020304" pitchFamily="18" charset="0"/>
            </a:endParaRPr>
          </a:p>
          <a:p>
            <a:pPr indent="461963"/>
            <a:r>
              <a:rPr lang="en-US" sz="2000" dirty="0">
                <a:solidFill>
                  <a:schemeClr val="tx1"/>
                </a:solidFill>
                <a:latin typeface="Verdana" panose="020B0604030504040204" pitchFamily="34" charset="0"/>
                <a:ea typeface="Verdana" panose="020B0604030504040204" pitchFamily="34" charset="0"/>
                <a:cs typeface="Times New Roman" panose="02020603050405020304" pitchFamily="18" charset="0"/>
              </a:rPr>
              <a:t>___________________________________________.</a:t>
            </a:r>
          </a:p>
          <a:p>
            <a:pPr>
              <a:lnSpc>
                <a:spcPct val="107000"/>
              </a:lnSpc>
            </a:pPr>
            <a:r>
              <a:rPr lang="en-US" sz="2000" dirty="0">
                <a:latin typeface="Verdana" panose="020B0604030504040204" pitchFamily="34" charset="0"/>
                <a:ea typeface="Verdana" panose="020B0604030504040204" pitchFamily="34" charset="0"/>
                <a:cs typeface="Times New Roman" panose="02020603050405020304" pitchFamily="18" charset="0"/>
              </a:rPr>
              <a:t> </a:t>
            </a:r>
          </a:p>
          <a:p>
            <a:pPr marL="457200" indent="-457200">
              <a:lnSpc>
                <a:spcPct val="107000"/>
              </a:lnSpc>
              <a:buFont typeface="+mj-lt"/>
              <a:buAutoNum type="arabicPeriod" startAt="3"/>
            </a:pPr>
            <a:r>
              <a:rPr lang="en-US" sz="2000" dirty="0">
                <a:latin typeface="Verdana" panose="020B0604030504040204" pitchFamily="34" charset="0"/>
                <a:ea typeface="Verdana" panose="020B0604030504040204" pitchFamily="34" charset="0"/>
                <a:cs typeface="Times New Roman" panose="02020603050405020304" pitchFamily="18" charset="0"/>
              </a:rPr>
              <a:t>Have your partner read your explanation and offer suggestions on how to improve it. </a:t>
            </a:r>
          </a:p>
          <a:p>
            <a:pPr>
              <a:lnSpc>
                <a:spcPct val="107000"/>
              </a:lnSpc>
            </a:pPr>
            <a:r>
              <a:rPr lang="en-US" sz="2000" dirty="0">
                <a:latin typeface="Verdana" panose="020B0604030504040204" pitchFamily="34" charset="0"/>
                <a:ea typeface="Verdana" panose="020B0604030504040204" pitchFamily="34" charset="0"/>
                <a:cs typeface="Times New Roman" panose="02020603050405020304" pitchFamily="18" charset="0"/>
              </a:rPr>
              <a:t> </a:t>
            </a: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p:txBody>
      </p:sp>
      <p:sp>
        <p:nvSpPr>
          <p:cNvPr id="7" name="Google Shape;278;g104476d1465_1_17">
            <a:extLst>
              <a:ext uri="{FF2B5EF4-FFF2-40B4-BE49-F238E27FC236}">
                <a16:creationId xmlns:a16="http://schemas.microsoft.com/office/drawing/2014/main" id="{C2F4C951-E46B-E944-87E2-3B81D09643B6}"/>
              </a:ext>
            </a:extLst>
          </p:cNvPr>
          <p:cNvSpPr/>
          <p:nvPr/>
        </p:nvSpPr>
        <p:spPr>
          <a:xfrm>
            <a:off x="0" y="-8225"/>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5025148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4">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id="{EE3C8BB3-D8AE-154C-9B2D-B1D7451436FE}"/>
              </a:ext>
            </a:extLst>
          </p:cNvPr>
          <p:cNvSpPr txBox="1"/>
          <p:nvPr/>
        </p:nvSpPr>
        <p:spPr>
          <a:xfrm>
            <a:off x="8751664" y="64576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66</a:t>
            </a:r>
          </a:p>
        </p:txBody>
      </p:sp>
    </p:spTree>
    <p:extLst>
      <p:ext uri="{BB962C8B-B14F-4D97-AF65-F5344CB8AC3E}">
        <p14:creationId xmlns:p14="http://schemas.microsoft.com/office/powerpoint/2010/main" val="17908396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246222" y="186104"/>
            <a:ext cx="10446856"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2.4.5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4">
            <a:alphaModFix/>
          </a:blip>
          <a:srcRect/>
          <a:stretch/>
        </p:blipFill>
        <p:spPr>
          <a:xfrm>
            <a:off x="498922" y="60325"/>
            <a:ext cx="747300" cy="747300"/>
          </a:xfrm>
          <a:prstGeom prst="rect">
            <a:avLst/>
          </a:prstGeom>
          <a:noFill/>
          <a:ln>
            <a:noFill/>
          </a:ln>
        </p:spPr>
      </p:pic>
      <p:sp>
        <p:nvSpPr>
          <p:cNvPr id="11" name="Google Shape;282;g104476d1465_1_17">
            <a:extLst>
              <a:ext uri="{FF2B5EF4-FFF2-40B4-BE49-F238E27FC236}">
                <a16:creationId xmlns:a16="http://schemas.microsoft.com/office/drawing/2014/main" id="{F9486181-07A1-C74B-A129-E8949F43C159}"/>
              </a:ext>
            </a:extLst>
          </p:cNvPr>
          <p:cNvSpPr txBox="1"/>
          <p:nvPr/>
        </p:nvSpPr>
        <p:spPr>
          <a:xfrm>
            <a:off x="8643506" y="6397475"/>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66</a:t>
            </a:r>
            <a:endParaRPr i="1" dirty="0">
              <a:latin typeface="Calibri"/>
              <a:ea typeface="Calibri"/>
              <a:cs typeface="Calibri"/>
              <a:sym typeface="Calibri"/>
            </a:endParaRPr>
          </a:p>
        </p:txBody>
      </p:sp>
      <p:sp>
        <p:nvSpPr>
          <p:cNvPr id="12" name="TextBox 11">
            <a:extLst>
              <a:ext uri="{FF2B5EF4-FFF2-40B4-BE49-F238E27FC236}">
                <a16:creationId xmlns:a16="http://schemas.microsoft.com/office/drawing/2014/main" id="{759C3E41-93EC-B84D-963F-86A3B15AC1C6}"/>
              </a:ext>
            </a:extLst>
          </p:cNvPr>
          <p:cNvSpPr txBox="1"/>
          <p:nvPr/>
        </p:nvSpPr>
        <p:spPr>
          <a:xfrm>
            <a:off x="498921" y="1275509"/>
            <a:ext cx="11420935" cy="1446550"/>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Rewrite an equivalent expression for each sum using distributive property with a common factor.</a:t>
            </a:r>
          </a:p>
          <a:p>
            <a:pPr marL="457200" indent="-457200">
              <a:buFont typeface="+mj-lt"/>
              <a:buAutoNum type="arabicPeriod"/>
            </a:pPr>
            <a:endParaRPr lang="en-US" sz="2000" dirty="0">
              <a:latin typeface="Verdana" panose="020B0604030504040204" pitchFamily="34" charset="0"/>
              <a:ea typeface="Calibri" panose="020F0502020204030204" pitchFamily="34" charset="0"/>
              <a:cs typeface="Times New Roman" panose="02020603050405020304" pitchFamily="18" charset="0"/>
            </a:endParaRPr>
          </a:p>
          <a:p>
            <a:pPr marL="457200" indent="-457200">
              <a:buFont typeface="+mj-lt"/>
              <a:buAutoNum type="arabicPeriod"/>
            </a:pPr>
            <a:endParaRPr lang="en-US" sz="2000" dirty="0">
              <a:latin typeface="Calibri" panose="020F0502020204030204" pitchFamily="34" charset="0"/>
              <a:ea typeface="Calibri" panose="020F0502020204030204" pitchFamily="34" charset="0"/>
              <a:cs typeface="Times New Roman" panose="02020603050405020304" pitchFamily="18" charset="0"/>
            </a:endParaRPr>
          </a:p>
        </p:txBody>
      </p:sp>
      <p:sp>
        <p:nvSpPr>
          <p:cNvPr id="10" name="Google Shape;278;g104476d1465_1_17">
            <a:extLst>
              <a:ext uri="{FF2B5EF4-FFF2-40B4-BE49-F238E27FC236}">
                <a16:creationId xmlns:a16="http://schemas.microsoft.com/office/drawing/2014/main" id="{134A47CD-5DBB-654A-843E-9182A1B8FB7F}"/>
              </a:ext>
            </a:extLst>
          </p:cNvPr>
          <p:cNvSpPr/>
          <p:nvPr/>
        </p:nvSpPr>
        <p:spPr>
          <a:xfrm>
            <a:off x="-3255"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graphicFrame>
            <p:nvGraphicFramePr>
              <p:cNvPr id="8" name="Table 7">
                <a:extLst>
                  <a:ext uri="{FF2B5EF4-FFF2-40B4-BE49-F238E27FC236}">
                    <a16:creationId xmlns:a16="http://schemas.microsoft.com/office/drawing/2014/main" id="{8AB54576-63A0-4F68-B6DD-8D2D3BC8C4BE}"/>
                  </a:ext>
                </a:extLst>
              </p:cNvPr>
              <p:cNvGraphicFramePr>
                <a:graphicFrameLocks noGrp="1"/>
              </p:cNvGraphicFramePr>
              <p:nvPr>
                <p:extLst>
                  <p:ext uri="{D42A27DB-BD31-4B8C-83A1-F6EECF244321}">
                    <p14:modId xmlns:p14="http://schemas.microsoft.com/office/powerpoint/2010/main" val="1736492236"/>
                  </p:ext>
                </p:extLst>
              </p:nvPr>
            </p:nvGraphicFramePr>
            <p:xfrm>
              <a:off x="3459097" y="2638863"/>
              <a:ext cx="6675755" cy="3284220"/>
            </p:xfrm>
            <a:graphic>
              <a:graphicData uri="http://schemas.openxmlformats.org/drawingml/2006/table">
                <a:tbl>
                  <a:tblPr firstRow="1" firstCol="1" bandRow="1">
                    <a:tableStyleId>{A91F0D33-8C57-4600-99A7-42BC86742BE1}</a:tableStyleId>
                  </a:tblPr>
                  <a:tblGrid>
                    <a:gridCol w="3337560">
                      <a:extLst>
                        <a:ext uri="{9D8B030D-6E8A-4147-A177-3AD203B41FA5}">
                          <a16:colId xmlns:a16="http://schemas.microsoft.com/office/drawing/2014/main" val="331680442"/>
                        </a:ext>
                      </a:extLst>
                    </a:gridCol>
                    <a:gridCol w="3338195">
                      <a:extLst>
                        <a:ext uri="{9D8B030D-6E8A-4147-A177-3AD203B41FA5}">
                          <a16:colId xmlns:a16="http://schemas.microsoft.com/office/drawing/2014/main" val="260507105"/>
                        </a:ext>
                      </a:extLst>
                    </a:gridCol>
                  </a:tblGrid>
                  <a:tr h="1642110">
                    <a:tc>
                      <a:txBody>
                        <a:bodyPr/>
                        <a:lstStyle/>
                        <a:p>
                          <a:pPr marL="0" marR="0" lvl="0" indent="0">
                            <a:lnSpc>
                              <a:spcPct val="107000"/>
                            </a:lnSpc>
                            <a:spcBef>
                              <a:spcPts val="0"/>
                            </a:spcBef>
                            <a:spcAft>
                              <a:spcPts val="0"/>
                            </a:spcAft>
                            <a:buFont typeface="+mj-lt"/>
                            <a:buNone/>
                          </a:pPr>
                          <a:r>
                            <a:rPr lang="en-US" sz="2000" i="0" dirty="0">
                              <a:effectLst/>
                              <a:latin typeface="Verdana" panose="020B0604030504040204" pitchFamily="34" charset="0"/>
                              <a:ea typeface="Verdana" panose="020B0604030504040204" pitchFamily="34" charset="0"/>
                            </a:rPr>
                            <a:t>a.  </a:t>
                          </a:r>
                          <a14:m>
                            <m:oMath xmlns:m="http://schemas.openxmlformats.org/officeDocument/2006/math">
                              <m:r>
                                <a:rPr lang="en-US" sz="2000" i="1">
                                  <a:effectLst/>
                                  <a:latin typeface="Cambria Math" panose="02040503050406030204" pitchFamily="18" charset="0"/>
                                  <a:ea typeface="Cambria Math" panose="02040503050406030204" pitchFamily="18" charset="0"/>
                                </a:rPr>
                                <m:t>51 + 21</m:t>
                              </m:r>
                            </m:oMath>
                          </a14:m>
                          <a:endParaRPr lang="en-US" sz="2000" i="1" dirty="0">
                            <a:effectLst/>
                            <a:latin typeface="Cambria Math" panose="02040503050406030204" pitchFamily="18" charset="0"/>
                            <a:ea typeface="Cambria Math" panose="02040503050406030204" pitchFamily="18" charset="0"/>
                          </a:endParaRPr>
                        </a:p>
                        <a:p>
                          <a:pPr marL="841375" marR="0">
                            <a:lnSpc>
                              <a:spcPct val="107000"/>
                            </a:lnSpc>
                            <a:spcBef>
                              <a:spcPts val="0"/>
                            </a:spcBef>
                            <a:spcAft>
                              <a:spcPts val="0"/>
                            </a:spcAft>
                          </a:pPr>
                          <a:r>
                            <a:rPr lang="en-US" sz="2000" i="1" dirty="0">
                              <a:effectLst/>
                              <a:latin typeface="Cambria Math" panose="02040503050406030204" pitchFamily="18" charset="0"/>
                              <a:ea typeface="Cambria Math" panose="02040503050406030204" pitchFamily="18" charset="0"/>
                            </a:rPr>
                            <a:t> </a:t>
                          </a:r>
                          <a:endParaRPr lang="en-US" sz="2000" i="1"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nSpc>
                              <a:spcPct val="107000"/>
                            </a:lnSpc>
                            <a:spcBef>
                              <a:spcPts val="0"/>
                            </a:spcBef>
                            <a:spcAft>
                              <a:spcPts val="0"/>
                            </a:spcAft>
                            <a:buFont typeface="+mj-lt"/>
                            <a:buNone/>
                          </a:pPr>
                          <a:r>
                            <a:rPr lang="en-US" sz="2000" i="0" dirty="0">
                              <a:effectLst/>
                              <a:latin typeface="Verdana" panose="020B0604030504040204" pitchFamily="34" charset="0"/>
                              <a:ea typeface="Verdana" panose="020B0604030504040204" pitchFamily="34" charset="0"/>
                            </a:rPr>
                            <a:t>b</a:t>
                          </a:r>
                          <a:r>
                            <a:rPr lang="en-US" sz="2000" i="1" dirty="0">
                              <a:effectLst/>
                              <a:latin typeface="Cambria Math" panose="02040503050406030204" pitchFamily="18" charset="0"/>
                              <a:ea typeface="Cambria Math" panose="02040503050406030204" pitchFamily="18" charset="0"/>
                            </a:rPr>
                            <a:t>.   </a:t>
                          </a:r>
                          <a14:m>
                            <m:oMath xmlns:m="http://schemas.openxmlformats.org/officeDocument/2006/math">
                              <m:r>
                                <a:rPr lang="en-US" sz="2000" i="1">
                                  <a:effectLst/>
                                  <a:latin typeface="Cambria Math" panose="02040503050406030204" pitchFamily="18" charset="0"/>
                                  <a:ea typeface="Cambria Math" panose="02040503050406030204" pitchFamily="18" charset="0"/>
                                </a:rPr>
                                <m:t>124 + 20</m:t>
                              </m:r>
                            </m:oMath>
                          </a14:m>
                          <a:endParaRPr lang="en-US" sz="2000" i="1" dirty="0">
                            <a:effectLst/>
                            <a:latin typeface="Cambria Math" panose="02040503050406030204" pitchFamily="18" charset="0"/>
                            <a:ea typeface="Cambria Math" panose="02040503050406030204" pitchFamily="18" charset="0"/>
                          </a:endParaRPr>
                        </a:p>
                        <a:p>
                          <a:pPr marL="0" marR="0">
                            <a:lnSpc>
                              <a:spcPct val="107000"/>
                            </a:lnSpc>
                            <a:spcBef>
                              <a:spcPts val="0"/>
                            </a:spcBef>
                            <a:spcAft>
                              <a:spcPts val="0"/>
                            </a:spcAft>
                          </a:pPr>
                          <a:r>
                            <a:rPr lang="en-US" sz="2000" i="1" dirty="0">
                              <a:effectLst/>
                              <a:latin typeface="Cambria Math" panose="02040503050406030204" pitchFamily="18" charset="0"/>
                              <a:ea typeface="Cambria Math" panose="02040503050406030204" pitchFamily="18" charset="0"/>
                            </a:rPr>
                            <a:t> </a:t>
                          </a:r>
                          <a:endParaRPr lang="en-US" sz="2000" i="1"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2417965289"/>
                      </a:ext>
                    </a:extLst>
                  </a:tr>
                  <a:tr h="1642110">
                    <a:tc>
                      <a:txBody>
                        <a:bodyPr/>
                        <a:lstStyle/>
                        <a:p>
                          <a:pPr marL="0" marR="0" lvl="0" indent="0">
                            <a:lnSpc>
                              <a:spcPct val="107000"/>
                            </a:lnSpc>
                            <a:spcBef>
                              <a:spcPts val="0"/>
                            </a:spcBef>
                            <a:spcAft>
                              <a:spcPts val="0"/>
                            </a:spcAft>
                            <a:buFont typeface="+mj-lt"/>
                            <a:buNone/>
                          </a:pPr>
                          <a:r>
                            <a:rPr lang="en-US" sz="2000" i="0" dirty="0">
                              <a:effectLst/>
                              <a:latin typeface="Verdana" panose="020B0604030504040204" pitchFamily="34" charset="0"/>
                              <a:ea typeface="Verdana" panose="020B0604030504040204" pitchFamily="34" charset="0"/>
                            </a:rPr>
                            <a:t>c.</a:t>
                          </a:r>
                          <a:r>
                            <a:rPr lang="en-US" sz="2000" i="1" dirty="0">
                              <a:effectLst/>
                              <a:latin typeface="Cambria Math" panose="02040503050406030204" pitchFamily="18" charset="0"/>
                              <a:ea typeface="Cambria Math" panose="02040503050406030204" pitchFamily="18" charset="0"/>
                            </a:rPr>
                            <a:t>   </a:t>
                          </a:r>
                          <a14:m>
                            <m:oMath xmlns:m="http://schemas.openxmlformats.org/officeDocument/2006/math">
                              <m:r>
                                <a:rPr lang="en-US" sz="2000" i="1">
                                  <a:effectLst/>
                                  <a:latin typeface="Cambria Math" panose="02040503050406030204" pitchFamily="18" charset="0"/>
                                  <a:ea typeface="Cambria Math" panose="02040503050406030204" pitchFamily="18" charset="0"/>
                                </a:rPr>
                                <m:t>72 + 24</m:t>
                              </m:r>
                            </m:oMath>
                          </a14:m>
                          <a:endParaRPr lang="en-US" sz="2000" i="1" dirty="0">
                            <a:effectLst/>
                            <a:latin typeface="Cambria Math" panose="02040503050406030204" pitchFamily="18" charset="0"/>
                            <a:ea typeface="Cambria Math" panose="02040503050406030204" pitchFamily="18" charset="0"/>
                          </a:endParaRPr>
                        </a:p>
                        <a:p>
                          <a:pPr marL="841375" marR="0">
                            <a:lnSpc>
                              <a:spcPct val="107000"/>
                            </a:lnSpc>
                            <a:spcBef>
                              <a:spcPts val="0"/>
                            </a:spcBef>
                            <a:spcAft>
                              <a:spcPts val="0"/>
                            </a:spcAft>
                          </a:pPr>
                          <a:r>
                            <a:rPr lang="en-US" sz="2000" i="1" dirty="0">
                              <a:effectLst/>
                              <a:latin typeface="Cambria Math" panose="02040503050406030204" pitchFamily="18" charset="0"/>
                              <a:ea typeface="Cambria Math" panose="02040503050406030204" pitchFamily="18" charset="0"/>
                            </a:rPr>
                            <a:t> </a:t>
                          </a:r>
                          <a:endParaRPr lang="en-US" sz="2000" i="1"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0" marR="0" lvl="0" indent="0">
                            <a:lnSpc>
                              <a:spcPct val="107000"/>
                            </a:lnSpc>
                            <a:spcBef>
                              <a:spcPts val="0"/>
                            </a:spcBef>
                            <a:spcAft>
                              <a:spcPts val="0"/>
                            </a:spcAft>
                            <a:buFont typeface="+mj-lt"/>
                            <a:buNone/>
                          </a:pPr>
                          <a:r>
                            <a:rPr lang="en-US" sz="2000" i="0" dirty="0">
                              <a:effectLst/>
                              <a:latin typeface="Verdana" panose="020B0604030504040204" pitchFamily="34" charset="0"/>
                              <a:ea typeface="Verdana" panose="020B0604030504040204" pitchFamily="34" charset="0"/>
                            </a:rPr>
                            <a:t>d.</a:t>
                          </a:r>
                          <a:r>
                            <a:rPr lang="en-US" sz="2000" i="1" dirty="0">
                              <a:effectLst/>
                              <a:latin typeface="Cambria Math" panose="02040503050406030204" pitchFamily="18" charset="0"/>
                              <a:ea typeface="Cambria Math" panose="02040503050406030204" pitchFamily="18" charset="0"/>
                            </a:rPr>
                            <a:t>   </a:t>
                          </a:r>
                          <a14:m>
                            <m:oMath xmlns:m="http://schemas.openxmlformats.org/officeDocument/2006/math">
                              <m:r>
                                <a:rPr lang="en-US" sz="2000" i="1">
                                  <a:effectLst/>
                                  <a:latin typeface="Cambria Math" panose="02040503050406030204" pitchFamily="18" charset="0"/>
                                  <a:ea typeface="Cambria Math" panose="02040503050406030204" pitchFamily="18" charset="0"/>
                                </a:rPr>
                                <m:t>39 + 65</m:t>
                              </m:r>
                            </m:oMath>
                          </a14:m>
                          <a:endParaRPr lang="en-US" sz="2000" i="1" dirty="0">
                            <a:effectLst/>
                            <a:latin typeface="Cambria Math" panose="02040503050406030204" pitchFamily="18" charset="0"/>
                            <a:ea typeface="Cambria Math" panose="02040503050406030204" pitchFamily="18" charset="0"/>
                          </a:endParaRPr>
                        </a:p>
                        <a:p>
                          <a:pPr marL="0" marR="0">
                            <a:lnSpc>
                              <a:spcPct val="107000"/>
                            </a:lnSpc>
                            <a:spcBef>
                              <a:spcPts val="0"/>
                            </a:spcBef>
                            <a:spcAft>
                              <a:spcPts val="0"/>
                            </a:spcAft>
                          </a:pPr>
                          <a:r>
                            <a:rPr lang="en-US" sz="2000" i="1" dirty="0">
                              <a:effectLst/>
                              <a:latin typeface="Cambria Math" panose="02040503050406030204" pitchFamily="18" charset="0"/>
                              <a:ea typeface="Cambria Math" panose="02040503050406030204" pitchFamily="18" charset="0"/>
                            </a:rPr>
                            <a:t> </a:t>
                          </a:r>
                          <a:endParaRPr lang="en-US" sz="2000" i="1" dirty="0">
                            <a:effectLst/>
                            <a:latin typeface="Cambria Math" panose="02040503050406030204" pitchFamily="18" charset="0"/>
                            <a:ea typeface="Cambria Math" panose="02040503050406030204" pitchFamily="18" charset="0"/>
                            <a:cs typeface="Times New Roman" panose="02020603050405020304" pitchFamily="18" charset="0"/>
                          </a:endParaRPr>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565591685"/>
                      </a:ext>
                    </a:extLst>
                  </a:tr>
                </a:tbl>
              </a:graphicData>
            </a:graphic>
          </p:graphicFrame>
        </mc:Choice>
        <mc:Fallback xmlns="">
          <p:graphicFrame>
            <p:nvGraphicFramePr>
              <p:cNvPr id="8" name="Table 7">
                <a:extLst>
                  <a:ext uri="{FF2B5EF4-FFF2-40B4-BE49-F238E27FC236}">
                    <a16:creationId xmlns:a16="http://schemas.microsoft.com/office/drawing/2014/main" id="{8AB54576-63A0-4F68-B6DD-8D2D3BC8C4BE}"/>
                  </a:ext>
                </a:extLst>
              </p:cNvPr>
              <p:cNvGraphicFramePr>
                <a:graphicFrameLocks noGrp="1"/>
              </p:cNvGraphicFramePr>
              <p:nvPr>
                <p:extLst>
                  <p:ext uri="{D42A27DB-BD31-4B8C-83A1-F6EECF244321}">
                    <p14:modId xmlns:p14="http://schemas.microsoft.com/office/powerpoint/2010/main" val="1736492236"/>
                  </p:ext>
                </p:extLst>
              </p:nvPr>
            </p:nvGraphicFramePr>
            <p:xfrm>
              <a:off x="3459097" y="2638863"/>
              <a:ext cx="6675755" cy="3284220"/>
            </p:xfrm>
            <a:graphic>
              <a:graphicData uri="http://schemas.openxmlformats.org/drawingml/2006/table">
                <a:tbl>
                  <a:tblPr firstRow="1" firstCol="1" bandRow="1">
                    <a:tableStyleId>{A91F0D33-8C57-4600-99A7-42BC86742BE1}</a:tableStyleId>
                  </a:tblPr>
                  <a:tblGrid>
                    <a:gridCol w="3337560">
                      <a:extLst>
                        <a:ext uri="{9D8B030D-6E8A-4147-A177-3AD203B41FA5}">
                          <a16:colId xmlns:a16="http://schemas.microsoft.com/office/drawing/2014/main" val="331680442"/>
                        </a:ext>
                      </a:extLst>
                    </a:gridCol>
                    <a:gridCol w="3338195">
                      <a:extLst>
                        <a:ext uri="{9D8B030D-6E8A-4147-A177-3AD203B41FA5}">
                          <a16:colId xmlns:a16="http://schemas.microsoft.com/office/drawing/2014/main" val="260507105"/>
                        </a:ext>
                      </a:extLst>
                    </a:gridCol>
                  </a:tblGrid>
                  <a:tr h="1642110">
                    <a:tc>
                      <a:txBody>
                        <a:bodyPr/>
                        <a:lstStyle/>
                        <a:p>
                          <a:endParaRPr lang="en-US"/>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t="-5385" r="-100380" b="-100000"/>
                          </a:stretch>
                        </a:blipFill>
                      </a:tcPr>
                    </a:tc>
                    <a:tc>
                      <a:txBody>
                        <a:bodyPr/>
                        <a:lstStyle/>
                        <a:p>
                          <a:endParaRPr lang="en-US"/>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l="-99621" t="-5385" b="-100000"/>
                          </a:stretch>
                        </a:blipFill>
                      </a:tcPr>
                    </a:tc>
                    <a:extLst>
                      <a:ext uri="{0D108BD9-81ED-4DB2-BD59-A6C34878D82A}">
                        <a16:rowId xmlns:a16="http://schemas.microsoft.com/office/drawing/2014/main" val="2417965289"/>
                      </a:ext>
                    </a:extLst>
                  </a:tr>
                  <a:tr h="1642110">
                    <a:tc>
                      <a:txBody>
                        <a:bodyPr/>
                        <a:lstStyle/>
                        <a:p>
                          <a:endParaRPr lang="en-US"/>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t="-105385" r="-100380"/>
                          </a:stretch>
                        </a:blipFill>
                      </a:tcPr>
                    </a:tc>
                    <a:tc>
                      <a:txBody>
                        <a:bodyPr/>
                        <a:lstStyle/>
                        <a:p>
                          <a:endParaRPr lang="en-US"/>
                        </a:p>
                      </a:txBody>
                      <a:tcPr marL="68580" marR="6858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blipFill>
                          <a:blip r:embed="rId5"/>
                          <a:stretch>
                            <a:fillRect l="-99621" t="-105385"/>
                          </a:stretch>
                        </a:blipFill>
                      </a:tcPr>
                    </a:tc>
                    <a:extLst>
                      <a:ext uri="{0D108BD9-81ED-4DB2-BD59-A6C34878D82A}">
                        <a16:rowId xmlns:a16="http://schemas.microsoft.com/office/drawing/2014/main" val="3565591685"/>
                      </a:ext>
                    </a:extLst>
                  </a:tr>
                </a:tbl>
              </a:graphicData>
            </a:graphic>
          </p:graphicFrame>
        </mc:Fallback>
      </mc:AlternateContent>
    </p:spTree>
    <p:extLst>
      <p:ext uri="{BB962C8B-B14F-4D97-AF65-F5344CB8AC3E}">
        <p14:creationId xmlns:p14="http://schemas.microsoft.com/office/powerpoint/2010/main" val="302593790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0737"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06093" y="632913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66</a:t>
            </a:r>
          </a:p>
        </p:txBody>
      </p:sp>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08C67FCF-92C3-654A-BF40-5BDF7A4F9271}"/>
                  </a:ext>
                </a:extLst>
              </p:cNvPr>
              <p:cNvSpPr txBox="1"/>
              <p:nvPr/>
            </p:nvSpPr>
            <p:spPr>
              <a:xfrm>
                <a:off x="473486" y="409360"/>
                <a:ext cx="11500800" cy="1077218"/>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R</a:t>
                </a:r>
                <a:r>
                  <a:rPr lang="en-US" sz="2000" dirty="0">
                    <a:latin typeface="Verdana" panose="020B0604030504040204" pitchFamily="34" charset="0"/>
                    <a:ea typeface="Verdana" panose="020B0604030504040204" pitchFamily="34" charset="0"/>
                    <a:cs typeface="Times New Roman" panose="02020603050405020304" pitchFamily="18" charset="0"/>
                  </a:rPr>
                  <a:t>ewrite an equivalent expression for the sum of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68 + 34</m:t>
                    </m:r>
                  </m:oMath>
                </a14:m>
                <a:r>
                  <a:rPr lang="en-US" sz="2000" dirty="0">
                    <a:latin typeface="Verdana" panose="020B0604030504040204" pitchFamily="34" charset="0"/>
                    <a:ea typeface="Verdana" panose="020B0604030504040204" pitchFamily="34" charset="0"/>
                    <a:cs typeface="Times New Roman" panose="02020603050405020304" pitchFamily="18" charset="0"/>
                  </a:rPr>
                  <a:t> using the distributive property with the </a:t>
                </a:r>
                <a:r>
                  <a:rPr lang="en-US" sz="2000" b="1" dirty="0">
                    <a:latin typeface="Verdana" panose="020B0604030504040204" pitchFamily="34" charset="0"/>
                    <a:ea typeface="Verdana" panose="020B0604030504040204" pitchFamily="34" charset="0"/>
                    <a:cs typeface="Times New Roman" panose="02020603050405020304" pitchFamily="18" charset="0"/>
                  </a:rPr>
                  <a:t>greatest common factor</a:t>
                </a:r>
                <a:r>
                  <a:rPr lang="en-US" sz="2000" dirty="0">
                    <a:latin typeface="Verdana" panose="020B0604030504040204" pitchFamily="34" charset="0"/>
                    <a:ea typeface="Verdana" panose="020B0604030504040204" pitchFamily="34" charset="0"/>
                    <a:cs typeface="Times New Roman" panose="02020603050405020304" pitchFamily="18" charset="0"/>
                  </a:rPr>
                  <a:t> (GCF).</a:t>
                </a:r>
              </a:p>
              <a:p>
                <a:pPr marL="457200"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5" name="TextBox 4">
                <a:extLst>
                  <a:ext uri="{FF2B5EF4-FFF2-40B4-BE49-F238E27FC236}">
                    <a16:creationId xmlns:a16="http://schemas.microsoft.com/office/drawing/2014/main" id="{08C67FCF-92C3-654A-BF40-5BDF7A4F9271}"/>
                  </a:ext>
                </a:extLst>
              </p:cNvPr>
              <p:cNvSpPr txBox="1">
                <a:spLocks noRot="1" noChangeAspect="1" noMove="1" noResize="1" noEditPoints="1" noAdjustHandles="1" noChangeArrowheads="1" noChangeShapeType="1" noTextEdit="1"/>
              </p:cNvSpPr>
              <p:nvPr/>
            </p:nvSpPr>
            <p:spPr>
              <a:xfrm>
                <a:off x="473486" y="409360"/>
                <a:ext cx="11500800" cy="1077218"/>
              </a:xfrm>
              <a:prstGeom prst="rect">
                <a:avLst/>
              </a:prstGeom>
              <a:blipFill>
                <a:blip r:embed="rId4"/>
                <a:stretch>
                  <a:fillRect l="-552" t="-3488"/>
                </a:stretch>
              </a:blipFill>
            </p:spPr>
            <p:txBody>
              <a:bodyPr/>
              <a:lstStyle/>
              <a:p>
                <a:r>
                  <a:rPr lang="en-US">
                    <a:noFill/>
                  </a:rPr>
                  <a:t> </a:t>
                </a:r>
              </a:p>
            </p:txBody>
          </p:sp>
        </mc:Fallback>
      </mc:AlternateContent>
      <p:sp>
        <p:nvSpPr>
          <p:cNvPr id="7" name="Google Shape;278;g104476d1465_1_17">
            <a:extLst>
              <a:ext uri="{FF2B5EF4-FFF2-40B4-BE49-F238E27FC236}">
                <a16:creationId xmlns:a16="http://schemas.microsoft.com/office/drawing/2014/main" id="{252468F9-493F-EA4F-B8D7-90F86F60BDF9}"/>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42272534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914950" y="6329137"/>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67</a:t>
            </a: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82" name="Google Shape;282;g104476d1465_1_17"/>
          <p:cNvSpPr txBox="1"/>
          <p:nvPr/>
        </p:nvSpPr>
        <p:spPr>
          <a:xfrm>
            <a:off x="8782686" y="6393511"/>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67</a:t>
            </a: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199507"/>
            <a:ext cx="563850" cy="658368"/>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448186" y="43268"/>
            <a:ext cx="1017996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2.4.6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488035" y="332468"/>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0370EDB7-6994-3D43-ABF9-E04CBAFB9CD9}"/>
                  </a:ext>
                </a:extLst>
              </p:cNvPr>
              <p:cNvSpPr txBox="1"/>
              <p:nvPr/>
            </p:nvSpPr>
            <p:spPr>
              <a:xfrm>
                <a:off x="488035" y="1368968"/>
                <a:ext cx="11494692" cy="4380558"/>
              </a:xfrm>
              <a:prstGeom prst="rect">
                <a:avLst/>
              </a:prstGeom>
              <a:noFill/>
            </p:spPr>
            <p:txBody>
              <a:bodyPr wrap="square" rtlCol="0">
                <a:spAutoFit/>
              </a:bodyPr>
              <a:lstStyle/>
              <a:p>
                <a:pPr marL="457200" indent="-457200">
                  <a:lnSpc>
                    <a:spcPct val="107000"/>
                  </a:lnSpc>
                  <a:buFont typeface="+mj-lt"/>
                  <a:buAutoNum type="arabicPeriod"/>
                </a:pPr>
                <a:r>
                  <a:rPr lang="en-US" sz="2000" dirty="0">
                    <a:latin typeface="Verdana" panose="020B0604030504040204" pitchFamily="34" charset="0"/>
                    <a:ea typeface="Verdana" panose="020B0604030504040204" pitchFamily="34" charset="0"/>
                    <a:cs typeface="Times New Roman" panose="02020603050405020304" pitchFamily="18" charset="0"/>
                  </a:rPr>
                  <a:t>Rewrite an equivalent expression for the sum of </a:t>
                </a:r>
                <a14:m>
                  <m:oMath xmlns:m="http://schemas.openxmlformats.org/officeDocument/2006/math">
                    <m:r>
                      <a:rPr lang="en-US" sz="2000" i="1">
                        <a:latin typeface="Cambria Math" panose="02040503050406030204" pitchFamily="18" charset="0"/>
                        <a:ea typeface="Times New Roman" panose="02020603050405020304" pitchFamily="18" charset="0"/>
                        <a:cs typeface="Times New Roman" panose="02020603050405020304" pitchFamily="18" charset="0"/>
                      </a:rPr>
                      <m:t>75 + 30</m:t>
                    </m:r>
                  </m:oMath>
                </a14:m>
                <a:r>
                  <a:rPr lang="en-US" sz="2000" dirty="0">
                    <a:latin typeface="Verdana" panose="020B0604030504040204" pitchFamily="34" charset="0"/>
                    <a:ea typeface="Verdana" panose="020B0604030504040204" pitchFamily="34" charset="0"/>
                    <a:cs typeface="Times New Roman" panose="02020603050405020304" pitchFamily="18" charset="0"/>
                  </a:rPr>
                  <a:t> in two different ways using the distributive property and a common factor.</a:t>
                </a:r>
              </a:p>
              <a:p>
                <a:pPr marL="457200" indent="-457200">
                  <a:lnSpc>
                    <a:spcPct val="107000"/>
                  </a:lnSpc>
                  <a:buFont typeface="+mj-lt"/>
                  <a:buAutoNum type="arabi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457200" indent="-457200">
                  <a:lnSpc>
                    <a:spcPct val="107000"/>
                  </a:lnSpc>
                  <a:buFont typeface="+mj-lt"/>
                  <a:buAutoNum type="arabi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457200" indent="-457200">
                  <a:lnSpc>
                    <a:spcPct val="107000"/>
                  </a:lnSpc>
                  <a:buFont typeface="+mj-lt"/>
                  <a:buAutoNum type="arabi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457200" indent="-457200">
                  <a:lnSpc>
                    <a:spcPct val="107000"/>
                  </a:lnSpc>
                  <a:buFont typeface="+mj-lt"/>
                  <a:buAutoNum type="arabi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457200" indent="-457200">
                  <a:lnSpc>
                    <a:spcPct val="107000"/>
                  </a:lnSpc>
                  <a:buFont typeface="+mj-lt"/>
                  <a:buAutoNum type="arabi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457200" indent="-457200">
                  <a:lnSpc>
                    <a:spcPct val="107000"/>
                  </a:lnSpc>
                  <a:buFont typeface="+mj-lt"/>
                  <a:buAutoNum type="arabi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457200" indent="-457200">
                  <a:lnSpc>
                    <a:spcPct val="107000"/>
                  </a:lnSpc>
                  <a:buFont typeface="+mj-lt"/>
                  <a:buAutoNum type="arabicPeriod"/>
                </a:pPr>
                <a:endParaRPr lang="en-US" sz="2000" dirty="0">
                  <a:latin typeface="Verdana" panose="020B0604030504040204" pitchFamily="34" charset="0"/>
                  <a:ea typeface="Verdana" panose="020B0604030504040204" pitchFamily="34" charset="0"/>
                  <a:cs typeface="Times New Roman" panose="02020603050405020304" pitchFamily="18" charset="0"/>
                </a:endParaRPr>
              </a:p>
              <a:p>
                <a:pPr marL="457200" indent="-457200">
                  <a:lnSpc>
                    <a:spcPct val="107000"/>
                  </a:lnSpc>
                  <a:buFont typeface="+mj-lt"/>
                  <a:buAutoNum type="arabicPeriod"/>
                </a:pPr>
                <a:r>
                  <a:rPr lang="en-US" sz="2000" dirty="0">
                    <a:latin typeface="Verdana" panose="020B0604030504040204" pitchFamily="34" charset="0"/>
                    <a:ea typeface="Verdana" panose="020B0604030504040204" pitchFamily="34" charset="0"/>
                    <a:cs typeface="Times New Roman" panose="02020603050405020304" pitchFamily="18" charset="0"/>
                  </a:rPr>
                  <a:t>Complete the equation with the missing values that make the equation true.</a:t>
                </a:r>
              </a:p>
              <a:p>
                <a:pPr marL="457200">
                  <a:lnSpc>
                    <a:spcPct val="107000"/>
                  </a:lnSpc>
                </a:pPr>
                <a:r>
                  <a:rPr lang="en-US" sz="1800" dirty="0">
                    <a:latin typeface="Verdana" panose="020B0604030504040204" pitchFamily="34" charset="0"/>
                    <a:ea typeface="Calibri" panose="020F0502020204030204" pitchFamily="34" charset="0"/>
                    <a:cs typeface="Times New Roman" panose="02020603050405020304" pitchFamily="18" charset="0"/>
                  </a:rPr>
                  <a:t> </a:t>
                </a:r>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ea typeface="Cambria Math" panose="02040503050406030204" pitchFamily="18" charset="0"/>
                          <a:cs typeface="Times New Roman" panose="02020603050405020304" pitchFamily="18" charset="0"/>
                        </a:rPr>
                        <m:t>49+35=____ (7+____ )</m:t>
                      </m:r>
                    </m:oMath>
                  </m:oMathPara>
                </a14:m>
                <a:endParaRPr lang="en-US" sz="1800" dirty="0">
                  <a:latin typeface="Calibri" panose="020F0502020204030204" pitchFamily="34" charset="0"/>
                  <a:ea typeface="Calibri" panose="020F0502020204030204" pitchFamily="34" charset="0"/>
                  <a:cs typeface="Times New Roman" panose="02020603050405020304" pitchFamily="18"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2" name="TextBox 11">
                <a:extLst>
                  <a:ext uri="{FF2B5EF4-FFF2-40B4-BE49-F238E27FC236}">
                    <a16:creationId xmlns:a16="http://schemas.microsoft.com/office/drawing/2014/main" id="{0370EDB7-6994-3D43-ABF9-E04CBAFB9CD9}"/>
                  </a:ext>
                </a:extLst>
              </p:cNvPr>
              <p:cNvSpPr txBox="1">
                <a:spLocks noRot="1" noChangeAspect="1" noMove="1" noResize="1" noEditPoints="1" noAdjustHandles="1" noChangeArrowheads="1" noChangeShapeType="1" noTextEdit="1"/>
              </p:cNvSpPr>
              <p:nvPr/>
            </p:nvSpPr>
            <p:spPr>
              <a:xfrm>
                <a:off x="488035" y="1368968"/>
                <a:ext cx="11494692" cy="4380558"/>
              </a:xfrm>
              <a:prstGeom prst="rect">
                <a:avLst/>
              </a:prstGeom>
              <a:blipFill>
                <a:blip r:embed="rId5"/>
                <a:stretch>
                  <a:fillRect l="-552" t="-1159" r="-331"/>
                </a:stretch>
              </a:blipFill>
            </p:spPr>
            <p:txBody>
              <a:bodyPr/>
              <a:lstStyle/>
              <a:p>
                <a:r>
                  <a:rPr lang="en-US">
                    <a:noFill/>
                  </a:rPr>
                  <a:t> </a:t>
                </a:r>
              </a:p>
            </p:txBody>
          </p:sp>
        </mc:Fallback>
      </mc:AlternateContent>
      <p:sp>
        <p:nvSpPr>
          <p:cNvPr id="10" name="Google Shape;278;g104476d1465_1_17">
            <a:extLst>
              <a:ext uri="{FF2B5EF4-FFF2-40B4-BE49-F238E27FC236}">
                <a16:creationId xmlns:a16="http://schemas.microsoft.com/office/drawing/2014/main" id="{69767437-9B0B-9D43-A596-1373A90D9FE8}"/>
              </a:ext>
            </a:extLst>
          </p:cNvPr>
          <p:cNvSpPr/>
          <p:nvPr/>
        </p:nvSpPr>
        <p:spPr>
          <a:xfrm>
            <a:off x="0" y="0"/>
            <a:ext cx="223200" cy="6866100"/>
          </a:xfrm>
          <a:prstGeom prst="rect">
            <a:avLst/>
          </a:prstGeom>
          <a:solidFill>
            <a:srgbClr val="F79647"/>
          </a:solidFill>
          <a:ln w="9525" cap="flat" cmpd="sng">
            <a:solidFill>
              <a:srgbClr val="F79647"/>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1304</TotalTime>
  <Words>1009</Words>
  <Application>Microsoft Office PowerPoint</Application>
  <PresentationFormat>Widescreen</PresentationFormat>
  <Paragraphs>207</Paragraphs>
  <Slides>24</Slides>
  <Notes>24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Verdana</vt:lpstr>
      <vt:lpstr>Century Gothic</vt:lpstr>
      <vt:lpstr>Calibri</vt:lpstr>
      <vt:lpstr>Arial Black</vt:lpstr>
      <vt:lpstr>Cambria Math</vt:lpstr>
      <vt:lpstr>Arial</vt:lpstr>
      <vt:lpstr>1_Office Theme</vt:lpstr>
      <vt:lpstr>6th Grade Math  Unit 2, Lesson 4  Rewriting Sums Using the Distributive Property  Volume 1, pg. 63  </vt:lpstr>
      <vt:lpstr>Benchmark</vt:lpstr>
      <vt:lpstr>PowerPoint Presentation</vt:lpstr>
      <vt:lpstr>PowerPoint Presentation</vt:lpstr>
      <vt:lpstr>Warm-Up</vt:lpstr>
      <vt:lpstr>PowerPoint Presentation</vt:lpstr>
      <vt:lpstr>PowerPoint Presentation</vt:lpstr>
      <vt:lpstr>Collaboration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PowerPoint Presentation</vt:lpstr>
      <vt:lpstr>Collaboration</vt:lpstr>
      <vt:lpstr>PowerPoint Presentation</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vaanmx</cp:lastModifiedBy>
  <cp:revision>22</cp:revision>
  <dcterms:created xsi:type="dcterms:W3CDTF">2015-03-17T18:51:18Z</dcterms:created>
  <dcterms:modified xsi:type="dcterms:W3CDTF">2022-06-04T23:14:47Z</dcterms:modified>
</cp:coreProperties>
</file>