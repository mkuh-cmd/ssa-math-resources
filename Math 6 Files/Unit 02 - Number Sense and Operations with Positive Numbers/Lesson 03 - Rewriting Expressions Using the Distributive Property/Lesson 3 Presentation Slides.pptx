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326" r:id="rId11"/>
    <p:sldId id="327" r:id="rId12"/>
    <p:sldId id="328" r:id="rId13"/>
    <p:sldId id="289" r:id="rId14"/>
    <p:sldId id="290" r:id="rId15"/>
    <p:sldId id="308" r:id="rId16"/>
    <p:sldId id="329" r:id="rId17"/>
    <p:sldId id="331" r:id="rId18"/>
    <p:sldId id="323" r:id="rId19"/>
    <p:sldId id="324" r:id="rId20"/>
    <p:sldId id="325" r:id="rId21"/>
    <p:sldId id="302" r:id="rId22"/>
    <p:sldId id="303" r:id="rId23"/>
    <p:sldId id="309" r:id="rId24"/>
    <p:sldId id="330" r:id="rId25"/>
    <p:sldId id="306" r:id="rId26"/>
    <p:sldId id="307" r:id="rId27"/>
  </p:sldIdLst>
  <p:sldSz cx="12192000" cy="6858000"/>
  <p:notesSz cx="6858000" cy="9144000"/>
  <p:embeddedFontLst>
    <p:embeddedFont>
      <p:font typeface="Arial Black" panose="020B0A04020102020204" pitchFamily="34" charset="0"/>
      <p:regular r:id="rId29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34" autoAdjust="0"/>
    <p:restoredTop sz="94694"/>
  </p:normalViewPr>
  <p:slideViewPr>
    <p:cSldViewPr snapToGrid="0">
      <p:cViewPr varScale="1">
        <p:scale>
          <a:sx n="73" d="100"/>
          <a:sy n="73" d="100"/>
        </p:scale>
        <p:origin x="77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785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1338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9495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4376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7232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29949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0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Rewriting Expressions Using the Distributive Property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435885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383899" y="103868"/>
            <a:ext cx="1060127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21" y="2199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380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64199" y="1321975"/>
            <a:ext cx="11168571" cy="467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MA.6.NSO.3.2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the sum of two composite whole numbers having a common factor, as a common factor multiplied by the sum of two whole numbers.</a:t>
            </a:r>
            <a:endParaRPr lang="en-US" sz="3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36" y="3178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82056" y="151439"/>
            <a:ext cx="104813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784321" y="648839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605847" y="1598122"/>
            <a:ext cx="10812474" cy="4599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72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04918" y="40368"/>
            <a:ext cx="104060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670" y="2218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740780" y="642714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5670" y="1486985"/>
            <a:ext cx="11005906" cy="484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I 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</a:rPr>
              <a:t>can use the distributive property to generate equivalent numeric expressions.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387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9823" y="-8225"/>
            <a:ext cx="106502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2.3.1 Warm-Up: How Many Ways?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759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78432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457185" y="1222739"/>
                <a:ext cx="11506215" cy="3356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Verdana" panose="020B0604030504040204" pitchFamily="34" charset="0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Without using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factor, determine different ways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written as a product of three factors. Find at least three different expressions.</a:t>
                </a:r>
              </a:p>
              <a:p>
                <a:pPr marL="342900" indent="-342900">
                  <a:lnSpc>
                    <a:spcPct val="107000"/>
                  </a:lnSpc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Verdana" panose="020B0604030504040204" pitchFamily="34" charset="0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share the different ways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expressed as a product of three factors. Add any new expressions shared to your list above and discuss similarities and differences between the expressions you and your partner determined.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85" y="1222739"/>
                <a:ext cx="11506215" cy="3356368"/>
              </a:xfrm>
              <a:prstGeom prst="rect">
                <a:avLst/>
              </a:prstGeom>
              <a:blipFill>
                <a:blip r:embed="rId5"/>
                <a:stretch>
                  <a:fillRect l="-662" t="-1509" b="-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7732"/>
            <a:ext cx="563850" cy="6583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2428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98621" y="-8225"/>
            <a:ext cx="105212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2.3.2 Exploration: 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The Distributive Property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923" y="119471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489923" y="1498655"/>
                <a:ext cx="11429934" cy="3306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local grocery store manager is trying to determine how many soda cans she will need to make a new display. The specifications require a total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rows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cans in each row.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295275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295275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determine the number of cans needed, she multiplies the number of rows by the number of cans in each row. </a:t>
                </a:r>
              </a:p>
              <a:p>
                <a:pPr>
                  <a:lnSpc>
                    <a:spcPct val="107000"/>
                  </a:lnSpc>
                  <a:tabLst>
                    <a:tab pos="295275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  <a:tabLst>
                    <a:tab pos="295275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7 × 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Show your work.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  <a:tabLst>
                    <a:tab pos="2952750" algn="l"/>
                  </a:tabLst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23" y="1498655"/>
                <a:ext cx="11429934" cy="3306483"/>
              </a:xfrm>
              <a:prstGeom prst="rect">
                <a:avLst/>
              </a:prstGeom>
              <a:blipFill>
                <a:blip r:embed="rId5"/>
                <a:stretch>
                  <a:fillRect l="-555" t="-1533" r="-9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4790" y="6207732"/>
            <a:ext cx="563850" cy="6583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03097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31022" y="457134"/>
            <a:ext cx="11006075" cy="1001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work with two other students.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 startAt="2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 startAt="2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FBF7AB-3799-450B-82F6-C32CA34AC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274756"/>
              </p:ext>
            </p:extLst>
          </p:nvPr>
        </p:nvGraphicFramePr>
        <p:xfrm>
          <a:off x="1927893" y="1294368"/>
          <a:ext cx="8212332" cy="4913364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651609">
                  <a:extLst>
                    <a:ext uri="{9D8B030D-6E8A-4147-A177-3AD203B41FA5}">
                      <a16:colId xmlns:a16="http://schemas.microsoft.com/office/drawing/2014/main" val="3970161205"/>
                    </a:ext>
                  </a:extLst>
                </a:gridCol>
                <a:gridCol w="1677264">
                  <a:extLst>
                    <a:ext uri="{9D8B030D-6E8A-4147-A177-3AD203B41FA5}">
                      <a16:colId xmlns:a16="http://schemas.microsoft.com/office/drawing/2014/main" val="1701088709"/>
                    </a:ext>
                  </a:extLst>
                </a:gridCol>
                <a:gridCol w="3883459">
                  <a:extLst>
                    <a:ext uri="{9D8B030D-6E8A-4147-A177-3AD203B41FA5}">
                      <a16:colId xmlns:a16="http://schemas.microsoft.com/office/drawing/2014/main" val="2914644813"/>
                    </a:ext>
                  </a:extLst>
                </a:gridCol>
              </a:tblGrid>
              <a:tr h="2249436">
                <a:tc>
                  <a:txBody>
                    <a:bodyPr/>
                    <a:lstStyle/>
                    <a:p>
                      <a:pPr marL="97790" marR="0" indent="-1143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Name</a:t>
                      </a:r>
                    </a:p>
                  </a:txBody>
                  <a:tcPr marL="66093" marR="6609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Did you get the same answer?</a:t>
                      </a:r>
                    </a:p>
                  </a:txBody>
                  <a:tcPr marL="66093" marR="6609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Did you use a similar method?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If not, summarize their method below.</a:t>
                      </a:r>
                    </a:p>
                  </a:txBody>
                  <a:tcPr marL="66093" marR="6609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949721"/>
                  </a:ext>
                </a:extLst>
              </a:tr>
              <a:tr h="1331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6093" marR="6609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6093" marR="6609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6093" marR="6609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2949"/>
                  </a:ext>
                </a:extLst>
              </a:tr>
              <a:tr h="13319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6093" marR="6609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6093" marR="6609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6093" marR="6609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4639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625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87829" y="374088"/>
            <a:ext cx="10646228" cy="5512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products.</a:t>
            </a: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What is the sum of the two products?</a:t>
            </a:r>
          </a:p>
          <a:p>
            <a:pPr>
              <a:lnSpc>
                <a:spcPct val="107000"/>
              </a:lnSpc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231775" algn="l"/>
              </a:tabLs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lphaLcPeriod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lphaLcParenR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lphaLcParenR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F291C1C-FE8B-4D22-97B1-2526CB8B3D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020383"/>
                  </p:ext>
                </p:extLst>
              </p:nvPr>
            </p:nvGraphicFramePr>
            <p:xfrm>
              <a:off x="2133601" y="1406636"/>
              <a:ext cx="7365999" cy="2022364"/>
            </p:xfrm>
            <a:graphic>
              <a:graphicData uri="http://schemas.openxmlformats.org/drawingml/2006/table">
                <a:tbl>
                  <a:tblPr bandRow="1"/>
                  <a:tblGrid>
                    <a:gridCol w="969210">
                      <a:extLst>
                        <a:ext uri="{9D8B030D-6E8A-4147-A177-3AD203B41FA5}">
                          <a16:colId xmlns:a16="http://schemas.microsoft.com/office/drawing/2014/main" val="1220955329"/>
                        </a:ext>
                      </a:extLst>
                    </a:gridCol>
                    <a:gridCol w="1938421">
                      <a:extLst>
                        <a:ext uri="{9D8B030D-6E8A-4147-A177-3AD203B41FA5}">
                          <a16:colId xmlns:a16="http://schemas.microsoft.com/office/drawing/2014/main" val="3477923796"/>
                        </a:ext>
                      </a:extLst>
                    </a:gridCol>
                    <a:gridCol w="1550737">
                      <a:extLst>
                        <a:ext uri="{9D8B030D-6E8A-4147-A177-3AD203B41FA5}">
                          <a16:colId xmlns:a16="http://schemas.microsoft.com/office/drawing/2014/main" val="2680304370"/>
                        </a:ext>
                      </a:extLst>
                    </a:gridCol>
                    <a:gridCol w="1938421">
                      <a:extLst>
                        <a:ext uri="{9D8B030D-6E8A-4147-A177-3AD203B41FA5}">
                          <a16:colId xmlns:a16="http://schemas.microsoft.com/office/drawing/2014/main" val="3752955023"/>
                        </a:ext>
                      </a:extLst>
                    </a:gridCol>
                    <a:gridCol w="969210">
                      <a:extLst>
                        <a:ext uri="{9D8B030D-6E8A-4147-A177-3AD203B41FA5}">
                          <a16:colId xmlns:a16="http://schemas.microsoft.com/office/drawing/2014/main" val="2235516381"/>
                        </a:ext>
                      </a:extLst>
                    </a:gridCol>
                  </a:tblGrid>
                  <a:tr h="460255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× 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𝟐𝟎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 × 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64026"/>
                      </a:ext>
                    </a:extLst>
                  </a:tr>
                  <a:tr h="1562109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71675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F291C1C-FE8B-4D22-97B1-2526CB8B3D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020383"/>
                  </p:ext>
                </p:extLst>
              </p:nvPr>
            </p:nvGraphicFramePr>
            <p:xfrm>
              <a:off x="2133601" y="1406636"/>
              <a:ext cx="7365999" cy="2022364"/>
            </p:xfrm>
            <a:graphic>
              <a:graphicData uri="http://schemas.openxmlformats.org/drawingml/2006/table">
                <a:tbl>
                  <a:tblPr bandRow="1"/>
                  <a:tblGrid>
                    <a:gridCol w="969210">
                      <a:extLst>
                        <a:ext uri="{9D8B030D-6E8A-4147-A177-3AD203B41FA5}">
                          <a16:colId xmlns:a16="http://schemas.microsoft.com/office/drawing/2014/main" val="1220955329"/>
                        </a:ext>
                      </a:extLst>
                    </a:gridCol>
                    <a:gridCol w="1938421">
                      <a:extLst>
                        <a:ext uri="{9D8B030D-6E8A-4147-A177-3AD203B41FA5}">
                          <a16:colId xmlns:a16="http://schemas.microsoft.com/office/drawing/2014/main" val="3477923796"/>
                        </a:ext>
                      </a:extLst>
                    </a:gridCol>
                    <a:gridCol w="1550737">
                      <a:extLst>
                        <a:ext uri="{9D8B030D-6E8A-4147-A177-3AD203B41FA5}">
                          <a16:colId xmlns:a16="http://schemas.microsoft.com/office/drawing/2014/main" val="2680304370"/>
                        </a:ext>
                      </a:extLst>
                    </a:gridCol>
                    <a:gridCol w="1938421">
                      <a:extLst>
                        <a:ext uri="{9D8B030D-6E8A-4147-A177-3AD203B41FA5}">
                          <a16:colId xmlns:a16="http://schemas.microsoft.com/office/drawing/2014/main" val="3752955023"/>
                        </a:ext>
                      </a:extLst>
                    </a:gridCol>
                    <a:gridCol w="969210">
                      <a:extLst>
                        <a:ext uri="{9D8B030D-6E8A-4147-A177-3AD203B41FA5}">
                          <a16:colId xmlns:a16="http://schemas.microsoft.com/office/drawing/2014/main" val="2235516381"/>
                        </a:ext>
                      </a:extLst>
                    </a:gridCol>
                  </a:tblGrid>
                  <a:tr h="460255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673" t="-2778" r="-230065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9412" t="-2778" r="-50327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64026"/>
                      </a:ext>
                    </a:extLst>
                  </a:tr>
                  <a:tr h="1562109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71675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026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32534" y="639255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832108" y="418545"/>
                <a:ext cx="8327136" cy="5974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does the sum of those two products compare to the product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7 × 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                                                                         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131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sum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7 × 20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+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7 × 3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               the  </a:t>
                </a:r>
              </a:p>
              <a:p>
                <a:pPr marL="341313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131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product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7 × 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41313"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Area models can be helpful when finding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products of numbers. The figure to the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right can be used to model the product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7 × 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also be decomposed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(20 + 3)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find the same product.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this area model, both parts of the area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model can be added to find the total area.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arenR"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08" y="418545"/>
                <a:ext cx="8327136" cy="5974008"/>
              </a:xfrm>
              <a:prstGeom prst="rect">
                <a:avLst/>
              </a:prstGeom>
              <a:blipFill>
                <a:blip r:embed="rId4"/>
                <a:stretch>
                  <a:fillRect l="-761" t="-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ounded Rectangle 242">
            <a:extLst>
              <a:ext uri="{FF2B5EF4-FFF2-40B4-BE49-F238E27FC236}">
                <a16:creationId xmlns:a16="http://schemas.microsoft.com/office/drawing/2014/main" id="{4B530CE2-8BA4-4865-99A5-4EC6D3647E8F}"/>
              </a:ext>
            </a:extLst>
          </p:cNvPr>
          <p:cNvSpPr/>
          <p:nvPr/>
        </p:nvSpPr>
        <p:spPr>
          <a:xfrm>
            <a:off x="5186177" y="1004074"/>
            <a:ext cx="2390960" cy="1746994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lnSpc>
                <a:spcPct val="107000"/>
              </a:lnSpc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less than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equal to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greater than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A5A939-874B-49B6-9EA0-9EF32680E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480" y="2993688"/>
            <a:ext cx="1949429" cy="320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05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29893" y="63292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745022" y="559145"/>
                <a:ext cx="10618871" cy="1923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can decomposing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20+3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make multiplying easier?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 indent="-452438">
                  <a:lnSpc>
                    <a:spcPct val="107000"/>
                  </a:lnSpc>
                  <a:buFont typeface="+mj-lt"/>
                  <a:buAutoNum type="alphaLcPeriod"/>
                  <a:tabLst>
                    <a:tab pos="231775" algn="l"/>
                  </a:tabLst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arenR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arenR"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22" y="559145"/>
                <a:ext cx="10618871" cy="1923283"/>
              </a:xfrm>
              <a:prstGeom prst="rect">
                <a:avLst/>
              </a:prstGeom>
              <a:blipFill>
                <a:blip r:embed="rId4"/>
                <a:stretch>
                  <a:fillRect l="-59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3954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2861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3148" y="93927"/>
            <a:ext cx="1056316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2.3.3 Guided Instruction: The Distributive Property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14552" y="638736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2060448" y="1395166"/>
                <a:ext cx="8327136" cy="4838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product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7 × 23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can be rewritten using the distributive property by decomposing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into two parts and multiplying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both parts.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7 × 23 = 7(20 + 3)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7(20 + 3) = (7 ∙ 20) + (7 ∙ 3)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448" y="1395166"/>
                <a:ext cx="8327136" cy="4838119"/>
              </a:xfrm>
              <a:prstGeom prst="rect">
                <a:avLst/>
              </a:prstGeom>
              <a:blipFill>
                <a:blip r:embed="rId5"/>
                <a:stretch>
                  <a:fillRect l="-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C88CEB-B711-4A83-BF1A-0412D603FDF9}"/>
              </a:ext>
            </a:extLst>
          </p:cNvPr>
          <p:cNvGrpSpPr/>
          <p:nvPr/>
        </p:nvGrpSpPr>
        <p:grpSpPr>
          <a:xfrm>
            <a:off x="2373702" y="1446985"/>
            <a:ext cx="7757850" cy="2191188"/>
            <a:chOff x="2031300" y="3373599"/>
            <a:chExt cx="6629400" cy="212496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D1FACE6-389D-4037-9F24-C029BF8E6E32}"/>
                </a:ext>
              </a:extLst>
            </p:cNvPr>
            <p:cNvGrpSpPr/>
            <p:nvPr/>
          </p:nvGrpSpPr>
          <p:grpSpPr>
            <a:xfrm>
              <a:off x="2031300" y="3373599"/>
              <a:ext cx="6629400" cy="2124969"/>
              <a:chOff x="2031300" y="3373599"/>
              <a:chExt cx="6629400" cy="212496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F14748-09E7-438B-97DD-22554E54FC42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latin typeface="Calibri" panose="020F0502020204030204" pitchFamily="34" charset="0"/>
                    <a:ea typeface="Calibri" panose="020F0502020204030204" pitchFamily="34" charset="0"/>
                  </a:rPr>
                  <a:t> 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99A8465-892B-4E59-B7A2-31472C529C4E}"/>
                  </a:ext>
                </a:extLst>
              </p:cNvPr>
              <p:cNvGrpSpPr/>
              <p:nvPr/>
            </p:nvGrpSpPr>
            <p:grpSpPr>
              <a:xfrm>
                <a:off x="2031300" y="3373599"/>
                <a:ext cx="6629400" cy="2124969"/>
                <a:chOff x="0" y="-1"/>
                <a:chExt cx="6629400" cy="2124969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BE794AE-9E92-417B-9109-32B00D15680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>
                      <a:latin typeface="Calibri" panose="020F0502020204030204" pitchFamily="34" charset="0"/>
                      <a:ea typeface="Calibri" panose="020F0502020204030204" pitchFamily="34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ounded Rectangle 13">
                      <a:extLst>
                        <a:ext uri="{FF2B5EF4-FFF2-40B4-BE49-F238E27FC236}">
                          <a16:creationId xmlns:a16="http://schemas.microsoft.com/office/drawing/2014/main" id="{4A4BF0EB-495B-4F74-9B25-F3092A1DC9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-1"/>
                      <a:ext cx="6629400" cy="2124969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</a:t>
                      </a: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distributive property of multiplication over addition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a property that applies to all rational numbers. The distributive property “distributes” a factor to all terms within a set of parentheses.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6858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×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6C993D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rgbClr val="6C993D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𝑏</m:t>
                                </m:r>
                                <m:r>
                                  <a:rPr lang="en-US" sz="2000" i="1">
                                    <a:solidFill>
                                      <a:srgbClr val="6C993D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solidFill>
                                      <a:srgbClr val="6C993D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6C993D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rgbClr val="6C993D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  <m:r>
                                  <a:rPr lang="en-US" sz="2000" i="1">
                                    <a:solidFill>
                                      <a:srgbClr val="6C993D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×</m:t>
                                </m:r>
                                <m:r>
                                  <a:rPr lang="en-US" sz="2000" i="1">
                                    <a:solidFill>
                                      <a:srgbClr val="6C993D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+(</m:t>
                            </m:r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×</m:t>
                            </m:r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𝑐</m:t>
                            </m:r>
                            <m:r>
                              <a:rPr lang="en-US" sz="2000" i="1">
                                <a:solidFill>
                                  <a:srgbClr val="6C993D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6858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6C993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ounded Rectangle 13">
                      <a:extLst>
                        <a:ext uri="{FF2B5EF4-FFF2-40B4-BE49-F238E27FC236}">
                          <a16:creationId xmlns:a16="http://schemas.microsoft.com/office/drawing/2014/main" id="{4A4BF0EB-495B-4F74-9B25-F3092A1DC90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-1"/>
                      <a:ext cx="6629400" cy="2124969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pic>
        <p:nvPicPr>
          <p:cNvPr id="19" name="Shape 7" descr="Icon&#10;&#10;Description automatically generated">
            <a:extLst>
              <a:ext uri="{FF2B5EF4-FFF2-40B4-BE49-F238E27FC236}">
                <a16:creationId xmlns:a16="http://schemas.microsoft.com/office/drawing/2014/main" id="{866C08E1-A043-4B9D-923D-2A0F34819689}"/>
              </a:ext>
            </a:extLst>
          </p:cNvPr>
          <p:cNvPicPr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3957" y="1596493"/>
            <a:ext cx="539750" cy="5391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42568" y="636915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604546" y="311760"/>
                <a:ext cx="10335597" cy="5897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two other ways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7 × 23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could be rewritten using the distributive property?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7 × 23 = ____ ( ____ +____ 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7(23) = ____ ( ____+____ 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Which of the expressions is the easiest to evaluate using mental math?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distributive property can also be used to rewrite the sum of two numbers that share a common factor.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46" y="311760"/>
                <a:ext cx="10335597" cy="5897064"/>
              </a:xfrm>
              <a:prstGeom prst="rect">
                <a:avLst/>
              </a:prstGeom>
              <a:blipFill>
                <a:blip r:embed="rId4"/>
                <a:stretch>
                  <a:fillRect l="-613" t="-429" b="-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248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2786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607023" y="288745"/>
                <a:ext cx="11106005" cy="5401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Elease rewrote the sum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27 + 18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3(9 + 6)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Are these two expressions equivalent?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 indent="-573088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Cambria Math" panose="02040503050406030204" pitchFamily="18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27 + 18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3(9 + 6)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     equivalent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1963" indent="-231775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expressions because when evaluated they have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682625" indent="-341313">
                  <a:lnSpc>
                    <a:spcPct val="107000"/>
                  </a:lnSpc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common factor of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27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did Elease use to rewrite the expression?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23" y="288745"/>
                <a:ext cx="11106005" cy="5401479"/>
              </a:xfrm>
              <a:prstGeom prst="rect">
                <a:avLst/>
              </a:prstGeom>
              <a:blipFill>
                <a:blip r:embed="rId4"/>
                <a:stretch>
                  <a:fillRect l="-686" t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ounded Rectangle 241">
            <a:extLst>
              <a:ext uri="{FF2B5EF4-FFF2-40B4-BE49-F238E27FC236}">
                <a16:creationId xmlns:a16="http://schemas.microsoft.com/office/drawing/2014/main" id="{900916EC-87D5-4075-907A-F5EA491847EB}"/>
              </a:ext>
            </a:extLst>
          </p:cNvPr>
          <p:cNvSpPr/>
          <p:nvPr/>
        </p:nvSpPr>
        <p:spPr>
          <a:xfrm>
            <a:off x="4160495" y="1008120"/>
            <a:ext cx="1699637" cy="1099503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lnSpc>
                <a:spcPct val="107000"/>
              </a:lnSpc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 not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Rounded Rectangle 234">
            <a:extLst>
              <a:ext uri="{FF2B5EF4-FFF2-40B4-BE49-F238E27FC236}">
                <a16:creationId xmlns:a16="http://schemas.microsoft.com/office/drawing/2014/main" id="{0C34FB7C-2A09-4B4B-9A42-24D742405504}"/>
              </a:ext>
            </a:extLst>
          </p:cNvPr>
          <p:cNvSpPr/>
          <p:nvPr/>
        </p:nvSpPr>
        <p:spPr>
          <a:xfrm>
            <a:off x="2780587" y="2875074"/>
            <a:ext cx="2718850" cy="1099503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same value.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different values.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791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494" y="636915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8086" y="471030"/>
                <a:ext cx="11160064" cy="1449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27 + 18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a different common factor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Use the area model to support your thinking.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86" y="471030"/>
                <a:ext cx="11160064" cy="1449628"/>
              </a:xfrm>
              <a:prstGeom prst="rect">
                <a:avLst/>
              </a:prstGeom>
              <a:blipFill>
                <a:blip r:embed="rId4"/>
                <a:stretch>
                  <a:fillRect l="-568" t="-2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041EA-E445-420A-8984-E088D5188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686" y="1750144"/>
            <a:ext cx="6015437" cy="355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9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56660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13772" y="0"/>
            <a:ext cx="1069630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2.3.4 Guided Practice: Rewriting Expressions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13970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533400" y="1582776"/>
            <a:ext cx="101073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rewriting each multiplication expression using the distributive property, modeling with area, and finding the product.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CAC8A-96C7-4103-A3D1-B2FE2168C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754" y="2524051"/>
            <a:ext cx="6752492" cy="400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443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0521" y="646888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381000" y="549765"/>
            <a:ext cx="11430000" cy="733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rewriting each addition expression using the distributive property, modeling with area, and finding the sum.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D44765-9190-469C-ADA7-13D7BBC8A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7455" y="1789604"/>
            <a:ext cx="8137090" cy="327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729893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98621" y="321582"/>
            <a:ext cx="1043415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2.3.5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788" y="169182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82991" y="64632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424543" y="1386025"/>
            <a:ext cx="11527971" cy="733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expression, generate an equivalent numeric expression using the distributive property and then find the value.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134A47CD-5DBB-654A-843E-9182A1B8FB7F}"/>
              </a:ext>
            </a:extLst>
          </p:cNvPr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F9C5C43-059C-4232-A4BF-BA792F7DA0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7082265"/>
                  </p:ext>
                </p:extLst>
              </p:nvPr>
            </p:nvGraphicFramePr>
            <p:xfrm>
              <a:off x="3036277" y="2588846"/>
              <a:ext cx="6119446" cy="381042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748739">
                      <a:extLst>
                        <a:ext uri="{9D8B030D-6E8A-4147-A177-3AD203B41FA5}">
                          <a16:colId xmlns:a16="http://schemas.microsoft.com/office/drawing/2014/main" val="4006943012"/>
                        </a:ext>
                      </a:extLst>
                    </a:gridCol>
                    <a:gridCol w="3349279">
                      <a:extLst>
                        <a:ext uri="{9D8B030D-6E8A-4147-A177-3AD203B41FA5}">
                          <a16:colId xmlns:a16="http://schemas.microsoft.com/office/drawing/2014/main" val="2293806431"/>
                        </a:ext>
                      </a:extLst>
                    </a:gridCol>
                    <a:gridCol w="1021428">
                      <a:extLst>
                        <a:ext uri="{9D8B030D-6E8A-4147-A177-3AD203B41FA5}">
                          <a16:colId xmlns:a16="http://schemas.microsoft.com/office/drawing/2014/main" val="2965598876"/>
                        </a:ext>
                      </a:extLst>
                    </a:gridCol>
                  </a:tblGrid>
                  <a:tr h="1226774"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Equivalent Expression Using Distributive Property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Value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2792291"/>
                      </a:ext>
                    </a:extLst>
                  </a:tr>
                  <a:tr h="516730"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 × 16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48790132"/>
                      </a:ext>
                    </a:extLst>
                  </a:tr>
                  <a:tr h="516730"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 ∙ 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68886697"/>
                      </a:ext>
                    </a:extLst>
                  </a:tr>
                  <a:tr h="516730"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39 × 4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0082671"/>
                      </a:ext>
                    </a:extLst>
                  </a:tr>
                  <a:tr h="516730"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48 + 72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4935960"/>
                      </a:ext>
                    </a:extLst>
                  </a:tr>
                  <a:tr h="516730"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21 + 98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21618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F9C5C43-059C-4232-A4BF-BA792F7DA0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7082265"/>
                  </p:ext>
                </p:extLst>
              </p:nvPr>
            </p:nvGraphicFramePr>
            <p:xfrm>
              <a:off x="3036277" y="2588846"/>
              <a:ext cx="6119446" cy="381042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748739">
                      <a:extLst>
                        <a:ext uri="{9D8B030D-6E8A-4147-A177-3AD203B41FA5}">
                          <a16:colId xmlns:a16="http://schemas.microsoft.com/office/drawing/2014/main" val="4006943012"/>
                        </a:ext>
                      </a:extLst>
                    </a:gridCol>
                    <a:gridCol w="3349279">
                      <a:extLst>
                        <a:ext uri="{9D8B030D-6E8A-4147-A177-3AD203B41FA5}">
                          <a16:colId xmlns:a16="http://schemas.microsoft.com/office/drawing/2014/main" val="2293806431"/>
                        </a:ext>
                      </a:extLst>
                    </a:gridCol>
                    <a:gridCol w="1021428">
                      <a:extLst>
                        <a:ext uri="{9D8B030D-6E8A-4147-A177-3AD203B41FA5}">
                          <a16:colId xmlns:a16="http://schemas.microsoft.com/office/drawing/2014/main" val="2965598876"/>
                        </a:ext>
                      </a:extLst>
                    </a:gridCol>
                  </a:tblGrid>
                  <a:tr h="1226774"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Equivalent Expression Using Distributive Property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Value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2792291"/>
                      </a:ext>
                    </a:extLst>
                  </a:tr>
                  <a:tr h="5167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5" t="-236585" r="-250725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48790132"/>
                      </a:ext>
                    </a:extLst>
                  </a:tr>
                  <a:tr h="5167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5" t="-336585" r="-25072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68886697"/>
                      </a:ext>
                    </a:extLst>
                  </a:tr>
                  <a:tr h="5167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5" t="-447500" r="-250725" b="-2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0082671"/>
                      </a:ext>
                    </a:extLst>
                  </a:tr>
                  <a:tr h="5167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5" t="-534146" r="-250725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4935960"/>
                      </a:ext>
                    </a:extLst>
                  </a:tr>
                  <a:tr h="5167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5" t="-634146" r="-250725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" marR="0" indent="-3048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21618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6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9348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344771" y="289615"/>
                <a:ext cx="11673057" cy="2148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Bailey rewrote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36 + 81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distributive property, but he made an error.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 indent="-573088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Evaluate his work and determine his mistake.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71" y="289615"/>
                <a:ext cx="11673057" cy="2148280"/>
              </a:xfrm>
              <a:prstGeom prst="rect">
                <a:avLst/>
              </a:prstGeom>
              <a:blipFill>
                <a:blip r:embed="rId4"/>
                <a:stretch>
                  <a:fillRect l="-543" t="-2367" r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252468F9-493F-EA4F-B8D7-90F86F60BDF9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5BF6EA-09B5-4F7D-B5FB-41288D462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8910935"/>
                  </p:ext>
                </p:extLst>
              </p:nvPr>
            </p:nvGraphicFramePr>
            <p:xfrm>
              <a:off x="2629320" y="2437895"/>
              <a:ext cx="6164161" cy="2264876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836479">
                      <a:extLst>
                        <a:ext uri="{9D8B030D-6E8A-4147-A177-3AD203B41FA5}">
                          <a16:colId xmlns:a16="http://schemas.microsoft.com/office/drawing/2014/main" val="3949353171"/>
                        </a:ext>
                      </a:extLst>
                    </a:gridCol>
                    <a:gridCol w="1712847">
                      <a:extLst>
                        <a:ext uri="{9D8B030D-6E8A-4147-A177-3AD203B41FA5}">
                          <a16:colId xmlns:a16="http://schemas.microsoft.com/office/drawing/2014/main" val="1069456090"/>
                        </a:ext>
                      </a:extLst>
                    </a:gridCol>
                    <a:gridCol w="2614835">
                      <a:extLst>
                        <a:ext uri="{9D8B030D-6E8A-4147-A177-3AD203B41FA5}">
                          <a16:colId xmlns:a16="http://schemas.microsoft.com/office/drawing/2014/main" val="3294825491"/>
                        </a:ext>
                      </a:extLst>
                    </a:gridCol>
                  </a:tblGrid>
                  <a:tr h="101983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Given Expression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Bailey’s Expression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Corrected Expression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8848288"/>
                      </a:ext>
                    </a:extLst>
                  </a:tr>
                  <a:tr h="12450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36 + 81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9(4 + 81)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6495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65BF6EA-09B5-4F7D-B5FB-41288D462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8910935"/>
                  </p:ext>
                </p:extLst>
              </p:nvPr>
            </p:nvGraphicFramePr>
            <p:xfrm>
              <a:off x="2629320" y="2437895"/>
              <a:ext cx="6164161" cy="2264876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836479">
                      <a:extLst>
                        <a:ext uri="{9D8B030D-6E8A-4147-A177-3AD203B41FA5}">
                          <a16:colId xmlns:a16="http://schemas.microsoft.com/office/drawing/2014/main" val="3949353171"/>
                        </a:ext>
                      </a:extLst>
                    </a:gridCol>
                    <a:gridCol w="1712847">
                      <a:extLst>
                        <a:ext uri="{9D8B030D-6E8A-4147-A177-3AD203B41FA5}">
                          <a16:colId xmlns:a16="http://schemas.microsoft.com/office/drawing/2014/main" val="1069456090"/>
                        </a:ext>
                      </a:extLst>
                    </a:gridCol>
                    <a:gridCol w="2614835">
                      <a:extLst>
                        <a:ext uri="{9D8B030D-6E8A-4147-A177-3AD203B41FA5}">
                          <a16:colId xmlns:a16="http://schemas.microsoft.com/office/drawing/2014/main" val="3294825491"/>
                        </a:ext>
                      </a:extLst>
                    </a:gridCol>
                  </a:tblGrid>
                  <a:tr h="101983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Given Expression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Bailey’s Expression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Corrected Expression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8848288"/>
                      </a:ext>
                    </a:extLst>
                  </a:tr>
                  <a:tr h="1245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0" t="-81818" r="-235862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8148" t="-81818" r="-153333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6495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795207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501832" y="643402"/>
            <a:ext cx="114082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Help Bailey understand and learn from his mistakes. Write a brief note to Bailey explaining what his mistake was and how he can learn from it.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252468F9-493F-EA4F-B8D7-90F86F60BDF9}"/>
              </a:ext>
            </a:extLst>
          </p:cNvPr>
          <p:cNvSpPr/>
          <p:nvPr/>
        </p:nvSpPr>
        <p:spPr>
          <a:xfrm>
            <a:off x="-3255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8" name="Rounded Rectangle 237">
            <a:extLst>
              <a:ext uri="{FF2B5EF4-FFF2-40B4-BE49-F238E27FC236}">
                <a16:creationId xmlns:a16="http://schemas.microsoft.com/office/drawing/2014/main" id="{06DB8ED0-87B3-494E-8357-470AB7CFD157}"/>
              </a:ext>
            </a:extLst>
          </p:cNvPr>
          <p:cNvSpPr/>
          <p:nvPr/>
        </p:nvSpPr>
        <p:spPr>
          <a:xfrm>
            <a:off x="2327869" y="2460576"/>
            <a:ext cx="2507825" cy="3110706"/>
          </a:xfrm>
          <a:prstGeom prst="roundRect">
            <a:avLst>
              <a:gd name="adj" fmla="val 16667"/>
            </a:avLst>
          </a:prstGeom>
          <a:solidFill>
            <a:srgbClr val="D8E2F3"/>
          </a:solidFill>
          <a:ln w="952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000"/>
              </a:lnSpc>
            </a:pPr>
            <a:endParaRPr lang="en-US" sz="1800" b="1" dirty="0">
              <a:solidFill>
                <a:srgbClr val="DB2B2A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20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2000" b="1" dirty="0">
                <a:solidFill>
                  <a:srgbClr val="F2575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20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20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20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20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20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20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</p:txBody>
      </p:sp>
      <p:sp>
        <p:nvSpPr>
          <p:cNvPr id="9" name="Rounded Rectangle 236">
            <a:extLst>
              <a:ext uri="{FF2B5EF4-FFF2-40B4-BE49-F238E27FC236}">
                <a16:creationId xmlns:a16="http://schemas.microsoft.com/office/drawing/2014/main" id="{94F6E1B6-B0E0-467E-BF0D-363A5A35CC89}"/>
              </a:ext>
            </a:extLst>
          </p:cNvPr>
          <p:cNvSpPr/>
          <p:nvPr/>
        </p:nvSpPr>
        <p:spPr>
          <a:xfrm>
            <a:off x="5930669" y="1824083"/>
            <a:ext cx="3736340" cy="451612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10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29102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77343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719007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13148" y="0"/>
            <a:ext cx="106556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2.3.6 Wrap-Up: Growth Mindset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12563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617724" y="1440453"/>
            <a:ext cx="11233626" cy="439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below based on your learning today.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 I am still unsure about _______________________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fill this gap, I plan to ____________________________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_______________________________________________.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1142</Words>
  <Application>Microsoft Office PowerPoint</Application>
  <PresentationFormat>Widescreen</PresentationFormat>
  <Paragraphs>260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Verdana</vt:lpstr>
      <vt:lpstr>Century Gothic</vt:lpstr>
      <vt:lpstr>Calibri</vt:lpstr>
      <vt:lpstr>Arial Black</vt:lpstr>
      <vt:lpstr>Cambria Math</vt:lpstr>
      <vt:lpstr>Courier New</vt:lpstr>
      <vt:lpstr>Arial</vt:lpstr>
      <vt:lpstr>1_Office Theme</vt:lpstr>
      <vt:lpstr>6th Grade Math  Unit 2, Lesson 3  Rewriting Expressions Using the Distributive Property  Volume 1, pg. 58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22</cp:revision>
  <dcterms:created xsi:type="dcterms:W3CDTF">2015-03-17T18:51:18Z</dcterms:created>
  <dcterms:modified xsi:type="dcterms:W3CDTF">2022-06-04T23:14:27Z</dcterms:modified>
</cp:coreProperties>
</file>