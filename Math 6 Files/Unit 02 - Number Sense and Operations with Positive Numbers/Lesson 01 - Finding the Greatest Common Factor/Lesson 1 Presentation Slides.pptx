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288" r:id="rId8"/>
    <p:sldId id="289" r:id="rId9"/>
    <p:sldId id="290" r:id="rId10"/>
    <p:sldId id="308" r:id="rId11"/>
    <p:sldId id="338" r:id="rId12"/>
    <p:sldId id="339" r:id="rId13"/>
    <p:sldId id="340" r:id="rId14"/>
    <p:sldId id="341" r:id="rId15"/>
    <p:sldId id="342" r:id="rId16"/>
    <p:sldId id="320" r:id="rId17"/>
    <p:sldId id="321" r:id="rId18"/>
    <p:sldId id="322" r:id="rId19"/>
    <p:sldId id="332" r:id="rId20"/>
    <p:sldId id="333" r:id="rId21"/>
    <p:sldId id="334" r:id="rId22"/>
    <p:sldId id="335" r:id="rId23"/>
    <p:sldId id="336" r:id="rId24"/>
    <p:sldId id="302" r:id="rId25"/>
    <p:sldId id="303" r:id="rId26"/>
    <p:sldId id="309" r:id="rId27"/>
    <p:sldId id="306" r:id="rId28"/>
    <p:sldId id="307" r:id="rId29"/>
  </p:sldIdLst>
  <p:sldSz cx="12192000" cy="6858000"/>
  <p:notesSz cx="6858000" cy="9144000"/>
  <p:embeddedFontLst>
    <p:embeddedFont>
      <p:font typeface="Arial Black" panose="020B0A04020102020204" pitchFamily="34" charset="0"/>
      <p:bold r:id="rId31"/>
    </p:embeddedFont>
    <p:embeddedFont>
      <p:font typeface="Calibri" panose="020F0502020204030204" pitchFamily="34" charset="0"/>
      <p:regular r:id="rId32"/>
      <p:bold r:id="rId33"/>
      <p:italic r:id="rId34"/>
      <p:boldItalic r:id="rId35"/>
    </p:embeddedFont>
    <p:embeddedFont>
      <p:font typeface="Cambria" panose="02040503050406030204" pitchFamily="18" charset="0"/>
      <p:regular r:id="rId36"/>
      <p:bold r:id="rId37"/>
      <p:italic r:id="rId38"/>
      <p:boldItalic r:id="rId39"/>
    </p:embeddedFont>
    <p:embeddedFont>
      <p:font typeface="Cambria Math" panose="02040503050406030204" pitchFamily="18" charset="0"/>
      <p:regular r:id="rId40"/>
    </p:embeddedFont>
    <p:embeddedFont>
      <p:font typeface="Century Gothic" panose="020B0502020202020204" pitchFamily="3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7"/>
    <a:srgbClr val="FCBD1E"/>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885143-E800-4334-A112-4FEA2A92FE07}" v="128" dt="2021-12-22T22:42:15.635"/>
  </p1510:revLst>
</p1510:revInfo>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46" autoAdjust="0"/>
    <p:restoredTop sz="94707" autoAdjust="0"/>
  </p:normalViewPr>
  <p:slideViewPr>
    <p:cSldViewPr snapToGrid="0">
      <p:cViewPr varScale="1">
        <p:scale>
          <a:sx n="83" d="100"/>
          <a:sy n="83" d="100"/>
        </p:scale>
        <p:origin x="581" y="62"/>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902387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244294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773458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034683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948262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239287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1571575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1520134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8432225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6497867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3167887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54045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5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50.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2,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Finding the Greatest Common Factor</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47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265723"/>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
        <p:nvSpPr>
          <p:cNvPr id="279" name="Google Shape;279;g104476d1465_1_17"/>
          <p:cNvSpPr txBox="1">
            <a:spLocks noGrp="1"/>
          </p:cNvSpPr>
          <p:nvPr>
            <p:ph type="title" idx="4294967295"/>
          </p:nvPr>
        </p:nvSpPr>
        <p:spPr>
          <a:xfrm>
            <a:off x="1383900" y="-51450"/>
            <a:ext cx="10636864"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83480" y="134516"/>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380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383866" y="1136083"/>
            <a:ext cx="11424268" cy="494548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a:sym typeface="Verdana"/>
              </a:rPr>
              <a:t>MA.6.NSO.3.1</a:t>
            </a:r>
          </a:p>
          <a:p>
            <a:pPr marL="357188" indent="0">
              <a:buNone/>
            </a:pPr>
            <a:r>
              <a:rPr lang="en-US" sz="2400" dirty="0">
                <a:latin typeface="Verdana" panose="020B0604030504040204" pitchFamily="34" charset="0"/>
                <a:ea typeface="Verdana" panose="020B0604030504040204" pitchFamily="34" charset="0"/>
                <a:cs typeface="Verdana" panose="020B0604030504040204" pitchFamily="34" charset="0"/>
              </a:rPr>
              <a:t>Given a mathematical or real-world context, find the greatest common factor and least common multiple of two whole numbers.</a:t>
            </a:r>
            <a:endParaRPr lang="en-US" sz="2400" dirty="0">
              <a:latin typeface="Verdana" panose="020B0604030504040204" pitchFamily="34" charset="0"/>
              <a:ea typeface="Verdana" panose="020B0604030504040204" pitchFamily="34" charset="0"/>
              <a:cs typeface="Cambria" panose="02040503050406030204" pitchFamily="18" charset="0"/>
            </a:endParaRPr>
          </a:p>
          <a:p>
            <a:pPr indent="0">
              <a:buNone/>
            </a:pPr>
            <a:endParaRPr lang="en-US" sz="24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514303" y="1296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00597" y="11022"/>
            <a:ext cx="1065099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39890" y="64338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47</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514303" y="1233298"/>
            <a:ext cx="11455090" cy="50707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77726" y="44163"/>
            <a:ext cx="1064303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73047" y="237667"/>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773680" y="648349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47</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73046" y="1317475"/>
            <a:ext cx="11414154" cy="483351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30238" indent="-623888">
              <a:buClr>
                <a:srgbClr val="434343"/>
              </a:buClr>
              <a:buSzPts val="3500"/>
              <a:buFont typeface="Verdana"/>
              <a:buChar char="❏"/>
            </a:pPr>
            <a:r>
              <a:rPr lang="en-US" sz="2400" dirty="0">
                <a:solidFill>
                  <a:schemeClr val="tx1"/>
                </a:solidFill>
                <a:latin typeface="Verdana" panose="020B0604030504040204" pitchFamily="34" charset="0"/>
                <a:ea typeface="Verdana" panose="020B0604030504040204" pitchFamily="34" charset="0"/>
                <a:cs typeface="Verdana"/>
                <a:sym typeface="Verdana"/>
              </a:rPr>
              <a:t>I can </a:t>
            </a:r>
            <a:r>
              <a:rPr lang="en-US" sz="2400" dirty="0">
                <a:latin typeface="Verdana" panose="020B0604030504040204" pitchFamily="34" charset="0"/>
                <a:ea typeface="Verdana" panose="020B0604030504040204" pitchFamily="34" charset="0"/>
              </a:rPr>
              <a:t>find the greatest common factor (GCF) in mathematical and real-world contexts.</a:t>
            </a:r>
          </a:p>
          <a:p>
            <a:pPr marL="630238" indent="-623888">
              <a:buClr>
                <a:srgbClr val="434343"/>
              </a:buClr>
              <a:buSzPts val="3500"/>
              <a:buFont typeface="Verdana"/>
              <a:buChar char="❏"/>
            </a:pPr>
            <a:endParaRPr lang="en-US" sz="2400" dirty="0">
              <a:solidFill>
                <a:schemeClr val="tx1"/>
              </a:solidFill>
              <a:latin typeface="Verdana" panose="020B0604030504040204" pitchFamily="34" charset="0"/>
              <a:ea typeface="Verdana" panose="020B0604030504040204" pitchFamily="34" charset="0"/>
              <a:cs typeface="Verdana"/>
              <a:sym typeface="Verdana"/>
            </a:endParaRPr>
          </a:p>
          <a:p>
            <a:pPr marL="630238" indent="-623888">
              <a:buClr>
                <a:srgbClr val="434343"/>
              </a:buClr>
              <a:buSzPts val="3500"/>
              <a:buFont typeface="Verdana"/>
              <a:buChar char="❏"/>
            </a:pPr>
            <a:r>
              <a:rPr lang="en-US" sz="2400" dirty="0">
                <a:solidFill>
                  <a:schemeClr val="tx1"/>
                </a:solidFill>
                <a:latin typeface="Verdana" panose="020B0604030504040204" pitchFamily="34" charset="0"/>
                <a:ea typeface="Verdana" panose="020B0604030504040204" pitchFamily="34" charset="0"/>
                <a:cs typeface="Verdana"/>
                <a:sym typeface="Verdana"/>
              </a:rPr>
              <a:t>I can </a:t>
            </a:r>
            <a:r>
              <a:rPr lang="en-US" sz="2400" dirty="0">
                <a:latin typeface="Verdana" panose="020B0604030504040204" pitchFamily="34" charset="0"/>
                <a:ea typeface="Verdana" panose="020B0604030504040204" pitchFamily="34" charset="0"/>
              </a:rPr>
              <a:t>rewrite fractions in simplest form using the greatest common factor (GCF) of the numerator and denominator. </a:t>
            </a:r>
          </a:p>
          <a:p>
            <a:pPr marL="6350">
              <a:buClr>
                <a:srgbClr val="434343"/>
              </a:buClr>
              <a:buSzPts val="3500"/>
            </a:pPr>
            <a:endParaRPr lang="en-US" sz="2400" dirty="0">
              <a:solidFill>
                <a:schemeClr val="tx1"/>
              </a:solidFill>
              <a:latin typeface="Verdana"/>
              <a:ea typeface="Verdana"/>
              <a:cs typeface="Verdana"/>
              <a:sym typeface="Verdana"/>
            </a:endParaRP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77368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66463" y="60325"/>
            <a:ext cx="1043854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2.1.1 Warm-Up: Where Do Math Symbols Come From?</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508828" y="11568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47</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08827" y="1418540"/>
                <a:ext cx="11419469" cy="452431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Math is full of symbols that include lines, dots, arrows, English letters, Greek letters, and more. It can look and sometimes feel like its own language, and in many ways it is! </a:t>
                </a:r>
                <a:endParaRPr lang="en-US" sz="2400" dirty="0">
                  <a:latin typeface="Verdana" panose="020B0604030504040204" pitchFamily="34" charset="0"/>
                  <a:ea typeface="Verdana" panose="020B0604030504040204" pitchFamily="34" charset="0"/>
                  <a:cs typeface="Cambria" panose="02040503050406030204" pitchFamily="18"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Cambria" panose="02040503050406030204" pitchFamily="18" charset="0"/>
                </a:endParaRPr>
              </a:p>
              <a:p>
                <a:r>
                  <a:rPr lang="en-US" sz="2400" dirty="0">
                    <a:latin typeface="Verdana" panose="020B0604030504040204" pitchFamily="34" charset="0"/>
                    <a:ea typeface="Verdana" panose="020B0604030504040204" pitchFamily="34" charset="0"/>
                    <a:cs typeface="Verdana" panose="020B0604030504040204" pitchFamily="34" charset="0"/>
                  </a:rPr>
                  <a:t>Robert </a:t>
                </a:r>
                <a:r>
                  <a:rPr lang="en-US" sz="2400" dirty="0" err="1">
                    <a:latin typeface="Verdana" panose="020B0604030504040204" pitchFamily="34" charset="0"/>
                    <a:ea typeface="Verdana" panose="020B0604030504040204" pitchFamily="34" charset="0"/>
                    <a:cs typeface="Verdana" panose="020B0604030504040204" pitchFamily="34" charset="0"/>
                  </a:rPr>
                  <a:t>Recorde</a:t>
                </a:r>
                <a:r>
                  <a:rPr lang="en-US" sz="2400" dirty="0">
                    <a:latin typeface="Verdana" panose="020B0604030504040204" pitchFamily="34" charset="0"/>
                    <a:ea typeface="Verdana" panose="020B0604030504040204" pitchFamily="34" charset="0"/>
                    <a:cs typeface="Verdana" panose="020B0604030504040204" pitchFamily="34" charset="0"/>
                  </a:rPr>
                  <a:t> invented the equals sign,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because he was tired of writing “is equal to” over and over again. </a:t>
                </a:r>
                <a:endParaRPr lang="en-US" sz="2400" dirty="0">
                  <a:latin typeface="Verdana" panose="020B0604030504040204" pitchFamily="34" charset="0"/>
                  <a:ea typeface="Verdana" panose="020B0604030504040204" pitchFamily="34" charset="0"/>
                  <a:cs typeface="Cambria" panose="02040503050406030204" pitchFamily="18"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Cambria" panose="02040503050406030204" pitchFamily="18"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is a word or phrase that you use a symbol to represent instead of writing it out each time?</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Cambria" panose="020405030504060302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Cambria" panose="02040503050406030204" pitchFamily="18" charset="0"/>
                </a:endParaRPr>
              </a:p>
              <a:p>
                <a:endParaRPr lang="en-US" sz="2400" dirty="0">
                  <a:latin typeface="Verdana" panose="020B0604030504040204" pitchFamily="34" charset="0"/>
                  <a:ea typeface="Verdana" panose="020B0604030504040204" pitchFamily="34" charset="0"/>
                  <a:cs typeface="Cambria" panose="02040503050406030204" pitchFamily="18" charset="0"/>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08827" y="1418540"/>
                <a:ext cx="11419469" cy="4524315"/>
              </a:xfrm>
              <a:prstGeom prst="rect">
                <a:avLst/>
              </a:prstGeom>
              <a:blipFill>
                <a:blip r:embed="rId5"/>
                <a:stretch>
                  <a:fillRect l="-777" t="-838" r="-333"/>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733F64CC-F62E-3D45-B066-56DBFBB732F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26" name="Picture 2">
            <a:extLst>
              <a:ext uri="{FF2B5EF4-FFF2-40B4-BE49-F238E27FC236}">
                <a16:creationId xmlns:a16="http://schemas.microsoft.com/office/drawing/2014/main" id="{790380E1-9ECA-72DE-3935-542B66277D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40478" y="60325"/>
            <a:ext cx="1364528" cy="1364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63406"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47</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59109" y="479298"/>
            <a:ext cx="11348639" cy="384720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Cambria" panose="02040503050406030204" pitchFamily="18" charset="0"/>
              </a:rPr>
              <a:t>W</a:t>
            </a:r>
            <a:r>
              <a:rPr lang="en-US" sz="2400" dirty="0">
                <a:latin typeface="Verdana" panose="020B0604030504040204" pitchFamily="34" charset="0"/>
                <a:ea typeface="Verdana" panose="020B0604030504040204" pitchFamily="34" charset="0"/>
                <a:cs typeface="Verdana" panose="020B0604030504040204" pitchFamily="34" charset="0"/>
              </a:rPr>
              <a:t>hy did early mathematicians decide to use symbols to express operations, phrases, and mathematical ideas? </a:t>
            </a:r>
            <a:endParaRPr lang="en-US" sz="2400" dirty="0">
              <a:latin typeface="Verdana" panose="020B0604030504040204" pitchFamily="34" charset="0"/>
              <a:ea typeface="Verdana" panose="020B0604030504040204" pitchFamily="34" charset="0"/>
              <a:cs typeface="Cambria" panose="02040503050406030204" pitchFamily="18"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Why are math symbols still helpful to us today?</a:t>
            </a:r>
            <a:endParaRPr lang="en-US" sz="2400" dirty="0">
              <a:latin typeface="Verdana" panose="020B0604030504040204" pitchFamily="34" charset="0"/>
              <a:ea typeface="Verdana" panose="020B0604030504040204" pitchFamily="34" charset="0"/>
              <a:cs typeface="Cambria" panose="02040503050406030204" pitchFamily="18" charset="0"/>
            </a:endParaRPr>
          </a:p>
          <a:p>
            <a:pPr marL="457200" indent="-457200">
              <a:buFont typeface="+mj-lt"/>
              <a:buAutoNum type="arabicPeriod" startAt="2"/>
            </a:pPr>
            <a:endParaRPr lang="en-US" sz="28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9B2481D9-8B52-C443-ABEF-765D2549936D}"/>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940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28617"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48</a:t>
            </a: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58869" y="60325"/>
            <a:ext cx="1042704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2.1.2 Guided Instruction: Greatest Common Factor</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508828" y="111011"/>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6970" y="651226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48</a:t>
            </a:r>
          </a:p>
        </p:txBody>
      </p:sp>
      <p:sp>
        <p:nvSpPr>
          <p:cNvPr id="13" name="TextBox 12">
            <a:extLst>
              <a:ext uri="{FF2B5EF4-FFF2-40B4-BE49-F238E27FC236}">
                <a16:creationId xmlns:a16="http://schemas.microsoft.com/office/drawing/2014/main" id="{C01B13E8-EC8D-E443-A329-C5E3593DD13A}"/>
              </a:ext>
            </a:extLst>
          </p:cNvPr>
          <p:cNvSpPr txBox="1"/>
          <p:nvPr/>
        </p:nvSpPr>
        <p:spPr>
          <a:xfrm>
            <a:off x="508828" y="1663682"/>
            <a:ext cx="11022142" cy="193899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Marcus and Tonya are making care packages for soldiers overseas. Inside of each package, they will include popular snacks and handwritten letters. They have </a:t>
            </a:r>
            <a:r>
              <a:rPr lang="en-US" sz="2400" dirty="0">
                <a:latin typeface="Cambria Math" panose="02040503050406030204" pitchFamily="18" charset="0"/>
                <a:ea typeface="Cambria Math" panose="02040503050406030204" pitchFamily="18" charset="0"/>
                <a:cs typeface="Cambria Math" panose="02040503050406030204" pitchFamily="18" charset="0"/>
              </a:rPr>
              <a:t>16</a:t>
            </a:r>
            <a:r>
              <a:rPr lang="en-US" sz="2400" dirty="0">
                <a:latin typeface="Verdana" panose="020B0604030504040204" pitchFamily="34" charset="0"/>
                <a:ea typeface="Verdana" panose="020B0604030504040204" pitchFamily="34" charset="0"/>
                <a:cs typeface="Verdana" panose="020B0604030504040204" pitchFamily="34" charset="0"/>
              </a:rPr>
              <a:t> snacks and </a:t>
            </a:r>
            <a:r>
              <a:rPr lang="en-US" sz="2400" dirty="0">
                <a:latin typeface="Cambria Math" panose="02040503050406030204" pitchFamily="18" charset="0"/>
                <a:ea typeface="Cambria Math" panose="02040503050406030204" pitchFamily="18" charset="0"/>
                <a:cs typeface="Cambria Math" panose="02040503050406030204" pitchFamily="18" charset="0"/>
              </a:rPr>
              <a:t>12</a:t>
            </a:r>
            <a:r>
              <a:rPr lang="en-US" sz="2400" dirty="0">
                <a:latin typeface="Verdana" panose="020B0604030504040204" pitchFamily="34" charset="0"/>
                <a:ea typeface="Verdana" panose="020B0604030504040204" pitchFamily="34" charset="0"/>
                <a:cs typeface="Cambria Math" panose="02040503050406030204" pitchFamily="18" charset="0"/>
              </a:rPr>
              <a:t> </a:t>
            </a:r>
            <a:r>
              <a:rPr lang="en-US" sz="2400" dirty="0">
                <a:latin typeface="Verdana" panose="020B0604030504040204" pitchFamily="34" charset="0"/>
                <a:ea typeface="Verdana" panose="020B0604030504040204" pitchFamily="34" charset="0"/>
                <a:cs typeface="Verdana" panose="020B0604030504040204" pitchFamily="34" charset="0"/>
              </a:rPr>
              <a:t>letters to put in the care packages. They want each care package to be equally sized, containing both snacks and letters, with nothing left over.</a:t>
            </a:r>
          </a:p>
        </p:txBody>
      </p:sp>
      <p:sp>
        <p:nvSpPr>
          <p:cNvPr id="10" name="Google Shape;278;g104476d1465_1_17">
            <a:extLst>
              <a:ext uri="{FF2B5EF4-FFF2-40B4-BE49-F238E27FC236}">
                <a16:creationId xmlns:a16="http://schemas.microsoft.com/office/drawing/2014/main" id="{2260A17C-F127-D647-A05B-7BB351158843}"/>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4328"/>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42568"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48</a:t>
            </a:r>
          </a:p>
        </p:txBody>
      </p:sp>
      <p:sp>
        <p:nvSpPr>
          <p:cNvPr id="5" name="TextBox 4">
            <a:extLst>
              <a:ext uri="{FF2B5EF4-FFF2-40B4-BE49-F238E27FC236}">
                <a16:creationId xmlns:a16="http://schemas.microsoft.com/office/drawing/2014/main" id="{8AE5E1E0-A54D-BE42-84B5-F917038ADE99}"/>
              </a:ext>
            </a:extLst>
          </p:cNvPr>
          <p:cNvSpPr txBox="1"/>
          <p:nvPr/>
        </p:nvSpPr>
        <p:spPr>
          <a:xfrm>
            <a:off x="111600" y="299019"/>
            <a:ext cx="8327136" cy="1077218"/>
          </a:xfrm>
          <a:prstGeom prst="rect">
            <a:avLst/>
          </a:prstGeom>
          <a:noFill/>
        </p:spPr>
        <p:txBody>
          <a:bodyPr wrap="square" rtlCol="0">
            <a:spAutoFit/>
          </a:bodyPr>
          <a:lstStyle/>
          <a:p>
            <a:pPr marL="914400" indent="-452438">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tables below to show the possible combinations when making each care package.</a:t>
            </a:r>
          </a:p>
          <a:p>
            <a:pPr marL="914400" indent="-452438">
              <a:buFont typeface="+mj-lt"/>
              <a:buAutoNum type="alphaLcPeriod"/>
            </a:pPr>
            <a:endParaRPr lang="en-US" sz="2400" dirty="0">
              <a:latin typeface="Cambria" panose="02040503050406030204" pitchFamily="18" charset="0"/>
              <a:ea typeface="Cambria" panose="02040503050406030204" pitchFamily="18" charset="0"/>
              <a:cs typeface="Cambria" panose="02040503050406030204" pitchFamily="18" charset="0"/>
            </a:endParaRPr>
          </a:p>
        </p:txBody>
      </p:sp>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14DF586-C38C-4B8C-A085-841F16D6CA74}"/>
                  </a:ext>
                </a:extLst>
              </p:cNvPr>
              <p:cNvGraphicFramePr>
                <a:graphicFrameLocks noGrp="1"/>
              </p:cNvGraphicFramePr>
              <p:nvPr>
                <p:extLst>
                  <p:ext uri="{D42A27DB-BD31-4B8C-83A1-F6EECF244321}">
                    <p14:modId xmlns:p14="http://schemas.microsoft.com/office/powerpoint/2010/main" val="368814262"/>
                  </p:ext>
                </p:extLst>
              </p:nvPr>
            </p:nvGraphicFramePr>
            <p:xfrm>
              <a:off x="2256387" y="1185707"/>
              <a:ext cx="7557503" cy="5166079"/>
            </p:xfrm>
            <a:graphic>
              <a:graphicData uri="http://schemas.openxmlformats.org/drawingml/2006/table">
                <a:tbl>
                  <a:tblPr bandRow="1">
                    <a:tableStyleId>{A91F0D33-8C57-4600-99A7-42BC86742BE1}</a:tableStyleId>
                  </a:tblPr>
                  <a:tblGrid>
                    <a:gridCol w="1617547">
                      <a:extLst>
                        <a:ext uri="{9D8B030D-6E8A-4147-A177-3AD203B41FA5}">
                          <a16:colId xmlns:a16="http://schemas.microsoft.com/office/drawing/2014/main" val="3012550384"/>
                        </a:ext>
                      </a:extLst>
                    </a:gridCol>
                    <a:gridCol w="1895730">
                      <a:extLst>
                        <a:ext uri="{9D8B030D-6E8A-4147-A177-3AD203B41FA5}">
                          <a16:colId xmlns:a16="http://schemas.microsoft.com/office/drawing/2014/main" val="91917088"/>
                        </a:ext>
                      </a:extLst>
                    </a:gridCol>
                    <a:gridCol w="457589">
                      <a:extLst>
                        <a:ext uri="{9D8B030D-6E8A-4147-A177-3AD203B41FA5}">
                          <a16:colId xmlns:a16="http://schemas.microsoft.com/office/drawing/2014/main" val="1697935846"/>
                        </a:ext>
                      </a:extLst>
                    </a:gridCol>
                    <a:gridCol w="1775885">
                      <a:extLst>
                        <a:ext uri="{9D8B030D-6E8A-4147-A177-3AD203B41FA5}">
                          <a16:colId xmlns:a16="http://schemas.microsoft.com/office/drawing/2014/main" val="820629844"/>
                        </a:ext>
                      </a:extLst>
                    </a:gridCol>
                    <a:gridCol w="1810752">
                      <a:extLst>
                        <a:ext uri="{9D8B030D-6E8A-4147-A177-3AD203B41FA5}">
                          <a16:colId xmlns:a16="http://schemas.microsoft.com/office/drawing/2014/main" val="1638550980"/>
                        </a:ext>
                      </a:extLst>
                    </a:gridCol>
                  </a:tblGrid>
                  <a:tr h="703449">
                    <a:tc gridSpan="2">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Distributing Snacks Equally</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rowSpan="8">
                      <a:txBody>
                        <a:bodyPr/>
                        <a:lstStyle/>
                        <a:p>
                          <a:pPr marL="0" marR="0" algn="ctr">
                            <a:spcBef>
                              <a:spcPts val="0"/>
                            </a:spcBef>
                            <a:spcAft>
                              <a:spcPts val="1000"/>
                            </a:spcAft>
                          </a:pPr>
                          <a:r>
                            <a:rPr lang="en-US" sz="2000" b="1" dirty="0">
                              <a:effectLst/>
                              <a:latin typeface="Cambria Math" panose="02040503050406030204" pitchFamily="18" charset="0"/>
                              <a:ea typeface="Cambria Math" panose="02040503050406030204" pitchFamily="18" charset="0"/>
                            </a:rPr>
                            <a:t> </a:t>
                          </a:r>
                          <a:endParaRPr lang="en-US" sz="2000" b="1"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Distributing Letters Equally</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4291102313"/>
                      </a:ext>
                    </a:extLst>
                  </a:tr>
                  <a:tr h="1420048">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Number of Care Packages</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Number of Snacks per Package</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vMerge="1">
                      <a:txBody>
                        <a:bodyPr/>
                        <a:lstStyle/>
                        <a:p>
                          <a:endParaRPr lang="en-US"/>
                        </a:p>
                      </a:txBody>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Number of Care Packages</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Number of Letters per Package</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60706520"/>
                      </a:ext>
                    </a:extLst>
                  </a:tr>
                  <a:tr h="489785">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2808586"/>
                      </a:ext>
                    </a:extLst>
                  </a:tr>
                  <a:tr h="502277">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2356004"/>
                      </a:ext>
                    </a:extLst>
                  </a:tr>
                  <a:tr h="502277">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oMath>
                            </m:oMathPara>
                          </a14:m>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096721"/>
                      </a:ext>
                    </a:extLst>
                  </a:tr>
                  <a:tr h="516081">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905461"/>
                      </a:ext>
                    </a:extLst>
                  </a:tr>
                  <a:tr h="516081">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8181736"/>
                      </a:ext>
                    </a:extLst>
                  </a:tr>
                  <a:tr h="516081">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0116268"/>
                      </a:ext>
                    </a:extLst>
                  </a:tr>
                </a:tbl>
              </a:graphicData>
            </a:graphic>
          </p:graphicFrame>
        </mc:Choice>
        <mc:Fallback xmlns="">
          <p:graphicFrame>
            <p:nvGraphicFramePr>
              <p:cNvPr id="2" name="Table 1">
                <a:extLst>
                  <a:ext uri="{FF2B5EF4-FFF2-40B4-BE49-F238E27FC236}">
                    <a16:creationId xmlns:a16="http://schemas.microsoft.com/office/drawing/2014/main" id="{E14DF586-C38C-4B8C-A085-841F16D6CA74}"/>
                  </a:ext>
                </a:extLst>
              </p:cNvPr>
              <p:cNvGraphicFramePr>
                <a:graphicFrameLocks noGrp="1"/>
              </p:cNvGraphicFramePr>
              <p:nvPr>
                <p:extLst>
                  <p:ext uri="{D42A27DB-BD31-4B8C-83A1-F6EECF244321}">
                    <p14:modId xmlns:p14="http://schemas.microsoft.com/office/powerpoint/2010/main" val="368814262"/>
                  </p:ext>
                </p:extLst>
              </p:nvPr>
            </p:nvGraphicFramePr>
            <p:xfrm>
              <a:off x="2256387" y="1185707"/>
              <a:ext cx="7557503" cy="5166079"/>
            </p:xfrm>
            <a:graphic>
              <a:graphicData uri="http://schemas.openxmlformats.org/drawingml/2006/table">
                <a:tbl>
                  <a:tblPr bandRow="1">
                    <a:tableStyleId>{A91F0D33-8C57-4600-99A7-42BC86742BE1}</a:tableStyleId>
                  </a:tblPr>
                  <a:tblGrid>
                    <a:gridCol w="1617547">
                      <a:extLst>
                        <a:ext uri="{9D8B030D-6E8A-4147-A177-3AD203B41FA5}">
                          <a16:colId xmlns:a16="http://schemas.microsoft.com/office/drawing/2014/main" val="3012550384"/>
                        </a:ext>
                      </a:extLst>
                    </a:gridCol>
                    <a:gridCol w="1895730">
                      <a:extLst>
                        <a:ext uri="{9D8B030D-6E8A-4147-A177-3AD203B41FA5}">
                          <a16:colId xmlns:a16="http://schemas.microsoft.com/office/drawing/2014/main" val="91917088"/>
                        </a:ext>
                      </a:extLst>
                    </a:gridCol>
                    <a:gridCol w="457589">
                      <a:extLst>
                        <a:ext uri="{9D8B030D-6E8A-4147-A177-3AD203B41FA5}">
                          <a16:colId xmlns:a16="http://schemas.microsoft.com/office/drawing/2014/main" val="1697935846"/>
                        </a:ext>
                      </a:extLst>
                    </a:gridCol>
                    <a:gridCol w="1775885">
                      <a:extLst>
                        <a:ext uri="{9D8B030D-6E8A-4147-A177-3AD203B41FA5}">
                          <a16:colId xmlns:a16="http://schemas.microsoft.com/office/drawing/2014/main" val="820629844"/>
                        </a:ext>
                      </a:extLst>
                    </a:gridCol>
                    <a:gridCol w="1810752">
                      <a:extLst>
                        <a:ext uri="{9D8B030D-6E8A-4147-A177-3AD203B41FA5}">
                          <a16:colId xmlns:a16="http://schemas.microsoft.com/office/drawing/2014/main" val="1638550980"/>
                        </a:ext>
                      </a:extLst>
                    </a:gridCol>
                  </a:tblGrid>
                  <a:tr h="703449">
                    <a:tc gridSpan="2">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Distributing Snacks Equally</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rowSpan="8">
                      <a:txBody>
                        <a:bodyPr/>
                        <a:lstStyle/>
                        <a:p>
                          <a:pPr marL="0" marR="0" algn="ctr">
                            <a:spcBef>
                              <a:spcPts val="0"/>
                            </a:spcBef>
                            <a:spcAft>
                              <a:spcPts val="1000"/>
                            </a:spcAft>
                          </a:pPr>
                          <a:r>
                            <a:rPr lang="en-US" sz="2000" b="1" dirty="0">
                              <a:effectLst/>
                              <a:latin typeface="Cambria Math" panose="02040503050406030204" pitchFamily="18" charset="0"/>
                              <a:ea typeface="Cambria Math" panose="02040503050406030204" pitchFamily="18" charset="0"/>
                            </a:rPr>
                            <a:t> </a:t>
                          </a:r>
                          <a:endParaRPr lang="en-US" sz="2000" b="1"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Distributing Letters Equally</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4291102313"/>
                      </a:ext>
                    </a:extLst>
                  </a:tr>
                  <a:tr h="1420048">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Number of Care Packages</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Number of Snacks per Package</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vMerge="1">
                      <a:txBody>
                        <a:bodyPr/>
                        <a:lstStyle/>
                        <a:p>
                          <a:endParaRPr lang="en-US"/>
                        </a:p>
                      </a:txBody>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Number of Care Packages</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rPr>
                            <a:t>Number of Letters per Package</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59805" marR="5980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60706520"/>
                      </a:ext>
                    </a:extLst>
                  </a:tr>
                  <a:tr h="489785">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450000" r="-366406" b="-534211"/>
                          </a:stretch>
                        </a:blipFill>
                      </a:tcPr>
                    </a:tc>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5906" t="-450000" r="-214765" b="-534211"/>
                          </a:stretch>
                        </a:blipFill>
                      </a:tcPr>
                    </a:tc>
                    <a:tc vMerge="1">
                      <a:txBody>
                        <a:bodyPr/>
                        <a:lstStyle/>
                        <a:p>
                          <a:endParaRPr lang="en-US"/>
                        </a:p>
                      </a:txBody>
                      <a:tcPr/>
                    </a:tc>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23571" t="-450000" r="-102857" b="-534211"/>
                          </a:stretch>
                        </a:blipFill>
                      </a:tcPr>
                    </a:tc>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6783" t="-450000" r="-699" b="-534211"/>
                          </a:stretch>
                        </a:blipFill>
                      </a:tcPr>
                    </a:tc>
                    <a:extLst>
                      <a:ext uri="{0D108BD9-81ED-4DB2-BD59-A6C34878D82A}">
                        <a16:rowId xmlns:a16="http://schemas.microsoft.com/office/drawing/2014/main" val="2292808586"/>
                      </a:ext>
                    </a:extLst>
                  </a:tr>
                  <a:tr h="502277">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522500" r="-366406" b="-407500"/>
                          </a:stretch>
                        </a:blipFill>
                      </a:tcPr>
                    </a:tc>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5906" t="-522500" r="-214765" b="-407500"/>
                          </a:stretch>
                        </a:blipFill>
                      </a:tcPr>
                    </a:tc>
                    <a:tc vMerge="1">
                      <a:txBody>
                        <a:bodyPr/>
                        <a:lstStyle/>
                        <a:p>
                          <a:endParaRPr lang="en-US"/>
                        </a:p>
                      </a:txBody>
                      <a:tcPr/>
                    </a:tc>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23571" t="-522500" r="-102857" b="-407500"/>
                          </a:stretch>
                        </a:blipFill>
                      </a:tcPr>
                    </a:tc>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6783" t="-522500" r="-699" b="-407500"/>
                          </a:stretch>
                        </a:blipFill>
                      </a:tcPr>
                    </a:tc>
                    <a:extLst>
                      <a:ext uri="{0D108BD9-81ED-4DB2-BD59-A6C34878D82A}">
                        <a16:rowId xmlns:a16="http://schemas.microsoft.com/office/drawing/2014/main" val="2622356004"/>
                      </a:ext>
                    </a:extLst>
                  </a:tr>
                  <a:tr h="502277">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622500" r="-366406" b="-307500"/>
                          </a:stretch>
                        </a:blipFill>
                      </a:tcPr>
                    </a:tc>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23571" t="-622500" r="-102857" b="-307500"/>
                          </a:stretch>
                        </a:blipFill>
                      </a:tcP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096721"/>
                      </a:ext>
                    </a:extLst>
                  </a:tr>
                  <a:tr h="516081">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6783" t="-722500" r="-699" b="-207500"/>
                          </a:stretch>
                        </a:blipFill>
                      </a:tcPr>
                    </a:tc>
                    <a:extLst>
                      <a:ext uri="{0D108BD9-81ED-4DB2-BD59-A6C34878D82A}">
                        <a16:rowId xmlns:a16="http://schemas.microsoft.com/office/drawing/2014/main" val="3277905461"/>
                      </a:ext>
                    </a:extLst>
                  </a:tr>
                  <a:tr h="516081">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5906" t="-802439" r="-214765" b="-102439"/>
                          </a:stretch>
                        </a:blipFill>
                      </a:tcPr>
                    </a:tc>
                    <a:tc vMerge="1">
                      <a:txBody>
                        <a:bodyPr/>
                        <a:lstStyle/>
                        <a:p>
                          <a:endParaRPr lang="en-US"/>
                        </a:p>
                      </a:txBody>
                      <a:tcPr/>
                    </a:tc>
                    <a:tc>
                      <a:txBody>
                        <a:bodyPr/>
                        <a:lstStyle/>
                        <a:p>
                          <a:pPr marL="0" marR="0" algn="ctr">
                            <a:spcBef>
                              <a:spcPts val="0"/>
                            </a:spcBef>
                            <a:spcAft>
                              <a:spcPts val="10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6783" t="-802439" r="-699" b="-102439"/>
                          </a:stretch>
                        </a:blipFill>
                      </a:tcPr>
                    </a:tc>
                    <a:extLst>
                      <a:ext uri="{0D108BD9-81ED-4DB2-BD59-A6C34878D82A}">
                        <a16:rowId xmlns:a16="http://schemas.microsoft.com/office/drawing/2014/main" val="1078181736"/>
                      </a:ext>
                    </a:extLst>
                  </a:tr>
                  <a:tr h="516081">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marR="0" algn="ctr">
                            <a:spcBef>
                              <a:spcPts val="0"/>
                            </a:spcBef>
                            <a:spcAft>
                              <a:spcPts val="10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6783" t="-902439" r="-699" b="-2439"/>
                          </a:stretch>
                        </a:blipFill>
                      </a:tcPr>
                    </a:tc>
                    <a:extLst>
                      <a:ext uri="{0D108BD9-81ED-4DB2-BD59-A6C34878D82A}">
                        <a16:rowId xmlns:a16="http://schemas.microsoft.com/office/drawing/2014/main" val="2780116268"/>
                      </a:ext>
                    </a:extLst>
                  </a:tr>
                </a:tbl>
              </a:graphicData>
            </a:graphic>
          </p:graphicFrame>
        </mc:Fallback>
      </mc:AlternateContent>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4922"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0450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48</a:t>
            </a:r>
          </a:p>
        </p:txBody>
      </p:sp>
      <p:sp>
        <p:nvSpPr>
          <p:cNvPr id="5" name="TextBox 4">
            <a:extLst>
              <a:ext uri="{FF2B5EF4-FFF2-40B4-BE49-F238E27FC236}">
                <a16:creationId xmlns:a16="http://schemas.microsoft.com/office/drawing/2014/main" id="{22347CCE-34A7-8044-BA67-B5895157AE55}"/>
              </a:ext>
            </a:extLst>
          </p:cNvPr>
          <p:cNvSpPr txBox="1"/>
          <p:nvPr/>
        </p:nvSpPr>
        <p:spPr>
          <a:xfrm>
            <a:off x="493159" y="616834"/>
            <a:ext cx="9417087" cy="4708981"/>
          </a:xfrm>
          <a:prstGeom prst="rect">
            <a:avLst/>
          </a:prstGeom>
          <a:noFill/>
        </p:spPr>
        <p:txBody>
          <a:bodyPr wrap="square" rtlCol="0">
            <a:spAutoFit/>
          </a:bodyPr>
          <a:lstStyle/>
          <a:p>
            <a:pPr marL="893763" indent="-441325">
              <a:buFont typeface="+mj-lt"/>
              <a:buAutoNum type="alphaLcPeriod" startAt="2"/>
              <a:tabLst>
                <a:tab pos="893763" algn="l"/>
              </a:tabLst>
            </a:pPr>
            <a:r>
              <a:rPr lang="en-US" sz="2000" dirty="0">
                <a:latin typeface="Verdana" panose="020B0604030504040204" pitchFamily="34" charset="0"/>
                <a:ea typeface="Verdana" panose="020B0604030504040204" pitchFamily="34" charset="0"/>
                <a:cs typeface="Verdana" panose="020B0604030504040204" pitchFamily="34" charset="0"/>
              </a:rPr>
              <a:t>What is the greatest number of care packages that can be created using </a:t>
            </a:r>
            <a:r>
              <a:rPr lang="en-US" sz="2000" b="1" dirty="0">
                <a:latin typeface="Verdana" panose="020B0604030504040204" pitchFamily="34" charset="0"/>
                <a:ea typeface="Verdana" panose="020B0604030504040204" pitchFamily="34" charset="0"/>
                <a:cs typeface="Verdana" panose="020B0604030504040204" pitchFamily="34" charset="0"/>
              </a:rPr>
              <a:t>only</a:t>
            </a:r>
            <a:r>
              <a:rPr lang="en-US" sz="2000" dirty="0">
                <a:latin typeface="Verdana" panose="020B0604030504040204" pitchFamily="34" charset="0"/>
                <a:ea typeface="Verdana" panose="020B0604030504040204" pitchFamily="34" charset="0"/>
                <a:cs typeface="Verdana" panose="020B0604030504040204" pitchFamily="34" charset="0"/>
              </a:rPr>
              <a:t> snacks?</a:t>
            </a:r>
          </a:p>
          <a:p>
            <a:pPr marL="893763" indent="-441325">
              <a:buFont typeface="+mj-lt"/>
              <a:buAutoNum type="alphaLcPeriod" startAt="2"/>
              <a:tabLst>
                <a:tab pos="893763"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3763" indent="-441325">
              <a:buFont typeface="+mj-lt"/>
              <a:buAutoNum type="alphaLcPeriod" startAt="2"/>
              <a:tabLst>
                <a:tab pos="893763"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3763" indent="-441325">
              <a:buFont typeface="+mj-lt"/>
              <a:buAutoNum type="alphaLcPeriod" startAt="2"/>
              <a:tabLst>
                <a:tab pos="893763"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3763" indent="-441325">
              <a:buFont typeface="+mj-lt"/>
              <a:buAutoNum type="alphaLcPeriod" startAt="2"/>
              <a:tabLst>
                <a:tab pos="893763"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3763" indent="-441325">
              <a:buFont typeface="+mj-lt"/>
              <a:buAutoNum type="alphaLcPeriod" startAt="2"/>
              <a:tabLst>
                <a:tab pos="893763" algn="l"/>
              </a:tabLst>
            </a:pPr>
            <a:r>
              <a:rPr lang="en-US" sz="2000" dirty="0">
                <a:latin typeface="Verdana" panose="020B0604030504040204" pitchFamily="34" charset="0"/>
                <a:ea typeface="Verdana" panose="020B0604030504040204" pitchFamily="34" charset="0"/>
                <a:cs typeface="Verdana" panose="020B0604030504040204" pitchFamily="34" charset="0"/>
              </a:rPr>
              <a:t>What is the greatest number of care packages that can be created using </a:t>
            </a:r>
            <a:r>
              <a:rPr lang="en-US" sz="2000" b="1" dirty="0">
                <a:latin typeface="Verdana" panose="020B0604030504040204" pitchFamily="34" charset="0"/>
                <a:ea typeface="Verdana" panose="020B0604030504040204" pitchFamily="34" charset="0"/>
                <a:cs typeface="Verdana" panose="020B0604030504040204" pitchFamily="34" charset="0"/>
              </a:rPr>
              <a:t>only</a:t>
            </a:r>
            <a:r>
              <a:rPr lang="en-US" sz="2000" dirty="0">
                <a:latin typeface="Verdana" panose="020B0604030504040204" pitchFamily="34" charset="0"/>
                <a:ea typeface="Verdana" panose="020B0604030504040204" pitchFamily="34" charset="0"/>
                <a:cs typeface="Verdana" panose="020B0604030504040204" pitchFamily="34" charset="0"/>
              </a:rPr>
              <a:t> letters?</a:t>
            </a:r>
          </a:p>
          <a:p>
            <a:pPr marL="893763" indent="-441325">
              <a:buFont typeface="+mj-lt"/>
              <a:buAutoNum type="alphaLcPeriod" startAt="2"/>
              <a:tabLst>
                <a:tab pos="893763"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3763" indent="-441325">
              <a:buFont typeface="+mj-lt"/>
              <a:buAutoNum type="alphaLcPeriod" startAt="2"/>
              <a:tabLst>
                <a:tab pos="893763"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3763" indent="-441325">
              <a:buFont typeface="+mj-lt"/>
              <a:buAutoNum type="alphaLcPeriod" startAt="2"/>
              <a:tabLst>
                <a:tab pos="893763"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3763" indent="-441325">
              <a:buFont typeface="+mj-lt"/>
              <a:buAutoNum type="alphaLcPeriod" startAt="2"/>
              <a:tabLst>
                <a:tab pos="893763"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3763" indent="-441325">
              <a:buFont typeface="+mj-lt"/>
              <a:buAutoNum type="alphaLcPeriod" startAt="2"/>
              <a:tabLst>
                <a:tab pos="893763" algn="l"/>
              </a:tabLst>
            </a:pPr>
            <a:r>
              <a:rPr lang="en-US" sz="2000" dirty="0">
                <a:latin typeface="Verdana" panose="020B0604030504040204" pitchFamily="34" charset="0"/>
                <a:ea typeface="Verdana" panose="020B0604030504040204" pitchFamily="34" charset="0"/>
                <a:cs typeface="Cambria" panose="02040503050406030204" pitchFamily="18" charset="0"/>
              </a:rPr>
              <a:t>W</a:t>
            </a:r>
            <a:r>
              <a:rPr lang="en-US" sz="2000" dirty="0">
                <a:latin typeface="Verdana" panose="020B0604030504040204" pitchFamily="34" charset="0"/>
                <a:ea typeface="Verdana" panose="020B0604030504040204" pitchFamily="34" charset="0"/>
                <a:cs typeface="Verdana" panose="020B0604030504040204" pitchFamily="34" charset="0"/>
              </a:rPr>
              <a:t>hat is the greatest number of care packages that can be created using </a:t>
            </a:r>
            <a:r>
              <a:rPr lang="en-US" sz="2000" b="1" dirty="0">
                <a:latin typeface="Verdana" panose="020B0604030504040204" pitchFamily="34" charset="0"/>
                <a:ea typeface="Verdana" panose="020B0604030504040204" pitchFamily="34" charset="0"/>
                <a:cs typeface="Verdana" panose="020B0604030504040204" pitchFamily="34" charset="0"/>
              </a:rPr>
              <a:t>both</a:t>
            </a:r>
            <a:r>
              <a:rPr lang="en-US" sz="2000" dirty="0">
                <a:latin typeface="Verdana" panose="020B0604030504040204" pitchFamily="34" charset="0"/>
                <a:ea typeface="Verdana" panose="020B0604030504040204" pitchFamily="34" charset="0"/>
                <a:cs typeface="Verdana" panose="020B0604030504040204" pitchFamily="34" charset="0"/>
              </a:rPr>
              <a:t> snacks and letters?</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342900" indent="-342900">
              <a:buFont typeface="+mj-lt"/>
              <a:buAutoNum type="alphaLcPeriod" startAt="2"/>
            </a:pPr>
            <a:endParaRPr lang="en-US" sz="2000" dirty="0">
              <a:latin typeface="Cambria" panose="02040503050406030204" pitchFamily="18" charset="0"/>
              <a:ea typeface="Cambria" panose="02040503050406030204" pitchFamily="18" charset="0"/>
              <a:cs typeface="Cambria" panose="02040503050406030204" pitchFamily="18" charset="0"/>
            </a:endParaRPr>
          </a:p>
        </p:txBody>
      </p:sp>
      <p:sp>
        <p:nvSpPr>
          <p:cNvPr id="7" name="Google Shape;278;g104476d1465_1_17">
            <a:extLst>
              <a:ext uri="{FF2B5EF4-FFF2-40B4-BE49-F238E27FC236}">
                <a16:creationId xmlns:a16="http://schemas.microsoft.com/office/drawing/2014/main" id="{ADBC627A-4143-AD4E-B8AF-FA569ACE060F}"/>
              </a:ext>
            </a:extLst>
          </p:cNvPr>
          <p:cNvSpPr/>
          <p:nvPr/>
        </p:nvSpPr>
        <p:spPr>
          <a:xfrm>
            <a:off x="3228"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858819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55874"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48</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932432" y="2389521"/>
                <a:ext cx="8327136" cy="255454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For example, the </a:t>
                </a:r>
                <a:r>
                  <a:rPr lang="en-US" sz="2000" b="1" i="1" dirty="0">
                    <a:latin typeface="Verdana" panose="020B0604030504040204" pitchFamily="34" charset="0"/>
                    <a:ea typeface="Verdana" panose="020B0604030504040204" pitchFamily="34" charset="0"/>
                    <a:cs typeface="Verdana" panose="020B0604030504040204" pitchFamily="34" charset="0"/>
                  </a:rPr>
                  <a:t>factors</a:t>
                </a:r>
                <a:r>
                  <a:rPr lang="en-US" sz="2000" dirty="0">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are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1, 2, 4, 5, 10</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Cambria" panose="02040503050406030204" pitchFamily="18" charset="0"/>
                </a:endParaRPr>
              </a:p>
              <a:p>
                <a:endParaRPr lang="en-US" sz="2000" dirty="0">
                  <a:latin typeface="Verdana" panose="020B0604030504040204" pitchFamily="34" charset="0"/>
                  <a:ea typeface="Verdana" panose="020B0604030504040204" pitchFamily="34" charset="0"/>
                  <a:cs typeface="Cambria" panose="02040503050406030204" pitchFamily="18"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numbers (or expressions) that are being multiplied are called the factors. When numbers (or expressions) are multiplied, the answer is called a product.</a:t>
                </a:r>
                <a:endParaRPr lang="en-US" sz="2000" dirty="0">
                  <a:latin typeface="Verdana" panose="020B0604030504040204" pitchFamily="34" charset="0"/>
                  <a:ea typeface="Verdana" panose="020B0604030504040204" pitchFamily="34" charset="0"/>
                  <a:cs typeface="Cambria" panose="02040503050406030204" pitchFamily="18" charset="0"/>
                </a:endParaRPr>
              </a:p>
              <a:p>
                <a:endParaRPr lang="en-US" sz="2000" dirty="0">
                  <a:latin typeface="Verdana" panose="020B0604030504040204" pitchFamily="34" charset="0"/>
                  <a:ea typeface="Verdana" panose="020B0604030504040204" pitchFamily="34" charset="0"/>
                  <a:cs typeface="Cambria" panose="02040503050406030204" pitchFamily="18" charset="0"/>
                </a:endParaRPr>
              </a:p>
              <a:p>
                <a:endParaRPr lang="en-US" sz="2000" dirty="0">
                  <a:latin typeface="Cambria" panose="02040503050406030204" pitchFamily="18" charset="0"/>
                  <a:ea typeface="Cambria" panose="02040503050406030204" pitchFamily="18" charset="0"/>
                  <a:cs typeface="Cambria" panose="02040503050406030204" pitchFamily="18" charset="0"/>
                </a:endParaRPr>
              </a:p>
            </p:txBody>
          </p:sp>
        </mc:Choice>
        <mc:Fallback xmlns="">
          <p:sp>
            <p:nvSpPr>
              <p:cNvPr id="5" name="TextBox 4">
                <a:extLst>
                  <a:ext uri="{FF2B5EF4-FFF2-40B4-BE49-F238E27FC236}">
                    <a16:creationId xmlns:a16="http://schemas.microsoft.com/office/drawing/2014/main" id="{22347CCE-34A7-8044-BA67-B5895157AE55}"/>
                  </a:ext>
                </a:extLst>
              </p:cNvPr>
              <p:cNvSpPr txBox="1">
                <a:spLocks noRot="1" noChangeAspect="1" noMove="1" noResize="1" noEditPoints="1" noAdjustHandles="1" noChangeArrowheads="1" noChangeShapeType="1" noTextEdit="1"/>
              </p:cNvSpPr>
              <p:nvPr/>
            </p:nvSpPr>
            <p:spPr>
              <a:xfrm>
                <a:off x="1932432" y="2389521"/>
                <a:ext cx="8327136" cy="2554545"/>
              </a:xfrm>
              <a:prstGeom prst="rect">
                <a:avLst/>
              </a:prstGeom>
              <a:blipFill>
                <a:blip r:embed="rId4"/>
                <a:stretch>
                  <a:fillRect l="-762" t="-1485"/>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DBC627A-4143-AD4E-B8AF-FA569ACE060F}"/>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15" name="Group 14">
            <a:extLst>
              <a:ext uri="{FF2B5EF4-FFF2-40B4-BE49-F238E27FC236}">
                <a16:creationId xmlns:a16="http://schemas.microsoft.com/office/drawing/2014/main" id="{A37E96E2-550B-4E02-8EC5-22118D7C6720}"/>
              </a:ext>
            </a:extLst>
          </p:cNvPr>
          <p:cNvGrpSpPr/>
          <p:nvPr/>
        </p:nvGrpSpPr>
        <p:grpSpPr>
          <a:xfrm>
            <a:off x="2619898" y="572755"/>
            <a:ext cx="6952204" cy="1313850"/>
            <a:chOff x="1708496" y="3094698"/>
            <a:chExt cx="6952204" cy="1314327"/>
          </a:xfrm>
        </p:grpSpPr>
        <p:grpSp>
          <p:nvGrpSpPr>
            <p:cNvPr id="16" name="Group 15">
              <a:extLst>
                <a:ext uri="{FF2B5EF4-FFF2-40B4-BE49-F238E27FC236}">
                  <a16:creationId xmlns:a16="http://schemas.microsoft.com/office/drawing/2014/main" id="{5B275337-D259-4CD5-9A59-831B7E200BEF}"/>
                </a:ext>
              </a:extLst>
            </p:cNvPr>
            <p:cNvGrpSpPr/>
            <p:nvPr/>
          </p:nvGrpSpPr>
          <p:grpSpPr>
            <a:xfrm>
              <a:off x="1708496" y="3094698"/>
              <a:ext cx="6952204" cy="1314327"/>
              <a:chOff x="1708496" y="3094698"/>
              <a:chExt cx="6952204" cy="1314327"/>
            </a:xfrm>
          </p:grpSpPr>
          <p:sp>
            <p:nvSpPr>
              <p:cNvPr id="17" name="Rectangle 16">
                <a:extLst>
                  <a:ext uri="{FF2B5EF4-FFF2-40B4-BE49-F238E27FC236}">
                    <a16:creationId xmlns:a16="http://schemas.microsoft.com/office/drawing/2014/main" id="{69F16711-9328-494B-98CD-8CB3FF6E8A9C}"/>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grpSp>
            <p:nvGrpSpPr>
              <p:cNvPr id="18" name="Group 17">
                <a:extLst>
                  <a:ext uri="{FF2B5EF4-FFF2-40B4-BE49-F238E27FC236}">
                    <a16:creationId xmlns:a16="http://schemas.microsoft.com/office/drawing/2014/main" id="{87F01FFD-6246-4706-AF85-A802953A07A0}"/>
                  </a:ext>
                </a:extLst>
              </p:cNvPr>
              <p:cNvGrpSpPr/>
              <p:nvPr/>
            </p:nvGrpSpPr>
            <p:grpSpPr>
              <a:xfrm>
                <a:off x="1708496" y="3094698"/>
                <a:ext cx="6952204" cy="1314327"/>
                <a:chOff x="-322804" y="-278902"/>
                <a:chExt cx="6952204" cy="1314327"/>
              </a:xfrm>
            </p:grpSpPr>
            <p:sp>
              <p:nvSpPr>
                <p:cNvPr id="19" name="Rectangle 18">
                  <a:extLst>
                    <a:ext uri="{FF2B5EF4-FFF2-40B4-BE49-F238E27FC236}">
                      <a16:creationId xmlns:a16="http://schemas.microsoft.com/office/drawing/2014/main" id="{4D873E36-DEC3-4354-B69D-71383B15D3A4}"/>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sp>
              <p:nvSpPr>
                <p:cNvPr id="20" name="Rounded Rectangle 43">
                  <a:extLst>
                    <a:ext uri="{FF2B5EF4-FFF2-40B4-BE49-F238E27FC236}">
                      <a16:creationId xmlns:a16="http://schemas.microsoft.com/office/drawing/2014/main" id="{A09DDDDF-D224-4492-A4CD-D26C867E8098}"/>
                    </a:ext>
                  </a:extLst>
                </p:cNvPr>
                <p:cNvSpPr/>
                <p:nvPr/>
              </p:nvSpPr>
              <p:spPr>
                <a:xfrm>
                  <a:off x="-322804" y="-278902"/>
                  <a:ext cx="6952203" cy="1314327"/>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spcAft>
                      <a:spcPts val="1000"/>
                    </a:spcAft>
                  </a:pPr>
                  <a:endPar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68580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factor</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number that divides into another number exactly and without leaving a remainder.</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685800">
                    <a:spcAft>
                      <a:spcPts val="1000"/>
                    </a:spcAft>
                  </a:pPr>
                  <a:r>
                    <a:rPr lang="en-US" sz="1200" dirty="0">
                      <a:solidFill>
                        <a:srgbClr val="6C993D"/>
                      </a:solidFill>
                      <a:latin typeface="Cambria" panose="02040503050406030204" pitchFamily="18" charset="0"/>
                      <a:ea typeface="Cambria" panose="02040503050406030204" pitchFamily="18" charset="0"/>
                      <a:cs typeface="Cambria" panose="02040503050406030204" pitchFamily="18" charset="0"/>
                    </a:rPr>
                    <a:t> </a:t>
                  </a:r>
                  <a:endParaRPr lang="en-US" sz="1200" dirty="0">
                    <a:latin typeface="Cambria" panose="02040503050406030204" pitchFamily="18" charset="0"/>
                    <a:ea typeface="Cambria" panose="02040503050406030204" pitchFamily="18" charset="0"/>
                    <a:cs typeface="Cambria" panose="02040503050406030204" pitchFamily="18" charset="0"/>
                  </a:endParaRPr>
                </a:p>
              </p:txBody>
            </p:sp>
            <p:pic>
              <p:nvPicPr>
                <p:cNvPr id="21" name="Shape 7" descr="Icon&#10;&#10;Description automatically generated">
                  <a:extLst>
                    <a:ext uri="{FF2B5EF4-FFF2-40B4-BE49-F238E27FC236}">
                      <a16:creationId xmlns:a16="http://schemas.microsoft.com/office/drawing/2014/main" id="{3F627300-67D9-43AA-BE2F-B521834AE430}"/>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52858" y="13835"/>
                  <a:ext cx="539750" cy="539750"/>
                </a:xfrm>
                <a:prstGeom prst="rect">
                  <a:avLst/>
                </a:prstGeom>
                <a:noFill/>
                <a:ln>
                  <a:noFill/>
                </a:ln>
                <a:effectLst>
                  <a:outerShdw blurRad="50800" dist="38100" dir="2700000" algn="tl" rotWithShape="0">
                    <a:prstClr val="black">
                      <a:alpha val="40000"/>
                    </a:prstClr>
                  </a:outerShdw>
                </a:effectLst>
              </p:spPr>
            </p:pic>
          </p:grpSp>
        </p:grpSp>
      </p:grpSp>
      <p:grpSp>
        <p:nvGrpSpPr>
          <p:cNvPr id="23" name="Group 22">
            <a:extLst>
              <a:ext uri="{FF2B5EF4-FFF2-40B4-BE49-F238E27FC236}">
                <a16:creationId xmlns:a16="http://schemas.microsoft.com/office/drawing/2014/main" id="{CCB9D371-968C-4BB6-B173-891519B848F0}"/>
              </a:ext>
            </a:extLst>
          </p:cNvPr>
          <p:cNvGrpSpPr/>
          <p:nvPr/>
        </p:nvGrpSpPr>
        <p:grpSpPr>
          <a:xfrm>
            <a:off x="2781299" y="5054898"/>
            <a:ext cx="6629400" cy="1034873"/>
            <a:chOff x="0" y="-77388"/>
            <a:chExt cx="6629400" cy="1034999"/>
          </a:xfrm>
        </p:grpSpPr>
        <p:grpSp>
          <p:nvGrpSpPr>
            <p:cNvPr id="24" name="Group 23">
              <a:extLst>
                <a:ext uri="{FF2B5EF4-FFF2-40B4-BE49-F238E27FC236}">
                  <a16:creationId xmlns:a16="http://schemas.microsoft.com/office/drawing/2014/main" id="{FCB55028-E44A-49E9-AAD9-3DA53B68ABFD}"/>
                </a:ext>
              </a:extLst>
            </p:cNvPr>
            <p:cNvGrpSpPr/>
            <p:nvPr/>
          </p:nvGrpSpPr>
          <p:grpSpPr>
            <a:xfrm>
              <a:off x="0" y="-77388"/>
              <a:ext cx="6629400" cy="1034999"/>
              <a:chOff x="2031300" y="3309420"/>
              <a:chExt cx="6629400" cy="1034999"/>
            </a:xfrm>
          </p:grpSpPr>
          <p:grpSp>
            <p:nvGrpSpPr>
              <p:cNvPr id="26" name="Group 25">
                <a:extLst>
                  <a:ext uri="{FF2B5EF4-FFF2-40B4-BE49-F238E27FC236}">
                    <a16:creationId xmlns:a16="http://schemas.microsoft.com/office/drawing/2014/main" id="{7FB99BF7-A6D9-462A-B3EA-AB1EC127D1A2}"/>
                  </a:ext>
                </a:extLst>
              </p:cNvPr>
              <p:cNvGrpSpPr/>
              <p:nvPr/>
            </p:nvGrpSpPr>
            <p:grpSpPr>
              <a:xfrm>
                <a:off x="2031300" y="3309420"/>
                <a:ext cx="6629400" cy="1034999"/>
                <a:chOff x="0" y="-77388"/>
                <a:chExt cx="6629400" cy="1034999"/>
              </a:xfrm>
            </p:grpSpPr>
            <p:sp>
              <p:nvSpPr>
                <p:cNvPr id="27" name="Rectangle 26">
                  <a:extLst>
                    <a:ext uri="{FF2B5EF4-FFF2-40B4-BE49-F238E27FC236}">
                      <a16:creationId xmlns:a16="http://schemas.microsoft.com/office/drawing/2014/main" id="{70B6EBD0-D083-492E-9F06-2A301630F222}"/>
                    </a:ext>
                  </a:extLst>
                </p:cNvPr>
                <p:cNvSpPr/>
                <p:nvPr/>
              </p:nvSpPr>
              <p:spPr>
                <a:xfrm>
                  <a:off x="0" y="182178"/>
                  <a:ext cx="6629400" cy="422012"/>
                </a:xfrm>
                <a:prstGeom prst="rect">
                  <a:avLst/>
                </a:prstGeom>
                <a:noFill/>
                <a:ln>
                  <a:noFill/>
                </a:ln>
              </p:spPr>
              <p:txBody>
                <a:bodyPr spcFirstLastPara="1" wrap="square" lIns="91425" tIns="108000" rIns="91425" bIns="0" anchor="ctr" anchorCtr="0">
                  <a:sp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sp>
              <p:nvSpPr>
                <p:cNvPr id="28" name="Rectangle 27">
                  <a:extLst>
                    <a:ext uri="{FF2B5EF4-FFF2-40B4-BE49-F238E27FC236}">
                      <a16:creationId xmlns:a16="http://schemas.microsoft.com/office/drawing/2014/main" id="{20E25DCD-AB41-4F83-9256-372EAEC779D0}"/>
                    </a:ext>
                  </a:extLst>
                </p:cNvPr>
                <p:cNvSpPr/>
                <p:nvPr/>
              </p:nvSpPr>
              <p:spPr>
                <a:xfrm>
                  <a:off x="0" y="182178"/>
                  <a:ext cx="6629400" cy="422012"/>
                </a:xfrm>
                <a:prstGeom prst="rect">
                  <a:avLst/>
                </a:prstGeom>
                <a:noFill/>
                <a:ln>
                  <a:noFill/>
                </a:ln>
              </p:spPr>
              <p:txBody>
                <a:bodyPr spcFirstLastPara="1" wrap="square" lIns="91425" tIns="108000" rIns="91425" bIns="0" anchor="ctr" anchorCtr="0">
                  <a:sp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mc:AlternateContent xmlns:mc="http://schemas.openxmlformats.org/markup-compatibility/2006" xmlns:a14="http://schemas.microsoft.com/office/drawing/2010/main">
              <mc:Choice Requires="a14">
                <p:sp>
                  <p:nvSpPr>
                    <p:cNvPr id="29" name="Rounded Rectangle 50">
                      <a:extLst>
                        <a:ext uri="{FF2B5EF4-FFF2-40B4-BE49-F238E27FC236}">
                          <a16:creationId xmlns:a16="http://schemas.microsoft.com/office/drawing/2014/main" id="{F42CFD58-34A2-461C-94C8-76ABEBB44C8E}"/>
                        </a:ext>
                      </a:extLst>
                    </p:cNvPr>
                    <p:cNvSpPr/>
                    <p:nvPr/>
                  </p:nvSpPr>
                  <p:spPr>
                    <a:xfrm>
                      <a:off x="0" y="-77388"/>
                      <a:ext cx="6629400" cy="1034999"/>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108000" rIns="91425" bIns="0" anchor="ctr" anchorCtr="0">
                      <a:spAutoFit/>
                    </a:bodyPr>
                    <a:lstStyle/>
                    <a:p>
                      <a:pPr marL="457200" indent="228600"/>
                      <a:r>
                        <a:rPr lang="en-US" sz="1100" b="1" dirty="0">
                          <a:solidFill>
                            <a:srgbClr val="00619E"/>
                          </a:solidFill>
                          <a:latin typeface="Verdana" panose="020B0604030504040204" pitchFamily="34" charset="0"/>
                          <a:ea typeface="Verdana" panose="020B0604030504040204" pitchFamily="34" charset="0"/>
                          <a:cs typeface="Verdana" panose="020B0604030504040204" pitchFamily="34" charset="0"/>
                        </a:rPr>
                        <a:t> </a:t>
                      </a:r>
                      <a:endParaRPr lang="en-US" sz="1200" dirty="0">
                        <a:latin typeface="Cambria" panose="02040503050406030204" pitchFamily="18" charset="0"/>
                        <a:ea typeface="Cambria" panose="02040503050406030204" pitchFamily="18" charset="0"/>
                        <a:cs typeface="Cambria" panose="02040503050406030204" pitchFamily="18" charset="0"/>
                      </a:endParaRPr>
                    </a:p>
                    <a:p>
                      <a:pPr marL="457200" indent="228600"/>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factor </a:t>
                      </a:r>
                      <a14:m>
                        <m:oMath xmlns:m="http://schemas.openxmlformats.org/officeDocument/2006/math">
                          <m:r>
                            <a:rPr lang="en-US" sz="2000" b="1" i="1">
                              <a:solidFill>
                                <a:srgbClr val="00619E"/>
                              </a:solidFill>
                              <a:latin typeface="Cambria Math" panose="02040503050406030204" pitchFamily="18" charset="0"/>
                              <a:ea typeface="Cambria" panose="02040503050406030204" pitchFamily="18" charset="0"/>
                              <a:cs typeface="Cambria" panose="02040503050406030204" pitchFamily="18" charset="0"/>
                            </a:rPr>
                            <m:t>×</m:t>
                          </m:r>
                        </m:oMath>
                      </a14:m>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 factor </a:t>
                      </a:r>
                      <a14:m>
                        <m:oMath xmlns:m="http://schemas.openxmlformats.org/officeDocument/2006/math">
                          <m:r>
                            <a:rPr lang="en-US" sz="2000" b="1" i="1">
                              <a:solidFill>
                                <a:srgbClr val="00619E"/>
                              </a:solidFill>
                              <a:latin typeface="Cambria Math" panose="02040503050406030204" pitchFamily="18" charset="0"/>
                              <a:ea typeface="Cambria" panose="02040503050406030204" pitchFamily="18" charset="0"/>
                              <a:cs typeface="Cambria" panose="02040503050406030204" pitchFamily="18" charset="0"/>
                            </a:rPr>
                            <m:t>=</m:t>
                          </m:r>
                        </m:oMath>
                      </a14:m>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 product </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742950" indent="228600">
                        <a:spcAft>
                          <a:spcPts val="1000"/>
                        </a:spcAft>
                      </a:pPr>
                      <a:r>
                        <a:rPr lang="en-US" sz="1200" dirty="0">
                          <a:solidFill>
                            <a:srgbClr val="00619E"/>
                          </a:solidFill>
                          <a:latin typeface="Cambria" panose="02040503050406030204" pitchFamily="18" charset="0"/>
                          <a:ea typeface="Cambria" panose="02040503050406030204" pitchFamily="18" charset="0"/>
                          <a:cs typeface="Cambria" panose="02040503050406030204" pitchFamily="18" charset="0"/>
                        </a:rPr>
                        <a:t> </a:t>
                      </a:r>
                      <a:endParaRPr lang="en-US" sz="1200" dirty="0">
                        <a:latin typeface="Cambria" panose="02040503050406030204" pitchFamily="18" charset="0"/>
                        <a:ea typeface="Cambria" panose="02040503050406030204" pitchFamily="18" charset="0"/>
                        <a:cs typeface="Cambria" panose="02040503050406030204" pitchFamily="18" charset="0"/>
                      </a:endParaRPr>
                    </a:p>
                  </p:txBody>
                </p:sp>
              </mc:Choice>
              <mc:Fallback xmlns="">
                <p:sp>
                  <p:nvSpPr>
                    <p:cNvPr id="29" name="Rounded Rectangle 50">
                      <a:extLst>
                        <a:ext uri="{FF2B5EF4-FFF2-40B4-BE49-F238E27FC236}">
                          <a16:creationId xmlns:a16="http://schemas.microsoft.com/office/drawing/2014/main" xmlns:a14="http://schemas.microsoft.com/office/drawing/2010/main" xmlns="" id="{F42CFD58-34A2-461C-94C8-76ABEBB44C8E}"/>
                        </a:ext>
                      </a:extLst>
                    </p:cNvPr>
                    <p:cNvSpPr>
                      <a:spLocks noRot="1" noChangeAspect="1" noMove="1" noResize="1" noEditPoints="1" noAdjustHandles="1" noChangeArrowheads="1" noChangeShapeType="1" noTextEdit="1"/>
                    </p:cNvSpPr>
                    <p:nvPr/>
                  </p:nvSpPr>
                  <p:spPr>
                    <a:xfrm>
                      <a:off x="0" y="-77388"/>
                      <a:ext cx="6629400" cy="1034999"/>
                    </a:xfrm>
                    <a:prstGeom prst="roundRect">
                      <a:avLst>
                        <a:gd name="adj" fmla="val 16667"/>
                      </a:avLst>
                    </a:prstGeom>
                    <a:blipFill rotWithShape="1">
                      <a:blip r:embed="rId6"/>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grpSp>
        </p:grpSp>
        <p:pic>
          <p:nvPicPr>
            <p:cNvPr id="25" name="image15.png" descr="Icon&#10;&#10;Description automatically generated">
              <a:extLst>
                <a:ext uri="{FF2B5EF4-FFF2-40B4-BE49-F238E27FC236}">
                  <a16:creationId xmlns:a16="http://schemas.microsoft.com/office/drawing/2014/main" id="{5D0CC1F0-FB6B-4B38-A3EC-659D2CC5E6B2}"/>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183914" y="140504"/>
              <a:ext cx="539750" cy="539750"/>
            </a:xfrm>
            <a:prstGeom prst="rect">
              <a:avLst/>
            </a:prstGeom>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260846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94229"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428256" y="349705"/>
                <a:ext cx="11448670" cy="4708981"/>
              </a:xfrm>
              <a:prstGeom prst="rect">
                <a:avLst/>
              </a:prstGeom>
              <a:noFill/>
            </p:spPr>
            <p:txBody>
              <a:bodyPr wrap="square" rtlCol="0">
                <a:spAutoFit/>
              </a:bodyPr>
              <a:lstStyle/>
              <a:p>
                <a:pPr marL="457200" indent="-45720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How were the factors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16</m:t>
                    </m:r>
                  </m:oMath>
                </a14:m>
                <a:r>
                  <a:rPr lang="en-US" sz="2000" dirty="0">
                    <a:latin typeface="Verdana" panose="020B0604030504040204" pitchFamily="34" charset="0"/>
                    <a:ea typeface="Verdana" panose="020B0604030504040204" pitchFamily="34" charset="0"/>
                    <a:cs typeface="Verdana" panose="020B0604030504040204" pitchFamily="34" charset="0"/>
                  </a:rPr>
                  <a:t> used in the previous problem?</a:t>
                </a:r>
              </a:p>
              <a:p>
                <a:pPr marL="342900" indent="-3429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714375" indent="-261938">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factors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16</m:t>
                    </m:r>
                  </m:oMath>
                </a14:m>
                <a:r>
                  <a:rPr lang="en-US" sz="2000" dirty="0">
                    <a:latin typeface="Verdana" panose="020B0604030504040204" pitchFamily="34" charset="0"/>
                    <a:ea typeface="Verdana" panose="020B0604030504040204" pitchFamily="34" charset="0"/>
                    <a:cs typeface="Verdana" panose="020B0604030504040204" pitchFamily="34" charset="0"/>
                  </a:rPr>
                  <a:t> were used to determine the </a:t>
                </a:r>
              </a:p>
              <a:p>
                <a:pPr marL="714375" indent="-261938">
                  <a:buFont typeface="Arial" panose="020B0604020202020204" pitchFamily="34" charset="0"/>
                  <a:buChar char="•"/>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714375" indent="-261938"/>
                <a:r>
                  <a:rPr lang="en-US" sz="2000" dirty="0">
                    <a:latin typeface="Verdana" panose="020B0604030504040204" pitchFamily="34" charset="0"/>
                    <a:ea typeface="Verdana" panose="020B0604030504040204" pitchFamily="34" charset="0"/>
                    <a:cs typeface="Verdana" panose="020B0604030504040204" pitchFamily="34" charset="0"/>
                  </a:rPr>
                  <a:t>    whole number of                    that could be </a:t>
                </a:r>
              </a:p>
              <a:p>
                <a:pPr marL="714375" indent="-261938"/>
                <a:r>
                  <a:rPr lang="en-US" sz="2000" dirty="0">
                    <a:latin typeface="Verdana" panose="020B0604030504040204" pitchFamily="34" charset="0"/>
                    <a:ea typeface="Verdana" panose="020B0604030504040204" pitchFamily="34" charset="0"/>
                    <a:cs typeface="Verdana" panose="020B0604030504040204" pitchFamily="34" charset="0"/>
                  </a:rPr>
                  <a:t>    </a:t>
                </a:r>
              </a:p>
              <a:p>
                <a:pPr marL="714375" indent="-261938"/>
                <a:r>
                  <a:rPr lang="en-US" sz="2000" dirty="0">
                    <a:latin typeface="Verdana" panose="020B0604030504040204" pitchFamily="34" charset="0"/>
                    <a:ea typeface="Verdana" panose="020B0604030504040204" pitchFamily="34" charset="0"/>
                    <a:cs typeface="Verdana" panose="020B0604030504040204" pitchFamily="34" charset="0"/>
                  </a:rPr>
                  <a:t>    included, depending on the number of care packages.</a:t>
                </a:r>
              </a:p>
              <a:p>
                <a:pPr marL="714375" indent="-261938"/>
                <a:endParaRPr lang="en-US" sz="2000" dirty="0">
                  <a:latin typeface="Verdana" panose="020B0604030504040204" pitchFamily="34" charset="0"/>
                  <a:ea typeface="Verdana" panose="020B0604030504040204" pitchFamily="34" charset="0"/>
                  <a:cs typeface="Verdana" panose="020B0604030504040204" pitchFamily="34" charset="0"/>
                </a:endParaRPr>
              </a:p>
              <a:p>
                <a:pPr marL="714375" indent="-261938">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factors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were used to determine the</a:t>
                </a: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whole number of                    that could be included, </a:t>
                </a: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depending on the number of care packages.</a:t>
                </a:r>
                <a:endParaRPr lang="en-US" sz="2000" dirty="0">
                  <a:latin typeface="Verdana" panose="020B0604030504040204" pitchFamily="34" charset="0"/>
                  <a:ea typeface="Verdana" panose="020B0604030504040204" pitchFamily="34" charset="0"/>
                  <a:cs typeface="Noto Sans Symbols"/>
                </a:endParaRPr>
              </a:p>
              <a:p>
                <a:pPr marL="342900" indent="-342900">
                  <a:buFont typeface="Arial" panose="020B0604020202020204" pitchFamily="34" charset="0"/>
                  <a:buChar char="•"/>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342900" indent="-342900">
                  <a:buFont typeface="+mj-lt"/>
                  <a:buAutoNum type="alphaLcPeriod" startAt="2"/>
                </a:pPr>
                <a:endParaRPr lang="en-US" sz="2000" dirty="0">
                  <a:latin typeface="Cambria" panose="02040503050406030204" pitchFamily="18" charset="0"/>
                  <a:ea typeface="Cambria" panose="02040503050406030204" pitchFamily="18" charset="0"/>
                  <a:cs typeface="Cambria" panose="02040503050406030204" pitchFamily="18" charset="0"/>
                </a:endParaRPr>
              </a:p>
            </p:txBody>
          </p:sp>
        </mc:Choice>
        <mc:Fallback xmlns="">
          <p:sp>
            <p:nvSpPr>
              <p:cNvPr id="5" name="TextBox 4">
                <a:extLst>
                  <a:ext uri="{FF2B5EF4-FFF2-40B4-BE49-F238E27FC236}">
                    <a16:creationId xmlns:a16="http://schemas.microsoft.com/office/drawing/2014/main" id="{22347CCE-34A7-8044-BA67-B5895157AE55}"/>
                  </a:ext>
                </a:extLst>
              </p:cNvPr>
              <p:cNvSpPr txBox="1">
                <a:spLocks noRot="1" noChangeAspect="1" noMove="1" noResize="1" noEditPoints="1" noAdjustHandles="1" noChangeArrowheads="1" noChangeShapeType="1" noTextEdit="1"/>
              </p:cNvSpPr>
              <p:nvPr/>
            </p:nvSpPr>
            <p:spPr>
              <a:xfrm>
                <a:off x="428256" y="349705"/>
                <a:ext cx="11448670" cy="4708981"/>
              </a:xfrm>
              <a:prstGeom prst="rect">
                <a:avLst/>
              </a:prstGeom>
              <a:blipFill>
                <a:blip r:embed="rId4"/>
                <a:stretch>
                  <a:fillRect l="-554" t="-806"/>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DBC627A-4143-AD4E-B8AF-FA569ACE060F}"/>
              </a:ext>
            </a:extLst>
          </p:cNvPr>
          <p:cNvSpPr/>
          <p:nvPr/>
        </p:nvSpPr>
        <p:spPr>
          <a:xfrm>
            <a:off x="5135"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Rounded Rectangle 35">
            <a:extLst>
              <a:ext uri="{FF2B5EF4-FFF2-40B4-BE49-F238E27FC236}">
                <a16:creationId xmlns:a16="http://schemas.microsoft.com/office/drawing/2014/main" id="{8689FE6A-1E35-439D-900E-F96171790063}"/>
              </a:ext>
            </a:extLst>
          </p:cNvPr>
          <p:cNvSpPr/>
          <p:nvPr/>
        </p:nvSpPr>
        <p:spPr>
          <a:xfrm>
            <a:off x="3573519" y="1459887"/>
            <a:ext cx="1543908" cy="758420"/>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85750" indent="-285750" algn="just">
              <a:lnSpc>
                <a:spcPct val="107000"/>
              </a:lnSpc>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Times New Roman" panose="02020603050405020304" pitchFamily="18" charset="0"/>
              </a:rPr>
              <a:t>letters</a:t>
            </a: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285750" indent="-285750" algn="just">
              <a:lnSpc>
                <a:spcPct val="107000"/>
              </a:lnSpc>
              <a:spcAft>
                <a:spcPts val="8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Times New Roman" panose="02020603050405020304" pitchFamily="18" charset="0"/>
              </a:rPr>
              <a:t>snacks</a:t>
            </a:r>
            <a:endParaRPr lang="en-US" sz="2000" dirty="0">
              <a:latin typeface="Verdana" panose="020B0604030504040204" pitchFamily="34" charset="0"/>
              <a:ea typeface="Verdana" panose="020B0604030504040204" pitchFamily="34" charset="0"/>
              <a:cs typeface="Times New Roman" panose="02020603050405020304" pitchFamily="18" charset="0"/>
            </a:endParaRPr>
          </a:p>
        </p:txBody>
      </p:sp>
      <p:sp>
        <p:nvSpPr>
          <p:cNvPr id="11" name="Rounded Rectangle 35">
            <a:extLst>
              <a:ext uri="{FF2B5EF4-FFF2-40B4-BE49-F238E27FC236}">
                <a16:creationId xmlns:a16="http://schemas.microsoft.com/office/drawing/2014/main" id="{A0781F9C-C203-4013-A8B0-C3004F780123}"/>
              </a:ext>
            </a:extLst>
          </p:cNvPr>
          <p:cNvSpPr/>
          <p:nvPr/>
        </p:nvSpPr>
        <p:spPr>
          <a:xfrm>
            <a:off x="3489090" y="3259286"/>
            <a:ext cx="1543908" cy="758420"/>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85750" indent="-285750" algn="just">
              <a:lnSpc>
                <a:spcPct val="107000"/>
              </a:lnSpc>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Times New Roman" panose="02020603050405020304" pitchFamily="18" charset="0"/>
              </a:rPr>
              <a:t>letters</a:t>
            </a: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285750" indent="-285750" algn="just">
              <a:lnSpc>
                <a:spcPct val="107000"/>
              </a:lnSpc>
              <a:spcAft>
                <a:spcPts val="8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Times New Roman" panose="02020603050405020304" pitchFamily="18" charset="0"/>
              </a:rPr>
              <a:t>snacks</a:t>
            </a:r>
            <a:endParaRPr lang="en-US" sz="2000" dirty="0">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960913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3561" y="6185555"/>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6147"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932432" y="2218699"/>
                <a:ext cx="8327136" cy="344709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An example of how to find the </a:t>
                </a:r>
                <a:r>
                  <a:rPr lang="en-US" sz="2000" b="1" i="1" dirty="0">
                    <a:latin typeface="Verdana" panose="020B0604030504040204" pitchFamily="34" charset="0"/>
                    <a:ea typeface="Verdana" panose="020B0604030504040204" pitchFamily="34" charset="0"/>
                    <a:cs typeface="Verdana" panose="020B0604030504040204" pitchFamily="34" charset="0"/>
                  </a:rPr>
                  <a:t>greatest common factor (GCF)</a:t>
                </a:r>
                <a:r>
                  <a:rPr lang="en-US" sz="2000" dirty="0">
                    <a:latin typeface="Verdana" panose="020B0604030504040204" pitchFamily="34" charset="0"/>
                    <a:ea typeface="Verdana" panose="020B0604030504040204" pitchFamily="34" charset="0"/>
                    <a:cs typeface="Verdana" panose="020B0604030504040204" pitchFamily="34" charset="0"/>
                  </a:rPr>
                  <a:t> is shown.</a:t>
                </a:r>
              </a:p>
              <a:p>
                <a:endParaRPr lang="en-US" sz="2000" dirty="0">
                  <a:latin typeface="Cambria Math" panose="02040503050406030204" pitchFamily="18" charset="0"/>
                  <a:ea typeface="Cambria Math" panose="02040503050406030204" pitchFamily="18" charset="0"/>
                  <a:cs typeface="Cambria" panose="02040503050406030204" pitchFamily="18"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The factors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are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15.</m:t>
                    </m:r>
                  </m:oMath>
                </a14:m>
                <a:endParaRPr lang="en-US" sz="2000" dirty="0">
                  <a:latin typeface="Verdana" panose="020B0604030504040204" pitchFamily="34" charset="0"/>
                  <a:ea typeface="Verdana" panose="020B0604030504040204" pitchFamily="34" charset="0"/>
                  <a:cs typeface="Cambria" panose="02040503050406030204" pitchFamily="18" charset="0"/>
                </a:endParaRPr>
              </a:p>
              <a:p>
                <a:pPr indent="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Cambria" panose="02040503050406030204" pitchFamily="18" charset="0"/>
                </a:endParaRPr>
              </a:p>
              <a:p>
                <a:pPr indent="457200"/>
                <a:r>
                  <a:rPr lang="en-US" sz="2000" dirty="0">
                    <a:latin typeface="Verdana" panose="020B0604030504040204" pitchFamily="34" charset="0"/>
                    <a:ea typeface="Verdana" panose="020B0604030504040204" pitchFamily="34" charset="0"/>
                    <a:cs typeface="Verdana" panose="020B0604030504040204" pitchFamily="34" charset="0"/>
                  </a:rPr>
                  <a:t>The factors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are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20.</m:t>
                    </m:r>
                  </m:oMath>
                </a14:m>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The GCF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5.</m:t>
                    </m:r>
                  </m:oMath>
                </a14:m>
                <a:endParaRPr lang="en-US" sz="2000" dirty="0">
                  <a:latin typeface="Verdana" panose="020B0604030504040204" pitchFamily="34" charset="0"/>
                  <a:ea typeface="Verdana" panose="020B0604030504040204" pitchFamily="34" charset="0"/>
                  <a:cs typeface="Cambria" panose="02040503050406030204" pitchFamily="18" charset="0"/>
                </a:endParaRPr>
              </a:p>
              <a:p>
                <a:r>
                  <a:rPr lang="en-US" sz="1800" b="1" dirty="0">
                    <a:latin typeface="Verdana" panose="020B0604030504040204" pitchFamily="34" charset="0"/>
                    <a:ea typeface="Verdana" panose="020B0604030504040204" pitchFamily="34" charset="0"/>
                    <a:cs typeface="Verdana" panose="020B0604030504040204" pitchFamily="34" charset="0"/>
                  </a:rPr>
                  <a:t> </a:t>
                </a:r>
                <a:endParaRPr lang="en-US" sz="1800" dirty="0">
                  <a:latin typeface="Cambria" panose="02040503050406030204" pitchFamily="18" charset="0"/>
                  <a:ea typeface="Cambria" panose="02040503050406030204" pitchFamily="18" charset="0"/>
                  <a:cs typeface="Cambria" panose="02040503050406030204" pitchFamily="18" charset="0"/>
                </a:endParaRPr>
              </a:p>
              <a:p>
                <a:endParaRPr lang="en-US" sz="2000" dirty="0">
                  <a:latin typeface="Verdana" panose="020B0604030504040204" pitchFamily="34" charset="0"/>
                  <a:ea typeface="Verdana" panose="020B0604030504040204" pitchFamily="34" charset="0"/>
                  <a:cs typeface="Cambria" panose="02040503050406030204" pitchFamily="18" charset="0"/>
                </a:endParaRPr>
              </a:p>
              <a:p>
                <a:pPr marL="342900" indent="-342900">
                  <a:buFont typeface="+mj-lt"/>
                  <a:buAutoNum type="alphaLcPeriod" startAt="2"/>
                </a:pPr>
                <a:endParaRPr lang="en-US" sz="2000" dirty="0">
                  <a:latin typeface="Cambria" panose="02040503050406030204" pitchFamily="18" charset="0"/>
                  <a:ea typeface="Cambria" panose="02040503050406030204" pitchFamily="18" charset="0"/>
                  <a:cs typeface="Cambria" panose="02040503050406030204" pitchFamily="18" charset="0"/>
                </a:endParaRPr>
              </a:p>
            </p:txBody>
          </p:sp>
        </mc:Choice>
        <mc:Fallback xmlns="">
          <p:sp>
            <p:nvSpPr>
              <p:cNvPr id="5" name="TextBox 4">
                <a:extLst>
                  <a:ext uri="{FF2B5EF4-FFF2-40B4-BE49-F238E27FC236}">
                    <a16:creationId xmlns:a16="http://schemas.microsoft.com/office/drawing/2014/main" id="{22347CCE-34A7-8044-BA67-B5895157AE55}"/>
                  </a:ext>
                </a:extLst>
              </p:cNvPr>
              <p:cNvSpPr txBox="1">
                <a:spLocks noRot="1" noChangeAspect="1" noMove="1" noResize="1" noEditPoints="1" noAdjustHandles="1" noChangeArrowheads="1" noChangeShapeType="1" noTextEdit="1"/>
              </p:cNvSpPr>
              <p:nvPr/>
            </p:nvSpPr>
            <p:spPr>
              <a:xfrm>
                <a:off x="1932432" y="2218699"/>
                <a:ext cx="8327136" cy="3447098"/>
              </a:xfrm>
              <a:prstGeom prst="rect">
                <a:avLst/>
              </a:prstGeom>
              <a:blipFill>
                <a:blip r:embed="rId4"/>
                <a:stretch>
                  <a:fillRect l="-762" t="-1103"/>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DBC627A-4143-AD4E-B8AF-FA569ACE060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9" name="Group 8">
            <a:extLst>
              <a:ext uri="{FF2B5EF4-FFF2-40B4-BE49-F238E27FC236}">
                <a16:creationId xmlns:a16="http://schemas.microsoft.com/office/drawing/2014/main" id="{81CD72F4-423A-4BA7-BDDC-6F5023FBC52D}"/>
              </a:ext>
            </a:extLst>
          </p:cNvPr>
          <p:cNvGrpSpPr/>
          <p:nvPr/>
        </p:nvGrpSpPr>
        <p:grpSpPr>
          <a:xfrm>
            <a:off x="2434004" y="481977"/>
            <a:ext cx="7042638" cy="1575249"/>
            <a:chOff x="2031300" y="2610168"/>
            <a:chExt cx="7042638" cy="1576232"/>
          </a:xfrm>
        </p:grpSpPr>
        <p:grpSp>
          <p:nvGrpSpPr>
            <p:cNvPr id="10" name="Group 9">
              <a:extLst>
                <a:ext uri="{FF2B5EF4-FFF2-40B4-BE49-F238E27FC236}">
                  <a16:creationId xmlns:a16="http://schemas.microsoft.com/office/drawing/2014/main" id="{4B99C90E-B682-49CA-92E9-F812B26E3BD4}"/>
                </a:ext>
              </a:extLst>
            </p:cNvPr>
            <p:cNvGrpSpPr/>
            <p:nvPr/>
          </p:nvGrpSpPr>
          <p:grpSpPr>
            <a:xfrm>
              <a:off x="2031300" y="2610168"/>
              <a:ext cx="7042638" cy="1576232"/>
              <a:chOff x="2031300" y="2610168"/>
              <a:chExt cx="7042638" cy="1576232"/>
            </a:xfrm>
          </p:grpSpPr>
          <p:sp>
            <p:nvSpPr>
              <p:cNvPr id="11" name="Rectangle 10">
                <a:extLst>
                  <a:ext uri="{FF2B5EF4-FFF2-40B4-BE49-F238E27FC236}">
                    <a16:creationId xmlns:a16="http://schemas.microsoft.com/office/drawing/2014/main" id="{116BE796-45D0-4C3A-B1EF-F4927712FEFA}"/>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grpSp>
            <p:nvGrpSpPr>
              <p:cNvPr id="13" name="Group 12">
                <a:extLst>
                  <a:ext uri="{FF2B5EF4-FFF2-40B4-BE49-F238E27FC236}">
                    <a16:creationId xmlns:a16="http://schemas.microsoft.com/office/drawing/2014/main" id="{E9AB431C-058F-4780-AAC9-AE32839F9861}"/>
                  </a:ext>
                </a:extLst>
              </p:cNvPr>
              <p:cNvGrpSpPr/>
              <p:nvPr/>
            </p:nvGrpSpPr>
            <p:grpSpPr>
              <a:xfrm>
                <a:off x="2031300" y="2610168"/>
                <a:ext cx="7042638" cy="1576232"/>
                <a:chOff x="0" y="-763432"/>
                <a:chExt cx="7042638" cy="1576232"/>
              </a:xfrm>
            </p:grpSpPr>
            <p:sp>
              <p:nvSpPr>
                <p:cNvPr id="14" name="Rectangle 13">
                  <a:extLst>
                    <a:ext uri="{FF2B5EF4-FFF2-40B4-BE49-F238E27FC236}">
                      <a16:creationId xmlns:a16="http://schemas.microsoft.com/office/drawing/2014/main" id="{5F0BC59A-F567-4B4D-A0DC-E88CEF99F43D}"/>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sp>
              <p:nvSpPr>
                <p:cNvPr id="15" name="Rounded Rectangle 9">
                  <a:extLst>
                    <a:ext uri="{FF2B5EF4-FFF2-40B4-BE49-F238E27FC236}">
                      <a16:creationId xmlns:a16="http://schemas.microsoft.com/office/drawing/2014/main" id="{6E04ED89-D07E-43D5-93E0-068FC88F0FBF}"/>
                    </a:ext>
                  </a:extLst>
                </p:cNvPr>
                <p:cNvSpPr/>
                <p:nvPr/>
              </p:nvSpPr>
              <p:spPr>
                <a:xfrm>
                  <a:off x="0" y="-763432"/>
                  <a:ext cx="7042638" cy="1229178"/>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indent="-57150"/>
                  <a:endPar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685800" indent="-5715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greatest common factor</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or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GCF</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the largest common factor of two or more numbers.</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685800" indent="-57150">
                    <a:spcAft>
                      <a:spcPts val="1000"/>
                    </a:spcAft>
                  </a:pPr>
                  <a:r>
                    <a:rPr lang="en-US" sz="1200" dirty="0">
                      <a:solidFill>
                        <a:srgbClr val="6C993D"/>
                      </a:solidFill>
                      <a:latin typeface="Cambria" panose="02040503050406030204" pitchFamily="18" charset="0"/>
                      <a:ea typeface="Cambria" panose="02040503050406030204" pitchFamily="18" charset="0"/>
                      <a:cs typeface="Cambria" panose="02040503050406030204" pitchFamily="18" charset="0"/>
                    </a:rPr>
                    <a:t> </a:t>
                  </a:r>
                  <a:endParaRPr lang="en-US" sz="1200" dirty="0">
                    <a:latin typeface="Cambria" panose="02040503050406030204" pitchFamily="18" charset="0"/>
                    <a:ea typeface="Cambria" panose="02040503050406030204" pitchFamily="18" charset="0"/>
                    <a:cs typeface="Cambria" panose="02040503050406030204" pitchFamily="18" charset="0"/>
                  </a:endParaRPr>
                </a:p>
              </p:txBody>
            </p:sp>
            <p:pic>
              <p:nvPicPr>
                <p:cNvPr id="16" name="Shape 7" descr="Icon&#10;&#10;Description automatically generated">
                  <a:extLst>
                    <a:ext uri="{FF2B5EF4-FFF2-40B4-BE49-F238E27FC236}">
                      <a16:creationId xmlns:a16="http://schemas.microsoft.com/office/drawing/2014/main" id="{83C78067-CBAC-4EB6-9945-C9649CDB8EBF}"/>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8545" y="-418719"/>
                  <a:ext cx="539750" cy="539750"/>
                </a:xfrm>
                <a:prstGeom prst="rect">
                  <a:avLst/>
                </a:prstGeom>
                <a:noFill/>
                <a:ln>
                  <a:noFill/>
                </a:ln>
                <a:effectLst>
                  <a:outerShdw blurRad="50800" dist="38100" dir="2700000" algn="tl" rotWithShape="0">
                    <a:prstClr val="black">
                      <a:alpha val="40000"/>
                    </a:prstClr>
                  </a:outerShdw>
                </a:effectLst>
              </p:spPr>
            </p:pic>
          </p:grpSp>
        </p:grpSp>
      </p:grpSp>
      <p:sp>
        <p:nvSpPr>
          <p:cNvPr id="18" name="Oval 17">
            <a:extLst>
              <a:ext uri="{FF2B5EF4-FFF2-40B4-BE49-F238E27FC236}">
                <a16:creationId xmlns:a16="http://schemas.microsoft.com/office/drawing/2014/main" id="{8D05ADAF-649E-4B5C-AE31-180F468E0DE5}"/>
              </a:ext>
            </a:extLst>
          </p:cNvPr>
          <p:cNvSpPr/>
          <p:nvPr/>
        </p:nvSpPr>
        <p:spPr>
          <a:xfrm rot="19949632">
            <a:off x="5888673" y="3023837"/>
            <a:ext cx="414655" cy="1232535"/>
          </a:xfrm>
          <a:prstGeom prst="ellipse">
            <a:avLst/>
          </a:prstGeom>
          <a:noFill/>
          <a:ln w="28575" cap="flat" cmpd="sng">
            <a:solidFill>
              <a:srgbClr val="002060"/>
            </a:solidFill>
            <a:prstDash val="solid"/>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Cambria" panose="02040503050406030204" pitchFamily="18" charset="0"/>
                <a:cs typeface="Cambria" panose="02040503050406030204" pitchFamily="18" charset="0"/>
              </a:rPr>
              <a:t> </a:t>
            </a:r>
          </a:p>
        </p:txBody>
      </p:sp>
      <p:sp>
        <p:nvSpPr>
          <p:cNvPr id="19" name="Oval 18">
            <a:extLst>
              <a:ext uri="{FF2B5EF4-FFF2-40B4-BE49-F238E27FC236}">
                <a16:creationId xmlns:a16="http://schemas.microsoft.com/office/drawing/2014/main" id="{FED4C5B4-36DF-430D-916E-D457941D21C2}"/>
              </a:ext>
            </a:extLst>
          </p:cNvPr>
          <p:cNvSpPr/>
          <p:nvPr/>
        </p:nvSpPr>
        <p:spPr>
          <a:xfrm>
            <a:off x="5107692" y="3070508"/>
            <a:ext cx="398780" cy="1139190"/>
          </a:xfrm>
          <a:prstGeom prst="ellipse">
            <a:avLst/>
          </a:prstGeom>
          <a:noFill/>
          <a:ln w="28575" cap="flat" cmpd="sng">
            <a:solidFill>
              <a:srgbClr val="002060"/>
            </a:solidFill>
            <a:prstDash val="solid"/>
            <a:round/>
            <a:headEnd type="none" w="sm" len="sm"/>
            <a:tailEnd type="none" w="sm" len="sm"/>
          </a:ln>
        </p:spPr>
        <p:txBody>
          <a:bodyPr spcFirstLastPara="1" wrap="square" lIns="91425" tIns="91425" rIns="91425" bIns="91425" anchor="ctr" anchorCtr="0">
            <a:noAutofit/>
          </a:bodyPr>
          <a:lstStyle/>
          <a:p>
            <a:r>
              <a:rPr lang="en-US" sz="1200" dirty="0">
                <a:latin typeface="Cambria" panose="02040503050406030204" pitchFamily="18" charset="0"/>
                <a:ea typeface="Cambria" panose="02040503050406030204" pitchFamily="18" charset="0"/>
                <a:cs typeface="Cambria" panose="02040503050406030204" pitchFamily="18" charset="0"/>
              </a:rPr>
              <a:t> </a:t>
            </a:r>
          </a:p>
        </p:txBody>
      </p:sp>
    </p:spTree>
    <p:extLst>
      <p:ext uri="{BB962C8B-B14F-4D97-AF65-F5344CB8AC3E}">
        <p14:creationId xmlns:p14="http://schemas.microsoft.com/office/powerpoint/2010/main" val="2166461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425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49</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380144" y="349706"/>
                <a:ext cx="11661168" cy="4088730"/>
              </a:xfrm>
              <a:prstGeom prst="rect">
                <a:avLst/>
              </a:prstGeom>
              <a:noFill/>
            </p:spPr>
            <p:txBody>
              <a:bodyPr wrap="square" rtlCol="0">
                <a:spAutoFit/>
              </a:bodyPr>
              <a:lstStyle/>
              <a:p>
                <a:pPr marL="914400" indent="-452438">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Complete the statement to explain what the GCF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16</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is from the previous problem. </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914400">
                  <a:lnSpc>
                    <a:spcPct val="200000"/>
                  </a:lnSpc>
                </a:pPr>
                <a:r>
                  <a:rPr lang="en-US" sz="2000" dirty="0">
                    <a:latin typeface="Verdana" panose="020B0604030504040204" pitchFamily="34" charset="0"/>
                    <a:ea typeface="Verdana" panose="020B0604030504040204" pitchFamily="34" charset="0"/>
                    <a:cs typeface="Verdana" panose="020B0604030504040204" pitchFamily="34" charset="0"/>
                  </a:rPr>
                  <a:t>The GCF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16</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is ______, which represents the greatest number of care packages that can be created using</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indent="-457200">
                  <a:buFont typeface="+mj-lt"/>
                  <a:buAutoNum type="alphaLcPeriod" startAt="6"/>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342900" indent="-342900">
                  <a:buFont typeface="+mj-lt"/>
                  <a:buAutoNum type="alphaLcPeriod" startAt="6"/>
                </a:pPr>
                <a:endParaRPr lang="en-US" sz="2000" dirty="0">
                  <a:latin typeface="Cambria" panose="02040503050406030204" pitchFamily="18" charset="0"/>
                  <a:ea typeface="Cambria" panose="02040503050406030204" pitchFamily="18" charset="0"/>
                  <a:cs typeface="Cambria" panose="02040503050406030204" pitchFamily="18" charset="0"/>
                </a:endParaRPr>
              </a:p>
              <a:p>
                <a:pPr marL="342900" indent="-342900">
                  <a:buFont typeface="+mj-lt"/>
                  <a:buAutoNum type="alphaLcPeriod" startAt="6"/>
                </a:pPr>
                <a:endParaRPr lang="en-US" sz="2000" dirty="0">
                  <a:latin typeface="Cambria" panose="02040503050406030204" pitchFamily="18" charset="0"/>
                  <a:ea typeface="Cambria" panose="02040503050406030204" pitchFamily="18" charset="0"/>
                  <a:cs typeface="Cambria" panose="02040503050406030204" pitchFamily="18" charset="0"/>
                </a:endParaRPr>
              </a:p>
              <a:p>
                <a:pPr marL="342900" indent="-342900">
                  <a:buFont typeface="+mj-lt"/>
                  <a:buAutoNum type="alphaLcPeriod" startAt="6"/>
                </a:pPr>
                <a:endParaRPr lang="en-US" sz="2000" dirty="0">
                  <a:latin typeface="Cambria" panose="02040503050406030204" pitchFamily="18" charset="0"/>
                  <a:ea typeface="Cambria" panose="02040503050406030204" pitchFamily="18" charset="0"/>
                  <a:cs typeface="Cambria" panose="02040503050406030204" pitchFamily="18" charset="0"/>
                </a:endParaRPr>
              </a:p>
              <a:p>
                <a:pPr marL="342900" indent="-342900">
                  <a:buFont typeface="+mj-lt"/>
                  <a:buAutoNum type="alphaLcPeriod" startAt="6"/>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Find the greatest common factor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18</m:t>
                    </m:r>
                  </m:oMath>
                </a14:m>
                <a:r>
                  <a:rPr lang="en-US" sz="2000" dirty="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indent="-457200">
                  <a:buFont typeface="+mj-lt"/>
                  <a:buAutoNum type="arabicPeriod" startAt="2"/>
                </a:pPr>
                <a:endParaRPr lang="en-US" sz="2000" dirty="0">
                  <a:latin typeface="Cambria" panose="02040503050406030204" pitchFamily="18" charset="0"/>
                  <a:ea typeface="Cambria" panose="02040503050406030204" pitchFamily="18" charset="0"/>
                  <a:cs typeface="Cambria" panose="02040503050406030204" pitchFamily="18" charset="0"/>
                </a:endParaRPr>
              </a:p>
            </p:txBody>
          </p:sp>
        </mc:Choice>
        <mc:Fallback xmlns="">
          <p:sp>
            <p:nvSpPr>
              <p:cNvPr id="5" name="TextBox 4">
                <a:extLst>
                  <a:ext uri="{FF2B5EF4-FFF2-40B4-BE49-F238E27FC236}">
                    <a16:creationId xmlns:a16="http://schemas.microsoft.com/office/drawing/2014/main" id="{22347CCE-34A7-8044-BA67-B5895157AE55}"/>
                  </a:ext>
                </a:extLst>
              </p:cNvPr>
              <p:cNvSpPr txBox="1">
                <a:spLocks noRot="1" noChangeAspect="1" noMove="1" noResize="1" noEditPoints="1" noAdjustHandles="1" noChangeArrowheads="1" noChangeShapeType="1" noTextEdit="1"/>
              </p:cNvSpPr>
              <p:nvPr/>
            </p:nvSpPr>
            <p:spPr>
              <a:xfrm>
                <a:off x="380144" y="349706"/>
                <a:ext cx="11661168" cy="4088730"/>
              </a:xfrm>
              <a:prstGeom prst="rect">
                <a:avLst/>
              </a:prstGeom>
              <a:blipFill>
                <a:blip r:embed="rId4"/>
                <a:stretch>
                  <a:fillRect l="-543" t="-929" r="-1087"/>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DBC627A-4143-AD4E-B8AF-FA569ACE060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Rounded Rectangle 23">
            <a:extLst>
              <a:ext uri="{FF2B5EF4-FFF2-40B4-BE49-F238E27FC236}">
                <a16:creationId xmlns:a16="http://schemas.microsoft.com/office/drawing/2014/main" id="{1ECE546C-1C89-41FB-AD48-A163CA730E65}"/>
              </a:ext>
            </a:extLst>
          </p:cNvPr>
          <p:cNvSpPr/>
          <p:nvPr/>
        </p:nvSpPr>
        <p:spPr>
          <a:xfrm>
            <a:off x="6024906" y="1634165"/>
            <a:ext cx="3854645" cy="1133284"/>
          </a:xfrm>
          <a:prstGeom prst="roundRect">
            <a:avLst>
              <a:gd name="adj" fmla="val 16667"/>
            </a:avLst>
          </a:prstGeom>
          <a:noFill/>
          <a:ln w="3175" cap="flat" cmpd="sng">
            <a:solidFill>
              <a:schemeClr val="dk1"/>
            </a:solidFill>
            <a:prstDash val="solid"/>
            <a:round/>
            <a:headEnd type="none" w="sm" len="sm"/>
            <a:tailEnd type="none" w="sm" len="sm"/>
          </a:ln>
        </p:spPr>
        <p:txBody>
          <a:bodyPr spcFirstLastPara="1" wrap="square" lIns="91425" tIns="36000" rIns="91425" bIns="0" anchor="ctr" anchorCtr="0">
            <a:sp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only snacks.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only letters.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both snacks and letters.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158281B-339D-4DD2-8120-F44193B4E0F2}"/>
                  </a:ext>
                </a:extLst>
              </p:cNvPr>
              <p:cNvGraphicFramePr>
                <a:graphicFrameLocks noGrp="1"/>
              </p:cNvGraphicFramePr>
              <p:nvPr>
                <p:extLst>
                  <p:ext uri="{D42A27DB-BD31-4B8C-83A1-F6EECF244321}">
                    <p14:modId xmlns:p14="http://schemas.microsoft.com/office/powerpoint/2010/main" val="2150897716"/>
                  </p:ext>
                </p:extLst>
              </p:nvPr>
            </p:nvGraphicFramePr>
            <p:xfrm>
              <a:off x="2832129" y="4606552"/>
              <a:ext cx="6138942" cy="1602272"/>
            </p:xfrm>
            <a:graphic>
              <a:graphicData uri="http://schemas.openxmlformats.org/drawingml/2006/table">
                <a:tbl>
                  <a:tblPr bandRow="1">
                    <a:tableStyleId>{A91F0D33-8C57-4600-99A7-42BC86742BE1}</a:tableStyleId>
                  </a:tblPr>
                  <a:tblGrid>
                    <a:gridCol w="923558">
                      <a:extLst>
                        <a:ext uri="{9D8B030D-6E8A-4147-A177-3AD203B41FA5}">
                          <a16:colId xmlns:a16="http://schemas.microsoft.com/office/drawing/2014/main" val="2153743104"/>
                        </a:ext>
                      </a:extLst>
                    </a:gridCol>
                    <a:gridCol w="3911538">
                      <a:extLst>
                        <a:ext uri="{9D8B030D-6E8A-4147-A177-3AD203B41FA5}">
                          <a16:colId xmlns:a16="http://schemas.microsoft.com/office/drawing/2014/main" val="3700526111"/>
                        </a:ext>
                      </a:extLst>
                    </a:gridCol>
                    <a:gridCol w="1303846">
                      <a:extLst>
                        <a:ext uri="{9D8B030D-6E8A-4147-A177-3AD203B41FA5}">
                          <a16:colId xmlns:a16="http://schemas.microsoft.com/office/drawing/2014/main" val="3972112720"/>
                        </a:ext>
                      </a:extLst>
                    </a:gridCol>
                  </a:tblGrid>
                  <a:tr h="400568">
                    <a:tc>
                      <a:txBody>
                        <a:bodyPr/>
                        <a:lstStyle/>
                        <a:p>
                          <a:pPr marL="100965" marR="91440" indent="-57150" algn="ctr">
                            <a:spcBef>
                              <a:spcPts val="0"/>
                            </a:spcBef>
                            <a:spcAft>
                              <a:spcPts val="100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91440" algn="ctr">
                            <a:spcBef>
                              <a:spcPts val="0"/>
                            </a:spcBef>
                            <a:spcAft>
                              <a:spcPts val="1000"/>
                            </a:spcAft>
                          </a:pPr>
                          <a:r>
                            <a:rPr lang="en-US" sz="2000" b="1" dirty="0">
                              <a:effectLst/>
                              <a:latin typeface="Verdana" panose="020B0604030504040204" pitchFamily="34" charset="0"/>
                              <a:ea typeface="Verdana" panose="020B0604030504040204" pitchFamily="34" charset="0"/>
                            </a:rPr>
                            <a:t>Factors</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91440" algn="ctr">
                            <a:spcBef>
                              <a:spcPts val="0"/>
                            </a:spcBef>
                            <a:spcAft>
                              <a:spcPts val="1000"/>
                            </a:spcAft>
                          </a:pPr>
                          <a:r>
                            <a:rPr lang="en-US" sz="2000" b="1" dirty="0">
                              <a:effectLst/>
                              <a:latin typeface="Verdana" panose="020B0604030504040204" pitchFamily="34" charset="0"/>
                              <a:ea typeface="Verdana" panose="020B0604030504040204" pitchFamily="34" charset="0"/>
                            </a:rPr>
                            <a:t>GCF:</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349917750"/>
                      </a:ext>
                    </a:extLst>
                  </a:tr>
                  <a:tr h="600852">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𝟔</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91440" algn="ctr">
                            <a:spcBef>
                              <a:spcPts val="0"/>
                            </a:spcBef>
                            <a:spcAft>
                              <a:spcPts val="100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91440" algn="ctr">
                            <a:spcBef>
                              <a:spcPts val="0"/>
                            </a:spcBef>
                            <a:spcAft>
                              <a:spcPts val="100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7635925"/>
                      </a:ext>
                    </a:extLst>
                  </a:tr>
                  <a:tr h="600852">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𝟏𝟖</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91440" algn="ctr">
                            <a:spcBef>
                              <a:spcPts val="0"/>
                            </a:spcBef>
                            <a:spcAft>
                              <a:spcPts val="100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516257275"/>
                      </a:ext>
                    </a:extLst>
                  </a:tr>
                </a:tbl>
              </a:graphicData>
            </a:graphic>
          </p:graphicFrame>
        </mc:Choice>
        <mc:Fallback xmlns="">
          <p:graphicFrame>
            <p:nvGraphicFramePr>
              <p:cNvPr id="2" name="Table 1">
                <a:extLst>
                  <a:ext uri="{FF2B5EF4-FFF2-40B4-BE49-F238E27FC236}">
                    <a16:creationId xmlns:a16="http://schemas.microsoft.com/office/drawing/2014/main" id="{9158281B-339D-4DD2-8120-F44193B4E0F2}"/>
                  </a:ext>
                </a:extLst>
              </p:cNvPr>
              <p:cNvGraphicFramePr>
                <a:graphicFrameLocks noGrp="1"/>
              </p:cNvGraphicFramePr>
              <p:nvPr>
                <p:extLst>
                  <p:ext uri="{D42A27DB-BD31-4B8C-83A1-F6EECF244321}">
                    <p14:modId xmlns:p14="http://schemas.microsoft.com/office/powerpoint/2010/main" val="2150897716"/>
                  </p:ext>
                </p:extLst>
              </p:nvPr>
            </p:nvGraphicFramePr>
            <p:xfrm>
              <a:off x="2832129" y="4606552"/>
              <a:ext cx="6138942" cy="1602272"/>
            </p:xfrm>
            <a:graphic>
              <a:graphicData uri="http://schemas.openxmlformats.org/drawingml/2006/table">
                <a:tbl>
                  <a:tblPr bandRow="1">
                    <a:tableStyleId>{A91F0D33-8C57-4600-99A7-42BC86742BE1}</a:tableStyleId>
                  </a:tblPr>
                  <a:tblGrid>
                    <a:gridCol w="923558">
                      <a:extLst>
                        <a:ext uri="{9D8B030D-6E8A-4147-A177-3AD203B41FA5}">
                          <a16:colId xmlns:a16="http://schemas.microsoft.com/office/drawing/2014/main" val="2153743104"/>
                        </a:ext>
                      </a:extLst>
                    </a:gridCol>
                    <a:gridCol w="3911538">
                      <a:extLst>
                        <a:ext uri="{9D8B030D-6E8A-4147-A177-3AD203B41FA5}">
                          <a16:colId xmlns:a16="http://schemas.microsoft.com/office/drawing/2014/main" val="3700526111"/>
                        </a:ext>
                      </a:extLst>
                    </a:gridCol>
                    <a:gridCol w="1303846">
                      <a:extLst>
                        <a:ext uri="{9D8B030D-6E8A-4147-A177-3AD203B41FA5}">
                          <a16:colId xmlns:a16="http://schemas.microsoft.com/office/drawing/2014/main" val="3972112720"/>
                        </a:ext>
                      </a:extLst>
                    </a:gridCol>
                  </a:tblGrid>
                  <a:tr h="400568">
                    <a:tc>
                      <a:txBody>
                        <a:bodyPr/>
                        <a:lstStyle/>
                        <a:p>
                          <a:pPr marL="100965" marR="91440" indent="-57150" algn="ctr">
                            <a:spcBef>
                              <a:spcPts val="0"/>
                            </a:spcBef>
                            <a:spcAft>
                              <a:spcPts val="100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91440" algn="ctr">
                            <a:spcBef>
                              <a:spcPts val="0"/>
                            </a:spcBef>
                            <a:spcAft>
                              <a:spcPts val="1000"/>
                            </a:spcAft>
                          </a:pPr>
                          <a:r>
                            <a:rPr lang="en-US" sz="2000" b="1" dirty="0">
                              <a:effectLst/>
                              <a:latin typeface="Verdana" panose="020B0604030504040204" pitchFamily="34" charset="0"/>
                              <a:ea typeface="Verdana" panose="020B0604030504040204" pitchFamily="34" charset="0"/>
                            </a:rPr>
                            <a:t>Factors</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91440" algn="ctr">
                            <a:spcBef>
                              <a:spcPts val="0"/>
                            </a:spcBef>
                            <a:spcAft>
                              <a:spcPts val="1000"/>
                            </a:spcAft>
                          </a:pPr>
                          <a:r>
                            <a:rPr lang="en-US" sz="2000" b="1" dirty="0">
                              <a:effectLst/>
                              <a:latin typeface="Verdana" panose="020B0604030504040204" pitchFamily="34" charset="0"/>
                              <a:ea typeface="Verdana" panose="020B0604030504040204" pitchFamily="34" charset="0"/>
                            </a:rPr>
                            <a:t>GCF:</a:t>
                          </a:r>
                          <a:endParaRPr lang="en-US" sz="2000" b="1"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349917750"/>
                      </a:ext>
                    </a:extLst>
                  </a:tr>
                  <a:tr h="600852">
                    <a:tc>
                      <a:txBody>
                        <a:bodyPr/>
                        <a:lstStyle/>
                        <a:p>
                          <a:endParaRPr lang="en-US"/>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370" t="-72340" r="-564384" b="-106383"/>
                          </a:stretch>
                        </a:blipFill>
                      </a:tcPr>
                    </a:tc>
                    <a:tc>
                      <a:txBody>
                        <a:bodyPr/>
                        <a:lstStyle/>
                        <a:p>
                          <a:pPr marL="0" marR="91440" algn="ctr">
                            <a:spcBef>
                              <a:spcPts val="0"/>
                            </a:spcBef>
                            <a:spcAft>
                              <a:spcPts val="100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91440" algn="ctr">
                            <a:spcBef>
                              <a:spcPts val="0"/>
                            </a:spcBef>
                            <a:spcAft>
                              <a:spcPts val="100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7635925"/>
                      </a:ext>
                    </a:extLst>
                  </a:tr>
                  <a:tr h="600852">
                    <a:tc>
                      <a:txBody>
                        <a:bodyPr/>
                        <a:lstStyle/>
                        <a:p>
                          <a:endParaRPr lang="en-US"/>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370" t="-168750" r="-564384" b="-4167"/>
                          </a:stretch>
                        </a:blipFill>
                      </a:tcPr>
                    </a:tc>
                    <a:tc>
                      <a:txBody>
                        <a:bodyPr/>
                        <a:lstStyle/>
                        <a:p>
                          <a:pPr marL="0" marR="91440" algn="ctr">
                            <a:spcBef>
                              <a:spcPts val="0"/>
                            </a:spcBef>
                            <a:spcAft>
                              <a:spcPts val="100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2516257275"/>
                      </a:ext>
                    </a:extLst>
                  </a:tr>
                </a:tbl>
              </a:graphicData>
            </a:graphic>
          </p:graphicFrame>
        </mc:Fallback>
      </mc:AlternateContent>
    </p:spTree>
    <p:extLst>
      <p:ext uri="{BB962C8B-B14F-4D97-AF65-F5344CB8AC3E}">
        <p14:creationId xmlns:p14="http://schemas.microsoft.com/office/powerpoint/2010/main" val="424422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0168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50</a:t>
            </a: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858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48596" y="-21868"/>
            <a:ext cx="104461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2.1.3 Try It: Greatest Common Factor</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631750" y="647334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50</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85772" y="26607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688369" y="1386026"/>
            <a:ext cx="10939781" cy="1138773"/>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Find the greatest common factor of each pair of numbers.</a:t>
            </a:r>
          </a:p>
          <a:p>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2" name="Google Shape;278;g104476d1465_1_17">
            <a:extLst>
              <a:ext uri="{FF2B5EF4-FFF2-40B4-BE49-F238E27FC236}">
                <a16:creationId xmlns:a16="http://schemas.microsoft.com/office/drawing/2014/main" id="{F37EE21E-8B35-FE4A-9307-F19691384C89}"/>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92B345F9-BA45-4C86-92BA-33C0F8488BA8}"/>
                  </a:ext>
                </a:extLst>
              </p:cNvPr>
              <p:cNvGraphicFramePr>
                <a:graphicFrameLocks noGrp="1"/>
              </p:cNvGraphicFramePr>
              <p:nvPr>
                <p:extLst>
                  <p:ext uri="{D42A27DB-BD31-4B8C-83A1-F6EECF244321}">
                    <p14:modId xmlns:p14="http://schemas.microsoft.com/office/powerpoint/2010/main" val="866896265"/>
                  </p:ext>
                </p:extLst>
              </p:nvPr>
            </p:nvGraphicFramePr>
            <p:xfrm>
              <a:off x="2520820" y="2396358"/>
              <a:ext cx="6110930" cy="3521534"/>
            </p:xfrm>
            <a:graphic>
              <a:graphicData uri="http://schemas.openxmlformats.org/drawingml/2006/table">
                <a:tbl>
                  <a:tblPr bandRow="1"/>
                  <a:tblGrid>
                    <a:gridCol w="3055465">
                      <a:extLst>
                        <a:ext uri="{9D8B030D-6E8A-4147-A177-3AD203B41FA5}">
                          <a16:colId xmlns:a16="http://schemas.microsoft.com/office/drawing/2014/main" val="2541397548"/>
                        </a:ext>
                      </a:extLst>
                    </a:gridCol>
                    <a:gridCol w="3055465">
                      <a:extLst>
                        <a:ext uri="{9D8B030D-6E8A-4147-A177-3AD203B41FA5}">
                          <a16:colId xmlns:a16="http://schemas.microsoft.com/office/drawing/2014/main" val="3305421691"/>
                        </a:ext>
                      </a:extLst>
                    </a:gridCol>
                  </a:tblGrid>
                  <a:tr h="1760767">
                    <a:tc>
                      <a:txBody>
                        <a:bodyPr/>
                        <a:lstStyle/>
                        <a:p>
                          <a:pPr marL="0" marR="91440" lvl="0" indent="0">
                            <a:spcBef>
                              <a:spcPts val="0"/>
                            </a:spcBef>
                            <a:spcAft>
                              <a:spcPts val="1000"/>
                            </a:spcAft>
                            <a:buFont typeface="+mj-lt"/>
                            <a:buNone/>
                          </a:pPr>
                          <a:r>
                            <a:rPr lang="en-US" sz="2400" dirty="0">
                              <a:effectLst/>
                              <a:latin typeface="Verdana" pitchFamily="34" charset="0"/>
                              <a:ea typeface="Verdana" pitchFamily="34" charset="0"/>
                            </a:rPr>
                            <a:t>a. </a:t>
                          </a:r>
                          <a14:m>
                            <m:oMath xmlns:m="http://schemas.openxmlformats.org/officeDocument/2006/math">
                              <m:r>
                                <a:rPr lang="en-PH" sz="2400" b="0" i="0" smtClean="0">
                                  <a:effectLst/>
                                  <a:latin typeface="Cambria Math"/>
                                  <a:ea typeface="Cambria Math" panose="02040503050406030204" pitchFamily="18" charset="0"/>
                                </a:rPr>
                                <m:t> </m:t>
                              </m:r>
                              <m:r>
                                <a:rPr lang="en-US" sz="2400" smtClean="0">
                                  <a:effectLst/>
                                  <a:latin typeface="Cambria Math" panose="02040503050406030204" pitchFamily="18" charset="0"/>
                                  <a:ea typeface="Cambria Math" panose="02040503050406030204" pitchFamily="18" charset="0"/>
                                </a:rPr>
                                <m:t>15</m:t>
                              </m:r>
                            </m:oMath>
                          </a14:m>
                          <a:r>
                            <a:rPr lang="en-US" sz="2400" dirty="0">
                              <a:effectLst/>
                              <a:latin typeface="Verdana" panose="020B0604030504040204" pitchFamily="34" charset="0"/>
                              <a:ea typeface="Verdana" panose="020B0604030504040204" pitchFamily="34" charset="0"/>
                            </a:rPr>
                            <a:t> and </a:t>
                          </a:r>
                          <a14:m>
                            <m:oMath xmlns:m="http://schemas.openxmlformats.org/officeDocument/2006/math">
                              <m:r>
                                <a:rPr lang="en-US" sz="2400">
                                  <a:effectLst/>
                                  <a:latin typeface="Cambria Math" panose="02040503050406030204" pitchFamily="18" charset="0"/>
                                  <a:ea typeface="Cambria Math" panose="02040503050406030204" pitchFamily="18" charset="0"/>
                                </a:rPr>
                                <m:t>200</m:t>
                              </m:r>
                            </m:oMath>
                          </a14:m>
                          <a:endParaRPr lang="en-US" sz="24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lnL>
                          <a:noFill/>
                        </a:lnL>
                        <a:lnR>
                          <a:noFill/>
                        </a:lnR>
                        <a:lnT>
                          <a:noFill/>
                        </a:lnT>
                        <a:lnB>
                          <a:noFill/>
                        </a:lnB>
                      </a:tcPr>
                    </a:tc>
                    <a:tc>
                      <a:txBody>
                        <a:bodyPr/>
                        <a:lstStyle/>
                        <a:p>
                          <a:pPr marL="0" marR="91440" lvl="0" indent="0">
                            <a:spcBef>
                              <a:spcPts val="0"/>
                            </a:spcBef>
                            <a:spcAft>
                              <a:spcPts val="1000"/>
                            </a:spcAft>
                            <a:buFont typeface="+mj-lt"/>
                            <a:buNone/>
                          </a:pPr>
                          <a:r>
                            <a:rPr lang="en-US" sz="2400" dirty="0">
                              <a:effectLst/>
                              <a:latin typeface="Verdana" pitchFamily="34" charset="0"/>
                              <a:ea typeface="Verdana" pitchFamily="34" charset="0"/>
                            </a:rPr>
                            <a:t>b.  </a:t>
                          </a:r>
                          <a14:m>
                            <m:oMath xmlns:m="http://schemas.openxmlformats.org/officeDocument/2006/math">
                              <m:r>
                                <a:rPr lang="en-US" sz="2400" smtClean="0">
                                  <a:effectLst/>
                                  <a:latin typeface="Cambria Math" panose="02040503050406030204" pitchFamily="18" charset="0"/>
                                  <a:ea typeface="Cambria Math" panose="02040503050406030204" pitchFamily="18" charset="0"/>
                                </a:rPr>
                                <m:t>123</m:t>
                              </m:r>
                            </m:oMath>
                          </a14:m>
                          <a:r>
                            <a:rPr lang="en-US" sz="2400" dirty="0">
                              <a:effectLst/>
                              <a:latin typeface="Verdana" panose="020B0604030504040204" pitchFamily="34" charset="0"/>
                              <a:ea typeface="Verdana" panose="020B0604030504040204" pitchFamily="34" charset="0"/>
                            </a:rPr>
                            <a:t> and </a:t>
                          </a:r>
                          <a14:m>
                            <m:oMath xmlns:m="http://schemas.openxmlformats.org/officeDocument/2006/math">
                              <m:r>
                                <a:rPr lang="en-US" sz="2400">
                                  <a:effectLst/>
                                  <a:latin typeface="Cambria Math" panose="02040503050406030204" pitchFamily="18" charset="0"/>
                                  <a:ea typeface="Cambria Math" panose="02040503050406030204" pitchFamily="18" charset="0"/>
                                </a:rPr>
                                <m:t>41</m:t>
                              </m:r>
                            </m:oMath>
                          </a14:m>
                          <a:endParaRPr lang="en-US" sz="24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572535768"/>
                      </a:ext>
                    </a:extLst>
                  </a:tr>
                  <a:tr h="1760767">
                    <a:tc>
                      <a:txBody>
                        <a:bodyPr/>
                        <a:lstStyle/>
                        <a:p>
                          <a:pPr marL="0" marR="91440" lvl="0" indent="0">
                            <a:spcBef>
                              <a:spcPts val="0"/>
                            </a:spcBef>
                            <a:spcAft>
                              <a:spcPts val="1000"/>
                            </a:spcAft>
                            <a:buFont typeface="+mj-lt"/>
                            <a:buNone/>
                          </a:pPr>
                          <a:r>
                            <a:rPr lang="en-US" sz="2400" dirty="0">
                              <a:effectLst/>
                              <a:latin typeface="Verdana" pitchFamily="34" charset="0"/>
                              <a:ea typeface="Verdana" pitchFamily="34" charset="0"/>
                            </a:rPr>
                            <a:t>c.  </a:t>
                          </a:r>
                          <a14:m>
                            <m:oMath xmlns:m="http://schemas.openxmlformats.org/officeDocument/2006/math">
                              <m:r>
                                <a:rPr lang="en-US" sz="2400" smtClean="0">
                                  <a:effectLst/>
                                  <a:latin typeface="Cambria Math" panose="02040503050406030204" pitchFamily="18" charset="0"/>
                                  <a:ea typeface="Cambria Math" panose="02040503050406030204" pitchFamily="18" charset="0"/>
                                </a:rPr>
                                <m:t>54</m:t>
                              </m:r>
                            </m:oMath>
                          </a14:m>
                          <a:r>
                            <a:rPr lang="en-US" sz="2400" dirty="0">
                              <a:effectLst/>
                              <a:latin typeface="Verdana" panose="020B0604030504040204" pitchFamily="34" charset="0"/>
                              <a:ea typeface="Verdana" panose="020B0604030504040204" pitchFamily="34" charset="0"/>
                            </a:rPr>
                            <a:t> and </a:t>
                          </a:r>
                          <a14:m>
                            <m:oMath xmlns:m="http://schemas.openxmlformats.org/officeDocument/2006/math">
                              <m:r>
                                <a:rPr lang="en-US" sz="2400">
                                  <a:effectLst/>
                                  <a:latin typeface="Cambria Math" panose="02040503050406030204" pitchFamily="18" charset="0"/>
                                  <a:ea typeface="Cambria Math" panose="02040503050406030204" pitchFamily="18" charset="0"/>
                                </a:rPr>
                                <m:t>36</m:t>
                              </m:r>
                            </m:oMath>
                          </a14:m>
                          <a:endParaRPr lang="en-US" sz="24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lnL>
                          <a:noFill/>
                        </a:lnL>
                        <a:lnR>
                          <a:noFill/>
                        </a:lnR>
                        <a:lnT>
                          <a:noFill/>
                        </a:lnT>
                        <a:lnB>
                          <a:noFill/>
                        </a:lnB>
                      </a:tcPr>
                    </a:tc>
                    <a:tc>
                      <a:txBody>
                        <a:bodyPr/>
                        <a:lstStyle/>
                        <a:p>
                          <a:pPr marL="0" marR="91440" lvl="0" indent="0">
                            <a:spcBef>
                              <a:spcPts val="0"/>
                            </a:spcBef>
                            <a:spcAft>
                              <a:spcPts val="1000"/>
                            </a:spcAft>
                            <a:buFont typeface="+mj-lt"/>
                            <a:buNone/>
                          </a:pPr>
                          <a:r>
                            <a:rPr lang="en-US" sz="2400" dirty="0">
                              <a:effectLst/>
                              <a:latin typeface="Verdana" pitchFamily="34" charset="0"/>
                              <a:ea typeface="Verdana" pitchFamily="34" charset="0"/>
                            </a:rPr>
                            <a:t>d.  </a:t>
                          </a:r>
                          <a14:m>
                            <m:oMath xmlns:m="http://schemas.openxmlformats.org/officeDocument/2006/math">
                              <m:r>
                                <a:rPr lang="en-US" sz="2400" smtClean="0">
                                  <a:effectLst/>
                                  <a:latin typeface="Cambria Math" panose="02040503050406030204" pitchFamily="18" charset="0"/>
                                  <a:ea typeface="Cambria Math" panose="02040503050406030204" pitchFamily="18" charset="0"/>
                                </a:rPr>
                                <m:t>282</m:t>
                              </m:r>
                            </m:oMath>
                          </a14:m>
                          <a:r>
                            <a:rPr lang="en-US" sz="2400" dirty="0">
                              <a:effectLst/>
                              <a:latin typeface="Verdana" panose="020B0604030504040204" pitchFamily="34" charset="0"/>
                              <a:ea typeface="Verdana" panose="020B0604030504040204" pitchFamily="34" charset="0"/>
                            </a:rPr>
                            <a:t> and </a:t>
                          </a:r>
                          <a:r>
                            <a:rPr lang="en-US" sz="2400" dirty="0">
                              <a:effectLst/>
                              <a:latin typeface="Cambria Math" panose="02040503050406030204" pitchFamily="18" charset="0"/>
                              <a:ea typeface="Cambria Math" panose="02040503050406030204" pitchFamily="18" charset="0"/>
                            </a:rPr>
                            <a:t>108</a:t>
                          </a:r>
                          <a:endParaRPr lang="en-US" sz="2400" dirty="0">
                            <a:effectLst/>
                            <a:latin typeface="Cambria Math" panose="02040503050406030204" pitchFamily="18" charset="0"/>
                            <a:ea typeface="Cambria Math" panose="02040503050406030204" pitchFamily="18"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4282053199"/>
                      </a:ext>
                    </a:extLst>
                  </a:tr>
                </a:tbl>
              </a:graphicData>
            </a:graphic>
          </p:graphicFrame>
        </mc:Choice>
        <mc:Fallback xmlns="">
          <p:graphicFrame>
            <p:nvGraphicFramePr>
              <p:cNvPr id="11" name="Table 10">
                <a:extLst>
                  <a:ext uri="{FF2B5EF4-FFF2-40B4-BE49-F238E27FC236}">
                    <a16:creationId xmlns:a16="http://schemas.microsoft.com/office/drawing/2014/main" id="{92B345F9-BA45-4C86-92BA-33C0F8488BA8}"/>
                  </a:ext>
                </a:extLst>
              </p:cNvPr>
              <p:cNvGraphicFramePr>
                <a:graphicFrameLocks noGrp="1"/>
              </p:cNvGraphicFramePr>
              <p:nvPr>
                <p:extLst>
                  <p:ext uri="{D42A27DB-BD31-4B8C-83A1-F6EECF244321}">
                    <p14:modId xmlns:p14="http://schemas.microsoft.com/office/powerpoint/2010/main" val="866896265"/>
                  </p:ext>
                </p:extLst>
              </p:nvPr>
            </p:nvGraphicFramePr>
            <p:xfrm>
              <a:off x="2520820" y="2396358"/>
              <a:ext cx="6110930" cy="3521534"/>
            </p:xfrm>
            <a:graphic>
              <a:graphicData uri="http://schemas.openxmlformats.org/drawingml/2006/table">
                <a:tbl>
                  <a:tblPr bandRow="1"/>
                  <a:tblGrid>
                    <a:gridCol w="3055465">
                      <a:extLst>
                        <a:ext uri="{9D8B030D-6E8A-4147-A177-3AD203B41FA5}">
                          <a16:colId xmlns:a16="http://schemas.microsoft.com/office/drawing/2014/main" val="2541397548"/>
                        </a:ext>
                      </a:extLst>
                    </a:gridCol>
                    <a:gridCol w="3055465">
                      <a:extLst>
                        <a:ext uri="{9D8B030D-6E8A-4147-A177-3AD203B41FA5}">
                          <a16:colId xmlns:a16="http://schemas.microsoft.com/office/drawing/2014/main" val="3305421691"/>
                        </a:ext>
                      </a:extLst>
                    </a:gridCol>
                  </a:tblGrid>
                  <a:tr h="1760767">
                    <a:tc>
                      <a:txBody>
                        <a:bodyPr/>
                        <a:lstStyle/>
                        <a:p>
                          <a:endParaRPr lang="en-US"/>
                        </a:p>
                      </a:txBody>
                      <a:tcPr marL="68580" marR="68580" marT="0" marB="0">
                        <a:lnL>
                          <a:noFill/>
                        </a:lnL>
                        <a:lnR>
                          <a:noFill/>
                        </a:lnR>
                        <a:lnT>
                          <a:noFill/>
                        </a:lnT>
                        <a:lnB>
                          <a:noFill/>
                        </a:lnB>
                        <a:blipFill>
                          <a:blip r:embed="rId5"/>
                          <a:stretch>
                            <a:fillRect t="-5755" r="-100000" b="-100719"/>
                          </a:stretch>
                        </a:blipFill>
                      </a:tcPr>
                    </a:tc>
                    <a:tc>
                      <a:txBody>
                        <a:bodyPr/>
                        <a:lstStyle/>
                        <a:p>
                          <a:endParaRPr lang="en-US"/>
                        </a:p>
                      </a:txBody>
                      <a:tcPr marL="68580" marR="68580" marT="0" marB="0">
                        <a:lnL>
                          <a:noFill/>
                        </a:lnL>
                        <a:lnR>
                          <a:noFill/>
                        </a:lnR>
                        <a:lnT>
                          <a:noFill/>
                        </a:lnT>
                        <a:lnB>
                          <a:noFill/>
                        </a:lnB>
                        <a:blipFill>
                          <a:blip r:embed="rId5"/>
                          <a:stretch>
                            <a:fillRect l="-100000" t="-5755" b="-100719"/>
                          </a:stretch>
                        </a:blipFill>
                      </a:tcPr>
                    </a:tc>
                    <a:extLst>
                      <a:ext uri="{0D108BD9-81ED-4DB2-BD59-A6C34878D82A}">
                        <a16:rowId xmlns:a16="http://schemas.microsoft.com/office/drawing/2014/main" val="572535768"/>
                      </a:ext>
                    </a:extLst>
                  </a:tr>
                  <a:tr h="1760767">
                    <a:tc>
                      <a:txBody>
                        <a:bodyPr/>
                        <a:lstStyle/>
                        <a:p>
                          <a:endParaRPr lang="en-US"/>
                        </a:p>
                      </a:txBody>
                      <a:tcPr marL="68580" marR="68580" marT="0" marB="0">
                        <a:lnL>
                          <a:noFill/>
                        </a:lnL>
                        <a:lnR>
                          <a:noFill/>
                        </a:lnR>
                        <a:lnT>
                          <a:noFill/>
                        </a:lnT>
                        <a:lnB>
                          <a:noFill/>
                        </a:lnB>
                        <a:blipFill>
                          <a:blip r:embed="rId5"/>
                          <a:stretch>
                            <a:fillRect t="-105755" r="-100000" b="-719"/>
                          </a:stretch>
                        </a:blipFill>
                      </a:tcPr>
                    </a:tc>
                    <a:tc>
                      <a:txBody>
                        <a:bodyPr/>
                        <a:lstStyle/>
                        <a:p>
                          <a:endParaRPr lang="en-US"/>
                        </a:p>
                      </a:txBody>
                      <a:tcPr marL="68580" marR="68580" marT="0" marB="0">
                        <a:lnL>
                          <a:noFill/>
                        </a:lnL>
                        <a:lnR>
                          <a:noFill/>
                        </a:lnR>
                        <a:lnT>
                          <a:noFill/>
                        </a:lnT>
                        <a:lnB>
                          <a:noFill/>
                        </a:lnB>
                        <a:blipFill>
                          <a:blip r:embed="rId5"/>
                          <a:stretch>
                            <a:fillRect l="-100000" t="-105755" b="-719"/>
                          </a:stretch>
                        </a:blipFill>
                      </a:tcPr>
                    </a:tc>
                    <a:extLst>
                      <a:ext uri="{0D108BD9-81ED-4DB2-BD59-A6C34878D82A}">
                        <a16:rowId xmlns:a16="http://schemas.microsoft.com/office/drawing/2014/main" val="4282053199"/>
                      </a:ext>
                    </a:extLst>
                  </a:tr>
                </a:tbl>
              </a:graphicData>
            </a:graphic>
          </p:graphicFrame>
        </mc:Fallback>
      </mc:AlternateContent>
    </p:spTree>
    <p:extLst>
      <p:ext uri="{BB962C8B-B14F-4D97-AF65-F5344CB8AC3E}">
        <p14:creationId xmlns:p14="http://schemas.microsoft.com/office/powerpoint/2010/main" val="3840359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9507"/>
            <a:ext cx="563850" cy="658368"/>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35325"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482885" y="462722"/>
                <a:ext cx="11568701" cy="2215991"/>
              </a:xfrm>
              <a:prstGeom prst="rect">
                <a:avLst/>
              </a:prstGeom>
              <a:noFill/>
            </p:spPr>
            <p:txBody>
              <a:bodyPr wrap="square" rtlCol="0">
                <a:spAutoFit/>
              </a:bodyPr>
              <a:lstStyle/>
              <a:p>
                <a:pPr marL="457200" marR="9144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Penelope is organizing the teacher-student relay race. The teams must be divided evenly, with no participants left out. If there are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56</m:t>
                    </m:r>
                  </m:oMath>
                </a14:m>
                <a:r>
                  <a:rPr lang="en-US" sz="2400" dirty="0">
                    <a:latin typeface="Verdana" panose="020B0604030504040204" pitchFamily="34" charset="0"/>
                    <a:ea typeface="Verdana" panose="020B0604030504040204" pitchFamily="34" charset="0"/>
                    <a:cs typeface="Verdana" panose="020B0604030504040204" pitchFamily="34" charset="0"/>
                  </a:rPr>
                  <a:t> students registered and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21</m:t>
                    </m:r>
                  </m:oMath>
                </a14:m>
                <a:r>
                  <a:rPr lang="en-US" sz="2400" dirty="0">
                    <a:latin typeface="Verdana" panose="020B0604030504040204" pitchFamily="34" charset="0"/>
                    <a:ea typeface="Verdana" panose="020B0604030504040204" pitchFamily="34" charset="0"/>
                    <a:cs typeface="Verdana" panose="020B0604030504040204" pitchFamily="34" charset="0"/>
                  </a:rPr>
                  <a:t> teachers, what is the greatest number of teacher-student teams that will be able to participate in the relay race?</a:t>
                </a:r>
                <a:endParaRPr lang="en-US" sz="2400" dirty="0">
                  <a:latin typeface="Verdana" panose="020B0604030504040204" pitchFamily="34" charset="0"/>
                  <a:ea typeface="Verdana" panose="020B0604030504040204" pitchFamily="34" charset="0"/>
                  <a:cs typeface="Cambria" panose="02040503050406030204" pitchFamily="18" charset="0"/>
                </a:endParaRPr>
              </a:p>
              <a:p>
                <a:pPr marR="91440"/>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dirty="0">
                  <a:latin typeface="Cambria" panose="02040503050406030204" pitchFamily="18" charset="0"/>
                  <a:ea typeface="Cambria" panose="02040503050406030204" pitchFamily="18" charset="0"/>
                  <a:cs typeface="Cambria" panose="02040503050406030204" pitchFamily="18" charset="0"/>
                </a:endParaRPr>
              </a:p>
            </p:txBody>
          </p:sp>
        </mc:Choice>
        <mc:Fallback xmlns="">
          <p:sp>
            <p:nvSpPr>
              <p:cNvPr id="5" name="TextBox 4">
                <a:extLst>
                  <a:ext uri="{FF2B5EF4-FFF2-40B4-BE49-F238E27FC236}">
                    <a16:creationId xmlns:a16="http://schemas.microsoft.com/office/drawing/2014/main" id="{22347CCE-34A7-8044-BA67-B5895157AE55}"/>
                  </a:ext>
                </a:extLst>
              </p:cNvPr>
              <p:cNvSpPr txBox="1">
                <a:spLocks noRot="1" noChangeAspect="1" noMove="1" noResize="1" noEditPoints="1" noAdjustHandles="1" noChangeArrowheads="1" noChangeShapeType="1" noTextEdit="1"/>
              </p:cNvSpPr>
              <p:nvPr/>
            </p:nvSpPr>
            <p:spPr>
              <a:xfrm>
                <a:off x="482885" y="462722"/>
                <a:ext cx="11568701" cy="2215991"/>
              </a:xfrm>
              <a:prstGeom prst="rect">
                <a:avLst/>
              </a:prstGeom>
              <a:blipFill>
                <a:blip r:embed="rId4"/>
                <a:stretch>
                  <a:fillRect l="-768" t="-2286"/>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DBC627A-4143-AD4E-B8AF-FA569ACE060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161466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28617"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50</a:t>
            </a:r>
          </a:p>
        </p:txBody>
      </p:sp>
    </p:spTree>
    <p:extLst>
      <p:ext uri="{BB962C8B-B14F-4D97-AF65-F5344CB8AC3E}">
        <p14:creationId xmlns:p14="http://schemas.microsoft.com/office/powerpoint/2010/main" val="540227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7738"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519476" y="-25005"/>
            <a:ext cx="1038827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300" b="1" dirty="0">
                <a:solidFill>
                  <a:srgbClr val="54B5D1"/>
                </a:solidFill>
                <a:latin typeface="Verdana"/>
                <a:ea typeface="Verdana"/>
                <a:cs typeface="Verdana"/>
                <a:sym typeface="Verdana"/>
              </a:rPr>
              <a:t>2.1.4 Guided Instruction: Writing Equivalent Fractions Using GCF</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519103" y="203221"/>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660665" y="642892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50</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526273" y="1300696"/>
                <a:ext cx="11381475" cy="4535024"/>
              </a:xfrm>
              <a:prstGeom prst="rect">
                <a:avLst/>
              </a:prstGeom>
              <a:noFill/>
            </p:spPr>
            <p:txBody>
              <a:bodyPr wrap="square" rtlCol="0">
                <a:spAutoFit/>
              </a:bodyPr>
              <a:lstStyle/>
              <a:p>
                <a:pPr marR="91440"/>
                <a:r>
                  <a:rPr lang="en-US" sz="2000" dirty="0">
                    <a:latin typeface="Verdana" panose="020B0604030504040204" pitchFamily="34" charset="0"/>
                    <a:ea typeface="Verdana" panose="020B0604030504040204" pitchFamily="34" charset="0"/>
                    <a:cs typeface="Verdana" panose="020B0604030504040204" pitchFamily="34" charset="0"/>
                  </a:rPr>
                  <a:t>The GCF can also be used to rewrite fractions. When using the GCF to write an equivalent fraction, the result is often said to be in “simplest” form.</a:t>
                </a:r>
              </a:p>
              <a:p>
                <a:pPr marR="91440"/>
                <a:endParaRPr lang="en-US" sz="2000" dirty="0">
                  <a:latin typeface="Verdana" panose="020B0604030504040204" pitchFamily="34" charset="0"/>
                  <a:ea typeface="Verdana" panose="020B0604030504040204" pitchFamily="34" charset="0"/>
                  <a:cs typeface="Cambria" panose="02040503050406030204" pitchFamily="18" charset="0"/>
                </a:endParaRPr>
              </a:p>
              <a:p>
                <a:pPr marR="91440"/>
                <a:endParaRPr lang="en-US" sz="2000" dirty="0">
                  <a:latin typeface="Verdana" panose="020B0604030504040204" pitchFamily="34" charset="0"/>
                  <a:ea typeface="Verdana" panose="020B0604030504040204" pitchFamily="34" charset="0"/>
                  <a:cs typeface="Cambria" panose="02040503050406030204" pitchFamily="18" charset="0"/>
                </a:endParaRPr>
              </a:p>
              <a:p>
                <a:pPr marR="91440"/>
                <a:endParaRPr lang="en-US" sz="2000" dirty="0">
                  <a:latin typeface="Verdana" panose="020B0604030504040204" pitchFamily="34" charset="0"/>
                  <a:ea typeface="Verdana" panose="020B0604030504040204" pitchFamily="34" charset="0"/>
                  <a:cs typeface="Cambria" panose="02040503050406030204" pitchFamily="18" charset="0"/>
                </a:endParaRPr>
              </a:p>
              <a:p>
                <a:pPr marR="91440"/>
                <a:endParaRPr lang="en-US" sz="2000" dirty="0">
                  <a:latin typeface="Verdana" panose="020B0604030504040204" pitchFamily="34" charset="0"/>
                  <a:ea typeface="Verdana" panose="020B0604030504040204" pitchFamily="34" charset="0"/>
                  <a:cs typeface="Cambria" panose="02040503050406030204" pitchFamily="18" charset="0"/>
                </a:endParaRPr>
              </a:p>
              <a:p>
                <a:pPr marR="91440"/>
                <a:endParaRPr lang="en-US" sz="2000" dirty="0">
                  <a:latin typeface="Verdana" panose="020B0604030504040204" pitchFamily="34" charset="0"/>
                  <a:ea typeface="Verdana" panose="020B0604030504040204" pitchFamily="34" charset="0"/>
                  <a:cs typeface="Cambria" panose="02040503050406030204" pitchFamily="18" charset="0"/>
                </a:endParaRPr>
              </a:p>
              <a:p>
                <a:pPr marR="91440"/>
                <a:endParaRPr lang="en-US" sz="2000" dirty="0">
                  <a:latin typeface="Verdana" panose="020B0604030504040204" pitchFamily="34" charset="0"/>
                  <a:ea typeface="Verdana" panose="020B0604030504040204" pitchFamily="34" charset="0"/>
                  <a:cs typeface="Cambria" panose="02040503050406030204" pitchFamily="18" charset="0"/>
                </a:endParaRPr>
              </a:p>
              <a:p>
                <a:pPr marR="91440"/>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marR="91440" indent="-457200">
                  <a:buFont typeface="+mj-lt"/>
                  <a:buAutoNum type="arabicPeriod"/>
                </a:pPr>
                <a:r>
                  <a:rPr lang="en-US" sz="2000" dirty="0">
                    <a:latin typeface="Verdana" panose="020B0604030504040204" pitchFamily="34" charset="0"/>
                    <a:ea typeface="Verdana" panose="020B0604030504040204" pitchFamily="34" charset="0"/>
                    <a:cs typeface="Cambria" panose="02040503050406030204" pitchFamily="18" charset="0"/>
                  </a:rPr>
                  <a:t>I</a:t>
                </a:r>
                <a:r>
                  <a:rPr lang="en-US" sz="2000" dirty="0">
                    <a:latin typeface="Verdana" panose="020B0604030504040204" pitchFamily="34" charset="0"/>
                    <a:ea typeface="Verdana" panose="020B0604030504040204" pitchFamily="34" charset="0"/>
                    <a:cs typeface="Verdana" panose="020B0604030504040204" pitchFamily="34" charset="0"/>
                  </a:rPr>
                  <a:t>n the fraction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25</m:t>
                        </m:r>
                      </m:num>
                      <m:den>
                        <m:r>
                          <a:rPr lang="en-US" sz="2000" i="1">
                            <a:latin typeface="Cambria Math" panose="02040503050406030204" pitchFamily="18" charset="0"/>
                            <a:ea typeface="Cambria Math" panose="02040503050406030204" pitchFamily="18" charset="0"/>
                            <a:cs typeface="Cambria Math" panose="02040503050406030204" pitchFamily="18" charset="0"/>
                          </a:rPr>
                          <m:t>90</m:t>
                        </m:r>
                      </m:den>
                    </m:f>
                  </m:oMath>
                </a14:m>
                <a:r>
                  <a:rPr lang="en-US" sz="2000" dirty="0">
                    <a:latin typeface="Verdana" panose="020B0604030504040204" pitchFamily="34" charset="0"/>
                    <a:ea typeface="Verdana" panose="020B0604030504040204" pitchFamily="34" charset="0"/>
                    <a:cs typeface="Verdana" panose="020B0604030504040204" pitchFamily="34" charset="0"/>
                  </a:rPr>
                  <a:t>, the numerator is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25</m:t>
                    </m:r>
                  </m:oMath>
                </a14:m>
                <a:r>
                  <a:rPr lang="en-US" sz="2000" dirty="0">
                    <a:latin typeface="Verdana" panose="020B0604030504040204" pitchFamily="34" charset="0"/>
                    <a:ea typeface="Verdana" panose="020B0604030504040204" pitchFamily="34" charset="0"/>
                    <a:cs typeface="Verdana" panose="020B0604030504040204" pitchFamily="34" charset="0"/>
                  </a:rPr>
                  <a:t> and the denominator is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90</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marR="9144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greatest common factor of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25</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90</m:t>
                    </m:r>
                  </m:oMath>
                </a14:m>
                <a:r>
                  <a:rPr lang="en-US" sz="2000" dirty="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R="91440"/>
                <a:endParaRPr lang="en-US" sz="2000" dirty="0">
                  <a:latin typeface="Verdana" panose="020B0604030504040204" pitchFamily="34" charset="0"/>
                  <a:ea typeface="Verdana" panose="020B0604030504040204" pitchFamily="34" charset="0"/>
                  <a:cs typeface="Cambria" panose="02040503050406030204" pitchFamily="18" charset="0"/>
                </a:endParaRP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26273" y="1300696"/>
                <a:ext cx="11381475" cy="4535024"/>
              </a:xfrm>
              <a:prstGeom prst="rect">
                <a:avLst/>
              </a:prstGeom>
              <a:blipFill>
                <a:blip r:embed="rId5"/>
                <a:stretch>
                  <a:fillRect l="-557" t="-838"/>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2260A17C-F127-D647-A05B-7BB351158843}"/>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8" name="Group 7">
            <a:extLst>
              <a:ext uri="{FF2B5EF4-FFF2-40B4-BE49-F238E27FC236}">
                <a16:creationId xmlns:a16="http://schemas.microsoft.com/office/drawing/2014/main" id="{F6E8C27D-FEE7-4171-9230-557E416F7685}"/>
              </a:ext>
            </a:extLst>
          </p:cNvPr>
          <p:cNvGrpSpPr/>
          <p:nvPr/>
        </p:nvGrpSpPr>
        <p:grpSpPr>
          <a:xfrm>
            <a:off x="2390292" y="2267354"/>
            <a:ext cx="6927710" cy="1400944"/>
            <a:chOff x="0" y="-1"/>
            <a:chExt cx="6629400" cy="1350235"/>
          </a:xfrm>
        </p:grpSpPr>
        <p:grpSp>
          <p:nvGrpSpPr>
            <p:cNvPr id="11" name="Group 10">
              <a:extLst>
                <a:ext uri="{FF2B5EF4-FFF2-40B4-BE49-F238E27FC236}">
                  <a16:creationId xmlns:a16="http://schemas.microsoft.com/office/drawing/2014/main" id="{FD65FA01-D47B-4D71-A83B-EA6F85657DBD}"/>
                </a:ext>
              </a:extLst>
            </p:cNvPr>
            <p:cNvGrpSpPr/>
            <p:nvPr/>
          </p:nvGrpSpPr>
          <p:grpSpPr>
            <a:xfrm>
              <a:off x="0" y="-1"/>
              <a:ext cx="6629400" cy="1350235"/>
              <a:chOff x="2031300" y="3386807"/>
              <a:chExt cx="6629400" cy="1350235"/>
            </a:xfrm>
          </p:grpSpPr>
          <p:grpSp>
            <p:nvGrpSpPr>
              <p:cNvPr id="15" name="Group 14">
                <a:extLst>
                  <a:ext uri="{FF2B5EF4-FFF2-40B4-BE49-F238E27FC236}">
                    <a16:creationId xmlns:a16="http://schemas.microsoft.com/office/drawing/2014/main" id="{23DD13F1-E7A3-4629-8CD6-CB3A63E1262C}"/>
                  </a:ext>
                </a:extLst>
              </p:cNvPr>
              <p:cNvGrpSpPr/>
              <p:nvPr/>
            </p:nvGrpSpPr>
            <p:grpSpPr>
              <a:xfrm>
                <a:off x="2031300" y="3386807"/>
                <a:ext cx="6629400" cy="1350235"/>
                <a:chOff x="0" y="-1"/>
                <a:chExt cx="6629400" cy="1350235"/>
              </a:xfrm>
            </p:grpSpPr>
            <p:sp>
              <p:nvSpPr>
                <p:cNvPr id="16" name="Rectangle 15">
                  <a:extLst>
                    <a:ext uri="{FF2B5EF4-FFF2-40B4-BE49-F238E27FC236}">
                      <a16:creationId xmlns:a16="http://schemas.microsoft.com/office/drawing/2014/main" id="{08C52E43-9A4A-428C-A4EC-0E85F3C46326}"/>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sp>
              <p:nvSpPr>
                <p:cNvPr id="17" name="Rectangle 16">
                  <a:extLst>
                    <a:ext uri="{FF2B5EF4-FFF2-40B4-BE49-F238E27FC236}">
                      <a16:creationId xmlns:a16="http://schemas.microsoft.com/office/drawing/2014/main" id="{CC3221C4-1E6A-46CD-8D27-C68EFEAAF573}"/>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Cambria" panose="02040503050406030204" pitchFamily="18" charset="0"/>
                      <a:cs typeface="Cambria" panose="02040503050406030204" pitchFamily="18" charset="0"/>
                    </a:rPr>
                    <a:t> </a:t>
                  </a:r>
                </a:p>
              </p:txBody>
            </p:sp>
            <p:sp>
              <p:nvSpPr>
                <p:cNvPr id="18" name="Rounded Rectangle 58">
                  <a:extLst>
                    <a:ext uri="{FF2B5EF4-FFF2-40B4-BE49-F238E27FC236}">
                      <a16:creationId xmlns:a16="http://schemas.microsoft.com/office/drawing/2014/main" id="{BC50AEF5-1961-4CC5-B694-D2EAAE915F19}"/>
                    </a:ext>
                  </a:extLst>
                </p:cNvPr>
                <p:cNvSpPr/>
                <p:nvPr/>
              </p:nvSpPr>
              <p:spPr>
                <a:xfrm>
                  <a:off x="0" y="-1"/>
                  <a:ext cx="6629400" cy="1350235"/>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spcAft>
                      <a:spcPts val="1000"/>
                    </a:spcAft>
                  </a:pPr>
                  <a:endParaRPr lang="en-US" sz="18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685800">
                    <a:spcAft>
                      <a:spcPts val="10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To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simplify a fraction</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generate an equivalent fraction by dividing the numerator and denominator by the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GCF</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of the numerator and denominator.</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685800">
                    <a:spcAft>
                      <a:spcPts val="1000"/>
                    </a:spcAft>
                  </a:pPr>
                  <a:r>
                    <a:rPr lang="en-US" sz="1200" dirty="0">
                      <a:solidFill>
                        <a:srgbClr val="00619E"/>
                      </a:solidFill>
                      <a:latin typeface="Cambria" panose="02040503050406030204" pitchFamily="18" charset="0"/>
                      <a:ea typeface="Cambria" panose="02040503050406030204" pitchFamily="18" charset="0"/>
                      <a:cs typeface="Cambria" panose="02040503050406030204" pitchFamily="18" charset="0"/>
                    </a:rPr>
                    <a:t> </a:t>
                  </a:r>
                  <a:endParaRPr lang="en-US" sz="1200" dirty="0">
                    <a:latin typeface="Cambria" panose="02040503050406030204" pitchFamily="18" charset="0"/>
                    <a:ea typeface="Cambria" panose="02040503050406030204" pitchFamily="18" charset="0"/>
                    <a:cs typeface="Cambria" panose="02040503050406030204" pitchFamily="18" charset="0"/>
                  </a:endParaRPr>
                </a:p>
              </p:txBody>
            </p:sp>
          </p:grpSp>
        </p:grpSp>
        <p:pic>
          <p:nvPicPr>
            <p:cNvPr id="14" name="image15.png" descr="Icon&#10;&#10;Description automatically generated">
              <a:extLst>
                <a:ext uri="{FF2B5EF4-FFF2-40B4-BE49-F238E27FC236}">
                  <a16:creationId xmlns:a16="http://schemas.microsoft.com/office/drawing/2014/main" id="{953EC006-D776-483F-A1FA-7F71FF176D5E}"/>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174206" y="378379"/>
              <a:ext cx="539750" cy="539750"/>
            </a:xfrm>
            <a:prstGeom prst="rect">
              <a:avLst/>
            </a:prstGeom>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4266864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4285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474492" y="154113"/>
                <a:ext cx="11053112" cy="5899948"/>
              </a:xfrm>
              <a:prstGeom prst="rect">
                <a:avLst/>
              </a:prstGeom>
              <a:noFill/>
            </p:spPr>
            <p:txBody>
              <a:bodyPr wrap="square" rtlCol="0">
                <a:spAutoFit/>
              </a:bodyPr>
              <a:lstStyle/>
              <a:p>
                <a:pPr marL="457200" marR="9144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Divide the numerator and denominator by the GCF. What is the resulting fraction?</a:t>
                </a:r>
              </a:p>
              <a:p>
                <a:pPr marL="457200" marR="91440" indent="-457200">
                  <a:buFont typeface="+mj-lt"/>
                  <a:buAutoNum type="alphaLcPeriod" startAt="2"/>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marR="91440" indent="-457200">
                  <a:buFont typeface="+mj-lt"/>
                  <a:buAutoNum type="alphaLcPeriod" startAt="2"/>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marR="91440" indent="-457200">
                  <a:buFont typeface="+mj-lt"/>
                  <a:buAutoNum type="alphaLcPeriod" startAt="2"/>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marR="91440" indent="-457200">
                  <a:buFont typeface="+mj-lt"/>
                  <a:buAutoNum type="alphaLcPeriod" startAt="2"/>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marR="91440" indent="-457200">
                  <a:buFont typeface="+mj-lt"/>
                  <a:buAutoNum type="alphaLcPeriod" startAt="2"/>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marR="91440" indent="-457200">
                  <a:buFont typeface="+mj-lt"/>
                  <a:buAutoNum type="alphaLcPeriod" startAt="2"/>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514350" marR="91440" indent="-51435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statement to describe the relationship between the fractions.</a:t>
                </a:r>
              </a:p>
              <a:p>
                <a:pPr marL="342900" marR="91440" indent="-3429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1313" marR="91440" indent="195263"/>
                <a:r>
                  <a:rPr lang="en-US" sz="2000" dirty="0">
                    <a:latin typeface="Verdana" panose="020B0604030504040204" pitchFamily="34" charset="0"/>
                    <a:ea typeface="Verdana" panose="020B0604030504040204" pitchFamily="34" charset="0"/>
                    <a:cs typeface="Verdana" panose="020B0604030504040204" pitchFamily="34" charset="0"/>
                  </a:rPr>
                  <a:t>After dividing the numerator and denominator of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25</m:t>
                        </m:r>
                      </m:num>
                      <m:den>
                        <m:r>
                          <a:rPr lang="en-US" sz="2000" i="1">
                            <a:latin typeface="Cambria Math" panose="02040503050406030204" pitchFamily="18" charset="0"/>
                            <a:ea typeface="Cambria Math" panose="02040503050406030204" pitchFamily="18" charset="0"/>
                            <a:cs typeface="Cambria Math" panose="02040503050406030204" pitchFamily="18" charset="0"/>
                          </a:rPr>
                          <m:t>90</m:t>
                        </m:r>
                      </m:den>
                    </m:f>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341313" marR="91440" indent="195263"/>
                <a:endParaRPr lang="en-US" sz="2000" dirty="0">
                  <a:latin typeface="Verdana" panose="020B0604030504040204" pitchFamily="34" charset="0"/>
                  <a:ea typeface="Verdana" panose="020B0604030504040204" pitchFamily="34" charset="0"/>
                  <a:cs typeface="Verdana" panose="020B0604030504040204" pitchFamily="34" charset="0"/>
                </a:endParaRPr>
              </a:p>
              <a:p>
                <a:pPr marL="341313" marR="91440" indent="195263"/>
                <a:r>
                  <a:rPr lang="en-US" sz="2000" dirty="0">
                    <a:latin typeface="Verdana" panose="020B0604030504040204" pitchFamily="34" charset="0"/>
                    <a:ea typeface="Verdana" panose="020B0604030504040204" pitchFamily="34" charset="0"/>
                    <a:cs typeface="Verdana" panose="020B0604030504040204" pitchFamily="34" charset="0"/>
                  </a:rPr>
                  <a:t>by their GCF, the resulting fraction,           ,	                  </a:t>
                </a:r>
              </a:p>
              <a:p>
                <a:pPr marL="341313" marR="91440" indent="195263"/>
                <a:endParaRPr lang="en-US" sz="2000" dirty="0">
                  <a:latin typeface="Verdana" panose="020B0604030504040204" pitchFamily="34" charset="0"/>
                  <a:ea typeface="Verdana" panose="020B0604030504040204" pitchFamily="34" charset="0"/>
                  <a:cs typeface="Verdana" panose="020B0604030504040204" pitchFamily="34" charset="0"/>
                </a:endParaRPr>
              </a:p>
              <a:p>
                <a:pPr marL="341313" marR="91440" indent="195263"/>
                <a:r>
                  <a:rPr lang="en-US" sz="2000" dirty="0">
                    <a:latin typeface="Verdana" panose="020B0604030504040204" pitchFamily="34" charset="0"/>
                    <a:ea typeface="Verdana" panose="020B0604030504040204" pitchFamily="34" charset="0"/>
                    <a:cs typeface="Verdana" panose="020B0604030504040204" pitchFamily="34" charset="0"/>
                  </a:rPr>
                  <a:t>             </a:t>
                </a:r>
              </a:p>
              <a:p>
                <a:pPr marL="341313" marR="91440" indent="195263"/>
                <a:r>
                  <a:rPr lang="en-US" sz="2000" dirty="0">
                    <a:latin typeface="Verdana" panose="020B0604030504040204" pitchFamily="34" charset="0"/>
                    <a:ea typeface="Verdana" panose="020B0604030504040204" pitchFamily="34" charset="0"/>
                    <a:cs typeface="Verdana" panose="020B0604030504040204" pitchFamily="34" charset="0"/>
                  </a:rPr>
                  <a:t>                equivalent to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25</m:t>
                        </m:r>
                      </m:num>
                      <m:den>
                        <m:r>
                          <a:rPr lang="en-US" sz="2000" i="1">
                            <a:latin typeface="Cambria Math" panose="02040503050406030204" pitchFamily="18" charset="0"/>
                            <a:ea typeface="Cambria Math" panose="02040503050406030204" pitchFamily="18" charset="0"/>
                            <a:cs typeface="Cambria Math" panose="02040503050406030204" pitchFamily="18" charset="0"/>
                          </a:rPr>
                          <m:t>90</m:t>
                        </m:r>
                      </m:den>
                    </m:f>
                  </m:oMath>
                </a14:m>
                <a:r>
                  <a:rPr lang="en-US" sz="2000" dirty="0">
                    <a:latin typeface="Verdana" panose="020B0604030504040204" pitchFamily="34" charset="0"/>
                    <a:ea typeface="Verdana" panose="020B0604030504040204" pitchFamily="34" charset="0"/>
                    <a:cs typeface="Verdana" panose="020B0604030504040204" pitchFamily="34" charset="0"/>
                  </a:rPr>
                  <a:t> , rewritten in simplest form.</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342900" marR="91440" indent="-342900">
                  <a:buFont typeface="+mj-lt"/>
                  <a:buAutoNum type="alphaLcPeriod" startAt="2"/>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marR="91440" indent="-457200">
                  <a:buFont typeface="+mj-lt"/>
                  <a:buAutoNum type="alphaLcPeriod" startAt="2"/>
                </a:pPr>
                <a:endParaRPr lang="en-US" sz="2000" dirty="0">
                  <a:latin typeface="Verdana" panose="020B0604030504040204" pitchFamily="34" charset="0"/>
                  <a:ea typeface="Verdana" panose="020B0604030504040204" pitchFamily="34" charset="0"/>
                  <a:cs typeface="Cambria" panose="02040503050406030204" pitchFamily="18"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74492" y="154113"/>
                <a:ext cx="11053112" cy="5899948"/>
              </a:xfrm>
              <a:prstGeom prst="rect">
                <a:avLst/>
              </a:prstGeom>
              <a:blipFill>
                <a:blip r:embed="rId4"/>
                <a:stretch>
                  <a:fillRect l="-574" t="-645"/>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Picture 7">
            <a:extLst>
              <a:ext uri="{FF2B5EF4-FFF2-40B4-BE49-F238E27FC236}">
                <a16:creationId xmlns:a16="http://schemas.microsoft.com/office/drawing/2014/main" id="{4EBE58C7-7D23-4B6B-A369-EC28D3B7B0D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611479" y="3747496"/>
            <a:ext cx="969042" cy="1043584"/>
          </a:xfrm>
          <a:prstGeom prst="rect">
            <a:avLst/>
          </a:prstGeom>
        </p:spPr>
      </p:pic>
      <p:sp>
        <p:nvSpPr>
          <p:cNvPr id="9" name="Rounded Rectangle 29">
            <a:extLst>
              <a:ext uri="{FF2B5EF4-FFF2-40B4-BE49-F238E27FC236}">
                <a16:creationId xmlns:a16="http://schemas.microsoft.com/office/drawing/2014/main" id="{B8009CD0-0CD3-4468-900A-50EFB1650C61}"/>
              </a:ext>
            </a:extLst>
          </p:cNvPr>
          <p:cNvSpPr/>
          <p:nvPr/>
        </p:nvSpPr>
        <p:spPr>
          <a:xfrm>
            <a:off x="1124945" y="4791080"/>
            <a:ext cx="1278694" cy="787446"/>
          </a:xfrm>
          <a:prstGeom prst="roundRect">
            <a:avLst>
              <a:gd name="adj" fmla="val 16667"/>
            </a:avLst>
          </a:prstGeom>
          <a:noFill/>
          <a:ln w="3175" cap="flat" cmpd="sng">
            <a:solidFill>
              <a:schemeClr val="dk1"/>
            </a:solidFill>
            <a:prstDash val="solid"/>
            <a:round/>
            <a:headEnd type="none" w="sm" len="sm"/>
            <a:tailEnd type="none" w="sm" len="sm"/>
          </a:ln>
        </p:spPr>
        <p:txBody>
          <a:bodyPr spcFirstLastPara="1" wrap="square" lIns="91425" tIns="45700" rIns="0" bIns="45700" anchor="ctr" anchorCtr="0">
            <a:noAutofit/>
          </a:bodyPr>
          <a:lstStyle/>
          <a:p>
            <a:pPr marL="342900" indent="-342900" algn="jus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is</a:t>
            </a: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gn="jus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is not</a:t>
            </a:r>
            <a:endParaRPr lang="en-US" sz="2000" dirty="0">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643324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0724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51</a:t>
            </a: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8151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10640" y="49001"/>
            <a:ext cx="1066902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500" b="1" dirty="0">
                <a:solidFill>
                  <a:srgbClr val="33BEA6"/>
                </a:solidFill>
                <a:latin typeface="Verdana"/>
                <a:ea typeface="Verdana"/>
                <a:cs typeface="Verdana"/>
                <a:sym typeface="Verdana"/>
              </a:rPr>
              <a:t>2.1.5 Try It: Writing Equivalent Fractions using GCF</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14777" y="650379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51</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2016" y="19415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392016" y="1477443"/>
                <a:ext cx="11587651" cy="3609706"/>
              </a:xfrm>
              <a:prstGeom prst="rect">
                <a:avLst/>
              </a:prstGeom>
              <a:noFill/>
            </p:spPr>
            <p:txBody>
              <a:bodyPr wrap="square" rtlCol="0">
                <a:spAutoFit/>
              </a:bodyPr>
              <a:lstStyle/>
              <a:p>
                <a:pPr marL="457200" marR="9144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Rewrite each fraction in simplest form using the GCF of the numerator and denominator.</a:t>
                </a: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marR="91440" indent="-457200">
                  <a:lnSpc>
                    <a:spcPct val="150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Mikayla states that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900</m:t>
                        </m:r>
                      </m:num>
                      <m:den>
                        <m:r>
                          <a:rPr lang="en-US" sz="2000" i="1">
                            <a:latin typeface="Cambria Math" panose="02040503050406030204" pitchFamily="18" charset="0"/>
                            <a:ea typeface="Cambria Math" panose="02040503050406030204" pitchFamily="18" charset="0"/>
                            <a:cs typeface="Cambria Math" panose="02040503050406030204" pitchFamily="18" charset="0"/>
                          </a:rPr>
                          <m:t>1000</m:t>
                        </m:r>
                      </m:den>
                    </m:f>
                  </m:oMath>
                </a14:m>
                <a:r>
                  <a:rPr lang="en-US" sz="2000" dirty="0">
                    <a:latin typeface="Verdana" panose="020B0604030504040204" pitchFamily="34" charset="0"/>
                    <a:ea typeface="Verdana" panose="020B0604030504040204" pitchFamily="34" charset="0"/>
                    <a:cs typeface="Verdana" panose="020B0604030504040204" pitchFamily="34" charset="0"/>
                  </a:rPr>
                  <a:t> is not the same value as</a:t>
                </a:r>
                <a:r>
                  <a:rPr lang="en-US" sz="2000" dirty="0">
                    <a:latin typeface="Verdana" panose="020B0604030504040204" pitchFamily="34" charset="0"/>
                    <a:ea typeface="Verdana" panose="020B0604030504040204" pitchFamily="34" charset="0"/>
                    <a:cs typeface="Cambria Math" panose="02040503050406030204" pitchFamily="18"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9</m:t>
                        </m:r>
                      </m:num>
                      <m:den>
                        <m:r>
                          <a:rPr lang="en-US" sz="2000" i="1">
                            <a:latin typeface="Cambria Math" panose="02040503050406030204" pitchFamily="18" charset="0"/>
                            <a:ea typeface="Cambria Math" panose="02040503050406030204" pitchFamily="18" charset="0"/>
                            <a:cs typeface="Cambria Math" panose="02040503050406030204" pitchFamily="18" charset="0"/>
                          </a:rPr>
                          <m:t>10</m:t>
                        </m:r>
                      </m:den>
                    </m:f>
                  </m:oMath>
                </a14:m>
                <a:r>
                  <a:rPr lang="en-US" sz="2000" dirty="0">
                    <a:latin typeface="Verdana" panose="020B0604030504040204" pitchFamily="34" charset="0"/>
                    <a:ea typeface="Verdana" panose="020B0604030504040204" pitchFamily="34" charset="0"/>
                    <a:cs typeface="Verdana" panose="020B0604030504040204" pitchFamily="34" charset="0"/>
                  </a:rPr>
                  <a:t>, because they are fractions of different sizes. Is she correct? Provide an explanation to support your answer.</a:t>
                </a:r>
                <a:endParaRPr lang="en-US" sz="2000" dirty="0">
                  <a:latin typeface="Verdana" panose="020B0604030504040204" pitchFamily="34" charset="0"/>
                  <a:ea typeface="Verdana" panose="020B0604030504040204" pitchFamily="34" charset="0"/>
                  <a:cs typeface="Cambria" panose="02040503050406030204" pitchFamily="18" charset="0"/>
                </a:endParaRP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392016" y="1477443"/>
                <a:ext cx="11587651" cy="3609706"/>
              </a:xfrm>
              <a:prstGeom prst="rect">
                <a:avLst/>
              </a:prstGeom>
              <a:blipFill>
                <a:blip r:embed="rId5"/>
                <a:stretch>
                  <a:fillRect l="-547" t="-1053" b="-2105"/>
                </a:stretch>
              </a:blipFill>
            </p:spPr>
            <p:txBody>
              <a:bodyPr/>
              <a:lstStyle/>
              <a:p>
                <a:r>
                  <a:rPr lang="en-US">
                    <a:noFill/>
                  </a:rPr>
                  <a:t> </a:t>
                </a:r>
              </a:p>
            </p:txBody>
          </p:sp>
        </mc:Fallback>
      </mc:AlternateContent>
      <p:sp>
        <p:nvSpPr>
          <p:cNvPr id="12" name="Google Shape;278;g104476d1465_1_17">
            <a:extLst>
              <a:ext uri="{FF2B5EF4-FFF2-40B4-BE49-F238E27FC236}">
                <a16:creationId xmlns:a16="http://schemas.microsoft.com/office/drawing/2014/main" id="{F37EE21E-8B35-FE4A-9307-F19691384C89}"/>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D632241-F155-4565-8F49-B7A9991E510C}"/>
                  </a:ext>
                </a:extLst>
              </p:cNvPr>
              <p:cNvGraphicFramePr>
                <a:graphicFrameLocks noGrp="1"/>
              </p:cNvGraphicFramePr>
              <p:nvPr>
                <p:extLst>
                  <p:ext uri="{D42A27DB-BD31-4B8C-83A1-F6EECF244321}">
                    <p14:modId xmlns:p14="http://schemas.microsoft.com/office/powerpoint/2010/main" val="3758104367"/>
                  </p:ext>
                </p:extLst>
              </p:nvPr>
            </p:nvGraphicFramePr>
            <p:xfrm>
              <a:off x="2519851" y="2423780"/>
              <a:ext cx="6884379" cy="676773"/>
            </p:xfrm>
            <a:graphic>
              <a:graphicData uri="http://schemas.openxmlformats.org/drawingml/2006/table">
                <a:tbl>
                  <a:tblPr bandRow="1"/>
                  <a:tblGrid>
                    <a:gridCol w="2520000">
                      <a:extLst>
                        <a:ext uri="{9D8B030D-6E8A-4147-A177-3AD203B41FA5}">
                          <a16:colId xmlns:a16="http://schemas.microsoft.com/office/drawing/2014/main" val="1177815641"/>
                        </a:ext>
                      </a:extLst>
                    </a:gridCol>
                    <a:gridCol w="2520000">
                      <a:extLst>
                        <a:ext uri="{9D8B030D-6E8A-4147-A177-3AD203B41FA5}">
                          <a16:colId xmlns:a16="http://schemas.microsoft.com/office/drawing/2014/main" val="3602721464"/>
                        </a:ext>
                      </a:extLst>
                    </a:gridCol>
                    <a:gridCol w="1844379">
                      <a:extLst>
                        <a:ext uri="{9D8B030D-6E8A-4147-A177-3AD203B41FA5}">
                          <a16:colId xmlns:a16="http://schemas.microsoft.com/office/drawing/2014/main" val="1574114130"/>
                        </a:ext>
                      </a:extLst>
                    </a:gridCol>
                  </a:tblGrid>
                  <a:tr h="676773">
                    <a:tc>
                      <a:txBody>
                        <a:bodyPr/>
                        <a:lstStyle/>
                        <a:p>
                          <a:pPr marL="0" marR="91440" lvl="0" indent="0">
                            <a:spcBef>
                              <a:spcPts val="0"/>
                            </a:spcBef>
                            <a:spcAft>
                              <a:spcPts val="1000"/>
                            </a:spcAft>
                            <a:buFont typeface="+mj-lt"/>
                            <a:buNone/>
                          </a:pPr>
                          <a:r>
                            <a:rPr lang="en-US" sz="2000" i="0" baseline="0" dirty="0">
                              <a:solidFill>
                                <a:srgbClr val="000000"/>
                              </a:solidFill>
                              <a:effectLst/>
                              <a:latin typeface="Verdana" panose="020B0604030504040204" pitchFamily="34" charset="0"/>
                              <a:ea typeface="Verdana" panose="020B0604030504040204" pitchFamily="34" charset="0"/>
                              <a:cs typeface="Cambria Math" panose="02040503050406030204" pitchFamily="18" charset="0"/>
                            </a:rPr>
                            <a:t>a.   </a:t>
                          </a:r>
                          <a14:m>
                            <m:oMath xmlns:m="http://schemas.openxmlformats.org/officeDocument/2006/math">
                              <m:f>
                                <m:fPr>
                                  <m:ctrlP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28</m:t>
                                  </m:r>
                                </m:den>
                              </m:f>
                            </m:oMath>
                          </a14:m>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lnL>
                          <a:noFill/>
                        </a:lnL>
                        <a:lnR>
                          <a:noFill/>
                        </a:lnR>
                        <a:lnT>
                          <a:noFill/>
                        </a:lnT>
                        <a:lnB>
                          <a:noFill/>
                        </a:lnB>
                      </a:tcPr>
                    </a:tc>
                    <a:tc>
                      <a:txBody>
                        <a:bodyPr/>
                        <a:lstStyle/>
                        <a:p>
                          <a:pPr marL="0" marR="91440" lvl="0" indent="0">
                            <a:spcBef>
                              <a:spcPts val="0"/>
                            </a:spcBef>
                            <a:spcAft>
                              <a:spcPts val="1000"/>
                            </a:spcAft>
                            <a:buFont typeface="+mj-lt"/>
                            <a:buNone/>
                          </a:pPr>
                          <a:r>
                            <a:rPr lang="en-US" sz="2000" dirty="0">
                              <a:solidFill>
                                <a:srgbClr val="000000"/>
                              </a:solidFill>
                              <a:effectLst/>
                              <a:latin typeface="Verdana" panose="020B0604030504040204" pitchFamily="34" charset="0"/>
                              <a:ea typeface="Verdana" panose="020B0604030504040204" pitchFamily="34" charset="0"/>
                              <a:cs typeface="Cambria Math" panose="02040503050406030204" pitchFamily="18" charset="0"/>
                            </a:rPr>
                            <a:t>b.   </a:t>
                          </a:r>
                          <a14:m>
                            <m:oMath xmlns:m="http://schemas.openxmlformats.org/officeDocument/2006/math">
                              <m:f>
                                <m:fPr>
                                  <m:ctrlP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45</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90</m:t>
                                  </m:r>
                                </m:den>
                              </m:f>
                            </m:oMath>
                          </a14:m>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lnL>
                          <a:noFill/>
                        </a:lnL>
                        <a:lnR>
                          <a:noFill/>
                        </a:lnR>
                        <a:lnT>
                          <a:noFill/>
                        </a:lnT>
                        <a:lnB>
                          <a:noFill/>
                        </a:lnB>
                      </a:tcPr>
                    </a:tc>
                    <a:tc>
                      <a:txBody>
                        <a:bodyPr/>
                        <a:lstStyle/>
                        <a:p>
                          <a:pPr marL="0" marR="91440" lvl="0" indent="0">
                            <a:spcBef>
                              <a:spcPts val="0"/>
                            </a:spcBef>
                            <a:spcAft>
                              <a:spcPts val="1000"/>
                            </a:spcAft>
                            <a:buFont typeface="+mj-lt"/>
                            <a:buNone/>
                          </a:pPr>
                          <a:r>
                            <a:rPr lang="en-US" sz="2000" dirty="0">
                              <a:solidFill>
                                <a:srgbClr val="000000"/>
                              </a:solidFill>
                              <a:effectLst/>
                              <a:latin typeface="Verdana" panose="020B0604030504040204" pitchFamily="34" charset="0"/>
                              <a:ea typeface="Verdana" panose="020B0604030504040204" pitchFamily="34" charset="0"/>
                              <a:cs typeface="Cambria Math" panose="02040503050406030204" pitchFamily="18" charset="0"/>
                            </a:rPr>
                            <a:t>c.   </a:t>
                          </a:r>
                          <a14:m>
                            <m:oMath xmlns:m="http://schemas.openxmlformats.org/officeDocument/2006/math">
                              <m:f>
                                <m:fPr>
                                  <m:ctrlP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16</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34</m:t>
                                  </m:r>
                                </m:den>
                              </m:f>
                            </m:oMath>
                          </a14:m>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3880908190"/>
                      </a:ext>
                    </a:extLst>
                  </a:tr>
                </a:tbl>
              </a:graphicData>
            </a:graphic>
          </p:graphicFrame>
        </mc:Choice>
        <mc:Fallback xmlns="">
          <p:graphicFrame>
            <p:nvGraphicFramePr>
              <p:cNvPr id="2" name="Table 1">
                <a:extLst>
                  <a:ext uri="{FF2B5EF4-FFF2-40B4-BE49-F238E27FC236}">
                    <a16:creationId xmlns:a16="http://schemas.microsoft.com/office/drawing/2014/main" id="{8D632241-F155-4565-8F49-B7A9991E510C}"/>
                  </a:ext>
                </a:extLst>
              </p:cNvPr>
              <p:cNvGraphicFramePr>
                <a:graphicFrameLocks noGrp="1"/>
              </p:cNvGraphicFramePr>
              <p:nvPr>
                <p:extLst>
                  <p:ext uri="{D42A27DB-BD31-4B8C-83A1-F6EECF244321}">
                    <p14:modId xmlns:p14="http://schemas.microsoft.com/office/powerpoint/2010/main" val="3758104367"/>
                  </p:ext>
                </p:extLst>
              </p:nvPr>
            </p:nvGraphicFramePr>
            <p:xfrm>
              <a:off x="2519851" y="2423780"/>
              <a:ext cx="6884379" cy="676773"/>
            </p:xfrm>
            <a:graphic>
              <a:graphicData uri="http://schemas.openxmlformats.org/drawingml/2006/table">
                <a:tbl>
                  <a:tblPr bandRow="1"/>
                  <a:tblGrid>
                    <a:gridCol w="2520000">
                      <a:extLst>
                        <a:ext uri="{9D8B030D-6E8A-4147-A177-3AD203B41FA5}">
                          <a16:colId xmlns:a16="http://schemas.microsoft.com/office/drawing/2014/main" val="1177815641"/>
                        </a:ext>
                      </a:extLst>
                    </a:gridCol>
                    <a:gridCol w="2520000">
                      <a:extLst>
                        <a:ext uri="{9D8B030D-6E8A-4147-A177-3AD203B41FA5}">
                          <a16:colId xmlns:a16="http://schemas.microsoft.com/office/drawing/2014/main" val="3602721464"/>
                        </a:ext>
                      </a:extLst>
                    </a:gridCol>
                    <a:gridCol w="1844379">
                      <a:extLst>
                        <a:ext uri="{9D8B030D-6E8A-4147-A177-3AD203B41FA5}">
                          <a16:colId xmlns:a16="http://schemas.microsoft.com/office/drawing/2014/main" val="1574114130"/>
                        </a:ext>
                      </a:extLst>
                    </a:gridCol>
                  </a:tblGrid>
                  <a:tr h="676773">
                    <a:tc>
                      <a:txBody>
                        <a:bodyPr/>
                        <a:lstStyle/>
                        <a:p>
                          <a:endParaRPr lang="en-US"/>
                        </a:p>
                      </a:txBody>
                      <a:tcPr marL="68580" marR="68580" marT="0" marB="0">
                        <a:lnL>
                          <a:noFill/>
                        </a:lnL>
                        <a:lnR>
                          <a:noFill/>
                        </a:lnR>
                        <a:lnT>
                          <a:noFill/>
                        </a:lnT>
                        <a:lnB>
                          <a:noFill/>
                        </a:lnB>
                        <a:blipFill>
                          <a:blip r:embed="rId6"/>
                          <a:stretch>
                            <a:fillRect t="-3636" r="-172864"/>
                          </a:stretch>
                        </a:blipFill>
                      </a:tcPr>
                    </a:tc>
                    <a:tc>
                      <a:txBody>
                        <a:bodyPr/>
                        <a:lstStyle/>
                        <a:p>
                          <a:endParaRPr lang="en-US"/>
                        </a:p>
                      </a:txBody>
                      <a:tcPr marL="68580" marR="68580" marT="0" marB="0">
                        <a:lnL>
                          <a:noFill/>
                        </a:lnL>
                        <a:lnR>
                          <a:noFill/>
                        </a:lnR>
                        <a:lnT>
                          <a:noFill/>
                        </a:lnT>
                        <a:lnB>
                          <a:noFill/>
                        </a:lnB>
                        <a:blipFill>
                          <a:blip r:embed="rId6"/>
                          <a:stretch>
                            <a:fillRect l="-100000" t="-3636" r="-72864"/>
                          </a:stretch>
                        </a:blipFill>
                      </a:tcPr>
                    </a:tc>
                    <a:tc>
                      <a:txBody>
                        <a:bodyPr/>
                        <a:lstStyle/>
                        <a:p>
                          <a:endParaRPr lang="en-US"/>
                        </a:p>
                      </a:txBody>
                      <a:tcPr marL="68580" marR="68580" marT="0" marB="0">
                        <a:lnL>
                          <a:noFill/>
                        </a:lnL>
                        <a:lnR>
                          <a:noFill/>
                        </a:lnR>
                        <a:lnT>
                          <a:noFill/>
                        </a:lnT>
                        <a:lnB>
                          <a:noFill/>
                        </a:lnB>
                        <a:blipFill>
                          <a:blip r:embed="rId6"/>
                          <a:stretch>
                            <a:fillRect l="-274483" t="-3636"/>
                          </a:stretch>
                        </a:blipFill>
                      </a:tcPr>
                    </a:tc>
                    <a:extLst>
                      <a:ext uri="{0D108BD9-81ED-4DB2-BD59-A6C34878D82A}">
                        <a16:rowId xmlns:a16="http://schemas.microsoft.com/office/drawing/2014/main" val="3880908190"/>
                      </a:ext>
                    </a:extLst>
                  </a:tr>
                </a:tbl>
              </a:graphicData>
            </a:graphic>
          </p:graphicFrame>
        </mc:Fallback>
      </mc:AlternateContent>
    </p:spTree>
    <p:extLst>
      <p:ext uri="{BB962C8B-B14F-4D97-AF65-F5344CB8AC3E}">
        <p14:creationId xmlns:p14="http://schemas.microsoft.com/office/powerpoint/2010/main" val="4128178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28617"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52</a:t>
            </a:r>
          </a:p>
        </p:txBody>
      </p:sp>
    </p:spTree>
    <p:extLst>
      <p:ext uri="{BB962C8B-B14F-4D97-AF65-F5344CB8AC3E}">
        <p14:creationId xmlns:p14="http://schemas.microsoft.com/office/powerpoint/2010/main" val="1790839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387643" y="275408"/>
            <a:ext cx="10417363"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2.1.6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498554" y="132244"/>
            <a:ext cx="747300" cy="747300"/>
          </a:xfrm>
          <a:prstGeom prst="rect">
            <a:avLst/>
          </a:prstGeom>
          <a:noFill/>
          <a:ln>
            <a:noFill/>
          </a:ln>
        </p:spPr>
      </p:pic>
      <p:sp>
        <p:nvSpPr>
          <p:cNvPr id="12" name="TextBox 11">
            <a:extLst>
              <a:ext uri="{FF2B5EF4-FFF2-40B4-BE49-F238E27FC236}">
                <a16:creationId xmlns:a16="http://schemas.microsoft.com/office/drawing/2014/main" id="{759C3E41-93EC-B84D-963F-86A3B15AC1C6}"/>
              </a:ext>
            </a:extLst>
          </p:cNvPr>
          <p:cNvSpPr txBox="1"/>
          <p:nvPr/>
        </p:nvSpPr>
        <p:spPr>
          <a:xfrm>
            <a:off x="402573" y="1176739"/>
            <a:ext cx="11957238" cy="3847207"/>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Find the greatest common factor (GCF) of each pair of numbers.</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Rewrite each fraction in simplest form using the GCF of the numerator and denominator.</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a16="http://schemas.microsoft.com/office/drawing/2014/main" id="{134A47CD-5DBB-654A-843E-9182A1B8FB7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777DE306-566C-4758-97A0-D60009A3CDB1}"/>
                  </a:ext>
                </a:extLst>
              </p:cNvPr>
              <p:cNvGraphicFramePr>
                <a:graphicFrameLocks noGrp="1"/>
              </p:cNvGraphicFramePr>
              <p:nvPr>
                <p:extLst>
                  <p:ext uri="{D42A27DB-BD31-4B8C-83A1-F6EECF244321}">
                    <p14:modId xmlns:p14="http://schemas.microsoft.com/office/powerpoint/2010/main" val="593224481"/>
                  </p:ext>
                </p:extLst>
              </p:nvPr>
            </p:nvGraphicFramePr>
            <p:xfrm>
              <a:off x="2568301" y="2232716"/>
              <a:ext cx="7311430" cy="520994"/>
            </p:xfrm>
            <a:graphic>
              <a:graphicData uri="http://schemas.openxmlformats.org/drawingml/2006/table">
                <a:tbl>
                  <a:tblPr bandRow="1"/>
                  <a:tblGrid>
                    <a:gridCol w="2520000">
                      <a:extLst>
                        <a:ext uri="{9D8B030D-6E8A-4147-A177-3AD203B41FA5}">
                          <a16:colId xmlns:a16="http://schemas.microsoft.com/office/drawing/2014/main" val="3874167702"/>
                        </a:ext>
                      </a:extLst>
                    </a:gridCol>
                    <a:gridCol w="2520000">
                      <a:extLst>
                        <a:ext uri="{9D8B030D-6E8A-4147-A177-3AD203B41FA5}">
                          <a16:colId xmlns:a16="http://schemas.microsoft.com/office/drawing/2014/main" val="2150643293"/>
                        </a:ext>
                      </a:extLst>
                    </a:gridCol>
                    <a:gridCol w="2271430">
                      <a:extLst>
                        <a:ext uri="{9D8B030D-6E8A-4147-A177-3AD203B41FA5}">
                          <a16:colId xmlns:a16="http://schemas.microsoft.com/office/drawing/2014/main" val="480453235"/>
                        </a:ext>
                      </a:extLst>
                    </a:gridCol>
                  </a:tblGrid>
                  <a:tr h="520994">
                    <a:tc>
                      <a:txBody>
                        <a:bodyPr/>
                        <a:lstStyle/>
                        <a:p>
                          <a:pPr marL="0" marR="91440" lvl="0" indent="0" algn="l">
                            <a:spcBef>
                              <a:spcPts val="0"/>
                            </a:spcBef>
                            <a:spcAft>
                              <a:spcPts val="1000"/>
                            </a:spcAft>
                            <a:buFont typeface="+mj-lt"/>
                            <a:buNone/>
                          </a:pPr>
                          <a:r>
                            <a:rPr lang="en-US" sz="2000" dirty="0">
                              <a:solidFill>
                                <a:srgbClr val="000000"/>
                              </a:solidFill>
                              <a:effectLst/>
                              <a:latin typeface="Verdana" panose="020B0604030504040204" pitchFamily="34" charset="0"/>
                              <a:ea typeface="Verdana" panose="020B0604030504040204" pitchFamily="34" charset="0"/>
                              <a:cs typeface="Cambria Math" panose="02040503050406030204" pitchFamily="18" charset="0"/>
                            </a:rPr>
                            <a:t>a.</a:t>
                          </a:r>
                          <a:r>
                            <a:rPr lang="en-US" sz="2000" baseline="0" dirty="0">
                              <a:solidFill>
                                <a:srgbClr val="000000"/>
                              </a:solidFill>
                              <a:effectLst/>
                              <a:latin typeface="Verdana" panose="020B0604030504040204" pitchFamily="34" charset="0"/>
                              <a:ea typeface="Verdana" panose="020B0604030504040204" pitchFamily="34" charset="0"/>
                              <a:cs typeface="Cambria Math" panose="02040503050406030204" pitchFamily="18" charset="0"/>
                            </a:rPr>
                            <a:t>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18 </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24</m:t>
                              </m:r>
                            </m:oMath>
                          </a14:m>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lnL>
                          <a:noFill/>
                        </a:lnL>
                        <a:lnR>
                          <a:noFill/>
                        </a:lnR>
                        <a:lnT>
                          <a:noFill/>
                        </a:lnT>
                        <a:lnB>
                          <a:noFill/>
                        </a:lnB>
                      </a:tcPr>
                    </a:tc>
                    <a:tc>
                      <a:txBody>
                        <a:bodyPr/>
                        <a:lstStyle/>
                        <a:p>
                          <a:pPr marL="0" marR="91440" lvl="0" indent="0" algn="l">
                            <a:spcBef>
                              <a:spcPts val="0"/>
                            </a:spcBef>
                            <a:spcAft>
                              <a:spcPts val="1000"/>
                            </a:spcAft>
                            <a:buFont typeface="+mj-lt"/>
                            <a:buNone/>
                          </a:pPr>
                          <a:r>
                            <a:rPr lang="en-US" sz="2000" dirty="0">
                              <a:solidFill>
                                <a:srgbClr val="000000"/>
                              </a:solidFill>
                              <a:effectLst/>
                              <a:ea typeface="Cambria Math" panose="02040503050406030204" pitchFamily="18" charset="0"/>
                              <a:cs typeface="Cambria Math" panose="02040503050406030204" pitchFamily="18" charset="0"/>
                            </a:rPr>
                            <a:t>b.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45</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60</m:t>
                              </m:r>
                            </m:oMath>
                          </a14:m>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lnL>
                          <a:noFill/>
                        </a:lnL>
                        <a:lnR>
                          <a:noFill/>
                        </a:lnR>
                        <a:lnT>
                          <a:noFill/>
                        </a:lnT>
                        <a:lnB>
                          <a:noFill/>
                        </a:lnB>
                      </a:tcPr>
                    </a:tc>
                    <a:tc>
                      <a:txBody>
                        <a:bodyPr/>
                        <a:lstStyle/>
                        <a:p>
                          <a:pPr marL="0" marR="91440" lvl="0" indent="0" algn="l">
                            <a:spcBef>
                              <a:spcPts val="0"/>
                            </a:spcBef>
                            <a:spcAft>
                              <a:spcPts val="1000"/>
                            </a:spcAft>
                            <a:buFont typeface="+mj-lt"/>
                            <a:buNone/>
                          </a:pPr>
                          <a:r>
                            <a:rPr lang="en-US" sz="2000" i="0" dirty="0">
                              <a:solidFill>
                                <a:srgbClr val="000000"/>
                              </a:solidFill>
                              <a:effectLst/>
                              <a:latin typeface="Verdana" panose="020B0604030504040204" pitchFamily="34" charset="0"/>
                              <a:ea typeface="Verdana" panose="020B0604030504040204" pitchFamily="34" charset="0"/>
                              <a:cs typeface="Cambria Math" panose="02040503050406030204" pitchFamily="18" charset="0"/>
                            </a:rPr>
                            <a:t>c.</a:t>
                          </a:r>
                          <a:r>
                            <a:rPr lang="en-US" sz="2000" i="0" baseline="0" dirty="0">
                              <a:solidFill>
                                <a:srgbClr val="000000"/>
                              </a:solidFill>
                              <a:effectLst/>
                              <a:latin typeface="Verdana" panose="020B0604030504040204" pitchFamily="34" charset="0"/>
                              <a:ea typeface="Verdana" panose="020B0604030504040204" pitchFamily="34" charset="0"/>
                              <a:cs typeface="Cambria Math" panose="02040503050406030204" pitchFamily="18" charset="0"/>
                            </a:rPr>
                            <a:t>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665</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30</m:t>
                              </m:r>
                            </m:oMath>
                          </a14:m>
                          <a:endParaRPr lang="en-US" sz="2000" dirty="0">
                            <a:effectLst/>
                            <a:latin typeface="Verdana" panose="020B0604030504040204" pitchFamily="34" charset="0"/>
                            <a:ea typeface="Verdana" panose="020B0604030504040204" pitchFamily="34" charset="0"/>
                            <a:cs typeface="Cambria"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3884580810"/>
                      </a:ext>
                    </a:extLst>
                  </a:tr>
                </a:tbl>
              </a:graphicData>
            </a:graphic>
          </p:graphicFrame>
        </mc:Choice>
        <mc:Fallback xmlns="">
          <p:graphicFrame>
            <p:nvGraphicFramePr>
              <p:cNvPr id="2" name="Table 1">
                <a:extLst>
                  <a:ext uri="{FF2B5EF4-FFF2-40B4-BE49-F238E27FC236}">
                    <a16:creationId xmlns:a16="http://schemas.microsoft.com/office/drawing/2014/main" id="{777DE306-566C-4758-97A0-D60009A3CDB1}"/>
                  </a:ext>
                </a:extLst>
              </p:cNvPr>
              <p:cNvGraphicFramePr>
                <a:graphicFrameLocks noGrp="1"/>
              </p:cNvGraphicFramePr>
              <p:nvPr>
                <p:extLst>
                  <p:ext uri="{D42A27DB-BD31-4B8C-83A1-F6EECF244321}">
                    <p14:modId xmlns:p14="http://schemas.microsoft.com/office/powerpoint/2010/main" val="593224481"/>
                  </p:ext>
                </p:extLst>
              </p:nvPr>
            </p:nvGraphicFramePr>
            <p:xfrm>
              <a:off x="2568301" y="2232716"/>
              <a:ext cx="7311430" cy="520994"/>
            </p:xfrm>
            <a:graphic>
              <a:graphicData uri="http://schemas.openxmlformats.org/drawingml/2006/table">
                <a:tbl>
                  <a:tblPr bandRow="1"/>
                  <a:tblGrid>
                    <a:gridCol w="2520000">
                      <a:extLst>
                        <a:ext uri="{9D8B030D-6E8A-4147-A177-3AD203B41FA5}">
                          <a16:colId xmlns:a16="http://schemas.microsoft.com/office/drawing/2014/main" val="3874167702"/>
                        </a:ext>
                      </a:extLst>
                    </a:gridCol>
                    <a:gridCol w="2520000">
                      <a:extLst>
                        <a:ext uri="{9D8B030D-6E8A-4147-A177-3AD203B41FA5}">
                          <a16:colId xmlns:a16="http://schemas.microsoft.com/office/drawing/2014/main" val="2150643293"/>
                        </a:ext>
                      </a:extLst>
                    </a:gridCol>
                    <a:gridCol w="2271430">
                      <a:extLst>
                        <a:ext uri="{9D8B030D-6E8A-4147-A177-3AD203B41FA5}">
                          <a16:colId xmlns:a16="http://schemas.microsoft.com/office/drawing/2014/main" val="480453235"/>
                        </a:ext>
                      </a:extLst>
                    </a:gridCol>
                  </a:tblGrid>
                  <a:tr h="520994">
                    <a:tc>
                      <a:txBody>
                        <a:bodyPr/>
                        <a:lstStyle/>
                        <a:p>
                          <a:endParaRPr lang="en-US"/>
                        </a:p>
                      </a:txBody>
                      <a:tcPr marL="68580" marR="68580" marT="0" marB="0">
                        <a:lnL>
                          <a:noFill/>
                        </a:lnL>
                        <a:lnR>
                          <a:noFill/>
                        </a:lnR>
                        <a:lnT>
                          <a:noFill/>
                        </a:lnT>
                        <a:lnB>
                          <a:noFill/>
                        </a:lnB>
                        <a:blipFill>
                          <a:blip r:embed="rId5"/>
                          <a:stretch>
                            <a:fillRect t="-14286" r="-189950"/>
                          </a:stretch>
                        </a:blipFill>
                      </a:tcPr>
                    </a:tc>
                    <a:tc>
                      <a:txBody>
                        <a:bodyPr/>
                        <a:lstStyle/>
                        <a:p>
                          <a:endParaRPr lang="en-US"/>
                        </a:p>
                      </a:txBody>
                      <a:tcPr marL="68580" marR="68580" marT="0" marB="0">
                        <a:lnL>
                          <a:noFill/>
                        </a:lnL>
                        <a:lnR>
                          <a:noFill/>
                        </a:lnR>
                        <a:lnT>
                          <a:noFill/>
                        </a:lnT>
                        <a:lnB>
                          <a:noFill/>
                        </a:lnB>
                        <a:blipFill>
                          <a:blip r:embed="rId5"/>
                          <a:stretch>
                            <a:fillRect l="-100505" t="-14286" r="-90909"/>
                          </a:stretch>
                        </a:blipFill>
                      </a:tcPr>
                    </a:tc>
                    <a:tc>
                      <a:txBody>
                        <a:bodyPr/>
                        <a:lstStyle/>
                        <a:p>
                          <a:endParaRPr lang="en-US"/>
                        </a:p>
                      </a:txBody>
                      <a:tcPr marL="68580" marR="68580" marT="0" marB="0">
                        <a:lnL>
                          <a:noFill/>
                        </a:lnL>
                        <a:lnR>
                          <a:noFill/>
                        </a:lnR>
                        <a:lnT>
                          <a:noFill/>
                        </a:lnT>
                        <a:lnB>
                          <a:noFill/>
                        </a:lnB>
                        <a:blipFill>
                          <a:blip r:embed="rId5"/>
                          <a:stretch>
                            <a:fillRect l="-221788" t="-14286" r="-559"/>
                          </a:stretch>
                        </a:blipFill>
                      </a:tcPr>
                    </a:tc>
                    <a:extLst>
                      <a:ext uri="{0D108BD9-81ED-4DB2-BD59-A6C34878D82A}">
                        <a16:rowId xmlns:a16="http://schemas.microsoft.com/office/drawing/2014/main" val="388458081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84634F75-20E0-410D-8BCA-8967A41E0D05}"/>
                  </a:ext>
                </a:extLst>
              </p:cNvPr>
              <p:cNvGraphicFramePr>
                <a:graphicFrameLocks noGrp="1"/>
              </p:cNvGraphicFramePr>
              <p:nvPr>
                <p:extLst>
                  <p:ext uri="{D42A27DB-BD31-4B8C-83A1-F6EECF244321}">
                    <p14:modId xmlns:p14="http://schemas.microsoft.com/office/powerpoint/2010/main" val="42275035"/>
                  </p:ext>
                </p:extLst>
              </p:nvPr>
            </p:nvGraphicFramePr>
            <p:xfrm>
              <a:off x="2519850" y="4403711"/>
              <a:ext cx="7121048" cy="620235"/>
            </p:xfrm>
            <a:graphic>
              <a:graphicData uri="http://schemas.openxmlformats.org/drawingml/2006/table">
                <a:tbl>
                  <a:tblPr bandRow="1"/>
                  <a:tblGrid>
                    <a:gridCol w="2520000">
                      <a:extLst>
                        <a:ext uri="{9D8B030D-6E8A-4147-A177-3AD203B41FA5}">
                          <a16:colId xmlns:a16="http://schemas.microsoft.com/office/drawing/2014/main" val="875910915"/>
                        </a:ext>
                      </a:extLst>
                    </a:gridCol>
                    <a:gridCol w="2520000">
                      <a:extLst>
                        <a:ext uri="{9D8B030D-6E8A-4147-A177-3AD203B41FA5}">
                          <a16:colId xmlns:a16="http://schemas.microsoft.com/office/drawing/2014/main" val="4219459763"/>
                        </a:ext>
                      </a:extLst>
                    </a:gridCol>
                    <a:gridCol w="2081048">
                      <a:extLst>
                        <a:ext uri="{9D8B030D-6E8A-4147-A177-3AD203B41FA5}">
                          <a16:colId xmlns:a16="http://schemas.microsoft.com/office/drawing/2014/main" val="760302124"/>
                        </a:ext>
                      </a:extLst>
                    </a:gridCol>
                  </a:tblGrid>
                  <a:tr h="620235">
                    <a:tc>
                      <a:txBody>
                        <a:bodyPr/>
                        <a:lstStyle/>
                        <a:p>
                          <a:pPr marL="0" marR="91440" lvl="0" indent="0">
                            <a:spcBef>
                              <a:spcPts val="0"/>
                            </a:spcBef>
                            <a:spcAft>
                              <a:spcPts val="1000"/>
                            </a:spcAft>
                            <a:buFont typeface="+mj-lt"/>
                            <a:buNone/>
                          </a:pPr>
                          <a:r>
                            <a:rPr lang="en-US" sz="2000" dirty="0">
                              <a:solidFill>
                                <a:srgbClr val="000000"/>
                              </a:solidFill>
                              <a:effectLst/>
                              <a:latin typeface="Verdana" panose="020B0604030504040204" pitchFamily="34" charset="0"/>
                              <a:ea typeface="Verdana" panose="020B0604030504040204" pitchFamily="34" charset="0"/>
                              <a:cs typeface="Cambria Math" panose="02040503050406030204" pitchFamily="18" charset="0"/>
                            </a:rPr>
                            <a:t>a.   </a:t>
                          </a:r>
                          <a14:m>
                            <m:oMath xmlns:m="http://schemas.openxmlformats.org/officeDocument/2006/math">
                              <m:f>
                                <m:fPr>
                                  <m:ctrlP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29</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87</m:t>
                                  </m:r>
                                </m:den>
                              </m:f>
                            </m:oMath>
                          </a14:m>
                          <a:r>
                            <a:rPr lang="en-US" sz="2000"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a:noFill/>
                        </a:lnR>
                        <a:lnT>
                          <a:noFill/>
                        </a:lnT>
                        <a:lnB>
                          <a:noFill/>
                        </a:lnB>
                      </a:tcPr>
                    </a:tc>
                    <a:tc>
                      <a:txBody>
                        <a:bodyPr/>
                        <a:lstStyle/>
                        <a:p>
                          <a:pPr marL="0" marR="91440" lvl="0" indent="0">
                            <a:spcBef>
                              <a:spcPts val="0"/>
                            </a:spcBef>
                            <a:spcAft>
                              <a:spcPts val="1000"/>
                            </a:spcAft>
                            <a:buFont typeface="+mj-lt"/>
                            <a:buNone/>
                            <a:tabLst>
                              <a:tab pos="0" algn="ctr"/>
                              <a:tab pos="84138" algn="ctr"/>
                            </a:tabLst>
                          </a:pPr>
                          <a:r>
                            <a:rPr lang="en-US" sz="2000" i="0" dirty="0">
                              <a:solidFill>
                                <a:srgbClr val="000000"/>
                              </a:solidFill>
                              <a:effectLst/>
                              <a:latin typeface="Verdana" panose="020B0604030504040204" pitchFamily="34" charset="0"/>
                              <a:ea typeface="Verdana" panose="020B0604030504040204" pitchFamily="34" charset="0"/>
                              <a:cs typeface="Cambria Math" panose="02040503050406030204" pitchFamily="18" charset="0"/>
                            </a:rPr>
                            <a:t>b.</a:t>
                          </a:r>
                          <a:r>
                            <a:rPr lang="en-US" sz="2000" i="0" baseline="0" dirty="0">
                              <a:solidFill>
                                <a:srgbClr val="000000"/>
                              </a:solidFill>
                              <a:effectLst/>
                              <a:latin typeface="Verdana" panose="020B0604030504040204" pitchFamily="34" charset="0"/>
                              <a:ea typeface="Verdana" panose="020B0604030504040204" pitchFamily="34" charset="0"/>
                              <a:cs typeface="Cambria Math" panose="02040503050406030204" pitchFamily="18" charset="0"/>
                            </a:rPr>
                            <a:t>   </a:t>
                          </a:r>
                          <a14:m>
                            <m:oMath xmlns:m="http://schemas.openxmlformats.org/officeDocument/2006/math">
                              <m:f>
                                <m:fPr>
                                  <m:ctrlP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10</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15</m:t>
                                  </m:r>
                                </m:den>
                              </m:f>
                            </m:oMath>
                          </a14:m>
                          <a:r>
                            <a:rPr lang="en-US" sz="2000" dirty="0">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a:noFill/>
                        </a:lnR>
                        <a:lnT>
                          <a:noFill/>
                        </a:lnT>
                        <a:lnB>
                          <a:noFill/>
                        </a:lnB>
                      </a:tcPr>
                    </a:tc>
                    <a:tc>
                      <a:txBody>
                        <a:bodyPr/>
                        <a:lstStyle/>
                        <a:p>
                          <a:pPr marL="0" marR="91440" lvl="0" indent="0">
                            <a:spcBef>
                              <a:spcPts val="0"/>
                            </a:spcBef>
                            <a:spcAft>
                              <a:spcPts val="1000"/>
                            </a:spcAft>
                            <a:buFont typeface="+mj-lt"/>
                            <a:buNone/>
                            <a:tabLst/>
                          </a:pPr>
                          <a:r>
                            <a:rPr lang="en-US" sz="2000" dirty="0">
                              <a:solidFill>
                                <a:srgbClr val="000000"/>
                              </a:solidFill>
                              <a:effectLst/>
                              <a:latin typeface="Verdana" panose="020B0604030504040204" pitchFamily="34" charset="0"/>
                              <a:ea typeface="Verdana" panose="020B0604030504040204" pitchFamily="34" charset="0"/>
                              <a:cs typeface="Cambria Math" panose="02040503050406030204" pitchFamily="18" charset="0"/>
                            </a:rPr>
                            <a:t>c.   </a:t>
                          </a:r>
                          <a14:m>
                            <m:oMath xmlns:m="http://schemas.openxmlformats.org/officeDocument/2006/math">
                              <m:f>
                                <m:fPr>
                                  <m:ctrlP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175</m:t>
                                  </m:r>
                                </m:num>
                                <m:den>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210</m:t>
                                  </m:r>
                                </m:den>
                              </m:f>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a:noFill/>
                        </a:lnR>
                        <a:lnT>
                          <a:noFill/>
                        </a:lnT>
                        <a:lnB>
                          <a:noFill/>
                        </a:lnB>
                      </a:tcPr>
                    </a:tc>
                    <a:extLst>
                      <a:ext uri="{0D108BD9-81ED-4DB2-BD59-A6C34878D82A}">
                        <a16:rowId xmlns:a16="http://schemas.microsoft.com/office/drawing/2014/main" val="3511001682"/>
                      </a:ext>
                    </a:extLst>
                  </a:tr>
                </a:tbl>
              </a:graphicData>
            </a:graphic>
          </p:graphicFrame>
        </mc:Choice>
        <mc:Fallback xmlns="">
          <p:graphicFrame>
            <p:nvGraphicFramePr>
              <p:cNvPr id="5" name="Table 4">
                <a:extLst>
                  <a:ext uri="{FF2B5EF4-FFF2-40B4-BE49-F238E27FC236}">
                    <a16:creationId xmlns:a16="http://schemas.microsoft.com/office/drawing/2014/main" id="{84634F75-20E0-410D-8BCA-8967A41E0D05}"/>
                  </a:ext>
                </a:extLst>
              </p:cNvPr>
              <p:cNvGraphicFramePr>
                <a:graphicFrameLocks noGrp="1"/>
              </p:cNvGraphicFramePr>
              <p:nvPr>
                <p:extLst>
                  <p:ext uri="{D42A27DB-BD31-4B8C-83A1-F6EECF244321}">
                    <p14:modId xmlns:p14="http://schemas.microsoft.com/office/powerpoint/2010/main" val="42275035"/>
                  </p:ext>
                </p:extLst>
              </p:nvPr>
            </p:nvGraphicFramePr>
            <p:xfrm>
              <a:off x="2519850" y="4403711"/>
              <a:ext cx="7121048" cy="620235"/>
            </p:xfrm>
            <a:graphic>
              <a:graphicData uri="http://schemas.openxmlformats.org/drawingml/2006/table">
                <a:tbl>
                  <a:tblPr bandRow="1"/>
                  <a:tblGrid>
                    <a:gridCol w="2520000">
                      <a:extLst>
                        <a:ext uri="{9D8B030D-6E8A-4147-A177-3AD203B41FA5}">
                          <a16:colId xmlns:a16="http://schemas.microsoft.com/office/drawing/2014/main" val="875910915"/>
                        </a:ext>
                      </a:extLst>
                    </a:gridCol>
                    <a:gridCol w="2520000">
                      <a:extLst>
                        <a:ext uri="{9D8B030D-6E8A-4147-A177-3AD203B41FA5}">
                          <a16:colId xmlns:a16="http://schemas.microsoft.com/office/drawing/2014/main" val="4219459763"/>
                        </a:ext>
                      </a:extLst>
                    </a:gridCol>
                    <a:gridCol w="2081048">
                      <a:extLst>
                        <a:ext uri="{9D8B030D-6E8A-4147-A177-3AD203B41FA5}">
                          <a16:colId xmlns:a16="http://schemas.microsoft.com/office/drawing/2014/main" val="760302124"/>
                        </a:ext>
                      </a:extLst>
                    </a:gridCol>
                  </a:tblGrid>
                  <a:tr h="620235">
                    <a:tc>
                      <a:txBody>
                        <a:bodyPr/>
                        <a:lstStyle/>
                        <a:p>
                          <a:endParaRPr lang="en-US"/>
                        </a:p>
                      </a:txBody>
                      <a:tcPr marL="68580" marR="68580" marT="0" marB="0">
                        <a:lnL>
                          <a:noFill/>
                        </a:lnL>
                        <a:lnR>
                          <a:noFill/>
                        </a:lnR>
                        <a:lnT>
                          <a:noFill/>
                        </a:lnT>
                        <a:lnB>
                          <a:noFill/>
                        </a:lnB>
                        <a:blipFill>
                          <a:blip r:embed="rId6"/>
                          <a:stretch>
                            <a:fillRect t="-4000" r="-182412"/>
                          </a:stretch>
                        </a:blipFill>
                      </a:tcPr>
                    </a:tc>
                    <a:tc>
                      <a:txBody>
                        <a:bodyPr/>
                        <a:lstStyle/>
                        <a:p>
                          <a:endParaRPr lang="en-US"/>
                        </a:p>
                      </a:txBody>
                      <a:tcPr marL="68580" marR="68580" marT="0" marB="0">
                        <a:lnL>
                          <a:noFill/>
                        </a:lnL>
                        <a:lnR>
                          <a:noFill/>
                        </a:lnR>
                        <a:lnT>
                          <a:noFill/>
                        </a:lnT>
                        <a:lnB>
                          <a:noFill/>
                        </a:lnB>
                        <a:blipFill>
                          <a:blip r:embed="rId6"/>
                          <a:stretch>
                            <a:fillRect l="-100000" t="-4000" r="-82412"/>
                          </a:stretch>
                        </a:blipFill>
                      </a:tcPr>
                    </a:tc>
                    <a:tc>
                      <a:txBody>
                        <a:bodyPr/>
                        <a:lstStyle/>
                        <a:p>
                          <a:endParaRPr lang="en-US"/>
                        </a:p>
                      </a:txBody>
                      <a:tcPr marL="68580" marR="68580" marT="0" marB="0">
                        <a:lnL>
                          <a:noFill/>
                        </a:lnL>
                        <a:lnR>
                          <a:noFill/>
                        </a:lnR>
                        <a:lnT>
                          <a:noFill/>
                        </a:lnT>
                        <a:lnB>
                          <a:noFill/>
                        </a:lnB>
                        <a:blipFill>
                          <a:blip r:embed="rId6"/>
                          <a:stretch>
                            <a:fillRect l="-242683" t="-4000"/>
                          </a:stretch>
                        </a:blipFill>
                      </a:tcPr>
                    </a:tc>
                    <a:extLst>
                      <a:ext uri="{0D108BD9-81ED-4DB2-BD59-A6C34878D82A}">
                        <a16:rowId xmlns:a16="http://schemas.microsoft.com/office/drawing/2014/main" val="3511001682"/>
                      </a:ext>
                    </a:extLst>
                  </a:tr>
                </a:tbl>
              </a:graphicData>
            </a:graphic>
          </p:graphicFrame>
        </mc:Fallback>
      </mc:AlternateContent>
      <p:sp>
        <p:nvSpPr>
          <p:cNvPr id="13" name="Google Shape;282;g104476d1465_1_17">
            <a:extLst>
              <a:ext uri="{FF2B5EF4-FFF2-40B4-BE49-F238E27FC236}">
                <a16:creationId xmlns:a16="http://schemas.microsoft.com/office/drawing/2014/main" id="{EE3C8BB3-D8AE-154C-9B2D-B1D7451436FE}"/>
              </a:ext>
            </a:extLst>
          </p:cNvPr>
          <p:cNvSpPr txBox="1"/>
          <p:nvPr/>
        </p:nvSpPr>
        <p:spPr>
          <a:xfrm>
            <a:off x="8886696" y="648829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52</a:t>
            </a:r>
          </a:p>
        </p:txBody>
      </p:sp>
    </p:spTree>
    <p:extLst>
      <p:ext uri="{BB962C8B-B14F-4D97-AF65-F5344CB8AC3E}">
        <p14:creationId xmlns:p14="http://schemas.microsoft.com/office/powerpoint/2010/main" val="3101299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3561"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45599" y="648743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52</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381105" y="490939"/>
                <a:ext cx="11649933" cy="1569660"/>
              </a:xfrm>
              <a:prstGeom prst="rect">
                <a:avLst/>
              </a:prstGeom>
              <a:noFill/>
            </p:spPr>
            <p:txBody>
              <a:bodyPr wrap="square" rtlCol="0">
                <a:spAutoFit/>
              </a:bodyPr>
              <a:lstStyle/>
              <a:p>
                <a:pPr marL="457200" marR="9144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Mrs. </a:t>
                </a:r>
                <a:r>
                  <a:rPr lang="en-US" sz="2400" dirty="0" err="1">
                    <a:latin typeface="Verdana" panose="020B0604030504040204" pitchFamily="34" charset="0"/>
                    <a:ea typeface="Verdana" panose="020B0604030504040204" pitchFamily="34" charset="0"/>
                    <a:cs typeface="Verdana" panose="020B0604030504040204" pitchFamily="34" charset="0"/>
                  </a:rPr>
                  <a:t>Chaunuan</a:t>
                </a:r>
                <a:r>
                  <a:rPr lang="en-US" sz="2400" dirty="0">
                    <a:latin typeface="Verdana" panose="020B0604030504040204" pitchFamily="34" charset="0"/>
                    <a:ea typeface="Verdana" panose="020B0604030504040204" pitchFamily="34" charset="0"/>
                    <a:cs typeface="Verdana" panose="020B0604030504040204" pitchFamily="34" charset="0"/>
                  </a:rPr>
                  <a:t> is making gift bags filled with pencils and stickers for class prizes. Mrs. </a:t>
                </a:r>
                <a:r>
                  <a:rPr lang="en-US" sz="2400" dirty="0" err="1">
                    <a:latin typeface="Verdana" panose="020B0604030504040204" pitchFamily="34" charset="0"/>
                    <a:ea typeface="Verdana" panose="020B0604030504040204" pitchFamily="34" charset="0"/>
                    <a:cs typeface="Verdana" panose="020B0604030504040204" pitchFamily="34" charset="0"/>
                  </a:rPr>
                  <a:t>Chaunuan</a:t>
                </a:r>
                <a:r>
                  <a:rPr lang="en-US" sz="2400" dirty="0">
                    <a:latin typeface="Verdana" panose="020B0604030504040204" pitchFamily="34" charset="0"/>
                    <a:ea typeface="Verdana" panose="020B0604030504040204" pitchFamily="34" charset="0"/>
                    <a:cs typeface="Verdana" panose="020B0604030504040204" pitchFamily="34" charset="0"/>
                  </a:rPr>
                  <a:t> has</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 24 </m:t>
                    </m:r>
                  </m:oMath>
                </a14:m>
                <a:r>
                  <a:rPr lang="en-US" sz="2400" dirty="0">
                    <a:latin typeface="Verdana" panose="020B0604030504040204" pitchFamily="34" charset="0"/>
                    <a:ea typeface="Verdana" panose="020B0604030504040204" pitchFamily="34" charset="0"/>
                    <a:cs typeface="Verdana" panose="020B0604030504040204" pitchFamily="34" charset="0"/>
                  </a:rPr>
                  <a:t>pencils and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36</m:t>
                    </m:r>
                  </m:oMath>
                </a14:m>
                <a:r>
                  <a:rPr lang="en-US" sz="2400" dirty="0">
                    <a:latin typeface="Verdana" panose="020B0604030504040204" pitchFamily="34" charset="0"/>
                    <a:ea typeface="Verdana" panose="020B0604030504040204" pitchFamily="34" charset="0"/>
                    <a:cs typeface="Verdana" panose="020B0604030504040204" pitchFamily="34" charset="0"/>
                  </a:rPr>
                  <a:t> stickers to use. Each bag will have the same number of each item, with no items left over. What is the greatest number of gift bags she can make?</a:t>
                </a:r>
                <a:endParaRPr lang="en-US" sz="2400" dirty="0">
                  <a:latin typeface="Verdana" panose="020B0604030504040204" pitchFamily="34" charset="0"/>
                  <a:ea typeface="Verdana" panose="020B0604030504040204" pitchFamily="34" charset="0"/>
                  <a:cs typeface="Cambria" panose="02040503050406030204" pitchFamily="18" charset="0"/>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381105" y="490939"/>
                <a:ext cx="11649933" cy="1569660"/>
              </a:xfrm>
              <a:prstGeom prst="rect">
                <a:avLst/>
              </a:prstGeom>
              <a:blipFill>
                <a:blip r:embed="rId4"/>
                <a:stretch>
                  <a:fillRect l="-837" t="-3113" r="-366" b="-8171"/>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252468F9-493F-EA4F-B8D7-90F86F60BDF9}"/>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843614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52</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55874"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52</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582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13148" y="-50195"/>
            <a:ext cx="1074412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2.1.7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94524" y="101422"/>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394524" y="1275505"/>
                <a:ext cx="11554321" cy="3888693"/>
              </a:xfrm>
              <a:prstGeom prst="rect">
                <a:avLst/>
              </a:prstGeom>
              <a:noFill/>
            </p:spPr>
            <p:txBody>
              <a:bodyPr wrap="square" rtlCol="0">
                <a:spAutoFit/>
              </a:bodyPr>
              <a:lstStyle/>
              <a:p>
                <a:pPr marL="457200" marR="9144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Rewrite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52</m:t>
                        </m:r>
                      </m:num>
                      <m:den>
                        <m:r>
                          <a:rPr lang="en-US" sz="2000" i="1">
                            <a:latin typeface="Cambria Math" panose="02040503050406030204" pitchFamily="18" charset="0"/>
                            <a:ea typeface="Cambria Math" panose="02040503050406030204" pitchFamily="18" charset="0"/>
                            <a:cs typeface="Cambria Math" panose="02040503050406030204" pitchFamily="18" charset="0"/>
                          </a:rPr>
                          <m:t>104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 simplest form. </a:t>
                </a: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marR="91440" indent="-457200">
                  <a:buFont typeface="+mj-lt"/>
                  <a:buAutoNum type="arabicPeriod"/>
                </a:pPr>
                <a:endParaRPr lang="en-US" sz="2000" dirty="0">
                  <a:latin typeface="Verdana" panose="020B0604030504040204" pitchFamily="34" charset="0"/>
                  <a:ea typeface="Verdana" panose="020B0604030504040204" pitchFamily="34" charset="0"/>
                  <a:cs typeface="Cambria" panose="02040503050406030204" pitchFamily="18" charset="0"/>
                </a:endParaRPr>
              </a:p>
              <a:p>
                <a:pPr marL="457200" marR="91440" indent="-457200">
                  <a:buFont typeface="+mj-lt"/>
                  <a:buAutoNum type="arabicPeriod"/>
                </a:pPr>
                <a:r>
                  <a:rPr lang="en-US" sz="2000" dirty="0">
                    <a:highlight>
                      <a:srgbClr val="FFFFFF"/>
                    </a:highlight>
                    <a:latin typeface="Verdana" panose="020B0604030504040204" pitchFamily="34" charset="0"/>
                    <a:ea typeface="Verdana" panose="020B0604030504040204" pitchFamily="34" charset="0"/>
                    <a:cs typeface="Verdana" panose="020B0604030504040204" pitchFamily="34" charset="0"/>
                  </a:rPr>
                  <a:t>Diego is preparing brownies and cookies for a bake sale. He has </a:t>
                </a:r>
                <a:r>
                  <a:rPr lang="en-US" sz="2000" dirty="0">
                    <a:highlight>
                      <a:srgbClr val="FFFFFF"/>
                    </a:highlight>
                    <a:latin typeface="Cambria Math" pitchFamily="18" charset="0"/>
                    <a:ea typeface="Cambria Math" pitchFamily="18" charset="0"/>
                    <a:cs typeface="Cambria Math" pitchFamily="18" charset="0"/>
                  </a:rPr>
                  <a:t>48</a:t>
                </a:r>
                <a:r>
                  <a:rPr lang="en-US" sz="2000" dirty="0">
                    <a:highlight>
                      <a:srgbClr val="FFFFFF"/>
                    </a:highlight>
                    <a:latin typeface="Verdana" panose="020B0604030504040204" pitchFamily="34" charset="0"/>
                    <a:ea typeface="Verdana" panose="020B0604030504040204" pitchFamily="34" charset="0"/>
                    <a:cs typeface="Verdana" panose="020B0604030504040204" pitchFamily="34" charset="0"/>
                  </a:rPr>
                  <a:t> brownies and </a:t>
                </a:r>
                <a:r>
                  <a:rPr lang="en-US" sz="2000" dirty="0">
                    <a:highlight>
                      <a:srgbClr val="FFFFFF"/>
                    </a:highlight>
                    <a:latin typeface="Cambria Math" pitchFamily="18" charset="0"/>
                    <a:ea typeface="Cambria Math" pitchFamily="18" charset="0"/>
                    <a:cs typeface="Cambria Math" pitchFamily="18" charset="0"/>
                  </a:rPr>
                  <a:t>64</a:t>
                </a:r>
                <a:r>
                  <a:rPr lang="en-US" sz="2000" dirty="0">
                    <a:highlight>
                      <a:srgbClr val="FFFFFF"/>
                    </a:highlight>
                    <a:latin typeface="Verdana" panose="020B0604030504040204" pitchFamily="34" charset="0"/>
                    <a:ea typeface="Verdana" panose="020B0604030504040204" pitchFamily="34" charset="0"/>
                    <a:cs typeface="Verdana" panose="020B0604030504040204" pitchFamily="34" charset="0"/>
                  </a:rPr>
                  <a:t> cookies. Diego wants to make bake sale bags. Each bag will have the same amount of each item, with no items left over. What is the greatest number of bake sale bags he can make?</a:t>
                </a:r>
                <a:endParaRPr lang="en-US" sz="2000" dirty="0">
                  <a:latin typeface="Verdana" panose="020B0604030504040204" pitchFamily="34" charset="0"/>
                  <a:ea typeface="Verdana" panose="020B0604030504040204" pitchFamily="34" charset="0"/>
                  <a:cs typeface="Cambria" panose="02040503050406030204" pitchFamily="18"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Cambria" panose="02040503050406030204" pitchFamily="18" charset="0"/>
                </a:endParaRPr>
              </a:p>
              <a:p>
                <a:pPr marL="342900" marR="91440" indent="-342900">
                  <a:buFont typeface="+mj-lt"/>
                  <a:buAutoNum type="arabicPeriod"/>
                </a:pPr>
                <a:endParaRPr lang="en-US" sz="1800" dirty="0">
                  <a:latin typeface="Cambria" panose="02040503050406030204" pitchFamily="18" charset="0"/>
                  <a:ea typeface="Cambria" panose="02040503050406030204" pitchFamily="18" charset="0"/>
                  <a:cs typeface="Cambria" panose="02040503050406030204" pitchFamily="18" charset="0"/>
                </a:endParaRP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394524" y="1275505"/>
                <a:ext cx="11554321" cy="3888693"/>
              </a:xfrm>
              <a:prstGeom prst="rect">
                <a:avLst/>
              </a:prstGeom>
              <a:blipFill>
                <a:blip r:embed="rId5"/>
                <a:stretch>
                  <a:fillRect l="-659" r="-549"/>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69767437-9B0B-9D43-A596-1373A90D9FE8}"/>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1383</TotalTime>
  <Words>1439</Words>
  <Application>Microsoft Office PowerPoint</Application>
  <PresentationFormat>Widescreen</PresentationFormat>
  <Paragraphs>276</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Verdana</vt:lpstr>
      <vt:lpstr>Courier New</vt:lpstr>
      <vt:lpstr>Century Gothic</vt:lpstr>
      <vt:lpstr>Arial</vt:lpstr>
      <vt:lpstr>Cambria Math</vt:lpstr>
      <vt:lpstr>Calibri</vt:lpstr>
      <vt:lpstr>Cambria</vt:lpstr>
      <vt:lpstr>Arial Black</vt:lpstr>
      <vt:lpstr>1_Office Theme</vt:lpstr>
      <vt:lpstr>6th Grade Math  Unit 2, Lesson 1  Finding the Greatest Common Factor  Volume 1, pg. 47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Guided Instruction</vt:lpstr>
      <vt:lpstr>PowerPoint Presentation</vt:lpstr>
      <vt:lpstr>PowerPoint Presentation</vt:lpstr>
      <vt:lpstr>Try It</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27</cp:revision>
  <dcterms:created xsi:type="dcterms:W3CDTF">2015-03-17T18:51:18Z</dcterms:created>
  <dcterms:modified xsi:type="dcterms:W3CDTF">2022-07-09T04:55:52Z</dcterms:modified>
</cp:coreProperties>
</file>