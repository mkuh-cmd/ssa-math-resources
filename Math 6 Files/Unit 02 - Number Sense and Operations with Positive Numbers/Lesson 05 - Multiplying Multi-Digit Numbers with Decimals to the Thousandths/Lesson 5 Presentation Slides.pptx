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326" r:id="rId8"/>
    <p:sldId id="327" r:id="rId9"/>
    <p:sldId id="328" r:id="rId10"/>
    <p:sldId id="329" r:id="rId11"/>
    <p:sldId id="330" r:id="rId12"/>
    <p:sldId id="289" r:id="rId13"/>
    <p:sldId id="290" r:id="rId14"/>
    <p:sldId id="308" r:id="rId15"/>
    <p:sldId id="331" r:id="rId16"/>
    <p:sldId id="332" r:id="rId17"/>
    <p:sldId id="333" r:id="rId18"/>
    <p:sldId id="334" r:id="rId19"/>
    <p:sldId id="323" r:id="rId20"/>
    <p:sldId id="324" r:id="rId21"/>
    <p:sldId id="325" r:id="rId22"/>
    <p:sldId id="335" r:id="rId23"/>
    <p:sldId id="320" r:id="rId24"/>
    <p:sldId id="321" r:id="rId25"/>
    <p:sldId id="302" r:id="rId26"/>
    <p:sldId id="336" r:id="rId27"/>
    <p:sldId id="306" r:id="rId28"/>
    <p:sldId id="307" r:id="rId29"/>
  </p:sldIdLst>
  <p:sldSz cx="12192000" cy="6858000"/>
  <p:notesSz cx="6858000" cy="9144000"/>
  <p:embeddedFontLst>
    <p:embeddedFont>
      <p:font typeface="Arial Black" panose="020B0A04020102020204" pitchFamily="34" charset="0"/>
      <p:regular r:id="rId31"/>
      <p:bold r:id="rId32"/>
    </p:embeddedFont>
    <p:embeddedFont>
      <p:font typeface="Calibri" panose="020F0502020204030204" pitchFamily="34" charset="0"/>
      <p:regular r:id="rId33"/>
      <p:bold r:id="rId34"/>
      <p:italic r:id="rId35"/>
      <p:boldItalic r:id="rId36"/>
    </p:embeddedFont>
    <p:embeddedFont>
      <p:font typeface="Cambria Math" panose="02040503050406030204" pitchFamily="18" charset="0"/>
      <p:regular r:id="rId37"/>
    </p:embeddedFont>
    <p:embeddedFont>
      <p:font typeface="Century Gothic" panose="020B0502020202020204" pitchFamily="34" charset="0"/>
      <p:regular r:id="rId38"/>
      <p:bold r:id="rId39"/>
      <p:italic r:id="rId40"/>
      <p:boldItalic r:id="rId41"/>
    </p:embeddedFont>
    <p:embeddedFont>
      <p:font typeface="Verdana" panose="020B060403050404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647"/>
    <a:srgbClr val="FCBD1E"/>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A28C82-34EA-420B-AC62-D4CB1BF4EA1F}" v="76" dt="2021-12-30T19:00:20.164"/>
  </p1510:revLst>
</p1510:revInfo>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35" autoAdjust="0"/>
    <p:restoredTop sz="94694"/>
  </p:normalViewPr>
  <p:slideViewPr>
    <p:cSldViewPr snapToGrid="0">
      <p:cViewPr varScale="1">
        <p:scale>
          <a:sx n="62" d="100"/>
          <a:sy n="62" d="100"/>
        </p:scale>
        <p:origin x="84" y="111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6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84032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270617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781573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8152624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1768527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141142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7546216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0323586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7446307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0.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60.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90.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41.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43.pn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140969"/>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2, Lesson 5</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Multiplying Multi-Digit Numbers with Decimals to the Thousandths </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67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2031743"/>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07225" y="103867"/>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59925" y="241671"/>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3800"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77805" y="1454877"/>
            <a:ext cx="11036389" cy="437251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a:sym typeface="Verdana"/>
              </a:rPr>
              <a:t>MA.6.NSO.2.1</a:t>
            </a:r>
          </a:p>
          <a:p>
            <a:pPr indent="0">
              <a:buNone/>
            </a:pPr>
            <a:r>
              <a:rPr lang="en-US" sz="3500" dirty="0">
                <a:latin typeface="Verdana" panose="020B0604030504040204" pitchFamily="34" charset="0"/>
                <a:ea typeface="Verdana" panose="020B0604030504040204" pitchFamily="34" charset="0"/>
                <a:cs typeface="Times New Roman" panose="02020603050405020304" pitchFamily="18" charset="0"/>
              </a:rPr>
              <a:t>Multiply and divide positive multi-digit numbers with decimals to the thousandths, including using a standard algorithm with procedural fluency.</a:t>
            </a:r>
            <a:endParaRPr lang="en-US" sz="3500" i="1" dirty="0">
              <a:latin typeface="Verdana" panose="020B0604030504040204" pitchFamily="34" charset="0"/>
              <a:ea typeface="Verdana" panose="020B0604030504040204" pitchFamily="34" charset="0"/>
              <a:cs typeface="Times New Roman" panose="02020603050405020304" pitchFamily="18" charset="0"/>
            </a:endParaRPr>
          </a:p>
          <a:p>
            <a:pPr indent="0">
              <a:buNone/>
            </a:pP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647152" y="17107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7732"/>
            <a:ext cx="563850" cy="658368"/>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514713" y="167969"/>
            <a:ext cx="1047045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784322"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67</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647152" y="1606469"/>
            <a:ext cx="11109419" cy="50595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2" name="Google Shape;278;g104476d1465_1_17">
            <a:extLst>
              <a:ext uri="{FF2B5EF4-FFF2-40B4-BE49-F238E27FC236}">
                <a16:creationId xmlns:a16="http://schemas.microsoft.com/office/drawing/2014/main" id="{79998D09-ED40-CB40-ADB3-2C926DC27F8F}"/>
              </a:ext>
            </a:extLst>
          </p:cNvPr>
          <p:cNvSpPr/>
          <p:nvPr/>
        </p:nvSpPr>
        <p:spPr>
          <a:xfrm>
            <a:off x="-3255"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9632"/>
            <a:ext cx="563850" cy="658368"/>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99499" y="3198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535671"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7625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67</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32949" y="1505060"/>
            <a:ext cx="11223621" cy="469457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solidFill>
                  <a:schemeClr val="tx1"/>
                </a:solidFill>
                <a:latin typeface="Verdana" panose="020B0604030504040204" pitchFamily="34" charset="0"/>
                <a:ea typeface="Verdana" panose="020B0604030504040204" pitchFamily="34" charset="0"/>
                <a:cs typeface="Verdana"/>
                <a:sym typeface="Verdana"/>
              </a:rPr>
              <a:t>I can </a:t>
            </a:r>
            <a:r>
              <a:rPr lang="en-US" sz="3500" dirty="0">
                <a:latin typeface="Verdana" panose="020B0604030504040204" pitchFamily="34" charset="0"/>
                <a:ea typeface="Verdana" panose="020B0604030504040204" pitchFamily="34" charset="0"/>
              </a:rPr>
              <a:t>fluently multiply multi-digit numbers with decimals to the thousandths.</a:t>
            </a:r>
            <a:r>
              <a:rPr lang="en-US" sz="3500" i="1" dirty="0">
                <a:latin typeface="Verdana" panose="020B0604030504040204" pitchFamily="34" charset="0"/>
                <a:ea typeface="Verdana" panose="020B0604030504040204" pitchFamily="34" charset="0"/>
              </a:rPr>
              <a:t> </a:t>
            </a:r>
          </a:p>
        </p:txBody>
      </p:sp>
      <p:sp>
        <p:nvSpPr>
          <p:cNvPr id="9" name="Google Shape;278;g104476d1465_1_17">
            <a:extLst>
              <a:ext uri="{FF2B5EF4-FFF2-40B4-BE49-F238E27FC236}">
                <a16:creationId xmlns:a16="http://schemas.microsoft.com/office/drawing/2014/main" id="{4411E69F-FF2D-4E45-A95C-56414991DB11}"/>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708121"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22600" y="-8225"/>
            <a:ext cx="102055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2.5.1 Warm-Up: Decimal Products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57675" y="16482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740779"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68</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457675" y="1466150"/>
                <a:ext cx="11320668"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Times New Roman" panose="02020603050405020304" pitchFamily="18" charset="0"/>
                  </a:rPr>
                  <a:t>Place a digit in each blue box so that the product is as close to </a:t>
                </a:r>
                <a14:m>
                  <m:oMath xmlns:m="http://schemas.openxmlformats.org/officeDocument/2006/math">
                    <m:r>
                      <a:rPr lang="en-US" sz="2400" i="1">
                        <a:latin typeface="Cambria Math" panose="02040503050406030204" pitchFamily="18" charset="0"/>
                        <a:ea typeface="Calibri" panose="020F0502020204030204" pitchFamily="34" charset="0"/>
                        <a:cs typeface="Times New Roman" panose="02020603050405020304" pitchFamily="18" charset="0"/>
                      </a:rPr>
                      <m:t>50</m:t>
                    </m:r>
                  </m:oMath>
                </a14:m>
                <a:r>
                  <a:rPr lang="en-US" sz="2400" dirty="0">
                    <a:latin typeface="Verdana" panose="020B0604030504040204" pitchFamily="34" charset="0"/>
                    <a:ea typeface="Verdana" panose="020B0604030504040204" pitchFamily="34" charset="0"/>
                    <a:cs typeface="Times New Roman" panose="02020603050405020304" pitchFamily="18" charset="0"/>
                  </a:rPr>
                  <a:t> as possible. Use only digits </a:t>
                </a:r>
                <a14:m>
                  <m:oMath xmlns:m="http://schemas.openxmlformats.org/officeDocument/2006/math">
                    <m:r>
                      <a:rPr lang="en-US" sz="2400" i="1">
                        <a:latin typeface="Cambria Math" panose="02040503050406030204" pitchFamily="18" charset="0"/>
                        <a:ea typeface="Calibri" panose="020F0502020204030204" pitchFamily="34" charset="0"/>
                        <a:cs typeface="Times New Roman" panose="02020603050405020304" pitchFamily="18" charset="0"/>
                      </a:rPr>
                      <m:t>1</m:t>
                    </m:r>
                  </m:oMath>
                </a14:m>
                <a:r>
                  <a:rPr lang="en-US" sz="2400" dirty="0">
                    <a:latin typeface="Verdana" panose="020B0604030504040204" pitchFamily="34" charset="0"/>
                    <a:ea typeface="Verdana" panose="020B0604030504040204" pitchFamily="34" charset="0"/>
                    <a:cs typeface="Times New Roman" panose="02020603050405020304" pitchFamily="18" charset="0"/>
                  </a:rPr>
                  <a:t> to </a:t>
                </a:r>
                <a14:m>
                  <m:oMath xmlns:m="http://schemas.openxmlformats.org/officeDocument/2006/math">
                    <m:r>
                      <a:rPr lang="en-US" sz="2400" i="1">
                        <a:latin typeface="Cambria Math" panose="02040503050406030204" pitchFamily="18" charset="0"/>
                        <a:ea typeface="Calibri" panose="020F0502020204030204" pitchFamily="34" charset="0"/>
                        <a:cs typeface="Times New Roman" panose="02020603050405020304" pitchFamily="18" charset="0"/>
                      </a:rPr>
                      <m:t>9</m:t>
                    </m:r>
                  </m:oMath>
                </a14:m>
                <a:r>
                  <a:rPr lang="en-US" sz="2400" dirty="0">
                    <a:latin typeface="Verdana" panose="020B0604030504040204" pitchFamily="34" charset="0"/>
                    <a:ea typeface="Verdana" panose="020B0604030504040204" pitchFamily="34" charset="0"/>
                    <a:cs typeface="Times New Roman" panose="02020603050405020304" pitchFamily="18" charset="0"/>
                  </a:rPr>
                  <a:t>, at most one time each.</a:t>
                </a:r>
                <a:endParaRPr lang="en-US" sz="2400" i="1"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457675" y="1466150"/>
                <a:ext cx="11320668" cy="1200329"/>
              </a:xfrm>
              <a:prstGeom prst="rect">
                <a:avLst/>
              </a:prstGeom>
              <a:blipFill>
                <a:blip r:embed="rId5"/>
                <a:stretch>
                  <a:fillRect l="-897" t="-4211" r="-561"/>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733F64CC-F62E-3D45-B066-56DBFBB732F6}"/>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Picture 3">
            <a:extLst>
              <a:ext uri="{FF2B5EF4-FFF2-40B4-BE49-F238E27FC236}">
                <a16:creationId xmlns:a16="http://schemas.microsoft.com/office/drawing/2014/main" id="{EDF0FB2D-D4A6-40AD-9FF8-9442C15668B1}"/>
              </a:ext>
            </a:extLst>
          </p:cNvPr>
          <p:cNvPicPr>
            <a:picLocks noChangeAspect="1"/>
          </p:cNvPicPr>
          <p:nvPr/>
        </p:nvPicPr>
        <p:blipFill>
          <a:blip r:embed="rId6"/>
          <a:stretch>
            <a:fillRect/>
          </a:stretch>
        </p:blipFill>
        <p:spPr>
          <a:xfrm>
            <a:off x="2186751" y="3048547"/>
            <a:ext cx="8148150" cy="1489533"/>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682313" y="63291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68</a:t>
            </a:r>
          </a:p>
        </p:txBody>
      </p:sp>
      <p:pic>
        <p:nvPicPr>
          <p:cNvPr id="11266" name="Picture 2" descr="Icon&#10;&#10;Description automatically generated">
            <a:extLst>
              <a:ext uri="{FF2B5EF4-FFF2-40B4-BE49-F238E27FC236}">
                <a16:creationId xmlns:a16="http://schemas.microsoft.com/office/drawing/2014/main" id="{8E68AE2B-31C4-664C-9668-81B7C1673C9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492434" y="279196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2107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9043" y="6207732"/>
            <a:ext cx="563850" cy="658368"/>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74228" y="28544"/>
            <a:ext cx="1055448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2.5.2 Refresher: Reasoning with Powers of Ten</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784321"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68</a:t>
            </a:r>
          </a:p>
        </p:txBody>
      </p:sp>
      <p:pic>
        <p:nvPicPr>
          <p:cNvPr id="9" name="Picture 2" descr="Icon&#10;&#10;Description automatically generated">
            <a:extLst>
              <a:ext uri="{FF2B5EF4-FFF2-40B4-BE49-F238E27FC236}">
                <a16:creationId xmlns:a16="http://schemas.microsoft.com/office/drawing/2014/main" id="{522B94A7-8145-AF4C-A130-4689EF537FB7}"/>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78364" y="201967"/>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DC51FF2-AD43-3B4B-B9DE-330920D33388}"/>
              </a:ext>
            </a:extLst>
          </p:cNvPr>
          <p:cNvSpPr txBox="1"/>
          <p:nvPr/>
        </p:nvSpPr>
        <p:spPr>
          <a:xfrm>
            <a:off x="478364" y="1453913"/>
            <a:ext cx="11256436" cy="3622723"/>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Several expressions are shown.</a:t>
            </a:r>
          </a:p>
          <a:p>
            <a:pPr>
              <a:lnSpc>
                <a:spcPct val="107000"/>
              </a:lnSpc>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Times New Roman" panose="02020603050405020304" pitchFamily="18" charset="0"/>
              </a:rPr>
              <a:t>Work with your partner to complete the table by writing the expressions that match each value indicated.</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r>
              <a:rPr lang="en-US" sz="1800" dirty="0">
                <a:latin typeface="Verdana" panose="020B0604030504040204" pitchFamily="34" charset="0"/>
                <a:ea typeface="Calibri" panose="020F0502020204030204" pitchFamily="34" charset="0"/>
                <a:cs typeface="Times New Roman" panose="02020603050405020304" pitchFamily="18" charset="0"/>
              </a:rPr>
              <a:t> </a:t>
            </a:r>
            <a:endParaRPr lang="en-US" sz="1800" i="1" dirty="0">
              <a:latin typeface="Cambria Math" panose="02040503050406030204" pitchFamily="18" charset="0"/>
              <a:ea typeface="Calibri" panose="020F0502020204030204" pitchFamily="34" charset="0"/>
              <a:cs typeface="Times New Roman" panose="02020603050405020304" pitchFamily="18" charset="0"/>
            </a:endParaRPr>
          </a:p>
          <a:p>
            <a:pPr marL="342900" indent="-342900">
              <a:lnSpc>
                <a:spcPct val="107000"/>
              </a:lnSpc>
              <a:buFont typeface="+mj-lt"/>
              <a:buAutoNum type="arabicPeriod"/>
            </a:pPr>
            <a:endParaRPr lang="en-US" sz="1800" i="1" dirty="0">
              <a:latin typeface="Verdana" panose="020B0604030504040204" pitchFamily="34" charset="0"/>
              <a:ea typeface="Calibri" panose="020F0502020204030204" pitchFamily="34" charset="0"/>
              <a:cs typeface="Times New Roman" panose="02020603050405020304" pitchFamily="18" charset="0"/>
            </a:endParaRPr>
          </a:p>
        </p:txBody>
      </p:sp>
      <p:sp>
        <p:nvSpPr>
          <p:cNvPr id="11" name="Google Shape;278;g104476d1465_1_17">
            <a:extLst>
              <a:ext uri="{FF2B5EF4-FFF2-40B4-BE49-F238E27FC236}">
                <a16:creationId xmlns:a16="http://schemas.microsoft.com/office/drawing/2014/main" id="{EC5E91AA-DDB4-004E-BEFE-A614CB2375B4}"/>
              </a:ext>
            </a:extLst>
          </p:cNvPr>
          <p:cNvSpPr/>
          <p:nvPr/>
        </p:nvSpPr>
        <p:spPr>
          <a:xfrm>
            <a:off x="9107"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5" name="Picture 4">
            <a:extLst>
              <a:ext uri="{FF2B5EF4-FFF2-40B4-BE49-F238E27FC236}">
                <a16:creationId xmlns:a16="http://schemas.microsoft.com/office/drawing/2014/main" id="{0EA37103-0469-4223-A5E0-B931E1CC5231}"/>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r="396"/>
          <a:stretch/>
        </p:blipFill>
        <p:spPr>
          <a:xfrm>
            <a:off x="1801681" y="1898584"/>
            <a:ext cx="8808929" cy="1275573"/>
          </a:xfrm>
          <a:prstGeom prst="rect">
            <a:avLst/>
          </a:prstGeom>
        </p:spPr>
      </p:pic>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91A104BF-CCE2-4E0E-8794-0745D083C5EA}"/>
                  </a:ext>
                </a:extLst>
              </p:cNvPr>
              <p:cNvGraphicFramePr>
                <a:graphicFrameLocks noGrp="1"/>
              </p:cNvGraphicFramePr>
              <p:nvPr>
                <p:extLst>
                  <p:ext uri="{D42A27DB-BD31-4B8C-83A1-F6EECF244321}">
                    <p14:modId xmlns:p14="http://schemas.microsoft.com/office/powerpoint/2010/main" val="3019850372"/>
                  </p:ext>
                </p:extLst>
              </p:nvPr>
            </p:nvGraphicFramePr>
            <p:xfrm>
              <a:off x="2402539" y="4579304"/>
              <a:ext cx="7427413" cy="1786927"/>
            </p:xfrm>
            <a:graphic>
              <a:graphicData uri="http://schemas.openxmlformats.org/drawingml/2006/table">
                <a:tbl>
                  <a:tblPr firstRow="1" firstCol="1" bandRow="1">
                    <a:tableStyleId>{A91F0D33-8C57-4600-99A7-42BC86742BE1}</a:tableStyleId>
                  </a:tblPr>
                  <a:tblGrid>
                    <a:gridCol w="1296599">
                      <a:extLst>
                        <a:ext uri="{9D8B030D-6E8A-4147-A177-3AD203B41FA5}">
                          <a16:colId xmlns:a16="http://schemas.microsoft.com/office/drawing/2014/main" val="1580442825"/>
                        </a:ext>
                      </a:extLst>
                    </a:gridCol>
                    <a:gridCol w="2074558">
                      <a:extLst>
                        <a:ext uri="{9D8B030D-6E8A-4147-A177-3AD203B41FA5}">
                          <a16:colId xmlns:a16="http://schemas.microsoft.com/office/drawing/2014/main" val="4049308641"/>
                        </a:ext>
                      </a:extLst>
                    </a:gridCol>
                    <a:gridCol w="2074558">
                      <a:extLst>
                        <a:ext uri="{9D8B030D-6E8A-4147-A177-3AD203B41FA5}">
                          <a16:colId xmlns:a16="http://schemas.microsoft.com/office/drawing/2014/main" val="2237614679"/>
                        </a:ext>
                      </a:extLst>
                    </a:gridCol>
                    <a:gridCol w="1981698">
                      <a:extLst>
                        <a:ext uri="{9D8B030D-6E8A-4147-A177-3AD203B41FA5}">
                          <a16:colId xmlns:a16="http://schemas.microsoft.com/office/drawing/2014/main" val="3096144022"/>
                        </a:ext>
                      </a:extLst>
                    </a:gridCol>
                  </a:tblGrid>
                  <a:tr h="295661">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Value</a:t>
                          </a:r>
                          <a:endParaRPr lang="en-US" sz="2000" b="1"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Equivalent Expressions</a:t>
                          </a:r>
                          <a:endParaRPr lang="en-US" sz="2000" b="1"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86291092"/>
                      </a:ext>
                    </a:extLst>
                  </a:tr>
                  <a:tr h="49656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25</m:t>
                                </m:r>
                              </m:oMath>
                            </m:oMathPara>
                          </a14:m>
                          <a:endParaRPr lang="en-US" sz="2000" i="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2899596"/>
                      </a:ext>
                    </a:extLst>
                  </a:tr>
                  <a:tr h="49656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2.5</m:t>
                                </m:r>
                              </m:oMath>
                            </m:oMathPara>
                          </a14:m>
                          <a:endParaRPr lang="en-US" sz="2000" i="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7264963"/>
                      </a:ext>
                    </a:extLst>
                  </a:tr>
                  <a:tr h="49656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0.25</m:t>
                                </m:r>
                              </m:oMath>
                            </m:oMathPara>
                          </a14:m>
                          <a:endParaRPr lang="en-US" sz="2000" i="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9156875"/>
                      </a:ext>
                    </a:extLst>
                  </a:tr>
                </a:tbl>
              </a:graphicData>
            </a:graphic>
          </p:graphicFrame>
        </mc:Choice>
        <mc:Fallback xmlns="">
          <p:graphicFrame>
            <p:nvGraphicFramePr>
              <p:cNvPr id="6" name="Table 5">
                <a:extLst>
                  <a:ext uri="{FF2B5EF4-FFF2-40B4-BE49-F238E27FC236}">
                    <a16:creationId xmlns:a16="http://schemas.microsoft.com/office/drawing/2014/main" id="{91A104BF-CCE2-4E0E-8794-0745D083C5EA}"/>
                  </a:ext>
                </a:extLst>
              </p:cNvPr>
              <p:cNvGraphicFramePr>
                <a:graphicFrameLocks noGrp="1"/>
              </p:cNvGraphicFramePr>
              <p:nvPr>
                <p:extLst>
                  <p:ext uri="{D42A27DB-BD31-4B8C-83A1-F6EECF244321}">
                    <p14:modId xmlns:p14="http://schemas.microsoft.com/office/powerpoint/2010/main" val="3019850372"/>
                  </p:ext>
                </p:extLst>
              </p:nvPr>
            </p:nvGraphicFramePr>
            <p:xfrm>
              <a:off x="2402539" y="4579304"/>
              <a:ext cx="7427413" cy="1786927"/>
            </p:xfrm>
            <a:graphic>
              <a:graphicData uri="http://schemas.openxmlformats.org/drawingml/2006/table">
                <a:tbl>
                  <a:tblPr firstRow="1" firstCol="1" bandRow="1">
                    <a:tableStyleId>{A91F0D33-8C57-4600-99A7-42BC86742BE1}</a:tableStyleId>
                  </a:tblPr>
                  <a:tblGrid>
                    <a:gridCol w="1296599">
                      <a:extLst>
                        <a:ext uri="{9D8B030D-6E8A-4147-A177-3AD203B41FA5}">
                          <a16:colId xmlns:a16="http://schemas.microsoft.com/office/drawing/2014/main" val="1580442825"/>
                        </a:ext>
                      </a:extLst>
                    </a:gridCol>
                    <a:gridCol w="2074558">
                      <a:extLst>
                        <a:ext uri="{9D8B030D-6E8A-4147-A177-3AD203B41FA5}">
                          <a16:colId xmlns:a16="http://schemas.microsoft.com/office/drawing/2014/main" val="4049308641"/>
                        </a:ext>
                      </a:extLst>
                    </a:gridCol>
                    <a:gridCol w="2074558">
                      <a:extLst>
                        <a:ext uri="{9D8B030D-6E8A-4147-A177-3AD203B41FA5}">
                          <a16:colId xmlns:a16="http://schemas.microsoft.com/office/drawing/2014/main" val="2237614679"/>
                        </a:ext>
                      </a:extLst>
                    </a:gridCol>
                    <a:gridCol w="1981698">
                      <a:extLst>
                        <a:ext uri="{9D8B030D-6E8A-4147-A177-3AD203B41FA5}">
                          <a16:colId xmlns:a16="http://schemas.microsoft.com/office/drawing/2014/main" val="3096144022"/>
                        </a:ext>
                      </a:extLst>
                    </a:gridCol>
                  </a:tblGrid>
                  <a:tr h="297244">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Value</a:t>
                          </a:r>
                          <a:endParaRPr lang="en-US" sz="2000" b="1"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Equivalent Expressions</a:t>
                          </a:r>
                          <a:endParaRPr lang="en-US" sz="2000" b="1"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86291092"/>
                      </a:ext>
                    </a:extLst>
                  </a:tr>
                  <a:tr h="496561">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80" t="-79487" r="-475490" b="-205128"/>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2899596"/>
                      </a:ext>
                    </a:extLst>
                  </a:tr>
                  <a:tr h="496561">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80" t="-175000" r="-475490" b="-100000"/>
                          </a:stretch>
                        </a:blipFill>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rPr>
                            <a:t> </a:t>
                          </a:r>
                          <a:endParaRPr lang="en-US" sz="2000" i="1">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7264963"/>
                      </a:ext>
                    </a:extLst>
                  </a:tr>
                  <a:tr h="496561">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80" t="-282051" r="-475490" b="-2564"/>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9156875"/>
                      </a:ext>
                    </a:extLst>
                  </a:tr>
                </a:tbl>
              </a:graphicData>
            </a:graphic>
          </p:graphicFrame>
        </mc:Fallback>
      </mc:AlternateContent>
    </p:spTree>
    <p:extLst>
      <p:ext uri="{BB962C8B-B14F-4D97-AF65-F5344CB8AC3E}">
        <p14:creationId xmlns:p14="http://schemas.microsoft.com/office/powerpoint/2010/main" val="1364029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1604"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642807" y="640417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68</a:t>
            </a:r>
          </a:p>
        </p:txBody>
      </p:sp>
      <p:sp>
        <p:nvSpPr>
          <p:cNvPr id="5" name="TextBox 4">
            <a:extLst>
              <a:ext uri="{FF2B5EF4-FFF2-40B4-BE49-F238E27FC236}">
                <a16:creationId xmlns:a16="http://schemas.microsoft.com/office/drawing/2014/main" id="{F16EAAB6-B932-C047-9261-EF734547974E}"/>
              </a:ext>
            </a:extLst>
          </p:cNvPr>
          <p:cNvSpPr txBox="1"/>
          <p:nvPr/>
        </p:nvSpPr>
        <p:spPr>
          <a:xfrm>
            <a:off x="457199" y="250371"/>
            <a:ext cx="11386457" cy="5536900"/>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Times New Roman" panose="02020603050405020304" pitchFamily="18" charset="0"/>
              </a:rPr>
              <a:t>When working together through the problem, Cheryl and Miranda had a disagreement. </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rabicPeriod" startAt="2"/>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914400" indent="-452438">
              <a:lnSpc>
                <a:spcPct val="107000"/>
              </a:lnSpc>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Which student do you agree with?</a:t>
            </a:r>
          </a:p>
          <a:p>
            <a:pPr marL="342900" indent="-3429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indent="-452438">
              <a:lnSpc>
                <a:spcPct val="107000"/>
              </a:lnSpc>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Explain why you agree. </a:t>
            </a:r>
            <a:endParaRPr lang="en-US" sz="2000" i="1" dirty="0">
              <a:latin typeface="Cambria Math" panose="02040503050406030204" pitchFamily="18" charset="0"/>
              <a:ea typeface="Verdana" panose="020B0604030504040204" pitchFamily="34" charset="0"/>
              <a:cs typeface="Times New Roman" panose="02020603050405020304" pitchFamily="18" charset="0"/>
            </a:endParaRPr>
          </a:p>
          <a:p>
            <a:pPr marL="457200" indent="-457200">
              <a:buFont typeface="+mj-lt"/>
              <a:buAutoNum type="alphaLcPeriod"/>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021CC1F2-CA8B-744A-9D8A-E95BEA8B18D6}"/>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6FBC7C2C-384B-4FE0-9E9E-7ACB83ECEEA9}"/>
                  </a:ext>
                </a:extLst>
              </p:cNvPr>
              <p:cNvGraphicFramePr>
                <a:graphicFrameLocks noGrp="1"/>
              </p:cNvGraphicFramePr>
              <p:nvPr>
                <p:extLst>
                  <p:ext uri="{D42A27DB-BD31-4B8C-83A1-F6EECF244321}">
                    <p14:modId xmlns:p14="http://schemas.microsoft.com/office/powerpoint/2010/main" val="1663146848"/>
                  </p:ext>
                </p:extLst>
              </p:nvPr>
            </p:nvGraphicFramePr>
            <p:xfrm>
              <a:off x="2106487" y="1162413"/>
              <a:ext cx="7356232" cy="1190540"/>
            </p:xfrm>
            <a:graphic>
              <a:graphicData uri="http://schemas.openxmlformats.org/drawingml/2006/table">
                <a:tbl>
                  <a:tblPr firstRow="1" firstCol="1" bandRow="1">
                    <a:tableStyleId>{A91F0D33-8C57-4600-99A7-42BC86742BE1}</a:tableStyleId>
                  </a:tblPr>
                  <a:tblGrid>
                    <a:gridCol w="3706724">
                      <a:extLst>
                        <a:ext uri="{9D8B030D-6E8A-4147-A177-3AD203B41FA5}">
                          <a16:colId xmlns:a16="http://schemas.microsoft.com/office/drawing/2014/main" val="2893115850"/>
                        </a:ext>
                      </a:extLst>
                    </a:gridCol>
                    <a:gridCol w="3649508">
                      <a:extLst>
                        <a:ext uri="{9D8B030D-6E8A-4147-A177-3AD203B41FA5}">
                          <a16:colId xmlns:a16="http://schemas.microsoft.com/office/drawing/2014/main" val="4130848127"/>
                        </a:ext>
                      </a:extLst>
                    </a:gridCol>
                  </a:tblGrid>
                  <a:tr h="1190540">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Cheryl said that </a:t>
                          </a:r>
                          <a14:m>
                            <m:oMath xmlns:m="http://schemas.openxmlformats.org/officeDocument/2006/math">
                              <m:f>
                                <m:fPr>
                                  <m:ctrlPr>
                                    <a:rPr lang="en-US" sz="2000" i="1">
                                      <a:effectLst/>
                                      <a:latin typeface="Cambria Math" panose="02040503050406030204" pitchFamily="18"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100</m:t>
                                  </m:r>
                                </m:den>
                              </m:f>
                            </m:oMath>
                          </a14:m>
                          <a:r>
                            <a:rPr lang="en-US" sz="2000" dirty="0">
                              <a:effectLst/>
                              <a:latin typeface="Verdana" panose="020B0604030504040204" pitchFamily="34" charset="0"/>
                              <a:ea typeface="Verdana" panose="020B0604030504040204" pitchFamily="34" charset="0"/>
                            </a:rPr>
                            <a:t> is equivalent to </a:t>
                          </a:r>
                          <a14:m>
                            <m:oMath xmlns:m="http://schemas.openxmlformats.org/officeDocument/2006/math">
                              <m:r>
                                <a:rPr lang="en-US" sz="2000">
                                  <a:effectLst/>
                                  <a:latin typeface="Cambria Math" panose="02040503050406030204" pitchFamily="18" charset="0"/>
                                </a:rPr>
                                <m:t>0.001</m:t>
                              </m:r>
                            </m:oMath>
                          </a14:m>
                          <a:r>
                            <a:rPr lang="en-US" sz="2000" dirty="0">
                              <a:effectLst/>
                              <a:latin typeface="Verdana" panose="020B0604030504040204" pitchFamily="34" charset="0"/>
                              <a:ea typeface="Verdana" panose="020B0604030504040204" pitchFamily="34" charset="0"/>
                            </a:rPr>
                            <a:t> because both have two zeros.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Miranda said that </a:t>
                          </a:r>
                          <a14:m>
                            <m:oMath xmlns:m="http://schemas.openxmlformats.org/officeDocument/2006/math">
                              <m:f>
                                <m:fPr>
                                  <m:ctrlPr>
                                    <a:rPr lang="en-US" sz="2000" i="1">
                                      <a:effectLst/>
                                      <a:latin typeface="Cambria Math" panose="02040503050406030204" pitchFamily="18"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100</m:t>
                                  </m:r>
                                </m:den>
                              </m:f>
                            </m:oMath>
                          </a14:m>
                          <a:r>
                            <a:rPr lang="en-US" sz="2000" dirty="0">
                              <a:effectLst/>
                              <a:latin typeface="Verdana" panose="020B0604030504040204" pitchFamily="34" charset="0"/>
                              <a:ea typeface="Verdana" panose="020B0604030504040204" pitchFamily="34" charset="0"/>
                            </a:rPr>
                            <a:t> is equivalent to </a:t>
                          </a:r>
                          <a14:m>
                            <m:oMath xmlns:m="http://schemas.openxmlformats.org/officeDocument/2006/math">
                              <m:r>
                                <a:rPr lang="en-US" sz="2000">
                                  <a:effectLst/>
                                  <a:latin typeface="Cambria Math" panose="02040503050406030204" pitchFamily="18" charset="0"/>
                                </a:rPr>
                                <m:t>0.01</m:t>
                              </m:r>
                            </m:oMath>
                          </a14:m>
                          <a:r>
                            <a:rPr lang="en-US" sz="2000" dirty="0">
                              <a:effectLst/>
                              <a:latin typeface="Verdana" panose="020B0604030504040204" pitchFamily="34" charset="0"/>
                              <a:ea typeface="Verdana" panose="020B0604030504040204" pitchFamily="34" charset="0"/>
                            </a:rPr>
                            <a:t> because of place value.</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0282910"/>
                      </a:ext>
                    </a:extLst>
                  </a:tr>
                </a:tbl>
              </a:graphicData>
            </a:graphic>
          </p:graphicFrame>
        </mc:Choice>
        <mc:Fallback xmlns="">
          <p:graphicFrame>
            <p:nvGraphicFramePr>
              <p:cNvPr id="2" name="Table 1">
                <a:extLst>
                  <a:ext uri="{FF2B5EF4-FFF2-40B4-BE49-F238E27FC236}">
                    <a16:creationId xmlns:a16="http://schemas.microsoft.com/office/drawing/2014/main" id="{6FBC7C2C-384B-4FE0-9E9E-7ACB83ECEEA9}"/>
                  </a:ext>
                </a:extLst>
              </p:cNvPr>
              <p:cNvGraphicFramePr>
                <a:graphicFrameLocks noGrp="1"/>
              </p:cNvGraphicFramePr>
              <p:nvPr>
                <p:extLst>
                  <p:ext uri="{D42A27DB-BD31-4B8C-83A1-F6EECF244321}">
                    <p14:modId xmlns:p14="http://schemas.microsoft.com/office/powerpoint/2010/main" val="1663146848"/>
                  </p:ext>
                </p:extLst>
              </p:nvPr>
            </p:nvGraphicFramePr>
            <p:xfrm>
              <a:off x="2106487" y="1162413"/>
              <a:ext cx="7356232" cy="1190540"/>
            </p:xfrm>
            <a:graphic>
              <a:graphicData uri="http://schemas.openxmlformats.org/drawingml/2006/table">
                <a:tbl>
                  <a:tblPr firstRow="1" firstCol="1" bandRow="1">
                    <a:tableStyleId>{A91F0D33-8C57-4600-99A7-42BC86742BE1}</a:tableStyleId>
                  </a:tblPr>
                  <a:tblGrid>
                    <a:gridCol w="3706724">
                      <a:extLst>
                        <a:ext uri="{9D8B030D-6E8A-4147-A177-3AD203B41FA5}">
                          <a16:colId xmlns:a16="http://schemas.microsoft.com/office/drawing/2014/main" val="2893115850"/>
                        </a:ext>
                      </a:extLst>
                    </a:gridCol>
                    <a:gridCol w="3649508">
                      <a:extLst>
                        <a:ext uri="{9D8B030D-6E8A-4147-A177-3AD203B41FA5}">
                          <a16:colId xmlns:a16="http://schemas.microsoft.com/office/drawing/2014/main" val="4130848127"/>
                        </a:ext>
                      </a:extLst>
                    </a:gridCol>
                  </a:tblGrid>
                  <a:tr h="1190540">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1053" r="-98635" b="-3158"/>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736" t="-1053" r="-347" b="-3158"/>
                          </a:stretch>
                        </a:blipFill>
                      </a:tcPr>
                    </a:tc>
                    <a:extLst>
                      <a:ext uri="{0D108BD9-81ED-4DB2-BD59-A6C34878D82A}">
                        <a16:rowId xmlns:a16="http://schemas.microsoft.com/office/drawing/2014/main" val="1580282910"/>
                      </a:ext>
                    </a:extLst>
                  </a:tr>
                </a:tbl>
              </a:graphicData>
            </a:graphic>
          </p:graphicFrame>
        </mc:Fallback>
      </mc:AlternateContent>
    </p:spTree>
    <p:extLst>
      <p:ext uri="{BB962C8B-B14F-4D97-AF65-F5344CB8AC3E}">
        <p14:creationId xmlns:p14="http://schemas.microsoft.com/office/powerpoint/2010/main" val="852717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7732"/>
            <a:ext cx="563850" cy="658368"/>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501293" y="643514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16EAAB6-B932-C047-9261-EF734547974E}"/>
                  </a:ext>
                </a:extLst>
              </p:cNvPr>
              <p:cNvSpPr txBox="1"/>
              <p:nvPr/>
            </p:nvSpPr>
            <p:spPr>
              <a:xfrm>
                <a:off x="511628" y="488173"/>
                <a:ext cx="11451771" cy="4668201"/>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Recall that fractions like </a:t>
                </a:r>
                <a14:m>
                  <m:oMath xmlns:m="http://schemas.openxmlformats.org/officeDocument/2006/math">
                    <m:f>
                      <m:fPr>
                        <m:ctrlPr>
                          <a:rPr lang="en-US" sz="2000" i="1">
                            <a:latin typeface="Cambria Math" panose="02040503050406030204" pitchFamily="18" charset="0"/>
                            <a:ea typeface="Calibri" panose="020F0502020204030204" pitchFamily="34" charset="0"/>
                            <a:cs typeface="Times New Roman" panose="02020603050405020304" pitchFamily="18" charset="0"/>
                          </a:rPr>
                        </m:ctrlPr>
                      </m:fPr>
                      <m:num>
                        <m:r>
                          <a:rPr lang="en-US" sz="2000" i="1">
                            <a:latin typeface="Cambria Math" panose="02040503050406030204" pitchFamily="18" charset="0"/>
                            <a:ea typeface="Calibri" panose="020F0502020204030204" pitchFamily="34" charset="0"/>
                            <a:cs typeface="Times New Roman" panose="02020603050405020304" pitchFamily="18" charset="0"/>
                          </a:rPr>
                          <m:t>1</m:t>
                        </m:r>
                      </m:num>
                      <m:den>
                        <m:r>
                          <a:rPr lang="en-US" sz="2000" i="1">
                            <a:latin typeface="Cambria Math" panose="02040503050406030204" pitchFamily="18" charset="0"/>
                            <a:ea typeface="Calibri" panose="020F0502020204030204" pitchFamily="34" charset="0"/>
                            <a:cs typeface="Times New Roman" panose="02020603050405020304" pitchFamily="18" charset="0"/>
                          </a:rPr>
                          <m:t>10</m:t>
                        </m:r>
                      </m:den>
                    </m:f>
                  </m:oMath>
                </a14:m>
                <a:r>
                  <a:rPr lang="en-US" sz="2000" dirty="0">
                    <a:latin typeface="Verdana" panose="020B0604030504040204" pitchFamily="34" charset="0"/>
                    <a:ea typeface="Verdana" panose="020B0604030504040204" pitchFamily="34" charset="0"/>
                    <a:cs typeface="Times New Roman" panose="02020603050405020304" pitchFamily="18" charset="0"/>
                  </a:rPr>
                  <a:t>, </a:t>
                </a:r>
                <a14:m>
                  <m:oMath xmlns:m="http://schemas.openxmlformats.org/officeDocument/2006/math">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100</m:t>
                        </m:r>
                      </m:den>
                    </m:f>
                  </m:oMath>
                </a14:m>
                <a:r>
                  <a:rPr lang="en-US" sz="2000" dirty="0">
                    <a:latin typeface="Verdana" panose="020B0604030504040204" pitchFamily="34" charset="0"/>
                    <a:ea typeface="Verdana" panose="020B0604030504040204" pitchFamily="34" charset="0"/>
                    <a:cs typeface="Times New Roman" panose="02020603050405020304" pitchFamily="18" charset="0"/>
                  </a:rPr>
                  <a:t>, and </a:t>
                </a:r>
                <a14:m>
                  <m:oMath xmlns:m="http://schemas.openxmlformats.org/officeDocument/2006/math">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1000</m:t>
                        </m:r>
                      </m:den>
                    </m:f>
                  </m:oMath>
                </a14:m>
                <a:r>
                  <a:rPr lang="en-US" sz="2000" dirty="0">
                    <a:latin typeface="Verdana" panose="020B0604030504040204" pitchFamily="34" charset="0"/>
                    <a:ea typeface="Verdana" panose="020B0604030504040204" pitchFamily="34" charset="0"/>
                    <a:cs typeface="Times New Roman" panose="02020603050405020304" pitchFamily="18" charset="0"/>
                  </a:rPr>
                  <a:t> can be used to find the location of the decimal point in terms of place value when multiplying decimals.</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For example,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24 × 0.02</m:t>
                    </m:r>
                  </m:oMath>
                </a14:m>
                <a:r>
                  <a:rPr lang="en-US" sz="2000" dirty="0">
                    <a:latin typeface="Verdana" panose="020B0604030504040204" pitchFamily="34" charset="0"/>
                    <a:ea typeface="Verdana" panose="020B0604030504040204" pitchFamily="34" charset="0"/>
                    <a:cs typeface="Times New Roman" panose="02020603050405020304" pitchFamily="18" charset="0"/>
                  </a:rPr>
                  <a:t>  can be thought of as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24 × </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2</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100</m:t>
                        </m:r>
                      </m:den>
                    </m:f>
                  </m:oMath>
                </a14:m>
                <a:r>
                  <a:rPr lang="en-US" sz="2000" dirty="0">
                    <a:latin typeface="Verdana" panose="020B0604030504040204" pitchFamily="34" charset="0"/>
                    <a:ea typeface="Verdana" panose="020B0604030504040204" pitchFamily="34" charset="0"/>
                    <a:cs typeface="Times New Roman" panose="02020603050405020304" pitchFamily="18" charset="0"/>
                  </a:rPr>
                  <a:t> or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24 × 2 × </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100</m:t>
                        </m:r>
                      </m:den>
                    </m:f>
                  </m:oMath>
                </a14:m>
                <a:r>
                  <a:rPr lang="en-US" sz="2000" dirty="0">
                    <a:latin typeface="Verdana" panose="020B0604030504040204" pitchFamily="34" charset="0"/>
                    <a:ea typeface="Verdana" panose="020B0604030504040204" pitchFamily="34" charset="0"/>
                    <a:cs typeface="Times New Roman" panose="02020603050405020304" pitchFamily="18" charset="0"/>
                  </a:rPr>
                  <a:t>. This is equal to </a:t>
                </a:r>
                <a14:m>
                  <m:oMath xmlns:m="http://schemas.openxmlformats.org/officeDocument/2006/math">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48</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100</m:t>
                        </m:r>
                      </m:den>
                    </m:f>
                  </m:oMath>
                </a14:m>
                <a:r>
                  <a:rPr lang="en-US" sz="2000" dirty="0">
                    <a:latin typeface="Verdana" panose="020B0604030504040204" pitchFamily="34" charset="0"/>
                    <a:ea typeface="Verdana" panose="020B0604030504040204" pitchFamily="34" charset="0"/>
                    <a:cs typeface="Times New Roman" panose="02020603050405020304" pitchFamily="18" charset="0"/>
                  </a:rPr>
                  <a:t> which is read,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48</m:t>
                    </m:r>
                  </m:oMath>
                </a14:m>
                <a:r>
                  <a:rPr lang="en-US" sz="2000" dirty="0">
                    <a:latin typeface="Verdana" panose="020B0604030504040204" pitchFamily="34" charset="0"/>
                    <a:ea typeface="Verdana" panose="020B0604030504040204" pitchFamily="34" charset="0"/>
                    <a:cs typeface="Times New Roman" panose="02020603050405020304" pitchFamily="18" charset="0"/>
                  </a:rPr>
                  <a:t> hundredths” and written as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0.48</m:t>
                    </m:r>
                  </m:oMath>
                </a14:m>
                <a:r>
                  <a:rPr lang="en-US" sz="2000" dirty="0">
                    <a:latin typeface="Verdana" panose="020B0604030504040204" pitchFamily="34" charset="0"/>
                    <a:ea typeface="Verdana" panose="020B0604030504040204" pitchFamily="34" charset="0"/>
                    <a:cs typeface="Times New Roman" panose="02020603050405020304" pitchFamily="18" charset="0"/>
                  </a:rPr>
                  <a:t> in decimal form with the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000" dirty="0">
                    <a:latin typeface="Verdana" panose="020B0604030504040204" pitchFamily="34" charset="0"/>
                    <a:ea typeface="Verdana" panose="020B0604030504040204" pitchFamily="34" charset="0"/>
                    <a:cs typeface="Times New Roman" panose="02020603050405020304" pitchFamily="18" charset="0"/>
                  </a:rPr>
                  <a:t> in the hundredths place.</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gn="ctr">
                  <a:lnSpc>
                    <a:spcPct val="107000"/>
                  </a:lnSpc>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24 × 0.02 = 0.48</m:t>
                      </m:r>
                    </m:oMath>
                  </m:oMathPara>
                </a14:m>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gn="ctr">
                  <a:lnSpc>
                    <a:spcPct val="107000"/>
                  </a:lnSpc>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indent="-457200">
                  <a:lnSpc>
                    <a:spcPct val="107000"/>
                  </a:lnSpc>
                  <a:buFont typeface="+mj-lt"/>
                  <a:buAutoNum type="arabicPeriod" startAt="3"/>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lphaLcPeriod"/>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F16EAAB6-B932-C047-9261-EF734547974E}"/>
                  </a:ext>
                </a:extLst>
              </p:cNvPr>
              <p:cNvSpPr txBox="1">
                <a:spLocks noRot="1" noChangeAspect="1" noMove="1" noResize="1" noEditPoints="1" noAdjustHandles="1" noChangeArrowheads="1" noChangeShapeType="1" noTextEdit="1"/>
              </p:cNvSpPr>
              <p:nvPr/>
            </p:nvSpPr>
            <p:spPr>
              <a:xfrm>
                <a:off x="511628" y="488173"/>
                <a:ext cx="11451771" cy="4668201"/>
              </a:xfrm>
              <a:prstGeom prst="rect">
                <a:avLst/>
              </a:prstGeom>
              <a:blipFill>
                <a:blip r:embed="rId4"/>
                <a:stretch>
                  <a:fillRect l="-554"/>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021CC1F2-CA8B-744A-9D8A-E95BEA8B18D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245993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27212" y="63291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16EAAB6-B932-C047-9261-EF734547974E}"/>
                  </a:ext>
                </a:extLst>
              </p:cNvPr>
              <p:cNvSpPr txBox="1"/>
              <p:nvPr/>
            </p:nvSpPr>
            <p:spPr>
              <a:xfrm>
                <a:off x="430203" y="217999"/>
                <a:ext cx="8327136" cy="6439776"/>
              </a:xfrm>
              <a:prstGeom prst="rect">
                <a:avLst/>
              </a:prstGeom>
              <a:noFill/>
            </p:spPr>
            <p:txBody>
              <a:bodyPr wrap="square" rtlCol="0">
                <a:spAutoFit/>
              </a:bodyPr>
              <a:lstStyle/>
              <a:p>
                <a:pPr marL="457200" indent="-457200">
                  <a:lnSpc>
                    <a:spcPct val="107000"/>
                  </a:lnSpc>
                  <a:buFont typeface="+mj-lt"/>
                  <a:buAutoNum type="arabicPeriod" startAt="3"/>
                </a:pPr>
                <a:r>
                  <a:rPr lang="en-US" sz="2000" dirty="0">
                    <a:latin typeface="Verdana" panose="020B0604030504040204" pitchFamily="34" charset="0"/>
                    <a:ea typeface="Calibri" panose="020F0502020204030204" pitchFamily="34" charset="0"/>
                    <a:cs typeface="Times New Roman" panose="02020603050405020304" pitchFamily="18" charset="0"/>
                  </a:rPr>
                  <a:t>With your partner, complete the equations and statements below to show how similar thinking can be used to find the products of decimals.</a:t>
                </a:r>
              </a:p>
              <a:p>
                <a:pPr marL="457200" indent="-457200">
                  <a:lnSpc>
                    <a:spcPct val="107000"/>
                  </a:lnSpc>
                  <a:buFont typeface="+mj-lt"/>
                  <a:buAutoNum type="arabicPeriod" startAt="3"/>
                </a:pPr>
                <a:endParaRPr lang="en-US" sz="2000" i="1" dirty="0">
                  <a:latin typeface="Cambria Math" panose="02040503050406030204" pitchFamily="18" charset="0"/>
                  <a:ea typeface="Calibri" panose="020F0502020204030204" pitchFamily="34" charset="0"/>
                  <a:cs typeface="Times New Roman" panose="02020603050405020304" pitchFamily="18" charset="0"/>
                </a:endParaRPr>
              </a:p>
              <a:p>
                <a:pPr marL="457200" indent="4763">
                  <a:lnSpc>
                    <a:spcPct val="107000"/>
                  </a:lnSpc>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457200" indent="4763">
                  <a:lnSpc>
                    <a:spcPct val="107000"/>
                  </a:lnSpc>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763">
                  <a:lnSpc>
                    <a:spcPct val="107000"/>
                  </a:lnSpc>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a:lnSpc>
                    <a:spcPct val="107000"/>
                  </a:lnSpc>
                </a:pPr>
                <a:endParaRPr lang="en-US" sz="1800" dirty="0">
                  <a:latin typeface="Verdana" panose="020B0604030504040204" pitchFamily="34" charset="0"/>
                  <a:ea typeface="Calibri" panose="020F0502020204030204" pitchFamily="34" charset="0"/>
                  <a:cs typeface="Times New Roman" panose="020206030504050203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Written as a decimal, </a:t>
                </a:r>
                <a14:m>
                  <m:oMath xmlns:m="http://schemas.openxmlformats.org/officeDocument/2006/math">
                    <m:r>
                      <a:rPr lang="en-US" sz="2000" i="1">
                        <a:latin typeface="Cambria Math" panose="02040503050406030204" pitchFamily="18" charset="0"/>
                        <a:ea typeface="Calibri" panose="020F0502020204030204" pitchFamily="34" charset="0"/>
                        <a:cs typeface="Times New Roman" panose="02020603050405020304" pitchFamily="18" charset="0"/>
                      </a:rPr>
                      <m:t>(0.7)∙(0.09)=</m:t>
                    </m:r>
                  </m:oMath>
                </a14:m>
                <a:r>
                  <a:rPr lang="en-US" sz="2000" dirty="0">
                    <a:latin typeface="Verdana" panose="020B0604030504040204" pitchFamily="34" charset="0"/>
                    <a:ea typeface="Verdana" panose="020B0604030504040204" pitchFamily="34" charset="0"/>
                    <a:cs typeface="Times New Roman" panose="02020603050405020304" pitchFamily="18" charset="0"/>
                  </a:rPr>
                  <a:t> _____.</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indent="4763">
                  <a:lnSpc>
                    <a:spcPct val="107000"/>
                  </a:lnSpc>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763">
                  <a:lnSpc>
                    <a:spcPct val="107000"/>
                  </a:lnSpc>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763">
                  <a:lnSpc>
                    <a:spcPct val="107000"/>
                  </a:lnSpc>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lnSpc>
                    <a:spcPct val="107000"/>
                  </a:lnSpc>
                  <a:buFont typeface="+mj-lt"/>
                  <a:buAutoNum type="alphaLcPeriod" startAt="2"/>
                </a:pPr>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457200">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a:t>
                </a:r>
                <a14:m>
                  <m:oMath xmlns:m="http://schemas.openxmlformats.org/officeDocument/2006/math">
                    <m:r>
                      <a:rPr lang="en-US" sz="2000">
                        <a:latin typeface="Cambria Math" panose="02040503050406030204" pitchFamily="18" charset="0"/>
                        <a:ea typeface="Cambria Math" panose="02040503050406030204" pitchFamily="18" charset="0"/>
                        <a:cs typeface="Times New Roman" panose="02020603050405020304" pitchFamily="18" charset="0"/>
                      </a:rPr>
                      <m:t>(1.5)∙(0.43)=(15×</m:t>
                    </m:r>
                    <m:f>
                      <m:fPr>
                        <m:ctrlPr>
                          <a:rPr lang="en-US" sz="2000" i="1">
                            <a:latin typeface="Cambria Math" panose="02040503050406030204" pitchFamily="18" charset="0"/>
                            <a:ea typeface="Cambria Math" panose="02040503050406030204" pitchFamily="18" charset="0"/>
                          </a:rPr>
                        </m:ctrlPr>
                      </m:fPr>
                      <m:num>
                        <m:r>
                          <a:rPr lang="en-US" sz="2000">
                            <a:latin typeface="Cambria Math" panose="02040503050406030204" pitchFamily="18" charset="0"/>
                            <a:ea typeface="Cambria Math" panose="02040503050406030204" pitchFamily="18" charset="0"/>
                            <a:cs typeface="Times New Roman" panose="02020603050405020304" pitchFamily="18" charset="0"/>
                          </a:rPr>
                          <m:t>1</m:t>
                        </m:r>
                      </m:num>
                      <m:den>
                        <m:r>
                          <a:rPr lang="en-US" sz="2000">
                            <a:latin typeface="Cambria Math" panose="02040503050406030204" pitchFamily="18" charset="0"/>
                            <a:ea typeface="Cambria Math" panose="02040503050406030204" pitchFamily="18" charset="0"/>
                            <a:cs typeface="Times New Roman" panose="02020603050405020304" pitchFamily="18" charset="0"/>
                          </a:rPr>
                          <m:t>10</m:t>
                        </m:r>
                      </m:den>
                    </m:f>
                    <m:r>
                      <a:rPr lang="en-US" sz="2000">
                        <a:latin typeface="Cambria Math" panose="02040503050406030204" pitchFamily="18" charset="0"/>
                        <a:ea typeface="Cambria Math" panose="02040503050406030204" pitchFamily="18" charset="0"/>
                        <a:cs typeface="Times New Roman" panose="02020603050405020304" pitchFamily="18" charset="0"/>
                      </a:rPr>
                      <m:t>)∙(43×</m:t>
                    </m:r>
                    <m:f>
                      <m:fPr>
                        <m:ctrlPr>
                          <a:rPr lang="en-US" sz="2000" i="1">
                            <a:latin typeface="Cambria Math" panose="02040503050406030204" pitchFamily="18" charset="0"/>
                            <a:ea typeface="Cambria Math" panose="02040503050406030204" pitchFamily="18" charset="0"/>
                          </a:rPr>
                        </m:ctrlPr>
                      </m:fPr>
                      <m:num>
                        <m:r>
                          <a:rPr lang="en-US" sz="2000">
                            <a:latin typeface="Cambria Math" panose="02040503050406030204" pitchFamily="18" charset="0"/>
                            <a:ea typeface="Cambria Math" panose="02040503050406030204" pitchFamily="18" charset="0"/>
                            <a:cs typeface="Times New Roman" panose="02020603050405020304" pitchFamily="18" charset="0"/>
                          </a:rPr>
                          <m:t>1</m:t>
                        </m:r>
                      </m:num>
                      <m:den>
                        <m:r>
                          <a:rPr lang="en-US" sz="2000">
                            <a:latin typeface="Cambria Math" panose="02040503050406030204" pitchFamily="18" charset="0"/>
                            <a:ea typeface="Cambria Math" panose="02040503050406030204" pitchFamily="18" charset="0"/>
                            <a:cs typeface="Times New Roman" panose="02020603050405020304" pitchFamily="18" charset="0"/>
                          </a:rPr>
                          <m:t>100</m:t>
                        </m:r>
                      </m:den>
                    </m:f>
                    <m:r>
                      <a:rPr lang="en-US" sz="2000">
                        <a:latin typeface="Cambria Math" panose="02040503050406030204" pitchFamily="18" charset="0"/>
                        <a:ea typeface="Cambria Math" panose="02040503050406030204" pitchFamily="18" charset="0"/>
                        <a:cs typeface="Times New Roman" panose="02020603050405020304" pitchFamily="18" charset="0"/>
                      </a:rPr>
                      <m:t>)=</m:t>
                    </m:r>
                  </m:oMath>
                </a14:m>
                <a:r>
                  <a:rPr lang="en-US" sz="2000" dirty="0">
                    <a:latin typeface="Cambria Math" panose="02040503050406030204" pitchFamily="18" charset="0"/>
                    <a:ea typeface="Cambria Math" panose="02040503050406030204" pitchFamily="18" charset="0"/>
                    <a:cs typeface="Times New Roman" panose="02020603050405020304" pitchFamily="18" charset="0"/>
                  </a:rPr>
                  <a:t> </a:t>
                </a:r>
              </a:p>
              <a:p>
                <a:pPr marL="457200" indent="-457200">
                  <a:lnSpc>
                    <a:spcPct val="107000"/>
                  </a:lnSpc>
                  <a:buFont typeface="+mj-lt"/>
                  <a:buAutoNum type="alphaLcParenR"/>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r>
                  <a:rPr lang="en-US" sz="2000" i="1" dirty="0">
                    <a:latin typeface="Verdana" panose="020B0604030504040204" pitchFamily="34" charset="0"/>
                    <a:ea typeface="Verdana" panose="020B0604030504040204" pitchFamily="34" charset="0"/>
                    <a:cs typeface="Times New Roman" panose="02020603050405020304" pitchFamily="18" charset="0"/>
                  </a:rPr>
                  <a:t>            </a:t>
                </a:r>
                <a:r>
                  <a:rPr lang="en-US" sz="2000" dirty="0">
                    <a:latin typeface="Verdana" panose="020B0604030504040204" pitchFamily="34" charset="0"/>
                    <a:ea typeface="Verdana" panose="020B0604030504040204" pitchFamily="34" charset="0"/>
                    <a:cs typeface="Times New Roman" panose="02020603050405020304" pitchFamily="18" charset="0"/>
                  </a:rPr>
                  <a:t>Written as a decimal, </a:t>
                </a:r>
                <a14:m>
                  <m:oMath xmlns:m="http://schemas.openxmlformats.org/officeDocument/2006/math">
                    <m:r>
                      <a:rPr lang="en-US" sz="2000" i="1">
                        <a:latin typeface="Cambria Math" panose="02040503050406030204" pitchFamily="18" charset="0"/>
                        <a:ea typeface="Calibri" panose="020F0502020204030204" pitchFamily="34" charset="0"/>
                        <a:cs typeface="Times New Roman" panose="02020603050405020304" pitchFamily="18" charset="0"/>
                      </a:rPr>
                      <m:t>(1.5)∙(0.43)=</m:t>
                    </m:r>
                  </m:oMath>
                </a14:m>
                <a:r>
                  <a:rPr lang="en-US" sz="2000" dirty="0">
                    <a:latin typeface="Verdana" panose="020B0604030504040204" pitchFamily="34" charset="0"/>
                    <a:ea typeface="Verdana" panose="020B0604030504040204" pitchFamily="34" charset="0"/>
                    <a:cs typeface="Times New Roman" panose="02020603050405020304" pitchFamily="18" charset="0"/>
                  </a:rPr>
                  <a:t> ________.</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indent="-457200">
                  <a:lnSpc>
                    <a:spcPct val="107000"/>
                  </a:lnSpc>
                  <a:buFont typeface="+mj-lt"/>
                  <a:buAutoNum type="arabicPeriod" startAt="3"/>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lphaLcPeriod"/>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F16EAAB6-B932-C047-9261-EF734547974E}"/>
                  </a:ext>
                </a:extLst>
              </p:cNvPr>
              <p:cNvSpPr txBox="1">
                <a:spLocks noRot="1" noChangeAspect="1" noMove="1" noResize="1" noEditPoints="1" noAdjustHandles="1" noChangeArrowheads="1" noChangeShapeType="1" noTextEdit="1"/>
              </p:cNvSpPr>
              <p:nvPr/>
            </p:nvSpPr>
            <p:spPr>
              <a:xfrm>
                <a:off x="430203" y="217999"/>
                <a:ext cx="8327136" cy="6439776"/>
              </a:xfrm>
              <a:prstGeom prst="rect">
                <a:avLst/>
              </a:prstGeom>
              <a:blipFill>
                <a:blip r:embed="rId4"/>
                <a:stretch>
                  <a:fillRect l="-915" t="-787"/>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021CC1F2-CA8B-744A-9D8A-E95BEA8B18D6}"/>
              </a:ext>
            </a:extLst>
          </p:cNvPr>
          <p:cNvSpPr/>
          <p:nvPr/>
        </p:nvSpPr>
        <p:spPr>
          <a:xfrm>
            <a:off x="-8839"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E645B672-EAA2-408B-8473-5753A14B2130}"/>
                  </a:ext>
                </a:extLst>
              </p:cNvPr>
              <p:cNvGraphicFramePr>
                <a:graphicFrameLocks noGrp="1"/>
              </p:cNvGraphicFramePr>
              <p:nvPr>
                <p:extLst>
                  <p:ext uri="{D42A27DB-BD31-4B8C-83A1-F6EECF244321}">
                    <p14:modId xmlns:p14="http://schemas.microsoft.com/office/powerpoint/2010/main" val="3040324820"/>
                  </p:ext>
                </p:extLst>
              </p:nvPr>
            </p:nvGraphicFramePr>
            <p:xfrm>
              <a:off x="916217" y="1731543"/>
              <a:ext cx="6660784" cy="887433"/>
            </p:xfrm>
            <a:graphic>
              <a:graphicData uri="http://schemas.openxmlformats.org/drawingml/2006/table">
                <a:tbl>
                  <a:tblPr firstRow="1" firstCol="1" bandRow="1">
                    <a:tableStyleId>{A91F0D33-8C57-4600-99A7-42BC86742BE1}</a:tableStyleId>
                  </a:tblPr>
                  <a:tblGrid>
                    <a:gridCol w="6660784">
                      <a:extLst>
                        <a:ext uri="{9D8B030D-6E8A-4147-A177-3AD203B41FA5}">
                          <a16:colId xmlns:a16="http://schemas.microsoft.com/office/drawing/2014/main" val="1985068220"/>
                        </a:ext>
                      </a:extLst>
                    </a:gridCol>
                  </a:tblGrid>
                  <a:tr h="887433">
                    <a:tc>
                      <a:txBody>
                        <a:bodyPr/>
                        <a:lstStyle/>
                        <a:p>
                          <a:pPr marL="0" marR="0" algn="ctr">
                            <a:lnSpc>
                              <a:spcPct val="107000"/>
                            </a:lnSpc>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(0.7)∙(0.09)=(7×</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10</m:t>
                                  </m:r>
                                </m:den>
                              </m:f>
                              <m:r>
                                <a:rPr lang="en-US" sz="2000">
                                  <a:effectLst/>
                                  <a:latin typeface="Cambria Math" panose="02040503050406030204" pitchFamily="18" charset="0"/>
                                  <a:ea typeface="Cambria Math" panose="02040503050406030204" pitchFamily="18" charset="0"/>
                                </a:rPr>
                                <m:t>)∙(9×</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100</m:t>
                                  </m:r>
                                </m:den>
                              </m:f>
                              <m:r>
                                <a:rPr lang="en-US" sz="2000">
                                  <a:effectLst/>
                                  <a:latin typeface="Cambria Math" panose="02040503050406030204" pitchFamily="18" charset="0"/>
                                  <a:ea typeface="Cambria Math" panose="02040503050406030204" pitchFamily="18" charset="0"/>
                                </a:rPr>
                                <m:t>)=(7∙9)∙(</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10</m:t>
                                  </m:r>
                                </m:den>
                              </m:f>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100</m:t>
                                  </m:r>
                                </m:den>
                              </m:f>
                              <m:r>
                                <a:rPr lang="en-US" sz="2000">
                                  <a:effectLst/>
                                  <a:latin typeface="Cambria Math" panose="02040503050406030204" pitchFamily="18" charset="0"/>
                                  <a:ea typeface="Cambria Math" panose="02040503050406030204" pitchFamily="18" charset="0"/>
                                </a:rPr>
                                <m:t>)=</m:t>
                              </m:r>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379741670"/>
                      </a:ext>
                    </a:extLst>
                  </a:tr>
                </a:tbl>
              </a:graphicData>
            </a:graphic>
          </p:graphicFrame>
        </mc:Choice>
        <mc:Fallback>
          <p:graphicFrame>
            <p:nvGraphicFramePr>
              <p:cNvPr id="2" name="Table 1">
                <a:extLst>
                  <a:ext uri="{FF2B5EF4-FFF2-40B4-BE49-F238E27FC236}">
                    <a16:creationId xmlns:a16="http://schemas.microsoft.com/office/drawing/2014/main" id="{E645B672-EAA2-408B-8473-5753A14B2130}"/>
                  </a:ext>
                </a:extLst>
              </p:cNvPr>
              <p:cNvGraphicFramePr>
                <a:graphicFrameLocks noGrp="1"/>
              </p:cNvGraphicFramePr>
              <p:nvPr>
                <p:extLst>
                  <p:ext uri="{D42A27DB-BD31-4B8C-83A1-F6EECF244321}">
                    <p14:modId xmlns:p14="http://schemas.microsoft.com/office/powerpoint/2010/main" val="3040324820"/>
                  </p:ext>
                </p:extLst>
              </p:nvPr>
            </p:nvGraphicFramePr>
            <p:xfrm>
              <a:off x="916217" y="1731543"/>
              <a:ext cx="6660784" cy="887433"/>
            </p:xfrm>
            <a:graphic>
              <a:graphicData uri="http://schemas.openxmlformats.org/drawingml/2006/table">
                <a:tbl>
                  <a:tblPr firstRow="1" firstCol="1" bandRow="1">
                    <a:tableStyleId>{A91F0D33-8C57-4600-99A7-42BC86742BE1}</a:tableStyleId>
                  </a:tblPr>
                  <a:tblGrid>
                    <a:gridCol w="6660784">
                      <a:extLst>
                        <a:ext uri="{9D8B030D-6E8A-4147-A177-3AD203B41FA5}">
                          <a16:colId xmlns:a16="http://schemas.microsoft.com/office/drawing/2014/main" val="1985068220"/>
                        </a:ext>
                      </a:extLst>
                    </a:gridCol>
                  </a:tblGrid>
                  <a:tr h="887433">
                    <a:tc>
                      <a:txBody>
                        <a:bodyPr/>
                        <a:lstStyle/>
                        <a:p>
                          <a:endParaRPr lang="en-US"/>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a:stretch>
                        </a:blipFill>
                      </a:tcPr>
                    </a:tc>
                    <a:extLst>
                      <a:ext uri="{0D108BD9-81ED-4DB2-BD59-A6C34878D82A}">
                        <a16:rowId xmlns:a16="http://schemas.microsoft.com/office/drawing/2014/main" val="1379741670"/>
                      </a:ext>
                    </a:extLst>
                  </a:tr>
                </a:tbl>
              </a:graphicData>
            </a:graphic>
          </p:graphicFrame>
        </mc:Fallback>
      </mc:AlternateContent>
      <p:pic>
        <p:nvPicPr>
          <p:cNvPr id="10" name="Picture 9" descr="Shape, rectangle, square&#10;&#10;Description automatically generated">
            <a:extLst>
              <a:ext uri="{FF2B5EF4-FFF2-40B4-BE49-F238E27FC236}">
                <a16:creationId xmlns:a16="http://schemas.microsoft.com/office/drawing/2014/main" id="{EB137AC9-10A5-47D2-883E-EE847DE206B5}"/>
              </a:ext>
            </a:extLst>
          </p:cNvPr>
          <p:cNvPicPr>
            <a:picLocks noChangeAspect="1"/>
          </p:cNvPicPr>
          <p:nvPr/>
        </p:nvPicPr>
        <p:blipFill>
          <a:blip r:embed="rId6"/>
          <a:stretch>
            <a:fillRect/>
          </a:stretch>
        </p:blipFill>
        <p:spPr>
          <a:xfrm>
            <a:off x="7441778" y="1797758"/>
            <a:ext cx="1724139" cy="755003"/>
          </a:xfrm>
          <a:prstGeom prst="rect">
            <a:avLst/>
          </a:prstGeom>
        </p:spPr>
      </p:pic>
      <p:pic>
        <p:nvPicPr>
          <p:cNvPr id="11" name="Picture 10" descr="Shape, rectangle, square&#10;&#10;Description automatically generated">
            <a:extLst>
              <a:ext uri="{FF2B5EF4-FFF2-40B4-BE49-F238E27FC236}">
                <a16:creationId xmlns:a16="http://schemas.microsoft.com/office/drawing/2014/main" id="{1C89AEB1-668C-4560-80DD-9309EB37F0D9}"/>
              </a:ext>
            </a:extLst>
          </p:cNvPr>
          <p:cNvPicPr>
            <a:picLocks noChangeAspect="1"/>
          </p:cNvPicPr>
          <p:nvPr/>
        </p:nvPicPr>
        <p:blipFill>
          <a:blip r:embed="rId6"/>
          <a:stretch>
            <a:fillRect/>
          </a:stretch>
        </p:blipFill>
        <p:spPr>
          <a:xfrm>
            <a:off x="7160754" y="4492024"/>
            <a:ext cx="1785725" cy="782462"/>
          </a:xfrm>
          <a:prstGeom prst="rect">
            <a:avLst/>
          </a:prstGeom>
        </p:spPr>
      </p:pic>
    </p:spTree>
    <p:extLst>
      <p:ext uri="{BB962C8B-B14F-4D97-AF65-F5344CB8AC3E}">
        <p14:creationId xmlns:p14="http://schemas.microsoft.com/office/powerpoint/2010/main" val="555271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9507"/>
            <a:ext cx="563850" cy="658368"/>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751665"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69</a:t>
            </a:r>
          </a:p>
        </p:txBody>
      </p:sp>
    </p:spTree>
    <p:extLst>
      <p:ext uri="{BB962C8B-B14F-4D97-AF65-F5344CB8AC3E}">
        <p14:creationId xmlns:p14="http://schemas.microsoft.com/office/powerpoint/2010/main" val="3702612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55078" y="146018"/>
            <a:ext cx="1044503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950" b="1" dirty="0">
                <a:solidFill>
                  <a:srgbClr val="54B5D1"/>
                </a:solidFill>
                <a:latin typeface="Verdana"/>
                <a:ea typeface="Verdana"/>
                <a:cs typeface="Verdana"/>
                <a:sym typeface="Verdana"/>
              </a:rPr>
              <a:t>2.5.3 Guided Instruction: Multiplying Decimals to the Thousandths </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498922" y="203221"/>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795207"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69</a:t>
            </a: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C01B13E8-EC8D-E443-A329-C5E3593DD13A}"/>
                  </a:ext>
                </a:extLst>
              </p:cNvPr>
              <p:cNvSpPr txBox="1"/>
              <p:nvPr/>
            </p:nvSpPr>
            <p:spPr>
              <a:xfrm>
                <a:off x="1100380" y="1532329"/>
                <a:ext cx="10197884" cy="1712905"/>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Different strategies can be used to find the product of decimals to the thousandths.</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rabicPeriod"/>
                </a:pPr>
                <a:r>
                  <a:rPr lang="en-US" sz="2000" dirty="0" err="1">
                    <a:latin typeface="Verdana" panose="020B0604030504040204" pitchFamily="34" charset="0"/>
                    <a:ea typeface="Verdana" panose="020B0604030504040204" pitchFamily="34" charset="0"/>
                    <a:cs typeface="Times New Roman" panose="02020603050405020304" pitchFamily="18" charset="0"/>
                  </a:rPr>
                  <a:t>Byanca</a:t>
                </a:r>
                <a:r>
                  <a:rPr lang="en-US" sz="2000" dirty="0">
                    <a:latin typeface="Verdana" panose="020B0604030504040204" pitchFamily="34" charset="0"/>
                    <a:ea typeface="Verdana" panose="020B0604030504040204" pitchFamily="34" charset="0"/>
                    <a:cs typeface="Times New Roman" panose="02020603050405020304" pitchFamily="18" charset="0"/>
                  </a:rPr>
                  <a:t> prefers using an area model to find the product of decimals. Below is an area model that </a:t>
                </a:r>
                <a:r>
                  <a:rPr lang="en-US" sz="2000" dirty="0" err="1">
                    <a:latin typeface="Verdana" panose="020B0604030504040204" pitchFamily="34" charset="0"/>
                    <a:ea typeface="Verdana" panose="020B0604030504040204" pitchFamily="34" charset="0"/>
                    <a:cs typeface="Times New Roman" panose="02020603050405020304" pitchFamily="18" charset="0"/>
                  </a:rPr>
                  <a:t>Byanca</a:t>
                </a:r>
                <a:r>
                  <a:rPr lang="en-US" sz="2000" dirty="0">
                    <a:latin typeface="Verdana" panose="020B0604030504040204" pitchFamily="34" charset="0"/>
                    <a:ea typeface="Verdana" panose="020B0604030504040204" pitchFamily="34" charset="0"/>
                    <a:cs typeface="Times New Roman" panose="02020603050405020304" pitchFamily="18" charset="0"/>
                  </a:rPr>
                  <a:t> drew to represent </a:t>
                </a:r>
                <a14:m>
                  <m:oMath xmlns:m="http://schemas.openxmlformats.org/officeDocument/2006/math">
                    <m:r>
                      <a:rPr lang="en-US" sz="2000" i="1">
                        <a:latin typeface="Cambria Math" panose="02040503050406030204" pitchFamily="18" charset="0"/>
                        <a:ea typeface="Calibri" panose="020F0502020204030204" pitchFamily="34" charset="0"/>
                        <a:cs typeface="Times New Roman" panose="02020603050405020304" pitchFamily="18" charset="0"/>
                      </a:rPr>
                      <m:t>(12.4)∙(21.3)</m:t>
                    </m:r>
                  </m:oMath>
                </a14:m>
                <a:r>
                  <a:rPr lang="en-US" sz="2000" dirty="0">
                    <a:latin typeface="Verdana" panose="020B0604030504040204" pitchFamily="34" charset="0"/>
                    <a:ea typeface="Verdana" panose="020B0604030504040204" pitchFamily="34" charset="0"/>
                    <a:cs typeface="Times New Roman" panose="02020603050405020304" pitchFamily="18" charset="0"/>
                  </a:rPr>
                  <a:t>.</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p:txBody>
          </p:sp>
        </mc:Choice>
        <mc:Fallback>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1100380" y="1532329"/>
                <a:ext cx="10197884" cy="1712905"/>
              </a:xfrm>
              <a:prstGeom prst="rect">
                <a:avLst/>
              </a:prstGeom>
              <a:blipFill>
                <a:blip r:embed="rId5"/>
                <a:stretch>
                  <a:fillRect l="-658" t="-2135" r="-239" b="-5338"/>
                </a:stretch>
              </a:blipFill>
            </p:spPr>
            <p:txBody>
              <a:bodyPr/>
              <a:lstStyle/>
              <a:p>
                <a:r>
                  <a:rPr lang="en-PH">
                    <a:noFill/>
                  </a:rPr>
                  <a:t> </a:t>
                </a:r>
              </a:p>
            </p:txBody>
          </p:sp>
        </mc:Fallback>
      </mc:AlternateContent>
      <p:sp>
        <p:nvSpPr>
          <p:cNvPr id="10" name="Google Shape;278;g104476d1465_1_17">
            <a:extLst>
              <a:ext uri="{FF2B5EF4-FFF2-40B4-BE49-F238E27FC236}">
                <a16:creationId xmlns:a16="http://schemas.microsoft.com/office/drawing/2014/main" id="{2260A17C-F127-D647-A05B-7BB351158843}"/>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a16="http://schemas.microsoft.com/office/drawing/2014/main" id="{83B16A60-DA23-48D3-B024-5849E544FD9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200811" y="3575645"/>
            <a:ext cx="3341755" cy="3183596"/>
          </a:xfrm>
          <a:prstGeom prst="rect">
            <a:avLst/>
          </a:prstGeom>
        </p:spPr>
      </p:pic>
    </p:spTree>
    <p:extLst>
      <p:ext uri="{BB962C8B-B14F-4D97-AF65-F5344CB8AC3E}">
        <p14:creationId xmlns:p14="http://schemas.microsoft.com/office/powerpoint/2010/main" val="3902457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7732"/>
            <a:ext cx="563850" cy="658368"/>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49636" y="636915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383207" y="452030"/>
                <a:ext cx="11244943" cy="4770537"/>
              </a:xfrm>
              <a:prstGeom prst="rect">
                <a:avLst/>
              </a:prstGeom>
              <a:noFill/>
            </p:spPr>
            <p:txBody>
              <a:bodyPr wrap="square" rtlCol="0">
                <a:spAutoFit/>
              </a:bodyPr>
              <a:lstStyle/>
              <a:p>
                <a:pPr marL="914400" indent="-452438">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Find the region that represents </a:t>
                </a:r>
                <a14:m>
                  <m:oMath xmlns:m="http://schemas.openxmlformats.org/officeDocument/2006/math">
                    <m:r>
                      <a:rPr lang="en-US" sz="2000" i="1">
                        <a:latin typeface="Cambria Math" panose="02040503050406030204" pitchFamily="18" charset="0"/>
                        <a:ea typeface="Calibri" panose="020F0502020204030204" pitchFamily="34" charset="0"/>
                        <a:cs typeface="Times New Roman" panose="02020603050405020304" pitchFamily="18" charset="0"/>
                      </a:rPr>
                      <m:t>(0.4)∙(0.3)</m:t>
                    </m:r>
                  </m:oMath>
                </a14:m>
                <a:r>
                  <a:rPr lang="en-US" sz="2000" dirty="0">
                    <a:latin typeface="Verdana" panose="020B0604030504040204" pitchFamily="34" charset="0"/>
                    <a:ea typeface="Verdana" panose="020B0604030504040204" pitchFamily="34" charset="0"/>
                    <a:cs typeface="Times New Roman" panose="02020603050405020304" pitchFamily="18" charset="0"/>
                  </a:rPr>
                  <a:t>. Shade that region in the diagram and label it with its area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0.12</m:t>
                    </m:r>
                  </m:oMath>
                </a14:m>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Label the other regions of the model with their respective areas.</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indent="-452438">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Find the value of </a:t>
                </a:r>
                <a14:m>
                  <m:oMath xmlns:m="http://schemas.openxmlformats.org/officeDocument/2006/math">
                    <m:r>
                      <a:rPr lang="en-US" sz="2000" i="1">
                        <a:latin typeface="Cambria Math" panose="02040503050406030204" pitchFamily="18" charset="0"/>
                        <a:ea typeface="Calibri" panose="020F0502020204030204" pitchFamily="34" charset="0"/>
                        <a:cs typeface="Times New Roman" panose="02020603050405020304" pitchFamily="18" charset="0"/>
                      </a:rPr>
                      <m:t>(12.4)∙(21.3)</m:t>
                    </m:r>
                  </m:oMath>
                </a14:m>
                <a:r>
                  <a:rPr lang="en-US" sz="2000" dirty="0">
                    <a:latin typeface="Verdana" panose="020B0604030504040204" pitchFamily="34" charset="0"/>
                    <a:ea typeface="Verdana" panose="020B0604030504040204" pitchFamily="34" charset="0"/>
                    <a:cs typeface="Times New Roman" panose="02020603050405020304" pitchFamily="18" charset="0"/>
                  </a:rPr>
                  <a:t> using the labeled area model. Show your work.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383207" y="452030"/>
                <a:ext cx="11244943" cy="4770537"/>
              </a:xfrm>
              <a:prstGeom prst="rect">
                <a:avLst/>
              </a:prstGeom>
              <a:blipFill>
                <a:blip r:embed="rId4"/>
                <a:stretch>
                  <a:fillRect t="-531"/>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7817ACE-0EAD-F54B-BF54-D1C44606A01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393813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42568" y="636915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70</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615432" y="385655"/>
                <a:ext cx="11347968" cy="1077218"/>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Times New Roman" panose="02020603050405020304" pitchFamily="18" charset="0"/>
                  </a:rPr>
                  <a:t>Sergio prefers to use partial products to find the value of </a:t>
                </a:r>
                <a14:m>
                  <m:oMath xmlns:m="http://schemas.openxmlformats.org/officeDocument/2006/math">
                    <m:r>
                      <a:rPr lang="en-US" sz="2000" i="1">
                        <a:latin typeface="Cambria Math" panose="02040503050406030204" pitchFamily="18" charset="0"/>
                        <a:ea typeface="Calibri" panose="020F0502020204030204" pitchFamily="34" charset="0"/>
                        <a:cs typeface="Times New Roman" panose="02020603050405020304" pitchFamily="18" charset="0"/>
                      </a:rPr>
                      <m:t>(12.4)∙(21.3)</m:t>
                    </m:r>
                  </m:oMath>
                </a14:m>
                <a:r>
                  <a:rPr lang="en-US" sz="2000" dirty="0">
                    <a:latin typeface="Verdana" panose="020B0604030504040204" pitchFamily="34" charset="0"/>
                    <a:ea typeface="Verdana" panose="020B0604030504040204" pitchFamily="34" charset="0"/>
                    <a:cs typeface="Times New Roman" panose="02020603050405020304" pitchFamily="18" charset="0"/>
                  </a:rPr>
                  <a:t>, while Alicia prefers using the standard algorithm. Their work is shown.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615432" y="385655"/>
                <a:ext cx="11347968" cy="1077218"/>
              </a:xfrm>
              <a:prstGeom prst="rect">
                <a:avLst/>
              </a:prstGeom>
              <a:blipFill>
                <a:blip r:embed="rId4"/>
                <a:stretch>
                  <a:fillRect l="-559" t="-3488"/>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7817ACE-0EAD-F54B-BF54-D1C44606A01D}"/>
              </a:ext>
            </a:extLst>
          </p:cNvPr>
          <p:cNvSpPr/>
          <p:nvPr/>
        </p:nvSpPr>
        <p:spPr>
          <a:xfrm>
            <a:off x="3114"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Picture 3">
            <a:extLst>
              <a:ext uri="{FF2B5EF4-FFF2-40B4-BE49-F238E27FC236}">
                <a16:creationId xmlns:a16="http://schemas.microsoft.com/office/drawing/2014/main" id="{CF46506F-7F83-4667-89FF-94A6F79656D5}"/>
              </a:ext>
            </a:extLst>
          </p:cNvPr>
          <p:cNvPicPr>
            <a:picLocks noChangeAspect="1"/>
          </p:cNvPicPr>
          <p:nvPr/>
        </p:nvPicPr>
        <p:blipFill>
          <a:blip r:embed="rId5"/>
          <a:stretch>
            <a:fillRect/>
          </a:stretch>
        </p:blipFill>
        <p:spPr>
          <a:xfrm>
            <a:off x="2380607" y="1631428"/>
            <a:ext cx="7817618" cy="4569171"/>
          </a:xfrm>
          <a:prstGeom prst="rect">
            <a:avLst/>
          </a:prstGeom>
        </p:spPr>
      </p:pic>
    </p:spTree>
    <p:extLst>
      <p:ext uri="{BB962C8B-B14F-4D97-AF65-F5344CB8AC3E}">
        <p14:creationId xmlns:p14="http://schemas.microsoft.com/office/powerpoint/2010/main" val="3447265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688740" y="642563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70</a:t>
            </a:r>
          </a:p>
        </p:txBody>
      </p:sp>
      <p:sp>
        <p:nvSpPr>
          <p:cNvPr id="5" name="TextBox 4">
            <a:extLst>
              <a:ext uri="{FF2B5EF4-FFF2-40B4-BE49-F238E27FC236}">
                <a16:creationId xmlns:a16="http://schemas.microsoft.com/office/drawing/2014/main" id="{8AE5E1E0-A54D-BE42-84B5-F917038ADE99}"/>
              </a:ext>
            </a:extLst>
          </p:cNvPr>
          <p:cNvSpPr txBox="1"/>
          <p:nvPr/>
        </p:nvSpPr>
        <p:spPr>
          <a:xfrm>
            <a:off x="620486" y="288746"/>
            <a:ext cx="10570028" cy="4985980"/>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rPr>
              <a:t>Discuss each method with your partner while answering the following questions. </a:t>
            </a:r>
            <a:endParaRPr lang="en-US" sz="2000" i="1" dirty="0">
              <a:latin typeface="Verdana" panose="020B0604030504040204" pitchFamily="34" charset="0"/>
              <a:ea typeface="Verdana" panose="020B0604030504040204" pitchFamily="34" charset="0"/>
            </a:endParaRPr>
          </a:p>
          <a:p>
            <a:r>
              <a:rPr lang="en-US" sz="2000" dirty="0">
                <a:latin typeface="Verdana" panose="020B0604030504040204" pitchFamily="34" charset="0"/>
                <a:ea typeface="Verdana" panose="020B0604030504040204" pitchFamily="34" charset="0"/>
              </a:rPr>
              <a:t> </a:t>
            </a:r>
            <a:endParaRPr lang="en-US" sz="2000" i="1" dirty="0">
              <a:latin typeface="Verdana" panose="020B0604030504040204" pitchFamily="34" charset="0"/>
              <a:ea typeface="Verdana" panose="020B0604030504040204" pitchFamily="34" charset="0"/>
            </a:endParaRPr>
          </a:p>
          <a:p>
            <a:pPr marL="914400" indent="-452438">
              <a:buFont typeface="+mj-lt"/>
              <a:buAutoNum type="alphaLcPeriod"/>
            </a:pPr>
            <a:r>
              <a:rPr lang="en-US" sz="2000" dirty="0">
                <a:latin typeface="Verdana" panose="020B0604030504040204" pitchFamily="34" charset="0"/>
                <a:ea typeface="Verdana" panose="020B0604030504040204" pitchFamily="34" charset="0"/>
              </a:rPr>
              <a:t>In Sergio’s work, which parts of the factors were multiplied to get each partial product indicated in the table below?</a:t>
            </a:r>
          </a:p>
          <a:p>
            <a:pPr marL="342900" indent="-342900">
              <a:buFont typeface="+mj-lt"/>
              <a:buAutoNum type="alphaLcPeriod"/>
            </a:pPr>
            <a:endParaRPr lang="en-US" sz="2000" i="1" dirty="0">
              <a:latin typeface="Verdana" panose="020B0604030504040204" pitchFamily="34" charset="0"/>
              <a:ea typeface="Verdana" panose="020B0604030504040204" pitchFamily="34" charset="0"/>
            </a:endParaRPr>
          </a:p>
          <a:p>
            <a:pPr marL="342900" indent="-342900">
              <a:buFont typeface="+mj-lt"/>
              <a:buAutoNum type="alphaLcPeriod"/>
            </a:pPr>
            <a:endParaRPr lang="en-US" sz="2000" i="1" dirty="0">
              <a:latin typeface="Verdana" panose="020B0604030504040204" pitchFamily="34" charset="0"/>
              <a:ea typeface="Verdana" panose="020B0604030504040204" pitchFamily="34" charset="0"/>
            </a:endParaRPr>
          </a:p>
          <a:p>
            <a:pPr marL="342900" indent="-342900">
              <a:buFont typeface="+mj-lt"/>
              <a:buAutoNum type="alphaLcPeriod"/>
            </a:pPr>
            <a:endParaRPr lang="en-US" sz="2000" i="1" dirty="0">
              <a:latin typeface="Verdana" panose="020B0604030504040204" pitchFamily="34" charset="0"/>
              <a:ea typeface="Verdana" panose="020B0604030504040204" pitchFamily="34" charset="0"/>
            </a:endParaRPr>
          </a:p>
          <a:p>
            <a:pPr marL="342900" indent="-342900">
              <a:buFont typeface="+mj-lt"/>
              <a:buAutoNum type="alphaLcPeriod"/>
            </a:pPr>
            <a:endParaRPr lang="en-US" sz="2000" i="1" dirty="0">
              <a:latin typeface="Verdana" panose="020B0604030504040204" pitchFamily="34" charset="0"/>
              <a:ea typeface="Verdana" panose="020B0604030504040204" pitchFamily="34" charset="0"/>
            </a:endParaRPr>
          </a:p>
          <a:p>
            <a:pPr marL="342900" indent="-342900">
              <a:buFont typeface="+mj-lt"/>
              <a:buAutoNum type="alphaLcPeriod"/>
            </a:pPr>
            <a:endParaRPr lang="en-US" sz="2000" i="1" dirty="0">
              <a:latin typeface="Verdana" panose="020B0604030504040204" pitchFamily="34" charset="0"/>
              <a:ea typeface="Verdana" panose="020B0604030504040204" pitchFamily="34" charset="0"/>
            </a:endParaRPr>
          </a:p>
          <a:p>
            <a:pPr marL="342900" indent="-342900">
              <a:buFont typeface="+mj-lt"/>
              <a:buAutoNum type="alphaLcPeriod"/>
            </a:pPr>
            <a:endParaRPr lang="en-US" sz="2000" i="1" dirty="0">
              <a:latin typeface="Verdana" panose="020B0604030504040204" pitchFamily="34" charset="0"/>
              <a:ea typeface="Verdana" panose="020B0604030504040204" pitchFamily="34" charset="0"/>
            </a:endParaRPr>
          </a:p>
          <a:p>
            <a:pPr marL="342900" indent="-342900">
              <a:buFont typeface="+mj-lt"/>
              <a:buAutoNum type="alphaLcPeriod"/>
            </a:pPr>
            <a:endParaRPr lang="en-US" sz="1800" dirty="0">
              <a:latin typeface="Verdana" panose="020B0604030504040204" pitchFamily="34" charset="0"/>
              <a:ea typeface="Calibri" panose="020F0502020204030204" pitchFamily="34" charset="0"/>
              <a:cs typeface="Times New Roman" panose="02020603050405020304" pitchFamily="18" charset="0"/>
            </a:endParaRPr>
          </a:p>
          <a:p>
            <a:pPr marL="914400" indent="-452438">
              <a:buFont typeface="+mj-lt"/>
              <a:buAutoNum type="alphaLcPeriod"/>
            </a:pPr>
            <a:r>
              <a:rPr lang="en-US" sz="1800" dirty="0">
                <a:latin typeface="Verdana" panose="020B0604030504040204" pitchFamily="34" charset="0"/>
                <a:ea typeface="Calibri" panose="020F0502020204030204" pitchFamily="34" charset="0"/>
                <a:cs typeface="Times New Roman" panose="02020603050405020304" pitchFamily="18" charset="0"/>
              </a:rPr>
              <a:t>To which parts of the </a:t>
            </a:r>
          </a:p>
          <a:p>
            <a:pPr marL="914400"/>
            <a:r>
              <a:rPr lang="en-US" sz="1800" dirty="0">
                <a:latin typeface="Verdana" panose="020B0604030504040204" pitchFamily="34" charset="0"/>
                <a:ea typeface="Calibri" panose="020F0502020204030204" pitchFamily="34" charset="0"/>
                <a:cs typeface="Times New Roman" panose="02020603050405020304" pitchFamily="18" charset="0"/>
              </a:rPr>
              <a:t>area model do these </a:t>
            </a:r>
          </a:p>
          <a:p>
            <a:pPr marL="914400"/>
            <a:r>
              <a:rPr lang="en-US" sz="1800" dirty="0">
                <a:latin typeface="Verdana" panose="020B0604030504040204" pitchFamily="34" charset="0"/>
                <a:ea typeface="Calibri" panose="020F0502020204030204" pitchFamily="34" charset="0"/>
                <a:cs typeface="Times New Roman" panose="02020603050405020304" pitchFamily="18" charset="0"/>
              </a:rPr>
              <a:t>partial products relate</a:t>
            </a:r>
            <a:r>
              <a:rPr lang="en-US" sz="2000" i="1" dirty="0">
                <a:latin typeface="Verdana" panose="020B0604030504040204" pitchFamily="34" charset="0"/>
                <a:ea typeface="Verdana" panose="020B0604030504040204" pitchFamily="34" charset="0"/>
                <a:cs typeface="Times New Roman" panose="02020603050405020304" pitchFamily="18" charset="0"/>
              </a:rPr>
              <a:t>?</a:t>
            </a:r>
            <a:endParaRPr lang="en-US" sz="2000" i="1" dirty="0">
              <a:latin typeface="Verdana" panose="020B0604030504040204" pitchFamily="34" charset="0"/>
              <a:ea typeface="Verdana" panose="020B0604030504040204" pitchFamily="34" charset="0"/>
            </a:endParaRPr>
          </a:p>
          <a:p>
            <a:r>
              <a:rPr lang="en-US" sz="2000" dirty="0">
                <a:latin typeface="Verdana" panose="020B0604030504040204" pitchFamily="34" charset="0"/>
                <a:ea typeface="Verdana" panose="020B0604030504040204" pitchFamily="34" charset="0"/>
              </a:rPr>
              <a:t> </a:t>
            </a:r>
            <a:endParaRPr lang="en-US" sz="2000" i="1" dirty="0">
              <a:latin typeface="Verdana" panose="020B0604030504040204" pitchFamily="34" charset="0"/>
              <a:ea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A7817ACE-0EAD-F54B-BF54-D1C44606A01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C826F5B9-B268-460D-9CF9-ED40F1ED3FC6}"/>
                  </a:ext>
                </a:extLst>
              </p:cNvPr>
              <p:cNvGraphicFramePr>
                <a:graphicFrameLocks noGrp="1"/>
              </p:cNvGraphicFramePr>
              <p:nvPr>
                <p:extLst>
                  <p:ext uri="{D42A27DB-BD31-4B8C-83A1-F6EECF244321}">
                    <p14:modId xmlns:p14="http://schemas.microsoft.com/office/powerpoint/2010/main" val="3854999843"/>
                  </p:ext>
                </p:extLst>
              </p:nvPr>
            </p:nvGraphicFramePr>
            <p:xfrm>
              <a:off x="3003251" y="1713267"/>
              <a:ext cx="7007932" cy="1744088"/>
            </p:xfrm>
            <a:graphic>
              <a:graphicData uri="http://schemas.openxmlformats.org/drawingml/2006/table">
                <a:tbl>
                  <a:tblPr firstRow="1" firstCol="1" bandRow="1">
                    <a:tableStyleId>{A91F0D33-8C57-4600-99A7-42BC86742BE1}</a:tableStyleId>
                  </a:tblPr>
                  <a:tblGrid>
                    <a:gridCol w="2567262">
                      <a:extLst>
                        <a:ext uri="{9D8B030D-6E8A-4147-A177-3AD203B41FA5}">
                          <a16:colId xmlns:a16="http://schemas.microsoft.com/office/drawing/2014/main" val="1357058653"/>
                        </a:ext>
                      </a:extLst>
                    </a:gridCol>
                    <a:gridCol w="4440670">
                      <a:extLst>
                        <a:ext uri="{9D8B030D-6E8A-4147-A177-3AD203B41FA5}">
                          <a16:colId xmlns:a16="http://schemas.microsoft.com/office/drawing/2014/main" val="4041785296"/>
                        </a:ext>
                      </a:extLst>
                    </a:gridCol>
                  </a:tblGrid>
                  <a:tr h="625295">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Partial Product</a:t>
                          </a:r>
                          <a:endParaRPr lang="en-US" sz="2000" b="1"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Parts of Factors Multiplied</a:t>
                          </a:r>
                          <a:endParaRPr lang="en-US" sz="2000" b="1"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57060345"/>
                      </a:ext>
                    </a:extLst>
                  </a:tr>
                  <a:tr h="37293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0.12</m:t>
                                </m:r>
                              </m:oMath>
                            </m:oMathPara>
                          </a14:m>
                          <a:endParaRPr lang="en-US" sz="2000" i="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_____ × _____</m:t>
                                </m:r>
                              </m:oMath>
                            </m:oMathPara>
                          </a14:m>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409164"/>
                      </a:ext>
                    </a:extLst>
                  </a:tr>
                  <a:tr h="37293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0.6</m:t>
                                </m:r>
                              </m:oMath>
                            </m:oMathPara>
                          </a14:m>
                          <a:endParaRPr lang="en-US" sz="2000" i="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_____ × _____</m:t>
                                </m:r>
                              </m:oMath>
                            </m:oMathPara>
                          </a14:m>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1782377"/>
                      </a:ext>
                    </a:extLst>
                  </a:tr>
                  <a:tr h="37293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oMath>
                            </m:oMathPara>
                          </a14:m>
                          <a:endParaRPr lang="en-US" sz="2000" i="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_____ × _____</m:t>
                                </m:r>
                              </m:oMath>
                            </m:oMathPara>
                          </a14:m>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7647561"/>
                      </a:ext>
                    </a:extLst>
                  </a:tr>
                </a:tbl>
              </a:graphicData>
            </a:graphic>
          </p:graphicFrame>
        </mc:Choice>
        <mc:Fallback xmlns="">
          <p:graphicFrame>
            <p:nvGraphicFramePr>
              <p:cNvPr id="2" name="Table 1">
                <a:extLst>
                  <a:ext uri="{FF2B5EF4-FFF2-40B4-BE49-F238E27FC236}">
                    <a16:creationId xmlns:a16="http://schemas.microsoft.com/office/drawing/2014/main" id="{C826F5B9-B268-460D-9CF9-ED40F1ED3FC6}"/>
                  </a:ext>
                </a:extLst>
              </p:cNvPr>
              <p:cNvGraphicFramePr>
                <a:graphicFrameLocks noGrp="1"/>
              </p:cNvGraphicFramePr>
              <p:nvPr>
                <p:extLst>
                  <p:ext uri="{D42A27DB-BD31-4B8C-83A1-F6EECF244321}">
                    <p14:modId xmlns:p14="http://schemas.microsoft.com/office/powerpoint/2010/main" val="3854999843"/>
                  </p:ext>
                </p:extLst>
              </p:nvPr>
            </p:nvGraphicFramePr>
            <p:xfrm>
              <a:off x="3003251" y="1713267"/>
              <a:ext cx="7007932" cy="1744088"/>
            </p:xfrm>
            <a:graphic>
              <a:graphicData uri="http://schemas.openxmlformats.org/drawingml/2006/table">
                <a:tbl>
                  <a:tblPr firstRow="1" firstCol="1" bandRow="1">
                    <a:tableStyleId>{A91F0D33-8C57-4600-99A7-42BC86742BE1}</a:tableStyleId>
                  </a:tblPr>
                  <a:tblGrid>
                    <a:gridCol w="2567262">
                      <a:extLst>
                        <a:ext uri="{9D8B030D-6E8A-4147-A177-3AD203B41FA5}">
                          <a16:colId xmlns:a16="http://schemas.microsoft.com/office/drawing/2014/main" val="1357058653"/>
                        </a:ext>
                      </a:extLst>
                    </a:gridCol>
                    <a:gridCol w="4440670">
                      <a:extLst>
                        <a:ext uri="{9D8B030D-6E8A-4147-A177-3AD203B41FA5}">
                          <a16:colId xmlns:a16="http://schemas.microsoft.com/office/drawing/2014/main" val="4041785296"/>
                        </a:ext>
                      </a:extLst>
                    </a:gridCol>
                  </a:tblGrid>
                  <a:tr h="625295">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Partial Product</a:t>
                          </a:r>
                          <a:endParaRPr lang="en-US" sz="2000" b="1"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Parts of Factors Multiplied</a:t>
                          </a:r>
                          <a:endParaRPr lang="en-US" sz="2000" b="1"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57060345"/>
                      </a:ext>
                    </a:extLst>
                  </a:tr>
                  <a:tr h="372931">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93" t="-166667" r="-172906" b="-21666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8286" t="-166667" r="-286" b="-216667"/>
                          </a:stretch>
                        </a:blipFill>
                      </a:tcPr>
                    </a:tc>
                    <a:extLst>
                      <a:ext uri="{0D108BD9-81ED-4DB2-BD59-A6C34878D82A}">
                        <a16:rowId xmlns:a16="http://schemas.microsoft.com/office/drawing/2014/main" val="416409164"/>
                      </a:ext>
                    </a:extLst>
                  </a:tr>
                  <a:tr h="372931">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93" t="-275862" r="-172906" b="-12413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8286" t="-275862" r="-286" b="-124138"/>
                          </a:stretch>
                        </a:blipFill>
                      </a:tcPr>
                    </a:tc>
                    <a:extLst>
                      <a:ext uri="{0D108BD9-81ED-4DB2-BD59-A6C34878D82A}">
                        <a16:rowId xmlns:a16="http://schemas.microsoft.com/office/drawing/2014/main" val="4251782377"/>
                      </a:ext>
                    </a:extLst>
                  </a:tr>
                  <a:tr h="372931">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93" t="-363333" r="-172906" b="-2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8286" t="-363333" r="-286" b="-20000"/>
                          </a:stretch>
                        </a:blipFill>
                      </a:tcPr>
                    </a:tc>
                    <a:extLst>
                      <a:ext uri="{0D108BD9-81ED-4DB2-BD59-A6C34878D82A}">
                        <a16:rowId xmlns:a16="http://schemas.microsoft.com/office/drawing/2014/main" val="1347647561"/>
                      </a:ext>
                    </a:extLst>
                  </a:tr>
                </a:tbl>
              </a:graphicData>
            </a:graphic>
          </p:graphicFrame>
        </mc:Fallback>
      </mc:AlternateContent>
      <p:pic>
        <p:nvPicPr>
          <p:cNvPr id="11" name="Picture 10" descr="A picture containing chart&#10;&#10;Description automatically generated">
            <a:extLst>
              <a:ext uri="{FF2B5EF4-FFF2-40B4-BE49-F238E27FC236}">
                <a16:creationId xmlns:a16="http://schemas.microsoft.com/office/drawing/2014/main" id="{766164B4-F27E-4A91-8B5B-709D0D7FD11C}"/>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5749331" y="4136419"/>
            <a:ext cx="2634000" cy="2689415"/>
          </a:xfrm>
          <a:prstGeom prst="rect">
            <a:avLst/>
          </a:prstGeom>
        </p:spPr>
      </p:pic>
    </p:spTree>
    <p:extLst>
      <p:ext uri="{BB962C8B-B14F-4D97-AF65-F5344CB8AC3E}">
        <p14:creationId xmlns:p14="http://schemas.microsoft.com/office/powerpoint/2010/main" val="550931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9632"/>
            <a:ext cx="563850" cy="658368"/>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07920" y="636915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70</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805543" y="288744"/>
                <a:ext cx="10515600" cy="5016758"/>
              </a:xfrm>
              <a:prstGeom prst="rect">
                <a:avLst/>
              </a:prstGeom>
              <a:noFill/>
            </p:spPr>
            <p:txBody>
              <a:bodyPr wrap="square" rtlCol="0">
                <a:spAutoFit/>
              </a:bodyPr>
              <a:lstStyle/>
              <a:p>
                <a:pPr marL="914400" indent="-342900">
                  <a:buFont typeface="+mj-lt"/>
                  <a:buAutoNum type="alphaLcPeriod" startAt="3"/>
                </a:pPr>
                <a:r>
                  <a:rPr lang="en-US" sz="2000" dirty="0">
                    <a:latin typeface="Verdana" panose="020B0604030504040204" pitchFamily="34" charset="0"/>
                    <a:ea typeface="Verdana" panose="020B0604030504040204" pitchFamily="34" charset="0"/>
                    <a:cs typeface="Times New Roman" panose="02020603050405020304" pitchFamily="18" charset="0"/>
                  </a:rPr>
                  <a:t>Where do the values of </a:t>
                </a:r>
                <a14:m>
                  <m:oMath xmlns:m="http://schemas.openxmlformats.org/officeDocument/2006/math">
                    <m:r>
                      <a:rPr lang="en-US" sz="2000">
                        <a:latin typeface="Cambria Math" panose="02040503050406030204" pitchFamily="18" charset="0"/>
                        <a:ea typeface="Calibri" panose="020F0502020204030204" pitchFamily="34" charset="0"/>
                        <a:cs typeface="Times New Roman" panose="02020603050405020304" pitchFamily="18" charset="0"/>
                      </a:rPr>
                      <m:t>3.72</m:t>
                    </m:r>
                  </m:oMath>
                </a14:m>
                <a:r>
                  <a:rPr lang="en-US" sz="2000" dirty="0">
                    <a:latin typeface="Verdana" panose="020B0604030504040204" pitchFamily="34" charset="0"/>
                    <a:ea typeface="Verdana" panose="020B0604030504040204" pitchFamily="34" charset="0"/>
                    <a:cs typeface="Times New Roman" panose="02020603050405020304" pitchFamily="18" charset="0"/>
                  </a:rPr>
                  <a:t>, </a:t>
                </a:r>
                <a14:m>
                  <m:oMath xmlns:m="http://schemas.openxmlformats.org/officeDocument/2006/math">
                    <m:r>
                      <a:rPr lang="en-US" sz="2000">
                        <a:latin typeface="Cambria Math" panose="02040503050406030204" pitchFamily="18" charset="0"/>
                        <a:ea typeface="Calibri" panose="020F0502020204030204" pitchFamily="34" charset="0"/>
                        <a:cs typeface="Times New Roman" panose="02020603050405020304" pitchFamily="18" charset="0"/>
                      </a:rPr>
                      <m:t>12.4</m:t>
                    </m:r>
                  </m:oMath>
                </a14:m>
                <a:r>
                  <a:rPr lang="en-US" sz="2000" dirty="0">
                    <a:latin typeface="Verdana" panose="020B0604030504040204" pitchFamily="34" charset="0"/>
                    <a:ea typeface="Verdana" panose="020B0604030504040204" pitchFamily="34" charset="0"/>
                    <a:cs typeface="Times New Roman" panose="02020603050405020304" pitchFamily="18" charset="0"/>
                  </a:rPr>
                  <a:t>, and </a:t>
                </a:r>
                <a14:m>
                  <m:oMath xmlns:m="http://schemas.openxmlformats.org/officeDocument/2006/math">
                    <m:r>
                      <a:rPr lang="en-US" sz="2000">
                        <a:latin typeface="Cambria Math" panose="02040503050406030204" pitchFamily="18" charset="0"/>
                        <a:ea typeface="Times New Roman" panose="02020603050405020304" pitchFamily="18" charset="0"/>
                        <a:cs typeface="Times New Roman" panose="02020603050405020304" pitchFamily="18" charset="0"/>
                      </a:rPr>
                      <m:t>248</m:t>
                    </m:r>
                  </m:oMath>
                </a14:m>
                <a:r>
                  <a:rPr lang="en-US" sz="2000" dirty="0">
                    <a:latin typeface="Verdana" panose="020B0604030504040204" pitchFamily="34" charset="0"/>
                    <a:ea typeface="Verdana" panose="020B0604030504040204" pitchFamily="34" charset="0"/>
                    <a:cs typeface="Times New Roman" panose="02020603050405020304" pitchFamily="18" charset="0"/>
                  </a:rPr>
                  <a:t> come from in Alicia’s work that shows the standard algorithm?</a:t>
                </a:r>
              </a:p>
              <a:p>
                <a:pPr marL="342900" indent="-342900">
                  <a:buFont typeface="+mj-lt"/>
                  <a:buAutoNum type="alphaLcPeriod" startAt="3"/>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buFont typeface="Arial" panose="020B0604020202020204" pitchFamily="34" charset="0"/>
                  <a:buChar char="•"/>
                </a:pPr>
                <a:r>
                  <a:rPr lang="en-US" sz="2000" dirty="0">
                    <a:latin typeface="Verdana" panose="020B0604030504040204" pitchFamily="34" charset="0"/>
                    <a:ea typeface="Verdana" panose="020B0604030504040204" pitchFamily="34" charset="0"/>
                    <a:cs typeface="Times New Roman" panose="02020603050405020304" pitchFamily="18" charset="0"/>
                  </a:rPr>
                  <a:t>____ is the product that results from multiplying            </a:t>
                </a:r>
              </a:p>
              <a:p>
                <a:pPr marL="341313"/>
                <a:r>
                  <a:rPr lang="en-US" sz="2000" dirty="0">
                    <a:latin typeface="Verdana" panose="020B0604030504040204" pitchFamily="34" charset="0"/>
                    <a:ea typeface="Verdana" panose="020B0604030504040204" pitchFamily="34" charset="0"/>
                    <a:cs typeface="Times New Roman" panose="02020603050405020304" pitchFamily="18" charset="0"/>
                  </a:rPr>
                  <a:t>by each part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12.4</m:t>
                    </m:r>
                  </m:oMath>
                </a14:m>
                <a:r>
                  <a:rPr lang="en-US" sz="2000" dirty="0">
                    <a:latin typeface="Verdana" panose="020B0604030504040204" pitchFamily="34" charset="0"/>
                    <a:ea typeface="Verdana" panose="020B0604030504040204" pitchFamily="34" charset="0"/>
                    <a:cs typeface="Times New Roman" panose="02020603050405020304" pitchFamily="18" charset="0"/>
                  </a:rPr>
                  <a:t>.</a:t>
                </a:r>
              </a:p>
              <a:p>
                <a:pPr marL="341313"/>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1313"/>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1313" indent="-341313">
                  <a:buFont typeface="Arial" panose="020B0604020202020204" pitchFamily="34" charset="0"/>
                  <a:buChar char="•"/>
                </a:pPr>
                <a:r>
                  <a:rPr lang="en-US" sz="2000" dirty="0">
                    <a:latin typeface="Verdana" panose="020B0604030504040204" pitchFamily="34" charset="0"/>
                    <a:ea typeface="Verdana" panose="020B0604030504040204" pitchFamily="34" charset="0"/>
                    <a:cs typeface="Times New Roman" panose="02020603050405020304" pitchFamily="18" charset="0"/>
                  </a:rPr>
                  <a:t>____ is the product that results from multiplying</a:t>
                </a:r>
              </a:p>
              <a:p>
                <a:pPr marL="341313"/>
                <a:r>
                  <a:rPr lang="en-US" sz="2000" dirty="0">
                    <a:latin typeface="Verdana" panose="020B0604030504040204" pitchFamily="34" charset="0"/>
                    <a:ea typeface="Verdana" panose="020B0604030504040204" pitchFamily="34" charset="0"/>
                    <a:cs typeface="Times New Roman" panose="02020603050405020304" pitchFamily="18" charset="0"/>
                  </a:rPr>
                  <a:t>by each part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12.4</m:t>
                    </m:r>
                  </m:oMath>
                </a14:m>
                <a:r>
                  <a:rPr lang="en-US" sz="2000" dirty="0">
                    <a:latin typeface="Verdana" panose="020B0604030504040204" pitchFamily="34" charset="0"/>
                    <a:ea typeface="Verdana" panose="020B0604030504040204" pitchFamily="34" charset="0"/>
                    <a:cs typeface="Times New Roman" panose="02020603050405020304" pitchFamily="18" charset="0"/>
                  </a:rPr>
                  <a:t>.</a:t>
                </a:r>
              </a:p>
              <a:p>
                <a:pPr marL="341313"/>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1313"/>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1313" indent="-341313">
                  <a:buFont typeface="Arial" panose="020B0604020202020204" pitchFamily="34" charset="0"/>
                  <a:buChar char="•"/>
                </a:pPr>
                <a:r>
                  <a:rPr lang="en-US" sz="2000" dirty="0">
                    <a:latin typeface="Verdana" panose="020B0604030504040204" pitchFamily="34" charset="0"/>
                    <a:ea typeface="Verdana" panose="020B0604030504040204" pitchFamily="34" charset="0"/>
                    <a:cs typeface="Times New Roman" panose="02020603050405020304" pitchFamily="18" charset="0"/>
                  </a:rPr>
                  <a:t>____ is the product that results from multiplying            </a:t>
                </a:r>
              </a:p>
              <a:p>
                <a:pPr marL="341313"/>
                <a:r>
                  <a:rPr lang="en-US" sz="2000" dirty="0">
                    <a:latin typeface="Verdana" panose="020B0604030504040204" pitchFamily="34" charset="0"/>
                    <a:ea typeface="Verdana" panose="020B0604030504040204" pitchFamily="34" charset="0"/>
                    <a:cs typeface="Times New Roman" panose="02020603050405020304" pitchFamily="18" charset="0"/>
                  </a:rPr>
                  <a:t>by each part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12.4</m:t>
                    </m:r>
                  </m:oMath>
                </a14:m>
                <a:r>
                  <a:rPr lang="en-US" sz="2000" dirty="0">
                    <a:latin typeface="Verdana" panose="020B0604030504040204" pitchFamily="34" charset="0"/>
                    <a:ea typeface="Verdana" panose="020B0604030504040204" pitchFamily="34" charset="0"/>
                    <a:cs typeface="Times New Roman" panose="02020603050405020304" pitchFamily="18" charset="0"/>
                  </a:rPr>
                  <a:t>.</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341313"/>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341313"/>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342900" indent="-342900">
                  <a:buFont typeface="Arial" panose="020B0604020202020204" pitchFamily="34" charset="0"/>
                  <a:buChar char="•"/>
                </a:pPr>
                <a:endParaRPr lang="en-US" sz="2000" i="1" dirty="0">
                  <a:latin typeface="Verdana" panose="020B0604030504040204" pitchFamily="34" charset="0"/>
                  <a:ea typeface="Verdana" panose="020B0604030504040204" pitchFamily="34" charset="0"/>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805543" y="288744"/>
                <a:ext cx="10515600" cy="5016758"/>
              </a:xfrm>
              <a:prstGeom prst="rect">
                <a:avLst/>
              </a:prstGeom>
              <a:blipFill>
                <a:blip r:embed="rId4"/>
                <a:stretch>
                  <a:fillRect l="-483" t="-505" r="-1206"/>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7817ACE-0EAD-F54B-BF54-D1C44606A01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3" name="Rounded Rectangle 18">
                <a:extLst>
                  <a:ext uri="{FF2B5EF4-FFF2-40B4-BE49-F238E27FC236}">
                    <a16:creationId xmlns:a16="http://schemas.microsoft.com/office/drawing/2014/main" id="{7021F93A-812D-485B-9223-6CEB25BD957A}"/>
                  </a:ext>
                </a:extLst>
              </p:cNvPr>
              <p:cNvSpPr/>
              <p:nvPr/>
            </p:nvSpPr>
            <p:spPr>
              <a:xfrm>
                <a:off x="7907134" y="1078788"/>
                <a:ext cx="900786" cy="1129737"/>
              </a:xfrm>
              <a:prstGeom prst="round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75590" indent="-285750">
                  <a:lnSpc>
                    <a:spcPct val="107000"/>
                  </a:lnSpc>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0.3</m:t>
                    </m:r>
                  </m:oMath>
                </a14:m>
                <a:endParaRPr lang="en-US" sz="2000" i="1" dirty="0">
                  <a:latin typeface="Cambria Math" panose="02040503050406030204" pitchFamily="18" charset="0"/>
                  <a:ea typeface="Cambria Math" panose="02040503050406030204" pitchFamily="18" charset="0"/>
                  <a:cs typeface="Times New Roman" panose="02020603050405020304" pitchFamily="18" charset="0"/>
                </a:endParaRPr>
              </a:p>
              <a:p>
                <a:pPr marL="275590" indent="-285750">
                  <a:lnSpc>
                    <a:spcPct val="107000"/>
                  </a:lnSpc>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oMath>
                </a14:m>
                <a:endParaRPr lang="en-US" sz="2000" i="1" dirty="0">
                  <a:latin typeface="Cambria Math" panose="02040503050406030204" pitchFamily="18" charset="0"/>
                  <a:ea typeface="Cambria Math" panose="02040503050406030204" pitchFamily="18" charset="0"/>
                  <a:cs typeface="Times New Roman" panose="02020603050405020304" pitchFamily="18" charset="0"/>
                </a:endParaRPr>
              </a:p>
              <a:p>
                <a:pPr marL="275590" indent="-285750">
                  <a:lnSpc>
                    <a:spcPct val="107000"/>
                  </a:lnSpc>
                  <a:spcAft>
                    <a:spcPts val="800"/>
                  </a:spcAft>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20</m:t>
                    </m:r>
                  </m:oMath>
                </a14:m>
                <a:endParaRPr lang="en-US" sz="2000" i="1" dirty="0">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13" name="Rounded Rectangle 18">
                <a:extLst>
                  <a:ext uri="{FF2B5EF4-FFF2-40B4-BE49-F238E27FC236}">
                    <a16:creationId xmlns:a16="http://schemas.microsoft.com/office/drawing/2014/main" id="{7021F93A-812D-485B-9223-6CEB25BD957A}"/>
                  </a:ext>
                </a:extLst>
              </p:cNvPr>
              <p:cNvSpPr>
                <a:spLocks noRot="1" noChangeAspect="1" noMove="1" noResize="1" noEditPoints="1" noAdjustHandles="1" noChangeArrowheads="1" noChangeShapeType="1" noTextEdit="1"/>
              </p:cNvSpPr>
              <p:nvPr/>
            </p:nvSpPr>
            <p:spPr>
              <a:xfrm>
                <a:off x="7907134" y="1078788"/>
                <a:ext cx="900786" cy="1129737"/>
              </a:xfrm>
              <a:prstGeom prst="roundRect">
                <a:avLst/>
              </a:prstGeom>
              <a:blipFill>
                <a:blip r:embed="rId5"/>
                <a:stretch>
                  <a:fillRect b="-5495"/>
                </a:stretch>
              </a:blipFill>
              <a:ln>
                <a:solidFill>
                  <a:schemeClr val="tx1"/>
                </a:solid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ounded Rectangle 18">
                <a:extLst>
                  <a:ext uri="{FF2B5EF4-FFF2-40B4-BE49-F238E27FC236}">
                    <a16:creationId xmlns:a16="http://schemas.microsoft.com/office/drawing/2014/main" id="{38FB1633-0DF5-4795-90AA-BCFCD97BA0AB}"/>
                  </a:ext>
                </a:extLst>
              </p:cNvPr>
              <p:cNvSpPr/>
              <p:nvPr/>
            </p:nvSpPr>
            <p:spPr>
              <a:xfrm>
                <a:off x="7907134" y="3788612"/>
                <a:ext cx="900786" cy="1129737"/>
              </a:xfrm>
              <a:prstGeom prst="round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75590" indent="-285750">
                  <a:lnSpc>
                    <a:spcPct val="107000"/>
                  </a:lnSpc>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0.3</m:t>
                    </m:r>
                  </m:oMath>
                </a14:m>
                <a:endParaRPr lang="en-US" sz="2000" i="1" dirty="0">
                  <a:latin typeface="Cambria Math" panose="02040503050406030204" pitchFamily="18" charset="0"/>
                  <a:ea typeface="Cambria Math" panose="02040503050406030204" pitchFamily="18" charset="0"/>
                  <a:cs typeface="Times New Roman" panose="02020603050405020304" pitchFamily="18" charset="0"/>
                </a:endParaRPr>
              </a:p>
              <a:p>
                <a:pPr marL="275590" indent="-285750">
                  <a:lnSpc>
                    <a:spcPct val="107000"/>
                  </a:lnSpc>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oMath>
                </a14:m>
                <a:endParaRPr lang="en-US" sz="2000" i="1" dirty="0">
                  <a:latin typeface="Cambria Math" panose="02040503050406030204" pitchFamily="18" charset="0"/>
                  <a:ea typeface="Cambria Math" panose="02040503050406030204" pitchFamily="18" charset="0"/>
                  <a:cs typeface="Times New Roman" panose="02020603050405020304" pitchFamily="18" charset="0"/>
                </a:endParaRPr>
              </a:p>
              <a:p>
                <a:pPr marL="275590" indent="-285750">
                  <a:lnSpc>
                    <a:spcPct val="107000"/>
                  </a:lnSpc>
                  <a:spcAft>
                    <a:spcPts val="800"/>
                  </a:spcAft>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20</m:t>
                    </m:r>
                  </m:oMath>
                </a14:m>
                <a:endParaRPr lang="en-US" sz="2000" i="1" dirty="0">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16" name="Rounded Rectangle 18">
                <a:extLst>
                  <a:ext uri="{FF2B5EF4-FFF2-40B4-BE49-F238E27FC236}">
                    <a16:creationId xmlns:a16="http://schemas.microsoft.com/office/drawing/2014/main" id="{38FB1633-0DF5-4795-90AA-BCFCD97BA0AB}"/>
                  </a:ext>
                </a:extLst>
              </p:cNvPr>
              <p:cNvSpPr>
                <a:spLocks noRot="1" noChangeAspect="1" noMove="1" noResize="1" noEditPoints="1" noAdjustHandles="1" noChangeArrowheads="1" noChangeShapeType="1" noTextEdit="1"/>
              </p:cNvSpPr>
              <p:nvPr/>
            </p:nvSpPr>
            <p:spPr>
              <a:xfrm>
                <a:off x="7907134" y="3788612"/>
                <a:ext cx="900786" cy="1129737"/>
              </a:xfrm>
              <a:prstGeom prst="roundRect">
                <a:avLst/>
              </a:prstGeom>
              <a:blipFill>
                <a:blip r:embed="rId6"/>
                <a:stretch>
                  <a:fillRect b="-5435"/>
                </a:stretch>
              </a:blipFill>
              <a:ln>
                <a:solidFill>
                  <a:schemeClr val="tx1"/>
                </a:solid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ounded Rectangle 18">
                <a:extLst>
                  <a:ext uri="{FF2B5EF4-FFF2-40B4-BE49-F238E27FC236}">
                    <a16:creationId xmlns:a16="http://schemas.microsoft.com/office/drawing/2014/main" id="{83E6F31B-D79F-4248-B7F9-BD255AB6933D}"/>
                  </a:ext>
                </a:extLst>
              </p:cNvPr>
              <p:cNvSpPr/>
              <p:nvPr/>
            </p:nvSpPr>
            <p:spPr>
              <a:xfrm>
                <a:off x="7907134" y="2433700"/>
                <a:ext cx="900786" cy="1129737"/>
              </a:xfrm>
              <a:prstGeom prst="round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75590" indent="-285750">
                  <a:lnSpc>
                    <a:spcPct val="107000"/>
                  </a:lnSpc>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0.3</m:t>
                    </m:r>
                  </m:oMath>
                </a14:m>
                <a:endParaRPr lang="en-US" sz="2000" i="1" dirty="0">
                  <a:latin typeface="Cambria Math" panose="02040503050406030204" pitchFamily="18" charset="0"/>
                  <a:ea typeface="Cambria Math" panose="02040503050406030204" pitchFamily="18" charset="0"/>
                  <a:cs typeface="Times New Roman" panose="02020603050405020304" pitchFamily="18" charset="0"/>
                </a:endParaRPr>
              </a:p>
              <a:p>
                <a:pPr marL="275590" indent="-285750">
                  <a:lnSpc>
                    <a:spcPct val="107000"/>
                  </a:lnSpc>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oMath>
                </a14:m>
                <a:endParaRPr lang="en-US" sz="2000" i="1" dirty="0">
                  <a:latin typeface="Cambria Math" panose="02040503050406030204" pitchFamily="18" charset="0"/>
                  <a:ea typeface="Cambria Math" panose="02040503050406030204" pitchFamily="18" charset="0"/>
                  <a:cs typeface="Times New Roman" panose="02020603050405020304" pitchFamily="18" charset="0"/>
                </a:endParaRPr>
              </a:p>
              <a:p>
                <a:pPr marL="275590" indent="-285750">
                  <a:lnSpc>
                    <a:spcPct val="107000"/>
                  </a:lnSpc>
                  <a:spcAft>
                    <a:spcPts val="800"/>
                  </a:spcAft>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20</m:t>
                    </m:r>
                  </m:oMath>
                </a14:m>
                <a:endParaRPr lang="en-US" sz="2000" i="1" dirty="0">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17" name="Rounded Rectangle 18">
                <a:extLst>
                  <a:ext uri="{FF2B5EF4-FFF2-40B4-BE49-F238E27FC236}">
                    <a16:creationId xmlns:a16="http://schemas.microsoft.com/office/drawing/2014/main" id="{83E6F31B-D79F-4248-B7F9-BD255AB6933D}"/>
                  </a:ext>
                </a:extLst>
              </p:cNvPr>
              <p:cNvSpPr>
                <a:spLocks noRot="1" noChangeAspect="1" noMove="1" noResize="1" noEditPoints="1" noAdjustHandles="1" noChangeArrowheads="1" noChangeShapeType="1" noTextEdit="1"/>
              </p:cNvSpPr>
              <p:nvPr/>
            </p:nvSpPr>
            <p:spPr>
              <a:xfrm>
                <a:off x="7907134" y="2433700"/>
                <a:ext cx="900786" cy="1129737"/>
              </a:xfrm>
              <a:prstGeom prst="roundRect">
                <a:avLst/>
              </a:prstGeom>
              <a:blipFill>
                <a:blip r:embed="rId7"/>
                <a:stretch>
                  <a:fillRect b="-6522"/>
                </a:stretch>
              </a:blipFill>
              <a:ln>
                <a:solidFill>
                  <a:schemeClr val="tx1"/>
                </a:solidFill>
              </a:ln>
              <a:effectLst/>
            </p:spPr>
            <p:txBody>
              <a:bodyPr/>
              <a:lstStyle/>
              <a:p>
                <a:r>
                  <a:rPr lang="en-US">
                    <a:noFill/>
                  </a:rPr>
                  <a:t> </a:t>
                </a:r>
              </a:p>
            </p:txBody>
          </p:sp>
        </mc:Fallback>
      </mc:AlternateContent>
    </p:spTree>
    <p:extLst>
      <p:ext uri="{BB962C8B-B14F-4D97-AF65-F5344CB8AC3E}">
        <p14:creationId xmlns:p14="http://schemas.microsoft.com/office/powerpoint/2010/main" val="649757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501293" y="636915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70</a:t>
            </a:r>
          </a:p>
        </p:txBody>
      </p:sp>
      <p:sp>
        <p:nvSpPr>
          <p:cNvPr id="5" name="TextBox 4">
            <a:extLst>
              <a:ext uri="{FF2B5EF4-FFF2-40B4-BE49-F238E27FC236}">
                <a16:creationId xmlns:a16="http://schemas.microsoft.com/office/drawing/2014/main" id="{8AE5E1E0-A54D-BE42-84B5-F917038ADE99}"/>
              </a:ext>
            </a:extLst>
          </p:cNvPr>
          <p:cNvSpPr txBox="1"/>
          <p:nvPr/>
        </p:nvSpPr>
        <p:spPr>
          <a:xfrm>
            <a:off x="457199" y="288744"/>
            <a:ext cx="11299371" cy="4225772"/>
          </a:xfrm>
          <a:prstGeom prst="rect">
            <a:avLst/>
          </a:prstGeom>
          <a:noFill/>
        </p:spPr>
        <p:txBody>
          <a:bodyPr wrap="square" rtlCol="0">
            <a:spAutoFit/>
          </a:bodyPr>
          <a:lstStyle/>
          <a:p>
            <a:pPr marL="914400" indent="-342900">
              <a:lnSpc>
                <a:spcPct val="107000"/>
              </a:lnSpc>
              <a:buFont typeface="+mj-lt"/>
              <a:buAutoNum type="alphaLcPeriod" startAt="4"/>
            </a:pPr>
            <a:r>
              <a:rPr lang="en-US" sz="2000" dirty="0">
                <a:latin typeface="Verdana" panose="020B0604030504040204" pitchFamily="34" charset="0"/>
                <a:ea typeface="Verdana" panose="020B0604030504040204" pitchFamily="34" charset="0"/>
                <a:cs typeface="Times New Roman" panose="02020603050405020304" pitchFamily="18" charset="0"/>
              </a:rPr>
              <a:t>Draw lines to indicate connections between the partial products found in each of Sergio and Alicia’s methods.</a:t>
            </a:r>
          </a:p>
          <a:p>
            <a:pPr marL="627063" indent="-285750">
              <a:buFont typeface="Arial" panose="020B0604020202020204" pitchFamily="34" charset="0"/>
              <a:buChar char="•"/>
            </a:pPr>
            <a:endParaRPr lang="en-US" sz="1800" i="1" dirty="0">
              <a:latin typeface="Cambria Math" panose="02040503050406030204" pitchFamily="18" charset="0"/>
              <a:ea typeface="Calibri" panose="020F0502020204030204" pitchFamily="34" charset="0"/>
              <a:cs typeface="Times New Roman" panose="02020603050405020304" pitchFamily="18" charset="0"/>
            </a:endParaRPr>
          </a:p>
          <a:p>
            <a:pPr marL="342900" indent="-342900">
              <a:lnSpc>
                <a:spcPct val="107000"/>
              </a:lnSpc>
              <a:buFont typeface="+mj-lt"/>
              <a:buAutoNum type="alphaLcPeriod" startAt="5"/>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lphaLcPeriod" startAt="5"/>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lphaLcPeriod" startAt="5"/>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lphaLcPeriod" startAt="5"/>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lphaLcPeriod" startAt="5"/>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indent="-342900">
              <a:lnSpc>
                <a:spcPct val="107000"/>
              </a:lnSpc>
              <a:buFont typeface="+mj-lt"/>
              <a:buAutoNum type="alphaLcPeriod" startAt="5"/>
            </a:pPr>
            <a:r>
              <a:rPr lang="en-US" sz="2000" dirty="0">
                <a:latin typeface="Verdana" panose="020B0604030504040204" pitchFamily="34" charset="0"/>
                <a:ea typeface="Verdana" panose="020B0604030504040204" pitchFamily="34" charset="0"/>
                <a:cs typeface="Times New Roman" panose="02020603050405020304" pitchFamily="18" charset="0"/>
              </a:rPr>
              <a:t>In each method, why are the numbers between the horizontal lines aligned vertically?</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684213" indent="-342900">
              <a:buFont typeface="+mj-lt"/>
              <a:buAutoNum type="alphaLcPeriod" startAt="5"/>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627063" indent="-285750">
              <a:buFont typeface="Arial" panose="020B0604020202020204" pitchFamily="34" charset="0"/>
              <a:buChar char="•"/>
            </a:pPr>
            <a:endParaRPr lang="en-US" sz="1800" i="1" dirty="0">
              <a:latin typeface="Cambria Math" panose="02040503050406030204" pitchFamily="18"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endParaRPr lang="en-US" sz="2000" i="1" dirty="0">
              <a:latin typeface="Verdana" panose="020B0604030504040204" pitchFamily="34" charset="0"/>
              <a:ea typeface="Verdana" panose="020B0604030504040204" pitchFamily="34" charset="0"/>
            </a:endParaRPr>
          </a:p>
        </p:txBody>
      </p:sp>
      <p:sp>
        <p:nvSpPr>
          <p:cNvPr id="7" name="Google Shape;278;g104476d1465_1_17">
            <a:extLst>
              <a:ext uri="{FF2B5EF4-FFF2-40B4-BE49-F238E27FC236}">
                <a16:creationId xmlns:a16="http://schemas.microsoft.com/office/drawing/2014/main" id="{A7817ACE-0EAD-F54B-BF54-D1C44606A01D}"/>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spTree>
    <p:extLst>
      <p:ext uri="{BB962C8B-B14F-4D97-AF65-F5344CB8AC3E}">
        <p14:creationId xmlns:p14="http://schemas.microsoft.com/office/powerpoint/2010/main" val="167623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795207"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71</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014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55078" y="92383"/>
            <a:ext cx="1027307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2.5.4 Guided Practice: Multiplying Decimals to the Thousandths </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784321"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71</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85528" y="25073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590876" y="1464123"/>
                <a:ext cx="11307209" cy="329320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Times New Roman" panose="02020603050405020304" pitchFamily="18" charset="0"/>
                  </a:rPr>
                  <a:t>Find the product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(32.5)(6.02)</m:t>
                    </m:r>
                  </m:oMath>
                </a14:m>
                <a:r>
                  <a:rPr lang="en-US" sz="2000" dirty="0">
                    <a:latin typeface="Verdana" panose="020B0604030504040204" pitchFamily="34" charset="0"/>
                    <a:ea typeface="Verdana" panose="020B0604030504040204" pitchFamily="34" charset="0"/>
                    <a:cs typeface="Times New Roman" panose="02020603050405020304" pitchFamily="18" charset="0"/>
                  </a:rPr>
                  <a:t> using the area model below.</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r>
                  <a:rPr lang="en-US" sz="1800" dirty="0">
                    <a:latin typeface="Verdana" panose="020B0604030504040204" pitchFamily="34" charset="0"/>
                    <a:ea typeface="Times New Roman" panose="02020603050405020304" pitchFamily="18" charset="0"/>
                    <a:cs typeface="Times New Roman" panose="02020603050405020304" pitchFamily="18" charset="0"/>
                  </a:rPr>
                  <a:t> </a:t>
                </a:r>
                <a:endParaRPr lang="en-US" sz="1800" i="1" dirty="0">
                  <a:latin typeface="Cambria Math" panose="02040503050406030204" pitchFamily="18" charset="0"/>
                  <a:ea typeface="Calibri" panose="020F0502020204030204" pitchFamily="34"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590876" y="1464123"/>
                <a:ext cx="11307209" cy="3293209"/>
              </a:xfrm>
              <a:prstGeom prst="rect">
                <a:avLst/>
              </a:prstGeom>
              <a:blipFill>
                <a:blip r:embed="rId5"/>
                <a:stretch>
                  <a:fillRect l="-561" t="-1154"/>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46CE9362-15C8-D54E-981B-E2717DFC6652}"/>
              </a:ext>
            </a:extLst>
          </p:cNvPr>
          <p:cNvSpPr/>
          <p:nvPr/>
        </p:nvSpPr>
        <p:spPr>
          <a:xfrm>
            <a:off x="-11548"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9" name="Group 8">
            <a:extLst>
              <a:ext uri="{FF2B5EF4-FFF2-40B4-BE49-F238E27FC236}">
                <a16:creationId xmlns:a16="http://schemas.microsoft.com/office/drawing/2014/main" id="{D41F6761-7520-4411-963B-5D1FDE9BE2F8}"/>
              </a:ext>
            </a:extLst>
          </p:cNvPr>
          <p:cNvGrpSpPr/>
          <p:nvPr/>
        </p:nvGrpSpPr>
        <p:grpSpPr>
          <a:xfrm>
            <a:off x="3527268" y="2423667"/>
            <a:ext cx="4688840" cy="3016250"/>
            <a:chOff x="0" y="0"/>
            <a:chExt cx="3851910" cy="2344844"/>
          </a:xfrm>
        </p:grpSpPr>
        <p:grpSp>
          <p:nvGrpSpPr>
            <p:cNvPr id="13" name="Group 12">
              <a:extLst>
                <a:ext uri="{FF2B5EF4-FFF2-40B4-BE49-F238E27FC236}">
                  <a16:creationId xmlns:a16="http://schemas.microsoft.com/office/drawing/2014/main" id="{E3185C6A-EEED-4D8F-8E16-445F34EC4886}"/>
                </a:ext>
              </a:extLst>
            </p:cNvPr>
            <p:cNvGrpSpPr/>
            <p:nvPr/>
          </p:nvGrpSpPr>
          <p:grpSpPr>
            <a:xfrm>
              <a:off x="685800" y="474134"/>
              <a:ext cx="3166110" cy="1870710"/>
              <a:chOff x="0" y="1456266"/>
              <a:chExt cx="3166110" cy="1871134"/>
            </a:xfrm>
          </p:grpSpPr>
          <p:sp>
            <p:nvSpPr>
              <p:cNvPr id="18" name="Rectangle 17">
                <a:extLst>
                  <a:ext uri="{FF2B5EF4-FFF2-40B4-BE49-F238E27FC236}">
                    <a16:creationId xmlns:a16="http://schemas.microsoft.com/office/drawing/2014/main" id="{32260137-9723-47CC-9FF2-3249A099066A}"/>
                  </a:ext>
                </a:extLst>
              </p:cNvPr>
              <p:cNvSpPr/>
              <p:nvPr/>
            </p:nvSpPr>
            <p:spPr>
              <a:xfrm>
                <a:off x="0" y="1456266"/>
                <a:ext cx="3166110" cy="1871133"/>
              </a:xfrm>
              <a:prstGeom prst="rect">
                <a:avLst/>
              </a:prstGeom>
              <a:noFill/>
              <a:ln w="38100"/>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cxnSp>
            <p:nvCxnSpPr>
              <p:cNvPr id="19" name="Straight Connector 18">
                <a:extLst>
                  <a:ext uri="{FF2B5EF4-FFF2-40B4-BE49-F238E27FC236}">
                    <a16:creationId xmlns:a16="http://schemas.microsoft.com/office/drawing/2014/main" id="{4A9A0E4E-7AC9-4F1E-8E0F-0116EEBFC58D}"/>
                  </a:ext>
                </a:extLst>
              </p:cNvPr>
              <p:cNvCxnSpPr/>
              <p:nvPr/>
            </p:nvCxnSpPr>
            <p:spPr>
              <a:xfrm>
                <a:off x="2184399" y="1456266"/>
                <a:ext cx="0" cy="1871134"/>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BF8A87C-F386-47E6-A7A6-1227CB5EC772}"/>
                  </a:ext>
                </a:extLst>
              </p:cNvPr>
              <p:cNvCxnSpPr/>
              <p:nvPr/>
            </p:nvCxnSpPr>
            <p:spPr>
              <a:xfrm>
                <a:off x="0" y="2810934"/>
                <a:ext cx="3166110" cy="0"/>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EBD9CCA4-0D63-42EE-92F1-16F138227CF9}"/>
                </a:ext>
              </a:extLst>
            </p:cNvPr>
            <p:cNvSpPr/>
            <p:nvPr/>
          </p:nvSpPr>
          <p:spPr>
            <a:xfrm>
              <a:off x="1405467" y="0"/>
              <a:ext cx="600710" cy="397510"/>
            </a:xfrm>
            <a:prstGeom prst="rect">
              <a:avLst/>
            </a:prstGeom>
            <a:no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Rectangle 14">
              <a:extLst>
                <a:ext uri="{FF2B5EF4-FFF2-40B4-BE49-F238E27FC236}">
                  <a16:creationId xmlns:a16="http://schemas.microsoft.com/office/drawing/2014/main" id="{195900C1-C037-4DD3-9651-9FAE860B77EF}"/>
                </a:ext>
              </a:extLst>
            </p:cNvPr>
            <p:cNvSpPr/>
            <p:nvPr/>
          </p:nvSpPr>
          <p:spPr>
            <a:xfrm>
              <a:off x="3056467" y="8467"/>
              <a:ext cx="601133" cy="397510"/>
            </a:xfrm>
            <a:prstGeom prst="rect">
              <a:avLst/>
            </a:prstGeom>
            <a:no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Rectangle 15">
              <a:extLst>
                <a:ext uri="{FF2B5EF4-FFF2-40B4-BE49-F238E27FC236}">
                  <a16:creationId xmlns:a16="http://schemas.microsoft.com/office/drawing/2014/main" id="{20E3F28B-A541-4109-8FD7-986481F3F446}"/>
                </a:ext>
              </a:extLst>
            </p:cNvPr>
            <p:cNvSpPr/>
            <p:nvPr/>
          </p:nvSpPr>
          <p:spPr>
            <a:xfrm>
              <a:off x="0" y="990600"/>
              <a:ext cx="601133" cy="397510"/>
            </a:xfrm>
            <a:prstGeom prst="rect">
              <a:avLst/>
            </a:prstGeom>
            <a:no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Rectangle 16">
              <a:extLst>
                <a:ext uri="{FF2B5EF4-FFF2-40B4-BE49-F238E27FC236}">
                  <a16:creationId xmlns:a16="http://schemas.microsoft.com/office/drawing/2014/main" id="{306B5A5A-81B9-4C82-8734-C370740D4C73}"/>
                </a:ext>
              </a:extLst>
            </p:cNvPr>
            <p:cNvSpPr/>
            <p:nvPr/>
          </p:nvSpPr>
          <p:spPr>
            <a:xfrm>
              <a:off x="0" y="1888067"/>
              <a:ext cx="601133" cy="397510"/>
            </a:xfrm>
            <a:prstGeom prst="rect">
              <a:avLst/>
            </a:prstGeom>
            <a:no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Tree>
    <p:extLst>
      <p:ext uri="{BB962C8B-B14F-4D97-AF65-F5344CB8AC3E}">
        <p14:creationId xmlns:p14="http://schemas.microsoft.com/office/powerpoint/2010/main" val="745523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27865" y="63882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71</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BC97A7-8575-5A46-8E72-A886A83AEC7E}"/>
                  </a:ext>
                </a:extLst>
              </p:cNvPr>
              <p:cNvSpPr txBox="1"/>
              <p:nvPr/>
            </p:nvSpPr>
            <p:spPr>
              <a:xfrm>
                <a:off x="544285" y="386281"/>
                <a:ext cx="11473543" cy="2075312"/>
              </a:xfrm>
              <a:prstGeom prst="rect">
                <a:avLst/>
              </a:prstGeom>
              <a:noFill/>
            </p:spPr>
            <p:txBody>
              <a:bodyPr wrap="square" rtlCol="0">
                <a:spAutoFit/>
              </a:bodyPr>
              <a:lstStyle/>
              <a:p>
                <a:pPr marL="342900" indent="-342900">
                  <a:lnSpc>
                    <a:spcPct val="107000"/>
                  </a:lnSpc>
                  <a:buFont typeface="+mj-lt"/>
                  <a:buAutoNum type="arabicPeriod" startAt="2"/>
                </a:pPr>
                <a:r>
                  <a:rPr lang="en-US" sz="2000" dirty="0">
                    <a:latin typeface="Verdana" panose="020B0604030504040204" pitchFamily="34" charset="0"/>
                    <a:ea typeface="Verdana" panose="020B0604030504040204" pitchFamily="34" charset="0"/>
                    <a:cs typeface="Times New Roman" panose="02020603050405020304" pitchFamily="18" charset="0"/>
                  </a:rPr>
                  <a:t>With your partner, determine who will be Partner A and Partner B.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914400" indent="-573088">
                  <a:lnSpc>
                    <a:spcPct val="107000"/>
                  </a:lnSpc>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Find the product of </a:t>
                </a:r>
                <a14:m>
                  <m:oMath xmlns:m="http://schemas.openxmlformats.org/officeDocument/2006/math">
                    <m:r>
                      <a:rPr lang="en-US" sz="2000" i="1">
                        <a:latin typeface="Cambria Math" panose="02040503050406030204" pitchFamily="18" charset="0"/>
                        <a:ea typeface="Cambria Math" panose="02040503050406030204" pitchFamily="18" charset="0"/>
                        <a:cs typeface="Times New Roman" panose="02020603050405020304" pitchFamily="18" charset="0"/>
                      </a:rPr>
                      <m:t>3.621 × 9.7</m:t>
                    </m:r>
                  </m:oMath>
                </a14:m>
                <a:r>
                  <a:rPr lang="en-US" sz="2000" dirty="0">
                    <a:latin typeface="Verdana" panose="020B0604030504040204" pitchFamily="34" charset="0"/>
                    <a:ea typeface="Verdana" panose="020B0604030504040204" pitchFamily="34" charset="0"/>
                    <a:cs typeface="Times New Roman" panose="02020603050405020304" pitchFamily="18" charset="0"/>
                  </a:rPr>
                  <a:t> using the method indicated. Show your work in the space provided.</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r>
                  <a:rPr lang="en-US" sz="1800" dirty="0">
                    <a:latin typeface="Verdana" panose="020B0604030504040204" pitchFamily="34" charset="0"/>
                    <a:ea typeface="Times New Roman" panose="02020603050405020304" pitchFamily="18" charset="0"/>
                    <a:cs typeface="Times New Roman" panose="02020603050405020304" pitchFamily="18" charset="0"/>
                  </a:rPr>
                  <a:t> </a:t>
                </a:r>
                <a:endParaRPr lang="en-US" sz="1800" i="1" dirty="0">
                  <a:latin typeface="Cambria Math" panose="02040503050406030204" pitchFamily="18" charset="0"/>
                  <a:ea typeface="Calibri" panose="020F0502020204030204" pitchFamily="34" charset="0"/>
                  <a:cs typeface="Times New Roman" panose="02020603050405020304" pitchFamily="18"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544285" y="386281"/>
                <a:ext cx="11473543" cy="2075312"/>
              </a:xfrm>
              <a:prstGeom prst="rect">
                <a:avLst/>
              </a:prstGeom>
              <a:blipFill>
                <a:blip r:embed="rId4"/>
                <a:stretch>
                  <a:fillRect l="-552" t="-2439"/>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01E1BEEC-C47B-3A48-99B3-7CB267A11974}"/>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3" name="Table 2">
            <a:extLst>
              <a:ext uri="{FF2B5EF4-FFF2-40B4-BE49-F238E27FC236}">
                <a16:creationId xmlns:a16="http://schemas.microsoft.com/office/drawing/2014/main" id="{C7078BAD-FD53-41F5-8C2A-80CBF6FABA8E}"/>
              </a:ext>
            </a:extLst>
          </p:cNvPr>
          <p:cNvGraphicFramePr>
            <a:graphicFrameLocks noGrp="1"/>
          </p:cNvGraphicFramePr>
          <p:nvPr>
            <p:extLst>
              <p:ext uri="{D42A27DB-BD31-4B8C-83A1-F6EECF244321}">
                <p14:modId xmlns:p14="http://schemas.microsoft.com/office/powerpoint/2010/main" val="105362082"/>
              </p:ext>
            </p:extLst>
          </p:nvPr>
        </p:nvGraphicFramePr>
        <p:xfrm>
          <a:off x="2850843" y="2331339"/>
          <a:ext cx="6490315" cy="4141831"/>
        </p:xfrm>
        <a:graphic>
          <a:graphicData uri="http://schemas.openxmlformats.org/drawingml/2006/table">
            <a:tbl>
              <a:tblPr firstRow="1" firstCol="1" bandRow="1"/>
              <a:tblGrid>
                <a:gridCol w="3286030">
                  <a:extLst>
                    <a:ext uri="{9D8B030D-6E8A-4147-A177-3AD203B41FA5}">
                      <a16:colId xmlns:a16="http://schemas.microsoft.com/office/drawing/2014/main" val="1614698067"/>
                    </a:ext>
                  </a:extLst>
                </a:gridCol>
                <a:gridCol w="3204285">
                  <a:extLst>
                    <a:ext uri="{9D8B030D-6E8A-4147-A177-3AD203B41FA5}">
                      <a16:colId xmlns:a16="http://schemas.microsoft.com/office/drawing/2014/main" val="2330591911"/>
                    </a:ext>
                  </a:extLst>
                </a:gridCol>
              </a:tblGrid>
              <a:tr h="278067">
                <a:tc>
                  <a:txBody>
                    <a:bodyPr/>
                    <a:lstStyle/>
                    <a:p>
                      <a:pPr marL="0" marR="0" algn="ctr">
                        <a:lnSpc>
                          <a:spcPct val="107000"/>
                        </a:lnSpc>
                        <a:spcBef>
                          <a:spcPts val="0"/>
                        </a:spcBef>
                        <a:spcAft>
                          <a:spcPts val="0"/>
                        </a:spcAft>
                      </a:pPr>
                      <a:r>
                        <a:rPr lang="en-US" sz="2000" b="1" i="0" dirty="0">
                          <a:effectLst/>
                          <a:latin typeface="Verdana" panose="020B0604030504040204" pitchFamily="34" charset="0"/>
                          <a:ea typeface="Times New Roman" panose="02020603050405020304" pitchFamily="18" charset="0"/>
                          <a:cs typeface="Times New Roman" panose="02020603050405020304" pitchFamily="18" charset="0"/>
                        </a:rPr>
                        <a:t>Partner A</a:t>
                      </a:r>
                      <a:endParaRPr lang="en-US" sz="2000" i="1" dirty="0">
                        <a:effectLst/>
                        <a:latin typeface="Cambria Math" panose="02040503050406030204" pitchFamily="18" charset="0"/>
                        <a:ea typeface="Calibri" panose="020F0502020204030204" pitchFamily="34" charset="0"/>
                        <a:cs typeface="Times New Roman" panose="02020603050405020304" pitchFamily="18" charset="0"/>
                      </a:endParaRPr>
                    </a:p>
                  </a:txBody>
                  <a:tcPr marL="67218" marR="672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BFBFBF"/>
                    </a:solidFill>
                  </a:tcPr>
                </a:tc>
                <a:tc>
                  <a:txBody>
                    <a:bodyPr/>
                    <a:lstStyle/>
                    <a:p>
                      <a:pPr marL="0" marR="0" algn="ctr">
                        <a:lnSpc>
                          <a:spcPct val="107000"/>
                        </a:lnSpc>
                        <a:spcBef>
                          <a:spcPts val="0"/>
                        </a:spcBef>
                        <a:spcAft>
                          <a:spcPts val="0"/>
                        </a:spcAft>
                      </a:pPr>
                      <a:r>
                        <a:rPr lang="en-US" sz="2000" b="1" i="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Partner B</a:t>
                      </a:r>
                      <a:endParaRPr lang="en-US" sz="2000" i="1">
                        <a:effectLst/>
                        <a:latin typeface="Cambria Math" panose="02040503050406030204" pitchFamily="18" charset="0"/>
                        <a:ea typeface="Calibri" panose="020F0502020204030204" pitchFamily="34" charset="0"/>
                        <a:cs typeface="Times New Roman" panose="02020603050405020304" pitchFamily="18" charset="0"/>
                      </a:endParaRPr>
                    </a:p>
                  </a:txBody>
                  <a:tcPr marL="67218" marR="672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BFBFBF"/>
                    </a:solidFill>
                  </a:tcPr>
                </a:tc>
                <a:extLst>
                  <a:ext uri="{0D108BD9-81ED-4DB2-BD59-A6C34878D82A}">
                    <a16:rowId xmlns:a16="http://schemas.microsoft.com/office/drawing/2014/main" val="552498452"/>
                  </a:ext>
                </a:extLst>
              </a:tr>
              <a:tr h="278067">
                <a:tc>
                  <a:txBody>
                    <a:bodyPr/>
                    <a:lstStyle/>
                    <a:p>
                      <a:pPr marL="0" marR="0" algn="ctr">
                        <a:lnSpc>
                          <a:spcPct val="107000"/>
                        </a:lnSpc>
                        <a:spcBef>
                          <a:spcPts val="0"/>
                        </a:spcBef>
                        <a:spcAft>
                          <a:spcPts val="0"/>
                        </a:spcAft>
                      </a:pPr>
                      <a:r>
                        <a:rPr lang="en-US" sz="2000" b="1" i="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Partial Products</a:t>
                      </a:r>
                      <a:endParaRPr lang="en-US" sz="2000" i="1">
                        <a:effectLst/>
                        <a:latin typeface="Cambria Math" panose="02040503050406030204" pitchFamily="18" charset="0"/>
                        <a:ea typeface="Calibri" panose="020F0502020204030204" pitchFamily="34" charset="0"/>
                        <a:cs typeface="Times New Roman" panose="02020603050405020304" pitchFamily="18" charset="0"/>
                      </a:endParaRPr>
                    </a:p>
                  </a:txBody>
                  <a:tcPr marL="67218" marR="672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Standard Algorithm</a:t>
                      </a:r>
                      <a:endParaRPr lang="en-US" sz="2000" i="1" dirty="0">
                        <a:effectLst/>
                        <a:latin typeface="Cambria Math" panose="02040503050406030204" pitchFamily="18" charset="0"/>
                        <a:ea typeface="Calibri" panose="020F0502020204030204" pitchFamily="34" charset="0"/>
                        <a:cs typeface="Times New Roman" panose="02020603050405020304" pitchFamily="18" charset="0"/>
                      </a:endParaRPr>
                    </a:p>
                  </a:txBody>
                  <a:tcPr marL="67218" marR="672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665546802"/>
                  </a:ext>
                </a:extLst>
              </a:tr>
              <a:tr h="3523467">
                <a:tc>
                  <a:txBody>
                    <a:bodyPr/>
                    <a:lstStyle/>
                    <a:p>
                      <a:pPr marL="0" marR="0" algn="ctr">
                        <a:lnSpc>
                          <a:spcPct val="107000"/>
                        </a:lnSpc>
                        <a:spcBef>
                          <a:spcPts val="0"/>
                        </a:spcBef>
                        <a:spcAft>
                          <a:spcPts val="0"/>
                        </a:spcAft>
                      </a:pPr>
                      <a:r>
                        <a:rPr lang="en-US" sz="1800" i="0" dirty="0">
                          <a:effectLst/>
                          <a:latin typeface="Verdana" panose="020B0604030504040204" pitchFamily="34" charset="0"/>
                          <a:ea typeface="Times New Roman" panose="02020603050405020304" pitchFamily="18" charset="0"/>
                          <a:cs typeface="Times New Roman" panose="02020603050405020304" pitchFamily="18" charset="0"/>
                        </a:rPr>
                        <a:t> </a:t>
                      </a:r>
                      <a:endParaRPr lang="en-US" sz="1600" i="1" dirty="0">
                        <a:effectLst/>
                        <a:latin typeface="Cambria Math" panose="02040503050406030204" pitchFamily="18" charset="0"/>
                        <a:ea typeface="Calibri" panose="020F0502020204030204" pitchFamily="34" charset="0"/>
                        <a:cs typeface="Times New Roman" panose="02020603050405020304" pitchFamily="18" charset="0"/>
                      </a:endParaRPr>
                    </a:p>
                  </a:txBody>
                  <a:tcPr marL="67218" marR="672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i="0" dirty="0">
                          <a:effectLst/>
                          <a:latin typeface="Verdana" panose="020B0604030504040204" pitchFamily="34" charset="0"/>
                          <a:ea typeface="Times New Roman" panose="02020603050405020304" pitchFamily="18" charset="0"/>
                          <a:cs typeface="Times New Roman" panose="02020603050405020304" pitchFamily="18" charset="0"/>
                        </a:rPr>
                        <a:t> </a:t>
                      </a:r>
                      <a:endParaRPr lang="en-US" sz="1600" i="1" dirty="0">
                        <a:effectLst/>
                        <a:latin typeface="Cambria Math" panose="02040503050406030204" pitchFamily="18" charset="0"/>
                        <a:ea typeface="Calibri" panose="020F0502020204030204" pitchFamily="34" charset="0"/>
                        <a:cs typeface="Times New Roman" panose="02020603050405020304" pitchFamily="18" charset="0"/>
                      </a:endParaRPr>
                    </a:p>
                  </a:txBody>
                  <a:tcPr marL="67218" marR="672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00466931"/>
                  </a:ext>
                </a:extLst>
              </a:tr>
            </a:tbl>
          </a:graphicData>
        </a:graphic>
      </p:graphicFrame>
    </p:spTree>
    <p:extLst>
      <p:ext uri="{BB962C8B-B14F-4D97-AF65-F5344CB8AC3E}">
        <p14:creationId xmlns:p14="http://schemas.microsoft.com/office/powerpoint/2010/main" val="1918385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795207" y="644112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71</a:t>
            </a:r>
          </a:p>
        </p:txBody>
      </p:sp>
      <p:sp>
        <p:nvSpPr>
          <p:cNvPr id="5" name="TextBox 4">
            <a:extLst>
              <a:ext uri="{FF2B5EF4-FFF2-40B4-BE49-F238E27FC236}">
                <a16:creationId xmlns:a16="http://schemas.microsoft.com/office/drawing/2014/main" id="{A3BC97A7-8575-5A46-8E72-A886A83AEC7E}"/>
              </a:ext>
            </a:extLst>
          </p:cNvPr>
          <p:cNvSpPr txBox="1"/>
          <p:nvPr/>
        </p:nvSpPr>
        <p:spPr>
          <a:xfrm>
            <a:off x="345635" y="353625"/>
            <a:ext cx="11282515" cy="5072158"/>
          </a:xfrm>
          <a:prstGeom prst="rect">
            <a:avLst/>
          </a:prstGeom>
          <a:noFill/>
        </p:spPr>
        <p:txBody>
          <a:bodyPr wrap="square" rtlCol="0">
            <a:spAutoFit/>
          </a:bodyPr>
          <a:lstStyle/>
          <a:p>
            <a:pPr marL="914400" indent="-452438">
              <a:lnSpc>
                <a:spcPct val="107000"/>
              </a:lnSpc>
              <a:buFont typeface="+mj-lt"/>
              <a:buAutoNum type="alphaLcPeriod" startAt="2"/>
            </a:pPr>
            <a:r>
              <a:rPr lang="en-US" sz="2000" dirty="0">
                <a:latin typeface="Verdana" panose="020B0604030504040204" pitchFamily="34" charset="0"/>
                <a:ea typeface="Verdana" panose="020B0604030504040204" pitchFamily="34" charset="0"/>
                <a:cs typeface="Times New Roman" panose="02020603050405020304" pitchFamily="18" charset="0"/>
              </a:rPr>
              <a:t>Compare your work with your partner to verify that you both found the same product. Discuss any errors and make corrections as needed. Once you have come to an agreement, write your partner’s work in your workbook in the space provided.</a:t>
            </a:r>
          </a:p>
          <a:p>
            <a:pPr marL="342900" indent="-3429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indent="-452438">
              <a:lnSpc>
                <a:spcPct val="107000"/>
              </a:lnSpc>
              <a:buFont typeface="+mj-lt"/>
              <a:buAutoNum type="alphaLcPeriod" startAt="2"/>
            </a:pPr>
            <a:r>
              <a:rPr lang="en-US" sz="2000" dirty="0">
                <a:latin typeface="Verdana" panose="020B0604030504040204" pitchFamily="34" charset="0"/>
                <a:ea typeface="Verdana" panose="020B0604030504040204" pitchFamily="34" charset="0"/>
                <a:cs typeface="Times New Roman" panose="02020603050405020304" pitchFamily="18" charset="0"/>
              </a:rPr>
              <a:t>Discuss with your partner the strengths and weaknesses of using each method.</a:t>
            </a:r>
          </a:p>
          <a:p>
            <a:pPr marL="342900" indent="-3429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indent="-452438">
              <a:lnSpc>
                <a:spcPct val="107000"/>
              </a:lnSpc>
              <a:buFont typeface="+mj-lt"/>
              <a:buAutoNum type="alphaLcPeriod" startAt="2"/>
            </a:pPr>
            <a:r>
              <a:rPr lang="en-US" sz="2000" dirty="0">
                <a:latin typeface="Verdana" panose="020B0604030504040204" pitchFamily="34" charset="0"/>
                <a:ea typeface="Verdana" panose="020B0604030504040204" pitchFamily="34" charset="0"/>
                <a:cs typeface="Times New Roman" panose="02020603050405020304" pitchFamily="18" charset="0"/>
              </a:rPr>
              <a:t>Which method do you prefer for multiplying decimals to the thousandths? </a:t>
            </a:r>
            <a:endParaRPr lang="en-US" sz="1800" i="1" dirty="0">
              <a:latin typeface="Cambria Math" panose="02040503050406030204" pitchFamily="18" charset="0"/>
              <a:ea typeface="Calibri" panose="020F0502020204030204" pitchFamily="34" charset="0"/>
              <a:cs typeface="Times New Roman" panose="02020603050405020304" pitchFamily="18"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01E1BEEC-C47B-3A48-99B3-7CB267A11974}"/>
              </a:ext>
            </a:extLst>
          </p:cNvPr>
          <p:cNvSpPr/>
          <p:nvPr/>
        </p:nvSpPr>
        <p:spPr>
          <a:xfrm>
            <a:off x="0" y="-24779"/>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2222082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544836"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72</a:t>
            </a: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68580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07478" y="10814"/>
            <a:ext cx="1029263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2.5.5 Try It: Multiplying Decimals to the Thousandths </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65369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72</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21717" y="206757"/>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563656" y="1320669"/>
                <a:ext cx="10877229" cy="4572277"/>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Times New Roman" panose="02020603050405020304" pitchFamily="18" charset="0"/>
                  </a:rPr>
                  <a:t>Find each product using your preferred method. Show your work.</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indent="-452438">
                  <a:lnSpc>
                    <a:spcPct val="107000"/>
                  </a:lnSpc>
                </a:pPr>
                <a14:m>
                  <m:oMath xmlns:m="http://schemas.openxmlformats.org/officeDocument/2006/math">
                    <m:r>
                      <m:rPr>
                        <m:nor/>
                      </m:rPr>
                      <a:rPr lang="en-US" sz="2000" dirty="0">
                        <a:latin typeface="Verdana" panose="020B0604030504040204" pitchFamily="34" charset="0"/>
                        <a:ea typeface="Verdana" panose="020B0604030504040204" pitchFamily="34" charset="0"/>
                        <a:cs typeface="Times New Roman" panose="02020603050405020304" pitchFamily="18" charset="0"/>
                      </a:rPr>
                      <m:t>a</m:t>
                    </m:r>
                    <m:r>
                      <m:rPr>
                        <m:nor/>
                      </m:rPr>
                      <a:rPr lang="en-US" sz="2000" dirty="0">
                        <a:latin typeface="Verdana" panose="020B0604030504040204" pitchFamily="34" charset="0"/>
                        <a:ea typeface="Verdana" panose="020B0604030504040204" pitchFamily="34" charset="0"/>
                        <a:cs typeface="Times New Roman" panose="02020603050405020304" pitchFamily="18" charset="0"/>
                      </a:rPr>
                      <m:t>.</m:t>
                    </m:r>
                    <m:r>
                      <a:rPr lang="en-US" sz="2000" i="1" dirty="0">
                        <a:latin typeface="Cambria Math" panose="02040503050406030204" pitchFamily="18" charset="0"/>
                        <a:ea typeface="Verdana" panose="020B0604030504040204" pitchFamily="34" charset="0"/>
                        <a:cs typeface="Times New Roman" panose="02020603050405020304" pitchFamily="18" charset="0"/>
                      </a:rPr>
                      <m:t>     </m:t>
                    </m:r>
                    <m:r>
                      <a:rPr lang="en-US" sz="2000" i="1">
                        <a:latin typeface="Cambria Math" panose="02040503050406030204" pitchFamily="18" charset="0"/>
                        <a:ea typeface="Calibri" panose="020F0502020204030204" pitchFamily="34" charset="0"/>
                        <a:cs typeface="Times New Roman" panose="02020603050405020304" pitchFamily="18" charset="0"/>
                      </a:rPr>
                      <m:t>25.36 ∙ 14.8</m:t>
                    </m:r>
                  </m:oMath>
                </a14:m>
                <a:r>
                  <a:rPr lang="en-US" sz="2000" dirty="0">
                    <a:latin typeface="Verdana" panose="020B0604030504040204" pitchFamily="34" charset="0"/>
                    <a:ea typeface="Verdana" panose="020B0604030504040204" pitchFamily="34" charset="0"/>
                    <a:cs typeface="Times New Roman" panose="02020603050405020304" pitchFamily="18" charset="0"/>
                  </a:rPr>
                  <a:t>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914400">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914400">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914400">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914400" indent="-461963">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b.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19.008 × 3.2</m:t>
                    </m:r>
                  </m:oMath>
                </a14:m>
                <a:r>
                  <a:rPr lang="en-US" sz="2000" dirty="0">
                    <a:latin typeface="Verdana" panose="020B0604030504040204" pitchFamily="34" charset="0"/>
                    <a:ea typeface="Verdana" panose="020B0604030504040204" pitchFamily="34" charset="0"/>
                    <a:cs typeface="Times New Roman" panose="02020603050405020304" pitchFamily="18" charset="0"/>
                  </a:rPr>
                  <a:t>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914400">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914400">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914400">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914400" indent="-452438">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c.  </a:t>
                </a:r>
                <a14:m>
                  <m:oMath xmlns:m="http://schemas.openxmlformats.org/officeDocument/2006/math">
                    <m:r>
                      <a:rPr lang="en-US" sz="2000">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36.3)(0.74)</m:t>
                    </m:r>
                  </m:oMath>
                </a14:m>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r>
                  <a:rPr lang="en-US" sz="1800" dirty="0">
                    <a:latin typeface="Verdana" panose="020B0604030504040204" pitchFamily="34" charset="0"/>
                    <a:ea typeface="Calibri" panose="020F0502020204030204" pitchFamily="34" charset="0"/>
                    <a:cs typeface="Times New Roman" panose="02020603050405020304" pitchFamily="18" charset="0"/>
                  </a:rPr>
                  <a:t> </a:t>
                </a:r>
                <a:endParaRPr lang="en-US" sz="1800" i="1" dirty="0">
                  <a:latin typeface="Cambria Math" panose="02040503050406030204" pitchFamily="18" charset="0"/>
                  <a:ea typeface="Calibri" panose="020F0502020204030204" pitchFamily="34" charset="0"/>
                  <a:cs typeface="Times New Roman" panose="02020603050405020304" pitchFamily="18" charset="0"/>
                </a:endParaRPr>
              </a:p>
              <a:p>
                <a:pPr>
                  <a:lnSpc>
                    <a:spcPct val="107000"/>
                  </a:lnSpc>
                </a:pPr>
                <a:r>
                  <a:rPr lang="en-US" sz="1800" dirty="0">
                    <a:latin typeface="Verdana" panose="020B0604030504040204" pitchFamily="34" charset="0"/>
                    <a:ea typeface="Calibri" panose="020F0502020204030204" pitchFamily="34" charset="0"/>
                    <a:cs typeface="Times New Roman" panose="02020603050405020304" pitchFamily="18" charset="0"/>
                  </a:rPr>
                  <a:t> </a:t>
                </a:r>
                <a:endParaRPr lang="en-US" sz="1800" i="1" dirty="0">
                  <a:latin typeface="Cambria Math" panose="02040503050406030204" pitchFamily="18" charset="0"/>
                  <a:ea typeface="Calibri" panose="020F0502020204030204" pitchFamily="34" charset="0"/>
                  <a:cs typeface="Times New Roman" panose="02020603050405020304" pitchFamily="18"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0AB6A3A1-5A0D-C84F-AC89-57E6782F43E5}"/>
                  </a:ext>
                </a:extLst>
              </p:cNvPr>
              <p:cNvSpPr txBox="1">
                <a:spLocks noRot="1" noChangeAspect="1" noMove="1" noResize="1" noEditPoints="1" noAdjustHandles="1" noChangeArrowheads="1" noChangeShapeType="1" noTextEdit="1"/>
              </p:cNvSpPr>
              <p:nvPr/>
            </p:nvSpPr>
            <p:spPr>
              <a:xfrm>
                <a:off x="563656" y="1320669"/>
                <a:ext cx="10877229" cy="4572277"/>
              </a:xfrm>
              <a:prstGeom prst="rect">
                <a:avLst/>
              </a:prstGeom>
              <a:blipFill>
                <a:blip r:embed="rId5"/>
                <a:stretch>
                  <a:fillRect l="-583" t="-831"/>
                </a:stretch>
              </a:blipFill>
            </p:spPr>
            <p:txBody>
              <a:bodyPr/>
              <a:lstStyle/>
              <a:p>
                <a:r>
                  <a:rPr lang="en-US">
                    <a:noFill/>
                  </a:rPr>
                  <a:t> </a:t>
                </a:r>
              </a:p>
            </p:txBody>
          </p:sp>
        </mc:Fallback>
      </mc:AlternateContent>
      <p:sp>
        <p:nvSpPr>
          <p:cNvPr id="12" name="Google Shape;278;g104476d1465_1_17">
            <a:extLst>
              <a:ext uri="{FF2B5EF4-FFF2-40B4-BE49-F238E27FC236}">
                <a16:creationId xmlns:a16="http://schemas.microsoft.com/office/drawing/2014/main" id="{F37EE21E-8B35-FE4A-9307-F19691384C89}"/>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8403594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8828617"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72</a:t>
            </a:r>
          </a:p>
        </p:txBody>
      </p:sp>
    </p:spTree>
    <p:extLst>
      <p:ext uri="{BB962C8B-B14F-4D97-AF65-F5344CB8AC3E}">
        <p14:creationId xmlns:p14="http://schemas.microsoft.com/office/powerpoint/2010/main" val="1790839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376850" y="221931"/>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2.5.6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483016" y="136525"/>
            <a:ext cx="747300" cy="747300"/>
          </a:xfrm>
          <a:prstGeom prst="rect">
            <a:avLst/>
          </a:prstGeom>
          <a:noFill/>
          <a:ln>
            <a:noFill/>
          </a:ln>
        </p:spPr>
      </p:pic>
      <p:sp>
        <p:nvSpPr>
          <p:cNvPr id="11" name="Google Shape;282;g104476d1465_1_17">
            <a:extLst>
              <a:ext uri="{FF2B5EF4-FFF2-40B4-BE49-F238E27FC236}">
                <a16:creationId xmlns:a16="http://schemas.microsoft.com/office/drawing/2014/main" id="{F9486181-07A1-C74B-A129-E8949F43C159}"/>
              </a:ext>
            </a:extLst>
          </p:cNvPr>
          <p:cNvSpPr txBox="1"/>
          <p:nvPr/>
        </p:nvSpPr>
        <p:spPr>
          <a:xfrm>
            <a:off x="8708820"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72</a:t>
            </a:r>
            <a:endParaRPr i="1" dirty="0">
              <a:latin typeface="Calibri"/>
              <a:ea typeface="Calibri"/>
              <a:cs typeface="Calibri"/>
              <a:sym typeface="Calibri"/>
            </a:endParaRPr>
          </a:p>
        </p:txBody>
      </p:sp>
      <p:sp>
        <p:nvSpPr>
          <p:cNvPr id="12" name="TextBox 11">
            <a:extLst>
              <a:ext uri="{FF2B5EF4-FFF2-40B4-BE49-F238E27FC236}">
                <a16:creationId xmlns:a16="http://schemas.microsoft.com/office/drawing/2014/main" id="{759C3E41-93EC-B84D-963F-86A3B15AC1C6}"/>
              </a:ext>
            </a:extLst>
          </p:cNvPr>
          <p:cNvSpPr txBox="1"/>
          <p:nvPr/>
        </p:nvSpPr>
        <p:spPr>
          <a:xfrm>
            <a:off x="677963" y="1327556"/>
            <a:ext cx="11252780"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Find each product.</a:t>
            </a:r>
          </a:p>
        </p:txBody>
      </p:sp>
      <p:sp>
        <p:nvSpPr>
          <p:cNvPr id="10" name="Google Shape;278;g104476d1465_1_17">
            <a:extLst>
              <a:ext uri="{FF2B5EF4-FFF2-40B4-BE49-F238E27FC236}">
                <a16:creationId xmlns:a16="http://schemas.microsoft.com/office/drawing/2014/main" id="{134A47CD-5DBB-654A-843E-9182A1B8FB7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20D101E7-AA36-494A-937C-23ABF26A6966}"/>
                  </a:ext>
                </a:extLst>
              </p:cNvPr>
              <p:cNvGraphicFramePr>
                <a:graphicFrameLocks noGrp="1"/>
              </p:cNvGraphicFramePr>
              <p:nvPr>
                <p:extLst>
                  <p:ext uri="{D42A27DB-BD31-4B8C-83A1-F6EECF244321}">
                    <p14:modId xmlns:p14="http://schemas.microsoft.com/office/powerpoint/2010/main" val="4264897833"/>
                  </p:ext>
                </p:extLst>
              </p:nvPr>
            </p:nvGraphicFramePr>
            <p:xfrm>
              <a:off x="1110342" y="2165650"/>
              <a:ext cx="10517808" cy="4043174"/>
            </p:xfrm>
            <a:graphic>
              <a:graphicData uri="http://schemas.openxmlformats.org/drawingml/2006/table">
                <a:tbl>
                  <a:tblPr firstRow="1" firstCol="1" bandRow="1"/>
                  <a:tblGrid>
                    <a:gridCol w="5258904">
                      <a:extLst>
                        <a:ext uri="{9D8B030D-6E8A-4147-A177-3AD203B41FA5}">
                          <a16:colId xmlns:a16="http://schemas.microsoft.com/office/drawing/2014/main" val="2815053391"/>
                        </a:ext>
                      </a:extLst>
                    </a:gridCol>
                    <a:gridCol w="5258904">
                      <a:extLst>
                        <a:ext uri="{9D8B030D-6E8A-4147-A177-3AD203B41FA5}">
                          <a16:colId xmlns:a16="http://schemas.microsoft.com/office/drawing/2014/main" val="2324546632"/>
                        </a:ext>
                      </a:extLst>
                    </a:gridCol>
                  </a:tblGrid>
                  <a:tr h="3158418">
                    <a:tc>
                      <a:txBody>
                        <a:bodyPr/>
                        <a:lstStyle/>
                        <a:p>
                          <a:pPr marL="0" marR="0" lvl="0" indent="0">
                            <a:lnSpc>
                              <a:spcPct val="107000"/>
                            </a:lnSpc>
                            <a:spcBef>
                              <a:spcPts val="0"/>
                            </a:spcBef>
                            <a:spcAft>
                              <a:spcPts val="0"/>
                            </a:spcAft>
                            <a:buFont typeface="+mj-lt"/>
                            <a:buNone/>
                          </a:pPr>
                          <a:r>
                            <a:rPr lang="en-US" sz="2000" dirty="0">
                              <a:effectLst/>
                              <a:latin typeface="Verdana" panose="020B0604030504040204" pitchFamily="34" charset="0"/>
                              <a:ea typeface="Verdana" panose="020B0604030504040204" pitchFamily="34" charset="0"/>
                              <a:cs typeface="Times New Roman" panose="02020603050405020304" pitchFamily="18" charset="0"/>
                            </a:rPr>
                            <a:t>a.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105.46 × 3.8</m:t>
                              </m:r>
                            </m:oMath>
                          </a14:m>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40234" marR="40234" marT="0" marB="0">
                        <a:lnL>
                          <a:noFill/>
                        </a:lnL>
                        <a:lnR>
                          <a:noFill/>
                        </a:lnR>
                        <a:lnT>
                          <a:noFill/>
                        </a:lnT>
                        <a:lnB>
                          <a:noFill/>
                        </a:lnB>
                      </a:tcPr>
                    </a:tc>
                    <a:tc>
                      <a:txBody>
                        <a:bodyPr/>
                        <a:lstStyle/>
                        <a:p>
                          <a:pPr marL="0" marR="0" lvl="0" indent="0">
                            <a:lnSpc>
                              <a:spcPct val="107000"/>
                            </a:lnSpc>
                            <a:spcBef>
                              <a:spcPts val="0"/>
                            </a:spcBef>
                            <a:spcAft>
                              <a:spcPts val="0"/>
                            </a:spcAft>
                            <a:buFont typeface="+mj-lt"/>
                            <a:buNone/>
                          </a:pPr>
                          <a:r>
                            <a:rPr lang="en-US" sz="2000" dirty="0">
                              <a:effectLst/>
                              <a:latin typeface="Verdana" panose="020B0604030504040204" pitchFamily="34" charset="0"/>
                              <a:ea typeface="Verdana" panose="020B0604030504040204" pitchFamily="34" charset="0"/>
                              <a:cs typeface="Times New Roman" panose="02020603050405020304" pitchFamily="18" charset="0"/>
                            </a:rPr>
                            <a:t>b.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8.7 ∙ 0.475</m:t>
                              </m:r>
                            </m:oMath>
                          </a14:m>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40234" marR="40234" marT="0" marB="0">
                        <a:lnL>
                          <a:noFill/>
                        </a:lnL>
                        <a:lnR>
                          <a:noFill/>
                        </a:lnR>
                        <a:lnT>
                          <a:noFill/>
                        </a:lnT>
                        <a:lnB>
                          <a:noFill/>
                        </a:lnB>
                      </a:tcPr>
                    </a:tc>
                    <a:extLst>
                      <a:ext uri="{0D108BD9-81ED-4DB2-BD59-A6C34878D82A}">
                        <a16:rowId xmlns:a16="http://schemas.microsoft.com/office/drawing/2014/main" val="3809801276"/>
                      </a:ext>
                    </a:extLst>
                  </a:tr>
                  <a:tr h="884756">
                    <a:tc>
                      <a:txBody>
                        <a:bodyPr/>
                        <a:lstStyle/>
                        <a:p>
                          <a:pPr marL="0" marR="0" lvl="0" indent="0">
                            <a:lnSpc>
                              <a:spcPct val="107000"/>
                            </a:lnSpc>
                            <a:spcBef>
                              <a:spcPts val="0"/>
                            </a:spcBef>
                            <a:spcAft>
                              <a:spcPts val="0"/>
                            </a:spcAft>
                            <a:buFont typeface="+mj-lt"/>
                            <a:buNone/>
                          </a:pPr>
                          <a:r>
                            <a:rPr lang="en-US" sz="2000" dirty="0">
                              <a:effectLst/>
                              <a:latin typeface="Verdana" panose="020B0604030504040204" pitchFamily="34" charset="0"/>
                              <a:ea typeface="Verdana" panose="020B0604030504040204" pitchFamily="34" charset="0"/>
                              <a:cs typeface="Times New Roman" panose="02020603050405020304" pitchFamily="18" charset="0"/>
                            </a:rPr>
                            <a:t>c.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(7.7)(102.65)</m:t>
                              </m:r>
                            </m:oMath>
                          </a14:m>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40234" marR="40234" marT="0" marB="0">
                        <a:lnL>
                          <a:noFill/>
                        </a:lnL>
                        <a:lnR>
                          <a:noFill/>
                        </a:lnR>
                        <a:lnT>
                          <a:noFill/>
                        </a:lnT>
                        <a:lnB>
                          <a:noFill/>
                        </a:lnB>
                      </a:tcPr>
                    </a:tc>
                    <a:tc>
                      <a:txBody>
                        <a:bodyPr/>
                        <a:lstStyle/>
                        <a:p>
                          <a:pPr marL="0" marR="0" lvl="0" indent="0">
                            <a:lnSpc>
                              <a:spcPct val="107000"/>
                            </a:lnSpc>
                            <a:spcBef>
                              <a:spcPts val="0"/>
                            </a:spcBef>
                            <a:spcAft>
                              <a:spcPts val="0"/>
                            </a:spcAft>
                            <a:buFont typeface="+mj-lt"/>
                            <a:buNone/>
                          </a:pPr>
                          <a:r>
                            <a:rPr lang="en-US" sz="2000" dirty="0">
                              <a:effectLst/>
                              <a:latin typeface="Verdana" panose="020B0604030504040204" pitchFamily="34" charset="0"/>
                              <a:ea typeface="Verdana" panose="020B0604030504040204" pitchFamily="34" charset="0"/>
                              <a:cs typeface="Times New Roman" panose="02020603050405020304" pitchFamily="18" charset="0"/>
                            </a:rPr>
                            <a:t>d.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1.561 × 12.8</m:t>
                              </m:r>
                            </m:oMath>
                          </a14:m>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40234" marR="40234" marT="0" marB="0">
                        <a:lnL>
                          <a:noFill/>
                        </a:lnL>
                        <a:lnR>
                          <a:noFill/>
                        </a:lnR>
                        <a:lnT>
                          <a:noFill/>
                        </a:lnT>
                        <a:lnB>
                          <a:noFill/>
                        </a:lnB>
                      </a:tcPr>
                    </a:tc>
                    <a:extLst>
                      <a:ext uri="{0D108BD9-81ED-4DB2-BD59-A6C34878D82A}">
                        <a16:rowId xmlns:a16="http://schemas.microsoft.com/office/drawing/2014/main" val="2222052760"/>
                      </a:ext>
                    </a:extLst>
                  </a:tr>
                </a:tbl>
              </a:graphicData>
            </a:graphic>
          </p:graphicFrame>
        </mc:Choice>
        <mc:Fallback xmlns="">
          <p:graphicFrame>
            <p:nvGraphicFramePr>
              <p:cNvPr id="8" name="Table 7">
                <a:extLst>
                  <a:ext uri="{FF2B5EF4-FFF2-40B4-BE49-F238E27FC236}">
                    <a16:creationId xmlns:a16="http://schemas.microsoft.com/office/drawing/2014/main" id="{20D101E7-AA36-494A-937C-23ABF26A6966}"/>
                  </a:ext>
                </a:extLst>
              </p:cNvPr>
              <p:cNvGraphicFramePr>
                <a:graphicFrameLocks noGrp="1"/>
              </p:cNvGraphicFramePr>
              <p:nvPr>
                <p:extLst>
                  <p:ext uri="{D42A27DB-BD31-4B8C-83A1-F6EECF244321}">
                    <p14:modId xmlns:p14="http://schemas.microsoft.com/office/powerpoint/2010/main" val="4264897833"/>
                  </p:ext>
                </p:extLst>
              </p:nvPr>
            </p:nvGraphicFramePr>
            <p:xfrm>
              <a:off x="1110342" y="2165650"/>
              <a:ext cx="10517808" cy="4043174"/>
            </p:xfrm>
            <a:graphic>
              <a:graphicData uri="http://schemas.openxmlformats.org/drawingml/2006/table">
                <a:tbl>
                  <a:tblPr firstRow="1" firstCol="1" bandRow="1"/>
                  <a:tblGrid>
                    <a:gridCol w="5258904">
                      <a:extLst>
                        <a:ext uri="{9D8B030D-6E8A-4147-A177-3AD203B41FA5}">
                          <a16:colId xmlns:a16="http://schemas.microsoft.com/office/drawing/2014/main" val="2815053391"/>
                        </a:ext>
                      </a:extLst>
                    </a:gridCol>
                    <a:gridCol w="5258904">
                      <a:extLst>
                        <a:ext uri="{9D8B030D-6E8A-4147-A177-3AD203B41FA5}">
                          <a16:colId xmlns:a16="http://schemas.microsoft.com/office/drawing/2014/main" val="2324546632"/>
                        </a:ext>
                      </a:extLst>
                    </a:gridCol>
                  </a:tblGrid>
                  <a:tr h="3158418">
                    <a:tc>
                      <a:txBody>
                        <a:bodyPr/>
                        <a:lstStyle/>
                        <a:p>
                          <a:endParaRPr lang="en-US"/>
                        </a:p>
                      </a:txBody>
                      <a:tcPr marL="40234" marR="40234" marT="0" marB="0">
                        <a:lnL>
                          <a:noFill/>
                        </a:lnL>
                        <a:lnR>
                          <a:noFill/>
                        </a:lnR>
                        <a:lnT>
                          <a:noFill/>
                        </a:lnT>
                        <a:lnB>
                          <a:noFill/>
                        </a:lnB>
                        <a:blipFill>
                          <a:blip r:embed="rId5"/>
                          <a:stretch>
                            <a:fillRect t="-2811" r="-99759" b="-28514"/>
                          </a:stretch>
                        </a:blipFill>
                      </a:tcPr>
                    </a:tc>
                    <a:tc>
                      <a:txBody>
                        <a:bodyPr/>
                        <a:lstStyle/>
                        <a:p>
                          <a:endParaRPr lang="en-US"/>
                        </a:p>
                      </a:txBody>
                      <a:tcPr marL="40234" marR="40234" marT="0" marB="0">
                        <a:lnL>
                          <a:noFill/>
                        </a:lnL>
                        <a:lnR>
                          <a:noFill/>
                        </a:lnR>
                        <a:lnT>
                          <a:noFill/>
                        </a:lnT>
                        <a:lnB>
                          <a:noFill/>
                        </a:lnB>
                        <a:blipFill>
                          <a:blip r:embed="rId5"/>
                          <a:stretch>
                            <a:fillRect l="-100242" t="-2811" b="-28514"/>
                          </a:stretch>
                        </a:blipFill>
                      </a:tcPr>
                    </a:tc>
                    <a:extLst>
                      <a:ext uri="{0D108BD9-81ED-4DB2-BD59-A6C34878D82A}">
                        <a16:rowId xmlns:a16="http://schemas.microsoft.com/office/drawing/2014/main" val="3809801276"/>
                      </a:ext>
                    </a:extLst>
                  </a:tr>
                  <a:tr h="884756">
                    <a:tc>
                      <a:txBody>
                        <a:bodyPr/>
                        <a:lstStyle/>
                        <a:p>
                          <a:endParaRPr lang="en-US"/>
                        </a:p>
                      </a:txBody>
                      <a:tcPr marL="40234" marR="40234" marT="0" marB="0">
                        <a:lnL>
                          <a:noFill/>
                        </a:lnL>
                        <a:lnR>
                          <a:noFill/>
                        </a:lnR>
                        <a:lnT>
                          <a:noFill/>
                        </a:lnT>
                        <a:lnB>
                          <a:noFill/>
                        </a:lnB>
                        <a:blipFill>
                          <a:blip r:embed="rId5"/>
                          <a:stretch>
                            <a:fillRect t="-365714" r="-99759" b="-1429"/>
                          </a:stretch>
                        </a:blipFill>
                      </a:tcPr>
                    </a:tc>
                    <a:tc>
                      <a:txBody>
                        <a:bodyPr/>
                        <a:lstStyle/>
                        <a:p>
                          <a:endParaRPr lang="en-US"/>
                        </a:p>
                      </a:txBody>
                      <a:tcPr marL="40234" marR="40234" marT="0" marB="0">
                        <a:lnL>
                          <a:noFill/>
                        </a:lnL>
                        <a:lnR>
                          <a:noFill/>
                        </a:lnR>
                        <a:lnT>
                          <a:noFill/>
                        </a:lnT>
                        <a:lnB>
                          <a:noFill/>
                        </a:lnB>
                        <a:blipFill>
                          <a:blip r:embed="rId5"/>
                          <a:stretch>
                            <a:fillRect l="-100242" t="-365714" b="-1429"/>
                          </a:stretch>
                        </a:blipFill>
                      </a:tcPr>
                    </a:tc>
                    <a:extLst>
                      <a:ext uri="{0D108BD9-81ED-4DB2-BD59-A6C34878D82A}">
                        <a16:rowId xmlns:a16="http://schemas.microsoft.com/office/drawing/2014/main" val="2222052760"/>
                      </a:ext>
                    </a:extLst>
                  </a:tr>
                </a:tbl>
              </a:graphicData>
            </a:graphic>
          </p:graphicFrame>
        </mc:Fallback>
      </mc:AlternateContent>
    </p:spTree>
    <p:extLst>
      <p:ext uri="{BB962C8B-B14F-4D97-AF65-F5344CB8AC3E}">
        <p14:creationId xmlns:p14="http://schemas.microsoft.com/office/powerpoint/2010/main" val="16880320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751664"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73</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686350" y="637576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73</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86571"/>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93509" y="82039"/>
            <a:ext cx="1011268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2.5.7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531579" y="20662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677962" y="1446235"/>
                <a:ext cx="11220123" cy="4551794"/>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Find each product.</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2438"/>
                <a:r>
                  <a:rPr lang="en-US" sz="2000" dirty="0">
                    <a:latin typeface="Verdana" panose="020B0604030504040204" pitchFamily="34" charset="0"/>
                    <a:ea typeface="Verdana" panose="020B0604030504040204" pitchFamily="34" charset="0"/>
                    <a:cs typeface="Verdana" panose="020B0604030504040204" pitchFamily="34" charset="0"/>
                  </a:rPr>
                  <a:t>a. </a:t>
                </a:r>
                <a14:m>
                  <m:oMath xmlns:m="http://schemas.openxmlformats.org/officeDocument/2006/math">
                    <m:d>
                      <m:dPr>
                        <m:ctrlPr>
                          <a:rPr lang="en-US" sz="2000" i="1">
                            <a:latin typeface="Cambria Math" panose="02040503050406030204" pitchFamily="18" charset="0"/>
                            <a:ea typeface="Calibri" panose="020F0502020204030204" pitchFamily="34" charset="0"/>
                            <a:cs typeface="Times New Roman" panose="02020603050405020304" pitchFamily="18" charset="0"/>
                          </a:rPr>
                        </m:ctrlPr>
                      </m:dPr>
                      <m:e>
                        <m:r>
                          <a:rPr lang="en-US" sz="2000" i="1">
                            <a:latin typeface="Cambria Math" panose="02040503050406030204" pitchFamily="18" charset="0"/>
                            <a:ea typeface="Calibri" panose="020F0502020204030204" pitchFamily="34" charset="0"/>
                            <a:cs typeface="Times New Roman" panose="02020603050405020304" pitchFamily="18" charset="0"/>
                          </a:rPr>
                          <m:t>6.36</m:t>
                        </m:r>
                      </m:e>
                    </m:d>
                    <m:d>
                      <m:dPr>
                        <m:ctrlPr>
                          <a:rPr lang="en-US" sz="2000" i="1">
                            <a:latin typeface="Cambria Math" panose="02040503050406030204" pitchFamily="18" charset="0"/>
                            <a:ea typeface="Calibri" panose="020F0502020204030204" pitchFamily="34" charset="0"/>
                            <a:cs typeface="Times New Roman" panose="02020603050405020304" pitchFamily="18" charset="0"/>
                          </a:rPr>
                        </m:ctrlPr>
                      </m:dPr>
                      <m:e>
                        <m:r>
                          <a:rPr lang="en-US" sz="2000" i="1">
                            <a:latin typeface="Cambria Math" panose="02040503050406030204" pitchFamily="18" charset="0"/>
                            <a:ea typeface="Calibri" panose="020F0502020204030204" pitchFamily="34" charset="0"/>
                            <a:cs typeface="Times New Roman" panose="02020603050405020304" pitchFamily="18" charset="0"/>
                          </a:rPr>
                          <m:t>12.27</m:t>
                        </m:r>
                      </m:e>
                    </m:d>
                  </m:oMath>
                </a14:m>
                <a:endParaRPr lang="en-US" sz="2000" dirty="0">
                  <a:latin typeface="Verdana" panose="020B0604030504040204" pitchFamily="34" charset="0"/>
                  <a:ea typeface="Verdana" panose="020B0604030504040204" pitchFamily="34" charset="0"/>
                  <a:cs typeface="Times New Roman" panose="02020603050405020304" pitchFamily="18" charset="0"/>
                </a:endParaRPr>
              </a:p>
              <a:p>
                <a:endParaRPr lang="en-US" sz="2000" dirty="0">
                  <a:latin typeface="Verdana" panose="020B0604030504040204" pitchFamily="34" charset="0"/>
                  <a:ea typeface="Verdana" panose="020B0604030504040204" pitchFamily="34" charset="0"/>
                  <a:cs typeface="Times New Roman" panose="02020603050405020304" pitchFamily="18" charset="0"/>
                </a:endParaRPr>
              </a:p>
              <a:p>
                <a:endParaRPr lang="en-US" sz="2000" i="1" dirty="0">
                  <a:latin typeface="Verdana" panose="020B0604030504040204" pitchFamily="34" charset="0"/>
                  <a:ea typeface="Verdana" panose="020B0604030504040204" pitchFamily="34" charset="0"/>
                  <a:cs typeface="Times New Roman" panose="02020603050405020304" pitchFamily="18" charset="0"/>
                </a:endParaRPr>
              </a:p>
              <a:p>
                <a:endParaRPr lang="en-US" sz="2000" i="1" dirty="0">
                  <a:latin typeface="Verdana" panose="020B0604030504040204" pitchFamily="34" charset="0"/>
                  <a:ea typeface="Verdana" panose="020B0604030504040204" pitchFamily="34" charset="0"/>
                  <a:cs typeface="Times New Roman" panose="02020603050405020304" pitchFamily="18" charset="0"/>
                </a:endParaRPr>
              </a:p>
              <a:p>
                <a:endParaRPr lang="en-US" sz="2000" i="1" dirty="0">
                  <a:latin typeface="Verdana" panose="020B0604030504040204" pitchFamily="34" charset="0"/>
                  <a:ea typeface="Verdana" panose="020B0604030504040204" pitchFamily="34" charset="0"/>
                  <a:cs typeface="Times New Roman" panose="02020603050405020304" pitchFamily="18" charset="0"/>
                </a:endParaRPr>
              </a:p>
              <a:p>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914400" indent="-452438"/>
                <a:r>
                  <a:rPr lang="en-US" sz="2000" dirty="0">
                    <a:latin typeface="Verdana" panose="020B0604030504040204" pitchFamily="34" charset="0"/>
                    <a:ea typeface="Verdana" panose="020B0604030504040204" pitchFamily="34" charset="0"/>
                    <a:cs typeface="Times New Roman" panose="02020603050405020304" pitchFamily="18" charset="0"/>
                  </a:rPr>
                  <a:t>b.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8.12 ∙ 29.4</m:t>
                    </m:r>
                  </m:oMath>
                </a14:m>
                <a:endParaRPr lang="en-US" sz="2000" i="1" dirty="0">
                  <a:latin typeface="Verdana" panose="020B0604030504040204" pitchFamily="34" charset="0"/>
                  <a:ea typeface="Verdana" panose="020B0604030504040204" pitchFamily="34" charset="0"/>
                  <a:cs typeface="Times New Roman" panose="02020603050405020304" pitchFamily="18" charset="0"/>
                </a:endParaRPr>
              </a:p>
              <a:p>
                <a:endParaRPr lang="en-US" sz="2000" dirty="0">
                  <a:latin typeface="Verdana" panose="020B0604030504040204" pitchFamily="34" charset="0"/>
                  <a:ea typeface="Verdana" panose="020B0604030504040204" pitchFamily="34" charset="0"/>
                  <a:cs typeface="Times New Roman" panose="02020603050405020304" pitchFamily="18"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endParaRPr lang="en-US" sz="2000" i="1" dirty="0">
                  <a:latin typeface="Cambria Math" panose="02040503050406030204" pitchFamily="18" charset="0"/>
                  <a:ea typeface="Cambria Math" panose="02040503050406030204" pitchFamily="18" charset="0"/>
                  <a:cs typeface="Times New Roman" panose="02020603050405020304" pitchFamily="18" charset="0"/>
                </a:endParaRPr>
              </a:p>
              <a:p>
                <a:pPr>
                  <a:lnSpc>
                    <a:spcPct val="107000"/>
                  </a:lnSpc>
                </a:pPr>
                <a:r>
                  <a:rPr lang="en-US" sz="1800" dirty="0">
                    <a:latin typeface="Verdana" panose="020B0604030504040204" pitchFamily="34" charset="0"/>
                    <a:ea typeface="Times New Roman" panose="02020603050405020304" pitchFamily="18" charset="0"/>
                    <a:cs typeface="Times New Roman" panose="02020603050405020304" pitchFamily="18" charset="0"/>
                  </a:rPr>
                  <a:t> </a:t>
                </a:r>
                <a:endParaRPr lang="en-US" sz="1800" i="1" dirty="0">
                  <a:latin typeface="Cambria Math" panose="02040503050406030204" pitchFamily="18" charset="0"/>
                  <a:ea typeface="Calibri" panose="020F0502020204030204" pitchFamily="34"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677962" y="1446235"/>
                <a:ext cx="11220123" cy="4551794"/>
              </a:xfrm>
              <a:prstGeom prst="rect">
                <a:avLst/>
              </a:prstGeom>
              <a:blipFill>
                <a:blip r:embed="rId5"/>
                <a:stretch>
                  <a:fillRect l="-566" t="-556"/>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69767437-9B0B-9D43-A596-1373A90D9FE8}"/>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1334</TotalTime>
  <Words>1184</Words>
  <Application>Microsoft Office PowerPoint</Application>
  <PresentationFormat>Widescreen</PresentationFormat>
  <Paragraphs>275</Paragraphs>
  <Slides>28</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Verdana</vt:lpstr>
      <vt:lpstr>Century Gothic</vt:lpstr>
      <vt:lpstr>Calibri</vt:lpstr>
      <vt:lpstr>Arial Black</vt:lpstr>
      <vt:lpstr>Cambria Math</vt:lpstr>
      <vt:lpstr>Courier New</vt:lpstr>
      <vt:lpstr>Arial</vt:lpstr>
      <vt:lpstr>1_Office Theme</vt:lpstr>
      <vt:lpstr>6th Grade Math  Unit 2, Lesson 5  Multiplying Multi-Digit Numbers with Decimals to the Thousandths   Volume 1, pg. 67  </vt:lpstr>
      <vt:lpstr>Benchmark</vt:lpstr>
      <vt:lpstr>PowerPoint Presentation</vt:lpstr>
      <vt:lpstr>PowerPoint Presentation</vt:lpstr>
      <vt:lpstr>Warm-Up</vt:lpstr>
      <vt:lpstr>PowerPoint Presentation</vt:lpstr>
      <vt:lpstr>Refresher</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Try It</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vaanmx</cp:lastModifiedBy>
  <cp:revision>22</cp:revision>
  <dcterms:created xsi:type="dcterms:W3CDTF">2015-03-17T18:51:18Z</dcterms:created>
  <dcterms:modified xsi:type="dcterms:W3CDTF">2022-06-04T23:38:32Z</dcterms:modified>
</cp:coreProperties>
</file>