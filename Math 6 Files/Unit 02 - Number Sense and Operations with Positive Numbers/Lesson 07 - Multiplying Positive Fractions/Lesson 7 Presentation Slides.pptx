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26" r:id="rId8"/>
    <p:sldId id="327" r:id="rId9"/>
    <p:sldId id="328" r:id="rId10"/>
    <p:sldId id="329" r:id="rId11"/>
    <p:sldId id="289" r:id="rId12"/>
    <p:sldId id="290" r:id="rId13"/>
    <p:sldId id="308" r:id="rId14"/>
    <p:sldId id="320" r:id="rId15"/>
    <p:sldId id="321" r:id="rId16"/>
    <p:sldId id="322" r:id="rId17"/>
    <p:sldId id="302" r:id="rId18"/>
    <p:sldId id="303" r:id="rId19"/>
    <p:sldId id="306" r:id="rId20"/>
    <p:sldId id="307" r:id="rId21"/>
    <p:sldId id="310" r:id="rId22"/>
  </p:sldIdLst>
  <p:sldSz cx="12192000" cy="6858000"/>
  <p:notesSz cx="6858000" cy="9144000"/>
  <p:embeddedFontLst>
    <p:embeddedFont>
      <p:font typeface="Arial Black" panose="020B0A04020102020204" pitchFamily="34" charset="0"/>
      <p:regular r:id="rId24"/>
      <p:bold r:id="rId25"/>
    </p:embeddedFont>
    <p:embeddedFont>
      <p:font typeface="Calibri" panose="020F0502020204030204" pitchFamily="34" charset="0"/>
      <p:regular r:id="rId26"/>
      <p:bold r:id="rId27"/>
      <p:italic r:id="rId28"/>
      <p:boldItalic r:id="rId29"/>
    </p:embeddedFont>
    <p:embeddedFont>
      <p:font typeface="Cambria Math" panose="02040503050406030204" pitchFamily="18" charset="0"/>
      <p:regular r:id="rId30"/>
    </p:embeddedFont>
    <p:embeddedFont>
      <p:font typeface="Century Gothic" panose="020B050202020202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B2E536-19F2-47FF-B418-3EB1E0FF25B7}" v="351" dt="2021-12-29T18:35:52.646"/>
  </p1510:revLst>
</p1510:revInfo>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04" autoAdjust="0"/>
    <p:restoredTop sz="94694"/>
  </p:normalViewPr>
  <p:slideViewPr>
    <p:cSldViewPr snapToGrid="0">
      <p:cViewPr varScale="1">
        <p:scale>
          <a:sx n="79" d="100"/>
          <a:sy n="79" d="100"/>
        </p:scale>
        <p:origin x="57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270617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28943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4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60.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hyperlink" Target="https://freesvg.org/1532452918" TargetMode="Externa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Multiplying Positive Fractions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78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946"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41422"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94122" y="241672"/>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50" y="6509657"/>
            <a:ext cx="41098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494123" y="1600200"/>
            <a:ext cx="971667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a:sym typeface="Verdana"/>
              </a:rPr>
              <a:t>MA.6.NSO.2.2</a:t>
            </a:r>
          </a:p>
          <a:p>
            <a:pPr indent="0">
              <a:buNone/>
            </a:pPr>
            <a:r>
              <a:rPr lang="en-US" sz="3500" dirty="0">
                <a:latin typeface="Verdana" panose="020B0604030504040204" pitchFamily="34" charset="0"/>
                <a:ea typeface="Verdana" panose="020B0604030504040204" pitchFamily="34" charset="0"/>
                <a:cs typeface="Times New Roman" panose="02020603050405020304" pitchFamily="18" charset="0"/>
              </a:rPr>
              <a:t>Extend previous understanding of multiplication and division to compute products and quotients of positive fractions by positive fractions with procedural fluency.</a:t>
            </a:r>
            <a:endParaRPr lang="en-US" sz="3500" i="1" dirty="0">
              <a:latin typeface="Verdana" panose="020B0604030504040204" pitchFamily="34" charset="0"/>
              <a:ea typeface="Verdana" panose="020B0604030504040204" pitchFamily="34" charset="0"/>
              <a:cs typeface="Times New Roman" panose="02020603050405020304" pitchFamily="18" charset="0"/>
            </a:endParaRPr>
          </a:p>
          <a:p>
            <a:pPr indent="0">
              <a:buNone/>
            </a:pPr>
            <a:endParaRPr lang="en-US" sz="3500" dirty="0">
              <a:solidFill>
                <a:schemeClr val="tx1"/>
              </a:solidFill>
              <a:latin typeface="Verdana"/>
              <a:ea typeface="Verdana"/>
              <a:cs typeface="Verdana"/>
              <a:sym typeface="Verdana"/>
            </a:endParaRP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450579" y="263443"/>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44319"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97879" y="-25757"/>
            <a:ext cx="1139689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7314749" y="6476999"/>
            <a:ext cx="42295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450579" y="1596390"/>
            <a:ext cx="976022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30660"/>
            <a:ext cx="943677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23277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7314749" y="6426025"/>
            <a:ext cx="42186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55171" y="1600200"/>
            <a:ext cx="965562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rPr>
              <a:t>I can fluently multiply positive fractions by positive fractions.</a:t>
            </a:r>
            <a:r>
              <a:rPr lang="en-US" sz="3500" i="1" dirty="0">
                <a:latin typeface="Verdana" panose="020B0604030504040204" pitchFamily="34" charset="0"/>
                <a:ea typeface="Verdana" panose="020B0604030504040204" pitchFamily="34" charset="0"/>
              </a:rPr>
              <a:t> </a:t>
            </a:r>
          </a:p>
          <a:p>
            <a:br>
              <a:rPr lang="en-US" sz="3500" dirty="0">
                <a:latin typeface="Verdana" panose="020B0604030504040204" pitchFamily="34" charset="0"/>
                <a:ea typeface="Verdana" panose="020B0604030504040204" pitchFamily="34" charset="0"/>
              </a:rPr>
            </a:br>
            <a:r>
              <a:rPr lang="en-US" sz="3500" dirty="0">
                <a:latin typeface="Verdana" panose="020B0604030504040204" pitchFamily="34" charset="0"/>
                <a:ea typeface="Verdana" panose="020B0604030504040204" pitchFamily="34" charset="0"/>
              </a:rPr>
              <a:t> </a:t>
            </a:r>
            <a:endParaRPr lang="en-US" sz="3500" i="1" dirty="0">
              <a:latin typeface="Verdana" panose="020B0604030504040204" pitchFamily="34" charset="0"/>
              <a:ea typeface="Verdana" panose="020B0604030504040204" pitchFamily="34" charset="0"/>
            </a:endParaRP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8080"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7314750" y="6476999"/>
            <a:ext cx="426333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824" y="-113487"/>
            <a:ext cx="93973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2.7.1 Warm-Up: Food Science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4524" y="175713"/>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7314749" y="6476999"/>
            <a:ext cx="41424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p>
        </p:txBody>
      </p:sp>
      <p:sp>
        <p:nvSpPr>
          <p:cNvPr id="2" name="TextBox 1">
            <a:extLst>
              <a:ext uri="{FF2B5EF4-FFF2-40B4-BE49-F238E27FC236}">
                <a16:creationId xmlns:a16="http://schemas.microsoft.com/office/drawing/2014/main" id="{E1D7562E-134F-D14B-AF1A-DF40E11EF758}"/>
              </a:ext>
            </a:extLst>
          </p:cNvPr>
          <p:cNvSpPr txBox="1"/>
          <p:nvPr/>
        </p:nvSpPr>
        <p:spPr>
          <a:xfrm>
            <a:off x="620486" y="1386026"/>
            <a:ext cx="9767098" cy="3331040"/>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Dr. Charlotte Armah is a research scientist at the Institute of Food Research. She leads experiments involving human volunteers to learn whether or not eating particular foods can protect us from diseases such as cardiovascular disease and cancer. Her work allows her to combine her scientific and math expertise, interest in helping others, and enjoyment of interacting with different people.</a:t>
            </a: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What is one aspect of Charlotte’s story that was surprising to you? Explain why this stood out to you.</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endParaRPr lang="en-US" sz="1800" i="1" dirty="0">
              <a:latin typeface="Cambria Math" panose="02040503050406030204" pitchFamily="18" charset="0"/>
              <a:ea typeface="Calibri" panose="020F0502020204030204" pitchFamily="34" charset="0"/>
              <a:cs typeface="Times New Roman" panose="02020603050405020304" pitchFamily="18" charset="0"/>
            </a:endParaRP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8ADD6318-5351-C983-ED36-CA4872B022E4}"/>
              </a:ext>
            </a:extLst>
          </p:cNvPr>
          <p:cNvPicPr>
            <a:picLocks noChangeAspect="1"/>
          </p:cNvPicPr>
          <p:nvPr/>
        </p:nvPicPr>
        <p:blipFill>
          <a:blip r:embed="rId5"/>
          <a:stretch>
            <a:fillRect/>
          </a:stretch>
        </p:blipFill>
        <p:spPr>
          <a:xfrm>
            <a:off x="10121149" y="175713"/>
            <a:ext cx="1838325" cy="185737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8"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44343"/>
            <a:ext cx="4229568"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27345" y="-85979"/>
            <a:ext cx="1140211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2.7.2 Refresher: Multiplying Fractions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7314749" y="6455229"/>
            <a:ext cx="4164255"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77538" y="11792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Google Shape;278;g104476d1465_1_17">
            <a:extLst>
              <a:ext uri="{FF2B5EF4-FFF2-40B4-BE49-F238E27FC236}">
                <a16:creationId xmlns:a16="http://schemas.microsoft.com/office/drawing/2014/main" id="{EC5E91AA-DDB4-004E-BEFE-A614CB2375B4}"/>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8" name="Group 7">
            <a:extLst>
              <a:ext uri="{FF2B5EF4-FFF2-40B4-BE49-F238E27FC236}">
                <a16:creationId xmlns:a16="http://schemas.microsoft.com/office/drawing/2014/main" id="{47A6B0C3-71D5-4554-8021-07331AF6E5A6}"/>
              </a:ext>
            </a:extLst>
          </p:cNvPr>
          <p:cNvGrpSpPr/>
          <p:nvPr/>
        </p:nvGrpSpPr>
        <p:grpSpPr>
          <a:xfrm>
            <a:off x="1224642" y="1733595"/>
            <a:ext cx="9214757" cy="3034348"/>
            <a:chOff x="0" y="-2"/>
            <a:chExt cx="6629400" cy="2563864"/>
          </a:xfrm>
        </p:grpSpPr>
        <p:grpSp>
          <p:nvGrpSpPr>
            <p:cNvPr id="13" name="Group 12">
              <a:extLst>
                <a:ext uri="{FF2B5EF4-FFF2-40B4-BE49-F238E27FC236}">
                  <a16:creationId xmlns:a16="http://schemas.microsoft.com/office/drawing/2014/main" id="{046BB85B-59F4-4CBF-B8BF-0DF75C5E63B5}"/>
                </a:ext>
              </a:extLst>
            </p:cNvPr>
            <p:cNvGrpSpPr/>
            <p:nvPr/>
          </p:nvGrpSpPr>
          <p:grpSpPr>
            <a:xfrm>
              <a:off x="0" y="-2"/>
              <a:ext cx="6629400" cy="2563864"/>
              <a:chOff x="2031300" y="3386806"/>
              <a:chExt cx="6629400" cy="2563864"/>
            </a:xfrm>
          </p:grpSpPr>
          <p:grpSp>
            <p:nvGrpSpPr>
              <p:cNvPr id="15" name="Group 14">
                <a:extLst>
                  <a:ext uri="{FF2B5EF4-FFF2-40B4-BE49-F238E27FC236}">
                    <a16:creationId xmlns:a16="http://schemas.microsoft.com/office/drawing/2014/main" id="{FA4C6A28-9501-4882-A9B1-B3DBB5DFCA17}"/>
                  </a:ext>
                </a:extLst>
              </p:cNvPr>
              <p:cNvGrpSpPr/>
              <p:nvPr/>
            </p:nvGrpSpPr>
            <p:grpSpPr>
              <a:xfrm>
                <a:off x="2031300" y="3386806"/>
                <a:ext cx="6629400" cy="2563864"/>
                <a:chOff x="0" y="-2"/>
                <a:chExt cx="6629400" cy="2563864"/>
              </a:xfrm>
            </p:grpSpPr>
            <p:sp>
              <p:nvSpPr>
                <p:cNvPr id="16" name="Rectangle 15">
                  <a:extLst>
                    <a:ext uri="{FF2B5EF4-FFF2-40B4-BE49-F238E27FC236}">
                      <a16:creationId xmlns:a16="http://schemas.microsoft.com/office/drawing/2014/main" id="{4C5AC68F-5E45-4D2E-99F4-6627576F8DB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libri" panose="020F0502020204030204" pitchFamily="34" charset="0"/>
                      <a:cs typeface="Times New Roman" panose="02020603050405020304" pitchFamily="18" charset="0"/>
                    </a:rPr>
                    <a:t> </a:t>
                  </a:r>
                </a:p>
              </p:txBody>
            </p:sp>
            <p:sp>
              <p:nvSpPr>
                <p:cNvPr id="17" name="Rectangle 16">
                  <a:extLst>
                    <a:ext uri="{FF2B5EF4-FFF2-40B4-BE49-F238E27FC236}">
                      <a16:creationId xmlns:a16="http://schemas.microsoft.com/office/drawing/2014/main" id="{0C6791C1-6A0B-4674-8D2F-88925FFBA8F1}"/>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libri" panose="020F0502020204030204" pitchFamily="34"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8" name="Rounded Rectangle 10">
                      <a:extLst>
                        <a:ext uri="{FF2B5EF4-FFF2-40B4-BE49-F238E27FC236}">
                          <a16:creationId xmlns:a16="http://schemas.microsoft.com/office/drawing/2014/main" id="{7F2F9F3A-2A79-4B31-96CB-ECC3ADDCD995}"/>
                        </a:ext>
                      </a:extLst>
                    </p:cNvPr>
                    <p:cNvSpPr/>
                    <p:nvPr/>
                  </p:nvSpPr>
                  <p:spPr>
                    <a:xfrm>
                      <a:off x="0" y="-2"/>
                      <a:ext cx="6629400" cy="2563864"/>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spcAft>
                          <a:spcPts val="800"/>
                        </a:spcAft>
                      </a:pPr>
                      <a:endParaRPr lang="en-US" sz="2000" dirty="0">
                        <a:solidFill>
                          <a:srgbClr val="00619E"/>
                        </a:solidFill>
                        <a:latin typeface="Verdana" panose="020B0604030504040204" pitchFamily="34" charset="0"/>
                        <a:ea typeface="Calibri" panose="020F0502020204030204" pitchFamily="34" charset="0"/>
                        <a:cs typeface="Times New Roman" panose="02020603050405020304" pitchFamily="18" charset="0"/>
                      </a:endParaRPr>
                    </a:p>
                    <a:p>
                      <a:pPr marL="685800">
                        <a:lnSpc>
                          <a:spcPct val="107000"/>
                        </a:lnSpc>
                        <a:spcAft>
                          <a:spcPts val="800"/>
                        </a:spcAft>
                      </a:pPr>
                      <a:r>
                        <a:rPr lang="en-US" sz="2000" dirty="0">
                          <a:solidFill>
                            <a:srgbClr val="00619E"/>
                          </a:solidFill>
                          <a:latin typeface="Verdana" panose="020B0604030504040204" pitchFamily="34" charset="0"/>
                          <a:ea typeface="Calibri" panose="020F0502020204030204" pitchFamily="34" charset="0"/>
                          <a:cs typeface="Times New Roman" panose="02020603050405020304" pitchFamily="18" charset="0"/>
                        </a:rPr>
                        <a:t>When </a:t>
                      </a:r>
                      <a:r>
                        <a:rPr lang="en-US" sz="2000" b="1" dirty="0">
                          <a:solidFill>
                            <a:srgbClr val="00619E"/>
                          </a:solidFill>
                          <a:latin typeface="Verdana" panose="020B0604030504040204" pitchFamily="34" charset="0"/>
                          <a:ea typeface="Calibri" panose="020F0502020204030204" pitchFamily="34" charset="0"/>
                          <a:cs typeface="Times New Roman" panose="02020603050405020304" pitchFamily="18" charset="0"/>
                        </a:rPr>
                        <a:t>multiplying fractions</a:t>
                      </a:r>
                      <a:r>
                        <a:rPr lang="en-US" sz="2000" dirty="0">
                          <a:solidFill>
                            <a:srgbClr val="00619E"/>
                          </a:solidFill>
                          <a:latin typeface="Verdana" panose="020B0604030504040204" pitchFamily="34" charset="0"/>
                          <a:ea typeface="Calibri" panose="020F0502020204030204" pitchFamily="34" charset="0"/>
                          <a:cs typeface="Times New Roman" panose="02020603050405020304" pitchFamily="18" charset="0"/>
                        </a:rPr>
                        <a:t>, multiply the numerators of the factors to find the numerator of the product, and multiply the denominators of the factors to find the denominator of the product.</a:t>
                      </a:r>
                      <a:endParaRPr lang="en-US" sz="2000" i="1" dirty="0">
                        <a:latin typeface="Cambria Math" panose="02040503050406030204" pitchFamily="18" charset="0"/>
                        <a:ea typeface="Calibri" panose="020F0502020204030204" pitchFamily="34" charset="0"/>
                        <a:cs typeface="Times New Roman" panose="02020603050405020304" pitchFamily="18" charset="0"/>
                      </a:endParaRPr>
                    </a:p>
                    <a:p>
                      <a:pPr marL="685800">
                        <a:lnSpc>
                          <a:spcPct val="107000"/>
                        </a:lnSpc>
                        <a:spcAft>
                          <a:spcPts val="800"/>
                        </a:spcAft>
                      </a:pPr>
                      <a14:m>
                        <m:oMathPara xmlns:m="http://schemas.openxmlformats.org/officeDocument/2006/math">
                          <m:oMathParaPr>
                            <m:jc m:val="centerGroup"/>
                          </m:oMathParaPr>
                          <m:oMath xmlns:m="http://schemas.openxmlformats.org/officeDocument/2006/math">
                            <m:f>
                              <m:fPr>
                                <m:ctrlP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3</m:t>
                                </m:r>
                              </m:num>
                              <m:den>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4</m:t>
                                </m:r>
                              </m:den>
                            </m:f>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 × </m:t>
                            </m:r>
                            <m:f>
                              <m:fPr>
                                <m:ctrlP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2</m:t>
                                </m:r>
                              </m:num>
                              <m:den>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5</m:t>
                                </m:r>
                              </m:den>
                            </m:f>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 = </m:t>
                            </m:r>
                            <m:f>
                              <m:fPr>
                                <m:ctrlP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6</m:t>
                                </m:r>
                              </m:num>
                              <m:den>
                                <m:r>
                                  <a:rPr lang="en-US" sz="2000" i="1">
                                    <a:solidFill>
                                      <a:srgbClr val="00619E"/>
                                    </a:solidFill>
                                    <a:latin typeface="Cambria Math" panose="02040503050406030204" pitchFamily="18" charset="0"/>
                                    <a:ea typeface="Calibri" panose="020F0502020204030204" pitchFamily="34" charset="0"/>
                                    <a:cs typeface="Times New Roman" panose="02020603050405020304" pitchFamily="18" charset="0"/>
                                  </a:rPr>
                                  <m:t>20</m:t>
                                </m:r>
                              </m:den>
                            </m:f>
                          </m:oMath>
                        </m:oMathPara>
                      </a14:m>
                      <a:endParaRPr lang="en-US" sz="2000" i="1" dirty="0">
                        <a:latin typeface="Cambria Math" panose="02040503050406030204" pitchFamily="18" charset="0"/>
                        <a:ea typeface="Calibri" panose="020F0502020204030204" pitchFamily="34" charset="0"/>
                        <a:cs typeface="Times New Roman" panose="02020603050405020304" pitchFamily="18" charset="0"/>
                      </a:endParaRPr>
                    </a:p>
                    <a:p>
                      <a:pPr marL="685800">
                        <a:lnSpc>
                          <a:spcPct val="107000"/>
                        </a:lnSpc>
                        <a:spcAft>
                          <a:spcPts val="800"/>
                        </a:spcAft>
                      </a:pPr>
                      <a:r>
                        <a:rPr lang="en-US" sz="1600" i="1" dirty="0">
                          <a:solidFill>
                            <a:srgbClr val="00619E"/>
                          </a:solidFill>
                          <a:latin typeface="Cambria Math" panose="02040503050406030204" pitchFamily="18" charset="0"/>
                          <a:ea typeface="Calibri" panose="020F0502020204030204" pitchFamily="34" charset="0"/>
                          <a:cs typeface="Times New Roman" panose="02020603050405020304" pitchFamily="18" charset="0"/>
                        </a:rPr>
                        <a:t> </a:t>
                      </a:r>
                      <a:endParaRPr lang="en-US" sz="1600" i="1" dirty="0">
                        <a:latin typeface="Cambria Math" panose="02040503050406030204" pitchFamily="18" charset="0"/>
                        <a:ea typeface="Calibri" panose="020F0502020204030204" pitchFamily="34" charset="0"/>
                        <a:cs typeface="Times New Roman" panose="02020603050405020304" pitchFamily="18" charset="0"/>
                      </a:endParaRPr>
                    </a:p>
                  </p:txBody>
                </p:sp>
              </mc:Choice>
              <mc:Fallback xmlns="">
                <p:sp>
                  <p:nvSpPr>
                    <p:cNvPr id="18" name="Rounded Rectangle 10">
                      <a:extLst>
                        <a:ext uri="{FF2B5EF4-FFF2-40B4-BE49-F238E27FC236}">
                          <a16:creationId xmlns:a16="http://schemas.microsoft.com/office/drawing/2014/main" id="{7F2F9F3A-2A79-4B31-96CB-ECC3ADDCD995}"/>
                        </a:ext>
                      </a:extLst>
                    </p:cNvPr>
                    <p:cNvSpPr>
                      <a:spLocks noRot="1" noChangeAspect="1" noMove="1" noResize="1" noEditPoints="1" noAdjustHandles="1" noChangeArrowheads="1" noChangeShapeType="1" noTextEdit="1"/>
                    </p:cNvSpPr>
                    <p:nvPr/>
                  </p:nvSpPr>
                  <p:spPr>
                    <a:xfrm>
                      <a:off x="0" y="-2"/>
                      <a:ext cx="6629400" cy="2563864"/>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grpSp>
        <p:pic>
          <p:nvPicPr>
            <p:cNvPr id="14" name="image15.png" descr="Icon&#10;&#10;Description automatically generated">
              <a:extLst>
                <a:ext uri="{FF2B5EF4-FFF2-40B4-BE49-F238E27FC236}">
                  <a16:creationId xmlns:a16="http://schemas.microsoft.com/office/drawing/2014/main" id="{DEB32580-ED1A-4A55-990B-666255C419D3}"/>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5988" y="663922"/>
              <a:ext cx="539750" cy="539750"/>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35143"/>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6EAAB6-B932-C047-9261-EF734547974E}"/>
                  </a:ext>
                </a:extLst>
              </p:cNvPr>
              <p:cNvSpPr txBox="1"/>
              <p:nvPr/>
            </p:nvSpPr>
            <p:spPr>
              <a:xfrm>
                <a:off x="435429" y="422857"/>
                <a:ext cx="9824139" cy="1917128"/>
              </a:xfrm>
              <a:prstGeom prst="rect">
                <a:avLst/>
              </a:prstGeom>
              <a:noFill/>
            </p:spPr>
            <p:txBody>
              <a:bodyPr wrap="square" rtlCol="0">
                <a:spAutoFit/>
              </a:bodyPr>
              <a:lstStyle/>
              <a:p>
                <a:pPr marL="342900" indent="-342900">
                  <a:lnSpc>
                    <a:spcPct val="107000"/>
                  </a:lnSpc>
                  <a:buFont typeface="+mj-lt"/>
                  <a:buAutoNum type="arabicPeriod"/>
                  <a:tabLst>
                    <a:tab pos="2387600" algn="l"/>
                  </a:tabLst>
                </a:pPr>
                <a:r>
                  <a:rPr lang="en-US" sz="2000" dirty="0">
                    <a:latin typeface="Verdana" panose="020B0604030504040204" pitchFamily="34" charset="0"/>
                    <a:ea typeface="Verdana" panose="020B0604030504040204" pitchFamily="34" charset="0"/>
                    <a:cs typeface="Verdana" panose="020B0604030504040204" pitchFamily="34" charset="0"/>
                  </a:rPr>
                  <a:t>W</a:t>
                </a:r>
                <a:r>
                  <a:rPr lang="en-US" sz="2000" dirty="0">
                    <a:latin typeface="Verdana" panose="020B0604030504040204" pitchFamily="34" charset="0"/>
                    <a:ea typeface="Verdana" panose="020B0604030504040204" pitchFamily="34" charset="0"/>
                    <a:cs typeface="Times New Roman" panose="02020603050405020304" pitchFamily="18" charset="0"/>
                  </a:rPr>
                  <a:t>ith your partner, determine who will be partner A and who will be partner B.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00050">
                  <a:lnSpc>
                    <a:spcPct val="107000"/>
                  </a:lnSpc>
                  <a:tabLst>
                    <a:tab pos="23876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573088">
                  <a:lnSpc>
                    <a:spcPct val="107000"/>
                  </a:lnSpc>
                  <a:buFont typeface="+mj-lt"/>
                  <a:buAutoNum type="alphaLcPeriod"/>
                  <a:tabLst>
                    <a:tab pos="23876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Find the product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 × 3</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9</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in using the method indicated.</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F16EAAB6-B932-C047-9261-EF734547974E}"/>
                  </a:ext>
                </a:extLst>
              </p:cNvPr>
              <p:cNvSpPr txBox="1">
                <a:spLocks noRot="1" noChangeAspect="1" noMove="1" noResize="1" noEditPoints="1" noAdjustHandles="1" noChangeArrowheads="1" noChangeShapeType="1" noTextEdit="1"/>
              </p:cNvSpPr>
              <p:nvPr/>
            </p:nvSpPr>
            <p:spPr>
              <a:xfrm>
                <a:off x="435429" y="422857"/>
                <a:ext cx="9824139" cy="1917128"/>
              </a:xfrm>
              <a:prstGeom prst="rect">
                <a:avLst/>
              </a:prstGeom>
              <a:blipFill>
                <a:blip r:embed="rId4"/>
                <a:stretch>
                  <a:fillRect l="-682" t="-2222"/>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021CC1F2-CA8B-744A-9D8A-E95BEA8B18D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FCC67BCF-AAE1-49A6-B4B2-01E70A2CBD72}"/>
              </a:ext>
            </a:extLst>
          </p:cNvPr>
          <p:cNvPicPr>
            <a:picLocks noChangeAspect="1"/>
          </p:cNvPicPr>
          <p:nvPr/>
        </p:nvPicPr>
        <p:blipFill>
          <a:blip r:embed="rId5"/>
          <a:stretch>
            <a:fillRect/>
          </a:stretch>
        </p:blipFill>
        <p:spPr>
          <a:xfrm>
            <a:off x="2547258" y="2090059"/>
            <a:ext cx="7318110" cy="4451388"/>
          </a:xfrm>
          <a:prstGeom prst="rect">
            <a:avLst/>
          </a:prstGeom>
        </p:spPr>
      </p:pic>
    </p:spTree>
    <p:extLst>
      <p:ext uri="{BB962C8B-B14F-4D97-AF65-F5344CB8AC3E}">
        <p14:creationId xmlns:p14="http://schemas.microsoft.com/office/powerpoint/2010/main" val="85271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8"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5229"/>
            <a:ext cx="4207798"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p>
        </p:txBody>
      </p:sp>
      <p:sp>
        <p:nvSpPr>
          <p:cNvPr id="5" name="TextBox 4">
            <a:extLst>
              <a:ext uri="{FF2B5EF4-FFF2-40B4-BE49-F238E27FC236}">
                <a16:creationId xmlns:a16="http://schemas.microsoft.com/office/drawing/2014/main" id="{F16EAAB6-B932-C047-9261-EF734547974E}"/>
              </a:ext>
            </a:extLst>
          </p:cNvPr>
          <p:cNvSpPr txBox="1"/>
          <p:nvPr/>
        </p:nvSpPr>
        <p:spPr>
          <a:xfrm>
            <a:off x="457199" y="1565857"/>
            <a:ext cx="9813254" cy="2108269"/>
          </a:xfrm>
          <a:prstGeom prst="rect">
            <a:avLst/>
          </a:prstGeom>
          <a:noFill/>
        </p:spPr>
        <p:txBody>
          <a:bodyPr wrap="square" rtlCol="0">
            <a:spAutoFit/>
          </a:bodyPr>
          <a:lstStyle/>
          <a:p>
            <a:pPr marL="914400" indent="-573088">
              <a:lnSpc>
                <a:spcPct val="107000"/>
              </a:lnSpc>
              <a:buFont typeface="+mj-lt"/>
              <a:buAutoNum type="alphaLcPeriod" startAt="2"/>
              <a:tabLst>
                <a:tab pos="23876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Compare your work with your partner to verify that you both found the same product. Discuss any errors and make corrections as needed. Once you are in agreement, write your partner’s work in your workbook in the space provided.</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573088">
              <a:lnSpc>
                <a:spcPct val="107000"/>
              </a:lnSpc>
              <a:buFont typeface="+mj-lt"/>
              <a:buAutoNum type="alphaLcPeriod" startAt="2"/>
              <a:tabLst>
                <a:tab pos="2387600" algn="l"/>
              </a:tabLst>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021CC1F2-CA8B-744A-9D8A-E95BEA8B18D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3074" name="Group 24"/>
          <p:cNvGrpSpPr>
            <a:grpSpLocks/>
          </p:cNvGrpSpPr>
          <p:nvPr/>
        </p:nvGrpSpPr>
        <p:grpSpPr bwMode="auto">
          <a:xfrm>
            <a:off x="1524000" y="0"/>
            <a:ext cx="3200400" cy="1887538"/>
            <a:chOff x="0" y="0"/>
            <a:chExt cx="38519" cy="23448"/>
          </a:xfrm>
        </p:grpSpPr>
        <p:grpSp>
          <p:nvGrpSpPr>
            <p:cNvPr id="2" name="Group 15"/>
            <p:cNvGrpSpPr>
              <a:grpSpLocks/>
            </p:cNvGrpSpPr>
            <p:nvPr/>
          </p:nvGrpSpPr>
          <p:grpSpPr bwMode="auto">
            <a:xfrm>
              <a:off x="6858" y="4741"/>
              <a:ext cx="31661" cy="18707"/>
              <a:chOff x="0" y="14562"/>
              <a:chExt cx="31661" cy="18711"/>
            </a:xfrm>
          </p:grpSpPr>
        </p:grpSp>
      </p:grpSp>
    </p:spTree>
    <p:extLst>
      <p:ext uri="{BB962C8B-B14F-4D97-AF65-F5344CB8AC3E}">
        <p14:creationId xmlns:p14="http://schemas.microsoft.com/office/powerpoint/2010/main" val="4242469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8965" y="6139228"/>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87885"/>
            <a:ext cx="427421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p>
        </p:txBody>
      </p:sp>
    </p:spTree>
    <p:extLst>
      <p:ext uri="{BB962C8B-B14F-4D97-AF65-F5344CB8AC3E}">
        <p14:creationId xmlns:p14="http://schemas.microsoft.com/office/powerpoint/2010/main" val="3702612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49"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1103" y="-85979"/>
            <a:ext cx="111908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2.7.3 Guided Instruction: Multiplying Fractions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253803" y="63042"/>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23249"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696686" y="1386025"/>
                <a:ext cx="9690898" cy="2511778"/>
              </a:xfrm>
              <a:prstGeom prst="rect">
                <a:avLst/>
              </a:prstGeom>
              <a:noFill/>
            </p:spPr>
            <p:txBody>
              <a:bodyPr wrap="square" rtlCol="0">
                <a:spAutoFit/>
              </a:bodyPr>
              <a:lstStyle/>
              <a:p>
                <a:pPr>
                  <a:lnSpc>
                    <a:spcPct val="107000"/>
                  </a:lnSpc>
                  <a:tabLst>
                    <a:tab pos="23876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Recall from Lesson 1 that fractions can be rewritten in simplest form using the GCF of the numerator and denominator.</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tabLst>
                    <a:tab pos="23876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tabLst>
                    <a:tab pos="23876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Find each product using the steps indicated. </a:t>
                </a:r>
              </a:p>
              <a:p>
                <a:pPr>
                  <a:lnSpc>
                    <a:spcPct val="107000"/>
                  </a:lnSpc>
                  <a:tabLst>
                    <a:tab pos="2387600" algn="l"/>
                  </a:tabLst>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tabLst>
                    <a:tab pos="23876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1.</a:t>
                </a:r>
                <a:r>
                  <a:rPr lang="en-US" sz="2000" dirty="0">
                    <a:ea typeface="Times New Roman" panose="02020603050405020304" pitchFamily="18" charset="0"/>
                    <a:cs typeface="Times New Roman" panose="02020603050405020304" pitchFamily="18" charset="0"/>
                  </a:rPr>
                  <a:t>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5</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8</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 × 4</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oMath>
                </a14:m>
                <a:endParaRPr lang="en-US" sz="2000" i="1" dirty="0">
                  <a:latin typeface="Cambria Math" panose="02040503050406030204" pitchFamily="18" charset="0"/>
                  <a:ea typeface="Calibri" panose="020F0502020204030204" pitchFamily="34" charset="0"/>
                  <a:cs typeface="Times New Roman" panose="02020603050405020304" pitchFamily="18" charset="0"/>
                </a:endParaRPr>
              </a:p>
              <a:p>
                <a:pPr marL="457200" indent="-457200">
                  <a:lnSpc>
                    <a:spcPct val="107000"/>
                  </a:lnSpc>
                  <a:buFont typeface="+mj-lt"/>
                  <a:buAutoNum type="arabicPeriod"/>
                  <a:tabLst>
                    <a:tab pos="2387600" algn="l"/>
                  </a:tabLst>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696686" y="1386025"/>
                <a:ext cx="9690898" cy="2511778"/>
              </a:xfrm>
              <a:prstGeom prst="rect">
                <a:avLst/>
              </a:prstGeom>
              <a:blipFill>
                <a:blip r:embed="rId5"/>
                <a:stretch>
                  <a:fillRect l="-629" t="-1456"/>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13257"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FD4CD48-1C09-4AF7-9984-E7C8130AD0AD}"/>
                  </a:ext>
                </a:extLst>
              </p:cNvPr>
              <p:cNvGraphicFramePr>
                <a:graphicFrameLocks noGrp="1"/>
              </p:cNvGraphicFramePr>
              <p:nvPr>
                <p:extLst>
                  <p:ext uri="{D42A27DB-BD31-4B8C-83A1-F6EECF244321}">
                    <p14:modId xmlns:p14="http://schemas.microsoft.com/office/powerpoint/2010/main" val="513087193"/>
                  </p:ext>
                </p:extLst>
              </p:nvPr>
            </p:nvGraphicFramePr>
            <p:xfrm>
              <a:off x="1709016" y="3623795"/>
              <a:ext cx="7114233" cy="2833880"/>
            </p:xfrm>
            <a:graphic>
              <a:graphicData uri="http://schemas.openxmlformats.org/drawingml/2006/table">
                <a:tbl>
                  <a:tblPr firstRow="1" firstCol="1" bandRow="1">
                    <a:tableStyleId>{A91F0D33-8C57-4600-99A7-42BC86742BE1}</a:tableStyleId>
                  </a:tblPr>
                  <a:tblGrid>
                    <a:gridCol w="4044654">
                      <a:extLst>
                        <a:ext uri="{9D8B030D-6E8A-4147-A177-3AD203B41FA5}">
                          <a16:colId xmlns:a16="http://schemas.microsoft.com/office/drawing/2014/main" val="3252028948"/>
                        </a:ext>
                      </a:extLst>
                    </a:gridCol>
                    <a:gridCol w="3069579">
                      <a:extLst>
                        <a:ext uri="{9D8B030D-6E8A-4147-A177-3AD203B41FA5}">
                          <a16:colId xmlns:a16="http://schemas.microsoft.com/office/drawing/2014/main" val="930517784"/>
                        </a:ext>
                      </a:extLst>
                    </a:gridCol>
                  </a:tblGrid>
                  <a:tr h="517267">
                    <a:tc>
                      <a:txBody>
                        <a:bodyPr/>
                        <a:lstStyle/>
                        <a:p>
                          <a:pPr marL="0" marR="0">
                            <a:lnSpc>
                              <a:spcPct val="107000"/>
                            </a:lnSpc>
                            <a:spcBef>
                              <a:spcPts val="0"/>
                            </a:spcBef>
                            <a:spcAft>
                              <a:spcPts val="0"/>
                            </a:spcAft>
                            <a:tabLst>
                              <a:tab pos="2387600" algn="l"/>
                            </a:tabLst>
                          </a:pPr>
                          <a:r>
                            <a:rPr lang="en-US" sz="1800" dirty="0">
                              <a:effectLst/>
                              <a:latin typeface="Verdana" panose="020B0604030504040204" pitchFamily="34" charset="0"/>
                              <a:ea typeface="Verdana" panose="020B0604030504040204" pitchFamily="34" charset="0"/>
                            </a:rPr>
                            <a:t>Write the given multiplication expression.</a:t>
                          </a:r>
                          <a:endParaRPr lang="en-US" sz="18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0"/>
                            </a:spcAft>
                            <a:tabLst>
                              <a:tab pos="2387600" algn="l"/>
                            </a:tabLst>
                          </a:pPr>
                          <a:r>
                            <a:rPr lang="en-US" sz="1800" dirty="0">
                              <a:effectLst/>
                            </a:rPr>
                            <a:t> </a:t>
                          </a:r>
                          <a:endParaRPr lang="en-US" sz="18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598051"/>
                      </a:ext>
                    </a:extLst>
                  </a:tr>
                  <a:tr h="790402">
                    <a:tc>
                      <a:txBody>
                        <a:bodyPr/>
                        <a:lstStyle/>
                        <a:p>
                          <a:pPr marL="0" marR="0">
                            <a:lnSpc>
                              <a:spcPct val="107000"/>
                            </a:lnSpc>
                            <a:spcBef>
                              <a:spcPts val="0"/>
                            </a:spcBef>
                            <a:spcAft>
                              <a:spcPts val="0"/>
                            </a:spcAft>
                            <a:tabLst>
                              <a:tab pos="2387600" algn="l"/>
                            </a:tabLst>
                          </a:pPr>
                          <a:r>
                            <a:rPr lang="en-US" sz="1800" dirty="0">
                              <a:effectLst/>
                              <a:latin typeface="Verdana" panose="020B0604030504040204" pitchFamily="34" charset="0"/>
                              <a:ea typeface="Verdana" panose="020B0604030504040204" pitchFamily="34" charset="0"/>
                            </a:rPr>
                            <a:t>Rewrite the expression, rewriting any mixed numbers as fractions greater than </a:t>
                          </a: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rPr>
                            <a:t>.</a:t>
                          </a:r>
                          <a:endParaRPr lang="en-US" sz="18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69215">
                            <a:lnSpc>
                              <a:spcPct val="107000"/>
                            </a:lnSpc>
                            <a:spcBef>
                              <a:spcPts val="0"/>
                            </a:spcBef>
                            <a:spcAft>
                              <a:spcPts val="0"/>
                            </a:spcAft>
                            <a:tabLst>
                              <a:tab pos="2387600" algn="l"/>
                            </a:tabLst>
                          </a:pPr>
                          <a:r>
                            <a:rPr lang="en-US" sz="1800" dirty="0">
                              <a:effectLst/>
                            </a:rPr>
                            <a:t> </a:t>
                          </a:r>
                          <a:endParaRPr lang="en-US" sz="18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343074"/>
                      </a:ext>
                    </a:extLst>
                  </a:tr>
                  <a:tr h="517267">
                    <a:tc>
                      <a:txBody>
                        <a:bodyPr/>
                        <a:lstStyle/>
                        <a:p>
                          <a:pPr marL="0" marR="0">
                            <a:lnSpc>
                              <a:spcPct val="107000"/>
                            </a:lnSpc>
                            <a:spcBef>
                              <a:spcPts val="0"/>
                            </a:spcBef>
                            <a:spcAft>
                              <a:spcPts val="0"/>
                            </a:spcAft>
                            <a:tabLst>
                              <a:tab pos="2387600" algn="l"/>
                            </a:tabLst>
                          </a:pPr>
                          <a:r>
                            <a:rPr lang="en-US" sz="1800" dirty="0">
                              <a:effectLst/>
                              <a:latin typeface="Verdana" panose="020B0604030504040204" pitchFamily="34" charset="0"/>
                              <a:ea typeface="Verdana" panose="020B0604030504040204" pitchFamily="34" charset="0"/>
                            </a:rPr>
                            <a:t>Multiply to find the product of the fractions.</a:t>
                          </a:r>
                          <a:endParaRPr lang="en-US" sz="18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0"/>
                            </a:spcAft>
                            <a:tabLst>
                              <a:tab pos="2387600" algn="l"/>
                            </a:tabLst>
                          </a:pPr>
                          <a:r>
                            <a:rPr lang="en-US" sz="1800">
                              <a:effectLst/>
                            </a:rPr>
                            <a:t> </a:t>
                          </a:r>
                          <a:endParaRPr lang="en-US" sz="1800" i="1">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1362036"/>
                      </a:ext>
                    </a:extLst>
                  </a:tr>
                  <a:tr h="787851">
                    <a:tc>
                      <a:txBody>
                        <a:bodyPr/>
                        <a:lstStyle/>
                        <a:p>
                          <a:pPr marL="0" marR="0">
                            <a:lnSpc>
                              <a:spcPct val="107000"/>
                            </a:lnSpc>
                            <a:spcBef>
                              <a:spcPts val="0"/>
                            </a:spcBef>
                            <a:spcAft>
                              <a:spcPts val="0"/>
                            </a:spcAft>
                            <a:tabLst>
                              <a:tab pos="2387600" algn="l"/>
                            </a:tabLst>
                          </a:pPr>
                          <a:r>
                            <a:rPr lang="en-US" sz="1800" dirty="0">
                              <a:effectLst/>
                              <a:latin typeface="Verdana" panose="020B0604030504040204" pitchFamily="34" charset="0"/>
                              <a:ea typeface="Verdana" panose="020B0604030504040204" pitchFamily="34" charset="0"/>
                            </a:rPr>
                            <a:t>Rewrite the product in simplest form using the GCF of the numerator and denominator.</a:t>
                          </a:r>
                          <a:endParaRPr lang="en-US" sz="18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0"/>
                            </a:spcAft>
                            <a:tabLst>
                              <a:tab pos="2387600" algn="l"/>
                            </a:tabLst>
                          </a:pPr>
                          <a:r>
                            <a:rPr lang="en-US" sz="1800" dirty="0">
                              <a:effectLst/>
                            </a:rPr>
                            <a:t> </a:t>
                          </a:r>
                          <a:endParaRPr lang="en-US" sz="18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9899060"/>
                      </a:ext>
                    </a:extLst>
                  </a:tr>
                </a:tbl>
              </a:graphicData>
            </a:graphic>
          </p:graphicFrame>
        </mc:Choice>
        <mc:Fallback xmlns="">
          <p:graphicFrame>
            <p:nvGraphicFramePr>
              <p:cNvPr id="2" name="Table 1">
                <a:extLst>
                  <a:ext uri="{FF2B5EF4-FFF2-40B4-BE49-F238E27FC236}">
                    <a16:creationId xmlns:a16="http://schemas.microsoft.com/office/drawing/2014/main" id="{2FD4CD48-1C09-4AF7-9984-E7C8130AD0AD}"/>
                  </a:ext>
                </a:extLst>
              </p:cNvPr>
              <p:cNvGraphicFramePr>
                <a:graphicFrameLocks noGrp="1"/>
              </p:cNvGraphicFramePr>
              <p:nvPr>
                <p:extLst>
                  <p:ext uri="{D42A27DB-BD31-4B8C-83A1-F6EECF244321}">
                    <p14:modId xmlns:p14="http://schemas.microsoft.com/office/powerpoint/2010/main" val="513087193"/>
                  </p:ext>
                </p:extLst>
              </p:nvPr>
            </p:nvGraphicFramePr>
            <p:xfrm>
              <a:off x="1709016" y="3623795"/>
              <a:ext cx="7114233" cy="2833880"/>
            </p:xfrm>
            <a:graphic>
              <a:graphicData uri="http://schemas.openxmlformats.org/drawingml/2006/table">
                <a:tbl>
                  <a:tblPr firstRow="1" firstCol="1" bandRow="1">
                    <a:tableStyleId>{A91F0D33-8C57-4600-99A7-42BC86742BE1}</a:tableStyleId>
                  </a:tblPr>
                  <a:tblGrid>
                    <a:gridCol w="4044654">
                      <a:extLst>
                        <a:ext uri="{9D8B030D-6E8A-4147-A177-3AD203B41FA5}">
                          <a16:colId xmlns:a16="http://schemas.microsoft.com/office/drawing/2014/main" val="3252028948"/>
                        </a:ext>
                      </a:extLst>
                    </a:gridCol>
                    <a:gridCol w="3069579">
                      <a:extLst>
                        <a:ext uri="{9D8B030D-6E8A-4147-A177-3AD203B41FA5}">
                          <a16:colId xmlns:a16="http://schemas.microsoft.com/office/drawing/2014/main" val="930517784"/>
                        </a:ext>
                      </a:extLst>
                    </a:gridCol>
                  </a:tblGrid>
                  <a:tr h="561023">
                    <a:tc>
                      <a:txBody>
                        <a:bodyPr/>
                        <a:lstStyle/>
                        <a:p>
                          <a:pPr marL="0" marR="0">
                            <a:lnSpc>
                              <a:spcPct val="107000"/>
                            </a:lnSpc>
                            <a:spcBef>
                              <a:spcPts val="0"/>
                            </a:spcBef>
                            <a:spcAft>
                              <a:spcPts val="0"/>
                            </a:spcAft>
                            <a:tabLst>
                              <a:tab pos="2387600" algn="l"/>
                            </a:tabLst>
                          </a:pPr>
                          <a:r>
                            <a:rPr lang="en-US" sz="1800" dirty="0">
                              <a:effectLst/>
                              <a:latin typeface="Verdana" panose="020B0604030504040204" pitchFamily="34" charset="0"/>
                              <a:ea typeface="Verdana" panose="020B0604030504040204" pitchFamily="34" charset="0"/>
                            </a:rPr>
                            <a:t>Write the given multiplication expression.</a:t>
                          </a:r>
                          <a:endParaRPr lang="en-US" sz="18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0"/>
                            </a:spcAft>
                            <a:tabLst>
                              <a:tab pos="2387600" algn="l"/>
                            </a:tabLst>
                          </a:pPr>
                          <a:r>
                            <a:rPr lang="en-US" sz="1800" dirty="0">
                              <a:effectLst/>
                            </a:rPr>
                            <a:t> </a:t>
                          </a:r>
                          <a:endParaRPr lang="en-US" sz="18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598051"/>
                      </a:ext>
                    </a:extLst>
                  </a:tr>
                  <a:tr h="857314">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51" t="-75177" r="-76205" b="-181560"/>
                          </a:stretch>
                        </a:blipFill>
                      </a:tcPr>
                    </a:tc>
                    <a:tc>
                      <a:txBody>
                        <a:bodyPr/>
                        <a:lstStyle/>
                        <a:p>
                          <a:pPr marL="0" marR="69215">
                            <a:lnSpc>
                              <a:spcPct val="107000"/>
                            </a:lnSpc>
                            <a:spcBef>
                              <a:spcPts val="0"/>
                            </a:spcBef>
                            <a:spcAft>
                              <a:spcPts val="0"/>
                            </a:spcAft>
                            <a:tabLst>
                              <a:tab pos="2387600" algn="l"/>
                            </a:tabLst>
                          </a:pPr>
                          <a:r>
                            <a:rPr lang="en-US" sz="1800" dirty="0">
                              <a:effectLst/>
                            </a:rPr>
                            <a:t> </a:t>
                          </a:r>
                          <a:endParaRPr lang="en-US" sz="18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343074"/>
                      </a:ext>
                    </a:extLst>
                  </a:tr>
                  <a:tr h="561023">
                    <a:tc>
                      <a:txBody>
                        <a:bodyPr/>
                        <a:lstStyle/>
                        <a:p>
                          <a:pPr marL="0" marR="0">
                            <a:lnSpc>
                              <a:spcPct val="107000"/>
                            </a:lnSpc>
                            <a:spcBef>
                              <a:spcPts val="0"/>
                            </a:spcBef>
                            <a:spcAft>
                              <a:spcPts val="0"/>
                            </a:spcAft>
                            <a:tabLst>
                              <a:tab pos="2387600" algn="l"/>
                            </a:tabLst>
                          </a:pPr>
                          <a:r>
                            <a:rPr lang="en-US" sz="1800" dirty="0">
                              <a:effectLst/>
                              <a:latin typeface="Verdana" panose="020B0604030504040204" pitchFamily="34" charset="0"/>
                              <a:ea typeface="Verdana" panose="020B0604030504040204" pitchFamily="34" charset="0"/>
                            </a:rPr>
                            <a:t>Multiply to find the product of the fractions.</a:t>
                          </a:r>
                          <a:endParaRPr lang="en-US" sz="18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0"/>
                            </a:spcAft>
                            <a:tabLst>
                              <a:tab pos="2387600" algn="l"/>
                            </a:tabLst>
                          </a:pPr>
                          <a:r>
                            <a:rPr lang="en-US" sz="1800">
                              <a:effectLst/>
                            </a:rPr>
                            <a:t> </a:t>
                          </a:r>
                          <a:endParaRPr lang="en-US" sz="1800" i="1">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1362036"/>
                      </a:ext>
                    </a:extLst>
                  </a:tr>
                  <a:tr h="854520">
                    <a:tc>
                      <a:txBody>
                        <a:bodyPr/>
                        <a:lstStyle/>
                        <a:p>
                          <a:pPr marL="0" marR="0">
                            <a:lnSpc>
                              <a:spcPct val="107000"/>
                            </a:lnSpc>
                            <a:spcBef>
                              <a:spcPts val="0"/>
                            </a:spcBef>
                            <a:spcAft>
                              <a:spcPts val="0"/>
                            </a:spcAft>
                            <a:tabLst>
                              <a:tab pos="2387600" algn="l"/>
                            </a:tabLst>
                          </a:pPr>
                          <a:r>
                            <a:rPr lang="en-US" sz="1800" dirty="0">
                              <a:effectLst/>
                              <a:latin typeface="Verdana" panose="020B0604030504040204" pitchFamily="34" charset="0"/>
                              <a:ea typeface="Verdana" panose="020B0604030504040204" pitchFamily="34" charset="0"/>
                            </a:rPr>
                            <a:t>Rewrite the product in simplest form using the GCF of the numerator and denominator.</a:t>
                          </a:r>
                          <a:endParaRPr lang="en-US" sz="18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7000"/>
                            </a:lnSpc>
                            <a:spcBef>
                              <a:spcPts val="0"/>
                            </a:spcBef>
                            <a:spcAft>
                              <a:spcPts val="0"/>
                            </a:spcAft>
                            <a:tabLst>
                              <a:tab pos="2387600" algn="l"/>
                            </a:tabLst>
                          </a:pPr>
                          <a:r>
                            <a:rPr lang="en-US" sz="1800" dirty="0">
                              <a:effectLst/>
                            </a:rPr>
                            <a:t> </a:t>
                          </a:r>
                          <a:endParaRPr lang="en-US" sz="18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9899060"/>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12916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35976"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147794" y="310165"/>
                <a:ext cx="8327136" cy="120661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Times New Roman" panose="02020603050405020304" pitchFamily="18" charset="0"/>
                  </a:rPr>
                  <a:t> 2.</a:t>
                </a:r>
              </a:p>
              <a:p>
                <a:r>
                  <a:rPr lang="en-US" sz="2000"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3</m:t>
                    </m:r>
                    <m:f>
                      <m:f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latin typeface="Cambria Math" panose="02040503050406030204" pitchFamily="18" charset="0"/>
                            <a:ea typeface="Cambria Math" panose="02040503050406030204" pitchFamily="18" charset="0"/>
                            <a:cs typeface="Times New Roman" panose="02020603050405020304" pitchFamily="18" charset="0"/>
                          </a:rPr>
                          <m:t>3</m:t>
                        </m:r>
                      </m:num>
                      <m:den>
                        <m:r>
                          <a:rPr lang="en-US" sz="2000" i="1">
                            <a:latin typeface="Cambria Math" panose="02040503050406030204" pitchFamily="18" charset="0"/>
                            <a:ea typeface="Cambria Math" panose="02040503050406030204" pitchFamily="18" charset="0"/>
                            <a:cs typeface="Times New Roman" panose="02020603050405020304" pitchFamily="18" charset="0"/>
                          </a:rPr>
                          <m:t>5</m:t>
                        </m:r>
                      </m:den>
                    </m:f>
                    <m:r>
                      <a:rPr lang="en-US" sz="2000" i="1">
                        <a:latin typeface="Cambria Math" panose="02040503050406030204" pitchFamily="18" charset="0"/>
                        <a:ea typeface="Cambria Math" panose="02040503050406030204" pitchFamily="18" charset="0"/>
                        <a:cs typeface="Times New Roman" panose="02020603050405020304" pitchFamily="18" charset="0"/>
                      </a:rPr>
                      <m:t> ∙ 2</m:t>
                    </m:r>
                    <m:f>
                      <m:fPr>
                        <m:ctrlPr>
                          <a:rPr lang="en-US" sz="2000" i="1">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latin typeface="Cambria Math" panose="02040503050406030204" pitchFamily="18" charset="0"/>
                            <a:ea typeface="Cambria Math" panose="02040503050406030204" pitchFamily="18" charset="0"/>
                            <a:cs typeface="Times New Roman" panose="02020603050405020304" pitchFamily="18" charset="0"/>
                          </a:rPr>
                          <m:t>1</m:t>
                        </m:r>
                      </m:num>
                      <m:den>
                        <m:r>
                          <a:rPr lang="en-US" sz="2000" i="1">
                            <a:latin typeface="Cambria Math" panose="02040503050406030204" pitchFamily="18" charset="0"/>
                            <a:ea typeface="Cambria Math" panose="02040503050406030204" pitchFamily="18" charset="0"/>
                            <a:cs typeface="Times New Roman" panose="02020603050405020304" pitchFamily="18" charset="0"/>
                          </a:rPr>
                          <m:t>6</m:t>
                        </m:r>
                      </m:den>
                    </m:f>
                  </m:oMath>
                </a14:m>
                <a:endParaRPr lang="en-US" sz="2000" i="1" dirty="0">
                  <a:latin typeface="Cambria Math" panose="02040503050406030204" pitchFamily="18" charset="0"/>
                  <a:ea typeface="Cambria Math" panose="02040503050406030204" pitchFamily="18" charset="0"/>
                  <a:cs typeface="Times New Roman" panose="020206030504050203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1147794" y="310165"/>
                <a:ext cx="8327136" cy="1206612"/>
              </a:xfrm>
              <a:prstGeom prst="rect">
                <a:avLst/>
              </a:prstGeom>
              <a:blipFill>
                <a:blip r:embed="rId4"/>
                <a:stretch>
                  <a:fillRect t="-3030"/>
                </a:stretch>
              </a:blipFill>
            </p:spPr>
            <p:txBody>
              <a:bodyPr/>
              <a:lstStyle/>
              <a:p>
                <a:r>
                  <a:rPr lang="en-PH">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0E90CEB7-3189-4F99-875D-13F788D653FC}"/>
                  </a:ext>
                </a:extLst>
              </p:cNvPr>
              <p:cNvGraphicFramePr>
                <a:graphicFrameLocks noGrp="1"/>
              </p:cNvGraphicFramePr>
              <p:nvPr>
                <p:extLst>
                  <p:ext uri="{D42A27DB-BD31-4B8C-83A1-F6EECF244321}">
                    <p14:modId xmlns:p14="http://schemas.microsoft.com/office/powerpoint/2010/main" val="2781452111"/>
                  </p:ext>
                </p:extLst>
              </p:nvPr>
            </p:nvGraphicFramePr>
            <p:xfrm>
              <a:off x="1544934" y="2217773"/>
              <a:ext cx="7929996" cy="3539031"/>
            </p:xfrm>
            <a:graphic>
              <a:graphicData uri="http://schemas.openxmlformats.org/drawingml/2006/table">
                <a:tbl>
                  <a:tblPr firstRow="1" firstCol="1" bandRow="1"/>
                  <a:tblGrid>
                    <a:gridCol w="4508439">
                      <a:extLst>
                        <a:ext uri="{9D8B030D-6E8A-4147-A177-3AD203B41FA5}">
                          <a16:colId xmlns:a16="http://schemas.microsoft.com/office/drawing/2014/main" val="2790619197"/>
                        </a:ext>
                      </a:extLst>
                    </a:gridCol>
                    <a:gridCol w="3421557">
                      <a:extLst>
                        <a:ext uri="{9D8B030D-6E8A-4147-A177-3AD203B41FA5}">
                          <a16:colId xmlns:a16="http://schemas.microsoft.com/office/drawing/2014/main" val="160012988"/>
                        </a:ext>
                      </a:extLst>
                    </a:gridCol>
                  </a:tblGrid>
                  <a:tr h="572133">
                    <a:tc>
                      <a:txBody>
                        <a:bodyPr/>
                        <a:lstStyle/>
                        <a:p>
                          <a:pPr marL="0" marR="0">
                            <a:lnSpc>
                              <a:spcPct val="107000"/>
                            </a:lnSpc>
                            <a:spcBef>
                              <a:spcPts val="0"/>
                            </a:spcBef>
                            <a:spcAft>
                              <a:spcPts val="0"/>
                            </a:spcAft>
                            <a:tabLst>
                              <a:tab pos="2387600" algn="l"/>
                            </a:tabLst>
                          </a:pPr>
                          <a:r>
                            <a:rPr lang="en-US" sz="2000" i="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Write the given multiplication expression.</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2387600" algn="l"/>
                            </a:tabLst>
                          </a:pPr>
                          <a:r>
                            <a:rPr lang="en-US" sz="1800" i="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6529994"/>
                      </a:ext>
                    </a:extLst>
                  </a:tr>
                  <a:tr h="1147532">
                    <a:tc>
                      <a:txBody>
                        <a:bodyPr/>
                        <a:lstStyle/>
                        <a:p>
                          <a:pPr marL="0" marR="0">
                            <a:lnSpc>
                              <a:spcPct val="107000"/>
                            </a:lnSpc>
                            <a:spcBef>
                              <a:spcPts val="0"/>
                            </a:spcBef>
                            <a:spcAft>
                              <a:spcPts val="0"/>
                            </a:spcAft>
                            <a:tabLst>
                              <a:tab pos="2387600" algn="l"/>
                            </a:tabLst>
                          </a:pPr>
                          <a:r>
                            <a:rPr lang="en-US" sz="2000" i="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Rewrite the expression, rewriting any mixed numbers as fractions greater than </a:t>
                          </a:r>
                          <a14:m>
                            <m:oMath xmlns:m="http://schemas.openxmlformats.org/officeDocument/2006/math">
                              <m:r>
                                <a:rPr lang="en-US"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oMath>
                          </a14:m>
                          <a:r>
                            <a:rPr lang="en-US" sz="2000" i="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2387600" algn="l"/>
                            </a:tabLst>
                          </a:pPr>
                          <a:r>
                            <a:rPr lang="en-US" sz="1800" i="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7891449"/>
                      </a:ext>
                    </a:extLst>
                  </a:tr>
                  <a:tr h="572133">
                    <a:tc>
                      <a:txBody>
                        <a:bodyPr/>
                        <a:lstStyle/>
                        <a:p>
                          <a:pPr marL="0" marR="0">
                            <a:lnSpc>
                              <a:spcPct val="107000"/>
                            </a:lnSpc>
                            <a:spcBef>
                              <a:spcPts val="0"/>
                            </a:spcBef>
                            <a:spcAft>
                              <a:spcPts val="0"/>
                            </a:spcAft>
                            <a:tabLst>
                              <a:tab pos="2387600" algn="l"/>
                            </a:tabLst>
                          </a:pPr>
                          <a:r>
                            <a:rPr lang="en-US" sz="200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Multiply to find the product of the fractions.</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2387600" algn="l"/>
                            </a:tabLst>
                          </a:pPr>
                          <a:r>
                            <a:rPr lang="en-US" sz="1800" i="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725513"/>
                      </a:ext>
                    </a:extLst>
                  </a:tr>
                  <a:tr h="1144739">
                    <a:tc>
                      <a:txBody>
                        <a:bodyPr/>
                        <a:lstStyle/>
                        <a:p>
                          <a:pPr marL="0" marR="0">
                            <a:lnSpc>
                              <a:spcPct val="107000"/>
                            </a:lnSpc>
                            <a:spcBef>
                              <a:spcPts val="0"/>
                            </a:spcBef>
                            <a:spcAft>
                              <a:spcPts val="0"/>
                            </a:spcAft>
                            <a:tabLst>
                              <a:tab pos="2387600" algn="l"/>
                            </a:tabLst>
                          </a:pPr>
                          <a:r>
                            <a:rPr lang="en-US" sz="200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Rewrite the product in simplest form using the GCF of the numerator and denominator.</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2387600" algn="l"/>
                            </a:tabLst>
                          </a:pPr>
                          <a:r>
                            <a:rPr lang="en-US" sz="1800" i="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077187"/>
                      </a:ext>
                    </a:extLst>
                  </a:tr>
                </a:tbl>
              </a:graphicData>
            </a:graphic>
          </p:graphicFrame>
        </mc:Choice>
        <mc:Fallback xmlns="">
          <p:graphicFrame>
            <p:nvGraphicFramePr>
              <p:cNvPr id="2" name="Table 1">
                <a:extLst>
                  <a:ext uri="{FF2B5EF4-FFF2-40B4-BE49-F238E27FC236}">
                    <a16:creationId xmlns:a16="http://schemas.microsoft.com/office/drawing/2014/main" id="{0E90CEB7-3189-4F99-875D-13F788D653FC}"/>
                  </a:ext>
                </a:extLst>
              </p:cNvPr>
              <p:cNvGraphicFramePr>
                <a:graphicFrameLocks noGrp="1"/>
              </p:cNvGraphicFramePr>
              <p:nvPr>
                <p:extLst>
                  <p:ext uri="{D42A27DB-BD31-4B8C-83A1-F6EECF244321}">
                    <p14:modId xmlns:p14="http://schemas.microsoft.com/office/powerpoint/2010/main" val="2781452111"/>
                  </p:ext>
                </p:extLst>
              </p:nvPr>
            </p:nvGraphicFramePr>
            <p:xfrm>
              <a:off x="1544934" y="2217773"/>
              <a:ext cx="7929996" cy="3539031"/>
            </p:xfrm>
            <a:graphic>
              <a:graphicData uri="http://schemas.openxmlformats.org/drawingml/2006/table">
                <a:tbl>
                  <a:tblPr firstRow="1" firstCol="1" bandRow="1"/>
                  <a:tblGrid>
                    <a:gridCol w="4508439">
                      <a:extLst>
                        <a:ext uri="{9D8B030D-6E8A-4147-A177-3AD203B41FA5}">
                          <a16:colId xmlns:a16="http://schemas.microsoft.com/office/drawing/2014/main" val="2790619197"/>
                        </a:ext>
                      </a:extLst>
                    </a:gridCol>
                    <a:gridCol w="3421557">
                      <a:extLst>
                        <a:ext uri="{9D8B030D-6E8A-4147-A177-3AD203B41FA5}">
                          <a16:colId xmlns:a16="http://schemas.microsoft.com/office/drawing/2014/main" val="160012988"/>
                        </a:ext>
                      </a:extLst>
                    </a:gridCol>
                  </a:tblGrid>
                  <a:tr h="623380">
                    <a:tc>
                      <a:txBody>
                        <a:bodyPr/>
                        <a:lstStyle/>
                        <a:p>
                          <a:pPr marL="0" marR="0">
                            <a:lnSpc>
                              <a:spcPct val="107000"/>
                            </a:lnSpc>
                            <a:spcBef>
                              <a:spcPts val="0"/>
                            </a:spcBef>
                            <a:spcAft>
                              <a:spcPts val="0"/>
                            </a:spcAft>
                            <a:tabLst>
                              <a:tab pos="2387600" algn="l"/>
                            </a:tabLst>
                          </a:pPr>
                          <a:r>
                            <a:rPr lang="en-US" sz="2000" i="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Write the given multiplication expression.</a:t>
                          </a:r>
                          <a:endParaRPr lang="en-US" sz="2000" i="1">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2387600" algn="l"/>
                            </a:tabLst>
                          </a:pPr>
                          <a:r>
                            <a:rPr lang="en-US" sz="1800" i="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6529994"/>
                      </a:ext>
                    </a:extLst>
                  </a:tr>
                  <a:tr h="1147532">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35" t="-61702" r="-76216" b="-155851"/>
                          </a:stretch>
                        </a:blipFill>
                      </a:tcPr>
                    </a:tc>
                    <a:tc>
                      <a:txBody>
                        <a:bodyPr/>
                        <a:lstStyle/>
                        <a:p>
                          <a:pPr marL="0" marR="0">
                            <a:lnSpc>
                              <a:spcPct val="107000"/>
                            </a:lnSpc>
                            <a:spcBef>
                              <a:spcPts val="0"/>
                            </a:spcBef>
                            <a:spcAft>
                              <a:spcPts val="0"/>
                            </a:spcAft>
                            <a:tabLst>
                              <a:tab pos="2387600" algn="l"/>
                            </a:tabLst>
                          </a:pPr>
                          <a:r>
                            <a:rPr lang="en-US" sz="1800" i="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7891449"/>
                      </a:ext>
                    </a:extLst>
                  </a:tr>
                  <a:tr h="623380">
                    <a:tc>
                      <a:txBody>
                        <a:bodyPr/>
                        <a:lstStyle/>
                        <a:p>
                          <a:pPr marL="0" marR="0">
                            <a:lnSpc>
                              <a:spcPct val="107000"/>
                            </a:lnSpc>
                            <a:spcBef>
                              <a:spcPts val="0"/>
                            </a:spcBef>
                            <a:spcAft>
                              <a:spcPts val="0"/>
                            </a:spcAft>
                            <a:tabLst>
                              <a:tab pos="2387600" algn="l"/>
                            </a:tabLst>
                          </a:pPr>
                          <a:r>
                            <a:rPr lang="en-US" sz="200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Multiply to find the product of the fractions.</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2387600" algn="l"/>
                            </a:tabLst>
                          </a:pPr>
                          <a:r>
                            <a:rPr lang="en-US" sz="1800" i="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725513"/>
                      </a:ext>
                    </a:extLst>
                  </a:tr>
                  <a:tr h="1144739">
                    <a:tc>
                      <a:txBody>
                        <a:bodyPr/>
                        <a:lstStyle/>
                        <a:p>
                          <a:pPr marL="0" marR="0">
                            <a:lnSpc>
                              <a:spcPct val="107000"/>
                            </a:lnSpc>
                            <a:spcBef>
                              <a:spcPts val="0"/>
                            </a:spcBef>
                            <a:spcAft>
                              <a:spcPts val="0"/>
                            </a:spcAft>
                            <a:tabLst>
                              <a:tab pos="2387600" algn="l"/>
                            </a:tabLst>
                          </a:pPr>
                          <a:r>
                            <a:rPr lang="en-US" sz="200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Rewrite the product in simplest form using the GCF of the numerator and denominator.</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tabLst>
                              <a:tab pos="2387600" algn="l"/>
                            </a:tabLst>
                          </a:pPr>
                          <a:r>
                            <a:rPr lang="en-US" sz="1800" i="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a:t>
                          </a:r>
                          <a:endParaRPr lang="en-US" sz="1600" i="1" dirty="0">
                            <a:effectLst/>
                            <a:latin typeface="Cambria Math" panose="020405030504060302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077187"/>
                      </a:ext>
                    </a:extLst>
                  </a:tr>
                </a:tbl>
              </a:graphicData>
            </a:graphic>
          </p:graphicFrame>
        </mc:Fallback>
      </mc:AlternateContent>
    </p:spTree>
    <p:extLst>
      <p:ext uri="{BB962C8B-B14F-4D97-AF65-F5344CB8AC3E}">
        <p14:creationId xmlns:p14="http://schemas.microsoft.com/office/powerpoint/2010/main" val="3393813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740779"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2" y="61403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66019" y="60325"/>
            <a:ext cx="1057080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2.7.4 Try It: Multiplying Fractions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7314750" y="6509657"/>
            <a:ext cx="41207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6212" y="25030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1066018" y="1386026"/>
            <a:ext cx="9321566" cy="169277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a:t>
            </a:r>
            <a:r>
              <a:rPr lang="en-US" sz="2000" dirty="0">
                <a:latin typeface="Verdana" panose="020B0604030504040204" pitchFamily="34" charset="0"/>
                <a:ea typeface="Verdana" panose="020B0604030504040204" pitchFamily="34" charset="0"/>
                <a:cs typeface="Times New Roman" panose="02020603050405020304" pitchFamily="18" charset="0"/>
              </a:rPr>
              <a:t>ind each product. Rewrite each product in simplest form. Show your work.</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78;g104476d1465_1_17">
            <a:extLst>
              <a:ext uri="{FF2B5EF4-FFF2-40B4-BE49-F238E27FC236}">
                <a16:creationId xmlns:a16="http://schemas.microsoft.com/office/drawing/2014/main" id="{F37EE21E-8B35-FE4A-9307-F19691384C89}"/>
              </a:ext>
            </a:extLst>
          </p:cNvPr>
          <p:cNvSpPr/>
          <p:nvPr/>
        </p:nvSpPr>
        <p:spPr>
          <a:xfrm>
            <a:off x="8514"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AF3DB68-CEB3-4AD7-9212-3E87053BB6F8}"/>
                  </a:ext>
                </a:extLst>
              </p:cNvPr>
              <p:cNvGraphicFramePr>
                <a:graphicFrameLocks noGrp="1"/>
              </p:cNvGraphicFramePr>
              <p:nvPr>
                <p:extLst>
                  <p:ext uri="{D42A27DB-BD31-4B8C-83A1-F6EECF244321}">
                    <p14:modId xmlns:p14="http://schemas.microsoft.com/office/powerpoint/2010/main" val="3185434918"/>
                  </p:ext>
                </p:extLst>
              </p:nvPr>
            </p:nvGraphicFramePr>
            <p:xfrm>
              <a:off x="1066017" y="2423779"/>
              <a:ext cx="6960492" cy="4351338"/>
            </p:xfrm>
            <a:graphic>
              <a:graphicData uri="http://schemas.openxmlformats.org/drawingml/2006/table">
                <a:tbl>
                  <a:tblPr firstRow="1" firstCol="1" bandRow="1"/>
                  <a:tblGrid>
                    <a:gridCol w="3480246">
                      <a:extLst>
                        <a:ext uri="{9D8B030D-6E8A-4147-A177-3AD203B41FA5}">
                          <a16:colId xmlns:a16="http://schemas.microsoft.com/office/drawing/2014/main" val="3394273754"/>
                        </a:ext>
                      </a:extLst>
                    </a:gridCol>
                    <a:gridCol w="3480246">
                      <a:extLst>
                        <a:ext uri="{9D8B030D-6E8A-4147-A177-3AD203B41FA5}">
                          <a16:colId xmlns:a16="http://schemas.microsoft.com/office/drawing/2014/main" val="1361053336"/>
                        </a:ext>
                      </a:extLst>
                    </a:gridCol>
                  </a:tblGrid>
                  <a:tr h="2175669">
                    <a:tc>
                      <a:txBody>
                        <a:bodyPr/>
                        <a:lstStyle/>
                        <a:p>
                          <a:pPr marL="512763" marR="0" lvl="0" indent="-512763">
                            <a:lnSpc>
                              <a:spcPct val="107000"/>
                            </a:lnSpc>
                            <a:spcBef>
                              <a:spcPts val="0"/>
                            </a:spcBef>
                            <a:spcAft>
                              <a:spcPts val="0"/>
                            </a:spcAft>
                            <a:buFont typeface="+mj-lt"/>
                            <a:buNone/>
                            <a:tabLst>
                              <a:tab pos="23876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a.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sz="2000" i="1">
                                      <a:effectLst/>
                                      <a:latin typeface="Cambria Math" panose="02040503050406030204" pitchFamily="18" charset="0"/>
                                      <a:ea typeface="Cambria Math" panose="02040503050406030204" pitchFamily="18" charset="0"/>
                                      <a:cs typeface="Times New Roman" panose="02020603050405020304" pitchFamily="18" charset="0"/>
                                    </a:rPr>
                                    <m:t>1</m:t>
                                  </m:r>
                                  <m:f>
                                    <m:f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effectLst/>
                                          <a:latin typeface="Cambria Math" panose="02040503050406030204" pitchFamily="18" charset="0"/>
                                          <a:ea typeface="Cambria Math" panose="02040503050406030204" pitchFamily="18" charset="0"/>
                                          <a:cs typeface="Times New Roman" panose="02020603050405020304" pitchFamily="18" charset="0"/>
                                        </a:rPr>
                                        <m:t>1</m:t>
                                      </m:r>
                                    </m:num>
                                    <m:den>
                                      <m:r>
                                        <a:rPr lang="en-US" sz="2000" i="1">
                                          <a:effectLst/>
                                          <a:latin typeface="Cambria Math" panose="02040503050406030204" pitchFamily="18" charset="0"/>
                                          <a:ea typeface="Cambria Math" panose="02040503050406030204" pitchFamily="18" charset="0"/>
                                          <a:cs typeface="Times New Roman" panose="02020603050405020304" pitchFamily="18" charset="0"/>
                                        </a:rPr>
                                        <m:t>8</m:t>
                                      </m:r>
                                    </m:den>
                                  </m:f>
                                </m:e>
                              </m:d>
                              <m:d>
                                <m:d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sz="2000" i="1">
                                      <a:effectLst/>
                                      <a:latin typeface="Cambria Math" panose="02040503050406030204" pitchFamily="18" charset="0"/>
                                      <a:ea typeface="Cambria Math" panose="02040503050406030204" pitchFamily="18" charset="0"/>
                                      <a:cs typeface="Times New Roman" panose="02020603050405020304" pitchFamily="18" charset="0"/>
                                    </a:rPr>
                                    <m:t>5</m:t>
                                  </m:r>
                                  <m:f>
                                    <m:f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effectLst/>
                                          <a:latin typeface="Cambria Math" panose="02040503050406030204" pitchFamily="18" charset="0"/>
                                          <a:ea typeface="Cambria Math" panose="02040503050406030204" pitchFamily="18" charset="0"/>
                                          <a:cs typeface="Times New Roman" panose="02020603050405020304" pitchFamily="18" charset="0"/>
                                        </a:rPr>
                                        <m:t>5</m:t>
                                      </m:r>
                                    </m:num>
                                    <m:den>
                                      <m:r>
                                        <a:rPr lang="en-US" sz="2000" i="1">
                                          <a:effectLst/>
                                          <a:latin typeface="Cambria Math" panose="02040503050406030204" pitchFamily="18" charset="0"/>
                                          <a:ea typeface="Cambria Math" panose="02040503050406030204" pitchFamily="18" charset="0"/>
                                          <a:cs typeface="Times New Roman" panose="02020603050405020304" pitchFamily="18" charset="0"/>
                                        </a:rPr>
                                        <m:t>7</m:t>
                                      </m:r>
                                    </m:den>
                                  </m:f>
                                </m:e>
                              </m:d>
                            </m:oMath>
                          </a14:m>
                          <a:r>
                            <a:rPr lang="en-US" sz="2000" i="0" dirty="0">
                              <a:effectLst/>
                              <a:latin typeface="Cambria Math" panose="02040503050406030204" pitchFamily="18" charset="0"/>
                              <a:ea typeface="Cambria Math" panose="02040503050406030204" pitchFamily="18" charset="0"/>
                              <a:cs typeface="Times New Roman" panose="020206030504050203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4392" marR="54392" marT="0" marB="0">
                        <a:lnL>
                          <a:noFill/>
                        </a:lnL>
                        <a:lnR>
                          <a:noFill/>
                        </a:lnR>
                        <a:lnT>
                          <a:noFill/>
                        </a:lnT>
                        <a:lnB>
                          <a:noFill/>
                        </a:lnB>
                      </a:tcPr>
                    </a:tc>
                    <a:tc>
                      <a:txBody>
                        <a:bodyPr/>
                        <a:lstStyle/>
                        <a:p>
                          <a:pPr marL="0" marR="0" lvl="0" indent="0">
                            <a:lnSpc>
                              <a:spcPct val="107000"/>
                            </a:lnSpc>
                            <a:spcBef>
                              <a:spcPts val="0"/>
                            </a:spcBef>
                            <a:spcAft>
                              <a:spcPts val="0"/>
                            </a:spcAft>
                            <a:buFont typeface="+mj-lt"/>
                            <a:buNone/>
                            <a:tabLst>
                              <a:tab pos="23876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b.   </a:t>
                          </a:r>
                          <a14:m>
                            <m:oMath xmlns:m="http://schemas.openxmlformats.org/officeDocument/2006/math">
                              <m:r>
                                <a:rPr lang="en-US" sz="2000" i="1">
                                  <a:effectLst/>
                                  <a:latin typeface="Cambria Math" panose="02040503050406030204" pitchFamily="18" charset="0"/>
                                  <a:ea typeface="Cambria Math" panose="02040503050406030204" pitchFamily="18" charset="0"/>
                                  <a:cs typeface="Times New Roman" panose="02020603050405020304" pitchFamily="18" charset="0"/>
                                </a:rPr>
                                <m:t>4</m:t>
                              </m:r>
                              <m:f>
                                <m:f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effectLst/>
                                      <a:latin typeface="Cambria Math" panose="02040503050406030204" pitchFamily="18" charset="0"/>
                                      <a:ea typeface="Cambria Math" panose="02040503050406030204" pitchFamily="18" charset="0"/>
                                      <a:cs typeface="Times New Roman" panose="02020603050405020304" pitchFamily="18" charset="0"/>
                                    </a:rPr>
                                    <m:t>4</m:t>
                                  </m:r>
                                </m:num>
                                <m:den>
                                  <m:r>
                                    <a:rPr lang="en-US" sz="2000" i="1">
                                      <a:effectLst/>
                                      <a:latin typeface="Cambria Math" panose="02040503050406030204" pitchFamily="18" charset="0"/>
                                      <a:ea typeface="Cambria Math" panose="02040503050406030204" pitchFamily="18" charset="0"/>
                                      <a:cs typeface="Times New Roman" panose="02020603050405020304" pitchFamily="18" charset="0"/>
                                    </a:rPr>
                                    <m:t>5</m:t>
                                  </m:r>
                                </m:den>
                              </m:f>
                              <m:r>
                                <a:rPr lang="en-US" sz="2000" i="1">
                                  <a:effectLst/>
                                  <a:latin typeface="Cambria Math" panose="02040503050406030204" pitchFamily="18" charset="0"/>
                                  <a:ea typeface="Cambria Math" panose="02040503050406030204" pitchFamily="18" charset="0"/>
                                  <a:cs typeface="Times New Roman" panose="02020603050405020304" pitchFamily="18" charset="0"/>
                                </a:rPr>
                                <m:t> × </m:t>
                              </m:r>
                              <m:f>
                                <m:f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effectLst/>
                                      <a:latin typeface="Cambria Math" panose="02040503050406030204" pitchFamily="18" charset="0"/>
                                      <a:ea typeface="Cambria Math" panose="02040503050406030204" pitchFamily="18" charset="0"/>
                                      <a:cs typeface="Times New Roman" panose="02020603050405020304" pitchFamily="18" charset="0"/>
                                    </a:rPr>
                                    <m:t>10</m:t>
                                  </m:r>
                                </m:num>
                                <m:den>
                                  <m:r>
                                    <a:rPr lang="en-US" sz="2000" i="1">
                                      <a:effectLst/>
                                      <a:latin typeface="Cambria Math" panose="02040503050406030204" pitchFamily="18" charset="0"/>
                                      <a:ea typeface="Cambria Math" panose="02040503050406030204" pitchFamily="18" charset="0"/>
                                      <a:cs typeface="Times New Roman" panose="02020603050405020304" pitchFamily="18" charset="0"/>
                                    </a:rPr>
                                    <m:t>13</m:t>
                                  </m:r>
                                </m:den>
                              </m:f>
                            </m:oMath>
                          </a14:m>
                          <a:r>
                            <a:rPr lang="en-US" sz="2000" i="0" dirty="0">
                              <a:effectLst/>
                              <a:latin typeface="Cambria Math" panose="02040503050406030204" pitchFamily="18" charset="0"/>
                              <a:ea typeface="Cambria Math" panose="02040503050406030204" pitchFamily="18" charset="0"/>
                              <a:cs typeface="Times New Roman" panose="020206030504050203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4392" marR="54392" marT="0" marB="0">
                        <a:lnL>
                          <a:noFill/>
                        </a:lnL>
                        <a:lnR>
                          <a:noFill/>
                        </a:lnR>
                        <a:lnT>
                          <a:noFill/>
                        </a:lnT>
                        <a:lnB>
                          <a:noFill/>
                        </a:lnB>
                      </a:tcPr>
                    </a:tc>
                    <a:extLst>
                      <a:ext uri="{0D108BD9-81ED-4DB2-BD59-A6C34878D82A}">
                        <a16:rowId xmlns:a16="http://schemas.microsoft.com/office/drawing/2014/main" val="1720292083"/>
                      </a:ext>
                    </a:extLst>
                  </a:tr>
                  <a:tr h="2175669">
                    <a:tc>
                      <a:txBody>
                        <a:bodyPr/>
                        <a:lstStyle/>
                        <a:p>
                          <a:pPr marL="0" marR="0" lvl="0" indent="0">
                            <a:lnSpc>
                              <a:spcPct val="107000"/>
                            </a:lnSpc>
                            <a:spcBef>
                              <a:spcPts val="0"/>
                            </a:spcBef>
                            <a:spcAft>
                              <a:spcPts val="0"/>
                            </a:spcAft>
                            <a:buFont typeface="+mj-lt"/>
                            <a:buNone/>
                            <a:tabLst>
                              <a:tab pos="23876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c.   </a:t>
                          </a:r>
                          <a14:m>
                            <m:oMath xmlns:m="http://schemas.openxmlformats.org/officeDocument/2006/math">
                              <m:r>
                                <a:rPr lang="en-US" sz="2000" b="0" i="0" smtClean="0">
                                  <a:effectLst/>
                                  <a:latin typeface="Cambria Math" panose="02040503050406030204" pitchFamily="18" charset="0"/>
                                  <a:ea typeface="Cambria Math" panose="02040503050406030204" pitchFamily="18" charset="0"/>
                                  <a:cs typeface="Times New Roman" panose="02020603050405020304" pitchFamily="18" charset="0"/>
                                </a:rPr>
                                <m:t> </m:t>
                              </m:r>
                              <m:f>
                                <m:f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effectLst/>
                                      <a:latin typeface="Cambria Math" panose="02040503050406030204" pitchFamily="18" charset="0"/>
                                      <a:ea typeface="Cambria Math" panose="02040503050406030204" pitchFamily="18" charset="0"/>
                                      <a:cs typeface="Times New Roman" panose="02020603050405020304" pitchFamily="18" charset="0"/>
                                    </a:rPr>
                                    <m:t>4</m:t>
                                  </m:r>
                                </m:num>
                                <m:den>
                                  <m:r>
                                    <a:rPr lang="en-US" sz="2000" i="1">
                                      <a:effectLst/>
                                      <a:latin typeface="Cambria Math" panose="02040503050406030204" pitchFamily="18" charset="0"/>
                                      <a:ea typeface="Cambria Math" panose="02040503050406030204" pitchFamily="18" charset="0"/>
                                      <a:cs typeface="Times New Roman" panose="02020603050405020304" pitchFamily="18" charset="0"/>
                                    </a:rPr>
                                    <m:t>11</m:t>
                                  </m:r>
                                </m:den>
                              </m:f>
                              <m:r>
                                <a:rPr lang="en-US" sz="2000" i="1">
                                  <a:effectLst/>
                                  <a:latin typeface="Cambria Math" panose="02040503050406030204" pitchFamily="18" charset="0"/>
                                  <a:ea typeface="Cambria Math" panose="02040503050406030204" pitchFamily="18" charset="0"/>
                                  <a:cs typeface="Times New Roman" panose="02020603050405020304" pitchFamily="18" charset="0"/>
                                </a:rPr>
                                <m:t> ∙ </m:t>
                              </m:r>
                              <m:f>
                                <m:f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effectLst/>
                                      <a:latin typeface="Cambria Math" panose="02040503050406030204" pitchFamily="18" charset="0"/>
                                      <a:ea typeface="Cambria Math" panose="02040503050406030204" pitchFamily="18" charset="0"/>
                                      <a:cs typeface="Times New Roman" panose="02020603050405020304" pitchFamily="18" charset="0"/>
                                    </a:rPr>
                                    <m:t>1</m:t>
                                  </m:r>
                                </m:num>
                                <m:den>
                                  <m:r>
                                    <a:rPr lang="en-US" sz="2000" i="1">
                                      <a:effectLst/>
                                      <a:latin typeface="Cambria Math" panose="02040503050406030204" pitchFamily="18" charset="0"/>
                                      <a:ea typeface="Cambria Math" panose="02040503050406030204" pitchFamily="18" charset="0"/>
                                      <a:cs typeface="Times New Roman" panose="02020603050405020304" pitchFamily="18" charset="0"/>
                                    </a:rPr>
                                    <m:t>2</m:t>
                                  </m:r>
                                </m:den>
                              </m:f>
                            </m:oMath>
                          </a14:m>
                          <a:r>
                            <a:rPr lang="en-US" sz="2000" i="0" dirty="0">
                              <a:effectLst/>
                              <a:latin typeface="Cambria Math" panose="02040503050406030204" pitchFamily="18" charset="0"/>
                              <a:ea typeface="Cambria Math" panose="02040503050406030204" pitchFamily="18" charset="0"/>
                              <a:cs typeface="Times New Roman" panose="020206030504050203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4392" marR="54392" marT="0" marB="0">
                        <a:lnL>
                          <a:noFill/>
                        </a:lnL>
                        <a:lnR>
                          <a:noFill/>
                        </a:lnR>
                        <a:lnT>
                          <a:noFill/>
                        </a:lnT>
                        <a:lnB>
                          <a:noFill/>
                        </a:lnB>
                      </a:tcPr>
                    </a:tc>
                    <a:tc>
                      <a:txBody>
                        <a:bodyPr/>
                        <a:lstStyle/>
                        <a:p>
                          <a:pPr marL="0" marR="0" lvl="0" indent="0">
                            <a:lnSpc>
                              <a:spcPct val="107000"/>
                            </a:lnSpc>
                            <a:spcBef>
                              <a:spcPts val="0"/>
                            </a:spcBef>
                            <a:spcAft>
                              <a:spcPts val="0"/>
                            </a:spcAft>
                            <a:buFont typeface="+mj-lt"/>
                            <a:buNone/>
                            <a:tabLst>
                              <a:tab pos="23876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d.   </a:t>
                          </a:r>
                          <a14:m>
                            <m:oMath xmlns:m="http://schemas.openxmlformats.org/officeDocument/2006/math">
                              <m:r>
                                <a:rPr lang="en-US" sz="2000" b="0" i="0"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2</m:t>
                              </m:r>
                              <m:f>
                                <m:fPr>
                                  <m:ctrlPr>
                                    <a:rPr lang="en-US" sz="2000" b="0" i="1" u="none" strike="noStrike" cap="none">
                                      <a:solidFill>
                                        <a:schemeClr val="tx1"/>
                                      </a:solidFill>
                                      <a:effectLst/>
                                      <a:latin typeface="Cambria Math" panose="02040503050406030204" pitchFamily="18" charset="0"/>
                                      <a:ea typeface="Cambria Math" panose="02040503050406030204" pitchFamily="18" charset="0"/>
                                      <a:cs typeface="+mn-cs"/>
                                      <a:sym typeface="Arial"/>
                                    </a:rPr>
                                  </m:ctrlPr>
                                </m:fPr>
                                <m:num>
                                  <m:r>
                                    <a:rPr lang="en-US" sz="2000" b="0" i="0" u="none" strike="noStrike" cap="none">
                                      <a:solidFill>
                                        <a:schemeClr val="tx1"/>
                                      </a:solidFill>
                                      <a:effectLst/>
                                      <a:latin typeface="Cambria Math" panose="02040503050406030204" pitchFamily="18" charset="0"/>
                                      <a:ea typeface="Cambria Math" panose="02040503050406030204" pitchFamily="18" charset="0"/>
                                      <a:cs typeface="+mn-cs"/>
                                      <a:sym typeface="Arial"/>
                                    </a:rPr>
                                    <m:t>1</m:t>
                                  </m:r>
                                </m:num>
                                <m:den>
                                  <m:r>
                                    <a:rPr lang="en-US" sz="2000" b="0" i="0" u="none" strike="noStrike" cap="none">
                                      <a:solidFill>
                                        <a:schemeClr val="tx1"/>
                                      </a:solidFill>
                                      <a:effectLst/>
                                      <a:latin typeface="Cambria Math" panose="02040503050406030204" pitchFamily="18" charset="0"/>
                                      <a:ea typeface="Cambria Math" panose="02040503050406030204" pitchFamily="18" charset="0"/>
                                      <a:cs typeface="+mn-cs"/>
                                      <a:sym typeface="Arial"/>
                                    </a:rPr>
                                    <m:t>3</m:t>
                                  </m:r>
                                </m:den>
                              </m:f>
                              <m:r>
                                <a:rPr lang="en-US" sz="2000" b="0" i="0" u="none" strike="noStrike" cap="none">
                                  <a:solidFill>
                                    <a:schemeClr val="tx1"/>
                                  </a:solidFill>
                                  <a:effectLst/>
                                  <a:latin typeface="Cambria Math" panose="02040503050406030204" pitchFamily="18" charset="0"/>
                                  <a:ea typeface="Cambria Math" panose="02040503050406030204" pitchFamily="18" charset="0"/>
                                  <a:cs typeface="+mn-cs"/>
                                  <a:sym typeface="Arial"/>
                                </a:rPr>
                                <m:t> × 4</m:t>
                              </m:r>
                              <m:f>
                                <m:fPr>
                                  <m:ctrlPr>
                                    <a:rPr lang="en-US" sz="2000" b="0" i="1" u="none" strike="noStrike" cap="none">
                                      <a:solidFill>
                                        <a:schemeClr val="tx1"/>
                                      </a:solidFill>
                                      <a:effectLst/>
                                      <a:latin typeface="Cambria Math" panose="02040503050406030204" pitchFamily="18" charset="0"/>
                                      <a:ea typeface="Cambria Math" panose="02040503050406030204" pitchFamily="18" charset="0"/>
                                      <a:cs typeface="+mn-cs"/>
                                      <a:sym typeface="Arial"/>
                                    </a:rPr>
                                  </m:ctrlPr>
                                </m:fPr>
                                <m:num>
                                  <m:r>
                                    <a:rPr lang="en-US" sz="2000" b="0" i="0" u="none" strike="noStrike" cap="none">
                                      <a:solidFill>
                                        <a:schemeClr val="tx1"/>
                                      </a:solidFill>
                                      <a:effectLst/>
                                      <a:latin typeface="Cambria Math" panose="02040503050406030204" pitchFamily="18" charset="0"/>
                                      <a:ea typeface="Cambria Math" panose="02040503050406030204" pitchFamily="18" charset="0"/>
                                      <a:cs typeface="+mn-cs"/>
                                      <a:sym typeface="Arial"/>
                                    </a:rPr>
                                    <m:t>4</m:t>
                                  </m:r>
                                </m:num>
                                <m:den>
                                  <m:r>
                                    <a:rPr lang="en-US" sz="2000" b="0" i="0" u="none" strike="noStrike" cap="none">
                                      <a:solidFill>
                                        <a:schemeClr val="tx1"/>
                                      </a:solidFill>
                                      <a:effectLst/>
                                      <a:latin typeface="Cambria Math" panose="02040503050406030204" pitchFamily="18" charset="0"/>
                                      <a:ea typeface="Cambria Math" panose="02040503050406030204" pitchFamily="18" charset="0"/>
                                      <a:cs typeface="+mn-cs"/>
                                      <a:sym typeface="Arial"/>
                                    </a:rPr>
                                    <m:t>5</m:t>
                                  </m:r>
                                </m:den>
                              </m:f>
                            </m:oMath>
                          </a14:m>
                          <a:r>
                            <a:rPr lang="en-US" sz="2000" b="0" i="0" u="none" strike="noStrike" cap="none" dirty="0">
                              <a:solidFill>
                                <a:schemeClr val="tx1"/>
                              </a:solidFill>
                              <a:effectLst/>
                              <a:latin typeface="Cambria Math" panose="02040503050406030204" pitchFamily="18" charset="0"/>
                              <a:ea typeface="Cambria Math" panose="02040503050406030204" pitchFamily="18" charset="0"/>
                              <a:cs typeface="+mn-cs"/>
                              <a:sym typeface="Arial"/>
                            </a:rPr>
                            <a:t> </a:t>
                          </a:r>
                          <a:endParaRPr lang="en-US" sz="2000" i="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54392" marR="54392" marT="0" marB="0">
                        <a:lnL>
                          <a:noFill/>
                        </a:lnL>
                        <a:lnR>
                          <a:noFill/>
                        </a:lnR>
                        <a:lnT>
                          <a:noFill/>
                        </a:lnT>
                        <a:lnB>
                          <a:noFill/>
                        </a:lnB>
                      </a:tcPr>
                    </a:tc>
                    <a:extLst>
                      <a:ext uri="{0D108BD9-81ED-4DB2-BD59-A6C34878D82A}">
                        <a16:rowId xmlns:a16="http://schemas.microsoft.com/office/drawing/2014/main" val="1308865212"/>
                      </a:ext>
                    </a:extLst>
                  </a:tr>
                </a:tbl>
              </a:graphicData>
            </a:graphic>
          </p:graphicFrame>
        </mc:Choice>
        <mc:Fallback xmlns="">
          <p:graphicFrame>
            <p:nvGraphicFramePr>
              <p:cNvPr id="3" name="Table 2">
                <a:extLst>
                  <a:ext uri="{FF2B5EF4-FFF2-40B4-BE49-F238E27FC236}">
                    <a16:creationId xmlns:a16="http://schemas.microsoft.com/office/drawing/2014/main" id="{CAF3DB68-CEB3-4AD7-9212-3E87053BB6F8}"/>
                  </a:ext>
                </a:extLst>
              </p:cNvPr>
              <p:cNvGraphicFramePr>
                <a:graphicFrameLocks noGrp="1"/>
              </p:cNvGraphicFramePr>
              <p:nvPr>
                <p:extLst>
                  <p:ext uri="{D42A27DB-BD31-4B8C-83A1-F6EECF244321}">
                    <p14:modId xmlns:p14="http://schemas.microsoft.com/office/powerpoint/2010/main" val="3185434918"/>
                  </p:ext>
                </p:extLst>
              </p:nvPr>
            </p:nvGraphicFramePr>
            <p:xfrm>
              <a:off x="1066017" y="2423779"/>
              <a:ext cx="6960492" cy="4351338"/>
            </p:xfrm>
            <a:graphic>
              <a:graphicData uri="http://schemas.openxmlformats.org/drawingml/2006/table">
                <a:tbl>
                  <a:tblPr firstRow="1" firstCol="1" bandRow="1"/>
                  <a:tblGrid>
                    <a:gridCol w="3480246">
                      <a:extLst>
                        <a:ext uri="{9D8B030D-6E8A-4147-A177-3AD203B41FA5}">
                          <a16:colId xmlns:a16="http://schemas.microsoft.com/office/drawing/2014/main" val="3394273754"/>
                        </a:ext>
                      </a:extLst>
                    </a:gridCol>
                    <a:gridCol w="3480246">
                      <a:extLst>
                        <a:ext uri="{9D8B030D-6E8A-4147-A177-3AD203B41FA5}">
                          <a16:colId xmlns:a16="http://schemas.microsoft.com/office/drawing/2014/main" val="1361053336"/>
                        </a:ext>
                      </a:extLst>
                    </a:gridCol>
                  </a:tblGrid>
                  <a:tr h="2175669">
                    <a:tc>
                      <a:txBody>
                        <a:bodyPr/>
                        <a:lstStyle/>
                        <a:p>
                          <a:endParaRPr lang="en-US"/>
                        </a:p>
                      </a:txBody>
                      <a:tcPr marL="54392" marR="54392" marT="0" marB="0">
                        <a:lnL>
                          <a:noFill/>
                        </a:lnL>
                        <a:lnR>
                          <a:noFill/>
                        </a:lnR>
                        <a:lnT>
                          <a:noFill/>
                        </a:lnT>
                        <a:lnB>
                          <a:noFill/>
                        </a:lnB>
                        <a:blipFill>
                          <a:blip r:embed="rId5"/>
                          <a:stretch>
                            <a:fillRect r="-99825" b="-99721"/>
                          </a:stretch>
                        </a:blipFill>
                      </a:tcPr>
                    </a:tc>
                    <a:tc>
                      <a:txBody>
                        <a:bodyPr/>
                        <a:lstStyle/>
                        <a:p>
                          <a:endParaRPr lang="en-US"/>
                        </a:p>
                      </a:txBody>
                      <a:tcPr marL="54392" marR="54392" marT="0" marB="0">
                        <a:lnL>
                          <a:noFill/>
                        </a:lnL>
                        <a:lnR>
                          <a:noFill/>
                        </a:lnR>
                        <a:lnT>
                          <a:noFill/>
                        </a:lnT>
                        <a:lnB>
                          <a:noFill/>
                        </a:lnB>
                        <a:blipFill>
                          <a:blip r:embed="rId5"/>
                          <a:stretch>
                            <a:fillRect l="-100175" b="-99721"/>
                          </a:stretch>
                        </a:blipFill>
                      </a:tcPr>
                    </a:tc>
                    <a:extLst>
                      <a:ext uri="{0D108BD9-81ED-4DB2-BD59-A6C34878D82A}">
                        <a16:rowId xmlns:a16="http://schemas.microsoft.com/office/drawing/2014/main" val="1720292083"/>
                      </a:ext>
                    </a:extLst>
                  </a:tr>
                  <a:tr h="2175669">
                    <a:tc>
                      <a:txBody>
                        <a:bodyPr/>
                        <a:lstStyle/>
                        <a:p>
                          <a:endParaRPr lang="en-US"/>
                        </a:p>
                      </a:txBody>
                      <a:tcPr marL="54392" marR="54392" marT="0" marB="0">
                        <a:lnL>
                          <a:noFill/>
                        </a:lnL>
                        <a:lnR>
                          <a:noFill/>
                        </a:lnR>
                        <a:lnT>
                          <a:noFill/>
                        </a:lnT>
                        <a:lnB>
                          <a:noFill/>
                        </a:lnB>
                        <a:blipFill>
                          <a:blip r:embed="rId5"/>
                          <a:stretch>
                            <a:fillRect t="-100280" r="-99825"/>
                          </a:stretch>
                        </a:blipFill>
                      </a:tcPr>
                    </a:tc>
                    <a:tc>
                      <a:txBody>
                        <a:bodyPr/>
                        <a:lstStyle/>
                        <a:p>
                          <a:endParaRPr lang="en-US"/>
                        </a:p>
                      </a:txBody>
                      <a:tcPr marL="54392" marR="54392" marT="0" marB="0">
                        <a:lnL>
                          <a:noFill/>
                        </a:lnL>
                        <a:lnR>
                          <a:noFill/>
                        </a:lnR>
                        <a:lnT>
                          <a:noFill/>
                        </a:lnT>
                        <a:lnB>
                          <a:noFill/>
                        </a:lnB>
                        <a:blipFill>
                          <a:blip r:embed="rId5"/>
                          <a:stretch>
                            <a:fillRect l="-100175" t="-100280"/>
                          </a:stretch>
                        </a:blipFill>
                      </a:tcPr>
                    </a:tc>
                    <a:extLst>
                      <a:ext uri="{0D108BD9-81ED-4DB2-BD59-A6C34878D82A}">
                        <a16:rowId xmlns:a16="http://schemas.microsoft.com/office/drawing/2014/main" val="1308865212"/>
                      </a:ext>
                    </a:extLst>
                  </a:tr>
                </a:tbl>
              </a:graphicData>
            </a:graphic>
          </p:graphicFrame>
        </mc:Fallback>
      </mc:AlternateContent>
    </p:spTree>
    <p:extLst>
      <p:ext uri="{BB962C8B-B14F-4D97-AF65-F5344CB8AC3E}">
        <p14:creationId xmlns:p14="http://schemas.microsoft.com/office/powerpoint/2010/main" val="384035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12903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49" y="6508293"/>
            <a:ext cx="41642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p>
        </p:txBody>
      </p:sp>
      <p:sp>
        <p:nvSpPr>
          <p:cNvPr id="5" name="TextBox 4">
            <a:extLst>
              <a:ext uri="{FF2B5EF4-FFF2-40B4-BE49-F238E27FC236}">
                <a16:creationId xmlns:a16="http://schemas.microsoft.com/office/drawing/2014/main" id="{22347CCE-34A7-8044-BA67-B5895157AE55}"/>
              </a:ext>
            </a:extLst>
          </p:cNvPr>
          <p:cNvSpPr txBox="1"/>
          <p:nvPr/>
        </p:nvSpPr>
        <p:spPr>
          <a:xfrm>
            <a:off x="587829" y="349706"/>
            <a:ext cx="9671739" cy="3477875"/>
          </a:xfrm>
          <a:prstGeom prst="rect">
            <a:avLst/>
          </a:prstGeom>
          <a:noFill/>
        </p:spPr>
        <p:txBody>
          <a:bodyPr wrap="square" rtlCol="0">
            <a:spAutoFit/>
          </a:bodyPr>
          <a:lstStyle/>
          <a:p>
            <a:pPr marL="342900" indent="-342900">
              <a:buFont typeface="+mj-lt"/>
              <a:buAutoNum type="arabicPeriod" startAt="2"/>
            </a:pPr>
            <a:r>
              <a:rPr lang="en-US" sz="2000" dirty="0">
                <a:latin typeface="Verdana" panose="020B0604030504040204" pitchFamily="34" charset="0"/>
                <a:ea typeface="Verdana" panose="020B0604030504040204" pitchFamily="34" charset="0"/>
              </a:rPr>
              <a:t>Complete the statement to describe which product was the most challenging for you to find. </a:t>
            </a:r>
            <a:endParaRPr lang="en-US" sz="2000" i="1" dirty="0">
              <a:latin typeface="Verdana" panose="020B0604030504040204" pitchFamily="34" charset="0"/>
              <a:ea typeface="Verdana" panose="020B0604030504040204" pitchFamily="34" charset="0"/>
            </a:endParaRPr>
          </a:p>
          <a:p>
            <a:r>
              <a:rPr lang="en-US" sz="2000" dirty="0">
                <a:latin typeface="Verdana" panose="020B0604030504040204" pitchFamily="34" charset="0"/>
                <a:ea typeface="Verdana" panose="020B0604030504040204" pitchFamily="34" charset="0"/>
              </a:rPr>
              <a:t> </a:t>
            </a:r>
            <a:endParaRPr lang="en-US" sz="2000" i="1" dirty="0">
              <a:latin typeface="Verdana" panose="020B0604030504040204" pitchFamily="34" charset="0"/>
              <a:ea typeface="Verdana" panose="020B0604030504040204" pitchFamily="34" charset="0"/>
            </a:endParaRPr>
          </a:p>
          <a:p>
            <a:pPr marL="341313"/>
            <a:r>
              <a:rPr lang="en-US" sz="2000" dirty="0">
                <a:latin typeface="Verdana" panose="020B0604030504040204" pitchFamily="34" charset="0"/>
                <a:ea typeface="Verdana" panose="020B0604030504040204" pitchFamily="34" charset="0"/>
              </a:rPr>
              <a:t>The product of _________ was most challenging for me </a:t>
            </a:r>
            <a:endParaRPr lang="en-US" sz="2000" i="1" dirty="0">
              <a:latin typeface="Verdana" panose="020B0604030504040204" pitchFamily="34" charset="0"/>
              <a:ea typeface="Verdana" panose="020B0604030504040204" pitchFamily="34" charset="0"/>
            </a:endParaRPr>
          </a:p>
          <a:p>
            <a:r>
              <a:rPr lang="en-US" sz="2000" dirty="0">
                <a:latin typeface="Verdana" panose="020B0604030504040204" pitchFamily="34" charset="0"/>
                <a:ea typeface="Verdana" panose="020B0604030504040204" pitchFamily="34" charset="0"/>
              </a:rPr>
              <a:t> </a:t>
            </a:r>
            <a:endParaRPr lang="en-US" sz="2000" i="1" dirty="0">
              <a:latin typeface="Verdana" panose="020B0604030504040204" pitchFamily="34" charset="0"/>
              <a:ea typeface="Verdana" panose="020B0604030504040204" pitchFamily="34" charset="0"/>
            </a:endParaRPr>
          </a:p>
          <a:p>
            <a:pPr marL="341313"/>
            <a:r>
              <a:rPr lang="en-US" sz="2000" dirty="0">
                <a:latin typeface="Verdana" panose="020B0604030504040204" pitchFamily="34" charset="0"/>
                <a:ea typeface="Verdana" panose="020B0604030504040204" pitchFamily="34" charset="0"/>
              </a:rPr>
              <a:t>to find because ________________________________</a:t>
            </a:r>
            <a:endParaRPr lang="en-US" sz="2000" i="1" dirty="0">
              <a:latin typeface="Verdana" panose="020B0604030504040204" pitchFamily="34" charset="0"/>
              <a:ea typeface="Verdana" panose="020B0604030504040204" pitchFamily="34" charset="0"/>
            </a:endParaRPr>
          </a:p>
          <a:p>
            <a:r>
              <a:rPr lang="en-US" sz="2000" dirty="0">
                <a:latin typeface="Verdana" panose="020B0604030504040204" pitchFamily="34" charset="0"/>
                <a:ea typeface="Verdana" panose="020B0604030504040204" pitchFamily="34" charset="0"/>
              </a:rPr>
              <a:t> </a:t>
            </a:r>
            <a:endParaRPr lang="en-US" sz="2000" i="1" dirty="0">
              <a:latin typeface="Verdana" panose="020B0604030504040204" pitchFamily="34" charset="0"/>
              <a:ea typeface="Verdana" panose="020B0604030504040204" pitchFamily="34" charset="0"/>
            </a:endParaRPr>
          </a:p>
          <a:p>
            <a:pPr marL="341313"/>
            <a:r>
              <a:rPr lang="en-US" sz="2000" dirty="0">
                <a:latin typeface="Verdana" panose="020B0604030504040204" pitchFamily="34" charset="0"/>
                <a:ea typeface="Verdana" panose="020B0604030504040204" pitchFamily="34" charset="0"/>
              </a:rPr>
              <a:t>____________________________________________.</a:t>
            </a:r>
          </a:p>
          <a:p>
            <a:endParaRPr lang="en-US" sz="2000" i="1" dirty="0">
              <a:latin typeface="Verdana" panose="020B0604030504040204" pitchFamily="34" charset="0"/>
              <a:ea typeface="Verdana" panose="020B0604030504040204" pitchFamily="34" charset="0"/>
            </a:endParaRPr>
          </a:p>
          <a:p>
            <a:pPr marL="342900" indent="-342900">
              <a:buFont typeface="+mj-lt"/>
              <a:buAutoNum type="arabicPeriod" startAt="3"/>
            </a:pPr>
            <a:r>
              <a:rPr lang="en-US" sz="2000" dirty="0">
                <a:latin typeface="Verdana" panose="020B0604030504040204" pitchFamily="34" charset="0"/>
                <a:ea typeface="Verdana" panose="020B0604030504040204" pitchFamily="34" charset="0"/>
              </a:rPr>
              <a:t>What is a strategy that could help you on a similar problem in the future?</a:t>
            </a:r>
            <a:endParaRPr lang="en-US" sz="2000" i="1" dirty="0">
              <a:latin typeface="Verdana" panose="020B0604030504040204" pitchFamily="34" charset="0"/>
              <a:ea typeface="Verdana" panose="020B0604030504040204" pitchFamily="34" charset="0"/>
            </a:endParaRPr>
          </a:p>
        </p:txBody>
      </p:sp>
      <p:sp>
        <p:nvSpPr>
          <p:cNvPr id="7" name="Google Shape;278;g104476d1465_1_17">
            <a:extLst>
              <a:ext uri="{FF2B5EF4-FFF2-40B4-BE49-F238E27FC236}">
                <a16:creationId xmlns:a16="http://schemas.microsoft.com/office/drawing/2014/main" id="{ADBC627A-4143-AD4E-B8AF-FA569ACE060F}"/>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161466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8"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7314750" y="6466113"/>
            <a:ext cx="4207798"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p>
        </p:txBody>
      </p:sp>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12916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1824" y="60325"/>
            <a:ext cx="9397326"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2.7.5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94524" y="60325"/>
            <a:ext cx="747300" cy="747300"/>
          </a:xfrm>
          <a:prstGeom prst="rect">
            <a:avLst/>
          </a:prstGeom>
          <a:noFill/>
          <a:ln>
            <a:noFill/>
          </a:ln>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7301213" y="6457890"/>
            <a:ext cx="4232219" cy="40011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p>
        </p:txBody>
      </p:sp>
      <p:sp>
        <p:nvSpPr>
          <p:cNvPr id="12" name="TextBox 11">
            <a:extLst>
              <a:ext uri="{FF2B5EF4-FFF2-40B4-BE49-F238E27FC236}">
                <a16:creationId xmlns:a16="http://schemas.microsoft.com/office/drawing/2014/main" id="{759C3E41-93EC-B84D-963F-86A3B15AC1C6}"/>
              </a:ext>
            </a:extLst>
          </p:cNvPr>
          <p:cNvSpPr txBox="1"/>
          <p:nvPr/>
        </p:nvSpPr>
        <p:spPr>
          <a:xfrm>
            <a:off x="2060448" y="1386025"/>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a:t>
            </a:r>
            <a:r>
              <a:rPr lang="en-US" sz="2000" dirty="0">
                <a:latin typeface="Verdana" panose="020B0604030504040204" pitchFamily="34" charset="0"/>
                <a:ea typeface="Calibri" panose="020F0502020204030204" pitchFamily="34" charset="0"/>
                <a:cs typeface="Times New Roman" panose="02020603050405020304" pitchFamily="18" charset="0"/>
              </a:rPr>
              <a:t>ind each product. Simplify when possible.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134A47CD-5DBB-654A-843E-9182A1B8FB7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306CF7F-19B0-4717-A15A-8F6D156A1CB4}"/>
                  </a:ext>
                </a:extLst>
              </p:cNvPr>
              <p:cNvGraphicFramePr>
                <a:graphicFrameLocks noGrp="1"/>
              </p:cNvGraphicFramePr>
              <p:nvPr>
                <p:extLst>
                  <p:ext uri="{D42A27DB-BD31-4B8C-83A1-F6EECF244321}">
                    <p14:modId xmlns:p14="http://schemas.microsoft.com/office/powerpoint/2010/main" val="1047411654"/>
                  </p:ext>
                </p:extLst>
              </p:nvPr>
            </p:nvGraphicFramePr>
            <p:xfrm>
              <a:off x="2519851" y="2157234"/>
              <a:ext cx="6913265" cy="4206334"/>
            </p:xfrm>
            <a:graphic>
              <a:graphicData uri="http://schemas.openxmlformats.org/drawingml/2006/table">
                <a:tbl>
                  <a:tblPr firstRow="1" firstCol="1" bandRow="1"/>
                  <a:tblGrid>
                    <a:gridCol w="2167719">
                      <a:extLst>
                        <a:ext uri="{9D8B030D-6E8A-4147-A177-3AD203B41FA5}">
                          <a16:colId xmlns:a16="http://schemas.microsoft.com/office/drawing/2014/main" val="1050734746"/>
                        </a:ext>
                      </a:extLst>
                    </a:gridCol>
                    <a:gridCol w="2385793">
                      <a:extLst>
                        <a:ext uri="{9D8B030D-6E8A-4147-A177-3AD203B41FA5}">
                          <a16:colId xmlns:a16="http://schemas.microsoft.com/office/drawing/2014/main" val="1646117730"/>
                        </a:ext>
                      </a:extLst>
                    </a:gridCol>
                    <a:gridCol w="2359753">
                      <a:extLst>
                        <a:ext uri="{9D8B030D-6E8A-4147-A177-3AD203B41FA5}">
                          <a16:colId xmlns:a16="http://schemas.microsoft.com/office/drawing/2014/main" val="3724725334"/>
                        </a:ext>
                      </a:extLst>
                    </a:gridCol>
                  </a:tblGrid>
                  <a:tr h="1284580">
                    <a:tc>
                      <a:txBody>
                        <a:bodyPr/>
                        <a:lstStyle/>
                        <a:p>
                          <a:pPr marL="60325"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a.   </a:t>
                          </a:r>
                          <a14:m>
                            <m:oMath xmlns:m="http://schemas.openxmlformats.org/officeDocument/2006/math">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b.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c.   </a:t>
                          </a:r>
                          <a14:m>
                            <m:oMath xmlns:m="http://schemas.openxmlformats.org/officeDocument/2006/math">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den>
                              </m:f>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457200" marR="0" lvl="0" indent="-457200">
                            <a:lnSpc>
                              <a:spcPct val="107000"/>
                            </a:lnSpc>
                            <a:spcBef>
                              <a:spcPts val="0"/>
                            </a:spcBef>
                            <a:spcAft>
                              <a:spcPts val="0"/>
                            </a:spcAft>
                            <a:buFont typeface="+mj-lt"/>
                            <a:buAutoNum type="alphaLcPeriod" startAt="3"/>
                          </a:pP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457200" marR="0" lvl="0" indent="-457200">
                            <a:lnSpc>
                              <a:spcPct val="107000"/>
                            </a:lnSpc>
                            <a:spcBef>
                              <a:spcPts val="0"/>
                            </a:spcBef>
                            <a:spcAft>
                              <a:spcPts val="0"/>
                            </a:spcAft>
                            <a:buFont typeface="+mj-lt"/>
                            <a:buAutoNum type="alphaLcPeriod" startAt="3"/>
                          </a:pP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457200" marR="0" lvl="0" indent="-457200">
                            <a:lnSpc>
                              <a:spcPct val="107000"/>
                            </a:lnSpc>
                            <a:spcBef>
                              <a:spcPts val="0"/>
                            </a:spcBef>
                            <a:spcAft>
                              <a:spcPts val="0"/>
                            </a:spcAft>
                            <a:buFont typeface="+mj-lt"/>
                            <a:buAutoNum type="alphaLcPeriod" startAt="3"/>
                          </a:pP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extLst>
                      <a:ext uri="{0D108BD9-81ED-4DB2-BD59-A6C34878D82A}">
                        <a16:rowId xmlns:a16="http://schemas.microsoft.com/office/drawing/2014/main" val="96143301"/>
                      </a:ext>
                    </a:extLst>
                  </a:tr>
                  <a:tr h="1355946">
                    <a:tc>
                      <a:txBody>
                        <a:bodyPr/>
                        <a:lstStyle/>
                        <a:p>
                          <a:pPr marL="60325"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d.   </a:t>
                          </a:r>
                          <a14:m>
                            <m:oMath xmlns:m="http://schemas.openxmlformats.org/officeDocument/2006/math">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13</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e.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9</m:t>
                              </m:r>
                            </m:oMath>
                          </a14:m>
                          <a:r>
                            <a:rPr lang="en-US" sz="2000" i="0" dirty="0">
                              <a:effectLst/>
                              <a:latin typeface="Verdana" panose="020B0604030504040204" pitchFamily="34" charset="0"/>
                              <a:ea typeface="Verdana" panose="020B0604030504040204" pitchFamily="34" charset="0"/>
                              <a:cs typeface="Times New Roman" panose="02020603050405020304" pitchFamily="18"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f.   </a:t>
                          </a:r>
                          <a14:m>
                            <m:oMath xmlns:m="http://schemas.openxmlformats.org/officeDocument/2006/math">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24</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27</m:t>
                                      </m:r>
                                    </m:den>
                                  </m:f>
                                </m:e>
                              </m:d>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45</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32</m:t>
                                      </m:r>
                                    </m:den>
                                  </m:f>
                                </m:e>
                              </m:d>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457200" marR="0" lvl="0" indent="-457200">
                            <a:lnSpc>
                              <a:spcPct val="107000"/>
                            </a:lnSpc>
                            <a:spcBef>
                              <a:spcPts val="0"/>
                            </a:spcBef>
                            <a:spcAft>
                              <a:spcPts val="0"/>
                            </a:spcAft>
                            <a:buFont typeface="+mj-lt"/>
                            <a:buAutoNum type="alphaLcPeriod" startAt="6"/>
                          </a:pP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457200" marR="0" lvl="0" indent="-457200">
                            <a:lnSpc>
                              <a:spcPct val="107000"/>
                            </a:lnSpc>
                            <a:spcBef>
                              <a:spcPts val="0"/>
                            </a:spcBef>
                            <a:spcAft>
                              <a:spcPts val="0"/>
                            </a:spcAft>
                            <a:buFont typeface="+mj-lt"/>
                            <a:buAutoNum type="alphaLcPeriod" startAt="6"/>
                          </a:pP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457200" marR="0" lvl="0" indent="-457200">
                            <a:lnSpc>
                              <a:spcPct val="107000"/>
                            </a:lnSpc>
                            <a:spcBef>
                              <a:spcPts val="0"/>
                            </a:spcBef>
                            <a:spcAft>
                              <a:spcPts val="0"/>
                            </a:spcAft>
                            <a:buFont typeface="+mj-lt"/>
                            <a:buAutoNum type="alphaLcPeriod" startAt="6"/>
                          </a:pP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extLst>
                      <a:ext uri="{0D108BD9-81ED-4DB2-BD59-A6C34878D82A}">
                        <a16:rowId xmlns:a16="http://schemas.microsoft.com/office/drawing/2014/main" val="1739814750"/>
                      </a:ext>
                    </a:extLst>
                  </a:tr>
                  <a:tr h="1355946">
                    <a:tc>
                      <a:txBody>
                        <a:bodyPr/>
                        <a:lstStyle/>
                        <a:p>
                          <a:pPr marL="60325"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g.   </a:t>
                          </a:r>
                          <a14:m>
                            <m:oMath xmlns:m="http://schemas.openxmlformats.org/officeDocument/2006/math">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den>
                              </m:f>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h.</a:t>
                          </a:r>
                          <a:r>
                            <a:rPr lang="en-US" sz="2000" i="0" baseline="0" dirty="0">
                              <a:effectLst/>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25</m:t>
                                      </m:r>
                                    </m:den>
                                  </m:f>
                                </m:e>
                              </m:d>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25</m:t>
                                      </m:r>
                                    </m:den>
                                  </m:f>
                                </m:e>
                              </m:d>
                            </m:oMath>
                          </a14:m>
                          <a:r>
                            <a:rPr lang="en-US" sz="2000" i="0" dirty="0">
                              <a:effectLst/>
                              <a:latin typeface="Verdana" panose="020B0604030504040204" pitchFamily="34" charset="0"/>
                              <a:ea typeface="Verdana" panose="020B0604030504040204" pitchFamily="34" charset="0"/>
                              <a:cs typeface="Times New Roman" panose="02020603050405020304" pitchFamily="18"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cs typeface="Times New Roman" panose="02020603050405020304" pitchFamily="18" charset="0"/>
                            </a:rPr>
                            <a:t>i.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 1</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den>
                              </m:f>
                            </m:oMath>
                          </a14:m>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32401" marR="32401" marT="0" marB="0">
                        <a:lnL>
                          <a:noFill/>
                        </a:lnL>
                        <a:lnR>
                          <a:noFill/>
                        </a:lnR>
                        <a:lnT>
                          <a:noFill/>
                        </a:lnT>
                        <a:lnB>
                          <a:noFill/>
                        </a:lnB>
                      </a:tcPr>
                    </a:tc>
                    <a:extLst>
                      <a:ext uri="{0D108BD9-81ED-4DB2-BD59-A6C34878D82A}">
                        <a16:rowId xmlns:a16="http://schemas.microsoft.com/office/drawing/2014/main" val="680718997"/>
                      </a:ext>
                    </a:extLst>
                  </a:tr>
                </a:tbl>
              </a:graphicData>
            </a:graphic>
          </p:graphicFrame>
        </mc:Choice>
        <mc:Fallback xmlns="">
          <p:graphicFrame>
            <p:nvGraphicFramePr>
              <p:cNvPr id="2" name="Table 1">
                <a:extLst>
                  <a:ext uri="{FF2B5EF4-FFF2-40B4-BE49-F238E27FC236}">
                    <a16:creationId xmlns:a16="http://schemas.microsoft.com/office/drawing/2014/main" id="{1306CF7F-19B0-4717-A15A-8F6D156A1CB4}"/>
                  </a:ext>
                </a:extLst>
              </p:cNvPr>
              <p:cNvGraphicFramePr>
                <a:graphicFrameLocks noGrp="1"/>
              </p:cNvGraphicFramePr>
              <p:nvPr>
                <p:extLst>
                  <p:ext uri="{D42A27DB-BD31-4B8C-83A1-F6EECF244321}">
                    <p14:modId xmlns:p14="http://schemas.microsoft.com/office/powerpoint/2010/main" val="1047411654"/>
                  </p:ext>
                </p:extLst>
              </p:nvPr>
            </p:nvGraphicFramePr>
            <p:xfrm>
              <a:off x="2519851" y="2157234"/>
              <a:ext cx="6913265" cy="4206334"/>
            </p:xfrm>
            <a:graphic>
              <a:graphicData uri="http://schemas.openxmlformats.org/drawingml/2006/table">
                <a:tbl>
                  <a:tblPr firstRow="1" firstCol="1" bandRow="1"/>
                  <a:tblGrid>
                    <a:gridCol w="2167719">
                      <a:extLst>
                        <a:ext uri="{9D8B030D-6E8A-4147-A177-3AD203B41FA5}">
                          <a16:colId xmlns:a16="http://schemas.microsoft.com/office/drawing/2014/main" val="1050734746"/>
                        </a:ext>
                      </a:extLst>
                    </a:gridCol>
                    <a:gridCol w="2385793">
                      <a:extLst>
                        <a:ext uri="{9D8B030D-6E8A-4147-A177-3AD203B41FA5}">
                          <a16:colId xmlns:a16="http://schemas.microsoft.com/office/drawing/2014/main" val="1646117730"/>
                        </a:ext>
                      </a:extLst>
                    </a:gridCol>
                    <a:gridCol w="2359753">
                      <a:extLst>
                        <a:ext uri="{9D8B030D-6E8A-4147-A177-3AD203B41FA5}">
                          <a16:colId xmlns:a16="http://schemas.microsoft.com/office/drawing/2014/main" val="3724725334"/>
                        </a:ext>
                      </a:extLst>
                    </a:gridCol>
                  </a:tblGrid>
                  <a:tr h="1412748">
                    <a:tc>
                      <a:txBody>
                        <a:bodyPr/>
                        <a:lstStyle/>
                        <a:p>
                          <a:endParaRPr lang="en-US"/>
                        </a:p>
                      </a:txBody>
                      <a:tcPr marL="32401" marR="32401" marT="0" marB="0">
                        <a:lnL>
                          <a:noFill/>
                        </a:lnL>
                        <a:lnR>
                          <a:noFill/>
                        </a:lnR>
                        <a:lnT>
                          <a:noFill/>
                        </a:lnT>
                        <a:lnB>
                          <a:noFill/>
                        </a:lnB>
                        <a:blipFill>
                          <a:blip r:embed="rId5"/>
                          <a:stretch>
                            <a:fillRect r="-218820" b="-197845"/>
                          </a:stretch>
                        </a:blipFill>
                      </a:tcPr>
                    </a:tc>
                    <a:tc>
                      <a:txBody>
                        <a:bodyPr/>
                        <a:lstStyle/>
                        <a:p>
                          <a:endParaRPr lang="en-US"/>
                        </a:p>
                      </a:txBody>
                      <a:tcPr marL="32401" marR="32401" marT="0" marB="0">
                        <a:lnL>
                          <a:noFill/>
                        </a:lnL>
                        <a:lnR>
                          <a:noFill/>
                        </a:lnR>
                        <a:lnT>
                          <a:noFill/>
                        </a:lnT>
                        <a:lnB>
                          <a:noFill/>
                        </a:lnB>
                        <a:blipFill>
                          <a:blip r:embed="rId5"/>
                          <a:stretch>
                            <a:fillRect l="-90816" r="-98724" b="-197845"/>
                          </a:stretch>
                        </a:blipFill>
                      </a:tcPr>
                    </a:tc>
                    <a:tc>
                      <a:txBody>
                        <a:bodyPr/>
                        <a:lstStyle/>
                        <a:p>
                          <a:endParaRPr lang="en-US"/>
                        </a:p>
                      </a:txBody>
                      <a:tcPr marL="32401" marR="32401" marT="0" marB="0">
                        <a:lnL>
                          <a:noFill/>
                        </a:lnL>
                        <a:lnR>
                          <a:noFill/>
                        </a:lnR>
                        <a:lnT>
                          <a:noFill/>
                        </a:lnT>
                        <a:lnB>
                          <a:noFill/>
                        </a:lnB>
                        <a:blipFill>
                          <a:blip r:embed="rId5"/>
                          <a:stretch>
                            <a:fillRect l="-193282" b="-197845"/>
                          </a:stretch>
                        </a:blipFill>
                      </a:tcPr>
                    </a:tc>
                    <a:extLst>
                      <a:ext uri="{0D108BD9-81ED-4DB2-BD59-A6C34878D82A}">
                        <a16:rowId xmlns:a16="http://schemas.microsoft.com/office/drawing/2014/main" val="96143301"/>
                      </a:ext>
                    </a:extLst>
                  </a:tr>
                  <a:tr h="1437640">
                    <a:tc>
                      <a:txBody>
                        <a:bodyPr/>
                        <a:lstStyle/>
                        <a:p>
                          <a:endParaRPr lang="en-US"/>
                        </a:p>
                      </a:txBody>
                      <a:tcPr marL="32401" marR="32401" marT="0" marB="0">
                        <a:lnL>
                          <a:noFill/>
                        </a:lnL>
                        <a:lnR>
                          <a:noFill/>
                        </a:lnR>
                        <a:lnT>
                          <a:noFill/>
                        </a:lnT>
                        <a:lnB>
                          <a:noFill/>
                        </a:lnB>
                        <a:blipFill>
                          <a:blip r:embed="rId5"/>
                          <a:stretch>
                            <a:fillRect t="-98305" r="-218820" b="-94492"/>
                          </a:stretch>
                        </a:blipFill>
                      </a:tcPr>
                    </a:tc>
                    <a:tc>
                      <a:txBody>
                        <a:bodyPr/>
                        <a:lstStyle/>
                        <a:p>
                          <a:endParaRPr lang="en-US"/>
                        </a:p>
                      </a:txBody>
                      <a:tcPr marL="32401" marR="32401" marT="0" marB="0">
                        <a:lnL>
                          <a:noFill/>
                        </a:lnL>
                        <a:lnR>
                          <a:noFill/>
                        </a:lnR>
                        <a:lnT>
                          <a:noFill/>
                        </a:lnT>
                        <a:lnB>
                          <a:noFill/>
                        </a:lnB>
                        <a:blipFill>
                          <a:blip r:embed="rId5"/>
                          <a:stretch>
                            <a:fillRect l="-90816" t="-98305" r="-98724" b="-94492"/>
                          </a:stretch>
                        </a:blipFill>
                      </a:tcPr>
                    </a:tc>
                    <a:tc>
                      <a:txBody>
                        <a:bodyPr/>
                        <a:lstStyle/>
                        <a:p>
                          <a:endParaRPr lang="en-US"/>
                        </a:p>
                      </a:txBody>
                      <a:tcPr marL="32401" marR="32401" marT="0" marB="0">
                        <a:lnL>
                          <a:noFill/>
                        </a:lnL>
                        <a:lnR>
                          <a:noFill/>
                        </a:lnR>
                        <a:lnT>
                          <a:noFill/>
                        </a:lnT>
                        <a:lnB>
                          <a:noFill/>
                        </a:lnB>
                        <a:blipFill>
                          <a:blip r:embed="rId5"/>
                          <a:stretch>
                            <a:fillRect l="-193282" t="-98305" b="-94492"/>
                          </a:stretch>
                        </a:blipFill>
                      </a:tcPr>
                    </a:tc>
                    <a:extLst>
                      <a:ext uri="{0D108BD9-81ED-4DB2-BD59-A6C34878D82A}">
                        <a16:rowId xmlns:a16="http://schemas.microsoft.com/office/drawing/2014/main" val="1739814750"/>
                      </a:ext>
                    </a:extLst>
                  </a:tr>
                  <a:tr h="1355946">
                    <a:tc>
                      <a:txBody>
                        <a:bodyPr/>
                        <a:lstStyle/>
                        <a:p>
                          <a:endParaRPr lang="en-US"/>
                        </a:p>
                      </a:txBody>
                      <a:tcPr marL="32401" marR="32401" marT="0" marB="0">
                        <a:lnL>
                          <a:noFill/>
                        </a:lnL>
                        <a:lnR>
                          <a:noFill/>
                        </a:lnR>
                        <a:lnT>
                          <a:noFill/>
                        </a:lnT>
                        <a:lnB>
                          <a:noFill/>
                        </a:lnB>
                        <a:blipFill>
                          <a:blip r:embed="rId5"/>
                          <a:stretch>
                            <a:fillRect t="-209865" r="-218820"/>
                          </a:stretch>
                        </a:blipFill>
                      </a:tcPr>
                    </a:tc>
                    <a:tc>
                      <a:txBody>
                        <a:bodyPr/>
                        <a:lstStyle/>
                        <a:p>
                          <a:endParaRPr lang="en-US"/>
                        </a:p>
                      </a:txBody>
                      <a:tcPr marL="32401" marR="32401" marT="0" marB="0">
                        <a:lnL>
                          <a:noFill/>
                        </a:lnL>
                        <a:lnR>
                          <a:noFill/>
                        </a:lnR>
                        <a:lnT>
                          <a:noFill/>
                        </a:lnT>
                        <a:lnB>
                          <a:noFill/>
                        </a:lnB>
                        <a:blipFill>
                          <a:blip r:embed="rId5"/>
                          <a:stretch>
                            <a:fillRect l="-90816" t="-209865" r="-98724"/>
                          </a:stretch>
                        </a:blipFill>
                      </a:tcPr>
                    </a:tc>
                    <a:tc>
                      <a:txBody>
                        <a:bodyPr/>
                        <a:lstStyle/>
                        <a:p>
                          <a:endParaRPr lang="en-US"/>
                        </a:p>
                      </a:txBody>
                      <a:tcPr marL="32401" marR="32401" marT="0" marB="0">
                        <a:lnL>
                          <a:noFill/>
                        </a:lnL>
                        <a:lnR>
                          <a:noFill/>
                        </a:lnR>
                        <a:lnT>
                          <a:noFill/>
                        </a:lnT>
                        <a:lnB>
                          <a:noFill/>
                        </a:lnB>
                        <a:blipFill>
                          <a:blip r:embed="rId5"/>
                          <a:stretch>
                            <a:fillRect l="-193282" t="-209865"/>
                          </a:stretch>
                        </a:blipFill>
                      </a:tcPr>
                    </a:tc>
                    <a:extLst>
                      <a:ext uri="{0D108BD9-81ED-4DB2-BD59-A6C34878D82A}">
                        <a16:rowId xmlns:a16="http://schemas.microsoft.com/office/drawing/2014/main" val="680718997"/>
                      </a:ext>
                    </a:extLst>
                  </a:tr>
                </a:tbl>
              </a:graphicData>
            </a:graphic>
          </p:graphicFrame>
        </mc:Fallback>
      </mc:AlternateContent>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7314749" y="6531429"/>
            <a:ext cx="41642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7314749" y="6466113"/>
            <a:ext cx="42077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7"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73321" y="-82571"/>
            <a:ext cx="954797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2.7.6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26021"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79714" y="1386025"/>
            <a:ext cx="9753600" cy="2697726"/>
          </a:xfrm>
          <a:prstGeom prst="rect">
            <a:avLst/>
          </a:prstGeom>
          <a:noFill/>
        </p:spPr>
        <p:txBody>
          <a:bodyPr wrap="square" rtlCol="0">
            <a:spAutoFit/>
          </a:bodyPr>
          <a:lstStyle/>
          <a:p>
            <a:pPr>
              <a:lnSpc>
                <a:spcPct val="107000"/>
              </a:lnSpc>
              <a:tabLst>
                <a:tab pos="10414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In this unit, you have learned multiple concepts including those listed below.</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tabLst>
                <a:tab pos="10414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 </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Symbol" panose="05050102010706020507" pitchFamily="18" charset="2"/>
              <a:buChar char=""/>
              <a:tabLst>
                <a:tab pos="10414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Finding the GCF and LCM of two or more numbers</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Symbol" panose="05050102010706020507" pitchFamily="18" charset="2"/>
              <a:buChar char=""/>
              <a:tabLst>
                <a:tab pos="10414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Rewriting sums using distributive property</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Symbol" panose="05050102010706020507" pitchFamily="18" charset="2"/>
              <a:buChar char=""/>
              <a:tabLst>
                <a:tab pos="10414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Multiplying and dividing decimals</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marL="914400" indent="-452438">
              <a:lnSpc>
                <a:spcPct val="107000"/>
              </a:lnSpc>
              <a:buFont typeface="Symbol" panose="05050102010706020507" pitchFamily="18" charset="2"/>
              <a:buChar char=""/>
              <a:tabLst>
                <a:tab pos="1041400" algn="l"/>
              </a:tabLst>
            </a:pPr>
            <a:r>
              <a:rPr lang="en-US" sz="2000" dirty="0">
                <a:latin typeface="Verdana" panose="020B0604030504040204" pitchFamily="34" charset="0"/>
                <a:ea typeface="Verdana" panose="020B0604030504040204" pitchFamily="34" charset="0"/>
                <a:cs typeface="Times New Roman" panose="02020603050405020304" pitchFamily="18" charset="0"/>
              </a:rPr>
              <a:t>Multiplying fractions</a:t>
            </a:r>
            <a:endParaRPr lang="en-US" sz="2000" i="1"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tabLst>
                <a:tab pos="1041400" algn="l"/>
              </a:tabLst>
            </a:pPr>
            <a:endParaRPr lang="en-US" sz="2000" i="1" dirty="0">
              <a:latin typeface="Verdana" panose="020B0604030504040204" pitchFamily="34" charset="0"/>
              <a:ea typeface="Verdana" panose="020B0604030504040204" pitchFamily="34" charset="0"/>
              <a:cs typeface="Times New Roman" panose="02020603050405020304" pitchFamily="18" charset="0"/>
            </a:endParaRP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834" y="610650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49" y="6435143"/>
            <a:ext cx="425108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p>
        </p:txBody>
      </p:sp>
      <p:sp>
        <p:nvSpPr>
          <p:cNvPr id="5" name="TextBox 4">
            <a:extLst>
              <a:ext uri="{FF2B5EF4-FFF2-40B4-BE49-F238E27FC236}">
                <a16:creationId xmlns:a16="http://schemas.microsoft.com/office/drawing/2014/main" id="{4CE9D117-FAE6-F74F-940B-9CD1479755BE}"/>
              </a:ext>
            </a:extLst>
          </p:cNvPr>
          <p:cNvSpPr txBox="1"/>
          <p:nvPr/>
        </p:nvSpPr>
        <p:spPr>
          <a:xfrm>
            <a:off x="522514" y="422857"/>
            <a:ext cx="9737054" cy="144655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Use the stoplight reflection below to share how you are feeling about each of these concepts at this point.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BEF6C55E-B3A1-F64B-8B75-315832270770}"/>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descr="Red/Yellow/Green traffic light indicator | Free SVG">
            <a:extLst>
              <a:ext uri="{FF2B5EF4-FFF2-40B4-BE49-F238E27FC236}">
                <a16:creationId xmlns:a16="http://schemas.microsoft.com/office/drawing/2014/main" id="{42E5B139-A89E-4141-A6FC-2DA9ED6F4041}"/>
              </a:ext>
            </a:extLst>
          </p:cNvPr>
          <p:cNvPicPr>
            <a:picLocks noChangeAspect="1"/>
          </p:cNvPicPr>
          <p:nvPr/>
        </p:nvPicPr>
        <p:blipFill rotWithShape="1">
          <a:blip r:embed="rId4">
            <a:extLst>
              <a:ext uri="{28A0092B-C50C-407E-A947-70E740481C1C}">
                <a14:useLocalDpi xmlns:a14="http://schemas.microsoft.com/office/drawing/2010/main"/>
              </a:ext>
              <a:ext uri="{837473B0-CC2E-450A-ABE3-18F120FF3D39}">
                <a1611:picAttrSrcUrl xmlns:a1611="http://schemas.microsoft.com/office/drawing/2016/11/main" r:id="rId5"/>
              </a:ext>
            </a:extLst>
          </a:blip>
          <a:srcRect l="24105" r="23740"/>
          <a:stretch/>
        </p:blipFill>
        <p:spPr bwMode="auto">
          <a:xfrm>
            <a:off x="2199854" y="1990331"/>
            <a:ext cx="1998526" cy="3832271"/>
          </a:xfrm>
          <a:prstGeom prst="rect">
            <a:avLst/>
          </a:prstGeom>
          <a:ln>
            <a:noFill/>
          </a:ln>
          <a:extLst>
            <a:ext uri="{53640926-AAD7-44D8-BBD7-CCE9431645EC}">
              <a14:shadowObscured xmlns:a14="http://schemas.microsoft.com/office/drawing/2010/main"/>
            </a:ext>
          </a:extLst>
        </p:spPr>
      </p:pic>
      <p:graphicFrame>
        <p:nvGraphicFramePr>
          <p:cNvPr id="3" name="Table 2">
            <a:extLst>
              <a:ext uri="{FF2B5EF4-FFF2-40B4-BE49-F238E27FC236}">
                <a16:creationId xmlns:a16="http://schemas.microsoft.com/office/drawing/2014/main" id="{49833393-5E42-4E7C-B4D5-B264028C75AD}"/>
              </a:ext>
            </a:extLst>
          </p:cNvPr>
          <p:cNvGraphicFramePr>
            <a:graphicFrameLocks noGrp="1"/>
          </p:cNvGraphicFramePr>
          <p:nvPr>
            <p:extLst>
              <p:ext uri="{D42A27DB-BD31-4B8C-83A1-F6EECF244321}">
                <p14:modId xmlns:p14="http://schemas.microsoft.com/office/powerpoint/2010/main" val="3760007085"/>
              </p:ext>
            </p:extLst>
          </p:nvPr>
        </p:nvGraphicFramePr>
        <p:xfrm>
          <a:off x="4707835" y="2151010"/>
          <a:ext cx="6858000" cy="3510915"/>
        </p:xfrm>
        <a:graphic>
          <a:graphicData uri="http://schemas.openxmlformats.org/drawingml/2006/table">
            <a:tbl>
              <a:tblPr firstRow="1" firstCol="1" bandRow="1"/>
              <a:tblGrid>
                <a:gridCol w="6858000">
                  <a:extLst>
                    <a:ext uri="{9D8B030D-6E8A-4147-A177-3AD203B41FA5}">
                      <a16:colId xmlns:a16="http://schemas.microsoft.com/office/drawing/2014/main" val="2430572535"/>
                    </a:ext>
                  </a:extLst>
                </a:gridCol>
              </a:tblGrid>
              <a:tr h="1170305">
                <a:tc>
                  <a:txBody>
                    <a:bodyPr/>
                    <a:lstStyle/>
                    <a:p>
                      <a:pPr marL="0" marR="0">
                        <a:lnSpc>
                          <a:spcPct val="107000"/>
                        </a:lnSpc>
                        <a:spcBef>
                          <a:spcPts val="0"/>
                        </a:spcBef>
                        <a:spcAft>
                          <a:spcPts val="0"/>
                        </a:spcAft>
                        <a:tabLst>
                          <a:tab pos="10414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0" marR="0">
                        <a:lnSpc>
                          <a:spcPct val="107000"/>
                        </a:lnSpc>
                        <a:spcBef>
                          <a:spcPts val="0"/>
                        </a:spcBef>
                        <a:spcAft>
                          <a:spcPts val="0"/>
                        </a:spcAft>
                        <a:tabLst>
                          <a:tab pos="10414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I still feel stuck about how to…</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566941678"/>
                  </a:ext>
                </a:extLst>
              </a:tr>
              <a:tr h="1170305">
                <a:tc>
                  <a:txBody>
                    <a:bodyPr/>
                    <a:lstStyle/>
                    <a:p>
                      <a:pPr marL="0" marR="0">
                        <a:lnSpc>
                          <a:spcPct val="107000"/>
                        </a:lnSpc>
                        <a:spcBef>
                          <a:spcPts val="0"/>
                        </a:spcBef>
                        <a:spcAft>
                          <a:spcPts val="0"/>
                        </a:spcAft>
                        <a:tabLst>
                          <a:tab pos="10414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0" marR="0">
                        <a:lnSpc>
                          <a:spcPct val="107000"/>
                        </a:lnSpc>
                        <a:spcBef>
                          <a:spcPts val="0"/>
                        </a:spcBef>
                        <a:spcAft>
                          <a:spcPts val="0"/>
                        </a:spcAft>
                        <a:tabLst>
                          <a:tab pos="10414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I’m starting to get the hang of…</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758040087"/>
                  </a:ext>
                </a:extLst>
              </a:tr>
              <a:tr h="1170305">
                <a:tc>
                  <a:txBody>
                    <a:bodyPr/>
                    <a:lstStyle/>
                    <a:p>
                      <a:pPr marL="0" marR="0">
                        <a:lnSpc>
                          <a:spcPct val="107000"/>
                        </a:lnSpc>
                        <a:spcBef>
                          <a:spcPts val="0"/>
                        </a:spcBef>
                        <a:spcAft>
                          <a:spcPts val="0"/>
                        </a:spcAft>
                        <a:tabLst>
                          <a:tab pos="10414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 </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p>
                      <a:pPr marL="0" marR="0">
                        <a:lnSpc>
                          <a:spcPct val="107000"/>
                        </a:lnSpc>
                        <a:spcBef>
                          <a:spcPts val="0"/>
                        </a:spcBef>
                        <a:spcAft>
                          <a:spcPts val="0"/>
                        </a:spcAft>
                        <a:tabLst>
                          <a:tab pos="1041400" algn="l"/>
                        </a:tabLst>
                      </a:pPr>
                      <a:r>
                        <a:rPr lang="en-US" sz="2000" i="0" dirty="0">
                          <a:effectLst/>
                          <a:latin typeface="Verdana" panose="020B0604030504040204" pitchFamily="34" charset="0"/>
                          <a:ea typeface="Verdana" panose="020B0604030504040204" pitchFamily="34" charset="0"/>
                          <a:cs typeface="Times New Roman" panose="02020603050405020304" pitchFamily="18" charset="0"/>
                        </a:rPr>
                        <a:t>I feel confident and ready to go with…</a:t>
                      </a:r>
                      <a:endParaRPr lang="en-US" sz="2000" i="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943727247"/>
                  </a:ext>
                </a:extLst>
              </a:tr>
            </a:tbl>
          </a:graphicData>
        </a:graphic>
      </p:graphicFrame>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1281</TotalTime>
  <Words>841</Words>
  <Application>Microsoft Office PowerPoint</Application>
  <PresentationFormat>Widescreen</PresentationFormat>
  <Paragraphs>138</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Verdana</vt:lpstr>
      <vt:lpstr>Century Gothic</vt:lpstr>
      <vt:lpstr>Arial</vt:lpstr>
      <vt:lpstr>Cambria Math</vt:lpstr>
      <vt:lpstr>Calibri</vt:lpstr>
      <vt:lpstr>Arial Black</vt:lpstr>
      <vt:lpstr>Symbol</vt:lpstr>
      <vt:lpstr>1_Office Theme</vt:lpstr>
      <vt:lpstr>6th Grade Math  Unit 2, Lesson 7  Multiplying Positive Fractions  Volume 1, pg. 78  </vt:lpstr>
      <vt:lpstr>Benchmark</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Guided Instruction</vt:lpstr>
      <vt:lpstr>PowerPoint Presentation</vt:lpstr>
      <vt:lpstr>PowerPoint Presentation</vt:lpstr>
      <vt:lpstr>Try It</vt:lpstr>
      <vt:lpstr>PowerPoint Presentation</vt:lpstr>
      <vt:lpstr>PowerPoint Presentation</vt:lpstr>
      <vt:lpstr>Your Turn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24</cp:revision>
  <dcterms:created xsi:type="dcterms:W3CDTF">2015-03-17T18:51:18Z</dcterms:created>
  <dcterms:modified xsi:type="dcterms:W3CDTF">2022-07-09T05:35:43Z</dcterms:modified>
</cp:coreProperties>
</file>