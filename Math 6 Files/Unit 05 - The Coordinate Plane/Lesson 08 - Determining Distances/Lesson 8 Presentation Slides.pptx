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65" r:id="rId10"/>
    <p:sldId id="371" r:id="rId11"/>
    <p:sldId id="372" r:id="rId12"/>
    <p:sldId id="311" r:id="rId13"/>
    <p:sldId id="312" r:id="rId14"/>
    <p:sldId id="362" r:id="rId15"/>
    <p:sldId id="373" r:id="rId16"/>
    <p:sldId id="374" r:id="rId17"/>
    <p:sldId id="375" r:id="rId18"/>
    <p:sldId id="376" r:id="rId19"/>
    <p:sldId id="377" r:id="rId20"/>
    <p:sldId id="378" r:id="rId21"/>
    <p:sldId id="323" r:id="rId22"/>
    <p:sldId id="324" r:id="rId23"/>
    <p:sldId id="366" r:id="rId24"/>
    <p:sldId id="379" r:id="rId25"/>
    <p:sldId id="380" r:id="rId26"/>
    <p:sldId id="381" r:id="rId27"/>
    <p:sldId id="382" r:id="rId28"/>
    <p:sldId id="383" r:id="rId29"/>
    <p:sldId id="302" r:id="rId30"/>
    <p:sldId id="303" r:id="rId31"/>
    <p:sldId id="369" r:id="rId32"/>
    <p:sldId id="306" r:id="rId33"/>
    <p:sldId id="307" r:id="rId34"/>
    <p:sldId id="370" r:id="rId35"/>
  </p:sldIdLst>
  <p:sldSz cx="12192000" cy="6858000"/>
  <p:notesSz cx="6858000" cy="9144000"/>
  <p:embeddedFontLst>
    <p:embeddedFont>
      <p:font typeface="Calibri" pitchFamily="34" charset="0"/>
      <p:regular r:id="rId37"/>
      <p:bold r:id="rId38"/>
      <p:italic r:id="rId39"/>
      <p:boldItalic r:id="rId40"/>
    </p:embeddedFont>
    <p:embeddedFont>
      <p:font typeface="Century Gothic" pitchFamily="34" charset="0"/>
      <p:regular r:id="rId41"/>
      <p:bold r:id="rId42"/>
      <p:italic r:id="rId43"/>
      <p:boldItalic r:id="rId44"/>
    </p:embeddedFont>
    <p:embeddedFont>
      <p:font typeface="Cambria Math" pitchFamily="18" charset="0"/>
      <p:regular r:id="rId45"/>
    </p:embeddedFont>
    <p:embeddedFont>
      <p:font typeface="Arial Black" pitchFamily="34" charset="0"/>
      <p:bold r:id="rId46"/>
    </p:embeddedFont>
    <p:embeddedFont>
      <p:font typeface="Verdana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719"/>
  </p:normalViewPr>
  <p:slideViewPr>
    <p:cSldViewPr snapToGrid="0">
      <p:cViewPr varScale="1">
        <p:scale>
          <a:sx n="80" d="100"/>
          <a:sy n="80" d="100"/>
        </p:scale>
        <p:origin x="-57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27395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714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3267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5206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243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851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3043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321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3204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9777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3648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60550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333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932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8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37803" y="2054276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Distances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3916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4283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xmlns="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266" y="1237668"/>
                <a:ext cx="11146048" cy="4957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32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MA.6.GR.1.2</a:t>
                </a:r>
              </a:p>
              <a:p>
                <a:pPr indent="0">
                  <a:buNone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distances between ordered pairs, limited to the same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or the same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-coordinate, represented on the coordinate plane.</a:t>
                </a:r>
              </a:p>
              <a:p>
                <a:pPr marL="0" indent="0">
                  <a:buSzPts val="1100"/>
                  <a:buNone/>
                </a:pPr>
                <a:r>
                  <a:rPr lang="en-US" sz="32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MA.6.GR.1.3</a:t>
                </a:r>
              </a:p>
              <a:p>
                <a:pPr indent="0">
                  <a:buNone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mathematical and real-world problems by plotting points on a coordinate plane, including finding the perimeter or area of a rectangle. </a:t>
                </a:r>
                <a:endParaRPr lang="en-US" sz="1100" dirty="0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37668"/>
                <a:ext cx="11146048" cy="4957354"/>
              </a:xfrm>
              <a:prstGeom prst="rect">
                <a:avLst/>
              </a:prstGeom>
              <a:blipFill>
                <a:blip r:embed="rId5"/>
                <a:stretch>
                  <a:fillRect l="-1365" t="-5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268598"/>
            <a:ext cx="109609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11678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distances between ordered pairs.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problem by plotting points on a coordinate plane and determining distances.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5.8.1 Warm-Up: Superpowers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730266" y="1237668"/>
            <a:ext cx="110916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could have a superpower, what would it be and why?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Think of a superhero whose powers relate to mathematics.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superhero do you have in mind?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his or her superpowers relate to mathematics.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88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247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5.8.2 Guided Instruction: The Flash vs. Superman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730265" y="1353369"/>
            <a:ext cx="1079770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Flash challenges Superman to a race. Who do you think will win?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watching the race, answer the following.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can we find out the distance they covered?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pic>
        <p:nvPicPr>
          <p:cNvPr id="10" name="image14.png" descr="A group of people in a field&#10;&#10;Description automatically generated">
            <a:extLst>
              <a:ext uri="{FF2B5EF4-FFF2-40B4-BE49-F238E27FC236}">
                <a16:creationId xmlns:a16="http://schemas.microsoft.com/office/drawing/2014/main" xmlns="" id="{9C0CFBEA-184C-4042-BD82-DE41C12B230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88750" y="1995794"/>
            <a:ext cx="4214499" cy="245275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04614" y="45507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can we find out who won?</a:t>
            </a:r>
          </a:p>
        </p:txBody>
      </p:sp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53247" y="465964"/>
            <a:ext cx="114346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Unfortunately, in the movie,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Justice League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we were not able to see who wins. However, the Flash and Superman did race each other in the cartoon and comics version.               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They raced through cities…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and on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highways…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and through all kinds of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conditions. </a:t>
            </a:r>
          </a:p>
          <a:p>
            <a:endParaRPr lang="en-US" dirty="0"/>
          </a:p>
        </p:txBody>
      </p:sp>
      <p:pic>
        <p:nvPicPr>
          <p:cNvPr id="15" name="image1.png" descr="A close up of a computer&#10;&#10;Description automatically generated">
            <a:extLst>
              <a:ext uri="{FF2B5EF4-FFF2-40B4-BE49-F238E27FC236}">
                <a16:creationId xmlns:a16="http://schemas.microsoft.com/office/drawing/2014/main" xmlns="" id="{49FB8503-C4E5-3248-ADB4-B7961FB4109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8990" y="1599320"/>
            <a:ext cx="2946142" cy="1450225"/>
          </a:xfrm>
          <a:prstGeom prst="rect">
            <a:avLst/>
          </a:prstGeom>
          <a:ln/>
        </p:spPr>
      </p:pic>
      <p:pic>
        <p:nvPicPr>
          <p:cNvPr id="16" name="image8.png" descr="A picture containing table, small, game, kitchen&#10;&#10;Description automatically generated">
            <a:extLst>
              <a:ext uri="{FF2B5EF4-FFF2-40B4-BE49-F238E27FC236}">
                <a16:creationId xmlns:a16="http://schemas.microsoft.com/office/drawing/2014/main" xmlns="" id="{A755D478-9285-1140-BB0E-AF0EDBA3B63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1101" y="2483845"/>
            <a:ext cx="2141220" cy="1324610"/>
          </a:xfrm>
          <a:prstGeom prst="rect">
            <a:avLst/>
          </a:prstGeom>
          <a:ln/>
        </p:spPr>
      </p:pic>
      <p:pic>
        <p:nvPicPr>
          <p:cNvPr id="17" name="image26.png" descr="A picture containing person, front, player, holding&#10;&#10;Description automatically generated">
            <a:extLst>
              <a:ext uri="{FF2B5EF4-FFF2-40B4-BE49-F238E27FC236}">
                <a16:creationId xmlns:a16="http://schemas.microsoft.com/office/drawing/2014/main" xmlns="" id="{3B0D06FE-996F-8340-94B9-FE44AC4A03BE}"/>
              </a:ext>
            </a:extLst>
          </p:cNvPr>
          <p:cNvPicPr/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8990" y="3808455"/>
            <a:ext cx="3408336" cy="1777478"/>
          </a:xfrm>
          <a:prstGeom prst="rect">
            <a:avLst/>
          </a:prstGeom>
          <a:ln/>
        </p:spPr>
      </p:pic>
      <p:pic>
        <p:nvPicPr>
          <p:cNvPr id="18" name="image10.png" descr="A picture containing drawing, graffiti, sign&#10;&#10;Description automatically generated">
            <a:extLst>
              <a:ext uri="{FF2B5EF4-FFF2-40B4-BE49-F238E27FC236}">
                <a16:creationId xmlns:a16="http://schemas.microsoft.com/office/drawing/2014/main" xmlns="" id="{21D939A4-B5CD-E84F-A8A7-6ACFCA239410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9627" y="4605246"/>
            <a:ext cx="2553247" cy="159535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3633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04614" y="509507"/>
            <a:ext cx="8327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see from the comic that is related to determining distance?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3482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248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2286" y="328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5.8.3 Exploration: Looking at a Trajectory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248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732742" y="1244692"/>
                <a:ext cx="1099189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following graph shows the Flash running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(2, 3)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for where he ends?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42" y="1244692"/>
                <a:ext cx="10991897" cy="4708981"/>
              </a:xfrm>
              <a:prstGeom prst="rect">
                <a:avLst/>
              </a:prstGeom>
              <a:blipFill>
                <a:blip r:embed="rId5"/>
                <a:stretch>
                  <a:fillRect l="-577" t="-538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3.png">
            <a:extLst>
              <a:ext uri="{FF2B5EF4-FFF2-40B4-BE49-F238E27FC236}">
                <a16:creationId xmlns:a16="http://schemas.microsoft.com/office/drawing/2014/main" xmlns="" id="{5AAE8FF9-91CF-0A41-9503-02442ADEECC8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0920" y="1862581"/>
            <a:ext cx="3850160" cy="338291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7223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following graph.</a:t>
            </a:r>
          </a:p>
        </p:txBody>
      </p:sp>
      <p:pic>
        <p:nvPicPr>
          <p:cNvPr id="6" name="image27.png">
            <a:extLst>
              <a:ext uri="{FF2B5EF4-FFF2-40B4-BE49-F238E27FC236}">
                <a16:creationId xmlns:a16="http://schemas.microsoft.com/office/drawing/2014/main" xmlns="" id="{691727F3-1989-2B4C-AF62-74B04937D63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3808" y="1210355"/>
            <a:ext cx="4584383" cy="443729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6481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517587"/>
                <a:ext cx="11826400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each gridline on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represents 1 mile traveled, how many miles did the Flash travel? 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between the starting and ending points for the Flash? 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between the coordinates of the starting point in relation to the coordinates at the end point?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517587"/>
                <a:ext cx="11826400" cy="5324535"/>
              </a:xfrm>
              <a:prstGeom prst="rect">
                <a:avLst/>
              </a:prstGeom>
              <a:blipFill>
                <a:blip r:embed="rId4"/>
                <a:stretch>
                  <a:fillRect t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717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04614" y="597072"/>
                <a:ext cx="1132858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finding the horizontal distance between two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that lie on the same line, if the points are on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same side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find the                         of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absolute values between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of the starting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ending points.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" y="597072"/>
                <a:ext cx="11328586" cy="3785652"/>
              </a:xfrm>
              <a:prstGeom prst="rect">
                <a:avLst/>
              </a:prstGeom>
              <a:blipFill>
                <a:blip r:embed="rId4"/>
                <a:stretch>
                  <a:fillRect l="-673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xmlns="" id="{DFA77845-1F10-B54D-A66A-CD78CA08BA0F}"/>
              </a:ext>
            </a:extLst>
          </p:cNvPr>
          <p:cNvSpPr/>
          <p:nvPr/>
        </p:nvSpPr>
        <p:spPr>
          <a:xfrm>
            <a:off x="5151188" y="1632632"/>
            <a:ext cx="1889623" cy="72594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291145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568289"/>
                <a:ext cx="11498814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49263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graph below, Superman starts flying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(1, 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represents the miles Superman travels.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miles does he need to travel to get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(1, 2)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568289"/>
                <a:ext cx="11498814" cy="5324535"/>
              </a:xfrm>
              <a:prstGeom prst="rect">
                <a:avLst/>
              </a:prstGeom>
              <a:blipFill>
                <a:blip r:embed="rId4"/>
                <a:stretch>
                  <a:fillRect l="-441" t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28.png">
            <a:extLst>
              <a:ext uri="{FF2B5EF4-FFF2-40B4-BE49-F238E27FC236}">
                <a16:creationId xmlns:a16="http://schemas.microsoft.com/office/drawing/2014/main" xmlns="" id="{53F3783C-AF64-0744-B25B-4FCA63176E7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788" y="1308927"/>
            <a:ext cx="3514090" cy="32442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23429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517587"/>
                <a:ext cx="11234654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do the coordinates of the starting point relate to the coordinates at the end point?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finding the vertical distance between two points</a:t>
                </a:r>
              </a:p>
              <a:p>
                <a:pPr marL="4572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lie on the same line, if the points are on opposite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sides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find the                         of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absolute values between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of the starting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ending points.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517587"/>
                <a:ext cx="11234654" cy="5940088"/>
              </a:xfrm>
              <a:prstGeom prst="rect">
                <a:avLst/>
              </a:prstGeom>
              <a:blipFill>
                <a:blip r:embed="rId4"/>
                <a:stretch>
                  <a:fillRect l="-564" t="-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F0B35B4E-595F-1846-A40C-D763563F3658}"/>
              </a:ext>
            </a:extLst>
          </p:cNvPr>
          <p:cNvSpPr/>
          <p:nvPr/>
        </p:nvSpPr>
        <p:spPr>
          <a:xfrm>
            <a:off x="4545734" y="4311969"/>
            <a:ext cx="1889623" cy="72594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39405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686910"/>
                <a:ext cx="11519134" cy="5663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graph below.</a:t>
                </a: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blue line shows the trajectory Superman followed starting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(1,−2)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Assuming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-axes represent miles traveled, explain how to determine the distance. </a:t>
                </a:r>
              </a:p>
              <a:p>
                <a:r>
                  <a:rPr lang="en-US" dirty="0"/>
                  <a:t> </a:t>
                </a:r>
              </a:p>
              <a:p>
                <a:r>
                  <a:rPr lang="en-US" dirty="0"/>
                  <a:t> </a:t>
                </a:r>
              </a:p>
              <a:p>
                <a:r>
                  <a:rPr lang="en-US" dirty="0"/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686910"/>
                <a:ext cx="11519134" cy="5663089"/>
              </a:xfrm>
              <a:prstGeom prst="rect">
                <a:avLst/>
              </a:prstGeom>
              <a:blipFill>
                <a:blip r:embed="rId4"/>
                <a:stretch>
                  <a:fillRect l="-551"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Diagram&#10;&#10;Description automatically generated with medium confidence">
            <a:extLst>
              <a:ext uri="{FF2B5EF4-FFF2-40B4-BE49-F238E27FC236}">
                <a16:creationId xmlns:a16="http://schemas.microsoft.com/office/drawing/2014/main" xmlns="" id="{04B49091-BAF2-A14B-813C-74D92DB8AA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9" t="1503"/>
          <a:stretch/>
        </p:blipFill>
        <p:spPr bwMode="auto">
          <a:xfrm>
            <a:off x="3809747" y="1185319"/>
            <a:ext cx="4554492" cy="28641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79881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1600" y="489914"/>
            <a:ext cx="832713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What is the total distance traveled by Superman?</a:t>
            </a:r>
          </a:p>
          <a:p>
            <a:endParaRPr lang="en-US" dirty="0"/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69482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0501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4" y="-867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5.8.4 Guided Practice: Town Map on a Coordinate Plane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731520" y="1281164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following graph.</a:t>
            </a: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xmlns="" id="{0F88CEAA-E81E-A84C-BF76-0D6C9E4F4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560" y="1762501"/>
            <a:ext cx="4594880" cy="46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-483605" y="1210387"/>
            <a:ext cx="8327136" cy="347787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	Park (A): 	   ________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School (B): 	   ________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Hospital (C): 	   ________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House (D): 	   ________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Bank (E): 	   ________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Restaurant (F): 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80D7606-0001-44A7-ACEF-985D8D7C3B4A}"/>
              </a:ext>
            </a:extLst>
          </p:cNvPr>
          <p:cNvSpPr txBox="1"/>
          <p:nvPr/>
        </p:nvSpPr>
        <p:spPr>
          <a:xfrm>
            <a:off x="304614" y="298830"/>
            <a:ext cx="83271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coordinates of the following places in town?</a:t>
            </a:r>
          </a:p>
          <a:p>
            <a:endParaRPr lang="en-US" dirty="0"/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xmlns="" id="{47457175-F509-44A5-8976-729F9CC6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086" y="1210387"/>
            <a:ext cx="4418890" cy="443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09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520394"/>
                <a:ext cx="11226960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following distances.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the park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(−6, 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school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(−6, −6)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_________ miles.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the hospital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(2, 5)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house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2, 2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_________ miles.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the bank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(8, −6)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school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−6, −6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_________ miles.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the restaurant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(8, 5)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hospital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(2, 5)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_________ miles.</a:t>
                </a:r>
              </a:p>
              <a:p>
                <a:pPr marL="914400"/>
                <a:r>
                  <a:rPr lang="en-US" dirty="0"/>
                  <a:t> </a:t>
                </a:r>
              </a:p>
              <a:p>
                <a:pPr marL="914400" indent="-457200"/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520394"/>
                <a:ext cx="11226960" cy="5447645"/>
              </a:xfrm>
              <a:prstGeom prst="rect">
                <a:avLst/>
              </a:prstGeom>
              <a:blipFill>
                <a:blip r:embed="rId4"/>
                <a:stretch>
                  <a:fillRect t="-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41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82164" y="652474"/>
            <a:ext cx="1146439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Loki leaves his house and heads towards the park. Then, he goes to school.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distance has Loki travelled?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Loki gets out of school and goes to the bank to make a few transactions. Then, he heads toward the restaurant to have dinner. What distance has Loki traveled so far? 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09959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93924" y="510233"/>
            <a:ext cx="113119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Before going home, Loki needs to stop at the hospital to visit a friend. After leaving the hospital, he finally goes home.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distance did Loki travel altogether?</a:t>
            </a:r>
          </a:p>
          <a:p>
            <a:r>
              <a:rPr lang="en-US" dirty="0"/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08289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27426" y="505122"/>
            <a:ext cx="1130577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city commissioner will build a stadium so that it forms a square with the house, the park, and the school.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where the stadium should be located.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dirty="0"/>
              <a:t> </a:t>
            </a:r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xmlns="" id="{20A6D28D-5236-6E42-BB4F-305840F67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810" y="1260721"/>
            <a:ext cx="3548380" cy="35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07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39006" y="500073"/>
                <a:ext cx="11487233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/>
                  <a:t>Now that the stadium is built, what is the area and the perimeter formed by the stadium, the house, the park, and the school?</a:t>
                </a:r>
              </a:p>
              <a:p>
                <a:r>
                  <a:rPr lang="en-US" sz="2000" dirty="0"/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/>
                  <a:t>Perimeter: _____________ miles (mi.)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457200"/>
                <a:r>
                  <a:rPr lang="en-US" sz="2000" dirty="0"/>
                  <a:t> </a:t>
                </a:r>
              </a:p>
              <a:p>
                <a:pPr marL="457200"/>
                <a:r>
                  <a:rPr lang="en-US" sz="2000" dirty="0"/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/>
                  <a:t>Area: _____________ (mi.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06" y="500073"/>
                <a:ext cx="11487233" cy="3077766"/>
              </a:xfrm>
              <a:prstGeom prst="rect">
                <a:avLst/>
              </a:prstGeom>
              <a:blipFill>
                <a:blip r:embed="rId4"/>
                <a:stretch>
                  <a:fillRect l="-442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xmlns="" id="{B27B49AD-AB61-40A5-AF7B-8CDA004B9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10" y="2794823"/>
            <a:ext cx="3548380" cy="35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78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5798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64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730266" y="1204703"/>
            <a:ext cx="1100453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soccer field on the coordinate plane.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dimensions of the soccer field.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Length (horizontal): ______________meters (m) 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Width (vertical): ______________m</a:t>
            </a:r>
          </a:p>
        </p:txBody>
      </p:sp>
      <p:pic>
        <p:nvPicPr>
          <p:cNvPr id="8" name="image6.png" descr="Diagram, schematic&#10;&#10;Description automatically generated">
            <a:extLst>
              <a:ext uri="{FF2B5EF4-FFF2-40B4-BE49-F238E27FC236}">
                <a16:creationId xmlns:a16="http://schemas.microsoft.com/office/drawing/2014/main" xmlns="" id="{62E62123-71AC-FA4A-BE81-5C723E8AFAB4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261008" y="1618495"/>
            <a:ext cx="3669983" cy="32146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1600" y="469594"/>
            <a:ext cx="10779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perimeter, in meters, of the soccer field?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area, in square meters, of the soccer field?</a:t>
            </a:r>
          </a:p>
        </p:txBody>
      </p:sp>
      <p:pic>
        <p:nvPicPr>
          <p:cNvPr id="6" name="image6.png" descr="Diagram, schematic&#10;&#10;Description automatically generated">
            <a:extLst>
              <a:ext uri="{FF2B5EF4-FFF2-40B4-BE49-F238E27FC236}">
                <a16:creationId xmlns:a16="http://schemas.microsoft.com/office/drawing/2014/main" xmlns="" id="{4A69C915-78F9-4018-A7D1-9A11AA19D8E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94381" y="2767162"/>
            <a:ext cx="4603237" cy="369051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84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3492" y="-3956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30266" y="1286136"/>
            <a:ext cx="590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Zander is a competitive dart player. The graph shows a record of his last three darts.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dart, Dart Z, where Zander should throw his next dart so that it forms a rectangle with the other three on the plane.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pic>
        <p:nvPicPr>
          <p:cNvPr id="8" name="image22.png">
            <a:extLst>
              <a:ext uri="{FF2B5EF4-FFF2-40B4-BE49-F238E27FC236}">
                <a16:creationId xmlns:a16="http://schemas.microsoft.com/office/drawing/2014/main" xmlns="" id="{346DD107-81C9-5345-A036-1EE32617C42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0724" y="1286136"/>
            <a:ext cx="4117788" cy="399567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47746" y="3429000"/>
            <a:ext cx="116918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perimeter of the rectangle formed by the darts?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rectangle formed by the darts?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Zander will take back Darts P and Q. He wants to throw them so that they land on two points, forming a square with Darts T and Z. Where should the Darts P and Q land?</a:t>
            </a:r>
          </a:p>
        </p:txBody>
      </p:sp>
      <p:pic>
        <p:nvPicPr>
          <p:cNvPr id="6" name="image22.png">
            <a:extLst>
              <a:ext uri="{FF2B5EF4-FFF2-40B4-BE49-F238E27FC236}">
                <a16:creationId xmlns:a16="http://schemas.microsoft.com/office/drawing/2014/main" xmlns="" id="{5CD72897-CA42-43FB-A093-F99E620536CB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5255" y="163269"/>
            <a:ext cx="3501490" cy="309937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782034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861</Words>
  <Application>Microsoft Office PowerPoint</Application>
  <PresentationFormat>Custom</PresentationFormat>
  <Paragraphs>350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Courier New</vt:lpstr>
      <vt:lpstr>Century Gothic</vt:lpstr>
      <vt:lpstr>Cambria Math</vt:lpstr>
      <vt:lpstr>Arial Black</vt:lpstr>
      <vt:lpstr>Verdana</vt:lpstr>
      <vt:lpstr>1_Office Theme</vt:lpstr>
      <vt:lpstr>6th Grade Math  Unit 5, Lesson 8  Determining Distances  Volume 1, pg. 246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23</cp:revision>
  <dcterms:created xsi:type="dcterms:W3CDTF">2015-03-17T18:51:18Z</dcterms:created>
  <dcterms:modified xsi:type="dcterms:W3CDTF">2022-06-05T02:33:39Z</dcterms:modified>
</cp:coreProperties>
</file>