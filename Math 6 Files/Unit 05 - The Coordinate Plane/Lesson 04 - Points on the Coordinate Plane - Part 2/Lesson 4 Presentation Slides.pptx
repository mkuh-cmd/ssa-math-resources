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85" r:id="rId4"/>
    <p:sldId id="286" r:id="rId5"/>
    <p:sldId id="261" r:id="rId6"/>
    <p:sldId id="287" r:id="rId7"/>
    <p:sldId id="288" r:id="rId8"/>
    <p:sldId id="320" r:id="rId9"/>
    <p:sldId id="321" r:id="rId10"/>
    <p:sldId id="364" r:id="rId11"/>
    <p:sldId id="374" r:id="rId12"/>
    <p:sldId id="314" r:id="rId13"/>
    <p:sldId id="315" r:id="rId14"/>
    <p:sldId id="352" r:id="rId15"/>
    <p:sldId id="302" r:id="rId16"/>
    <p:sldId id="303" r:id="rId17"/>
    <p:sldId id="369" r:id="rId18"/>
    <p:sldId id="371" r:id="rId19"/>
    <p:sldId id="372" r:id="rId20"/>
    <p:sldId id="373" r:id="rId21"/>
    <p:sldId id="306" r:id="rId22"/>
    <p:sldId id="307" r:id="rId23"/>
    <p:sldId id="370" r:id="rId24"/>
  </p:sldIdLst>
  <p:sldSz cx="12192000" cy="6858000"/>
  <p:notesSz cx="6858000" cy="9144000"/>
  <p:embeddedFontLst>
    <p:embeddedFont>
      <p:font typeface="Arial Black" panose="020B0604020202020204" pitchFamily="34" charset="0"/>
      <p:regular r:id="rId26"/>
      <p:bold r:id="rId27"/>
    </p:embeddedFont>
    <p:embeddedFont>
      <p:font typeface="Calibri" panose="020F0502020204030204" pitchFamily="34" charset="0"/>
      <p:regular r:id="rId28"/>
      <p:bold r:id="rId29"/>
      <p:italic r:id="rId30"/>
      <p:boldItalic r:id="rId31"/>
    </p:embeddedFont>
    <p:embeddedFont>
      <p:font typeface="Cambria Math" panose="02040503050406030204" pitchFamily="18" charset="0"/>
      <p:regular r:id="rId32"/>
    </p:embeddedFont>
    <p:embeddedFont>
      <p:font typeface="Century Gothic" panose="020B0502020202020204" pitchFamily="34" charset="0"/>
      <p:regular r:id="rId33"/>
      <p:bold r:id="rId34"/>
      <p:italic r:id="rId35"/>
      <p:boldItalic r:id="rId36"/>
    </p:embeddedFont>
    <p:embeddedFont>
      <p:font typeface="Verdana" panose="020B060403050404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C058"/>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34"/>
    <p:restoredTop sz="94719"/>
  </p:normalViewPr>
  <p:slideViewPr>
    <p:cSldViewPr snapToGrid="0">
      <p:cViewPr varScale="1">
        <p:scale>
          <a:sx n="125" d="100"/>
          <a:sy n="125" d="100"/>
        </p:scale>
        <p:origin x="168" y="6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59" Type="http://schemas.openxmlformats.org/officeDocument/2006/relationships/tableStyles" Target="tableStyles.xml"/><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03339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41497154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1726246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307905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5786281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7811353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7075519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5887786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1660869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1311805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37497399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8858684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772299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a:alphaModFix/>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a:alphaModFix/>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a:alphaModFix/>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a:alphaModFix/>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a:alphaModFix/>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a:alphaModFix/>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a:alphaModFix/>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a:alphaModFix/>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a:alphaModFix/>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7.tiff"/><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6.tiff"/><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320387" y="2054276"/>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5, Lesson 4</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Points on the Coordinate Plane – Part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221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29141D4E-DA2B-B445-945E-1FC651023929}"/>
              </a:ext>
            </a:extLst>
          </p:cNvPr>
          <p:cNvPicPr>
            <a:picLocks noChangeAspect="1"/>
          </p:cNvPicPr>
          <p:nvPr/>
        </p:nvPicPr>
        <p:blipFill>
          <a:blip r:embed="rId3"/>
          <a:stretch>
            <a:fillRect/>
          </a:stretch>
        </p:blipFill>
        <p:spPr>
          <a:xfrm>
            <a:off x="501762"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7332"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221</a:t>
            </a:r>
            <a:endParaRPr i="1" dirty="0">
              <a:latin typeface="Calibri"/>
              <a:ea typeface="Calibri"/>
              <a:cs typeface="Calibri"/>
              <a:sym typeface="Calibri"/>
            </a:endParaRPr>
          </a:p>
        </p:txBody>
      </p:sp>
      <p:pic>
        <p:nvPicPr>
          <p:cNvPr id="283" name="Google Shape;283;g104476d1465_1_17"/>
          <p:cNvPicPr preferRelativeResize="0"/>
          <p:nvPr/>
        </p:nvPicPr>
        <p:blipFill>
          <a:blip r:embed="rId4">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730266" y="1326150"/>
                <a:ext cx="1116709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a:ea typeface="Verdana"/>
                    <a:cs typeface="Verdana"/>
                    <a:sym typeface="Verdana"/>
                  </a:rPr>
                  <a:t>MA.6.GR.1.1</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Extend previous understanding of the coordinate plane to plot rational number ordered pairs in all four quadrants and on both axes. Identify the </a:t>
                </a:r>
                <a14:m>
                  <m:oMath xmlns:m="http://schemas.openxmlformats.org/officeDocument/2006/math">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400" i="1">
                        <a:latin typeface="Cambria Math" panose="02040503050406030204" pitchFamily="18" charset="0"/>
                      </a:rPr>
                      <m:t>𝑦</m:t>
                    </m:r>
                  </m:oMath>
                </a14:m>
                <a:r>
                  <a:rPr lang="en-US" sz="2400" dirty="0">
                    <a:latin typeface="Verdana" panose="020B0604030504040204" pitchFamily="34" charset="0"/>
                    <a:ea typeface="Verdana" panose="020B0604030504040204" pitchFamily="34" charset="0"/>
                    <a:cs typeface="Verdana" panose="020B0604030504040204" pitchFamily="34" charset="0"/>
                  </a:rPr>
                  <a:t>-axis as the line of reflection when two ordered pairs have an opposite </a:t>
                </a:r>
                <a14:m>
                  <m:oMath xmlns:m="http://schemas.openxmlformats.org/officeDocument/2006/math">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𝑦</m:t>
                    </m:r>
                  </m:oMath>
                </a14:m>
                <a:r>
                  <a:rPr lang="en-US" sz="2400" dirty="0">
                    <a:latin typeface="Verdana" panose="020B0604030504040204" pitchFamily="34" charset="0"/>
                    <a:ea typeface="Verdana" panose="020B0604030504040204" pitchFamily="34" charset="0"/>
                    <a:cs typeface="Verdana" panose="020B0604030504040204" pitchFamily="34" charset="0"/>
                  </a:rPr>
                  <a:t>-coordinate. </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mc:Choice>
        <mc:Fallback>
          <p:sp>
            <p:nvSpPr>
              <p:cNvPr id="8" name="Google Shape;280;g104476d1465_1_17">
                <a:extLst>
                  <a:ext uri="{FF2B5EF4-FFF2-40B4-BE49-F238E27FC236}">
                    <a16:creationId xmlns:a16="http://schemas.microsoft.com/office/drawing/2014/main" id="{527A9F9F-07B8-ED47-B967-E5507C67DBC5}"/>
                  </a:ext>
                </a:extLst>
              </p:cNvPr>
              <p:cNvSpPr txBox="1">
                <a:spLocks noRot="1" noChangeAspect="1" noMove="1" noResize="1" noEditPoints="1" noAdjustHandles="1" noChangeArrowheads="1" noChangeShapeType="1" noTextEdit="1"/>
              </p:cNvSpPr>
              <p:nvPr/>
            </p:nvSpPr>
            <p:spPr>
              <a:xfrm>
                <a:off x="730266" y="1326150"/>
                <a:ext cx="11167094" cy="4205700"/>
              </a:xfrm>
              <a:prstGeom prst="rect">
                <a:avLst/>
              </a:prstGeom>
              <a:blipFill>
                <a:blip r:embed="rId5"/>
                <a:stretch>
                  <a:fillRect l="-909"/>
                </a:stretch>
              </a:blipFill>
              <a:ln>
                <a:noFill/>
              </a:ln>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37332" y="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221</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730266" y="1326150"/>
            <a:ext cx="1095373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37332"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221</a:t>
            </a:r>
          </a:p>
        </p:txBody>
      </p:sp>
      <mc:AlternateContent xmlns:mc="http://schemas.openxmlformats.org/markup-compatibility/2006">
        <mc:Choice xmlns:a14="http://schemas.microsoft.com/office/drawing/2010/main" Requires="a14">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730266" y="1237668"/>
                <a:ext cx="8229600" cy="7473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plot rational numbers using a scale of </a:t>
                </a:r>
                <a14:m>
                  <m:oMath xmlns:m="http://schemas.openxmlformats.org/officeDocument/2006/math">
                    <m:r>
                      <a:rPr lang="en-US" sz="2400" i="1">
                        <a:latin typeface="Cambria Math" panose="02040503050406030204" pitchFamily="18"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Google Shape;302;g103996e1364_0_16">
                <a:extLst>
                  <a:ext uri="{FF2B5EF4-FFF2-40B4-BE49-F238E27FC236}">
                    <a16:creationId xmlns:a16="http://schemas.microsoft.com/office/drawing/2014/main" id="{9B7C98EC-F13C-9146-B728-D7044DB4247D}"/>
                  </a:ext>
                </a:extLst>
              </p:cNvPr>
              <p:cNvSpPr txBox="1">
                <a:spLocks noRot="1" noChangeAspect="1" noMove="1" noResize="1" noEditPoints="1" noAdjustHandles="1" noChangeArrowheads="1" noChangeShapeType="1" noTextEdit="1"/>
              </p:cNvSpPr>
              <p:nvPr/>
            </p:nvSpPr>
            <p:spPr>
              <a:xfrm>
                <a:off x="730266" y="1237668"/>
                <a:ext cx="8229600" cy="747300"/>
              </a:xfrm>
              <a:prstGeom prst="rect">
                <a:avLst/>
              </a:prstGeom>
              <a:blipFill>
                <a:blip r:embed="rId5"/>
                <a:stretch>
                  <a:fillRect l="-1079" t="-6667"/>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5846"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28438" y="-8515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5.4.1 Warm-Up: Team Wins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222</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1D7562E-134F-D14B-AF1A-DF40E11EF758}"/>
                  </a:ext>
                </a:extLst>
              </p:cNvPr>
              <p:cNvSpPr txBox="1"/>
              <p:nvPr/>
            </p:nvSpPr>
            <p:spPr>
              <a:xfrm>
                <a:off x="730266" y="1240543"/>
                <a:ext cx="11187414" cy="1200329"/>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Each graph represents the number of wins for the Arkansas Razorbacks football team for the 2000-2019 seasons, where the </a:t>
                </a:r>
                <a14:m>
                  <m:oMath xmlns:m="http://schemas.openxmlformats.org/officeDocument/2006/math">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-axis represents the number of years since 2000.</a:t>
                </a: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730266" y="1240543"/>
                <a:ext cx="11187414" cy="1200329"/>
              </a:xfrm>
              <a:prstGeom prst="rect">
                <a:avLst/>
              </a:prstGeom>
              <a:blipFill>
                <a:blip r:embed="rId5"/>
                <a:stretch>
                  <a:fillRect l="-907" t="-4211" r="-1134" b="-11579"/>
                </a:stretch>
              </a:blipFill>
            </p:spPr>
            <p:txBody>
              <a:bodyPr/>
              <a:lstStyle/>
              <a:p>
                <a:r>
                  <a:rPr lang="en-US">
                    <a:noFill/>
                  </a:rPr>
                  <a:t> </a:t>
                </a:r>
              </a:p>
            </p:txBody>
          </p:sp>
        </mc:Fallback>
      </mc:AlternateContent>
      <p:graphicFrame>
        <p:nvGraphicFramePr>
          <p:cNvPr id="6" name="Table 5">
            <a:extLst>
              <a:ext uri="{FF2B5EF4-FFF2-40B4-BE49-F238E27FC236}">
                <a16:creationId xmlns:a16="http://schemas.microsoft.com/office/drawing/2014/main" id="{F211B376-52A7-7242-A89A-AAB1001C298F}"/>
              </a:ext>
            </a:extLst>
          </p:cNvPr>
          <p:cNvGraphicFramePr>
            <a:graphicFrameLocks noGrp="1"/>
          </p:cNvGraphicFramePr>
          <p:nvPr>
            <p:extLst>
              <p:ext uri="{D42A27DB-BD31-4B8C-83A1-F6EECF244321}">
                <p14:modId xmlns:p14="http://schemas.microsoft.com/office/powerpoint/2010/main" val="1994350092"/>
              </p:ext>
            </p:extLst>
          </p:nvPr>
        </p:nvGraphicFramePr>
        <p:xfrm>
          <a:off x="2607712" y="2967690"/>
          <a:ext cx="6976575" cy="2289656"/>
        </p:xfrm>
        <a:graphic>
          <a:graphicData uri="http://schemas.openxmlformats.org/drawingml/2006/table">
            <a:tbl>
              <a:tblPr bandRow="1">
                <a:tableStyleId>{A91F0D33-8C57-4600-99A7-42BC86742BE1}</a:tableStyleId>
              </a:tblPr>
              <a:tblGrid>
                <a:gridCol w="3405559">
                  <a:extLst>
                    <a:ext uri="{9D8B030D-6E8A-4147-A177-3AD203B41FA5}">
                      <a16:colId xmlns:a16="http://schemas.microsoft.com/office/drawing/2014/main" val="2885709872"/>
                    </a:ext>
                  </a:extLst>
                </a:gridCol>
                <a:gridCol w="3571016">
                  <a:extLst>
                    <a:ext uri="{9D8B030D-6E8A-4147-A177-3AD203B41FA5}">
                      <a16:colId xmlns:a16="http://schemas.microsoft.com/office/drawing/2014/main" val="2048928479"/>
                    </a:ext>
                  </a:extLst>
                </a:gridCol>
              </a:tblGrid>
              <a:tr h="389702">
                <a:tc>
                  <a:txBody>
                    <a:bodyPr/>
                    <a:lstStyle/>
                    <a:p>
                      <a:pPr marL="0" marR="0" algn="ctr">
                        <a:lnSpc>
                          <a:spcPct val="107000"/>
                        </a:lnSpc>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Graph A</a:t>
                      </a:r>
                      <a:endParaRPr lang="en-US" sz="24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Graph B</a:t>
                      </a:r>
                      <a:endParaRPr lang="en-US" sz="24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extLst>
                  <a:ext uri="{0D108BD9-81ED-4DB2-BD59-A6C34878D82A}">
                    <a16:rowId xmlns:a16="http://schemas.microsoft.com/office/drawing/2014/main" val="2444371398"/>
                  </a:ext>
                </a:extLst>
              </a:tr>
              <a:tr h="1899954">
                <a:tc>
                  <a:txBody>
                    <a:bodyPr/>
                    <a:lstStyle/>
                    <a:p>
                      <a:pPr marL="0" marR="0" algn="ctr">
                        <a:lnSpc>
                          <a:spcPct val="107000"/>
                        </a:lnSpc>
                        <a:spcBef>
                          <a:spcPts val="0"/>
                        </a:spcBef>
                        <a:spcAft>
                          <a:spcPts val="0"/>
                        </a:spcAft>
                      </a:pPr>
                      <a:endParaRPr lang="en-US" sz="1800" i="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endParaRPr lang="en-US" sz="1800" i="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3510708156"/>
                  </a:ext>
                </a:extLst>
              </a:tr>
            </a:tbl>
          </a:graphicData>
        </a:graphic>
      </p:graphicFrame>
      <p:pic>
        <p:nvPicPr>
          <p:cNvPr id="21" name="Picture 20">
            <a:extLst>
              <a:ext uri="{FF2B5EF4-FFF2-40B4-BE49-F238E27FC236}">
                <a16:creationId xmlns:a16="http://schemas.microsoft.com/office/drawing/2014/main" id="{3A3918E9-6BD7-3D40-A5C1-6E06EB2AE5CB}"/>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a:stretch/>
        </p:blipFill>
        <p:spPr bwMode="auto">
          <a:xfrm>
            <a:off x="6172416" y="3612458"/>
            <a:ext cx="3182620" cy="1496702"/>
          </a:xfrm>
          <a:prstGeom prst="rect">
            <a:avLst/>
          </a:prstGeom>
          <a:ln>
            <a:noFill/>
          </a:ln>
          <a:extLst>
            <a:ext uri="{53640926-AAD7-44D8-BBD7-CCE9431645EC}">
              <a14:shadowObscured xmlns:a14="http://schemas.microsoft.com/office/drawing/2010/main"/>
            </a:ext>
          </a:extLst>
        </p:spPr>
      </p:pic>
      <p:pic>
        <p:nvPicPr>
          <p:cNvPr id="22" name="Picture 21">
            <a:extLst>
              <a:ext uri="{FF2B5EF4-FFF2-40B4-BE49-F238E27FC236}">
                <a16:creationId xmlns:a16="http://schemas.microsoft.com/office/drawing/2014/main" id="{CB94122E-C679-3B47-9A18-AF174A475C6A}"/>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a:stretch/>
        </p:blipFill>
        <p:spPr bwMode="auto">
          <a:xfrm>
            <a:off x="2760546" y="3526986"/>
            <a:ext cx="3182620" cy="15875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222</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524404" y="551289"/>
                <a:ext cx="11220555" cy="5755422"/>
              </a:xfrm>
              <a:prstGeom prst="rect">
                <a:avLst/>
              </a:prstGeom>
              <a:noFill/>
            </p:spPr>
            <p:txBody>
              <a:bodyPr wrap="square" rtlCol="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do you wonder about the two graphs?</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the two graphs?</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In what years did the team win at least </a:t>
                </a:r>
                <a14:m>
                  <m:oMath xmlns:m="http://schemas.openxmlformats.org/officeDocument/2006/math">
                    <m:r>
                      <a:rPr lang="en-US" sz="2000" i="1">
                        <a:latin typeface="Cambria Math" panose="02040503050406030204" pitchFamily="18"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 games?</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Explain how the scale of the </a:t>
                </a:r>
                <a14:m>
                  <m:oMath xmlns:m="http://schemas.openxmlformats.org/officeDocument/2006/math">
                    <m:r>
                      <a:rPr lang="en-US" sz="2000" i="1">
                        <a:latin typeface="Cambria Math" panose="02040503050406030204" pitchFamily="18" charset="0"/>
                      </a:rPr>
                      <m:t>𝑦</m:t>
                    </m:r>
                  </m:oMath>
                </a14:m>
                <a:r>
                  <a:rPr lang="en-US" sz="2000" dirty="0">
                    <a:latin typeface="Verdana" panose="020B0604030504040204" pitchFamily="34" charset="0"/>
                    <a:ea typeface="Verdana" panose="020B0604030504040204" pitchFamily="34" charset="0"/>
                    <a:cs typeface="Verdana" panose="020B0604030504040204" pitchFamily="34" charset="0"/>
                  </a:rPr>
                  <a:t>-axis impacts the graphs.</a:t>
                </a:r>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dirty="0"/>
                  <a:t> </a:t>
                </a:r>
                <a:endParaRPr lang="en-US" i="1" dirty="0"/>
              </a:p>
              <a:p>
                <a:r>
                  <a:rPr lang="en-US" dirty="0"/>
                  <a:t> </a:t>
                </a:r>
                <a:endParaRPr lang="en-US" i="1" dirty="0"/>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24404" y="551289"/>
                <a:ext cx="11220555" cy="5755422"/>
              </a:xfrm>
              <a:prstGeom prst="rect">
                <a:avLst/>
              </a:prstGeom>
              <a:blipFill>
                <a:blip r:embed="rId4"/>
                <a:stretch>
                  <a:fillRect l="-566" t="-661"/>
                </a:stretch>
              </a:blipFill>
            </p:spPr>
            <p:txBody>
              <a:bodyPr/>
              <a:lstStyle/>
              <a:p>
                <a:r>
                  <a:rPr lang="en-US">
                    <a:noFill/>
                  </a:rPr>
                  <a:t> </a:t>
                </a:r>
              </a:p>
            </p:txBody>
          </p:sp>
        </mc:Fallback>
      </mc:AlternateContent>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29764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222</a:t>
            </a: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1205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06424" y="-9469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5.4.2 Try It: Game Score</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222</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0AB6A3A1-5A0D-C84F-AC89-57E6782F43E5}"/>
                  </a:ext>
                </a:extLst>
              </p:cNvPr>
              <p:cNvSpPr txBox="1"/>
              <p:nvPr/>
            </p:nvSpPr>
            <p:spPr>
              <a:xfrm>
                <a:off x="731520" y="1105994"/>
                <a:ext cx="11115040" cy="70788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 gameboard is shown on the coordinate grid, along with the number of points earned for landing in each area. Each coordinate grid axis is scaled at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0" name="TextBox 9">
                <a:extLst>
                  <a:ext uri="{FF2B5EF4-FFF2-40B4-BE49-F238E27FC236}">
                    <a16:creationId xmlns:a16="http://schemas.microsoft.com/office/drawing/2014/main" id="{0AB6A3A1-5A0D-C84F-AC89-57E6782F43E5}"/>
                  </a:ext>
                </a:extLst>
              </p:cNvPr>
              <p:cNvSpPr txBox="1">
                <a:spLocks noRot="1" noChangeAspect="1" noMove="1" noResize="1" noEditPoints="1" noAdjustHandles="1" noChangeArrowheads="1" noChangeShapeType="1" noTextEdit="1"/>
              </p:cNvSpPr>
              <p:nvPr/>
            </p:nvSpPr>
            <p:spPr>
              <a:xfrm>
                <a:off x="731520" y="1105994"/>
                <a:ext cx="11115040" cy="707886"/>
              </a:xfrm>
              <a:prstGeom prst="rect">
                <a:avLst/>
              </a:prstGeom>
              <a:blipFill>
                <a:blip r:embed="rId5"/>
                <a:stretch>
                  <a:fillRect l="-571" t="-3448" b="-12069"/>
                </a:stretch>
              </a:blipFill>
            </p:spPr>
            <p:txBody>
              <a:bodyPr/>
              <a:lstStyle/>
              <a:p>
                <a:r>
                  <a:rPr lang="en-US">
                    <a:noFill/>
                  </a:rPr>
                  <a:t> </a:t>
                </a:r>
              </a:p>
            </p:txBody>
          </p:sp>
        </mc:Fallback>
      </mc:AlternateContent>
      <p:pic>
        <p:nvPicPr>
          <p:cNvPr id="11" name="image7.png">
            <a:extLst>
              <a:ext uri="{FF2B5EF4-FFF2-40B4-BE49-F238E27FC236}">
                <a16:creationId xmlns:a16="http://schemas.microsoft.com/office/drawing/2014/main" id="{8E513457-FB04-FA4C-B26D-B1CC59088B06}"/>
              </a:ext>
            </a:extLst>
          </p:cNvPr>
          <p:cNvPicPr>
            <a:picLocks noChangeAspect="1"/>
          </p:cNvPicPr>
          <p:nvPr/>
        </p:nvPicPr>
        <p:blipFill>
          <a:blip r:embed="rId6"/>
          <a:srcRect/>
          <a:stretch>
            <a:fillRect/>
          </a:stretch>
        </p:blipFill>
        <p:spPr>
          <a:xfrm>
            <a:off x="4160996" y="2007734"/>
            <a:ext cx="4256087" cy="4256087"/>
          </a:xfrm>
          <a:prstGeom prst="rect">
            <a:avLst/>
          </a:prstGeom>
          <a:ln/>
        </p:spPr>
      </p:pic>
    </p:spTree>
    <p:extLst>
      <p:ext uri="{BB962C8B-B14F-4D97-AF65-F5344CB8AC3E}">
        <p14:creationId xmlns:p14="http://schemas.microsoft.com/office/powerpoint/2010/main" val="3015850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222</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82164" y="540713"/>
            <a:ext cx="11637115" cy="132343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Several points are given in the table. Locate each point on the coordinate grid. Complete the table by writing the score value for landing at each point. Calculate the game score by finding the sum of all the points. Verify your answer with your teacher.</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049674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223</a:t>
            </a:r>
          </a:p>
        </p:txBody>
      </p:sp>
      <mc:AlternateContent xmlns:mc="http://schemas.openxmlformats.org/markup-compatibility/2006">
        <mc:Choice xmlns:a14="http://schemas.microsoft.com/office/drawing/2010/main" Requires="a14">
          <p:graphicFrame>
            <p:nvGraphicFramePr>
              <p:cNvPr id="7" name="Table 6">
                <a:extLst>
                  <a:ext uri="{FF2B5EF4-FFF2-40B4-BE49-F238E27FC236}">
                    <a16:creationId xmlns:a16="http://schemas.microsoft.com/office/drawing/2014/main" id="{900AFE7E-D7F4-D846-9A96-E3DA4D66B513}"/>
                  </a:ext>
                </a:extLst>
              </p:cNvPr>
              <p:cNvGraphicFramePr>
                <a:graphicFrameLocks noGrp="1"/>
              </p:cNvGraphicFramePr>
              <p:nvPr>
                <p:extLst>
                  <p:ext uri="{D42A27DB-BD31-4B8C-83A1-F6EECF244321}">
                    <p14:modId xmlns:p14="http://schemas.microsoft.com/office/powerpoint/2010/main" val="2945074856"/>
                  </p:ext>
                </p:extLst>
              </p:nvPr>
            </p:nvGraphicFramePr>
            <p:xfrm>
              <a:off x="3172594" y="761386"/>
              <a:ext cx="5846811" cy="3907431"/>
            </p:xfrm>
            <a:graphic>
              <a:graphicData uri="http://schemas.openxmlformats.org/drawingml/2006/table">
                <a:tbl>
                  <a:tblPr bandRow="1">
                    <a:tableStyleId>{A91F0D33-8C57-4600-99A7-42BC86742BE1}</a:tableStyleId>
                  </a:tblPr>
                  <a:tblGrid>
                    <a:gridCol w="2963756">
                      <a:extLst>
                        <a:ext uri="{9D8B030D-6E8A-4147-A177-3AD203B41FA5}">
                          <a16:colId xmlns:a16="http://schemas.microsoft.com/office/drawing/2014/main" val="3519570490"/>
                        </a:ext>
                      </a:extLst>
                    </a:gridCol>
                    <a:gridCol w="2883055">
                      <a:extLst>
                        <a:ext uri="{9D8B030D-6E8A-4147-A177-3AD203B41FA5}">
                          <a16:colId xmlns:a16="http://schemas.microsoft.com/office/drawing/2014/main" val="2885819288"/>
                        </a:ext>
                      </a:extLst>
                    </a:gridCol>
                  </a:tblGrid>
                  <a:tr h="290171">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Point</a:t>
                          </a:r>
                          <a:endParaRPr lang="en-US" sz="2000" b="1" i="1">
                            <a:effectLst/>
                            <a:latin typeface="Verdana" panose="020B0604030504040204" pitchFamily="34" charset="0"/>
                            <a:ea typeface="Verdana" panose="020B0604030504040204" pitchFamily="34" charset="0"/>
                            <a:cs typeface="Verdana" panose="020B0604030504040204" pitchFamily="34" charset="0"/>
                          </a:endParaRPr>
                        </a:p>
                      </a:txBody>
                      <a:tcPr marL="63799" marR="63799"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Score Value</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3799" marR="63799" marT="0" marB="0" anchor="ctr">
                        <a:solidFill>
                          <a:schemeClr val="bg1">
                            <a:lumMod val="75000"/>
                          </a:schemeClr>
                        </a:solidFill>
                      </a:tcPr>
                    </a:tc>
                    <a:extLst>
                      <a:ext uri="{0D108BD9-81ED-4DB2-BD59-A6C34878D82A}">
                        <a16:rowId xmlns:a16="http://schemas.microsoft.com/office/drawing/2014/main" val="2295657915"/>
                      </a:ext>
                    </a:extLst>
                  </a:tr>
                  <a:tr h="515741">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−3, 4.9</m:t>
                                    </m:r>
                                  </m:e>
                                </m:d>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799" marR="63799" marT="0" marB="0" anchor="ctr"/>
                    </a:tc>
                    <a:tc>
                      <a:txBody>
                        <a:bodyPr/>
                        <a:lstStyle/>
                        <a:p>
                          <a:pPr marL="0" marR="0" algn="ctr">
                            <a:lnSpc>
                              <a:spcPct val="107000"/>
                            </a:lnSpc>
                            <a:spcBef>
                              <a:spcPts val="0"/>
                            </a:spcBef>
                            <a:spcAft>
                              <a:spcPts val="0"/>
                            </a:spcAft>
                          </a:pPr>
                          <a:r>
                            <a:rPr lang="en-US" sz="1700" u="none" strike="noStrike">
                              <a:effectLst/>
                            </a:rPr>
                            <a:t> </a:t>
                          </a:r>
                          <a:endParaRPr lang="en-US" sz="15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63799" marR="63799" marT="0" marB="0" anchor="ctr"/>
                    </a:tc>
                    <a:extLst>
                      <a:ext uri="{0D108BD9-81ED-4DB2-BD59-A6C34878D82A}">
                        <a16:rowId xmlns:a16="http://schemas.microsoft.com/office/drawing/2014/main" val="1318295944"/>
                      </a:ext>
                    </a:extLst>
                  </a:tr>
                  <a:tr h="515741">
                    <a:tc>
                      <a:txBody>
                        <a:bodyPr/>
                        <a:lstStyle/>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 1</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4</m:t>
                                      </m:r>
                                    </m:den>
                                  </m:f>
                                </m:e>
                              </m:d>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799" marR="63799" marT="0" marB="0" anchor="ctr"/>
                    </a:tc>
                    <a:tc>
                      <a:txBody>
                        <a:bodyPr/>
                        <a:lstStyle/>
                        <a:p>
                          <a:pPr marL="0" marR="0" algn="ctr">
                            <a:lnSpc>
                              <a:spcPct val="107000"/>
                            </a:lnSpc>
                            <a:spcBef>
                              <a:spcPts val="0"/>
                            </a:spcBef>
                            <a:spcAft>
                              <a:spcPts val="0"/>
                            </a:spcAft>
                          </a:pPr>
                          <a:r>
                            <a:rPr lang="en-US" sz="1700" u="none" strike="noStrike" dirty="0">
                              <a:effectLst/>
                            </a:rPr>
                            <a:t> </a:t>
                          </a:r>
                          <a:endParaRPr lang="en-US" sz="1500" i="1" dirty="0">
                            <a:effectLst/>
                            <a:latin typeface="Cambria Math" panose="02040503050406030204" pitchFamily="18" charset="0"/>
                            <a:ea typeface="Times New Roman" panose="02020603050405020304" pitchFamily="18" charset="0"/>
                            <a:cs typeface="Cambria Math" panose="02040503050406030204" pitchFamily="18" charset="0"/>
                          </a:endParaRPr>
                        </a:p>
                      </a:txBody>
                      <a:tcPr marL="63799" marR="63799" marT="0" marB="0" anchor="ctr"/>
                    </a:tc>
                    <a:extLst>
                      <a:ext uri="{0D108BD9-81ED-4DB2-BD59-A6C34878D82A}">
                        <a16:rowId xmlns:a16="http://schemas.microsoft.com/office/drawing/2014/main" val="290213713"/>
                      </a:ext>
                    </a:extLst>
                  </a:tr>
                  <a:tr h="515741">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0, 2.2</m:t>
                                    </m:r>
                                  </m:e>
                                </m:d>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799" marR="63799" marT="0" marB="0" anchor="ctr"/>
                    </a:tc>
                    <a:tc>
                      <a:txBody>
                        <a:bodyPr/>
                        <a:lstStyle/>
                        <a:p>
                          <a:pPr marL="0" marR="0" algn="ctr">
                            <a:lnSpc>
                              <a:spcPct val="107000"/>
                            </a:lnSpc>
                            <a:spcBef>
                              <a:spcPts val="0"/>
                            </a:spcBef>
                            <a:spcAft>
                              <a:spcPts val="0"/>
                            </a:spcAft>
                          </a:pPr>
                          <a:r>
                            <a:rPr lang="en-US" sz="1700" u="none" strike="noStrike">
                              <a:effectLst/>
                            </a:rPr>
                            <a:t> </a:t>
                          </a:r>
                          <a:endParaRPr lang="en-US" sz="15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63799" marR="63799" marT="0" marB="0" anchor="ctr"/>
                    </a:tc>
                    <a:extLst>
                      <a:ext uri="{0D108BD9-81ED-4DB2-BD59-A6C34878D82A}">
                        <a16:rowId xmlns:a16="http://schemas.microsoft.com/office/drawing/2014/main" val="3273976388"/>
                      </a:ext>
                    </a:extLst>
                  </a:tr>
                  <a:tr h="515741">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(−3.8, 4.9)</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799" marR="63799" marT="0" marB="0" anchor="ctr"/>
                    </a:tc>
                    <a:tc>
                      <a:txBody>
                        <a:bodyPr/>
                        <a:lstStyle/>
                        <a:p>
                          <a:pPr marL="0" marR="0" algn="ctr">
                            <a:lnSpc>
                              <a:spcPct val="107000"/>
                            </a:lnSpc>
                            <a:spcBef>
                              <a:spcPts val="0"/>
                            </a:spcBef>
                            <a:spcAft>
                              <a:spcPts val="0"/>
                            </a:spcAft>
                          </a:pPr>
                          <a:r>
                            <a:rPr lang="en-US" sz="1700" u="none" strike="noStrike">
                              <a:effectLst/>
                            </a:rPr>
                            <a:t> </a:t>
                          </a:r>
                          <a:endParaRPr lang="en-US" sz="15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63799" marR="63799" marT="0" marB="0" anchor="ctr"/>
                    </a:tc>
                    <a:extLst>
                      <a:ext uri="{0D108BD9-81ED-4DB2-BD59-A6C34878D82A}">
                        <a16:rowId xmlns:a16="http://schemas.microsoft.com/office/drawing/2014/main" val="1122549584"/>
                      </a:ext>
                    </a:extLst>
                  </a:tr>
                  <a:tr h="515741">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(1.5, 4.4)</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799" marR="63799" marT="0" marB="0" anchor="ctr"/>
                    </a:tc>
                    <a:tc>
                      <a:txBody>
                        <a:bodyPr/>
                        <a:lstStyle/>
                        <a:p>
                          <a:pPr marL="0" marR="0" algn="ctr">
                            <a:lnSpc>
                              <a:spcPct val="107000"/>
                            </a:lnSpc>
                            <a:spcBef>
                              <a:spcPts val="0"/>
                            </a:spcBef>
                            <a:spcAft>
                              <a:spcPts val="0"/>
                            </a:spcAft>
                          </a:pPr>
                          <a:r>
                            <a:rPr lang="en-US" sz="1700" u="none" strike="noStrike" dirty="0">
                              <a:effectLst/>
                            </a:rPr>
                            <a:t> </a:t>
                          </a:r>
                          <a:endParaRPr lang="en-US" sz="1500" i="1" dirty="0">
                            <a:effectLst/>
                            <a:latin typeface="Cambria Math" panose="02040503050406030204" pitchFamily="18" charset="0"/>
                            <a:ea typeface="Times New Roman" panose="02020603050405020304" pitchFamily="18" charset="0"/>
                            <a:cs typeface="Cambria Math" panose="02040503050406030204" pitchFamily="18" charset="0"/>
                          </a:endParaRPr>
                        </a:p>
                      </a:txBody>
                      <a:tcPr marL="63799" marR="63799" marT="0" marB="0" anchor="ctr"/>
                    </a:tc>
                    <a:extLst>
                      <a:ext uri="{0D108BD9-81ED-4DB2-BD59-A6C34878D82A}">
                        <a16:rowId xmlns:a16="http://schemas.microsoft.com/office/drawing/2014/main" val="2438288876"/>
                      </a:ext>
                    </a:extLst>
                  </a:tr>
                  <a:tr h="515741">
                    <a:tc>
                      <a:txBody>
                        <a:bodyPr/>
                        <a:lstStyle/>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−1</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3</m:t>
                                      </m:r>
                                    </m:den>
                                  </m:f>
                                  <m:r>
                                    <a:rPr lang="en-US" sz="2000">
                                      <a:effectLst/>
                                      <a:latin typeface="Cambria Math" panose="02040503050406030204" pitchFamily="18" charset="0"/>
                                      <a:ea typeface="Cambria Math" panose="02040503050406030204" pitchFamily="18" charset="0"/>
                                    </a:rPr>
                                    <m:t>, 2</m:t>
                                  </m:r>
                                </m:e>
                              </m:d>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799" marR="63799" marT="0" marB="0" anchor="ctr"/>
                    </a:tc>
                    <a:tc>
                      <a:txBody>
                        <a:bodyPr/>
                        <a:lstStyle/>
                        <a:p>
                          <a:pPr marL="0" marR="0" algn="ctr">
                            <a:lnSpc>
                              <a:spcPct val="107000"/>
                            </a:lnSpc>
                            <a:spcBef>
                              <a:spcPts val="0"/>
                            </a:spcBef>
                            <a:spcAft>
                              <a:spcPts val="0"/>
                            </a:spcAft>
                          </a:pPr>
                          <a:r>
                            <a:rPr lang="en-US" sz="1700" u="none" strike="noStrike">
                              <a:effectLst/>
                            </a:rPr>
                            <a:t> </a:t>
                          </a:r>
                          <a:endParaRPr lang="en-US" sz="15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63799" marR="63799" marT="0" marB="0" anchor="ctr"/>
                    </a:tc>
                    <a:extLst>
                      <a:ext uri="{0D108BD9-81ED-4DB2-BD59-A6C34878D82A}">
                        <a16:rowId xmlns:a16="http://schemas.microsoft.com/office/drawing/2014/main" val="2590974651"/>
                      </a:ext>
                    </a:extLst>
                  </a:tr>
                  <a:tr h="515741">
                    <a:tc>
                      <a:txBody>
                        <a:bodyPr/>
                        <a:lstStyle/>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5</m:t>
                                      </m:r>
                                    </m:num>
                                    <m:den>
                                      <m:r>
                                        <a:rPr lang="en-US" sz="2000">
                                          <a:effectLst/>
                                          <a:latin typeface="Cambria Math" panose="02040503050406030204" pitchFamily="18" charset="0"/>
                                          <a:ea typeface="Cambria Math" panose="02040503050406030204" pitchFamily="18" charset="0"/>
                                        </a:rPr>
                                        <m:t>4</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11</m:t>
                                      </m:r>
                                    </m:num>
                                    <m:den>
                                      <m:r>
                                        <a:rPr lang="en-US" sz="2000">
                                          <a:effectLst/>
                                          <a:latin typeface="Cambria Math" panose="02040503050406030204" pitchFamily="18" charset="0"/>
                                          <a:ea typeface="Cambria Math" panose="02040503050406030204" pitchFamily="18" charset="0"/>
                                        </a:rPr>
                                        <m:t>2</m:t>
                                      </m:r>
                                    </m:den>
                                  </m:f>
                                </m:e>
                              </m:d>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3799" marR="63799" marT="0" marB="0" anchor="ctr"/>
                    </a:tc>
                    <a:tc>
                      <a:txBody>
                        <a:bodyPr/>
                        <a:lstStyle/>
                        <a:p>
                          <a:pPr marL="0" marR="0" algn="ctr">
                            <a:lnSpc>
                              <a:spcPct val="107000"/>
                            </a:lnSpc>
                            <a:spcBef>
                              <a:spcPts val="0"/>
                            </a:spcBef>
                            <a:spcAft>
                              <a:spcPts val="0"/>
                            </a:spcAft>
                          </a:pPr>
                          <a:r>
                            <a:rPr lang="en-US" sz="1700" u="none" strike="noStrike" dirty="0">
                              <a:effectLst/>
                            </a:rPr>
                            <a:t> </a:t>
                          </a:r>
                          <a:endParaRPr lang="en-US" sz="1500" i="1" dirty="0">
                            <a:effectLst/>
                            <a:latin typeface="Cambria Math" panose="02040503050406030204" pitchFamily="18" charset="0"/>
                            <a:ea typeface="Times New Roman" panose="02020603050405020304" pitchFamily="18" charset="0"/>
                            <a:cs typeface="Cambria Math" panose="02040503050406030204" pitchFamily="18" charset="0"/>
                          </a:endParaRPr>
                        </a:p>
                      </a:txBody>
                      <a:tcPr marL="63799" marR="63799" marT="0" marB="0" anchor="ctr"/>
                    </a:tc>
                    <a:extLst>
                      <a:ext uri="{0D108BD9-81ED-4DB2-BD59-A6C34878D82A}">
                        <a16:rowId xmlns:a16="http://schemas.microsoft.com/office/drawing/2014/main" val="4197072483"/>
                      </a:ext>
                    </a:extLst>
                  </a:tr>
                </a:tbl>
              </a:graphicData>
            </a:graphic>
          </p:graphicFrame>
        </mc:Choice>
        <mc:Fallback>
          <p:graphicFrame>
            <p:nvGraphicFramePr>
              <p:cNvPr id="7" name="Table 6">
                <a:extLst>
                  <a:ext uri="{FF2B5EF4-FFF2-40B4-BE49-F238E27FC236}">
                    <a16:creationId xmlns:a16="http://schemas.microsoft.com/office/drawing/2014/main" id="{900AFE7E-D7F4-D846-9A96-E3DA4D66B513}"/>
                  </a:ext>
                </a:extLst>
              </p:cNvPr>
              <p:cNvGraphicFramePr>
                <a:graphicFrameLocks noGrp="1"/>
              </p:cNvGraphicFramePr>
              <p:nvPr>
                <p:extLst>
                  <p:ext uri="{D42A27DB-BD31-4B8C-83A1-F6EECF244321}">
                    <p14:modId xmlns:p14="http://schemas.microsoft.com/office/powerpoint/2010/main" val="2945074856"/>
                  </p:ext>
                </p:extLst>
              </p:nvPr>
            </p:nvGraphicFramePr>
            <p:xfrm>
              <a:off x="3172594" y="761386"/>
              <a:ext cx="5846811" cy="3907431"/>
            </p:xfrm>
            <a:graphic>
              <a:graphicData uri="http://schemas.openxmlformats.org/drawingml/2006/table">
                <a:tbl>
                  <a:tblPr bandRow="1">
                    <a:tableStyleId>{A91F0D33-8C57-4600-99A7-42BC86742BE1}</a:tableStyleId>
                  </a:tblPr>
                  <a:tblGrid>
                    <a:gridCol w="2963756">
                      <a:extLst>
                        <a:ext uri="{9D8B030D-6E8A-4147-A177-3AD203B41FA5}">
                          <a16:colId xmlns:a16="http://schemas.microsoft.com/office/drawing/2014/main" val="3519570490"/>
                        </a:ext>
                      </a:extLst>
                    </a:gridCol>
                    <a:gridCol w="2883055">
                      <a:extLst>
                        <a:ext uri="{9D8B030D-6E8A-4147-A177-3AD203B41FA5}">
                          <a16:colId xmlns:a16="http://schemas.microsoft.com/office/drawing/2014/main" val="2885819288"/>
                        </a:ext>
                      </a:extLst>
                    </a:gridCol>
                  </a:tblGrid>
                  <a:tr h="297244">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Point</a:t>
                          </a:r>
                          <a:endParaRPr lang="en-US" sz="2000" b="1" i="1">
                            <a:effectLst/>
                            <a:latin typeface="Verdana" panose="020B0604030504040204" pitchFamily="34" charset="0"/>
                            <a:ea typeface="Verdana" panose="020B0604030504040204" pitchFamily="34" charset="0"/>
                            <a:cs typeface="Verdana" panose="020B0604030504040204" pitchFamily="34" charset="0"/>
                          </a:endParaRPr>
                        </a:p>
                      </a:txBody>
                      <a:tcPr marL="63799" marR="63799"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Score Value</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3799" marR="63799" marT="0" marB="0" anchor="ctr">
                        <a:solidFill>
                          <a:schemeClr val="bg1">
                            <a:lumMod val="75000"/>
                          </a:schemeClr>
                        </a:solidFill>
                      </a:tcPr>
                    </a:tc>
                    <a:extLst>
                      <a:ext uri="{0D108BD9-81ED-4DB2-BD59-A6C34878D82A}">
                        <a16:rowId xmlns:a16="http://schemas.microsoft.com/office/drawing/2014/main" val="2295657915"/>
                      </a:ext>
                    </a:extLst>
                  </a:tr>
                  <a:tr h="515741">
                    <a:tc>
                      <a:txBody>
                        <a:bodyPr/>
                        <a:lstStyle/>
                        <a:p>
                          <a:endParaRPr lang="en-US"/>
                        </a:p>
                      </a:txBody>
                      <a:tcPr marL="63799" marR="63799" marT="0" marB="0" anchor="ctr">
                        <a:blipFill>
                          <a:blip r:embed="rId4"/>
                          <a:stretch>
                            <a:fillRect t="-77500" r="-97863" b="-622500"/>
                          </a:stretch>
                        </a:blipFill>
                      </a:tcPr>
                    </a:tc>
                    <a:tc>
                      <a:txBody>
                        <a:bodyPr/>
                        <a:lstStyle/>
                        <a:p>
                          <a:pPr marL="0" marR="0" algn="ctr">
                            <a:lnSpc>
                              <a:spcPct val="107000"/>
                            </a:lnSpc>
                            <a:spcBef>
                              <a:spcPts val="0"/>
                            </a:spcBef>
                            <a:spcAft>
                              <a:spcPts val="0"/>
                            </a:spcAft>
                          </a:pPr>
                          <a:r>
                            <a:rPr lang="en-US" sz="1700" u="none" strike="noStrike">
                              <a:effectLst/>
                            </a:rPr>
                            <a:t> </a:t>
                          </a:r>
                          <a:endParaRPr lang="en-US" sz="15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63799" marR="63799" marT="0" marB="0" anchor="ctr"/>
                    </a:tc>
                    <a:extLst>
                      <a:ext uri="{0D108BD9-81ED-4DB2-BD59-A6C34878D82A}">
                        <a16:rowId xmlns:a16="http://schemas.microsoft.com/office/drawing/2014/main" val="1318295944"/>
                      </a:ext>
                    </a:extLst>
                  </a:tr>
                  <a:tr h="515741">
                    <a:tc>
                      <a:txBody>
                        <a:bodyPr/>
                        <a:lstStyle/>
                        <a:p>
                          <a:endParaRPr lang="en-US"/>
                        </a:p>
                      </a:txBody>
                      <a:tcPr marL="63799" marR="63799" marT="0" marB="0" anchor="ctr">
                        <a:blipFill>
                          <a:blip r:embed="rId4"/>
                          <a:stretch>
                            <a:fillRect t="-173171" r="-97863" b="-507317"/>
                          </a:stretch>
                        </a:blipFill>
                      </a:tcPr>
                    </a:tc>
                    <a:tc>
                      <a:txBody>
                        <a:bodyPr/>
                        <a:lstStyle/>
                        <a:p>
                          <a:pPr marL="0" marR="0" algn="ctr">
                            <a:lnSpc>
                              <a:spcPct val="107000"/>
                            </a:lnSpc>
                            <a:spcBef>
                              <a:spcPts val="0"/>
                            </a:spcBef>
                            <a:spcAft>
                              <a:spcPts val="0"/>
                            </a:spcAft>
                          </a:pPr>
                          <a:r>
                            <a:rPr lang="en-US" sz="1700" u="none" strike="noStrike" dirty="0">
                              <a:effectLst/>
                            </a:rPr>
                            <a:t> </a:t>
                          </a:r>
                          <a:endParaRPr lang="en-US" sz="1500" i="1" dirty="0">
                            <a:effectLst/>
                            <a:latin typeface="Cambria Math" panose="02040503050406030204" pitchFamily="18" charset="0"/>
                            <a:ea typeface="Times New Roman" panose="02020603050405020304" pitchFamily="18" charset="0"/>
                            <a:cs typeface="Cambria Math" panose="02040503050406030204" pitchFamily="18" charset="0"/>
                          </a:endParaRPr>
                        </a:p>
                      </a:txBody>
                      <a:tcPr marL="63799" marR="63799" marT="0" marB="0" anchor="ctr"/>
                    </a:tc>
                    <a:extLst>
                      <a:ext uri="{0D108BD9-81ED-4DB2-BD59-A6C34878D82A}">
                        <a16:rowId xmlns:a16="http://schemas.microsoft.com/office/drawing/2014/main" val="290213713"/>
                      </a:ext>
                    </a:extLst>
                  </a:tr>
                  <a:tr h="515741">
                    <a:tc>
                      <a:txBody>
                        <a:bodyPr/>
                        <a:lstStyle/>
                        <a:p>
                          <a:endParaRPr lang="en-US"/>
                        </a:p>
                      </a:txBody>
                      <a:tcPr marL="63799" marR="63799" marT="0" marB="0" anchor="ctr">
                        <a:blipFill>
                          <a:blip r:embed="rId4"/>
                          <a:stretch>
                            <a:fillRect t="-273171" r="-97863" b="-407317"/>
                          </a:stretch>
                        </a:blipFill>
                      </a:tcPr>
                    </a:tc>
                    <a:tc>
                      <a:txBody>
                        <a:bodyPr/>
                        <a:lstStyle/>
                        <a:p>
                          <a:pPr marL="0" marR="0" algn="ctr">
                            <a:lnSpc>
                              <a:spcPct val="107000"/>
                            </a:lnSpc>
                            <a:spcBef>
                              <a:spcPts val="0"/>
                            </a:spcBef>
                            <a:spcAft>
                              <a:spcPts val="0"/>
                            </a:spcAft>
                          </a:pPr>
                          <a:r>
                            <a:rPr lang="en-US" sz="1700" u="none" strike="noStrike">
                              <a:effectLst/>
                            </a:rPr>
                            <a:t> </a:t>
                          </a:r>
                          <a:endParaRPr lang="en-US" sz="15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63799" marR="63799" marT="0" marB="0" anchor="ctr"/>
                    </a:tc>
                    <a:extLst>
                      <a:ext uri="{0D108BD9-81ED-4DB2-BD59-A6C34878D82A}">
                        <a16:rowId xmlns:a16="http://schemas.microsoft.com/office/drawing/2014/main" val="3273976388"/>
                      </a:ext>
                    </a:extLst>
                  </a:tr>
                  <a:tr h="515741">
                    <a:tc>
                      <a:txBody>
                        <a:bodyPr/>
                        <a:lstStyle/>
                        <a:p>
                          <a:endParaRPr lang="en-US"/>
                        </a:p>
                      </a:txBody>
                      <a:tcPr marL="63799" marR="63799" marT="0" marB="0" anchor="ctr">
                        <a:blipFill>
                          <a:blip r:embed="rId4"/>
                          <a:stretch>
                            <a:fillRect t="-373171" r="-97863" b="-307317"/>
                          </a:stretch>
                        </a:blipFill>
                      </a:tcPr>
                    </a:tc>
                    <a:tc>
                      <a:txBody>
                        <a:bodyPr/>
                        <a:lstStyle/>
                        <a:p>
                          <a:pPr marL="0" marR="0" algn="ctr">
                            <a:lnSpc>
                              <a:spcPct val="107000"/>
                            </a:lnSpc>
                            <a:spcBef>
                              <a:spcPts val="0"/>
                            </a:spcBef>
                            <a:spcAft>
                              <a:spcPts val="0"/>
                            </a:spcAft>
                          </a:pPr>
                          <a:r>
                            <a:rPr lang="en-US" sz="1700" u="none" strike="noStrike">
                              <a:effectLst/>
                            </a:rPr>
                            <a:t> </a:t>
                          </a:r>
                          <a:endParaRPr lang="en-US" sz="15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63799" marR="63799" marT="0" marB="0" anchor="ctr"/>
                    </a:tc>
                    <a:extLst>
                      <a:ext uri="{0D108BD9-81ED-4DB2-BD59-A6C34878D82A}">
                        <a16:rowId xmlns:a16="http://schemas.microsoft.com/office/drawing/2014/main" val="1122549584"/>
                      </a:ext>
                    </a:extLst>
                  </a:tr>
                  <a:tr h="515741">
                    <a:tc>
                      <a:txBody>
                        <a:bodyPr/>
                        <a:lstStyle/>
                        <a:p>
                          <a:endParaRPr lang="en-US"/>
                        </a:p>
                      </a:txBody>
                      <a:tcPr marL="63799" marR="63799" marT="0" marB="0" anchor="ctr">
                        <a:blipFill>
                          <a:blip r:embed="rId4"/>
                          <a:stretch>
                            <a:fillRect t="-485000" r="-97863" b="-215000"/>
                          </a:stretch>
                        </a:blipFill>
                      </a:tcPr>
                    </a:tc>
                    <a:tc>
                      <a:txBody>
                        <a:bodyPr/>
                        <a:lstStyle/>
                        <a:p>
                          <a:pPr marL="0" marR="0" algn="ctr">
                            <a:lnSpc>
                              <a:spcPct val="107000"/>
                            </a:lnSpc>
                            <a:spcBef>
                              <a:spcPts val="0"/>
                            </a:spcBef>
                            <a:spcAft>
                              <a:spcPts val="0"/>
                            </a:spcAft>
                          </a:pPr>
                          <a:r>
                            <a:rPr lang="en-US" sz="1700" u="none" strike="noStrike" dirty="0">
                              <a:effectLst/>
                            </a:rPr>
                            <a:t> </a:t>
                          </a:r>
                          <a:endParaRPr lang="en-US" sz="1500" i="1" dirty="0">
                            <a:effectLst/>
                            <a:latin typeface="Cambria Math" panose="02040503050406030204" pitchFamily="18" charset="0"/>
                            <a:ea typeface="Times New Roman" panose="02020603050405020304" pitchFamily="18" charset="0"/>
                            <a:cs typeface="Cambria Math" panose="02040503050406030204" pitchFamily="18" charset="0"/>
                          </a:endParaRPr>
                        </a:p>
                      </a:txBody>
                      <a:tcPr marL="63799" marR="63799" marT="0" marB="0" anchor="ctr"/>
                    </a:tc>
                    <a:extLst>
                      <a:ext uri="{0D108BD9-81ED-4DB2-BD59-A6C34878D82A}">
                        <a16:rowId xmlns:a16="http://schemas.microsoft.com/office/drawing/2014/main" val="2438288876"/>
                      </a:ext>
                    </a:extLst>
                  </a:tr>
                  <a:tr h="515741">
                    <a:tc>
                      <a:txBody>
                        <a:bodyPr/>
                        <a:lstStyle/>
                        <a:p>
                          <a:endParaRPr lang="en-US"/>
                        </a:p>
                      </a:txBody>
                      <a:tcPr marL="63799" marR="63799" marT="0" marB="0" anchor="ctr">
                        <a:blipFill>
                          <a:blip r:embed="rId4"/>
                          <a:stretch>
                            <a:fillRect t="-570732" r="-97863" b="-109756"/>
                          </a:stretch>
                        </a:blipFill>
                      </a:tcPr>
                    </a:tc>
                    <a:tc>
                      <a:txBody>
                        <a:bodyPr/>
                        <a:lstStyle/>
                        <a:p>
                          <a:pPr marL="0" marR="0" algn="ctr">
                            <a:lnSpc>
                              <a:spcPct val="107000"/>
                            </a:lnSpc>
                            <a:spcBef>
                              <a:spcPts val="0"/>
                            </a:spcBef>
                            <a:spcAft>
                              <a:spcPts val="0"/>
                            </a:spcAft>
                          </a:pPr>
                          <a:r>
                            <a:rPr lang="en-US" sz="1700" u="none" strike="noStrike">
                              <a:effectLst/>
                            </a:rPr>
                            <a:t> </a:t>
                          </a:r>
                          <a:endParaRPr lang="en-US" sz="15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63799" marR="63799" marT="0" marB="0" anchor="ctr"/>
                    </a:tc>
                    <a:extLst>
                      <a:ext uri="{0D108BD9-81ED-4DB2-BD59-A6C34878D82A}">
                        <a16:rowId xmlns:a16="http://schemas.microsoft.com/office/drawing/2014/main" val="2590974651"/>
                      </a:ext>
                    </a:extLst>
                  </a:tr>
                  <a:tr h="515741">
                    <a:tc>
                      <a:txBody>
                        <a:bodyPr/>
                        <a:lstStyle/>
                        <a:p>
                          <a:endParaRPr lang="en-US"/>
                        </a:p>
                      </a:txBody>
                      <a:tcPr marL="63799" marR="63799" marT="0" marB="0" anchor="ctr">
                        <a:blipFill>
                          <a:blip r:embed="rId4"/>
                          <a:stretch>
                            <a:fillRect t="-670732" r="-97863" b="-9756"/>
                          </a:stretch>
                        </a:blipFill>
                      </a:tcPr>
                    </a:tc>
                    <a:tc>
                      <a:txBody>
                        <a:bodyPr/>
                        <a:lstStyle/>
                        <a:p>
                          <a:pPr marL="0" marR="0" algn="ctr">
                            <a:lnSpc>
                              <a:spcPct val="107000"/>
                            </a:lnSpc>
                            <a:spcBef>
                              <a:spcPts val="0"/>
                            </a:spcBef>
                            <a:spcAft>
                              <a:spcPts val="0"/>
                            </a:spcAft>
                          </a:pPr>
                          <a:r>
                            <a:rPr lang="en-US" sz="1700" u="none" strike="noStrike" dirty="0">
                              <a:effectLst/>
                            </a:rPr>
                            <a:t> </a:t>
                          </a:r>
                          <a:endParaRPr lang="en-US" sz="1500" i="1" dirty="0">
                            <a:effectLst/>
                            <a:latin typeface="Cambria Math" panose="02040503050406030204" pitchFamily="18" charset="0"/>
                            <a:ea typeface="Times New Roman" panose="02020603050405020304" pitchFamily="18" charset="0"/>
                            <a:cs typeface="Cambria Math" panose="02040503050406030204" pitchFamily="18" charset="0"/>
                          </a:endParaRPr>
                        </a:p>
                      </a:txBody>
                      <a:tcPr marL="63799" marR="63799" marT="0" marB="0" anchor="ctr"/>
                    </a:tc>
                    <a:extLst>
                      <a:ext uri="{0D108BD9-81ED-4DB2-BD59-A6C34878D82A}">
                        <a16:rowId xmlns:a16="http://schemas.microsoft.com/office/drawing/2014/main" val="4197072483"/>
                      </a:ext>
                    </a:extLst>
                  </a:tr>
                </a:tbl>
              </a:graphicData>
            </a:graphic>
          </p:graphicFrame>
        </mc:Fallback>
      </mc:AlternateContent>
      <p:sp>
        <p:nvSpPr>
          <p:cNvPr id="9" name="TextBox 8">
            <a:extLst>
              <a:ext uri="{FF2B5EF4-FFF2-40B4-BE49-F238E27FC236}">
                <a16:creationId xmlns:a16="http://schemas.microsoft.com/office/drawing/2014/main" id="{193899B2-CEA9-8B4A-A8CB-60E56364D76B}"/>
              </a:ext>
            </a:extLst>
          </p:cNvPr>
          <p:cNvSpPr txBox="1"/>
          <p:nvPr/>
        </p:nvSpPr>
        <p:spPr>
          <a:xfrm>
            <a:off x="3247927" y="4865752"/>
            <a:ext cx="4644188" cy="404534"/>
          </a:xfrm>
          <a:prstGeom prst="rect">
            <a:avLst/>
          </a:prstGeom>
          <a:noFill/>
        </p:spPr>
        <p:txBody>
          <a:bodyPr wrap="square">
            <a:spAutoFit/>
          </a:bodyPr>
          <a:lstStyle/>
          <a:p>
            <a:pPr indent="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Game Score: ____________</a:t>
            </a:r>
            <a:endParaRPr lang="en-US" sz="2000" i="1" dirty="0">
              <a:latin typeface="Cambria Math" panose="02040503050406030204" pitchFamily="18" charset="0"/>
              <a:ea typeface="Times New Roman" panose="02020603050405020304" pitchFamily="18" charset="0"/>
              <a:cs typeface="Cambria Math" panose="02040503050406030204" pitchFamily="18" charset="0"/>
            </a:endParaRPr>
          </a:p>
        </p:txBody>
      </p:sp>
    </p:spTree>
    <p:extLst>
      <p:ext uri="{BB962C8B-B14F-4D97-AF65-F5344CB8AC3E}">
        <p14:creationId xmlns:p14="http://schemas.microsoft.com/office/powerpoint/2010/main" val="3543787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06240" y="2766150"/>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223</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28438" y="-8677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5.4.3 Collaboration: Hit or Miss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223</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731520" y="1133933"/>
            <a:ext cx="11226800" cy="163121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There are six shapes on the coordinate grid shown. Each partner will select one shape as their game piece. The object of the game is to guess which shape your partner selected before they guess yours. A hit means the point you guessed is inside their shape. A miss means that it is not. Keep your gameboard hidden from your partner during the game.</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descr="A picture containing chart&#10;&#10;Description automatically generated">
            <a:extLst>
              <a:ext uri="{FF2B5EF4-FFF2-40B4-BE49-F238E27FC236}">
                <a16:creationId xmlns:a16="http://schemas.microsoft.com/office/drawing/2014/main" id="{0DAC88ED-4FB6-A041-86A9-292A76D9DB37}"/>
              </a:ext>
            </a:extLst>
          </p:cNvPr>
          <p:cNvPicPr>
            <a:picLocks noChangeAspect="1"/>
          </p:cNvPicPr>
          <p:nvPr/>
        </p:nvPicPr>
        <p:blipFill>
          <a:blip r:embed="rId5"/>
          <a:stretch>
            <a:fillRect/>
          </a:stretch>
        </p:blipFill>
        <p:spPr>
          <a:xfrm>
            <a:off x="1857099" y="2884380"/>
            <a:ext cx="3516313" cy="3478584"/>
          </a:xfrm>
          <a:prstGeom prst="rect">
            <a:avLst/>
          </a:prstGeom>
        </p:spPr>
      </p:pic>
      <p:sp>
        <p:nvSpPr>
          <p:cNvPr id="16" name="TextBox 15">
            <a:extLst>
              <a:ext uri="{FF2B5EF4-FFF2-40B4-BE49-F238E27FC236}">
                <a16:creationId xmlns:a16="http://schemas.microsoft.com/office/drawing/2014/main" id="{CAA5C1B9-F259-934C-885A-4BF81AFA26D8}"/>
              </a:ext>
            </a:extLst>
          </p:cNvPr>
          <p:cNvSpPr txBox="1"/>
          <p:nvPr/>
        </p:nvSpPr>
        <p:spPr>
          <a:xfrm>
            <a:off x="5698607" y="3889817"/>
            <a:ext cx="4636294" cy="733855"/>
          </a:xfrm>
          <a:prstGeom prst="rect">
            <a:avLst/>
          </a:prstGeom>
          <a:noFill/>
        </p:spPr>
        <p:txBody>
          <a:bodyPr wrap="square">
            <a:spAutoFit/>
          </a:bodyPr>
          <a:lstStyle/>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shape of the region I am picking is a ______________.</a:t>
            </a:r>
            <a:endParaRPr lang="en-US" sz="2000" i="1" dirty="0">
              <a:latin typeface="Cambria Math" panose="02040503050406030204" pitchFamily="18" charset="0"/>
              <a:ea typeface="Times New Roman" panose="02020603050405020304" pitchFamily="18" charset="0"/>
              <a:cs typeface="Cambria Math" panose="02040503050406030204" pitchFamily="18" charset="0"/>
            </a:endParaRPr>
          </a:p>
        </p:txBody>
      </p:sp>
    </p:spTree>
    <p:extLst>
      <p:ext uri="{BB962C8B-B14F-4D97-AF65-F5344CB8AC3E}">
        <p14:creationId xmlns:p14="http://schemas.microsoft.com/office/powerpoint/2010/main" val="1674437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75204" y="520394"/>
            <a:ext cx="11271355" cy="70788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Record the coordinates of each guess in the table below.  Then, plot the point on the coordinate grid gameboard.</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9DD85839-90A4-FE42-9AD6-AFAC41F358AD}"/>
                  </a:ext>
                </a:extLst>
              </p:cNvPr>
              <p:cNvGraphicFramePr>
                <a:graphicFrameLocks noGrp="1"/>
              </p:cNvGraphicFramePr>
              <p:nvPr>
                <p:extLst>
                  <p:ext uri="{D42A27DB-BD31-4B8C-83A1-F6EECF244321}">
                    <p14:modId xmlns:p14="http://schemas.microsoft.com/office/powerpoint/2010/main" val="1166470143"/>
                  </p:ext>
                </p:extLst>
              </p:nvPr>
            </p:nvGraphicFramePr>
            <p:xfrm>
              <a:off x="2426550" y="1604672"/>
              <a:ext cx="7338899" cy="4476611"/>
            </p:xfrm>
            <a:graphic>
              <a:graphicData uri="http://schemas.openxmlformats.org/drawingml/2006/table">
                <a:tbl>
                  <a:tblPr bandRow="1">
                    <a:tableStyleId>{A91F0D33-8C57-4600-99A7-42BC86742BE1}</a:tableStyleId>
                  </a:tblPr>
                  <a:tblGrid>
                    <a:gridCol w="1847636">
                      <a:extLst>
                        <a:ext uri="{9D8B030D-6E8A-4147-A177-3AD203B41FA5}">
                          <a16:colId xmlns:a16="http://schemas.microsoft.com/office/drawing/2014/main" val="1824722560"/>
                        </a:ext>
                      </a:extLst>
                    </a:gridCol>
                    <a:gridCol w="1847636">
                      <a:extLst>
                        <a:ext uri="{9D8B030D-6E8A-4147-A177-3AD203B41FA5}">
                          <a16:colId xmlns:a16="http://schemas.microsoft.com/office/drawing/2014/main" val="1920838072"/>
                        </a:ext>
                      </a:extLst>
                    </a:gridCol>
                    <a:gridCol w="1848315">
                      <a:extLst>
                        <a:ext uri="{9D8B030D-6E8A-4147-A177-3AD203B41FA5}">
                          <a16:colId xmlns:a16="http://schemas.microsoft.com/office/drawing/2014/main" val="4065871147"/>
                        </a:ext>
                      </a:extLst>
                    </a:gridCol>
                    <a:gridCol w="1795312">
                      <a:extLst>
                        <a:ext uri="{9D8B030D-6E8A-4147-A177-3AD203B41FA5}">
                          <a16:colId xmlns:a16="http://schemas.microsoft.com/office/drawing/2014/main" val="1061575462"/>
                        </a:ext>
                      </a:extLst>
                    </a:gridCol>
                  </a:tblGrid>
                  <a:tr h="498106">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a:t>
                          </a:r>
                          <a14:m>
                            <m:oMath xmlns:m="http://schemas.openxmlformats.org/officeDocument/2006/math">
                              <m:r>
                                <a:rPr lang="en-US" sz="2000" b="1" smtClean="0">
                                  <a:effectLst/>
                                  <a:latin typeface="Cambria Math" panose="02040503050406030204" pitchFamily="18" charset="0"/>
                                </a:rPr>
                                <m:t>𝟏</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 Guess</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47861" marR="47861"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Was it a hit or miss?</a:t>
                          </a:r>
                          <a:endParaRPr lang="en-US" sz="2000" b="1" i="1">
                            <a:effectLst/>
                            <a:latin typeface="Verdana" panose="020B0604030504040204" pitchFamily="34" charset="0"/>
                            <a:ea typeface="Verdana" panose="020B0604030504040204" pitchFamily="34" charset="0"/>
                            <a:cs typeface="Verdana" panose="020B0604030504040204" pitchFamily="34" charset="0"/>
                          </a:endParaRPr>
                        </a:p>
                      </a:txBody>
                      <a:tcPr marL="47861" marR="47861"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Partner 2 Guess</a:t>
                          </a:r>
                          <a:endParaRPr lang="en-US" sz="2000" b="1" i="1">
                            <a:effectLst/>
                            <a:latin typeface="Verdana" panose="020B0604030504040204" pitchFamily="34" charset="0"/>
                            <a:ea typeface="Verdana" panose="020B0604030504040204" pitchFamily="34" charset="0"/>
                            <a:cs typeface="Verdana" panose="020B0604030504040204" pitchFamily="34" charset="0"/>
                          </a:endParaRPr>
                        </a:p>
                      </a:txBody>
                      <a:tcPr marL="47861" marR="47861"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Was it a hit or miss?</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47861" marR="47861" marT="0" marB="0" anchor="ctr">
                        <a:solidFill>
                          <a:schemeClr val="bg1">
                            <a:lumMod val="75000"/>
                          </a:schemeClr>
                        </a:solidFill>
                      </a:tcPr>
                    </a:tc>
                    <a:extLst>
                      <a:ext uri="{0D108BD9-81ED-4DB2-BD59-A6C34878D82A}">
                        <a16:rowId xmlns:a16="http://schemas.microsoft.com/office/drawing/2014/main" val="908454875"/>
                      </a:ext>
                    </a:extLst>
                  </a:tr>
                  <a:tr h="552614">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dirty="0">
                              <a:effectLst/>
                            </a:rPr>
                            <a:t> </a:t>
                          </a:r>
                          <a:endParaRPr lang="en-US" sz="1100" i="1" dirty="0">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extLst>
                      <a:ext uri="{0D108BD9-81ED-4DB2-BD59-A6C34878D82A}">
                        <a16:rowId xmlns:a16="http://schemas.microsoft.com/office/drawing/2014/main" val="2511957504"/>
                      </a:ext>
                    </a:extLst>
                  </a:tr>
                  <a:tr h="552614">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extLst>
                      <a:ext uri="{0D108BD9-81ED-4DB2-BD59-A6C34878D82A}">
                        <a16:rowId xmlns:a16="http://schemas.microsoft.com/office/drawing/2014/main" val="1247135646"/>
                      </a:ext>
                    </a:extLst>
                  </a:tr>
                  <a:tr h="552614">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extLst>
                      <a:ext uri="{0D108BD9-81ED-4DB2-BD59-A6C34878D82A}">
                        <a16:rowId xmlns:a16="http://schemas.microsoft.com/office/drawing/2014/main" val="1445181684"/>
                      </a:ext>
                    </a:extLst>
                  </a:tr>
                  <a:tr h="552614">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extLst>
                      <a:ext uri="{0D108BD9-81ED-4DB2-BD59-A6C34878D82A}">
                        <a16:rowId xmlns:a16="http://schemas.microsoft.com/office/drawing/2014/main" val="3157232491"/>
                      </a:ext>
                    </a:extLst>
                  </a:tr>
                  <a:tr h="537547">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extLst>
                      <a:ext uri="{0D108BD9-81ED-4DB2-BD59-A6C34878D82A}">
                        <a16:rowId xmlns:a16="http://schemas.microsoft.com/office/drawing/2014/main" val="2733891740"/>
                      </a:ext>
                    </a:extLst>
                  </a:tr>
                  <a:tr h="552614">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extLst>
                      <a:ext uri="{0D108BD9-81ED-4DB2-BD59-A6C34878D82A}">
                        <a16:rowId xmlns:a16="http://schemas.microsoft.com/office/drawing/2014/main" val="1393530176"/>
                      </a:ext>
                    </a:extLst>
                  </a:tr>
                  <a:tr h="552614">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dirty="0">
                              <a:effectLst/>
                            </a:rPr>
                            <a:t> </a:t>
                          </a:r>
                          <a:endParaRPr lang="en-US" sz="1100" i="1" dirty="0">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extLst>
                      <a:ext uri="{0D108BD9-81ED-4DB2-BD59-A6C34878D82A}">
                        <a16:rowId xmlns:a16="http://schemas.microsoft.com/office/drawing/2014/main" val="1000157126"/>
                      </a:ext>
                    </a:extLst>
                  </a:tr>
                </a:tbl>
              </a:graphicData>
            </a:graphic>
          </p:graphicFrame>
        </mc:Choice>
        <mc:Fallback>
          <p:graphicFrame>
            <p:nvGraphicFramePr>
              <p:cNvPr id="2" name="Table 1">
                <a:extLst>
                  <a:ext uri="{FF2B5EF4-FFF2-40B4-BE49-F238E27FC236}">
                    <a16:creationId xmlns:a16="http://schemas.microsoft.com/office/drawing/2014/main" id="{9DD85839-90A4-FE42-9AD6-AFAC41F358AD}"/>
                  </a:ext>
                </a:extLst>
              </p:cNvPr>
              <p:cNvGraphicFramePr>
                <a:graphicFrameLocks noGrp="1"/>
              </p:cNvGraphicFramePr>
              <p:nvPr>
                <p:extLst>
                  <p:ext uri="{D42A27DB-BD31-4B8C-83A1-F6EECF244321}">
                    <p14:modId xmlns:p14="http://schemas.microsoft.com/office/powerpoint/2010/main" val="1166470143"/>
                  </p:ext>
                </p:extLst>
              </p:nvPr>
            </p:nvGraphicFramePr>
            <p:xfrm>
              <a:off x="2426550" y="1604672"/>
              <a:ext cx="7338899" cy="4476611"/>
            </p:xfrm>
            <a:graphic>
              <a:graphicData uri="http://schemas.openxmlformats.org/drawingml/2006/table">
                <a:tbl>
                  <a:tblPr bandRow="1">
                    <a:tableStyleId>{A91F0D33-8C57-4600-99A7-42BC86742BE1}</a:tableStyleId>
                  </a:tblPr>
                  <a:tblGrid>
                    <a:gridCol w="1847636">
                      <a:extLst>
                        <a:ext uri="{9D8B030D-6E8A-4147-A177-3AD203B41FA5}">
                          <a16:colId xmlns:a16="http://schemas.microsoft.com/office/drawing/2014/main" val="1824722560"/>
                        </a:ext>
                      </a:extLst>
                    </a:gridCol>
                    <a:gridCol w="1847636">
                      <a:extLst>
                        <a:ext uri="{9D8B030D-6E8A-4147-A177-3AD203B41FA5}">
                          <a16:colId xmlns:a16="http://schemas.microsoft.com/office/drawing/2014/main" val="1920838072"/>
                        </a:ext>
                      </a:extLst>
                    </a:gridCol>
                    <a:gridCol w="1848315">
                      <a:extLst>
                        <a:ext uri="{9D8B030D-6E8A-4147-A177-3AD203B41FA5}">
                          <a16:colId xmlns:a16="http://schemas.microsoft.com/office/drawing/2014/main" val="4065871147"/>
                        </a:ext>
                      </a:extLst>
                    </a:gridCol>
                    <a:gridCol w="1795312">
                      <a:extLst>
                        <a:ext uri="{9D8B030D-6E8A-4147-A177-3AD203B41FA5}">
                          <a16:colId xmlns:a16="http://schemas.microsoft.com/office/drawing/2014/main" val="1061575462"/>
                        </a:ext>
                      </a:extLst>
                    </a:gridCol>
                  </a:tblGrid>
                  <a:tr h="623380">
                    <a:tc>
                      <a:txBody>
                        <a:bodyPr/>
                        <a:lstStyle/>
                        <a:p>
                          <a:endParaRPr lang="en-US"/>
                        </a:p>
                      </a:txBody>
                      <a:tcPr marL="47861" marR="47861" marT="0" marB="0" anchor="ctr">
                        <a:blipFill>
                          <a:blip r:embed="rId4"/>
                          <a:stretch>
                            <a:fillRect l="-685" t="-14286" r="-296575" b="-624490"/>
                          </a:stretch>
                        </a:blipFill>
                      </a:tcPr>
                    </a:tc>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Was it a hit or miss?</a:t>
                          </a:r>
                          <a:endParaRPr lang="en-US" sz="2000" b="1" i="1">
                            <a:effectLst/>
                            <a:latin typeface="Verdana" panose="020B0604030504040204" pitchFamily="34" charset="0"/>
                            <a:ea typeface="Verdana" panose="020B0604030504040204" pitchFamily="34" charset="0"/>
                            <a:cs typeface="Verdana" panose="020B0604030504040204" pitchFamily="34" charset="0"/>
                          </a:endParaRPr>
                        </a:p>
                      </a:txBody>
                      <a:tcPr marL="47861" marR="47861"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Partner 2 Guess</a:t>
                          </a:r>
                          <a:endParaRPr lang="en-US" sz="2000" b="1" i="1">
                            <a:effectLst/>
                            <a:latin typeface="Verdana" panose="020B0604030504040204" pitchFamily="34" charset="0"/>
                            <a:ea typeface="Verdana" panose="020B0604030504040204" pitchFamily="34" charset="0"/>
                            <a:cs typeface="Verdana" panose="020B0604030504040204" pitchFamily="34" charset="0"/>
                          </a:endParaRPr>
                        </a:p>
                      </a:txBody>
                      <a:tcPr marL="47861" marR="47861"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Was it a hit or miss?</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47861" marR="47861" marT="0" marB="0" anchor="ctr">
                        <a:solidFill>
                          <a:schemeClr val="bg1">
                            <a:lumMod val="75000"/>
                          </a:schemeClr>
                        </a:solidFill>
                      </a:tcPr>
                    </a:tc>
                    <a:extLst>
                      <a:ext uri="{0D108BD9-81ED-4DB2-BD59-A6C34878D82A}">
                        <a16:rowId xmlns:a16="http://schemas.microsoft.com/office/drawing/2014/main" val="908454875"/>
                      </a:ext>
                    </a:extLst>
                  </a:tr>
                  <a:tr h="552614">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dirty="0">
                              <a:effectLst/>
                            </a:rPr>
                            <a:t> </a:t>
                          </a:r>
                          <a:endParaRPr lang="en-US" sz="1100" i="1" dirty="0">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extLst>
                      <a:ext uri="{0D108BD9-81ED-4DB2-BD59-A6C34878D82A}">
                        <a16:rowId xmlns:a16="http://schemas.microsoft.com/office/drawing/2014/main" val="2511957504"/>
                      </a:ext>
                    </a:extLst>
                  </a:tr>
                  <a:tr h="552614">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extLst>
                      <a:ext uri="{0D108BD9-81ED-4DB2-BD59-A6C34878D82A}">
                        <a16:rowId xmlns:a16="http://schemas.microsoft.com/office/drawing/2014/main" val="1247135646"/>
                      </a:ext>
                    </a:extLst>
                  </a:tr>
                  <a:tr h="552614">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extLst>
                      <a:ext uri="{0D108BD9-81ED-4DB2-BD59-A6C34878D82A}">
                        <a16:rowId xmlns:a16="http://schemas.microsoft.com/office/drawing/2014/main" val="1445181684"/>
                      </a:ext>
                    </a:extLst>
                  </a:tr>
                  <a:tr h="552614">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extLst>
                      <a:ext uri="{0D108BD9-81ED-4DB2-BD59-A6C34878D82A}">
                        <a16:rowId xmlns:a16="http://schemas.microsoft.com/office/drawing/2014/main" val="3157232491"/>
                      </a:ext>
                    </a:extLst>
                  </a:tr>
                  <a:tr h="537547">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extLst>
                      <a:ext uri="{0D108BD9-81ED-4DB2-BD59-A6C34878D82A}">
                        <a16:rowId xmlns:a16="http://schemas.microsoft.com/office/drawing/2014/main" val="2733891740"/>
                      </a:ext>
                    </a:extLst>
                  </a:tr>
                  <a:tr h="552614">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extLst>
                      <a:ext uri="{0D108BD9-81ED-4DB2-BD59-A6C34878D82A}">
                        <a16:rowId xmlns:a16="http://schemas.microsoft.com/office/drawing/2014/main" val="1393530176"/>
                      </a:ext>
                    </a:extLst>
                  </a:tr>
                  <a:tr h="552614">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a:effectLst/>
                            </a:rPr>
                            <a:t> </a:t>
                          </a:r>
                          <a:endParaRPr lang="en-US" sz="1100" i="1">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tc>
                      <a:txBody>
                        <a:bodyPr/>
                        <a:lstStyle/>
                        <a:p>
                          <a:pPr marL="0" marR="0">
                            <a:lnSpc>
                              <a:spcPct val="107000"/>
                            </a:lnSpc>
                            <a:spcBef>
                              <a:spcPts val="0"/>
                            </a:spcBef>
                            <a:spcAft>
                              <a:spcPts val="0"/>
                            </a:spcAft>
                          </a:pPr>
                          <a:r>
                            <a:rPr lang="en-US" sz="1300" dirty="0">
                              <a:effectLst/>
                            </a:rPr>
                            <a:t> </a:t>
                          </a:r>
                          <a:endParaRPr lang="en-US" sz="1100" i="1" dirty="0">
                            <a:effectLst/>
                            <a:latin typeface="Cambria Math" panose="02040503050406030204" pitchFamily="18" charset="0"/>
                            <a:ea typeface="Times New Roman" panose="02020603050405020304" pitchFamily="18" charset="0"/>
                            <a:cs typeface="Cambria Math" panose="02040503050406030204" pitchFamily="18" charset="0"/>
                          </a:endParaRPr>
                        </a:p>
                      </a:txBody>
                      <a:tcPr marL="47861" marR="47861" marT="0" marB="0"/>
                    </a:tc>
                    <a:extLst>
                      <a:ext uri="{0D108BD9-81ED-4DB2-BD59-A6C34878D82A}">
                        <a16:rowId xmlns:a16="http://schemas.microsoft.com/office/drawing/2014/main" val="1000157126"/>
                      </a:ext>
                    </a:extLst>
                  </a:tr>
                </a:tbl>
              </a:graphicData>
            </a:graphic>
          </p:graphicFrame>
        </mc:Fallback>
      </mc:AlternateContent>
    </p:spTree>
    <p:extLst>
      <p:ext uri="{BB962C8B-B14F-4D97-AF65-F5344CB8AC3E}">
        <p14:creationId xmlns:p14="http://schemas.microsoft.com/office/powerpoint/2010/main" val="1841022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a:alphaModFix/>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18947"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3054096" y="2852928"/>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224</a:t>
            </a:r>
          </a:p>
        </p:txBody>
      </p:sp>
    </p:spTree>
    <p:extLst>
      <p:ext uri="{BB962C8B-B14F-4D97-AF65-F5344CB8AC3E}">
        <p14:creationId xmlns:p14="http://schemas.microsoft.com/office/powerpoint/2010/main" val="2200746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28438"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5.4.4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1" name="Google Shape;282;g104476d1465_1_17">
            <a:extLst>
              <a:ext uri="{FF2B5EF4-FFF2-40B4-BE49-F238E27FC236}">
                <a16:creationId xmlns:a16="http://schemas.microsoft.com/office/drawing/2014/main" id="{F9486181-07A1-C74B-A129-E8949F43C159}"/>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224</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759C3E41-93EC-B84D-963F-86A3B15AC1C6}"/>
                  </a:ext>
                </a:extLst>
              </p:cNvPr>
              <p:cNvSpPr txBox="1"/>
              <p:nvPr/>
            </p:nvSpPr>
            <p:spPr>
              <a:xfrm>
                <a:off x="735973" y="1178621"/>
                <a:ext cx="10720054" cy="1015663"/>
              </a:xfrm>
              <a:prstGeom prst="rect">
                <a:avLst/>
              </a:prstGeom>
              <a:noFill/>
            </p:spPr>
            <p:txBody>
              <a:bodyPr wrap="square" rtlCol="0">
                <a:spAutoFit/>
              </a:bodyPr>
              <a:lstStyle/>
              <a:p>
                <a:pPr marL="412750" indent="-41275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temperature in Princeton, New Jersey was recorded at various times during the day. The times relative to midnight, </a:t>
                </a:r>
                <a14:m>
                  <m:oMath xmlns:m="http://schemas.openxmlformats.org/officeDocument/2006/math">
                    <m:r>
                      <a:rPr lang="en-US" sz="2000" i="1">
                        <a:latin typeface="Cambria Math" panose="02040503050406030204" pitchFamily="18" charset="0"/>
                      </a:rPr>
                      <m:t>𝐻</m:t>
                    </m:r>
                  </m:oMath>
                </a14:m>
                <a:r>
                  <a:rPr lang="en-US" sz="2000" dirty="0">
                    <a:latin typeface="Verdana" panose="020B0604030504040204" pitchFamily="34" charset="0"/>
                    <a:ea typeface="Verdana" panose="020B0604030504040204" pitchFamily="34" charset="0"/>
                    <a:cs typeface="Verdana" panose="020B0604030504040204" pitchFamily="34" charset="0"/>
                  </a:rPr>
                  <a:t>, and temperatures in degrees Celsius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𝐶</m:t>
                    </m:r>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are shown in the table.  </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735973" y="1178621"/>
                <a:ext cx="10720054" cy="1015663"/>
              </a:xfrm>
              <a:prstGeom prst="rect">
                <a:avLst/>
              </a:prstGeom>
              <a:blipFill>
                <a:blip r:embed="rId5"/>
                <a:stretch>
                  <a:fillRect l="-711" t="-2469" b="-987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039FBDB2-90B5-834E-9462-4C3D94C9B96C}"/>
                  </a:ext>
                </a:extLst>
              </p:cNvPr>
              <p:cNvGraphicFramePr>
                <a:graphicFrameLocks noGrp="1"/>
              </p:cNvGraphicFramePr>
              <p:nvPr>
                <p:extLst>
                  <p:ext uri="{D42A27DB-BD31-4B8C-83A1-F6EECF244321}">
                    <p14:modId xmlns:p14="http://schemas.microsoft.com/office/powerpoint/2010/main" val="2629793072"/>
                  </p:ext>
                </p:extLst>
              </p:nvPr>
            </p:nvGraphicFramePr>
            <p:xfrm>
              <a:off x="2727157" y="2424437"/>
              <a:ext cx="6737686" cy="3753787"/>
            </p:xfrm>
            <a:graphic>
              <a:graphicData uri="http://schemas.openxmlformats.org/drawingml/2006/table">
                <a:tbl>
                  <a:tblPr bandRow="1">
                    <a:tableStyleId>{A91F0D33-8C57-4600-99A7-42BC86742BE1}</a:tableStyleId>
                  </a:tblPr>
                  <a:tblGrid>
                    <a:gridCol w="3368843">
                      <a:extLst>
                        <a:ext uri="{9D8B030D-6E8A-4147-A177-3AD203B41FA5}">
                          <a16:colId xmlns:a16="http://schemas.microsoft.com/office/drawing/2014/main" val="1771906279"/>
                        </a:ext>
                      </a:extLst>
                    </a:gridCol>
                    <a:gridCol w="3368843">
                      <a:extLst>
                        <a:ext uri="{9D8B030D-6E8A-4147-A177-3AD203B41FA5}">
                          <a16:colId xmlns:a16="http://schemas.microsoft.com/office/drawing/2014/main" val="953960070"/>
                        </a:ext>
                      </a:extLst>
                    </a:gridCol>
                  </a:tblGrid>
                  <a:tr h="1052958">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Time (hours before or after midnight, </a:t>
                          </a:r>
                          <a14:m>
                            <m:oMath xmlns:m="http://schemas.openxmlformats.org/officeDocument/2006/math">
                              <m:r>
                                <a:rPr lang="en-US" sz="2000" b="0" i="1" smtClean="0">
                                  <a:effectLst/>
                                  <a:latin typeface="Cambria Math" panose="02040503050406030204" pitchFamily="18" charset="0"/>
                                </a:rPr>
                                <m:t>𝐻</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Temperature </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t>
                          </a:r>
                          <a14:m>
                            <m:oMath xmlns:m="http://schemas.openxmlformats.org/officeDocument/2006/math">
                              <m:r>
                                <a:rPr lang="en-US" sz="2000" b="1" smtClean="0">
                                  <a:effectLst/>
                                  <a:latin typeface="Cambria Math" panose="02040503050406030204" pitchFamily="18" charset="0"/>
                                </a:rPr>
                                <m:t>°</m:t>
                              </m:r>
                              <m:r>
                                <a:rPr lang="en-US" sz="2000" b="1" i="1">
                                  <a:effectLst/>
                                  <a:latin typeface="Cambria Math" panose="02040503050406030204" pitchFamily="18" charset="0"/>
                                </a:rPr>
                                <m:t>𝐂</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extLst>
                      <a:ext uri="{0D108BD9-81ED-4DB2-BD59-A6C34878D82A}">
                        <a16:rowId xmlns:a16="http://schemas.microsoft.com/office/drawing/2014/main" val="3418422763"/>
                      </a:ext>
                    </a:extLst>
                  </a:tr>
                  <a:tr h="670996">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6</m:t>
                                  </m:r>
                                </m:num>
                                <m:den>
                                  <m:r>
                                    <a:rPr lang="en-US" sz="2000">
                                      <a:effectLst/>
                                      <a:latin typeface="Cambria Math" panose="02040503050406030204" pitchFamily="18" charset="0"/>
                                      <a:ea typeface="Cambria Math" panose="02040503050406030204" pitchFamily="18" charset="0"/>
                                    </a:rPr>
                                    <m:t>5</m:t>
                                  </m:r>
                                </m:den>
                              </m:f>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extLst>
                      <a:ext uri="{0D108BD9-81ED-4DB2-BD59-A6C34878D82A}">
                        <a16:rowId xmlns:a16="http://schemas.microsoft.com/office/drawing/2014/main" val="38543576"/>
                      </a:ext>
                    </a:extLst>
                  </a:tr>
                  <a:tr h="687841">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−1</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5</m:t>
                                  </m:r>
                                </m:den>
                              </m:f>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extLst>
                      <a:ext uri="{0D108BD9-81ED-4DB2-BD59-A6C34878D82A}">
                        <a16:rowId xmlns:a16="http://schemas.microsoft.com/office/drawing/2014/main" val="3046122349"/>
                      </a:ext>
                    </a:extLst>
                  </a:tr>
                  <a:tr h="670996">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7</m:t>
                                  </m:r>
                                </m:num>
                                <m:den>
                                  <m:r>
                                    <a:rPr lang="en-US" sz="2000">
                                      <a:effectLst/>
                                      <a:latin typeface="Cambria Math" panose="02040503050406030204" pitchFamily="18" charset="0"/>
                                      <a:ea typeface="Cambria Math" panose="02040503050406030204" pitchFamily="18" charset="0"/>
                                    </a:rPr>
                                    <m:t>2</m:t>
                                  </m:r>
                                </m:den>
                              </m:f>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extLst>
                      <a:ext uri="{0D108BD9-81ED-4DB2-BD59-A6C34878D82A}">
                        <a16:rowId xmlns:a16="http://schemas.microsoft.com/office/drawing/2014/main" val="166777999"/>
                      </a:ext>
                    </a:extLst>
                  </a:tr>
                  <a:tr h="670996">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m:t>
                                </m:r>
                              </m:oMath>
                            </m:oMathPara>
                          </a14:m>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−6</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7</m:t>
                                  </m:r>
                                </m:num>
                                <m:den>
                                  <m:r>
                                    <a:rPr lang="en-US" sz="2000">
                                      <a:effectLst/>
                                      <a:latin typeface="Cambria Math" panose="02040503050406030204" pitchFamily="18" charset="0"/>
                                      <a:ea typeface="Cambria Math" panose="02040503050406030204" pitchFamily="18" charset="0"/>
                                    </a:rPr>
                                    <m:t>10</m:t>
                                  </m:r>
                                </m:den>
                              </m:f>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extLst>
                      <a:ext uri="{0D108BD9-81ED-4DB2-BD59-A6C34878D82A}">
                        <a16:rowId xmlns:a16="http://schemas.microsoft.com/office/drawing/2014/main" val="4183797504"/>
                      </a:ext>
                    </a:extLst>
                  </a:tr>
                </a:tbl>
              </a:graphicData>
            </a:graphic>
          </p:graphicFrame>
        </mc:Choice>
        <mc:Fallback>
          <p:graphicFrame>
            <p:nvGraphicFramePr>
              <p:cNvPr id="2" name="Table 1">
                <a:extLst>
                  <a:ext uri="{FF2B5EF4-FFF2-40B4-BE49-F238E27FC236}">
                    <a16:creationId xmlns:a16="http://schemas.microsoft.com/office/drawing/2014/main" id="{039FBDB2-90B5-834E-9462-4C3D94C9B96C}"/>
                  </a:ext>
                </a:extLst>
              </p:cNvPr>
              <p:cNvGraphicFramePr>
                <a:graphicFrameLocks noGrp="1"/>
              </p:cNvGraphicFramePr>
              <p:nvPr>
                <p:extLst>
                  <p:ext uri="{D42A27DB-BD31-4B8C-83A1-F6EECF244321}">
                    <p14:modId xmlns:p14="http://schemas.microsoft.com/office/powerpoint/2010/main" val="2629793072"/>
                  </p:ext>
                </p:extLst>
              </p:nvPr>
            </p:nvGraphicFramePr>
            <p:xfrm>
              <a:off x="2727157" y="2424437"/>
              <a:ext cx="6737686" cy="3753787"/>
            </p:xfrm>
            <a:graphic>
              <a:graphicData uri="http://schemas.openxmlformats.org/drawingml/2006/table">
                <a:tbl>
                  <a:tblPr bandRow="1">
                    <a:tableStyleId>{A91F0D33-8C57-4600-99A7-42BC86742BE1}</a:tableStyleId>
                  </a:tblPr>
                  <a:tblGrid>
                    <a:gridCol w="3368843">
                      <a:extLst>
                        <a:ext uri="{9D8B030D-6E8A-4147-A177-3AD203B41FA5}">
                          <a16:colId xmlns:a16="http://schemas.microsoft.com/office/drawing/2014/main" val="1771906279"/>
                        </a:ext>
                      </a:extLst>
                    </a:gridCol>
                    <a:gridCol w="3368843">
                      <a:extLst>
                        <a:ext uri="{9D8B030D-6E8A-4147-A177-3AD203B41FA5}">
                          <a16:colId xmlns:a16="http://schemas.microsoft.com/office/drawing/2014/main" val="953960070"/>
                        </a:ext>
                      </a:extLst>
                    </a:gridCol>
                  </a:tblGrid>
                  <a:tr h="1052958">
                    <a:tc>
                      <a:txBody>
                        <a:bodyPr/>
                        <a:lstStyle/>
                        <a:p>
                          <a:endParaRPr lang="en-US"/>
                        </a:p>
                      </a:txBody>
                      <a:tcPr marL="68580" marR="68580" marT="0" marB="0" anchor="ctr">
                        <a:blipFill>
                          <a:blip r:embed="rId6"/>
                          <a:stretch>
                            <a:fillRect r="-100376" b="-259036"/>
                          </a:stretch>
                        </a:blipFill>
                      </a:tcPr>
                    </a:tc>
                    <a:tc>
                      <a:txBody>
                        <a:bodyPr/>
                        <a:lstStyle/>
                        <a:p>
                          <a:endParaRPr lang="en-US"/>
                        </a:p>
                      </a:txBody>
                      <a:tcPr marL="68580" marR="68580" marT="0" marB="0" anchor="ctr">
                        <a:blipFill>
                          <a:blip r:embed="rId6"/>
                          <a:stretch>
                            <a:fillRect l="-100000" r="-376" b="-259036"/>
                          </a:stretch>
                        </a:blipFill>
                      </a:tcPr>
                    </a:tc>
                    <a:extLst>
                      <a:ext uri="{0D108BD9-81ED-4DB2-BD59-A6C34878D82A}">
                        <a16:rowId xmlns:a16="http://schemas.microsoft.com/office/drawing/2014/main" val="3418422763"/>
                      </a:ext>
                    </a:extLst>
                  </a:tr>
                  <a:tr h="670996">
                    <a:tc>
                      <a:txBody>
                        <a:bodyPr/>
                        <a:lstStyle/>
                        <a:p>
                          <a:endParaRPr lang="en-US"/>
                        </a:p>
                      </a:txBody>
                      <a:tcPr marL="68580" marR="68580" marT="0" marB="0" anchor="ctr">
                        <a:blipFill>
                          <a:blip r:embed="rId6"/>
                          <a:stretch>
                            <a:fillRect t="-156604" r="-100376" b="-305660"/>
                          </a:stretch>
                        </a:blipFill>
                      </a:tcPr>
                    </a:tc>
                    <a:tc>
                      <a:txBody>
                        <a:bodyPr/>
                        <a:lstStyle/>
                        <a:p>
                          <a:endParaRPr lang="en-US"/>
                        </a:p>
                      </a:txBody>
                      <a:tcPr marL="68580" marR="68580" marT="0" marB="0" anchor="ctr">
                        <a:blipFill>
                          <a:blip r:embed="rId6"/>
                          <a:stretch>
                            <a:fillRect l="-100000" t="-156604" r="-376" b="-305660"/>
                          </a:stretch>
                        </a:blipFill>
                      </a:tcPr>
                    </a:tc>
                    <a:extLst>
                      <a:ext uri="{0D108BD9-81ED-4DB2-BD59-A6C34878D82A}">
                        <a16:rowId xmlns:a16="http://schemas.microsoft.com/office/drawing/2014/main" val="38543576"/>
                      </a:ext>
                    </a:extLst>
                  </a:tr>
                  <a:tr h="687841">
                    <a:tc>
                      <a:txBody>
                        <a:bodyPr/>
                        <a:lstStyle/>
                        <a:p>
                          <a:endParaRPr lang="en-US"/>
                        </a:p>
                      </a:txBody>
                      <a:tcPr marL="68580" marR="68580" marT="0" marB="0" anchor="ctr">
                        <a:blipFill>
                          <a:blip r:embed="rId6"/>
                          <a:stretch>
                            <a:fillRect t="-247273" r="-100376" b="-194545"/>
                          </a:stretch>
                        </a:blipFill>
                      </a:tcPr>
                    </a:tc>
                    <a:tc>
                      <a:txBody>
                        <a:bodyPr/>
                        <a:lstStyle/>
                        <a:p>
                          <a:endParaRPr lang="en-US"/>
                        </a:p>
                      </a:txBody>
                      <a:tcPr marL="68580" marR="68580" marT="0" marB="0" anchor="ctr">
                        <a:blipFill>
                          <a:blip r:embed="rId6"/>
                          <a:stretch>
                            <a:fillRect l="-100000" t="-247273" r="-376" b="-194545"/>
                          </a:stretch>
                        </a:blipFill>
                      </a:tcPr>
                    </a:tc>
                    <a:extLst>
                      <a:ext uri="{0D108BD9-81ED-4DB2-BD59-A6C34878D82A}">
                        <a16:rowId xmlns:a16="http://schemas.microsoft.com/office/drawing/2014/main" val="3046122349"/>
                      </a:ext>
                    </a:extLst>
                  </a:tr>
                  <a:tr h="670996">
                    <a:tc>
                      <a:txBody>
                        <a:bodyPr/>
                        <a:lstStyle/>
                        <a:p>
                          <a:endParaRPr lang="en-US"/>
                        </a:p>
                      </a:txBody>
                      <a:tcPr marL="68580" marR="68580" marT="0" marB="0" anchor="ctr">
                        <a:blipFill>
                          <a:blip r:embed="rId6"/>
                          <a:stretch>
                            <a:fillRect t="-360377" r="-100376" b="-101887"/>
                          </a:stretch>
                        </a:blipFill>
                      </a:tcPr>
                    </a:tc>
                    <a:tc>
                      <a:txBody>
                        <a:bodyPr/>
                        <a:lstStyle/>
                        <a:p>
                          <a:endParaRPr lang="en-US"/>
                        </a:p>
                      </a:txBody>
                      <a:tcPr marL="68580" marR="68580" marT="0" marB="0" anchor="ctr">
                        <a:blipFill>
                          <a:blip r:embed="rId6"/>
                          <a:stretch>
                            <a:fillRect l="-100000" t="-360377" r="-376" b="-101887"/>
                          </a:stretch>
                        </a:blipFill>
                      </a:tcPr>
                    </a:tc>
                    <a:extLst>
                      <a:ext uri="{0D108BD9-81ED-4DB2-BD59-A6C34878D82A}">
                        <a16:rowId xmlns:a16="http://schemas.microsoft.com/office/drawing/2014/main" val="166777999"/>
                      </a:ext>
                    </a:extLst>
                  </a:tr>
                  <a:tr h="670996">
                    <a:tc>
                      <a:txBody>
                        <a:bodyPr/>
                        <a:lstStyle/>
                        <a:p>
                          <a:endParaRPr lang="en-US"/>
                        </a:p>
                      </a:txBody>
                      <a:tcPr marL="68580" marR="68580" marT="0" marB="0" anchor="ctr">
                        <a:blipFill>
                          <a:blip r:embed="rId6"/>
                          <a:stretch>
                            <a:fillRect t="-460377" r="-100376" b="-1887"/>
                          </a:stretch>
                        </a:blipFill>
                      </a:tcPr>
                    </a:tc>
                    <a:tc>
                      <a:txBody>
                        <a:bodyPr/>
                        <a:lstStyle/>
                        <a:p>
                          <a:endParaRPr lang="en-US"/>
                        </a:p>
                      </a:txBody>
                      <a:tcPr marL="68580" marR="68580" marT="0" marB="0" anchor="ctr">
                        <a:blipFill>
                          <a:blip r:embed="rId6"/>
                          <a:stretch>
                            <a:fillRect l="-100000" t="-460377" r="-376" b="-1887"/>
                          </a:stretch>
                        </a:blipFill>
                      </a:tcPr>
                    </a:tc>
                    <a:extLst>
                      <a:ext uri="{0D108BD9-81ED-4DB2-BD59-A6C34878D82A}">
                        <a16:rowId xmlns:a16="http://schemas.microsoft.com/office/drawing/2014/main" val="4183797504"/>
                      </a:ext>
                    </a:extLst>
                  </a:tr>
                </a:tbl>
              </a:graphicData>
            </a:graphic>
          </p:graphicFrame>
        </mc:Fallback>
      </mc:AlternateContent>
    </p:spTree>
    <p:extLst>
      <p:ext uri="{BB962C8B-B14F-4D97-AF65-F5344CB8AC3E}">
        <p14:creationId xmlns:p14="http://schemas.microsoft.com/office/powerpoint/2010/main" val="2179155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04614" y="523318"/>
            <a:ext cx="8327136" cy="400110"/>
          </a:xfrm>
          <a:prstGeom prst="rect">
            <a:avLst/>
          </a:prstGeom>
          <a:noFill/>
        </p:spPr>
        <p:txBody>
          <a:bodyPr wrap="square" rtlCol="0">
            <a:spAutoFit/>
          </a:bodyPr>
          <a:lstStyle/>
          <a:p>
            <a:pPr marL="920750" indent="-5080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Plot the points that represent the data.</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pic>
        <p:nvPicPr>
          <p:cNvPr id="7" name="image28.png" descr="Chart, line chart&#10;&#10;Description automatically generated">
            <a:extLst>
              <a:ext uri="{FF2B5EF4-FFF2-40B4-BE49-F238E27FC236}">
                <a16:creationId xmlns:a16="http://schemas.microsoft.com/office/drawing/2014/main" id="{B65B222A-9003-6A4A-B61C-5ACDC50223CE}"/>
              </a:ext>
            </a:extLst>
          </p:cNvPr>
          <p:cNvPicPr/>
          <p:nvPr/>
        </p:nvPicPr>
        <p:blipFill>
          <a:blip r:embed="rId4" cstate="hqprint">
            <a:extLst>
              <a:ext uri="{28A0092B-C50C-407E-A947-70E740481C1C}">
                <a14:useLocalDpi xmlns:a14="http://schemas.microsoft.com/office/drawing/2010/main"/>
              </a:ext>
            </a:extLst>
          </a:blip>
          <a:srcRect/>
          <a:stretch>
            <a:fillRect/>
          </a:stretch>
        </p:blipFill>
        <p:spPr>
          <a:xfrm>
            <a:off x="3158490" y="1273810"/>
            <a:ext cx="5875020" cy="3964940"/>
          </a:xfrm>
          <a:prstGeom prst="rect">
            <a:avLst/>
          </a:prstGeom>
          <a:ln/>
        </p:spPr>
      </p:pic>
    </p:spTree>
    <p:extLst>
      <p:ext uri="{BB962C8B-B14F-4D97-AF65-F5344CB8AC3E}">
        <p14:creationId xmlns:p14="http://schemas.microsoft.com/office/powerpoint/2010/main" val="1922218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225</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396588" y="590595"/>
                <a:ext cx="11582052" cy="5053819"/>
              </a:xfrm>
              <a:prstGeom prst="rect">
                <a:avLst/>
              </a:prstGeom>
              <a:noFill/>
            </p:spPr>
            <p:txBody>
              <a:bodyPr wrap="square" rtlCol="0">
                <a:spAutoFit/>
              </a:bodyPr>
              <a:lstStyle/>
              <a:p>
                <a:pPr marL="920750" indent="-460375">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In the town of New Haven, Connecticut, the temperature at midnight was </a:t>
                </a:r>
                <a14:m>
                  <m:oMath xmlns:m="http://schemas.openxmlformats.org/officeDocument/2006/math">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2</m:t>
                        </m:r>
                      </m:num>
                      <m:den>
                        <m:r>
                          <a:rPr lang="en-US" sz="2000" i="1">
                            <a:latin typeface="Cambria Math" panose="02040503050406030204" pitchFamily="18" charset="0"/>
                            <a:ea typeface="Cambria Math" panose="02040503050406030204" pitchFamily="18" charset="0"/>
                          </a:rPr>
                          <m:t>10</m:t>
                        </m:r>
                      </m:den>
                    </m:f>
                    <m:r>
                      <a:rPr lang="en-US" sz="2000" i="1">
                        <a:latin typeface="Cambria Math" panose="02040503050406030204" pitchFamily="18" charset="0"/>
                      </a:rPr>
                      <m:t>°</m:t>
                    </m:r>
                    <m:r>
                      <a:rPr lang="en-US" sz="2000" i="1">
                        <a:latin typeface="Cambria Math" panose="02040503050406030204" pitchFamily="18" charset="0"/>
                      </a:rPr>
                      <m:t>𝐶</m:t>
                    </m:r>
                  </m:oMath>
                </a14:m>
                <a:r>
                  <a:rPr lang="en-US" sz="2000" dirty="0">
                    <a:latin typeface="Verdana" panose="020B0604030504040204" pitchFamily="34" charset="0"/>
                    <a:ea typeface="Verdana" panose="020B0604030504040204" pitchFamily="34" charset="0"/>
                    <a:cs typeface="Verdana" panose="020B0604030504040204" pitchFamily="34" charset="0"/>
                  </a:rPr>
                  <a:t>. Plot and label this point on the same grid. Label the point C.</a:t>
                </a:r>
              </a:p>
              <a:p>
                <a:pPr marL="342900" indent="-342900">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20750" indent="-5080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Label the point that represents the temperature in Princeton at midnight </a:t>
                </a:r>
                <a14:m>
                  <m:oMath xmlns:m="http://schemas.openxmlformats.org/officeDocument/2006/math">
                    <m:r>
                      <a:rPr lang="en-US" sz="2000" i="1">
                        <a:latin typeface="Cambria Math" panose="02040503050406030204" pitchFamily="18" charset="0"/>
                      </a:rPr>
                      <m:t>𝑃</m:t>
                    </m:r>
                  </m:oMath>
                </a14:m>
                <a:r>
                  <a:rPr lang="en-US" sz="2000" dirty="0">
                    <a:latin typeface="Verdana" panose="020B0604030504040204" pitchFamily="34" charset="0"/>
                    <a:ea typeface="Verdana" panose="020B0604030504040204" pitchFamily="34" charset="0"/>
                    <a:cs typeface="Verdana" panose="020B0604030504040204" pitchFamily="34" charset="0"/>
                  </a:rPr>
                  <a:t>. Which town was warmer at midnight, Princeton or New Haven?  </a:t>
                </a:r>
              </a:p>
              <a:p>
                <a:pPr marL="342900" indent="-342900">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20750" indent="-5080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Explain how to determine which town you selected in Part C is warmer at midnight.</a:t>
                </a:r>
                <a:endParaRPr lang="en-US" sz="2000" i="1" dirty="0">
                  <a:latin typeface="Verdana" panose="020B0604030504040204" pitchFamily="34" charset="0"/>
                  <a:ea typeface="Verdana" panose="020B0604030504040204" pitchFamily="34" charset="0"/>
                  <a:cs typeface="Verdana" panose="020B0604030504040204" pitchFamily="34" charset="0"/>
                </a:endParaRPr>
              </a:p>
              <a:p>
                <a:endParaRPr lang="en-US" i="1" dirty="0"/>
              </a:p>
              <a:p>
                <a:pPr marL="342900" indent="-342900">
                  <a:buFont typeface="+mj-lt"/>
                  <a:buAutoNum type="alphaL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96588" y="590595"/>
                <a:ext cx="11582052" cy="5053819"/>
              </a:xfrm>
              <a:prstGeom prst="rect">
                <a:avLst/>
              </a:prstGeom>
              <a:blipFill>
                <a:blip r:embed="rId4"/>
                <a:stretch>
                  <a:fillRect r="-219"/>
                </a:stretch>
              </a:blipFill>
            </p:spPr>
            <p:txBody>
              <a:bodyPr/>
              <a:lstStyle/>
              <a:p>
                <a:r>
                  <a:rPr lang="en-US">
                    <a:noFill/>
                  </a:rPr>
                  <a:t> </a:t>
                </a:r>
              </a:p>
            </p:txBody>
          </p:sp>
        </mc:Fallback>
      </mc:AlternateContent>
    </p:spTree>
    <p:extLst>
      <p:ext uri="{BB962C8B-B14F-4D97-AF65-F5344CB8AC3E}">
        <p14:creationId xmlns:p14="http://schemas.microsoft.com/office/powerpoint/2010/main" val="4059100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225</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432964" y="600675"/>
                <a:ext cx="11525355" cy="1015663"/>
              </a:xfrm>
              <a:prstGeom prst="rect">
                <a:avLst/>
              </a:prstGeom>
              <a:noFill/>
            </p:spPr>
            <p:txBody>
              <a:bodyPr wrap="square" rtlCol="0">
                <a:spAutoFit/>
              </a:bodyPr>
              <a:lstStyle/>
              <a:p>
                <a:pPr marL="460375" indent="-460375">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average NBA player scores </a:t>
                </a:r>
                <a14:m>
                  <m:oMath xmlns:m="http://schemas.openxmlformats.org/officeDocument/2006/math">
                    <m:r>
                      <a:rPr lang="en-US" sz="2000" i="1">
                        <a:latin typeface="Cambria Math" panose="02040503050406030204" pitchFamily="18" charset="0"/>
                      </a:rPr>
                      <m:t>9.7</m:t>
                    </m:r>
                  </m:oMath>
                </a14:m>
                <a:r>
                  <a:rPr lang="en-US" sz="2000" dirty="0">
                    <a:latin typeface="Verdana" panose="020B0604030504040204" pitchFamily="34" charset="0"/>
                    <a:ea typeface="Verdana" panose="020B0604030504040204" pitchFamily="34" charset="0"/>
                    <a:cs typeface="Verdana" panose="020B0604030504040204" pitchFamily="34" charset="0"/>
                  </a:rPr>
                  <a:t> points per game. The table below lists six players, along with their average points per game and their difference from the average.</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32964" y="600675"/>
                <a:ext cx="11525355" cy="1015663"/>
              </a:xfrm>
              <a:prstGeom prst="rect">
                <a:avLst/>
              </a:prstGeom>
              <a:blipFill>
                <a:blip r:embed="rId4"/>
                <a:stretch>
                  <a:fillRect l="-551" t="-3704" b="-987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7CE96368-B032-CC4B-B6A7-8E69CCE29438}"/>
                  </a:ext>
                </a:extLst>
              </p:cNvPr>
              <p:cNvGraphicFramePr>
                <a:graphicFrameLocks noGrp="1"/>
              </p:cNvGraphicFramePr>
              <p:nvPr>
                <p:extLst>
                  <p:ext uri="{D42A27DB-BD31-4B8C-83A1-F6EECF244321}">
                    <p14:modId xmlns:p14="http://schemas.microsoft.com/office/powerpoint/2010/main" val="239340838"/>
                  </p:ext>
                </p:extLst>
              </p:nvPr>
            </p:nvGraphicFramePr>
            <p:xfrm>
              <a:off x="2442592" y="1816687"/>
              <a:ext cx="7306816" cy="3224626"/>
            </p:xfrm>
            <a:graphic>
              <a:graphicData uri="http://schemas.openxmlformats.org/drawingml/2006/table">
                <a:tbl>
                  <a:tblPr bandRow="1">
                    <a:tableStyleId>{A91F0D33-8C57-4600-99A7-42BC86742BE1}</a:tableStyleId>
                  </a:tblPr>
                  <a:tblGrid>
                    <a:gridCol w="2434622">
                      <a:extLst>
                        <a:ext uri="{9D8B030D-6E8A-4147-A177-3AD203B41FA5}">
                          <a16:colId xmlns:a16="http://schemas.microsoft.com/office/drawing/2014/main" val="2731425095"/>
                        </a:ext>
                      </a:extLst>
                    </a:gridCol>
                    <a:gridCol w="2436097">
                      <a:extLst>
                        <a:ext uri="{9D8B030D-6E8A-4147-A177-3AD203B41FA5}">
                          <a16:colId xmlns:a16="http://schemas.microsoft.com/office/drawing/2014/main" val="3658054931"/>
                        </a:ext>
                      </a:extLst>
                    </a:gridCol>
                    <a:gridCol w="2436097">
                      <a:extLst>
                        <a:ext uri="{9D8B030D-6E8A-4147-A177-3AD203B41FA5}">
                          <a16:colId xmlns:a16="http://schemas.microsoft.com/office/drawing/2014/main" val="2400814758"/>
                        </a:ext>
                      </a:extLst>
                    </a:gridCol>
                  </a:tblGrid>
                  <a:tr h="940162">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Player</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Average Points Per Game (p)</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Difference from Average (d)</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extLst>
                      <a:ext uri="{0D108BD9-81ED-4DB2-BD59-A6C34878D82A}">
                        <a16:rowId xmlns:a16="http://schemas.microsoft.com/office/drawing/2014/main" val="1903934174"/>
                      </a:ext>
                    </a:extLst>
                  </a:tr>
                  <a:tr h="333445">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LeBron James</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27.1</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17.4</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extLst>
                      <a:ext uri="{0D108BD9-81ED-4DB2-BD59-A6C34878D82A}">
                        <a16:rowId xmlns:a16="http://schemas.microsoft.com/office/drawing/2014/main" val="2810481114"/>
                      </a:ext>
                    </a:extLst>
                  </a:tr>
                  <a:tr h="333445">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Dwyane Wade</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22.0</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12.3</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extLst>
                      <a:ext uri="{0D108BD9-81ED-4DB2-BD59-A6C34878D82A}">
                        <a16:rowId xmlns:a16="http://schemas.microsoft.com/office/drawing/2014/main" val="4164808893"/>
                      </a:ext>
                    </a:extLst>
                  </a:tr>
                  <a:tr h="333445">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Mike Conley</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14.8</m:t>
                                </m:r>
                              </m:oMath>
                            </m:oMathPara>
                          </a14:m>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5.1</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extLst>
                      <a:ext uri="{0D108BD9-81ED-4DB2-BD59-A6C34878D82A}">
                        <a16:rowId xmlns:a16="http://schemas.microsoft.com/office/drawing/2014/main" val="3456276986"/>
                      </a:ext>
                    </a:extLst>
                  </a:tr>
                  <a:tr h="617239">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Frank Brickowski</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10.0</m:t>
                                </m:r>
                              </m:oMath>
                            </m:oMathPara>
                          </a14:m>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0.3</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extLst>
                      <a:ext uri="{0D108BD9-81ED-4DB2-BD59-A6C34878D82A}">
                        <a16:rowId xmlns:a16="http://schemas.microsoft.com/office/drawing/2014/main" val="4109139600"/>
                      </a:ext>
                    </a:extLst>
                  </a:tr>
                  <a:tr h="333445">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Robin Lopez</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8.8</m:t>
                                </m:r>
                              </m:oMath>
                            </m:oMathPara>
                          </a14:m>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–0.9</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extLst>
                      <a:ext uri="{0D108BD9-81ED-4DB2-BD59-A6C34878D82A}">
                        <a16:rowId xmlns:a16="http://schemas.microsoft.com/office/drawing/2014/main" val="3505571263"/>
                      </a:ext>
                    </a:extLst>
                  </a:tr>
                  <a:tr h="333445">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Greg Foster</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3.9</m:t>
                                </m:r>
                              </m:oMath>
                            </m:oMathPara>
                          </a14:m>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–5.8</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tc>
                    <a:extLst>
                      <a:ext uri="{0D108BD9-81ED-4DB2-BD59-A6C34878D82A}">
                        <a16:rowId xmlns:a16="http://schemas.microsoft.com/office/drawing/2014/main" val="4146046882"/>
                      </a:ext>
                    </a:extLst>
                  </a:tr>
                </a:tbl>
              </a:graphicData>
            </a:graphic>
          </p:graphicFrame>
        </mc:Choice>
        <mc:Fallback>
          <p:graphicFrame>
            <p:nvGraphicFramePr>
              <p:cNvPr id="3" name="Table 2">
                <a:extLst>
                  <a:ext uri="{FF2B5EF4-FFF2-40B4-BE49-F238E27FC236}">
                    <a16:creationId xmlns:a16="http://schemas.microsoft.com/office/drawing/2014/main" id="{7CE96368-B032-CC4B-B6A7-8E69CCE29438}"/>
                  </a:ext>
                </a:extLst>
              </p:cNvPr>
              <p:cNvGraphicFramePr>
                <a:graphicFrameLocks noGrp="1"/>
              </p:cNvGraphicFramePr>
              <p:nvPr>
                <p:extLst>
                  <p:ext uri="{D42A27DB-BD31-4B8C-83A1-F6EECF244321}">
                    <p14:modId xmlns:p14="http://schemas.microsoft.com/office/powerpoint/2010/main" val="239340838"/>
                  </p:ext>
                </p:extLst>
              </p:nvPr>
            </p:nvGraphicFramePr>
            <p:xfrm>
              <a:off x="2442592" y="1816687"/>
              <a:ext cx="7306816" cy="3224626"/>
            </p:xfrm>
            <a:graphic>
              <a:graphicData uri="http://schemas.openxmlformats.org/drawingml/2006/table">
                <a:tbl>
                  <a:tblPr bandRow="1">
                    <a:tableStyleId>{A91F0D33-8C57-4600-99A7-42BC86742BE1}</a:tableStyleId>
                  </a:tblPr>
                  <a:tblGrid>
                    <a:gridCol w="2434622">
                      <a:extLst>
                        <a:ext uri="{9D8B030D-6E8A-4147-A177-3AD203B41FA5}">
                          <a16:colId xmlns:a16="http://schemas.microsoft.com/office/drawing/2014/main" val="2731425095"/>
                        </a:ext>
                      </a:extLst>
                    </a:gridCol>
                    <a:gridCol w="2436097">
                      <a:extLst>
                        <a:ext uri="{9D8B030D-6E8A-4147-A177-3AD203B41FA5}">
                          <a16:colId xmlns:a16="http://schemas.microsoft.com/office/drawing/2014/main" val="3658054931"/>
                        </a:ext>
                      </a:extLst>
                    </a:gridCol>
                    <a:gridCol w="2436097">
                      <a:extLst>
                        <a:ext uri="{9D8B030D-6E8A-4147-A177-3AD203B41FA5}">
                          <a16:colId xmlns:a16="http://schemas.microsoft.com/office/drawing/2014/main" val="2400814758"/>
                        </a:ext>
                      </a:extLst>
                    </a:gridCol>
                  </a:tblGrid>
                  <a:tr h="940162">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Player</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Average Points Per Game (p)</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Difference from Average (d)</a:t>
                          </a:r>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lumMod val="75000"/>
                          </a:schemeClr>
                        </a:solidFill>
                      </a:tcPr>
                    </a:tc>
                    <a:extLst>
                      <a:ext uri="{0D108BD9-81ED-4DB2-BD59-A6C34878D82A}">
                        <a16:rowId xmlns:a16="http://schemas.microsoft.com/office/drawing/2014/main" val="1903934174"/>
                      </a:ext>
                    </a:extLst>
                  </a:tr>
                  <a:tr h="333445">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LeBron James</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a:blip r:embed="rId5"/>
                          <a:stretch>
                            <a:fillRect l="-100521" t="-288462" r="-100521" b="-634615"/>
                          </a:stretch>
                        </a:blipFill>
                      </a:tcPr>
                    </a:tc>
                    <a:tc>
                      <a:txBody>
                        <a:bodyPr/>
                        <a:lstStyle/>
                        <a:p>
                          <a:endParaRPr lang="en-US"/>
                        </a:p>
                      </a:txBody>
                      <a:tcPr marL="68580" marR="68580" marT="0" marB="0" anchor="ctr">
                        <a:blipFill>
                          <a:blip r:embed="rId5"/>
                          <a:stretch>
                            <a:fillRect l="-200521" t="-288462" r="-521" b="-634615"/>
                          </a:stretch>
                        </a:blipFill>
                      </a:tcPr>
                    </a:tc>
                    <a:extLst>
                      <a:ext uri="{0D108BD9-81ED-4DB2-BD59-A6C34878D82A}">
                        <a16:rowId xmlns:a16="http://schemas.microsoft.com/office/drawing/2014/main" val="2810481114"/>
                      </a:ext>
                    </a:extLst>
                  </a:tr>
                  <a:tr h="333445">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Dwyane Wade</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a:blip r:embed="rId5"/>
                          <a:stretch>
                            <a:fillRect l="-100521" t="-374074" r="-100521" b="-511111"/>
                          </a:stretch>
                        </a:blipFill>
                      </a:tcPr>
                    </a:tc>
                    <a:tc>
                      <a:txBody>
                        <a:bodyPr/>
                        <a:lstStyle/>
                        <a:p>
                          <a:endParaRPr lang="en-US"/>
                        </a:p>
                      </a:txBody>
                      <a:tcPr marL="68580" marR="68580" marT="0" marB="0" anchor="ctr">
                        <a:blipFill>
                          <a:blip r:embed="rId5"/>
                          <a:stretch>
                            <a:fillRect l="-200521" t="-374074" r="-521" b="-511111"/>
                          </a:stretch>
                        </a:blipFill>
                      </a:tcPr>
                    </a:tc>
                    <a:extLst>
                      <a:ext uri="{0D108BD9-81ED-4DB2-BD59-A6C34878D82A}">
                        <a16:rowId xmlns:a16="http://schemas.microsoft.com/office/drawing/2014/main" val="4164808893"/>
                      </a:ext>
                    </a:extLst>
                  </a:tr>
                  <a:tr h="333445">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Mike Conley</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a:blip r:embed="rId5"/>
                          <a:stretch>
                            <a:fillRect l="-100521" t="-492308" r="-100521" b="-430769"/>
                          </a:stretch>
                        </a:blipFill>
                      </a:tcPr>
                    </a:tc>
                    <a:tc>
                      <a:txBody>
                        <a:bodyPr/>
                        <a:lstStyle/>
                        <a:p>
                          <a:endParaRPr lang="en-US"/>
                        </a:p>
                      </a:txBody>
                      <a:tcPr marL="68580" marR="68580" marT="0" marB="0" anchor="ctr">
                        <a:blipFill>
                          <a:blip r:embed="rId5"/>
                          <a:stretch>
                            <a:fillRect l="-200521" t="-492308" r="-521" b="-430769"/>
                          </a:stretch>
                        </a:blipFill>
                      </a:tcPr>
                    </a:tc>
                    <a:extLst>
                      <a:ext uri="{0D108BD9-81ED-4DB2-BD59-A6C34878D82A}">
                        <a16:rowId xmlns:a16="http://schemas.microsoft.com/office/drawing/2014/main" val="3456276986"/>
                      </a:ext>
                    </a:extLst>
                  </a:tr>
                  <a:tr h="617239">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Frank Brickowski</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a:blip r:embed="rId5"/>
                          <a:stretch>
                            <a:fillRect l="-100521" t="-320833" r="-100521" b="-133333"/>
                          </a:stretch>
                        </a:blipFill>
                      </a:tcPr>
                    </a:tc>
                    <a:tc>
                      <a:txBody>
                        <a:bodyPr/>
                        <a:lstStyle/>
                        <a:p>
                          <a:endParaRPr lang="en-US"/>
                        </a:p>
                      </a:txBody>
                      <a:tcPr marL="68580" marR="68580" marT="0" marB="0" anchor="ctr">
                        <a:blipFill>
                          <a:blip r:embed="rId5"/>
                          <a:stretch>
                            <a:fillRect l="-200521" t="-320833" r="-521" b="-133333"/>
                          </a:stretch>
                        </a:blipFill>
                      </a:tcPr>
                    </a:tc>
                    <a:extLst>
                      <a:ext uri="{0D108BD9-81ED-4DB2-BD59-A6C34878D82A}">
                        <a16:rowId xmlns:a16="http://schemas.microsoft.com/office/drawing/2014/main" val="4109139600"/>
                      </a:ext>
                    </a:extLst>
                  </a:tr>
                  <a:tr h="333445">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Robin Lopez</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a:blip r:embed="rId5"/>
                          <a:stretch>
                            <a:fillRect l="-100521" t="-748148" r="-100521" b="-137037"/>
                          </a:stretch>
                        </a:blipFill>
                      </a:tcPr>
                    </a:tc>
                    <a:tc>
                      <a:txBody>
                        <a:bodyPr/>
                        <a:lstStyle/>
                        <a:p>
                          <a:endParaRPr lang="en-US"/>
                        </a:p>
                      </a:txBody>
                      <a:tcPr marL="68580" marR="68580" marT="0" marB="0" anchor="ctr">
                        <a:blipFill>
                          <a:blip r:embed="rId5"/>
                          <a:stretch>
                            <a:fillRect l="-200521" t="-748148" r="-521" b="-137037"/>
                          </a:stretch>
                        </a:blipFill>
                      </a:tcPr>
                    </a:tc>
                    <a:extLst>
                      <a:ext uri="{0D108BD9-81ED-4DB2-BD59-A6C34878D82A}">
                        <a16:rowId xmlns:a16="http://schemas.microsoft.com/office/drawing/2014/main" val="3505571263"/>
                      </a:ext>
                    </a:extLst>
                  </a:tr>
                  <a:tr h="333445">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Greg Foster</a:t>
                          </a:r>
                          <a:endParaRPr lang="en-US" sz="20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endParaRPr lang="en-US"/>
                        </a:p>
                      </a:txBody>
                      <a:tcPr marL="68580" marR="68580" marT="0" marB="0" anchor="ctr">
                        <a:blipFill>
                          <a:blip r:embed="rId5"/>
                          <a:stretch>
                            <a:fillRect l="-100521" t="-880769" r="-100521" b="-42308"/>
                          </a:stretch>
                        </a:blipFill>
                      </a:tcPr>
                    </a:tc>
                    <a:tc>
                      <a:txBody>
                        <a:bodyPr/>
                        <a:lstStyle/>
                        <a:p>
                          <a:endParaRPr lang="en-US"/>
                        </a:p>
                      </a:txBody>
                      <a:tcPr marL="68580" marR="68580" marT="0" marB="0" anchor="ctr">
                        <a:blipFill>
                          <a:blip r:embed="rId5"/>
                          <a:stretch>
                            <a:fillRect l="-200521" t="-880769" r="-521" b="-42308"/>
                          </a:stretch>
                        </a:blipFill>
                      </a:tcPr>
                    </a:tc>
                    <a:extLst>
                      <a:ext uri="{0D108BD9-81ED-4DB2-BD59-A6C34878D82A}">
                        <a16:rowId xmlns:a16="http://schemas.microsoft.com/office/drawing/2014/main" val="4146046882"/>
                      </a:ext>
                    </a:extLst>
                  </a:tr>
                </a:tbl>
              </a:graphicData>
            </a:graphic>
          </p:graphicFrame>
        </mc:Fallback>
      </mc:AlternateContent>
    </p:spTree>
    <p:extLst>
      <p:ext uri="{BB962C8B-B14F-4D97-AF65-F5344CB8AC3E}">
        <p14:creationId xmlns:p14="http://schemas.microsoft.com/office/powerpoint/2010/main" val="1252111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225</a:t>
            </a:r>
          </a:p>
        </p:txBody>
      </p:sp>
      <p:sp>
        <p:nvSpPr>
          <p:cNvPr id="14" name="TextBox 13">
            <a:extLst>
              <a:ext uri="{FF2B5EF4-FFF2-40B4-BE49-F238E27FC236}">
                <a16:creationId xmlns:a16="http://schemas.microsoft.com/office/drawing/2014/main" id="{2FA392D8-3ED3-7940-83A8-1451AA8A08D4}"/>
              </a:ext>
            </a:extLst>
          </p:cNvPr>
          <p:cNvSpPr txBox="1"/>
          <p:nvPr/>
        </p:nvSpPr>
        <p:spPr>
          <a:xfrm>
            <a:off x="111600" y="545073"/>
            <a:ext cx="8327136" cy="400110"/>
          </a:xfrm>
          <a:prstGeom prst="rect">
            <a:avLst/>
          </a:prstGeom>
          <a:noFill/>
        </p:spPr>
        <p:txBody>
          <a:bodyPr wrap="square" rtlCol="0">
            <a:spAutoFit/>
          </a:bodyPr>
          <a:lstStyle/>
          <a:p>
            <a:pPr marL="412750"/>
            <a:r>
              <a:rPr lang="en-US" sz="2000" dirty="0">
                <a:latin typeface="Verdana" panose="020B0604030504040204" pitchFamily="34" charset="0"/>
                <a:ea typeface="Verdana" panose="020B0604030504040204" pitchFamily="34" charset="0"/>
                <a:cs typeface="Verdana" panose="020B0604030504040204" pitchFamily="34" charset="0"/>
              </a:rPr>
              <a:t>Graph the points from the table on the coordinate grid.</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pic>
        <p:nvPicPr>
          <p:cNvPr id="6" name="image21.png" descr="Chart, table&#10;&#10;Description automatically generated">
            <a:extLst>
              <a:ext uri="{FF2B5EF4-FFF2-40B4-BE49-F238E27FC236}">
                <a16:creationId xmlns:a16="http://schemas.microsoft.com/office/drawing/2014/main" id="{F315426A-95C5-DF4D-975D-95A256CA77C7}"/>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3245911" y="1073719"/>
            <a:ext cx="5700178" cy="5126881"/>
          </a:xfrm>
          <a:prstGeom prst="rect">
            <a:avLst/>
          </a:prstGeom>
          <a:ln/>
        </p:spPr>
      </p:pic>
    </p:spTree>
    <p:extLst>
      <p:ext uri="{BB962C8B-B14F-4D97-AF65-F5344CB8AC3E}">
        <p14:creationId xmlns:p14="http://schemas.microsoft.com/office/powerpoint/2010/main" val="3581530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226</a:t>
            </a:r>
          </a:p>
        </p:txBody>
      </p:sp>
      <p:pic>
        <p:nvPicPr>
          <p:cNvPr id="311" name="Google Shape;311;g104476d1465_1_39"/>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66979"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741688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226</a:t>
            </a:r>
          </a:p>
        </p:txBody>
      </p:sp>
      <p:pic>
        <p:nvPicPr>
          <p:cNvPr id="283" name="Google Shape;283;g104476d1465_1_17"/>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28438" y="-880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5.4.5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0370EDB7-6994-3D43-ABF9-E04CBAFB9CD9}"/>
                  </a:ext>
                </a:extLst>
              </p:cNvPr>
              <p:cNvSpPr txBox="1"/>
              <p:nvPr/>
            </p:nvSpPr>
            <p:spPr>
              <a:xfrm>
                <a:off x="730266" y="1237668"/>
                <a:ext cx="11095974" cy="347787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Think about what you have learned in the past four lessons about plotting points. As you read each statement, consider which best describes your understanding right now.</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 need help plotting points. I’m not sure where to begin.</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 can plot points with integers on a coordinate grid with a scale of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but I still need help with rational numbers and different scales.</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 can plot points with decimals on a coordinate grid with a tenths scale, but I still need help with points that are fractions.</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 can plot points with rational numbers that are decimals or fractions using any scale.</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730266" y="1237668"/>
                <a:ext cx="11095974" cy="3477875"/>
              </a:xfrm>
              <a:prstGeom prst="rect">
                <a:avLst/>
              </a:prstGeom>
              <a:blipFill>
                <a:blip r:embed="rId5"/>
                <a:stretch>
                  <a:fillRect l="-571" t="-727" r="-1029" b="-2182"/>
                </a:stretch>
              </a:blipFill>
            </p:spPr>
            <p:txBody>
              <a:bodyPr/>
              <a:lstStyle/>
              <a:p>
                <a:r>
                  <a:rPr lang="en-US">
                    <a:noFill/>
                  </a:rPr>
                  <a:t> </a:t>
                </a:r>
              </a:p>
            </p:txBody>
          </p:sp>
        </mc:Fallback>
      </mc:AlternateContent>
    </p:spTree>
    <p:extLst>
      <p:ext uri="{BB962C8B-B14F-4D97-AF65-F5344CB8AC3E}">
        <p14:creationId xmlns:p14="http://schemas.microsoft.com/office/powerpoint/2010/main" val="1600762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226</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396588" y="682953"/>
                <a:ext cx="11419492" cy="378565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Explain which number from the list best describes you.</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Write a plan for what you can do to either move to number </a:t>
                </a:r>
                <a14:m>
                  <m:oMath xmlns:m="http://schemas.openxmlformats.org/officeDocument/2006/math">
                    <m:r>
                      <a:rPr lang="en-US" sz="2000" i="1">
                        <a:latin typeface="Cambria Math" panose="02040503050406030204" pitchFamily="18" charset="0"/>
                      </a:rPr>
                      <m:t>4 </m:t>
                    </m:r>
                  </m:oMath>
                </a14:m>
                <a:r>
                  <a:rPr lang="en-US" sz="2000" dirty="0">
                    <a:latin typeface="Verdana" panose="020B0604030504040204" pitchFamily="34" charset="0"/>
                    <a:ea typeface="Verdana" panose="020B0604030504040204" pitchFamily="34" charset="0"/>
                    <a:cs typeface="Verdana" panose="020B0604030504040204" pitchFamily="34" charset="0"/>
                  </a:rPr>
                  <a:t>or to help a classmate move to number </a:t>
                </a:r>
                <a14:m>
                  <m:oMath xmlns:m="http://schemas.openxmlformats.org/officeDocument/2006/math">
                    <m:r>
                      <a:rPr lang="en-US" sz="2000" i="1">
                        <a:latin typeface="Cambria Math" panose="02040503050406030204" pitchFamily="18"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96588" y="682953"/>
                <a:ext cx="11419492" cy="3785652"/>
              </a:xfrm>
              <a:prstGeom prst="rect">
                <a:avLst/>
              </a:prstGeom>
              <a:blipFill>
                <a:blip r:embed="rId4"/>
                <a:stretch>
                  <a:fillRect l="-556" t="-669" r="-556" b="-2007"/>
                </a:stretch>
              </a:blipFill>
            </p:spPr>
            <p:txBody>
              <a:bodyPr/>
              <a:lstStyle/>
              <a:p>
                <a:r>
                  <a:rPr lang="en-US">
                    <a:noFill/>
                  </a:rPr>
                  <a:t> </a:t>
                </a:r>
              </a:p>
            </p:txBody>
          </p:sp>
        </mc:Fallback>
      </mc:AlternateContent>
    </p:spTree>
    <p:extLst>
      <p:ext uri="{BB962C8B-B14F-4D97-AF65-F5344CB8AC3E}">
        <p14:creationId xmlns:p14="http://schemas.microsoft.com/office/powerpoint/2010/main" val="186891974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9762</TotalTime>
  <Words>1088</Words>
  <Application>Microsoft Macintosh PowerPoint</Application>
  <PresentationFormat>Widescreen</PresentationFormat>
  <Paragraphs>211</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Calibri</vt:lpstr>
      <vt:lpstr>Arial Black</vt:lpstr>
      <vt:lpstr>Cambria Math</vt:lpstr>
      <vt:lpstr>Arial</vt:lpstr>
      <vt:lpstr>Wingdings</vt:lpstr>
      <vt:lpstr>Verdana</vt:lpstr>
      <vt:lpstr>Century Gothic</vt:lpstr>
      <vt:lpstr>1_Office Theme</vt:lpstr>
      <vt:lpstr>6th Grade Math  Unit 5, Lesson 4  Points on the Coordinate Plane – Part 2  Volume 1, pg. 221  </vt:lpstr>
      <vt:lpstr>Benchmark</vt:lpstr>
      <vt:lpstr>PowerPoint Presentation</vt:lpstr>
      <vt:lpstr>PowerPoint Presentation</vt:lpstr>
      <vt:lpstr>Warm-Up</vt:lpstr>
      <vt:lpstr>PowerPoint Presentation</vt:lpstr>
      <vt:lpstr>PowerPoint Presentation</vt:lpstr>
      <vt:lpstr>Try It</vt:lpstr>
      <vt:lpstr>PowerPoint Presentation</vt:lpstr>
      <vt:lpstr>PowerPoint Presentation</vt:lpstr>
      <vt:lpstr>PowerPoint Presentation</vt:lpstr>
      <vt:lpstr>Collaboration</vt:lpstr>
      <vt:lpstr>PowerPoint Presentation</vt:lpstr>
      <vt:lpstr>PowerPoint Presentation</vt:lpstr>
      <vt:lpstr>Your Turn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Dubina,Katherine V</cp:lastModifiedBy>
  <cp:revision>19</cp:revision>
  <dcterms:created xsi:type="dcterms:W3CDTF">2015-03-17T18:51:18Z</dcterms:created>
  <dcterms:modified xsi:type="dcterms:W3CDTF">2022-03-29T20:03:35Z</dcterms:modified>
</cp:coreProperties>
</file>