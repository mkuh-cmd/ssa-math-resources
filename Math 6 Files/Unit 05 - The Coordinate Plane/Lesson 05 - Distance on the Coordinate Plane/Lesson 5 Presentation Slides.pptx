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3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289" r:id="rId11"/>
    <p:sldId id="290" r:id="rId12"/>
    <p:sldId id="365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23" r:id="rId21"/>
    <p:sldId id="324" r:id="rId22"/>
    <p:sldId id="366" r:id="rId23"/>
    <p:sldId id="378" r:id="rId24"/>
    <p:sldId id="379" r:id="rId25"/>
    <p:sldId id="302" r:id="rId26"/>
    <p:sldId id="303" r:id="rId27"/>
    <p:sldId id="369" r:id="rId28"/>
    <p:sldId id="380" r:id="rId29"/>
    <p:sldId id="381" r:id="rId30"/>
    <p:sldId id="382" r:id="rId31"/>
    <p:sldId id="306" r:id="rId32"/>
    <p:sldId id="307" r:id="rId33"/>
  </p:sldIdLst>
  <p:sldSz cx="12192000" cy="6858000"/>
  <p:notesSz cx="6858000" cy="9144000"/>
  <p:embeddedFontLst>
    <p:embeddedFont>
      <p:font typeface="Arial Black" panose="020B0604020202020204" pitchFamily="34" charset="0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Century Gothic" panose="020B0502020202020204" pitchFamily="34" charset="0"/>
      <p:regular r:id="rId45"/>
      <p:bold r:id="rId46"/>
      <p:italic r:id="rId47"/>
      <p:boldItalic r:id="rId48"/>
    </p:embeddedFont>
    <p:embeddedFont>
      <p:font typeface="Verdana" panose="020B060403050404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/>
    <p:restoredTop sz="94694"/>
  </p:normalViewPr>
  <p:slideViewPr>
    <p:cSldViewPr snapToGrid="0">
      <p:cViewPr varScale="1">
        <p:scale>
          <a:sx n="117" d="100"/>
          <a:sy n="117" d="100"/>
        </p:scale>
        <p:origin x="89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63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customXml" Target="../customXml/item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575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1437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3126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4223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7769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0631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5780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868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9452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966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869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5875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25860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63929" y="2054276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Distance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226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3916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266" y="948468"/>
                <a:ext cx="10897052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35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MA.6.GR.1.2</a:t>
                </a:r>
              </a:p>
              <a:p>
                <a:pPr indent="0">
                  <a:buNone/>
                </a:pPr>
                <a:r>
                  <a:rPr lang="en-US" sz="35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Find 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distances between ordered pairs, limited to the same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or the same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-coordinate, represented on the coordinate plane.</a:t>
                </a:r>
              </a:p>
              <a:p>
                <a:pPr indent="0">
                  <a:buNone/>
                </a:pPr>
                <a:endParaRPr lang="en-US" dirty="0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948468"/>
                <a:ext cx="10897052" cy="4205700"/>
              </a:xfrm>
              <a:prstGeom prst="rect">
                <a:avLst/>
              </a:prstGeom>
              <a:blipFill>
                <a:blip r:embed="rId5"/>
                <a:stretch>
                  <a:fillRect l="-1630" t="-901" r="-2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85855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52912" y="1128563"/>
            <a:ext cx="109455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I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find the distance between two ordered pairs.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1710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5.5.1 Warm-Up: A Point on the Number Line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311557"/>
                <a:ext cx="10820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all numbers that could be the location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11557"/>
                <a:ext cx="10820050" cy="400110"/>
              </a:xfrm>
              <a:prstGeom prst="rect">
                <a:avLst/>
              </a:prstGeom>
              <a:blipFill>
                <a:blip r:embed="rId5"/>
                <a:stretch>
                  <a:fillRect l="-586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AECB848-D5E4-644B-861C-160845BC5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26761"/>
                  </p:ext>
                </p:extLst>
              </p:nvPr>
            </p:nvGraphicFramePr>
            <p:xfrm>
              <a:off x="2714761" y="2474192"/>
              <a:ext cx="2600326" cy="243649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00163">
                      <a:extLst>
                        <a:ext uri="{9D8B030D-6E8A-4147-A177-3AD203B41FA5}">
                          <a16:colId xmlns:a16="http://schemas.microsoft.com/office/drawing/2014/main" val="1303920006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3632531085"/>
                        </a:ext>
                      </a:extLst>
                    </a:gridCol>
                  </a:tblGrid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1766746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67298873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959685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AECB848-D5E4-644B-861C-160845BC5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26761"/>
                  </p:ext>
                </p:extLst>
              </p:nvPr>
            </p:nvGraphicFramePr>
            <p:xfrm>
              <a:off x="2714761" y="2474192"/>
              <a:ext cx="2600326" cy="243649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00163">
                      <a:extLst>
                        <a:ext uri="{9D8B030D-6E8A-4147-A177-3AD203B41FA5}">
                          <a16:colId xmlns:a16="http://schemas.microsoft.com/office/drawing/2014/main" val="1303920006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3632531085"/>
                        </a:ext>
                      </a:extLst>
                    </a:gridCol>
                  </a:tblGrid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100000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b="-2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766746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98462" r="-100000" b="-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98462" b="-9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298873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0156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2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96856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B780EA1-81C6-6F41-BDBF-B14D341D7EB7}"/>
              </a:ext>
            </a:extLst>
          </p:cNvPr>
          <p:cNvGrpSpPr/>
          <p:nvPr/>
        </p:nvGrpSpPr>
        <p:grpSpPr>
          <a:xfrm>
            <a:off x="6798537" y="2093911"/>
            <a:ext cx="1657486" cy="4106689"/>
            <a:chOff x="4631625" y="1866110"/>
            <a:chExt cx="1428750" cy="382778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D0F0F97-5F22-8943-B445-E623F84FF17F}"/>
                </a:ext>
              </a:extLst>
            </p:cNvPr>
            <p:cNvGrpSpPr/>
            <p:nvPr/>
          </p:nvGrpSpPr>
          <p:grpSpPr>
            <a:xfrm>
              <a:off x="4631625" y="1866110"/>
              <a:ext cx="1428750" cy="3827780"/>
              <a:chOff x="0" y="0"/>
              <a:chExt cx="1428750" cy="382778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8392CED-C640-224A-B739-4C4E3685EF49}"/>
                  </a:ext>
                </a:extLst>
              </p:cNvPr>
              <p:cNvSpPr/>
              <p:nvPr/>
            </p:nvSpPr>
            <p:spPr>
              <a:xfrm>
                <a:off x="0" y="0"/>
                <a:ext cx="1428750" cy="3827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pic>
            <p:nvPicPr>
              <p:cNvPr id="12" name="Shape 9">
                <a:extLst>
                  <a:ext uri="{FF2B5EF4-FFF2-40B4-BE49-F238E27FC236}">
                    <a16:creationId xmlns:a16="http://schemas.microsoft.com/office/drawing/2014/main" id="{1D9D21FB-A36B-A54B-9CD0-23DCD398390F}"/>
                  </a:ext>
                </a:extLst>
              </p:cNvPr>
              <p:cNvPicPr preferRelativeResize="0"/>
              <p:nvPr/>
            </p:nvPicPr>
            <p:blipFill rotWithShape="1">
              <a:blip r:embed="rId7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416" r="28264"/>
              <a:stretch/>
            </p:blipFill>
            <p:spPr>
              <a:xfrm>
                <a:off x="0" y="0"/>
                <a:ext cx="1428750" cy="38277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5EE22AE-EFF7-EB4E-A89F-C7774FC480E8}"/>
                  </a:ext>
                </a:extLst>
              </p:cNvPr>
              <p:cNvSpPr/>
              <p:nvPr/>
            </p:nvSpPr>
            <p:spPr>
              <a:xfrm>
                <a:off x="749300" y="3111500"/>
                <a:ext cx="142875" cy="12382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4A7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5.5.2 Collaboration: Who Is Correct?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1519" y="1386025"/>
            <a:ext cx="11059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locations of three islands in the ocean are given using ordered pairs.</a:t>
            </a:r>
          </a:p>
        </p:txBody>
      </p:sp>
      <p:pic>
        <p:nvPicPr>
          <p:cNvPr id="11" name="image21.png" descr="A picture containing holding, orange, woman, phone&#10;&#10;Description automatically generated">
            <a:extLst>
              <a:ext uri="{FF2B5EF4-FFF2-40B4-BE49-F238E27FC236}">
                <a16:creationId xmlns:a16="http://schemas.microsoft.com/office/drawing/2014/main" id="{A1AFF88D-C3BC-F24D-B77C-0323C56FD540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158568" y="2115676"/>
            <a:ext cx="3874864" cy="40124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78786" y="366390"/>
            <a:ext cx="114084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students described the distance between each island.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who you think is correct. Write a summary of your discussion.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who you think is correct. Write a summary of your discussion.</a:t>
            </a: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CFE8570-7A50-3745-A4CD-F9D6BBEEC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56779"/>
                  </p:ext>
                </p:extLst>
              </p:nvPr>
            </p:nvGraphicFramePr>
            <p:xfrm>
              <a:off x="2982593" y="1353745"/>
              <a:ext cx="64008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876253475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18681613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64659966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36471548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550559028"/>
                        </a:ext>
                      </a:extLst>
                    </a:gridCol>
                  </a:tblGrid>
                  <a:tr h="2892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Braxton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less than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B.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Justine disagrees with him and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greater than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Rainey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 to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198135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CFE8570-7A50-3745-A4CD-F9D6BBEEC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56779"/>
                  </p:ext>
                </p:extLst>
              </p:nvPr>
            </p:nvGraphicFramePr>
            <p:xfrm>
              <a:off x="2982593" y="1353745"/>
              <a:ext cx="64008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876253475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18681613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64659966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36471548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550559028"/>
                        </a:ext>
                      </a:extLst>
                    </a:gridCol>
                  </a:tblGrid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76" r="-251389" b="-44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4138" t="-2076" r="-124828" b="-44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0694" t="-2076" r="-694" b="-44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98135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88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3916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3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5.5.3 Guided Instruction: Distance on the Coordinate Plane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30265" y="1276175"/>
                <a:ext cx="10906677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coordinates of two small islands are labeled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graph.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Counting the grid lines, how far apart are the islands?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76175"/>
                <a:ext cx="10906677" cy="4616648"/>
              </a:xfrm>
              <a:prstGeom prst="rect">
                <a:avLst/>
              </a:prstGeom>
              <a:blipFill>
                <a:blip r:embed="rId5"/>
                <a:stretch>
                  <a:fillRect l="-581" t="-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26.png">
            <a:extLst>
              <a:ext uri="{FF2B5EF4-FFF2-40B4-BE49-F238E27FC236}">
                <a16:creationId xmlns:a16="http://schemas.microsoft.com/office/drawing/2014/main" id="{52EB7759-5DC4-8B44-9CDF-CC85C3431F53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42347" y="1754549"/>
            <a:ext cx="3307306" cy="306495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599" y="530018"/>
                <a:ext cx="10764947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4488"/>
                <a:r>
                  <a:rPr lang="en-US" sz="20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 ____)</a:t>
                </a:r>
              </a:p>
              <a:p>
                <a:pPr marL="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4488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 ____)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99" y="530018"/>
                <a:ext cx="10764947" cy="1631216"/>
              </a:xfrm>
              <a:prstGeom prst="rect">
                <a:avLst/>
              </a:prstGeom>
              <a:blipFill>
                <a:blip r:embed="rId4"/>
                <a:stretch>
                  <a:fillRect t="-2308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539643"/>
                <a:ext cx="832713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-coordinates of the two points are the same.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 two points relative to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539643"/>
                <a:ext cx="8327136" cy="3785652"/>
              </a:xfrm>
              <a:prstGeom prst="rect">
                <a:avLst/>
              </a:prstGeom>
              <a:blipFill>
                <a:blip r:embed="rId4"/>
                <a:stretch>
                  <a:fillRect t="-1003" r="-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D836073-AD38-6841-B1CC-77250CBE7DFC}"/>
              </a:ext>
            </a:extLst>
          </p:cNvPr>
          <p:cNvGrpSpPr/>
          <p:nvPr/>
        </p:nvGrpSpPr>
        <p:grpSpPr>
          <a:xfrm>
            <a:off x="2630635" y="2902267"/>
            <a:ext cx="6780065" cy="2922200"/>
            <a:chOff x="2031300" y="3252960"/>
            <a:chExt cx="6780065" cy="29239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53347E5-A3C7-D047-98D8-04B2DF30698C}"/>
                </a:ext>
              </a:extLst>
            </p:cNvPr>
            <p:cNvGrpSpPr/>
            <p:nvPr/>
          </p:nvGrpSpPr>
          <p:grpSpPr>
            <a:xfrm>
              <a:off x="2031300" y="3252960"/>
              <a:ext cx="6780065" cy="2923903"/>
              <a:chOff x="2031300" y="3252877"/>
              <a:chExt cx="6780065" cy="292430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A08FDF-B63A-A443-A49A-9671021AD333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36EF8BB-58FD-774E-A1AC-2E05651F6311}"/>
                  </a:ext>
                </a:extLst>
              </p:cNvPr>
              <p:cNvGrpSpPr/>
              <p:nvPr/>
            </p:nvGrpSpPr>
            <p:grpSpPr>
              <a:xfrm>
                <a:off x="2031300" y="3252877"/>
                <a:ext cx="6780065" cy="2924309"/>
                <a:chOff x="2031300" y="3252877"/>
                <a:chExt cx="6780065" cy="2924309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F01D1B8-3122-844F-B280-9F3102F84687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FB3BBFC5-C03A-BE48-B6FE-29C885A82459}"/>
                    </a:ext>
                  </a:extLst>
                </p:cNvPr>
                <p:cNvGrpSpPr/>
                <p:nvPr/>
              </p:nvGrpSpPr>
              <p:grpSpPr>
                <a:xfrm>
                  <a:off x="2031300" y="3252878"/>
                  <a:ext cx="6780065" cy="2924308"/>
                  <a:chOff x="2031300" y="3262288"/>
                  <a:chExt cx="6780065" cy="2872098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196B871-FD21-7048-906F-81562F0125E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62288"/>
                    <a:ext cx="6629400" cy="1035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855E7B47-6D6C-5843-AE00-8B3B2EEF99F5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262288"/>
                    <a:ext cx="6780065" cy="2872098"/>
                    <a:chOff x="2031300" y="3373600"/>
                    <a:chExt cx="6780065" cy="2872098"/>
                  </a:xfrm>
                </p:grpSpPr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8DEBBA07-8CBE-A041-8DEA-B4D37D1E2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373600"/>
                      <a:ext cx="6629400" cy="1035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55962E8A-167C-F74D-8B96-4CDB2FB617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373600"/>
                      <a:ext cx="6780065" cy="2872098"/>
                      <a:chOff x="2031300" y="3373600"/>
                      <a:chExt cx="6780065" cy="2872098"/>
                    </a:xfrm>
                  </p:grpSpPr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AF27C7C9-FA27-8042-B38C-C5C0B71365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373600"/>
                        <a:ext cx="6629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40A73BC5-6F2E-684F-A619-C2AB7D0A0D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373600"/>
                        <a:ext cx="6780065" cy="2872098"/>
                        <a:chOff x="0" y="0"/>
                        <a:chExt cx="6780065" cy="2872098"/>
                      </a:xfrm>
                    </p:grpSpPr>
                    <p:sp>
                      <p:nvSpPr>
                        <p:cNvPr id="20" name="Rectangle 19">
                          <a:extLst>
                            <a:ext uri="{FF2B5EF4-FFF2-40B4-BE49-F238E27FC236}">
                              <a16:creationId xmlns:a16="http://schemas.microsoft.com/office/drawing/2014/main" id="{7797750A-63BF-3D40-93DB-78350E0577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</a:p>
                      </p:txBody>
                    </p:sp>
                    <p:sp>
                      <p:nvSpPr>
                        <p:cNvPr id="21" name="Rounded Rectangle 20">
                          <a:extLst>
                            <a:ext uri="{FF2B5EF4-FFF2-40B4-BE49-F238E27FC236}">
                              <a16:creationId xmlns:a16="http://schemas.microsoft.com/office/drawing/2014/main" id="{10E68863-1C70-DF46-9FD0-43C5668C9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0665" y="1921064"/>
                          <a:ext cx="6629400" cy="95103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E2EED5"/>
                        </a:solid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685800" algn="just"/>
                          <a:endParaRPr lang="en-US" sz="20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85800" algn="just"/>
                          <a:r>
                            <a:rPr lang="en-US" sz="20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a number is from zero (0) on a number line is called the </a:t>
                          </a:r>
                          <a:r>
                            <a:rPr lang="en-US" sz="2000" b="1" i="1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absolute value</a:t>
                          </a:r>
                          <a:r>
                            <a:rPr lang="en-US" sz="20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000" dirty="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685800" indent="2743200" algn="just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 </a:t>
                          </a:r>
                        </a:p>
                      </p:txBody>
                    </p:sp>
                    <p:pic>
                      <p:nvPicPr>
                        <p:cNvPr id="22" name="Shape 29" descr="Icon&#10;&#10;Description automatically generated">
                          <a:extLst>
                            <a:ext uri="{FF2B5EF4-FFF2-40B4-BE49-F238E27FC236}">
                              <a16:creationId xmlns:a16="http://schemas.microsoft.com/office/drawing/2014/main" id="{47871D10-28BE-4648-886C-7A44A751E58D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5" cstate="screen">
                          <a:alphaModFix/>
                          <a:extLst>
                            <a:ext uri="{28A0092B-C50C-407E-A947-70E740481C1C}">
                              <a14:useLocalDpi xmlns:a14="http://schemas.microsoft.com/office/drawing/2010/main"/>
                            </a:ext>
                          </a:extLst>
                        </a:blip>
                        <a:srcRect/>
                        <a:stretch/>
                      </p:blipFill>
                      <p:spPr>
                        <a:xfrm>
                          <a:off x="328715" y="2143663"/>
                          <a:ext cx="5397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</p:pic>
                  </p:grpSp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48877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9596" y="645522"/>
                <a:ext cx="1152535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absolute value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of each point?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mathematical sentence using absolute value that can be used to determine how far apart the two islands are.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96" y="645522"/>
                <a:ext cx="11525356" cy="3477875"/>
              </a:xfrm>
              <a:prstGeom prst="rect">
                <a:avLst/>
              </a:prstGeom>
              <a:blipFill>
                <a:blip r:embed="rId4"/>
                <a:stretch>
                  <a:fillRect l="-661" t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36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5" y="505122"/>
                <a:ext cx="11569399" cy="5847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Below is another coordinate plane with two different islands located at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is the location of these two islands different from the first two you worked with?</a:t>
                </a:r>
              </a:p>
              <a:p>
                <a:r>
                  <a:rPr lang="en-US" dirty="0"/>
                  <a:t> </a:t>
                </a:r>
              </a:p>
              <a:p>
                <a:pPr marL="914400" indent="-449263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5" y="505122"/>
                <a:ext cx="11569399" cy="5847755"/>
              </a:xfrm>
              <a:prstGeom prst="rect">
                <a:avLst/>
              </a:prstGeom>
              <a:blipFill>
                <a:blip r:embed="rId4"/>
                <a:stretch>
                  <a:fillRect l="-548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33.png" descr="Chart, scatter chart&#10;&#10;Description automatically generated">
            <a:extLst>
              <a:ext uri="{FF2B5EF4-FFF2-40B4-BE49-F238E27FC236}">
                <a16:creationId xmlns:a16="http://schemas.microsoft.com/office/drawing/2014/main" id="{2D68F6C3-1DAA-924B-BCF8-1DD750AA211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09674" y="1308932"/>
            <a:ext cx="3604899" cy="353096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0748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539644"/>
                <a:ext cx="1125583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Counting the grid lines, how far apart are the islands?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(____,____)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7938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(____,____)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539644"/>
                <a:ext cx="11255836" cy="3785652"/>
              </a:xfrm>
              <a:prstGeom prst="rect">
                <a:avLst/>
              </a:prstGeom>
              <a:blipFill>
                <a:blip r:embed="rId4"/>
                <a:stretch>
                  <a:fillRect l="-338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3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23200" y="568289"/>
                <a:ext cx="1169287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-coordinates of the two points are the same.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 two points relative to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absolute value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of each point?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00" y="568289"/>
                <a:ext cx="11692876" cy="4708981"/>
              </a:xfrm>
              <a:prstGeom prst="rect">
                <a:avLst/>
              </a:prstGeom>
              <a:blipFill>
                <a:blip r:embed="rId4"/>
                <a:stretch>
                  <a:fillRect t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066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589150"/>
                <a:ext cx="1177153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mathematical sentence using absolute value that can be used to determine how far apart the two islands are.</a:t>
                </a: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finding the horizontal distance between two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that lie on the same line, if the points are on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opposite sides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                   the absolute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 of the unlike coordinates. If the points are on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same side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then                     the absolute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values of the unlike coordinates.  </a:t>
                </a:r>
              </a:p>
              <a:p>
                <a:pPr marL="914400" indent="-449263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589150"/>
                <a:ext cx="11771530" cy="5632311"/>
              </a:xfrm>
              <a:prstGeom prst="rect">
                <a:avLst/>
              </a:prstGeom>
              <a:blipFill>
                <a:blip r:embed="rId4"/>
                <a:stretch>
                  <a:fillRect l="-539" t="-674" r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6F391-90AE-A74F-AFF7-389B474DF11B}"/>
              </a:ext>
            </a:extLst>
          </p:cNvPr>
          <p:cNvSpPr/>
          <p:nvPr/>
        </p:nvSpPr>
        <p:spPr>
          <a:xfrm>
            <a:off x="4535852" y="3429000"/>
            <a:ext cx="1661297" cy="78935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</a:p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 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D9765D-B886-E143-9163-EA89065947AB}"/>
              </a:ext>
            </a:extLst>
          </p:cNvPr>
          <p:cNvSpPr/>
          <p:nvPr/>
        </p:nvSpPr>
        <p:spPr>
          <a:xfrm>
            <a:off x="4670524" y="4700620"/>
            <a:ext cx="1661297" cy="78935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</a:p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  </a:t>
            </a:r>
          </a:p>
        </p:txBody>
      </p:sp>
    </p:spTree>
    <p:extLst>
      <p:ext uri="{BB962C8B-B14F-4D97-AF65-F5344CB8AC3E}">
        <p14:creationId xmlns:p14="http://schemas.microsoft.com/office/powerpoint/2010/main" val="406600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472265"/>
                <a:ext cx="1135208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finding the vertical distance between two points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lie on the same line, if the points are on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opposite sides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                    the absolute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 of the unlike coordinates. If the points are on the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same side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then                     the absolute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 of the unlike coordinates.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472265"/>
                <a:ext cx="11352088" cy="5016758"/>
              </a:xfrm>
              <a:prstGeom prst="rect">
                <a:avLst/>
              </a:prstGeom>
              <a:blipFill>
                <a:blip r:embed="rId4"/>
                <a:stretch>
                  <a:fillRect t="-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6F391-90AE-A74F-AFF7-389B474DF11B}"/>
              </a:ext>
            </a:extLst>
          </p:cNvPr>
          <p:cNvSpPr/>
          <p:nvPr/>
        </p:nvSpPr>
        <p:spPr>
          <a:xfrm>
            <a:off x="4307439" y="1489045"/>
            <a:ext cx="1661297" cy="78935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</a:p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 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D9765D-B886-E143-9163-EA89065947AB}"/>
              </a:ext>
            </a:extLst>
          </p:cNvPr>
          <p:cNvSpPr/>
          <p:nvPr/>
        </p:nvSpPr>
        <p:spPr>
          <a:xfrm>
            <a:off x="4521331" y="2750661"/>
            <a:ext cx="1661297" cy="78935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</a:p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  </a:t>
            </a:r>
          </a:p>
        </p:txBody>
      </p:sp>
    </p:spTree>
    <p:extLst>
      <p:ext uri="{BB962C8B-B14F-4D97-AF65-F5344CB8AC3E}">
        <p14:creationId xmlns:p14="http://schemas.microsoft.com/office/powerpoint/2010/main" val="221172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89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908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3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5.5.4 Guided Practice: Distances Between Rational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20" y="1325700"/>
                <a:ext cx="10915048" cy="960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)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)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  <a:p>
                <a:r>
                  <a:rPr lang="en-US" i="1" dirty="0"/>
                  <a:t> </a:t>
                </a:r>
                <a:endParaRPr lang="en-US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25700"/>
                <a:ext cx="10915048" cy="960071"/>
              </a:xfrm>
              <a:prstGeom prst="rect">
                <a:avLst/>
              </a:prstGeom>
              <a:blipFill>
                <a:blip r:embed="rId5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8.png" descr="Chart, line chart&#10;&#10;Description automatically generated">
            <a:extLst>
              <a:ext uri="{FF2B5EF4-FFF2-40B4-BE49-F238E27FC236}">
                <a16:creationId xmlns:a16="http://schemas.microsoft.com/office/drawing/2014/main" id="{3A5D9E5C-86C7-9F48-BD5F-B9FF8BA0BC8B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5397" y="2061603"/>
            <a:ext cx="4581206" cy="40267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646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7954" y="530019"/>
                <a:ext cx="832713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these points relative to the origin and the quadrants they lie in.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between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4" y="530019"/>
                <a:ext cx="8327136" cy="2554545"/>
              </a:xfrm>
              <a:prstGeom prst="rect">
                <a:avLst/>
              </a:prstGeom>
              <a:blipFill>
                <a:blip r:embed="rId4"/>
                <a:stretch>
                  <a:fillRect t="-1485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709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7768" y="500947"/>
                <a:ext cx="11002547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−4, −3.25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)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(−4, −0.5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)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plane.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these points relative to the origin and the quadrants they lie in.</a:t>
                </a:r>
              </a:p>
              <a:p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68" y="500947"/>
                <a:ext cx="11002547" cy="5539978"/>
              </a:xfrm>
              <a:prstGeom prst="rect">
                <a:avLst/>
              </a:prstGeom>
              <a:blipFill>
                <a:blip r:embed="rId4"/>
                <a:stretch>
                  <a:fillRect l="-692" t="-686" r="-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24.png" descr="Chart, line chart&#10;&#10;Description automatically generated">
            <a:extLst>
              <a:ext uri="{FF2B5EF4-FFF2-40B4-BE49-F238E27FC236}">
                <a16:creationId xmlns:a16="http://schemas.microsoft.com/office/drawing/2014/main" id="{843C447A-F493-5D49-9184-D925F2AAF5EE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119154" y="1064738"/>
            <a:ext cx="3953692" cy="350955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8585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600" y="501143"/>
                <a:ext cx="832713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between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501143"/>
                <a:ext cx="8327136" cy="1446550"/>
              </a:xfrm>
              <a:prstGeom prst="rect">
                <a:avLst/>
              </a:prstGeom>
              <a:blipFill>
                <a:blip r:embed="rId4"/>
                <a:stretch>
                  <a:fillRect t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77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000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5.5.5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384981"/>
                <a:ext cx="8327136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84981"/>
                <a:ext cx="8327136" cy="615553"/>
              </a:xfrm>
              <a:prstGeom prst="rect">
                <a:avLst/>
              </a:prstGeom>
              <a:blipFill>
                <a:blip r:embed="rId5"/>
                <a:stretch>
                  <a:fillRect l="-761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32.png">
            <a:extLst>
              <a:ext uri="{FF2B5EF4-FFF2-40B4-BE49-F238E27FC236}">
                <a16:creationId xmlns:a16="http://schemas.microsoft.com/office/drawing/2014/main" id="{362BC83D-DCA0-0A4E-BFC2-C7A658D79815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99933" y="2022191"/>
            <a:ext cx="4192134" cy="399862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04614" y="584431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island is closest to island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" y="584431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915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36.png">
            <a:extLst>
              <a:ext uri="{FF2B5EF4-FFF2-40B4-BE49-F238E27FC236}">
                <a16:creationId xmlns:a16="http://schemas.microsoft.com/office/drawing/2014/main" id="{D37F6A55-0980-F749-B341-2E4ED266282E}"/>
              </a:ext>
            </a:extLst>
          </p:cNvPr>
          <p:cNvPicPr/>
          <p:nvPr/>
        </p:nvPicPr>
        <p:blipFill>
          <a:blip r:embed="rId5"/>
          <a:srcRect/>
          <a:stretch/>
        </p:blipFill>
        <p:spPr>
          <a:xfrm>
            <a:off x="3717120" y="1336683"/>
            <a:ext cx="4757759" cy="47688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04614" y="556556"/>
                <a:ext cx="8327136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Five points are shown.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the same vertical line.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a different vertical line.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the same horizontal line.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" y="556556"/>
                <a:ext cx="8327136" cy="1231106"/>
              </a:xfrm>
              <a:prstGeom prst="rect">
                <a:avLst/>
              </a:prstGeom>
              <a:blipFill>
                <a:blip r:embed="rId4"/>
                <a:stretch>
                  <a:fillRect l="-915" t="-2041" r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23.png" descr="Chart, scatter chart&#10;&#10;Description automatically generated">
            <a:extLst>
              <a:ext uri="{FF2B5EF4-FFF2-40B4-BE49-F238E27FC236}">
                <a16:creationId xmlns:a16="http://schemas.microsoft.com/office/drawing/2014/main" id="{099AEEF7-2030-E744-B530-F6AA4EA8221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53692" y="1787662"/>
            <a:ext cx="4284616" cy="40048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20800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0" y="424141"/>
                <a:ext cx="832713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filling in each missing coordinate.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141"/>
                <a:ext cx="8327136" cy="5632311"/>
              </a:xfrm>
              <a:prstGeom prst="rect">
                <a:avLst/>
              </a:prstGeom>
              <a:blipFill>
                <a:blip r:embed="rId4"/>
                <a:stretch>
                  <a:fillRect t="-674" r="-305" b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BE66394-7B76-4C45-B2B5-2B3D91AC0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77506"/>
                  </p:ext>
                </p:extLst>
              </p:nvPr>
            </p:nvGraphicFramePr>
            <p:xfrm>
              <a:off x="4291122" y="1122645"/>
              <a:ext cx="3609756" cy="278826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876062">
                      <a:extLst>
                        <a:ext uri="{9D8B030D-6E8A-4147-A177-3AD203B41FA5}">
                          <a16:colId xmlns:a16="http://schemas.microsoft.com/office/drawing/2014/main" val="2334575773"/>
                        </a:ext>
                      </a:extLst>
                    </a:gridCol>
                    <a:gridCol w="2733694">
                      <a:extLst>
                        <a:ext uri="{9D8B030D-6E8A-4147-A177-3AD203B41FA5}">
                          <a16:colId xmlns:a16="http://schemas.microsoft.com/office/drawing/2014/main" val="3982787713"/>
                        </a:ext>
                      </a:extLst>
                    </a:gridCol>
                  </a:tblGrid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(−1.5, _____ 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66439279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(____, 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00678464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(3.5 , _____ 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00524030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(3.5 , _____)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74702472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(_____ , −4.5)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3741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BE66394-7B76-4C45-B2B5-2B3D91AC0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77506"/>
                  </p:ext>
                </p:extLst>
              </p:nvPr>
            </p:nvGraphicFramePr>
            <p:xfrm>
              <a:off x="4291122" y="1122645"/>
              <a:ext cx="3609756" cy="278826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876062">
                      <a:extLst>
                        <a:ext uri="{9D8B030D-6E8A-4147-A177-3AD203B41FA5}">
                          <a16:colId xmlns:a16="http://schemas.microsoft.com/office/drawing/2014/main" val="2334575773"/>
                        </a:ext>
                      </a:extLst>
                    </a:gridCol>
                    <a:gridCol w="2733694">
                      <a:extLst>
                        <a:ext uri="{9D8B030D-6E8A-4147-A177-3AD203B41FA5}">
                          <a16:colId xmlns:a16="http://schemas.microsoft.com/office/drawing/2014/main" val="3982787713"/>
                        </a:ext>
                      </a:extLst>
                    </a:gridCol>
                  </a:tblGrid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49" t="-2273" r="-315942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58" t="-2273" r="-461" b="-4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439279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49" t="-102273" r="-315942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58" t="-102273" r="-461" b="-3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0678464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49" t="-202273" r="-315942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58" t="-202273" r="-461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0524030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49" t="-302273" r="-315942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58" t="-302273" r="-461" b="-1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4702472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449" t="-402273" r="-315942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258" t="-402273" r="-461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7410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9425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16783" y="364034"/>
                <a:ext cx="11466928" cy="6678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coordinate plane below to determine distances between the following points.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points are the same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(2, 1)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/>
                <a:r>
                  <a:rPr lang="en-US" dirty="0"/>
                  <a:t> </a:t>
                </a:r>
              </a:p>
              <a:p>
                <a:pPr marL="465137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83" y="364034"/>
                <a:ext cx="11466928" cy="6678751"/>
              </a:xfrm>
              <a:prstGeom prst="rect">
                <a:avLst/>
              </a:prstGeom>
              <a:blipFill>
                <a:blip r:embed="rId4"/>
                <a:stretch>
                  <a:fillRect l="-553" t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35.png">
            <a:extLst>
              <a:ext uri="{FF2B5EF4-FFF2-40B4-BE49-F238E27FC236}">
                <a16:creationId xmlns:a16="http://schemas.microsoft.com/office/drawing/2014/main" id="{C7B8491C-C34B-1F41-89E7-EC247F86E22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67199" y="1178509"/>
            <a:ext cx="3657601" cy="32047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10978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0997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5.5.6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237668"/>
            <a:ext cx="1110880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friend is absent today and will need the notes from class. Write a quick note to help them learn how to find the distance between two points on a coordinate plane. 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A0F32597-46AB-438B-BCC9-EE15EAED2979}"/>
</file>

<file path=customXml/itemProps2.xml><?xml version="1.0" encoding="utf-8"?>
<ds:datastoreItem xmlns:ds="http://schemas.openxmlformats.org/officeDocument/2006/customXml" ds:itemID="{1BFCFF19-0380-445B-9B66-0CEBC3090F0E}"/>
</file>

<file path=customXml/itemProps3.xml><?xml version="1.0" encoding="utf-8"?>
<ds:datastoreItem xmlns:ds="http://schemas.openxmlformats.org/officeDocument/2006/customXml" ds:itemID="{74A69E16-1812-4B3D-997F-9A10CE609963}"/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1366</Words>
  <Application>Microsoft Macintosh PowerPoint</Application>
  <PresentationFormat>Widescreen</PresentationFormat>
  <Paragraphs>331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Calibri</vt:lpstr>
      <vt:lpstr>Arial Black</vt:lpstr>
      <vt:lpstr>Cambria Math</vt:lpstr>
      <vt:lpstr>Verdana</vt:lpstr>
      <vt:lpstr>Courier New</vt:lpstr>
      <vt:lpstr>Arial</vt:lpstr>
      <vt:lpstr>Cambria</vt:lpstr>
      <vt:lpstr>Century Gothic</vt:lpstr>
      <vt:lpstr>1_Office Theme</vt:lpstr>
      <vt:lpstr>6th Grade Math  Unit 5, Lesson 5  Distance on the Coordinate Plane  Volume 1, pg. 226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Mary Freeman</cp:lastModifiedBy>
  <cp:revision>25</cp:revision>
  <dcterms:created xsi:type="dcterms:W3CDTF">2015-03-17T18:51:18Z</dcterms:created>
  <dcterms:modified xsi:type="dcterms:W3CDTF">2023-01-26T02:37:12Z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