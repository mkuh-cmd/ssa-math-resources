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7"/>
  </p:notesMasterIdLst>
  <p:sldIdLst>
    <p:sldId id="256" r:id="rId2"/>
    <p:sldId id="257" r:id="rId3"/>
    <p:sldId id="285" r:id="rId4"/>
    <p:sldId id="286" r:id="rId5"/>
    <p:sldId id="261" r:id="rId6"/>
    <p:sldId id="287" r:id="rId7"/>
    <p:sldId id="382" r:id="rId8"/>
    <p:sldId id="326" r:id="rId9"/>
    <p:sldId id="327" r:id="rId10"/>
    <p:sldId id="367" r:id="rId11"/>
    <p:sldId id="311" r:id="rId12"/>
    <p:sldId id="312" r:id="rId13"/>
    <p:sldId id="362" r:id="rId14"/>
    <p:sldId id="372" r:id="rId15"/>
    <p:sldId id="288" r:id="rId16"/>
    <p:sldId id="323" r:id="rId17"/>
    <p:sldId id="324" r:id="rId18"/>
    <p:sldId id="289" r:id="rId19"/>
    <p:sldId id="290" r:id="rId20"/>
    <p:sldId id="365" r:id="rId21"/>
    <p:sldId id="374" r:id="rId22"/>
    <p:sldId id="373" r:id="rId23"/>
    <p:sldId id="375" r:id="rId24"/>
    <p:sldId id="376" r:id="rId25"/>
    <p:sldId id="377" r:id="rId26"/>
    <p:sldId id="378" r:id="rId27"/>
    <p:sldId id="379" r:id="rId28"/>
    <p:sldId id="380" r:id="rId29"/>
    <p:sldId id="314" r:id="rId30"/>
    <p:sldId id="315" r:id="rId31"/>
    <p:sldId id="352" r:id="rId32"/>
    <p:sldId id="381" r:id="rId33"/>
    <p:sldId id="306" r:id="rId34"/>
    <p:sldId id="307" r:id="rId35"/>
    <p:sldId id="370" r:id="rId36"/>
  </p:sldIdLst>
  <p:sldSz cx="12192000" cy="6858000"/>
  <p:notesSz cx="6858000" cy="9144000"/>
  <p:embeddedFontLst>
    <p:embeddedFont>
      <p:font typeface="Calibri" pitchFamily="34" charset="0"/>
      <p:regular r:id="rId38"/>
      <p:bold r:id="rId39"/>
      <p:italic r:id="rId40"/>
      <p:boldItalic r:id="rId41"/>
    </p:embeddedFont>
    <p:embeddedFont>
      <p:font typeface="Century Gothic" pitchFamily="34" charset="0"/>
      <p:regular r:id="rId42"/>
      <p:bold r:id="rId43"/>
      <p:italic r:id="rId44"/>
      <p:boldItalic r:id="rId45"/>
    </p:embeddedFont>
    <p:embeddedFont>
      <p:font typeface="Cambria Math" pitchFamily="18" charset="0"/>
      <p:regular r:id="rId46"/>
    </p:embeddedFont>
    <p:embeddedFont>
      <p:font typeface="Arial Black" pitchFamily="34" charset="0"/>
      <p:bold r:id="rId47"/>
    </p:embeddedFont>
    <p:embeddedFont>
      <p:font typeface="Verdana" pitchFamily="34"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90"/>
    <p:restoredTop sz="94719"/>
  </p:normalViewPr>
  <p:slideViewPr>
    <p:cSldViewPr snapToGrid="0">
      <p:cViewPr varScale="1">
        <p:scale>
          <a:sx n="78" d="100"/>
          <a:sy n="78" d="100"/>
        </p:scale>
        <p:origin x="-514" y="-62"/>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764373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dirty="0"/>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dirty="0"/>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dirty="0"/>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dirty="0"/>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dirty="0"/>
          </a:p>
        </p:txBody>
      </p:sp>
    </p:spTree>
    <p:extLst>
      <p:ext uri="{BB962C8B-B14F-4D97-AF65-F5344CB8AC3E}">
        <p14:creationId xmlns:p14="http://schemas.microsoft.com/office/powerpoint/2010/main" val="2477705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dirty="0"/>
          </a:p>
        </p:txBody>
      </p:sp>
    </p:spTree>
    <p:extLst>
      <p:ext uri="{BB962C8B-B14F-4D97-AF65-F5344CB8AC3E}">
        <p14:creationId xmlns:p14="http://schemas.microsoft.com/office/powerpoint/2010/main" val="1339855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dirty="0"/>
          </a:p>
        </p:txBody>
      </p:sp>
    </p:spTree>
    <p:extLst>
      <p:ext uri="{BB962C8B-B14F-4D97-AF65-F5344CB8AC3E}">
        <p14:creationId xmlns:p14="http://schemas.microsoft.com/office/powerpoint/2010/main" val="14073802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dirty="0"/>
          </a:p>
        </p:txBody>
      </p:sp>
    </p:spTree>
    <p:extLst>
      <p:ext uri="{BB962C8B-B14F-4D97-AF65-F5344CB8AC3E}">
        <p14:creationId xmlns:p14="http://schemas.microsoft.com/office/powerpoint/2010/main" val="30516226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dirty="0"/>
          </a:p>
        </p:txBody>
      </p:sp>
    </p:spTree>
    <p:extLst>
      <p:ext uri="{BB962C8B-B14F-4D97-AF65-F5344CB8AC3E}">
        <p14:creationId xmlns:p14="http://schemas.microsoft.com/office/powerpoint/2010/main" val="24445099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dirty="0"/>
          </a:p>
        </p:txBody>
      </p:sp>
    </p:spTree>
    <p:extLst>
      <p:ext uri="{BB962C8B-B14F-4D97-AF65-F5344CB8AC3E}">
        <p14:creationId xmlns:p14="http://schemas.microsoft.com/office/powerpoint/2010/main" val="12130866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dirty="0"/>
          </a:p>
        </p:txBody>
      </p:sp>
    </p:spTree>
    <p:extLst>
      <p:ext uri="{BB962C8B-B14F-4D97-AF65-F5344CB8AC3E}">
        <p14:creationId xmlns:p14="http://schemas.microsoft.com/office/powerpoint/2010/main" val="16232781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dirty="0"/>
          </a:p>
        </p:txBody>
      </p:sp>
    </p:spTree>
    <p:extLst>
      <p:ext uri="{BB962C8B-B14F-4D97-AF65-F5344CB8AC3E}">
        <p14:creationId xmlns:p14="http://schemas.microsoft.com/office/powerpoint/2010/main" val="30639936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dirty="0"/>
          </a:p>
        </p:txBody>
      </p:sp>
    </p:spTree>
    <p:extLst>
      <p:ext uri="{BB962C8B-B14F-4D97-AF65-F5344CB8AC3E}">
        <p14:creationId xmlns:p14="http://schemas.microsoft.com/office/powerpoint/2010/main" val="24196246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dirty="0"/>
          </a:p>
        </p:txBody>
      </p:sp>
    </p:spTree>
    <p:extLst>
      <p:ext uri="{BB962C8B-B14F-4D97-AF65-F5344CB8AC3E}">
        <p14:creationId xmlns:p14="http://schemas.microsoft.com/office/powerpoint/2010/main" val="2428531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dirty="0"/>
          </a:p>
        </p:txBody>
      </p:sp>
    </p:spTree>
    <p:extLst>
      <p:ext uri="{BB962C8B-B14F-4D97-AF65-F5344CB8AC3E}">
        <p14:creationId xmlns:p14="http://schemas.microsoft.com/office/powerpoint/2010/main" val="1443191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dirty="0"/>
          </a:p>
        </p:txBody>
      </p:sp>
    </p:spTree>
    <p:extLst>
      <p:ext uri="{BB962C8B-B14F-4D97-AF65-F5344CB8AC3E}">
        <p14:creationId xmlns:p14="http://schemas.microsoft.com/office/powerpoint/2010/main" val="8956445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dirty="0"/>
          </a:p>
        </p:txBody>
      </p:sp>
    </p:spTree>
    <p:extLst>
      <p:ext uri="{BB962C8B-B14F-4D97-AF65-F5344CB8AC3E}">
        <p14:creationId xmlns:p14="http://schemas.microsoft.com/office/powerpoint/2010/main" val="20833786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dirty="0"/>
          </a:p>
        </p:txBody>
      </p:sp>
    </p:spTree>
    <p:extLst>
      <p:ext uri="{BB962C8B-B14F-4D97-AF65-F5344CB8AC3E}">
        <p14:creationId xmlns:p14="http://schemas.microsoft.com/office/powerpoint/2010/main" val="36058853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dirty="0"/>
          </a:p>
        </p:txBody>
      </p:sp>
    </p:spTree>
    <p:extLst>
      <p:ext uri="{BB962C8B-B14F-4D97-AF65-F5344CB8AC3E}">
        <p14:creationId xmlns:p14="http://schemas.microsoft.com/office/powerpoint/2010/main" val="18328152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dirty="0"/>
          </a:p>
        </p:txBody>
      </p:sp>
    </p:spTree>
    <p:extLst>
      <p:ext uri="{BB962C8B-B14F-4D97-AF65-F5344CB8AC3E}">
        <p14:creationId xmlns:p14="http://schemas.microsoft.com/office/powerpoint/2010/main" val="30770112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dirty="0"/>
          </a:p>
        </p:txBody>
      </p:sp>
    </p:spTree>
    <p:extLst>
      <p:ext uri="{BB962C8B-B14F-4D97-AF65-F5344CB8AC3E}">
        <p14:creationId xmlns:p14="http://schemas.microsoft.com/office/powerpoint/2010/main" val="23265329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dirty="0"/>
          </a:p>
        </p:txBody>
      </p:sp>
    </p:spTree>
    <p:extLst>
      <p:ext uri="{BB962C8B-B14F-4D97-AF65-F5344CB8AC3E}">
        <p14:creationId xmlns:p14="http://schemas.microsoft.com/office/powerpoint/2010/main" val="24959446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dirty="0"/>
          </a:p>
        </p:txBody>
      </p:sp>
    </p:spTree>
    <p:extLst>
      <p:ext uri="{BB962C8B-B14F-4D97-AF65-F5344CB8AC3E}">
        <p14:creationId xmlns:p14="http://schemas.microsoft.com/office/powerpoint/2010/main" val="15155693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dirty="0"/>
          </a:p>
        </p:txBody>
      </p:sp>
    </p:spTree>
    <p:extLst>
      <p:ext uri="{BB962C8B-B14F-4D97-AF65-F5344CB8AC3E}">
        <p14:creationId xmlns:p14="http://schemas.microsoft.com/office/powerpoint/2010/main" val="27914053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dirty="0"/>
          </a:p>
        </p:txBody>
      </p:sp>
    </p:spTree>
    <p:extLst>
      <p:ext uri="{BB962C8B-B14F-4D97-AF65-F5344CB8AC3E}">
        <p14:creationId xmlns:p14="http://schemas.microsoft.com/office/powerpoint/2010/main" val="38411835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dirty="0"/>
          </a:p>
        </p:txBody>
      </p:sp>
    </p:spTree>
    <p:extLst>
      <p:ext uri="{BB962C8B-B14F-4D97-AF65-F5344CB8AC3E}">
        <p14:creationId xmlns:p14="http://schemas.microsoft.com/office/powerpoint/2010/main" val="2580380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dirty="0"/>
          </a:p>
        </p:txBody>
      </p:sp>
    </p:spTree>
    <p:extLst>
      <p:ext uri="{BB962C8B-B14F-4D97-AF65-F5344CB8AC3E}">
        <p14:creationId xmlns:p14="http://schemas.microsoft.com/office/powerpoint/2010/main" val="26399906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dirty="0"/>
          </a:p>
        </p:txBody>
      </p:sp>
    </p:spTree>
    <p:extLst>
      <p:ext uri="{BB962C8B-B14F-4D97-AF65-F5344CB8AC3E}">
        <p14:creationId xmlns:p14="http://schemas.microsoft.com/office/powerpoint/2010/main" val="20893168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dirty="0"/>
          </a:p>
        </p:txBody>
      </p:sp>
    </p:spTree>
    <p:extLst>
      <p:ext uri="{BB962C8B-B14F-4D97-AF65-F5344CB8AC3E}">
        <p14:creationId xmlns:p14="http://schemas.microsoft.com/office/powerpoint/2010/main" val="26895645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dirty="0"/>
          </a:p>
        </p:txBody>
      </p:sp>
    </p:spTree>
    <p:extLst>
      <p:ext uri="{BB962C8B-B14F-4D97-AF65-F5344CB8AC3E}">
        <p14:creationId xmlns:p14="http://schemas.microsoft.com/office/powerpoint/2010/main" val="13012607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dirty="0"/>
          </a:p>
        </p:txBody>
      </p:sp>
    </p:spTree>
    <p:extLst>
      <p:ext uri="{BB962C8B-B14F-4D97-AF65-F5344CB8AC3E}">
        <p14:creationId xmlns:p14="http://schemas.microsoft.com/office/powerpoint/2010/main" val="31423170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dirty="0"/>
          </a:p>
        </p:txBody>
      </p:sp>
    </p:spTree>
    <p:extLst>
      <p:ext uri="{BB962C8B-B14F-4D97-AF65-F5344CB8AC3E}">
        <p14:creationId xmlns:p14="http://schemas.microsoft.com/office/powerpoint/2010/main" val="36816909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dirty="0"/>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0.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70.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0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70.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10.png"/><Relationship Id="rId4" Type="http://schemas.openxmlformats.org/officeDocument/2006/relationships/image" Target="../media/image30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3.tiff"/></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8.xml"/><Relationship Id="rId5" Type="http://schemas.openxmlformats.org/officeDocument/2006/relationships/image" Target="../media/image42.png"/><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59071" y="2054276"/>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2</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Plotting on the Coordinate Plane</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208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6" name="Picture 5" descr="A blue sign with white text&#10;&#10;Description automatically generated with medium confidence">
            <a:extLst>
              <a:ext uri="{FF2B5EF4-FFF2-40B4-BE49-F238E27FC236}">
                <a16:creationId xmlns:a16="http://schemas.microsoft.com/office/drawing/2014/main" xmlns=""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
        <p:nvSpPr>
          <p:cNvPr id="279" name="Google Shape;279;g104476d1465_1_17"/>
          <p:cNvSpPr txBox="1">
            <a:spLocks noGrp="1"/>
          </p:cNvSpPr>
          <p:nvPr>
            <p:ph type="title" idx="4294967295"/>
          </p:nvPr>
        </p:nvSpPr>
        <p:spPr>
          <a:xfrm>
            <a:off x="1103916"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730266" y="1237668"/>
                <a:ext cx="1107187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sym typeface="Verdana"/>
                  </a:rPr>
                  <a:t>MA.6.GR.1.1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Extend previous understanding of the coordinate plane to plot rational number ordered pairs in all four quadrants and on both axes. Identify the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400" i="1">
                        <a:latin typeface="Cambria Math" panose="02040503050406030204" pitchFamily="18" charset="0"/>
                      </a:rPr>
                      <m:t>𝑦</m:t>
                    </m:r>
                  </m:oMath>
                </a14:m>
                <a:r>
                  <a:rPr lang="en-US" sz="2400" dirty="0">
                    <a:latin typeface="Verdana" panose="020B0604030504040204" pitchFamily="34" charset="0"/>
                    <a:ea typeface="Verdana" panose="020B0604030504040204" pitchFamily="34" charset="0"/>
                    <a:cs typeface="Verdana" panose="020B0604030504040204" pitchFamily="34" charset="0"/>
                  </a:rPr>
                  <a:t>-axis as the line of reflection when two ordered pairs have an opposite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𝑦</m:t>
                    </m:r>
                  </m:oMath>
                </a14:m>
                <a:r>
                  <a:rPr lang="en-US" sz="2400" dirty="0">
                    <a:latin typeface="Verdana" panose="020B0604030504040204" pitchFamily="34" charset="0"/>
                    <a:ea typeface="Verdana" panose="020B0604030504040204" pitchFamily="34" charset="0"/>
                    <a:cs typeface="Verdana" panose="020B0604030504040204" pitchFamily="34" charset="0"/>
                  </a:rPr>
                  <a:t>-coordinate.	</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indent="0">
                  <a:buNone/>
                </a:pPr>
                <a:endParaRPr lang="en-US" dirty="0">
                  <a:solidFill>
                    <a:schemeClr val="tx1"/>
                  </a:solidFill>
                  <a:latin typeface="Century Gothic"/>
                  <a:ea typeface="Century Gothic"/>
                  <a:cs typeface="Century Gothic"/>
                  <a:sym typeface="Century Gothic"/>
                </a:endParaRPr>
              </a:p>
            </p:txBody>
          </p:sp>
        </mc:Choice>
        <mc:Fallback xmlns="">
          <p:sp>
            <p:nvSpPr>
              <p:cNvPr id="8" name="Google Shape;280;g104476d1465_1_17">
                <a:extLst>
                  <a:ext uri="{FF2B5EF4-FFF2-40B4-BE49-F238E27FC236}">
                    <a16:creationId xmlns:a16="http://schemas.microsoft.com/office/drawing/2014/main" id="{527A9F9F-07B8-ED47-B967-E5507C67DBC5}"/>
                  </a:ext>
                </a:extLst>
              </p:cNvPr>
              <p:cNvSpPr txBox="1">
                <a:spLocks noRot="1" noChangeAspect="1" noMove="1" noResize="1" noEditPoints="1" noAdjustHandles="1" noChangeArrowheads="1" noChangeShapeType="1" noTextEdit="1"/>
              </p:cNvSpPr>
              <p:nvPr/>
            </p:nvSpPr>
            <p:spPr>
              <a:xfrm>
                <a:off x="730266" y="1237668"/>
                <a:ext cx="11071874" cy="4205700"/>
              </a:xfrm>
              <a:prstGeom prst="rect">
                <a:avLst/>
              </a:prstGeom>
              <a:blipFill>
                <a:blip r:embed="rId5"/>
                <a:stretch>
                  <a:fillRect l="-916"/>
                </a:stretch>
              </a:blipFill>
              <a:ln>
                <a:noFill/>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03916" y="-57103"/>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208</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730266" y="1526868"/>
            <a:ext cx="1118883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3916"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208</a:t>
            </a: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730265" y="1237668"/>
            <a:ext cx="11018711" cy="18288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plot rational ordered pairs.</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plot integers using different scales</a:t>
            </a:r>
            <a:r>
              <a:rPr lang="en-US" sz="2400" dirty="0"/>
              <a:t>.</a:t>
            </a:r>
            <a:endParaRPr lang="en-US" sz="2400" i="1" dirty="0"/>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5846"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7332" y="2842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5.2.1 Warm-Up: Interior Designer</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208</a:t>
            </a:r>
          </a:p>
        </p:txBody>
      </p:sp>
      <p:sp>
        <p:nvSpPr>
          <p:cNvPr id="2" name="TextBox 1">
            <a:extLst>
              <a:ext uri="{FF2B5EF4-FFF2-40B4-BE49-F238E27FC236}">
                <a16:creationId xmlns:a16="http://schemas.microsoft.com/office/drawing/2014/main" xmlns="" id="{E1D7562E-134F-D14B-AF1A-DF40E11EF758}"/>
              </a:ext>
            </a:extLst>
          </p:cNvPr>
          <p:cNvSpPr txBox="1"/>
          <p:nvPr/>
        </p:nvSpPr>
        <p:spPr>
          <a:xfrm>
            <a:off x="730266" y="1354127"/>
            <a:ext cx="11273892" cy="335476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After getting a degree in graphic design, Soledad Alzaga built her career and company as an interior designer. Interior designers make interior spaces functional, safe, and beautiful by determining space requirements and selecting decorative items such as colors, lighting, and materials. Beyond being creative and having good taste, Soledad says to own a successful interior design business, it is necessary to have the ability to work and communicate with others, be organized, have business knowledge, and to have math and measurement skills.</a:t>
            </a:r>
          </a:p>
          <a:p>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208</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423514" y="1351508"/>
            <a:ext cx="11506216" cy="4154984"/>
          </a:xfrm>
          <a:prstGeom prst="rect">
            <a:avLst/>
          </a:prstGeom>
          <a:noFill/>
        </p:spPr>
        <p:txBody>
          <a:bodyPr wrap="square" rtlCol="0">
            <a:spAutoFit/>
          </a:bodyPr>
          <a:lstStyle/>
          <a:p>
            <a:pPr marL="457200" indent="-457200">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is something that interests you that you would like to spend your career doing?</a:t>
            </a:r>
          </a:p>
          <a:p>
            <a:pPr marL="457200" indent="-457200">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Arial"/>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skills do you think are needed to be successful in that career?</a:t>
            </a:r>
            <a:endParaRPr lang="en-US" sz="2400" i="1"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723976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06240"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209</a:t>
            </a:r>
          </a:p>
        </p:txBody>
      </p:sp>
      <p:pic>
        <p:nvPicPr>
          <p:cNvPr id="11266" name="Picture 2" descr="Icon&#10;&#10;Description automatically generated">
            <a:extLst>
              <a:ext uri="{FF2B5EF4-FFF2-40B4-BE49-F238E27FC236}">
                <a16:creationId xmlns:a16="http://schemas.microsoft.com/office/drawing/2014/main" xmlns="" id="{8E68AE2B-31C4-664C-9668-81B7C1673C9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8407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39840"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5.2.2 Refresher: Key Terms with the Coordinate Plane</a:t>
            </a:r>
          </a:p>
        </p:txBody>
      </p:sp>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209</a:t>
            </a:r>
          </a:p>
        </p:txBody>
      </p:sp>
      <p:pic>
        <p:nvPicPr>
          <p:cNvPr id="9" name="Picture 2" descr="Icon&#10;&#10;Description automatically generated">
            <a:extLst>
              <a:ext uri="{FF2B5EF4-FFF2-40B4-BE49-F238E27FC236}">
                <a16:creationId xmlns:a16="http://schemas.microsoft.com/office/drawing/2014/main" xmlns="" id="{522B94A7-8145-AF4C-A130-4689EF537FB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2DC51FF2-AD43-3B4B-B9DE-330920D33388}"/>
              </a:ext>
            </a:extLst>
          </p:cNvPr>
          <p:cNvSpPr txBox="1"/>
          <p:nvPr/>
        </p:nvSpPr>
        <p:spPr>
          <a:xfrm>
            <a:off x="731520" y="1392442"/>
            <a:ext cx="11347066" cy="120032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Several key terms related to the coordinate plane were used throughout Lesson 1. Below, you can find definitions for each of these key terms. </a:t>
            </a:r>
            <a:endParaRPr lang="en-US" sz="2400" i="1"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14" name="Rounded Rectangle 13">
                <a:extLst>
                  <a:ext uri="{FF2B5EF4-FFF2-40B4-BE49-F238E27FC236}">
                    <a16:creationId xmlns:a16="http://schemas.microsoft.com/office/drawing/2014/main" xmlns="" id="{C03FA88A-CB54-7C42-9EBC-3CE5B45EE6D0}"/>
                  </a:ext>
                </a:extLst>
              </p:cNvPr>
              <p:cNvSpPr/>
              <p:nvPr/>
            </p:nvSpPr>
            <p:spPr>
              <a:xfrm>
                <a:off x="2560870" y="2774480"/>
                <a:ext cx="7070260" cy="298149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coordinate plane</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plane determined by two perpendicular number lines, called axes. The axes intersect at the origin. Each point in the coordinate plane is represented by a pair of coordinates that represent the direction and distance from each axis. The origin is represented by the coordinate pair,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(0, 0)</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4" name="Rounded Rectangle 13">
                <a:extLst>
                  <a:ext uri="{FF2B5EF4-FFF2-40B4-BE49-F238E27FC236}">
                    <a16:creationId xmlns:a16="http://schemas.microsoft.com/office/drawing/2014/main" id="{C03FA88A-CB54-7C42-9EBC-3CE5B45EE6D0}"/>
                  </a:ext>
                </a:extLst>
              </p:cNvPr>
              <p:cNvSpPr>
                <a:spLocks noRot="1" noChangeAspect="1" noMove="1" noResize="1" noEditPoints="1" noAdjustHandles="1" noChangeArrowheads="1" noChangeShapeType="1" noTextEdit="1"/>
              </p:cNvSpPr>
              <p:nvPr/>
            </p:nvSpPr>
            <p:spPr>
              <a:xfrm>
                <a:off x="2560870" y="2774480"/>
                <a:ext cx="7070260" cy="2981499"/>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5" name="Shape 7" descr="Icon&#10;&#10;Description automatically generated">
            <a:extLst>
              <a:ext uri="{FF2B5EF4-FFF2-40B4-BE49-F238E27FC236}">
                <a16:creationId xmlns:a16="http://schemas.microsoft.com/office/drawing/2014/main" xmlns="" id="{37D28FAE-DA24-8D47-AA09-69DD7BD4640A}"/>
              </a:ext>
            </a:extLst>
          </p:cNvPr>
          <p:cNvPicPr/>
          <p:nvPr/>
        </p:nvPicPr>
        <p:blipFill rotWithShape="1">
          <a:blip r:embed="rId6" cstate="screen">
            <a:alphaModFix/>
            <a:extLst>
              <a:ext uri="{28A0092B-C50C-407E-A947-70E740481C1C}">
                <a14:useLocalDpi xmlns:a14="http://schemas.microsoft.com/office/drawing/2010/main"/>
              </a:ext>
            </a:extLst>
          </a:blip>
          <a:srcRect/>
          <a:stretch/>
        </p:blipFill>
        <p:spPr>
          <a:xfrm>
            <a:off x="2788068" y="3193530"/>
            <a:ext cx="539115" cy="539115"/>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07459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209</a:t>
            </a:r>
          </a:p>
        </p:txBody>
      </p:sp>
      <p:sp>
        <p:nvSpPr>
          <p:cNvPr id="6" name="Rounded Rectangle 5">
            <a:extLst>
              <a:ext uri="{FF2B5EF4-FFF2-40B4-BE49-F238E27FC236}">
                <a16:creationId xmlns:a16="http://schemas.microsoft.com/office/drawing/2014/main" xmlns="" id="{88FE9B4E-6643-2846-B135-110834A04939}"/>
              </a:ext>
            </a:extLst>
          </p:cNvPr>
          <p:cNvSpPr/>
          <p:nvPr/>
        </p:nvSpPr>
        <p:spPr>
          <a:xfrm>
            <a:off x="2686050" y="198319"/>
            <a:ext cx="6819900" cy="130615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spcAft>
                <a:spcPts val="8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axes</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of a graph are the horizontal and vertical number lines used in a coordinate plane system.</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7" name="Shape 7" descr="Icon&#10;&#10;Description automatically generated">
            <a:extLst>
              <a:ext uri="{FF2B5EF4-FFF2-40B4-BE49-F238E27FC236}">
                <a16:creationId xmlns:a16="http://schemas.microsoft.com/office/drawing/2014/main" xmlns="" id="{2A4641A3-AAAF-7F44-B226-FB1DDFDA1EEF}"/>
              </a:ext>
            </a:extLst>
          </p:cNvPr>
          <p:cNvPicPr/>
          <p:nvPr/>
        </p:nvPicPr>
        <p:blipFill rotWithShape="1">
          <a:blip r:embed="rId4" cstate="screen">
            <a:alphaModFix/>
            <a:extLst>
              <a:ext uri="{28A0092B-C50C-407E-A947-70E740481C1C}">
                <a14:useLocalDpi xmlns:a14="http://schemas.microsoft.com/office/drawing/2010/main"/>
              </a:ext>
            </a:extLst>
          </a:blip>
          <a:srcRect/>
          <a:stretch/>
        </p:blipFill>
        <p:spPr>
          <a:xfrm>
            <a:off x="2999742" y="339731"/>
            <a:ext cx="539750" cy="538480"/>
          </a:xfrm>
          <a:prstGeom prst="rect">
            <a:avLst/>
          </a:prstGeom>
          <a:noFill/>
          <a:ln>
            <a:noFill/>
          </a:ln>
          <a:effectLst>
            <a:outerShdw blurRad="50800" dist="38100" dir="2700000" algn="tl" rotWithShape="0">
              <a:prstClr val="black">
                <a:alpha val="40000"/>
              </a:prstClr>
            </a:outerShdw>
          </a:effectLst>
        </p:spPr>
      </p:pic>
      <p:sp>
        <p:nvSpPr>
          <p:cNvPr id="13" name="Rounded Rectangle 12">
            <a:extLst>
              <a:ext uri="{FF2B5EF4-FFF2-40B4-BE49-F238E27FC236}">
                <a16:creationId xmlns:a16="http://schemas.microsoft.com/office/drawing/2014/main" xmlns="" id="{88967431-96A1-054A-967A-D3E43A14AB6C}"/>
              </a:ext>
            </a:extLst>
          </p:cNvPr>
          <p:cNvSpPr/>
          <p:nvPr/>
        </p:nvSpPr>
        <p:spPr>
          <a:xfrm>
            <a:off x="2686050" y="1685060"/>
            <a:ext cx="6819900" cy="1644298"/>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coordinate</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 a number used to locate a point on a number line. A coordinate is one of the numbers in an ordered pair that locates a point on a coordinate plane.</a:t>
            </a:r>
          </a:p>
        </p:txBody>
      </p:sp>
      <mc:AlternateContent xmlns:mc="http://schemas.openxmlformats.org/markup-compatibility/2006" xmlns:a14="http://schemas.microsoft.com/office/drawing/2010/main">
        <mc:Choice Requires="a14">
          <p:sp>
            <p:nvSpPr>
              <p:cNvPr id="15" name="Rounded Rectangle 14">
                <a:extLst>
                  <a:ext uri="{FF2B5EF4-FFF2-40B4-BE49-F238E27FC236}">
                    <a16:creationId xmlns:a16="http://schemas.microsoft.com/office/drawing/2014/main" xmlns="" id="{2D733731-07FC-B647-8F66-62BB4EC3D4EF}"/>
                  </a:ext>
                </a:extLst>
              </p:cNvPr>
              <p:cNvSpPr/>
              <p:nvPr/>
            </p:nvSpPr>
            <p:spPr>
              <a:xfrm>
                <a:off x="2686050" y="3496911"/>
                <a:ext cx="6819900" cy="1644298"/>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spcAft>
                    <a:spcPts val="8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origin</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 the point of intersection of the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𝑥</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𝑦</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-axes in a rectangular coordinate system, where the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𝑥</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-coordinate and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𝑦</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-coordinate are both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0</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5" name="Rounded Rectangle 14">
                <a:extLst>
                  <a:ext uri="{FF2B5EF4-FFF2-40B4-BE49-F238E27FC236}">
                    <a16:creationId xmlns:a16="http://schemas.microsoft.com/office/drawing/2014/main" id="{2D733731-07FC-B647-8F66-62BB4EC3D4EF}"/>
                  </a:ext>
                </a:extLst>
              </p:cNvPr>
              <p:cNvSpPr>
                <a:spLocks noRot="1" noChangeAspect="1" noMove="1" noResize="1" noEditPoints="1" noAdjustHandles="1" noChangeArrowheads="1" noChangeShapeType="1" noTextEdit="1"/>
              </p:cNvSpPr>
              <p:nvPr/>
            </p:nvSpPr>
            <p:spPr>
              <a:xfrm>
                <a:off x="2686050" y="3496911"/>
                <a:ext cx="6819900" cy="1644298"/>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sp>
        <p:nvSpPr>
          <p:cNvPr id="16" name="Rounded Rectangle 15">
            <a:extLst>
              <a:ext uri="{FF2B5EF4-FFF2-40B4-BE49-F238E27FC236}">
                <a16:creationId xmlns:a16="http://schemas.microsoft.com/office/drawing/2014/main" xmlns="" id="{76D67B9A-7137-7741-B1D3-4BD1DEE196EE}"/>
              </a:ext>
            </a:extLst>
          </p:cNvPr>
          <p:cNvSpPr/>
          <p:nvPr/>
        </p:nvSpPr>
        <p:spPr>
          <a:xfrm>
            <a:off x="2686050" y="5380469"/>
            <a:ext cx="6819900" cy="1101148"/>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spcAft>
                <a:spcPts val="8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quadrant</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 any of the four regions separated by the axes in a coordinate plane.</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18" name="Shape 7" descr="Icon&#10;&#10;Description automatically generated">
            <a:extLst>
              <a:ext uri="{FF2B5EF4-FFF2-40B4-BE49-F238E27FC236}">
                <a16:creationId xmlns:a16="http://schemas.microsoft.com/office/drawing/2014/main" xmlns="" id="{EC44E8D5-3CD4-5A40-BF85-4F4F65E0266B}"/>
              </a:ext>
            </a:extLst>
          </p:cNvPr>
          <p:cNvPicPr/>
          <p:nvPr/>
        </p:nvPicPr>
        <p:blipFill rotWithShape="1">
          <a:blip r:embed="rId6" cstate="screen">
            <a:alphaModFix/>
            <a:extLst>
              <a:ext uri="{28A0092B-C50C-407E-A947-70E740481C1C}">
                <a14:useLocalDpi xmlns:a14="http://schemas.microsoft.com/office/drawing/2010/main"/>
              </a:ext>
            </a:extLst>
          </a:blip>
          <a:srcRect/>
          <a:stretch/>
        </p:blipFill>
        <p:spPr>
          <a:xfrm>
            <a:off x="2999743" y="1968095"/>
            <a:ext cx="539115" cy="539115"/>
          </a:xfrm>
          <a:prstGeom prst="rect">
            <a:avLst/>
          </a:prstGeom>
          <a:noFill/>
          <a:ln>
            <a:noFill/>
          </a:ln>
          <a:effectLst>
            <a:outerShdw blurRad="50800" dist="38100" dir="2700000" algn="tl" rotWithShape="0">
              <a:prstClr val="black">
                <a:alpha val="40000"/>
              </a:prstClr>
            </a:outerShdw>
          </a:effectLst>
        </p:spPr>
      </p:pic>
      <p:pic>
        <p:nvPicPr>
          <p:cNvPr id="19" name="Shape 7" descr="Icon&#10;&#10;Description automatically generated">
            <a:extLst>
              <a:ext uri="{FF2B5EF4-FFF2-40B4-BE49-F238E27FC236}">
                <a16:creationId xmlns:a16="http://schemas.microsoft.com/office/drawing/2014/main" xmlns="" id="{2447C1A2-985B-FA4A-ABFB-7EF28D522DD2}"/>
              </a:ext>
            </a:extLst>
          </p:cNvPr>
          <p:cNvPicPr/>
          <p:nvPr/>
        </p:nvPicPr>
        <p:blipFill rotWithShape="1">
          <a:blip r:embed="rId6" cstate="screen">
            <a:alphaModFix/>
            <a:extLst>
              <a:ext uri="{28A0092B-C50C-407E-A947-70E740481C1C}">
                <a14:useLocalDpi xmlns:a14="http://schemas.microsoft.com/office/drawing/2010/main"/>
              </a:ext>
            </a:extLst>
          </a:blip>
          <a:srcRect/>
          <a:stretch/>
        </p:blipFill>
        <p:spPr>
          <a:xfrm>
            <a:off x="2999742" y="5661486"/>
            <a:ext cx="539115" cy="539115"/>
          </a:xfrm>
          <a:prstGeom prst="rect">
            <a:avLst/>
          </a:prstGeom>
          <a:noFill/>
          <a:ln>
            <a:noFill/>
          </a:ln>
          <a:effectLst>
            <a:outerShdw blurRad="50800" dist="38100" dir="2700000" algn="tl" rotWithShape="0">
              <a:prstClr val="black">
                <a:alpha val="40000"/>
              </a:prstClr>
            </a:outerShdw>
          </a:effectLst>
        </p:spPr>
      </p:pic>
      <p:pic>
        <p:nvPicPr>
          <p:cNvPr id="20" name="Shape 7" descr="Icon&#10;&#10;Description automatically generated">
            <a:extLst>
              <a:ext uri="{FF2B5EF4-FFF2-40B4-BE49-F238E27FC236}">
                <a16:creationId xmlns:a16="http://schemas.microsoft.com/office/drawing/2014/main" xmlns="" id="{5962060E-65F6-AD40-8E76-83F484020B71}"/>
              </a:ext>
            </a:extLst>
          </p:cNvPr>
          <p:cNvPicPr/>
          <p:nvPr/>
        </p:nvPicPr>
        <p:blipFill rotWithShape="1">
          <a:blip r:embed="rId6" cstate="screen">
            <a:alphaModFix/>
            <a:extLst>
              <a:ext uri="{28A0092B-C50C-407E-A947-70E740481C1C}">
                <a14:useLocalDpi xmlns:a14="http://schemas.microsoft.com/office/drawing/2010/main"/>
              </a:ext>
            </a:extLst>
          </a:blip>
          <a:srcRect/>
          <a:stretch/>
        </p:blipFill>
        <p:spPr>
          <a:xfrm>
            <a:off x="2999743" y="3677861"/>
            <a:ext cx="539115" cy="539115"/>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5730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0324" y="2766150"/>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209</a:t>
            </a: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081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42286" y="144747"/>
            <a:ext cx="8019300" cy="102530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5.2.3 Exploration: Plotting Ordered Pairs </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209</a:t>
            </a:r>
          </a:p>
        </p:txBody>
      </p:sp>
      <p:pic>
        <p:nvPicPr>
          <p:cNvPr id="7" name="Picture 2" descr="Icon&#10;&#10;Description automatically generated">
            <a:extLst>
              <a:ext uri="{FF2B5EF4-FFF2-40B4-BE49-F238E27FC236}">
                <a16:creationId xmlns:a16="http://schemas.microsoft.com/office/drawing/2014/main" xmlns=""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152D1D4D-DCB8-A246-B186-D40316579D77}"/>
              </a:ext>
            </a:extLst>
          </p:cNvPr>
          <p:cNvSpPr txBox="1"/>
          <p:nvPr/>
        </p:nvSpPr>
        <p:spPr>
          <a:xfrm>
            <a:off x="732743" y="1247662"/>
            <a:ext cx="8327136" cy="40011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Two players engage in a game of darts.</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pic>
        <p:nvPicPr>
          <p:cNvPr id="9" name="image18.png" descr="Diagram, schematic&#10;&#10;Description automatically generated">
            <a:extLst>
              <a:ext uri="{FF2B5EF4-FFF2-40B4-BE49-F238E27FC236}">
                <a16:creationId xmlns:a16="http://schemas.microsoft.com/office/drawing/2014/main" xmlns="" id="{9E3A3A4D-3636-E04F-A23B-B6FBE5509EBA}"/>
              </a:ext>
            </a:extLst>
          </p:cNvPr>
          <p:cNvPicPr>
            <a:picLocks noChangeAspect="1"/>
          </p:cNvPicPr>
          <p:nvPr/>
        </p:nvPicPr>
        <p:blipFill>
          <a:blip r:embed="rId5"/>
          <a:srcRect/>
          <a:stretch>
            <a:fillRect/>
          </a:stretch>
        </p:blipFill>
        <p:spPr>
          <a:xfrm>
            <a:off x="3222430" y="1725381"/>
            <a:ext cx="5747140" cy="4326036"/>
          </a:xfrm>
          <a:prstGeom prst="rect">
            <a:avLst/>
          </a:prstGeom>
          <a:ln/>
        </p:spPr>
      </p:pic>
    </p:spTree>
    <p:extLst>
      <p:ext uri="{BB962C8B-B14F-4D97-AF65-F5344CB8AC3E}">
        <p14:creationId xmlns:p14="http://schemas.microsoft.com/office/powerpoint/2010/main" val="618578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209</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AB405956-3096-CB43-948F-DAE839EE7C54}"/>
                  </a:ext>
                </a:extLst>
              </p:cNvPr>
              <p:cNvSpPr txBox="1"/>
              <p:nvPr/>
            </p:nvSpPr>
            <p:spPr>
              <a:xfrm>
                <a:off x="369937" y="547762"/>
                <a:ext cx="11822063" cy="1569660"/>
              </a:xfrm>
              <a:prstGeom prst="rect">
                <a:avLst/>
              </a:prstGeom>
              <a:noFill/>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first player throws a dart that lands at a point with an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-value halfway between </a:t>
                </a:r>
                <a14:m>
                  <m:oMath xmlns:m="http://schemas.openxmlformats.org/officeDocument/2006/math">
                    <m:r>
                      <a:rPr lang="en-US" sz="2400" i="1">
                        <a:latin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−3</m:t>
                    </m:r>
                  </m:oMath>
                </a14:m>
                <a:r>
                  <a:rPr lang="en-US" sz="2400" dirty="0">
                    <a:latin typeface="Verdana" panose="020B0604030504040204" pitchFamily="34" charset="0"/>
                    <a:ea typeface="Verdana" panose="020B0604030504040204" pitchFamily="34" charset="0"/>
                    <a:cs typeface="Verdana" panose="020B0604030504040204" pitchFamily="34" charset="0"/>
                  </a:rPr>
                  <a:t> in the blue area. Without looking at your partner’s paper, draw a point on the dart board where the dart may have landed.</a:t>
                </a:r>
              </a:p>
            </p:txBody>
          </p:sp>
        </mc:Choice>
        <mc:Fallback xmlns="">
          <p:sp>
            <p:nvSpPr>
              <p:cNvPr id="7" name="TextBox 6">
                <a:extLst>
                  <a:ext uri="{FF2B5EF4-FFF2-40B4-BE49-F238E27FC236}">
                    <a16:creationId xmlns:a16="http://schemas.microsoft.com/office/drawing/2014/main" id="{AB405956-3096-CB43-948F-DAE839EE7C54}"/>
                  </a:ext>
                </a:extLst>
              </p:cNvPr>
              <p:cNvSpPr txBox="1">
                <a:spLocks noRot="1" noChangeAspect="1" noMove="1" noResize="1" noEditPoints="1" noAdjustHandles="1" noChangeArrowheads="1" noChangeShapeType="1" noTextEdit="1"/>
              </p:cNvSpPr>
              <p:nvPr/>
            </p:nvSpPr>
            <p:spPr>
              <a:xfrm>
                <a:off x="369937" y="547762"/>
                <a:ext cx="11822063" cy="1569660"/>
              </a:xfrm>
              <a:prstGeom prst="rect">
                <a:avLst/>
              </a:prstGeom>
              <a:blipFill>
                <a:blip r:embed="rId4"/>
                <a:stretch>
                  <a:fillRect l="-858" t="-3226" b="-806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xmlns="" id="{31C0899C-B93D-444B-BE39-059258BD451C}"/>
              </a:ext>
            </a:extLst>
          </p:cNvPr>
          <p:cNvSpPr txBox="1"/>
          <p:nvPr/>
        </p:nvSpPr>
        <p:spPr>
          <a:xfrm>
            <a:off x="1176776" y="2361586"/>
            <a:ext cx="10295753" cy="2154436"/>
          </a:xfrm>
          <a:prstGeom prst="rect">
            <a:avLst/>
          </a:prstGeom>
          <a:noFill/>
        </p:spPr>
        <p:txBody>
          <a:bodyPr wrap="square" rtlCol="0">
            <a:spAutoFit/>
          </a:bodyPr>
          <a:lstStyle/>
          <a:p>
            <a:pPr marL="4572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are the approximate coordinates of the dart?</a:t>
            </a: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are the approximate coordinates of your partner’s dart?</a:t>
            </a:r>
            <a:endParaRPr lang="en-US" sz="2400" i="1" dirty="0">
              <a:latin typeface="Verdana" panose="020B0604030504040204" pitchFamily="34" charset="0"/>
              <a:ea typeface="Verdana" panose="020B0604030504040204" pitchFamily="34" charset="0"/>
              <a:cs typeface="Verdana" panose="020B0604030504040204" pitchFamily="34" charset="0"/>
            </a:endParaRPr>
          </a:p>
          <a:p>
            <a:endParaRPr lang="en-US" dirty="0"/>
          </a:p>
        </p:txBody>
      </p:sp>
    </p:spTree>
    <p:extLst>
      <p:ext uri="{BB962C8B-B14F-4D97-AF65-F5344CB8AC3E}">
        <p14:creationId xmlns:p14="http://schemas.microsoft.com/office/powerpoint/2010/main" val="385933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2623"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210</a:t>
            </a:r>
          </a:p>
        </p:txBody>
      </p:sp>
      <p:sp>
        <p:nvSpPr>
          <p:cNvPr id="7" name="TextBox 6">
            <a:extLst>
              <a:ext uri="{FF2B5EF4-FFF2-40B4-BE49-F238E27FC236}">
                <a16:creationId xmlns:a16="http://schemas.microsoft.com/office/drawing/2014/main" xmlns="" id="{AB405956-3096-CB43-948F-DAE839EE7C54}"/>
              </a:ext>
            </a:extLst>
          </p:cNvPr>
          <p:cNvSpPr txBox="1"/>
          <p:nvPr/>
        </p:nvSpPr>
        <p:spPr>
          <a:xfrm>
            <a:off x="370351" y="612844"/>
            <a:ext cx="11453053" cy="4154984"/>
          </a:xfrm>
          <a:prstGeom prst="rect">
            <a:avLst/>
          </a:prstGeom>
          <a:noFill/>
        </p:spPr>
        <p:txBody>
          <a:bodyPr wrap="square">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second player throws a dart that lands in the red area, but not on one of the black circles. Without looking at your partner’s paper, draw a point on the dart board where the dart may have landed.</a:t>
            </a:r>
          </a:p>
          <a:p>
            <a:pPr marL="457200" indent="-457200">
              <a:buFont typeface="+mj-lt"/>
              <a:buAutoNum type="arabi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919163" indent="-4413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are the approximate coordinates of the dart?</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919163" indent="-441325">
              <a:buFont typeface="+mj-lt"/>
              <a:buAutoNum type="alphaL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919163" indent="-441325">
              <a:buFont typeface="+mj-lt"/>
              <a:buAutoNum type="alphaL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919163" indent="-441325">
              <a:buFont typeface="+mj-lt"/>
              <a:buAutoNum type="alphaL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919163" indent="-4413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are the approximate coordinates of your partner’s dart?</a:t>
            </a:r>
            <a:endParaRPr lang="en-US" sz="2400" i="1" dirty="0">
              <a:latin typeface="Verdana" panose="020B0604030504040204" pitchFamily="34" charset="0"/>
              <a:ea typeface="Verdana" panose="020B0604030504040204" pitchFamily="34" charset="0"/>
              <a:cs typeface="Verdana" panose="020B0604030504040204" pitchFamily="34" charset="0"/>
            </a:endParaRPr>
          </a:p>
          <a:p>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233699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210</a:t>
            </a:r>
          </a:p>
        </p:txBody>
      </p:sp>
      <p:sp>
        <p:nvSpPr>
          <p:cNvPr id="18" name="TextBox 17">
            <a:extLst>
              <a:ext uri="{FF2B5EF4-FFF2-40B4-BE49-F238E27FC236}">
                <a16:creationId xmlns:a16="http://schemas.microsoft.com/office/drawing/2014/main" xmlns="" id="{D948DD2D-25BD-8F43-BA2A-6588788C91CC}"/>
              </a:ext>
            </a:extLst>
          </p:cNvPr>
          <p:cNvSpPr txBox="1"/>
          <p:nvPr/>
        </p:nvSpPr>
        <p:spPr>
          <a:xfrm>
            <a:off x="349106" y="583299"/>
            <a:ext cx="11378605" cy="1846659"/>
          </a:xfrm>
          <a:prstGeom prst="rect">
            <a:avLst/>
          </a:prstGeom>
          <a:noFill/>
        </p:spPr>
        <p:txBody>
          <a:bodyPr wrap="square">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The scale used on the grid is 1 unit. Discuss with your partner how the scale used on the grid could be changed to make coordinates of the darts more accurate. Give each scale in the table a rating by circling the face that best describes the scale’s accuracy, where     means the location of the coordinates would not be very accurate, and     means the location of the coordinates would be very accurate.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dirty="0"/>
              <a:t> </a:t>
            </a:r>
            <a:endParaRPr lang="en-US" i="1" dirty="0"/>
          </a:p>
        </p:txBody>
      </p:sp>
      <p:pic>
        <p:nvPicPr>
          <p:cNvPr id="19" name="image19.png" descr="Icon&#10;&#10;Description automatically generated">
            <a:extLst>
              <a:ext uri="{FF2B5EF4-FFF2-40B4-BE49-F238E27FC236}">
                <a16:creationId xmlns:a16="http://schemas.microsoft.com/office/drawing/2014/main" xmlns="" id="{D8484BE8-E85B-FD46-BC63-7BFAACA1FC88}"/>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3067013" y="1590375"/>
            <a:ext cx="274320" cy="274320"/>
          </a:xfrm>
          <a:prstGeom prst="rect">
            <a:avLst/>
          </a:prstGeom>
          <a:ln/>
        </p:spPr>
      </p:pic>
      <p:pic>
        <p:nvPicPr>
          <p:cNvPr id="21" name="image8.png" descr="Icon&#10;&#10;Description automatically generated">
            <a:extLst>
              <a:ext uri="{FF2B5EF4-FFF2-40B4-BE49-F238E27FC236}">
                <a16:creationId xmlns:a16="http://schemas.microsoft.com/office/drawing/2014/main" xmlns="" id="{164434E1-D111-4E41-A7CC-85570C0CBF7D}"/>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2729740" y="1864695"/>
            <a:ext cx="274320" cy="274320"/>
          </a:xfrm>
          <a:prstGeom prst="rect">
            <a:avLst/>
          </a:prstGeom>
          <a:ln/>
        </p:spPr>
      </p:pic>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xmlns="" id="{C163D0B8-5DFE-914B-A11A-5ADBF37DAC03}"/>
                  </a:ext>
                </a:extLst>
              </p:cNvPr>
              <p:cNvGraphicFramePr>
                <a:graphicFrameLocks noGrp="1"/>
              </p:cNvGraphicFramePr>
              <p:nvPr>
                <p:extLst>
                  <p:ext uri="{D42A27DB-BD31-4B8C-83A1-F6EECF244321}">
                    <p14:modId xmlns:p14="http://schemas.microsoft.com/office/powerpoint/2010/main" val="2553024628"/>
                  </p:ext>
                </p:extLst>
              </p:nvPr>
            </p:nvGraphicFramePr>
            <p:xfrm>
              <a:off x="2506328" y="2635690"/>
              <a:ext cx="7179344" cy="3274568"/>
            </p:xfrm>
            <a:graphic>
              <a:graphicData uri="http://schemas.openxmlformats.org/drawingml/2006/table">
                <a:tbl>
                  <a:tblPr bandRow="1">
                    <a:tableStyleId>{A91F0D33-8C57-4600-99A7-42BC86742BE1}</a:tableStyleId>
                  </a:tblPr>
                  <a:tblGrid>
                    <a:gridCol w="1802586">
                      <a:extLst>
                        <a:ext uri="{9D8B030D-6E8A-4147-A177-3AD203B41FA5}">
                          <a16:colId xmlns:a16="http://schemas.microsoft.com/office/drawing/2014/main" xmlns="" val="1784416551"/>
                        </a:ext>
                      </a:extLst>
                    </a:gridCol>
                    <a:gridCol w="1802586">
                      <a:extLst>
                        <a:ext uri="{9D8B030D-6E8A-4147-A177-3AD203B41FA5}">
                          <a16:colId xmlns:a16="http://schemas.microsoft.com/office/drawing/2014/main" xmlns="" val="2888253240"/>
                        </a:ext>
                      </a:extLst>
                    </a:gridCol>
                    <a:gridCol w="1803245">
                      <a:extLst>
                        <a:ext uri="{9D8B030D-6E8A-4147-A177-3AD203B41FA5}">
                          <a16:colId xmlns:a16="http://schemas.microsoft.com/office/drawing/2014/main" xmlns="" val="1821261825"/>
                        </a:ext>
                      </a:extLst>
                    </a:gridCol>
                    <a:gridCol w="1770927">
                      <a:extLst>
                        <a:ext uri="{9D8B030D-6E8A-4147-A177-3AD203B41FA5}">
                          <a16:colId xmlns:a16="http://schemas.microsoft.com/office/drawing/2014/main" xmlns="" val="2593228060"/>
                        </a:ext>
                      </a:extLst>
                    </a:gridCol>
                  </a:tblGrid>
                  <a:tr h="113665">
                    <a:tc>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Scale</a:t>
                          </a:r>
                          <a:endParaRPr lang="en-US" sz="20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gridSpan="3">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Accuracy Rating</a:t>
                          </a:r>
                          <a:endParaRPr lang="en-US" sz="20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4036526371"/>
                      </a:ext>
                    </a:extLst>
                  </a:tr>
                  <a:tr h="731520">
                    <a:tc>
                      <a:txBody>
                        <a:bodyPr/>
                        <a:lstStyle/>
                        <a:p>
                          <a:pPr marL="0" marR="0" algn="ctr">
                            <a:lnSpc>
                              <a:spcPct val="100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1877853560"/>
                      </a:ext>
                    </a:extLst>
                  </a:tr>
                  <a:tr h="731520">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current scale</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406025960"/>
                      </a:ext>
                    </a:extLst>
                  </a:tr>
                  <a:tr h="731520">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f>
                                  <m:fPr>
                                    <m:ctrlPr>
                                      <a:rPr lang="en-US" sz="2000" i="1">
                                        <a:effectLst/>
                                        <a:latin typeface="Cambria Math"/>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2</m:t>
                                    </m:r>
                                  </m:den>
                                </m:f>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880514478"/>
                      </a:ext>
                    </a:extLst>
                  </a:tr>
                  <a:tr h="731520">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f>
                                  <m:fPr>
                                    <m:ctrlPr>
                                      <a:rPr lang="en-US" sz="2000" i="1">
                                        <a:effectLst/>
                                        <a:latin typeface="Cambria Math"/>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4</m:t>
                                    </m:r>
                                  </m:den>
                                </m:f>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3804054980"/>
                      </a:ext>
                    </a:extLst>
                  </a:tr>
                </a:tbl>
              </a:graphicData>
            </a:graphic>
          </p:graphicFrame>
        </mc:Choice>
        <mc:Fallback xmlns="">
          <p:graphicFrame>
            <p:nvGraphicFramePr>
              <p:cNvPr id="10" name="Table 9">
                <a:extLst>
                  <a:ext uri="{FF2B5EF4-FFF2-40B4-BE49-F238E27FC236}">
                    <a16:creationId xmlns:a16="http://schemas.microsoft.com/office/drawing/2014/main" id="{C163D0B8-5DFE-914B-A11A-5ADBF37DAC03}"/>
                  </a:ext>
                </a:extLst>
              </p:cNvPr>
              <p:cNvGraphicFramePr>
                <a:graphicFrameLocks noGrp="1"/>
              </p:cNvGraphicFramePr>
              <p:nvPr>
                <p:extLst>
                  <p:ext uri="{D42A27DB-BD31-4B8C-83A1-F6EECF244321}">
                    <p14:modId xmlns:p14="http://schemas.microsoft.com/office/powerpoint/2010/main" val="2553024628"/>
                  </p:ext>
                </p:extLst>
              </p:nvPr>
            </p:nvGraphicFramePr>
            <p:xfrm>
              <a:off x="2506328" y="2635690"/>
              <a:ext cx="7179344" cy="3223324"/>
            </p:xfrm>
            <a:graphic>
              <a:graphicData uri="http://schemas.openxmlformats.org/drawingml/2006/table">
                <a:tbl>
                  <a:tblPr bandRow="1">
                    <a:tableStyleId>{A91F0D33-8C57-4600-99A7-42BC86742BE1}</a:tableStyleId>
                  </a:tblPr>
                  <a:tblGrid>
                    <a:gridCol w="1802586">
                      <a:extLst>
                        <a:ext uri="{9D8B030D-6E8A-4147-A177-3AD203B41FA5}">
                          <a16:colId xmlns:a16="http://schemas.microsoft.com/office/drawing/2014/main" val="1784416551"/>
                        </a:ext>
                      </a:extLst>
                    </a:gridCol>
                    <a:gridCol w="1802586">
                      <a:extLst>
                        <a:ext uri="{9D8B030D-6E8A-4147-A177-3AD203B41FA5}">
                          <a16:colId xmlns:a16="http://schemas.microsoft.com/office/drawing/2014/main" val="2888253240"/>
                        </a:ext>
                      </a:extLst>
                    </a:gridCol>
                    <a:gridCol w="1803245">
                      <a:extLst>
                        <a:ext uri="{9D8B030D-6E8A-4147-A177-3AD203B41FA5}">
                          <a16:colId xmlns:a16="http://schemas.microsoft.com/office/drawing/2014/main" val="1821261825"/>
                        </a:ext>
                      </a:extLst>
                    </a:gridCol>
                    <a:gridCol w="1770927">
                      <a:extLst>
                        <a:ext uri="{9D8B030D-6E8A-4147-A177-3AD203B41FA5}">
                          <a16:colId xmlns:a16="http://schemas.microsoft.com/office/drawing/2014/main" val="2593228060"/>
                        </a:ext>
                      </a:extLst>
                    </a:gridCol>
                  </a:tblGrid>
                  <a:tr h="297244">
                    <a:tc>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Scale</a:t>
                          </a:r>
                          <a:endParaRPr lang="en-US" sz="20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gridSpan="3">
                      <a:txBody>
                        <a:bodyPr/>
                        <a:lstStyle/>
                        <a:p>
                          <a:pPr marL="0" marR="0" algn="ctr">
                            <a:lnSpc>
                              <a:spcPct val="107000"/>
                            </a:lnSpc>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Accuracy Rating</a:t>
                          </a:r>
                          <a:endParaRPr lang="en-US" sz="2000" b="1"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36526371"/>
                      </a:ext>
                    </a:extLst>
                  </a:tr>
                  <a:tr h="731520">
                    <a:tc>
                      <a:txBody>
                        <a:bodyPr/>
                        <a:lstStyle/>
                        <a:p>
                          <a:endParaRPr lang="en-US"/>
                        </a:p>
                      </a:txBody>
                      <a:tcPr marL="68580" marR="68580" marT="0" marB="0" anchor="ctr">
                        <a:blipFill>
                          <a:blip r:embed="rId6"/>
                          <a:stretch>
                            <a:fillRect l="-704" t="-54386" r="-299296" b="-307018"/>
                          </a:stretch>
                        </a:blipFill>
                      </a:tcP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1877853560"/>
                      </a:ext>
                    </a:extLst>
                  </a:tr>
                  <a:tr h="731520">
                    <a:tc>
                      <a:txBody>
                        <a:bodyPr/>
                        <a:lstStyle/>
                        <a:p>
                          <a:endParaRPr lang="en-US"/>
                        </a:p>
                      </a:txBody>
                      <a:tcPr marL="68580" marR="68580" marT="0" marB="0" anchor="ctr">
                        <a:blipFill>
                          <a:blip r:embed="rId6"/>
                          <a:stretch>
                            <a:fillRect l="-704" t="-151724" r="-299296" b="-201724"/>
                          </a:stretch>
                        </a:blipFill>
                      </a:tcP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406025960"/>
                      </a:ext>
                    </a:extLst>
                  </a:tr>
                  <a:tr h="731520">
                    <a:tc>
                      <a:txBody>
                        <a:bodyPr/>
                        <a:lstStyle/>
                        <a:p>
                          <a:endParaRPr lang="en-US"/>
                        </a:p>
                      </a:txBody>
                      <a:tcPr marL="68580" marR="68580" marT="0" marB="0" anchor="ctr">
                        <a:blipFill>
                          <a:blip r:embed="rId6"/>
                          <a:stretch>
                            <a:fillRect l="-704" t="-251724" r="-299296" b="-101724"/>
                          </a:stretch>
                        </a:blipFill>
                      </a:tcP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880514478"/>
                      </a:ext>
                    </a:extLst>
                  </a:tr>
                  <a:tr h="731520">
                    <a:tc>
                      <a:txBody>
                        <a:bodyPr/>
                        <a:lstStyle/>
                        <a:p>
                          <a:endParaRPr lang="en-US"/>
                        </a:p>
                      </a:txBody>
                      <a:tcPr marL="68580" marR="68580" marT="0" marB="0" anchor="ctr">
                        <a:blipFill>
                          <a:blip r:embed="rId6"/>
                          <a:stretch>
                            <a:fillRect l="-704" t="-351724" r="-299296" b="-1724"/>
                          </a:stretch>
                        </a:blipFill>
                      </a:tcP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3804054980"/>
                      </a:ext>
                    </a:extLst>
                  </a:tr>
                </a:tbl>
              </a:graphicData>
            </a:graphic>
          </p:graphicFrame>
        </mc:Fallback>
      </mc:AlternateContent>
      <p:pic>
        <p:nvPicPr>
          <p:cNvPr id="36" name="image19.png" descr="Icon&#10;&#10;Description automatically generated">
            <a:extLst>
              <a:ext uri="{FF2B5EF4-FFF2-40B4-BE49-F238E27FC236}">
                <a16:creationId xmlns:a16="http://schemas.microsoft.com/office/drawing/2014/main" xmlns="" id="{94A50E8D-CDB6-4943-87F5-AC9DE46DDA30}"/>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4909794" y="3031349"/>
            <a:ext cx="548640" cy="548640"/>
          </a:xfrm>
          <a:prstGeom prst="rect">
            <a:avLst/>
          </a:prstGeom>
          <a:ln/>
        </p:spPr>
      </p:pic>
      <p:pic>
        <p:nvPicPr>
          <p:cNvPr id="37" name="image19.png" descr="Icon&#10;&#10;Description automatically generated">
            <a:extLst>
              <a:ext uri="{FF2B5EF4-FFF2-40B4-BE49-F238E27FC236}">
                <a16:creationId xmlns:a16="http://schemas.microsoft.com/office/drawing/2014/main" xmlns="" id="{1A3038E5-AF27-4947-91E3-475B3C1DA5EB}"/>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4903701" y="4472040"/>
            <a:ext cx="548640" cy="548640"/>
          </a:xfrm>
          <a:prstGeom prst="rect">
            <a:avLst/>
          </a:prstGeom>
          <a:ln/>
        </p:spPr>
      </p:pic>
      <p:pic>
        <p:nvPicPr>
          <p:cNvPr id="38" name="image19.png" descr="Icon&#10;&#10;Description automatically generated">
            <a:extLst>
              <a:ext uri="{FF2B5EF4-FFF2-40B4-BE49-F238E27FC236}">
                <a16:creationId xmlns:a16="http://schemas.microsoft.com/office/drawing/2014/main" xmlns="" id="{F029732C-B3AC-9647-A828-DA2B0064FC3E}"/>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4903701" y="3746411"/>
            <a:ext cx="548640" cy="548640"/>
          </a:xfrm>
          <a:prstGeom prst="rect">
            <a:avLst/>
          </a:prstGeom>
          <a:ln/>
        </p:spPr>
      </p:pic>
      <p:pic>
        <p:nvPicPr>
          <p:cNvPr id="39" name="image19.png" descr="Icon&#10;&#10;Description automatically generated">
            <a:extLst>
              <a:ext uri="{FF2B5EF4-FFF2-40B4-BE49-F238E27FC236}">
                <a16:creationId xmlns:a16="http://schemas.microsoft.com/office/drawing/2014/main" xmlns="" id="{3A88F234-ACDF-6446-BA84-78EB8E3FEF58}"/>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4898484" y="5226412"/>
            <a:ext cx="548640" cy="548640"/>
          </a:xfrm>
          <a:prstGeom prst="rect">
            <a:avLst/>
          </a:prstGeom>
          <a:ln/>
        </p:spPr>
      </p:pic>
      <p:pic>
        <p:nvPicPr>
          <p:cNvPr id="40" name="image20.png">
            <a:extLst>
              <a:ext uri="{FF2B5EF4-FFF2-40B4-BE49-F238E27FC236}">
                <a16:creationId xmlns:a16="http://schemas.microsoft.com/office/drawing/2014/main" xmlns="" id="{E7C63C2A-8C47-F445-B41C-890F45B5BACD}"/>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a:xfrm>
            <a:off x="6773917" y="3028620"/>
            <a:ext cx="548640" cy="548640"/>
          </a:xfrm>
          <a:prstGeom prst="rect">
            <a:avLst/>
          </a:prstGeom>
          <a:ln/>
        </p:spPr>
      </p:pic>
      <p:pic>
        <p:nvPicPr>
          <p:cNvPr id="41" name="image20.png">
            <a:extLst>
              <a:ext uri="{FF2B5EF4-FFF2-40B4-BE49-F238E27FC236}">
                <a16:creationId xmlns:a16="http://schemas.microsoft.com/office/drawing/2014/main" xmlns="" id="{BD8DC3E5-BB01-4E47-8EAF-93C7E006E361}"/>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a:xfrm>
            <a:off x="6773917" y="3746411"/>
            <a:ext cx="548640" cy="548640"/>
          </a:xfrm>
          <a:prstGeom prst="rect">
            <a:avLst/>
          </a:prstGeom>
          <a:ln/>
        </p:spPr>
      </p:pic>
      <p:pic>
        <p:nvPicPr>
          <p:cNvPr id="42" name="image20.png">
            <a:extLst>
              <a:ext uri="{FF2B5EF4-FFF2-40B4-BE49-F238E27FC236}">
                <a16:creationId xmlns:a16="http://schemas.microsoft.com/office/drawing/2014/main" xmlns="" id="{E81A4071-6A96-834D-875D-8B84502B08F8}"/>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a:xfrm>
            <a:off x="6773917" y="4510628"/>
            <a:ext cx="548640" cy="548640"/>
          </a:xfrm>
          <a:prstGeom prst="rect">
            <a:avLst/>
          </a:prstGeom>
          <a:ln/>
        </p:spPr>
      </p:pic>
      <p:pic>
        <p:nvPicPr>
          <p:cNvPr id="43" name="image20.png">
            <a:extLst>
              <a:ext uri="{FF2B5EF4-FFF2-40B4-BE49-F238E27FC236}">
                <a16:creationId xmlns:a16="http://schemas.microsoft.com/office/drawing/2014/main" xmlns="" id="{8C1DF6B5-8841-EE4C-87D0-B317282F4F12}"/>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a:xfrm>
            <a:off x="6773917" y="5226412"/>
            <a:ext cx="548640" cy="548640"/>
          </a:xfrm>
          <a:prstGeom prst="rect">
            <a:avLst/>
          </a:prstGeom>
          <a:ln/>
        </p:spPr>
      </p:pic>
      <p:pic>
        <p:nvPicPr>
          <p:cNvPr id="44" name="image8.png">
            <a:extLst>
              <a:ext uri="{FF2B5EF4-FFF2-40B4-BE49-F238E27FC236}">
                <a16:creationId xmlns:a16="http://schemas.microsoft.com/office/drawing/2014/main" xmlns="" id="{89DEEA14-779C-5145-B0A7-E29EFF7A1AA8}"/>
              </a:ext>
            </a:extLst>
          </p:cNvPr>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a:xfrm>
            <a:off x="8615708" y="3027669"/>
            <a:ext cx="548640" cy="548640"/>
          </a:xfrm>
          <a:prstGeom prst="rect">
            <a:avLst/>
          </a:prstGeom>
          <a:ln/>
        </p:spPr>
      </p:pic>
      <p:pic>
        <p:nvPicPr>
          <p:cNvPr id="45" name="image8.png">
            <a:extLst>
              <a:ext uri="{FF2B5EF4-FFF2-40B4-BE49-F238E27FC236}">
                <a16:creationId xmlns:a16="http://schemas.microsoft.com/office/drawing/2014/main" xmlns="" id="{FBE2ACB4-5B49-B645-BF44-9F06297877EE}"/>
              </a:ext>
            </a:extLst>
          </p:cNvPr>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a:xfrm>
            <a:off x="8615708" y="3744756"/>
            <a:ext cx="548640" cy="548640"/>
          </a:xfrm>
          <a:prstGeom prst="rect">
            <a:avLst/>
          </a:prstGeom>
          <a:ln/>
        </p:spPr>
      </p:pic>
      <p:pic>
        <p:nvPicPr>
          <p:cNvPr id="46" name="image8.png">
            <a:extLst>
              <a:ext uri="{FF2B5EF4-FFF2-40B4-BE49-F238E27FC236}">
                <a16:creationId xmlns:a16="http://schemas.microsoft.com/office/drawing/2014/main" xmlns="" id="{E2254B54-ED5B-024D-9EDD-6C41F2488C71}"/>
              </a:ext>
            </a:extLst>
          </p:cNvPr>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a:xfrm>
            <a:off x="8615708" y="4472040"/>
            <a:ext cx="548640" cy="548640"/>
          </a:xfrm>
          <a:prstGeom prst="rect">
            <a:avLst/>
          </a:prstGeom>
          <a:ln/>
        </p:spPr>
      </p:pic>
      <p:pic>
        <p:nvPicPr>
          <p:cNvPr id="47" name="image8.png">
            <a:extLst>
              <a:ext uri="{FF2B5EF4-FFF2-40B4-BE49-F238E27FC236}">
                <a16:creationId xmlns:a16="http://schemas.microsoft.com/office/drawing/2014/main" xmlns="" id="{6E05E0E2-0818-C74B-A9A7-D39484955E64}"/>
              </a:ext>
            </a:extLst>
          </p:cNvPr>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a:xfrm>
            <a:off x="8611694" y="5226412"/>
            <a:ext cx="548640" cy="548640"/>
          </a:xfrm>
          <a:prstGeom prst="rect">
            <a:avLst/>
          </a:prstGeom>
          <a:ln/>
        </p:spPr>
      </p:pic>
    </p:spTree>
    <p:extLst>
      <p:ext uri="{BB962C8B-B14F-4D97-AF65-F5344CB8AC3E}">
        <p14:creationId xmlns:p14="http://schemas.microsoft.com/office/powerpoint/2010/main" val="2598233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565586"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210</a:t>
            </a: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6062"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345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93828" y="-8677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5.2.4 Guided Practice: Plotting Rational Ordered Pairs</a:t>
            </a:r>
          </a:p>
        </p:txBody>
      </p:sp>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210</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31D40250-DEDD-2C41-8538-3D4DD18CCC4A}"/>
              </a:ext>
            </a:extLst>
          </p:cNvPr>
          <p:cNvSpPr txBox="1"/>
          <p:nvPr/>
        </p:nvSpPr>
        <p:spPr>
          <a:xfrm>
            <a:off x="731520" y="1917196"/>
            <a:ext cx="4712350" cy="707886"/>
          </a:xfrm>
          <a:prstGeom prst="rect">
            <a:avLst/>
          </a:prstGeom>
          <a:noFill/>
        </p:spPr>
        <p:txBody>
          <a:bodyPr wrap="square" rtlCol="0">
            <a:spAutoFit/>
          </a:bodyPr>
          <a:lstStyle/>
          <a:p>
            <a:pPr marL="458788" indent="-441325">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On the coordinate plane, plot and label the points given.</a:t>
            </a:r>
          </a:p>
        </p:txBody>
      </p:sp>
      <p:pic>
        <p:nvPicPr>
          <p:cNvPr id="9" name="image20.png" descr="Chart, scatter chart&#10;&#10;Description automatically generated">
            <a:extLst>
              <a:ext uri="{FF2B5EF4-FFF2-40B4-BE49-F238E27FC236}">
                <a16:creationId xmlns:a16="http://schemas.microsoft.com/office/drawing/2014/main" xmlns="" id="{9D093824-0D96-2443-B355-3A2D9220E5F5}"/>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7146502" y="1673225"/>
            <a:ext cx="4133252" cy="3511550"/>
          </a:xfrm>
          <a:prstGeom prst="rect">
            <a:avLst/>
          </a:prstGeom>
          <a:ln/>
        </p:spPr>
      </p:pic>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BF77D7BE-1E8D-4749-9B0F-FF1621383A73}"/>
                  </a:ext>
                </a:extLst>
              </p:cNvPr>
              <p:cNvGraphicFramePr>
                <a:graphicFrameLocks noGrp="1"/>
              </p:cNvGraphicFramePr>
              <p:nvPr>
                <p:extLst>
                  <p:ext uri="{D42A27DB-BD31-4B8C-83A1-F6EECF244321}">
                    <p14:modId xmlns:p14="http://schemas.microsoft.com/office/powerpoint/2010/main" val="1334872992"/>
                  </p:ext>
                </p:extLst>
              </p:nvPr>
            </p:nvGraphicFramePr>
            <p:xfrm>
              <a:off x="912246" y="3303357"/>
              <a:ext cx="5920456" cy="1775651"/>
            </p:xfrm>
            <a:graphic>
              <a:graphicData uri="http://schemas.openxmlformats.org/drawingml/2006/table">
                <a:tbl>
                  <a:tblPr bandRow="1">
                    <a:tableStyleId>{A91F0D33-8C57-4600-99A7-42BC86742BE1}</a:tableStyleId>
                  </a:tblPr>
                  <a:tblGrid>
                    <a:gridCol w="1941980">
                      <a:extLst>
                        <a:ext uri="{9D8B030D-6E8A-4147-A177-3AD203B41FA5}">
                          <a16:colId xmlns:a16="http://schemas.microsoft.com/office/drawing/2014/main" xmlns="" val="3751595871"/>
                        </a:ext>
                      </a:extLst>
                    </a:gridCol>
                    <a:gridCol w="1989238">
                      <a:extLst>
                        <a:ext uri="{9D8B030D-6E8A-4147-A177-3AD203B41FA5}">
                          <a16:colId xmlns:a16="http://schemas.microsoft.com/office/drawing/2014/main" xmlns="" val="4122213167"/>
                        </a:ext>
                      </a:extLst>
                    </a:gridCol>
                    <a:gridCol w="1989238">
                      <a:extLst>
                        <a:ext uri="{9D8B030D-6E8A-4147-A177-3AD203B41FA5}">
                          <a16:colId xmlns:a16="http://schemas.microsoft.com/office/drawing/2014/main" xmlns="" val="3790747284"/>
                        </a:ext>
                      </a:extLst>
                    </a:gridCol>
                  </a:tblGrid>
                  <a:tr h="279286">
                    <a:tc>
                      <a:txBody>
                        <a:bodyPr/>
                        <a:lstStyle/>
                        <a:p>
                          <a:pPr marL="0" marR="0">
                            <a:lnSpc>
                              <a:spcPct val="107000"/>
                            </a:lnSpc>
                            <a:spcBef>
                              <a:spcPts val="0"/>
                            </a:spcBef>
                            <a:spcAft>
                              <a:spcPts val="0"/>
                            </a:spcAft>
                          </a:pPr>
                          <a:r>
                            <a:rPr lang="en-US" sz="2000" dirty="0">
                              <a:effectLst/>
                            </a:rPr>
                            <a:t>Point </a:t>
                          </a:r>
                          <a14:m>
                            <m:oMath xmlns:m="http://schemas.openxmlformats.org/officeDocument/2006/math">
                              <m:r>
                                <a:rPr lang="en-US" sz="2000">
                                  <a:effectLst/>
                                  <a:latin typeface="Cambria Math" panose="02040503050406030204" pitchFamily="18" charset="0"/>
                                </a:rPr>
                                <m:t>𝐴</m:t>
                              </m:r>
                            </m:oMath>
                          </a14:m>
                          <a:r>
                            <a:rPr lang="en-US" sz="2000" dirty="0">
                              <a:effectLst/>
                            </a:rPr>
                            <a:t> </a:t>
                          </a:r>
                        </a:p>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 −1)</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Point </a:t>
                          </a:r>
                          <a14:m>
                            <m:oMath xmlns:m="http://schemas.openxmlformats.org/officeDocument/2006/math">
                              <m:r>
                                <a:rPr lang="en-US" sz="2000">
                                  <a:effectLst/>
                                  <a:latin typeface="Cambria Math" panose="02040503050406030204" pitchFamily="18" charset="0"/>
                                </a:rPr>
                                <m:t>𝐵</m:t>
                              </m:r>
                            </m:oMath>
                          </a14:m>
                          <a:endParaRPr lang="en-US" sz="2000" dirty="0">
                            <a:effectLst/>
                          </a:endParaRPr>
                        </a:p>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(1, 0.6)</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Point </a:t>
                          </a:r>
                          <a14:m>
                            <m:oMath xmlns:m="http://schemas.openxmlformats.org/officeDocument/2006/math">
                              <m:r>
                                <a:rPr lang="en-US" sz="2000">
                                  <a:effectLst/>
                                  <a:latin typeface="Cambria Math" panose="02040503050406030204" pitchFamily="18" charset="0"/>
                                </a:rPr>
                                <m:t>𝐶</m:t>
                              </m:r>
                            </m:oMath>
                          </a14:m>
                          <a:endParaRPr lang="en-US" sz="2000" dirty="0">
                            <a:effectLst/>
                          </a:endParaRPr>
                        </a:p>
                        <a:p>
                          <a:pPr marL="0" marR="0" algn="ctr">
                            <a:lnSpc>
                              <a:spcPct val="107000"/>
                            </a:lnSpc>
                            <a:spcBef>
                              <a:spcPts val="0"/>
                            </a:spcBef>
                            <a:spcAft>
                              <a:spcPts val="800"/>
                            </a:spcAft>
                          </a:pPr>
                          <a14:m>
                            <m:oMath xmlns:m="http://schemas.openxmlformats.org/officeDocument/2006/math">
                              <m:d>
                                <m:dPr>
                                  <m:ctrlPr>
                                    <a:rPr lang="en-US" sz="2000" i="1">
                                      <a:effectLst/>
                                      <a:latin typeface="Cambria Math"/>
                                    </a:rPr>
                                  </m:ctrlPr>
                                </m:dPr>
                                <m:e>
                                  <m:f>
                                    <m:fPr>
                                      <m:ctrlPr>
                                        <a:rPr lang="en-US" sz="2000" i="1">
                                          <a:effectLst/>
                                          <a:latin typeface="Cambria Math"/>
                                        </a:rPr>
                                      </m:ctrlPr>
                                    </m:fPr>
                                    <m:num>
                                      <m:r>
                                        <a:rPr lang="en-US" sz="2000">
                                          <a:effectLst/>
                                          <a:latin typeface="Cambria Math" panose="02040503050406030204" pitchFamily="18" charset="0"/>
                                        </a:rPr>
                                        <m:t>3</m:t>
                                      </m:r>
                                    </m:num>
                                    <m:den>
                                      <m:r>
                                        <a:rPr lang="en-US" sz="2000">
                                          <a:effectLst/>
                                          <a:latin typeface="Cambria Math" panose="02040503050406030204" pitchFamily="18" charset="0"/>
                                        </a:rPr>
                                        <m:t>5</m:t>
                                      </m:r>
                                    </m:den>
                                  </m:f>
                                  <m:r>
                                    <a:rPr lang="en-US" sz="2000">
                                      <a:effectLst/>
                                      <a:latin typeface="Cambria Math" panose="02040503050406030204" pitchFamily="18" charset="0"/>
                                    </a:rPr>
                                    <m:t>, −1</m:t>
                                  </m:r>
                                  <m:f>
                                    <m:fPr>
                                      <m:ctrlPr>
                                        <a:rPr lang="en-US" sz="2000" i="1">
                                          <a:effectLst/>
                                          <a:latin typeface="Cambria Math"/>
                                        </a:rPr>
                                      </m:ctrlPr>
                                    </m:fPr>
                                    <m:num>
                                      <m:r>
                                        <a:rPr lang="en-US" sz="2000">
                                          <a:effectLst/>
                                          <a:latin typeface="Cambria Math" panose="02040503050406030204" pitchFamily="18" charset="0"/>
                                        </a:rPr>
                                        <m:t>2</m:t>
                                      </m:r>
                                    </m:num>
                                    <m:den>
                                      <m:r>
                                        <a:rPr lang="en-US" sz="2000">
                                          <a:effectLst/>
                                          <a:latin typeface="Cambria Math" panose="02040503050406030204" pitchFamily="18" charset="0"/>
                                        </a:rPr>
                                        <m:t>5</m:t>
                                      </m:r>
                                    </m:den>
                                  </m:f>
                                </m:e>
                              </m:d>
                            </m:oMath>
                          </a14:m>
                          <a:r>
                            <a:rPr lang="en-US" sz="2000" i="1" dirty="0">
                              <a:effectLst/>
                              <a:latin typeface="Cambria Math" panose="02040503050406030204" pitchFamily="18" charset="0"/>
                              <a:ea typeface="Cambria Math" panose="02040503050406030204" pitchFamily="18" charset="0"/>
                              <a:cs typeface="Cambria Math" panose="02040503050406030204" pitchFamily="18" charset="0"/>
                            </a:rPr>
                            <a:t> </a:t>
                          </a:r>
                        </a:p>
                      </a:txBody>
                      <a:tcPr marL="68580" marR="68580" marT="0" marB="0"/>
                    </a:tc>
                    <a:extLst>
                      <a:ext uri="{0D108BD9-81ED-4DB2-BD59-A6C34878D82A}">
                        <a16:rowId xmlns:a16="http://schemas.microsoft.com/office/drawing/2014/main" xmlns="" val="3687887001"/>
                      </a:ext>
                    </a:extLst>
                  </a:tr>
                  <a:tr h="961390">
                    <a:tc>
                      <a:txBody>
                        <a:bodyPr/>
                        <a:lstStyle/>
                        <a:p>
                          <a:pPr marL="0" marR="0">
                            <a:lnSpc>
                              <a:spcPct val="107000"/>
                            </a:lnSpc>
                            <a:spcBef>
                              <a:spcPts val="0"/>
                            </a:spcBef>
                            <a:spcAft>
                              <a:spcPts val="0"/>
                            </a:spcAft>
                          </a:pPr>
                          <a:r>
                            <a:rPr lang="en-US" sz="2000">
                              <a:effectLst/>
                            </a:rPr>
                            <a:t>Point </a:t>
                          </a:r>
                          <a14:m>
                            <m:oMath xmlns:m="http://schemas.openxmlformats.org/officeDocument/2006/math">
                              <m:r>
                                <a:rPr lang="en-US" sz="2000">
                                  <a:effectLst/>
                                  <a:latin typeface="Cambria Math" panose="02040503050406030204" pitchFamily="18" charset="0"/>
                                </a:rPr>
                                <m:t>𝐷</m:t>
                              </m:r>
                            </m:oMath>
                          </a14:m>
                          <a:endParaRPr lang="en-US" sz="2000">
                            <a:effectLst/>
                          </a:endParaRPr>
                        </a:p>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(−0.8, −2)</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Point </a:t>
                          </a:r>
                          <a14:m>
                            <m:oMath xmlns:m="http://schemas.openxmlformats.org/officeDocument/2006/math">
                              <m:r>
                                <a:rPr lang="en-US" sz="2000">
                                  <a:effectLst/>
                                  <a:latin typeface="Cambria Math" panose="02040503050406030204" pitchFamily="18" charset="0"/>
                                </a:rPr>
                                <m:t>𝐸</m:t>
                              </m:r>
                            </m:oMath>
                          </a14:m>
                          <a:endParaRPr lang="en-US" sz="2000" dirty="0">
                            <a:effectLst/>
                          </a:endParaRPr>
                        </a:p>
                        <a:p>
                          <a:pPr marL="0" marR="0" algn="ctr">
                            <a:lnSpc>
                              <a:spcPct val="107000"/>
                            </a:lnSpc>
                            <a:spcBef>
                              <a:spcPts val="0"/>
                            </a:spcBef>
                            <a:spcAft>
                              <a:spcPts val="800"/>
                            </a:spcAft>
                          </a:pPr>
                          <a14:m>
                            <m:oMath xmlns:m="http://schemas.openxmlformats.org/officeDocument/2006/math">
                              <m:d>
                                <m:dPr>
                                  <m:ctrlPr>
                                    <a:rPr lang="en-US" sz="2000" i="1">
                                      <a:effectLst/>
                                      <a:latin typeface="Cambria Math"/>
                                    </a:rPr>
                                  </m:ctrlPr>
                                </m:dPr>
                                <m:e>
                                  <m:r>
                                    <a:rPr lang="en-US" sz="2000">
                                      <a:effectLst/>
                                      <a:latin typeface="Cambria Math" panose="02040503050406030204" pitchFamily="18" charset="0"/>
                                    </a:rPr>
                                    <m:t>−</m:t>
                                  </m:r>
                                  <m:f>
                                    <m:fPr>
                                      <m:ctrlPr>
                                        <a:rPr lang="en-US" sz="2000" i="1">
                                          <a:effectLst/>
                                          <a:latin typeface="Cambria Math"/>
                                        </a:rPr>
                                      </m:ctrlPr>
                                    </m:fPr>
                                    <m:num>
                                      <m:r>
                                        <a:rPr lang="en-US" sz="2000">
                                          <a:effectLst/>
                                          <a:latin typeface="Cambria Math" panose="02040503050406030204" pitchFamily="18" charset="0"/>
                                        </a:rPr>
                                        <m:t>11</m:t>
                                      </m:r>
                                    </m:num>
                                    <m:den>
                                      <m:r>
                                        <a:rPr lang="en-US" sz="2000">
                                          <a:effectLst/>
                                          <a:latin typeface="Cambria Math" panose="02040503050406030204" pitchFamily="18" charset="0"/>
                                        </a:rPr>
                                        <m:t>5</m:t>
                                      </m:r>
                                    </m:den>
                                  </m:f>
                                  <m:r>
                                    <a:rPr lang="en-US" sz="2000">
                                      <a:effectLst/>
                                      <a:latin typeface="Cambria Math" panose="02040503050406030204" pitchFamily="18" charset="0"/>
                                    </a:rPr>
                                    <m:t>, 1</m:t>
                                  </m:r>
                                  <m:f>
                                    <m:fPr>
                                      <m:ctrlPr>
                                        <a:rPr lang="en-US" sz="2000" i="1">
                                          <a:effectLst/>
                                          <a:latin typeface="Cambria Math"/>
                                        </a:rPr>
                                      </m:ctrlPr>
                                    </m:fPr>
                                    <m:num>
                                      <m:r>
                                        <a:rPr lang="en-US" sz="2000">
                                          <a:effectLst/>
                                          <a:latin typeface="Cambria Math" panose="02040503050406030204" pitchFamily="18" charset="0"/>
                                        </a:rPr>
                                        <m:t>8</m:t>
                                      </m:r>
                                    </m:num>
                                    <m:den>
                                      <m:r>
                                        <a:rPr lang="en-US" sz="2000">
                                          <a:effectLst/>
                                          <a:latin typeface="Cambria Math" panose="02040503050406030204" pitchFamily="18" charset="0"/>
                                        </a:rPr>
                                        <m:t>10</m:t>
                                      </m:r>
                                    </m:den>
                                  </m:f>
                                </m:e>
                              </m:d>
                            </m:oMath>
                          </a14:m>
                          <a:r>
                            <a:rPr lang="en-US" sz="2000" i="1" dirty="0">
                              <a:effectLst/>
                              <a:latin typeface="Cambria Math" panose="02040503050406030204" pitchFamily="18" charset="0"/>
                              <a:ea typeface="Cambria Math" panose="02040503050406030204" pitchFamily="18" charset="0"/>
                              <a:cs typeface="Cambria Math" panose="02040503050406030204" pitchFamily="18" charset="0"/>
                            </a:rPr>
                            <a:t> </a:t>
                          </a:r>
                        </a:p>
                      </a:txBody>
                      <a:tcPr marL="68580" marR="68580" marT="0" marB="0"/>
                    </a:tc>
                    <a:tc>
                      <a:txBody>
                        <a:bodyPr/>
                        <a:lstStyle/>
                        <a:p>
                          <a:pPr marL="0" marR="0">
                            <a:lnSpc>
                              <a:spcPct val="107000"/>
                            </a:lnSpc>
                            <a:spcBef>
                              <a:spcPts val="0"/>
                            </a:spcBef>
                            <a:spcAft>
                              <a:spcPts val="0"/>
                            </a:spcAft>
                          </a:pPr>
                          <a:r>
                            <a:rPr lang="en-US" sz="2000" dirty="0">
                              <a:effectLst/>
                            </a:rPr>
                            <a:t>Point </a:t>
                          </a:r>
                          <a14:m>
                            <m:oMath xmlns:m="http://schemas.openxmlformats.org/officeDocument/2006/math">
                              <m:r>
                                <a:rPr lang="en-US" sz="2000">
                                  <a:effectLst/>
                                  <a:latin typeface="Cambria Math" panose="02040503050406030204" pitchFamily="18" charset="0"/>
                                </a:rPr>
                                <m:t>𝐹</m:t>
                              </m:r>
                            </m:oMath>
                          </a14:m>
                          <a:endParaRPr lang="en-US" sz="2000" dirty="0">
                            <a:effectLst/>
                          </a:endParaRPr>
                        </a:p>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(2.5, 2.2)</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tc>
                    <a:extLst>
                      <a:ext uri="{0D108BD9-81ED-4DB2-BD59-A6C34878D82A}">
                        <a16:rowId xmlns:a16="http://schemas.microsoft.com/office/drawing/2014/main" xmlns="" val="2331322983"/>
                      </a:ext>
                    </a:extLst>
                  </a:tr>
                </a:tbl>
              </a:graphicData>
            </a:graphic>
          </p:graphicFrame>
        </mc:Choice>
        <mc:Fallback xmlns="">
          <p:graphicFrame>
            <p:nvGraphicFramePr>
              <p:cNvPr id="2" name="Table 1">
                <a:extLst>
                  <a:ext uri="{FF2B5EF4-FFF2-40B4-BE49-F238E27FC236}">
                    <a16:creationId xmlns:a16="http://schemas.microsoft.com/office/drawing/2014/main" id="{BF77D7BE-1E8D-4749-9B0F-FF1621383A73}"/>
                  </a:ext>
                </a:extLst>
              </p:cNvPr>
              <p:cNvGraphicFramePr>
                <a:graphicFrameLocks noGrp="1"/>
              </p:cNvGraphicFramePr>
              <p:nvPr>
                <p:extLst>
                  <p:ext uri="{D42A27DB-BD31-4B8C-83A1-F6EECF244321}">
                    <p14:modId xmlns:p14="http://schemas.microsoft.com/office/powerpoint/2010/main" val="1334872992"/>
                  </p:ext>
                </p:extLst>
              </p:nvPr>
            </p:nvGraphicFramePr>
            <p:xfrm>
              <a:off x="912246" y="3303357"/>
              <a:ext cx="5920456" cy="1775651"/>
            </p:xfrm>
            <a:graphic>
              <a:graphicData uri="http://schemas.openxmlformats.org/drawingml/2006/table">
                <a:tbl>
                  <a:tblPr bandRow="1">
                    <a:tableStyleId>{A91F0D33-8C57-4600-99A7-42BC86742BE1}</a:tableStyleId>
                  </a:tblPr>
                  <a:tblGrid>
                    <a:gridCol w="1941980">
                      <a:extLst>
                        <a:ext uri="{9D8B030D-6E8A-4147-A177-3AD203B41FA5}">
                          <a16:colId xmlns:a16="http://schemas.microsoft.com/office/drawing/2014/main" val="3751595871"/>
                        </a:ext>
                      </a:extLst>
                    </a:gridCol>
                    <a:gridCol w="1989238">
                      <a:extLst>
                        <a:ext uri="{9D8B030D-6E8A-4147-A177-3AD203B41FA5}">
                          <a16:colId xmlns:a16="http://schemas.microsoft.com/office/drawing/2014/main" val="4122213167"/>
                        </a:ext>
                      </a:extLst>
                    </a:gridCol>
                    <a:gridCol w="1989238">
                      <a:extLst>
                        <a:ext uri="{9D8B030D-6E8A-4147-A177-3AD203B41FA5}">
                          <a16:colId xmlns:a16="http://schemas.microsoft.com/office/drawing/2014/main" val="3790747284"/>
                        </a:ext>
                      </a:extLst>
                    </a:gridCol>
                  </a:tblGrid>
                  <a:tr h="814261">
                    <a:tc>
                      <a:txBody>
                        <a:bodyPr/>
                        <a:lstStyle/>
                        <a:p>
                          <a:endParaRPr lang="en-US"/>
                        </a:p>
                      </a:txBody>
                      <a:tcPr marL="68580" marR="68580" marT="0" marB="0">
                        <a:blipFill>
                          <a:blip r:embed="rId6"/>
                          <a:stretch>
                            <a:fillRect t="-10938" r="-204545" b="-120313"/>
                          </a:stretch>
                        </a:blipFill>
                      </a:tcPr>
                    </a:tc>
                    <a:tc>
                      <a:txBody>
                        <a:bodyPr/>
                        <a:lstStyle/>
                        <a:p>
                          <a:endParaRPr lang="en-US"/>
                        </a:p>
                      </a:txBody>
                      <a:tcPr marL="68580" marR="68580" marT="0" marB="0">
                        <a:blipFill>
                          <a:blip r:embed="rId6"/>
                          <a:stretch>
                            <a:fillRect l="-98089" t="-10938" r="-100637" b="-120313"/>
                          </a:stretch>
                        </a:blipFill>
                      </a:tcPr>
                    </a:tc>
                    <a:tc>
                      <a:txBody>
                        <a:bodyPr/>
                        <a:lstStyle/>
                        <a:p>
                          <a:endParaRPr lang="en-US"/>
                        </a:p>
                      </a:txBody>
                      <a:tcPr marL="68580" marR="68580" marT="0" marB="0">
                        <a:blipFill>
                          <a:blip r:embed="rId6"/>
                          <a:stretch>
                            <a:fillRect l="-198089" t="-10938" r="-637" b="-120313"/>
                          </a:stretch>
                        </a:blipFill>
                      </a:tcPr>
                    </a:tc>
                    <a:extLst>
                      <a:ext uri="{0D108BD9-81ED-4DB2-BD59-A6C34878D82A}">
                        <a16:rowId xmlns:a16="http://schemas.microsoft.com/office/drawing/2014/main" val="3687887001"/>
                      </a:ext>
                    </a:extLst>
                  </a:tr>
                  <a:tr h="961390">
                    <a:tc>
                      <a:txBody>
                        <a:bodyPr/>
                        <a:lstStyle/>
                        <a:p>
                          <a:endParaRPr lang="en-US"/>
                        </a:p>
                      </a:txBody>
                      <a:tcPr marL="68580" marR="68580" marT="0" marB="0">
                        <a:blipFill>
                          <a:blip r:embed="rId6"/>
                          <a:stretch>
                            <a:fillRect t="-93421" r="-204545" b="-1316"/>
                          </a:stretch>
                        </a:blipFill>
                      </a:tcPr>
                    </a:tc>
                    <a:tc>
                      <a:txBody>
                        <a:bodyPr/>
                        <a:lstStyle/>
                        <a:p>
                          <a:endParaRPr lang="en-US"/>
                        </a:p>
                      </a:txBody>
                      <a:tcPr marL="68580" marR="68580" marT="0" marB="0">
                        <a:blipFill>
                          <a:blip r:embed="rId6"/>
                          <a:stretch>
                            <a:fillRect l="-98089" t="-93421" r="-100637" b="-1316"/>
                          </a:stretch>
                        </a:blipFill>
                      </a:tcPr>
                    </a:tc>
                    <a:tc>
                      <a:txBody>
                        <a:bodyPr/>
                        <a:lstStyle/>
                        <a:p>
                          <a:endParaRPr lang="en-US"/>
                        </a:p>
                      </a:txBody>
                      <a:tcPr marL="68580" marR="68580" marT="0" marB="0">
                        <a:blipFill>
                          <a:blip r:embed="rId6"/>
                          <a:stretch>
                            <a:fillRect l="-198089" t="-93421" r="-637" b="-1316"/>
                          </a:stretch>
                        </a:blipFill>
                      </a:tcPr>
                    </a:tc>
                    <a:extLst>
                      <a:ext uri="{0D108BD9-81ED-4DB2-BD59-A6C34878D82A}">
                        <a16:rowId xmlns:a16="http://schemas.microsoft.com/office/drawing/2014/main" val="2331322983"/>
                      </a:ext>
                    </a:extLst>
                  </a:tr>
                </a:tbl>
              </a:graphicData>
            </a:graphic>
          </p:graphicFrame>
        </mc:Fallback>
      </mc:AlternateContent>
    </p:spTree>
    <p:extLst>
      <p:ext uri="{BB962C8B-B14F-4D97-AF65-F5344CB8AC3E}">
        <p14:creationId xmlns:p14="http://schemas.microsoft.com/office/powerpoint/2010/main" val="3651040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99888" y="2766150"/>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3054096" y="2852928"/>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211</a:t>
            </a:r>
          </a:p>
        </p:txBody>
      </p:sp>
    </p:spTree>
    <p:extLst>
      <p:ext uri="{BB962C8B-B14F-4D97-AF65-F5344CB8AC3E}">
        <p14:creationId xmlns:p14="http://schemas.microsoft.com/office/powerpoint/2010/main" val="1758613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19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28438" y="2072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5.2.5 Guided Instruction: Choosing the Right Scale</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211</a:t>
            </a:r>
          </a:p>
        </p:txBody>
      </p:sp>
      <p:sp>
        <p:nvSpPr>
          <p:cNvPr id="13" name="TextBox 12">
            <a:extLst>
              <a:ext uri="{FF2B5EF4-FFF2-40B4-BE49-F238E27FC236}">
                <a16:creationId xmlns:a16="http://schemas.microsoft.com/office/drawing/2014/main" xmlns="" id="{C01B13E8-EC8D-E443-A329-C5E3593DD13A}"/>
              </a:ext>
            </a:extLst>
          </p:cNvPr>
          <p:cNvSpPr txBox="1"/>
          <p:nvPr/>
        </p:nvSpPr>
        <p:spPr>
          <a:xfrm>
            <a:off x="730265" y="1465554"/>
            <a:ext cx="11220729" cy="83099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When representing data, the scale of the grid is important to effectively and accurately communicate information.</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sp>
        <p:nvSpPr>
          <p:cNvPr id="14" name="Rounded Rectangle 13">
            <a:extLst>
              <a:ext uri="{FF2B5EF4-FFF2-40B4-BE49-F238E27FC236}">
                <a16:creationId xmlns:a16="http://schemas.microsoft.com/office/drawing/2014/main" xmlns="" id="{FCC65469-EA95-AC40-84F6-27090AED5227}"/>
              </a:ext>
            </a:extLst>
          </p:cNvPr>
          <p:cNvSpPr/>
          <p:nvPr/>
        </p:nvSpPr>
        <p:spPr>
          <a:xfrm>
            <a:off x="3006879" y="2763908"/>
            <a:ext cx="6667500" cy="1069087"/>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spcAft>
                <a:spcPts val="8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scale</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 the numeric values, set at fixed intervals, assigned to the axes of a graph.</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15" name="Shape 7" descr="Icon&#10;&#10;Description automatically generated">
            <a:extLst>
              <a:ext uri="{FF2B5EF4-FFF2-40B4-BE49-F238E27FC236}">
                <a16:creationId xmlns:a16="http://schemas.microsoft.com/office/drawing/2014/main" xmlns="" id="{245D0A70-2B87-1A42-9916-8FA8B8671368}"/>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3136648" y="3029211"/>
            <a:ext cx="539750" cy="53848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7921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211</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19206" y="678815"/>
            <a:ext cx="11442421"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table shows the total Florida tourism industry employees, in thousands, for years since 2002. </a:t>
            </a:r>
          </a:p>
        </p:txBody>
      </p:sp>
      <p:graphicFrame>
        <p:nvGraphicFramePr>
          <p:cNvPr id="2" name="Table 1">
            <a:extLst>
              <a:ext uri="{FF2B5EF4-FFF2-40B4-BE49-F238E27FC236}">
                <a16:creationId xmlns:a16="http://schemas.microsoft.com/office/drawing/2014/main" xmlns="" id="{8FCF1C7B-50B9-6B4B-AED3-72768701A507}"/>
              </a:ext>
            </a:extLst>
          </p:cNvPr>
          <p:cNvGraphicFramePr>
            <a:graphicFrameLocks noGrp="1"/>
          </p:cNvGraphicFramePr>
          <p:nvPr>
            <p:extLst>
              <p:ext uri="{D42A27DB-BD31-4B8C-83A1-F6EECF244321}">
                <p14:modId xmlns:p14="http://schemas.microsoft.com/office/powerpoint/2010/main" val="3722801510"/>
              </p:ext>
            </p:extLst>
          </p:nvPr>
        </p:nvGraphicFramePr>
        <p:xfrm>
          <a:off x="2996338" y="1885922"/>
          <a:ext cx="6488155" cy="3086156"/>
        </p:xfrm>
        <a:graphic>
          <a:graphicData uri="http://schemas.openxmlformats.org/drawingml/2006/table">
            <a:tbl>
              <a:tblPr bandRow="1">
                <a:tableStyleId>{A91F0D33-8C57-4600-99A7-42BC86742BE1}</a:tableStyleId>
              </a:tblPr>
              <a:tblGrid>
                <a:gridCol w="2155999">
                  <a:extLst>
                    <a:ext uri="{9D8B030D-6E8A-4147-A177-3AD203B41FA5}">
                      <a16:colId xmlns:a16="http://schemas.microsoft.com/office/drawing/2014/main" xmlns="" val="2438471048"/>
                    </a:ext>
                  </a:extLst>
                </a:gridCol>
                <a:gridCol w="4332156">
                  <a:extLst>
                    <a:ext uri="{9D8B030D-6E8A-4147-A177-3AD203B41FA5}">
                      <a16:colId xmlns:a16="http://schemas.microsoft.com/office/drawing/2014/main" xmlns="" val="2607317261"/>
                    </a:ext>
                  </a:extLst>
                </a:gridCol>
              </a:tblGrid>
              <a:tr h="977729">
                <a:tc>
                  <a:txBody>
                    <a:bodyPr/>
                    <a:lstStyle/>
                    <a:p>
                      <a:pPr marL="0" marR="0" algn="ctr">
                        <a:lnSpc>
                          <a:spcPct val="107000"/>
                        </a:lnSpc>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Years Since 2002</a:t>
                      </a:r>
                      <a:endParaRPr lang="en-US" sz="24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Total Tourism Industry Employees                   (in thousands)</a:t>
                      </a:r>
                      <a:endParaRPr lang="en-US" sz="24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xmlns="" val="2001271911"/>
                  </a:ext>
                </a:extLst>
              </a:tr>
              <a:tr h="486678">
                <a:tc>
                  <a:txBody>
                    <a:bodyPr/>
                    <a:lstStyle/>
                    <a:p>
                      <a:pPr marL="0" marR="0" algn="ctr">
                        <a:lnSpc>
                          <a:spcPct val="107000"/>
                        </a:lnSpc>
                        <a:spcBef>
                          <a:spcPts val="0"/>
                        </a:spcBef>
                        <a:spcAft>
                          <a:spcPts val="0"/>
                        </a:spcAft>
                      </a:pPr>
                      <a:r>
                        <a:rPr lang="en-US" sz="2400" dirty="0">
                          <a:effectLst/>
                          <a:latin typeface="Cambria Math" panose="02040503050406030204" pitchFamily="18" charset="0"/>
                          <a:ea typeface="Cambria Math" panose="02040503050406030204" pitchFamily="18" charset="0"/>
                          <a:cs typeface="Verdana" panose="020B0604030504040204" pitchFamily="34" charset="0"/>
                        </a:rPr>
                        <a:t>1</a:t>
                      </a:r>
                      <a:endParaRPr lang="en-US" sz="24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400" dirty="0">
                          <a:effectLst/>
                          <a:latin typeface="Cambria Math" panose="02040503050406030204" pitchFamily="18" charset="0"/>
                          <a:ea typeface="Cambria Math" panose="02040503050406030204" pitchFamily="18" charset="0"/>
                          <a:cs typeface="Verdana" panose="020B0604030504040204" pitchFamily="34" charset="0"/>
                        </a:rPr>
                        <a:t>889.9</a:t>
                      </a:r>
                      <a:endParaRPr lang="en-US" sz="24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397921866"/>
                  </a:ext>
                </a:extLst>
              </a:tr>
              <a:tr h="486678">
                <a:tc>
                  <a:txBody>
                    <a:bodyPr/>
                    <a:lstStyle/>
                    <a:p>
                      <a:pPr marL="0" marR="0" algn="ctr">
                        <a:lnSpc>
                          <a:spcPct val="107000"/>
                        </a:lnSpc>
                        <a:spcBef>
                          <a:spcPts val="0"/>
                        </a:spcBef>
                        <a:spcAft>
                          <a:spcPts val="0"/>
                        </a:spcAft>
                      </a:pPr>
                      <a:r>
                        <a:rPr lang="en-US" sz="2400" dirty="0">
                          <a:effectLst/>
                          <a:latin typeface="Cambria Math" panose="02040503050406030204" pitchFamily="18" charset="0"/>
                          <a:ea typeface="Cambria Math" panose="02040503050406030204" pitchFamily="18" charset="0"/>
                          <a:cs typeface="Verdana" panose="020B0604030504040204" pitchFamily="34" charset="0"/>
                        </a:rPr>
                        <a:t>4</a:t>
                      </a:r>
                      <a:endParaRPr lang="en-US" sz="24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400" dirty="0">
                          <a:effectLst/>
                          <a:latin typeface="Cambria Math" panose="02040503050406030204" pitchFamily="18" charset="0"/>
                          <a:ea typeface="Cambria Math" panose="02040503050406030204" pitchFamily="18" charset="0"/>
                          <a:cs typeface="Verdana" panose="020B0604030504040204" pitchFamily="34" charset="0"/>
                        </a:rPr>
                        <a:t>909.7</a:t>
                      </a:r>
                      <a:endParaRPr lang="en-US" sz="24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1586838437"/>
                  </a:ext>
                </a:extLst>
              </a:tr>
              <a:tr h="486678">
                <a:tc>
                  <a:txBody>
                    <a:bodyPr/>
                    <a:lstStyle/>
                    <a:p>
                      <a:pPr marL="0" marR="0" algn="ctr">
                        <a:lnSpc>
                          <a:spcPct val="107000"/>
                        </a:lnSpc>
                        <a:spcBef>
                          <a:spcPts val="0"/>
                        </a:spcBef>
                        <a:spcAft>
                          <a:spcPts val="0"/>
                        </a:spcAft>
                      </a:pPr>
                      <a:r>
                        <a:rPr lang="en-US" sz="2400" dirty="0">
                          <a:effectLst/>
                          <a:latin typeface="Cambria Math" panose="02040503050406030204" pitchFamily="18" charset="0"/>
                          <a:ea typeface="Cambria Math" panose="02040503050406030204" pitchFamily="18" charset="0"/>
                          <a:cs typeface="Verdana" panose="020B0604030504040204" pitchFamily="34" charset="0"/>
                        </a:rPr>
                        <a:t>5</a:t>
                      </a:r>
                      <a:endParaRPr lang="en-US" sz="24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400" dirty="0">
                          <a:effectLst/>
                          <a:latin typeface="Cambria Math" panose="02040503050406030204" pitchFamily="18" charset="0"/>
                          <a:ea typeface="Cambria Math" panose="02040503050406030204" pitchFamily="18" charset="0"/>
                          <a:cs typeface="Verdana" panose="020B0604030504040204" pitchFamily="34" charset="0"/>
                        </a:rPr>
                        <a:t>916.3</a:t>
                      </a:r>
                      <a:endParaRPr lang="en-US" sz="24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2379747697"/>
                  </a:ext>
                </a:extLst>
              </a:tr>
              <a:tr h="486678">
                <a:tc>
                  <a:txBody>
                    <a:bodyPr/>
                    <a:lstStyle/>
                    <a:p>
                      <a:pPr marL="0" marR="0" algn="ctr">
                        <a:lnSpc>
                          <a:spcPct val="107000"/>
                        </a:lnSpc>
                        <a:spcBef>
                          <a:spcPts val="0"/>
                        </a:spcBef>
                        <a:spcAft>
                          <a:spcPts val="0"/>
                        </a:spcAft>
                      </a:pPr>
                      <a:r>
                        <a:rPr lang="en-US" sz="2400" dirty="0">
                          <a:effectLst/>
                          <a:latin typeface="Cambria Math" panose="02040503050406030204" pitchFamily="18" charset="0"/>
                          <a:ea typeface="Cambria Math" panose="02040503050406030204" pitchFamily="18" charset="0"/>
                          <a:cs typeface="Verdana" panose="020B0604030504040204" pitchFamily="34" charset="0"/>
                        </a:rPr>
                        <a:t>7</a:t>
                      </a:r>
                      <a:endParaRPr lang="en-US" sz="24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400" dirty="0">
                          <a:effectLst/>
                          <a:latin typeface="Cambria Math" panose="02040503050406030204" pitchFamily="18" charset="0"/>
                          <a:ea typeface="Cambria Math" panose="02040503050406030204" pitchFamily="18" charset="0"/>
                          <a:cs typeface="Verdana" panose="020B0604030504040204" pitchFamily="34" charset="0"/>
                        </a:rPr>
                        <a:t>929.5</a:t>
                      </a:r>
                      <a:endParaRPr lang="en-US" sz="24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3757291253"/>
                  </a:ext>
                </a:extLst>
              </a:tr>
            </a:tbl>
          </a:graphicData>
        </a:graphic>
      </p:graphicFrame>
    </p:spTree>
    <p:extLst>
      <p:ext uri="{BB962C8B-B14F-4D97-AF65-F5344CB8AC3E}">
        <p14:creationId xmlns:p14="http://schemas.microsoft.com/office/powerpoint/2010/main" val="3161066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211</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434146" y="600299"/>
            <a:ext cx="10655611" cy="40011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To plot the data, Andrea drew the coordinate grid shown.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9" name="Text Box 43">
            <a:extLst>
              <a:ext uri="{FF2B5EF4-FFF2-40B4-BE49-F238E27FC236}">
                <a16:creationId xmlns:a16="http://schemas.microsoft.com/office/drawing/2014/main" xmlns="" id="{30B4EF50-AA55-354C-A6C6-08D3EE4EECFE}"/>
              </a:ext>
            </a:extLst>
          </p:cNvPr>
          <p:cNvSpPr txBox="1"/>
          <p:nvPr/>
        </p:nvSpPr>
        <p:spPr>
          <a:xfrm>
            <a:off x="7148513" y="11185525"/>
            <a:ext cx="2692400" cy="3683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800" dirty="0">
                <a:latin typeface="Cambria Math" panose="02040503050406030204" pitchFamily="18" charset="0"/>
                <a:ea typeface="Cambria Math" panose="02040503050406030204" pitchFamily="18" charset="0"/>
                <a:cs typeface="Cambria Math" panose="02040503050406030204" pitchFamily="18" charset="0"/>
              </a:rPr>
              <a:t>1     2    </a:t>
            </a:r>
            <a:r>
              <a:rPr lang="en-US" sz="2200" dirty="0">
                <a:latin typeface="Cambria Math" panose="02040503050406030204" pitchFamily="18" charset="0"/>
                <a:ea typeface="Cambria Math" panose="02040503050406030204" pitchFamily="18" charset="0"/>
                <a:cs typeface="Cambria Math" panose="02040503050406030204" pitchFamily="18" charset="0"/>
              </a:rPr>
              <a:t> </a:t>
            </a:r>
            <a:r>
              <a:rPr lang="en-US" sz="1800" dirty="0">
                <a:latin typeface="Cambria Math" panose="02040503050406030204" pitchFamily="18" charset="0"/>
                <a:ea typeface="Cambria Math" panose="02040503050406030204" pitchFamily="18" charset="0"/>
                <a:cs typeface="Cambria Math" panose="02040503050406030204" pitchFamily="18" charset="0"/>
              </a:rPr>
              <a:t>3     4     5     6     7</a:t>
            </a:r>
            <a:endParaRPr lang="en-US" sz="1600" i="1"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10" name="Picture 9" descr="A picture containing table&#10;&#10;Description automatically generated">
            <a:extLst>
              <a:ext uri="{FF2B5EF4-FFF2-40B4-BE49-F238E27FC236}">
                <a16:creationId xmlns:a16="http://schemas.microsoft.com/office/drawing/2014/main" xmlns="" id="{BEB43179-65D4-5443-83DA-70ED6965E400}"/>
              </a:ext>
            </a:extLst>
          </p:cNvPr>
          <p:cNvPicPr>
            <a:picLocks noChangeAspect="1"/>
          </p:cNvPicPr>
          <p:nvPr/>
        </p:nvPicPr>
        <p:blipFill>
          <a:blip r:embed="rId4"/>
          <a:stretch>
            <a:fillRect/>
          </a:stretch>
        </p:blipFill>
        <p:spPr>
          <a:xfrm>
            <a:off x="4178300" y="1191024"/>
            <a:ext cx="3835400" cy="3581400"/>
          </a:xfrm>
          <a:prstGeom prst="rect">
            <a:avLst/>
          </a:prstGeom>
        </p:spPr>
      </p:pic>
      <p:sp>
        <p:nvSpPr>
          <p:cNvPr id="17" name="TextBox 16">
            <a:extLst>
              <a:ext uri="{FF2B5EF4-FFF2-40B4-BE49-F238E27FC236}">
                <a16:creationId xmlns:a16="http://schemas.microsoft.com/office/drawing/2014/main" xmlns="" id="{9D5064FA-D574-1A4B-8DAF-B32C84EFDA3F}"/>
              </a:ext>
            </a:extLst>
          </p:cNvPr>
          <p:cNvSpPr txBox="1"/>
          <p:nvPr/>
        </p:nvSpPr>
        <p:spPr>
          <a:xfrm>
            <a:off x="434146" y="4963039"/>
            <a:ext cx="11516849" cy="721801"/>
          </a:xfrm>
          <a:prstGeom prst="rect">
            <a:avLst/>
          </a:prstGeom>
          <a:noFill/>
        </p:spPr>
        <p:txBody>
          <a:bodyPr wrap="square">
            <a:spAutoFit/>
          </a:bodyPr>
          <a:lstStyle/>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why Andrea’s coordinate grid would not effectively nor accurately communicate the information about Florida tourism industry employees</a:t>
            </a:r>
            <a:r>
              <a:rPr lang="en-US" dirty="0">
                <a:latin typeface="Verdana" panose="020B0604030504040204" pitchFamily="34" charset="0"/>
                <a:ea typeface="Verdana" panose="020B0604030504040204" pitchFamily="34" charset="0"/>
                <a:cs typeface="Verdana" panose="020B0604030504040204" pitchFamily="34" charset="0"/>
              </a:rPr>
              <a:t>.</a:t>
            </a:r>
            <a:endParaRPr lang="en-US" sz="1200" i="1" dirty="0">
              <a:latin typeface="Cambria Math" panose="02040503050406030204" pitchFamily="18" charset="0"/>
              <a:ea typeface="Cambria Math" panose="02040503050406030204" pitchFamily="18" charset="0"/>
              <a:cs typeface="Cambria Math" panose="02040503050406030204" pitchFamily="18" charset="0"/>
            </a:endParaRPr>
          </a:p>
        </p:txBody>
      </p:sp>
    </p:spTree>
    <p:extLst>
      <p:ext uri="{BB962C8B-B14F-4D97-AF65-F5344CB8AC3E}">
        <p14:creationId xmlns:p14="http://schemas.microsoft.com/office/powerpoint/2010/main" val="2484303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412881" y="673656"/>
                <a:ext cx="11484952" cy="830997"/>
              </a:xfrm>
              <a:prstGeom prst="rect">
                <a:avLst/>
              </a:prstGeom>
              <a:noFill/>
            </p:spPr>
            <p:txBody>
              <a:bodyPr wrap="square" rtlCol="0">
                <a:spAutoFit/>
              </a:bodyPr>
              <a:lstStyle/>
              <a:p>
                <a:pPr marL="342900" indent="-3429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data shown in the table are average autumn temperatures, in degrees Celsius </a:t>
                </a:r>
                <a14:m>
                  <m:oMath xmlns:m="http://schemas.openxmlformats.org/officeDocument/2006/math">
                    <m:d>
                      <m:dPr>
                        <m:ctrlPr>
                          <a:rPr lang="en-US" sz="2400" i="1">
                            <a:latin typeface="Cambria Math"/>
                          </a:rPr>
                        </m:ctrlPr>
                      </m:dPr>
                      <m:e>
                        <m:r>
                          <a:rPr lang="en-US" sz="2400" i="1">
                            <a:latin typeface="Cambria Math" panose="02040503050406030204" pitchFamily="18" charset="0"/>
                          </a:rPr>
                          <m:t>℃</m:t>
                        </m:r>
                      </m:e>
                    </m:d>
                    <m:r>
                      <a:rPr lang="en-US" sz="2400" i="1">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in Carmathen, Wales.</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12881" y="673656"/>
                <a:ext cx="11484952" cy="830997"/>
              </a:xfrm>
              <a:prstGeom prst="rect">
                <a:avLst/>
              </a:prstGeom>
              <a:blipFill>
                <a:blip r:embed="rId4"/>
                <a:stretch>
                  <a:fillRect l="-884" t="-7576"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056FF1D0-6F99-EB49-B644-9889D09A8161}"/>
                  </a:ext>
                </a:extLst>
              </p:cNvPr>
              <p:cNvGraphicFramePr>
                <a:graphicFrameLocks noGrp="1"/>
              </p:cNvGraphicFramePr>
              <p:nvPr>
                <p:extLst>
                  <p:ext uri="{D42A27DB-BD31-4B8C-83A1-F6EECF244321}">
                    <p14:modId xmlns:p14="http://schemas.microsoft.com/office/powerpoint/2010/main" val="489691244"/>
                  </p:ext>
                </p:extLst>
              </p:nvPr>
            </p:nvGraphicFramePr>
            <p:xfrm>
              <a:off x="4252738" y="2100800"/>
              <a:ext cx="3805237" cy="3913632"/>
            </p:xfrm>
            <a:graphic>
              <a:graphicData uri="http://schemas.openxmlformats.org/drawingml/2006/table">
                <a:tbl>
                  <a:tblPr bandRow="1">
                    <a:tableStyleId>{A91F0D33-8C57-4600-99A7-42BC86742BE1}</a:tableStyleId>
                  </a:tblPr>
                  <a:tblGrid>
                    <a:gridCol w="1756431">
                      <a:extLst>
                        <a:ext uri="{9D8B030D-6E8A-4147-A177-3AD203B41FA5}">
                          <a16:colId xmlns:a16="http://schemas.microsoft.com/office/drawing/2014/main" xmlns="" val="1018852457"/>
                        </a:ext>
                      </a:extLst>
                    </a:gridCol>
                    <a:gridCol w="2048806">
                      <a:extLst>
                        <a:ext uri="{9D8B030D-6E8A-4147-A177-3AD203B41FA5}">
                          <a16:colId xmlns:a16="http://schemas.microsoft.com/office/drawing/2014/main" xmlns="" val="920263095"/>
                        </a:ext>
                      </a:extLst>
                    </a:gridCol>
                  </a:tblGrid>
                  <a:tr h="53594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Time After Noon (hours)</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Temperature </a:t>
                          </a:r>
                          <a14:m>
                            <m:oMath xmlns:m="http://schemas.openxmlformats.org/officeDocument/2006/math">
                              <m:r>
                                <a:rPr lang="en-US" sz="2000" b="1">
                                  <a:effectLst/>
                                  <a:latin typeface="Cambria Math" panose="02040503050406030204" pitchFamily="18" charset="0"/>
                                </a:rPr>
                                <m:t>(℃)</m:t>
                              </m:r>
                            </m:oMath>
                          </a14:m>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xmlns="" val="2042145568"/>
                      </a:ext>
                    </a:extLst>
                  </a:tr>
                  <a:tr h="25781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0</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5</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4228143673"/>
                      </a:ext>
                    </a:extLst>
                  </a:tr>
                  <a:tr h="25781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4</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1003837778"/>
                      </a:ext>
                    </a:extLst>
                  </a:tr>
                  <a:tr h="24892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2</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3</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2437553088"/>
                      </a:ext>
                    </a:extLst>
                  </a:tr>
                  <a:tr h="25781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3</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2</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3926204748"/>
                      </a:ext>
                    </a:extLst>
                  </a:tr>
                  <a:tr h="25781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4</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579210110"/>
                      </a:ext>
                    </a:extLst>
                  </a:tr>
                  <a:tr h="25781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5</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-2</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239226204"/>
                      </a:ext>
                    </a:extLst>
                  </a:tr>
                  <a:tr h="25781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6</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-3</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1574430567"/>
                      </a:ext>
                    </a:extLst>
                  </a:tr>
                  <a:tr h="24892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7</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-4</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3048016606"/>
                      </a:ext>
                    </a:extLst>
                  </a:tr>
                  <a:tr h="25781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8</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-4</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4078061438"/>
                      </a:ext>
                    </a:extLst>
                  </a:tr>
                </a:tbl>
              </a:graphicData>
            </a:graphic>
          </p:graphicFrame>
        </mc:Choice>
        <mc:Fallback xmlns="">
          <p:graphicFrame>
            <p:nvGraphicFramePr>
              <p:cNvPr id="3" name="Table 2">
                <a:extLst>
                  <a:ext uri="{FF2B5EF4-FFF2-40B4-BE49-F238E27FC236}">
                    <a16:creationId xmlns:a16="http://schemas.microsoft.com/office/drawing/2014/main" id="{056FF1D0-6F99-EB49-B644-9889D09A8161}"/>
                  </a:ext>
                </a:extLst>
              </p:cNvPr>
              <p:cNvGraphicFramePr>
                <a:graphicFrameLocks noGrp="1"/>
              </p:cNvGraphicFramePr>
              <p:nvPr>
                <p:extLst>
                  <p:ext uri="{D42A27DB-BD31-4B8C-83A1-F6EECF244321}">
                    <p14:modId xmlns:p14="http://schemas.microsoft.com/office/powerpoint/2010/main" val="489691244"/>
                  </p:ext>
                </p:extLst>
              </p:nvPr>
            </p:nvGraphicFramePr>
            <p:xfrm>
              <a:off x="4252738" y="2100800"/>
              <a:ext cx="3805237" cy="3760729"/>
            </p:xfrm>
            <a:graphic>
              <a:graphicData uri="http://schemas.openxmlformats.org/drawingml/2006/table">
                <a:tbl>
                  <a:tblPr bandRow="1">
                    <a:tableStyleId>{A91F0D33-8C57-4600-99A7-42BC86742BE1}</a:tableStyleId>
                  </a:tblPr>
                  <a:tblGrid>
                    <a:gridCol w="1756431">
                      <a:extLst>
                        <a:ext uri="{9D8B030D-6E8A-4147-A177-3AD203B41FA5}">
                          <a16:colId xmlns:a16="http://schemas.microsoft.com/office/drawing/2014/main" val="1018852457"/>
                        </a:ext>
                      </a:extLst>
                    </a:gridCol>
                    <a:gridCol w="2048806">
                      <a:extLst>
                        <a:ext uri="{9D8B030D-6E8A-4147-A177-3AD203B41FA5}">
                          <a16:colId xmlns:a16="http://schemas.microsoft.com/office/drawing/2014/main" val="920263095"/>
                        </a:ext>
                      </a:extLst>
                    </a:gridCol>
                  </a:tblGrid>
                  <a:tr h="949516">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Time After Noon (hours)</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endParaRPr lang="en-US"/>
                        </a:p>
                      </a:txBody>
                      <a:tcPr marL="68580" marR="68580" marT="0" marB="0" anchor="ctr">
                        <a:blipFill>
                          <a:blip r:embed="rId5"/>
                          <a:stretch>
                            <a:fillRect l="-85802" t="-9333" r="-617" b="-312000"/>
                          </a:stretch>
                        </a:blipFill>
                      </a:tcPr>
                    </a:tc>
                    <a:extLst>
                      <a:ext uri="{0D108BD9-81ED-4DB2-BD59-A6C34878D82A}">
                        <a16:rowId xmlns:a16="http://schemas.microsoft.com/office/drawing/2014/main" val="2042145568"/>
                      </a:ext>
                    </a:extLst>
                  </a:tr>
                  <a:tr h="312357">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0</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5</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val="4228143673"/>
                      </a:ext>
                    </a:extLst>
                  </a:tr>
                  <a:tr h="312357">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4</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val="1003837778"/>
                      </a:ext>
                    </a:extLst>
                  </a:tr>
                  <a:tr h="312357">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2</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3</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val="2437553088"/>
                      </a:ext>
                    </a:extLst>
                  </a:tr>
                  <a:tr h="312357">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3</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2</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val="3926204748"/>
                      </a:ext>
                    </a:extLst>
                  </a:tr>
                  <a:tr h="312357">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4</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val="579210110"/>
                      </a:ext>
                    </a:extLst>
                  </a:tr>
                  <a:tr h="312357">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5</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-2</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val="239226204"/>
                      </a:ext>
                    </a:extLst>
                  </a:tr>
                  <a:tr h="312357">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6</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-3</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val="1574430567"/>
                      </a:ext>
                    </a:extLst>
                  </a:tr>
                  <a:tr h="312357">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7</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-4</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val="3048016606"/>
                      </a:ext>
                    </a:extLst>
                  </a:tr>
                  <a:tr h="312357">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8</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-4</a:t>
                          </a:r>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val="4078061438"/>
                      </a:ext>
                    </a:extLst>
                  </a:tr>
                </a:tbl>
              </a:graphicData>
            </a:graphic>
          </p:graphicFrame>
        </mc:Fallback>
      </mc:AlternateContent>
    </p:spTree>
    <p:extLst>
      <p:ext uri="{BB962C8B-B14F-4D97-AF65-F5344CB8AC3E}">
        <p14:creationId xmlns:p14="http://schemas.microsoft.com/office/powerpoint/2010/main" val="1656029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211</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40472" y="590450"/>
            <a:ext cx="8327136" cy="40011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Three coordinate grids are shown, each using different scales.</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pic>
        <p:nvPicPr>
          <p:cNvPr id="18" name="Picture 17" descr="Chart&#10;&#10;Description automatically generated">
            <a:extLst>
              <a:ext uri="{FF2B5EF4-FFF2-40B4-BE49-F238E27FC236}">
                <a16:creationId xmlns:a16="http://schemas.microsoft.com/office/drawing/2014/main" xmlns="" id="{3B4219BE-BBB6-974C-A55C-4D5B86E86AD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29243" y="1035050"/>
            <a:ext cx="6533514" cy="5378136"/>
          </a:xfrm>
          <a:prstGeom prst="rect">
            <a:avLst/>
          </a:prstGeom>
        </p:spPr>
      </p:pic>
    </p:spTree>
    <p:extLst>
      <p:ext uri="{BB962C8B-B14F-4D97-AF65-F5344CB8AC3E}">
        <p14:creationId xmlns:p14="http://schemas.microsoft.com/office/powerpoint/2010/main" val="302619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212</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2007765" y="520394"/>
            <a:ext cx="8327136" cy="461665"/>
          </a:xfrm>
          <a:prstGeom prst="rect">
            <a:avLst/>
          </a:prstGeom>
          <a:noFill/>
        </p:spPr>
        <p:txBody>
          <a:bodyPr wrap="square" rtlCol="0">
            <a:spAutoFit/>
          </a:bodyPr>
          <a:lstStyle/>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TextBox 6">
            <a:extLst>
              <a:ext uri="{FF2B5EF4-FFF2-40B4-BE49-F238E27FC236}">
                <a16:creationId xmlns:a16="http://schemas.microsoft.com/office/drawing/2014/main" xmlns="" id="{A615EF09-F9A9-B24F-A968-6333EAADCD27}"/>
              </a:ext>
            </a:extLst>
          </p:cNvPr>
          <p:cNvSpPr txBox="1"/>
          <p:nvPr/>
        </p:nvSpPr>
        <p:spPr>
          <a:xfrm>
            <a:off x="540099" y="594822"/>
            <a:ext cx="11410895" cy="4097917"/>
          </a:xfrm>
          <a:prstGeom prst="rect">
            <a:avLst/>
          </a:prstGeom>
          <a:noFill/>
        </p:spPr>
        <p:txBody>
          <a:bodyPr wrap="square">
            <a:spAutoFit/>
          </a:bodyPr>
          <a:lstStyle/>
          <a:p>
            <a:pPr marL="457200" indent="-457200">
              <a:lnSpc>
                <a:spcPct val="107000"/>
              </a:lnSpc>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which coordinate grid most accurately represents the data.</a:t>
            </a:r>
          </a:p>
          <a:p>
            <a:pPr marL="457200" indent="-457200">
              <a:lnSpc>
                <a:spcPct val="107000"/>
              </a:lnSpc>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why the other two coordinate grids may not be as accurate. </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dirty="0">
                <a:latin typeface="Verdana" panose="020B0604030504040204" pitchFamily="34" charset="0"/>
                <a:ea typeface="Verdana" panose="020B0604030504040204" pitchFamily="34" charset="0"/>
                <a:cs typeface="Verdana" panose="020B0604030504040204" pitchFamily="34" charset="0"/>
              </a:rPr>
              <a:t> </a:t>
            </a:r>
            <a:endParaRPr lang="en-US" sz="12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dirty="0">
                <a:latin typeface="Verdana" panose="020B0604030504040204" pitchFamily="34" charset="0"/>
                <a:ea typeface="Verdana" panose="020B0604030504040204" pitchFamily="34" charset="0"/>
                <a:cs typeface="Verdana" panose="020B0604030504040204" pitchFamily="34" charset="0"/>
              </a:rPr>
              <a:t> </a:t>
            </a:r>
            <a:endParaRPr lang="en-US" sz="1200" i="1" dirty="0">
              <a:latin typeface="Cambria Math" panose="02040503050406030204" pitchFamily="18" charset="0"/>
              <a:ea typeface="Cambria Math" panose="02040503050406030204" pitchFamily="18" charset="0"/>
              <a:cs typeface="Cambria Math" panose="02040503050406030204" pitchFamily="18" charset="0"/>
            </a:endParaRPr>
          </a:p>
        </p:txBody>
      </p:sp>
    </p:spTree>
    <p:extLst>
      <p:ext uri="{BB962C8B-B14F-4D97-AF65-F5344CB8AC3E}">
        <p14:creationId xmlns:p14="http://schemas.microsoft.com/office/powerpoint/2010/main" val="8063012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212</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380982" y="797510"/>
            <a:ext cx="11463687" cy="415498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When creating an appropriate graph, it is helpful to consider the following.</a:t>
            </a:r>
            <a:endParaRPr lang="en-US" sz="2400" i="1"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754063" indent="-331788">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Determine which quadrants are needed by identifying the smallest and largest points of each variable. </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754063" indent="-331788">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Use these values to determine a good scale for the axis that represents the variable. </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754063" indent="-331788">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Then, determine the best scale for the grid lines by considering the numbers presented in the data. </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754063" indent="-331788">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Remember that the scale for each axis can be different, but that each axis must have a consistent scale.</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64634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466043" y="628297"/>
                <a:ext cx="11367993" cy="5601405"/>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Four coordinates are given.</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d>
                        <m:dPr>
                          <m:ctrlPr>
                            <a:rPr lang="en-US" sz="2000" i="1">
                              <a:latin typeface="Cambria Math"/>
                            </a:rPr>
                          </m:ctrlPr>
                        </m:dPr>
                        <m:e>
                          <m:r>
                            <a:rPr lang="en-US" sz="2000" i="1">
                              <a:latin typeface="Cambria Math" panose="02040503050406030204" pitchFamily="18" charset="0"/>
                            </a:rPr>
                            <m:t>1, 2</m:t>
                          </m:r>
                          <m:f>
                            <m:fPr>
                              <m:ctrlPr>
                                <a:rPr lang="en-US" sz="2000" i="1">
                                  <a:latin typeface="Cambria Math"/>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e>
                      </m:d>
                      <m:r>
                        <a:rPr lang="en-US" sz="2000" i="1">
                          <a:latin typeface="Cambria Math" panose="02040503050406030204" pitchFamily="18" charset="0"/>
                        </a:rPr>
                        <m:t>  </m:t>
                      </m:r>
                      <m:d>
                        <m:dPr>
                          <m:ctrlPr>
                            <a:rPr lang="en-US" sz="2000" i="1">
                              <a:latin typeface="Cambria Math"/>
                            </a:rPr>
                          </m:ctrlPr>
                        </m:dPr>
                        <m:e>
                          <m:r>
                            <a:rPr lang="en-US" sz="2000" i="1">
                              <a:latin typeface="Cambria Math" panose="02040503050406030204" pitchFamily="18" charset="0"/>
                            </a:rPr>
                            <m:t>3</m:t>
                          </m:r>
                          <m:f>
                            <m:fPr>
                              <m:ctrlPr>
                                <a:rPr lang="en-US" sz="2000" i="1">
                                  <a:latin typeface="Cambria Math"/>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 −4</m:t>
                          </m:r>
                        </m:e>
                      </m:d>
                      <m:r>
                        <a:rPr lang="en-US" sz="2000" i="1">
                          <a:latin typeface="Cambria Math" panose="02040503050406030204" pitchFamily="18" charset="0"/>
                        </a:rPr>
                        <m:t>  </m:t>
                      </m:r>
                      <m:d>
                        <m:dPr>
                          <m:ctrlPr>
                            <a:rPr lang="en-US" sz="2000" i="1">
                              <a:latin typeface="Cambria Math"/>
                            </a:rPr>
                          </m:ctrlPr>
                        </m:dPr>
                        <m:e>
                          <m:r>
                            <a:rPr lang="en-US" sz="2000" i="1">
                              <a:latin typeface="Cambria Math" panose="02040503050406030204" pitchFamily="18" charset="0"/>
                            </a:rPr>
                            <m:t>−5, −2</m:t>
                          </m:r>
                        </m:e>
                      </m:d>
                      <m:r>
                        <a:rPr lang="en-US" sz="2000" i="1">
                          <a:latin typeface="Cambria Math" panose="02040503050406030204" pitchFamily="18" charset="0"/>
                        </a:rPr>
                        <m:t>  (0, 3)</m:t>
                      </m:r>
                    </m:oMath>
                  </m:oMathPara>
                </a14:m>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7575"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smallest </a:t>
                </a:r>
                <a14:m>
                  <m:oMath xmlns:m="http://schemas.openxmlformats.org/officeDocument/2006/math">
                    <m:r>
                      <a:rPr lang="en-US" sz="2000" i="1">
                        <a:latin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-coordinate?</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86995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the largest </a:t>
                </a:r>
                <a14:m>
                  <m:oMath xmlns:m="http://schemas.openxmlformats.org/officeDocument/2006/math">
                    <m:r>
                      <a:rPr lang="en-US" sz="2000" i="1">
                        <a:latin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-coordinate?</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86995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What is the smallest </a:t>
                </a:r>
                <a14:m>
                  <m:oMath xmlns:m="http://schemas.openxmlformats.org/officeDocument/2006/math">
                    <m:r>
                      <a:rPr lang="en-US" sz="2000" i="1">
                        <a:latin typeface="Cambria Math" panose="02040503050406030204" pitchFamily="18"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-coordinate?</a:t>
                </a:r>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66043" y="628297"/>
                <a:ext cx="11367993" cy="5601405"/>
              </a:xfrm>
              <a:prstGeom prst="rect">
                <a:avLst/>
              </a:prstGeom>
              <a:blipFill>
                <a:blip r:embed="rId4"/>
                <a:stretch>
                  <a:fillRect l="-558" t="-452"/>
                </a:stretch>
              </a:blipFill>
            </p:spPr>
            <p:txBody>
              <a:bodyPr/>
              <a:lstStyle/>
              <a:p>
                <a:r>
                  <a:rPr lang="en-US">
                    <a:noFill/>
                  </a:rPr>
                  <a:t> </a:t>
                </a:r>
              </a:p>
            </p:txBody>
          </p:sp>
        </mc:Fallback>
      </mc:AlternateContent>
    </p:spTree>
    <p:extLst>
      <p:ext uri="{BB962C8B-B14F-4D97-AF65-F5344CB8AC3E}">
        <p14:creationId xmlns:p14="http://schemas.microsoft.com/office/powerpoint/2010/main" val="3779315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212</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2007765" y="520394"/>
            <a:ext cx="8327136" cy="461665"/>
          </a:xfrm>
          <a:prstGeom prst="rect">
            <a:avLst/>
          </a:prstGeom>
          <a:noFill/>
        </p:spPr>
        <p:txBody>
          <a:bodyPr wrap="square" rtlCol="0">
            <a:spAutoFit/>
          </a:bodyPr>
          <a:lstStyle/>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48DB9144-0776-6042-A650-AFFC74DEFC23}"/>
                  </a:ext>
                </a:extLst>
              </p:cNvPr>
              <p:cNvSpPr txBox="1"/>
              <p:nvPr/>
            </p:nvSpPr>
            <p:spPr>
              <a:xfrm>
                <a:off x="462142" y="519793"/>
                <a:ext cx="11499486" cy="4015010"/>
              </a:xfrm>
              <a:prstGeom prst="rect">
                <a:avLst/>
              </a:prstGeom>
              <a:noFill/>
            </p:spPr>
            <p:txBody>
              <a:bodyPr wrap="square">
                <a:spAutoFit/>
              </a:bodyPr>
              <a:lstStyle/>
              <a:p>
                <a:pPr marL="457200" indent="-457200">
                  <a:lnSpc>
                    <a:spcPct val="107000"/>
                  </a:lnSpc>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What is the largest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-coordinate?</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Which quadrants need to be represented on the grid?</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startAt="6"/>
                </a:pPr>
                <a:r>
                  <a:rPr lang="en-US" sz="2000" dirty="0">
                    <a:latin typeface="Verdana" panose="020B0604030504040204" pitchFamily="34" charset="0"/>
                    <a:ea typeface="Verdana" panose="020B0604030504040204" pitchFamily="34" charset="0"/>
                    <a:cs typeface="Verdana" panose="020B0604030504040204" pitchFamily="34" charset="0"/>
                  </a:rPr>
                  <a:t>By looking at the numbers that make up the ordered pairs, what scale should be used to number each axis?</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7" name="TextBox 6">
                <a:extLst>
                  <a:ext uri="{FF2B5EF4-FFF2-40B4-BE49-F238E27FC236}">
                    <a16:creationId xmlns:a16="http://schemas.microsoft.com/office/drawing/2014/main" id="{48DB9144-0776-6042-A650-AFFC74DEFC23}"/>
                  </a:ext>
                </a:extLst>
              </p:cNvPr>
              <p:cNvSpPr txBox="1">
                <a:spLocks noRot="1" noChangeAspect="1" noMove="1" noResize="1" noEditPoints="1" noAdjustHandles="1" noChangeArrowheads="1" noChangeShapeType="1" noTextEdit="1"/>
              </p:cNvSpPr>
              <p:nvPr/>
            </p:nvSpPr>
            <p:spPr>
              <a:xfrm>
                <a:off x="462142" y="519793"/>
                <a:ext cx="11499486" cy="4015010"/>
              </a:xfrm>
              <a:prstGeom prst="rect">
                <a:avLst/>
              </a:prstGeom>
              <a:blipFill>
                <a:blip r:embed="rId4"/>
                <a:stretch>
                  <a:fillRect l="-552" t="-943" b="-15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8B39DE08-A5E5-204B-99BF-8E1723CBEB9A}"/>
                  </a:ext>
                </a:extLst>
              </p:cNvPr>
              <p:cNvGraphicFramePr>
                <a:graphicFrameLocks noGrp="1"/>
              </p:cNvGraphicFramePr>
              <p:nvPr>
                <p:extLst>
                  <p:ext uri="{D42A27DB-BD31-4B8C-83A1-F6EECF244321}">
                    <p14:modId xmlns:p14="http://schemas.microsoft.com/office/powerpoint/2010/main" val="676136610"/>
                  </p:ext>
                </p:extLst>
              </p:nvPr>
            </p:nvGraphicFramePr>
            <p:xfrm>
              <a:off x="3495675" y="4984131"/>
              <a:ext cx="5200650" cy="1024217"/>
            </p:xfrm>
            <a:graphic>
              <a:graphicData uri="http://schemas.openxmlformats.org/drawingml/2006/table">
                <a:tbl>
                  <a:tblPr bandRow="1">
                    <a:tableStyleId>{A91F0D33-8C57-4600-99A7-42BC86742BE1}</a:tableStyleId>
                  </a:tblPr>
                  <a:tblGrid>
                    <a:gridCol w="1085850">
                      <a:extLst>
                        <a:ext uri="{9D8B030D-6E8A-4147-A177-3AD203B41FA5}">
                          <a16:colId xmlns:a16="http://schemas.microsoft.com/office/drawing/2014/main" xmlns="" val="104079730"/>
                        </a:ext>
                      </a:extLst>
                    </a:gridCol>
                    <a:gridCol w="2057400">
                      <a:extLst>
                        <a:ext uri="{9D8B030D-6E8A-4147-A177-3AD203B41FA5}">
                          <a16:colId xmlns:a16="http://schemas.microsoft.com/office/drawing/2014/main" xmlns="" val="4183442695"/>
                        </a:ext>
                      </a:extLst>
                    </a:gridCol>
                    <a:gridCol w="2057400">
                      <a:extLst>
                        <a:ext uri="{9D8B030D-6E8A-4147-A177-3AD203B41FA5}">
                          <a16:colId xmlns:a16="http://schemas.microsoft.com/office/drawing/2014/main" xmlns="" val="1653245707"/>
                        </a:ext>
                      </a:extLst>
                    </a:gridCol>
                  </a:tblGrid>
                  <a:tr h="567017">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14:m>
                            <m:oMath xmlns:m="http://schemas.openxmlformats.org/officeDocument/2006/math">
                              <m:r>
                                <a:rPr lang="en-US" sz="2000" b="1" i="1">
                                  <a:effectLst/>
                                  <a:latin typeface="Cambria Math" panose="02040503050406030204" pitchFamily="18" charset="0"/>
                                </a:rPr>
                                <m:t>𝒙</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-axis</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14:m>
                            <m:oMath xmlns:m="http://schemas.openxmlformats.org/officeDocument/2006/math">
                              <m:r>
                                <a:rPr lang="en-US" sz="2000" b="1" i="1">
                                  <a:effectLst/>
                                  <a:latin typeface="Cambria Math" panose="02040503050406030204" pitchFamily="18" charset="0"/>
                                </a:rPr>
                                <m:t>𝒚</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-axis</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2142604773"/>
                      </a:ext>
                    </a:extLst>
                  </a:tr>
                  <a:tr h="45720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Scale</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06235673"/>
                      </a:ext>
                    </a:extLst>
                  </a:tr>
                </a:tbl>
              </a:graphicData>
            </a:graphic>
          </p:graphicFrame>
        </mc:Choice>
        <mc:Fallback xmlns="">
          <p:graphicFrame>
            <p:nvGraphicFramePr>
              <p:cNvPr id="3" name="Table 2">
                <a:extLst>
                  <a:ext uri="{FF2B5EF4-FFF2-40B4-BE49-F238E27FC236}">
                    <a16:creationId xmlns:a16="http://schemas.microsoft.com/office/drawing/2014/main" id="{8B39DE08-A5E5-204B-99BF-8E1723CBEB9A}"/>
                  </a:ext>
                </a:extLst>
              </p:cNvPr>
              <p:cNvGraphicFramePr>
                <a:graphicFrameLocks noGrp="1"/>
              </p:cNvGraphicFramePr>
              <p:nvPr>
                <p:extLst>
                  <p:ext uri="{D42A27DB-BD31-4B8C-83A1-F6EECF244321}">
                    <p14:modId xmlns:p14="http://schemas.microsoft.com/office/powerpoint/2010/main" val="676136610"/>
                  </p:ext>
                </p:extLst>
              </p:nvPr>
            </p:nvGraphicFramePr>
            <p:xfrm>
              <a:off x="3495675" y="4984131"/>
              <a:ext cx="5200650" cy="1024217"/>
            </p:xfrm>
            <a:graphic>
              <a:graphicData uri="http://schemas.openxmlformats.org/drawingml/2006/table">
                <a:tbl>
                  <a:tblPr bandRow="1">
                    <a:tableStyleId>{A91F0D33-8C57-4600-99A7-42BC86742BE1}</a:tableStyleId>
                  </a:tblPr>
                  <a:tblGrid>
                    <a:gridCol w="1085850">
                      <a:extLst>
                        <a:ext uri="{9D8B030D-6E8A-4147-A177-3AD203B41FA5}">
                          <a16:colId xmlns:a16="http://schemas.microsoft.com/office/drawing/2014/main" val="104079730"/>
                        </a:ext>
                      </a:extLst>
                    </a:gridCol>
                    <a:gridCol w="2057400">
                      <a:extLst>
                        <a:ext uri="{9D8B030D-6E8A-4147-A177-3AD203B41FA5}">
                          <a16:colId xmlns:a16="http://schemas.microsoft.com/office/drawing/2014/main" val="4183442695"/>
                        </a:ext>
                      </a:extLst>
                    </a:gridCol>
                    <a:gridCol w="2057400">
                      <a:extLst>
                        <a:ext uri="{9D8B030D-6E8A-4147-A177-3AD203B41FA5}">
                          <a16:colId xmlns:a16="http://schemas.microsoft.com/office/drawing/2014/main" val="1653245707"/>
                        </a:ext>
                      </a:extLst>
                    </a:gridCol>
                  </a:tblGrid>
                  <a:tr h="567017">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3704" t="-2222" r="-100617" b="-9333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53704" t="-2222" r="-617" b="-93333"/>
                          </a:stretch>
                        </a:blipFill>
                      </a:tcPr>
                    </a:tc>
                    <a:extLst>
                      <a:ext uri="{0D108BD9-81ED-4DB2-BD59-A6C34878D82A}">
                        <a16:rowId xmlns:a16="http://schemas.microsoft.com/office/drawing/2014/main" val="2142604773"/>
                      </a:ext>
                    </a:extLst>
                  </a:tr>
                  <a:tr h="45720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Scale</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6235673"/>
                      </a:ext>
                    </a:extLst>
                  </a:tr>
                </a:tbl>
              </a:graphicData>
            </a:graphic>
          </p:graphicFrame>
        </mc:Fallback>
      </mc:AlternateContent>
    </p:spTree>
    <p:extLst>
      <p:ext uri="{BB962C8B-B14F-4D97-AF65-F5344CB8AC3E}">
        <p14:creationId xmlns:p14="http://schemas.microsoft.com/office/powerpoint/2010/main" val="2255984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213</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483285" y="617262"/>
            <a:ext cx="11308222" cy="707886"/>
          </a:xfrm>
          <a:prstGeom prst="rect">
            <a:avLst/>
          </a:prstGeom>
          <a:noFill/>
        </p:spPr>
        <p:txBody>
          <a:bodyPr wrap="square" rtlCol="0">
            <a:spAutoFit/>
          </a:bodyPr>
          <a:lstStyle/>
          <a:p>
            <a:pPr marL="415925" indent="-398463">
              <a:buFont typeface="+mj-lt"/>
              <a:buAutoNum type="alphaLcPeriod" startAt="7"/>
            </a:pPr>
            <a:r>
              <a:rPr lang="en-US" sz="2000" dirty="0">
                <a:latin typeface="Verdana" panose="020B0604030504040204" pitchFamily="34" charset="0"/>
                <a:ea typeface="Verdana" panose="020B0604030504040204" pitchFamily="34" charset="0"/>
                <a:cs typeface="Verdana" panose="020B0604030504040204" pitchFamily="34" charset="0"/>
              </a:rPr>
              <a:t>On the grid, draw and label coordinate axes with an appropriate scale, and plot the points.</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descr="A picture containing shape&#10;&#10;Description automatically generated">
            <a:extLst>
              <a:ext uri="{FF2B5EF4-FFF2-40B4-BE49-F238E27FC236}">
                <a16:creationId xmlns:a16="http://schemas.microsoft.com/office/drawing/2014/main" xmlns="" id="{4510E2B0-955C-B74B-BD35-787C6DC50FF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78728" y="1325148"/>
            <a:ext cx="6117336" cy="4693647"/>
          </a:xfrm>
          <a:prstGeom prst="rect">
            <a:avLst/>
          </a:prstGeom>
        </p:spPr>
      </p:pic>
    </p:spTree>
    <p:extLst>
      <p:ext uri="{BB962C8B-B14F-4D97-AF65-F5344CB8AC3E}">
        <p14:creationId xmlns:p14="http://schemas.microsoft.com/office/powerpoint/2010/main" val="1578992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06240" y="276615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615523"/>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213</a:t>
            </a:r>
          </a:p>
          <a:p>
            <a:pPr algn="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27"/>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9840" y="716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5.2.6 Collaboration: Choosing the Right Scale</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213</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E44DF7DE-9172-3E4E-B74A-7A51585FB6EA}"/>
                  </a:ext>
                </a:extLst>
              </p:cNvPr>
              <p:cNvSpPr txBox="1"/>
              <p:nvPr/>
            </p:nvSpPr>
            <p:spPr>
              <a:xfrm>
                <a:off x="731519" y="1317543"/>
                <a:ext cx="10943029" cy="1323439"/>
              </a:xfrm>
              <a:prstGeom prst="rect">
                <a:avLst/>
              </a:prstGeom>
              <a:noFill/>
            </p:spPr>
            <p:txBody>
              <a:bodyPr wrap="square" rtlCol="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With your partner, use the given sets of ordered pairs to draw and label coordinate axes with an appropriate scale, and plot the points.</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69950" indent="-525463">
                  <a:buFont typeface="+mj-lt"/>
                  <a:buAutoNum type="alphaLcPeriod"/>
                </a:pPr>
                <a14:m>
                  <m:oMath xmlns:m="http://schemas.openxmlformats.org/officeDocument/2006/math">
                    <m:d>
                      <m:dPr>
                        <m:ctrlPr>
                          <a:rPr lang="en-US" sz="2000" i="1">
                            <a:latin typeface="Cambria Math"/>
                          </a:rPr>
                        </m:ctrlPr>
                      </m:dPr>
                      <m:e>
                        <m:r>
                          <a:rPr lang="en-US" sz="2000">
                            <a:latin typeface="Cambria Math" panose="02040503050406030204" pitchFamily="18" charset="0"/>
                          </a:rPr>
                          <m:t>50, 50</m:t>
                        </m:r>
                      </m:e>
                    </m:d>
                    <m:r>
                      <a:rPr lang="en-US" sz="2000">
                        <a:latin typeface="Cambria Math" panose="02040503050406030204" pitchFamily="18" charset="0"/>
                      </a:rPr>
                      <m:t>,  </m:t>
                    </m:r>
                    <m:d>
                      <m:dPr>
                        <m:ctrlPr>
                          <a:rPr lang="en-US" sz="2000" i="1">
                            <a:latin typeface="Cambria Math"/>
                          </a:rPr>
                        </m:ctrlPr>
                      </m:dPr>
                      <m:e>
                        <m:r>
                          <a:rPr lang="en-US" sz="2000">
                            <a:latin typeface="Cambria Math" panose="02040503050406030204" pitchFamily="18" charset="0"/>
                          </a:rPr>
                          <m:t>0, 0</m:t>
                        </m:r>
                      </m:e>
                    </m:d>
                    <m:r>
                      <a:rPr lang="en-US" sz="2000">
                        <a:latin typeface="Cambria Math" panose="02040503050406030204" pitchFamily="18" charset="0"/>
                      </a:rPr>
                      <m:t>,  </m:t>
                    </m:r>
                    <m:d>
                      <m:dPr>
                        <m:ctrlPr>
                          <a:rPr lang="en-US" sz="2000" i="1">
                            <a:latin typeface="Cambria Math"/>
                          </a:rPr>
                        </m:ctrlPr>
                      </m:dPr>
                      <m:e>
                        <m:r>
                          <a:rPr lang="en-US" sz="2000">
                            <a:latin typeface="Cambria Math" panose="02040503050406030204" pitchFamily="18" charset="0"/>
                          </a:rPr>
                          <m:t>−10, −30</m:t>
                        </m:r>
                      </m:e>
                    </m:d>
                    <m:r>
                      <a:rPr lang="en-US" sz="2000">
                        <a:latin typeface="Cambria Math" panose="02040503050406030204" pitchFamily="18" charset="0"/>
                      </a:rPr>
                      <m:t>,  </m:t>
                    </m:r>
                    <m:d>
                      <m:dPr>
                        <m:ctrlPr>
                          <a:rPr lang="en-US" sz="2000" i="1">
                            <a:latin typeface="Cambria Math"/>
                          </a:rPr>
                        </m:ctrlPr>
                      </m:dPr>
                      <m:e>
                        <m:r>
                          <a:rPr lang="en-US" sz="2000">
                            <a:latin typeface="Cambria Math" panose="02040503050406030204" pitchFamily="18" charset="0"/>
                          </a:rPr>
                          <m:t>−35, 40</m:t>
                        </m:r>
                      </m:e>
                    </m:d>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731519" y="1317543"/>
                <a:ext cx="10943029" cy="1323439"/>
              </a:xfrm>
              <a:prstGeom prst="rect">
                <a:avLst/>
              </a:prstGeom>
              <a:blipFill>
                <a:blip r:embed="rId5"/>
                <a:stretch>
                  <a:fillRect l="-579" t="-1905" b="-5714"/>
                </a:stretch>
              </a:blipFill>
            </p:spPr>
            <p:txBody>
              <a:bodyPr/>
              <a:lstStyle/>
              <a:p>
                <a:r>
                  <a:rPr lang="en-US">
                    <a:noFill/>
                  </a:rPr>
                  <a:t> </a:t>
                </a:r>
              </a:p>
            </p:txBody>
          </p:sp>
        </mc:Fallback>
      </mc:AlternateContent>
      <p:pic>
        <p:nvPicPr>
          <p:cNvPr id="11" name="image16.png">
            <a:extLst>
              <a:ext uri="{FF2B5EF4-FFF2-40B4-BE49-F238E27FC236}">
                <a16:creationId xmlns:a16="http://schemas.microsoft.com/office/drawing/2014/main" xmlns="" id="{C506D33C-27B8-E340-A545-15A6665CD899}"/>
              </a:ext>
            </a:extLst>
          </p:cNvPr>
          <p:cNvPicPr>
            <a:picLocks noChangeAspect="1"/>
          </p:cNvPicPr>
          <p:nvPr/>
        </p:nvPicPr>
        <p:blipFill>
          <a:blip r:embed="rId6"/>
          <a:srcRect/>
          <a:stretch>
            <a:fillRect/>
          </a:stretch>
        </p:blipFill>
        <p:spPr>
          <a:xfrm>
            <a:off x="3650329" y="2640982"/>
            <a:ext cx="4891342" cy="3684166"/>
          </a:xfrm>
          <a:prstGeom prst="rect">
            <a:avLst/>
          </a:prstGeom>
          <a:ln/>
        </p:spPr>
      </p:pic>
    </p:spTree>
    <p:extLst>
      <p:ext uri="{BB962C8B-B14F-4D97-AF65-F5344CB8AC3E}">
        <p14:creationId xmlns:p14="http://schemas.microsoft.com/office/powerpoint/2010/main" val="1674437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223200" y="573614"/>
                <a:ext cx="11515144" cy="645048"/>
              </a:xfrm>
              <a:prstGeom prst="rect">
                <a:avLst/>
              </a:prstGeom>
              <a:noFill/>
            </p:spPr>
            <p:txBody>
              <a:bodyPr wrap="square" rtlCol="0">
                <a:spAutoFit/>
              </a:bodyPr>
              <a:lstStyle/>
              <a:p>
                <a:pPr marL="869950" indent="-52546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400" i="1">
                            <a:latin typeface="Cambria Math"/>
                          </a:rPr>
                        </m:ctrlPr>
                      </m:dPr>
                      <m:e>
                        <m:f>
                          <m:fPr>
                            <m:ctrlPr>
                              <a:rPr lang="en-US" sz="2400" i="1">
                                <a:latin typeface="Cambria Math"/>
                              </a:rPr>
                            </m:ctrlPr>
                          </m:fPr>
                          <m:num>
                            <m:r>
                              <a:rPr lang="en-US" sz="2400" i="1">
                                <a:latin typeface="Cambria Math" panose="02040503050406030204" pitchFamily="18" charset="0"/>
                              </a:rPr>
                              <m:t>1</m:t>
                            </m:r>
                          </m:num>
                          <m:den>
                            <m:r>
                              <a:rPr lang="en-US" sz="2400" i="1">
                                <a:latin typeface="Cambria Math" panose="02040503050406030204" pitchFamily="18" charset="0"/>
                              </a:rPr>
                              <m:t>5</m:t>
                            </m:r>
                          </m:den>
                        </m:f>
                        <m:r>
                          <a:rPr lang="en-US" sz="2400" i="1">
                            <a:latin typeface="Cambria Math" panose="02040503050406030204" pitchFamily="18" charset="0"/>
                          </a:rPr>
                          <m:t>, </m:t>
                        </m:r>
                        <m:f>
                          <m:fPr>
                            <m:ctrlPr>
                              <a:rPr lang="en-US" sz="2400" i="1">
                                <a:latin typeface="Cambria Math"/>
                              </a:rPr>
                            </m:ctrlPr>
                          </m:fPr>
                          <m:num>
                            <m:r>
                              <a:rPr lang="en-US" sz="2400" i="1">
                                <a:latin typeface="Cambria Math" panose="02040503050406030204" pitchFamily="18" charset="0"/>
                              </a:rPr>
                              <m:t>4</m:t>
                            </m:r>
                          </m:num>
                          <m:den>
                            <m:r>
                              <a:rPr lang="en-US" sz="2400" i="1">
                                <a:latin typeface="Cambria Math" panose="02040503050406030204" pitchFamily="18" charset="0"/>
                              </a:rPr>
                              <m:t>5</m:t>
                            </m:r>
                          </m:den>
                        </m:f>
                      </m:e>
                    </m:d>
                    <m:r>
                      <a:rPr lang="en-US" sz="2400" i="1">
                        <a:latin typeface="Cambria Math" panose="02040503050406030204" pitchFamily="18" charset="0"/>
                      </a:rPr>
                      <m:t>,  </m:t>
                    </m:r>
                    <m:d>
                      <m:dPr>
                        <m:ctrlPr>
                          <a:rPr lang="en-US" sz="2400" i="1">
                            <a:latin typeface="Cambria Math"/>
                          </a:rPr>
                        </m:ctrlPr>
                      </m:dPr>
                      <m:e>
                        <m:f>
                          <m:fPr>
                            <m:ctrlPr>
                              <a:rPr lang="en-US" sz="2400" i="1">
                                <a:latin typeface="Cambria Math"/>
                              </a:rPr>
                            </m:ctrlPr>
                          </m:fPr>
                          <m:num>
                            <m:r>
                              <a:rPr lang="en-US" sz="2400" i="1">
                                <a:latin typeface="Cambria Math" panose="02040503050406030204" pitchFamily="18" charset="0"/>
                              </a:rPr>
                              <m:t>−3</m:t>
                            </m:r>
                          </m:num>
                          <m:den>
                            <m:r>
                              <a:rPr lang="en-US" sz="2400" i="1">
                                <a:latin typeface="Cambria Math" panose="02040503050406030204" pitchFamily="18" charset="0"/>
                              </a:rPr>
                              <m:t>5</m:t>
                            </m:r>
                          </m:den>
                        </m:f>
                        <m:r>
                          <a:rPr lang="en-US" sz="2400" i="1">
                            <a:latin typeface="Cambria Math" panose="02040503050406030204" pitchFamily="18" charset="0"/>
                          </a:rPr>
                          <m:t>, </m:t>
                        </m:r>
                        <m:f>
                          <m:fPr>
                            <m:ctrlPr>
                              <a:rPr lang="en-US" sz="2400" i="1">
                                <a:latin typeface="Cambria Math"/>
                              </a:rPr>
                            </m:ctrlPr>
                          </m:fPr>
                          <m:num>
                            <m:r>
                              <a:rPr lang="en-US" sz="2400" i="1">
                                <a:latin typeface="Cambria Math" panose="02040503050406030204" pitchFamily="18" charset="0"/>
                              </a:rPr>
                              <m:t>2</m:t>
                            </m:r>
                          </m:num>
                          <m:den>
                            <m:r>
                              <a:rPr lang="en-US" sz="2400" i="1">
                                <a:latin typeface="Cambria Math" panose="02040503050406030204" pitchFamily="18" charset="0"/>
                              </a:rPr>
                              <m:t>5</m:t>
                            </m:r>
                          </m:den>
                        </m:f>
                      </m:e>
                    </m:d>
                    <m:r>
                      <a:rPr lang="en-US" sz="2400" i="1">
                        <a:latin typeface="Cambria Math" panose="02040503050406030204" pitchFamily="18" charset="0"/>
                      </a:rPr>
                      <m:t>,  </m:t>
                    </m:r>
                    <m:d>
                      <m:dPr>
                        <m:ctrlPr>
                          <a:rPr lang="en-US" sz="2400" i="1">
                            <a:latin typeface="Cambria Math"/>
                          </a:rPr>
                        </m:ctrlPr>
                      </m:dPr>
                      <m:e>
                        <m:r>
                          <a:rPr lang="en-US" sz="2400" i="1">
                            <a:latin typeface="Cambria Math" panose="02040503050406030204" pitchFamily="18" charset="0"/>
                          </a:rPr>
                          <m:t>−1</m:t>
                        </m:r>
                        <m:f>
                          <m:fPr>
                            <m:ctrlPr>
                              <a:rPr lang="en-US" sz="2400" i="1">
                                <a:latin typeface="Cambria Math"/>
                              </a:rPr>
                            </m:ctrlPr>
                          </m:fPr>
                          <m:num>
                            <m:r>
                              <a:rPr lang="en-US" sz="2400" i="1">
                                <a:latin typeface="Cambria Math" panose="02040503050406030204" pitchFamily="18" charset="0"/>
                              </a:rPr>
                              <m:t>1</m:t>
                            </m:r>
                          </m:num>
                          <m:den>
                            <m:r>
                              <a:rPr lang="en-US" sz="2400" i="1">
                                <a:latin typeface="Cambria Math" panose="02040503050406030204" pitchFamily="18" charset="0"/>
                              </a:rPr>
                              <m:t>5</m:t>
                            </m:r>
                          </m:den>
                        </m:f>
                        <m:r>
                          <a:rPr lang="en-US" sz="2400" i="1">
                            <a:latin typeface="Cambria Math" panose="02040503050406030204" pitchFamily="18" charset="0"/>
                          </a:rPr>
                          <m:t>, </m:t>
                        </m:r>
                        <m:f>
                          <m:fPr>
                            <m:ctrlPr>
                              <a:rPr lang="en-US" sz="2400" i="1">
                                <a:latin typeface="Cambria Math"/>
                              </a:rPr>
                            </m:ctrlPr>
                          </m:fPr>
                          <m:num>
                            <m:r>
                              <a:rPr lang="en-US" sz="2400" i="1">
                                <a:latin typeface="Cambria Math" panose="02040503050406030204" pitchFamily="18" charset="0"/>
                              </a:rPr>
                              <m:t>−4</m:t>
                            </m:r>
                          </m:num>
                          <m:den>
                            <m:r>
                              <a:rPr lang="en-US" sz="2400" i="1">
                                <a:latin typeface="Cambria Math" panose="02040503050406030204" pitchFamily="18" charset="0"/>
                              </a:rPr>
                              <m:t>5</m:t>
                            </m:r>
                          </m:den>
                        </m:f>
                      </m:e>
                    </m:d>
                    <m:r>
                      <a:rPr lang="en-US" sz="2400" i="1">
                        <a:latin typeface="Cambria Math" panose="02040503050406030204" pitchFamily="18" charset="0"/>
                      </a:rPr>
                      <m:t>,  </m:t>
                    </m:r>
                    <m:d>
                      <m:dPr>
                        <m:ctrlPr>
                          <a:rPr lang="en-US" sz="2400" i="1">
                            <a:latin typeface="Cambria Math"/>
                          </a:rPr>
                        </m:ctrlPr>
                      </m:dPr>
                      <m:e>
                        <m:f>
                          <m:fPr>
                            <m:ctrlPr>
                              <a:rPr lang="en-US" sz="2400" i="1">
                                <a:latin typeface="Cambria Math"/>
                              </a:rPr>
                            </m:ctrlPr>
                          </m:fPr>
                          <m:num>
                            <m:r>
                              <a:rPr lang="en-US" sz="2400" i="1">
                                <a:latin typeface="Cambria Math" panose="02040503050406030204" pitchFamily="18" charset="0"/>
                              </a:rPr>
                              <m:t>1</m:t>
                            </m:r>
                          </m:num>
                          <m:den>
                            <m:r>
                              <a:rPr lang="en-US" sz="2400" i="1">
                                <a:latin typeface="Cambria Math" panose="02040503050406030204" pitchFamily="18" charset="0"/>
                              </a:rPr>
                              <m:t>5</m:t>
                            </m:r>
                          </m:den>
                        </m:f>
                        <m:r>
                          <a:rPr lang="en-US" sz="2400" i="1">
                            <a:latin typeface="Cambria Math" panose="02040503050406030204" pitchFamily="18" charset="0"/>
                          </a:rPr>
                          <m:t>, </m:t>
                        </m:r>
                        <m:f>
                          <m:fPr>
                            <m:ctrlPr>
                              <a:rPr lang="en-US" sz="2400" i="1">
                                <a:latin typeface="Cambria Math"/>
                              </a:rPr>
                            </m:ctrlPr>
                          </m:fPr>
                          <m:num>
                            <m:r>
                              <a:rPr lang="en-US" sz="2400" i="1">
                                <a:latin typeface="Cambria Math" panose="02040503050406030204" pitchFamily="18" charset="0"/>
                              </a:rPr>
                              <m:t>−3</m:t>
                            </m:r>
                          </m:num>
                          <m:den>
                            <m:r>
                              <a:rPr lang="en-US" sz="2400" i="1">
                                <a:latin typeface="Cambria Math" panose="02040503050406030204" pitchFamily="18" charset="0"/>
                              </a:rPr>
                              <m:t>5</m:t>
                            </m:r>
                          </m:den>
                        </m:f>
                      </m:e>
                    </m:d>
                  </m:oMath>
                </a14:m>
                <a:endParaRPr lang="en-US" sz="24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223200" y="573614"/>
                <a:ext cx="11515144" cy="645048"/>
              </a:xfrm>
              <a:prstGeom prst="rect">
                <a:avLst/>
              </a:prstGeom>
              <a:blipFill>
                <a:blip r:embed="rId4"/>
                <a:stretch>
                  <a:fillRect b="-5882"/>
                </a:stretch>
              </a:blipFill>
            </p:spPr>
            <p:txBody>
              <a:bodyPr/>
              <a:lstStyle/>
              <a:p>
                <a:r>
                  <a:rPr lang="en-US">
                    <a:noFill/>
                  </a:rPr>
                  <a:t> </a:t>
                </a:r>
              </a:p>
            </p:txBody>
          </p:sp>
        </mc:Fallback>
      </mc:AlternateContent>
      <p:pic>
        <p:nvPicPr>
          <p:cNvPr id="6" name="image16.png">
            <a:extLst>
              <a:ext uri="{FF2B5EF4-FFF2-40B4-BE49-F238E27FC236}">
                <a16:creationId xmlns:a16="http://schemas.microsoft.com/office/drawing/2014/main" xmlns="" id="{9D02D872-44B9-4B44-8206-7B6454E5FFF1}"/>
              </a:ext>
            </a:extLst>
          </p:cNvPr>
          <p:cNvPicPr>
            <a:picLocks noChangeAspect="1"/>
          </p:cNvPicPr>
          <p:nvPr/>
        </p:nvPicPr>
        <p:blipFill>
          <a:blip r:embed="rId5"/>
          <a:srcRect/>
          <a:stretch>
            <a:fillRect/>
          </a:stretch>
        </p:blipFill>
        <p:spPr>
          <a:xfrm>
            <a:off x="3158331" y="1374348"/>
            <a:ext cx="5875338" cy="4557684"/>
          </a:xfrm>
          <a:prstGeom prst="rect">
            <a:avLst/>
          </a:prstGeom>
          <a:ln/>
        </p:spPr>
      </p:pic>
    </p:spTree>
    <p:extLst>
      <p:ext uri="{BB962C8B-B14F-4D97-AF65-F5344CB8AC3E}">
        <p14:creationId xmlns:p14="http://schemas.microsoft.com/office/powerpoint/2010/main" val="18410228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214</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412880" y="647984"/>
            <a:ext cx="11506217" cy="3785652"/>
          </a:xfrm>
          <a:prstGeom prst="rect">
            <a:avLst/>
          </a:prstGeom>
          <a:noFill/>
        </p:spPr>
        <p:txBody>
          <a:bodyPr wrap="square" rtlCol="0">
            <a:spAutoFit/>
          </a:bodyPr>
          <a:lstStyle/>
          <a:p>
            <a:pPr marL="458788" indent="-441325">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Find another group of partners to compare your graphs with. Explain what is the same and different between your graphs and their graphs.</a:t>
            </a:r>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8788" indent="-441325">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If your graphs were different, were both still correct representations of the ordered pairs?</a:t>
            </a:r>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7716911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sp>
        <p:nvSpPr>
          <p:cNvPr id="310" name="Google Shape;310;g104476d1465_1_39"/>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214</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72414"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32352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
        <p:nvSpPr>
          <p:cNvPr id="282"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214</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37332"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3F2A67"/>
                </a:solidFill>
                <a:latin typeface="Verdana"/>
                <a:ea typeface="Verdana"/>
                <a:cs typeface="Verdana"/>
                <a:sym typeface="Verdana"/>
              </a:rPr>
              <a:t>5.2.7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0370EDB7-6994-3D43-ABF9-E04CBAFB9CD9}"/>
                  </a:ext>
                </a:extLst>
              </p:cNvPr>
              <p:cNvSpPr txBox="1"/>
              <p:nvPr/>
            </p:nvSpPr>
            <p:spPr>
              <a:xfrm>
                <a:off x="730266" y="1237668"/>
                <a:ext cx="10699734"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When plotting </a:t>
                </a:r>
                <a14:m>
                  <m:oMath xmlns:m="http://schemas.openxmlformats.org/officeDocument/2006/math">
                    <m:d>
                      <m:dPr>
                        <m:ctrlPr>
                          <a:rPr lang="en-US" sz="2400" i="1">
                            <a:latin typeface="Cambria Math"/>
                          </a:rPr>
                        </m:ctrlPr>
                      </m:dPr>
                      <m:e>
                        <m:r>
                          <a:rPr lang="en-US" sz="2400" i="1">
                            <a:latin typeface="Cambria Math" panose="02040503050406030204" pitchFamily="18" charset="0"/>
                          </a:rPr>
                          <m:t>−3.5, 40</m:t>
                        </m:r>
                      </m:e>
                    </m:d>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(4, −60)</m:t>
                    </m:r>
                  </m:oMath>
                </a14:m>
                <a:r>
                  <a:rPr lang="en-US" sz="2400" dirty="0">
                    <a:latin typeface="Verdana" panose="020B0604030504040204" pitchFamily="34" charset="0"/>
                    <a:ea typeface="Verdana" panose="020B0604030504040204" pitchFamily="34" charset="0"/>
                    <a:cs typeface="Verdana" panose="020B0604030504040204" pitchFamily="34" charset="0"/>
                  </a:rPr>
                  <a:t>, describe how you would scale the axes.</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730266" y="1237668"/>
                <a:ext cx="10699734" cy="830997"/>
              </a:xfrm>
              <a:prstGeom prst="rect">
                <a:avLst/>
              </a:prstGeom>
              <a:blipFill>
                <a:blip r:embed="rId5"/>
                <a:stretch>
                  <a:fillRect l="-948" t="-6061" b="-16667"/>
                </a:stretch>
              </a:blipFill>
            </p:spPr>
            <p:txBody>
              <a:bodyPr/>
              <a:lstStyle/>
              <a:p>
                <a:r>
                  <a:rPr lang="en-US">
                    <a:noFill/>
                  </a:rPr>
                  <a:t> </a:t>
                </a:r>
              </a:p>
            </p:txBody>
          </p:sp>
        </mc:Fallback>
      </mc:AlternateContent>
    </p:spTree>
    <p:extLst>
      <p:ext uri="{BB962C8B-B14F-4D97-AF65-F5344CB8AC3E}">
        <p14:creationId xmlns:p14="http://schemas.microsoft.com/office/powerpoint/2010/main" val="19407835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455410" y="657399"/>
                <a:ext cx="11538115" cy="120032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For the points </a:t>
                </a:r>
                <a14:m>
                  <m:oMath xmlns:m="http://schemas.openxmlformats.org/officeDocument/2006/math">
                    <m:d>
                      <m:dPr>
                        <m:ctrlPr>
                          <a:rPr lang="en-US" sz="2400" i="1">
                            <a:latin typeface="Cambria Math"/>
                          </a:rPr>
                        </m:ctrlPr>
                      </m:dPr>
                      <m:e>
                        <m:r>
                          <a:rPr lang="en-US" sz="2400" i="1">
                            <a:latin typeface="Cambria Math" panose="02040503050406030204" pitchFamily="18" charset="0"/>
                          </a:rPr>
                          <m:t>−3.5, 40</m:t>
                        </m:r>
                      </m:e>
                    </m:d>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(4, −60)</m:t>
                    </m:r>
                  </m:oMath>
                </a14:m>
                <a:r>
                  <a:rPr lang="en-US" sz="2400" dirty="0">
                    <a:latin typeface="Verdana" panose="020B0604030504040204" pitchFamily="34" charset="0"/>
                    <a:ea typeface="Verdana" panose="020B0604030504040204" pitchFamily="34" charset="0"/>
                    <a:cs typeface="Verdana" panose="020B0604030504040204" pitchFamily="34" charset="0"/>
                  </a:rPr>
                  <a:t>, draw and label coordinate axes with an appropriate scale, and plot the points.</a:t>
                </a:r>
                <a:endParaRPr lang="en-US" sz="2400" i="1"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55410" y="657399"/>
                <a:ext cx="11538115" cy="1200329"/>
              </a:xfrm>
              <a:prstGeom prst="rect">
                <a:avLst/>
              </a:prstGeom>
              <a:blipFill>
                <a:blip r:embed="rId4"/>
                <a:stretch>
                  <a:fillRect l="-880" t="-3125"/>
                </a:stretch>
              </a:blipFill>
            </p:spPr>
            <p:txBody>
              <a:bodyPr/>
              <a:lstStyle/>
              <a:p>
                <a:r>
                  <a:rPr lang="en-US">
                    <a:noFill/>
                  </a:rPr>
                  <a:t> </a:t>
                </a:r>
              </a:p>
            </p:txBody>
          </p:sp>
        </mc:Fallback>
      </mc:AlternateContent>
      <p:pic>
        <p:nvPicPr>
          <p:cNvPr id="7" name="image16.png">
            <a:extLst>
              <a:ext uri="{FF2B5EF4-FFF2-40B4-BE49-F238E27FC236}">
                <a16:creationId xmlns:a16="http://schemas.microsoft.com/office/drawing/2014/main" xmlns="" id="{A66AADAD-02B0-5845-99C6-58B256433335}"/>
              </a:ext>
            </a:extLst>
          </p:cNvPr>
          <p:cNvPicPr>
            <a:picLocks noChangeAspect="1"/>
          </p:cNvPicPr>
          <p:nvPr/>
        </p:nvPicPr>
        <p:blipFill>
          <a:blip r:embed="rId5"/>
          <a:srcRect/>
          <a:stretch>
            <a:fillRect/>
          </a:stretch>
        </p:blipFill>
        <p:spPr>
          <a:xfrm>
            <a:off x="3334709" y="1584260"/>
            <a:ext cx="5779516" cy="4361159"/>
          </a:xfrm>
          <a:prstGeom prst="rect">
            <a:avLst/>
          </a:prstGeom>
          <a:ln/>
        </p:spPr>
      </p:pic>
    </p:spTree>
    <p:extLst>
      <p:ext uri="{BB962C8B-B14F-4D97-AF65-F5344CB8AC3E}">
        <p14:creationId xmlns:p14="http://schemas.microsoft.com/office/powerpoint/2010/main" val="2460723377"/>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5447</TotalTime>
  <Words>1452</Words>
  <Application>Microsoft Office PowerPoint</Application>
  <PresentationFormat>Custom</PresentationFormat>
  <Paragraphs>256</Paragraphs>
  <Slides>35</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Century Gothic</vt:lpstr>
      <vt:lpstr>Cambria Math</vt:lpstr>
      <vt:lpstr>Wingdings</vt:lpstr>
      <vt:lpstr>Arial Black</vt:lpstr>
      <vt:lpstr>Verdana</vt:lpstr>
      <vt:lpstr>1_Office Theme</vt:lpstr>
      <vt:lpstr>6th Grade Math  Unit 5, Lesson 2  Plotting on the Coordinate Plane  Volume 1, pg. 208  </vt:lpstr>
      <vt:lpstr>Benchmark</vt:lpstr>
      <vt:lpstr>PowerPoint Presentation</vt:lpstr>
      <vt:lpstr>PowerPoint Presentation</vt:lpstr>
      <vt:lpstr>Warm-Up</vt:lpstr>
      <vt:lpstr>PowerPoint Presentation</vt:lpstr>
      <vt:lpstr>PowerPoint Presentation</vt:lpstr>
      <vt:lpstr>Refresher</vt:lpstr>
      <vt:lpstr>PowerPoint Presentation</vt:lpstr>
      <vt:lpstr>PowerPoint Presentation</vt:lpstr>
      <vt:lpstr>Exploration</vt:lpstr>
      <vt:lpstr>PowerPoint Presentation</vt:lpstr>
      <vt:lpstr>PowerPoint Presentation</vt:lpstr>
      <vt:lpstr>PowerPoint Presentation</vt:lpstr>
      <vt:lpstr>PowerPoint Presentation</vt:lpstr>
      <vt:lpstr>Guided Practice</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26</cp:revision>
  <dcterms:created xsi:type="dcterms:W3CDTF">2015-03-17T18:51:18Z</dcterms:created>
  <dcterms:modified xsi:type="dcterms:W3CDTF">2022-06-05T02:08:13Z</dcterms:modified>
</cp:coreProperties>
</file>