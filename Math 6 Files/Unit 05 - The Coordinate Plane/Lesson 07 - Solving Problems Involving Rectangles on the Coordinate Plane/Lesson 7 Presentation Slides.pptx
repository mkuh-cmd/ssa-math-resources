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352" r:id="rId10"/>
    <p:sldId id="323" r:id="rId11"/>
    <p:sldId id="324" r:id="rId12"/>
    <p:sldId id="366" r:id="rId13"/>
    <p:sldId id="372" r:id="rId14"/>
    <p:sldId id="373" r:id="rId15"/>
    <p:sldId id="374" r:id="rId16"/>
    <p:sldId id="378" r:id="rId17"/>
    <p:sldId id="375" r:id="rId18"/>
    <p:sldId id="376" r:id="rId19"/>
    <p:sldId id="377" r:id="rId20"/>
    <p:sldId id="302" r:id="rId21"/>
    <p:sldId id="303" r:id="rId22"/>
    <p:sldId id="379" r:id="rId23"/>
    <p:sldId id="306" r:id="rId24"/>
    <p:sldId id="307" r:id="rId25"/>
  </p:sldIdLst>
  <p:sldSz cx="12192000" cy="6858000"/>
  <p:notesSz cx="6858000" cy="9144000"/>
  <p:embeddedFontLst>
    <p:embeddedFont>
      <p:font typeface="Arial Black" panose="020B0A04020102020204" pitchFamily="34" charset="0"/>
      <p:bold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ambria" panose="02040503050406030204" pitchFamily="18" charset="0"/>
      <p:regular r:id="rId32"/>
      <p:bold r:id="rId33"/>
      <p:italic r:id="rId34"/>
      <p:boldItalic r:id="rId35"/>
    </p:embeddedFont>
    <p:embeddedFont>
      <p:font typeface="Cambria Math" panose="02040503050406030204" pitchFamily="18" charset="0"/>
      <p:regular r:id="rId36"/>
    </p:embeddedFont>
    <p:embeddedFont>
      <p:font typeface="Century Gothic" panose="020B0502020202020204" pitchFamily="34" charset="0"/>
      <p:regular r:id="rId37"/>
      <p:bold r:id="rId38"/>
      <p:italic r:id="rId39"/>
      <p:boldItalic r:id="rId40"/>
    </p:embeddedFont>
    <p:embeddedFont>
      <p:font typeface="Verdana" panose="020B060403050404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6C46"/>
    <a:srgbClr val="E24E5F"/>
    <a:srgbClr val="79C058"/>
    <a:srgbClr val="3465B0"/>
    <a:srgbClr val="DA4487"/>
    <a:srgbClr val="C9DF6F"/>
    <a:srgbClr val="417DBF"/>
    <a:srgbClr val="3F2A67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6"/>
    <p:restoredTop sz="94719"/>
  </p:normalViewPr>
  <p:slideViewPr>
    <p:cSldViewPr snapToGrid="0">
      <p:cViewPr varScale="1">
        <p:scale>
          <a:sx n="81" d="100"/>
          <a:sy n="81" d="100"/>
        </p:scale>
        <p:origin x="112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8310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316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82847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6432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82283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65633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75486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85952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64613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95098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56215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tiff"/><Relationship Id="rId4" Type="http://schemas.openxmlformats.org/officeDocument/2006/relationships/image" Target="../media/image16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tiff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tif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tiff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459723" y="2054276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5, Lesson 7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Problems Involving Rectangles on the Coordinate Plane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241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29141D4E-DA2B-B445-945E-1FC65102392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762" y="1850136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03916" y="-88032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241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280;g104476d1465_1_17">
                <a:extLst>
                  <a:ext uri="{FF2B5EF4-FFF2-40B4-BE49-F238E27FC236}">
                    <a16:creationId xmlns:a16="http://schemas.microsoft.com/office/drawing/2014/main" id="{527A9F9F-07B8-ED47-B967-E5507C67DB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0266" y="1079325"/>
                <a:ext cx="11087265" cy="5121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6195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rial"/>
                  <a:buChar char="•"/>
                  <a:defRPr sz="2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2385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5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0" indent="0">
                  <a:buSzPts val="1100"/>
                  <a:buNone/>
                </a:pPr>
                <a:r>
                  <a:rPr lang="en-US" sz="3200" dirty="0">
                    <a:solidFill>
                      <a:schemeClr val="tx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MA.6.GR.1.2</a:t>
                </a:r>
              </a:p>
              <a:p>
                <a:pPr indent="0">
                  <a:buNone/>
                </a:pPr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distances between ordered pairs, limited to the same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-coordinate or the same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-coordinate, represented on the coordinate plane.</a:t>
                </a:r>
              </a:p>
              <a:p>
                <a:pPr marL="0" indent="0">
                  <a:buSzPts val="1100"/>
                  <a:buNone/>
                </a:pPr>
                <a:r>
                  <a:rPr lang="en-US" sz="3200" dirty="0">
                    <a:solidFill>
                      <a:schemeClr val="tx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MA.6.GR.1.3</a:t>
                </a:r>
              </a:p>
              <a:p>
                <a:pPr indent="0">
                  <a:buNone/>
                </a:pPr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mathematical and real-world problems by plotting points on a coordinate plane, including finding the perimeter or area of a rectangle.</a:t>
                </a:r>
                <a:endParaRPr lang="en-US" dirty="0">
                  <a:solidFill>
                    <a:schemeClr val="tx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mc:Choice>
        <mc:Fallback xmlns="">
          <p:sp>
            <p:nvSpPr>
              <p:cNvPr id="8" name="Google Shape;280;g104476d1465_1_17">
                <a:extLst>
                  <a:ext uri="{FF2B5EF4-FFF2-40B4-BE49-F238E27FC236}">
                    <a16:creationId xmlns:a16="http://schemas.microsoft.com/office/drawing/2014/main" id="{527A9F9F-07B8-ED47-B967-E5507C67D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079325"/>
                <a:ext cx="11087265" cy="5121275"/>
              </a:xfrm>
              <a:prstGeom prst="rect">
                <a:avLst/>
              </a:prstGeom>
              <a:blipFill>
                <a:blip r:embed="rId5"/>
                <a:stretch>
                  <a:fillRect l="-1373" t="-2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875" y="0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730265" y="1325700"/>
            <a:ext cx="1101759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5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5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5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45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3916" y="-880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241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730265" y="1237668"/>
            <a:ext cx="1126143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find distances between ordered pairs. 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find the area of a rectangle on a coordinate plane.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find the fourth vertex of a rectangle on a coordinate plane. 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5846" y="276615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03915" y="59634"/>
            <a:ext cx="978575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5.7.1 Warm-Up: True Statement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730265" y="1390276"/>
            <a:ext cx="109107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Place a digit in each blue box to make the statement true. Use only digits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1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to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9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at most one time each. 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C3FB3D5-E4A8-D712-92A8-E38BFC0F2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606" y="2354194"/>
            <a:ext cx="7098086" cy="1652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06240" y="2766150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242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39840" y="0"/>
            <a:ext cx="1029074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5.7.2 Collaboration: Area of Rectangles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242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731519" y="1325700"/>
            <a:ext cx="112875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explain how to find the area of a rectangle.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06568" y="375285"/>
                <a:ext cx="1108169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rectangle with coordinate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(3, 0)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(3, −5)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−4, 0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(−4,−5)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shown. The scale of the grid is in centimeters (cm).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568" y="375285"/>
                <a:ext cx="11081693" cy="707886"/>
              </a:xfrm>
              <a:prstGeom prst="rect">
                <a:avLst/>
              </a:prstGeom>
              <a:blipFill>
                <a:blip r:embed="rId4"/>
                <a:stretch>
                  <a:fillRect l="-458" t="-5263" r="-343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3FD0EB4D-7CE3-F449-922B-2CB4C1646DD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4884" y="1550028"/>
            <a:ext cx="5703457" cy="41837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2DF2E9-3F1C-4BE2-80FB-81785E86492B}"/>
              </a:ext>
            </a:extLst>
          </p:cNvPr>
          <p:cNvSpPr txBox="1"/>
          <p:nvPr/>
        </p:nvSpPr>
        <p:spPr>
          <a:xfrm>
            <a:off x="6718341" y="1843950"/>
            <a:ext cx="461688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answer the following questions.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2438">
              <a:buFont typeface="+mj-lt"/>
              <a:buAutoNum type="alphaLcPeriod"/>
              <a:tabLst>
                <a:tab pos="677863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the length and the width of the rectangle. Include units.</a:t>
            </a:r>
          </a:p>
          <a:p>
            <a:pPr marL="914400" indent="-452438">
              <a:tabLst>
                <a:tab pos="677863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2438">
              <a:buFont typeface="+mj-lt"/>
              <a:buAutoNum type="alphaLcPeriod" startAt="2"/>
              <a:tabLst>
                <a:tab pos="677863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area of the rectangle? Include units.</a:t>
            </a:r>
          </a:p>
        </p:txBody>
      </p:sp>
    </p:spTree>
    <p:extLst>
      <p:ext uri="{BB962C8B-B14F-4D97-AF65-F5344CB8AC3E}">
        <p14:creationId xmlns:p14="http://schemas.microsoft.com/office/powerpoint/2010/main" val="1841022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6301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242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9839" y="86703"/>
            <a:ext cx="1044513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5.7.3 Guided Practice: Finding the Area of Rectangles on the Coordinate Plane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242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731520" y="1365105"/>
            <a:ext cx="11032588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Henry wants to install new carpet in his living room. A drawing of his living room, with measurements in feet, is shown.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area of the living room?</a:t>
            </a:r>
          </a:p>
          <a:p>
            <a:r>
              <a:rPr lang="en-US" dirty="0"/>
              <a:t> </a:t>
            </a:r>
          </a:p>
          <a:p>
            <a:pPr lvl="0"/>
            <a:endParaRPr lang="en-US" dirty="0"/>
          </a:p>
        </p:txBody>
      </p:sp>
      <p:pic>
        <p:nvPicPr>
          <p:cNvPr id="9" name="Picture 8" descr="Chart, calendar&#10;&#10;Description automatically generated">
            <a:extLst>
              <a:ext uri="{FF2B5EF4-FFF2-40B4-BE49-F238E27FC236}">
                <a16:creationId xmlns:a16="http://schemas.microsoft.com/office/drawing/2014/main" id="{B0F0825B-D7A7-0040-9329-018BC395B8E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7090" y="2214412"/>
            <a:ext cx="3441447" cy="313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389980" y="520393"/>
            <a:ext cx="11620312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rectangle is shown. 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area of the rectangle?</a:t>
            </a:r>
          </a:p>
          <a:p>
            <a:endParaRPr lang="en-US" dirty="0"/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DCAE55C1-A3CE-044F-8544-4AF0E0806E1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45190" y="1105405"/>
            <a:ext cx="5109891" cy="358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709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06240" y="2766150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243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4452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06424" y="60325"/>
            <a:ext cx="1027082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5.7.4 Collaboration: Finding the Fourth Vertex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243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731520" y="1386025"/>
            <a:ext cx="1132273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your partner, list every attribute you know about rectangles.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your partner, find another pair of partners. Share what you wrote about rectangles. Add any new attributes the other group found that you didn’t.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9547DC-BF37-D64B-A361-5FFFDB601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065093"/>
              </p:ext>
            </p:extLst>
          </p:nvPr>
        </p:nvGraphicFramePr>
        <p:xfrm>
          <a:off x="2996770" y="1897464"/>
          <a:ext cx="6490130" cy="2394857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6490130">
                  <a:extLst>
                    <a:ext uri="{9D8B030D-6E8A-4147-A177-3AD203B41FA5}">
                      <a16:colId xmlns:a16="http://schemas.microsoft.com/office/drawing/2014/main" val="3235489531"/>
                    </a:ext>
                  </a:extLst>
                </a:gridCol>
              </a:tblGrid>
              <a:tr h="34708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Rectangles</a:t>
                      </a:r>
                    </a:p>
                  </a:txBody>
                  <a:tcPr marL="6350" marR="63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937182"/>
                  </a:ext>
                </a:extLst>
              </a:tr>
              <a:tr h="204777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9046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724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304613" y="485225"/>
            <a:ext cx="11494663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 the coordinate grid, draw a rectangle whose sides lie on the gridlines. Label the ordered pair of each vertex.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lvl="0"/>
            <a:endParaRPr lang="en-US" dirty="0"/>
          </a:p>
          <a:p>
            <a:r>
              <a:rPr lang="en-US" dirty="0"/>
              <a:t>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5E9311-029B-BD4E-AD65-E28FAED948A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43678" y="1408203"/>
            <a:ext cx="4504644" cy="45046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1555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304614" y="696241"/>
            <a:ext cx="11591378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 </a:t>
            </a:r>
          </a:p>
          <a:p>
            <a:pPr marL="457200" indent="-457200" fontAlgn="base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how to determine where to place the vertices of your rectangle. Write a summary of your discussion.</a:t>
            </a:r>
          </a:p>
          <a:p>
            <a:pPr marL="457200" indent="-457200" fontAlgn="base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 fontAlgn="base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 fontAlgn="base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 fontAlgn="base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 fontAlgn="base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 fontAlgn="base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 fontAlgn="base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Based on the rectangle drawn in the previous questions, add any attributes about rectangles to your list.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lvl="0"/>
            <a:endParaRPr lang="en-US" dirty="0"/>
          </a:p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439708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505012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244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5721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06423" y="16798"/>
            <a:ext cx="1072485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5.7.5 Guided Practice: Finding the Fourth Vertex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244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731519" y="1175619"/>
            <a:ext cx="10724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Using the coordinate plane, find the fourth vertex of the following rectangles.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F31EA40-8A5C-7C46-9FFF-46CF796356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0524208"/>
                  </p:ext>
                </p:extLst>
              </p:nvPr>
            </p:nvGraphicFramePr>
            <p:xfrm>
              <a:off x="2387194" y="4269089"/>
              <a:ext cx="7413504" cy="2260149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65010">
                      <a:extLst>
                        <a:ext uri="{9D8B030D-6E8A-4147-A177-3AD203B41FA5}">
                          <a16:colId xmlns:a16="http://schemas.microsoft.com/office/drawing/2014/main" val="1236158601"/>
                        </a:ext>
                      </a:extLst>
                    </a:gridCol>
                    <a:gridCol w="1326194">
                      <a:extLst>
                        <a:ext uri="{9D8B030D-6E8A-4147-A177-3AD203B41FA5}">
                          <a16:colId xmlns:a16="http://schemas.microsoft.com/office/drawing/2014/main" val="3153932571"/>
                        </a:ext>
                      </a:extLst>
                    </a:gridCol>
                    <a:gridCol w="1502401">
                      <a:extLst>
                        <a:ext uri="{9D8B030D-6E8A-4147-A177-3AD203B41FA5}">
                          <a16:colId xmlns:a16="http://schemas.microsoft.com/office/drawing/2014/main" val="663014823"/>
                        </a:ext>
                      </a:extLst>
                    </a:gridCol>
                    <a:gridCol w="1381839">
                      <a:extLst>
                        <a:ext uri="{9D8B030D-6E8A-4147-A177-3AD203B41FA5}">
                          <a16:colId xmlns:a16="http://schemas.microsoft.com/office/drawing/2014/main" val="3109679988"/>
                        </a:ext>
                      </a:extLst>
                    </a:gridCol>
                    <a:gridCol w="1338060">
                      <a:extLst>
                        <a:ext uri="{9D8B030D-6E8A-4147-A177-3AD203B41FA5}">
                          <a16:colId xmlns:a16="http://schemas.microsoft.com/office/drawing/2014/main" val="3404543061"/>
                        </a:ext>
                      </a:extLst>
                    </a:gridCol>
                  </a:tblGrid>
                  <a:tr h="352755">
                    <a:tc>
                      <a:txBody>
                        <a:bodyPr/>
                        <a:lstStyle/>
                        <a:p>
                          <a:pPr marL="0" marR="0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350" marR="635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𝐚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𝐛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𝐜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𝐝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8417663"/>
                      </a:ext>
                    </a:extLst>
                  </a:tr>
                  <a:tr h="352755"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Rectangle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𝐀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(−7, 2.3)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(−11, 2.3)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(−11, 8.1)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46220065"/>
                      </a:ext>
                    </a:extLst>
                  </a:tr>
                  <a:tr h="352755"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chemeClr val="accent2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Rectangle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chemeClr val="accent2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𝐁</m:t>
                              </m:r>
                            </m:oMath>
                          </a14:m>
                          <a:endParaRPr lang="en-US" sz="2000" b="1" dirty="0">
                            <a:solidFill>
                              <a:schemeClr val="accent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(−3, 0.2)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(−3, 3.2)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(5, 3.2)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42315371"/>
                      </a:ext>
                    </a:extLst>
                  </a:tr>
                  <a:tr h="352755"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C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Rectangle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C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𝐂</m:t>
                              </m:r>
                            </m:oMath>
                          </a14:m>
                          <a:endParaRPr lang="en-US" sz="2000" b="1" dirty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(7, 8)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(11, 8)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(11, 1)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42966447"/>
                      </a:ext>
                    </a:extLst>
                  </a:tr>
                  <a:tr h="501372"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276C46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Rectangle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276C4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𝐃</m:t>
                              </m:r>
                            </m:oMath>
                          </a14:m>
                          <a:endParaRPr lang="en-US" sz="2000" b="1" dirty="0">
                            <a:solidFill>
                              <a:srgbClr val="276C46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(−11, −6)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(−11, −4.1)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(−1, −4.1)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076729"/>
                      </a:ext>
                    </a:extLst>
                  </a:tr>
                  <a:tr h="347757"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7030A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Rectangle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7030A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𝐄</m:t>
                              </m:r>
                            </m:oMath>
                          </a14:m>
                          <a:endParaRPr lang="en-US" sz="2000" b="1" dirty="0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(0, −7)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(10, −7)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(10,0)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90110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F31EA40-8A5C-7C46-9FFF-46CF796356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0524208"/>
                  </p:ext>
                </p:extLst>
              </p:nvPr>
            </p:nvGraphicFramePr>
            <p:xfrm>
              <a:off x="2387194" y="4269089"/>
              <a:ext cx="7413504" cy="2260149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65010">
                      <a:extLst>
                        <a:ext uri="{9D8B030D-6E8A-4147-A177-3AD203B41FA5}">
                          <a16:colId xmlns:a16="http://schemas.microsoft.com/office/drawing/2014/main" val="1236158601"/>
                        </a:ext>
                      </a:extLst>
                    </a:gridCol>
                    <a:gridCol w="1326194">
                      <a:extLst>
                        <a:ext uri="{9D8B030D-6E8A-4147-A177-3AD203B41FA5}">
                          <a16:colId xmlns:a16="http://schemas.microsoft.com/office/drawing/2014/main" val="3153932571"/>
                        </a:ext>
                      </a:extLst>
                    </a:gridCol>
                    <a:gridCol w="1502401">
                      <a:extLst>
                        <a:ext uri="{9D8B030D-6E8A-4147-A177-3AD203B41FA5}">
                          <a16:colId xmlns:a16="http://schemas.microsoft.com/office/drawing/2014/main" val="663014823"/>
                        </a:ext>
                      </a:extLst>
                    </a:gridCol>
                    <a:gridCol w="1381839">
                      <a:extLst>
                        <a:ext uri="{9D8B030D-6E8A-4147-A177-3AD203B41FA5}">
                          <a16:colId xmlns:a16="http://schemas.microsoft.com/office/drawing/2014/main" val="3109679988"/>
                        </a:ext>
                      </a:extLst>
                    </a:gridCol>
                    <a:gridCol w="1338060">
                      <a:extLst>
                        <a:ext uri="{9D8B030D-6E8A-4147-A177-3AD203B41FA5}">
                          <a16:colId xmlns:a16="http://schemas.microsoft.com/office/drawing/2014/main" val="3404543061"/>
                        </a:ext>
                      </a:extLst>
                    </a:gridCol>
                  </a:tblGrid>
                  <a:tr h="352755">
                    <a:tc>
                      <a:txBody>
                        <a:bodyPr/>
                        <a:lstStyle/>
                        <a:p>
                          <a:pPr marL="0" marR="0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350" marR="635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40000" t="-21429" r="-318095" b="-5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13559" t="-21429" r="-183051" b="-5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39450" t="-21429" r="-98165" b="-5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51887" t="-21429" r="-943" b="-57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8417663"/>
                      </a:ext>
                    </a:extLst>
                  </a:tr>
                  <a:tr h="3527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121429" r="-298639" b="-4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40000" t="-121429" r="-318095" b="-4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13559" t="-121429" r="-183051" b="-4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39450" t="-121429" r="-98165" b="-4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46220065"/>
                      </a:ext>
                    </a:extLst>
                  </a:tr>
                  <a:tr h="3527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221429" r="-298639" b="-3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40000" t="-221429" r="-318095" b="-3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13559" t="-221429" r="-183051" b="-3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39450" t="-221429" r="-98165" b="-3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42315371"/>
                      </a:ext>
                    </a:extLst>
                  </a:tr>
                  <a:tr h="3527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321429" r="-298639" b="-2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40000" t="-321429" r="-318095" b="-2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13559" t="-321429" r="-183051" b="-2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39450" t="-321429" r="-98165" b="-2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42966447"/>
                      </a:ext>
                    </a:extLst>
                  </a:tr>
                  <a:tr h="5013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302564" r="-298639" b="-948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40000" t="-302564" r="-318095" b="-948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13559" t="-302564" r="-183051" b="-948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39450" t="-302564" r="-98165" b="-948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6076729"/>
                      </a:ext>
                    </a:extLst>
                  </a:tr>
                  <a:tr h="3477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560714" r="-298639" b="-32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40000" t="-560714" r="-318095" b="-32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13559" t="-560714" r="-183051" b="-32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39450" t="-560714" r="-98165" b="-32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901101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345B3AFA-1644-C7F9-439E-4192A968E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882" y="1549511"/>
            <a:ext cx="4581710" cy="2719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6540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304614" y="521206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base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area of Rectangle A, in square units?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4B8EE60-AAF5-4080-B558-986E6417C1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790346"/>
                  </p:ext>
                </p:extLst>
              </p:nvPr>
            </p:nvGraphicFramePr>
            <p:xfrm>
              <a:off x="2389248" y="4197526"/>
              <a:ext cx="7413504" cy="2260149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65010">
                      <a:extLst>
                        <a:ext uri="{9D8B030D-6E8A-4147-A177-3AD203B41FA5}">
                          <a16:colId xmlns:a16="http://schemas.microsoft.com/office/drawing/2014/main" val="3572924408"/>
                        </a:ext>
                      </a:extLst>
                    </a:gridCol>
                    <a:gridCol w="1326194">
                      <a:extLst>
                        <a:ext uri="{9D8B030D-6E8A-4147-A177-3AD203B41FA5}">
                          <a16:colId xmlns:a16="http://schemas.microsoft.com/office/drawing/2014/main" val="13497904"/>
                        </a:ext>
                      </a:extLst>
                    </a:gridCol>
                    <a:gridCol w="1502401">
                      <a:extLst>
                        <a:ext uri="{9D8B030D-6E8A-4147-A177-3AD203B41FA5}">
                          <a16:colId xmlns:a16="http://schemas.microsoft.com/office/drawing/2014/main" val="3524675294"/>
                        </a:ext>
                      </a:extLst>
                    </a:gridCol>
                    <a:gridCol w="1381839">
                      <a:extLst>
                        <a:ext uri="{9D8B030D-6E8A-4147-A177-3AD203B41FA5}">
                          <a16:colId xmlns:a16="http://schemas.microsoft.com/office/drawing/2014/main" val="379653451"/>
                        </a:ext>
                      </a:extLst>
                    </a:gridCol>
                    <a:gridCol w="1338060">
                      <a:extLst>
                        <a:ext uri="{9D8B030D-6E8A-4147-A177-3AD203B41FA5}">
                          <a16:colId xmlns:a16="http://schemas.microsoft.com/office/drawing/2014/main" val="2590473816"/>
                        </a:ext>
                      </a:extLst>
                    </a:gridCol>
                  </a:tblGrid>
                  <a:tr h="352755">
                    <a:tc>
                      <a:txBody>
                        <a:bodyPr/>
                        <a:lstStyle/>
                        <a:p>
                          <a:pPr marL="0" marR="0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350" marR="635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𝐚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𝐛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𝐜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𝐝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2621750"/>
                      </a:ext>
                    </a:extLst>
                  </a:tr>
                  <a:tr h="352755"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Rectangle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𝐀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(−7, 2.3)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(−11, 2.3)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(−11, 8.1)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1477316"/>
                      </a:ext>
                    </a:extLst>
                  </a:tr>
                  <a:tr h="352755"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chemeClr val="accent2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Rectangle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chemeClr val="accent2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𝐁</m:t>
                              </m:r>
                            </m:oMath>
                          </a14:m>
                          <a:endParaRPr lang="en-US" sz="2000" b="1" dirty="0">
                            <a:solidFill>
                              <a:schemeClr val="accent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(−3, 0.2)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(−3, 3.2)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(5, 3.2)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9014972"/>
                      </a:ext>
                    </a:extLst>
                  </a:tr>
                  <a:tr h="352755"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C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Rectangle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C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𝐂</m:t>
                              </m:r>
                            </m:oMath>
                          </a14:m>
                          <a:endParaRPr lang="en-US" sz="2000" b="1" dirty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(7, 8)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(11, 8)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(11, 1)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68303578"/>
                      </a:ext>
                    </a:extLst>
                  </a:tr>
                  <a:tr h="501372"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276C46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Rectangle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276C46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𝐃</m:t>
                              </m:r>
                            </m:oMath>
                          </a14:m>
                          <a:endParaRPr lang="en-US" sz="2000" b="1" dirty="0">
                            <a:solidFill>
                              <a:srgbClr val="276C46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(−11, −6)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(−11, −4.1)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(−1, −4.1)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77159500"/>
                      </a:ext>
                    </a:extLst>
                  </a:tr>
                  <a:tr h="347757"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7030A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Rectangle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7030A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𝐄</m:t>
                              </m:r>
                            </m:oMath>
                          </a14:m>
                          <a:endParaRPr lang="en-US" sz="2000" b="1" dirty="0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(0, −7)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(10, −7)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(10,0)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38036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4B8EE60-AAF5-4080-B558-986E6417C1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790346"/>
                  </p:ext>
                </p:extLst>
              </p:nvPr>
            </p:nvGraphicFramePr>
            <p:xfrm>
              <a:off x="2389248" y="4197526"/>
              <a:ext cx="7413504" cy="2260149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65010">
                      <a:extLst>
                        <a:ext uri="{9D8B030D-6E8A-4147-A177-3AD203B41FA5}">
                          <a16:colId xmlns:a16="http://schemas.microsoft.com/office/drawing/2014/main" val="3572924408"/>
                        </a:ext>
                      </a:extLst>
                    </a:gridCol>
                    <a:gridCol w="1326194">
                      <a:extLst>
                        <a:ext uri="{9D8B030D-6E8A-4147-A177-3AD203B41FA5}">
                          <a16:colId xmlns:a16="http://schemas.microsoft.com/office/drawing/2014/main" val="13497904"/>
                        </a:ext>
                      </a:extLst>
                    </a:gridCol>
                    <a:gridCol w="1502401">
                      <a:extLst>
                        <a:ext uri="{9D8B030D-6E8A-4147-A177-3AD203B41FA5}">
                          <a16:colId xmlns:a16="http://schemas.microsoft.com/office/drawing/2014/main" val="3524675294"/>
                        </a:ext>
                      </a:extLst>
                    </a:gridCol>
                    <a:gridCol w="1381839">
                      <a:extLst>
                        <a:ext uri="{9D8B030D-6E8A-4147-A177-3AD203B41FA5}">
                          <a16:colId xmlns:a16="http://schemas.microsoft.com/office/drawing/2014/main" val="379653451"/>
                        </a:ext>
                      </a:extLst>
                    </a:gridCol>
                    <a:gridCol w="1338060">
                      <a:extLst>
                        <a:ext uri="{9D8B030D-6E8A-4147-A177-3AD203B41FA5}">
                          <a16:colId xmlns:a16="http://schemas.microsoft.com/office/drawing/2014/main" val="2590473816"/>
                        </a:ext>
                      </a:extLst>
                    </a:gridCol>
                  </a:tblGrid>
                  <a:tr h="352755">
                    <a:tc>
                      <a:txBody>
                        <a:bodyPr/>
                        <a:lstStyle/>
                        <a:p>
                          <a:pPr marL="0" marR="0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350" marR="635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2308" t="-21429" r="-322115" b="-5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1765" t="-21429" r="-181513" b="-5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40367" t="-21429" r="-98165" b="-5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57143" t="-21429" r="-1905" b="-57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2621750"/>
                      </a:ext>
                    </a:extLst>
                  </a:tr>
                  <a:tr h="3527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80" t="-121429" r="-298639" b="-4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2308" t="-121429" r="-322115" b="-4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1765" t="-121429" r="-181513" b="-4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40367" t="-121429" r="-98165" b="-4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1477316"/>
                      </a:ext>
                    </a:extLst>
                  </a:tr>
                  <a:tr h="3527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80" t="-221429" r="-298639" b="-3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2308" t="-221429" r="-322115" b="-3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1765" t="-221429" r="-181513" b="-3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40367" t="-221429" r="-98165" b="-3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9014972"/>
                      </a:ext>
                    </a:extLst>
                  </a:tr>
                  <a:tr h="3527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80" t="-321429" r="-298639" b="-2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2308" t="-321429" r="-322115" b="-2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1765" t="-321429" r="-181513" b="-2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40367" t="-321429" r="-98165" b="-2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68303578"/>
                      </a:ext>
                    </a:extLst>
                  </a:tr>
                  <a:tr h="5013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80" t="-302564" r="-298639" b="-948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2308" t="-302564" r="-322115" b="-948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1765" t="-302564" r="-181513" b="-948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40367" t="-302564" r="-98165" b="-948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77159500"/>
                      </a:ext>
                    </a:extLst>
                  </a:tr>
                  <a:tr h="3477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80" t="-560714" r="-298639" b="-32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2308" t="-560714" r="-322115" b="-32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1765" t="-560714" r="-181513" b="-32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40367" t="-560714" r="-98165" b="-32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fontAlgn="base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350" marR="63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380365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074" name="Picture 2">
            <a:extLst>
              <a:ext uri="{FF2B5EF4-FFF2-40B4-BE49-F238E27FC236}">
                <a16:creationId xmlns:a16="http://schemas.microsoft.com/office/drawing/2014/main" id="{78B28FD8-6036-CE5C-037A-7948235C8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880" y="921316"/>
            <a:ext cx="5038725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5950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03121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245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7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5.7.6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9486181-07A1-C74B-A129-E8949F43C159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730265" y="1087671"/>
                <a:ext cx="11007465" cy="8372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Three vertices of a rectangle are at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(−4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3)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(3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3)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(3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−4)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Each gridline represents 1 centimeter.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5" y="1087671"/>
                <a:ext cx="11007465" cy="837280"/>
              </a:xfrm>
              <a:prstGeom prst="rect">
                <a:avLst/>
              </a:prstGeom>
              <a:blipFill>
                <a:blip r:embed="rId5"/>
                <a:stretch>
                  <a:fillRect l="-576" b="-11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24506B62-24C8-3D4C-934D-6AE5A39A9FA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52849" y="2134251"/>
            <a:ext cx="5551409" cy="34514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ECD987-AAE2-4ED5-87DD-E2E9D1DD3282}"/>
              </a:ext>
            </a:extLst>
          </p:cNvPr>
          <p:cNvSpPr txBox="1"/>
          <p:nvPr/>
        </p:nvSpPr>
        <p:spPr>
          <a:xfrm>
            <a:off x="7204258" y="2477242"/>
            <a:ext cx="477965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2337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are the coordinates of the fourth vertex?</a:t>
            </a:r>
          </a:p>
          <a:p>
            <a:pPr marL="914400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492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22337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area of the rectangle?</a:t>
            </a: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3276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39007" y="450730"/>
                <a:ext cx="11521816" cy="1538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Jada needs to cut out a piece of fabric in the shape of a rectangle. She laid out the fabric on a cutting board, whose scale is represented in feet (ft). Jada placed two edges of the fabric at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She wants the length of the fabric to be as long as the distance from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 </a:t>
                </a:r>
              </a:p>
              <a:p>
                <a:r>
                  <a:rPr lang="en-US" dirty="0"/>
                  <a:t> 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07" y="450730"/>
                <a:ext cx="11521816" cy="1538883"/>
              </a:xfrm>
              <a:prstGeom prst="rect">
                <a:avLst/>
              </a:prstGeom>
              <a:blipFill>
                <a:blip r:embed="rId4"/>
                <a:stretch>
                  <a:fillRect l="-550" t="-2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70E90966-D667-054C-8E4E-CF3F6E7859B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75174" y="1880824"/>
            <a:ext cx="3975644" cy="45264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4A69E2-0B07-4518-B949-A33165592B4B}"/>
              </a:ext>
            </a:extLst>
          </p:cNvPr>
          <p:cNvSpPr txBox="1"/>
          <p:nvPr/>
        </p:nvSpPr>
        <p:spPr>
          <a:xfrm>
            <a:off x="5452445" y="2419806"/>
            <a:ext cx="635860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452438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the coordinates of the fourth corner of the fabric.</a:t>
            </a:r>
          </a:p>
          <a:p>
            <a:pPr marL="914400" indent="-452438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2438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2438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area of the piece of fabric.</a:t>
            </a:r>
          </a:p>
        </p:txBody>
      </p:sp>
    </p:spTree>
    <p:extLst>
      <p:ext uri="{BB962C8B-B14F-4D97-AF65-F5344CB8AC3E}">
        <p14:creationId xmlns:p14="http://schemas.microsoft.com/office/powerpoint/2010/main" val="3831596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246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648857" y="269833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246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37332" y="-8803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5.7.7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730266" y="1359650"/>
            <a:ext cx="1099867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following statements.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22338" indent="-455613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Today, I am still unsure about …</a:t>
            </a:r>
          </a:p>
          <a:p>
            <a:pPr marL="922338" indent="-45561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22338" indent="-45561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22338" indent="-45561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22338" indent="-45561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22338" indent="-45561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22338" indent="-45561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22338" indent="-455613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fill this gap, I intend to …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1348</TotalTime>
  <Words>1133</Words>
  <Application>Microsoft Office PowerPoint</Application>
  <PresentationFormat>Widescreen</PresentationFormat>
  <Paragraphs>253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Calibri</vt:lpstr>
      <vt:lpstr>Arial Black</vt:lpstr>
      <vt:lpstr>Cambria Math</vt:lpstr>
      <vt:lpstr>Arial</vt:lpstr>
      <vt:lpstr>Cambria</vt:lpstr>
      <vt:lpstr>Verdana</vt:lpstr>
      <vt:lpstr>Century Gothic</vt:lpstr>
      <vt:lpstr>1_Office Theme</vt:lpstr>
      <vt:lpstr>6th Grade Math  Unit 5, Lesson 7  Solving Problems Involving Rectangles on the Coordinate Plane  Volume 1, pg. 241  </vt:lpstr>
      <vt:lpstr>Benchmarks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24</cp:revision>
  <dcterms:created xsi:type="dcterms:W3CDTF">2015-03-17T18:51:18Z</dcterms:created>
  <dcterms:modified xsi:type="dcterms:W3CDTF">2022-07-07T18:14:37Z</dcterms:modified>
</cp:coreProperties>
</file>