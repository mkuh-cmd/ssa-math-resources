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83" r:id="rId9"/>
    <p:sldId id="314" r:id="rId10"/>
    <p:sldId id="315" r:id="rId11"/>
    <p:sldId id="378" r:id="rId12"/>
    <p:sldId id="376" r:id="rId13"/>
    <p:sldId id="377" r:id="rId14"/>
    <p:sldId id="320" r:id="rId15"/>
    <p:sldId id="321" r:id="rId16"/>
    <p:sldId id="364" r:id="rId17"/>
    <p:sldId id="289" r:id="rId18"/>
    <p:sldId id="290" r:id="rId19"/>
    <p:sldId id="365" r:id="rId20"/>
    <p:sldId id="371" r:id="rId21"/>
    <p:sldId id="380" r:id="rId22"/>
    <p:sldId id="379" r:id="rId23"/>
    <p:sldId id="384" r:id="rId24"/>
    <p:sldId id="381" r:id="rId25"/>
    <p:sldId id="382" r:id="rId26"/>
    <p:sldId id="373" r:id="rId27"/>
    <p:sldId id="374" r:id="rId28"/>
    <p:sldId id="306" r:id="rId29"/>
    <p:sldId id="307" r:id="rId30"/>
    <p:sldId id="370" r:id="rId31"/>
  </p:sldIdLst>
  <p:sldSz cx="12192000" cy="6858000"/>
  <p:notesSz cx="6858000" cy="9144000"/>
  <p:embeddedFontLst>
    <p:embeddedFont>
      <p:font typeface="Calibri" pitchFamily="34" charset="0"/>
      <p:regular r:id="rId33"/>
      <p:bold r:id="rId34"/>
      <p:italic r:id="rId35"/>
      <p:boldItalic r:id="rId36"/>
    </p:embeddedFont>
    <p:embeddedFont>
      <p:font typeface="Century Gothic" pitchFamily="34" charset="0"/>
      <p:regular r:id="rId37"/>
      <p:bold r:id="rId38"/>
      <p:italic r:id="rId39"/>
      <p:boldItalic r:id="rId40"/>
    </p:embeddedFont>
    <p:embeddedFont>
      <p:font typeface="Cambria Math" pitchFamily="18" charset="0"/>
      <p:regular r:id="rId41"/>
    </p:embeddedFont>
    <p:embeddedFont>
      <p:font typeface="Arial Black" pitchFamily="34" charset="0"/>
      <p:bold r:id="rId42"/>
    </p:embeddedFont>
    <p:embeddedFont>
      <p:font typeface="Verdana"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p:restoredTop sz="94719"/>
  </p:normalViewPr>
  <p:slideViewPr>
    <p:cSldViewPr snapToGrid="0">
      <p:cViewPr varScale="1">
        <p:scale>
          <a:sx n="78" d="100"/>
          <a:sy n="78" d="100"/>
        </p:scale>
        <p:origin x="-64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42462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417297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235822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787120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176264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84371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52103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47127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535846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41405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649082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455709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273095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83596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60205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413648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663415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53556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900193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64014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127379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9467574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0.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55221" y="2054276"/>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3</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Points on the Coordinate Plane – Part 1</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215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3916"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215</a:t>
            </a: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526868"/>
                <a:ext cx="1124837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MA.6.GR.1.1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the coordinate plane to plot rational number ordered pairs in all four quadrants and on both axes. Identify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-coordinate.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730266" y="1526868"/>
                <a:ext cx="11248374" cy="4205700"/>
              </a:xfrm>
              <a:prstGeom prst="rect">
                <a:avLst/>
              </a:prstGeom>
              <a:blipFill>
                <a:blip r:embed="rId5"/>
                <a:stretch>
                  <a:fillRect l="-902"/>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3916"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215</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6" y="1443990"/>
            <a:ext cx="111569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3916"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215</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6" y="1326150"/>
            <a:ext cx="110146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plot rational numbers in the form of fractional ordered pairs.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ts val="35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plot rational numbers in the form of decimals.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6350">
              <a:buClr>
                <a:srgbClr val="434343"/>
              </a:buClr>
              <a:buSzPts val="3500"/>
            </a:pPr>
            <a:endParaRPr lang="en-US" sz="35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3916" y="1591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5.3.1 Warm-Up: Which One is the Best?</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215</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730266" y="1607603"/>
                <a:ext cx="5672804"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Coral polyps get stressed out and could die if the surrounding water is above </a:t>
                </a:r>
                <a14:m>
                  <m:oMath xmlns:m="http://schemas.openxmlformats.org/officeDocument/2006/math">
                    <m:r>
                      <a:rPr lang="en-US" sz="2400">
                        <a:latin typeface="Cambria Math" panose="02040503050406030204" pitchFamily="18" charset="0"/>
                      </a:rPr>
                      <m:t>29℃</m:t>
                    </m:r>
                  </m:oMath>
                </a14:m>
                <a:r>
                  <a:rPr lang="en-US" sz="2400" dirty="0">
                    <a:latin typeface="Verdana" panose="020B0604030504040204" pitchFamily="34" charset="0"/>
                    <a:ea typeface="Verdana" panose="020B0604030504040204" pitchFamily="34" charset="0"/>
                    <a:cs typeface="Verdana" panose="020B0604030504040204" pitchFamily="34" charset="0"/>
                  </a:rPr>
                  <a:t>. The table represents the average temperature, to the nearest tenth, above </a:t>
                </a:r>
                <a14:m>
                  <m:oMath xmlns:m="http://schemas.openxmlformats.org/officeDocument/2006/math">
                    <m:r>
                      <a:rPr lang="en-US" sz="2400">
                        <a:latin typeface="Cambria Math" panose="02040503050406030204" pitchFamily="18" charset="0"/>
                      </a:rPr>
                      <m:t>29℃</m:t>
                    </m:r>
                  </m:oMath>
                </a14:m>
                <a:r>
                  <a:rPr lang="en-US" sz="2400" dirty="0">
                    <a:latin typeface="Verdana" panose="020B0604030504040204" pitchFamily="34" charset="0"/>
                    <a:ea typeface="Verdana" panose="020B0604030504040204" pitchFamily="34" charset="0"/>
                    <a:cs typeface="Verdana" panose="020B0604030504040204" pitchFamily="34" charset="0"/>
                  </a:rPr>
                  <a:t> at the Great Coral Reef over a </a:t>
                </a:r>
                <a14:m>
                  <m:oMath xmlns:m="http://schemas.openxmlformats.org/officeDocument/2006/math">
                    <m:r>
                      <a:rPr lang="en-US" sz="2400">
                        <a:latin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-week period.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607603"/>
                <a:ext cx="5672804" cy="2677656"/>
              </a:xfrm>
              <a:prstGeom prst="rect">
                <a:avLst/>
              </a:prstGeom>
              <a:blipFill>
                <a:blip r:embed="rId5"/>
                <a:stretch>
                  <a:fillRect l="-1786" t="-1887" r="-1563" b="-4717"/>
                </a:stretch>
              </a:blipFill>
            </p:spPr>
            <p:txBody>
              <a:bodyPr/>
              <a:lstStyle/>
              <a:p>
                <a:r>
                  <a:rPr lang="en-US">
                    <a:noFill/>
                  </a:rPr>
                  <a:t> </a:t>
                </a:r>
              </a:p>
            </p:txBody>
          </p:sp>
        </mc:Fallback>
      </mc:AlternateContent>
      <p:pic>
        <p:nvPicPr>
          <p:cNvPr id="9" name="image6.jpg">
            <a:extLst>
              <a:ext uri="{FF2B5EF4-FFF2-40B4-BE49-F238E27FC236}">
                <a16:creationId xmlns:a16="http://schemas.microsoft.com/office/drawing/2014/main" xmlns="" id="{E7558307-91F8-1F4D-94C9-320CE041627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811902" y="1695603"/>
            <a:ext cx="4622628" cy="3466794"/>
          </a:xfrm>
          <a:prstGeom prst="rect">
            <a:avLst/>
          </a:prstGeom>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215</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73604" y="503820"/>
            <a:ext cx="11626955" cy="400110"/>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which of the three graphs best represents the data. (Data taken from NOAA.)</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EDC63EA2-7C1B-6A4E-81A0-EDF985B38DDD}"/>
                  </a:ext>
                </a:extLst>
              </p:cNvPr>
              <p:cNvGraphicFramePr>
                <a:graphicFrameLocks noGrp="1"/>
              </p:cNvGraphicFramePr>
              <p:nvPr>
                <p:extLst>
                  <p:ext uri="{D42A27DB-BD31-4B8C-83A1-F6EECF244321}">
                    <p14:modId xmlns:p14="http://schemas.microsoft.com/office/powerpoint/2010/main" val="2814758802"/>
                  </p:ext>
                </p:extLst>
              </p:nvPr>
            </p:nvGraphicFramePr>
            <p:xfrm>
              <a:off x="2512594" y="1232661"/>
              <a:ext cx="7166811" cy="855472"/>
            </p:xfrm>
            <a:graphic>
              <a:graphicData uri="http://schemas.openxmlformats.org/drawingml/2006/table">
                <a:tbl>
                  <a:tblPr bandRow="1">
                    <a:tableStyleId>{A91F0D33-8C57-4600-99A7-42BC86742BE1}</a:tableStyleId>
                  </a:tblPr>
                  <a:tblGrid>
                    <a:gridCol w="1162886">
                      <a:extLst>
                        <a:ext uri="{9D8B030D-6E8A-4147-A177-3AD203B41FA5}">
                          <a16:colId xmlns:a16="http://schemas.microsoft.com/office/drawing/2014/main" xmlns="" val="1992764005"/>
                        </a:ext>
                      </a:extLst>
                    </a:gridCol>
                    <a:gridCol w="504825">
                      <a:extLst>
                        <a:ext uri="{9D8B030D-6E8A-4147-A177-3AD203B41FA5}">
                          <a16:colId xmlns:a16="http://schemas.microsoft.com/office/drawing/2014/main" xmlns="" val="1977715765"/>
                        </a:ext>
                      </a:extLst>
                    </a:gridCol>
                    <a:gridCol w="507365">
                      <a:extLst>
                        <a:ext uri="{9D8B030D-6E8A-4147-A177-3AD203B41FA5}">
                          <a16:colId xmlns:a16="http://schemas.microsoft.com/office/drawing/2014/main" xmlns="" val="1392698976"/>
                        </a:ext>
                      </a:extLst>
                    </a:gridCol>
                    <a:gridCol w="507365">
                      <a:extLst>
                        <a:ext uri="{9D8B030D-6E8A-4147-A177-3AD203B41FA5}">
                          <a16:colId xmlns:a16="http://schemas.microsoft.com/office/drawing/2014/main" xmlns="" val="465186250"/>
                        </a:ext>
                      </a:extLst>
                    </a:gridCol>
                    <a:gridCol w="507365">
                      <a:extLst>
                        <a:ext uri="{9D8B030D-6E8A-4147-A177-3AD203B41FA5}">
                          <a16:colId xmlns:a16="http://schemas.microsoft.com/office/drawing/2014/main" xmlns="" val="2105209657"/>
                        </a:ext>
                      </a:extLst>
                    </a:gridCol>
                    <a:gridCol w="490855">
                      <a:extLst>
                        <a:ext uri="{9D8B030D-6E8A-4147-A177-3AD203B41FA5}">
                          <a16:colId xmlns:a16="http://schemas.microsoft.com/office/drawing/2014/main" xmlns="" val="830067930"/>
                        </a:ext>
                      </a:extLst>
                    </a:gridCol>
                    <a:gridCol w="457200">
                      <a:extLst>
                        <a:ext uri="{9D8B030D-6E8A-4147-A177-3AD203B41FA5}">
                          <a16:colId xmlns:a16="http://schemas.microsoft.com/office/drawing/2014/main" xmlns="" val="2688050865"/>
                        </a:ext>
                      </a:extLst>
                    </a:gridCol>
                    <a:gridCol w="514350">
                      <a:extLst>
                        <a:ext uri="{9D8B030D-6E8A-4147-A177-3AD203B41FA5}">
                          <a16:colId xmlns:a16="http://schemas.microsoft.com/office/drawing/2014/main" xmlns="" val="1293767300"/>
                        </a:ext>
                      </a:extLst>
                    </a:gridCol>
                    <a:gridCol w="514350">
                      <a:extLst>
                        <a:ext uri="{9D8B030D-6E8A-4147-A177-3AD203B41FA5}">
                          <a16:colId xmlns:a16="http://schemas.microsoft.com/office/drawing/2014/main" xmlns="" val="2859749923"/>
                        </a:ext>
                      </a:extLst>
                    </a:gridCol>
                    <a:gridCol w="514350">
                      <a:extLst>
                        <a:ext uri="{9D8B030D-6E8A-4147-A177-3AD203B41FA5}">
                          <a16:colId xmlns:a16="http://schemas.microsoft.com/office/drawing/2014/main" xmlns="" val="3775150801"/>
                        </a:ext>
                      </a:extLst>
                    </a:gridCol>
                    <a:gridCol w="514350">
                      <a:extLst>
                        <a:ext uri="{9D8B030D-6E8A-4147-A177-3AD203B41FA5}">
                          <a16:colId xmlns:a16="http://schemas.microsoft.com/office/drawing/2014/main" xmlns="" val="3573810509"/>
                        </a:ext>
                      </a:extLst>
                    </a:gridCol>
                    <a:gridCol w="514350">
                      <a:extLst>
                        <a:ext uri="{9D8B030D-6E8A-4147-A177-3AD203B41FA5}">
                          <a16:colId xmlns:a16="http://schemas.microsoft.com/office/drawing/2014/main" xmlns="" val="222057349"/>
                        </a:ext>
                      </a:extLst>
                    </a:gridCol>
                    <a:gridCol w="457200">
                      <a:extLst>
                        <a:ext uri="{9D8B030D-6E8A-4147-A177-3AD203B41FA5}">
                          <a16:colId xmlns:a16="http://schemas.microsoft.com/office/drawing/2014/main" xmlns="" val="3859466340"/>
                        </a:ext>
                      </a:extLst>
                    </a:gridCol>
                  </a:tblGrid>
                  <a:tr h="0">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Week</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920693572"/>
                      </a:ext>
                    </a:extLst>
                  </a:tr>
                  <a:tr h="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Temp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0.1</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0.7</m:t>
                                </m:r>
                              </m:oMath>
                            </m:oMathPara>
                          </a14:m>
                          <a:endParaRPr lang="en-US" sz="2000" i="1">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0.8</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0.6</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0.7</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0.1</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0.4</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0.7</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0.8</m:t>
                                </m:r>
                              </m:oMath>
                            </m:oMathPara>
                          </a14:m>
                          <a:endParaRPr lang="en-US"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xmlns="" val="1388975753"/>
                      </a:ext>
                    </a:extLst>
                  </a:tr>
                </a:tbl>
              </a:graphicData>
            </a:graphic>
          </p:graphicFrame>
        </mc:Choice>
        <mc:Fallback xmlns="">
          <p:graphicFrame>
            <p:nvGraphicFramePr>
              <p:cNvPr id="2" name="Table 1">
                <a:extLst>
                  <a:ext uri="{FF2B5EF4-FFF2-40B4-BE49-F238E27FC236}">
                    <a16:creationId xmlns:a16="http://schemas.microsoft.com/office/drawing/2014/main" id="{EDC63EA2-7C1B-6A4E-81A0-EDF985B38DDD}"/>
                  </a:ext>
                </a:extLst>
              </p:cNvPr>
              <p:cNvGraphicFramePr>
                <a:graphicFrameLocks noGrp="1"/>
              </p:cNvGraphicFramePr>
              <p:nvPr>
                <p:extLst>
                  <p:ext uri="{D42A27DB-BD31-4B8C-83A1-F6EECF244321}">
                    <p14:modId xmlns:p14="http://schemas.microsoft.com/office/powerpoint/2010/main" val="2814758802"/>
                  </p:ext>
                </p:extLst>
              </p:nvPr>
            </p:nvGraphicFramePr>
            <p:xfrm>
              <a:off x="2512594" y="1232661"/>
              <a:ext cx="7166811" cy="855472"/>
            </p:xfrm>
            <a:graphic>
              <a:graphicData uri="http://schemas.openxmlformats.org/drawingml/2006/table">
                <a:tbl>
                  <a:tblPr bandRow="1">
                    <a:tableStyleId>{A91F0D33-8C57-4600-99A7-42BC86742BE1}</a:tableStyleId>
                  </a:tblPr>
                  <a:tblGrid>
                    <a:gridCol w="1162886">
                      <a:extLst>
                        <a:ext uri="{9D8B030D-6E8A-4147-A177-3AD203B41FA5}">
                          <a16:colId xmlns:a16="http://schemas.microsoft.com/office/drawing/2014/main" val="1992764005"/>
                        </a:ext>
                      </a:extLst>
                    </a:gridCol>
                    <a:gridCol w="504825">
                      <a:extLst>
                        <a:ext uri="{9D8B030D-6E8A-4147-A177-3AD203B41FA5}">
                          <a16:colId xmlns:a16="http://schemas.microsoft.com/office/drawing/2014/main" val="1977715765"/>
                        </a:ext>
                      </a:extLst>
                    </a:gridCol>
                    <a:gridCol w="507365">
                      <a:extLst>
                        <a:ext uri="{9D8B030D-6E8A-4147-A177-3AD203B41FA5}">
                          <a16:colId xmlns:a16="http://schemas.microsoft.com/office/drawing/2014/main" val="1392698976"/>
                        </a:ext>
                      </a:extLst>
                    </a:gridCol>
                    <a:gridCol w="507365">
                      <a:extLst>
                        <a:ext uri="{9D8B030D-6E8A-4147-A177-3AD203B41FA5}">
                          <a16:colId xmlns:a16="http://schemas.microsoft.com/office/drawing/2014/main" val="465186250"/>
                        </a:ext>
                      </a:extLst>
                    </a:gridCol>
                    <a:gridCol w="507365">
                      <a:extLst>
                        <a:ext uri="{9D8B030D-6E8A-4147-A177-3AD203B41FA5}">
                          <a16:colId xmlns:a16="http://schemas.microsoft.com/office/drawing/2014/main" val="2105209657"/>
                        </a:ext>
                      </a:extLst>
                    </a:gridCol>
                    <a:gridCol w="490855">
                      <a:extLst>
                        <a:ext uri="{9D8B030D-6E8A-4147-A177-3AD203B41FA5}">
                          <a16:colId xmlns:a16="http://schemas.microsoft.com/office/drawing/2014/main" val="830067930"/>
                        </a:ext>
                      </a:extLst>
                    </a:gridCol>
                    <a:gridCol w="457200">
                      <a:extLst>
                        <a:ext uri="{9D8B030D-6E8A-4147-A177-3AD203B41FA5}">
                          <a16:colId xmlns:a16="http://schemas.microsoft.com/office/drawing/2014/main" val="2688050865"/>
                        </a:ext>
                      </a:extLst>
                    </a:gridCol>
                    <a:gridCol w="514350">
                      <a:extLst>
                        <a:ext uri="{9D8B030D-6E8A-4147-A177-3AD203B41FA5}">
                          <a16:colId xmlns:a16="http://schemas.microsoft.com/office/drawing/2014/main" val="1293767300"/>
                        </a:ext>
                      </a:extLst>
                    </a:gridCol>
                    <a:gridCol w="514350">
                      <a:extLst>
                        <a:ext uri="{9D8B030D-6E8A-4147-A177-3AD203B41FA5}">
                          <a16:colId xmlns:a16="http://schemas.microsoft.com/office/drawing/2014/main" val="2859749923"/>
                        </a:ext>
                      </a:extLst>
                    </a:gridCol>
                    <a:gridCol w="514350">
                      <a:extLst>
                        <a:ext uri="{9D8B030D-6E8A-4147-A177-3AD203B41FA5}">
                          <a16:colId xmlns:a16="http://schemas.microsoft.com/office/drawing/2014/main" val="3775150801"/>
                        </a:ext>
                      </a:extLst>
                    </a:gridCol>
                    <a:gridCol w="514350">
                      <a:extLst>
                        <a:ext uri="{9D8B030D-6E8A-4147-A177-3AD203B41FA5}">
                          <a16:colId xmlns:a16="http://schemas.microsoft.com/office/drawing/2014/main" val="3573810509"/>
                        </a:ext>
                      </a:extLst>
                    </a:gridCol>
                    <a:gridCol w="514350">
                      <a:extLst>
                        <a:ext uri="{9D8B030D-6E8A-4147-A177-3AD203B41FA5}">
                          <a16:colId xmlns:a16="http://schemas.microsoft.com/office/drawing/2014/main" val="222057349"/>
                        </a:ext>
                      </a:extLst>
                    </a:gridCol>
                    <a:gridCol w="457200">
                      <a:extLst>
                        <a:ext uri="{9D8B030D-6E8A-4147-A177-3AD203B41FA5}">
                          <a16:colId xmlns:a16="http://schemas.microsoft.com/office/drawing/2014/main" val="3859466340"/>
                        </a:ext>
                      </a:extLst>
                    </a:gridCol>
                  </a:tblGrid>
                  <a:tr h="427736">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Week</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endParaRPr lang="en-US"/>
                        </a:p>
                      </a:txBody>
                      <a:tcPr marL="68580" marR="68580" marT="0" marB="0" anchor="ctr">
                        <a:blipFill>
                          <a:blip r:embed="rId4"/>
                          <a:stretch>
                            <a:fillRect l="-230000" t="-5882" r="-1087500" b="-117647"/>
                          </a:stretch>
                        </a:blipFill>
                      </a:tcPr>
                    </a:tc>
                    <a:tc>
                      <a:txBody>
                        <a:bodyPr/>
                        <a:lstStyle/>
                        <a:p>
                          <a:endParaRPr lang="en-US"/>
                        </a:p>
                      </a:txBody>
                      <a:tcPr marL="68580" marR="68580" marT="0" marB="0" anchor="ctr">
                        <a:blipFill>
                          <a:blip r:embed="rId4"/>
                          <a:stretch>
                            <a:fillRect l="-330000" t="-5882" r="-987500" b="-117647"/>
                          </a:stretch>
                        </a:blipFill>
                      </a:tcPr>
                    </a:tc>
                    <a:tc>
                      <a:txBody>
                        <a:bodyPr/>
                        <a:lstStyle/>
                        <a:p>
                          <a:endParaRPr lang="en-US"/>
                        </a:p>
                      </a:txBody>
                      <a:tcPr marL="68580" marR="68580" marT="0" marB="0" anchor="ctr">
                        <a:blipFill>
                          <a:blip r:embed="rId4"/>
                          <a:stretch>
                            <a:fillRect l="-430000" t="-5882" r="-887500" b="-117647"/>
                          </a:stretch>
                        </a:blipFill>
                      </a:tcPr>
                    </a:tc>
                    <a:tc>
                      <a:txBody>
                        <a:bodyPr/>
                        <a:lstStyle/>
                        <a:p>
                          <a:endParaRPr lang="en-US"/>
                        </a:p>
                      </a:txBody>
                      <a:tcPr marL="68580" marR="68580" marT="0" marB="0" anchor="ctr">
                        <a:blipFill>
                          <a:blip r:embed="rId4"/>
                          <a:stretch>
                            <a:fillRect l="-530000" t="-5882" r="-787500" b="-117647"/>
                          </a:stretch>
                        </a:blipFill>
                      </a:tcPr>
                    </a:tc>
                    <a:tc>
                      <a:txBody>
                        <a:bodyPr/>
                        <a:lstStyle/>
                        <a:p>
                          <a:endParaRPr lang="en-US"/>
                        </a:p>
                      </a:txBody>
                      <a:tcPr marL="68580" marR="68580" marT="0" marB="0" anchor="ctr">
                        <a:blipFill>
                          <a:blip r:embed="rId4"/>
                          <a:stretch>
                            <a:fillRect l="-646154" t="-5882" r="-707692" b="-117647"/>
                          </a:stretch>
                        </a:blipFill>
                      </a:tcPr>
                    </a:tc>
                    <a:tc>
                      <a:txBody>
                        <a:bodyPr/>
                        <a:lstStyle/>
                        <a:p>
                          <a:endParaRPr lang="en-US"/>
                        </a:p>
                      </a:txBody>
                      <a:tcPr marL="68580" marR="68580" marT="0" marB="0" anchor="ctr">
                        <a:blipFill>
                          <a:blip r:embed="rId4"/>
                          <a:stretch>
                            <a:fillRect l="-808333" t="-5882" r="-666667" b="-117647"/>
                          </a:stretch>
                        </a:blipFill>
                      </a:tcPr>
                    </a:tc>
                    <a:tc>
                      <a:txBody>
                        <a:bodyPr/>
                        <a:lstStyle/>
                        <a:p>
                          <a:endParaRPr lang="en-US"/>
                        </a:p>
                      </a:txBody>
                      <a:tcPr marL="68580" marR="68580" marT="0" marB="0" anchor="ctr">
                        <a:blipFill>
                          <a:blip r:embed="rId4"/>
                          <a:stretch>
                            <a:fillRect l="-817500" t="-5882" r="-500000" b="-117647"/>
                          </a:stretch>
                        </a:blipFill>
                      </a:tcPr>
                    </a:tc>
                    <a:tc>
                      <a:txBody>
                        <a:bodyPr/>
                        <a:lstStyle/>
                        <a:p>
                          <a:endParaRPr lang="en-US"/>
                        </a:p>
                      </a:txBody>
                      <a:tcPr marL="68580" marR="68580" marT="0" marB="0" anchor="ctr">
                        <a:blipFill>
                          <a:blip r:embed="rId4"/>
                          <a:stretch>
                            <a:fillRect l="-895122" t="-5882" r="-387805" b="-117647"/>
                          </a:stretch>
                        </a:blipFill>
                      </a:tcPr>
                    </a:tc>
                    <a:tc>
                      <a:txBody>
                        <a:bodyPr/>
                        <a:lstStyle/>
                        <a:p>
                          <a:endParaRPr lang="en-US"/>
                        </a:p>
                      </a:txBody>
                      <a:tcPr marL="68580" marR="68580" marT="0" marB="0" anchor="ctr">
                        <a:blipFill>
                          <a:blip r:embed="rId4"/>
                          <a:stretch>
                            <a:fillRect l="-995122" t="-5882" r="-287805" b="-117647"/>
                          </a:stretch>
                        </a:blipFill>
                      </a:tcPr>
                    </a:tc>
                    <a:tc>
                      <a:txBody>
                        <a:bodyPr/>
                        <a:lstStyle/>
                        <a:p>
                          <a:endParaRPr lang="en-US"/>
                        </a:p>
                      </a:txBody>
                      <a:tcPr marL="68580" marR="68580" marT="0" marB="0" anchor="ctr">
                        <a:blipFill>
                          <a:blip r:embed="rId4"/>
                          <a:stretch>
                            <a:fillRect l="-1122500" t="-5882" r="-195000" b="-117647"/>
                          </a:stretch>
                        </a:blipFill>
                      </a:tcPr>
                    </a:tc>
                    <a:tc>
                      <a:txBody>
                        <a:bodyPr/>
                        <a:lstStyle/>
                        <a:p>
                          <a:endParaRPr lang="en-US"/>
                        </a:p>
                      </a:txBody>
                      <a:tcPr marL="68580" marR="68580" marT="0" marB="0" anchor="ctr">
                        <a:blipFill>
                          <a:blip r:embed="rId4"/>
                          <a:stretch>
                            <a:fillRect l="-1192683" t="-5882" r="-90244" b="-117647"/>
                          </a:stretch>
                        </a:blipFill>
                      </a:tcPr>
                    </a:tc>
                    <a:tc>
                      <a:txBody>
                        <a:bodyPr/>
                        <a:lstStyle/>
                        <a:p>
                          <a:endParaRPr lang="en-US"/>
                        </a:p>
                      </a:txBody>
                      <a:tcPr marL="68580" marR="68580" marT="0" marB="0" anchor="ctr">
                        <a:blipFill>
                          <a:blip r:embed="rId4"/>
                          <a:stretch>
                            <a:fillRect l="-1472222" t="-5882" r="-2778" b="-117647"/>
                          </a:stretch>
                        </a:blipFill>
                      </a:tcPr>
                    </a:tc>
                    <a:extLst>
                      <a:ext uri="{0D108BD9-81ED-4DB2-BD59-A6C34878D82A}">
                        <a16:rowId xmlns:a16="http://schemas.microsoft.com/office/drawing/2014/main" val="920693572"/>
                      </a:ext>
                    </a:extLst>
                  </a:tr>
                  <a:tr h="42773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Temp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endParaRPr lang="en-US"/>
                        </a:p>
                      </a:txBody>
                      <a:tcPr marL="68580" marR="68580" marT="0" marB="0" anchor="ctr">
                        <a:blipFill>
                          <a:blip r:embed="rId4"/>
                          <a:stretch>
                            <a:fillRect l="-230000" t="-105882" r="-1087500" b="-17647"/>
                          </a:stretch>
                        </a:blipFill>
                      </a:tcPr>
                    </a:tc>
                    <a:tc>
                      <a:txBody>
                        <a:bodyPr/>
                        <a:lstStyle/>
                        <a:p>
                          <a:endParaRPr lang="en-US"/>
                        </a:p>
                      </a:txBody>
                      <a:tcPr marL="68580" marR="68580" marT="0" marB="0" anchor="ctr">
                        <a:blipFill>
                          <a:blip r:embed="rId4"/>
                          <a:stretch>
                            <a:fillRect l="-330000" t="-105882" r="-987500" b="-17647"/>
                          </a:stretch>
                        </a:blipFill>
                      </a:tcPr>
                    </a:tc>
                    <a:tc>
                      <a:txBody>
                        <a:bodyPr/>
                        <a:lstStyle/>
                        <a:p>
                          <a:endParaRPr lang="en-US"/>
                        </a:p>
                      </a:txBody>
                      <a:tcPr marL="68580" marR="68580" marT="0" marB="0" anchor="ctr">
                        <a:blipFill>
                          <a:blip r:embed="rId4"/>
                          <a:stretch>
                            <a:fillRect l="-430000" t="-105882" r="-887500" b="-17647"/>
                          </a:stretch>
                        </a:blipFill>
                      </a:tcPr>
                    </a:tc>
                    <a:tc>
                      <a:txBody>
                        <a:bodyPr/>
                        <a:lstStyle/>
                        <a:p>
                          <a:endParaRPr lang="en-US"/>
                        </a:p>
                      </a:txBody>
                      <a:tcPr marL="68580" marR="68580" marT="0" marB="0" anchor="ctr">
                        <a:blipFill>
                          <a:blip r:embed="rId4"/>
                          <a:stretch>
                            <a:fillRect l="-530000" t="-105882" r="-787500" b="-17647"/>
                          </a:stretch>
                        </a:blipFill>
                      </a:tcPr>
                    </a:tc>
                    <a:tc>
                      <a:txBody>
                        <a:bodyPr/>
                        <a:lstStyle/>
                        <a:p>
                          <a:endParaRPr lang="en-US"/>
                        </a:p>
                      </a:txBody>
                      <a:tcPr marL="68580" marR="68580" marT="0" marB="0" anchor="ctr">
                        <a:blipFill>
                          <a:blip r:embed="rId4"/>
                          <a:stretch>
                            <a:fillRect l="-646154" t="-105882" r="-707692" b="-17647"/>
                          </a:stretch>
                        </a:blipFill>
                      </a:tcPr>
                    </a:tc>
                    <a:tc>
                      <a:txBody>
                        <a:bodyPr/>
                        <a:lstStyle/>
                        <a:p>
                          <a:endParaRPr lang="en-US"/>
                        </a:p>
                      </a:txBody>
                      <a:tcPr marL="68580" marR="68580" marT="0" marB="0" anchor="ctr">
                        <a:blipFill>
                          <a:blip r:embed="rId4"/>
                          <a:stretch>
                            <a:fillRect l="-808333" t="-105882" r="-666667" b="-17647"/>
                          </a:stretch>
                        </a:blipFill>
                      </a:tcPr>
                    </a:tc>
                    <a:tc>
                      <a:txBody>
                        <a:bodyPr/>
                        <a:lstStyle/>
                        <a:p>
                          <a:endParaRPr lang="en-US"/>
                        </a:p>
                      </a:txBody>
                      <a:tcPr marL="68580" marR="68580" marT="0" marB="0" anchor="ctr">
                        <a:blipFill>
                          <a:blip r:embed="rId4"/>
                          <a:stretch>
                            <a:fillRect l="-817500" t="-105882" r="-500000" b="-17647"/>
                          </a:stretch>
                        </a:blipFill>
                      </a:tcPr>
                    </a:tc>
                    <a:tc>
                      <a:txBody>
                        <a:bodyPr/>
                        <a:lstStyle/>
                        <a:p>
                          <a:endParaRPr lang="en-US"/>
                        </a:p>
                      </a:txBody>
                      <a:tcPr marL="68580" marR="68580" marT="0" marB="0" anchor="ctr">
                        <a:blipFill>
                          <a:blip r:embed="rId4"/>
                          <a:stretch>
                            <a:fillRect l="-895122" t="-105882" r="-387805" b="-17647"/>
                          </a:stretch>
                        </a:blipFill>
                      </a:tcPr>
                    </a:tc>
                    <a:tc>
                      <a:txBody>
                        <a:bodyPr/>
                        <a:lstStyle/>
                        <a:p>
                          <a:endParaRPr lang="en-US"/>
                        </a:p>
                      </a:txBody>
                      <a:tcPr marL="68580" marR="68580" marT="0" marB="0" anchor="ctr">
                        <a:blipFill>
                          <a:blip r:embed="rId4"/>
                          <a:stretch>
                            <a:fillRect l="-995122" t="-105882" r="-287805" b="-17647"/>
                          </a:stretch>
                        </a:blipFill>
                      </a:tcPr>
                    </a:tc>
                    <a:tc>
                      <a:txBody>
                        <a:bodyPr/>
                        <a:lstStyle/>
                        <a:p>
                          <a:endParaRPr lang="en-US"/>
                        </a:p>
                      </a:txBody>
                      <a:tcPr marL="68580" marR="68580" marT="0" marB="0" anchor="ctr">
                        <a:blipFill>
                          <a:blip r:embed="rId4"/>
                          <a:stretch>
                            <a:fillRect l="-1122500" t="-105882" r="-195000" b="-17647"/>
                          </a:stretch>
                        </a:blipFill>
                      </a:tcPr>
                    </a:tc>
                    <a:tc>
                      <a:txBody>
                        <a:bodyPr/>
                        <a:lstStyle/>
                        <a:p>
                          <a:endParaRPr lang="en-US"/>
                        </a:p>
                      </a:txBody>
                      <a:tcPr marL="68580" marR="68580" marT="0" marB="0" anchor="ctr">
                        <a:blipFill>
                          <a:blip r:embed="rId4"/>
                          <a:stretch>
                            <a:fillRect l="-1192683" t="-105882" r="-90244" b="-17647"/>
                          </a:stretch>
                        </a:blipFill>
                      </a:tcPr>
                    </a:tc>
                    <a:tc>
                      <a:txBody>
                        <a:bodyPr/>
                        <a:lstStyle/>
                        <a:p>
                          <a:endParaRPr lang="en-US"/>
                        </a:p>
                      </a:txBody>
                      <a:tcPr marL="68580" marR="68580" marT="0" marB="0" anchor="ctr">
                        <a:blipFill>
                          <a:blip r:embed="rId4"/>
                          <a:stretch>
                            <a:fillRect l="-1472222" t="-105882" r="-2778" b="-17647"/>
                          </a:stretch>
                        </a:blipFill>
                      </a:tcPr>
                    </a:tc>
                    <a:extLst>
                      <a:ext uri="{0D108BD9-81ED-4DB2-BD59-A6C34878D82A}">
                        <a16:rowId xmlns:a16="http://schemas.microsoft.com/office/drawing/2014/main" val="1388975753"/>
                      </a:ext>
                    </a:extLst>
                  </a:tr>
                </a:tbl>
              </a:graphicData>
            </a:graphic>
          </p:graphicFrame>
        </mc:Fallback>
      </mc:AlternateContent>
      <p:pic>
        <p:nvPicPr>
          <p:cNvPr id="7" name="image13.png" descr="Chart&#10;&#10;Description automatically generated">
            <a:extLst>
              <a:ext uri="{FF2B5EF4-FFF2-40B4-BE49-F238E27FC236}">
                <a16:creationId xmlns:a16="http://schemas.microsoft.com/office/drawing/2014/main" xmlns="" id="{5511E506-8BC2-9749-9024-62638E32037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2336126" y="2889280"/>
            <a:ext cx="3534181" cy="3534181"/>
          </a:xfrm>
          <a:prstGeom prst="rect">
            <a:avLst/>
          </a:prstGeom>
          <a:ln/>
        </p:spPr>
      </p:pic>
      <p:graphicFrame>
        <p:nvGraphicFramePr>
          <p:cNvPr id="4" name="Table 3">
            <a:extLst>
              <a:ext uri="{FF2B5EF4-FFF2-40B4-BE49-F238E27FC236}">
                <a16:creationId xmlns:a16="http://schemas.microsoft.com/office/drawing/2014/main" xmlns="" id="{C55E11A6-6866-6E48-960D-867EA5DEA551}"/>
              </a:ext>
            </a:extLst>
          </p:cNvPr>
          <p:cNvGraphicFramePr>
            <a:graphicFrameLocks noGrp="1"/>
          </p:cNvGraphicFramePr>
          <p:nvPr>
            <p:extLst>
              <p:ext uri="{D42A27DB-BD31-4B8C-83A1-F6EECF244321}">
                <p14:modId xmlns:p14="http://schemas.microsoft.com/office/powerpoint/2010/main" val="3357773206"/>
              </p:ext>
            </p:extLst>
          </p:nvPr>
        </p:nvGraphicFramePr>
        <p:xfrm>
          <a:off x="2947836" y="2416865"/>
          <a:ext cx="2204537" cy="326136"/>
        </p:xfrm>
        <a:graphic>
          <a:graphicData uri="http://schemas.openxmlformats.org/drawingml/2006/table">
            <a:tbl>
              <a:tblPr bandRow="1">
                <a:tableStyleId>{A91F0D33-8C57-4600-99A7-42BC86742BE1}</a:tableStyleId>
              </a:tblPr>
              <a:tblGrid>
                <a:gridCol w="2204537">
                  <a:extLst>
                    <a:ext uri="{9D8B030D-6E8A-4147-A177-3AD203B41FA5}">
                      <a16:colId xmlns:a16="http://schemas.microsoft.com/office/drawing/2014/main" xmlns="" val="1432640891"/>
                    </a:ext>
                  </a:extLst>
                </a:gridCol>
              </a:tblGrid>
              <a:tr h="307777">
                <a:tc>
                  <a:txBody>
                    <a:bodyPr/>
                    <a:lstStyle/>
                    <a:p>
                      <a:pPr marL="0" marR="0" algn="ctr">
                        <a:lnSpc>
                          <a:spcPct val="107000"/>
                        </a:lnSpc>
                        <a:spcBef>
                          <a:spcPts val="0"/>
                        </a:spcBef>
                        <a:spcAft>
                          <a:spcPts val="0"/>
                        </a:spcAft>
                      </a:pPr>
                      <a:r>
                        <a:rPr lang="en-US" sz="2000" b="1" u="sng" dirty="0">
                          <a:effectLst/>
                          <a:latin typeface="Verdana" panose="020B0604030504040204" pitchFamily="34" charset="0"/>
                          <a:ea typeface="Verdana" panose="020B0604030504040204" pitchFamily="34" charset="0"/>
                          <a:cs typeface="Verdana" panose="020B0604030504040204" pitchFamily="34" charset="0"/>
                        </a:rPr>
                        <a:t>Graph A</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3992273962"/>
                  </a:ext>
                </a:extLst>
              </a:tr>
            </a:tbl>
          </a:graphicData>
        </a:graphic>
      </p:graphicFrame>
      <p:pic>
        <p:nvPicPr>
          <p:cNvPr id="11" name="image4.png" descr="Chart, scatter chart&#10;&#10;Description automatically generated">
            <a:extLst>
              <a:ext uri="{FF2B5EF4-FFF2-40B4-BE49-F238E27FC236}">
                <a16:creationId xmlns:a16="http://schemas.microsoft.com/office/drawing/2014/main" xmlns="" id="{2196DBA3-FE72-B94B-B0C5-D5FCC50014BF}"/>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321697" y="2889280"/>
            <a:ext cx="3534179" cy="3534179"/>
          </a:xfrm>
          <a:prstGeom prst="rect">
            <a:avLst/>
          </a:prstGeom>
          <a:ln/>
        </p:spPr>
      </p:pic>
      <p:graphicFrame>
        <p:nvGraphicFramePr>
          <p:cNvPr id="13" name="Table 12">
            <a:extLst>
              <a:ext uri="{FF2B5EF4-FFF2-40B4-BE49-F238E27FC236}">
                <a16:creationId xmlns:a16="http://schemas.microsoft.com/office/drawing/2014/main" xmlns="" id="{4C4F52C6-BFC5-984C-81E6-22409E7F5D26}"/>
              </a:ext>
            </a:extLst>
          </p:cNvPr>
          <p:cNvGraphicFramePr>
            <a:graphicFrameLocks noGrp="1"/>
          </p:cNvGraphicFramePr>
          <p:nvPr>
            <p:extLst>
              <p:ext uri="{D42A27DB-BD31-4B8C-83A1-F6EECF244321}">
                <p14:modId xmlns:p14="http://schemas.microsoft.com/office/powerpoint/2010/main" val="2676361068"/>
              </p:ext>
            </p:extLst>
          </p:nvPr>
        </p:nvGraphicFramePr>
        <p:xfrm>
          <a:off x="7039631" y="2416865"/>
          <a:ext cx="2204537" cy="326136"/>
        </p:xfrm>
        <a:graphic>
          <a:graphicData uri="http://schemas.openxmlformats.org/drawingml/2006/table">
            <a:tbl>
              <a:tblPr bandRow="1">
                <a:tableStyleId>{A91F0D33-8C57-4600-99A7-42BC86742BE1}</a:tableStyleId>
              </a:tblPr>
              <a:tblGrid>
                <a:gridCol w="2204537">
                  <a:extLst>
                    <a:ext uri="{9D8B030D-6E8A-4147-A177-3AD203B41FA5}">
                      <a16:colId xmlns:a16="http://schemas.microsoft.com/office/drawing/2014/main" xmlns="" val="1432640891"/>
                    </a:ext>
                  </a:extLst>
                </a:gridCol>
              </a:tblGrid>
              <a:tr h="307777">
                <a:tc>
                  <a:txBody>
                    <a:bodyPr/>
                    <a:lstStyle/>
                    <a:p>
                      <a:pPr marL="0" marR="0" algn="ctr">
                        <a:lnSpc>
                          <a:spcPct val="107000"/>
                        </a:lnSpc>
                        <a:spcBef>
                          <a:spcPts val="0"/>
                        </a:spcBef>
                        <a:spcAft>
                          <a:spcPts val="0"/>
                        </a:spcAft>
                      </a:pPr>
                      <a:r>
                        <a:rPr lang="en-US" sz="2000" b="1" u="sng" dirty="0">
                          <a:effectLst/>
                          <a:latin typeface="Verdana" panose="020B0604030504040204" pitchFamily="34" charset="0"/>
                          <a:ea typeface="Verdana" panose="020B0604030504040204" pitchFamily="34" charset="0"/>
                          <a:cs typeface="Verdana" panose="020B0604030504040204" pitchFamily="34" charset="0"/>
                        </a:rPr>
                        <a:t>Graph B</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3992273962"/>
                  </a:ext>
                </a:extLst>
              </a:tr>
            </a:tbl>
          </a:graphicData>
        </a:graphic>
      </p:graphicFrame>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216</a:t>
            </a:r>
          </a:p>
        </p:txBody>
      </p:sp>
      <p:graphicFrame>
        <p:nvGraphicFramePr>
          <p:cNvPr id="22" name="Table 21">
            <a:extLst>
              <a:ext uri="{FF2B5EF4-FFF2-40B4-BE49-F238E27FC236}">
                <a16:creationId xmlns:a16="http://schemas.microsoft.com/office/drawing/2014/main" xmlns="" id="{61AEB1E2-184B-E14F-893C-E6885FCCB9E5}"/>
              </a:ext>
            </a:extLst>
          </p:cNvPr>
          <p:cNvGraphicFramePr>
            <a:graphicFrameLocks noGrp="1"/>
          </p:cNvGraphicFramePr>
          <p:nvPr>
            <p:extLst>
              <p:ext uri="{D42A27DB-BD31-4B8C-83A1-F6EECF244321}">
                <p14:modId xmlns:p14="http://schemas.microsoft.com/office/powerpoint/2010/main" val="3978453663"/>
              </p:ext>
            </p:extLst>
          </p:nvPr>
        </p:nvGraphicFramePr>
        <p:xfrm>
          <a:off x="4993727" y="1024364"/>
          <a:ext cx="2204537" cy="326136"/>
        </p:xfrm>
        <a:graphic>
          <a:graphicData uri="http://schemas.openxmlformats.org/drawingml/2006/table">
            <a:tbl>
              <a:tblPr bandRow="1">
                <a:tableStyleId>{A91F0D33-8C57-4600-99A7-42BC86742BE1}</a:tableStyleId>
              </a:tblPr>
              <a:tblGrid>
                <a:gridCol w="2204537">
                  <a:extLst>
                    <a:ext uri="{9D8B030D-6E8A-4147-A177-3AD203B41FA5}">
                      <a16:colId xmlns:a16="http://schemas.microsoft.com/office/drawing/2014/main" xmlns="" val="1432640891"/>
                    </a:ext>
                  </a:extLst>
                </a:gridCol>
              </a:tblGrid>
              <a:tr h="307777">
                <a:tc>
                  <a:txBody>
                    <a:bodyPr/>
                    <a:lstStyle/>
                    <a:p>
                      <a:pPr marL="0" marR="0" algn="ctr">
                        <a:lnSpc>
                          <a:spcPct val="107000"/>
                        </a:lnSpc>
                        <a:spcBef>
                          <a:spcPts val="0"/>
                        </a:spcBef>
                        <a:spcAft>
                          <a:spcPts val="0"/>
                        </a:spcAft>
                      </a:pPr>
                      <a:r>
                        <a:rPr lang="en-US" sz="2000" b="1" u="sng" dirty="0">
                          <a:effectLst/>
                          <a:latin typeface="Verdana" panose="020B0604030504040204" pitchFamily="34" charset="0"/>
                          <a:ea typeface="Verdana" panose="020B0604030504040204" pitchFamily="34" charset="0"/>
                          <a:cs typeface="Verdana" panose="020B0604030504040204" pitchFamily="34" charset="0"/>
                        </a:rPr>
                        <a:t>Graph C</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3992273962"/>
                  </a:ext>
                </a:extLst>
              </a:tr>
            </a:tbl>
          </a:graphicData>
        </a:graphic>
      </p:graphicFrame>
      <p:pic>
        <p:nvPicPr>
          <p:cNvPr id="40" name="image15.png" descr="Chart, scatter chart&#10;&#10;Description automatically generated">
            <a:extLst>
              <a:ext uri="{FF2B5EF4-FFF2-40B4-BE49-F238E27FC236}">
                <a16:creationId xmlns:a16="http://schemas.microsoft.com/office/drawing/2014/main" xmlns="" id="{8B6B6670-D9ED-C246-9205-5083D20C2FAC}"/>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328907" y="1661910"/>
            <a:ext cx="3534179" cy="3534179"/>
          </a:xfrm>
          <a:prstGeom prst="rect">
            <a:avLst/>
          </a:prstGeom>
          <a:ln/>
        </p:spPr>
      </p:pic>
    </p:spTree>
    <p:extLst>
      <p:ext uri="{BB962C8B-B14F-4D97-AF65-F5344CB8AC3E}">
        <p14:creationId xmlns:p14="http://schemas.microsoft.com/office/powerpoint/2010/main" val="1878716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Google Shape;282;g104476d1465_1_17">
            <a:extLst>
              <a:ext uri="{FF2B5EF4-FFF2-40B4-BE49-F238E27FC236}">
                <a16:creationId xmlns:a16="http://schemas.microsoft.com/office/drawing/2014/main" xmlns="" id="{18C12131-BC14-6948-AAB3-544BEA5F65A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216</a:t>
            </a:r>
          </a:p>
        </p:txBody>
      </p:sp>
    </p:spTree>
    <p:extLst>
      <p:ext uri="{BB962C8B-B14F-4D97-AF65-F5344CB8AC3E}">
        <p14:creationId xmlns:p14="http://schemas.microsoft.com/office/powerpoint/2010/main" val="356078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5.3.2 Collaboration: Plotting Points with a Decimal Scale</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731520" y="1386026"/>
            <a:ext cx="8327136" cy="461665"/>
          </a:xfrm>
          <a:prstGeom prst="rect">
            <a:avLst/>
          </a:prstGeom>
          <a:noFill/>
        </p:spPr>
        <p:txBody>
          <a:bodyPr wrap="square" rtlCol="0">
            <a:spAutoFit/>
          </a:bodyPr>
          <a:lstStyle/>
          <a:p>
            <a:pPr marL="460375" indent="-460375">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coordinate plane is shown. </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pic>
        <p:nvPicPr>
          <p:cNvPr id="11" name="image8.png" descr="Chart, scatter chart&#10;&#10;Description automatically generated">
            <a:extLst>
              <a:ext uri="{FF2B5EF4-FFF2-40B4-BE49-F238E27FC236}">
                <a16:creationId xmlns:a16="http://schemas.microsoft.com/office/drawing/2014/main" xmlns="" id="{52A20F25-4E20-C94C-B868-39569990F1F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635525" y="2016461"/>
            <a:ext cx="4920950" cy="4272443"/>
          </a:xfrm>
          <a:prstGeom prst="rect">
            <a:avLst/>
          </a:prstGeom>
          <a:ln/>
        </p:spPr>
      </p:pic>
      <p:sp>
        <p:nvSpPr>
          <p:cNvPr id="13" name="Google Shape;282;g104476d1465_1_17">
            <a:extLst>
              <a:ext uri="{FF2B5EF4-FFF2-40B4-BE49-F238E27FC236}">
                <a16:creationId xmlns:a16="http://schemas.microsoft.com/office/drawing/2014/main" xmlns="" id="{8B6B7209-C38F-5749-A578-897EEB9AFA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216</a:t>
            </a:r>
          </a:p>
        </p:txBody>
      </p:sp>
    </p:spTree>
    <p:extLst>
      <p:ext uri="{BB962C8B-B14F-4D97-AF65-F5344CB8AC3E}">
        <p14:creationId xmlns:p14="http://schemas.microsoft.com/office/powerpoint/2010/main" val="167443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111600" y="642314"/>
            <a:ext cx="11745120" cy="2554545"/>
          </a:xfrm>
          <a:prstGeom prst="rect">
            <a:avLst/>
          </a:prstGeom>
          <a:noFill/>
        </p:spPr>
        <p:txBody>
          <a:bodyPr wrap="square" rtlCol="0">
            <a:spAutoFit/>
          </a:bodyPr>
          <a:lstStyle/>
          <a:p>
            <a:pPr marL="809625" indent="-3968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Working with your partner, describe the scale that is being used for each axis.</a:t>
            </a:r>
          </a:p>
          <a:p>
            <a:pPr marL="809625" indent="-3968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09625" indent="-3968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Locate each point on the coordinate plane and label it with the appropriate letter.</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11B6E7FE-F882-954F-86B3-5DB6F6BFE415}"/>
                  </a:ext>
                </a:extLst>
              </p:cNvPr>
              <p:cNvGraphicFramePr>
                <a:graphicFrameLocks noGrp="1"/>
              </p:cNvGraphicFramePr>
              <p:nvPr>
                <p:extLst>
                  <p:ext uri="{D42A27DB-BD31-4B8C-83A1-F6EECF244321}">
                    <p14:modId xmlns:p14="http://schemas.microsoft.com/office/powerpoint/2010/main" val="2739557084"/>
                  </p:ext>
                </p:extLst>
              </p:nvPr>
            </p:nvGraphicFramePr>
            <p:xfrm>
              <a:off x="3362325" y="3661142"/>
              <a:ext cx="5467350" cy="1733550"/>
            </p:xfrm>
            <a:graphic>
              <a:graphicData uri="http://schemas.openxmlformats.org/drawingml/2006/table">
                <a:tbl>
                  <a:tblPr bandRow="1">
                    <a:tableStyleId>{A91F0D33-8C57-4600-99A7-42BC86742BE1}</a:tableStyleId>
                  </a:tblPr>
                  <a:tblGrid>
                    <a:gridCol w="1366520">
                      <a:extLst>
                        <a:ext uri="{9D8B030D-6E8A-4147-A177-3AD203B41FA5}">
                          <a16:colId xmlns:a16="http://schemas.microsoft.com/office/drawing/2014/main" xmlns="" val="3954026495"/>
                        </a:ext>
                      </a:extLst>
                    </a:gridCol>
                    <a:gridCol w="1367155">
                      <a:extLst>
                        <a:ext uri="{9D8B030D-6E8A-4147-A177-3AD203B41FA5}">
                          <a16:colId xmlns:a16="http://schemas.microsoft.com/office/drawing/2014/main" xmlns="" val="3244888220"/>
                        </a:ext>
                      </a:extLst>
                    </a:gridCol>
                    <a:gridCol w="1366520">
                      <a:extLst>
                        <a:ext uri="{9D8B030D-6E8A-4147-A177-3AD203B41FA5}">
                          <a16:colId xmlns:a16="http://schemas.microsoft.com/office/drawing/2014/main" xmlns="" val="137178168"/>
                        </a:ext>
                      </a:extLst>
                    </a:gridCol>
                    <a:gridCol w="1367155">
                      <a:extLst>
                        <a:ext uri="{9D8B030D-6E8A-4147-A177-3AD203B41FA5}">
                          <a16:colId xmlns:a16="http://schemas.microsoft.com/office/drawing/2014/main" xmlns="" val="4072999153"/>
                        </a:ext>
                      </a:extLst>
                    </a:gridCol>
                  </a:tblGrid>
                  <a:tr h="86677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𝐺</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4.2, 2.5</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𝐵</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−1.9, 4.4</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𝐹</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0, −</m:t>
                                  </m:r>
                                  <m:r>
                                    <a:rPr lang="en-US" sz="2000">
                                      <a:effectLst/>
                                      <a:latin typeface="Cambria Math" panose="02040503050406030204" pitchFamily="18" charset="0"/>
                                      <a:ea typeface="Cambria Math" panose="02040503050406030204" pitchFamily="18" charset="0"/>
                                    </a:rPr>
                                    <m:t>0.6</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row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𝑊</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3.5</m:t>
                                  </m:r>
                                  <m:r>
                                    <a:rPr lang="en-US" sz="2000">
                                      <a:effectLst/>
                                      <a:latin typeface="Cambria Math" panose="02040503050406030204" pitchFamily="18" charset="0"/>
                                    </a:rPr>
                                    <m:t>, −0.2</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960155994"/>
                      </a:ext>
                    </a:extLst>
                  </a:tr>
                  <a:tr h="86677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𝐸</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(−0.6, 0)</m:t>
                              </m:r>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𝐴</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2.5, 4.2</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𝑀</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(2.5, −4.2)</m:t>
                              </m:r>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vMerge="1">
                      <a:txBody>
                        <a:bodyPr/>
                        <a:lstStyle/>
                        <a:p>
                          <a:endParaRPr lang="en-US"/>
                        </a:p>
                      </a:txBody>
                      <a:tcPr/>
                    </a:tc>
                    <a:extLst>
                      <a:ext uri="{0D108BD9-81ED-4DB2-BD59-A6C34878D82A}">
                        <a16:rowId xmlns:a16="http://schemas.microsoft.com/office/drawing/2014/main" xmlns="" val="1769052312"/>
                      </a:ext>
                    </a:extLst>
                  </a:tr>
                </a:tbl>
              </a:graphicData>
            </a:graphic>
          </p:graphicFrame>
        </mc:Choice>
        <mc:Fallback xmlns="">
          <p:graphicFrame>
            <p:nvGraphicFramePr>
              <p:cNvPr id="2" name="Table 1">
                <a:extLst>
                  <a:ext uri="{FF2B5EF4-FFF2-40B4-BE49-F238E27FC236}">
                    <a16:creationId xmlns:a16="http://schemas.microsoft.com/office/drawing/2014/main" id="{11B6E7FE-F882-954F-86B3-5DB6F6BFE415}"/>
                  </a:ext>
                </a:extLst>
              </p:cNvPr>
              <p:cNvGraphicFramePr>
                <a:graphicFrameLocks noGrp="1"/>
              </p:cNvGraphicFramePr>
              <p:nvPr>
                <p:extLst>
                  <p:ext uri="{D42A27DB-BD31-4B8C-83A1-F6EECF244321}">
                    <p14:modId xmlns:p14="http://schemas.microsoft.com/office/powerpoint/2010/main" val="2739557084"/>
                  </p:ext>
                </p:extLst>
              </p:nvPr>
            </p:nvGraphicFramePr>
            <p:xfrm>
              <a:off x="3362325" y="3661142"/>
              <a:ext cx="5467350" cy="1733550"/>
            </p:xfrm>
            <a:graphic>
              <a:graphicData uri="http://schemas.openxmlformats.org/drawingml/2006/table">
                <a:tbl>
                  <a:tblPr bandRow="1">
                    <a:tableStyleId>{A91F0D33-8C57-4600-99A7-42BC86742BE1}</a:tableStyleId>
                  </a:tblPr>
                  <a:tblGrid>
                    <a:gridCol w="1366520">
                      <a:extLst>
                        <a:ext uri="{9D8B030D-6E8A-4147-A177-3AD203B41FA5}">
                          <a16:colId xmlns:a16="http://schemas.microsoft.com/office/drawing/2014/main" val="3954026495"/>
                        </a:ext>
                      </a:extLst>
                    </a:gridCol>
                    <a:gridCol w="1367155">
                      <a:extLst>
                        <a:ext uri="{9D8B030D-6E8A-4147-A177-3AD203B41FA5}">
                          <a16:colId xmlns:a16="http://schemas.microsoft.com/office/drawing/2014/main" val="3244888220"/>
                        </a:ext>
                      </a:extLst>
                    </a:gridCol>
                    <a:gridCol w="1366520">
                      <a:extLst>
                        <a:ext uri="{9D8B030D-6E8A-4147-A177-3AD203B41FA5}">
                          <a16:colId xmlns:a16="http://schemas.microsoft.com/office/drawing/2014/main" val="137178168"/>
                        </a:ext>
                      </a:extLst>
                    </a:gridCol>
                    <a:gridCol w="1367155">
                      <a:extLst>
                        <a:ext uri="{9D8B030D-6E8A-4147-A177-3AD203B41FA5}">
                          <a16:colId xmlns:a16="http://schemas.microsoft.com/office/drawing/2014/main" val="4072999153"/>
                        </a:ext>
                      </a:extLst>
                    </a:gridCol>
                  </a:tblGrid>
                  <a:tr h="866775">
                    <a:tc>
                      <a:txBody>
                        <a:bodyPr/>
                        <a:lstStyle/>
                        <a:p>
                          <a:endParaRPr lang="en-US"/>
                        </a:p>
                      </a:txBody>
                      <a:tcPr marL="68580" marR="68580" marT="0" marB="0" anchor="ctr">
                        <a:blipFill>
                          <a:blip r:embed="rId4"/>
                          <a:stretch>
                            <a:fillRect t="-1449" r="-300000" b="-100000"/>
                          </a:stretch>
                        </a:blipFill>
                      </a:tcPr>
                    </a:tc>
                    <a:tc>
                      <a:txBody>
                        <a:bodyPr/>
                        <a:lstStyle/>
                        <a:p>
                          <a:endParaRPr lang="en-US"/>
                        </a:p>
                      </a:txBody>
                      <a:tcPr marL="68580" marR="68580" marT="0" marB="0" anchor="ctr">
                        <a:blipFill>
                          <a:blip r:embed="rId4"/>
                          <a:stretch>
                            <a:fillRect l="-100000" t="-1449" r="-200000" b="-100000"/>
                          </a:stretch>
                        </a:blipFill>
                      </a:tcPr>
                    </a:tc>
                    <a:tc>
                      <a:txBody>
                        <a:bodyPr/>
                        <a:lstStyle/>
                        <a:p>
                          <a:endParaRPr lang="en-US"/>
                        </a:p>
                      </a:txBody>
                      <a:tcPr marL="68580" marR="68580" marT="0" marB="0" anchor="ctr">
                        <a:blipFill>
                          <a:blip r:embed="rId4"/>
                          <a:stretch>
                            <a:fillRect l="-200000" t="-1449" r="-100000" b="-100000"/>
                          </a:stretch>
                        </a:blipFill>
                      </a:tcPr>
                    </a:tc>
                    <a:tc rowSpan="2">
                      <a:txBody>
                        <a:bodyPr/>
                        <a:lstStyle/>
                        <a:p>
                          <a:endParaRPr lang="en-US"/>
                        </a:p>
                      </a:txBody>
                      <a:tcPr marL="68580" marR="68580" marT="0" marB="0" anchor="ctr">
                        <a:blipFill>
                          <a:blip r:embed="rId4"/>
                          <a:stretch>
                            <a:fillRect l="-300000" t="-730" b="-730"/>
                          </a:stretch>
                        </a:blipFill>
                      </a:tcPr>
                    </a:tc>
                    <a:extLst>
                      <a:ext uri="{0D108BD9-81ED-4DB2-BD59-A6C34878D82A}">
                        <a16:rowId xmlns:a16="http://schemas.microsoft.com/office/drawing/2014/main" val="960155994"/>
                      </a:ext>
                    </a:extLst>
                  </a:tr>
                  <a:tr h="866775">
                    <a:tc>
                      <a:txBody>
                        <a:bodyPr/>
                        <a:lstStyle/>
                        <a:p>
                          <a:endParaRPr lang="en-US"/>
                        </a:p>
                      </a:txBody>
                      <a:tcPr marL="68580" marR="68580" marT="0" marB="0" anchor="ctr">
                        <a:blipFill>
                          <a:blip r:embed="rId4"/>
                          <a:stretch>
                            <a:fillRect t="-102941" r="-300000" b="-1471"/>
                          </a:stretch>
                        </a:blipFill>
                      </a:tcPr>
                    </a:tc>
                    <a:tc>
                      <a:txBody>
                        <a:bodyPr/>
                        <a:lstStyle/>
                        <a:p>
                          <a:endParaRPr lang="en-US"/>
                        </a:p>
                      </a:txBody>
                      <a:tcPr marL="68580" marR="68580" marT="0" marB="0" anchor="ctr">
                        <a:blipFill>
                          <a:blip r:embed="rId4"/>
                          <a:stretch>
                            <a:fillRect l="-100000" t="-102941" r="-200000" b="-1471"/>
                          </a:stretch>
                        </a:blipFill>
                      </a:tcPr>
                    </a:tc>
                    <a:tc>
                      <a:txBody>
                        <a:bodyPr/>
                        <a:lstStyle/>
                        <a:p>
                          <a:endParaRPr lang="en-US"/>
                        </a:p>
                      </a:txBody>
                      <a:tcPr marL="68580" marR="68580" marT="0" marB="0" anchor="ctr">
                        <a:blipFill>
                          <a:blip r:embed="rId4"/>
                          <a:stretch>
                            <a:fillRect l="-200000" t="-102941" r="-100000" b="-1471"/>
                          </a:stretch>
                        </a:blipFill>
                      </a:tcPr>
                    </a:tc>
                    <a:tc vMerge="1">
                      <a:txBody>
                        <a:bodyPr/>
                        <a:lstStyle/>
                        <a:p>
                          <a:endParaRPr lang="en-US"/>
                        </a:p>
                      </a:txBody>
                      <a:tcPr/>
                    </a:tc>
                    <a:extLst>
                      <a:ext uri="{0D108BD9-81ED-4DB2-BD59-A6C34878D82A}">
                        <a16:rowId xmlns:a16="http://schemas.microsoft.com/office/drawing/2014/main" val="1769052312"/>
                      </a:ext>
                    </a:extLst>
                  </a:tr>
                </a:tbl>
              </a:graphicData>
            </a:graphic>
          </p:graphicFrame>
        </mc:Fallback>
      </mc:AlternateContent>
      <p:sp>
        <p:nvSpPr>
          <p:cNvPr id="8" name="Google Shape;282;g104476d1465_1_17">
            <a:extLst>
              <a:ext uri="{FF2B5EF4-FFF2-40B4-BE49-F238E27FC236}">
                <a16:creationId xmlns:a16="http://schemas.microsoft.com/office/drawing/2014/main" xmlns="" id="{837B4AE1-7515-CB44-93A8-6A0842315B6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216</a:t>
            </a:r>
          </a:p>
        </p:txBody>
      </p:sp>
    </p:spTree>
    <p:extLst>
      <p:ext uri="{BB962C8B-B14F-4D97-AF65-F5344CB8AC3E}">
        <p14:creationId xmlns:p14="http://schemas.microsoft.com/office/powerpoint/2010/main" val="491624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217</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12644" y="464082"/>
            <a:ext cx="11220555"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Working with your partner, plot and label the points using the given letters on the grid.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xmlns="" id="{EA6130EA-F6E7-A04C-89D3-38EFB286B3BE}"/>
                  </a:ext>
                </a:extLst>
              </p:cNvPr>
              <p:cNvGraphicFramePr>
                <a:graphicFrameLocks noGrp="1"/>
              </p:cNvGraphicFramePr>
              <p:nvPr>
                <p:extLst>
                  <p:ext uri="{D42A27DB-BD31-4B8C-83A1-F6EECF244321}">
                    <p14:modId xmlns:p14="http://schemas.microsoft.com/office/powerpoint/2010/main" val="2445310992"/>
                  </p:ext>
                </p:extLst>
              </p:nvPr>
            </p:nvGraphicFramePr>
            <p:xfrm>
              <a:off x="7314751" y="1044884"/>
              <a:ext cx="2503018" cy="2178558"/>
            </p:xfrm>
            <a:graphic>
              <a:graphicData uri="http://schemas.openxmlformats.org/drawingml/2006/table">
                <a:tbl>
                  <a:tblPr bandRow="1">
                    <a:tableStyleId>{A91F0D33-8C57-4600-99A7-42BC86742BE1}</a:tableStyleId>
                  </a:tblPr>
                  <a:tblGrid>
                    <a:gridCol w="1251220">
                      <a:extLst>
                        <a:ext uri="{9D8B030D-6E8A-4147-A177-3AD203B41FA5}">
                          <a16:colId xmlns:a16="http://schemas.microsoft.com/office/drawing/2014/main" xmlns="" val="1723027049"/>
                        </a:ext>
                      </a:extLst>
                    </a:gridCol>
                    <a:gridCol w="1251798">
                      <a:extLst>
                        <a:ext uri="{9D8B030D-6E8A-4147-A177-3AD203B41FA5}">
                          <a16:colId xmlns:a16="http://schemas.microsoft.com/office/drawing/2014/main" xmlns="" val="688847752"/>
                        </a:ext>
                      </a:extLst>
                    </a:gridCol>
                  </a:tblGrid>
                  <a:tr h="108927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𝐿</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b="0" i="0" smtClean="0">
                                      <a:effectLst/>
                                      <a:latin typeface="Cambria Math" panose="02040503050406030204" pitchFamily="18" charset="0"/>
                                    </a:rPr>
                                    <m:t>1.5, 2</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𝐵</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b="0" i="0" smtClean="0">
                                      <a:effectLst/>
                                      <a:latin typeface="Cambria Math" panose="02040503050406030204" pitchFamily="18" charset="0"/>
                                    </a:rPr>
                                    <m:t>3.</m:t>
                                  </m:r>
                                  <m:r>
                                    <a:rPr lang="en-US" sz="2000">
                                      <a:effectLst/>
                                      <a:latin typeface="Cambria Math" panose="02040503050406030204" pitchFamily="18" charset="0"/>
                                    </a:rPr>
                                    <m:t>9</m:t>
                                  </m:r>
                                  <m:r>
                                    <a:rPr lang="en-US" sz="2000" b="0" i="0" smtClean="0">
                                      <a:effectLst/>
                                      <a:latin typeface="Cambria Math" panose="02040503050406030204" pitchFamily="18" charset="0"/>
                                    </a:rPr>
                                    <m:t>, −4.5</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4190130725"/>
                      </a:ext>
                    </a:extLst>
                  </a:tr>
                  <a:tr h="108927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𝐾</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m:t>
                              </m:r>
                              <m:r>
                                <a:rPr lang="en-US" sz="2000" b="0" i="0" smtClean="0">
                                  <a:effectLst/>
                                  <a:latin typeface="Cambria Math" panose="02040503050406030204" pitchFamily="18" charset="0"/>
                                </a:rPr>
                                <m:t>2.8</m:t>
                              </m:r>
                              <m:r>
                                <a:rPr lang="en-US" sz="2000">
                                  <a:effectLst/>
                                  <a:latin typeface="Cambria Math" panose="02040503050406030204" pitchFamily="18" charset="0"/>
                                </a:rPr>
                                <m:t>, </m:t>
                              </m:r>
                              <m:r>
                                <a:rPr lang="en-US" sz="2000" b="0" i="0" smtClean="0">
                                  <a:effectLst/>
                                  <a:latin typeface="Cambria Math" panose="02040503050406030204" pitchFamily="18" charset="0"/>
                                </a:rPr>
                                <m:t>5.7</m:t>
                              </m:r>
                              <m:r>
                                <a:rPr lang="en-US" sz="2000">
                                  <a:effectLst/>
                                  <a:latin typeface="Cambria Math" panose="02040503050406030204" pitchFamily="18" charset="0"/>
                                </a:rPr>
                                <m:t>)</m:t>
                              </m:r>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𝑆</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b="0" i="0" smtClean="0">
                                      <a:effectLst/>
                                      <a:latin typeface="Cambria Math" panose="02040503050406030204" pitchFamily="18" charset="0"/>
                                    </a:rPr>
                                    <m:t>−0.8, 0</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3678831264"/>
                      </a:ext>
                    </a:extLst>
                  </a:tr>
                </a:tbl>
              </a:graphicData>
            </a:graphic>
          </p:graphicFrame>
        </mc:Choice>
        <mc:Fallback xmlns="">
          <p:graphicFrame>
            <p:nvGraphicFramePr>
              <p:cNvPr id="11" name="Table 10">
                <a:extLst>
                  <a:ext uri="{FF2B5EF4-FFF2-40B4-BE49-F238E27FC236}">
                    <a16:creationId xmlns:a16="http://schemas.microsoft.com/office/drawing/2014/main" id="{EA6130EA-F6E7-A04C-89D3-38EFB286B3BE}"/>
                  </a:ext>
                </a:extLst>
              </p:cNvPr>
              <p:cNvGraphicFramePr>
                <a:graphicFrameLocks noGrp="1"/>
              </p:cNvGraphicFramePr>
              <p:nvPr>
                <p:extLst>
                  <p:ext uri="{D42A27DB-BD31-4B8C-83A1-F6EECF244321}">
                    <p14:modId xmlns:p14="http://schemas.microsoft.com/office/powerpoint/2010/main" val="2445310992"/>
                  </p:ext>
                </p:extLst>
              </p:nvPr>
            </p:nvGraphicFramePr>
            <p:xfrm>
              <a:off x="7314751" y="1044884"/>
              <a:ext cx="2503018" cy="2178558"/>
            </p:xfrm>
            <a:graphic>
              <a:graphicData uri="http://schemas.openxmlformats.org/drawingml/2006/table">
                <a:tbl>
                  <a:tblPr bandRow="1">
                    <a:tableStyleId>{A91F0D33-8C57-4600-99A7-42BC86742BE1}</a:tableStyleId>
                  </a:tblPr>
                  <a:tblGrid>
                    <a:gridCol w="1251220">
                      <a:extLst>
                        <a:ext uri="{9D8B030D-6E8A-4147-A177-3AD203B41FA5}">
                          <a16:colId xmlns:a16="http://schemas.microsoft.com/office/drawing/2014/main" val="1723027049"/>
                        </a:ext>
                      </a:extLst>
                    </a:gridCol>
                    <a:gridCol w="1251798">
                      <a:extLst>
                        <a:ext uri="{9D8B030D-6E8A-4147-A177-3AD203B41FA5}">
                          <a16:colId xmlns:a16="http://schemas.microsoft.com/office/drawing/2014/main" val="688847752"/>
                        </a:ext>
                      </a:extLst>
                    </a:gridCol>
                  </a:tblGrid>
                  <a:tr h="1089279">
                    <a:tc>
                      <a:txBody>
                        <a:bodyPr/>
                        <a:lstStyle/>
                        <a:p>
                          <a:endParaRPr lang="en-US"/>
                        </a:p>
                      </a:txBody>
                      <a:tcPr marL="68580" marR="68580" marT="0" marB="0" anchor="ctr">
                        <a:blipFill>
                          <a:blip r:embed="rId4"/>
                          <a:stretch>
                            <a:fillRect t="-1163" r="-102020" b="-101163"/>
                          </a:stretch>
                        </a:blipFill>
                      </a:tcPr>
                    </a:tc>
                    <a:tc>
                      <a:txBody>
                        <a:bodyPr/>
                        <a:lstStyle/>
                        <a:p>
                          <a:endParaRPr lang="en-US"/>
                        </a:p>
                      </a:txBody>
                      <a:tcPr marL="68580" marR="68580" marT="0" marB="0" anchor="ctr">
                        <a:blipFill>
                          <a:blip r:embed="rId4"/>
                          <a:stretch>
                            <a:fillRect l="-99000" t="-1163" r="-1000" b="-101163"/>
                          </a:stretch>
                        </a:blipFill>
                      </a:tcPr>
                    </a:tc>
                    <a:extLst>
                      <a:ext uri="{0D108BD9-81ED-4DB2-BD59-A6C34878D82A}">
                        <a16:rowId xmlns:a16="http://schemas.microsoft.com/office/drawing/2014/main" val="4190130725"/>
                      </a:ext>
                    </a:extLst>
                  </a:tr>
                  <a:tr h="1089279">
                    <a:tc>
                      <a:txBody>
                        <a:bodyPr/>
                        <a:lstStyle/>
                        <a:p>
                          <a:endParaRPr lang="en-US"/>
                        </a:p>
                      </a:txBody>
                      <a:tcPr marL="68580" marR="68580" marT="0" marB="0" anchor="ctr">
                        <a:blipFill>
                          <a:blip r:embed="rId4"/>
                          <a:stretch>
                            <a:fillRect t="-101163" r="-102020" b="-1163"/>
                          </a:stretch>
                        </a:blipFill>
                      </a:tcPr>
                    </a:tc>
                    <a:tc>
                      <a:txBody>
                        <a:bodyPr/>
                        <a:lstStyle/>
                        <a:p>
                          <a:endParaRPr lang="en-US"/>
                        </a:p>
                      </a:txBody>
                      <a:tcPr marL="68580" marR="68580" marT="0" marB="0" anchor="ctr">
                        <a:blipFill>
                          <a:blip r:embed="rId4"/>
                          <a:stretch>
                            <a:fillRect l="-99000" t="-101163" r="-1000" b="-1163"/>
                          </a:stretch>
                        </a:blipFill>
                      </a:tcPr>
                    </a:tc>
                    <a:extLst>
                      <a:ext uri="{0D108BD9-81ED-4DB2-BD59-A6C34878D82A}">
                        <a16:rowId xmlns:a16="http://schemas.microsoft.com/office/drawing/2014/main" val="3678831264"/>
                      </a:ext>
                    </a:extLst>
                  </a:tr>
                </a:tbl>
              </a:graphicData>
            </a:graphic>
          </p:graphicFrame>
        </mc:Fallback>
      </mc:AlternateContent>
      <p:pic>
        <p:nvPicPr>
          <p:cNvPr id="16" name="image14.png" descr="Chart, line chart, scatter chart&#10;&#10;Description automatically generated">
            <a:extLst>
              <a:ext uri="{FF2B5EF4-FFF2-40B4-BE49-F238E27FC236}">
                <a16:creationId xmlns:a16="http://schemas.microsoft.com/office/drawing/2014/main" xmlns="" id="{E5D277E1-400C-AD46-AB4C-209BF2822DA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2392780" y="1271578"/>
            <a:ext cx="4104723" cy="3903729"/>
          </a:xfrm>
          <a:prstGeom prst="rect">
            <a:avLst/>
          </a:prstGeom>
          <a:ln/>
        </p:spPr>
      </p:pic>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xmlns="" id="{D2A4E12C-C5AA-6847-8C34-5817F2AB5C6C}"/>
                  </a:ext>
                </a:extLst>
              </p:cNvPr>
              <p:cNvGraphicFramePr>
                <a:graphicFrameLocks noGrp="1"/>
              </p:cNvGraphicFramePr>
              <p:nvPr>
                <p:extLst>
                  <p:ext uri="{D42A27DB-BD31-4B8C-83A1-F6EECF244321}">
                    <p14:modId xmlns:p14="http://schemas.microsoft.com/office/powerpoint/2010/main" val="879518323"/>
                  </p:ext>
                </p:extLst>
              </p:nvPr>
            </p:nvGraphicFramePr>
            <p:xfrm>
              <a:off x="7304029" y="3227853"/>
              <a:ext cx="2513740" cy="2322716"/>
            </p:xfrm>
            <a:graphic>
              <a:graphicData uri="http://schemas.openxmlformats.org/drawingml/2006/table">
                <a:tbl>
                  <a:tblPr bandRow="1">
                    <a:tableStyleId>{A91F0D33-8C57-4600-99A7-42BC86742BE1}</a:tableStyleId>
                  </a:tblPr>
                  <a:tblGrid>
                    <a:gridCol w="1256579">
                      <a:extLst>
                        <a:ext uri="{9D8B030D-6E8A-4147-A177-3AD203B41FA5}">
                          <a16:colId xmlns:a16="http://schemas.microsoft.com/office/drawing/2014/main" xmlns="" val="3796908034"/>
                        </a:ext>
                      </a:extLst>
                    </a:gridCol>
                    <a:gridCol w="1257161">
                      <a:extLst>
                        <a:ext uri="{9D8B030D-6E8A-4147-A177-3AD203B41FA5}">
                          <a16:colId xmlns:a16="http://schemas.microsoft.com/office/drawing/2014/main" xmlns="" val="698734055"/>
                        </a:ext>
                      </a:extLst>
                    </a:gridCol>
                  </a:tblGrid>
                  <a:tr h="116135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𝐺</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b="0" i="0" smtClean="0">
                                      <a:effectLst/>
                                      <a:latin typeface="Cambria Math" panose="02040503050406030204" pitchFamily="18" charset="0"/>
                                    </a:rPr>
                                    <m:t>−5.5,</m:t>
                                  </m:r>
                                  <m:r>
                                    <a:rPr lang="en-US" sz="2000">
                                      <a:effectLst/>
                                      <a:latin typeface="Cambria Math" panose="02040503050406030204" pitchFamily="18" charset="0"/>
                                    </a:rPr>
                                    <m:t> </m:t>
                                  </m:r>
                                  <m:r>
                                    <a:rPr lang="en-US" sz="2000" b="0" i="1" smtClean="0">
                                      <a:effectLst/>
                                      <a:latin typeface="Cambria Math" panose="02040503050406030204" pitchFamily="18" charset="0"/>
                                    </a:rPr>
                                    <m:t>2.1</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a:effectLst/>
                                      <a:latin typeface="Cambria Math"/>
                                    </a:rPr>
                                  </m:ctrlPr>
                                </m:dPr>
                                <m:e>
                                  <m:r>
                                    <a:rPr lang="en-US" sz="2000" b="0" i="0" smtClean="0">
                                      <a:effectLst/>
                                      <a:latin typeface="Cambria Math" panose="02040503050406030204" pitchFamily="18" charset="0"/>
                                    </a:rPr>
                                    <m:t>0, 0.7</m:t>
                                  </m:r>
                                </m:e>
                              </m:d>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1581495396"/>
                      </a:ext>
                    </a:extLst>
                  </a:tr>
                  <a:tr h="116135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𝑁</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m:t>
                              </m:r>
                              <m:r>
                                <a:rPr lang="en-US" sz="2000" b="0" i="0" smtClean="0">
                                  <a:effectLst/>
                                  <a:latin typeface="Cambria Math" panose="02040503050406030204" pitchFamily="18" charset="0"/>
                                </a:rPr>
                                <m:t>−1, −3.4)</m:t>
                              </m:r>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lvl="0" indent="0" algn="ctr" defTabSz="914400" rtl="0" eaLnBrk="1" fontAlgn="auto" latinLnBrk="0" hangingPunct="1">
                            <a:lnSpc>
                              <a:spcPct val="107000"/>
                            </a:lnSpc>
                            <a:spcBef>
                              <a:spcPts val="0"/>
                            </a:spcBef>
                            <a:spcAft>
                              <a:spcPts val="0"/>
                            </a:spcAft>
                            <a:buClr>
                              <a:srgbClr val="000000"/>
                            </a:buClr>
                            <a:buSzTx/>
                            <a:buFont typeface="Arial"/>
                            <a:buNone/>
                            <a:tabLst/>
                            <a:defRPr/>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𝐻</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m:t>
                              </m:r>
                              <m:r>
                                <a:rPr lang="en-US" sz="2000" b="0" i="0" smtClean="0">
                                  <a:effectLst/>
                                  <a:latin typeface="Cambria Math" panose="02040503050406030204" pitchFamily="18" charset="0"/>
                                </a:rPr>
                                <m:t>−3.9, 4.5)</m:t>
                              </m:r>
                            </m:oMath>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542869658"/>
                      </a:ext>
                    </a:extLst>
                  </a:tr>
                </a:tbl>
              </a:graphicData>
            </a:graphic>
          </p:graphicFrame>
        </mc:Choice>
        <mc:Fallback xmlns="">
          <p:graphicFrame>
            <p:nvGraphicFramePr>
              <p:cNvPr id="13" name="Table 12">
                <a:extLst>
                  <a:ext uri="{FF2B5EF4-FFF2-40B4-BE49-F238E27FC236}">
                    <a16:creationId xmlns:a16="http://schemas.microsoft.com/office/drawing/2014/main" id="{D2A4E12C-C5AA-6847-8C34-5817F2AB5C6C}"/>
                  </a:ext>
                </a:extLst>
              </p:cNvPr>
              <p:cNvGraphicFramePr>
                <a:graphicFrameLocks noGrp="1"/>
              </p:cNvGraphicFramePr>
              <p:nvPr>
                <p:extLst>
                  <p:ext uri="{D42A27DB-BD31-4B8C-83A1-F6EECF244321}">
                    <p14:modId xmlns:p14="http://schemas.microsoft.com/office/powerpoint/2010/main" val="879518323"/>
                  </p:ext>
                </p:extLst>
              </p:nvPr>
            </p:nvGraphicFramePr>
            <p:xfrm>
              <a:off x="7304029" y="3227853"/>
              <a:ext cx="2513740" cy="2322716"/>
            </p:xfrm>
            <a:graphic>
              <a:graphicData uri="http://schemas.openxmlformats.org/drawingml/2006/table">
                <a:tbl>
                  <a:tblPr bandRow="1">
                    <a:tableStyleId>{A91F0D33-8C57-4600-99A7-42BC86742BE1}</a:tableStyleId>
                  </a:tblPr>
                  <a:tblGrid>
                    <a:gridCol w="1256579">
                      <a:extLst>
                        <a:ext uri="{9D8B030D-6E8A-4147-A177-3AD203B41FA5}">
                          <a16:colId xmlns:a16="http://schemas.microsoft.com/office/drawing/2014/main" val="3796908034"/>
                        </a:ext>
                      </a:extLst>
                    </a:gridCol>
                    <a:gridCol w="1257161">
                      <a:extLst>
                        <a:ext uri="{9D8B030D-6E8A-4147-A177-3AD203B41FA5}">
                          <a16:colId xmlns:a16="http://schemas.microsoft.com/office/drawing/2014/main" val="698734055"/>
                        </a:ext>
                      </a:extLst>
                    </a:gridCol>
                  </a:tblGrid>
                  <a:tr h="1161358">
                    <a:tc>
                      <a:txBody>
                        <a:bodyPr/>
                        <a:lstStyle/>
                        <a:p>
                          <a:endParaRPr lang="en-US"/>
                        </a:p>
                      </a:txBody>
                      <a:tcPr marL="68580" marR="68580" marT="0" marB="0" anchor="ctr">
                        <a:blipFill>
                          <a:blip r:embed="rId6"/>
                          <a:stretch>
                            <a:fillRect l="-1010" t="-1087" r="-102020" b="-101087"/>
                          </a:stretch>
                        </a:blipFill>
                      </a:tcPr>
                    </a:tc>
                    <a:tc>
                      <a:txBody>
                        <a:bodyPr/>
                        <a:lstStyle/>
                        <a:p>
                          <a:endParaRPr lang="en-US"/>
                        </a:p>
                      </a:txBody>
                      <a:tcPr marL="68580" marR="68580" marT="0" marB="0" anchor="ctr">
                        <a:blipFill>
                          <a:blip r:embed="rId6"/>
                          <a:stretch>
                            <a:fillRect l="-100000" t="-1087" r="-1000" b="-101087"/>
                          </a:stretch>
                        </a:blipFill>
                      </a:tcPr>
                    </a:tc>
                    <a:extLst>
                      <a:ext uri="{0D108BD9-81ED-4DB2-BD59-A6C34878D82A}">
                        <a16:rowId xmlns:a16="http://schemas.microsoft.com/office/drawing/2014/main" val="1581495396"/>
                      </a:ext>
                    </a:extLst>
                  </a:tr>
                  <a:tr h="1161358">
                    <a:tc>
                      <a:txBody>
                        <a:bodyPr/>
                        <a:lstStyle/>
                        <a:p>
                          <a:endParaRPr lang="en-US"/>
                        </a:p>
                      </a:txBody>
                      <a:tcPr marL="68580" marR="68580" marT="0" marB="0" anchor="ctr">
                        <a:blipFill>
                          <a:blip r:embed="rId6"/>
                          <a:stretch>
                            <a:fillRect l="-1010" t="-101087" r="-102020" b="-1087"/>
                          </a:stretch>
                        </a:blipFill>
                      </a:tcPr>
                    </a:tc>
                    <a:tc>
                      <a:txBody>
                        <a:bodyPr/>
                        <a:lstStyle/>
                        <a:p>
                          <a:endParaRPr lang="en-US"/>
                        </a:p>
                      </a:txBody>
                      <a:tcPr marL="68580" marR="68580" marT="0" marB="0" anchor="ctr">
                        <a:blipFill>
                          <a:blip r:embed="rId6"/>
                          <a:stretch>
                            <a:fillRect l="-100000" t="-101087" r="-1000" b="-1087"/>
                          </a:stretch>
                        </a:blipFill>
                      </a:tcPr>
                    </a:tc>
                    <a:extLst>
                      <a:ext uri="{0D108BD9-81ED-4DB2-BD59-A6C34878D82A}">
                        <a16:rowId xmlns:a16="http://schemas.microsoft.com/office/drawing/2014/main" val="542869658"/>
                      </a:ext>
                    </a:extLst>
                  </a:tr>
                </a:tbl>
              </a:graphicData>
            </a:graphic>
          </p:graphicFrame>
        </mc:Fallback>
      </mc:AlternateContent>
      <p:sp>
        <p:nvSpPr>
          <p:cNvPr id="15" name="TextBox 14">
            <a:extLst>
              <a:ext uri="{FF2B5EF4-FFF2-40B4-BE49-F238E27FC236}">
                <a16:creationId xmlns:a16="http://schemas.microsoft.com/office/drawing/2014/main" xmlns="" id="{D7C533A4-D942-B64C-A213-C277419E0B0F}"/>
              </a:ext>
            </a:extLst>
          </p:cNvPr>
          <p:cNvSpPr txBox="1"/>
          <p:nvPr/>
        </p:nvSpPr>
        <p:spPr>
          <a:xfrm>
            <a:off x="1318183" y="5477325"/>
            <a:ext cx="6253916" cy="1446550"/>
          </a:xfrm>
          <a:prstGeom prst="rect">
            <a:avLst/>
          </a:prstGeom>
          <a:noFill/>
        </p:spPr>
        <p:txBody>
          <a:bodyPr wrap="square" rtlCol="0">
            <a:spAutoFit/>
          </a:bodyPr>
          <a:lstStyle/>
          <a:p>
            <a:pPr marL="460375" indent="-4445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points were easy to plot?</a:t>
            </a:r>
          </a:p>
          <a:p>
            <a:pPr marL="457200" indent="-457200">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points were more difficult to plot?</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endParaRPr lang="en-US" dirty="0"/>
          </a:p>
        </p:txBody>
      </p:sp>
    </p:spTree>
    <p:extLst>
      <p:ext uri="{BB962C8B-B14F-4D97-AF65-F5344CB8AC3E}">
        <p14:creationId xmlns:p14="http://schemas.microsoft.com/office/powerpoint/2010/main" val="269466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453284" y="520395"/>
            <a:ext cx="11576155"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On your own, answer the following question:</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When plotting ordered pairs with decimal values, how is it best to determine the scale to use when setting up the axes on a grid?</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xmlns="" id="{A74F4FC6-BAF1-A341-B966-E135F4F1B103}"/>
              </a:ext>
            </a:extLst>
          </p:cNvPr>
          <p:cNvGraphicFramePr>
            <a:graphicFrameLocks noGrp="1"/>
          </p:cNvGraphicFramePr>
          <p:nvPr>
            <p:extLst>
              <p:ext uri="{D42A27DB-BD31-4B8C-83A1-F6EECF244321}">
                <p14:modId xmlns:p14="http://schemas.microsoft.com/office/powerpoint/2010/main" val="3261657678"/>
              </p:ext>
            </p:extLst>
          </p:nvPr>
        </p:nvGraphicFramePr>
        <p:xfrm>
          <a:off x="2389363" y="2164471"/>
          <a:ext cx="7703996" cy="2921861"/>
        </p:xfrm>
        <a:graphic>
          <a:graphicData uri="http://schemas.openxmlformats.org/drawingml/2006/table">
            <a:tbl>
              <a:tblPr bandRow="1">
                <a:tableStyleId>{A91F0D33-8C57-4600-99A7-42BC86742BE1}</a:tableStyleId>
              </a:tblPr>
              <a:tblGrid>
                <a:gridCol w="7703996">
                  <a:extLst>
                    <a:ext uri="{9D8B030D-6E8A-4147-A177-3AD203B41FA5}">
                      <a16:colId xmlns:a16="http://schemas.microsoft.com/office/drawing/2014/main" xmlns="" val="2616078979"/>
                    </a:ext>
                  </a:extLst>
                </a:gridCol>
              </a:tblGrid>
              <a:tr h="32652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Reasoning</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xmlns="" val="2044005261"/>
                  </a:ext>
                </a:extLst>
              </a:tr>
              <a:tr h="2595335">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8580" marR="68580" marT="0" marB="0"/>
                </a:tc>
                <a:extLst>
                  <a:ext uri="{0D108BD9-81ED-4DB2-BD59-A6C34878D82A}">
                    <a16:rowId xmlns:a16="http://schemas.microsoft.com/office/drawing/2014/main" xmlns="" val="203492869"/>
                  </a:ext>
                </a:extLst>
              </a:tr>
            </a:tbl>
          </a:graphicData>
        </a:graphic>
      </p:graphicFrame>
      <p:sp>
        <p:nvSpPr>
          <p:cNvPr id="5" name="TextBox 4">
            <a:extLst>
              <a:ext uri="{FF2B5EF4-FFF2-40B4-BE49-F238E27FC236}">
                <a16:creationId xmlns:a16="http://schemas.microsoft.com/office/drawing/2014/main" xmlns="" id="{DD5E6052-407F-C34C-BBCE-47FD976F0776}"/>
              </a:ext>
            </a:extLst>
          </p:cNvPr>
          <p:cNvSpPr txBox="1"/>
          <p:nvPr/>
        </p:nvSpPr>
        <p:spPr>
          <a:xfrm>
            <a:off x="453284" y="5213074"/>
            <a:ext cx="11372956" cy="1138773"/>
          </a:xfrm>
          <a:prstGeom prst="rect">
            <a:avLst/>
          </a:prstGeom>
          <a:noFill/>
        </p:spPr>
        <p:txBody>
          <a:bodyPr wrap="square" rtlCol="0">
            <a:spAutoFit/>
          </a:bodyPr>
          <a:lstStyle/>
          <a:p>
            <a:pPr marL="460375"/>
            <a:r>
              <a:rPr lang="en-US" sz="2000" dirty="0">
                <a:latin typeface="Verdana" panose="020B0604030504040204" pitchFamily="34" charset="0"/>
                <a:ea typeface="Verdana" panose="020B0604030504040204" pitchFamily="34" charset="0"/>
                <a:cs typeface="Verdana" panose="020B0604030504040204" pitchFamily="34" charset="0"/>
              </a:rPr>
              <a:t>Share your reasoning with your partner and ask for feedback on any parts that were unclear or missing. Make any necessary edits to your reasoning.</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endParaRPr lang="en-US" dirty="0"/>
          </a:p>
        </p:txBody>
      </p:sp>
      <p:sp>
        <p:nvSpPr>
          <p:cNvPr id="10" name="Google Shape;282;g104476d1465_1_17">
            <a:extLst>
              <a:ext uri="{FF2B5EF4-FFF2-40B4-BE49-F238E27FC236}">
                <a16:creationId xmlns:a16="http://schemas.microsoft.com/office/drawing/2014/main" xmlns="" id="{2C5E25F3-C5B1-5340-9BF4-5112AD7203F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217</a:t>
            </a:r>
            <a:endParaRPr i="1" dirty="0">
              <a:latin typeface="Calibri"/>
              <a:ea typeface="Calibri"/>
              <a:cs typeface="Calibri"/>
              <a:sym typeface="Calibri"/>
            </a:endParaRPr>
          </a:p>
        </p:txBody>
      </p:sp>
    </p:spTree>
    <p:extLst>
      <p:ext uri="{BB962C8B-B14F-4D97-AF65-F5344CB8AC3E}">
        <p14:creationId xmlns:p14="http://schemas.microsoft.com/office/powerpoint/2010/main" val="2105954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1796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xmlns="" id="{1C2AE9C2-0B38-1049-9227-E7DD472482C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spTree>
    <p:extLst>
      <p:ext uri="{BB962C8B-B14F-4D97-AF65-F5344CB8AC3E}">
        <p14:creationId xmlns:p14="http://schemas.microsoft.com/office/powerpoint/2010/main" val="94794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73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5.3.3 Try It: Plotting Points with a Decimal Scale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731520" y="1638114"/>
                <a:ext cx="11165840" cy="1138773"/>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When plotting </a:t>
                </a:r>
                <a14:m>
                  <m:oMath xmlns:m="http://schemas.openxmlformats.org/officeDocument/2006/math">
                    <m:d>
                      <m:dPr>
                        <m:ctrlPr>
                          <a:rPr lang="en-US" sz="2400" i="1">
                            <a:latin typeface="Cambria Math"/>
                          </a:rPr>
                        </m:ctrlPr>
                      </m:dPr>
                      <m:e>
                        <m:r>
                          <a:rPr lang="en-US" sz="2400" i="1">
                            <a:latin typeface="Cambria Math" panose="02040503050406030204" pitchFamily="18" charset="0"/>
                          </a:rPr>
                          <m:t>1.75, −2.5</m:t>
                        </m:r>
                      </m:e>
                    </m:d>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2.25</m:t>
                    </m:r>
                    <m:r>
                      <a:rPr lang="en-US" sz="2400" i="1">
                        <a:latin typeface="Cambria Math" panose="02040503050406030204" pitchFamily="18" charset="0"/>
                      </a:rPr>
                      <m:t>, 1.5)</m:t>
                    </m:r>
                  </m:oMath>
                </a14:m>
                <a:r>
                  <a:rPr lang="en-US" sz="2400" dirty="0">
                    <a:latin typeface="Verdana" panose="020B0604030504040204" pitchFamily="34" charset="0"/>
                    <a:ea typeface="Verdana" panose="020B0604030504040204" pitchFamily="34" charset="0"/>
                    <a:cs typeface="Verdana" panose="020B0604030504040204" pitchFamily="34" charset="0"/>
                  </a:rPr>
                  <a:t>, describe how to best scale the axes.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731520" y="1638114"/>
                <a:ext cx="11165840" cy="1138773"/>
              </a:xfrm>
              <a:prstGeom prst="rect">
                <a:avLst/>
              </a:prstGeom>
              <a:blipFill>
                <a:blip r:embed="rId5"/>
                <a:stretch>
                  <a:fillRect l="-909" t="-4444" r="-1023"/>
                </a:stretch>
              </a:blipFill>
            </p:spPr>
            <p:txBody>
              <a:bodyPr/>
              <a:lstStyle/>
              <a:p>
                <a:r>
                  <a:rPr lang="en-US">
                    <a:noFill/>
                  </a:rPr>
                  <a:t> </a:t>
                </a:r>
              </a:p>
            </p:txBody>
          </p:sp>
        </mc:Fallback>
      </mc:AlternateContent>
    </p:spTree>
    <p:extLst>
      <p:ext uri="{BB962C8B-B14F-4D97-AF65-F5344CB8AC3E}">
        <p14:creationId xmlns:p14="http://schemas.microsoft.com/office/powerpoint/2010/main" val="1790866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22804" y="573025"/>
                <a:ext cx="11555835"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For the points </a:t>
                </a:r>
                <a14:m>
                  <m:oMath xmlns:m="http://schemas.openxmlformats.org/officeDocument/2006/math">
                    <m:d>
                      <m:dPr>
                        <m:ctrlPr>
                          <a:rPr lang="en-US" sz="2400" i="1">
                            <a:latin typeface="Cambria Math"/>
                          </a:rPr>
                        </m:ctrlPr>
                      </m:dPr>
                      <m:e>
                        <m:r>
                          <a:rPr lang="en-US" sz="2400" i="1">
                            <a:latin typeface="Cambria Math" panose="02040503050406030204" pitchFamily="18" charset="0"/>
                          </a:rPr>
                          <m:t>1.75, −2.5</m:t>
                        </m:r>
                      </m:e>
                    </m:d>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(−2.25, 1.5)</m:t>
                    </m:r>
                  </m:oMath>
                </a14:m>
                <a:r>
                  <a:rPr lang="en-US" sz="2400" dirty="0">
                    <a:latin typeface="Verdana" panose="020B0604030504040204" pitchFamily="34" charset="0"/>
                    <a:ea typeface="Verdana" panose="020B0604030504040204" pitchFamily="34" charset="0"/>
                    <a:cs typeface="Verdana" panose="020B0604030504040204" pitchFamily="34" charset="0"/>
                  </a:rPr>
                  <a:t>, draw and label coordinate axes with an appropriate scale, and plot the points.</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22804" y="573025"/>
                <a:ext cx="11555835" cy="830997"/>
              </a:xfrm>
              <a:prstGeom prst="rect">
                <a:avLst/>
              </a:prstGeom>
              <a:blipFill>
                <a:blip r:embed="rId4"/>
                <a:stretch>
                  <a:fillRect l="-878" t="-6061" b="-16667"/>
                </a:stretch>
              </a:blipFill>
            </p:spPr>
            <p:txBody>
              <a:bodyPr/>
              <a:lstStyle/>
              <a:p>
                <a:r>
                  <a:rPr lang="en-US">
                    <a:noFill/>
                  </a:rPr>
                  <a:t> </a:t>
                </a:r>
              </a:p>
            </p:txBody>
          </p:sp>
        </mc:Fallback>
      </mc:AlternateContent>
      <p:pic>
        <p:nvPicPr>
          <p:cNvPr id="7" name="image16.png">
            <a:extLst>
              <a:ext uri="{FF2B5EF4-FFF2-40B4-BE49-F238E27FC236}">
                <a16:creationId xmlns:a16="http://schemas.microsoft.com/office/drawing/2014/main" xmlns="" id="{1CA0D0EF-BCD5-B44D-8C0D-6FF0184E17B3}"/>
              </a:ext>
            </a:extLst>
          </p:cNvPr>
          <p:cNvPicPr>
            <a:picLocks noChangeAspect="1"/>
          </p:cNvPicPr>
          <p:nvPr/>
        </p:nvPicPr>
        <p:blipFill>
          <a:blip r:embed="rId5"/>
          <a:srcRect/>
          <a:stretch>
            <a:fillRect/>
          </a:stretch>
        </p:blipFill>
        <p:spPr>
          <a:xfrm>
            <a:off x="3174358" y="1509006"/>
            <a:ext cx="6052726" cy="4573072"/>
          </a:xfrm>
          <a:prstGeom prst="rect">
            <a:avLst/>
          </a:prstGeom>
          <a:ln/>
        </p:spPr>
      </p:pic>
      <p:sp>
        <p:nvSpPr>
          <p:cNvPr id="8" name="Google Shape;282;g104476d1465_1_17">
            <a:extLst>
              <a:ext uri="{FF2B5EF4-FFF2-40B4-BE49-F238E27FC236}">
                <a16:creationId xmlns:a16="http://schemas.microsoft.com/office/drawing/2014/main" xmlns="" id="{E524E856-2B4E-F441-AF85-211C57D9DD0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spTree>
    <p:extLst>
      <p:ext uri="{BB962C8B-B14F-4D97-AF65-F5344CB8AC3E}">
        <p14:creationId xmlns:p14="http://schemas.microsoft.com/office/powerpoint/2010/main" val="1372706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51000"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C041D04E-AFA2-6F47-85E1-509D05BCBD8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spTree>
    <p:extLst>
      <p:ext uri="{BB962C8B-B14F-4D97-AF65-F5344CB8AC3E}">
        <p14:creationId xmlns:p14="http://schemas.microsoft.com/office/powerpoint/2010/main" val="533069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332"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5.3.4 Guided Instruction: Plotting Points with a Fractional Scale</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sp>
        <p:nvSpPr>
          <p:cNvPr id="13" name="TextBox 12">
            <a:extLst>
              <a:ext uri="{FF2B5EF4-FFF2-40B4-BE49-F238E27FC236}">
                <a16:creationId xmlns:a16="http://schemas.microsoft.com/office/drawing/2014/main" xmlns="" id="{C01B13E8-EC8D-E443-A329-C5E3593DD13A}"/>
              </a:ext>
            </a:extLst>
          </p:cNvPr>
          <p:cNvSpPr txBox="1"/>
          <p:nvPr/>
        </p:nvSpPr>
        <p:spPr>
          <a:xfrm>
            <a:off x="730266" y="1325700"/>
            <a:ext cx="11024854" cy="3785652"/>
          </a:xfrm>
          <a:prstGeom prst="rect">
            <a:avLst/>
          </a:prstGeom>
          <a:noFill/>
        </p:spPr>
        <p:txBody>
          <a:bodyPr wrap="square" rtlCol="0">
            <a:spAutoFit/>
          </a:bodyPr>
          <a:lstStyle/>
          <a:p>
            <a:pPr marL="412750" indent="-396875"/>
            <a:r>
              <a:rPr lang="en-US" sz="2400" dirty="0">
                <a:latin typeface="Verdana" panose="020B0604030504040204" pitchFamily="34" charset="0"/>
                <a:ea typeface="Verdana" panose="020B0604030504040204" pitchFamily="34" charset="0"/>
                <a:cs typeface="Verdana" panose="020B0604030504040204" pitchFamily="34" charset="0"/>
              </a:rPr>
              <a:t>1. Four points are shown.</a:t>
            </a: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Based on the denominators of each fraction, what scale should be used for the grid?</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AD8D3132-D5AD-744D-8691-D1660EDCF449}"/>
                  </a:ext>
                </a:extLst>
              </p:cNvPr>
              <p:cNvGraphicFramePr>
                <a:graphicFrameLocks noGrp="1"/>
              </p:cNvGraphicFramePr>
              <p:nvPr>
                <p:extLst>
                  <p:ext uri="{D42A27DB-BD31-4B8C-83A1-F6EECF244321}">
                    <p14:modId xmlns:p14="http://schemas.microsoft.com/office/powerpoint/2010/main" val="2072293324"/>
                  </p:ext>
                </p:extLst>
              </p:nvPr>
            </p:nvGraphicFramePr>
            <p:xfrm>
              <a:off x="2528243" y="2034121"/>
              <a:ext cx="7428900" cy="1394879"/>
            </p:xfrm>
            <a:graphic>
              <a:graphicData uri="http://schemas.openxmlformats.org/drawingml/2006/table">
                <a:tbl>
                  <a:tblPr bandRow="1">
                    <a:tableStyleId>{A91F0D33-8C57-4600-99A7-42BC86742BE1}</a:tableStyleId>
                  </a:tblPr>
                  <a:tblGrid>
                    <a:gridCol w="1856858">
                      <a:extLst>
                        <a:ext uri="{9D8B030D-6E8A-4147-A177-3AD203B41FA5}">
                          <a16:colId xmlns:a16="http://schemas.microsoft.com/office/drawing/2014/main" xmlns="" val="4442529"/>
                        </a:ext>
                      </a:extLst>
                    </a:gridCol>
                    <a:gridCol w="1856858">
                      <a:extLst>
                        <a:ext uri="{9D8B030D-6E8A-4147-A177-3AD203B41FA5}">
                          <a16:colId xmlns:a16="http://schemas.microsoft.com/office/drawing/2014/main" xmlns="" val="805088269"/>
                        </a:ext>
                      </a:extLst>
                    </a:gridCol>
                    <a:gridCol w="1857592">
                      <a:extLst>
                        <a:ext uri="{9D8B030D-6E8A-4147-A177-3AD203B41FA5}">
                          <a16:colId xmlns:a16="http://schemas.microsoft.com/office/drawing/2014/main" xmlns="" val="3125483971"/>
                        </a:ext>
                      </a:extLst>
                    </a:gridCol>
                    <a:gridCol w="1857592">
                      <a:extLst>
                        <a:ext uri="{9D8B030D-6E8A-4147-A177-3AD203B41FA5}">
                          <a16:colId xmlns:a16="http://schemas.microsoft.com/office/drawing/2014/main" xmlns="" val="1665542990"/>
                        </a:ext>
                      </a:extLst>
                    </a:gridCol>
                  </a:tblGrid>
                  <a:tr h="139487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𝐿</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ea typeface="Cambria Math" panose="02040503050406030204" pitchFamily="18" charset="0"/>
                                    </a:rPr>
                                  </m:ctrlPr>
                                </m:dPr>
                                <m:e>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𝐻</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𝑆</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𝑅</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ea typeface="Cambria Math" panose="02040503050406030204" pitchFamily="18" charset="0"/>
                                    </a:rPr>
                                  </m:ctrlPr>
                                </m:dPr>
                                <m:e>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4061192744"/>
                      </a:ext>
                    </a:extLst>
                  </a:tr>
                </a:tbl>
              </a:graphicData>
            </a:graphic>
          </p:graphicFrame>
        </mc:Choice>
        <mc:Fallback xmlns="">
          <p:graphicFrame>
            <p:nvGraphicFramePr>
              <p:cNvPr id="3" name="Table 2">
                <a:extLst>
                  <a:ext uri="{FF2B5EF4-FFF2-40B4-BE49-F238E27FC236}">
                    <a16:creationId xmlns:a16="http://schemas.microsoft.com/office/drawing/2014/main" id="{AD8D3132-D5AD-744D-8691-D1660EDCF449}"/>
                  </a:ext>
                </a:extLst>
              </p:cNvPr>
              <p:cNvGraphicFramePr>
                <a:graphicFrameLocks noGrp="1"/>
              </p:cNvGraphicFramePr>
              <p:nvPr>
                <p:extLst>
                  <p:ext uri="{D42A27DB-BD31-4B8C-83A1-F6EECF244321}">
                    <p14:modId xmlns:p14="http://schemas.microsoft.com/office/powerpoint/2010/main" val="2072293324"/>
                  </p:ext>
                </p:extLst>
              </p:nvPr>
            </p:nvGraphicFramePr>
            <p:xfrm>
              <a:off x="2528243" y="2034121"/>
              <a:ext cx="7428900" cy="1394879"/>
            </p:xfrm>
            <a:graphic>
              <a:graphicData uri="http://schemas.openxmlformats.org/drawingml/2006/table">
                <a:tbl>
                  <a:tblPr bandRow="1">
                    <a:tableStyleId>{A91F0D33-8C57-4600-99A7-42BC86742BE1}</a:tableStyleId>
                  </a:tblPr>
                  <a:tblGrid>
                    <a:gridCol w="1856858">
                      <a:extLst>
                        <a:ext uri="{9D8B030D-6E8A-4147-A177-3AD203B41FA5}">
                          <a16:colId xmlns:a16="http://schemas.microsoft.com/office/drawing/2014/main" val="4442529"/>
                        </a:ext>
                      </a:extLst>
                    </a:gridCol>
                    <a:gridCol w="1856858">
                      <a:extLst>
                        <a:ext uri="{9D8B030D-6E8A-4147-A177-3AD203B41FA5}">
                          <a16:colId xmlns:a16="http://schemas.microsoft.com/office/drawing/2014/main" val="805088269"/>
                        </a:ext>
                      </a:extLst>
                    </a:gridCol>
                    <a:gridCol w="1857592">
                      <a:extLst>
                        <a:ext uri="{9D8B030D-6E8A-4147-A177-3AD203B41FA5}">
                          <a16:colId xmlns:a16="http://schemas.microsoft.com/office/drawing/2014/main" val="3125483971"/>
                        </a:ext>
                      </a:extLst>
                    </a:gridCol>
                    <a:gridCol w="1857592">
                      <a:extLst>
                        <a:ext uri="{9D8B030D-6E8A-4147-A177-3AD203B41FA5}">
                          <a16:colId xmlns:a16="http://schemas.microsoft.com/office/drawing/2014/main" val="1665542990"/>
                        </a:ext>
                      </a:extLst>
                    </a:gridCol>
                  </a:tblGrid>
                  <a:tr h="1394879">
                    <a:tc>
                      <a:txBody>
                        <a:bodyPr/>
                        <a:lstStyle/>
                        <a:p>
                          <a:endParaRPr lang="en-US"/>
                        </a:p>
                      </a:txBody>
                      <a:tcPr marL="68580" marR="68580" marT="0" marB="0" anchor="ctr">
                        <a:blipFill>
                          <a:blip r:embed="rId5"/>
                          <a:stretch>
                            <a:fillRect l="-685" t="-909" r="-301370" b="-1818"/>
                          </a:stretch>
                        </a:blipFill>
                      </a:tcPr>
                    </a:tc>
                    <a:tc>
                      <a:txBody>
                        <a:bodyPr/>
                        <a:lstStyle/>
                        <a:p>
                          <a:endParaRPr lang="en-US"/>
                        </a:p>
                      </a:txBody>
                      <a:tcPr marL="68580" marR="68580" marT="0" marB="0" anchor="ctr">
                        <a:blipFill>
                          <a:blip r:embed="rId5"/>
                          <a:stretch>
                            <a:fillRect l="-100000" t="-909" r="-199320" b="-1818"/>
                          </a:stretch>
                        </a:blipFill>
                      </a:tcPr>
                    </a:tc>
                    <a:tc>
                      <a:txBody>
                        <a:bodyPr/>
                        <a:lstStyle/>
                        <a:p>
                          <a:endParaRPr lang="en-US"/>
                        </a:p>
                      </a:txBody>
                      <a:tcPr marL="68580" marR="68580" marT="0" marB="0" anchor="ctr">
                        <a:blipFill>
                          <a:blip r:embed="rId5"/>
                          <a:stretch>
                            <a:fillRect l="-201370" t="-909" r="-100685" b="-1818"/>
                          </a:stretch>
                        </a:blipFill>
                      </a:tcPr>
                    </a:tc>
                    <a:tc>
                      <a:txBody>
                        <a:bodyPr/>
                        <a:lstStyle/>
                        <a:p>
                          <a:endParaRPr lang="en-US"/>
                        </a:p>
                      </a:txBody>
                      <a:tcPr marL="68580" marR="68580" marT="0" marB="0" anchor="ctr">
                        <a:blipFill>
                          <a:blip r:embed="rId5"/>
                          <a:stretch>
                            <a:fillRect l="-299320" t="-909" b="-1818"/>
                          </a:stretch>
                        </a:blipFill>
                      </a:tcPr>
                    </a:tc>
                    <a:extLst>
                      <a:ext uri="{0D108BD9-81ED-4DB2-BD59-A6C34878D82A}">
                        <a16:rowId xmlns:a16="http://schemas.microsoft.com/office/drawing/2014/main" val="4061192744"/>
                      </a:ext>
                    </a:extLst>
                  </a:tr>
                </a:tbl>
              </a:graphicData>
            </a:graphic>
          </p:graphicFrame>
        </mc:Fallback>
      </mc:AlternateContent>
    </p:spTree>
    <p:extLst>
      <p:ext uri="{BB962C8B-B14F-4D97-AF65-F5344CB8AC3E}">
        <p14:creationId xmlns:p14="http://schemas.microsoft.com/office/powerpoint/2010/main" val="1406911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218</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00416" y="520395"/>
            <a:ext cx="10765423" cy="830997"/>
          </a:xfrm>
          <a:prstGeom prst="rect">
            <a:avLst/>
          </a:prstGeom>
          <a:noFill/>
        </p:spPr>
        <p:txBody>
          <a:bodyPr wrap="square" rtlCol="0">
            <a:spAutoFit/>
          </a:bodyPr>
          <a:lstStyle/>
          <a:p>
            <a:pPr marL="460375" indent="-46037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and label the points with the given letters on the coordinate plane.</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10.png" descr="Chart, scatter chart&#10;&#10;Description automatically generated">
            <a:extLst>
              <a:ext uri="{FF2B5EF4-FFF2-40B4-BE49-F238E27FC236}">
                <a16:creationId xmlns:a16="http://schemas.microsoft.com/office/drawing/2014/main" xmlns="" id="{71E6E690-0BFB-6B41-93C1-8E2229F1A84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681525" y="1479907"/>
            <a:ext cx="4828950" cy="4592177"/>
          </a:xfrm>
          <a:prstGeom prst="rect">
            <a:avLst/>
          </a:prstGeom>
          <a:ln/>
        </p:spPr>
      </p:pic>
    </p:spTree>
    <p:extLst>
      <p:ext uri="{BB962C8B-B14F-4D97-AF65-F5344CB8AC3E}">
        <p14:creationId xmlns:p14="http://schemas.microsoft.com/office/powerpoint/2010/main" val="85202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32964" y="544203"/>
                <a:ext cx="11535515" cy="5374420"/>
              </a:xfrm>
              <a:prstGeom prst="rect">
                <a:avLst/>
              </a:prstGeom>
              <a:noFill/>
            </p:spPr>
            <p:txBody>
              <a:bodyPr wrap="square" rtlCol="0">
                <a:spAutoFit/>
              </a:bodyPr>
              <a:lstStyle/>
              <a:p>
                <a:pPr marL="460375" indent="-4445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Four different points are shown.</a:t>
                </a: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20750" indent="-444500">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List the denominators of each fraction.</a:t>
                </a:r>
              </a:p>
              <a:p>
                <a:pPr marL="457200" indent="-4572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920750" indent="-460375">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Liana says when she sets up her grid, she will use a scale of </a:t>
                </a:r>
                <a14:m>
                  <m:oMath xmlns:m="http://schemas.openxmlformats.org/officeDocument/2006/math">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Trey says he plans to use a scale of </a:t>
                </a:r>
                <a14:m>
                  <m:oMath xmlns:m="http://schemas.openxmlformats.org/officeDocument/2006/math">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Explain who is planning to use the better scale.</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44500">
                  <a:buFont typeface="+mj-lt"/>
                  <a:buAutoNum type="arabicPeriod" startAt="2"/>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32964" y="544203"/>
                <a:ext cx="11535515" cy="5374420"/>
              </a:xfrm>
              <a:prstGeom prst="rect">
                <a:avLst/>
              </a:prstGeom>
              <a:blipFill>
                <a:blip r:embed="rId4"/>
                <a:stretch>
                  <a:fillRect l="-770" t="-941" r="-15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E23893A8-44E9-A64D-862A-1869FB6AC199}"/>
                  </a:ext>
                </a:extLst>
              </p:cNvPr>
              <p:cNvGraphicFramePr>
                <a:graphicFrameLocks noGrp="1"/>
              </p:cNvGraphicFramePr>
              <p:nvPr>
                <p:extLst>
                  <p:ext uri="{D42A27DB-BD31-4B8C-83A1-F6EECF244321}">
                    <p14:modId xmlns:p14="http://schemas.microsoft.com/office/powerpoint/2010/main" val="2412908457"/>
                  </p:ext>
                </p:extLst>
              </p:nvPr>
            </p:nvGraphicFramePr>
            <p:xfrm>
              <a:off x="3062106" y="1160601"/>
              <a:ext cx="6277230" cy="1363972"/>
            </p:xfrm>
            <a:graphic>
              <a:graphicData uri="http://schemas.openxmlformats.org/drawingml/2006/table">
                <a:tbl>
                  <a:tblPr bandRow="1">
                    <a:tableStyleId>{A91F0D33-8C57-4600-99A7-42BC86742BE1}</a:tableStyleId>
                  </a:tblPr>
                  <a:tblGrid>
                    <a:gridCol w="1568978">
                      <a:extLst>
                        <a:ext uri="{9D8B030D-6E8A-4147-A177-3AD203B41FA5}">
                          <a16:colId xmlns:a16="http://schemas.microsoft.com/office/drawing/2014/main" xmlns="" val="16495114"/>
                        </a:ext>
                      </a:extLst>
                    </a:gridCol>
                    <a:gridCol w="1568978">
                      <a:extLst>
                        <a:ext uri="{9D8B030D-6E8A-4147-A177-3AD203B41FA5}">
                          <a16:colId xmlns:a16="http://schemas.microsoft.com/office/drawing/2014/main" xmlns="" val="3035084364"/>
                        </a:ext>
                      </a:extLst>
                    </a:gridCol>
                    <a:gridCol w="1569637">
                      <a:extLst>
                        <a:ext uri="{9D8B030D-6E8A-4147-A177-3AD203B41FA5}">
                          <a16:colId xmlns:a16="http://schemas.microsoft.com/office/drawing/2014/main" xmlns="" val="772313922"/>
                        </a:ext>
                      </a:extLst>
                    </a:gridCol>
                    <a:gridCol w="1569637">
                      <a:extLst>
                        <a:ext uri="{9D8B030D-6E8A-4147-A177-3AD203B41FA5}">
                          <a16:colId xmlns:a16="http://schemas.microsoft.com/office/drawing/2014/main" xmlns="" val="4288375783"/>
                        </a:ext>
                      </a:extLst>
                    </a:gridCol>
                  </a:tblGrid>
                  <a:tr h="1363972">
                    <a:tc>
                      <a:txBody>
                        <a:bodyPr/>
                        <a:lstStyle/>
                        <a:p>
                          <a:pPr marL="0" marR="0" algn="ctr">
                            <a:lnSpc>
                              <a:spcPct val="107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a:effectLst/>
                                  <a:latin typeface="Cambria Math" panose="02040503050406030204" pitchFamily="18" charset="0"/>
                                </a:rPr>
                                <m:t>𝐹</m:t>
                              </m:r>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400" i="1">
                                      <a:effectLst/>
                                      <a:latin typeface="Cambria Math"/>
                                    </a:rPr>
                                  </m:ctrlPr>
                                </m:dPr>
                                <m:e>
                                  <m:f>
                                    <m:fPr>
                                      <m:ctrlPr>
                                        <a:rPr lang="en-US" sz="2400" i="1">
                                          <a:effectLst/>
                                          <a:latin typeface="Cambria Math"/>
                                        </a:rPr>
                                      </m:ctrlPr>
                                    </m:fPr>
                                    <m:num>
                                      <m:r>
                                        <a:rPr lang="en-US" sz="2400">
                                          <a:effectLst/>
                                          <a:latin typeface="Cambria Math" panose="02040503050406030204" pitchFamily="18" charset="0"/>
                                        </a:rPr>
                                        <m:t>1</m:t>
                                      </m:r>
                                    </m:num>
                                    <m:den>
                                      <m:r>
                                        <a:rPr lang="en-US" sz="2400">
                                          <a:effectLst/>
                                          <a:latin typeface="Cambria Math" panose="02040503050406030204" pitchFamily="18" charset="0"/>
                                        </a:rPr>
                                        <m:t>2</m:t>
                                      </m:r>
                                    </m:den>
                                  </m:f>
                                  <m:r>
                                    <a:rPr lang="en-US" sz="2400">
                                      <a:effectLst/>
                                      <a:latin typeface="Cambria Math" panose="02040503050406030204" pitchFamily="18" charset="0"/>
                                    </a:rPr>
                                    <m:t>, </m:t>
                                  </m:r>
                                  <m:f>
                                    <m:fPr>
                                      <m:ctrlPr>
                                        <a:rPr lang="en-US" sz="2400" i="1">
                                          <a:effectLst/>
                                          <a:latin typeface="Cambria Math"/>
                                        </a:rPr>
                                      </m:ctrlPr>
                                    </m:fPr>
                                    <m:num>
                                      <m:r>
                                        <a:rPr lang="en-US" sz="2400">
                                          <a:effectLst/>
                                          <a:latin typeface="Cambria Math" panose="02040503050406030204" pitchFamily="18" charset="0"/>
                                        </a:rPr>
                                        <m:t>−3</m:t>
                                      </m:r>
                                    </m:num>
                                    <m:den>
                                      <m:r>
                                        <a:rPr lang="en-US" sz="2400">
                                          <a:effectLst/>
                                          <a:latin typeface="Cambria Math" panose="02040503050406030204" pitchFamily="18" charset="0"/>
                                        </a:rPr>
                                        <m:t>4</m:t>
                                      </m:r>
                                    </m:den>
                                  </m:f>
                                </m:e>
                              </m:d>
                            </m:oMath>
                          </a14:m>
                          <a:r>
                            <a:rPr lang="en-US" sz="2400">
                              <a:effectLst/>
                              <a:latin typeface="Verdana" panose="020B0604030504040204" pitchFamily="34" charset="0"/>
                              <a:ea typeface="Verdana" panose="020B0604030504040204" pitchFamily="34" charset="0"/>
                              <a:cs typeface="Verdana" panose="020B0604030504040204" pitchFamily="34" charset="0"/>
                            </a:rPr>
                            <a:t> </a:t>
                          </a:r>
                          <a:endParaRPr lang="en-US" sz="24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a:effectLst/>
                                  <a:latin typeface="Cambria Math" panose="02040503050406030204" pitchFamily="18" charset="0"/>
                                </a:rPr>
                                <m:t>𝑇</m:t>
                              </m:r>
                            </m:oMath>
                          </a14:m>
                          <a:r>
                            <a:rPr lang="en-US" sz="240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400" i="1">
                                      <a:effectLst/>
                                      <a:latin typeface="Cambria Math"/>
                                    </a:rPr>
                                  </m:ctrlPr>
                                </m:dPr>
                                <m:e>
                                  <m:r>
                                    <a:rPr lang="en-US" sz="2400">
                                      <a:effectLst/>
                                      <a:latin typeface="Cambria Math" panose="02040503050406030204" pitchFamily="18" charset="0"/>
                                    </a:rPr>
                                    <m:t>1</m:t>
                                  </m:r>
                                  <m:f>
                                    <m:fPr>
                                      <m:ctrlPr>
                                        <a:rPr lang="en-US" sz="2400" i="1">
                                          <a:effectLst/>
                                          <a:latin typeface="Cambria Math"/>
                                        </a:rPr>
                                      </m:ctrlPr>
                                    </m:fPr>
                                    <m:num>
                                      <m:r>
                                        <a:rPr lang="en-US" sz="2400">
                                          <a:effectLst/>
                                          <a:latin typeface="Cambria Math" panose="02040503050406030204" pitchFamily="18" charset="0"/>
                                        </a:rPr>
                                        <m:t>1</m:t>
                                      </m:r>
                                    </m:num>
                                    <m:den>
                                      <m:r>
                                        <a:rPr lang="en-US" sz="2400">
                                          <a:effectLst/>
                                          <a:latin typeface="Cambria Math" panose="02040503050406030204" pitchFamily="18" charset="0"/>
                                        </a:rPr>
                                        <m:t>4</m:t>
                                      </m:r>
                                    </m:den>
                                  </m:f>
                                  <m:r>
                                    <a:rPr lang="en-US" sz="2400">
                                      <a:effectLst/>
                                      <a:latin typeface="Cambria Math" panose="02040503050406030204" pitchFamily="18" charset="0"/>
                                    </a:rPr>
                                    <m:t>, </m:t>
                                  </m:r>
                                  <m:f>
                                    <m:fPr>
                                      <m:ctrlPr>
                                        <a:rPr lang="en-US" sz="2400" i="1">
                                          <a:effectLst/>
                                          <a:latin typeface="Cambria Math"/>
                                        </a:rPr>
                                      </m:ctrlPr>
                                    </m:fPr>
                                    <m:num>
                                      <m:r>
                                        <a:rPr lang="en-US" sz="2400">
                                          <a:effectLst/>
                                          <a:latin typeface="Cambria Math" panose="02040503050406030204" pitchFamily="18" charset="0"/>
                                        </a:rPr>
                                        <m:t>1</m:t>
                                      </m:r>
                                    </m:num>
                                    <m:den>
                                      <m:r>
                                        <a:rPr lang="en-US" sz="2400">
                                          <a:effectLst/>
                                          <a:latin typeface="Cambria Math" panose="02040503050406030204" pitchFamily="18" charset="0"/>
                                        </a:rPr>
                                        <m:t>2</m:t>
                                      </m:r>
                                    </m:den>
                                  </m:f>
                                </m:e>
                              </m:d>
                            </m:oMath>
                          </a14:m>
                          <a:r>
                            <a:rPr lang="en-US" sz="2400">
                              <a:effectLst/>
                              <a:latin typeface="Verdana" panose="020B0604030504040204" pitchFamily="34" charset="0"/>
                              <a:ea typeface="Verdana" panose="020B0604030504040204" pitchFamily="34" charset="0"/>
                              <a:cs typeface="Verdana" panose="020B0604030504040204" pitchFamily="34" charset="0"/>
                            </a:rPr>
                            <a:t> </a:t>
                          </a:r>
                          <a:endParaRPr lang="en-US" sz="24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a:effectLst/>
                                  <a:latin typeface="Cambria Math" panose="02040503050406030204" pitchFamily="18" charset="0"/>
                                </a:rPr>
                                <m:t>𝑆</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400" i="1">
                                      <a:effectLst/>
                                      <a:latin typeface="Cambria Math"/>
                                    </a:rPr>
                                  </m:ctrlPr>
                                </m:dPr>
                                <m:e>
                                  <m:r>
                                    <a:rPr lang="en-US" sz="2400">
                                      <a:effectLst/>
                                      <a:latin typeface="Cambria Math" panose="02040503050406030204" pitchFamily="18" charset="0"/>
                                    </a:rPr>
                                    <m:t>−</m:t>
                                  </m:r>
                                  <m:f>
                                    <m:fPr>
                                      <m:ctrlPr>
                                        <a:rPr lang="en-US" sz="2400" i="1">
                                          <a:effectLst/>
                                          <a:latin typeface="Cambria Math"/>
                                        </a:rPr>
                                      </m:ctrlPr>
                                    </m:fPr>
                                    <m:num>
                                      <m:r>
                                        <a:rPr lang="en-US" sz="2400">
                                          <a:effectLst/>
                                          <a:latin typeface="Cambria Math" panose="02040503050406030204" pitchFamily="18" charset="0"/>
                                        </a:rPr>
                                        <m:t>1</m:t>
                                      </m:r>
                                    </m:num>
                                    <m:den>
                                      <m:r>
                                        <a:rPr lang="en-US" sz="2400">
                                          <a:effectLst/>
                                          <a:latin typeface="Cambria Math" panose="02040503050406030204" pitchFamily="18" charset="0"/>
                                        </a:rPr>
                                        <m:t>4</m:t>
                                      </m:r>
                                    </m:den>
                                  </m:f>
                                  <m:r>
                                    <a:rPr lang="en-US" sz="2400">
                                      <a:effectLst/>
                                      <a:latin typeface="Cambria Math" panose="02040503050406030204" pitchFamily="18" charset="0"/>
                                    </a:rPr>
                                    <m:t>, −</m:t>
                                  </m:r>
                                  <m:f>
                                    <m:fPr>
                                      <m:ctrlPr>
                                        <a:rPr lang="en-US" sz="2400" i="1">
                                          <a:effectLst/>
                                          <a:latin typeface="Cambria Math"/>
                                        </a:rPr>
                                      </m:ctrlPr>
                                    </m:fPr>
                                    <m:num>
                                      <m:r>
                                        <a:rPr lang="en-US" sz="2400">
                                          <a:effectLst/>
                                          <a:latin typeface="Cambria Math" panose="02040503050406030204" pitchFamily="18" charset="0"/>
                                        </a:rPr>
                                        <m:t>1</m:t>
                                      </m:r>
                                    </m:num>
                                    <m:den>
                                      <m:r>
                                        <a:rPr lang="en-US" sz="2400">
                                          <a:effectLst/>
                                          <a:latin typeface="Cambria Math" panose="02040503050406030204" pitchFamily="18" charset="0"/>
                                        </a:rPr>
                                        <m:t>2</m:t>
                                      </m:r>
                                    </m:den>
                                  </m:f>
                                </m:e>
                              </m:d>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US" sz="24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a:effectLst/>
                                  <a:latin typeface="Cambria Math" panose="02040503050406030204" pitchFamily="18" charset="0"/>
                                </a:rPr>
                                <m:t>𝐷</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400" i="1">
                                      <a:effectLst/>
                                      <a:latin typeface="Cambria Math"/>
                                    </a:rPr>
                                  </m:ctrlPr>
                                </m:dPr>
                                <m:e>
                                  <m:r>
                                    <a:rPr lang="en-US" sz="2400">
                                      <a:effectLst/>
                                      <a:latin typeface="Cambria Math" panose="02040503050406030204" pitchFamily="18" charset="0"/>
                                    </a:rPr>
                                    <m:t>−1</m:t>
                                  </m:r>
                                  <m:f>
                                    <m:fPr>
                                      <m:ctrlPr>
                                        <a:rPr lang="en-US" sz="2400" i="1">
                                          <a:effectLst/>
                                          <a:latin typeface="Cambria Math"/>
                                        </a:rPr>
                                      </m:ctrlPr>
                                    </m:fPr>
                                    <m:num>
                                      <m:r>
                                        <a:rPr lang="en-US" sz="2400">
                                          <a:effectLst/>
                                          <a:latin typeface="Cambria Math" panose="02040503050406030204" pitchFamily="18" charset="0"/>
                                        </a:rPr>
                                        <m:t>3</m:t>
                                      </m:r>
                                    </m:num>
                                    <m:den>
                                      <m:r>
                                        <a:rPr lang="en-US" sz="2400">
                                          <a:effectLst/>
                                          <a:latin typeface="Cambria Math" panose="02040503050406030204" pitchFamily="18" charset="0"/>
                                        </a:rPr>
                                        <m:t>4</m:t>
                                      </m:r>
                                    </m:den>
                                  </m:f>
                                  <m:r>
                                    <a:rPr lang="en-US" sz="2400">
                                      <a:effectLst/>
                                      <a:latin typeface="Cambria Math" panose="02040503050406030204" pitchFamily="18" charset="0"/>
                                    </a:rPr>
                                    <m:t>, 1</m:t>
                                  </m:r>
                                </m:e>
                              </m:d>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US" sz="24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2435718805"/>
                      </a:ext>
                    </a:extLst>
                  </a:tr>
                </a:tbl>
              </a:graphicData>
            </a:graphic>
          </p:graphicFrame>
        </mc:Choice>
        <mc:Fallback xmlns="">
          <p:graphicFrame>
            <p:nvGraphicFramePr>
              <p:cNvPr id="2" name="Table 1">
                <a:extLst>
                  <a:ext uri="{FF2B5EF4-FFF2-40B4-BE49-F238E27FC236}">
                    <a16:creationId xmlns:a16="http://schemas.microsoft.com/office/drawing/2014/main" id="{E23893A8-44E9-A64D-862A-1869FB6AC199}"/>
                  </a:ext>
                </a:extLst>
              </p:cNvPr>
              <p:cNvGraphicFramePr>
                <a:graphicFrameLocks noGrp="1"/>
              </p:cNvGraphicFramePr>
              <p:nvPr>
                <p:extLst>
                  <p:ext uri="{D42A27DB-BD31-4B8C-83A1-F6EECF244321}">
                    <p14:modId xmlns:p14="http://schemas.microsoft.com/office/powerpoint/2010/main" val="2412908457"/>
                  </p:ext>
                </p:extLst>
              </p:nvPr>
            </p:nvGraphicFramePr>
            <p:xfrm>
              <a:off x="3062106" y="1160601"/>
              <a:ext cx="6277230" cy="1363972"/>
            </p:xfrm>
            <a:graphic>
              <a:graphicData uri="http://schemas.openxmlformats.org/drawingml/2006/table">
                <a:tbl>
                  <a:tblPr bandRow="1">
                    <a:tableStyleId>{A91F0D33-8C57-4600-99A7-42BC86742BE1}</a:tableStyleId>
                  </a:tblPr>
                  <a:tblGrid>
                    <a:gridCol w="1568978">
                      <a:extLst>
                        <a:ext uri="{9D8B030D-6E8A-4147-A177-3AD203B41FA5}">
                          <a16:colId xmlns:a16="http://schemas.microsoft.com/office/drawing/2014/main" val="16495114"/>
                        </a:ext>
                      </a:extLst>
                    </a:gridCol>
                    <a:gridCol w="1568978">
                      <a:extLst>
                        <a:ext uri="{9D8B030D-6E8A-4147-A177-3AD203B41FA5}">
                          <a16:colId xmlns:a16="http://schemas.microsoft.com/office/drawing/2014/main" val="3035084364"/>
                        </a:ext>
                      </a:extLst>
                    </a:gridCol>
                    <a:gridCol w="1569637">
                      <a:extLst>
                        <a:ext uri="{9D8B030D-6E8A-4147-A177-3AD203B41FA5}">
                          <a16:colId xmlns:a16="http://schemas.microsoft.com/office/drawing/2014/main" val="772313922"/>
                        </a:ext>
                      </a:extLst>
                    </a:gridCol>
                    <a:gridCol w="1569637">
                      <a:extLst>
                        <a:ext uri="{9D8B030D-6E8A-4147-A177-3AD203B41FA5}">
                          <a16:colId xmlns:a16="http://schemas.microsoft.com/office/drawing/2014/main" val="4288375783"/>
                        </a:ext>
                      </a:extLst>
                    </a:gridCol>
                  </a:tblGrid>
                  <a:tr h="1363972">
                    <a:tc>
                      <a:txBody>
                        <a:bodyPr/>
                        <a:lstStyle/>
                        <a:p>
                          <a:endParaRPr lang="en-US"/>
                        </a:p>
                      </a:txBody>
                      <a:tcPr marL="68580" marR="68580" marT="0" marB="0" anchor="ctr">
                        <a:blipFill>
                          <a:blip r:embed="rId5"/>
                          <a:stretch>
                            <a:fillRect l="-806" t="-926" r="-300000" b="-926"/>
                          </a:stretch>
                        </a:blipFill>
                      </a:tcPr>
                    </a:tc>
                    <a:tc>
                      <a:txBody>
                        <a:bodyPr/>
                        <a:lstStyle/>
                        <a:p>
                          <a:endParaRPr lang="en-US"/>
                        </a:p>
                      </a:txBody>
                      <a:tcPr marL="68580" marR="68580" marT="0" marB="0" anchor="ctr">
                        <a:blipFill>
                          <a:blip r:embed="rId5"/>
                          <a:stretch>
                            <a:fillRect l="-101626" t="-926" r="-202439" b="-926"/>
                          </a:stretch>
                        </a:blipFill>
                      </a:tcPr>
                    </a:tc>
                    <a:tc>
                      <a:txBody>
                        <a:bodyPr/>
                        <a:lstStyle/>
                        <a:p>
                          <a:endParaRPr lang="en-US"/>
                        </a:p>
                      </a:txBody>
                      <a:tcPr marL="68580" marR="68580" marT="0" marB="0" anchor="ctr">
                        <a:blipFill>
                          <a:blip r:embed="rId5"/>
                          <a:stretch>
                            <a:fillRect l="-200000" t="-926" r="-100806" b="-926"/>
                          </a:stretch>
                        </a:blipFill>
                      </a:tcPr>
                    </a:tc>
                    <a:tc>
                      <a:txBody>
                        <a:bodyPr/>
                        <a:lstStyle/>
                        <a:p>
                          <a:endParaRPr lang="en-US"/>
                        </a:p>
                      </a:txBody>
                      <a:tcPr marL="68580" marR="68580" marT="0" marB="0" anchor="ctr">
                        <a:blipFill>
                          <a:blip r:embed="rId5"/>
                          <a:stretch>
                            <a:fillRect l="-300000" t="-926" r="-806" b="-926"/>
                          </a:stretch>
                        </a:blipFill>
                      </a:tcPr>
                    </a:tc>
                    <a:extLst>
                      <a:ext uri="{0D108BD9-81ED-4DB2-BD59-A6C34878D82A}">
                        <a16:rowId xmlns:a16="http://schemas.microsoft.com/office/drawing/2014/main" val="2435718805"/>
                      </a:ext>
                    </a:extLst>
                  </a:tr>
                </a:tbl>
              </a:graphicData>
            </a:graphic>
          </p:graphicFrame>
        </mc:Fallback>
      </mc:AlternateContent>
    </p:spTree>
    <p:extLst>
      <p:ext uri="{BB962C8B-B14F-4D97-AF65-F5344CB8AC3E}">
        <p14:creationId xmlns:p14="http://schemas.microsoft.com/office/powerpoint/2010/main" val="3086183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12644" y="520392"/>
            <a:ext cx="11535515" cy="830997"/>
          </a:xfrm>
          <a:prstGeom prst="rect">
            <a:avLst/>
          </a:prstGeom>
          <a:noFill/>
        </p:spPr>
        <p:txBody>
          <a:bodyPr wrap="square" rtlCol="0">
            <a:spAutoFit/>
          </a:bodyPr>
          <a:lstStyle/>
          <a:p>
            <a:pPr marL="460375" indent="-4445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Draw and label coordinate axes with the scale of your choice. Then, plot and label the points.</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1.png">
            <a:extLst>
              <a:ext uri="{FF2B5EF4-FFF2-40B4-BE49-F238E27FC236}">
                <a16:creationId xmlns:a16="http://schemas.microsoft.com/office/drawing/2014/main" xmlns="" id="{20E03A9D-CEB6-644C-89A5-84130E18B56D}"/>
              </a:ext>
            </a:extLst>
          </p:cNvPr>
          <p:cNvPicPr>
            <a:picLocks noChangeAspect="1"/>
          </p:cNvPicPr>
          <p:nvPr/>
        </p:nvPicPr>
        <p:blipFill>
          <a:blip r:embed="rId4"/>
          <a:srcRect/>
          <a:stretch>
            <a:fillRect/>
          </a:stretch>
        </p:blipFill>
        <p:spPr>
          <a:xfrm>
            <a:off x="2974773" y="1351686"/>
            <a:ext cx="6411255" cy="4835502"/>
          </a:xfrm>
          <a:prstGeom prst="rect">
            <a:avLst/>
          </a:prstGeom>
          <a:ln/>
        </p:spPr>
      </p:pic>
    </p:spTree>
    <p:extLst>
      <p:ext uri="{BB962C8B-B14F-4D97-AF65-F5344CB8AC3E}">
        <p14:creationId xmlns:p14="http://schemas.microsoft.com/office/powerpoint/2010/main" val="1295788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314774" y="571194"/>
            <a:ext cx="11135546" cy="3170099"/>
          </a:xfrm>
          <a:prstGeom prst="rect">
            <a:avLst/>
          </a:prstGeom>
          <a:noFill/>
        </p:spPr>
        <p:txBody>
          <a:bodyPr wrap="square" rtlCol="0">
            <a:spAutoFit/>
          </a:bodyPr>
          <a:lstStyle/>
          <a:p>
            <a:pPr marL="460375" indent="-460375">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Another set of four points is shown.</a:t>
            </a:r>
          </a:p>
          <a:p>
            <a:pPr marL="460375" indent="-460375">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73125" indent="-41275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73125" indent="-4127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List the denominators of each fraction.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3"/>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AC4CCE7D-4AB0-264B-A54C-D28D065DD73D}"/>
                  </a:ext>
                </a:extLst>
              </p:cNvPr>
              <p:cNvGraphicFramePr>
                <a:graphicFrameLocks noGrp="1"/>
              </p:cNvGraphicFramePr>
              <p:nvPr>
                <p:extLst>
                  <p:ext uri="{D42A27DB-BD31-4B8C-83A1-F6EECF244321}">
                    <p14:modId xmlns:p14="http://schemas.microsoft.com/office/powerpoint/2010/main" val="2126470292"/>
                  </p:ext>
                </p:extLst>
              </p:nvPr>
            </p:nvGraphicFramePr>
            <p:xfrm>
              <a:off x="2826795" y="1262154"/>
              <a:ext cx="6538410" cy="1211538"/>
            </p:xfrm>
            <a:graphic>
              <a:graphicData uri="http://schemas.openxmlformats.org/drawingml/2006/table">
                <a:tbl>
                  <a:tblPr bandRow="1">
                    <a:tableStyleId>{A91F0D33-8C57-4600-99A7-42BC86742BE1}</a:tableStyleId>
                  </a:tblPr>
                  <a:tblGrid>
                    <a:gridCol w="1634248">
                      <a:extLst>
                        <a:ext uri="{9D8B030D-6E8A-4147-A177-3AD203B41FA5}">
                          <a16:colId xmlns:a16="http://schemas.microsoft.com/office/drawing/2014/main" xmlns="" val="1520619183"/>
                        </a:ext>
                      </a:extLst>
                    </a:gridCol>
                    <a:gridCol w="1634248">
                      <a:extLst>
                        <a:ext uri="{9D8B030D-6E8A-4147-A177-3AD203B41FA5}">
                          <a16:colId xmlns:a16="http://schemas.microsoft.com/office/drawing/2014/main" xmlns="" val="523834843"/>
                        </a:ext>
                      </a:extLst>
                    </a:gridCol>
                    <a:gridCol w="1634957">
                      <a:extLst>
                        <a:ext uri="{9D8B030D-6E8A-4147-A177-3AD203B41FA5}">
                          <a16:colId xmlns:a16="http://schemas.microsoft.com/office/drawing/2014/main" xmlns="" val="93100389"/>
                        </a:ext>
                      </a:extLst>
                    </a:gridCol>
                    <a:gridCol w="1634957">
                      <a:extLst>
                        <a:ext uri="{9D8B030D-6E8A-4147-A177-3AD203B41FA5}">
                          <a16:colId xmlns:a16="http://schemas.microsoft.com/office/drawing/2014/main" xmlns="" val="3845601037"/>
                        </a:ext>
                      </a:extLst>
                    </a:gridCol>
                  </a:tblGrid>
                  <a:tr h="121153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𝑀</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f>
                                    <m:fPr>
                                      <m:ctrlPr>
                                        <a:rPr lang="en-US" sz="2000" i="1">
                                          <a:effectLst/>
                                          <a:latin typeface="Cambria Math"/>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3</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6</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𝐿</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𝐶</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f>
                                    <m:fPr>
                                      <m:ctrlPr>
                                        <a:rPr lang="en-US" sz="2000" i="1">
                                          <a:effectLst/>
                                          <a:latin typeface="Cambria Math"/>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6</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𝐴</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6</m:t>
                                      </m:r>
                                    </m:den>
                                  </m:f>
                                  <m:r>
                                    <a:rPr lang="en-US" sz="2000">
                                      <a:effectLst/>
                                      <a:latin typeface="Cambria Math" panose="02040503050406030204" pitchFamily="18" charset="0"/>
                                    </a:rPr>
                                    <m:t>, 1</m:t>
                                  </m:r>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307219809"/>
                      </a:ext>
                    </a:extLst>
                  </a:tr>
                </a:tbl>
              </a:graphicData>
            </a:graphic>
          </p:graphicFrame>
        </mc:Choice>
        <mc:Fallback xmlns="">
          <p:graphicFrame>
            <p:nvGraphicFramePr>
              <p:cNvPr id="2" name="Table 1">
                <a:extLst>
                  <a:ext uri="{FF2B5EF4-FFF2-40B4-BE49-F238E27FC236}">
                    <a16:creationId xmlns:a16="http://schemas.microsoft.com/office/drawing/2014/main" id="{AC4CCE7D-4AB0-264B-A54C-D28D065DD73D}"/>
                  </a:ext>
                </a:extLst>
              </p:cNvPr>
              <p:cNvGraphicFramePr>
                <a:graphicFrameLocks noGrp="1"/>
              </p:cNvGraphicFramePr>
              <p:nvPr>
                <p:extLst>
                  <p:ext uri="{D42A27DB-BD31-4B8C-83A1-F6EECF244321}">
                    <p14:modId xmlns:p14="http://schemas.microsoft.com/office/powerpoint/2010/main" val="2126470292"/>
                  </p:ext>
                </p:extLst>
              </p:nvPr>
            </p:nvGraphicFramePr>
            <p:xfrm>
              <a:off x="2826795" y="1262154"/>
              <a:ext cx="6538410" cy="1211538"/>
            </p:xfrm>
            <a:graphic>
              <a:graphicData uri="http://schemas.openxmlformats.org/drawingml/2006/table">
                <a:tbl>
                  <a:tblPr bandRow="1">
                    <a:tableStyleId>{A91F0D33-8C57-4600-99A7-42BC86742BE1}</a:tableStyleId>
                  </a:tblPr>
                  <a:tblGrid>
                    <a:gridCol w="1634248">
                      <a:extLst>
                        <a:ext uri="{9D8B030D-6E8A-4147-A177-3AD203B41FA5}">
                          <a16:colId xmlns:a16="http://schemas.microsoft.com/office/drawing/2014/main" val="1520619183"/>
                        </a:ext>
                      </a:extLst>
                    </a:gridCol>
                    <a:gridCol w="1634248">
                      <a:extLst>
                        <a:ext uri="{9D8B030D-6E8A-4147-A177-3AD203B41FA5}">
                          <a16:colId xmlns:a16="http://schemas.microsoft.com/office/drawing/2014/main" val="523834843"/>
                        </a:ext>
                      </a:extLst>
                    </a:gridCol>
                    <a:gridCol w="1634957">
                      <a:extLst>
                        <a:ext uri="{9D8B030D-6E8A-4147-A177-3AD203B41FA5}">
                          <a16:colId xmlns:a16="http://schemas.microsoft.com/office/drawing/2014/main" val="93100389"/>
                        </a:ext>
                      </a:extLst>
                    </a:gridCol>
                    <a:gridCol w="1634957">
                      <a:extLst>
                        <a:ext uri="{9D8B030D-6E8A-4147-A177-3AD203B41FA5}">
                          <a16:colId xmlns:a16="http://schemas.microsoft.com/office/drawing/2014/main" val="3845601037"/>
                        </a:ext>
                      </a:extLst>
                    </a:gridCol>
                  </a:tblGrid>
                  <a:tr h="1211538">
                    <a:tc>
                      <a:txBody>
                        <a:bodyPr/>
                        <a:lstStyle/>
                        <a:p>
                          <a:endParaRPr lang="en-US"/>
                        </a:p>
                      </a:txBody>
                      <a:tcPr marL="68580" marR="68580" marT="0" marB="0" anchor="ctr">
                        <a:blipFill>
                          <a:blip r:embed="rId4"/>
                          <a:stretch>
                            <a:fillRect l="-775" t="-1042" r="-300775" b="-1042"/>
                          </a:stretch>
                        </a:blipFill>
                      </a:tcPr>
                    </a:tc>
                    <a:tc>
                      <a:txBody>
                        <a:bodyPr/>
                        <a:lstStyle/>
                        <a:p>
                          <a:endParaRPr lang="en-US"/>
                        </a:p>
                      </a:txBody>
                      <a:tcPr marL="68580" marR="68580" marT="0" marB="0" anchor="ctr">
                        <a:blipFill>
                          <a:blip r:embed="rId4"/>
                          <a:stretch>
                            <a:fillRect l="-100775" t="-1042" r="-200775" b="-1042"/>
                          </a:stretch>
                        </a:blipFill>
                      </a:tcPr>
                    </a:tc>
                    <a:tc>
                      <a:txBody>
                        <a:bodyPr/>
                        <a:lstStyle/>
                        <a:p>
                          <a:endParaRPr lang="en-US"/>
                        </a:p>
                      </a:txBody>
                      <a:tcPr marL="68580" marR="68580" marT="0" marB="0" anchor="ctr">
                        <a:blipFill>
                          <a:blip r:embed="rId4"/>
                          <a:stretch>
                            <a:fillRect l="-200775" t="-1042" r="-100775" b="-1042"/>
                          </a:stretch>
                        </a:blipFill>
                      </a:tcPr>
                    </a:tc>
                    <a:tc>
                      <a:txBody>
                        <a:bodyPr/>
                        <a:lstStyle/>
                        <a:p>
                          <a:endParaRPr lang="en-US"/>
                        </a:p>
                      </a:txBody>
                      <a:tcPr marL="68580" marR="68580" marT="0" marB="0" anchor="ctr">
                        <a:blipFill>
                          <a:blip r:embed="rId4"/>
                          <a:stretch>
                            <a:fillRect l="-300775" t="-1042" r="-775" b="-1042"/>
                          </a:stretch>
                        </a:blipFill>
                      </a:tcPr>
                    </a:tc>
                    <a:extLst>
                      <a:ext uri="{0D108BD9-81ED-4DB2-BD59-A6C34878D82A}">
                        <a16:rowId xmlns:a16="http://schemas.microsoft.com/office/drawing/2014/main" val="307219809"/>
                      </a:ext>
                    </a:extLst>
                  </a:tr>
                </a:tbl>
              </a:graphicData>
            </a:graphic>
          </p:graphicFrame>
        </mc:Fallback>
      </mc:AlternateContent>
    </p:spTree>
    <p:extLst>
      <p:ext uri="{BB962C8B-B14F-4D97-AF65-F5344CB8AC3E}">
        <p14:creationId xmlns:p14="http://schemas.microsoft.com/office/powerpoint/2010/main" val="2865429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219</a:t>
            </a:r>
            <a:endParaRPr i="1" dirty="0">
              <a:latin typeface="Calibri"/>
              <a:ea typeface="Calibri"/>
              <a:cs typeface="Calibri"/>
              <a:sym typeface="Calibri"/>
            </a:endParaRPr>
          </a:p>
        </p:txBody>
      </p:sp>
      <p:sp>
        <p:nvSpPr>
          <p:cNvPr id="22" name="TextBox 21">
            <a:extLst>
              <a:ext uri="{FF2B5EF4-FFF2-40B4-BE49-F238E27FC236}">
                <a16:creationId xmlns:a16="http://schemas.microsoft.com/office/drawing/2014/main" xmlns="" id="{1C4148F8-1617-954A-9EC8-79F048331198}"/>
              </a:ext>
            </a:extLst>
          </p:cNvPr>
          <p:cNvSpPr txBox="1"/>
          <p:nvPr/>
        </p:nvSpPr>
        <p:spPr>
          <a:xfrm>
            <a:off x="0" y="390753"/>
            <a:ext cx="11958320" cy="1938992"/>
          </a:xfrm>
          <a:prstGeom prst="rect">
            <a:avLst/>
          </a:prstGeom>
          <a:noFill/>
        </p:spPr>
        <p:txBody>
          <a:bodyPr wrap="square">
            <a:spAutoFit/>
          </a:bodyPr>
          <a:lstStyle/>
          <a:p>
            <a:pPr marL="920750" indent="-5080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Zoe says she does not want to label her axes by halves because she will only be able to approximate the location of the thirds. She also says she does not want to label by thirds because there is no easy way to approximate the location of the halves. Christopher says she should label her axes by sixths.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873125" indent="-460375">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12750"/>
            <a:r>
              <a:rPr lang="en-US" sz="2000" dirty="0">
                <a:latin typeface="Verdana" panose="020B0604030504040204" pitchFamily="34" charset="0"/>
                <a:ea typeface="Verdana" panose="020B0604030504040204" pitchFamily="34" charset="0"/>
                <a:cs typeface="Verdana" panose="020B0604030504040204" pitchFamily="34" charset="0"/>
              </a:rPr>
              <a:t>Explain the benefit of using Christopher’s plan.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488662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220</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63444" y="554371"/>
            <a:ext cx="11108795" cy="400110"/>
          </a:xfrm>
          <a:prstGeom prst="rect">
            <a:avLst/>
          </a:prstGeom>
          <a:noFill/>
        </p:spPr>
        <p:txBody>
          <a:bodyPr wrap="square" rtlCol="0">
            <a:spAutoFit/>
          </a:bodyPr>
          <a:lstStyle/>
          <a:p>
            <a:pPr marL="460375" indent="-46037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Draw and label coordinate axes with the scale you chose and plot the points.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1.png">
            <a:extLst>
              <a:ext uri="{FF2B5EF4-FFF2-40B4-BE49-F238E27FC236}">
                <a16:creationId xmlns:a16="http://schemas.microsoft.com/office/drawing/2014/main" xmlns="" id="{A7371DC6-EEFC-4A40-AB01-D1930E587EFA}"/>
              </a:ext>
            </a:extLst>
          </p:cNvPr>
          <p:cNvPicPr>
            <a:picLocks noChangeAspect="1"/>
          </p:cNvPicPr>
          <p:nvPr/>
        </p:nvPicPr>
        <p:blipFill>
          <a:blip r:embed="rId4"/>
          <a:srcRect/>
          <a:stretch>
            <a:fillRect/>
          </a:stretch>
        </p:blipFill>
        <p:spPr>
          <a:xfrm>
            <a:off x="3231987" y="1267872"/>
            <a:ext cx="5728025" cy="4322256"/>
          </a:xfrm>
          <a:prstGeom prst="rect">
            <a:avLst/>
          </a:prstGeom>
          <a:ln/>
        </p:spPr>
      </p:pic>
    </p:spTree>
    <p:extLst>
      <p:ext uri="{BB962C8B-B14F-4D97-AF65-F5344CB8AC3E}">
        <p14:creationId xmlns:p14="http://schemas.microsoft.com/office/powerpoint/2010/main" val="2919627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220</a:t>
            </a:r>
            <a:endParaRPr i="1" dirty="0">
              <a:latin typeface="Calibri"/>
              <a:ea typeface="Calibri"/>
              <a:cs typeface="Calibri"/>
              <a:sym typeface="Calibri"/>
            </a:endParaRPr>
          </a:p>
        </p:txBody>
      </p:sp>
      <p:grpSp>
        <p:nvGrpSpPr>
          <p:cNvPr id="24" name="Group 23">
            <a:extLst>
              <a:ext uri="{FF2B5EF4-FFF2-40B4-BE49-F238E27FC236}">
                <a16:creationId xmlns:a16="http://schemas.microsoft.com/office/drawing/2014/main" xmlns="" id="{BAB0BF0F-0248-7541-8272-0198FCC31F2B}"/>
              </a:ext>
            </a:extLst>
          </p:cNvPr>
          <p:cNvGrpSpPr/>
          <p:nvPr/>
        </p:nvGrpSpPr>
        <p:grpSpPr>
          <a:xfrm>
            <a:off x="2041049" y="1629485"/>
            <a:ext cx="8109901" cy="2882461"/>
            <a:chOff x="1067849" y="1704984"/>
            <a:chExt cx="8109901" cy="2883270"/>
          </a:xfrm>
        </p:grpSpPr>
        <p:grpSp>
          <p:nvGrpSpPr>
            <p:cNvPr id="25" name="Group 24">
              <a:extLst>
                <a:ext uri="{FF2B5EF4-FFF2-40B4-BE49-F238E27FC236}">
                  <a16:creationId xmlns:a16="http://schemas.microsoft.com/office/drawing/2014/main" xmlns="" id="{7974F999-6FCA-264C-9DA4-48748AB03FBB}"/>
                </a:ext>
              </a:extLst>
            </p:cNvPr>
            <p:cNvGrpSpPr/>
            <p:nvPr/>
          </p:nvGrpSpPr>
          <p:grpSpPr>
            <a:xfrm>
              <a:off x="1067849" y="1704984"/>
              <a:ext cx="8109901" cy="2883270"/>
              <a:chOff x="1067849" y="1444014"/>
              <a:chExt cx="8109901" cy="3245893"/>
            </a:xfrm>
          </p:grpSpPr>
          <p:sp>
            <p:nvSpPr>
              <p:cNvPr id="26" name="Rectangle 25">
                <a:extLst>
                  <a:ext uri="{FF2B5EF4-FFF2-40B4-BE49-F238E27FC236}">
                    <a16:creationId xmlns:a16="http://schemas.microsoft.com/office/drawing/2014/main" xmlns="" id="{8D6C3B3F-C5C4-364C-BECA-90E2B59B7F88}"/>
                  </a:ext>
                </a:extLst>
              </p:cNvPr>
              <p:cNvSpPr/>
              <p:nvPr/>
            </p:nvSpPr>
            <p:spPr>
              <a:xfrm>
                <a:off x="2031300" y="2870082"/>
                <a:ext cx="6629400" cy="1819825"/>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grpSp>
            <p:nvGrpSpPr>
              <p:cNvPr id="27" name="Group 26">
                <a:extLst>
                  <a:ext uri="{FF2B5EF4-FFF2-40B4-BE49-F238E27FC236}">
                    <a16:creationId xmlns:a16="http://schemas.microsoft.com/office/drawing/2014/main" xmlns="" id="{4BE0450E-5EC3-1142-B651-3BEA8F2CDA75}"/>
                  </a:ext>
                </a:extLst>
              </p:cNvPr>
              <p:cNvGrpSpPr/>
              <p:nvPr/>
            </p:nvGrpSpPr>
            <p:grpSpPr>
              <a:xfrm>
                <a:off x="1067849" y="1444014"/>
                <a:ext cx="8109901" cy="3245893"/>
                <a:chOff x="1067849" y="1849667"/>
                <a:chExt cx="8109901" cy="3245893"/>
              </a:xfrm>
            </p:grpSpPr>
            <p:sp>
              <p:nvSpPr>
                <p:cNvPr id="28" name="Rectangle 27">
                  <a:extLst>
                    <a:ext uri="{FF2B5EF4-FFF2-40B4-BE49-F238E27FC236}">
                      <a16:creationId xmlns:a16="http://schemas.microsoft.com/office/drawing/2014/main" xmlns="" id="{87A6C76A-C157-F14E-8A05-0E183278F068}"/>
                    </a:ext>
                  </a:extLst>
                </p:cNvPr>
                <p:cNvSpPr/>
                <p:nvPr/>
              </p:nvSpPr>
              <p:spPr>
                <a:xfrm>
                  <a:off x="2031300" y="3275735"/>
                  <a:ext cx="6629400" cy="1819825"/>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grpSp>
              <p:nvGrpSpPr>
                <p:cNvPr id="29" name="Group 28">
                  <a:extLst>
                    <a:ext uri="{FF2B5EF4-FFF2-40B4-BE49-F238E27FC236}">
                      <a16:creationId xmlns:a16="http://schemas.microsoft.com/office/drawing/2014/main" xmlns="" id="{FC94D4D1-4159-A045-9632-51F23FAD6BD2}"/>
                    </a:ext>
                  </a:extLst>
                </p:cNvPr>
                <p:cNvGrpSpPr/>
                <p:nvPr/>
              </p:nvGrpSpPr>
              <p:grpSpPr>
                <a:xfrm>
                  <a:off x="1067849" y="1849667"/>
                  <a:ext cx="8109901" cy="2852136"/>
                  <a:chOff x="1067849" y="1849667"/>
                  <a:chExt cx="8109901" cy="2852136"/>
                </a:xfrm>
              </p:grpSpPr>
              <p:sp>
                <p:nvSpPr>
                  <p:cNvPr id="30" name="Rectangle 29">
                    <a:extLst>
                      <a:ext uri="{FF2B5EF4-FFF2-40B4-BE49-F238E27FC236}">
                        <a16:creationId xmlns:a16="http://schemas.microsoft.com/office/drawing/2014/main" xmlns="" id="{CB8B8FA9-B0A0-054E-851F-876D73C4CC8D}"/>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grpSp>
                <p:nvGrpSpPr>
                  <p:cNvPr id="31" name="Group 30">
                    <a:extLst>
                      <a:ext uri="{FF2B5EF4-FFF2-40B4-BE49-F238E27FC236}">
                        <a16:creationId xmlns:a16="http://schemas.microsoft.com/office/drawing/2014/main" xmlns="" id="{F40F3FD5-0B2C-8C45-AFA1-3A2B334CF863}"/>
                      </a:ext>
                    </a:extLst>
                  </p:cNvPr>
                  <p:cNvGrpSpPr/>
                  <p:nvPr/>
                </p:nvGrpSpPr>
                <p:grpSpPr>
                  <a:xfrm>
                    <a:off x="1067849" y="1849667"/>
                    <a:ext cx="8109901" cy="2852136"/>
                    <a:chOff x="1067849" y="1849667"/>
                    <a:chExt cx="8109901" cy="2852136"/>
                  </a:xfrm>
                </p:grpSpPr>
                <p:sp>
                  <p:nvSpPr>
                    <p:cNvPr id="32" name="Rectangle 31">
                      <a:extLst>
                        <a:ext uri="{FF2B5EF4-FFF2-40B4-BE49-F238E27FC236}">
                          <a16:creationId xmlns:a16="http://schemas.microsoft.com/office/drawing/2014/main" xmlns="" id="{545C5D15-1596-F649-A3A8-C50AFEEB457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grpSp>
                  <p:nvGrpSpPr>
                    <p:cNvPr id="33" name="Group 32">
                      <a:extLst>
                        <a:ext uri="{FF2B5EF4-FFF2-40B4-BE49-F238E27FC236}">
                          <a16:creationId xmlns:a16="http://schemas.microsoft.com/office/drawing/2014/main" xmlns="" id="{54F92EA4-80FB-844A-8599-0E301DA7AB73}"/>
                        </a:ext>
                      </a:extLst>
                    </p:cNvPr>
                    <p:cNvGrpSpPr/>
                    <p:nvPr/>
                  </p:nvGrpSpPr>
                  <p:grpSpPr>
                    <a:xfrm>
                      <a:off x="1067849" y="1849667"/>
                      <a:ext cx="8109901" cy="2852136"/>
                      <a:chOff x="-963451" y="-1426068"/>
                      <a:chExt cx="8109901" cy="2852136"/>
                    </a:xfrm>
                  </p:grpSpPr>
                  <p:sp>
                    <p:nvSpPr>
                      <p:cNvPr id="34" name="Rectangle 33">
                        <a:extLst>
                          <a:ext uri="{FF2B5EF4-FFF2-40B4-BE49-F238E27FC236}">
                            <a16:creationId xmlns:a16="http://schemas.microsoft.com/office/drawing/2014/main" xmlns="" id="{3DD6D81A-BB02-CB41-94D4-2A509480C427}"/>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grpSp>
                    <p:nvGrpSpPr>
                      <p:cNvPr id="35" name="Group 34">
                        <a:extLst>
                          <a:ext uri="{FF2B5EF4-FFF2-40B4-BE49-F238E27FC236}">
                            <a16:creationId xmlns:a16="http://schemas.microsoft.com/office/drawing/2014/main" xmlns="" id="{FDDE8F6F-DD58-0446-899A-1222F31E4FF5}"/>
                          </a:ext>
                        </a:extLst>
                      </p:cNvPr>
                      <p:cNvGrpSpPr/>
                      <p:nvPr/>
                    </p:nvGrpSpPr>
                    <p:grpSpPr>
                      <a:xfrm>
                        <a:off x="-963451" y="-1426068"/>
                        <a:ext cx="8109901" cy="2852136"/>
                        <a:chOff x="-963451" y="-1426068"/>
                        <a:chExt cx="8109901" cy="2852136"/>
                      </a:xfrm>
                    </p:grpSpPr>
                    <p:sp>
                      <p:nvSpPr>
                        <p:cNvPr id="37" name="Rectangle 36">
                          <a:extLst>
                            <a:ext uri="{FF2B5EF4-FFF2-40B4-BE49-F238E27FC236}">
                              <a16:creationId xmlns:a16="http://schemas.microsoft.com/office/drawing/2014/main" xmlns="" id="{81196229-E6A1-374C-8C41-E359A0D7268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sp>
                      <p:nvSpPr>
                        <p:cNvPr id="38" name="Rectangle 37">
                          <a:extLst>
                            <a:ext uri="{FF2B5EF4-FFF2-40B4-BE49-F238E27FC236}">
                              <a16:creationId xmlns:a16="http://schemas.microsoft.com/office/drawing/2014/main" xmlns="" id="{1437637E-C024-5D43-8D39-42F5B69A873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sp>
                      <p:nvSpPr>
                        <p:cNvPr id="39" name="Rounded Rectangle 38">
                          <a:extLst>
                            <a:ext uri="{FF2B5EF4-FFF2-40B4-BE49-F238E27FC236}">
                              <a16:creationId xmlns:a16="http://schemas.microsoft.com/office/drawing/2014/main" xmlns="" id="{C03A9728-08EF-524F-AA1C-CC02E7393464}"/>
                            </a:ext>
                          </a:extLst>
                        </p:cNvPr>
                        <p:cNvSpPr/>
                        <p:nvPr/>
                      </p:nvSpPr>
                      <p:spPr>
                        <a:xfrm>
                          <a:off x="-963451" y="-1426068"/>
                          <a:ext cx="8109901" cy="2852136"/>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12700">
                            <a:lnSpc>
                              <a:spcPct val="107000"/>
                            </a:lnSpc>
                          </a:pPr>
                          <a:r>
                            <a:rPr lang="en-US" sz="2400" dirty="0">
                              <a:solidFill>
                                <a:srgbClr val="00619E"/>
                              </a:solidFill>
                              <a:latin typeface="Verdana" panose="020B0604030504040204" pitchFamily="34" charset="0"/>
                              <a:ea typeface="Verdana" panose="020B0604030504040204" pitchFamily="34" charset="0"/>
                              <a:cs typeface="Verdana" panose="020B0604030504040204" pitchFamily="34" charset="0"/>
                            </a:rPr>
                            <a:t>When deciding on a scale for plotting ordered pairs with rational values, consider the least common multiple (LCM) of each of the denominators to determine the proper increments.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685800" indent="3600450" algn="just">
                            <a:lnSpc>
                              <a:spcPct val="107000"/>
                            </a:lnSpc>
                            <a:spcAft>
                              <a:spcPts val="800"/>
                            </a:spcAft>
                          </a:pPr>
                          <a:r>
                            <a:rPr lang="en-US" sz="1600" i="1" dirty="0">
                              <a:latin typeface="Cambria Math" panose="02040503050406030204" pitchFamily="18" charset="0"/>
                              <a:ea typeface="Times New Roman" panose="02020603050405020304" pitchFamily="18" charset="0"/>
                              <a:cs typeface="Cambria Math" panose="02040503050406030204" pitchFamily="18" charset="0"/>
                            </a:rPr>
                            <a:t> </a:t>
                          </a:r>
                        </a:p>
                      </p:txBody>
                    </p:sp>
                  </p:grpSp>
                  <p:pic>
                    <p:nvPicPr>
                      <p:cNvPr id="36" name="Shape 17" descr="Icon&#10;&#10;Description automatically generated">
                        <a:extLst>
                          <a:ext uri="{FF2B5EF4-FFF2-40B4-BE49-F238E27FC236}">
                            <a16:creationId xmlns:a16="http://schemas.microsoft.com/office/drawing/2014/main" xmlns="" id="{F3B86D26-E298-8342-905A-AEBE0A5CF44D}"/>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32830" y="-1224357"/>
                        <a:ext cx="638965" cy="771481"/>
                      </a:xfrm>
                      <a:prstGeom prst="rect">
                        <a:avLst/>
                      </a:prstGeom>
                      <a:noFill/>
                      <a:ln>
                        <a:noFill/>
                      </a:ln>
                      <a:effectLst>
                        <a:outerShdw blurRad="50800" dist="38100" dir="2700000" algn="tl" rotWithShape="0">
                          <a:prstClr val="black">
                            <a:alpha val="40000"/>
                          </a:prstClr>
                        </a:outerShdw>
                      </a:effectLst>
                    </p:spPr>
                  </p:pic>
                </p:grpSp>
              </p:grpSp>
            </p:grpSp>
          </p:grpSp>
        </p:grpSp>
      </p:grpSp>
    </p:spTree>
    <p:extLst>
      <p:ext uri="{BB962C8B-B14F-4D97-AF65-F5344CB8AC3E}">
        <p14:creationId xmlns:p14="http://schemas.microsoft.com/office/powerpoint/2010/main" val="3201895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62960"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220</a:t>
            </a:r>
            <a:endParaRPr i="1" dirty="0">
              <a:latin typeface="Calibri"/>
              <a:ea typeface="Calibri"/>
              <a:cs typeface="Calibri"/>
              <a:sym typeface="Calibri"/>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836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5690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5.3.5 Try It: Plotting Points with Fractions as a Scale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220</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0AB6A3A1-5A0D-C84F-AC89-57E6782F43E5}"/>
              </a:ext>
            </a:extLst>
          </p:cNvPr>
          <p:cNvSpPr txBox="1"/>
          <p:nvPr/>
        </p:nvSpPr>
        <p:spPr>
          <a:xfrm>
            <a:off x="731520" y="1388399"/>
            <a:ext cx="11115040"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Draw and label coordinate axes with an appropriate scale. Then, plot and label the points.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A27B99E7-4C8A-614C-98E9-82CD974528DB}"/>
                  </a:ext>
                </a:extLst>
              </p:cNvPr>
              <p:cNvGraphicFramePr>
                <a:graphicFrameLocks noGrp="1"/>
              </p:cNvGraphicFramePr>
              <p:nvPr>
                <p:extLst>
                  <p:ext uri="{D42A27DB-BD31-4B8C-83A1-F6EECF244321}">
                    <p14:modId xmlns:p14="http://schemas.microsoft.com/office/powerpoint/2010/main" val="3157312495"/>
                  </p:ext>
                </p:extLst>
              </p:nvPr>
            </p:nvGraphicFramePr>
            <p:xfrm>
              <a:off x="7640964" y="2109770"/>
              <a:ext cx="2683080" cy="1190189"/>
            </p:xfrm>
            <a:graphic>
              <a:graphicData uri="http://schemas.openxmlformats.org/drawingml/2006/table">
                <a:tbl>
                  <a:tblPr bandRow="1">
                    <a:tableStyleId>{A91F0D33-8C57-4600-99A7-42BC86742BE1}</a:tableStyleId>
                  </a:tblPr>
                  <a:tblGrid>
                    <a:gridCol w="1341540">
                      <a:extLst>
                        <a:ext uri="{9D8B030D-6E8A-4147-A177-3AD203B41FA5}">
                          <a16:colId xmlns:a16="http://schemas.microsoft.com/office/drawing/2014/main" xmlns="" val="3899091042"/>
                        </a:ext>
                      </a:extLst>
                    </a:gridCol>
                    <a:gridCol w="1341540">
                      <a:extLst>
                        <a:ext uri="{9D8B030D-6E8A-4147-A177-3AD203B41FA5}">
                          <a16:colId xmlns:a16="http://schemas.microsoft.com/office/drawing/2014/main" xmlns="" val="2835311615"/>
                        </a:ext>
                      </a:extLst>
                    </a:gridCol>
                  </a:tblGrid>
                  <a:tr h="119018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𝑊</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f>
                                    <m:fPr>
                                      <m:ctrlPr>
                                        <a:rPr lang="en-US" sz="2000" i="1">
                                          <a:effectLst/>
                                          <a:latin typeface="Cambria Math"/>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3</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4</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𝐷</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3916537045"/>
                      </a:ext>
                    </a:extLst>
                  </a:tr>
                </a:tbl>
              </a:graphicData>
            </a:graphic>
          </p:graphicFrame>
        </mc:Choice>
        <mc:Fallback xmlns="">
          <p:graphicFrame>
            <p:nvGraphicFramePr>
              <p:cNvPr id="2" name="Table 1">
                <a:extLst>
                  <a:ext uri="{FF2B5EF4-FFF2-40B4-BE49-F238E27FC236}">
                    <a16:creationId xmlns:a16="http://schemas.microsoft.com/office/drawing/2014/main" id="{A27B99E7-4C8A-614C-98E9-82CD974528DB}"/>
                  </a:ext>
                </a:extLst>
              </p:cNvPr>
              <p:cNvGraphicFramePr>
                <a:graphicFrameLocks noGrp="1"/>
              </p:cNvGraphicFramePr>
              <p:nvPr>
                <p:extLst>
                  <p:ext uri="{D42A27DB-BD31-4B8C-83A1-F6EECF244321}">
                    <p14:modId xmlns:p14="http://schemas.microsoft.com/office/powerpoint/2010/main" val="3157312495"/>
                  </p:ext>
                </p:extLst>
              </p:nvPr>
            </p:nvGraphicFramePr>
            <p:xfrm>
              <a:off x="7640964" y="2109770"/>
              <a:ext cx="2683080" cy="1190189"/>
            </p:xfrm>
            <a:graphic>
              <a:graphicData uri="http://schemas.openxmlformats.org/drawingml/2006/table">
                <a:tbl>
                  <a:tblPr bandRow="1">
                    <a:tableStyleId>{A91F0D33-8C57-4600-99A7-42BC86742BE1}</a:tableStyleId>
                  </a:tblPr>
                  <a:tblGrid>
                    <a:gridCol w="1341540">
                      <a:extLst>
                        <a:ext uri="{9D8B030D-6E8A-4147-A177-3AD203B41FA5}">
                          <a16:colId xmlns:a16="http://schemas.microsoft.com/office/drawing/2014/main" val="3899091042"/>
                        </a:ext>
                      </a:extLst>
                    </a:gridCol>
                    <a:gridCol w="1341540">
                      <a:extLst>
                        <a:ext uri="{9D8B030D-6E8A-4147-A177-3AD203B41FA5}">
                          <a16:colId xmlns:a16="http://schemas.microsoft.com/office/drawing/2014/main" val="2835311615"/>
                        </a:ext>
                      </a:extLst>
                    </a:gridCol>
                  </a:tblGrid>
                  <a:tr h="1190189">
                    <a:tc>
                      <a:txBody>
                        <a:bodyPr/>
                        <a:lstStyle/>
                        <a:p>
                          <a:endParaRPr lang="en-US"/>
                        </a:p>
                      </a:txBody>
                      <a:tcPr marL="68580" marR="68580" marT="0" marB="0" anchor="ctr">
                        <a:blipFill>
                          <a:blip r:embed="rId5"/>
                          <a:stretch>
                            <a:fillRect l="-943" t="-1064" r="-101887" b="-1064"/>
                          </a:stretch>
                        </a:blipFill>
                      </a:tcPr>
                    </a:tc>
                    <a:tc>
                      <a:txBody>
                        <a:bodyPr/>
                        <a:lstStyle/>
                        <a:p>
                          <a:endParaRPr lang="en-US"/>
                        </a:p>
                      </a:txBody>
                      <a:tcPr marL="68580" marR="68580" marT="0" marB="0" anchor="ctr">
                        <a:blipFill>
                          <a:blip r:embed="rId5"/>
                          <a:stretch>
                            <a:fillRect l="-100943" t="-1064" r="-1887" b="-1064"/>
                          </a:stretch>
                        </a:blipFill>
                      </a:tcPr>
                    </a:tc>
                    <a:extLst>
                      <a:ext uri="{0D108BD9-81ED-4DB2-BD59-A6C34878D82A}">
                        <a16:rowId xmlns:a16="http://schemas.microsoft.com/office/drawing/2014/main" val="3916537045"/>
                      </a:ext>
                    </a:extLst>
                  </a:tr>
                </a:tbl>
              </a:graphicData>
            </a:graphic>
          </p:graphicFrame>
        </mc:Fallback>
      </mc:AlternateContent>
      <p:pic>
        <p:nvPicPr>
          <p:cNvPr id="11" name="image11.png" descr="Chart&#10;&#10;Description automatically generated with medium confidence">
            <a:extLst>
              <a:ext uri="{FF2B5EF4-FFF2-40B4-BE49-F238E27FC236}">
                <a16:creationId xmlns:a16="http://schemas.microsoft.com/office/drawing/2014/main" xmlns="" id="{72365906-AFE3-424C-8649-B5482C36C2BF}"/>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2144947" y="2185343"/>
            <a:ext cx="5283951" cy="4343080"/>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37BBDF31-7B91-9245-9F35-0612DC5DCD96}"/>
                  </a:ext>
                </a:extLst>
              </p:cNvPr>
              <p:cNvGraphicFramePr>
                <a:graphicFrameLocks noGrp="1"/>
              </p:cNvGraphicFramePr>
              <p:nvPr>
                <p:extLst>
                  <p:ext uri="{D42A27DB-BD31-4B8C-83A1-F6EECF244321}">
                    <p14:modId xmlns:p14="http://schemas.microsoft.com/office/powerpoint/2010/main" val="506596037"/>
                  </p:ext>
                </p:extLst>
              </p:nvPr>
            </p:nvGraphicFramePr>
            <p:xfrm>
              <a:off x="7640964" y="3287518"/>
              <a:ext cx="2684240" cy="1190189"/>
            </p:xfrm>
            <a:graphic>
              <a:graphicData uri="http://schemas.openxmlformats.org/drawingml/2006/table">
                <a:tbl>
                  <a:tblPr bandRow="1">
                    <a:tableStyleId>{A91F0D33-8C57-4600-99A7-42BC86742BE1}</a:tableStyleId>
                  </a:tblPr>
                  <a:tblGrid>
                    <a:gridCol w="1342120">
                      <a:extLst>
                        <a:ext uri="{9D8B030D-6E8A-4147-A177-3AD203B41FA5}">
                          <a16:colId xmlns:a16="http://schemas.microsoft.com/office/drawing/2014/main" xmlns="" val="923757784"/>
                        </a:ext>
                      </a:extLst>
                    </a:gridCol>
                    <a:gridCol w="1342120">
                      <a:extLst>
                        <a:ext uri="{9D8B030D-6E8A-4147-A177-3AD203B41FA5}">
                          <a16:colId xmlns:a16="http://schemas.microsoft.com/office/drawing/2014/main" xmlns="" val="309739294"/>
                        </a:ext>
                      </a:extLst>
                    </a:gridCol>
                  </a:tblGrid>
                  <a:tr h="119018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𝑃</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f>
                                    <m:fPr>
                                      <m:ctrlPr>
                                        <a:rPr lang="en-US" sz="2000" i="1">
                                          <a:effectLst/>
                                          <a:latin typeface="Cambria Math"/>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3</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rPr>
                                <m:t>𝑇</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a:rPr>
                                  </m:ctrlPr>
                                </m:dPr>
                                <m:e>
                                  <m:r>
                                    <a:rPr lang="en-US" sz="2000">
                                      <a:effectLst/>
                                      <a:latin typeface="Cambria Math" panose="02040503050406030204" pitchFamily="18" charset="0"/>
                                    </a:rPr>
                                    <m:t>−</m:t>
                                  </m:r>
                                  <m:f>
                                    <m:fPr>
                                      <m:ctrlPr>
                                        <a:rPr lang="en-US"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6</m:t>
                                      </m:r>
                                    </m:den>
                                  </m:f>
                                  <m:r>
                                    <a:rPr lang="en-US" sz="2000">
                                      <a:effectLst/>
                                      <a:latin typeface="Cambria Math" panose="02040503050406030204" pitchFamily="18" charset="0"/>
                                    </a:rPr>
                                    <m:t>, </m:t>
                                  </m:r>
                                  <m:f>
                                    <m:fPr>
                                      <m:ctrlPr>
                                        <a:rPr lang="en-US" sz="2000" i="1">
                                          <a:effectLst/>
                                          <a:latin typeface="Cambria Math"/>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4</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xmlns="" val="4181350616"/>
                      </a:ext>
                    </a:extLst>
                  </a:tr>
                </a:tbl>
              </a:graphicData>
            </a:graphic>
          </p:graphicFrame>
        </mc:Choice>
        <mc:Fallback xmlns="">
          <p:graphicFrame>
            <p:nvGraphicFramePr>
              <p:cNvPr id="3" name="Table 2">
                <a:extLst>
                  <a:ext uri="{FF2B5EF4-FFF2-40B4-BE49-F238E27FC236}">
                    <a16:creationId xmlns:a16="http://schemas.microsoft.com/office/drawing/2014/main" id="{37BBDF31-7B91-9245-9F35-0612DC5DCD96}"/>
                  </a:ext>
                </a:extLst>
              </p:cNvPr>
              <p:cNvGraphicFramePr>
                <a:graphicFrameLocks noGrp="1"/>
              </p:cNvGraphicFramePr>
              <p:nvPr>
                <p:extLst>
                  <p:ext uri="{D42A27DB-BD31-4B8C-83A1-F6EECF244321}">
                    <p14:modId xmlns:p14="http://schemas.microsoft.com/office/powerpoint/2010/main" val="506596037"/>
                  </p:ext>
                </p:extLst>
              </p:nvPr>
            </p:nvGraphicFramePr>
            <p:xfrm>
              <a:off x="7640964" y="3287518"/>
              <a:ext cx="2684240" cy="1190189"/>
            </p:xfrm>
            <a:graphic>
              <a:graphicData uri="http://schemas.openxmlformats.org/drawingml/2006/table">
                <a:tbl>
                  <a:tblPr bandRow="1">
                    <a:tableStyleId>{A91F0D33-8C57-4600-99A7-42BC86742BE1}</a:tableStyleId>
                  </a:tblPr>
                  <a:tblGrid>
                    <a:gridCol w="1342120">
                      <a:extLst>
                        <a:ext uri="{9D8B030D-6E8A-4147-A177-3AD203B41FA5}">
                          <a16:colId xmlns:a16="http://schemas.microsoft.com/office/drawing/2014/main" val="923757784"/>
                        </a:ext>
                      </a:extLst>
                    </a:gridCol>
                    <a:gridCol w="1342120">
                      <a:extLst>
                        <a:ext uri="{9D8B030D-6E8A-4147-A177-3AD203B41FA5}">
                          <a16:colId xmlns:a16="http://schemas.microsoft.com/office/drawing/2014/main" val="309739294"/>
                        </a:ext>
                      </a:extLst>
                    </a:gridCol>
                  </a:tblGrid>
                  <a:tr h="1190189">
                    <a:tc>
                      <a:txBody>
                        <a:bodyPr/>
                        <a:lstStyle/>
                        <a:p>
                          <a:endParaRPr lang="en-US"/>
                        </a:p>
                      </a:txBody>
                      <a:tcPr marL="68580" marR="68580" marT="0" marB="0" anchor="ctr">
                        <a:blipFill>
                          <a:blip r:embed="rId7"/>
                          <a:stretch>
                            <a:fillRect l="-935" r="-100000" b="-1053"/>
                          </a:stretch>
                        </a:blipFill>
                      </a:tcPr>
                    </a:tc>
                    <a:tc>
                      <a:txBody>
                        <a:bodyPr/>
                        <a:lstStyle/>
                        <a:p>
                          <a:endParaRPr lang="en-US"/>
                        </a:p>
                      </a:txBody>
                      <a:tcPr marL="68580" marR="68580" marT="0" marB="0" anchor="ctr">
                        <a:blipFill>
                          <a:blip r:embed="rId7"/>
                          <a:stretch>
                            <a:fillRect l="-101887" r="-943" b="-1053"/>
                          </a:stretch>
                        </a:blipFill>
                      </a:tcPr>
                    </a:tc>
                    <a:extLst>
                      <a:ext uri="{0D108BD9-81ED-4DB2-BD59-A6C34878D82A}">
                        <a16:rowId xmlns:a16="http://schemas.microsoft.com/office/drawing/2014/main" val="4181350616"/>
                      </a:ext>
                    </a:extLst>
                  </a:tr>
                </a:tbl>
              </a:graphicData>
            </a:graphic>
          </p:graphicFrame>
        </mc:Fallback>
      </mc:AlternateContent>
    </p:spTree>
    <p:extLst>
      <p:ext uri="{BB962C8B-B14F-4D97-AF65-F5344CB8AC3E}">
        <p14:creationId xmlns:p14="http://schemas.microsoft.com/office/powerpoint/2010/main" val="1961982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0115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84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099878"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730266" y="1028325"/>
            <a:ext cx="8327136"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Shade the arrow up to the statement that best describes your current level of understanding.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xmlns="" id="{4C679DF3-CB42-F541-94E2-1D182FABCA59}"/>
              </a:ext>
            </a:extLst>
          </p:cNvPr>
          <p:cNvGraphicFramePr>
            <a:graphicFrameLocks noGrp="1"/>
          </p:cNvGraphicFramePr>
          <p:nvPr>
            <p:extLst>
              <p:ext uri="{D42A27DB-BD31-4B8C-83A1-F6EECF244321}">
                <p14:modId xmlns:p14="http://schemas.microsoft.com/office/powerpoint/2010/main" val="3130784715"/>
              </p:ext>
            </p:extLst>
          </p:nvPr>
        </p:nvGraphicFramePr>
        <p:xfrm>
          <a:off x="2208385" y="2055379"/>
          <a:ext cx="7844591" cy="4210159"/>
        </p:xfrm>
        <a:graphic>
          <a:graphicData uri="http://schemas.openxmlformats.org/drawingml/2006/table">
            <a:tbl>
              <a:tblPr bandRow="1">
                <a:tableStyleId>{A91F0D33-8C57-4600-99A7-42BC86742BE1}</a:tableStyleId>
              </a:tblPr>
              <a:tblGrid>
                <a:gridCol w="1455545">
                  <a:extLst>
                    <a:ext uri="{9D8B030D-6E8A-4147-A177-3AD203B41FA5}">
                      <a16:colId xmlns:a16="http://schemas.microsoft.com/office/drawing/2014/main" xmlns="" val="3266452995"/>
                    </a:ext>
                  </a:extLst>
                </a:gridCol>
                <a:gridCol w="6389046">
                  <a:extLst>
                    <a:ext uri="{9D8B030D-6E8A-4147-A177-3AD203B41FA5}">
                      <a16:colId xmlns:a16="http://schemas.microsoft.com/office/drawing/2014/main" xmlns="" val="3000920872"/>
                    </a:ext>
                  </a:extLst>
                </a:gridCol>
              </a:tblGrid>
              <a:tr h="1101142">
                <a:tc rowSpan="4">
                  <a:txBody>
                    <a:bodyPr/>
                    <a:lstStyle/>
                    <a:p>
                      <a:pPr marL="0" marR="0">
                        <a:lnSpc>
                          <a:spcPct val="107000"/>
                        </a:lnSpc>
                        <a:spcBef>
                          <a:spcPts val="0"/>
                        </a:spcBef>
                        <a:spcAft>
                          <a:spcPts val="0"/>
                        </a:spcAft>
                      </a:pPr>
                      <a:endParaRPr lang="en-US" sz="1100" dirty="0">
                        <a:effectLst/>
                      </a:endParaRPr>
                    </a:p>
                    <a:p>
                      <a:pPr marL="0" marR="0">
                        <a:lnSpc>
                          <a:spcPct val="107000"/>
                        </a:lnSpc>
                        <a:spcBef>
                          <a:spcPts val="0"/>
                        </a:spcBef>
                        <a:spcAft>
                          <a:spcPts val="0"/>
                        </a:spcAft>
                      </a:pPr>
                      <a:r>
                        <a:rPr lang="en-US" sz="1100" dirty="0">
                          <a:effectLst/>
                        </a:rPr>
                        <a:t> </a:t>
                      </a:r>
                      <a:endParaRPr lang="en-US" sz="11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4735" marR="64735" marT="32368" marB="32368"/>
                </a:tc>
                <a:tc>
                  <a:txBody>
                    <a:bodyPr/>
                    <a:lstStyle/>
                    <a:p>
                      <a:pPr marL="0" marR="0">
                        <a:lnSpc>
                          <a:spcPct val="107000"/>
                        </a:lnSpc>
                        <a:spcBef>
                          <a:spcPts val="0"/>
                        </a:spcBef>
                        <a:spcAft>
                          <a:spcPts val="0"/>
                        </a:spcAft>
                      </a:pPr>
                      <a:r>
                        <a:rPr lang="en-US" sz="2000" dirty="0">
                          <a:effectLst/>
                        </a:rPr>
                        <a:t>I’m so confident, I could explain plotting ordered pairs made up of fractions and/or decimals to someone else!</a:t>
                      </a:r>
                      <a:endParaRPr lang="en-US" sz="20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4735" marR="64735" marT="32368" marB="32368"/>
                </a:tc>
                <a:extLst>
                  <a:ext uri="{0D108BD9-81ED-4DB2-BD59-A6C34878D82A}">
                    <a16:rowId xmlns:a16="http://schemas.microsoft.com/office/drawing/2014/main" xmlns="" val="3136333559"/>
                  </a:ext>
                </a:extLst>
              </a:tr>
              <a:tr h="940281">
                <a:tc vMerge="1">
                  <a:txBody>
                    <a:bodyPr/>
                    <a:lstStyle/>
                    <a:p>
                      <a:endParaRPr lang="en-US"/>
                    </a:p>
                  </a:txBody>
                  <a:tcPr/>
                </a:tc>
                <a:tc>
                  <a:txBody>
                    <a:bodyPr/>
                    <a:lstStyle/>
                    <a:p>
                      <a:pPr marL="0" marR="0">
                        <a:lnSpc>
                          <a:spcPct val="107000"/>
                        </a:lnSpc>
                        <a:spcBef>
                          <a:spcPts val="0"/>
                        </a:spcBef>
                        <a:spcAft>
                          <a:spcPts val="0"/>
                        </a:spcAft>
                      </a:pPr>
                      <a:r>
                        <a:rPr lang="en-US" sz="2000">
                          <a:effectLst/>
                        </a:rPr>
                        <a:t>I can get to the right answer, but I don’t understand it well enough to explain it yet.</a:t>
                      </a:r>
                      <a:endParaRPr lang="en-US" sz="20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4735" marR="64735" marT="32368" marB="32368"/>
                </a:tc>
                <a:extLst>
                  <a:ext uri="{0D108BD9-81ED-4DB2-BD59-A6C34878D82A}">
                    <a16:rowId xmlns:a16="http://schemas.microsoft.com/office/drawing/2014/main" xmlns="" val="2169769769"/>
                  </a:ext>
                </a:extLst>
              </a:tr>
              <a:tr h="1067594">
                <a:tc vMerge="1">
                  <a:txBody>
                    <a:bodyPr/>
                    <a:lstStyle/>
                    <a:p>
                      <a:endParaRPr lang="en-US"/>
                    </a:p>
                  </a:txBody>
                  <a:tcPr/>
                </a:tc>
                <a:tc>
                  <a:txBody>
                    <a:bodyPr/>
                    <a:lstStyle/>
                    <a:p>
                      <a:pPr marL="0" marR="0">
                        <a:lnSpc>
                          <a:spcPct val="107000"/>
                        </a:lnSpc>
                        <a:spcBef>
                          <a:spcPts val="0"/>
                        </a:spcBef>
                        <a:spcAft>
                          <a:spcPts val="0"/>
                        </a:spcAft>
                      </a:pPr>
                      <a:r>
                        <a:rPr lang="en-US" sz="2000" dirty="0">
                          <a:effectLst/>
                        </a:rPr>
                        <a:t>I understand some of this, but I don’t understand all of it yet. I checked the boxes I think I do not understand.</a:t>
                      </a:r>
                    </a:p>
                    <a:p>
                      <a:pPr marL="0" marR="0">
                        <a:lnSpc>
                          <a:spcPct val="107000"/>
                        </a:lnSpc>
                        <a:spcBef>
                          <a:spcPts val="0"/>
                        </a:spcBef>
                        <a:spcAft>
                          <a:spcPts val="0"/>
                        </a:spcAft>
                      </a:pPr>
                      <a:r>
                        <a:rPr lang="en-US" sz="2000" dirty="0">
                          <a:effectLst/>
                        </a:rPr>
                        <a:t> </a:t>
                      </a:r>
                      <a:endParaRPr lang="en-US" sz="20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4735" marR="64735" marT="32368" marB="32368"/>
                </a:tc>
                <a:extLst>
                  <a:ext uri="{0D108BD9-81ED-4DB2-BD59-A6C34878D82A}">
                    <a16:rowId xmlns:a16="http://schemas.microsoft.com/office/drawing/2014/main" xmlns="" val="855111392"/>
                  </a:ext>
                </a:extLst>
              </a:tr>
              <a:tr h="1101142">
                <a:tc vMerge="1">
                  <a:txBody>
                    <a:bodyPr/>
                    <a:lstStyle/>
                    <a:p>
                      <a:endParaRPr lang="en-US"/>
                    </a:p>
                  </a:txBody>
                  <a:tcPr/>
                </a:tc>
                <a:tc>
                  <a:txBody>
                    <a:bodyPr/>
                    <a:lstStyle/>
                    <a:p>
                      <a:pPr marL="0" marR="0">
                        <a:lnSpc>
                          <a:spcPct val="107000"/>
                        </a:lnSpc>
                        <a:spcBef>
                          <a:spcPts val="0"/>
                        </a:spcBef>
                        <a:spcAft>
                          <a:spcPts val="0"/>
                        </a:spcAft>
                      </a:pPr>
                      <a:r>
                        <a:rPr lang="en-US" sz="2000" dirty="0">
                          <a:effectLst/>
                        </a:rPr>
                        <a:t>I tried hard and I listened, but I am finding this challenging. I checked the boxes I think I do not understand.</a:t>
                      </a:r>
                      <a:endParaRPr lang="en-US" sz="20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4735" marR="64735" marT="32368" marB="32368" anchor="ctr"/>
                </a:tc>
                <a:extLst>
                  <a:ext uri="{0D108BD9-81ED-4DB2-BD59-A6C34878D82A}">
                    <a16:rowId xmlns:a16="http://schemas.microsoft.com/office/drawing/2014/main" xmlns="" val="1672001982"/>
                  </a:ext>
                </a:extLst>
              </a:tr>
            </a:tbl>
          </a:graphicData>
        </a:graphic>
      </p:graphicFrame>
      <p:sp>
        <p:nvSpPr>
          <p:cNvPr id="10" name="Up Arrow 9">
            <a:extLst>
              <a:ext uri="{FF2B5EF4-FFF2-40B4-BE49-F238E27FC236}">
                <a16:creationId xmlns:a16="http://schemas.microsoft.com/office/drawing/2014/main" xmlns="" id="{CDF53E1F-A060-4F41-9E79-08458682D535}"/>
              </a:ext>
            </a:extLst>
          </p:cNvPr>
          <p:cNvSpPr/>
          <p:nvPr/>
        </p:nvSpPr>
        <p:spPr>
          <a:xfrm>
            <a:off x="2408090" y="2139189"/>
            <a:ext cx="1011050" cy="4126349"/>
          </a:xfrm>
          <a:prstGeom prst="upArrow">
            <a:avLst>
              <a:gd name="adj1" fmla="val 50000"/>
              <a:gd name="adj2" fmla="val 50000"/>
            </a:avLst>
          </a:prstGeom>
          <a:noFill/>
          <a:ln w="571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i="1">
                <a:latin typeface="Cambria Math" panose="02040503050406030204" pitchFamily="18" charset="0"/>
                <a:ea typeface="Times New Roman" panose="02020603050405020304" pitchFamily="18" charset="0"/>
                <a:cs typeface="Cambria Math" panose="02040503050406030204" pitchFamily="18" charset="0"/>
              </a:rPr>
              <a:t> </a:t>
            </a:r>
          </a:p>
        </p:txBody>
      </p:sp>
    </p:spTree>
    <p:extLst>
      <p:ext uri="{BB962C8B-B14F-4D97-AF65-F5344CB8AC3E}">
        <p14:creationId xmlns:p14="http://schemas.microsoft.com/office/powerpoint/2010/main" val="3158413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304614" y="689370"/>
            <a:ext cx="8327136"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Check the skills that you currently understand.</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xmlns="" id="{5F916EC8-19F7-F64F-B855-9C78AC3C1FED}"/>
              </a:ext>
            </a:extLst>
          </p:cNvPr>
          <p:cNvSpPr txBox="1"/>
          <p:nvPr/>
        </p:nvSpPr>
        <p:spPr>
          <a:xfrm>
            <a:off x="532082" y="1375933"/>
            <a:ext cx="11314478" cy="2428422"/>
          </a:xfrm>
          <a:prstGeom prst="rect">
            <a:avLst/>
          </a:prstGeom>
          <a:noFill/>
        </p:spPr>
        <p:txBody>
          <a:bodyPr wrap="square">
            <a:spAutoFit/>
          </a:bodyPr>
          <a:lstStyle/>
          <a:p>
            <a:pPr marL="342900" indent="-342900">
              <a:lnSpc>
                <a:spcPct val="107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Determining the correct scale</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Identifying the LCM of the denominators for coordinates that include fractions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Plotting ordered pairs that contain fractions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Plotting ordered pairs that contain decimals</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800"/>
              </a:spcAft>
            </a:pPr>
            <a:r>
              <a:rPr lang="en-US" sz="2400" i="1"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92502639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2807</TotalTime>
  <Words>1381</Words>
  <Application>Microsoft Office PowerPoint</Application>
  <PresentationFormat>Custom</PresentationFormat>
  <Paragraphs>243</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Times New Roman</vt:lpstr>
      <vt:lpstr>Century Gothic</vt:lpstr>
      <vt:lpstr>Cambria Math</vt:lpstr>
      <vt:lpstr>Arial Black</vt:lpstr>
      <vt:lpstr>Verdana</vt:lpstr>
      <vt:lpstr>1_Office Theme</vt:lpstr>
      <vt:lpstr>6th Grade Math  Unit 5, Lesson 3  Points on the Coordinate Plane – Part 1  Volume 1, pg. 215  </vt:lpstr>
      <vt:lpstr>Benchmark</vt:lpstr>
      <vt:lpstr>PowerPoint Presentation</vt:lpstr>
      <vt:lpstr>PowerPoint Presentation</vt:lpstr>
      <vt:lpstr>Warm-Up</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26</cp:revision>
  <dcterms:created xsi:type="dcterms:W3CDTF">2015-03-17T18:51:18Z</dcterms:created>
  <dcterms:modified xsi:type="dcterms:W3CDTF">2022-06-05T02:16:22Z</dcterms:modified>
</cp:coreProperties>
</file>