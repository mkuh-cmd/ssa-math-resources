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8"/>
  </p:notesMasterIdLst>
  <p:sldIdLst>
    <p:sldId id="256" r:id="rId5"/>
    <p:sldId id="257" r:id="rId6"/>
    <p:sldId id="285" r:id="rId7"/>
    <p:sldId id="286" r:id="rId8"/>
    <p:sldId id="261" r:id="rId9"/>
    <p:sldId id="287" r:id="rId10"/>
    <p:sldId id="288" r:id="rId11"/>
    <p:sldId id="371" r:id="rId12"/>
    <p:sldId id="311" r:id="rId13"/>
    <p:sldId id="312" r:id="rId14"/>
    <p:sldId id="362" r:id="rId15"/>
    <p:sldId id="372" r:id="rId16"/>
    <p:sldId id="373" r:id="rId17"/>
    <p:sldId id="374" r:id="rId18"/>
    <p:sldId id="375" r:id="rId19"/>
    <p:sldId id="376" r:id="rId20"/>
    <p:sldId id="377" r:id="rId21"/>
    <p:sldId id="378" r:id="rId22"/>
    <p:sldId id="329" r:id="rId23"/>
    <p:sldId id="330" r:id="rId24"/>
    <p:sldId id="368" r:id="rId25"/>
    <p:sldId id="379" r:id="rId26"/>
    <p:sldId id="289" r:id="rId27"/>
    <p:sldId id="290" r:id="rId28"/>
    <p:sldId id="365" r:id="rId29"/>
    <p:sldId id="380" r:id="rId30"/>
    <p:sldId id="381" r:id="rId31"/>
    <p:sldId id="323" r:id="rId32"/>
    <p:sldId id="324" r:id="rId33"/>
    <p:sldId id="366" r:id="rId34"/>
    <p:sldId id="306" r:id="rId35"/>
    <p:sldId id="307" r:id="rId36"/>
    <p:sldId id="370" r:id="rId37"/>
  </p:sldIdLst>
  <p:sldSz cx="12192000" cy="6858000"/>
  <p:notesSz cx="6858000" cy="9144000"/>
  <p:embeddedFontLst>
    <p:embeddedFont>
      <p:font typeface="Arial Black" panose="020B0604020202020204" pitchFamily="34" charset="0"/>
      <p:bold r:id="rId39"/>
    </p:embeddedFont>
    <p:embeddedFont>
      <p:font typeface="Calibri" panose="020F0502020204030204" pitchFamily="34" charset="0"/>
      <p:regular r:id="rId40"/>
      <p:bold r:id="rId41"/>
      <p:italic r:id="rId42"/>
      <p:boldItalic r:id="rId43"/>
    </p:embeddedFont>
    <p:embeddedFont>
      <p:font typeface="Cambria Math" panose="02040503050406030204" pitchFamily="18" charset="0"/>
      <p:regular r:id="rId44"/>
    </p:embeddedFont>
    <p:embeddedFont>
      <p:font typeface="Century Gothic" panose="020B0502020202020204" pitchFamily="34" charset="0"/>
      <p:regular r:id="rId45"/>
      <p:bold r:id="rId46"/>
      <p:italic r:id="rId47"/>
      <p:boldItalic r:id="rId48"/>
    </p:embeddedFont>
    <p:embeddedFont>
      <p:font typeface="Verdana" panose="020B060403050404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p:restoredTop sz="96327"/>
  </p:normalViewPr>
  <p:slideViewPr>
    <p:cSldViewPr snapToGrid="0">
      <p:cViewPr varScale="1">
        <p:scale>
          <a:sx n="124" d="100"/>
          <a:sy n="124" d="100"/>
        </p:scale>
        <p:origin x="76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2.fntdata"/><Relationship Id="rId45" Type="http://schemas.openxmlformats.org/officeDocument/2006/relationships/font" Target="fonts/font7.fntdata"/><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1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6.fntdata"/><Relationship Id="rId52" Type="http://schemas.openxmlformats.org/officeDocument/2006/relationships/font" Target="fonts/font14.fntdata"/><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 Ellen Freeman" userId="65f5a77e-75d5-47e0-b99f-d2749fd11cfe" providerId="ADAL" clId="{D7E277FF-1837-714F-8B09-A3F46E664F67}"/>
    <pc:docChg chg="custSel modSld">
      <pc:chgData name="Mary Ellen Freeman" userId="65f5a77e-75d5-47e0-b99f-d2749fd11cfe" providerId="ADAL" clId="{D7E277FF-1837-714F-8B09-A3F46E664F67}" dt="2023-10-03T19:50:19.775" v="2" actId="14100"/>
      <pc:docMkLst>
        <pc:docMk/>
      </pc:docMkLst>
      <pc:sldChg chg="delSp modSp mod">
        <pc:chgData name="Mary Ellen Freeman" userId="65f5a77e-75d5-47e0-b99f-d2749fd11cfe" providerId="ADAL" clId="{D7E277FF-1837-714F-8B09-A3F46E664F67}" dt="2023-10-03T19:50:19.775" v="2" actId="14100"/>
        <pc:sldMkLst>
          <pc:docMk/>
          <pc:sldMk cId="2949029910" sldId="287"/>
        </pc:sldMkLst>
        <pc:picChg chg="del">
          <ac:chgData name="Mary Ellen Freeman" userId="65f5a77e-75d5-47e0-b99f-d2749fd11cfe" providerId="ADAL" clId="{D7E277FF-1837-714F-8B09-A3F46E664F67}" dt="2023-10-03T19:50:16.536" v="0" actId="478"/>
          <ac:picMkLst>
            <pc:docMk/>
            <pc:sldMk cId="2949029910" sldId="287"/>
            <ac:picMk id="4" creationId="{3F231B9F-B403-1C2C-AEAF-0487F35F5FED}"/>
          </ac:picMkLst>
        </pc:picChg>
        <pc:picChg chg="mod">
          <ac:chgData name="Mary Ellen Freeman" userId="65f5a77e-75d5-47e0-b99f-d2749fd11cfe" providerId="ADAL" clId="{D7E277FF-1837-714F-8B09-A3F46E664F67}" dt="2023-10-03T19:50:19.775" v="2" actId="14100"/>
          <ac:picMkLst>
            <pc:docMk/>
            <pc:sldMk cId="2949029910" sldId="287"/>
            <ac:picMk id="9" creationId="{8E0625DA-20DE-6B47-A794-0BF1FB34CF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6326077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350878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8283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8369975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624566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004800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529450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04576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565440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4669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69778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40200980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0870252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1307092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4765835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1882847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159685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r>
              <a:rPr lang="en-US"/>
              <a:t>Click to edit Master 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r>
              <a:rPr lang="en-US"/>
              <a:t>Click to edit Master subtitle style</a:t>
            </a:r>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pPr lvl="0"/>
            <a:r>
              <a:rPr lang="en-US"/>
              <a:t>Click to edit Master text styles</a:t>
            </a: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pPr lvl="0"/>
            <a:r>
              <a:rPr lang="en-US"/>
              <a:t>Click to edit Master text styles</a:t>
            </a: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pPr lvl="0"/>
            <a:r>
              <a:rPr lang="en-US"/>
              <a:t>Click to edit Master text styles</a:t>
            </a: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pPr lvl="0"/>
            <a:r>
              <a:rPr lang="en-US"/>
              <a:t>Click to edit Master text styles</a:t>
            </a: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pPr lvl="0"/>
            <a:r>
              <a:rPr lang="en-US"/>
              <a:t>Click to edit Master text styles</a:t>
            </a: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pPr lvl="0"/>
            <a:r>
              <a:rPr lang="en-US"/>
              <a:t>Click to edit Master text styles</a:t>
            </a: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jpe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70.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7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31.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90.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40.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260152" y="2054276"/>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Plotting Integers Using One-Unit Scales for Axes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201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3916"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5" y="1237668"/>
                <a:ext cx="1096099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MA.6.GR.1.1</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Extend previous understanding of the coordinate plane to plot rational number ordered pairs in all four quadrants and on both axes. Identify the </a:t>
                </a:r>
                <a14:m>
                  <m:oMath xmlns:m="http://schemas.openxmlformats.org/officeDocument/2006/math">
                    <m:r>
                      <a:rPr lang="en-US" sz="3500" i="1">
                        <a:latin typeface="Cambria Math" panose="02040503050406030204" pitchFamily="18" charset="0"/>
                      </a:rPr>
                      <m:t>𝑥</m:t>
                    </m:r>
                  </m:oMath>
                </a14:m>
                <a:r>
                  <a:rPr lang="en-US" sz="35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3500" i="1">
                        <a:latin typeface="Cambria Math" panose="02040503050406030204" pitchFamily="18" charset="0"/>
                      </a:rPr>
                      <m:t>𝑦</m:t>
                    </m:r>
                  </m:oMath>
                </a14:m>
                <a:r>
                  <a:rPr lang="en-US" sz="3500" dirty="0">
                    <a:latin typeface="Verdana" panose="020B0604030504040204" pitchFamily="34" charset="0"/>
                    <a:ea typeface="Verdana" panose="020B0604030504040204" pitchFamily="34" charset="0"/>
                    <a:cs typeface="Verdana" panose="020B0604030504040204" pitchFamily="34" charset="0"/>
                  </a:rPr>
                  <a:t>-axis as the line of reflection when two ordered pairs have an opposite </a:t>
                </a:r>
                <a14:m>
                  <m:oMath xmlns:m="http://schemas.openxmlformats.org/officeDocument/2006/math">
                    <m:r>
                      <a:rPr lang="en-US" sz="3500" i="1">
                        <a:latin typeface="Cambria Math" panose="02040503050406030204" pitchFamily="18" charset="0"/>
                      </a:rPr>
                      <m:t>𝑥</m:t>
                    </m:r>
                  </m:oMath>
                </a14:m>
                <a:r>
                  <a:rPr lang="en-US" sz="35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3500" i="1">
                        <a:latin typeface="Cambria Math" panose="02040503050406030204" pitchFamily="18" charset="0"/>
                      </a:rPr>
                      <m:t>𝑦</m:t>
                    </m:r>
                  </m:oMath>
                </a14:m>
                <a:r>
                  <a:rPr lang="en-US" sz="3500" dirty="0">
                    <a:latin typeface="Verdana" panose="020B0604030504040204" pitchFamily="34" charset="0"/>
                    <a:ea typeface="Verdana" panose="020B0604030504040204" pitchFamily="34" charset="0"/>
                    <a:cs typeface="Verdana" panose="020B0604030504040204" pitchFamily="34" charset="0"/>
                  </a:rPr>
                  <a:t>-coordinate.</a:t>
                </a:r>
              </a:p>
              <a:p>
                <a:pPr indent="0">
                  <a:buNone/>
                </a:pPr>
                <a:endParaRPr lang="en-US" dirty="0">
                  <a:solidFill>
                    <a:schemeClr val="tx1"/>
                  </a:solidFill>
                  <a:latin typeface="Century Gothic"/>
                  <a:ea typeface="Century Gothic"/>
                  <a:cs typeface="Century Gothic"/>
                  <a:sym typeface="Century Gothic"/>
                </a:endParaRPr>
              </a:p>
            </p:txBody>
          </p:sp>
        </mc:Choice>
        <mc:Fallback xmlns="">
          <p:sp>
            <p:nvSpPr>
              <p:cNvPr id="8" name="Google Shape;280;g104476d1465_1_17">
                <a:extLst>
                  <a:ext uri="{FF2B5EF4-FFF2-40B4-BE49-F238E27FC236}">
                    <a16:creationId xmlns:a16="http://schemas.microsoft.com/office/drawing/2014/main" id="{527A9F9F-07B8-ED47-B967-E5507C67DBC5}"/>
                  </a:ext>
                </a:extLst>
              </p:cNvPr>
              <p:cNvSpPr txBox="1">
                <a:spLocks noRot="1" noChangeAspect="1" noMove="1" noResize="1" noEditPoints="1" noAdjustHandles="1" noChangeArrowheads="1" noChangeShapeType="1" noTextEdit="1"/>
              </p:cNvSpPr>
              <p:nvPr/>
            </p:nvSpPr>
            <p:spPr>
              <a:xfrm>
                <a:off x="730265" y="1237668"/>
                <a:ext cx="10960991" cy="4205700"/>
              </a:xfrm>
              <a:prstGeom prst="rect">
                <a:avLst/>
              </a:prstGeom>
              <a:blipFill>
                <a:blip r:embed="rId5"/>
                <a:stretch>
                  <a:fillRect l="-1620" t="-904" r="-2894"/>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03916" y="-85272"/>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201</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30266" y="1321975"/>
            <a:ext cx="1103563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3916"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201</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6" y="1326150"/>
            <a:ext cx="1094233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plot with integers using one-unit scales for axes.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71900"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3915" y="65647"/>
            <a:ext cx="1035675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5.1.1 Warm-Up: Guess the Number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201</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731325" y="1391347"/>
                <a:ext cx="10502732" cy="443570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An image of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4</m:t>
                        </m:r>
                      </m:den>
                    </m:f>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cup of candy corn is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Estimate the number of pieces of candy corn that are in the measuring cup.</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dirty="0"/>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731325" y="1391347"/>
                <a:ext cx="10502732" cy="4435701"/>
              </a:xfrm>
              <a:prstGeom prst="rect">
                <a:avLst/>
              </a:prstGeom>
              <a:blipFill>
                <a:blip r:embed="rId5"/>
                <a:stretch>
                  <a:fillRect l="-604"/>
                </a:stretch>
              </a:blipFill>
            </p:spPr>
            <p:txBody>
              <a:bodyPr/>
              <a:lstStyle/>
              <a:p>
                <a:r>
                  <a:rPr lang="en-US">
                    <a:noFill/>
                  </a:rPr>
                  <a:t> </a:t>
                </a:r>
              </a:p>
            </p:txBody>
          </p:sp>
        </mc:Fallback>
      </mc:AlternateContent>
      <p:pic>
        <p:nvPicPr>
          <p:cNvPr id="9" name="Picture 8" descr="A picture containing indoor, floor, red, colorful&#10;&#10;Description automatically generated">
            <a:extLst>
              <a:ext uri="{FF2B5EF4-FFF2-40B4-BE49-F238E27FC236}">
                <a16:creationId xmlns:a16="http://schemas.microsoft.com/office/drawing/2014/main" id="{8E0625DA-20DE-6B47-A794-0BF1FB34CF0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rot="5400000">
            <a:off x="7075142" y="921560"/>
            <a:ext cx="2812467" cy="3749956"/>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74907" y="529724"/>
            <a:ext cx="11316349" cy="132343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Ask two classmates the value they estimated. Record their value and write your summary of their reason.  You are the only person who should write in the first two columns of the table. Have the person initial next to your summary stating that your summary is correct.</a:t>
            </a:r>
          </a:p>
        </p:txBody>
      </p:sp>
      <p:graphicFrame>
        <p:nvGraphicFramePr>
          <p:cNvPr id="2" name="Table 1">
            <a:extLst>
              <a:ext uri="{FF2B5EF4-FFF2-40B4-BE49-F238E27FC236}">
                <a16:creationId xmlns:a16="http://schemas.microsoft.com/office/drawing/2014/main" id="{3F2C0115-C0C7-344A-A99D-962879421DEB}"/>
              </a:ext>
            </a:extLst>
          </p:cNvPr>
          <p:cNvGraphicFramePr>
            <a:graphicFrameLocks noGrp="1"/>
          </p:cNvGraphicFramePr>
          <p:nvPr>
            <p:extLst>
              <p:ext uri="{D42A27DB-BD31-4B8C-83A1-F6EECF244321}">
                <p14:modId xmlns:p14="http://schemas.microsoft.com/office/powerpoint/2010/main" val="3438770199"/>
              </p:ext>
            </p:extLst>
          </p:nvPr>
        </p:nvGraphicFramePr>
        <p:xfrm>
          <a:off x="2422072" y="2346445"/>
          <a:ext cx="7347856" cy="2429198"/>
        </p:xfrm>
        <a:graphic>
          <a:graphicData uri="http://schemas.openxmlformats.org/drawingml/2006/table">
            <a:tbl>
              <a:tblPr bandRow="1">
                <a:tableStyleId>{A91F0D33-8C57-4600-99A7-42BC86742BE1}</a:tableStyleId>
              </a:tblPr>
              <a:tblGrid>
                <a:gridCol w="1282473">
                  <a:extLst>
                    <a:ext uri="{9D8B030D-6E8A-4147-A177-3AD203B41FA5}">
                      <a16:colId xmlns:a16="http://schemas.microsoft.com/office/drawing/2014/main" val="2246127579"/>
                    </a:ext>
                  </a:extLst>
                </a:gridCol>
                <a:gridCol w="4840740">
                  <a:extLst>
                    <a:ext uri="{9D8B030D-6E8A-4147-A177-3AD203B41FA5}">
                      <a16:colId xmlns:a16="http://schemas.microsoft.com/office/drawing/2014/main" val="2861633433"/>
                    </a:ext>
                  </a:extLst>
                </a:gridCol>
                <a:gridCol w="1224643">
                  <a:extLst>
                    <a:ext uri="{9D8B030D-6E8A-4147-A177-3AD203B41FA5}">
                      <a16:colId xmlns:a16="http://schemas.microsoft.com/office/drawing/2014/main" val="3585141898"/>
                    </a:ext>
                  </a:extLst>
                </a:gridCol>
              </a:tblGrid>
              <a:tr h="600398">
                <a:tc>
                  <a:txBody>
                    <a:bodyPr/>
                    <a:lstStyle/>
                    <a:p>
                      <a:pPr marL="45085" marR="0" indent="-45085"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Guess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45085" marR="0" indent="-45085"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Summary of Their Reason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45085" marR="0" indent="-45085"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Initials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503421655"/>
                  </a:ext>
                </a:extLst>
              </a:tr>
              <a:tr h="900597">
                <a:tc>
                  <a:txBody>
                    <a:bodyPr/>
                    <a:lstStyle/>
                    <a:p>
                      <a:pPr marL="45085" marR="0" indent="-45085"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 </a:t>
                      </a:r>
                    </a:p>
                    <a:p>
                      <a:pPr marL="45085" marR="0" indent="-45085"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 </a:t>
                      </a:r>
                    </a:p>
                    <a:p>
                      <a:pPr marL="45085" marR="0" indent="-45085"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5085" marR="0" indent="-45085">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5085" marR="0" indent="-45085"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238553"/>
                  </a:ext>
                </a:extLst>
              </a:tr>
              <a:tr h="900597">
                <a:tc>
                  <a:txBody>
                    <a:bodyPr/>
                    <a:lstStyle/>
                    <a:p>
                      <a:pPr marL="45085" marR="0" indent="-45085"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 </a:t>
                      </a:r>
                    </a:p>
                    <a:p>
                      <a:pPr marL="45085" marR="0" indent="-45085"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 </a:t>
                      </a:r>
                    </a:p>
                    <a:p>
                      <a:pPr marL="45085" marR="0" indent="-45085"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5085" marR="0" indent="-45085">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5085" marR="0" indent="-45085"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9557949"/>
                  </a:ext>
                </a:extLst>
              </a:tr>
            </a:tbl>
          </a:graphicData>
        </a:graphic>
      </p:graphicFrame>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58884" y="501733"/>
            <a:ext cx="10784504" cy="615553"/>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How close was your estimate to the actual number?</a:t>
            </a:r>
          </a:p>
          <a:p>
            <a:r>
              <a:rPr lang="en-US" dirty="0"/>
              <a:t> </a:t>
            </a:r>
          </a:p>
        </p:txBody>
      </p:sp>
    </p:spTree>
    <p:extLst>
      <p:ext uri="{BB962C8B-B14F-4D97-AF65-F5344CB8AC3E}">
        <p14:creationId xmlns:p14="http://schemas.microsoft.com/office/powerpoint/2010/main" val="4008755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0324" y="2766150"/>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202</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8870" y="60325"/>
            <a:ext cx="1098556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5.1.2 Exploration: The Coordinate Plane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202</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732743" y="1386025"/>
                <a:ext cx="11163788" cy="470898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This graph shows a point that is plotted on a coordinate plane.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The two numbers are called the coordinates. The two numbers are also known as an ordered pair,</a:t>
                </a:r>
                <a14:m>
                  <m:oMath xmlns:m="http://schemas.openxmlformats.org/officeDocument/2006/math">
                    <m:r>
                      <a:rPr lang="en-US" sz="2000" i="1">
                        <a:latin typeface="Cambria Math" panose="02040503050406030204" pitchFamily="18" charset="0"/>
                      </a:rPr>
                      <m:t> </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𝑦</m:t>
                        </m:r>
                      </m:e>
                    </m:d>
                  </m:oMath>
                </a14:m>
                <a:r>
                  <a:rPr lang="en-US" sz="2000" dirty="0">
                    <a:latin typeface="Cambria Math" panose="02040503050406030204" pitchFamily="18" charset="0"/>
                    <a:ea typeface="Cambria Math" panose="02040503050406030204" pitchFamily="18" charset="0"/>
                    <a:cs typeface="Verdana" panose="020B0604030504040204" pitchFamily="34" charset="0"/>
                  </a:rPr>
                  <a: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732743" y="1386025"/>
                <a:ext cx="11163788" cy="4708981"/>
              </a:xfrm>
              <a:prstGeom prst="rect">
                <a:avLst/>
              </a:prstGeom>
              <a:blipFill>
                <a:blip r:embed="rId5"/>
                <a:stretch>
                  <a:fillRect l="-568" t="-536" r="-341"/>
                </a:stretch>
              </a:blipFill>
            </p:spPr>
            <p:txBody>
              <a:bodyPr/>
              <a:lstStyle/>
              <a:p>
                <a:r>
                  <a:rPr lang="en-US">
                    <a:noFill/>
                  </a:rPr>
                  <a:t> </a:t>
                </a:r>
              </a:p>
            </p:txBody>
          </p:sp>
        </mc:Fallback>
      </mc:AlternateContent>
      <p:pic>
        <p:nvPicPr>
          <p:cNvPr id="9" name="image4.png" descr="Chart, scatter chart&#10;&#10;Description automatically generated">
            <a:extLst>
              <a:ext uri="{FF2B5EF4-FFF2-40B4-BE49-F238E27FC236}">
                <a16:creationId xmlns:a16="http://schemas.microsoft.com/office/drawing/2014/main" id="{C9A30A85-79A9-0F48-AF9D-72366E61AF81}"/>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4265986" y="1892465"/>
            <a:ext cx="3660027" cy="3073069"/>
          </a:xfrm>
          <a:prstGeom prst="rect">
            <a:avLst/>
          </a:prstGeom>
          <a:ln/>
        </p:spPr>
      </p:pic>
    </p:spTree>
    <p:extLst>
      <p:ext uri="{BB962C8B-B14F-4D97-AF65-F5344CB8AC3E}">
        <p14:creationId xmlns:p14="http://schemas.microsoft.com/office/powerpoint/2010/main" val="2235248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111600" y="539055"/>
            <a:ext cx="11766270" cy="3662541"/>
          </a:xfrm>
          <a:prstGeom prst="rect">
            <a:avLst/>
          </a:prstGeom>
          <a:noFill/>
        </p:spPr>
        <p:txBody>
          <a:bodyPr wrap="square" rtlCol="0">
            <a:spAutoFit/>
          </a:bodyPr>
          <a:lstStyle/>
          <a:p>
            <a:pPr marL="922338" indent="-45561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coordinate will change if the point is dragged from left to right.</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coordinate will change if the point is dragged up or down.</a:t>
            </a:r>
          </a:p>
          <a:p>
            <a:br>
              <a:rPr lang="en-US" dirty="0"/>
            </a:br>
            <a:r>
              <a:rPr lang="en-US" dirty="0"/>
              <a:t>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064813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27426" y="741346"/>
                <a:ext cx="11746386" cy="3970318"/>
              </a:xfrm>
              <a:prstGeom prst="rect">
                <a:avLst/>
              </a:prstGeom>
              <a:noFill/>
            </p:spPr>
            <p:txBody>
              <a:bodyPr wrap="square" rtlCol="0">
                <a:spAutoFit/>
              </a:bodyPr>
              <a:lstStyle/>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If the point </a:t>
                </a:r>
                <a14:m>
                  <m:oMath xmlns:m="http://schemas.openxmlformats.org/officeDocument/2006/math">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4, 3</m:t>
                        </m:r>
                      </m:e>
                    </m:d>
                  </m:oMath>
                </a14:m>
                <a:r>
                  <a:rPr lang="en-US" sz="2000" dirty="0">
                    <a:latin typeface="Verdana" panose="020B0604030504040204" pitchFamily="34" charset="0"/>
                    <a:ea typeface="Verdana" panose="020B0604030504040204" pitchFamily="34" charset="0"/>
                    <a:cs typeface="Verdana" panose="020B0604030504040204" pitchFamily="34" charset="0"/>
                  </a:rPr>
                  <a:t> could be dragged around on the coordinate grid, what changes would you expect to see in the ordered pair? Select all that apply.</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-coordinate becomes smaller when the point is moved to the left.</a:t>
                </a: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-coordinate becomes larger when the point is moved to the left.</a:t>
                </a: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-coordinate stays the same when the point is moved to the left.</a:t>
                </a: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2000" i="1">
                        <a:latin typeface="Cambria Math" panose="02040503050406030204" pitchFamily="18" charset="0"/>
                        <a:ea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-coordinate becomes smaller when the point is moved up.</a:t>
                </a: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2000" i="1">
                        <a:latin typeface="Cambria Math" panose="02040503050406030204" pitchFamily="18" charset="0"/>
                        <a:ea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-coordinate becomes smaller when the point is moved down.</a:t>
                </a: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2000" i="1">
                        <a:latin typeface="Cambria Math" panose="02040503050406030204" pitchFamily="18" charset="0"/>
                        <a:ea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-coordinate stays the same when the point is moved up.</a:t>
                </a:r>
              </a:p>
              <a:p>
                <a:r>
                  <a:rPr lang="en-US" sz="2000" dirty="0">
                    <a:latin typeface="Verdana" panose="020B0604030504040204" pitchFamily="34" charset="0"/>
                    <a:ea typeface="Verdana" panose="020B0604030504040204" pitchFamily="34" charset="0"/>
                    <a:cs typeface="Verdana" panose="020B0604030504040204" pitchFamily="34" charset="0"/>
                  </a:rPr>
                  <a:t> </a:t>
                </a:r>
              </a:p>
              <a:p>
                <a:br>
                  <a:rPr lang="en-US" dirty="0"/>
                </a:br>
                <a:r>
                  <a:rPr lang="en-US" dirty="0"/>
                  <a:t>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27426" y="741346"/>
                <a:ext cx="11746386" cy="3970318"/>
              </a:xfrm>
              <a:prstGeom prst="rect">
                <a:avLst/>
              </a:prstGeom>
              <a:blipFill>
                <a:blip r:embed="rId4"/>
                <a:stretch>
                  <a:fillRect l="-540" t="-955" r="-1080"/>
                </a:stretch>
              </a:blipFill>
            </p:spPr>
            <p:txBody>
              <a:bodyPr/>
              <a:lstStyle/>
              <a:p>
                <a:r>
                  <a:rPr lang="en-US">
                    <a:noFill/>
                  </a:rPr>
                  <a:t> </a:t>
                </a:r>
              </a:p>
            </p:txBody>
          </p:sp>
        </mc:Fallback>
      </mc:AlternateContent>
    </p:spTree>
    <p:extLst>
      <p:ext uri="{BB962C8B-B14F-4D97-AF65-F5344CB8AC3E}">
        <p14:creationId xmlns:p14="http://schemas.microsoft.com/office/powerpoint/2010/main" val="2186909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27426" y="533021"/>
            <a:ext cx="11382492" cy="6124754"/>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Four points are plotted on the coordinate grid.</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all four points?</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br>
              <a:rPr lang="en-US" dirty="0"/>
            </a:br>
            <a:r>
              <a:rPr lang="en-US" dirty="0"/>
              <a:t>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7" name="image1.png" descr="A picture containing chart&#10;&#10;Description automatically generated">
            <a:extLst>
              <a:ext uri="{FF2B5EF4-FFF2-40B4-BE49-F238E27FC236}">
                <a16:creationId xmlns:a16="http://schemas.microsoft.com/office/drawing/2014/main" id="{C3901ABD-658F-3B44-813C-7A082A897CB3}"/>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188483" y="1338737"/>
            <a:ext cx="3815034" cy="3195320"/>
          </a:xfrm>
          <a:prstGeom prst="rect">
            <a:avLst/>
          </a:prstGeom>
          <a:ln/>
        </p:spPr>
      </p:pic>
    </p:spTree>
    <p:extLst>
      <p:ext uri="{BB962C8B-B14F-4D97-AF65-F5344CB8AC3E}">
        <p14:creationId xmlns:p14="http://schemas.microsoft.com/office/powerpoint/2010/main" val="1078189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1599" y="582067"/>
                <a:ext cx="11644971" cy="3847207"/>
              </a:xfrm>
              <a:prstGeom prst="rect">
                <a:avLst/>
              </a:prstGeom>
              <a:noFill/>
            </p:spPr>
            <p:txBody>
              <a:bodyPr wrap="square" rtlCol="0">
                <a:spAutoFit/>
              </a:bodyPr>
              <a:lstStyle/>
              <a:p>
                <a:pPr marL="922338" indent="-45561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same about the points?</a:t>
                </a: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 What is different about the points?</a:t>
                </a: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what is true about all the points on the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-axis.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11599" y="582067"/>
                <a:ext cx="11644971" cy="3847207"/>
              </a:xfrm>
              <a:prstGeom prst="rect">
                <a:avLst/>
              </a:prstGeom>
              <a:blipFill>
                <a:blip r:embed="rId4"/>
                <a:stretch>
                  <a:fillRect t="-949"/>
                </a:stretch>
              </a:blipFill>
            </p:spPr>
            <p:txBody>
              <a:bodyPr/>
              <a:lstStyle/>
              <a:p>
                <a:r>
                  <a:rPr lang="en-US">
                    <a:noFill/>
                  </a:rPr>
                  <a:t> </a:t>
                </a:r>
              </a:p>
            </p:txBody>
          </p:sp>
        </mc:Fallback>
      </mc:AlternateContent>
    </p:spTree>
    <p:extLst>
      <p:ext uri="{BB962C8B-B14F-4D97-AF65-F5344CB8AC3E}">
        <p14:creationId xmlns:p14="http://schemas.microsoft.com/office/powerpoint/2010/main" val="3325892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12230" y="735955"/>
            <a:ext cx="11167060" cy="5386090"/>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Four points are plotted on the coordinate grid.</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same about the points?</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image22.png" descr="Chart&#10;&#10;Description automatically generated">
            <a:extLst>
              <a:ext uri="{FF2B5EF4-FFF2-40B4-BE49-F238E27FC236}">
                <a16:creationId xmlns:a16="http://schemas.microsoft.com/office/drawing/2014/main" id="{906B580F-E1BA-3D4B-9C33-950202EBC126}"/>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187495" y="1354190"/>
            <a:ext cx="3817009" cy="3204755"/>
          </a:xfrm>
          <a:prstGeom prst="rect">
            <a:avLst/>
          </a:prstGeom>
          <a:ln/>
        </p:spPr>
      </p:pic>
    </p:spTree>
    <p:extLst>
      <p:ext uri="{BB962C8B-B14F-4D97-AF65-F5344CB8AC3E}">
        <p14:creationId xmlns:p14="http://schemas.microsoft.com/office/powerpoint/2010/main" val="1716510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0" y="501733"/>
            <a:ext cx="8327136" cy="3877985"/>
          </a:xfrm>
          <a:prstGeom prst="rect">
            <a:avLst/>
          </a:prstGeom>
          <a:noFill/>
        </p:spPr>
        <p:txBody>
          <a:bodyPr wrap="square" rtlCol="0">
            <a:spAutoFit/>
          </a:bodyPr>
          <a:lstStyle/>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different about the points?</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dirty="0"/>
              <a:t> </a:t>
            </a:r>
          </a:p>
          <a:p>
            <a:br>
              <a:rPr lang="en-US" dirty="0"/>
            </a:br>
            <a:r>
              <a:rPr lang="en-US" dirty="0"/>
              <a:t>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455222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007"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04614" y="492401"/>
            <a:ext cx="11405304" cy="4185761"/>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Twelve points are plotted on the coordinate grid. The grid shows the labels Quadrant I, Quadrant II, Quadrant III, and Quadrant IV.</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dirty="0"/>
              <a:t> </a:t>
            </a:r>
          </a:p>
          <a:p>
            <a:br>
              <a:rPr lang="en-US" dirty="0"/>
            </a:br>
            <a:r>
              <a:rPr lang="en-US" dirty="0"/>
              <a:t>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A picture containing text, crossword puzzle&#10;&#10;Description automatically generated">
            <a:extLst>
              <a:ext uri="{FF2B5EF4-FFF2-40B4-BE49-F238E27FC236}">
                <a16:creationId xmlns:a16="http://schemas.microsoft.com/office/drawing/2014/main" id="{2083F6F3-1979-F642-ACB8-70ED73E78E8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60281" y="1533427"/>
            <a:ext cx="5093970" cy="4480560"/>
          </a:xfrm>
          <a:prstGeom prst="rect">
            <a:avLst/>
          </a:prstGeom>
        </p:spPr>
      </p:pic>
    </p:spTree>
    <p:extLst>
      <p:ext uri="{BB962C8B-B14F-4D97-AF65-F5344CB8AC3E}">
        <p14:creationId xmlns:p14="http://schemas.microsoft.com/office/powerpoint/2010/main" val="1380564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111599" y="511283"/>
            <a:ext cx="11943551" cy="4185761"/>
          </a:xfrm>
          <a:prstGeom prst="rect">
            <a:avLst/>
          </a:prstGeom>
          <a:noFill/>
        </p:spPr>
        <p:txBody>
          <a:bodyPr wrap="square" rtlCol="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Work with your partner to summarize the characteristics of the points in each quadrant. Write your summary in the table.</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dirty="0"/>
              <a:t> </a:t>
            </a:r>
          </a:p>
          <a:p>
            <a:br>
              <a:rPr lang="en-US" dirty="0"/>
            </a:br>
            <a:r>
              <a:rPr lang="en-US" dirty="0"/>
              <a:t>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a16="http://schemas.microsoft.com/office/drawing/2014/main" id="{7A7DDAF3-0765-094D-94B9-69DED1C48EB2}"/>
              </a:ext>
            </a:extLst>
          </p:cNvPr>
          <p:cNvGraphicFramePr>
            <a:graphicFrameLocks noGrp="1"/>
          </p:cNvGraphicFramePr>
          <p:nvPr>
            <p:extLst>
              <p:ext uri="{D42A27DB-BD31-4B8C-83A1-F6EECF244321}">
                <p14:modId xmlns:p14="http://schemas.microsoft.com/office/powerpoint/2010/main" val="4043372287"/>
              </p:ext>
            </p:extLst>
          </p:nvPr>
        </p:nvGraphicFramePr>
        <p:xfrm>
          <a:off x="2152164" y="1666192"/>
          <a:ext cx="7887672" cy="3911168"/>
        </p:xfrm>
        <a:graphic>
          <a:graphicData uri="http://schemas.openxmlformats.org/drawingml/2006/table">
            <a:tbl>
              <a:tblPr bandRow="1">
                <a:tableStyleId>{A91F0D33-8C57-4600-99A7-42BC86742BE1}</a:tableStyleId>
              </a:tblPr>
              <a:tblGrid>
                <a:gridCol w="2341477">
                  <a:extLst>
                    <a:ext uri="{9D8B030D-6E8A-4147-A177-3AD203B41FA5}">
                      <a16:colId xmlns:a16="http://schemas.microsoft.com/office/drawing/2014/main" val="473536448"/>
                    </a:ext>
                  </a:extLst>
                </a:gridCol>
                <a:gridCol w="5546195">
                  <a:extLst>
                    <a:ext uri="{9D8B030D-6E8A-4147-A177-3AD203B41FA5}">
                      <a16:colId xmlns:a16="http://schemas.microsoft.com/office/drawing/2014/main" val="768413811"/>
                    </a:ext>
                  </a:extLst>
                </a:gridCol>
              </a:tblGrid>
              <a:tr h="97779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Quadrant 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1559080"/>
                  </a:ext>
                </a:extLst>
              </a:tr>
              <a:tr h="97779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Quadrant II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9055039"/>
                  </a:ext>
                </a:extLst>
              </a:tr>
              <a:tr h="97779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Quadrant III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0255139"/>
                  </a:ext>
                </a:extLst>
              </a:tr>
              <a:tr h="97779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Quadrant IV</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837754"/>
                  </a:ext>
                </a:extLst>
              </a:tr>
            </a:tbl>
          </a:graphicData>
        </a:graphic>
      </p:graphicFrame>
    </p:spTree>
    <p:extLst>
      <p:ext uri="{BB962C8B-B14F-4D97-AF65-F5344CB8AC3E}">
        <p14:creationId xmlns:p14="http://schemas.microsoft.com/office/powerpoint/2010/main" val="947660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852928"/>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204</a:t>
            </a: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984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54B5D1"/>
                </a:solidFill>
                <a:latin typeface="Verdana"/>
                <a:ea typeface="Verdana"/>
                <a:cs typeface="Verdana"/>
                <a:sym typeface="Verdana"/>
              </a:rPr>
              <a:t>5.1.3 Bring It Together: Plotting Overhead Pairs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204</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731520" y="1464671"/>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Points </a:t>
                </a:r>
                <a14:m>
                  <m:oMath xmlns:m="http://schemas.openxmlformats.org/officeDocument/2006/math">
                    <m:r>
                      <a:rPr lang="en-US" sz="2000" i="1">
                        <a:latin typeface="Cambria Math" panose="02040503050406030204" pitchFamily="18" charset="0"/>
                        <a:ea typeface="Cambria Math" panose="020405030504060302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𝑃</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𝑊</m:t>
                    </m:r>
                  </m:oMath>
                </a14:m>
                <a:r>
                  <a:rPr lang="en-US" sz="2000" dirty="0">
                    <a:latin typeface="Verdana" panose="020B0604030504040204" pitchFamily="34" charset="0"/>
                    <a:ea typeface="Verdana" panose="020B0604030504040204" pitchFamily="34" charset="0"/>
                    <a:cs typeface="Verdana" panose="020B0604030504040204" pitchFamily="34" charset="0"/>
                  </a:rPr>
                  <a:t> are plotted on the coordinate grid.</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731520" y="1464671"/>
                <a:ext cx="8327136" cy="400110"/>
              </a:xfrm>
              <a:prstGeom prst="rect">
                <a:avLst/>
              </a:prstGeom>
              <a:blipFill>
                <a:blip r:embed="rId4"/>
                <a:stretch>
                  <a:fillRect l="-761" t="-12500" b="-25000"/>
                </a:stretch>
              </a:blipFill>
            </p:spPr>
            <p:txBody>
              <a:bodyPr/>
              <a:lstStyle/>
              <a:p>
                <a:r>
                  <a:rPr lang="en-US">
                    <a:noFill/>
                  </a:rPr>
                  <a:t> </a:t>
                </a:r>
              </a:p>
            </p:txBody>
          </p:sp>
        </mc:Fallback>
      </mc:AlternateContent>
      <p:pic>
        <p:nvPicPr>
          <p:cNvPr id="10" name="Picture 2" descr="Icon&#10;&#10;Description automatically generated">
            <a:extLst>
              <a:ext uri="{FF2B5EF4-FFF2-40B4-BE49-F238E27FC236}">
                <a16:creationId xmlns:a16="http://schemas.microsoft.com/office/drawing/2014/main" id="{C3EC6F9A-1527-4343-8030-AC1BC51B17EF}"/>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9" name="image14.png" descr="Chart, scatter chart&#10;&#10;Description automatically generated">
            <a:extLst>
              <a:ext uri="{FF2B5EF4-FFF2-40B4-BE49-F238E27FC236}">
                <a16:creationId xmlns:a16="http://schemas.microsoft.com/office/drawing/2014/main" id="{A89C3BCB-ED39-3B45-8DD7-46333CED4DF8}"/>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3631565" y="2165109"/>
            <a:ext cx="4928870" cy="3813810"/>
          </a:xfrm>
          <a:prstGeom prst="rect">
            <a:avLst/>
          </a:prstGeom>
          <a:ln/>
        </p:spPr>
      </p:pic>
    </p:spTree>
    <p:extLst>
      <p:ext uri="{BB962C8B-B14F-4D97-AF65-F5344CB8AC3E}">
        <p14:creationId xmlns:p14="http://schemas.microsoft.com/office/powerpoint/2010/main" val="3399856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0" y="621038"/>
            <a:ext cx="8327136" cy="400110"/>
          </a:xfrm>
          <a:prstGeom prst="rect">
            <a:avLst/>
          </a:prstGeom>
          <a:noFill/>
        </p:spPr>
        <p:txBody>
          <a:bodyPr wrap="square" rtlCol="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Select all of the descriptions of each point.</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2E8F9A3-634A-644A-8FC7-C43B512268C9}"/>
                  </a:ext>
                </a:extLst>
              </p:cNvPr>
              <p:cNvGraphicFramePr>
                <a:graphicFrameLocks noGrp="1"/>
              </p:cNvGraphicFramePr>
              <p:nvPr>
                <p:extLst>
                  <p:ext uri="{D42A27DB-BD31-4B8C-83A1-F6EECF244321}">
                    <p14:modId xmlns:p14="http://schemas.microsoft.com/office/powerpoint/2010/main" val="2050982718"/>
                  </p:ext>
                </p:extLst>
              </p:nvPr>
            </p:nvGraphicFramePr>
            <p:xfrm>
              <a:off x="2327173" y="1103433"/>
              <a:ext cx="7537654" cy="5354242"/>
            </p:xfrm>
            <a:graphic>
              <a:graphicData uri="http://schemas.openxmlformats.org/drawingml/2006/table">
                <a:tbl>
                  <a:tblPr bandRow="1">
                    <a:tableStyleId>{A91F0D33-8C57-4600-99A7-42BC86742BE1}</a:tableStyleId>
                  </a:tblPr>
                  <a:tblGrid>
                    <a:gridCol w="3758134">
                      <a:extLst>
                        <a:ext uri="{9D8B030D-6E8A-4147-A177-3AD203B41FA5}">
                          <a16:colId xmlns:a16="http://schemas.microsoft.com/office/drawing/2014/main" val="4100951437"/>
                        </a:ext>
                      </a:extLst>
                    </a:gridCol>
                    <a:gridCol w="3779520">
                      <a:extLst>
                        <a:ext uri="{9D8B030D-6E8A-4147-A177-3AD203B41FA5}">
                          <a16:colId xmlns:a16="http://schemas.microsoft.com/office/drawing/2014/main" val="2225468258"/>
                        </a:ext>
                      </a:extLst>
                    </a:gridCol>
                  </a:tblGrid>
                  <a:tr h="298916">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b="1" i="1">
                                  <a:effectLst/>
                                  <a:latin typeface="Cambria Math" panose="02040503050406030204" pitchFamily="18" charset="0"/>
                                </a:rPr>
                                <m:t>𝐃</m:t>
                              </m:r>
                            </m:oMath>
                          </a14:m>
                          <a:endParaRPr lang="en-US" sz="1800" b="1" dirty="0">
                            <a:effectLst/>
                            <a:latin typeface="Verdana" panose="020B0604030504040204" pitchFamily="34" charset="0"/>
                            <a:ea typeface="Verdana" panose="020B0604030504040204" pitchFamily="34" charset="0"/>
                            <a:cs typeface="Verdana" panose="020B0604030504040204" pitchFamily="34" charset="0"/>
                          </a:endParaRPr>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b="1" i="1">
                                  <a:effectLst/>
                                  <a:latin typeface="Cambria Math" panose="02040503050406030204" pitchFamily="18" charset="0"/>
                                </a:rPr>
                                <m:t>𝐏</m:t>
                              </m:r>
                            </m:oMath>
                          </a14:m>
                          <a:endParaRPr lang="en-US" sz="1800" b="1" dirty="0">
                            <a:effectLst/>
                            <a:latin typeface="Verdana" panose="020B0604030504040204" pitchFamily="34" charset="0"/>
                            <a:ea typeface="Verdana" panose="020B0604030504040204" pitchFamily="34" charset="0"/>
                            <a:cs typeface="Verdana" panose="020B0604030504040204" pitchFamily="34" charset="0"/>
                          </a:endParaRPr>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592096171"/>
                      </a:ext>
                    </a:extLst>
                  </a:tr>
                  <a:tr h="2324628">
                    <a:tc>
                      <a:txBody>
                        <a:bodyPr/>
                        <a:lstStyle/>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ea typeface="Cambria Math" panose="02040503050406030204" pitchFamily="18" charset="0"/>
                                </a:rPr>
                                <m:t>𝑥</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𝐷</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rPr>
                                <m:t>−5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ea typeface="Cambria Math" panose="02040503050406030204" pitchFamily="18" charset="0"/>
                                </a:rPr>
                                <m:t>𝑥</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𝐷</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ea typeface="Cambria Math" panose="02040503050406030204" pitchFamily="18" charset="0"/>
                                </a:rPr>
                                <m:t>𝑦</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𝐷</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rPr>
                                <m:t>−5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ea typeface="Cambria Math" panose="02040503050406030204" pitchFamily="18" charset="0"/>
                                </a:rPr>
                                <m:t>𝑦</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𝐷</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ea typeface="Cambria Math" panose="02040503050406030204" pitchFamily="18" charset="0"/>
                                </a:rPr>
                                <m:t>𝐷</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ea typeface="Cambria Math" panose="02040503050406030204" pitchFamily="18" charset="0"/>
                                </a:rPr>
                                <m:t>𝐷</m:t>
                              </m:r>
                            </m:oMath>
                          </a14:m>
                          <a:r>
                            <a:rPr lang="en-US" sz="1800" dirty="0">
                              <a:effectLst/>
                              <a:latin typeface="Cambria Math" panose="02040503050406030204" pitchFamily="18" charset="0"/>
                              <a:ea typeface="Cambria Math" panose="02040503050406030204" pitchFamily="18" charset="0"/>
                              <a:cs typeface="Verdana" panose="020B0604030504040204" pitchFamily="34" charset="0"/>
                            </a:rPr>
                            <a:t> </a:t>
                          </a:r>
                          <a:r>
                            <a:rPr lang="en-US" sz="1800" dirty="0">
                              <a:effectLst/>
                              <a:latin typeface="Verdana" panose="020B0604030504040204" pitchFamily="34" charset="0"/>
                              <a:ea typeface="Verdana" panose="020B0604030504040204" pitchFamily="34" charset="0"/>
                              <a:cs typeface="Verdana" panose="020B0604030504040204" pitchFamily="34" charset="0"/>
                            </a:rPr>
                            <a:t>is in quadrant II.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ea typeface="Cambria Math" panose="02040503050406030204" pitchFamily="18" charset="0"/>
                                </a:rPr>
                                <m:t>𝐷</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III.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ea typeface="Cambria Math" panose="02040503050406030204" pitchFamily="18" charset="0"/>
                                </a:rPr>
                                <m:t>𝐷</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quadrant IV.</a:t>
                          </a:r>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𝑥</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𝑃</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a:t>
                          </a:r>
                          <a14:m>
                            <m:oMath xmlns:m="http://schemas.openxmlformats.org/officeDocument/2006/math">
                              <m:r>
                                <a:rPr lang="en-US" sz="1800">
                                  <a:effectLst/>
                                  <a:latin typeface="Cambria Math" panose="02040503050406030204" pitchFamily="18" charset="0"/>
                                  <a:ea typeface="Cambria Math" panose="02040503050406030204" pitchFamily="18" charset="0"/>
                                </a:rPr>
                                <m:t>−3</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𝑥</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𝑃</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4</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𝑦</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𝑃</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−3</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𝑦</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𝑃</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4</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𝑃</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𝑃</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𝑃</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III.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𝑃</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IV.</a:t>
                          </a:r>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6759846"/>
                      </a:ext>
                    </a:extLst>
                  </a:tr>
                  <a:tr h="298916">
                    <a:tc>
                      <a:txBody>
                        <a:bodyPr/>
                        <a:lstStyle/>
                        <a:p>
                          <a:pPr marL="273685"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b="1" i="1">
                                  <a:effectLst/>
                                  <a:latin typeface="Cambria Math" panose="02040503050406030204" pitchFamily="18" charset="0"/>
                                </a:rPr>
                                <m:t>𝐑</m:t>
                              </m:r>
                            </m:oMath>
                          </a14:m>
                          <a:endParaRPr lang="en-US" sz="1800" b="1" dirty="0">
                            <a:effectLst/>
                            <a:latin typeface="Verdana" panose="020B0604030504040204" pitchFamily="34" charset="0"/>
                            <a:ea typeface="Verdana" panose="020B0604030504040204" pitchFamily="34" charset="0"/>
                            <a:cs typeface="Verdana" panose="020B0604030504040204" pitchFamily="34" charset="0"/>
                          </a:endParaRPr>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b="1" i="1">
                                  <a:effectLst/>
                                  <a:latin typeface="Cambria Math" panose="02040503050406030204" pitchFamily="18" charset="0"/>
                                </a:rPr>
                                <m:t>𝐖</m:t>
                              </m:r>
                            </m:oMath>
                          </a14:m>
                          <a:endParaRPr lang="en-US" sz="1800" b="1" dirty="0">
                            <a:effectLst/>
                            <a:latin typeface="Verdana" panose="020B0604030504040204" pitchFamily="34" charset="0"/>
                            <a:ea typeface="Verdana" panose="020B0604030504040204" pitchFamily="34" charset="0"/>
                            <a:cs typeface="Verdana" panose="020B0604030504040204" pitchFamily="34" charset="0"/>
                          </a:endParaRPr>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37931709"/>
                      </a:ext>
                    </a:extLst>
                  </a:tr>
                  <a:tr h="2287530">
                    <a:tc>
                      <a:txBody>
                        <a:bodyPr/>
                        <a:lstStyle/>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ea typeface="Cambria Math" panose="02040503050406030204" pitchFamily="18" charset="0"/>
                                </a:rPr>
                                <m:t>𝑥</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𝑅</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−2</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ea typeface="Cambria Math" panose="02040503050406030204" pitchFamily="18" charset="0"/>
                                </a:rPr>
                                <m:t>𝑥</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𝑅</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𝑦</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𝑅</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−2</m:t>
                              </m:r>
                            </m:oMath>
                          </a14:m>
                          <a:endParaRPr lang="en-US" sz="1800" dirty="0">
                            <a:effectLst/>
                            <a:latin typeface="Cambria Math" panose="02040503050406030204" pitchFamily="18" charset="0"/>
                            <a:ea typeface="Cambria Math" panose="02040503050406030204" pitchFamily="18" charset="0"/>
                            <a:cs typeface="Verdana" panose="020B0604030504040204" pitchFamily="34" charset="0"/>
                          </a:endParaRP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𝑦</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𝑅</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𝑅</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𝑅</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𝑅</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III.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𝑅</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IV.</a:t>
                          </a:r>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𝑥</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𝑊</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𝑥</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𝑊</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3</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𝑦</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𝑊</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1800">
                                  <a:effectLst/>
                                  <a:latin typeface="Cambria Math" panose="02040503050406030204" pitchFamily="18" charset="0"/>
                                </a:rPr>
                                <m:t>𝑦</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rPr>
                                <m:t>𝑊</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ea typeface="Cambria Math" panose="02040503050406030204" pitchFamily="18" charset="0"/>
                                </a:rPr>
                                <m:t>3</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𝑊</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𝑊</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𝑊</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III.</a:t>
                          </a:r>
                        </a:p>
                        <a:p>
                          <a:pPr marL="342900" marR="0" lvl="0" indent="-342900">
                            <a:spcBef>
                              <a:spcPts val="0"/>
                            </a:spcBef>
                            <a:spcAft>
                              <a:spcPts val="0"/>
                            </a:spcAft>
                            <a:buFont typeface="Wingdings" pitchFamily="2" charset="2"/>
                            <a:buChar char=""/>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𝑊</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in quadrant IV.</a:t>
                          </a:r>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5834305"/>
                      </a:ext>
                    </a:extLst>
                  </a:tr>
                </a:tbl>
              </a:graphicData>
            </a:graphic>
          </p:graphicFrame>
        </mc:Choice>
        <mc:Fallback xmlns="">
          <p:graphicFrame>
            <p:nvGraphicFramePr>
              <p:cNvPr id="2" name="Table 1">
                <a:extLst>
                  <a:ext uri="{FF2B5EF4-FFF2-40B4-BE49-F238E27FC236}">
                    <a16:creationId xmlns:a16="http://schemas.microsoft.com/office/drawing/2014/main" id="{F2E8F9A3-634A-644A-8FC7-C43B512268C9}"/>
                  </a:ext>
                </a:extLst>
              </p:cNvPr>
              <p:cNvGraphicFramePr>
                <a:graphicFrameLocks noGrp="1"/>
              </p:cNvGraphicFramePr>
              <p:nvPr>
                <p:extLst>
                  <p:ext uri="{D42A27DB-BD31-4B8C-83A1-F6EECF244321}">
                    <p14:modId xmlns:p14="http://schemas.microsoft.com/office/powerpoint/2010/main" val="2050982718"/>
                  </p:ext>
                </p:extLst>
              </p:nvPr>
            </p:nvGraphicFramePr>
            <p:xfrm>
              <a:off x="2327173" y="1103433"/>
              <a:ext cx="7537654" cy="5354242"/>
            </p:xfrm>
            <a:graphic>
              <a:graphicData uri="http://schemas.openxmlformats.org/drawingml/2006/table">
                <a:tbl>
                  <a:tblPr bandRow="1">
                    <a:tableStyleId>{A91F0D33-8C57-4600-99A7-42BC86742BE1}</a:tableStyleId>
                  </a:tblPr>
                  <a:tblGrid>
                    <a:gridCol w="3758134">
                      <a:extLst>
                        <a:ext uri="{9D8B030D-6E8A-4147-A177-3AD203B41FA5}">
                          <a16:colId xmlns:a16="http://schemas.microsoft.com/office/drawing/2014/main" val="4100951437"/>
                        </a:ext>
                      </a:extLst>
                    </a:gridCol>
                    <a:gridCol w="3779520">
                      <a:extLst>
                        <a:ext uri="{9D8B030D-6E8A-4147-A177-3AD203B41FA5}">
                          <a16:colId xmlns:a16="http://schemas.microsoft.com/office/drawing/2014/main" val="2225468258"/>
                        </a:ext>
                      </a:extLst>
                    </a:gridCol>
                  </a:tblGrid>
                  <a:tr h="298916">
                    <a:tc>
                      <a:txBody>
                        <a:bodyPr/>
                        <a:lstStyle/>
                        <a:p>
                          <a:endParaRPr lang="en-US"/>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38" t="-20833" r="-101351" b="-1679167"/>
                          </a:stretch>
                        </a:blipFill>
                      </a:tcPr>
                    </a:tc>
                    <a:tc>
                      <a:txBody>
                        <a:bodyPr/>
                        <a:lstStyle/>
                        <a:p>
                          <a:endParaRPr lang="en-US"/>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9664" t="-20833" r="-671" b="-1679167"/>
                          </a:stretch>
                        </a:blipFill>
                      </a:tcPr>
                    </a:tc>
                    <a:extLst>
                      <a:ext uri="{0D108BD9-81ED-4DB2-BD59-A6C34878D82A}">
                        <a16:rowId xmlns:a16="http://schemas.microsoft.com/office/drawing/2014/main" val="592096171"/>
                      </a:ext>
                    </a:extLst>
                  </a:tr>
                  <a:tr h="2468880">
                    <a:tc>
                      <a:txBody>
                        <a:bodyPr/>
                        <a:lstStyle/>
                        <a:p>
                          <a:endParaRPr lang="en-US"/>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38" t="-14872" r="-101351" b="-106667"/>
                          </a:stretch>
                        </a:blipFill>
                      </a:tcPr>
                    </a:tc>
                    <a:tc>
                      <a:txBody>
                        <a:bodyPr/>
                        <a:lstStyle/>
                        <a:p>
                          <a:endParaRPr lang="en-US"/>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9664" t="-14872" r="-671" b="-106667"/>
                          </a:stretch>
                        </a:blipFill>
                      </a:tcPr>
                    </a:tc>
                    <a:extLst>
                      <a:ext uri="{0D108BD9-81ED-4DB2-BD59-A6C34878D82A}">
                        <a16:rowId xmlns:a16="http://schemas.microsoft.com/office/drawing/2014/main" val="2606759846"/>
                      </a:ext>
                    </a:extLst>
                  </a:tr>
                  <a:tr h="298916">
                    <a:tc>
                      <a:txBody>
                        <a:bodyPr/>
                        <a:lstStyle/>
                        <a:p>
                          <a:endParaRPr lang="en-US"/>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38" t="-973913" r="-101351" b="-804348"/>
                          </a:stretch>
                        </a:blipFill>
                      </a:tcPr>
                    </a:tc>
                    <a:tc>
                      <a:txBody>
                        <a:bodyPr/>
                        <a:lstStyle/>
                        <a:p>
                          <a:endParaRPr lang="en-US"/>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9664" t="-973913" r="-671" b="-804348"/>
                          </a:stretch>
                        </a:blipFill>
                      </a:tcPr>
                    </a:tc>
                    <a:extLst>
                      <a:ext uri="{0D108BD9-81ED-4DB2-BD59-A6C34878D82A}">
                        <a16:rowId xmlns:a16="http://schemas.microsoft.com/office/drawing/2014/main" val="437931709"/>
                      </a:ext>
                    </a:extLst>
                  </a:tr>
                  <a:tr h="2287530">
                    <a:tc>
                      <a:txBody>
                        <a:bodyPr/>
                        <a:lstStyle/>
                        <a:p>
                          <a:endParaRPr lang="en-US"/>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38" t="-136464" r="-101351" b="-2210"/>
                          </a:stretch>
                        </a:blipFill>
                      </a:tcPr>
                    </a:tc>
                    <a:tc>
                      <a:txBody>
                        <a:bodyPr/>
                        <a:lstStyle/>
                        <a:p>
                          <a:endParaRPr lang="en-US"/>
                        </a:p>
                      </a:txBody>
                      <a:tcPr marL="47759" marR="477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9664" t="-136464" r="-671" b="-2210"/>
                          </a:stretch>
                        </a:blipFill>
                      </a:tcPr>
                    </a:tc>
                    <a:extLst>
                      <a:ext uri="{0D108BD9-81ED-4DB2-BD59-A6C34878D82A}">
                        <a16:rowId xmlns:a16="http://schemas.microsoft.com/office/drawing/2014/main" val="2065834305"/>
                      </a:ext>
                    </a:extLst>
                  </a:tr>
                </a:tbl>
              </a:graphicData>
            </a:graphic>
          </p:graphicFrame>
        </mc:Fallback>
      </mc:AlternateContent>
    </p:spTree>
    <p:extLst>
      <p:ext uri="{BB962C8B-B14F-4D97-AF65-F5344CB8AC3E}">
        <p14:creationId xmlns:p14="http://schemas.microsoft.com/office/powerpoint/2010/main" val="2979883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205</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12230" y="520393"/>
            <a:ext cx="11381664"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Use the coordinate grid to plot and label points that have the characteristics described in the table.</a:t>
            </a:r>
          </a:p>
        </p:txBody>
      </p:sp>
      <p:pic>
        <p:nvPicPr>
          <p:cNvPr id="7" name="image3.png" descr="Chart, line chart&#10;&#10;Description automatically generated">
            <a:extLst>
              <a:ext uri="{FF2B5EF4-FFF2-40B4-BE49-F238E27FC236}">
                <a16:creationId xmlns:a16="http://schemas.microsoft.com/office/drawing/2014/main" id="{8C0EE603-E1F0-D147-8824-5FC244E887D2}"/>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313451" y="1228279"/>
            <a:ext cx="3579222" cy="2769092"/>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6749928-CECB-3E4C-A8B1-3353E2993B68}"/>
                  </a:ext>
                </a:extLst>
              </p:cNvPr>
              <p:cNvGraphicFramePr>
                <a:graphicFrameLocks noGrp="1"/>
              </p:cNvGraphicFramePr>
              <p:nvPr>
                <p:extLst>
                  <p:ext uri="{D42A27DB-BD31-4B8C-83A1-F6EECF244321}">
                    <p14:modId xmlns:p14="http://schemas.microsoft.com/office/powerpoint/2010/main" val="1064829606"/>
                  </p:ext>
                </p:extLst>
              </p:nvPr>
            </p:nvGraphicFramePr>
            <p:xfrm>
              <a:off x="2753327" y="4153350"/>
              <a:ext cx="6699470" cy="2375888"/>
            </p:xfrm>
            <a:graphic>
              <a:graphicData uri="http://schemas.openxmlformats.org/drawingml/2006/table">
                <a:tbl>
                  <a:tblPr bandRow="1">
                    <a:tableStyleId>{A91F0D33-8C57-4600-99A7-42BC86742BE1}</a:tableStyleId>
                  </a:tblPr>
                  <a:tblGrid>
                    <a:gridCol w="3385954">
                      <a:extLst>
                        <a:ext uri="{9D8B030D-6E8A-4147-A177-3AD203B41FA5}">
                          <a16:colId xmlns:a16="http://schemas.microsoft.com/office/drawing/2014/main" val="1736547308"/>
                        </a:ext>
                      </a:extLst>
                    </a:gridCol>
                    <a:gridCol w="3313516">
                      <a:extLst>
                        <a:ext uri="{9D8B030D-6E8A-4147-A177-3AD203B41FA5}">
                          <a16:colId xmlns:a16="http://schemas.microsoft.com/office/drawing/2014/main" val="3922903713"/>
                        </a:ext>
                      </a:extLst>
                    </a:gridCol>
                  </a:tblGrid>
                  <a:tr h="729968">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ea typeface="Cambria Math" panose="02040503050406030204" pitchFamily="18" charset="0"/>
                                </a:rPr>
                                <m:t>𝐵</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has an </a:t>
                          </a:r>
                          <a14:m>
                            <m:oMath xmlns:m="http://schemas.openxmlformats.org/officeDocument/2006/math">
                              <m:r>
                                <a:rPr lang="en-US" sz="1800">
                                  <a:effectLst/>
                                  <a:latin typeface="Cambria Math" panose="02040503050406030204" pitchFamily="18" charset="0"/>
                                  <a:ea typeface="Cambria Math" panose="02040503050406030204" pitchFamily="18" charset="0"/>
                                </a:rPr>
                                <m:t>𝑥</m:t>
                              </m:r>
                            </m:oMath>
                          </a14:m>
                          <a:r>
                            <a:rPr lang="en-US" sz="1800" dirty="0">
                              <a:effectLst/>
                              <a:latin typeface="Cambria Math" panose="02040503050406030204" pitchFamily="18" charset="0"/>
                              <a:ea typeface="Cambria Math" panose="02040503050406030204" pitchFamily="18" charset="0"/>
                              <a:cs typeface="Verdana" panose="020B0604030504040204" pitchFamily="34" charset="0"/>
                            </a:rPr>
                            <a:t>-</a:t>
                          </a:r>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ea typeface="Cambria Math" panose="02040503050406030204" pitchFamily="18" charset="0"/>
                                </a:rPr>
                                <m:t>0</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ea typeface="Cambria Math" panose="02040503050406030204" pitchFamily="18" charset="0"/>
                                </a:rPr>
                                <m:t>𝐶</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has a </a:t>
                          </a:r>
                          <a14:m>
                            <m:oMath xmlns:m="http://schemas.openxmlformats.org/officeDocument/2006/math">
                              <m:r>
                                <a:rPr lang="en-US" sz="1800">
                                  <a:effectLst/>
                                  <a:latin typeface="Cambria Math" panose="02040503050406030204" pitchFamily="18" charset="0"/>
                                  <a:ea typeface="Cambria Math" panose="02040503050406030204" pitchFamily="18" charset="0"/>
                                </a:rPr>
                                <m:t>𝑦</m:t>
                              </m:r>
                            </m:oMath>
                          </a14:m>
                          <a:r>
                            <a:rPr lang="en-US" sz="1800" dirty="0">
                              <a:effectLst/>
                              <a:latin typeface="Cambria Math" panose="02040503050406030204" pitchFamily="18" charset="0"/>
                              <a:ea typeface="Cambria Math" panose="02040503050406030204" pitchFamily="18" charset="0"/>
                              <a:cs typeface="Verdana" panose="020B0604030504040204" pitchFamily="34" charset="0"/>
                            </a:rPr>
                            <a:t>-</a:t>
                          </a:r>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ea typeface="Cambria Math" panose="02040503050406030204" pitchFamily="18" charset="0"/>
                                </a:rPr>
                                <m:t>−4</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and is in Quadrant III.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5453804"/>
                      </a:ext>
                    </a:extLst>
                  </a:tr>
                  <a:tr h="729968">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ea typeface="Cambria Math" panose="02040503050406030204" pitchFamily="18" charset="0"/>
                                </a:rPr>
                                <m:t>𝐺</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has a </a:t>
                          </a:r>
                          <a14:m>
                            <m:oMath xmlns:m="http://schemas.openxmlformats.org/officeDocument/2006/math">
                              <m:r>
                                <a:rPr lang="en-US" sz="1800">
                                  <a:effectLst/>
                                  <a:latin typeface="Cambria Math" panose="02040503050406030204" pitchFamily="18" charset="0"/>
                                  <a:ea typeface="Cambria Math" panose="02040503050406030204" pitchFamily="18" charset="0"/>
                                </a:rPr>
                                <m:t>𝑦</m:t>
                              </m:r>
                            </m:oMath>
                          </a14:m>
                          <a:r>
                            <a:rPr lang="en-US" sz="1800" dirty="0">
                              <a:effectLst/>
                              <a:latin typeface="Cambria Math" panose="02040503050406030204" pitchFamily="18" charset="0"/>
                              <a:ea typeface="Cambria Math" panose="02040503050406030204" pitchFamily="18" charset="0"/>
                              <a:cs typeface="Verdana" panose="020B0604030504040204" pitchFamily="34" charset="0"/>
                            </a:rPr>
                            <a:t>-</a:t>
                          </a:r>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ea typeface="Cambria Math" panose="02040503050406030204" pitchFamily="18" charset="0"/>
                                </a:rPr>
                                <m:t>0</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rPr>
                                <m:t>𝑀</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has a </a:t>
                          </a:r>
                          <a14:m>
                            <m:oMath xmlns:m="http://schemas.openxmlformats.org/officeDocument/2006/math">
                              <m:r>
                                <a:rPr lang="en-US" sz="1800">
                                  <a:effectLst/>
                                  <a:latin typeface="Cambria Math" panose="02040503050406030204" pitchFamily="18" charset="0"/>
                                  <a:ea typeface="Cambria Math" panose="02040503050406030204" pitchFamily="18" charset="0"/>
                                </a:rPr>
                                <m:t>𝑦</m:t>
                              </m:r>
                            </m:oMath>
                          </a14:m>
                          <a:r>
                            <a:rPr lang="en-US" sz="1800" dirty="0">
                              <a:effectLst/>
                              <a:latin typeface="Cambria Math" panose="02040503050406030204" pitchFamily="18" charset="0"/>
                              <a:ea typeface="Cambria Math" panose="02040503050406030204" pitchFamily="18" charset="0"/>
                              <a:cs typeface="Verdana" panose="020B0604030504040204" pitchFamily="34" charset="0"/>
                            </a:rPr>
                            <a:t>-</a:t>
                          </a:r>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ea typeface="Cambria Math" panose="02040503050406030204" pitchFamily="18" charset="0"/>
                                </a:rPr>
                                <m:t>2</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and is in Quadrant 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3337179"/>
                      </a:ext>
                    </a:extLst>
                  </a:tr>
                  <a:tr h="729968">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ea typeface="Cambria Math" panose="02040503050406030204" pitchFamily="18" charset="0"/>
                                </a:rPr>
                                <m:t>𝑇</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has an </a:t>
                          </a:r>
                          <a14:m>
                            <m:oMath xmlns:m="http://schemas.openxmlformats.org/officeDocument/2006/math">
                              <m:r>
                                <a:rPr lang="en-US" sz="1800">
                                  <a:effectLst/>
                                  <a:latin typeface="Cambria Math" panose="02040503050406030204" pitchFamily="18" charset="0"/>
                                  <a:ea typeface="Cambria Math" panose="02040503050406030204" pitchFamily="18" charset="0"/>
                                </a:rPr>
                                <m:t>𝑥</m:t>
                              </m:r>
                            </m:oMath>
                          </a14:m>
                          <a:r>
                            <a:rPr lang="en-US" sz="1800" dirty="0">
                              <a:effectLst/>
                              <a:latin typeface="Cambria Math" panose="02040503050406030204" pitchFamily="18" charset="0"/>
                              <a:ea typeface="Cambria Math" panose="02040503050406030204" pitchFamily="18" charset="0"/>
                              <a:cs typeface="Verdana" panose="020B0604030504040204" pitchFamily="34" charset="0"/>
                            </a:rPr>
                            <a:t>-</a:t>
                          </a:r>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ea typeface="Cambria Math" panose="02040503050406030204" pitchFamily="18" charset="0"/>
                                </a:rPr>
                                <m:t>−3</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and is in Quadrant II.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a:effectLst/>
                                  <a:latin typeface="Cambria Math" panose="02040503050406030204" pitchFamily="18" charset="0"/>
                                  <a:ea typeface="Cambria Math" panose="02040503050406030204" pitchFamily="18" charset="0"/>
                                </a:rPr>
                                <m:t>𝑊</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has an </a:t>
                          </a:r>
                          <a14:m>
                            <m:oMath xmlns:m="http://schemas.openxmlformats.org/officeDocument/2006/math">
                              <m:r>
                                <a:rPr lang="en-US" sz="1800">
                                  <a:effectLst/>
                                  <a:latin typeface="Cambria Math" panose="02040503050406030204" pitchFamily="18" charset="0"/>
                                  <a:ea typeface="Cambria Math" panose="02040503050406030204" pitchFamily="18" charset="0"/>
                                </a:rPr>
                                <m:t>𝑥</m:t>
                              </m:r>
                            </m:oMath>
                          </a14:m>
                          <a:r>
                            <a:rPr lang="en-US" sz="1800" dirty="0">
                              <a:effectLst/>
                              <a:latin typeface="Cambria Math" panose="02040503050406030204" pitchFamily="18" charset="0"/>
                              <a:ea typeface="Cambria Math" panose="02040503050406030204" pitchFamily="18" charset="0"/>
                              <a:cs typeface="Verdana" panose="020B0604030504040204" pitchFamily="34" charset="0"/>
                            </a:rPr>
                            <a:t>-</a:t>
                          </a:r>
                          <a:r>
                            <a:rPr lang="en-US" sz="1800" dirty="0">
                              <a:effectLst/>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1800">
                                  <a:effectLst/>
                                  <a:latin typeface="Cambria Math" panose="02040503050406030204" pitchFamily="18" charset="0"/>
                                  <a:ea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and is in Quadrant IV.</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9060526"/>
                      </a:ext>
                    </a:extLst>
                  </a:tr>
                </a:tbl>
              </a:graphicData>
            </a:graphic>
          </p:graphicFrame>
        </mc:Choice>
        <mc:Fallback xmlns="">
          <p:graphicFrame>
            <p:nvGraphicFramePr>
              <p:cNvPr id="3" name="Table 2">
                <a:extLst>
                  <a:ext uri="{FF2B5EF4-FFF2-40B4-BE49-F238E27FC236}">
                    <a16:creationId xmlns:a16="http://schemas.microsoft.com/office/drawing/2014/main" id="{76749928-CECB-3E4C-A8B1-3353E2993B68}"/>
                  </a:ext>
                </a:extLst>
              </p:cNvPr>
              <p:cNvGraphicFramePr>
                <a:graphicFrameLocks noGrp="1"/>
              </p:cNvGraphicFramePr>
              <p:nvPr>
                <p:extLst>
                  <p:ext uri="{D42A27DB-BD31-4B8C-83A1-F6EECF244321}">
                    <p14:modId xmlns:p14="http://schemas.microsoft.com/office/powerpoint/2010/main" val="1064829606"/>
                  </p:ext>
                </p:extLst>
              </p:nvPr>
            </p:nvGraphicFramePr>
            <p:xfrm>
              <a:off x="2753327" y="4153350"/>
              <a:ext cx="6699470" cy="2375888"/>
            </p:xfrm>
            <a:graphic>
              <a:graphicData uri="http://schemas.openxmlformats.org/drawingml/2006/table">
                <a:tbl>
                  <a:tblPr bandRow="1">
                    <a:tableStyleId>{A91F0D33-8C57-4600-99A7-42BC86742BE1}</a:tableStyleId>
                  </a:tblPr>
                  <a:tblGrid>
                    <a:gridCol w="3385954">
                      <a:extLst>
                        <a:ext uri="{9D8B030D-6E8A-4147-A177-3AD203B41FA5}">
                          <a16:colId xmlns:a16="http://schemas.microsoft.com/office/drawing/2014/main" val="1736547308"/>
                        </a:ext>
                      </a:extLst>
                    </a:gridCol>
                    <a:gridCol w="3313516">
                      <a:extLst>
                        <a:ext uri="{9D8B030D-6E8A-4147-A177-3AD203B41FA5}">
                          <a16:colId xmlns:a16="http://schemas.microsoft.com/office/drawing/2014/main" val="3922903713"/>
                        </a:ext>
                      </a:extLst>
                    </a:gridCol>
                  </a:tblGrid>
                  <a:tr h="8229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0769" r="-98502" b="-20615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908" t="-10769" r="-382" b="-206154"/>
                          </a:stretch>
                        </a:blipFill>
                      </a:tcPr>
                    </a:tc>
                    <a:extLst>
                      <a:ext uri="{0D108BD9-81ED-4DB2-BD59-A6C34878D82A}">
                        <a16:rowId xmlns:a16="http://schemas.microsoft.com/office/drawing/2014/main" val="2915453804"/>
                      </a:ext>
                    </a:extLst>
                  </a:tr>
                  <a:tr h="72996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24138" r="-98502" b="-13103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908" t="-124138" r="-382" b="-131034"/>
                          </a:stretch>
                        </a:blipFill>
                      </a:tcPr>
                    </a:tc>
                    <a:extLst>
                      <a:ext uri="{0D108BD9-81ED-4DB2-BD59-A6C34878D82A}">
                        <a16:rowId xmlns:a16="http://schemas.microsoft.com/office/drawing/2014/main" val="1763337179"/>
                      </a:ext>
                    </a:extLst>
                  </a:tr>
                  <a:tr h="8229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00000" r="-98502" b="-1692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908" t="-200000" r="-382" b="-16923"/>
                          </a:stretch>
                        </a:blipFill>
                      </a:tcPr>
                    </a:tc>
                    <a:extLst>
                      <a:ext uri="{0D108BD9-81ED-4DB2-BD59-A6C34878D82A}">
                        <a16:rowId xmlns:a16="http://schemas.microsoft.com/office/drawing/2014/main" val="3249060526"/>
                      </a:ext>
                    </a:extLst>
                  </a:tr>
                </a:tbl>
              </a:graphicData>
            </a:graphic>
          </p:graphicFrame>
        </mc:Fallback>
      </mc:AlternateContent>
    </p:spTree>
    <p:extLst>
      <p:ext uri="{BB962C8B-B14F-4D97-AF65-F5344CB8AC3E}">
        <p14:creationId xmlns:p14="http://schemas.microsoft.com/office/powerpoint/2010/main" val="2539304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9988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205</a:t>
            </a:r>
          </a:p>
        </p:txBody>
      </p:sp>
    </p:spTree>
    <p:extLst>
      <p:ext uri="{BB962C8B-B14F-4D97-AF65-F5344CB8AC3E}">
        <p14:creationId xmlns:p14="http://schemas.microsoft.com/office/powerpoint/2010/main" val="3702612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2" y="0"/>
            <a:ext cx="1008115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5.1.4 Guided Instruction: Reflections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205</a:t>
            </a:r>
          </a:p>
        </p:txBody>
      </p:sp>
      <p:sp>
        <p:nvSpPr>
          <p:cNvPr id="13" name="TextBox 12">
            <a:extLst>
              <a:ext uri="{FF2B5EF4-FFF2-40B4-BE49-F238E27FC236}">
                <a16:creationId xmlns:a16="http://schemas.microsoft.com/office/drawing/2014/main" id="{C01B13E8-EC8D-E443-A329-C5E3593DD13A}"/>
              </a:ext>
            </a:extLst>
          </p:cNvPr>
          <p:cNvSpPr txBox="1"/>
          <p:nvPr/>
        </p:nvSpPr>
        <p:spPr>
          <a:xfrm>
            <a:off x="730266" y="1325700"/>
            <a:ext cx="11334216" cy="276998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points in the table for the following.</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Plot the ordered pairs from the table on the coordinate grid below. Label using the given letter.</a:t>
            </a:r>
          </a:p>
          <a:p>
            <a:endParaRPr lang="en-US"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9D3C3C5-8051-0B46-8552-379AD6CD00E8}"/>
                  </a:ext>
                </a:extLst>
              </p:cNvPr>
              <p:cNvGraphicFramePr>
                <a:graphicFrameLocks noGrp="1"/>
              </p:cNvGraphicFramePr>
              <p:nvPr>
                <p:extLst>
                  <p:ext uri="{D42A27DB-BD31-4B8C-83A1-F6EECF244321}">
                    <p14:modId xmlns:p14="http://schemas.microsoft.com/office/powerpoint/2010/main" val="1130295554"/>
                  </p:ext>
                </p:extLst>
              </p:nvPr>
            </p:nvGraphicFramePr>
            <p:xfrm>
              <a:off x="3163636" y="2013298"/>
              <a:ext cx="6467476" cy="986790"/>
            </p:xfrm>
            <a:graphic>
              <a:graphicData uri="http://schemas.openxmlformats.org/drawingml/2006/table">
                <a:tbl>
                  <a:tblPr bandRow="1">
                    <a:tableStyleId>{A91F0D33-8C57-4600-99A7-42BC86742BE1}</a:tableStyleId>
                  </a:tblPr>
                  <a:tblGrid>
                    <a:gridCol w="2155402">
                      <a:extLst>
                        <a:ext uri="{9D8B030D-6E8A-4147-A177-3AD203B41FA5}">
                          <a16:colId xmlns:a16="http://schemas.microsoft.com/office/drawing/2014/main" val="1547859111"/>
                        </a:ext>
                      </a:extLst>
                    </a:gridCol>
                    <a:gridCol w="2156037">
                      <a:extLst>
                        <a:ext uri="{9D8B030D-6E8A-4147-A177-3AD203B41FA5}">
                          <a16:colId xmlns:a16="http://schemas.microsoft.com/office/drawing/2014/main" val="2781103173"/>
                        </a:ext>
                      </a:extLst>
                    </a:gridCol>
                    <a:gridCol w="2156037">
                      <a:extLst>
                        <a:ext uri="{9D8B030D-6E8A-4147-A177-3AD203B41FA5}">
                          <a16:colId xmlns:a16="http://schemas.microsoft.com/office/drawing/2014/main" val="800927788"/>
                        </a:ext>
                      </a:extLst>
                    </a:gridCol>
                  </a:tblGrid>
                  <a:tr h="493395">
                    <a:tc>
                      <a:txBody>
                        <a:bodyPr/>
                        <a:lstStyle/>
                        <a:p>
                          <a:pPr marL="0" marR="0" algn="ctr">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𝐷</m:t>
                              </m:r>
                            </m:oMath>
                          </a14:m>
                          <a:r>
                            <a:rPr lang="en-US" sz="2000" dirty="0">
                              <a:effectLst/>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1, 3</m:t>
                                  </m:r>
                                </m:e>
                              </m:d>
                            </m:oMath>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𝐻</m:t>
                              </m:r>
                            </m:oMath>
                          </a14:m>
                          <a:r>
                            <a:rPr lang="en-US" sz="2000" dirty="0">
                              <a:effectLst/>
                            </a:rPr>
                            <a:t>   </a:t>
                          </a:r>
                          <a14:m>
                            <m:oMath xmlns:m="http://schemas.openxmlformats.org/officeDocument/2006/math">
                              <m:r>
                                <a:rPr lang="en-US" sz="2000">
                                  <a:effectLst/>
                                  <a:latin typeface="Cambria Math" panose="02040503050406030204" pitchFamily="18" charset="0"/>
                                  <a:ea typeface="Cambria Math" panose="02040503050406030204" pitchFamily="18" charset="0"/>
                                </a:rPr>
                                <m:t>(1, −3)</m:t>
                              </m:r>
                            </m:oMath>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𝐾</m:t>
                              </m:r>
                            </m:oMath>
                          </a14:m>
                          <a:r>
                            <a:rPr lang="en-US" sz="2000" dirty="0">
                              <a:effectLst/>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−2, 4</m:t>
                                  </m:r>
                                </m:e>
                              </m:d>
                            </m:oMath>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530505"/>
                      </a:ext>
                    </a:extLst>
                  </a:tr>
                  <a:tr h="493395">
                    <a:tc>
                      <a:txBody>
                        <a:bodyPr/>
                        <a:lstStyle/>
                        <a:p>
                          <a:pPr marL="0" marR="0" algn="ctr">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𝑅</m:t>
                              </m:r>
                            </m:oMath>
                          </a14:m>
                          <a:r>
                            <a:rPr lang="en-US" sz="2000" dirty="0">
                              <a:effectLst/>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−5,−1</m:t>
                                  </m:r>
                                </m:e>
                              </m:d>
                            </m:oMath>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𝑉</m:t>
                              </m:r>
                            </m:oMath>
                          </a14:m>
                          <a:r>
                            <a:rPr lang="en-US" sz="2000" dirty="0">
                              <a:effectLst/>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5, −1</m:t>
                                  </m:r>
                                </m:e>
                              </m:d>
                            </m:oMath>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𝑍</m:t>
                              </m:r>
                            </m:oMath>
                          </a14:m>
                          <a:r>
                            <a:rPr lang="en-US" sz="2000" dirty="0">
                              <a:effectLst/>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4, 4</m:t>
                                  </m:r>
                                </m:e>
                              </m:d>
                            </m:oMath>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801954"/>
                      </a:ext>
                    </a:extLst>
                  </a:tr>
                </a:tbl>
              </a:graphicData>
            </a:graphic>
          </p:graphicFrame>
        </mc:Choice>
        <mc:Fallback xmlns="">
          <p:graphicFrame>
            <p:nvGraphicFramePr>
              <p:cNvPr id="2" name="Table 1">
                <a:extLst>
                  <a:ext uri="{FF2B5EF4-FFF2-40B4-BE49-F238E27FC236}">
                    <a16:creationId xmlns:a16="http://schemas.microsoft.com/office/drawing/2014/main" id="{F9D3C3C5-8051-0B46-8552-379AD6CD00E8}"/>
                  </a:ext>
                </a:extLst>
              </p:cNvPr>
              <p:cNvGraphicFramePr>
                <a:graphicFrameLocks noGrp="1"/>
              </p:cNvGraphicFramePr>
              <p:nvPr>
                <p:extLst>
                  <p:ext uri="{D42A27DB-BD31-4B8C-83A1-F6EECF244321}">
                    <p14:modId xmlns:p14="http://schemas.microsoft.com/office/powerpoint/2010/main" val="1130295554"/>
                  </p:ext>
                </p:extLst>
              </p:nvPr>
            </p:nvGraphicFramePr>
            <p:xfrm>
              <a:off x="3163636" y="2013298"/>
              <a:ext cx="6467476" cy="986790"/>
            </p:xfrm>
            <a:graphic>
              <a:graphicData uri="http://schemas.openxmlformats.org/drawingml/2006/table">
                <a:tbl>
                  <a:tblPr bandRow="1">
                    <a:tableStyleId>{A91F0D33-8C57-4600-99A7-42BC86742BE1}</a:tableStyleId>
                  </a:tblPr>
                  <a:tblGrid>
                    <a:gridCol w="2155402">
                      <a:extLst>
                        <a:ext uri="{9D8B030D-6E8A-4147-A177-3AD203B41FA5}">
                          <a16:colId xmlns:a16="http://schemas.microsoft.com/office/drawing/2014/main" val="1547859111"/>
                        </a:ext>
                      </a:extLst>
                    </a:gridCol>
                    <a:gridCol w="2156037">
                      <a:extLst>
                        <a:ext uri="{9D8B030D-6E8A-4147-A177-3AD203B41FA5}">
                          <a16:colId xmlns:a16="http://schemas.microsoft.com/office/drawing/2014/main" val="2781103173"/>
                        </a:ext>
                      </a:extLst>
                    </a:gridCol>
                    <a:gridCol w="2156037">
                      <a:extLst>
                        <a:ext uri="{9D8B030D-6E8A-4147-A177-3AD203B41FA5}">
                          <a16:colId xmlns:a16="http://schemas.microsoft.com/office/drawing/2014/main" val="800927788"/>
                        </a:ext>
                      </a:extLst>
                    </a:gridCol>
                  </a:tblGrid>
                  <a:tr h="49339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88" t="-2500" r="-200588" b="-107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588" t="-2500" r="-100588" b="-107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588" t="-2500" r="-588" b="-107500"/>
                          </a:stretch>
                        </a:blipFill>
                      </a:tcPr>
                    </a:tc>
                    <a:extLst>
                      <a:ext uri="{0D108BD9-81ED-4DB2-BD59-A6C34878D82A}">
                        <a16:rowId xmlns:a16="http://schemas.microsoft.com/office/drawing/2014/main" val="98530505"/>
                      </a:ext>
                    </a:extLst>
                  </a:tr>
                  <a:tr h="49339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88" t="-105128" r="-200588" b="-102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588" t="-105128" r="-100588" b="-102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588" t="-105128" r="-588" b="-10256"/>
                          </a:stretch>
                        </a:blipFill>
                      </a:tcPr>
                    </a:tc>
                    <a:extLst>
                      <a:ext uri="{0D108BD9-81ED-4DB2-BD59-A6C34878D82A}">
                        <a16:rowId xmlns:a16="http://schemas.microsoft.com/office/drawing/2014/main" val="1864801954"/>
                      </a:ext>
                    </a:extLst>
                  </a:tr>
                </a:tbl>
              </a:graphicData>
            </a:graphic>
          </p:graphicFrame>
        </mc:Fallback>
      </mc:AlternateContent>
      <p:pic>
        <p:nvPicPr>
          <p:cNvPr id="10" name="image3.png" descr="Chart, line chart&#10;&#10;Description automatically generated">
            <a:extLst>
              <a:ext uri="{FF2B5EF4-FFF2-40B4-BE49-F238E27FC236}">
                <a16:creationId xmlns:a16="http://schemas.microsoft.com/office/drawing/2014/main" id="{08681F71-B08D-C842-9C01-CB58B8A46481}"/>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633888" y="3802752"/>
            <a:ext cx="3526972" cy="2769989"/>
          </a:xfrm>
          <a:prstGeom prst="rect">
            <a:avLst/>
          </a:prstGeom>
          <a:ln/>
        </p:spPr>
      </p:pic>
    </p:spTree>
    <p:extLst>
      <p:ext uri="{BB962C8B-B14F-4D97-AF65-F5344CB8AC3E}">
        <p14:creationId xmlns:p14="http://schemas.microsoft.com/office/powerpoint/2010/main" val="39024578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1599" y="659011"/>
                <a:ext cx="11887567" cy="2462213"/>
              </a:xfrm>
              <a:prstGeom prst="rect">
                <a:avLst/>
              </a:prstGeom>
              <a:noFill/>
            </p:spPr>
            <p:txBody>
              <a:bodyPr wrap="square" rtlCol="0">
                <a:spAutoFit/>
              </a:bodyPr>
              <a:lstStyle/>
              <a:p>
                <a:pPr marL="922338" indent="-455613">
                  <a:buFont typeface="+mj-lt"/>
                  <a:buAutoNum type="alphaLcPeriod" startAt="2"/>
                  <a:tabLst>
                    <a:tab pos="390525" algn="l"/>
                  </a:tabLst>
                </a:pPr>
                <a:r>
                  <a:rPr lang="en-US" sz="2000" dirty="0">
                    <a:latin typeface="Verdana" panose="020B0604030504040204" pitchFamily="34" charset="0"/>
                    <a:ea typeface="Verdana" panose="020B0604030504040204" pitchFamily="34" charset="0"/>
                    <a:cs typeface="Verdana" panose="020B0604030504040204" pitchFamily="34" charset="0"/>
                  </a:rPr>
                  <a:t>Select the pair of points that have the same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-coordinate.</a:t>
                </a:r>
              </a:p>
              <a:p>
                <a:pPr marL="922338" indent="-455613">
                  <a:buFont typeface="+mj-lt"/>
                  <a:buAutoNum type="alphaLcPeriod" startAt="2"/>
                  <a:tabLst>
                    <a:tab pos="5095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tabLst>
                    <a:tab pos="5095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tabLst>
                    <a:tab pos="5095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tabLst>
                    <a:tab pos="5095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tabLst>
                    <a:tab pos="5095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tabLst>
                    <a:tab pos="509588" algn="l"/>
                  </a:tabLst>
                </a:pPr>
                <a:r>
                  <a:rPr lang="en-US" sz="2000" dirty="0">
                    <a:latin typeface="Verdana" panose="020B0604030504040204" pitchFamily="34" charset="0"/>
                    <a:ea typeface="Verdana" panose="020B0604030504040204" pitchFamily="34" charset="0"/>
                    <a:cs typeface="Verdana" panose="020B0604030504040204" pitchFamily="34" charset="0"/>
                  </a:rPr>
                  <a:t>Select the pair of points that have a </a:t>
                </a:r>
                <a14:m>
                  <m:oMath xmlns:m="http://schemas.openxmlformats.org/officeDocument/2006/math">
                    <m:r>
                      <a:rPr lang="en-US" sz="2000" i="1">
                        <a:latin typeface="Cambria Math" panose="02040503050406030204" pitchFamily="18" charset="0"/>
                        <a:ea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-coordinate of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lvl="0"/>
                <a:endParaRPr lang="en-US" dirty="0"/>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11599" y="659011"/>
                <a:ext cx="11887567" cy="2462213"/>
              </a:xfrm>
              <a:prstGeom prst="rect">
                <a:avLst/>
              </a:prstGeom>
              <a:blipFill>
                <a:blip r:embed="rId4"/>
                <a:stretch>
                  <a:fillRect t="-10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3E2DAE38-B17B-9245-9762-F15FA35F63F2}"/>
                  </a:ext>
                </a:extLst>
              </p:cNvPr>
              <p:cNvGraphicFramePr>
                <a:graphicFrameLocks noGrp="1"/>
              </p:cNvGraphicFramePr>
              <p:nvPr>
                <p:extLst>
                  <p:ext uri="{D42A27DB-BD31-4B8C-83A1-F6EECF244321}">
                    <p14:modId xmlns:p14="http://schemas.microsoft.com/office/powerpoint/2010/main" val="1765559581"/>
                  </p:ext>
                </p:extLst>
              </p:nvPr>
            </p:nvGraphicFramePr>
            <p:xfrm>
              <a:off x="2926419" y="1460130"/>
              <a:ext cx="6257925" cy="304800"/>
            </p:xfrm>
            <a:graphic>
              <a:graphicData uri="http://schemas.openxmlformats.org/drawingml/2006/table">
                <a:tbl>
                  <a:tblPr bandRow="1">
                    <a:tableStyleId>{A91F0D33-8C57-4600-99A7-42BC86742BE1}</a:tableStyleId>
                  </a:tblPr>
                  <a:tblGrid>
                    <a:gridCol w="1045316">
                      <a:extLst>
                        <a:ext uri="{9D8B030D-6E8A-4147-A177-3AD203B41FA5}">
                          <a16:colId xmlns:a16="http://schemas.microsoft.com/office/drawing/2014/main" val="1282837326"/>
                        </a:ext>
                      </a:extLst>
                    </a:gridCol>
                    <a:gridCol w="1047221">
                      <a:extLst>
                        <a:ext uri="{9D8B030D-6E8A-4147-A177-3AD203B41FA5}">
                          <a16:colId xmlns:a16="http://schemas.microsoft.com/office/drawing/2014/main" val="2326440945"/>
                        </a:ext>
                      </a:extLst>
                    </a:gridCol>
                    <a:gridCol w="1045316">
                      <a:extLst>
                        <a:ext uri="{9D8B030D-6E8A-4147-A177-3AD203B41FA5}">
                          <a16:colId xmlns:a16="http://schemas.microsoft.com/office/drawing/2014/main" val="2304634007"/>
                        </a:ext>
                      </a:extLst>
                    </a:gridCol>
                    <a:gridCol w="1040871">
                      <a:extLst>
                        <a:ext uri="{9D8B030D-6E8A-4147-A177-3AD203B41FA5}">
                          <a16:colId xmlns:a16="http://schemas.microsoft.com/office/drawing/2014/main" val="3965725362"/>
                        </a:ext>
                      </a:extLst>
                    </a:gridCol>
                    <a:gridCol w="1040871">
                      <a:extLst>
                        <a:ext uri="{9D8B030D-6E8A-4147-A177-3AD203B41FA5}">
                          <a16:colId xmlns:a16="http://schemas.microsoft.com/office/drawing/2014/main" val="4087004789"/>
                        </a:ext>
                      </a:extLst>
                    </a:gridCol>
                    <a:gridCol w="1038330">
                      <a:extLst>
                        <a:ext uri="{9D8B030D-6E8A-4147-A177-3AD203B41FA5}">
                          <a16:colId xmlns:a16="http://schemas.microsoft.com/office/drawing/2014/main" val="1232740088"/>
                        </a:ext>
                      </a:extLst>
                    </a:gridCol>
                  </a:tblGrid>
                  <a:tr h="0">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𝐷</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𝐻</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𝐾</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𝑅</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𝑉</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𝑍</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76298144"/>
                      </a:ext>
                    </a:extLst>
                  </a:tr>
                </a:tbl>
              </a:graphicData>
            </a:graphic>
          </p:graphicFrame>
        </mc:Choice>
        <mc:Fallback xmlns="">
          <p:graphicFrame>
            <p:nvGraphicFramePr>
              <p:cNvPr id="5" name="Table 4">
                <a:extLst>
                  <a:ext uri="{FF2B5EF4-FFF2-40B4-BE49-F238E27FC236}">
                    <a16:creationId xmlns:a16="http://schemas.microsoft.com/office/drawing/2014/main" id="{3E2DAE38-B17B-9245-9762-F15FA35F63F2}"/>
                  </a:ext>
                </a:extLst>
              </p:cNvPr>
              <p:cNvGraphicFramePr>
                <a:graphicFrameLocks noGrp="1"/>
              </p:cNvGraphicFramePr>
              <p:nvPr>
                <p:extLst>
                  <p:ext uri="{D42A27DB-BD31-4B8C-83A1-F6EECF244321}">
                    <p14:modId xmlns:p14="http://schemas.microsoft.com/office/powerpoint/2010/main" val="1765559581"/>
                  </p:ext>
                </p:extLst>
              </p:nvPr>
            </p:nvGraphicFramePr>
            <p:xfrm>
              <a:off x="2926419" y="1460130"/>
              <a:ext cx="6257925" cy="304800"/>
            </p:xfrm>
            <a:graphic>
              <a:graphicData uri="http://schemas.openxmlformats.org/drawingml/2006/table">
                <a:tbl>
                  <a:tblPr bandRow="1">
                    <a:tableStyleId>{A91F0D33-8C57-4600-99A7-42BC86742BE1}</a:tableStyleId>
                  </a:tblPr>
                  <a:tblGrid>
                    <a:gridCol w="1045316">
                      <a:extLst>
                        <a:ext uri="{9D8B030D-6E8A-4147-A177-3AD203B41FA5}">
                          <a16:colId xmlns:a16="http://schemas.microsoft.com/office/drawing/2014/main" val="1282837326"/>
                        </a:ext>
                      </a:extLst>
                    </a:gridCol>
                    <a:gridCol w="1047221">
                      <a:extLst>
                        <a:ext uri="{9D8B030D-6E8A-4147-A177-3AD203B41FA5}">
                          <a16:colId xmlns:a16="http://schemas.microsoft.com/office/drawing/2014/main" val="2326440945"/>
                        </a:ext>
                      </a:extLst>
                    </a:gridCol>
                    <a:gridCol w="1045316">
                      <a:extLst>
                        <a:ext uri="{9D8B030D-6E8A-4147-A177-3AD203B41FA5}">
                          <a16:colId xmlns:a16="http://schemas.microsoft.com/office/drawing/2014/main" val="2304634007"/>
                        </a:ext>
                      </a:extLst>
                    </a:gridCol>
                    <a:gridCol w="1040871">
                      <a:extLst>
                        <a:ext uri="{9D8B030D-6E8A-4147-A177-3AD203B41FA5}">
                          <a16:colId xmlns:a16="http://schemas.microsoft.com/office/drawing/2014/main" val="3965725362"/>
                        </a:ext>
                      </a:extLst>
                    </a:gridCol>
                    <a:gridCol w="1040871">
                      <a:extLst>
                        <a:ext uri="{9D8B030D-6E8A-4147-A177-3AD203B41FA5}">
                          <a16:colId xmlns:a16="http://schemas.microsoft.com/office/drawing/2014/main" val="4087004789"/>
                        </a:ext>
                      </a:extLst>
                    </a:gridCol>
                    <a:gridCol w="1038330">
                      <a:extLst>
                        <a:ext uri="{9D8B030D-6E8A-4147-A177-3AD203B41FA5}">
                          <a16:colId xmlns:a16="http://schemas.microsoft.com/office/drawing/2014/main" val="1232740088"/>
                        </a:ext>
                      </a:extLst>
                    </a:gridCol>
                  </a:tblGrid>
                  <a:tr h="304800">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5"/>
                          <a:stretch>
                            <a:fillRect t="-16000" r="-495181" b="-44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5"/>
                          <a:stretch>
                            <a:fillRect l="-101220" t="-16000" r="-401220" b="-44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5"/>
                          <a:stretch>
                            <a:fillRect l="-198795" t="-16000" r="-296386" b="-44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5"/>
                          <a:stretch>
                            <a:fillRect l="-302439" t="-16000" r="-200000" b="-44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5"/>
                          <a:stretch>
                            <a:fillRect l="-402439" t="-16000" r="-100000" b="-44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5"/>
                          <a:stretch>
                            <a:fillRect l="-502439" t="-16000" b="-44000"/>
                          </a:stretch>
                        </a:blipFill>
                      </a:tcPr>
                    </a:tc>
                    <a:extLst>
                      <a:ext uri="{0D108BD9-81ED-4DB2-BD59-A6C34878D82A}">
                        <a16:rowId xmlns:a16="http://schemas.microsoft.com/office/drawing/2014/main" val="4276298144"/>
                      </a:ext>
                    </a:extLst>
                  </a:tr>
                </a:tbl>
              </a:graphicData>
            </a:graphic>
          </p:graphicFrame>
        </mc:Fallback>
      </mc:AlternateContent>
      <p:sp>
        <p:nvSpPr>
          <p:cNvPr id="6" name="Rectangle 2">
            <a:extLst>
              <a:ext uri="{FF2B5EF4-FFF2-40B4-BE49-F238E27FC236}">
                <a16:creationId xmlns:a16="http://schemas.microsoft.com/office/drawing/2014/main" id="{0A18F1C5-1003-1E45-9325-20FBB7973CF7}"/>
              </a:ext>
            </a:extLst>
          </p:cNvPr>
          <p:cNvSpPr>
            <a:spLocks noChangeArrowheads="1"/>
          </p:cNvSpPr>
          <p:nvPr/>
        </p:nvSpPr>
        <p:spPr bwMode="auto">
          <a:xfrm>
            <a:off x="2279062" y="156124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AB620A39-C5CD-7447-B0AE-E090D9F9E8A7}"/>
                  </a:ext>
                </a:extLst>
              </p:cNvPr>
              <p:cNvGraphicFramePr>
                <a:graphicFrameLocks noGrp="1"/>
              </p:cNvGraphicFramePr>
              <p:nvPr>
                <p:extLst>
                  <p:ext uri="{D42A27DB-BD31-4B8C-83A1-F6EECF244321}">
                    <p14:modId xmlns:p14="http://schemas.microsoft.com/office/powerpoint/2010/main" val="3384365972"/>
                  </p:ext>
                </p:extLst>
              </p:nvPr>
            </p:nvGraphicFramePr>
            <p:xfrm>
              <a:off x="2967037" y="3584377"/>
              <a:ext cx="6257925" cy="304800"/>
            </p:xfrm>
            <a:graphic>
              <a:graphicData uri="http://schemas.openxmlformats.org/drawingml/2006/table">
                <a:tbl>
                  <a:tblPr bandRow="1">
                    <a:tableStyleId>{A91F0D33-8C57-4600-99A7-42BC86742BE1}</a:tableStyleId>
                  </a:tblPr>
                  <a:tblGrid>
                    <a:gridCol w="1045316">
                      <a:extLst>
                        <a:ext uri="{9D8B030D-6E8A-4147-A177-3AD203B41FA5}">
                          <a16:colId xmlns:a16="http://schemas.microsoft.com/office/drawing/2014/main" val="3935224714"/>
                        </a:ext>
                      </a:extLst>
                    </a:gridCol>
                    <a:gridCol w="1047221">
                      <a:extLst>
                        <a:ext uri="{9D8B030D-6E8A-4147-A177-3AD203B41FA5}">
                          <a16:colId xmlns:a16="http://schemas.microsoft.com/office/drawing/2014/main" val="2263226657"/>
                        </a:ext>
                      </a:extLst>
                    </a:gridCol>
                    <a:gridCol w="1045316">
                      <a:extLst>
                        <a:ext uri="{9D8B030D-6E8A-4147-A177-3AD203B41FA5}">
                          <a16:colId xmlns:a16="http://schemas.microsoft.com/office/drawing/2014/main" val="317301237"/>
                        </a:ext>
                      </a:extLst>
                    </a:gridCol>
                    <a:gridCol w="1040871">
                      <a:extLst>
                        <a:ext uri="{9D8B030D-6E8A-4147-A177-3AD203B41FA5}">
                          <a16:colId xmlns:a16="http://schemas.microsoft.com/office/drawing/2014/main" val="510470934"/>
                        </a:ext>
                      </a:extLst>
                    </a:gridCol>
                    <a:gridCol w="1040871">
                      <a:extLst>
                        <a:ext uri="{9D8B030D-6E8A-4147-A177-3AD203B41FA5}">
                          <a16:colId xmlns:a16="http://schemas.microsoft.com/office/drawing/2014/main" val="699387230"/>
                        </a:ext>
                      </a:extLst>
                    </a:gridCol>
                    <a:gridCol w="1038330">
                      <a:extLst>
                        <a:ext uri="{9D8B030D-6E8A-4147-A177-3AD203B41FA5}">
                          <a16:colId xmlns:a16="http://schemas.microsoft.com/office/drawing/2014/main" val="273386733"/>
                        </a:ext>
                      </a:extLst>
                    </a:gridCol>
                  </a:tblGrid>
                  <a:tr h="0">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𝐷</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𝐻</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𝐾</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𝑅</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𝑉</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14:m>
                            <m:oMath xmlns:m="http://schemas.openxmlformats.org/officeDocument/2006/math">
                              <m:r>
                                <a:rPr lang="en-US" sz="2000">
                                  <a:effectLst/>
                                  <a:latin typeface="Cambria Math" panose="02040503050406030204" pitchFamily="18" charset="0"/>
                                  <a:ea typeface="Cambria Math" panose="02040503050406030204" pitchFamily="18" charset="0"/>
                                </a:rPr>
                                <m:t>𝑍</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81993841"/>
                      </a:ext>
                    </a:extLst>
                  </a:tr>
                </a:tbl>
              </a:graphicData>
            </a:graphic>
          </p:graphicFrame>
        </mc:Choice>
        <mc:Fallback xmlns="">
          <p:graphicFrame>
            <p:nvGraphicFramePr>
              <p:cNvPr id="7" name="Table 6">
                <a:extLst>
                  <a:ext uri="{FF2B5EF4-FFF2-40B4-BE49-F238E27FC236}">
                    <a16:creationId xmlns:a16="http://schemas.microsoft.com/office/drawing/2014/main" id="{AB620A39-C5CD-7447-B0AE-E090D9F9E8A7}"/>
                  </a:ext>
                </a:extLst>
              </p:cNvPr>
              <p:cNvGraphicFramePr>
                <a:graphicFrameLocks noGrp="1"/>
              </p:cNvGraphicFramePr>
              <p:nvPr>
                <p:extLst>
                  <p:ext uri="{D42A27DB-BD31-4B8C-83A1-F6EECF244321}">
                    <p14:modId xmlns:p14="http://schemas.microsoft.com/office/powerpoint/2010/main" val="3384365972"/>
                  </p:ext>
                </p:extLst>
              </p:nvPr>
            </p:nvGraphicFramePr>
            <p:xfrm>
              <a:off x="2967037" y="3584377"/>
              <a:ext cx="6257925" cy="304800"/>
            </p:xfrm>
            <a:graphic>
              <a:graphicData uri="http://schemas.openxmlformats.org/drawingml/2006/table">
                <a:tbl>
                  <a:tblPr bandRow="1">
                    <a:tableStyleId>{A91F0D33-8C57-4600-99A7-42BC86742BE1}</a:tableStyleId>
                  </a:tblPr>
                  <a:tblGrid>
                    <a:gridCol w="1045316">
                      <a:extLst>
                        <a:ext uri="{9D8B030D-6E8A-4147-A177-3AD203B41FA5}">
                          <a16:colId xmlns:a16="http://schemas.microsoft.com/office/drawing/2014/main" val="3935224714"/>
                        </a:ext>
                      </a:extLst>
                    </a:gridCol>
                    <a:gridCol w="1047221">
                      <a:extLst>
                        <a:ext uri="{9D8B030D-6E8A-4147-A177-3AD203B41FA5}">
                          <a16:colId xmlns:a16="http://schemas.microsoft.com/office/drawing/2014/main" val="2263226657"/>
                        </a:ext>
                      </a:extLst>
                    </a:gridCol>
                    <a:gridCol w="1045316">
                      <a:extLst>
                        <a:ext uri="{9D8B030D-6E8A-4147-A177-3AD203B41FA5}">
                          <a16:colId xmlns:a16="http://schemas.microsoft.com/office/drawing/2014/main" val="317301237"/>
                        </a:ext>
                      </a:extLst>
                    </a:gridCol>
                    <a:gridCol w="1040871">
                      <a:extLst>
                        <a:ext uri="{9D8B030D-6E8A-4147-A177-3AD203B41FA5}">
                          <a16:colId xmlns:a16="http://schemas.microsoft.com/office/drawing/2014/main" val="510470934"/>
                        </a:ext>
                      </a:extLst>
                    </a:gridCol>
                    <a:gridCol w="1040871">
                      <a:extLst>
                        <a:ext uri="{9D8B030D-6E8A-4147-A177-3AD203B41FA5}">
                          <a16:colId xmlns:a16="http://schemas.microsoft.com/office/drawing/2014/main" val="699387230"/>
                        </a:ext>
                      </a:extLst>
                    </a:gridCol>
                    <a:gridCol w="1038330">
                      <a:extLst>
                        <a:ext uri="{9D8B030D-6E8A-4147-A177-3AD203B41FA5}">
                          <a16:colId xmlns:a16="http://schemas.microsoft.com/office/drawing/2014/main" val="273386733"/>
                        </a:ext>
                      </a:extLst>
                    </a:gridCol>
                  </a:tblGrid>
                  <a:tr h="304800">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6"/>
                          <a:stretch>
                            <a:fillRect t="-20000" r="-495181" b="-40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6"/>
                          <a:stretch>
                            <a:fillRect l="-101220" t="-20000" r="-401220" b="-40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6"/>
                          <a:stretch>
                            <a:fillRect l="-198795" t="-20000" r="-296386" b="-40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6"/>
                          <a:stretch>
                            <a:fillRect l="-302439" t="-20000" r="-200000" b="-40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6"/>
                          <a:stretch>
                            <a:fillRect l="-402439" t="-20000" r="-100000" b="-40000"/>
                          </a:stretch>
                        </a:blipFill>
                      </a:tcPr>
                    </a:tc>
                    <a:tc>
                      <a:txBody>
                        <a:bodyPr/>
                        <a:lstStyle/>
                        <a:p>
                          <a:endParaRPr lang="en-US"/>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6"/>
                          <a:stretch>
                            <a:fillRect l="-502439" t="-20000" b="-40000"/>
                          </a:stretch>
                        </a:blipFill>
                      </a:tcPr>
                    </a:tc>
                    <a:extLst>
                      <a:ext uri="{0D108BD9-81ED-4DB2-BD59-A6C34878D82A}">
                        <a16:rowId xmlns:a16="http://schemas.microsoft.com/office/drawing/2014/main" val="81993841"/>
                      </a:ext>
                    </a:extLst>
                  </a:tr>
                </a:tbl>
              </a:graphicData>
            </a:graphic>
          </p:graphicFrame>
        </mc:Fallback>
      </mc:AlternateContent>
    </p:spTree>
    <p:extLst>
      <p:ext uri="{BB962C8B-B14F-4D97-AF65-F5344CB8AC3E}">
        <p14:creationId xmlns:p14="http://schemas.microsoft.com/office/powerpoint/2010/main" val="500458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39535" y="609920"/>
                <a:ext cx="11566326" cy="584775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coordinate grid with points </a:t>
                </a:r>
                <a14:m>
                  <m:oMath xmlns:m="http://schemas.openxmlformats.org/officeDocument/2006/math">
                    <m:r>
                      <a:rPr lang="en-US" sz="2000" i="1">
                        <a:latin typeface="Cambria Math" panose="02040503050406030204" pitchFamily="18" charset="0"/>
                        <a:ea typeface="Cambria Math" panose="020405030504060302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𝐵</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𝐾</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𝑇</m:t>
                    </m:r>
                  </m:oMath>
                </a14:m>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𝑉</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𝑊</m:t>
                    </m:r>
                  </m:oMath>
                </a14:m>
                <a:r>
                  <a:rPr lang="en-US" sz="2000" dirty="0">
                    <a:latin typeface="Verdana" panose="020B0604030504040204" pitchFamily="34" charset="0"/>
                    <a:ea typeface="Verdana" panose="020B0604030504040204" pitchFamily="34" charset="0"/>
                    <a:cs typeface="Verdana" panose="020B0604030504040204" pitchFamily="34" charset="0"/>
                  </a:rPr>
                  <a:t> is shown. The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-axis is green and the </a:t>
                </a:r>
                <a14:m>
                  <m:oMath xmlns:m="http://schemas.openxmlformats.org/officeDocument/2006/math">
                    <m:r>
                      <a:rPr lang="en-US" sz="2000" i="1">
                        <a:latin typeface="Cambria Math" panose="02040503050406030204" pitchFamily="18" charset="0"/>
                        <a:ea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-axis is orange.</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the ordered pair of the reflection of Point V when the graph is folded across the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-axis. </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dirty="0"/>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39535" y="609920"/>
                <a:ext cx="11566326" cy="5847755"/>
              </a:xfrm>
              <a:prstGeom prst="rect">
                <a:avLst/>
              </a:prstGeom>
              <a:blipFill>
                <a:blip r:embed="rId4"/>
                <a:stretch>
                  <a:fillRect l="-548" t="-868" r="-877"/>
                </a:stretch>
              </a:blipFill>
            </p:spPr>
            <p:txBody>
              <a:bodyPr/>
              <a:lstStyle/>
              <a:p>
                <a:r>
                  <a:rPr lang="en-US">
                    <a:noFill/>
                  </a:rPr>
                  <a:t> </a:t>
                </a:r>
              </a:p>
            </p:txBody>
          </p:sp>
        </mc:Fallback>
      </mc:AlternateContent>
      <p:sp>
        <p:nvSpPr>
          <p:cNvPr id="6" name="Rectangle 2">
            <a:extLst>
              <a:ext uri="{FF2B5EF4-FFF2-40B4-BE49-F238E27FC236}">
                <a16:creationId xmlns:a16="http://schemas.microsoft.com/office/drawing/2014/main" id="{0A18F1C5-1003-1E45-9325-20FBB7973CF7}"/>
              </a:ext>
            </a:extLst>
          </p:cNvPr>
          <p:cNvSpPr>
            <a:spLocks noChangeArrowheads="1"/>
          </p:cNvSpPr>
          <p:nvPr/>
        </p:nvSpPr>
        <p:spPr bwMode="auto">
          <a:xfrm>
            <a:off x="2279062" y="156124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6">
            <a:extLst>
              <a:ext uri="{FF2B5EF4-FFF2-40B4-BE49-F238E27FC236}">
                <a16:creationId xmlns:a16="http://schemas.microsoft.com/office/drawing/2014/main" id="{AB620A39-C5CD-7447-B0AE-E090D9F9E8A7}"/>
              </a:ext>
            </a:extLst>
          </p:cNvPr>
          <p:cNvGraphicFramePr>
            <a:graphicFrameLocks noGrp="1"/>
          </p:cNvGraphicFramePr>
          <p:nvPr>
            <p:extLst>
              <p:ext uri="{D42A27DB-BD31-4B8C-83A1-F6EECF244321}">
                <p14:modId xmlns:p14="http://schemas.microsoft.com/office/powerpoint/2010/main" val="1426741939"/>
              </p:ext>
            </p:extLst>
          </p:nvPr>
        </p:nvGraphicFramePr>
        <p:xfrm>
          <a:off x="1857100" y="3658905"/>
          <a:ext cx="6257925" cy="304800"/>
        </p:xfrm>
        <a:graphic>
          <a:graphicData uri="http://schemas.openxmlformats.org/drawingml/2006/table">
            <a:tbl>
              <a:tblPr bandRow="1">
                <a:tableStyleId>{A91F0D33-8C57-4600-99A7-42BC86742BE1}</a:tableStyleId>
              </a:tblPr>
              <a:tblGrid>
                <a:gridCol w="1045316">
                  <a:extLst>
                    <a:ext uri="{9D8B030D-6E8A-4147-A177-3AD203B41FA5}">
                      <a16:colId xmlns:a16="http://schemas.microsoft.com/office/drawing/2014/main" val="3935224714"/>
                    </a:ext>
                  </a:extLst>
                </a:gridCol>
                <a:gridCol w="1047221">
                  <a:extLst>
                    <a:ext uri="{9D8B030D-6E8A-4147-A177-3AD203B41FA5}">
                      <a16:colId xmlns:a16="http://schemas.microsoft.com/office/drawing/2014/main" val="2263226657"/>
                    </a:ext>
                  </a:extLst>
                </a:gridCol>
                <a:gridCol w="1045316">
                  <a:extLst>
                    <a:ext uri="{9D8B030D-6E8A-4147-A177-3AD203B41FA5}">
                      <a16:colId xmlns:a16="http://schemas.microsoft.com/office/drawing/2014/main" val="317301237"/>
                    </a:ext>
                  </a:extLst>
                </a:gridCol>
                <a:gridCol w="1040871">
                  <a:extLst>
                    <a:ext uri="{9D8B030D-6E8A-4147-A177-3AD203B41FA5}">
                      <a16:colId xmlns:a16="http://schemas.microsoft.com/office/drawing/2014/main" val="510470934"/>
                    </a:ext>
                  </a:extLst>
                </a:gridCol>
                <a:gridCol w="1040871">
                  <a:extLst>
                    <a:ext uri="{9D8B030D-6E8A-4147-A177-3AD203B41FA5}">
                      <a16:colId xmlns:a16="http://schemas.microsoft.com/office/drawing/2014/main" val="699387230"/>
                    </a:ext>
                  </a:extLst>
                </a:gridCol>
                <a:gridCol w="1038330">
                  <a:extLst>
                    <a:ext uri="{9D8B030D-6E8A-4147-A177-3AD203B41FA5}">
                      <a16:colId xmlns:a16="http://schemas.microsoft.com/office/drawing/2014/main" val="273386733"/>
                    </a:ext>
                  </a:extLst>
                </a:gridCol>
              </a:tblGrid>
              <a:tr h="0">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81993841"/>
                  </a:ext>
                </a:extLst>
              </a:tr>
            </a:tbl>
          </a:graphicData>
        </a:graphic>
      </p:graphicFrame>
      <p:pic>
        <p:nvPicPr>
          <p:cNvPr id="9" name="image15.png" descr="Chart, scatter chart&#10;&#10;Description automatically generated">
            <a:extLst>
              <a:ext uri="{FF2B5EF4-FFF2-40B4-BE49-F238E27FC236}">
                <a16:creationId xmlns:a16="http://schemas.microsoft.com/office/drawing/2014/main" id="{501D9765-FA78-F74A-B926-A9F457547ACD}"/>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102508" y="1513036"/>
            <a:ext cx="3986983" cy="3372117"/>
          </a:xfrm>
          <a:prstGeom prst="rect">
            <a:avLst/>
          </a:prstGeom>
          <a:ln/>
        </p:spPr>
      </p:pic>
    </p:spTree>
    <p:extLst>
      <p:ext uri="{BB962C8B-B14F-4D97-AF65-F5344CB8AC3E}">
        <p14:creationId xmlns:p14="http://schemas.microsoft.com/office/powerpoint/2010/main" val="3825161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4535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1600" y="604369"/>
                <a:ext cx="11934220" cy="4924425"/>
              </a:xfrm>
              <a:prstGeom prst="rect">
                <a:avLst/>
              </a:prstGeom>
              <a:noFill/>
            </p:spPr>
            <p:txBody>
              <a:bodyPr wrap="square" rtlCol="0">
                <a:spAutoFit/>
              </a:bodyPr>
              <a:lstStyle/>
              <a:p>
                <a:pPr marL="922338" indent="-45561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Write the ordered pair of the reflection of Point K when the graph is folded across the </a:t>
                </a:r>
                <a14:m>
                  <m:oMath xmlns:m="http://schemas.openxmlformats.org/officeDocument/2006/math">
                    <m:r>
                      <a:rPr lang="en-US" sz="2000" i="1">
                        <a:latin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-axis.  </a:t>
                </a: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Write the ordered pair of the reflection of Point D when the graph is folded across the </a:t>
                </a:r>
                <a14:m>
                  <m:oMath xmlns:m="http://schemas.openxmlformats.org/officeDocument/2006/math">
                    <m:r>
                      <a:rPr lang="en-US" sz="2000" i="1">
                        <a:latin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-axis.  </a:t>
                </a: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Write the ordered pair of the reflection of Point B when the graph is folded across the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-axis. </a:t>
                </a: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dirty="0"/>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11600" y="604369"/>
                <a:ext cx="11934220" cy="4924425"/>
              </a:xfrm>
              <a:prstGeom prst="rect">
                <a:avLst/>
              </a:prstGeom>
              <a:blipFill>
                <a:blip r:embed="rId4"/>
                <a:stretch>
                  <a:fillRect t="-514"/>
                </a:stretch>
              </a:blipFill>
            </p:spPr>
            <p:txBody>
              <a:bodyPr/>
              <a:lstStyle/>
              <a:p>
                <a:r>
                  <a:rPr lang="en-US">
                    <a:noFill/>
                  </a:rPr>
                  <a:t> </a:t>
                </a:r>
              </a:p>
            </p:txBody>
          </p:sp>
        </mc:Fallback>
      </mc:AlternateContent>
      <p:sp>
        <p:nvSpPr>
          <p:cNvPr id="6" name="Rectangle 2">
            <a:extLst>
              <a:ext uri="{FF2B5EF4-FFF2-40B4-BE49-F238E27FC236}">
                <a16:creationId xmlns:a16="http://schemas.microsoft.com/office/drawing/2014/main" id="{0A18F1C5-1003-1E45-9325-20FBB7973CF7}"/>
              </a:ext>
            </a:extLst>
          </p:cNvPr>
          <p:cNvSpPr>
            <a:spLocks noChangeArrowheads="1"/>
          </p:cNvSpPr>
          <p:nvPr/>
        </p:nvSpPr>
        <p:spPr bwMode="auto">
          <a:xfrm>
            <a:off x="2279062" y="156124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6">
            <a:extLst>
              <a:ext uri="{FF2B5EF4-FFF2-40B4-BE49-F238E27FC236}">
                <a16:creationId xmlns:a16="http://schemas.microsoft.com/office/drawing/2014/main" id="{AB620A39-C5CD-7447-B0AE-E090D9F9E8A7}"/>
              </a:ext>
            </a:extLst>
          </p:cNvPr>
          <p:cNvGraphicFramePr>
            <a:graphicFrameLocks noGrp="1"/>
          </p:cNvGraphicFramePr>
          <p:nvPr/>
        </p:nvGraphicFramePr>
        <p:xfrm>
          <a:off x="1857100" y="3658905"/>
          <a:ext cx="6257925" cy="304800"/>
        </p:xfrm>
        <a:graphic>
          <a:graphicData uri="http://schemas.openxmlformats.org/drawingml/2006/table">
            <a:tbl>
              <a:tblPr bandRow="1">
                <a:tableStyleId>{A91F0D33-8C57-4600-99A7-42BC86742BE1}</a:tableStyleId>
              </a:tblPr>
              <a:tblGrid>
                <a:gridCol w="1045316">
                  <a:extLst>
                    <a:ext uri="{9D8B030D-6E8A-4147-A177-3AD203B41FA5}">
                      <a16:colId xmlns:a16="http://schemas.microsoft.com/office/drawing/2014/main" val="3935224714"/>
                    </a:ext>
                  </a:extLst>
                </a:gridCol>
                <a:gridCol w="1047221">
                  <a:extLst>
                    <a:ext uri="{9D8B030D-6E8A-4147-A177-3AD203B41FA5}">
                      <a16:colId xmlns:a16="http://schemas.microsoft.com/office/drawing/2014/main" val="2263226657"/>
                    </a:ext>
                  </a:extLst>
                </a:gridCol>
                <a:gridCol w="1045316">
                  <a:extLst>
                    <a:ext uri="{9D8B030D-6E8A-4147-A177-3AD203B41FA5}">
                      <a16:colId xmlns:a16="http://schemas.microsoft.com/office/drawing/2014/main" val="317301237"/>
                    </a:ext>
                  </a:extLst>
                </a:gridCol>
                <a:gridCol w="1040871">
                  <a:extLst>
                    <a:ext uri="{9D8B030D-6E8A-4147-A177-3AD203B41FA5}">
                      <a16:colId xmlns:a16="http://schemas.microsoft.com/office/drawing/2014/main" val="510470934"/>
                    </a:ext>
                  </a:extLst>
                </a:gridCol>
                <a:gridCol w="1040871">
                  <a:extLst>
                    <a:ext uri="{9D8B030D-6E8A-4147-A177-3AD203B41FA5}">
                      <a16:colId xmlns:a16="http://schemas.microsoft.com/office/drawing/2014/main" val="699387230"/>
                    </a:ext>
                  </a:extLst>
                </a:gridCol>
                <a:gridCol w="1038330">
                  <a:extLst>
                    <a:ext uri="{9D8B030D-6E8A-4147-A177-3AD203B41FA5}">
                      <a16:colId xmlns:a16="http://schemas.microsoft.com/office/drawing/2014/main" val="273386733"/>
                    </a:ext>
                  </a:extLst>
                </a:gridCol>
              </a:tblGrid>
              <a:tr h="0">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81993841"/>
                  </a:ext>
                </a:extLst>
              </a:tr>
            </a:tbl>
          </a:graphicData>
        </a:graphic>
      </p:graphicFrame>
    </p:spTree>
    <p:extLst>
      <p:ext uri="{BB962C8B-B14F-4D97-AF65-F5344CB8AC3E}">
        <p14:creationId xmlns:p14="http://schemas.microsoft.com/office/powerpoint/2010/main" val="2097978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30168" y="2766150"/>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206</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9840" y="0"/>
            <a:ext cx="100451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5.1.5 Guided Practice: Reflections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206</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731520" y="1439064"/>
                <a:ext cx="10885092" cy="430887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i="1">
                        <a:latin typeface="Cambria Math" panose="02040503050406030204" pitchFamily="18" charset="0"/>
                      </a:rPr>
                      <m:t>𝑉</m:t>
                    </m:r>
                  </m:oMath>
                </a14:m>
                <a:r>
                  <a:rPr lang="en-US" sz="2000" dirty="0">
                    <a:latin typeface="Verdana" panose="020B0604030504040204" pitchFamily="34" charset="0"/>
                    <a:ea typeface="Verdana" panose="020B0604030504040204" pitchFamily="34" charset="0"/>
                    <a:cs typeface="Verdana" panose="020B0604030504040204" pitchFamily="34" charset="0"/>
                  </a:rPr>
                  <a:t> is plotted on the coordinate grid.</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What are the coordinates of the reflection of </a:t>
                </a:r>
                <a14:m>
                  <m:oMath xmlns:m="http://schemas.openxmlformats.org/officeDocument/2006/math">
                    <m:r>
                      <a:rPr lang="en-US" sz="2000" i="1">
                        <a:latin typeface="Cambria Math" panose="02040503050406030204" pitchFamily="18" charset="0"/>
                      </a:rPr>
                      <m:t>𝑉</m:t>
                    </m:r>
                  </m:oMath>
                </a14:m>
                <a:r>
                  <a:rPr lang="en-US" sz="2000" dirty="0">
                    <a:latin typeface="Verdana" panose="020B0604030504040204" pitchFamily="34" charset="0"/>
                    <a:ea typeface="Verdana" panose="020B0604030504040204" pitchFamily="34" charset="0"/>
                    <a:cs typeface="Verdana" panose="020B0604030504040204" pitchFamily="34" charset="0"/>
                  </a:rPr>
                  <a:t> across the </a:t>
                </a:r>
                <a14:m>
                  <m:oMath xmlns:m="http://schemas.openxmlformats.org/officeDocument/2006/math">
                    <m:r>
                      <a:rPr lang="en-US" sz="2000" i="1">
                        <a:latin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-axis?</a:t>
                </a:r>
              </a:p>
              <a:p>
                <a:pPr lvl="0"/>
                <a:endParaRPr lang="en-US" dirty="0"/>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731520" y="1439064"/>
                <a:ext cx="10885092" cy="4308872"/>
              </a:xfrm>
              <a:prstGeom prst="rect">
                <a:avLst/>
              </a:prstGeom>
              <a:blipFill>
                <a:blip r:embed="rId5"/>
                <a:stretch>
                  <a:fillRect l="-583" t="-882"/>
                </a:stretch>
              </a:blipFill>
            </p:spPr>
            <p:txBody>
              <a:bodyPr/>
              <a:lstStyle/>
              <a:p>
                <a:r>
                  <a:rPr lang="en-US">
                    <a:noFill/>
                  </a:rPr>
                  <a:t> </a:t>
                </a:r>
              </a:p>
            </p:txBody>
          </p:sp>
        </mc:Fallback>
      </mc:AlternateContent>
      <p:pic>
        <p:nvPicPr>
          <p:cNvPr id="9" name="image5.png" descr="Chart, line chart, scatter chart&#10;&#10;Description automatically generated">
            <a:extLst>
              <a:ext uri="{FF2B5EF4-FFF2-40B4-BE49-F238E27FC236}">
                <a16:creationId xmlns:a16="http://schemas.microsoft.com/office/drawing/2014/main" id="{3DDDD216-0737-CC44-A2DC-74F8F7C643B3}"/>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4075747" y="1865810"/>
            <a:ext cx="4040505" cy="3126380"/>
          </a:xfrm>
          <a:prstGeom prst="rect">
            <a:avLst/>
          </a:prstGeom>
          <a:ln/>
        </p:spPr>
      </p:pic>
    </p:spTree>
    <p:extLst>
      <p:ext uri="{BB962C8B-B14F-4D97-AF65-F5344CB8AC3E}">
        <p14:creationId xmlns:p14="http://schemas.microsoft.com/office/powerpoint/2010/main" val="745523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49552" y="716336"/>
                <a:ext cx="10952455" cy="492442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i="1">
                        <a:latin typeface="Cambria Math" panose="020405030504060302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 is plotted on the coordinate grid.</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What are the coordinates of the reflection of </a:t>
                </a:r>
                <a14:m>
                  <m:oMath xmlns:m="http://schemas.openxmlformats.org/officeDocument/2006/math">
                    <m:r>
                      <a:rPr lang="en-US" sz="2000" i="1">
                        <a:latin typeface="Cambria Math" panose="020405030504060302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 across the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-axis?</a:t>
                </a:r>
              </a:p>
              <a:p>
                <a:pPr lvl="0"/>
                <a:endParaRPr lang="en-US" dirty="0"/>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49552" y="716336"/>
                <a:ext cx="10952455" cy="4924425"/>
              </a:xfrm>
              <a:prstGeom prst="rect">
                <a:avLst/>
              </a:prstGeom>
              <a:blipFill>
                <a:blip r:embed="rId4"/>
                <a:stretch>
                  <a:fillRect l="-579" t="-771"/>
                </a:stretch>
              </a:blipFill>
            </p:spPr>
            <p:txBody>
              <a:bodyPr/>
              <a:lstStyle/>
              <a:p>
                <a:r>
                  <a:rPr lang="en-US">
                    <a:noFill/>
                  </a:rPr>
                  <a:t> </a:t>
                </a:r>
              </a:p>
            </p:txBody>
          </p:sp>
        </mc:Fallback>
      </mc:AlternateContent>
      <p:pic>
        <p:nvPicPr>
          <p:cNvPr id="6" name="image18.png" descr="Chart, line chart, scatter chart&#10;&#10;Description automatically generated">
            <a:extLst>
              <a:ext uri="{FF2B5EF4-FFF2-40B4-BE49-F238E27FC236}">
                <a16:creationId xmlns:a16="http://schemas.microsoft.com/office/drawing/2014/main" id="{00FFEE90-59F6-644F-88B8-45A67BE381A8}"/>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3834414" y="1217239"/>
            <a:ext cx="4523171" cy="3499717"/>
          </a:xfrm>
          <a:prstGeom prst="rect">
            <a:avLst/>
          </a:prstGeom>
          <a:ln/>
        </p:spPr>
      </p:pic>
    </p:spTree>
    <p:extLst>
      <p:ext uri="{BB962C8B-B14F-4D97-AF65-F5344CB8AC3E}">
        <p14:creationId xmlns:p14="http://schemas.microsoft.com/office/powerpoint/2010/main" val="2080709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207</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48857"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207</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28437" y="60325"/>
            <a:ext cx="1020120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5.1.6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730264" y="1386025"/>
            <a:ext cx="10932999" cy="461664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target is shown on the coordinate grid.</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Write the ordered pair that will hit the bullseye.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dirty="0"/>
              <a:t> </a:t>
            </a:r>
          </a:p>
        </p:txBody>
      </p:sp>
      <p:pic>
        <p:nvPicPr>
          <p:cNvPr id="8" name="image16.png" descr="Diagram, schematic&#10;&#10;Description automatically generated">
            <a:extLst>
              <a:ext uri="{FF2B5EF4-FFF2-40B4-BE49-F238E27FC236}">
                <a16:creationId xmlns:a16="http://schemas.microsoft.com/office/drawing/2014/main" id="{53A3E412-B4F0-4345-BA41-9B4C3E1B6C6D}"/>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290443" y="1896080"/>
            <a:ext cx="3812640" cy="2889396"/>
          </a:xfrm>
          <a:prstGeom prst="rect">
            <a:avLst/>
          </a:prstGeom>
          <a:ln/>
        </p:spPr>
      </p:pic>
    </p:spTree>
    <p:extLst>
      <p:ext uri="{BB962C8B-B14F-4D97-AF65-F5344CB8AC3E}">
        <p14:creationId xmlns:p14="http://schemas.microsoft.com/office/powerpoint/2010/main" val="553995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207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93568" y="541457"/>
                <a:ext cx="11614929" cy="132343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player throws two darts. The first dart hits the ordered pair </a:t>
                </a:r>
                <a14:m>
                  <m:oMath xmlns:m="http://schemas.openxmlformats.org/officeDocument/2006/math">
                    <m:r>
                      <a:rPr lang="en-US" sz="2000" i="1">
                        <a:latin typeface="Cambria Math" panose="02040503050406030204" pitchFamily="18" charset="0"/>
                        <a:ea typeface="Cambria Math" panose="02040503050406030204" pitchFamily="18" charset="0"/>
                      </a:rPr>
                      <m:t>(−2,−1)</m:t>
                    </m:r>
                  </m:oMath>
                </a14:m>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The second dart hits the point that is the reflection of </a:t>
                </a:r>
                <a14:m>
                  <m:oMath xmlns:m="http://schemas.openxmlformats.org/officeDocument/2006/math">
                    <m:r>
                      <a:rPr lang="en-US" sz="2000" i="1">
                        <a:latin typeface="Cambria Math" panose="02040503050406030204" pitchFamily="18" charset="0"/>
                        <a:ea typeface="Cambria Math" panose="02040503050406030204" pitchFamily="18" charset="0"/>
                      </a:rPr>
                      <m:t>(−2,−1)</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over the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-axis. Complete the table that describes the location of the second dart.</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93568" y="541457"/>
                <a:ext cx="11614929" cy="1323439"/>
              </a:xfrm>
              <a:prstGeom prst="rect">
                <a:avLst/>
              </a:prstGeom>
              <a:blipFill>
                <a:blip r:embed="rId4"/>
                <a:stretch>
                  <a:fillRect l="-656" t="-3810" r="-984"/>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730969BB-A4AB-9941-8E56-DD7580B3F13C}"/>
              </a:ext>
            </a:extLst>
          </p:cNvPr>
          <p:cNvGraphicFramePr>
            <a:graphicFrameLocks noGrp="1"/>
          </p:cNvGraphicFramePr>
          <p:nvPr>
            <p:extLst>
              <p:ext uri="{D42A27DB-BD31-4B8C-83A1-F6EECF244321}">
                <p14:modId xmlns:p14="http://schemas.microsoft.com/office/powerpoint/2010/main" val="978801778"/>
              </p:ext>
            </p:extLst>
          </p:nvPr>
        </p:nvGraphicFramePr>
        <p:xfrm>
          <a:off x="3878543" y="1864896"/>
          <a:ext cx="4644978" cy="1051912"/>
        </p:xfrm>
        <a:graphic>
          <a:graphicData uri="http://schemas.openxmlformats.org/drawingml/2006/table">
            <a:tbl>
              <a:tblPr bandRow="1">
                <a:tableStyleId>{A91F0D33-8C57-4600-99A7-42BC86742BE1}</a:tableStyleId>
              </a:tblPr>
              <a:tblGrid>
                <a:gridCol w="2322489">
                  <a:extLst>
                    <a:ext uri="{9D8B030D-6E8A-4147-A177-3AD203B41FA5}">
                      <a16:colId xmlns:a16="http://schemas.microsoft.com/office/drawing/2014/main" val="1937867632"/>
                    </a:ext>
                  </a:extLst>
                </a:gridCol>
                <a:gridCol w="2322489">
                  <a:extLst>
                    <a:ext uri="{9D8B030D-6E8A-4147-A177-3AD203B41FA5}">
                      <a16:colId xmlns:a16="http://schemas.microsoft.com/office/drawing/2014/main" val="789738245"/>
                    </a:ext>
                  </a:extLst>
                </a:gridCol>
              </a:tblGrid>
              <a:tr h="29150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Color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Ordered Pair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51044458"/>
                  </a:ext>
                </a:extLst>
              </a:tr>
              <a:tr h="747112">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56275"/>
                  </a:ext>
                </a:extLst>
              </a:tr>
            </a:tbl>
          </a:graphicData>
        </a:graphic>
      </p:graphicFrame>
    </p:spTree>
    <p:extLst>
      <p:ext uri="{BB962C8B-B14F-4D97-AF65-F5344CB8AC3E}">
        <p14:creationId xmlns:p14="http://schemas.microsoft.com/office/powerpoint/2010/main" val="397820342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6.5.1 powerpoint" id="{4B5E95AF-FBEE-4140-9E13-42AEED2ADBCF}" vid="{9ED736A5-520B-6444-AA2B-AE6806F22D0E}"/>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99BD04-BF41-4452-99A1-8AB2D17F57E6}">
  <ds:schemaRefs>
    <ds:schemaRef ds:uri="http://schemas.microsoft.com/sharepoint/v3/contenttype/forms"/>
  </ds:schemaRefs>
</ds:datastoreItem>
</file>

<file path=customXml/itemProps2.xml><?xml version="1.0" encoding="utf-8"?>
<ds:datastoreItem xmlns:ds="http://schemas.openxmlformats.org/officeDocument/2006/customXml" ds:itemID="{C8080487-17A7-4F4B-8163-43653DAA95A2}">
  <ds:schemaRefs>
    <ds:schemaRef ds:uri="http://purl.org/dc/terms/"/>
    <ds:schemaRef ds:uri="c8f36ed4-5234-49bf-a7f7-5f171c3a2f56"/>
    <ds:schemaRef ds:uri="http://schemas.microsoft.com/office/2006/metadata/propertie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aecc3118-db6a-47b0-8115-3eb3ee12f279"/>
    <ds:schemaRef ds:uri="http://purl.org/dc/dcmitype/"/>
    <ds:schemaRef ds:uri="http://purl.org/dc/elements/1.1/"/>
  </ds:schemaRefs>
</ds:datastoreItem>
</file>

<file path=customXml/itemProps3.xml><?xml version="1.0" encoding="utf-8"?>
<ds:datastoreItem xmlns:ds="http://schemas.openxmlformats.org/officeDocument/2006/customXml" ds:itemID="{B8733A4D-8477-4570-9645-885D418B8F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1_Office Theme</Template>
  <TotalTime>47</TotalTime>
  <Words>1636</Words>
  <Application>Microsoft Macintosh PowerPoint</Application>
  <PresentationFormat>Widescreen</PresentationFormat>
  <Paragraphs>390</Paragraphs>
  <Slides>33</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Wingdings</vt:lpstr>
      <vt:lpstr>Verdana</vt:lpstr>
      <vt:lpstr>Arial Black</vt:lpstr>
      <vt:lpstr>Arial</vt:lpstr>
      <vt:lpstr>Century Gothic</vt:lpstr>
      <vt:lpstr>Calibri</vt:lpstr>
      <vt:lpstr>Cambria Math</vt:lpstr>
      <vt:lpstr>1_Office Theme</vt:lpstr>
      <vt:lpstr>6th Grade Math  Unit 5, Lesson 1  Plotting Integers Using One-Unit Scales for Axes  Volume 1, pg. 201  </vt:lpstr>
      <vt:lpstr>Benchmark</vt:lpstr>
      <vt:lpstr>PowerPoint Presentation</vt:lpstr>
      <vt:lpstr>PowerPoint Presentation</vt:lpstr>
      <vt:lpstr>Warm-Up</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Guided Practice</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Math  Unit 5, Lesson 1  Plotting Integers Using One-Unit Scales for Axes  Volume 1, pg. 201</dc:title>
  <dc:creator>Dubina,Katherine V</dc:creator>
  <cp:lastModifiedBy>Mary Ellen Freeman</cp:lastModifiedBy>
  <cp:revision>4</cp:revision>
  <dcterms:created xsi:type="dcterms:W3CDTF">2022-03-29T18:01:38Z</dcterms:created>
  <dcterms:modified xsi:type="dcterms:W3CDTF">2023-10-03T19:50:22Z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