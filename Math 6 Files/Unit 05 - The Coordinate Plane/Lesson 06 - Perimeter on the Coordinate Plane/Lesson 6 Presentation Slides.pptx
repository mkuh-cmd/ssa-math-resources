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288" r:id="rId8"/>
    <p:sldId id="289" r:id="rId9"/>
    <p:sldId id="290" r:id="rId10"/>
    <p:sldId id="365" r:id="rId11"/>
    <p:sldId id="371" r:id="rId12"/>
    <p:sldId id="372" r:id="rId13"/>
    <p:sldId id="373" r:id="rId14"/>
    <p:sldId id="320" r:id="rId15"/>
    <p:sldId id="321" r:id="rId16"/>
    <p:sldId id="364" r:id="rId17"/>
    <p:sldId id="314" r:id="rId18"/>
    <p:sldId id="315" r:id="rId19"/>
    <p:sldId id="352" r:id="rId20"/>
    <p:sldId id="374" r:id="rId21"/>
    <p:sldId id="375" r:id="rId22"/>
    <p:sldId id="376" r:id="rId23"/>
    <p:sldId id="302" r:id="rId24"/>
    <p:sldId id="303" r:id="rId25"/>
    <p:sldId id="377" r:id="rId26"/>
    <p:sldId id="306" r:id="rId27"/>
    <p:sldId id="307" r:id="rId28"/>
    <p:sldId id="370" r:id="rId29"/>
  </p:sldIdLst>
  <p:sldSz cx="12192000" cy="6858000"/>
  <p:notesSz cx="6858000" cy="9144000"/>
  <p:embeddedFontLst>
    <p:embeddedFont>
      <p:font typeface="Calibri" pitchFamily="34" charset="0"/>
      <p:regular r:id="rId31"/>
      <p:bold r:id="rId32"/>
      <p:italic r:id="rId33"/>
      <p:boldItalic r:id="rId34"/>
    </p:embeddedFont>
    <p:embeddedFont>
      <p:font typeface="Century Gothic" pitchFamily="34" charset="0"/>
      <p:regular r:id="rId35"/>
      <p:bold r:id="rId36"/>
      <p:italic r:id="rId37"/>
      <p:boldItalic r:id="rId38"/>
    </p:embeddedFont>
    <p:embeddedFont>
      <p:font typeface="Cambria Math" pitchFamily="18" charset="0"/>
      <p:regular r:id="rId39"/>
    </p:embeddedFont>
    <p:embeddedFont>
      <p:font typeface="Arial Black" pitchFamily="34" charset="0"/>
      <p:bold r:id="rId40"/>
    </p:embeddedFont>
    <p:embeddedFont>
      <p:font typeface="Verdana" pitchFamily="3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C058"/>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50"/>
    <p:restoredTop sz="94645"/>
  </p:normalViewPr>
  <p:slideViewPr>
    <p:cSldViewPr snapToGrid="0">
      <p:cViewPr varScale="1">
        <p:scale>
          <a:sx n="78" d="100"/>
          <a:sy n="78" d="100"/>
        </p:scale>
        <p:origin x="-806"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42" Type="http://schemas.openxmlformats.org/officeDocument/2006/relationships/font" Target="fonts/font12.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font" Target="fonts/font8.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8274508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3918865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87025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9450417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662043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585020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16161487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0813659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8023219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6335424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19984314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27</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1596855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5.tiff"/><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18.png"/><Relationship Id="rId5" Type="http://schemas.openxmlformats.org/officeDocument/2006/relationships/image" Target="../media/image15.tiff"/><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6.tiff"/><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16.tiff"/><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16.tiff"/></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28.tiff"/><Relationship Id="rId5" Type="http://schemas.openxmlformats.org/officeDocument/2006/relationships/image" Target="../media/image270.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6" Type="http://schemas.openxmlformats.org/officeDocument/2006/relationships/image" Target="../media/image33.tiff"/><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0.png"/><Relationship Id="rId7" Type="http://schemas.openxmlformats.org/officeDocument/2006/relationships/image" Target="../media/image35.png"/><Relationship Id="rId2" Type="http://schemas.openxmlformats.org/officeDocument/2006/relationships/notesSlide" Target="../notesSlides/notesSlide25.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image" Target="../media/image330.png"/><Relationship Id="rId4" Type="http://schemas.openxmlformats.org/officeDocument/2006/relationships/image" Target="../media/image34.tiff"/></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311677" y="2054276"/>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6</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5, Lesson 6</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Perimeter on the Coordinate Plane</a:t>
            </a: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234</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14875" y="0"/>
            <a:ext cx="4094106"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6" name="Picture 5" descr="A blue sign with white text&#10;&#10;Description automatically generated with medium confidence">
            <a:extLst>
              <a:ext uri="{FF2B5EF4-FFF2-40B4-BE49-F238E27FC236}">
                <a16:creationId xmlns:a16="http://schemas.microsoft.com/office/drawing/2014/main" xmlns="" id="{29141D4E-DA2B-B445-945E-1FC65102392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86887" y="1850136"/>
            <a:ext cx="3090582" cy="3602736"/>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03916" y="-8803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234</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8" name="Google Shape;280;g104476d1465_1_17">
                <a:extLst>
                  <a:ext uri="{FF2B5EF4-FFF2-40B4-BE49-F238E27FC236}">
                    <a16:creationId xmlns:a16="http://schemas.microsoft.com/office/drawing/2014/main" xmlns="" id="{527A9F9F-07B8-ED47-B967-E5507C67DBC5}"/>
                  </a:ext>
                </a:extLst>
              </p:cNvPr>
              <p:cNvSpPr txBox="1">
                <a:spLocks/>
              </p:cNvSpPr>
              <p:nvPr/>
            </p:nvSpPr>
            <p:spPr>
              <a:xfrm>
                <a:off x="730265" y="1237668"/>
                <a:ext cx="11175595" cy="4757057"/>
              </a:xfrm>
              <a:prstGeom prst="rect">
                <a:avLst/>
              </a:prstGeom>
              <a:noFill/>
              <a:ln>
                <a:noFill/>
              </a:ln>
            </p:spPr>
            <p:txBody>
              <a:bodyPr spcFirstLastPara="1" wrap="square" lIns="91425" tIns="45700" rIns="91425" bIns="45700" anchor="t" anchorCtr="0">
                <a:normAutofit fontScale="25000" lnSpcReduction="2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14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MA.6.GR.1.2</a:t>
                </a:r>
              </a:p>
              <a:p>
                <a:pPr indent="0">
                  <a:buNone/>
                </a:pPr>
                <a:r>
                  <a:rPr lang="en-US" sz="14000" dirty="0">
                    <a:latin typeface="Verdana" panose="020B0604030504040204" pitchFamily="34" charset="0"/>
                    <a:ea typeface="Verdana" panose="020B0604030504040204" pitchFamily="34" charset="0"/>
                    <a:cs typeface="Verdana" panose="020B0604030504040204" pitchFamily="34" charset="0"/>
                  </a:rPr>
                  <a:t>Find distances between ordered pairs, limited to the same </a:t>
                </a:r>
                <a14:m>
                  <m:oMath xmlns:m="http://schemas.openxmlformats.org/officeDocument/2006/math">
                    <m:r>
                      <a:rPr lang="en-US" sz="14000" i="1">
                        <a:latin typeface="Cambria Math" panose="02040503050406030204" pitchFamily="18" charset="0"/>
                      </a:rPr>
                      <m:t>𝑥</m:t>
                    </m:r>
                  </m:oMath>
                </a14:m>
                <a:r>
                  <a:rPr lang="en-US" sz="14000" dirty="0">
                    <a:latin typeface="Verdana" panose="020B0604030504040204" pitchFamily="34" charset="0"/>
                    <a:ea typeface="Verdana" panose="020B0604030504040204" pitchFamily="34" charset="0"/>
                    <a:cs typeface="Verdana" panose="020B0604030504040204" pitchFamily="34" charset="0"/>
                  </a:rPr>
                  <a:t>-coordinate or the same </a:t>
                </a:r>
                <a14:m>
                  <m:oMath xmlns:m="http://schemas.openxmlformats.org/officeDocument/2006/math">
                    <m:r>
                      <a:rPr lang="en-US" sz="14000" i="1">
                        <a:latin typeface="Cambria Math" panose="02040503050406030204" pitchFamily="18" charset="0"/>
                      </a:rPr>
                      <m:t>𝑦</m:t>
                    </m:r>
                  </m:oMath>
                </a14:m>
                <a:r>
                  <a:rPr lang="en-US" sz="14000" dirty="0">
                    <a:latin typeface="Verdana" panose="020B0604030504040204" pitchFamily="34" charset="0"/>
                    <a:ea typeface="Verdana" panose="020B0604030504040204" pitchFamily="34" charset="0"/>
                    <a:cs typeface="Verdana" panose="020B0604030504040204" pitchFamily="34" charset="0"/>
                  </a:rPr>
                  <a:t>-coordinate, represented on the coordinate plane.</a:t>
                </a:r>
              </a:p>
              <a:p>
                <a:pPr marL="0" indent="0">
                  <a:buSzPts val="1100"/>
                  <a:buNone/>
                </a:pPr>
                <a:r>
                  <a:rPr lang="en-US" sz="14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MA.6.GR.1.3</a:t>
                </a:r>
              </a:p>
              <a:p>
                <a:pPr indent="0">
                  <a:buNone/>
                </a:pPr>
                <a:r>
                  <a:rPr lang="en-US" sz="14000" dirty="0">
                    <a:latin typeface="Verdana" panose="020B0604030504040204" pitchFamily="34" charset="0"/>
                    <a:ea typeface="Verdana" panose="020B0604030504040204" pitchFamily="34" charset="0"/>
                    <a:cs typeface="Verdana" panose="020B0604030504040204" pitchFamily="34" charset="0"/>
                  </a:rPr>
                  <a:t>Solve mathematical and real-world problems by plotting points on a coordinate plane, including finding the perimeter or area of a rectangle. </a:t>
                </a:r>
                <a:endParaRPr lang="en-US" sz="5100" dirty="0">
                  <a:latin typeface="Verdana" panose="020B0604030504040204" pitchFamily="34" charset="0"/>
                  <a:ea typeface="Verdana" panose="020B0604030504040204" pitchFamily="34" charset="0"/>
                  <a:cs typeface="Verdana" panose="020B0604030504040204" pitchFamily="34" charset="0"/>
                </a:endParaRPr>
              </a:p>
              <a:p>
                <a:pPr indent="0">
                  <a:buNone/>
                </a:pPr>
                <a:endParaRPr lang="en-US" dirty="0">
                  <a:solidFill>
                    <a:schemeClr val="tx1"/>
                  </a:solidFill>
                  <a:latin typeface="Century Gothic"/>
                  <a:ea typeface="Century Gothic"/>
                  <a:cs typeface="Century Gothic"/>
                  <a:sym typeface="Century Gothic"/>
                </a:endParaRPr>
              </a:p>
            </p:txBody>
          </p:sp>
        </mc:Choice>
        <mc:Fallback xmlns="">
          <p:sp>
            <p:nvSpPr>
              <p:cNvPr id="8" name="Google Shape;280;g104476d1465_1_17">
                <a:extLst>
                  <a:ext uri="{FF2B5EF4-FFF2-40B4-BE49-F238E27FC236}">
                    <a16:creationId xmlns:a16="http://schemas.microsoft.com/office/drawing/2014/main" id="{527A9F9F-07B8-ED47-B967-E5507C67DBC5}"/>
                  </a:ext>
                </a:extLst>
              </p:cNvPr>
              <p:cNvSpPr txBox="1">
                <a:spLocks noRot="1" noChangeAspect="1" noMove="1" noResize="1" noEditPoints="1" noAdjustHandles="1" noChangeArrowheads="1" noChangeShapeType="1" noTextEdit="1"/>
              </p:cNvSpPr>
              <p:nvPr/>
            </p:nvSpPr>
            <p:spPr>
              <a:xfrm>
                <a:off x="730265" y="1237668"/>
                <a:ext cx="11175595" cy="4757057"/>
              </a:xfrm>
              <a:prstGeom prst="rect">
                <a:avLst/>
              </a:prstGeom>
              <a:blipFill>
                <a:blip r:embed="rId5"/>
                <a:stretch>
                  <a:fillRect l="-1589" t="-3200"/>
                </a:stretch>
              </a:blipFill>
              <a:ln>
                <a:noFill/>
              </a:ln>
            </p:spPr>
            <p:txBody>
              <a:bodyPr/>
              <a:lstStyle/>
              <a:p>
                <a:r>
                  <a:rPr lang="en-US">
                    <a:noFill/>
                  </a:rPr>
                  <a:t> </a:t>
                </a:r>
              </a:p>
            </p:txBody>
          </p:sp>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03916" y="0"/>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xmlns="" id="{E701C7D4-7BD4-5F4C-ACEB-5781D00837A2}"/>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234</a:t>
            </a:r>
            <a:endParaRPr i="1" dirty="0">
              <a:latin typeface="Calibri"/>
              <a:ea typeface="Calibri"/>
              <a:cs typeface="Calibri"/>
              <a:sym typeface="Calibri"/>
            </a:endParaRPr>
          </a:p>
        </p:txBody>
      </p:sp>
      <p:sp>
        <p:nvSpPr>
          <p:cNvPr id="11"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730265" y="1325700"/>
            <a:ext cx="1102630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1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xmlns="" id="{5771FBFA-7311-BB45-8AFF-04B380531EE6}"/>
              </a:ext>
            </a:extLst>
          </p:cNvPr>
          <p:cNvSpPr txBox="1">
            <a:spLocks/>
          </p:cNvSpPr>
          <p:nvPr/>
        </p:nvSpPr>
        <p:spPr>
          <a:xfrm>
            <a:off x="1103916" y="-51387"/>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xmlns=""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xmlns="" id="{3ECD2D46-55D5-C547-91DD-0801CE9D6AD7}"/>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234</a:t>
            </a:r>
          </a:p>
        </p:txBody>
      </p:sp>
      <p:sp>
        <p:nvSpPr>
          <p:cNvPr id="14" name="Google Shape;302;g103996e1364_0_16">
            <a:extLst>
              <a:ext uri="{FF2B5EF4-FFF2-40B4-BE49-F238E27FC236}">
                <a16:creationId xmlns:a16="http://schemas.microsoft.com/office/drawing/2014/main" xmlns="" id="{9B7C98EC-F13C-9146-B728-D7044DB4247D}"/>
              </a:ext>
            </a:extLst>
          </p:cNvPr>
          <p:cNvSpPr txBox="1">
            <a:spLocks/>
          </p:cNvSpPr>
          <p:nvPr/>
        </p:nvSpPr>
        <p:spPr>
          <a:xfrm>
            <a:off x="730266" y="1404258"/>
            <a:ext cx="1109162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find distances between ordered pairs. </a:t>
            </a:r>
          </a:p>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find the dimensions of a rectangle on a coordinate plane.</a:t>
            </a:r>
          </a:p>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cs typeface="Verdana" panose="020B0604030504040204" pitchFamily="34" charset="0"/>
              </a:rPr>
              <a:t>I can find the perimeter of a rectangle on a coordinate plane.</a:t>
            </a:r>
          </a:p>
          <a:p>
            <a:pPr marL="457200" indent="-450850">
              <a:buClr>
                <a:srgbClr val="434343"/>
              </a:buClr>
              <a:buSzPts val="3500"/>
              <a:buFont typeface="Verdana"/>
              <a:buChar char="❏"/>
            </a:pPr>
            <a:endParaRPr lang="en-US" sz="3500" dirty="0">
              <a:latin typeface="Verdana" panose="020B0604030504040204" pitchFamily="34" charset="0"/>
              <a:ea typeface="Verdana" panose="020B0604030504040204" pitchFamily="34" charset="0"/>
              <a:cs typeface="Verdana" panose="020B0604030504040204" pitchFamily="34" charset="0"/>
            </a:endParaRPr>
          </a:p>
          <a:p>
            <a:pPr marL="6350">
              <a:buClr>
                <a:srgbClr val="434343"/>
              </a:buClr>
              <a:buSzPts val="3500"/>
            </a:pPr>
            <a:endParaRPr lang="en-US" sz="35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5846" y="2766150"/>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103916" y="60326"/>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5.6.1 Warm-Up: Self-Assessment </a:t>
            </a:r>
          </a:p>
        </p:txBody>
      </p:sp>
      <p:pic>
        <p:nvPicPr>
          <p:cNvPr id="13" name="Google Shape;326;g103996e1364_0_25">
            <a:extLst>
              <a:ext uri="{FF2B5EF4-FFF2-40B4-BE49-F238E27FC236}">
                <a16:creationId xmlns:a16="http://schemas.microsoft.com/office/drawing/2014/main" xmlns=""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235</a:t>
            </a:r>
          </a:p>
        </p:txBody>
      </p:sp>
      <p:sp>
        <p:nvSpPr>
          <p:cNvPr id="2" name="TextBox 1">
            <a:extLst>
              <a:ext uri="{FF2B5EF4-FFF2-40B4-BE49-F238E27FC236}">
                <a16:creationId xmlns:a16="http://schemas.microsoft.com/office/drawing/2014/main" xmlns="" id="{E1D7562E-134F-D14B-AF1A-DF40E11EF758}"/>
              </a:ext>
            </a:extLst>
          </p:cNvPr>
          <p:cNvSpPr txBox="1"/>
          <p:nvPr/>
        </p:nvSpPr>
        <p:spPr>
          <a:xfrm>
            <a:off x="730265" y="1386026"/>
            <a:ext cx="10960991" cy="42165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 to describe your understanding.</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                                how to plot rational number </a:t>
            </a:r>
          </a:p>
          <a:p>
            <a:pPr marL="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7938"/>
            <a:r>
              <a:rPr lang="en-US" sz="2000" dirty="0">
                <a:latin typeface="Verdana" panose="020B0604030504040204" pitchFamily="34" charset="0"/>
                <a:ea typeface="Verdana" panose="020B0604030504040204" pitchFamily="34" charset="0"/>
                <a:cs typeface="Verdana" panose="020B0604030504040204" pitchFamily="34" charset="0"/>
              </a:rPr>
              <a:t>ordered pairs in all four quadrants.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how to find the perimeter and area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of rectangles.</a:t>
            </a:r>
          </a:p>
          <a:p>
            <a:endParaRPr lang="en-US" dirty="0"/>
          </a:p>
          <a:p>
            <a:pPr lvl="0"/>
            <a:endParaRPr lang="en-US" dirty="0"/>
          </a:p>
        </p:txBody>
      </p:sp>
      <p:sp>
        <p:nvSpPr>
          <p:cNvPr id="9" name="Rounded Rectangle 8">
            <a:extLst>
              <a:ext uri="{FF2B5EF4-FFF2-40B4-BE49-F238E27FC236}">
                <a16:creationId xmlns:a16="http://schemas.microsoft.com/office/drawing/2014/main" xmlns="" id="{A3138F4F-0F1C-9C42-AE0A-4CF28C99777E}"/>
              </a:ext>
            </a:extLst>
          </p:cNvPr>
          <p:cNvSpPr/>
          <p:nvPr/>
        </p:nvSpPr>
        <p:spPr>
          <a:xfrm>
            <a:off x="730265" y="1921508"/>
            <a:ext cx="3201871" cy="705319"/>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 know</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 need support with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10" name="Rounded Rectangle 9">
            <a:extLst>
              <a:ext uri="{FF2B5EF4-FFF2-40B4-BE49-F238E27FC236}">
                <a16:creationId xmlns:a16="http://schemas.microsoft.com/office/drawing/2014/main" xmlns="" id="{F2381CA2-FCF2-F741-A3C6-BC839D131988}"/>
              </a:ext>
            </a:extLst>
          </p:cNvPr>
          <p:cNvSpPr/>
          <p:nvPr/>
        </p:nvSpPr>
        <p:spPr>
          <a:xfrm>
            <a:off x="730265" y="3878514"/>
            <a:ext cx="3201871" cy="705319"/>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 know</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 need support with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235</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567103" y="464410"/>
            <a:ext cx="8327136" cy="2246769"/>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                                     how to find the vertical or horizontal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distance between two ordered pairs that are located in the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same or different quadrants.</a:t>
            </a:r>
          </a:p>
          <a:p>
            <a:r>
              <a:rPr lang="en-US" sz="2000" dirty="0">
                <a:latin typeface="Verdana" panose="020B0604030504040204" pitchFamily="34" charset="0"/>
                <a:ea typeface="Verdana" panose="020B0604030504040204" pitchFamily="34" charset="0"/>
                <a:cs typeface="Verdana" panose="020B0604030504040204" pitchFamily="34" charset="0"/>
              </a:rPr>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 </a:t>
            </a:r>
          </a:p>
        </p:txBody>
      </p:sp>
      <p:sp>
        <p:nvSpPr>
          <p:cNvPr id="6" name="Rounded Rectangle 5">
            <a:extLst>
              <a:ext uri="{FF2B5EF4-FFF2-40B4-BE49-F238E27FC236}">
                <a16:creationId xmlns:a16="http://schemas.microsoft.com/office/drawing/2014/main" xmlns="" id="{5E3FE124-CB70-D64E-8612-C944A2F096C7}"/>
              </a:ext>
            </a:extLst>
          </p:cNvPr>
          <p:cNvSpPr/>
          <p:nvPr/>
        </p:nvSpPr>
        <p:spPr>
          <a:xfrm>
            <a:off x="567103" y="326052"/>
            <a:ext cx="3201871" cy="705319"/>
          </a:xfrm>
          <a:prstGeom prst="round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342900" indent="-342900">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 know</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spcAft>
                <a:spcPts val="1000"/>
              </a:spcAft>
              <a:buFont typeface="Courier New" panose="02070309020205020404" pitchFamily="49" charset="0"/>
              <a:buChar char="o"/>
            </a:pPr>
            <a:r>
              <a:rPr lang="en-US" sz="2000" dirty="0">
                <a:solidFill>
                  <a:srgbClr val="000000"/>
                </a:solidFill>
                <a:latin typeface="Verdana" panose="020B0604030504040204" pitchFamily="34" charset="0"/>
                <a:ea typeface="Verdana" panose="020B0604030504040204" pitchFamily="34" charset="0"/>
                <a:cs typeface="Verdana" panose="020B0604030504040204" pitchFamily="34" charset="0"/>
              </a:rPr>
              <a:t>I need support with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151000" y="2852928"/>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xmlns="" id="{2AC58C8F-2DD8-F347-9ECA-58EE9E1B7E9C}"/>
              </a:ext>
            </a:extLst>
          </p:cNvPr>
          <p:cNvPicPr preferRelativeResize="0"/>
          <p:nvPr/>
        </p:nvPicPr>
        <p:blipFill rotWithShape="1">
          <a:blip r:embed="rId4">
            <a:alphaModFix/>
          </a:blip>
          <a:srcRect/>
          <a:stretch/>
        </p:blipFill>
        <p:spPr>
          <a:xfrm>
            <a:off x="3054096" y="2852928"/>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xmlns="" id="{33005AFD-D615-1344-BDC0-5A40F6454816}"/>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235</a:t>
            </a:r>
          </a:p>
        </p:txBody>
      </p:sp>
    </p:spTree>
    <p:extLst>
      <p:ext uri="{BB962C8B-B14F-4D97-AF65-F5344CB8AC3E}">
        <p14:creationId xmlns:p14="http://schemas.microsoft.com/office/powerpoint/2010/main" val="3702612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xmlns="" id="{21B1DF8E-16A0-FA4E-8CEB-434668DFA68D}"/>
              </a:ext>
            </a:extLst>
          </p:cNvPr>
          <p:cNvSpPr txBox="1">
            <a:spLocks/>
          </p:cNvSpPr>
          <p:nvPr/>
        </p:nvSpPr>
        <p:spPr>
          <a:xfrm>
            <a:off x="1103916" y="-88032"/>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900" b="1" dirty="0">
                <a:solidFill>
                  <a:srgbClr val="54B5D1"/>
                </a:solidFill>
                <a:latin typeface="Verdana"/>
                <a:ea typeface="Verdana"/>
                <a:cs typeface="Verdana"/>
                <a:sym typeface="Verdana"/>
              </a:rPr>
              <a:t>5.6.2 Guided Instruction: Dimensions and Perimeters of Rectangles</a:t>
            </a:r>
          </a:p>
        </p:txBody>
      </p:sp>
      <p:pic>
        <p:nvPicPr>
          <p:cNvPr id="9" name="Google Shape;345;g103996e1364_0_321">
            <a:extLst>
              <a:ext uri="{FF2B5EF4-FFF2-40B4-BE49-F238E27FC236}">
                <a16:creationId xmlns:a16="http://schemas.microsoft.com/office/drawing/2014/main" xmlns=""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xmlns="" id="{B2B1ECCC-8E07-F247-BB16-7B958B8E6B2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235</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xmlns="" id="{C01B13E8-EC8D-E443-A329-C5E3593DD13A}"/>
                  </a:ext>
                </a:extLst>
              </p:cNvPr>
              <p:cNvSpPr txBox="1"/>
              <p:nvPr/>
            </p:nvSpPr>
            <p:spPr>
              <a:xfrm>
                <a:off x="730265" y="1237668"/>
                <a:ext cx="11082289" cy="4708981"/>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rectangle has vertices at the points </a:t>
                </a:r>
                <a14:m>
                  <m:oMath xmlns:m="http://schemas.openxmlformats.org/officeDocument/2006/math">
                    <m:r>
                      <a:rPr lang="en-US" sz="2000" i="1">
                        <a:latin typeface="Cambria Math" panose="02040503050406030204" pitchFamily="18" charset="0"/>
                        <a:ea typeface="Cambria Math" panose="02040503050406030204" pitchFamily="18" charset="0"/>
                      </a:rPr>
                      <m:t>𝐴</m:t>
                    </m:r>
                    <m:r>
                      <a:rPr lang="en-US" sz="2000" i="1">
                        <a:latin typeface="Cambria Math" panose="02040503050406030204" pitchFamily="18" charset="0"/>
                        <a:ea typeface="Cambria Math" panose="02040503050406030204" pitchFamily="18" charset="0"/>
                      </a:rPr>
                      <m:t> (</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−4, −5),  </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ea typeface="Cambria Math" panose="02040503050406030204" pitchFamily="18" charset="0"/>
                      </a:rPr>
                      <m:t> (−4, 3),  </m:t>
                    </m:r>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 (3, 3)</m:t>
                    </m:r>
                  </m:oMath>
                </a14:m>
                <a:r>
                  <a:rPr lang="en-US" sz="2000" dirty="0">
                    <a:latin typeface="Verdana" panose="020B0604030504040204" pitchFamily="34" charset="0"/>
                    <a:ea typeface="Verdana" panose="020B0604030504040204" pitchFamily="34" charset="0"/>
                    <a:cs typeface="Verdana" panose="020B0604030504040204" pitchFamily="34" charset="0"/>
                  </a:rPr>
                  <a:t>,</a:t>
                </a:r>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ea typeface="Cambria Math" panose="02040503050406030204" pitchFamily="18" charset="0"/>
                      </a:rPr>
                      <m:t>𝐷</m:t>
                    </m:r>
                    <m:r>
                      <a:rPr lang="en-US" sz="2000" i="1">
                        <a:latin typeface="Cambria Math" panose="02040503050406030204" pitchFamily="18" charset="0"/>
                        <a:ea typeface="Cambria Math" panose="02040503050406030204" pitchFamily="18" charset="0"/>
                      </a:rPr>
                      <m:t> (3, −5)</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as shown.</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distance between points </a:t>
                </a:r>
                <a14:m>
                  <m:oMath xmlns:m="http://schemas.openxmlformats.org/officeDocument/2006/math">
                    <m:r>
                      <a:rPr lang="en-US" sz="2000" i="1">
                        <a:latin typeface="Cambria Math" panose="02040503050406030204" pitchFamily="18" charset="0"/>
                      </a:rPr>
                      <m:t>𝐴</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rPr>
                      <m:t>𝐷</m:t>
                    </m:r>
                  </m:oMath>
                </a14:m>
                <a:r>
                  <a:rPr lang="en-US" sz="2000" dirty="0">
                    <a:latin typeface="Verdana" panose="020B0604030504040204" pitchFamily="34" charset="0"/>
                    <a:ea typeface="Verdana" panose="020B0604030504040204" pitchFamily="34" charset="0"/>
                    <a:cs typeface="Verdana" panose="020B0604030504040204" pitchFamily="34" charset="0"/>
                  </a:rPr>
                  <a:t> is the length of the rectangle. The length of the rectangle is _________ units.</a:t>
                </a:r>
                <a:r>
                  <a:rPr lang="en-US" sz="2000" dirty="0"/>
                  <a:t> </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730265" y="1237668"/>
                <a:ext cx="11082289" cy="4708981"/>
              </a:xfrm>
              <a:prstGeom prst="rect">
                <a:avLst/>
              </a:prstGeom>
              <a:blipFill>
                <a:blip r:embed="rId5"/>
                <a:stretch>
                  <a:fillRect l="-572" t="-1075" r="-343" b="-1344"/>
                </a:stretch>
              </a:blipFill>
            </p:spPr>
            <p:txBody>
              <a:bodyPr/>
              <a:lstStyle/>
              <a:p>
                <a:r>
                  <a:rPr lang="en-US">
                    <a:noFill/>
                  </a:rPr>
                  <a:t> </a:t>
                </a:r>
              </a:p>
            </p:txBody>
          </p:sp>
        </mc:Fallback>
      </mc:AlternateContent>
      <p:pic>
        <p:nvPicPr>
          <p:cNvPr id="8" name="Picture 7" descr="Chart&#10;&#10;Description automatically generated">
            <a:extLst>
              <a:ext uri="{FF2B5EF4-FFF2-40B4-BE49-F238E27FC236}">
                <a16:creationId xmlns:a16="http://schemas.microsoft.com/office/drawing/2014/main" xmlns="" id="{D15953C1-7AF6-2442-8B2E-5D91621D5B0B}"/>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360176" y="1985715"/>
            <a:ext cx="3471647" cy="2886570"/>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111600" y="3455019"/>
                <a:ext cx="8327136" cy="3170099"/>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other two points on the rectangle are the same distance apart as points </a:t>
                </a:r>
                <a14:m>
                  <m:oMath xmlns:m="http://schemas.openxmlformats.org/officeDocument/2006/math">
                    <m:r>
                      <a:rPr lang="en-US" sz="2000" i="1">
                        <a:latin typeface="Cambria Math" panose="02040503050406030204" pitchFamily="18" charset="0"/>
                        <a:ea typeface="Cambria Math" panose="02040503050406030204" pitchFamily="18" charset="0"/>
                      </a:rPr>
                      <m:t>𝐴</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𝐷</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Between which two points is the line segment that represents the width of the rectangle?</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Find the width of the rectangle.</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11600" y="3455019"/>
                <a:ext cx="8327136" cy="3170099"/>
              </a:xfrm>
              <a:prstGeom prst="rect">
                <a:avLst/>
              </a:prstGeom>
              <a:blipFill>
                <a:blip r:embed="rId4"/>
                <a:stretch>
                  <a:fillRect t="-1200"/>
                </a:stretch>
              </a:blipFill>
            </p:spPr>
            <p:txBody>
              <a:bodyPr/>
              <a:lstStyle/>
              <a:p>
                <a:r>
                  <a:rPr lang="en-US">
                    <a:noFill/>
                  </a:rPr>
                  <a:t> </a:t>
                </a:r>
              </a:p>
            </p:txBody>
          </p:sp>
        </mc:Fallback>
      </mc:AlternateContent>
      <p:pic>
        <p:nvPicPr>
          <p:cNvPr id="6" name="Picture 5" descr="Chart&#10;&#10;Description automatically generated">
            <a:extLst>
              <a:ext uri="{FF2B5EF4-FFF2-40B4-BE49-F238E27FC236}">
                <a16:creationId xmlns:a16="http://schemas.microsoft.com/office/drawing/2014/main" xmlns="" id="{63C8A950-3E19-4DDA-A531-20017E6B665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578926" y="278455"/>
            <a:ext cx="3471647" cy="2886570"/>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6D18101C-38A9-4B7C-B10E-EBC628A6A906}"/>
                  </a:ext>
                </a:extLst>
              </p:cNvPr>
              <p:cNvSpPr txBox="1"/>
              <p:nvPr/>
            </p:nvSpPr>
            <p:spPr>
              <a:xfrm>
                <a:off x="518640" y="1213909"/>
                <a:ext cx="4211423" cy="1015663"/>
              </a:xfrm>
              <a:prstGeom prst="rect">
                <a:avLst/>
              </a:prstGeom>
              <a:noFill/>
            </p:spPr>
            <p:txBody>
              <a:bodyPr wrap="square">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A rectangle has vertices at the points </a:t>
                </a:r>
                <a14:m>
                  <m:oMath xmlns:m="http://schemas.openxmlformats.org/officeDocument/2006/math">
                    <m:r>
                      <a:rPr lang="en-US" sz="2000" i="1">
                        <a:latin typeface="Cambria Math" panose="02040503050406030204" pitchFamily="18" charset="0"/>
                        <a:ea typeface="Cambria Math" panose="02040503050406030204" pitchFamily="18" charset="0"/>
                      </a:rPr>
                      <m:t>𝐴</m:t>
                    </m:r>
                    <m:r>
                      <a:rPr lang="en-US" sz="2000" i="1">
                        <a:latin typeface="Cambria Math" panose="02040503050406030204" pitchFamily="18" charset="0"/>
                        <a:ea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−4, −5),  </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ea typeface="Cambria Math" panose="02040503050406030204" pitchFamily="18" charset="0"/>
                      </a:rPr>
                      <m:t> (−4, 3),  </m:t>
                    </m:r>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 (3, 3)</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𝐷</m:t>
                    </m:r>
                    <m:r>
                      <a:rPr lang="en-US" sz="2000" i="1">
                        <a:latin typeface="Cambria Math" panose="02040503050406030204" pitchFamily="18" charset="0"/>
                        <a:ea typeface="Cambria Math" panose="02040503050406030204" pitchFamily="18" charset="0"/>
                      </a:rPr>
                      <m:t> (3, −5)</m:t>
                    </m:r>
                  </m:oMath>
                </a14:m>
                <a:r>
                  <a:rPr lang="en-US" sz="2000" dirty="0">
                    <a:latin typeface="Verdana" panose="020B0604030504040204" pitchFamily="34" charset="0"/>
                    <a:ea typeface="Verdana" panose="020B0604030504040204" pitchFamily="34" charset="0"/>
                    <a:cs typeface="Verdana" panose="020B0604030504040204" pitchFamily="34" charset="0"/>
                  </a:rPr>
                  <a:t> as shown.</a:t>
                </a:r>
              </a:p>
            </p:txBody>
          </p:sp>
        </mc:Choice>
        <mc:Fallback xmlns="">
          <p:sp>
            <p:nvSpPr>
              <p:cNvPr id="8" name="TextBox 7">
                <a:extLst>
                  <a:ext uri="{FF2B5EF4-FFF2-40B4-BE49-F238E27FC236}">
                    <a16:creationId xmlns:a16="http://schemas.microsoft.com/office/drawing/2014/main" id="{6D18101C-38A9-4B7C-B10E-EBC628A6A906}"/>
                  </a:ext>
                </a:extLst>
              </p:cNvPr>
              <p:cNvSpPr txBox="1">
                <a:spLocks noRot="1" noChangeAspect="1" noMove="1" noResize="1" noEditPoints="1" noAdjustHandles="1" noChangeArrowheads="1" noChangeShapeType="1" noTextEdit="1"/>
              </p:cNvSpPr>
              <p:nvPr/>
            </p:nvSpPr>
            <p:spPr>
              <a:xfrm>
                <a:off x="518640" y="1213909"/>
                <a:ext cx="4211423" cy="1015663"/>
              </a:xfrm>
              <a:prstGeom prst="rect">
                <a:avLst/>
              </a:prstGeom>
              <a:blipFill>
                <a:blip r:embed="rId6"/>
                <a:stretch>
                  <a:fillRect l="-1201" t="-2469" r="-601" b="-9877"/>
                </a:stretch>
              </a:blipFill>
            </p:spPr>
            <p:txBody>
              <a:bodyPr/>
              <a:lstStyle/>
              <a:p>
                <a:r>
                  <a:rPr lang="en-US">
                    <a:noFill/>
                  </a:rPr>
                  <a:t> </a:t>
                </a:r>
              </a:p>
            </p:txBody>
          </p:sp>
        </mc:Fallback>
      </mc:AlternateContent>
    </p:spTree>
    <p:extLst>
      <p:ext uri="{BB962C8B-B14F-4D97-AF65-F5344CB8AC3E}">
        <p14:creationId xmlns:p14="http://schemas.microsoft.com/office/powerpoint/2010/main" val="5004580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402898" y="458956"/>
                <a:ext cx="11325681" cy="5632311"/>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Sonja’s family installed a new pool. Sonja’s dad wants to put up a fence, shown as a blue rectangle, around the pool for safety. The scale of the grid is represented in meters (m). He needs to know how much fencing he will need.</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447675" algn="l"/>
                  </a:tabLst>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a:tabLst>
                    <a:tab pos="447675" algn="l"/>
                  </a:tabLst>
                </a:pPr>
                <a:r>
                  <a:rPr lang="en-US" sz="2000" dirty="0">
                    <a:latin typeface="Verdana" panose="020B0604030504040204" pitchFamily="34" charset="0"/>
                    <a:ea typeface="Verdana" panose="020B0604030504040204" pitchFamily="34" charset="0"/>
                    <a:cs typeface="Verdana" panose="020B0604030504040204" pitchFamily="34" charset="0"/>
                  </a:rPr>
                  <a:t>The rectangle that represents the fence has vertices at </a:t>
                </a:r>
                <a14:m>
                  <m:oMath xmlns:m="http://schemas.openxmlformats.org/officeDocument/2006/math">
                    <m:r>
                      <a:rPr lang="en-US" sz="2000" i="1">
                        <a:latin typeface="Cambria Math" panose="02040503050406030204" pitchFamily="18" charset="0"/>
                        <a:ea typeface="Cambria Math" panose="02040503050406030204" pitchFamily="18" charset="0"/>
                      </a:rPr>
                      <m:t>𝐴</m:t>
                    </m:r>
                    <m:r>
                      <a:rPr lang="en-US" sz="2000" i="1">
                        <a:latin typeface="Cambria Math" panose="02040503050406030204" pitchFamily="18" charset="0"/>
                        <a:ea typeface="Cambria Math" panose="02040503050406030204" pitchFamily="18" charset="0"/>
                      </a:rPr>
                      <m:t> </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−5, −1</m:t>
                        </m:r>
                      </m:e>
                    </m:d>
                    <m:r>
                      <a:rPr lang="en-US" sz="2000" i="1">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ea typeface="Cambria Math" panose="02040503050406030204" pitchFamily="18" charset="0"/>
                      </a:rPr>
                      <m:t> </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−5, 3</m:t>
                        </m:r>
                      </m:e>
                    </m:d>
                    <m:r>
                      <a:rPr lang="en-US" sz="2000" i="1">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 </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5, 3</m:t>
                        </m:r>
                      </m:e>
                    </m:d>
                    <m:r>
                      <a:rPr lang="en-US" sz="2000" i="1">
                        <a:latin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ea typeface="Cambria Math" panose="02040503050406030204" pitchFamily="18" charset="0"/>
                      </a:rPr>
                      <m:t>𝐷</m:t>
                    </m:r>
                    <m:r>
                      <a:rPr lang="en-US" sz="2000" i="1">
                        <a:latin typeface="Cambria Math" panose="02040503050406030204" pitchFamily="18" charset="0"/>
                        <a:ea typeface="Cambria Math" panose="02040503050406030204" pitchFamily="18" charset="0"/>
                      </a:rPr>
                      <m:t> (5, −1)</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402898" y="458956"/>
                <a:ext cx="11325681" cy="5632311"/>
              </a:xfrm>
              <a:prstGeom prst="rect">
                <a:avLst/>
              </a:prstGeom>
              <a:blipFill>
                <a:blip r:embed="rId4"/>
                <a:stretch>
                  <a:fillRect l="-560" t="-676" r="-336" b="-901"/>
                </a:stretch>
              </a:blipFill>
            </p:spPr>
            <p:txBody>
              <a:bodyPr/>
              <a:lstStyle/>
              <a:p>
                <a:r>
                  <a:rPr lang="en-US">
                    <a:noFill/>
                  </a:rPr>
                  <a:t> </a:t>
                </a:r>
              </a:p>
            </p:txBody>
          </p:sp>
        </mc:Fallback>
      </mc:AlternateContent>
      <p:pic>
        <p:nvPicPr>
          <p:cNvPr id="6" name="Picture 5" descr="Chart, scatter chart&#10;&#10;Description automatically generated">
            <a:extLst>
              <a:ext uri="{FF2B5EF4-FFF2-40B4-BE49-F238E27FC236}">
                <a16:creationId xmlns:a16="http://schemas.microsoft.com/office/drawing/2014/main" xmlns="" id="{881FBFD1-2EAC-7B49-87E5-384618D89BB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83379" y="1731124"/>
            <a:ext cx="4825241" cy="3395752"/>
          </a:xfrm>
          <a:prstGeom prst="rect">
            <a:avLst/>
          </a:prstGeom>
        </p:spPr>
      </p:pic>
    </p:spTree>
    <p:extLst>
      <p:ext uri="{BB962C8B-B14F-4D97-AF65-F5344CB8AC3E}">
        <p14:creationId xmlns:p14="http://schemas.microsoft.com/office/powerpoint/2010/main" val="2085918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236</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327426" y="3894900"/>
                <a:ext cx="8327136" cy="3385542"/>
              </a:xfrm>
              <a:prstGeom prst="rect">
                <a:avLst/>
              </a:prstGeom>
              <a:noFill/>
            </p:spPr>
            <p:txBody>
              <a:bodyPr wrap="square" rtlCol="0">
                <a:spAutoFit/>
              </a:bodyPr>
              <a:lstStyle/>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length of the line segment that connects points </a:t>
                </a:r>
                <a14:m>
                  <m:oMath xmlns:m="http://schemas.openxmlformats.org/officeDocument/2006/math">
                    <m:r>
                      <a:rPr lang="en-US" sz="2000" i="1">
                        <a:latin typeface="Cambria Math" panose="02040503050406030204" pitchFamily="18" charset="0"/>
                        <a:ea typeface="Cambria Math" panose="02040503050406030204" pitchFamily="18" charset="0"/>
                      </a:rPr>
                      <m:t>𝐴</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𝐷</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49263">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length of the line segment that connects points </a:t>
                </a:r>
                <a14:m>
                  <m:oMath xmlns:m="http://schemas.openxmlformats.org/officeDocument/2006/math">
                    <m:r>
                      <a:rPr lang="en-US" sz="2000" i="1">
                        <a:latin typeface="Cambria Math" panose="02040503050406030204" pitchFamily="18" charset="0"/>
                        <a:ea typeface="Cambria Math" panose="02040503050406030204" pitchFamily="18" charset="0"/>
                      </a:rPr>
                      <m:t>𝐴</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𝐵</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dirty="0"/>
                  <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27426" y="3894900"/>
                <a:ext cx="8327136" cy="3385542"/>
              </a:xfrm>
              <a:prstGeom prst="rect">
                <a:avLst/>
              </a:prstGeom>
              <a:blipFill>
                <a:blip r:embed="rId4"/>
                <a:stretch>
                  <a:fillRect t="-1119"/>
                </a:stretch>
              </a:blipFill>
            </p:spPr>
            <p:txBody>
              <a:bodyPr/>
              <a:lstStyle/>
              <a:p>
                <a:r>
                  <a:rPr lang="en-US">
                    <a:noFill/>
                  </a:rPr>
                  <a:t> </a:t>
                </a:r>
              </a:p>
            </p:txBody>
          </p:sp>
        </mc:Fallback>
      </mc:AlternateContent>
      <p:pic>
        <p:nvPicPr>
          <p:cNvPr id="6" name="Picture 5" descr="Chart, scatter chart&#10;&#10;Description automatically generated">
            <a:extLst>
              <a:ext uri="{FF2B5EF4-FFF2-40B4-BE49-F238E27FC236}">
                <a16:creationId xmlns:a16="http://schemas.microsoft.com/office/drawing/2014/main" xmlns="" id="{EFCEF4CD-6CF3-49FE-84D5-6026BE512C2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780566" y="197925"/>
            <a:ext cx="4825241" cy="3395752"/>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xmlns="" id="{D6C9754D-BADD-44CE-A4FC-288BBDF547E5}"/>
                  </a:ext>
                </a:extLst>
              </p:cNvPr>
              <p:cNvSpPr txBox="1"/>
              <p:nvPr/>
            </p:nvSpPr>
            <p:spPr>
              <a:xfrm>
                <a:off x="6616434" y="1080193"/>
                <a:ext cx="4030632" cy="1631216"/>
              </a:xfrm>
              <a:prstGeom prst="rect">
                <a:avLst/>
              </a:prstGeom>
              <a:noFill/>
            </p:spPr>
            <p:txBody>
              <a:bodyPr wrap="square">
                <a:spAutoFit/>
              </a:bodyPr>
              <a:lstStyle/>
              <a:p>
                <a:pPr marL="457200" algn="ctr">
                  <a:tabLst>
                    <a:tab pos="447675" algn="l"/>
                  </a:tabLst>
                </a:pPr>
                <a:r>
                  <a:rPr lang="en-US" sz="2000" dirty="0">
                    <a:latin typeface="Verdana" panose="020B0604030504040204" pitchFamily="34" charset="0"/>
                    <a:ea typeface="Verdana" panose="020B0604030504040204" pitchFamily="34" charset="0"/>
                    <a:cs typeface="Verdana" panose="020B0604030504040204" pitchFamily="34" charset="0"/>
                  </a:rPr>
                  <a:t>The rectangle that represents the fence has vertices at </a:t>
                </a:r>
                <a14:m>
                  <m:oMath xmlns:m="http://schemas.openxmlformats.org/officeDocument/2006/math">
                    <m:r>
                      <a:rPr lang="en-US" sz="2000" i="1">
                        <a:latin typeface="Cambria Math" panose="02040503050406030204" pitchFamily="18" charset="0"/>
                        <a:ea typeface="Cambria Math" panose="02040503050406030204" pitchFamily="18" charset="0"/>
                      </a:rPr>
                      <m:t>𝐴</m:t>
                    </m:r>
                    <m:r>
                      <a:rPr lang="en-US" sz="2000" i="1">
                        <a:latin typeface="Cambria Math" panose="02040503050406030204" pitchFamily="18" charset="0"/>
                        <a:ea typeface="Cambria Math" panose="02040503050406030204" pitchFamily="18" charset="0"/>
                      </a:rPr>
                      <m:t> </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−5, −1</m:t>
                        </m:r>
                      </m:e>
                    </m:d>
                    <m:r>
                      <a:rPr lang="en-US" sz="2000" i="1">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ea typeface="Cambria Math" panose="02040503050406030204" pitchFamily="18" charset="0"/>
                      </a:rPr>
                      <m:t> </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−5, 3</m:t>
                        </m:r>
                      </m:e>
                    </m:d>
                    <m:r>
                      <a:rPr lang="en-US" sz="2000" i="1">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 </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5, 3</m:t>
                        </m:r>
                      </m:e>
                    </m:d>
                    <m:r>
                      <a:rPr lang="en-US" sz="2000" i="1">
                        <a:latin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ea typeface="Cambria Math" panose="02040503050406030204" pitchFamily="18" charset="0"/>
                      </a:rPr>
                      <m:t>𝐷</m:t>
                    </m:r>
                    <m:r>
                      <a:rPr lang="en-US" sz="2000" i="1">
                        <a:latin typeface="Cambria Math" panose="02040503050406030204" pitchFamily="18" charset="0"/>
                        <a:ea typeface="Cambria Math" panose="02040503050406030204" pitchFamily="18" charset="0"/>
                      </a:rPr>
                      <m:t> (5, −1)</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8" name="TextBox 7">
                <a:extLst>
                  <a:ext uri="{FF2B5EF4-FFF2-40B4-BE49-F238E27FC236}">
                    <a16:creationId xmlns:a16="http://schemas.microsoft.com/office/drawing/2014/main" id="{D6C9754D-BADD-44CE-A4FC-288BBDF547E5}"/>
                  </a:ext>
                </a:extLst>
              </p:cNvPr>
              <p:cNvSpPr txBox="1">
                <a:spLocks noRot="1" noChangeAspect="1" noMove="1" noResize="1" noEditPoints="1" noAdjustHandles="1" noChangeArrowheads="1" noChangeShapeType="1" noTextEdit="1"/>
              </p:cNvSpPr>
              <p:nvPr/>
            </p:nvSpPr>
            <p:spPr>
              <a:xfrm>
                <a:off x="6616434" y="1080193"/>
                <a:ext cx="4030632" cy="1631216"/>
              </a:xfrm>
              <a:prstGeom prst="rect">
                <a:avLst/>
              </a:prstGeom>
              <a:blipFill>
                <a:blip r:embed="rId6"/>
                <a:stretch>
                  <a:fillRect t="-1538" r="-627" b="-5385"/>
                </a:stretch>
              </a:blipFill>
            </p:spPr>
            <p:txBody>
              <a:bodyPr/>
              <a:lstStyle/>
              <a:p>
                <a:r>
                  <a:rPr lang="en-US">
                    <a:noFill/>
                  </a:rPr>
                  <a:t> </a:t>
                </a:r>
              </a:p>
            </p:txBody>
          </p:sp>
        </mc:Fallback>
      </mc:AlternateContent>
    </p:spTree>
    <p:extLst>
      <p:ext uri="{BB962C8B-B14F-4D97-AF65-F5344CB8AC3E}">
        <p14:creationId xmlns:p14="http://schemas.microsoft.com/office/powerpoint/2010/main" val="407288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237</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674354" y="3953831"/>
            <a:ext cx="8327136" cy="2246769"/>
          </a:xfrm>
          <a:prstGeom prst="rect">
            <a:avLst/>
          </a:prstGeom>
          <a:noFill/>
        </p:spPr>
        <p:txBody>
          <a:bodyPr wrap="square" rtlCol="0">
            <a:spAutoFit/>
          </a:bodyPr>
          <a:lstStyle/>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Explain how to calculate the perimeter of the fence.</a:t>
            </a:r>
          </a:p>
          <a:p>
            <a:pPr marL="1373188" indent="-458788"/>
            <a:r>
              <a:rPr lang="en-US" sz="2000" dirty="0">
                <a:latin typeface="Verdana" panose="020B0604030504040204" pitchFamily="34" charset="0"/>
                <a:ea typeface="Verdana" panose="020B0604030504040204" pitchFamily="34" charset="0"/>
                <a:cs typeface="Verdana" panose="020B0604030504040204" pitchFamily="34" charset="0"/>
              </a:rPr>
              <a:t> </a:t>
            </a:r>
          </a:p>
          <a:p>
            <a:pPr marL="1373188" indent="-458788"/>
            <a:r>
              <a:rPr lang="en-US" sz="2000" dirty="0">
                <a:latin typeface="Verdana" panose="020B0604030504040204" pitchFamily="34" charset="0"/>
                <a:ea typeface="Verdana" panose="020B0604030504040204" pitchFamily="34" charset="0"/>
                <a:cs typeface="Verdana" panose="020B0604030504040204" pitchFamily="34" charset="0"/>
              </a:rPr>
              <a:t> </a:t>
            </a:r>
          </a:p>
          <a:p>
            <a:pPr marL="1373188" indent="-458788"/>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What is the perimeter of the fence in meters?</a:t>
            </a:r>
          </a:p>
          <a:p>
            <a:pPr marL="1373188" indent="-458788"/>
            <a:endParaRPr lang="en-US" sz="2000" dirty="0">
              <a:latin typeface="Verdana" panose="020B0604030504040204" pitchFamily="34" charset="0"/>
              <a:ea typeface="Verdana" panose="020B0604030504040204" pitchFamily="34" charset="0"/>
              <a:cs typeface="Verdana" panose="020B0604030504040204" pitchFamily="34" charset="0"/>
            </a:endParaRPr>
          </a:p>
          <a:p>
            <a:pPr marL="1373188" indent="-458788"/>
            <a:r>
              <a:rPr lang="en-US" sz="2000" dirty="0">
                <a:latin typeface="Verdana" panose="020B0604030504040204" pitchFamily="34" charset="0"/>
                <a:ea typeface="Verdana" panose="020B0604030504040204" pitchFamily="34" charset="0"/>
                <a:cs typeface="Verdana" panose="020B0604030504040204" pitchFamily="34" charset="0"/>
              </a:rPr>
              <a:t> </a:t>
            </a:r>
          </a:p>
        </p:txBody>
      </p:sp>
      <p:pic>
        <p:nvPicPr>
          <p:cNvPr id="6" name="Picture 5" descr="Chart, scatter chart&#10;&#10;Description automatically generated">
            <a:extLst>
              <a:ext uri="{FF2B5EF4-FFF2-40B4-BE49-F238E27FC236}">
                <a16:creationId xmlns:a16="http://schemas.microsoft.com/office/drawing/2014/main" xmlns="" id="{FE7F0503-BAEC-47EC-83AC-B8737364A2A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74354" y="197925"/>
            <a:ext cx="4825241" cy="3395752"/>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10EF1F50-1B86-49A8-BD6D-F46968B3B539}"/>
                  </a:ext>
                </a:extLst>
              </p:cNvPr>
              <p:cNvSpPr txBox="1"/>
              <p:nvPr/>
            </p:nvSpPr>
            <p:spPr>
              <a:xfrm>
                <a:off x="6586194" y="1080193"/>
                <a:ext cx="4030632" cy="1631216"/>
              </a:xfrm>
              <a:prstGeom prst="rect">
                <a:avLst/>
              </a:prstGeom>
              <a:noFill/>
            </p:spPr>
            <p:txBody>
              <a:bodyPr wrap="square">
                <a:spAutoFit/>
              </a:bodyPr>
              <a:lstStyle/>
              <a:p>
                <a:pPr marL="457200" algn="ctr">
                  <a:tabLst>
                    <a:tab pos="447675" algn="l"/>
                  </a:tabLst>
                </a:pPr>
                <a:r>
                  <a:rPr lang="en-US" sz="2000" dirty="0">
                    <a:latin typeface="Verdana" panose="020B0604030504040204" pitchFamily="34" charset="0"/>
                    <a:ea typeface="Verdana" panose="020B0604030504040204" pitchFamily="34" charset="0"/>
                    <a:cs typeface="Verdana" panose="020B0604030504040204" pitchFamily="34" charset="0"/>
                  </a:rPr>
                  <a:t>The rectangle that represents the fence has vertices at </a:t>
                </a:r>
                <a14:m>
                  <m:oMath xmlns:m="http://schemas.openxmlformats.org/officeDocument/2006/math">
                    <m:r>
                      <a:rPr lang="en-US" sz="2000" i="1">
                        <a:latin typeface="Cambria Math" panose="02040503050406030204" pitchFamily="18" charset="0"/>
                        <a:ea typeface="Cambria Math" panose="02040503050406030204" pitchFamily="18" charset="0"/>
                      </a:rPr>
                      <m:t>𝐴</m:t>
                    </m:r>
                    <m:r>
                      <a:rPr lang="en-US" sz="2000" i="1">
                        <a:latin typeface="Cambria Math" panose="02040503050406030204" pitchFamily="18" charset="0"/>
                        <a:ea typeface="Cambria Math" panose="02040503050406030204" pitchFamily="18" charset="0"/>
                      </a:rPr>
                      <m:t> </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−5, −1</m:t>
                        </m:r>
                      </m:e>
                    </m:d>
                    <m:r>
                      <a:rPr lang="en-US" sz="2000" i="1">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ea typeface="Cambria Math" panose="02040503050406030204" pitchFamily="18" charset="0"/>
                      </a:rPr>
                      <m:t> </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−5, 3</m:t>
                        </m:r>
                      </m:e>
                    </m:d>
                    <m:r>
                      <a:rPr lang="en-US" sz="2000" i="1">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 </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5, 3</m:t>
                        </m:r>
                      </m:e>
                    </m:d>
                    <m:r>
                      <a:rPr lang="en-US" sz="2000" i="1">
                        <a:latin typeface="Cambria Math" panose="02040503050406030204" pitchFamily="18" charset="0"/>
                      </a:rPr>
                      <m:t>, </m:t>
                    </m:r>
                  </m:oMath>
                </a14:m>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ea typeface="Cambria Math" panose="02040503050406030204" pitchFamily="18" charset="0"/>
                      </a:rPr>
                      <m:t>𝐷</m:t>
                    </m:r>
                    <m:r>
                      <a:rPr lang="en-US" sz="2000" i="1">
                        <a:latin typeface="Cambria Math" panose="02040503050406030204" pitchFamily="18" charset="0"/>
                        <a:ea typeface="Cambria Math" panose="02040503050406030204" pitchFamily="18" charset="0"/>
                      </a:rPr>
                      <m:t> (5, −1)</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7" name="TextBox 6">
                <a:extLst>
                  <a:ext uri="{FF2B5EF4-FFF2-40B4-BE49-F238E27FC236}">
                    <a16:creationId xmlns:a16="http://schemas.microsoft.com/office/drawing/2014/main" id="{10EF1F50-1B86-49A8-BD6D-F46968B3B539}"/>
                  </a:ext>
                </a:extLst>
              </p:cNvPr>
              <p:cNvSpPr txBox="1">
                <a:spLocks noRot="1" noChangeAspect="1" noMove="1" noResize="1" noEditPoints="1" noAdjustHandles="1" noChangeArrowheads="1" noChangeShapeType="1" noTextEdit="1"/>
              </p:cNvSpPr>
              <p:nvPr/>
            </p:nvSpPr>
            <p:spPr>
              <a:xfrm>
                <a:off x="6586194" y="1080193"/>
                <a:ext cx="4030632" cy="1631216"/>
              </a:xfrm>
              <a:prstGeom prst="rect">
                <a:avLst/>
              </a:prstGeom>
              <a:blipFill>
                <a:blip r:embed="rId5"/>
                <a:stretch>
                  <a:fillRect t="-1538" r="-627" b="-5385"/>
                </a:stretch>
              </a:blipFill>
            </p:spPr>
            <p:txBody>
              <a:bodyPr/>
              <a:lstStyle/>
              <a:p>
                <a:r>
                  <a:rPr lang="en-US">
                    <a:noFill/>
                  </a:rPr>
                  <a:t> </a:t>
                </a:r>
              </a:p>
            </p:txBody>
          </p:sp>
        </mc:Fallback>
      </mc:AlternateContent>
    </p:spTree>
    <p:extLst>
      <p:ext uri="{BB962C8B-B14F-4D97-AF65-F5344CB8AC3E}">
        <p14:creationId xmlns:p14="http://schemas.microsoft.com/office/powerpoint/2010/main" val="28585951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240832"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237</a:t>
            </a:r>
          </a:p>
        </p:txBody>
      </p:sp>
      <p:pic>
        <p:nvPicPr>
          <p:cNvPr id="7170" name="Picture 2">
            <a:extLst>
              <a:ext uri="{FF2B5EF4-FFF2-40B4-BE49-F238E27FC236}">
                <a16:creationId xmlns:a16="http://schemas.microsoft.com/office/drawing/2014/main" xmlns=""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6858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39840" y="5433"/>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5.6.3 Try It: Perimeter on the Coordinate Plane</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237</a:t>
            </a:r>
          </a:p>
        </p:txBody>
      </p:sp>
      <p:pic>
        <p:nvPicPr>
          <p:cNvPr id="9" name="Picture 2">
            <a:extLst>
              <a:ext uri="{FF2B5EF4-FFF2-40B4-BE49-F238E27FC236}">
                <a16:creationId xmlns:a16="http://schemas.microsoft.com/office/drawing/2014/main" xmlns=""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0AB6A3A1-5A0D-C84F-AC89-57E6782F43E5}"/>
                  </a:ext>
                </a:extLst>
              </p:cNvPr>
              <p:cNvSpPr txBox="1"/>
              <p:nvPr/>
            </p:nvSpPr>
            <p:spPr>
              <a:xfrm>
                <a:off x="731519" y="1264727"/>
                <a:ext cx="10931745" cy="3785652"/>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Sonja’s father plans to put another fence around the yard. The black rectangle on the coordinate grid in the previous component represents the second fence. The scale of the grid is represented in meters (m). The black rectangle has vertices at </a:t>
                </a:r>
                <a14:m>
                  <m:oMath xmlns:m="http://schemas.openxmlformats.org/officeDocument/2006/math">
                    <m:r>
                      <a:rPr lang="en-US" sz="2000" i="1">
                        <a:latin typeface="Cambria Math" panose="02040503050406030204" pitchFamily="18" charset="0"/>
                        <a:ea typeface="Cambria Math" panose="02040503050406030204" pitchFamily="18" charset="0"/>
                      </a:rPr>
                      <m:t>𝐸</m:t>
                    </m:r>
                    <m:r>
                      <a:rPr lang="en-US" sz="2000" i="1">
                        <a:latin typeface="Cambria Math" panose="02040503050406030204" pitchFamily="18" charset="0"/>
                        <a:ea typeface="Cambria Math" panose="02040503050406030204" pitchFamily="18" charset="0"/>
                      </a:rPr>
                      <m:t> </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−6.8, −5.7</m:t>
                        </m:r>
                      </m:e>
                    </m:d>
                    <m:r>
                      <a:rPr lang="en-US" sz="2000" i="1">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𝐹</m:t>
                    </m:r>
                    <m:r>
                      <a:rPr lang="en-US" sz="2000" i="1">
                        <a:latin typeface="Cambria Math" panose="02040503050406030204" pitchFamily="18" charset="0"/>
                        <a:ea typeface="Cambria Math" panose="02040503050406030204" pitchFamily="18" charset="0"/>
                      </a:rPr>
                      <m:t> </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−6.8, 5.2</m:t>
                        </m:r>
                      </m:e>
                    </m:d>
                    <m:r>
                      <a:rPr lang="en-US" sz="2000" i="1">
                        <a:latin typeface="Cambria Math" panose="02040503050406030204" pitchFamily="18" charset="0"/>
                      </a:rPr>
                      <m:t>,  </m:t>
                    </m:r>
                    <m:r>
                      <a:rPr lang="en-US" sz="2000" i="1">
                        <a:latin typeface="Cambria Math" panose="02040503050406030204" pitchFamily="18" charset="0"/>
                        <a:ea typeface="Cambria Math" panose="02040503050406030204" pitchFamily="18" charset="0"/>
                      </a:rPr>
                      <m:t>𝐺</m:t>
                    </m:r>
                    <m:r>
                      <a:rPr lang="en-US" sz="2000" i="1">
                        <a:latin typeface="Cambria Math" panose="02040503050406030204" pitchFamily="18" charset="0"/>
                        <a:ea typeface="Cambria Math" panose="02040503050406030204" pitchFamily="18" charset="0"/>
                      </a:rPr>
                      <m:t> </m:t>
                    </m:r>
                    <m:d>
                      <m:dPr>
                        <m:ctrlPr>
                          <a:rPr lang="en-US" sz="2000" i="1">
                            <a:latin typeface="Cambria Math"/>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9.2, 5.2</m:t>
                        </m:r>
                      </m:e>
                    </m:d>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Cambria Math" panose="02040503050406030204" pitchFamily="18" charset="0"/>
                      </a:rPr>
                      <m:t>𝐻</m:t>
                    </m:r>
                    <m:r>
                      <a:rPr lang="en-US" sz="2000" i="1">
                        <a:latin typeface="Cambria Math" panose="02040503050406030204" pitchFamily="18" charset="0"/>
                        <a:ea typeface="Cambria Math" panose="02040503050406030204" pitchFamily="18" charset="0"/>
                      </a:rPr>
                      <m:t> (9.2, −5.7)</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length of the line segment that connects point </a:t>
                </a:r>
                <a14:m>
                  <m:oMath xmlns:m="http://schemas.openxmlformats.org/officeDocument/2006/math">
                    <m:r>
                      <a:rPr lang="en-US" sz="2000" i="1">
                        <a:latin typeface="Cambria Math" panose="02040503050406030204" pitchFamily="18" charset="0"/>
                        <a:ea typeface="Cambria Math" panose="02040503050406030204" pitchFamily="18" charset="0"/>
                      </a:rPr>
                      <m:t>𝐸</m:t>
                    </m:r>
                  </m:oMath>
                </a14:m>
                <a:r>
                  <a:rPr lang="en-US" sz="2000" dirty="0">
                    <a:latin typeface="Verdana" panose="020B0604030504040204" pitchFamily="34" charset="0"/>
                    <a:ea typeface="Verdana" panose="020B0604030504040204" pitchFamily="34" charset="0"/>
                    <a:cs typeface="Verdana" panose="020B0604030504040204" pitchFamily="34" charset="0"/>
                  </a:rPr>
                  <a:t> to point </a:t>
                </a:r>
                <a14:m>
                  <m:oMath xmlns:m="http://schemas.openxmlformats.org/officeDocument/2006/math">
                    <m:r>
                      <a:rPr lang="en-US" sz="2000" i="1">
                        <a:latin typeface="Cambria Math" panose="02040503050406030204" pitchFamily="18" charset="0"/>
                        <a:ea typeface="Cambria Math" panose="02040503050406030204" pitchFamily="18" charset="0"/>
                      </a:rPr>
                      <m:t>𝐻</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length of line segment that connects point </a:t>
                </a:r>
                <a14:m>
                  <m:oMath xmlns:m="http://schemas.openxmlformats.org/officeDocument/2006/math">
                    <m:r>
                      <a:rPr lang="en-US" sz="2000" i="1">
                        <a:latin typeface="Cambria Math" panose="02040503050406030204" pitchFamily="18" charset="0"/>
                        <a:ea typeface="Cambria Math" panose="02040503050406030204" pitchFamily="18" charset="0"/>
                      </a:rPr>
                      <m:t>𝐸</m:t>
                    </m:r>
                  </m:oMath>
                </a14:m>
                <a:r>
                  <a:rPr lang="en-US" sz="2000" dirty="0">
                    <a:latin typeface="Verdana" panose="020B0604030504040204" pitchFamily="34" charset="0"/>
                    <a:ea typeface="Verdana" panose="020B0604030504040204" pitchFamily="34" charset="0"/>
                    <a:cs typeface="Verdana" panose="020B0604030504040204" pitchFamily="34" charset="0"/>
                  </a:rPr>
                  <a:t> to point </a:t>
                </a:r>
                <a14:m>
                  <m:oMath xmlns:m="http://schemas.openxmlformats.org/officeDocument/2006/math">
                    <m:r>
                      <a:rPr lang="en-US" sz="2000" i="1">
                        <a:latin typeface="Cambria Math" panose="02040503050406030204" pitchFamily="18" charset="0"/>
                        <a:ea typeface="Cambria Math" panose="02040503050406030204" pitchFamily="18" charset="0"/>
                      </a:rPr>
                      <m:t>𝐹</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731519" y="1264727"/>
                <a:ext cx="10931745" cy="3785652"/>
              </a:xfrm>
              <a:prstGeom prst="rect">
                <a:avLst/>
              </a:prstGeom>
              <a:blipFill>
                <a:blip r:embed="rId5"/>
                <a:stretch>
                  <a:fillRect l="-580" t="-1003" b="-2007"/>
                </a:stretch>
              </a:blipFill>
            </p:spPr>
            <p:txBody>
              <a:bodyPr/>
              <a:lstStyle/>
              <a:p>
                <a:r>
                  <a:rPr lang="en-US">
                    <a:noFill/>
                  </a:rPr>
                  <a:t> </a:t>
                </a:r>
              </a:p>
            </p:txBody>
          </p:sp>
        </mc:Fallback>
      </mc:AlternateContent>
    </p:spTree>
    <p:extLst>
      <p:ext uri="{BB962C8B-B14F-4D97-AF65-F5344CB8AC3E}">
        <p14:creationId xmlns:p14="http://schemas.microsoft.com/office/powerpoint/2010/main" val="3840359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237</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111600" y="529725"/>
            <a:ext cx="8327136" cy="615553"/>
          </a:xfrm>
          <a:prstGeom prst="rect">
            <a:avLst/>
          </a:prstGeom>
          <a:noFill/>
        </p:spPr>
        <p:txBody>
          <a:bodyPr wrap="square" rtlCol="0">
            <a:spAutoFit/>
          </a:bodyPr>
          <a:lstStyle/>
          <a:p>
            <a:pPr marL="914400" indent="-449263">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Determine the perimeter of the fence around the yard. </a:t>
            </a:r>
          </a:p>
          <a:p>
            <a:r>
              <a:rPr lang="en-US" dirty="0"/>
              <a:t> </a:t>
            </a:r>
          </a:p>
        </p:txBody>
      </p:sp>
    </p:spTree>
    <p:extLst>
      <p:ext uri="{BB962C8B-B14F-4D97-AF65-F5344CB8AC3E}">
        <p14:creationId xmlns:p14="http://schemas.microsoft.com/office/powerpoint/2010/main" val="103025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06240" y="2766150"/>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xmlns="" id="{B595484E-1C62-AC4F-B448-37E60F77A8C0}"/>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238</a:t>
            </a: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3916"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243756" y="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5.6.4 Collaboration: Fix the Mistake</a:t>
            </a:r>
          </a:p>
        </p:txBody>
      </p:sp>
      <p:sp>
        <p:nvSpPr>
          <p:cNvPr id="15" name="Google Shape;282;g104476d1465_1_17">
            <a:extLst>
              <a:ext uri="{FF2B5EF4-FFF2-40B4-BE49-F238E27FC236}">
                <a16:creationId xmlns:a16="http://schemas.microsoft.com/office/drawing/2014/main" xmlns="" id="{5B627696-920F-B441-B5C1-01510F09761A}"/>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238</a:t>
            </a:r>
          </a:p>
        </p:txBody>
      </p:sp>
      <p:pic>
        <p:nvPicPr>
          <p:cNvPr id="9"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E44DF7DE-9172-3E4E-B74A-7A51585FB6EA}"/>
                  </a:ext>
                </a:extLst>
              </p:cNvPr>
              <p:cNvSpPr txBox="1"/>
              <p:nvPr/>
            </p:nvSpPr>
            <p:spPr>
              <a:xfrm>
                <a:off x="731520" y="1271418"/>
                <a:ext cx="10913084" cy="101566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Vera and Conor are working on their homework together to find the perimeter of the rectangle, shown on the coordinate plane. The width of the rectangle is the segment between point </a:t>
                </a:r>
                <a14:m>
                  <m:oMath xmlns:m="http://schemas.openxmlformats.org/officeDocument/2006/math">
                    <m:r>
                      <a:rPr lang="en-US" sz="2000" i="1">
                        <a:latin typeface="Cambria Math" panose="02040503050406030204" pitchFamily="18" charset="0"/>
                      </a:rPr>
                      <m:t>𝐴</m:t>
                    </m:r>
                  </m:oMath>
                </a14:m>
                <a:r>
                  <a:rPr lang="en-US" sz="2000" dirty="0">
                    <a:latin typeface="Verdana" panose="020B0604030504040204" pitchFamily="34" charset="0"/>
                    <a:ea typeface="Verdana" panose="020B0604030504040204" pitchFamily="34" charset="0"/>
                    <a:cs typeface="Verdana" panose="020B0604030504040204" pitchFamily="34" charset="0"/>
                  </a:rPr>
                  <a:t> and point </a:t>
                </a:r>
                <a14:m>
                  <m:oMath xmlns:m="http://schemas.openxmlformats.org/officeDocument/2006/math">
                    <m:r>
                      <a:rPr lang="en-US" sz="2000" i="1">
                        <a:latin typeface="Cambria Math" panose="02040503050406030204" pitchFamily="18" charset="0"/>
                      </a:rPr>
                      <m:t>𝐵</m:t>
                    </m:r>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731520" y="1271418"/>
                <a:ext cx="10913084" cy="1015663"/>
              </a:xfrm>
              <a:prstGeom prst="rect">
                <a:avLst/>
              </a:prstGeom>
              <a:blipFill>
                <a:blip r:embed="rId5"/>
                <a:stretch>
                  <a:fillRect l="-581" t="-3750" b="-11250"/>
                </a:stretch>
              </a:blipFill>
            </p:spPr>
            <p:txBody>
              <a:bodyPr/>
              <a:lstStyle/>
              <a:p>
                <a:r>
                  <a:rPr lang="en-US">
                    <a:noFill/>
                  </a:rPr>
                  <a:t> </a:t>
                </a:r>
              </a:p>
            </p:txBody>
          </p:sp>
        </mc:Fallback>
      </mc:AlternateContent>
      <p:pic>
        <p:nvPicPr>
          <p:cNvPr id="11" name="Picture 10" descr="A picture containing chart&#10;&#10;Description automatically generated">
            <a:extLst>
              <a:ext uri="{FF2B5EF4-FFF2-40B4-BE49-F238E27FC236}">
                <a16:creationId xmlns:a16="http://schemas.microsoft.com/office/drawing/2014/main" xmlns="" id="{2447078E-C400-F040-9A3D-4EDEB8DFDF0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3587633" y="2480105"/>
            <a:ext cx="5016734" cy="3784546"/>
          </a:xfrm>
          <a:prstGeom prst="rect">
            <a:avLst/>
          </a:prstGeom>
        </p:spPr>
      </p:pic>
    </p:spTree>
    <p:extLst>
      <p:ext uri="{BB962C8B-B14F-4D97-AF65-F5344CB8AC3E}">
        <p14:creationId xmlns:p14="http://schemas.microsoft.com/office/powerpoint/2010/main" val="1674437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238</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1" y="520393"/>
            <a:ext cx="12419045" cy="707886"/>
          </a:xfrm>
          <a:prstGeom prst="rect">
            <a:avLst/>
          </a:prstGeom>
          <a:noFill/>
        </p:spPr>
        <p:txBody>
          <a:bodyPr wrap="square" rtlCol="0">
            <a:spAutoFit/>
          </a:bodyPr>
          <a:lstStyle/>
          <a:p>
            <a:pPr marL="457200"/>
            <a:r>
              <a:rPr lang="en-US" sz="2000" dirty="0">
                <a:latin typeface="Verdana" panose="020B0604030504040204" pitchFamily="34" charset="0"/>
                <a:ea typeface="Verdana" panose="020B0604030504040204" pitchFamily="34" charset="0"/>
                <a:cs typeface="Verdana" panose="020B0604030504040204" pitchFamily="34" charset="0"/>
              </a:rPr>
              <a:t>Conor counts the units between the numbers, while Vera determines the dimensions by subtracting. Each student’s work and answers are shown.</a:t>
            </a: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5CC395C1-BEB0-CC4C-AB2A-F288F41B5922}"/>
                  </a:ext>
                </a:extLst>
              </p:cNvPr>
              <p:cNvGraphicFramePr>
                <a:graphicFrameLocks noGrp="1"/>
              </p:cNvGraphicFramePr>
              <p:nvPr>
                <p:extLst>
                  <p:ext uri="{D42A27DB-BD31-4B8C-83A1-F6EECF244321}">
                    <p14:modId xmlns:p14="http://schemas.microsoft.com/office/powerpoint/2010/main" val="2083581588"/>
                  </p:ext>
                </p:extLst>
              </p:nvPr>
            </p:nvGraphicFramePr>
            <p:xfrm>
              <a:off x="2466922" y="1329339"/>
              <a:ext cx="7258155" cy="5027276"/>
            </p:xfrm>
            <a:graphic>
              <a:graphicData uri="http://schemas.openxmlformats.org/drawingml/2006/table">
                <a:tbl>
                  <a:tblPr firstRow="1" firstCol="1" bandRow="1">
                    <a:tableStyleId>{A91F0D33-8C57-4600-99A7-42BC86742BE1}</a:tableStyleId>
                  </a:tblPr>
                  <a:tblGrid>
                    <a:gridCol w="3695611">
                      <a:extLst>
                        <a:ext uri="{9D8B030D-6E8A-4147-A177-3AD203B41FA5}">
                          <a16:colId xmlns:a16="http://schemas.microsoft.com/office/drawing/2014/main" xmlns="" val="133406531"/>
                        </a:ext>
                      </a:extLst>
                    </a:gridCol>
                    <a:gridCol w="3562544">
                      <a:extLst>
                        <a:ext uri="{9D8B030D-6E8A-4147-A177-3AD203B41FA5}">
                          <a16:colId xmlns:a16="http://schemas.microsoft.com/office/drawing/2014/main" xmlns="" val="1767800748"/>
                        </a:ext>
                      </a:extLst>
                    </a:gridCol>
                  </a:tblGrid>
                  <a:tr h="253058">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Vera’s Thinking</a:t>
                          </a:r>
                        </a:p>
                      </a:txBody>
                      <a:tcPr marL="64014" marR="640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Conor’s Thinking</a:t>
                          </a:r>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xmlns="" val="1223314838"/>
                      </a:ext>
                    </a:extLst>
                  </a:tr>
                  <a:tr h="3456978">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Vera finds the dimension of the width by subtracting the </a:t>
                          </a:r>
                          <a14:m>
                            <m:oMath xmlns:m="http://schemas.openxmlformats.org/officeDocument/2006/math">
                              <m:r>
                                <a:rPr lang="en-US" sz="2000">
                                  <a:effectLst/>
                                  <a:latin typeface="Cambria Math" panose="02040503050406030204" pitchFamily="18" charset="0"/>
                                  <a:ea typeface="Cambria Math" panose="02040503050406030204" pitchFamily="18" charset="0"/>
                                </a:rPr>
                                <m:t>𝑦</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-coordinates.</a:t>
                          </a:r>
                        </a:p>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5</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 −1</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3</m:t>
                                  </m:r>
                                </m:den>
                              </m:f>
                              <m:r>
                                <a:rPr lang="en-US" sz="2000">
                                  <a:effectLst/>
                                  <a:latin typeface="Cambria Math" panose="02040503050406030204" pitchFamily="18" charset="0"/>
                                  <a:ea typeface="Cambria Math" panose="02040503050406030204" pitchFamily="18" charset="0"/>
                                </a:rPr>
                                <m:t>=</m:t>
                              </m:r>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21</m:t>
                                  </m:r>
                                </m:num>
                                <m:den>
                                  <m:r>
                                    <a:rPr lang="en-US" sz="2000">
                                      <a:effectLst/>
                                      <a:latin typeface="Cambria Math" panose="02040503050406030204" pitchFamily="18" charset="0"/>
                                      <a:ea typeface="Cambria Math" panose="02040503050406030204" pitchFamily="18" charset="0"/>
                                    </a:rPr>
                                    <m:t>4</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m:t>
                                  </m:r>
                                </m:num>
                                <m:den>
                                  <m:r>
                                    <a:rPr lang="en-US" sz="2000">
                                      <a:effectLst/>
                                      <a:latin typeface="Cambria Math" panose="02040503050406030204" pitchFamily="18" charset="0"/>
                                      <a:ea typeface="Cambria Math" panose="02040503050406030204" pitchFamily="18" charset="0"/>
                                    </a:rPr>
                                    <m:t>3</m:t>
                                  </m:r>
                                </m:den>
                              </m:f>
                              <m:r>
                                <a:rPr lang="en-US" sz="2000">
                                  <a:effectLst/>
                                  <a:latin typeface="Cambria Math" panose="02040503050406030204" pitchFamily="18" charset="0"/>
                                  <a:ea typeface="Cambria Math" panose="02040503050406030204" pitchFamily="18" charset="0"/>
                                </a:rPr>
                                <m:t>=</m:t>
                              </m:r>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ctr">
                            <a:spcBef>
                              <a:spcPts val="0"/>
                            </a:spcBef>
                            <a:spcAft>
                              <a:spcPts val="0"/>
                            </a:spcAft>
                          </a:pPr>
                          <a14:m>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63</m:t>
                                  </m:r>
                                </m:num>
                                <m:den>
                                  <m:r>
                                    <a:rPr lang="en-US" sz="2000">
                                      <a:effectLst/>
                                      <a:latin typeface="Cambria Math" panose="02040503050406030204" pitchFamily="18" charset="0"/>
                                      <a:ea typeface="Cambria Math" panose="02040503050406030204" pitchFamily="18" charset="0"/>
                                    </a:rPr>
                                    <m:t>12</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16</m:t>
                                  </m:r>
                                </m:num>
                                <m:den>
                                  <m:r>
                                    <a:rPr lang="en-US" sz="2000">
                                      <a:effectLst/>
                                      <a:latin typeface="Cambria Math" panose="02040503050406030204" pitchFamily="18" charset="0"/>
                                      <a:ea typeface="Cambria Math" panose="02040503050406030204" pitchFamily="18" charset="0"/>
                                    </a:rPr>
                                    <m:t>12</m:t>
                                  </m:r>
                                </m:den>
                              </m:f>
                              <m:r>
                                <a:rPr lang="en-US" sz="2000">
                                  <a:effectLst/>
                                  <a:latin typeface="Cambria Math" panose="02040503050406030204" pitchFamily="18" charset="0"/>
                                  <a:ea typeface="Cambria Math" panose="02040503050406030204" pitchFamily="18" charset="0"/>
                                </a:rPr>
                                <m:t>=</m:t>
                              </m:r>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 </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47</m:t>
                                  </m:r>
                                </m:num>
                                <m:den>
                                  <m:r>
                                    <a:rPr lang="en-US" sz="2000">
                                      <a:effectLst/>
                                      <a:latin typeface="Cambria Math" panose="02040503050406030204" pitchFamily="18" charset="0"/>
                                      <a:ea typeface="Cambria Math" panose="02040503050406030204" pitchFamily="18" charset="0"/>
                                    </a:rPr>
                                    <m:t>12</m:t>
                                  </m:r>
                                </m:den>
                              </m:f>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4014" marR="640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Conor notices there is </a:t>
                          </a:r>
                          <a14:m>
                            <m:oMath xmlns:m="http://schemas.openxmlformats.org/officeDocument/2006/math">
                              <m:r>
                                <a:rPr lang="en-US" sz="2000">
                                  <a:effectLst/>
                                  <a:latin typeface="Cambria Math" panose="02040503050406030204" pitchFamily="18" charset="0"/>
                                </a:rPr>
                                <m:t>1</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full unit between point </a:t>
                          </a:r>
                          <a14:m>
                            <m:oMath xmlns:m="http://schemas.openxmlformats.org/officeDocument/2006/math">
                              <m:r>
                                <a:rPr lang="en-US" sz="2000">
                                  <a:effectLst/>
                                  <a:latin typeface="Cambria Math" panose="02040503050406030204" pitchFamily="18" charset="0"/>
                                  <a:ea typeface="Cambria Math" panose="02040503050406030204" pitchFamily="18" charset="0"/>
                                </a:rPr>
                                <m:t>𝐴</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point </a:t>
                          </a:r>
                          <a14:m>
                            <m:oMath xmlns:m="http://schemas.openxmlformats.org/officeDocument/2006/math">
                              <m:r>
                                <a:rPr lang="en-US" sz="2000">
                                  <a:effectLst/>
                                  <a:latin typeface="Cambria Math" panose="02040503050406030204" pitchFamily="18" charset="0"/>
                                  <a:ea typeface="Cambria Math" panose="02040503050406030204" pitchFamily="18" charset="0"/>
                                </a:rPr>
                                <m:t>𝐵</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 two pieces that look like they would combine to make another whole unit.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861101232"/>
                      </a:ext>
                    </a:extLst>
                  </a:tr>
                  <a:tr h="863454">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Vera says the width of the rectangle is </a:t>
                          </a:r>
                          <a14:m>
                            <m:oMath xmlns:m="http://schemas.openxmlformats.org/officeDocument/2006/math">
                              <m:r>
                                <a:rPr lang="en-US" sz="2000">
                                  <a:effectLst/>
                                  <a:latin typeface="Cambria Math" panose="02040503050406030204" pitchFamily="18" charset="0"/>
                                  <a:ea typeface="Cambria Math" panose="02040503050406030204" pitchFamily="18" charset="0"/>
                                </a:rPr>
                                <m:t>3</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11</m:t>
                                  </m:r>
                                </m:num>
                                <m:den>
                                  <m:r>
                                    <a:rPr lang="en-US" sz="2000">
                                      <a:effectLst/>
                                      <a:latin typeface="Cambria Math" panose="02040503050406030204" pitchFamily="18" charset="0"/>
                                      <a:ea typeface="Cambria Math" panose="02040503050406030204" pitchFamily="18" charset="0"/>
                                    </a:rPr>
                                    <m:t>12</m:t>
                                  </m:r>
                                </m:den>
                              </m:f>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r>
                            <a:rPr lang="en-US" sz="2000" dirty="0">
                              <a:effectLst/>
                              <a:latin typeface="Verdana" panose="020B0604030504040204" pitchFamily="34" charset="0"/>
                              <a:ea typeface="Verdana" panose="020B0604030504040204" pitchFamily="34" charset="0"/>
                              <a:cs typeface="Verdana" panose="020B0604030504040204" pitchFamily="34" charset="0"/>
                            </a:rPr>
                            <a:t>units.</a:t>
                          </a:r>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Conor says the width of the rectangle is </a:t>
                          </a:r>
                          <a14:m>
                            <m:oMath xmlns:m="http://schemas.openxmlformats.org/officeDocument/2006/math">
                              <m:r>
                                <a:rPr lang="en-US" sz="2000">
                                  <a:effectLst/>
                                  <a:latin typeface="Cambria Math" panose="02040503050406030204" pitchFamily="18" charset="0"/>
                                  <a:ea typeface="Cambria Math" panose="02040503050406030204" pitchFamily="18" charset="0"/>
                                </a:rPr>
                                <m:t>2</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units.</a:t>
                          </a:r>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4167266934"/>
                      </a:ext>
                    </a:extLst>
                  </a:tr>
                </a:tbl>
              </a:graphicData>
            </a:graphic>
          </p:graphicFrame>
        </mc:Choice>
        <mc:Fallback xmlns="">
          <p:graphicFrame>
            <p:nvGraphicFramePr>
              <p:cNvPr id="2" name="Table 1">
                <a:extLst>
                  <a:ext uri="{FF2B5EF4-FFF2-40B4-BE49-F238E27FC236}">
                    <a16:creationId xmlns:a16="http://schemas.microsoft.com/office/drawing/2014/main" id="{5CC395C1-BEB0-CC4C-AB2A-F288F41B5922}"/>
                  </a:ext>
                </a:extLst>
              </p:cNvPr>
              <p:cNvGraphicFramePr>
                <a:graphicFrameLocks noGrp="1"/>
              </p:cNvGraphicFramePr>
              <p:nvPr>
                <p:extLst>
                  <p:ext uri="{D42A27DB-BD31-4B8C-83A1-F6EECF244321}">
                    <p14:modId xmlns:p14="http://schemas.microsoft.com/office/powerpoint/2010/main" val="2083581588"/>
                  </p:ext>
                </p:extLst>
              </p:nvPr>
            </p:nvGraphicFramePr>
            <p:xfrm>
              <a:off x="2466922" y="1329339"/>
              <a:ext cx="7258155" cy="5027276"/>
            </p:xfrm>
            <a:graphic>
              <a:graphicData uri="http://schemas.openxmlformats.org/drawingml/2006/table">
                <a:tbl>
                  <a:tblPr firstRow="1" firstCol="1" bandRow="1">
                    <a:tableStyleId>{A91F0D33-8C57-4600-99A7-42BC86742BE1}</a:tableStyleId>
                  </a:tblPr>
                  <a:tblGrid>
                    <a:gridCol w="3695611">
                      <a:extLst>
                        <a:ext uri="{9D8B030D-6E8A-4147-A177-3AD203B41FA5}">
                          <a16:colId xmlns:a16="http://schemas.microsoft.com/office/drawing/2014/main" val="133406531"/>
                        </a:ext>
                      </a:extLst>
                    </a:gridCol>
                    <a:gridCol w="3562544">
                      <a:extLst>
                        <a:ext uri="{9D8B030D-6E8A-4147-A177-3AD203B41FA5}">
                          <a16:colId xmlns:a16="http://schemas.microsoft.com/office/drawing/2014/main" val="1767800748"/>
                        </a:ext>
                      </a:extLst>
                    </a:gridCol>
                  </a:tblGrid>
                  <a:tr h="3048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Vera’s Thinking</a:t>
                          </a:r>
                        </a:p>
                      </a:txBody>
                      <a:tcPr marL="64014" marR="640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Conor’s Thinking</a:t>
                          </a:r>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75000"/>
                          </a:schemeClr>
                        </a:solidFill>
                      </a:tcPr>
                    </a:tc>
                    <a:extLst>
                      <a:ext uri="{0D108BD9-81ED-4DB2-BD59-A6C34878D82A}">
                        <a16:rowId xmlns:a16="http://schemas.microsoft.com/office/drawing/2014/main" val="1223314838"/>
                      </a:ext>
                    </a:extLst>
                  </a:tr>
                  <a:tr h="3859022">
                    <a:tc>
                      <a:txBody>
                        <a:bodyPr/>
                        <a:lstStyle/>
                        <a:p>
                          <a:endParaRPr lang="en-US"/>
                        </a:p>
                      </a:txBody>
                      <a:tcPr marL="64014" marR="64014"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44" t="-9836" r="-97251" b="-22623"/>
                          </a:stretch>
                        </a:blipFill>
                      </a:tcPr>
                    </a:tc>
                    <a:tc>
                      <a:txBody>
                        <a:bodyPr/>
                        <a:lstStyle/>
                        <a:p>
                          <a:endParaRPr lang="en-US"/>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3915" t="-9836" r="-712" b="-22623"/>
                          </a:stretch>
                        </a:blipFill>
                      </a:tcPr>
                    </a:tc>
                    <a:extLst>
                      <a:ext uri="{0D108BD9-81ED-4DB2-BD59-A6C34878D82A}">
                        <a16:rowId xmlns:a16="http://schemas.microsoft.com/office/drawing/2014/main" val="1861101232"/>
                      </a:ext>
                    </a:extLst>
                  </a:tr>
                  <a:tr h="863454">
                    <a:tc>
                      <a:txBody>
                        <a:bodyPr/>
                        <a:lstStyle/>
                        <a:p>
                          <a:endParaRPr lang="en-US"/>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344" t="-492647" r="-97251" b="-1471"/>
                          </a:stretch>
                        </a:blipFill>
                      </a:tcPr>
                    </a:tc>
                    <a:tc>
                      <a:txBody>
                        <a:bodyPr/>
                        <a:lstStyle/>
                        <a:p>
                          <a:endParaRPr lang="en-US"/>
                        </a:p>
                      </a:txBody>
                      <a:tcPr marL="64014" marR="64014"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blipFill>
                          <a:blip r:embed="rId4"/>
                          <a:stretch>
                            <a:fillRect l="-103915" t="-492647" r="-712" b="-1471"/>
                          </a:stretch>
                        </a:blipFill>
                      </a:tcPr>
                    </a:tc>
                    <a:extLst>
                      <a:ext uri="{0D108BD9-81ED-4DB2-BD59-A6C34878D82A}">
                        <a16:rowId xmlns:a16="http://schemas.microsoft.com/office/drawing/2014/main" val="4167266934"/>
                      </a:ext>
                    </a:extLst>
                  </a:tr>
                </a:tbl>
              </a:graphicData>
            </a:graphic>
          </p:graphicFrame>
        </mc:Fallback>
      </mc:AlternateContent>
    </p:spTree>
    <p:extLst>
      <p:ext uri="{BB962C8B-B14F-4D97-AF65-F5344CB8AC3E}">
        <p14:creationId xmlns:p14="http://schemas.microsoft.com/office/powerpoint/2010/main" val="1841022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238</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0" y="557716"/>
            <a:ext cx="12316408" cy="1015663"/>
          </a:xfrm>
          <a:prstGeom prst="rect">
            <a:avLst/>
          </a:prstGeom>
          <a:noFill/>
        </p:spPr>
        <p:txBody>
          <a:bodyPr wrap="square" rtlCol="0">
            <a:spAutoFit/>
          </a:bodyPr>
          <a:lstStyle/>
          <a:p>
            <a:pPr marL="457200"/>
            <a:r>
              <a:rPr lang="en-US" sz="2000" dirty="0">
                <a:latin typeface="Verdana" panose="020B0604030504040204" pitchFamily="34" charset="0"/>
                <a:ea typeface="Verdana" panose="020B0604030504040204" pitchFamily="34" charset="0"/>
                <a:cs typeface="Verdana" panose="020B0604030504040204" pitchFamily="34" charset="0"/>
              </a:rPr>
              <a:t>Discuss each student’s work with your partner. Explain any errors that either student made.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770240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239</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xmlns="" id="{2FA392D8-3ED3-7940-83A8-1451AA8A08D4}"/>
                  </a:ext>
                </a:extLst>
              </p:cNvPr>
              <p:cNvSpPr txBox="1"/>
              <p:nvPr/>
            </p:nvSpPr>
            <p:spPr>
              <a:xfrm>
                <a:off x="304613" y="529724"/>
                <a:ext cx="10901451" cy="923330"/>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length of the rectangle is the segment between point </a:t>
                </a:r>
                <a14:m>
                  <m:oMath xmlns:m="http://schemas.openxmlformats.org/officeDocument/2006/math">
                    <m:r>
                      <a:rPr lang="en-US" sz="2000" i="1">
                        <a:latin typeface="Cambria Math" panose="02040503050406030204" pitchFamily="18" charset="0"/>
                        <a:ea typeface="Cambria Math" panose="02040503050406030204" pitchFamily="18" charset="0"/>
                      </a:rPr>
                      <m:t>𝐴</m:t>
                    </m:r>
                  </m:oMath>
                </a14:m>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and point </a:t>
                </a:r>
                <a14:m>
                  <m:oMath xmlns:m="http://schemas.openxmlformats.org/officeDocument/2006/math">
                    <m:r>
                      <a:rPr lang="en-US" sz="2000" i="1">
                        <a:latin typeface="Cambria Math" panose="02040503050406030204" pitchFamily="18" charset="0"/>
                        <a:ea typeface="Cambria Math" panose="02040503050406030204" pitchFamily="18" charset="0"/>
                      </a:rPr>
                      <m:t>𝐷</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r>
                  <a:rPr lang="en-US" dirty="0"/>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304613" y="529724"/>
                <a:ext cx="10901451" cy="923330"/>
              </a:xfrm>
              <a:prstGeom prst="rect">
                <a:avLst/>
              </a:prstGeom>
              <a:blipFill>
                <a:blip r:embed="rId4"/>
                <a:stretch>
                  <a:fillRect l="-698" t="-54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xmlns="" id="{5FBACCB2-B800-5B43-8417-C4E1F5B757C3}"/>
                  </a:ext>
                </a:extLst>
              </p:cNvPr>
              <p:cNvGraphicFramePr>
                <a:graphicFrameLocks noGrp="1"/>
              </p:cNvGraphicFramePr>
              <p:nvPr>
                <p:extLst>
                  <p:ext uri="{D42A27DB-BD31-4B8C-83A1-F6EECF244321}">
                    <p14:modId xmlns:p14="http://schemas.microsoft.com/office/powerpoint/2010/main" val="3870520403"/>
                  </p:ext>
                </p:extLst>
              </p:nvPr>
            </p:nvGraphicFramePr>
            <p:xfrm>
              <a:off x="2600695" y="1167890"/>
              <a:ext cx="6990609" cy="5160386"/>
            </p:xfrm>
            <a:graphic>
              <a:graphicData uri="http://schemas.openxmlformats.org/drawingml/2006/table">
                <a:tbl>
                  <a:tblPr firstRow="1" firstCol="1" bandRow="1">
                    <a:tableStyleId>{A91F0D33-8C57-4600-99A7-42BC86742BE1}</a:tableStyleId>
                  </a:tblPr>
                  <a:tblGrid>
                    <a:gridCol w="3520842">
                      <a:extLst>
                        <a:ext uri="{9D8B030D-6E8A-4147-A177-3AD203B41FA5}">
                          <a16:colId xmlns:a16="http://schemas.microsoft.com/office/drawing/2014/main" xmlns="" val="1680838403"/>
                        </a:ext>
                      </a:extLst>
                    </a:gridCol>
                    <a:gridCol w="3469767">
                      <a:extLst>
                        <a:ext uri="{9D8B030D-6E8A-4147-A177-3AD203B41FA5}">
                          <a16:colId xmlns:a16="http://schemas.microsoft.com/office/drawing/2014/main" xmlns="" val="4023716919"/>
                        </a:ext>
                      </a:extLst>
                    </a:gridCol>
                  </a:tblGrid>
                  <a:tr h="3808915">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Vera finds the dimensions of the length by subtracting the </a:t>
                          </a:r>
                          <a14:m>
                            <m:oMath xmlns:m="http://schemas.openxmlformats.org/officeDocument/2006/math">
                              <m:r>
                                <a:rPr lang="en-US" sz="2000">
                                  <a:effectLst/>
                                  <a:latin typeface="Cambria Math" panose="02040503050406030204" pitchFamily="18" charset="0"/>
                                </a:rPr>
                                <m:t>𝑥</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-coordinates.</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lgn="ctr">
                            <a:spcBef>
                              <a:spcPts val="0"/>
                            </a:spcBef>
                            <a:spcAft>
                              <a:spcPts val="0"/>
                            </a:spcAft>
                          </a:pPr>
                          <a14:m>
                            <m:oMath xmlns:m="http://schemas.openxmlformats.org/officeDocument/2006/math">
                              <m:r>
                                <a:rPr lang="en-US" sz="2000">
                                  <a:effectLst/>
                                  <a:latin typeface="Cambria Math" panose="02040503050406030204" pitchFamily="18" charset="0"/>
                                  <a:ea typeface="Cambria Math" panose="02040503050406030204" pitchFamily="18" charset="0"/>
                                </a:rPr>
                                <m:t>9</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9</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3</m:t>
                                  </m:r>
                                </m:den>
                              </m:f>
                              <m:r>
                                <a:rPr lang="en-US" sz="2000">
                                  <a:effectLst/>
                                  <a:latin typeface="Cambria Math" panose="02040503050406030204" pitchFamily="18" charset="0"/>
                                  <a:ea typeface="Cambria Math" panose="02040503050406030204" pitchFamily="18" charset="0"/>
                                </a:rPr>
                                <m:t>=</m:t>
                              </m:r>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ctr">
                            <a:spcBef>
                              <a:spcPts val="0"/>
                            </a:spcBef>
                            <a:spcAft>
                              <a:spcPts val="0"/>
                            </a:spcAft>
                          </a:pPr>
                          <a14:m>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83</m:t>
                                  </m:r>
                                </m:num>
                                <m:den>
                                  <m:r>
                                    <a:rPr lang="en-US" sz="2000">
                                      <a:effectLst/>
                                      <a:latin typeface="Cambria Math" panose="02040503050406030204" pitchFamily="18" charset="0"/>
                                      <a:ea typeface="Cambria Math" panose="02040503050406030204" pitchFamily="18" charset="0"/>
                                    </a:rPr>
                                    <m:t>9</m:t>
                                  </m:r>
                                </m:den>
                              </m:f>
                              <m:r>
                                <a:rPr lang="en-US" sz="2000">
                                  <a:effectLst/>
                                  <a:latin typeface="Cambria Math" panose="02040503050406030204" pitchFamily="18" charset="0"/>
                                  <a:ea typeface="Cambria Math" panose="02040503050406030204" pitchFamily="18" charset="0"/>
                                </a:rPr>
                                <m:t> − </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3</m:t>
                                  </m:r>
                                </m:num>
                                <m:den>
                                  <m:r>
                                    <a:rPr lang="en-US" sz="2000">
                                      <a:effectLst/>
                                      <a:latin typeface="Cambria Math" panose="02040503050406030204" pitchFamily="18" charset="0"/>
                                      <a:ea typeface="Cambria Math" panose="02040503050406030204" pitchFamily="18" charset="0"/>
                                    </a:rPr>
                                    <m:t>9</m:t>
                                  </m:r>
                                </m:den>
                              </m:f>
                              <m:r>
                                <a:rPr lang="en-US" sz="2000">
                                  <a:effectLst/>
                                  <a:latin typeface="Cambria Math" panose="02040503050406030204" pitchFamily="18" charset="0"/>
                                  <a:ea typeface="Cambria Math" panose="02040503050406030204" pitchFamily="18" charset="0"/>
                                </a:rPr>
                                <m:t>=</m:t>
                              </m:r>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ctr">
                            <a:spcBef>
                              <a:spcPts val="0"/>
                            </a:spcBef>
                            <a:spcAft>
                              <a:spcPts val="0"/>
                            </a:spcAft>
                          </a:pP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lgn="ctr">
                            <a:spcBef>
                              <a:spcPts val="0"/>
                            </a:spcBef>
                            <a:spcAft>
                              <a:spcPts val="0"/>
                            </a:spcAft>
                          </a:pPr>
                          <a14:m>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80</m:t>
                                  </m:r>
                                </m:num>
                                <m:den>
                                  <m:r>
                                    <a:rPr lang="en-US" sz="2000">
                                      <a:effectLst/>
                                      <a:latin typeface="Cambria Math" panose="02040503050406030204" pitchFamily="18" charset="0"/>
                                      <a:ea typeface="Cambria Math" panose="02040503050406030204" pitchFamily="18" charset="0"/>
                                    </a:rPr>
                                    <m:t>9</m:t>
                                  </m:r>
                                </m:den>
                              </m:f>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Conor counts the units between the numbers again. He counts </a:t>
                          </a:r>
                          <a14:m>
                            <m:oMath xmlns:m="http://schemas.openxmlformats.org/officeDocument/2006/math">
                              <m:r>
                                <a:rPr lang="en-US" sz="2000">
                                  <a:effectLst/>
                                  <a:latin typeface="Cambria Math" panose="02040503050406030204" pitchFamily="18" charset="0"/>
                                  <a:ea typeface="Cambria Math" panose="02040503050406030204" pitchFamily="18" charset="0"/>
                                </a:rPr>
                                <m:t>4</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units between </a:t>
                          </a:r>
                          <a14:m>
                            <m:oMath xmlns:m="http://schemas.openxmlformats.org/officeDocument/2006/math">
                              <m:r>
                                <a:rPr lang="en-US" sz="2000">
                                  <a:effectLst/>
                                  <a:latin typeface="Cambria Math" panose="02040503050406030204" pitchFamily="18" charset="0"/>
                                  <a:ea typeface="Cambria Math" panose="02040503050406030204" pitchFamily="18" charset="0"/>
                                </a:rPr>
                                <m:t>𝐴</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and</a:t>
                          </a: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a:effectLst/>
                                  <a:latin typeface="Cambria Math" panose="02040503050406030204" pitchFamily="18" charset="0"/>
                                  <a:ea typeface="Cambria Math" panose="02040503050406030204" pitchFamily="18" charset="0"/>
                                </a:rPr>
                                <m:t>𝐷</m:t>
                              </m:r>
                              <m:r>
                                <a:rPr lang="en-US" sz="2000">
                                  <a:effectLst/>
                                  <a:latin typeface="Cambria Math" panose="02040503050406030204" pitchFamily="18" charset="0"/>
                                </a:rPr>
                                <m:t>,</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but then realizes each space on the grid represents </a:t>
                          </a:r>
                          <a14:m>
                            <m:oMath xmlns:m="http://schemas.openxmlformats.org/officeDocument/2006/math">
                              <m:r>
                                <a:rPr lang="en-US" sz="2000">
                                  <a:effectLst/>
                                  <a:latin typeface="Cambria Math" panose="02040503050406030204" pitchFamily="18" charset="0"/>
                                  <a:ea typeface="Cambria Math" panose="02040503050406030204" pitchFamily="18" charset="0"/>
                                </a:rPr>
                                <m:t>2</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units, so he doubles this to </a:t>
                          </a:r>
                          <a14:m>
                            <m:oMath xmlns:m="http://schemas.openxmlformats.org/officeDocument/2006/math">
                              <m:r>
                                <a:rPr lang="en-US" sz="2000">
                                  <a:effectLst/>
                                  <a:latin typeface="Cambria Math" panose="02040503050406030204" pitchFamily="18" charset="0"/>
                                  <a:ea typeface="Cambria Math" panose="02040503050406030204" pitchFamily="18" charset="0"/>
                                </a:rPr>
                                <m:t>8</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He then determines</a:t>
                          </a:r>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2</m:t>
                                  </m:r>
                                </m:num>
                                <m:den>
                                  <m:r>
                                    <a:rPr lang="en-US" sz="2000">
                                      <a:effectLst/>
                                      <a:latin typeface="Cambria Math" panose="02040503050406030204" pitchFamily="18" charset="0"/>
                                      <a:ea typeface="Cambria Math" panose="02040503050406030204" pitchFamily="18" charset="0"/>
                                    </a:rPr>
                                    <m:t>9</m:t>
                                  </m:r>
                                </m:den>
                              </m:f>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r>
                            <a:rPr lang="en-US" sz="2000" dirty="0">
                              <a:effectLst/>
                              <a:latin typeface="Verdana" panose="020B0604030504040204" pitchFamily="34" charset="0"/>
                              <a:ea typeface="Verdana" panose="020B0604030504040204" pitchFamily="34" charset="0"/>
                              <a:cs typeface="Verdana" panose="020B0604030504040204" pitchFamily="34" charset="0"/>
                            </a:rPr>
                            <a:t>of a unit plus </a:t>
                          </a:r>
                          <a14:m>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1</m:t>
                                  </m:r>
                                </m:num>
                                <m:den>
                                  <m:r>
                                    <a:rPr lang="en-US" sz="2000">
                                      <a:effectLst/>
                                      <a:latin typeface="Cambria Math" panose="02040503050406030204" pitchFamily="18" charset="0"/>
                                      <a:ea typeface="Cambria Math" panose="02040503050406030204" pitchFamily="18" charset="0"/>
                                    </a:rPr>
                                    <m:t>3</m:t>
                                  </m:r>
                                </m:den>
                              </m:f>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r>
                            <a:rPr lang="en-US" sz="2000" dirty="0">
                              <a:effectLst/>
                              <a:latin typeface="Verdana" panose="020B0604030504040204" pitchFamily="34" charset="0"/>
                              <a:ea typeface="Verdana" panose="020B0604030504040204" pitchFamily="34" charset="0"/>
                              <a:cs typeface="Verdana" panose="020B0604030504040204" pitchFamily="34" charset="0"/>
                            </a:rPr>
                            <a:t>of another unit equals </a:t>
                          </a:r>
                          <a14:m>
                            <m:oMath xmlns:m="http://schemas.openxmlformats.org/officeDocument/2006/math">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5</m:t>
                                  </m:r>
                                </m:num>
                                <m:den>
                                  <m:r>
                                    <a:rPr lang="en-US" sz="2000">
                                      <a:effectLst/>
                                      <a:latin typeface="Cambria Math" panose="02040503050406030204" pitchFamily="18" charset="0"/>
                                      <a:ea typeface="Cambria Math" panose="02040503050406030204" pitchFamily="18" charset="0"/>
                                    </a:rPr>
                                    <m:t>9</m:t>
                                  </m:r>
                                </m:den>
                              </m:f>
                            </m:oMath>
                          </a14:m>
                          <a:r>
                            <a:rPr lang="en-US" sz="2000" dirty="0">
                              <a:effectLst/>
                              <a:latin typeface="Verdana" panose="020B0604030504040204" pitchFamily="34" charset="0"/>
                              <a:ea typeface="Verdana" panose="020B0604030504040204" pitchFamily="34" charset="0"/>
                              <a:cs typeface="Verdana" panose="020B0604030504040204" pitchFamily="34" charset="0"/>
                            </a:rPr>
                            <a:t>. He adds this to the </a:t>
                          </a:r>
                          <a14:m>
                            <m:oMath xmlns:m="http://schemas.openxmlformats.org/officeDocument/2006/math">
                              <m:r>
                                <a:rPr lang="en-US" sz="2000">
                                  <a:effectLst/>
                                  <a:latin typeface="Cambria Math" panose="02040503050406030204" pitchFamily="18" charset="0"/>
                                  <a:ea typeface="Cambria Math" panose="02040503050406030204" pitchFamily="18" charset="0"/>
                                </a:rPr>
                                <m:t>8</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a:t>
                          </a:r>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130303020"/>
                      </a:ext>
                    </a:extLst>
                  </a:tr>
                  <a:tr h="1272609">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Vera finds the length of the rectangle to be </a:t>
                          </a:r>
                          <a14:m>
                            <m:oMath xmlns:m="http://schemas.openxmlformats.org/officeDocument/2006/math">
                              <m:r>
                                <a:rPr lang="en-US" sz="2000">
                                  <a:effectLst/>
                                  <a:latin typeface="Cambria Math" panose="02040503050406030204" pitchFamily="18" charset="0"/>
                                  <a:ea typeface="Cambria Math" panose="02040503050406030204" pitchFamily="18" charset="0"/>
                                </a:rPr>
                                <m:t>8</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8</m:t>
                                  </m:r>
                                </m:num>
                                <m:den>
                                  <m:r>
                                    <a:rPr lang="en-US" sz="2000">
                                      <a:effectLst/>
                                      <a:latin typeface="Cambria Math" panose="02040503050406030204" pitchFamily="18" charset="0"/>
                                      <a:ea typeface="Cambria Math" panose="02040503050406030204" pitchFamily="18" charset="0"/>
                                    </a:rPr>
                                    <m:t>9</m:t>
                                  </m:r>
                                </m:den>
                              </m:f>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r>
                            <a:rPr lang="en-US" sz="2000" dirty="0">
                              <a:effectLst/>
                              <a:latin typeface="Verdana" panose="020B0604030504040204" pitchFamily="34" charset="0"/>
                              <a:ea typeface="Verdana" panose="020B0604030504040204" pitchFamily="34" charset="0"/>
                              <a:cs typeface="Verdana" panose="020B0604030504040204" pitchFamily="34" charset="0"/>
                            </a:rPr>
                            <a:t>units.</a:t>
                          </a:r>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p>
                        <a:p>
                          <a:pPr marL="0" marR="0">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Conor finds the length of the rectangle to be </a:t>
                          </a:r>
                          <a14:m>
                            <m:oMath xmlns:m="http://schemas.openxmlformats.org/officeDocument/2006/math">
                              <m:r>
                                <a:rPr lang="en-US" sz="2000">
                                  <a:effectLst/>
                                  <a:latin typeface="Cambria Math" panose="02040503050406030204" pitchFamily="18" charset="0"/>
                                  <a:ea typeface="Cambria Math" panose="02040503050406030204" pitchFamily="18" charset="0"/>
                                </a:rPr>
                                <m:t>8</m:t>
                              </m:r>
                              <m:f>
                                <m:fPr>
                                  <m:ctrlPr>
                                    <a:rPr lang="en-US" sz="2000" i="1">
                                      <a:effectLst/>
                                      <a:latin typeface="Cambria Math"/>
                                      <a:ea typeface="Cambria Math" panose="02040503050406030204" pitchFamily="18" charset="0"/>
                                    </a:rPr>
                                  </m:ctrlPr>
                                </m:fPr>
                                <m:num>
                                  <m:r>
                                    <a:rPr lang="en-US" sz="2000">
                                      <a:effectLst/>
                                      <a:latin typeface="Cambria Math" panose="02040503050406030204" pitchFamily="18" charset="0"/>
                                      <a:ea typeface="Cambria Math" panose="02040503050406030204" pitchFamily="18" charset="0"/>
                                    </a:rPr>
                                    <m:t>5</m:t>
                                  </m:r>
                                </m:num>
                                <m:den>
                                  <m:r>
                                    <a:rPr lang="en-US" sz="2000">
                                      <a:effectLst/>
                                      <a:latin typeface="Cambria Math" panose="02040503050406030204" pitchFamily="18" charset="0"/>
                                      <a:ea typeface="Cambria Math" panose="02040503050406030204" pitchFamily="18" charset="0"/>
                                    </a:rPr>
                                    <m:t>9</m:t>
                                  </m:r>
                                </m:den>
                              </m:f>
                            </m:oMath>
                          </a14:m>
                          <a:r>
                            <a:rPr lang="en-US" sz="2000" dirty="0">
                              <a:effectLst/>
                              <a:latin typeface="Cambria Math" panose="02040503050406030204" pitchFamily="18" charset="0"/>
                              <a:ea typeface="Cambria Math" panose="02040503050406030204" pitchFamily="18" charset="0"/>
                              <a:cs typeface="Verdana" panose="020B0604030504040204" pitchFamily="34" charset="0"/>
                            </a:rPr>
                            <a:t> </a:t>
                          </a:r>
                          <a:r>
                            <a:rPr lang="en-US" sz="2000" dirty="0">
                              <a:effectLst/>
                              <a:latin typeface="Verdana" panose="020B0604030504040204" pitchFamily="34" charset="0"/>
                              <a:ea typeface="Verdana" panose="020B0604030504040204" pitchFamily="34" charset="0"/>
                              <a:cs typeface="Verdana" panose="020B0604030504040204" pitchFamily="34" charset="0"/>
                            </a:rPr>
                            <a:t>units.</a:t>
                          </a:r>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544030188"/>
                      </a:ext>
                    </a:extLst>
                  </a:tr>
                </a:tbl>
              </a:graphicData>
            </a:graphic>
          </p:graphicFrame>
        </mc:Choice>
        <mc:Fallback xmlns="">
          <p:graphicFrame>
            <p:nvGraphicFramePr>
              <p:cNvPr id="2" name="Table 1">
                <a:extLst>
                  <a:ext uri="{FF2B5EF4-FFF2-40B4-BE49-F238E27FC236}">
                    <a16:creationId xmlns:a16="http://schemas.microsoft.com/office/drawing/2014/main" id="{5FBACCB2-B800-5B43-8417-C4E1F5B757C3}"/>
                  </a:ext>
                </a:extLst>
              </p:cNvPr>
              <p:cNvGraphicFramePr>
                <a:graphicFrameLocks noGrp="1"/>
              </p:cNvGraphicFramePr>
              <p:nvPr>
                <p:extLst>
                  <p:ext uri="{D42A27DB-BD31-4B8C-83A1-F6EECF244321}">
                    <p14:modId xmlns:p14="http://schemas.microsoft.com/office/powerpoint/2010/main" val="3870520403"/>
                  </p:ext>
                </p:extLst>
              </p:nvPr>
            </p:nvGraphicFramePr>
            <p:xfrm>
              <a:off x="2600695" y="1167890"/>
              <a:ext cx="6990609" cy="5160386"/>
            </p:xfrm>
            <a:graphic>
              <a:graphicData uri="http://schemas.openxmlformats.org/drawingml/2006/table">
                <a:tbl>
                  <a:tblPr firstRow="1" firstCol="1" bandRow="1">
                    <a:tableStyleId>{A91F0D33-8C57-4600-99A7-42BC86742BE1}</a:tableStyleId>
                  </a:tblPr>
                  <a:tblGrid>
                    <a:gridCol w="3520842">
                      <a:extLst>
                        <a:ext uri="{9D8B030D-6E8A-4147-A177-3AD203B41FA5}">
                          <a16:colId xmlns:a16="http://schemas.microsoft.com/office/drawing/2014/main" val="1680838403"/>
                        </a:ext>
                      </a:extLst>
                    </a:gridCol>
                    <a:gridCol w="3469767">
                      <a:extLst>
                        <a:ext uri="{9D8B030D-6E8A-4147-A177-3AD203B41FA5}">
                          <a16:colId xmlns:a16="http://schemas.microsoft.com/office/drawing/2014/main" val="4023716919"/>
                        </a:ext>
                      </a:extLst>
                    </a:gridCol>
                  </a:tblGrid>
                  <a:tr h="3808915">
                    <a:tc>
                      <a:txBody>
                        <a:bodyPr/>
                        <a:lstStyle/>
                        <a:p>
                          <a:endParaRPr lang="en-US"/>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993" r="-98921" b="-39535"/>
                          </a:stretch>
                        </a:blipFill>
                      </a:tcPr>
                    </a:tc>
                    <a:tc>
                      <a:txBody>
                        <a:bodyPr/>
                        <a:lstStyle/>
                        <a:p>
                          <a:endParaRPr lang="en-US"/>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460" t="-1993" r="-365" b="-39535"/>
                          </a:stretch>
                        </a:blipFill>
                      </a:tcPr>
                    </a:tc>
                    <a:extLst>
                      <a:ext uri="{0D108BD9-81ED-4DB2-BD59-A6C34878D82A}">
                        <a16:rowId xmlns:a16="http://schemas.microsoft.com/office/drawing/2014/main" val="3130303020"/>
                      </a:ext>
                    </a:extLst>
                  </a:tr>
                  <a:tr h="1351471">
                    <a:tc>
                      <a:txBody>
                        <a:bodyPr/>
                        <a:lstStyle/>
                        <a:p>
                          <a:endParaRPr lang="en-US"/>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286916" r="-98921" b="-11215"/>
                          </a:stretch>
                        </a:blipFill>
                      </a:tcPr>
                    </a:tc>
                    <a:tc>
                      <a:txBody>
                        <a:bodyPr/>
                        <a:lstStyle/>
                        <a:p>
                          <a:endParaRPr lang="en-US"/>
                        </a:p>
                      </a:txBody>
                      <a:tcPr marL="65125" marR="65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01460" t="-286916" r="-365" b="-11215"/>
                          </a:stretch>
                        </a:blipFill>
                      </a:tcPr>
                    </a:tc>
                    <a:extLst>
                      <a:ext uri="{0D108BD9-81ED-4DB2-BD59-A6C34878D82A}">
                        <a16:rowId xmlns:a16="http://schemas.microsoft.com/office/drawing/2014/main" val="3544030188"/>
                      </a:ext>
                    </a:extLst>
                  </a:tr>
                </a:tbl>
              </a:graphicData>
            </a:graphic>
          </p:graphicFrame>
        </mc:Fallback>
      </mc:AlternateContent>
    </p:spTree>
    <p:extLst>
      <p:ext uri="{BB962C8B-B14F-4D97-AF65-F5344CB8AC3E}">
        <p14:creationId xmlns:p14="http://schemas.microsoft.com/office/powerpoint/2010/main" val="1163306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239</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304613" y="557715"/>
            <a:ext cx="11694553" cy="3785652"/>
          </a:xfrm>
          <a:prstGeom prst="rect">
            <a:avLst/>
          </a:prstGeom>
          <a:noFill/>
        </p:spPr>
        <p:txBody>
          <a:bodyPr wrap="square" rtlCol="0">
            <a:spAutoFit/>
          </a:bodyPr>
          <a:lstStyle/>
          <a:p>
            <a:pPr marL="457200"/>
            <a:r>
              <a:rPr lang="en-US" sz="2000" dirty="0">
                <a:latin typeface="Verdana" panose="020B0604030504040204" pitchFamily="34" charset="0"/>
                <a:ea typeface="Verdana" panose="020B0604030504040204" pitchFamily="34" charset="0"/>
                <a:cs typeface="Verdana" panose="020B0604030504040204" pitchFamily="34" charset="0"/>
              </a:rPr>
              <a:t>Discuss each student’s work with your partner. Explain any errors that either student made.</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After collaborating with each other and understanding their mistakes, Vera and Conor each correctly find the perimeter of the rectangle. What perimeter did they find?</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23691860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60002"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xmlns="" id="{93D338D9-F4F3-AC46-BAB5-0DC7D3916679}"/>
              </a:ext>
            </a:extLst>
          </p:cNvPr>
          <p:cNvPicPr preferRelativeResize="0"/>
          <p:nvPr/>
        </p:nvPicPr>
        <p:blipFill rotWithShape="1">
          <a:blip r:embed="rId4">
            <a:alphaModFix/>
          </a:blip>
          <a:srcRect/>
          <a:stretch/>
        </p:blipFill>
        <p:spPr>
          <a:xfrm>
            <a:off x="3054096" y="2852928"/>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xmlns="" id="{EE3C8BB3-D8AE-154C-9B2D-B1D7451436FE}"/>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239</a:t>
            </a:r>
          </a:p>
        </p:txBody>
      </p:sp>
    </p:spTree>
    <p:extLst>
      <p:ext uri="{BB962C8B-B14F-4D97-AF65-F5344CB8AC3E}">
        <p14:creationId xmlns:p14="http://schemas.microsoft.com/office/powerpoint/2010/main" val="17908396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644"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xmlns="" id="{07112538-C7A8-8B4A-B739-C3032B04086A}"/>
              </a:ext>
            </a:extLst>
          </p:cNvPr>
          <p:cNvSpPr txBox="1">
            <a:spLocks/>
          </p:cNvSpPr>
          <p:nvPr/>
        </p:nvSpPr>
        <p:spPr>
          <a:xfrm>
            <a:off x="1103916" y="223946"/>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5.6.5 Your Turn!</a:t>
            </a:r>
          </a:p>
        </p:txBody>
      </p:sp>
      <p:pic>
        <p:nvPicPr>
          <p:cNvPr id="9" name="Google Shape;430;g103996e1364_0_428">
            <a:extLst>
              <a:ext uri="{FF2B5EF4-FFF2-40B4-BE49-F238E27FC236}">
                <a16:creationId xmlns:a16="http://schemas.microsoft.com/office/drawing/2014/main" xmlns=""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1" name="Google Shape;282;g104476d1465_1_17">
            <a:extLst>
              <a:ext uri="{FF2B5EF4-FFF2-40B4-BE49-F238E27FC236}">
                <a16:creationId xmlns:a16="http://schemas.microsoft.com/office/drawing/2014/main" xmlns="" id="{F9486181-07A1-C74B-A129-E8949F43C159}"/>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239</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xmlns="" id="{759C3E41-93EC-B84D-963F-86A3B15AC1C6}"/>
                  </a:ext>
                </a:extLst>
              </p:cNvPr>
              <p:cNvSpPr txBox="1"/>
              <p:nvPr/>
            </p:nvSpPr>
            <p:spPr>
              <a:xfrm>
                <a:off x="730265" y="999003"/>
                <a:ext cx="11016975" cy="400110"/>
              </a:xfrm>
              <a:prstGeom prst="rect">
                <a:avLst/>
              </a:prstGeom>
              <a:noFill/>
            </p:spPr>
            <p:txBody>
              <a:bodyPr wrap="square" rtlCol="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The vertices of a rectangle are at points </a:t>
                </a:r>
                <a14:m>
                  <m:oMath xmlns:m="http://schemas.openxmlformats.org/officeDocument/2006/math">
                    <m:r>
                      <a:rPr lang="en-US" sz="2000" i="1">
                        <a:latin typeface="Cambria Math" panose="02040503050406030204" pitchFamily="18" charset="0"/>
                        <a:ea typeface="Cambria Math" panose="02040503050406030204" pitchFamily="18" charset="0"/>
                      </a:rPr>
                      <m:t>𝐴</m:t>
                    </m:r>
                    <m:r>
                      <a:rPr lang="en-US" sz="2000" i="1">
                        <a:latin typeface="Cambria Math" panose="02040503050406030204" pitchFamily="18" charset="0"/>
                        <a:ea typeface="Cambria Math" panose="02040503050406030204" pitchFamily="18" charset="0"/>
                      </a:rPr>
                      <m:t> (−5, 3)</m:t>
                    </m:r>
                  </m:oMath>
                </a14:m>
                <a:r>
                  <a:rPr lang="en-US" sz="2000" dirty="0">
                    <a:latin typeface="Verdana" panose="020B0604030504040204" pitchFamily="34" charset="0"/>
                    <a:ea typeface="Verdana" panose="020B0604030504040204" pitchFamily="34" charset="0"/>
                    <a:cs typeface="Verdana" panose="020B0604030504040204" pitchFamily="34" charset="0"/>
                  </a:rPr>
                  <a:t>,</a:t>
                </a:r>
                <a:r>
                  <a:rPr lang="en-US" sz="2000" dirty="0">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𝐵</m:t>
                    </m:r>
                    <m:r>
                      <a:rPr lang="en-US" sz="2000" i="1">
                        <a:latin typeface="Cambria Math" panose="02040503050406030204" pitchFamily="18" charset="0"/>
                        <a:ea typeface="Cambria Math" panose="02040503050406030204" pitchFamily="18" charset="0"/>
                      </a:rPr>
                      <m:t> (3, 3)</m:t>
                    </m:r>
                  </m:oMath>
                </a14:m>
                <a:r>
                  <a:rPr lang="en-US" sz="2000" dirty="0">
                    <a:latin typeface="Verdana" panose="020B0604030504040204" pitchFamily="34" charset="0"/>
                    <a:ea typeface="Verdana" panose="020B0604030504040204" pitchFamily="34" charset="0"/>
                    <a:cs typeface="Verdana" panose="020B0604030504040204" pitchFamily="34" charset="0"/>
                  </a:rPr>
                  <a:t>,</a:t>
                </a:r>
                <a:r>
                  <a:rPr lang="en-US" sz="2000" dirty="0">
                    <a:latin typeface="Cambria Math" panose="02040503050406030204" pitchFamily="18" charset="0"/>
                    <a:ea typeface="Cambria Math" panose="02040503050406030204" pitchFamily="18"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Cambria Math" panose="02040503050406030204" pitchFamily="18" charset="0"/>
                      </a:rPr>
                      <m:t>𝐶</m:t>
                    </m:r>
                    <m:r>
                      <a:rPr lang="en-US" sz="2000" i="1">
                        <a:latin typeface="Cambria Math" panose="02040503050406030204" pitchFamily="18" charset="0"/>
                        <a:ea typeface="Cambria Math" panose="02040503050406030204" pitchFamily="18" charset="0"/>
                      </a:rPr>
                      <m:t> (3, −4)</m:t>
                    </m:r>
                  </m:oMath>
                </a14:m>
                <a:r>
                  <a:rPr lang="en-US" sz="2000" dirty="0">
                    <a:latin typeface="Verdana" panose="020B0604030504040204" pitchFamily="34" charset="0"/>
                    <a:ea typeface="Verdana" panose="020B0604030504040204" pitchFamily="34" charset="0"/>
                    <a:cs typeface="Verdana" panose="020B0604030504040204" pitchFamily="34" charset="0"/>
                  </a:rPr>
                  <a:t>,</a:t>
                </a:r>
                <a:r>
                  <a:rPr lang="en-US" sz="2000" dirty="0">
                    <a:latin typeface="Cambria Math" panose="02040503050406030204" pitchFamily="18" charset="0"/>
                    <a:ea typeface="Cambria Math" panose="02040503050406030204" pitchFamily="18" charset="0"/>
                    <a:cs typeface="Verdana" panose="020B0604030504040204" pitchFamily="34" charset="0"/>
                  </a:rPr>
                  <a:t> </a:t>
                </a:r>
                <a:r>
                  <a:rPr lang="en-US" sz="2000" dirty="0">
                    <a:latin typeface="Verdana" panose="020B0604030504040204" pitchFamily="34" charset="0"/>
                    <a:ea typeface="Verdana" panose="020B0604030504040204" pitchFamily="34" charset="0"/>
                    <a:cs typeface="Verdana" panose="020B0604030504040204" pitchFamily="34" charset="0"/>
                  </a:rPr>
                  <a:t>and </a:t>
                </a:r>
                <a14:m>
                  <m:oMath xmlns:m="http://schemas.openxmlformats.org/officeDocument/2006/math">
                    <m:r>
                      <a:rPr lang="en-US" sz="2000" i="1">
                        <a:latin typeface="Cambria Math" panose="02040503050406030204" pitchFamily="18" charset="0"/>
                        <a:ea typeface="Cambria Math" panose="02040503050406030204" pitchFamily="18" charset="0"/>
                      </a:rPr>
                      <m:t>𝐷</m:t>
                    </m:r>
                    <m:r>
                      <a:rPr lang="en-US" sz="2000" i="1">
                        <a:latin typeface="Cambria Math" panose="02040503050406030204" pitchFamily="18" charset="0"/>
                        <a:ea typeface="Cambria Math" panose="02040503050406030204" pitchFamily="18" charset="0"/>
                      </a:rPr>
                      <m:t> (−5, −4)</m:t>
                    </m:r>
                  </m:oMath>
                </a14:m>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730265" y="999003"/>
                <a:ext cx="11016975" cy="400110"/>
              </a:xfrm>
              <a:prstGeom prst="rect">
                <a:avLst/>
              </a:prstGeom>
              <a:blipFill>
                <a:blip r:embed="rId5"/>
                <a:stretch>
                  <a:fillRect l="-576" t="-12121" b="-21212"/>
                </a:stretch>
              </a:blipFill>
            </p:spPr>
            <p:txBody>
              <a:bodyPr/>
              <a:lstStyle/>
              <a:p>
                <a:r>
                  <a:rPr lang="en-US">
                    <a:noFill/>
                  </a:rPr>
                  <a:t> </a:t>
                </a:r>
              </a:p>
            </p:txBody>
          </p:sp>
        </mc:Fallback>
      </mc:AlternateContent>
      <p:pic>
        <p:nvPicPr>
          <p:cNvPr id="8" name="Picture 7" descr="Chart&#10;&#10;Description automatically generated">
            <a:extLst>
              <a:ext uri="{FF2B5EF4-FFF2-40B4-BE49-F238E27FC236}">
                <a16:creationId xmlns:a16="http://schemas.microsoft.com/office/drawing/2014/main" xmlns="" id="{2ED6877D-7992-F341-BD1F-9C508CC8692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588103" y="1729537"/>
            <a:ext cx="4430036" cy="4275120"/>
          </a:xfrm>
          <a:prstGeom prst="rect">
            <a:avLst/>
          </a:prstGeom>
        </p:spPr>
      </p:pic>
      <p:sp>
        <p:nvSpPr>
          <p:cNvPr id="10" name="TextBox 9">
            <a:extLst>
              <a:ext uri="{FF2B5EF4-FFF2-40B4-BE49-F238E27FC236}">
                <a16:creationId xmlns:a16="http://schemas.microsoft.com/office/drawing/2014/main" xmlns="" id="{456B177C-D6E8-43C0-9D68-7F64CE15070E}"/>
              </a:ext>
            </a:extLst>
          </p:cNvPr>
          <p:cNvSpPr txBox="1"/>
          <p:nvPr/>
        </p:nvSpPr>
        <p:spPr>
          <a:xfrm>
            <a:off x="6173862" y="2378420"/>
            <a:ext cx="5573378" cy="3385542"/>
          </a:xfrm>
          <a:prstGeom prst="rect">
            <a:avLst/>
          </a:prstGeom>
          <a:noFill/>
        </p:spPr>
        <p:txBody>
          <a:bodyPr wrap="square">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length, in units, of the rectangle?</a:t>
            </a: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width, in units, of the rectangle?</a:t>
            </a:r>
          </a:p>
          <a:p>
            <a:pPr marL="914400" indent="-457200">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What is the perimeter, in units, of the rectangle?</a:t>
            </a:r>
          </a:p>
          <a:p>
            <a:pPr marL="914400" indent="-457200"/>
            <a:r>
              <a:rPr lang="en-US" dirty="0">
                <a:latin typeface="Verdana" panose="020B0604030504040204" pitchFamily="34" charset="0"/>
                <a:ea typeface="Verdana" panose="020B0604030504040204" pitchFamily="34" charset="0"/>
                <a:cs typeface="Verdana" panose="020B0604030504040204" pitchFamily="34" charset="0"/>
              </a:rPr>
              <a:t> </a:t>
            </a:r>
          </a:p>
        </p:txBody>
      </p:sp>
    </p:spTree>
    <p:extLst>
      <p:ext uri="{BB962C8B-B14F-4D97-AF65-F5344CB8AC3E}">
        <p14:creationId xmlns:p14="http://schemas.microsoft.com/office/powerpoint/2010/main" val="31012998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240</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304614" y="322206"/>
            <a:ext cx="11339990" cy="532453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Titus wants to put a border around the outside of his garden.</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p:grpSp>
        <p:nvGrpSpPr>
          <p:cNvPr id="6" name="Group 5">
            <a:extLst>
              <a:ext uri="{FF2B5EF4-FFF2-40B4-BE49-F238E27FC236}">
                <a16:creationId xmlns:a16="http://schemas.microsoft.com/office/drawing/2014/main" xmlns="" id="{65AB7BD4-B4D8-F245-BC73-CA0AB1ABAC83}"/>
              </a:ext>
            </a:extLst>
          </p:cNvPr>
          <p:cNvGrpSpPr/>
          <p:nvPr/>
        </p:nvGrpSpPr>
        <p:grpSpPr>
          <a:xfrm>
            <a:off x="3285771" y="1043188"/>
            <a:ext cx="5620457" cy="3882570"/>
            <a:chOff x="0" y="0"/>
            <a:chExt cx="6946900" cy="4947920"/>
          </a:xfrm>
        </p:grpSpPr>
        <p:pic>
          <p:nvPicPr>
            <p:cNvPr id="7" name="Picture 6" descr="Chart, line chart&#10;&#10;Description automatically generated">
              <a:extLst>
                <a:ext uri="{FF2B5EF4-FFF2-40B4-BE49-F238E27FC236}">
                  <a16:creationId xmlns:a16="http://schemas.microsoft.com/office/drawing/2014/main" xmlns="" id="{23D917B6-875A-F943-B9C5-614438DD85C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0" y="0"/>
              <a:ext cx="6946900" cy="4947920"/>
            </a:xfrm>
            <a:prstGeom prst="rect">
              <a:avLst/>
            </a:prstGeom>
          </p:spPr>
        </p:pic>
        <mc:AlternateContent xmlns:mc="http://schemas.openxmlformats.org/markup-compatibility/2006" xmlns:a14="http://schemas.microsoft.com/office/drawing/2010/main">
          <mc:Choice Requires="a14">
            <p:sp>
              <p:nvSpPr>
                <p:cNvPr id="8" name="Text Box 7">
                  <a:extLst>
                    <a:ext uri="{FF2B5EF4-FFF2-40B4-BE49-F238E27FC236}">
                      <a16:creationId xmlns:a16="http://schemas.microsoft.com/office/drawing/2014/main" xmlns="" id="{20793A38-65B8-3A4F-9415-D786D551B5C4}"/>
                    </a:ext>
                  </a:extLst>
                </p:cNvPr>
                <p:cNvSpPr txBox="1"/>
                <p:nvPr/>
              </p:nvSpPr>
              <p:spPr>
                <a:xfrm>
                  <a:off x="406400" y="685800"/>
                  <a:ext cx="1562100" cy="6858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rPr>
                          <m:t>𝐵</m:t>
                        </m:r>
                        <m:r>
                          <a:rPr lang="en-US" sz="1800" i="1">
                            <a:latin typeface="Cambria Math" panose="02040503050406030204" pitchFamily="18" charset="0"/>
                            <a:ea typeface="Times New Roman" panose="02020603050405020304" pitchFamily="18" charset="0"/>
                          </a:rPr>
                          <m:t>(−7</m:t>
                        </m:r>
                        <m:f>
                          <m:fPr>
                            <m:ctrlPr>
                              <a:rPr lang="en-US" sz="1800" i="1">
                                <a:latin typeface="Cambria Math"/>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5</m:t>
                            </m:r>
                          </m:num>
                          <m:den>
                            <m:r>
                              <a:rPr lang="en-US" sz="1800" i="1">
                                <a:latin typeface="Cambria Math" panose="02040503050406030204" pitchFamily="18" charset="0"/>
                                <a:ea typeface="Times New Roman" panose="02020603050405020304" pitchFamily="18" charset="0"/>
                              </a:rPr>
                              <m:t>6</m:t>
                            </m:r>
                          </m:den>
                        </m:f>
                        <m:r>
                          <a:rPr lang="en-US" sz="1800" i="1">
                            <a:latin typeface="Cambria Math" panose="02040503050406030204" pitchFamily="18" charset="0"/>
                            <a:ea typeface="Times New Roman" panose="02020603050405020304" pitchFamily="18" charset="0"/>
                          </a:rPr>
                          <m:t>, 4</m:t>
                        </m:r>
                        <m:f>
                          <m:fPr>
                            <m:ctrlPr>
                              <a:rPr lang="en-US" sz="1800" i="1">
                                <a:latin typeface="Cambria Math"/>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1</m:t>
                            </m:r>
                          </m:num>
                          <m:den>
                            <m:r>
                              <a:rPr lang="en-US" sz="1800" i="1">
                                <a:latin typeface="Cambria Math" panose="02040503050406030204" pitchFamily="18" charset="0"/>
                                <a:ea typeface="Times New Roman" panose="02020603050405020304" pitchFamily="18" charset="0"/>
                              </a:rPr>
                              <m:t>3</m:t>
                            </m:r>
                          </m:den>
                        </m:f>
                        <m:r>
                          <a:rPr lang="en-US" sz="1800" i="1">
                            <a:latin typeface="Cambria Math" panose="02040503050406030204" pitchFamily="18" charset="0"/>
                            <a:ea typeface="Times New Roman" panose="02020603050405020304" pitchFamily="18" charset="0"/>
                          </a:rPr>
                          <m:t>)</m:t>
                        </m:r>
                      </m:oMath>
                    </m:oMathPara>
                  </a14:m>
                  <a:endParaRPr lang="en-US" sz="1200">
                    <a:latin typeface="Times New Roman" panose="02020603050405020304" pitchFamily="18" charset="0"/>
                    <a:ea typeface="Times New Roman" panose="02020603050405020304" pitchFamily="18" charset="0"/>
                  </a:endParaRPr>
                </a:p>
              </p:txBody>
            </p:sp>
          </mc:Choice>
          <mc:Fallback xmlns="">
            <p:sp>
              <p:nvSpPr>
                <p:cNvPr id="8" name="Text Box 7">
                  <a:extLst>
                    <a:ext uri="{FF2B5EF4-FFF2-40B4-BE49-F238E27FC236}">
                      <a16:creationId xmlns:a16="http://schemas.microsoft.com/office/drawing/2014/main" id="{20793A38-65B8-3A4F-9415-D786D551B5C4}"/>
                    </a:ext>
                  </a:extLst>
                </p:cNvPr>
                <p:cNvSpPr txBox="1">
                  <a:spLocks noRot="1" noChangeAspect="1" noMove="1" noResize="1" noEditPoints="1" noAdjustHandles="1" noChangeArrowheads="1" noChangeShapeType="1" noTextEdit="1"/>
                </p:cNvSpPr>
                <p:nvPr/>
              </p:nvSpPr>
              <p:spPr>
                <a:xfrm>
                  <a:off x="406400" y="685800"/>
                  <a:ext cx="1562100" cy="685800"/>
                </a:xfrm>
                <a:prstGeom prst="rect">
                  <a:avLst/>
                </a:prstGeom>
                <a:blipFill>
                  <a:blip r:embed="rId5"/>
                  <a:stretch>
                    <a:fillRect r="-12871" b="-20930"/>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8">
                  <a:extLst>
                    <a:ext uri="{FF2B5EF4-FFF2-40B4-BE49-F238E27FC236}">
                      <a16:creationId xmlns:a16="http://schemas.microsoft.com/office/drawing/2014/main" xmlns="" id="{EDEF8130-2E0E-6C41-A72B-0427E304520D}"/>
                    </a:ext>
                  </a:extLst>
                </p:cNvPr>
                <p:cNvSpPr txBox="1"/>
                <p:nvPr/>
              </p:nvSpPr>
              <p:spPr>
                <a:xfrm>
                  <a:off x="419100" y="3644900"/>
                  <a:ext cx="1562100" cy="6858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rPr>
                          <m:t>𝐴</m:t>
                        </m:r>
                        <m:r>
                          <a:rPr lang="en-US" sz="1800" i="1">
                            <a:latin typeface="Cambria Math" panose="02040503050406030204" pitchFamily="18" charset="0"/>
                            <a:ea typeface="Times New Roman" panose="02020603050405020304" pitchFamily="18" charset="0"/>
                          </a:rPr>
                          <m:t>(−7</m:t>
                        </m:r>
                        <m:f>
                          <m:fPr>
                            <m:ctrlPr>
                              <a:rPr lang="en-US" sz="1800" i="1">
                                <a:latin typeface="Cambria Math"/>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5</m:t>
                            </m:r>
                          </m:num>
                          <m:den>
                            <m:r>
                              <a:rPr lang="en-US" sz="1800" i="1">
                                <a:latin typeface="Cambria Math" panose="02040503050406030204" pitchFamily="18" charset="0"/>
                                <a:ea typeface="Times New Roman" panose="02020603050405020304" pitchFamily="18" charset="0"/>
                              </a:rPr>
                              <m:t>6</m:t>
                            </m:r>
                          </m:den>
                        </m:f>
                        <m:r>
                          <a:rPr lang="en-US" sz="1800" i="1">
                            <a:latin typeface="Cambria Math" panose="02040503050406030204" pitchFamily="18" charset="0"/>
                            <a:ea typeface="Times New Roman" panose="02020603050405020304" pitchFamily="18" charset="0"/>
                          </a:rPr>
                          <m:t>, −2</m:t>
                        </m:r>
                        <m:f>
                          <m:fPr>
                            <m:ctrlPr>
                              <a:rPr lang="en-US" sz="1800" i="1">
                                <a:latin typeface="Cambria Math"/>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5</m:t>
                            </m:r>
                          </m:num>
                          <m:den>
                            <m:r>
                              <a:rPr lang="en-US" sz="1800" i="1">
                                <a:latin typeface="Cambria Math" panose="02040503050406030204" pitchFamily="18" charset="0"/>
                                <a:ea typeface="Times New Roman" panose="02020603050405020304" pitchFamily="18" charset="0"/>
                              </a:rPr>
                              <m:t>6</m:t>
                            </m:r>
                          </m:den>
                        </m:f>
                        <m:r>
                          <a:rPr lang="en-US" sz="1800" i="1">
                            <a:latin typeface="Cambria Math" panose="02040503050406030204" pitchFamily="18" charset="0"/>
                            <a:ea typeface="Times New Roman" panose="02020603050405020304" pitchFamily="18" charset="0"/>
                          </a:rPr>
                          <m:t>)</m:t>
                        </m:r>
                      </m:oMath>
                    </m:oMathPara>
                  </a14:m>
                  <a:endParaRPr lang="en-US" sz="1200">
                    <a:latin typeface="Times New Roman" panose="02020603050405020304" pitchFamily="18" charset="0"/>
                    <a:ea typeface="Times New Roman" panose="02020603050405020304" pitchFamily="18" charset="0"/>
                  </a:endParaRPr>
                </a:p>
              </p:txBody>
            </p:sp>
          </mc:Choice>
          <mc:Fallback xmlns="">
            <p:sp>
              <p:nvSpPr>
                <p:cNvPr id="9" name="Text Box 8">
                  <a:extLst>
                    <a:ext uri="{FF2B5EF4-FFF2-40B4-BE49-F238E27FC236}">
                      <a16:creationId xmlns:a16="http://schemas.microsoft.com/office/drawing/2014/main" id="{EDEF8130-2E0E-6C41-A72B-0427E304520D}"/>
                    </a:ext>
                  </a:extLst>
                </p:cNvPr>
                <p:cNvSpPr txBox="1">
                  <a:spLocks noRot="1" noChangeAspect="1" noMove="1" noResize="1" noEditPoints="1" noAdjustHandles="1" noChangeArrowheads="1" noChangeShapeType="1" noTextEdit="1"/>
                </p:cNvSpPr>
                <p:nvPr/>
              </p:nvSpPr>
              <p:spPr>
                <a:xfrm>
                  <a:off x="419100" y="3644900"/>
                  <a:ext cx="1562100" cy="685800"/>
                </a:xfrm>
                <a:prstGeom prst="rect">
                  <a:avLst/>
                </a:prstGeom>
                <a:blipFill>
                  <a:blip r:embed="rId6"/>
                  <a:stretch>
                    <a:fillRect r="-26000" b="-18605"/>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9">
                  <a:extLst>
                    <a:ext uri="{FF2B5EF4-FFF2-40B4-BE49-F238E27FC236}">
                      <a16:creationId xmlns:a16="http://schemas.microsoft.com/office/drawing/2014/main" xmlns="" id="{12331D04-2892-504E-B81B-1774E9EBD6CB}"/>
                    </a:ext>
                  </a:extLst>
                </p:cNvPr>
                <p:cNvSpPr txBox="1"/>
                <p:nvPr/>
              </p:nvSpPr>
              <p:spPr>
                <a:xfrm>
                  <a:off x="4991100" y="3619500"/>
                  <a:ext cx="1562100" cy="6858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rPr>
                          <m:t>𝐷</m:t>
                        </m:r>
                        <m:r>
                          <a:rPr lang="en-US" sz="1800" i="1">
                            <a:latin typeface="Cambria Math" panose="02040503050406030204" pitchFamily="18" charset="0"/>
                            <a:ea typeface="Times New Roman" panose="02020603050405020304" pitchFamily="18" charset="0"/>
                          </a:rPr>
                          <m:t>(7</m:t>
                        </m:r>
                        <m:f>
                          <m:fPr>
                            <m:ctrlPr>
                              <a:rPr lang="en-US" sz="1800" i="1">
                                <a:latin typeface="Cambria Math"/>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3</m:t>
                            </m:r>
                          </m:num>
                          <m:den>
                            <m:r>
                              <a:rPr lang="en-US" sz="1800" i="1">
                                <a:latin typeface="Cambria Math" panose="02040503050406030204" pitchFamily="18" charset="0"/>
                                <a:ea typeface="Times New Roman" panose="02020603050405020304" pitchFamily="18" charset="0"/>
                              </a:rPr>
                              <m:t>4</m:t>
                            </m:r>
                          </m:den>
                        </m:f>
                        <m:r>
                          <a:rPr lang="en-US" sz="1800" i="1">
                            <a:latin typeface="Cambria Math" panose="02040503050406030204" pitchFamily="18" charset="0"/>
                            <a:ea typeface="Times New Roman" panose="02020603050405020304" pitchFamily="18" charset="0"/>
                          </a:rPr>
                          <m:t>, −2</m:t>
                        </m:r>
                        <m:f>
                          <m:fPr>
                            <m:ctrlPr>
                              <a:rPr lang="en-US" sz="1800" i="1">
                                <a:latin typeface="Cambria Math"/>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5</m:t>
                            </m:r>
                          </m:num>
                          <m:den>
                            <m:r>
                              <a:rPr lang="en-US" sz="1800" i="1">
                                <a:latin typeface="Cambria Math" panose="02040503050406030204" pitchFamily="18" charset="0"/>
                                <a:ea typeface="Times New Roman" panose="02020603050405020304" pitchFamily="18" charset="0"/>
                              </a:rPr>
                              <m:t>6</m:t>
                            </m:r>
                          </m:den>
                        </m:f>
                        <m:r>
                          <a:rPr lang="en-US" sz="1800" i="1">
                            <a:latin typeface="Cambria Math" panose="02040503050406030204" pitchFamily="18" charset="0"/>
                            <a:ea typeface="Times New Roman" panose="02020603050405020304" pitchFamily="18" charset="0"/>
                          </a:rPr>
                          <m:t>)</m:t>
                        </m:r>
                      </m:oMath>
                    </m:oMathPara>
                  </a14:m>
                  <a:endParaRPr lang="en-US" sz="1200">
                    <a:latin typeface="Times New Roman" panose="02020603050405020304" pitchFamily="18" charset="0"/>
                    <a:ea typeface="Times New Roman" panose="02020603050405020304" pitchFamily="18" charset="0"/>
                  </a:endParaRPr>
                </a:p>
              </p:txBody>
            </p:sp>
          </mc:Choice>
          <mc:Fallback xmlns="">
            <p:sp>
              <p:nvSpPr>
                <p:cNvPr id="10" name="Text Box 9">
                  <a:extLst>
                    <a:ext uri="{FF2B5EF4-FFF2-40B4-BE49-F238E27FC236}">
                      <a16:creationId xmlns:a16="http://schemas.microsoft.com/office/drawing/2014/main" id="{12331D04-2892-504E-B81B-1774E9EBD6CB}"/>
                    </a:ext>
                  </a:extLst>
                </p:cNvPr>
                <p:cNvSpPr txBox="1">
                  <a:spLocks noRot="1" noChangeAspect="1" noMove="1" noResize="1" noEditPoints="1" noAdjustHandles="1" noChangeArrowheads="1" noChangeShapeType="1" noTextEdit="1"/>
                </p:cNvSpPr>
                <p:nvPr/>
              </p:nvSpPr>
              <p:spPr>
                <a:xfrm>
                  <a:off x="4991100" y="3619500"/>
                  <a:ext cx="1562100" cy="685800"/>
                </a:xfrm>
                <a:prstGeom prst="rect">
                  <a:avLst/>
                </a:prstGeom>
                <a:blipFill>
                  <a:blip r:embed="rId7"/>
                  <a:stretch>
                    <a:fillRect r="-13861" b="-20930"/>
                  </a:stretch>
                </a:blipFill>
                <a:ln w="6350">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10">
                  <a:extLst>
                    <a:ext uri="{FF2B5EF4-FFF2-40B4-BE49-F238E27FC236}">
                      <a16:creationId xmlns:a16="http://schemas.microsoft.com/office/drawing/2014/main" xmlns="" id="{33693284-BD7A-EC45-9EDB-B51926705828}"/>
                    </a:ext>
                  </a:extLst>
                </p:cNvPr>
                <p:cNvSpPr txBox="1"/>
                <p:nvPr/>
              </p:nvSpPr>
              <p:spPr>
                <a:xfrm>
                  <a:off x="5194300" y="711200"/>
                  <a:ext cx="1562100" cy="6858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Times New Roman" panose="02020603050405020304" pitchFamily="18" charset="0"/>
                          </a:rPr>
                          <m:t>𝐶</m:t>
                        </m:r>
                        <m:r>
                          <a:rPr lang="en-US" sz="1800" i="1">
                            <a:latin typeface="Cambria Math" panose="02040503050406030204" pitchFamily="18" charset="0"/>
                            <a:ea typeface="Times New Roman" panose="02020603050405020304" pitchFamily="18" charset="0"/>
                          </a:rPr>
                          <m:t>(7</m:t>
                        </m:r>
                        <m:f>
                          <m:fPr>
                            <m:ctrlPr>
                              <a:rPr lang="en-US" sz="1800" i="1">
                                <a:latin typeface="Cambria Math"/>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3</m:t>
                            </m:r>
                          </m:num>
                          <m:den>
                            <m:r>
                              <a:rPr lang="en-US" sz="1800" i="1">
                                <a:latin typeface="Cambria Math" panose="02040503050406030204" pitchFamily="18" charset="0"/>
                                <a:ea typeface="Times New Roman" panose="02020603050405020304" pitchFamily="18" charset="0"/>
                              </a:rPr>
                              <m:t>4</m:t>
                            </m:r>
                          </m:den>
                        </m:f>
                        <m:r>
                          <a:rPr lang="en-US" sz="1800" i="1">
                            <a:latin typeface="Cambria Math" panose="02040503050406030204" pitchFamily="18" charset="0"/>
                            <a:ea typeface="Times New Roman" panose="02020603050405020304" pitchFamily="18" charset="0"/>
                          </a:rPr>
                          <m:t>, 4</m:t>
                        </m:r>
                        <m:f>
                          <m:fPr>
                            <m:ctrlPr>
                              <a:rPr lang="en-US" sz="1800" i="1">
                                <a:latin typeface="Cambria Math"/>
                                <a:ea typeface="Times New Roman" panose="02020603050405020304" pitchFamily="18" charset="0"/>
                              </a:rPr>
                            </m:ctrlPr>
                          </m:fPr>
                          <m:num>
                            <m:r>
                              <a:rPr lang="en-US" sz="1800" i="1">
                                <a:latin typeface="Cambria Math" panose="02040503050406030204" pitchFamily="18" charset="0"/>
                                <a:ea typeface="Times New Roman" panose="02020603050405020304" pitchFamily="18" charset="0"/>
                              </a:rPr>
                              <m:t>1</m:t>
                            </m:r>
                          </m:num>
                          <m:den>
                            <m:r>
                              <a:rPr lang="en-US" sz="1800" i="1">
                                <a:latin typeface="Cambria Math" panose="02040503050406030204" pitchFamily="18" charset="0"/>
                                <a:ea typeface="Times New Roman" panose="02020603050405020304" pitchFamily="18" charset="0"/>
                              </a:rPr>
                              <m:t>3</m:t>
                            </m:r>
                          </m:den>
                        </m:f>
                        <m:r>
                          <a:rPr lang="en-US" sz="1800" i="1">
                            <a:latin typeface="Cambria Math" panose="02040503050406030204" pitchFamily="18" charset="0"/>
                            <a:ea typeface="Times New Roman" panose="02020603050405020304" pitchFamily="18" charset="0"/>
                          </a:rPr>
                          <m:t>)</m:t>
                        </m:r>
                      </m:oMath>
                    </m:oMathPara>
                  </a14:m>
                  <a:endParaRPr lang="en-US" sz="1200" dirty="0">
                    <a:latin typeface="Times New Roman" panose="02020603050405020304" pitchFamily="18" charset="0"/>
                    <a:ea typeface="Times New Roman" panose="02020603050405020304" pitchFamily="18" charset="0"/>
                  </a:endParaRPr>
                </a:p>
              </p:txBody>
            </p:sp>
          </mc:Choice>
          <mc:Fallback xmlns="">
            <p:sp>
              <p:nvSpPr>
                <p:cNvPr id="11" name="Text Box 10">
                  <a:extLst>
                    <a:ext uri="{FF2B5EF4-FFF2-40B4-BE49-F238E27FC236}">
                      <a16:creationId xmlns:a16="http://schemas.microsoft.com/office/drawing/2014/main" id="{33693284-BD7A-EC45-9EDB-B51926705828}"/>
                    </a:ext>
                  </a:extLst>
                </p:cNvPr>
                <p:cNvSpPr txBox="1">
                  <a:spLocks noRot="1" noChangeAspect="1" noMove="1" noResize="1" noEditPoints="1" noAdjustHandles="1" noChangeArrowheads="1" noChangeShapeType="1" noTextEdit="1"/>
                </p:cNvSpPr>
                <p:nvPr/>
              </p:nvSpPr>
              <p:spPr>
                <a:xfrm>
                  <a:off x="5194300" y="711200"/>
                  <a:ext cx="1562100" cy="685800"/>
                </a:xfrm>
                <a:prstGeom prst="rect">
                  <a:avLst/>
                </a:prstGeom>
                <a:blipFill>
                  <a:blip r:embed="rId8"/>
                  <a:stretch>
                    <a:fillRect b="-18605"/>
                  </a:stretch>
                </a:blipFill>
                <a:ln w="6350">
                  <a:noFill/>
                </a:ln>
              </p:spPr>
              <p:txBody>
                <a:bodyPr/>
                <a:lstStyle/>
                <a:p>
                  <a:r>
                    <a:rPr lang="en-US">
                      <a:noFill/>
                    </a:rPr>
                    <a:t> </a:t>
                  </a:r>
                </a:p>
              </p:txBody>
            </p:sp>
          </mc:Fallback>
        </mc:AlternateContent>
      </p:grpSp>
      <p:sp>
        <p:nvSpPr>
          <p:cNvPr id="13" name="TextBox 12">
            <a:extLst>
              <a:ext uri="{FF2B5EF4-FFF2-40B4-BE49-F238E27FC236}">
                <a16:creationId xmlns:a16="http://schemas.microsoft.com/office/drawing/2014/main" xmlns="" id="{9938C9D6-3F75-4731-99D7-3DC2B6F4A43D}"/>
              </a:ext>
            </a:extLst>
          </p:cNvPr>
          <p:cNvSpPr txBox="1"/>
          <p:nvPr/>
        </p:nvSpPr>
        <p:spPr>
          <a:xfrm>
            <a:off x="547396" y="5352060"/>
            <a:ext cx="11097208" cy="707886"/>
          </a:xfrm>
          <a:prstGeom prst="rect">
            <a:avLst/>
          </a:prstGeom>
          <a:noFill/>
        </p:spPr>
        <p:txBody>
          <a:bodyPr wrap="square">
            <a:spAutoFit/>
          </a:bodyPr>
          <a:lstStyle/>
          <a:p>
            <a:pPr marL="457200"/>
            <a:r>
              <a:rPr lang="en-US" sz="2000" dirty="0">
                <a:latin typeface="Verdana" panose="020B0604030504040204" pitchFamily="34" charset="0"/>
                <a:ea typeface="Verdana" panose="020B0604030504040204" pitchFamily="34" charset="0"/>
                <a:cs typeface="Verdana" panose="020B0604030504040204" pitchFamily="34" charset="0"/>
              </a:rPr>
              <a:t>If the scale of the grid is in feet (ft), how many feet of border will he need to buy to completely fence in the garden?</a:t>
            </a:r>
          </a:p>
        </p:txBody>
      </p:sp>
    </p:spTree>
    <p:extLst>
      <p:ext uri="{BB962C8B-B14F-4D97-AF65-F5344CB8AC3E}">
        <p14:creationId xmlns:p14="http://schemas.microsoft.com/office/powerpoint/2010/main" val="11879882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240</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3648857" y="276615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240</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xmlns="" id="{68C03D65-F0BF-3F41-B52A-024F47388982}"/>
              </a:ext>
            </a:extLst>
          </p:cNvPr>
          <p:cNvSpPr txBox="1">
            <a:spLocks/>
          </p:cNvSpPr>
          <p:nvPr/>
        </p:nvSpPr>
        <p:spPr>
          <a:xfrm>
            <a:off x="1103916" y="2181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5.6.6 Wrap-Up: Ticket Out the Door</a:t>
            </a:r>
          </a:p>
        </p:txBody>
      </p:sp>
      <p:pic>
        <p:nvPicPr>
          <p:cNvPr id="9" name="Google Shape;458;g103996e1364_0_463">
            <a:extLst>
              <a:ext uri="{FF2B5EF4-FFF2-40B4-BE49-F238E27FC236}">
                <a16:creationId xmlns:a16="http://schemas.microsoft.com/office/drawing/2014/main" xmlns=""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xmlns="" id="{0370EDB7-6994-3D43-ABF9-E04CBAFB9CD9}"/>
              </a:ext>
            </a:extLst>
          </p:cNvPr>
          <p:cNvSpPr txBox="1"/>
          <p:nvPr/>
        </p:nvSpPr>
        <p:spPr>
          <a:xfrm>
            <a:off x="730266" y="1386026"/>
            <a:ext cx="8327136" cy="615553"/>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rectangle is shown on the coordinate plane.</a:t>
            </a:r>
          </a:p>
          <a:p>
            <a:r>
              <a:rPr lang="en-US" dirty="0"/>
              <a:t> </a:t>
            </a:r>
          </a:p>
        </p:txBody>
      </p:sp>
      <p:pic>
        <p:nvPicPr>
          <p:cNvPr id="8" name="Picture 7" descr="Chart, line chart&#10;&#10;Description automatically generated">
            <a:extLst>
              <a:ext uri="{FF2B5EF4-FFF2-40B4-BE49-F238E27FC236}">
                <a16:creationId xmlns:a16="http://schemas.microsoft.com/office/drawing/2014/main" xmlns="" id="{99CC73A4-BDC5-9F42-BBCA-98CBCA6EB1A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171667" y="1917603"/>
            <a:ext cx="5848666" cy="4379071"/>
          </a:xfrm>
          <a:prstGeom prst="rect">
            <a:avLst/>
          </a:prstGeom>
        </p:spPr>
      </p:pic>
    </p:spTree>
    <p:extLst>
      <p:ext uri="{BB962C8B-B14F-4D97-AF65-F5344CB8AC3E}">
        <p14:creationId xmlns:p14="http://schemas.microsoft.com/office/powerpoint/2010/main" val="5539956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C058"/>
          </a:solidFill>
          <a:ln w="9525" cap="flat" cmpd="sng">
            <a:solidFill>
              <a:srgbClr val="79C058"/>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xmlns="" id="{647643F2-AA27-F54D-9B18-929351C91D74}"/>
              </a:ext>
            </a:extLst>
          </p:cNvPr>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lvl="0" algn="r"/>
            <a:r>
              <a:rPr lang="en-US" i="1" dirty="0">
                <a:latin typeface="Calibri"/>
                <a:ea typeface="Calibri"/>
                <a:cs typeface="Calibri"/>
                <a:sym typeface="Calibri"/>
              </a:rPr>
              <a:t>volume 1, pg. 240</a:t>
            </a:r>
          </a:p>
        </p:txBody>
      </p:sp>
      <p:sp>
        <p:nvSpPr>
          <p:cNvPr id="14" name="TextBox 13">
            <a:extLst>
              <a:ext uri="{FF2B5EF4-FFF2-40B4-BE49-F238E27FC236}">
                <a16:creationId xmlns:a16="http://schemas.microsoft.com/office/drawing/2014/main" xmlns="" id="{2FA392D8-3ED3-7940-83A8-1451AA8A08D4}"/>
              </a:ext>
            </a:extLst>
          </p:cNvPr>
          <p:cNvSpPr txBox="1"/>
          <p:nvPr/>
        </p:nvSpPr>
        <p:spPr>
          <a:xfrm>
            <a:off x="111600" y="4243020"/>
            <a:ext cx="8327136" cy="3385542"/>
          </a:xfrm>
          <a:prstGeom prst="rect">
            <a:avLst/>
          </a:prstGeom>
          <a:noFill/>
        </p:spPr>
        <p:txBody>
          <a:bodyPr wrap="square" rtlCol="0">
            <a:spAutoFit/>
          </a:bodyPr>
          <a:lstStyle/>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is the length, in units, of the rectangle?</a:t>
            </a:r>
          </a:p>
          <a:p>
            <a:pPr marL="914400" indent="-45720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What is the width, in units, of the rectangle?</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r>
              <a:rPr lang="en-US" sz="2000" dirty="0">
                <a:latin typeface="Verdana" panose="020B0604030504040204" pitchFamily="34" charset="0"/>
                <a:ea typeface="Verdana" panose="020B0604030504040204" pitchFamily="34" charset="0"/>
                <a:cs typeface="Verdana" panose="020B0604030504040204" pitchFamily="34" charset="0"/>
              </a:rPr>
              <a:t> </a:t>
            </a:r>
          </a:p>
          <a:p>
            <a:pPr marL="914400" indent="-4572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What is the perimeter, in units, of the rectangle?</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dirty="0"/>
              <a:t> </a:t>
            </a:r>
          </a:p>
        </p:txBody>
      </p:sp>
      <p:pic>
        <p:nvPicPr>
          <p:cNvPr id="6" name="Picture 5" descr="Chart, line chart&#10;&#10;Description automatically generated">
            <a:extLst>
              <a:ext uri="{FF2B5EF4-FFF2-40B4-BE49-F238E27FC236}">
                <a16:creationId xmlns:a16="http://schemas.microsoft.com/office/drawing/2014/main" xmlns="" id="{952DD1FD-BF7F-45B5-9C2D-8DC57C2CB3C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994075" y="211528"/>
            <a:ext cx="5101925" cy="3819964"/>
          </a:xfrm>
          <a:prstGeom prst="rect">
            <a:avLst/>
          </a:prstGeom>
        </p:spPr>
      </p:pic>
    </p:spTree>
    <p:extLst>
      <p:ext uri="{BB962C8B-B14F-4D97-AF65-F5344CB8AC3E}">
        <p14:creationId xmlns:p14="http://schemas.microsoft.com/office/powerpoint/2010/main" val="3978203424"/>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1349</TotalTime>
  <Words>1324</Words>
  <Application>Microsoft Office PowerPoint</Application>
  <PresentationFormat>Custom</PresentationFormat>
  <Paragraphs>262</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Calibri</vt:lpstr>
      <vt:lpstr>Times New Roman</vt:lpstr>
      <vt:lpstr>Courier New</vt:lpstr>
      <vt:lpstr>Century Gothic</vt:lpstr>
      <vt:lpstr>Cambria Math</vt:lpstr>
      <vt:lpstr>Arial Black</vt:lpstr>
      <vt:lpstr>Verdana</vt:lpstr>
      <vt:lpstr>1_Office Theme</vt:lpstr>
      <vt:lpstr>6th Grade Math  Unit 5, Lesson 6  Perimeter on the Coordinate Plane  Volume 1, pg. 234  </vt:lpstr>
      <vt:lpstr>Benchmarks</vt:lpstr>
      <vt:lpstr>PowerPoint Presentation</vt:lpstr>
      <vt:lpstr>PowerPoint Presentation</vt:lpstr>
      <vt:lpstr>Warm-Up</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22</cp:revision>
  <dcterms:created xsi:type="dcterms:W3CDTF">2015-03-17T18:51:18Z</dcterms:created>
  <dcterms:modified xsi:type="dcterms:W3CDTF">2022-06-05T02:26:44Z</dcterms:modified>
</cp:coreProperties>
</file>