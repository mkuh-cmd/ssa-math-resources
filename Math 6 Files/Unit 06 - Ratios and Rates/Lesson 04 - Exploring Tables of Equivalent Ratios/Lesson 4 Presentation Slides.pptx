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285" r:id="rId4"/>
    <p:sldId id="286" r:id="rId5"/>
    <p:sldId id="261" r:id="rId6"/>
    <p:sldId id="287" r:id="rId7"/>
    <p:sldId id="311" r:id="rId8"/>
    <p:sldId id="312" r:id="rId9"/>
    <p:sldId id="333" r:id="rId10"/>
    <p:sldId id="345" r:id="rId11"/>
    <p:sldId id="344" r:id="rId12"/>
    <p:sldId id="343" r:id="rId13"/>
    <p:sldId id="346" r:id="rId14"/>
    <p:sldId id="323" r:id="rId15"/>
    <p:sldId id="324" r:id="rId16"/>
    <p:sldId id="347" r:id="rId17"/>
    <p:sldId id="348" r:id="rId18"/>
    <p:sldId id="349" r:id="rId19"/>
    <p:sldId id="350" r:id="rId20"/>
    <p:sldId id="351" r:id="rId21"/>
    <p:sldId id="352" r:id="rId22"/>
    <p:sldId id="306" r:id="rId23"/>
    <p:sldId id="307" r:id="rId24"/>
  </p:sldIdLst>
  <p:sldSz cx="12192000" cy="6858000"/>
  <p:notesSz cx="6858000" cy="9144000"/>
  <p:embeddedFontLst>
    <p:embeddedFont>
      <p:font typeface="Calibri" pitchFamily="34" charset="0"/>
      <p:regular r:id="rId26"/>
      <p:bold r:id="rId27"/>
      <p:italic r:id="rId28"/>
      <p:boldItalic r:id="rId29"/>
    </p:embeddedFont>
    <p:embeddedFont>
      <p:font typeface="Century Gothic" pitchFamily="34" charset="0"/>
      <p:regular r:id="rId30"/>
      <p:bold r:id="rId31"/>
      <p:italic r:id="rId32"/>
      <p:boldItalic r:id="rId33"/>
    </p:embeddedFont>
    <p:embeddedFont>
      <p:font typeface="Cambria Math" pitchFamily="18" charset="0"/>
      <p:regular r:id="rId34"/>
    </p:embeddedFont>
    <p:embeddedFont>
      <p:font typeface="Cambria" pitchFamily="18" charset="0"/>
      <p:regular r:id="rId35"/>
      <p:bold r:id="rId36"/>
      <p:italic r:id="rId37"/>
      <p:boldItalic r:id="rId38"/>
    </p:embeddedFont>
    <p:embeddedFont>
      <p:font typeface="Arial Black" pitchFamily="34" charset="0"/>
      <p:bold r:id="rId39"/>
    </p:embeddedFont>
    <p:embeddedFont>
      <p:font typeface="Verdana" pitchFamily="34"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76C46"/>
    <a:srgbClr val="C9DF6F"/>
    <a:srgbClr val="417DBF"/>
    <a:srgbClr val="3F2A67"/>
    <a:srgbClr val="E24E5F"/>
    <a:srgbClr val="26B7D4"/>
    <a:srgbClr val="54B5D1"/>
    <a:srgbClr val="33BEA6"/>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386"/>
    <p:restoredTop sz="94691"/>
  </p:normalViewPr>
  <p:slideViewPr>
    <p:cSldViewPr snapToGrid="0">
      <p:cViewPr varScale="1">
        <p:scale>
          <a:sx n="78" d="100"/>
          <a:sy n="78" d="100"/>
        </p:scale>
        <p:origin x="-571"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font" Target="fonts/font17.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41" Type="http://schemas.openxmlformats.org/officeDocument/2006/relationships/font" Target="fonts/font1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font" Target="fonts/font18.fntdata"/><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789706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5119672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8390262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1677145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1346084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2582401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12288088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19353921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7351875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37826414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42447972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35517528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24122366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3632150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image" Target="../media/image180.png"/><Relationship Id="rId5" Type="http://schemas.openxmlformats.org/officeDocument/2006/relationships/image" Target="../media/image18.png"/><Relationship Id="rId4" Type="http://schemas.openxmlformats.org/officeDocument/2006/relationships/image" Target="../media/image16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280.png"/><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30.png"/><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30.png"/><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0.xml"/><Relationship Id="rId1" Type="http://schemas.openxmlformats.org/officeDocument/2006/relationships/slideLayout" Target="../slideLayouts/slideLayout8.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8.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40.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4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6, Lesson 4</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Exploring Tables of Equivalent Ratios</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272</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xmlns="" id="{566F1422-A32C-7745-9E85-5AF7B9DBC697}"/>
              </a:ext>
            </a:extLst>
          </p:cNvPr>
          <p:cNvSpPr/>
          <p:nvPr/>
        </p:nvSpPr>
        <p:spPr>
          <a:xfrm>
            <a:off x="0" y="0"/>
            <a:ext cx="4094106"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6" name="Picture 5" descr="Logo&#10;&#10;Description automatically generated">
            <a:extLst>
              <a:ext uri="{FF2B5EF4-FFF2-40B4-BE49-F238E27FC236}">
                <a16:creationId xmlns:a16="http://schemas.microsoft.com/office/drawing/2014/main" xmlns="" id="{A3BF60F1-A9D6-B043-9905-FB1D55DD5BC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48935" y="1696107"/>
            <a:ext cx="2973100" cy="3465785"/>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233900" y="-15267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Benchmarks</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4900" y="136525"/>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743800"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272</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43491" y="6129037"/>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xmlns="" id="{527A9F9F-07B8-ED47-B967-E5507C67DBC5}"/>
              </a:ext>
            </a:extLst>
          </p:cNvPr>
          <p:cNvSpPr txBox="1">
            <a:spLocks/>
          </p:cNvSpPr>
          <p:nvPr/>
        </p:nvSpPr>
        <p:spPr>
          <a:xfrm>
            <a:off x="457200" y="1173025"/>
            <a:ext cx="11368216" cy="4474013"/>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MA.6.AR.3.2</a:t>
            </a:r>
          </a:p>
          <a:p>
            <a:pPr indent="0">
              <a:buNone/>
            </a:pPr>
            <a:r>
              <a:rPr lang="en-US" sz="2400" dirty="0">
                <a:latin typeface="Verdana" panose="020B0604030504040204" pitchFamily="34" charset="0"/>
                <a:ea typeface="Verdana" panose="020B0604030504040204" pitchFamily="34" charset="0"/>
                <a:cs typeface="Verdana" panose="020B0604030504040204" pitchFamily="34" charset="0"/>
              </a:rPr>
              <a:t>Given a real-world context, determine a rate for a ratio of quantities with different units. Calculate and interpret the corresponding unit rate.</a:t>
            </a:r>
          </a:p>
          <a:p>
            <a:pPr indent="0">
              <a:buNone/>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a:p>
            <a:pPr indent="0">
              <a:buNone/>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a:p>
            <a:pPr marL="0" indent="0">
              <a:buSzPts val="1100"/>
              <a:buNone/>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MA.6.AR.3.3</a:t>
            </a:r>
          </a:p>
          <a:p>
            <a:pPr marL="463550" indent="0">
              <a:buNone/>
            </a:pPr>
            <a:r>
              <a:rPr lang="en-US" sz="2400" dirty="0">
                <a:latin typeface="Verdana" panose="020B0604030504040204" pitchFamily="34" charset="0"/>
                <a:ea typeface="Verdana" panose="020B0604030504040204" pitchFamily="34" charset="0"/>
                <a:cs typeface="Verdana" panose="020B0604030504040204" pitchFamily="34" charset="0"/>
              </a:rPr>
              <a:t>Extend previous understanding of fractions and numerical patterns to generate or complete a two- or three-column table to display equivalent part-to-part ratios and part-to-part-to-whole ratios.</a:t>
            </a:r>
          </a:p>
          <a:p>
            <a:pPr indent="0">
              <a:buNone/>
            </a:pPr>
            <a:endParaRPr lang="en-US" dirty="0">
              <a:solidFill>
                <a:schemeClr val="tx1"/>
              </a:solidFill>
              <a:latin typeface="Century Gothic"/>
              <a:sym typeface="Century Gothic"/>
            </a:endParaRPr>
          </a:p>
          <a:p>
            <a:pPr indent="0">
              <a:buNone/>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290531" y="94281"/>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81707" y="6129037"/>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xmlns="" id="{08B3C7FF-E6D0-2145-9A84-003D15672764}"/>
              </a:ext>
            </a:extLst>
          </p:cNvPr>
          <p:cNvSpPr txBox="1">
            <a:spLocks/>
          </p:cNvSpPr>
          <p:nvPr/>
        </p:nvSpPr>
        <p:spPr>
          <a:xfrm>
            <a:off x="1105162" y="-57102"/>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xmlns="" id="{E701C7D4-7BD4-5F4C-ACEB-5781D00837A2}"/>
              </a:ext>
            </a:extLst>
          </p:cNvPr>
          <p:cNvSpPr txBox="1"/>
          <p:nvPr/>
        </p:nvSpPr>
        <p:spPr>
          <a:xfrm>
            <a:off x="8761210" y="6467702"/>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272</a:t>
            </a:r>
            <a:endParaRPr i="1" dirty="0">
              <a:latin typeface="Calibri"/>
              <a:ea typeface="Calibri"/>
              <a:cs typeface="Calibri"/>
              <a:sym typeface="Calibri"/>
            </a:endParaRPr>
          </a:p>
        </p:txBody>
      </p:sp>
      <p:sp>
        <p:nvSpPr>
          <p:cNvPr id="11" name="Google Shape;296;g103996e1364_0_10">
            <a:extLst>
              <a:ext uri="{FF2B5EF4-FFF2-40B4-BE49-F238E27FC236}">
                <a16:creationId xmlns:a16="http://schemas.microsoft.com/office/drawing/2014/main" xmlns="" id="{A6E18E39-B007-D647-9935-55A748533A45}"/>
              </a:ext>
            </a:extLst>
          </p:cNvPr>
          <p:cNvSpPr txBox="1">
            <a:spLocks/>
          </p:cNvSpPr>
          <p:nvPr/>
        </p:nvSpPr>
        <p:spPr>
          <a:xfrm>
            <a:off x="543697" y="1268598"/>
            <a:ext cx="11219935" cy="453349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54714" y="6129037"/>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xmlns="" id="{5771FBFA-7311-BB45-8AFF-04B380531EE6}"/>
              </a:ext>
            </a:extLst>
          </p:cNvPr>
          <p:cNvSpPr txBox="1">
            <a:spLocks/>
          </p:cNvSpPr>
          <p:nvPr/>
        </p:nvSpPr>
        <p:spPr>
          <a:xfrm>
            <a:off x="1158888" y="-131048"/>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xmlns="" id="{81DC7EB0-4FED-FC45-BAEC-D699ED5C2169}"/>
              </a:ext>
            </a:extLst>
          </p:cNvPr>
          <p:cNvPicPr preferRelativeResize="0"/>
          <p:nvPr/>
        </p:nvPicPr>
        <p:blipFill>
          <a:blip r:embed="rId4">
            <a:alphaModFix/>
          </a:blip>
          <a:stretch>
            <a:fillRect/>
          </a:stretch>
        </p:blipFill>
        <p:spPr>
          <a:xfrm>
            <a:off x="280937" y="93975"/>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xmlns="" id="{3ECD2D46-55D5-C547-91DD-0801CE9D6AD7}"/>
              </a:ext>
            </a:extLst>
          </p:cNvPr>
          <p:cNvSpPr txBox="1"/>
          <p:nvPr/>
        </p:nvSpPr>
        <p:spPr>
          <a:xfrm>
            <a:off x="875693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272</a:t>
            </a:r>
            <a:endParaRPr i="1" dirty="0">
              <a:latin typeface="Calibri"/>
              <a:ea typeface="Calibri"/>
              <a:cs typeface="Calibri"/>
              <a:sym typeface="Calibri"/>
            </a:endParaRPr>
          </a:p>
        </p:txBody>
      </p:sp>
      <p:sp>
        <p:nvSpPr>
          <p:cNvPr id="14" name="Google Shape;302;g103996e1364_0_16">
            <a:extLst>
              <a:ext uri="{FF2B5EF4-FFF2-40B4-BE49-F238E27FC236}">
                <a16:creationId xmlns:a16="http://schemas.microsoft.com/office/drawing/2014/main" xmlns="" id="{9B7C98EC-F13C-9146-B728-D7044DB4247D}"/>
              </a:ext>
            </a:extLst>
          </p:cNvPr>
          <p:cNvSpPr txBox="1">
            <a:spLocks/>
          </p:cNvSpPr>
          <p:nvPr/>
        </p:nvSpPr>
        <p:spPr>
          <a:xfrm>
            <a:off x="556054" y="1194652"/>
            <a:ext cx="10898660" cy="455814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 I can build tables of equivalent ratios incorporating an understanding of unit rate. </a:t>
            </a: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29037"/>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732350"/>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794923" y="258537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xmlns="" id="{B595484E-1C62-AC4F-B448-37E60F77A8C0}"/>
              </a:ext>
            </a:extLst>
          </p:cNvPr>
          <p:cNvSpPr txBox="1"/>
          <p:nvPr/>
        </p:nvSpPr>
        <p:spPr>
          <a:xfrm>
            <a:off x="8994150" y="64659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272</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8795"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4003" y="6129037"/>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206187" y="-100313"/>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6.4.1 Warm-Up: Balloon Lift</a:t>
            </a:r>
          </a:p>
        </p:txBody>
      </p:sp>
      <p:pic>
        <p:nvPicPr>
          <p:cNvPr id="13" name="Google Shape;326;g103996e1364_0_25">
            <a:extLst>
              <a:ext uri="{FF2B5EF4-FFF2-40B4-BE49-F238E27FC236}">
                <a16:creationId xmlns:a16="http://schemas.microsoft.com/office/drawing/2014/main" xmlns="" id="{0B25478F-1F7B-DF44-A9BD-898178E878B3}"/>
              </a:ext>
            </a:extLst>
          </p:cNvPr>
          <p:cNvPicPr preferRelativeResize="0"/>
          <p:nvPr/>
        </p:nvPicPr>
        <p:blipFill>
          <a:blip r:embed="rId4">
            <a:alphaModFix/>
          </a:blip>
          <a:stretch>
            <a:fillRect/>
          </a:stretch>
        </p:blipFill>
        <p:spPr>
          <a:xfrm>
            <a:off x="345441" y="68267"/>
            <a:ext cx="747300" cy="747300"/>
          </a:xfrm>
          <a:prstGeom prst="rect">
            <a:avLst/>
          </a:prstGeom>
          <a:noFill/>
          <a:ln>
            <a:noFill/>
          </a:ln>
          <a:effectLst>
            <a:outerShdw blurRad="50800" dist="38100" dir="2700000" algn="tl" rotWithShape="0">
              <a:prstClr val="black">
                <a:alpha val="40000"/>
              </a:prstClr>
            </a:outerShdw>
          </a:effectLst>
        </p:spPr>
      </p:pic>
      <p:sp>
        <p:nvSpPr>
          <p:cNvPr id="3" name="Rectangle 2">
            <a:extLst>
              <a:ext uri="{FF2B5EF4-FFF2-40B4-BE49-F238E27FC236}">
                <a16:creationId xmlns:a16="http://schemas.microsoft.com/office/drawing/2014/main" xmlns="" id="{079F083F-A67E-0047-8E64-5125815AF3D8}"/>
              </a:ext>
            </a:extLst>
          </p:cNvPr>
          <p:cNvSpPr/>
          <p:nvPr/>
        </p:nvSpPr>
        <p:spPr>
          <a:xfrm>
            <a:off x="353055" y="1423095"/>
            <a:ext cx="7512908" cy="3785652"/>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In 2015, a Canadian man attached enough balloons to his lawn chair to float up into the sky. </a:t>
            </a: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Write a question, a wonder, or a comment about this scenario to be used during a class discussion.</a:t>
            </a: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p:txBody>
      </p:sp>
      <p:sp>
        <p:nvSpPr>
          <p:cNvPr id="9" name="Google Shape;282;g104476d1465_1_17">
            <a:extLst>
              <a:ext uri="{FF2B5EF4-FFF2-40B4-BE49-F238E27FC236}">
                <a16:creationId xmlns:a16="http://schemas.microsoft.com/office/drawing/2014/main" xmlns="" id="{D28F85A9-92EF-3646-A629-D71AC3FDE345}"/>
              </a:ext>
            </a:extLst>
          </p:cNvPr>
          <p:cNvSpPr txBox="1"/>
          <p:nvPr/>
        </p:nvSpPr>
        <p:spPr>
          <a:xfrm>
            <a:off x="8828379"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272</a:t>
            </a:r>
            <a:endParaRPr i="1" dirty="0">
              <a:latin typeface="Calibri"/>
              <a:ea typeface="Calibri"/>
              <a:cs typeface="Calibri"/>
              <a:sym typeface="Calibri"/>
            </a:endParaRPr>
          </a:p>
        </p:txBody>
      </p:sp>
      <p:pic>
        <p:nvPicPr>
          <p:cNvPr id="10" name="Picture 9" descr="A picture containing aircraft&#10;&#10;Description automatically generated">
            <a:extLst>
              <a:ext uri="{FF2B5EF4-FFF2-40B4-BE49-F238E27FC236}">
                <a16:creationId xmlns:a16="http://schemas.microsoft.com/office/drawing/2014/main" xmlns="" id="{9B16C5E3-1F2D-F340-841F-FBD33E44BFB4}"/>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8316908" y="1393667"/>
            <a:ext cx="2668905" cy="3815080"/>
          </a:xfrm>
          <a:prstGeom prst="rect">
            <a:avLst/>
          </a:prstGeom>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0965" y="6129037"/>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831993" y="2604639"/>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xmlns="" id="{B595484E-1C62-AC4F-B448-37E60F77A8C0}"/>
              </a:ext>
            </a:extLst>
          </p:cNvPr>
          <p:cNvSpPr txBox="1"/>
          <p:nvPr/>
        </p:nvSpPr>
        <p:spPr>
          <a:xfrm>
            <a:off x="8966965" y="644863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273</a:t>
            </a:r>
            <a:endParaRPr i="1" dirty="0">
              <a:latin typeface="Calibri"/>
              <a:ea typeface="Calibri"/>
              <a:cs typeface="Calibri"/>
              <a:sym typeface="Calibri"/>
            </a:endParaRPr>
          </a:p>
        </p:txBody>
      </p:sp>
      <p:pic>
        <p:nvPicPr>
          <p:cNvPr id="1026" name="Picture 2" descr="Icon&#10;&#10;Description automatically generated">
            <a:extLst>
              <a:ext uri="{FF2B5EF4-FFF2-40B4-BE49-F238E27FC236}">
                <a16:creationId xmlns:a16="http://schemas.microsoft.com/office/drawing/2014/main" xmlns="" id="{467567E5-BEAF-E24A-A492-D25759172D7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43715" y="268937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6971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6731" y="2949"/>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41652" y="615391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366180" y="-72152"/>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33BEA6"/>
                </a:solidFill>
                <a:latin typeface="Verdana"/>
                <a:ea typeface="Verdana"/>
                <a:cs typeface="Verdana"/>
                <a:sym typeface="Verdana"/>
              </a:rPr>
              <a:t>6.4.2 Exploration: Make It Float</a:t>
            </a:r>
          </a:p>
        </p:txBody>
      </p:sp>
      <p:pic>
        <p:nvPicPr>
          <p:cNvPr id="7" name="Picture 2" descr="Icon&#10;&#10;Description automatically generated">
            <a:extLst>
              <a:ext uri="{FF2B5EF4-FFF2-40B4-BE49-F238E27FC236}">
                <a16:creationId xmlns:a16="http://schemas.microsoft.com/office/drawing/2014/main" xmlns="" id="{A741EC39-D81C-A945-833B-CFC11AA40AE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20820" y="127064"/>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xmlns="" id="{B05AB5A2-AF35-B14C-AE54-D2A0628C823C}"/>
              </a:ext>
            </a:extLst>
          </p:cNvPr>
          <p:cNvSpPr/>
          <p:nvPr/>
        </p:nvSpPr>
        <p:spPr>
          <a:xfrm>
            <a:off x="937054" y="1286452"/>
            <a:ext cx="10317891" cy="2330447"/>
          </a:xfrm>
          <a:prstGeom prst="rect">
            <a:avLst/>
          </a:prstGeom>
        </p:spPr>
        <p:txBody>
          <a:bodyPr wrap="square">
            <a:spAutoFit/>
          </a:bodyPr>
          <a:lstStyle/>
          <a:p>
            <a:r>
              <a:rPr lang="en-US" sz="2000" dirty="0">
                <a:latin typeface="Verdana" panose="020B0604030504040204" pitchFamily="34" charset="0"/>
                <a:ea typeface="Times New Roman" panose="02020603050405020304" pitchFamily="18" charset="0"/>
                <a:cs typeface="Times New Roman" panose="02020603050405020304" pitchFamily="18" charset="0"/>
              </a:rPr>
              <a:t>Flying high with balloons is dangerous! This activity will focus on determining how many balloons it takes to float various objects.</a:t>
            </a: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r>
              <a:rPr lang="en-US" sz="2000" dirty="0">
                <a:latin typeface="Verdana" panose="020B0604030504040204" pitchFamily="34" charset="0"/>
                <a:ea typeface="Times New Roman" panose="02020603050405020304" pitchFamily="18" charset="0"/>
                <a:cs typeface="Times New Roman" panose="02020603050405020304" pitchFamily="18" charset="0"/>
              </a:rPr>
              <a:t>The images below show different numbers of balloons attached to rubber ducks of equal weight. The first image shows the ducks before they are released from the hold. The second image shows what happens after they are released.</a:t>
            </a:r>
          </a:p>
        </p:txBody>
      </p:sp>
      <p:sp>
        <p:nvSpPr>
          <p:cNvPr id="11" name="Google Shape;282;g104476d1465_1_17">
            <a:extLst>
              <a:ext uri="{FF2B5EF4-FFF2-40B4-BE49-F238E27FC236}">
                <a16:creationId xmlns:a16="http://schemas.microsoft.com/office/drawing/2014/main" xmlns="" id="{85268C17-F7CB-D243-B65D-166A4DD9987F}"/>
              </a:ext>
            </a:extLst>
          </p:cNvPr>
          <p:cNvSpPr txBox="1"/>
          <p:nvPr/>
        </p:nvSpPr>
        <p:spPr>
          <a:xfrm>
            <a:off x="8907652" y="648255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273</a:t>
            </a:r>
            <a:endParaRPr i="1" dirty="0">
              <a:latin typeface="Calibri"/>
              <a:ea typeface="Calibri"/>
              <a:cs typeface="Calibri"/>
              <a:sym typeface="Calibri"/>
            </a:endParaRPr>
          </a:p>
        </p:txBody>
      </p:sp>
      <p:graphicFrame>
        <p:nvGraphicFramePr>
          <p:cNvPr id="3" name="Table 2">
            <a:extLst>
              <a:ext uri="{FF2B5EF4-FFF2-40B4-BE49-F238E27FC236}">
                <a16:creationId xmlns:a16="http://schemas.microsoft.com/office/drawing/2014/main" xmlns="" id="{D2625D8D-DA95-8C47-8FEE-57637F44EDEF}"/>
              </a:ext>
            </a:extLst>
          </p:cNvPr>
          <p:cNvGraphicFramePr>
            <a:graphicFrameLocks noGrp="1"/>
          </p:cNvGraphicFramePr>
          <p:nvPr>
            <p:extLst>
              <p:ext uri="{D42A27DB-BD31-4B8C-83A1-F6EECF244321}">
                <p14:modId xmlns:p14="http://schemas.microsoft.com/office/powerpoint/2010/main" val="3046626907"/>
              </p:ext>
            </p:extLst>
          </p:nvPr>
        </p:nvGraphicFramePr>
        <p:xfrm>
          <a:off x="2671763" y="3926627"/>
          <a:ext cx="6848475" cy="2548989"/>
        </p:xfrm>
        <a:graphic>
          <a:graphicData uri="http://schemas.openxmlformats.org/drawingml/2006/table">
            <a:tbl>
              <a:tblPr firstRow="1" firstCol="1" bandRow="1">
                <a:tableStyleId>{A91F0D33-8C57-4600-99A7-42BC86742BE1}</a:tableStyleId>
              </a:tblPr>
              <a:tblGrid>
                <a:gridCol w="3526174">
                  <a:extLst>
                    <a:ext uri="{9D8B030D-6E8A-4147-A177-3AD203B41FA5}">
                      <a16:colId xmlns:a16="http://schemas.microsoft.com/office/drawing/2014/main" xmlns="" val="4186832048"/>
                    </a:ext>
                  </a:extLst>
                </a:gridCol>
                <a:gridCol w="3322301">
                  <a:extLst>
                    <a:ext uri="{9D8B030D-6E8A-4147-A177-3AD203B41FA5}">
                      <a16:colId xmlns:a16="http://schemas.microsoft.com/office/drawing/2014/main" xmlns="" val="603980357"/>
                    </a:ext>
                  </a:extLst>
                </a:gridCol>
              </a:tblGrid>
              <a:tr h="354429">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Before Release</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7493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After Release</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xmlns="" val="20888060"/>
                  </a:ext>
                </a:extLst>
              </a:tr>
              <a:tr h="1136987">
                <a:tc>
                  <a:txBody>
                    <a:bodyPr/>
                    <a:lstStyle/>
                    <a:p>
                      <a:pPr marL="0" marR="0" algn="ctr">
                        <a:spcBef>
                          <a:spcPts val="0"/>
                        </a:spcBef>
                        <a:spcAft>
                          <a:spcPts val="0"/>
                        </a:spcAft>
                      </a:pPr>
                      <a:endParaRPr lang="en-US" sz="18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endParaRPr lang="en-US" sz="18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endParaRPr lang="en-US" sz="18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endParaRPr lang="en-US" sz="18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endParaRPr lang="en-US" sz="18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endParaRPr lang="en-US" sz="18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endParaRPr lang="en-US" sz="18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103050691"/>
                  </a:ext>
                </a:extLst>
              </a:tr>
            </a:tbl>
          </a:graphicData>
        </a:graphic>
      </p:graphicFrame>
      <p:pic>
        <p:nvPicPr>
          <p:cNvPr id="10" name="Picture 9" descr="A screenshot of a video game&#10;&#10;Description automatically generated with medium confidence">
            <a:extLst>
              <a:ext uri="{FF2B5EF4-FFF2-40B4-BE49-F238E27FC236}">
                <a16:creationId xmlns:a16="http://schemas.microsoft.com/office/drawing/2014/main" xmlns="" id="{74B717A2-AF70-A446-8A7D-322C26AB8305}"/>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t="21324" r="53222" b="3792"/>
          <a:stretch/>
        </p:blipFill>
        <p:spPr bwMode="auto">
          <a:xfrm>
            <a:off x="2805774" y="4377241"/>
            <a:ext cx="3248660" cy="2025015"/>
          </a:xfrm>
          <a:prstGeom prst="rect">
            <a:avLst/>
          </a:prstGeom>
          <a:ln>
            <a:noFill/>
          </a:ln>
          <a:extLst>
            <a:ext uri="{53640926-AAD7-44D8-BBD7-CCE9431645EC}">
              <a14:shadowObscured xmlns:a14="http://schemas.microsoft.com/office/drawing/2010/main"/>
            </a:ext>
          </a:extLst>
        </p:spPr>
      </p:pic>
      <p:pic>
        <p:nvPicPr>
          <p:cNvPr id="12" name="Picture 11" descr="A screenshot of a video game&#10;&#10;Description automatically generated with medium confidence">
            <a:extLst>
              <a:ext uri="{FF2B5EF4-FFF2-40B4-BE49-F238E27FC236}">
                <a16:creationId xmlns:a16="http://schemas.microsoft.com/office/drawing/2014/main" xmlns="" id="{973A7420-72FD-854C-AFC2-4A6738A650BE}"/>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l="53258" t="20802"/>
          <a:stretch/>
        </p:blipFill>
        <p:spPr bwMode="auto">
          <a:xfrm>
            <a:off x="6317932" y="4333761"/>
            <a:ext cx="3202305" cy="214185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235248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 name="Rectangle 2">
            <a:extLst>
              <a:ext uri="{FF2B5EF4-FFF2-40B4-BE49-F238E27FC236}">
                <a16:creationId xmlns:a16="http://schemas.microsoft.com/office/drawing/2014/main" xmlns="" id="{96EBC228-FF81-F24F-AEB8-9068AF825BE0}"/>
              </a:ext>
            </a:extLst>
          </p:cNvPr>
          <p:cNvSpPr/>
          <p:nvPr/>
        </p:nvSpPr>
        <p:spPr>
          <a:xfrm>
            <a:off x="432486" y="370704"/>
            <a:ext cx="10738022" cy="5632311"/>
          </a:xfrm>
          <a:prstGeom prst="rect">
            <a:avLst/>
          </a:prstGeom>
        </p:spPr>
        <p:txBody>
          <a:bodyPr wrap="square">
            <a:spAutoFit/>
          </a:bodyPr>
          <a:lstStyle/>
          <a:p>
            <a:pPr marL="457200" indent="-333375">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Write one thing you know, one thing you wonder, and one thing you learned after looking at the figures above.</a:t>
            </a:r>
          </a:p>
          <a:p>
            <a:pPr marL="457200" indent="-333375">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123825"/>
            <a:endParaRPr lang="en-US" sz="2400" dirty="0">
              <a:latin typeface="Verdana" panose="020B0604030504040204" pitchFamily="34" charset="0"/>
              <a:ea typeface="Verdana" panose="020B0604030504040204" pitchFamily="34" charset="0"/>
              <a:cs typeface="Verdana" panose="020B0604030504040204" pitchFamily="34" charset="0"/>
            </a:endParaRPr>
          </a:p>
          <a:p>
            <a:pPr marL="581025"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One thing I know is …</a:t>
            </a:r>
          </a:p>
          <a:p>
            <a:pPr marL="581025"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581025"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581025"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333375">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 One thing I wonder is …</a:t>
            </a:r>
          </a:p>
          <a:p>
            <a:pPr marL="457200" indent="-333375">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333375">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333375">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333375">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 One thing I learned is …</a:t>
            </a:r>
          </a:p>
          <a:p>
            <a:pPr marL="123825"/>
            <a:r>
              <a:rPr lang="en-US" sz="2400" dirty="0">
                <a:latin typeface="Verdana" panose="020B0604030504040204" pitchFamily="34" charset="0"/>
                <a:ea typeface="Verdana" panose="020B0604030504040204" pitchFamily="34" charset="0"/>
                <a:cs typeface="Verdana" panose="020B0604030504040204" pitchFamily="34" charset="0"/>
              </a:rPr>
              <a:t/>
            </a:r>
            <a:br>
              <a:rPr lang="en-US" sz="2400" dirty="0">
                <a:latin typeface="Verdana" panose="020B0604030504040204" pitchFamily="34" charset="0"/>
                <a:ea typeface="Verdana" panose="020B0604030504040204" pitchFamily="34" charset="0"/>
                <a:cs typeface="Verdana" panose="020B0604030504040204" pitchFamily="34" charset="0"/>
              </a:rPr>
            </a:br>
            <a:r>
              <a:rPr lang="en-US" sz="2400" dirty="0">
                <a:latin typeface="Verdana" panose="020B0604030504040204" pitchFamily="34" charset="0"/>
                <a:ea typeface="Verdana" panose="020B0604030504040204" pitchFamily="34" charset="0"/>
                <a:cs typeface="Verdana" panose="020B0604030504040204" pitchFamily="34" charset="0"/>
              </a:rPr>
              <a:t> </a:t>
            </a:r>
          </a:p>
        </p:txBody>
      </p:sp>
      <p:sp>
        <p:nvSpPr>
          <p:cNvPr id="9" name="Google Shape;282;g104476d1465_1_17">
            <a:extLst>
              <a:ext uri="{FF2B5EF4-FFF2-40B4-BE49-F238E27FC236}">
                <a16:creationId xmlns:a16="http://schemas.microsoft.com/office/drawing/2014/main" xmlns="" id="{E3DC8F22-04D2-D04F-BA67-53D9B7F3B29F}"/>
              </a:ext>
            </a:extLst>
          </p:cNvPr>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273</a:t>
            </a:r>
            <a:endParaRPr i="1" dirty="0">
              <a:latin typeface="Calibri"/>
              <a:ea typeface="Calibri"/>
              <a:cs typeface="Calibri"/>
              <a:sym typeface="Calibri"/>
            </a:endParaRPr>
          </a:p>
        </p:txBody>
      </p:sp>
    </p:spTree>
    <p:extLst>
      <p:ext uri="{BB962C8B-B14F-4D97-AF65-F5344CB8AC3E}">
        <p14:creationId xmlns:p14="http://schemas.microsoft.com/office/powerpoint/2010/main" val="1552515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2D32FB2E-EC85-7547-997A-F8CC3AB0EE91}"/>
                  </a:ext>
                </a:extLst>
              </p:cNvPr>
              <p:cNvSpPr/>
              <p:nvPr/>
            </p:nvSpPr>
            <p:spPr>
              <a:xfrm>
                <a:off x="457200" y="639902"/>
                <a:ext cx="7065818" cy="1446550"/>
              </a:xfrm>
              <a:prstGeom prst="rect">
                <a:avLst/>
              </a:prstGeom>
            </p:spPr>
            <p:txBody>
              <a:bodyPr wrap="square">
                <a:spAutoFit/>
              </a:bodyPr>
              <a:lstStyle/>
              <a:p>
                <a:pPr marL="468312" indent="-457200">
                  <a:buFont typeface="+mj-lt"/>
                  <a:buAutoNum type="arabicPeriod" startAt="2"/>
                </a:pPr>
                <a:r>
                  <a:rPr lang="en-US" sz="2200" dirty="0">
                    <a:latin typeface="Verdana" panose="020B0604030504040204" pitchFamily="34" charset="0"/>
                    <a:ea typeface="Times New Roman" panose="02020603050405020304" pitchFamily="18" charset="0"/>
                    <a:cs typeface="Times New Roman" panose="02020603050405020304" pitchFamily="18" charset="0"/>
                  </a:rPr>
                  <a:t>It took </a:t>
                </a:r>
                <a14:m>
                  <m:oMath xmlns:m="http://schemas.openxmlformats.org/officeDocument/2006/math">
                    <m:r>
                      <a:rPr lang="en-US" sz="2200" i="1" dirty="0">
                        <a:latin typeface="Cambria Math" panose="02040503050406030204" pitchFamily="18" charset="0"/>
                        <a:ea typeface="Times New Roman" panose="02020603050405020304" pitchFamily="18" charset="0"/>
                        <a:cs typeface="Times New Roman" panose="02020603050405020304" pitchFamily="18" charset="0"/>
                      </a:rPr>
                      <m:t>4</m:t>
                    </m:r>
                  </m:oMath>
                </a14:m>
                <a:r>
                  <a:rPr lang="en-US" sz="2200" dirty="0">
                    <a:latin typeface="Verdana" panose="020B0604030504040204" pitchFamily="34" charset="0"/>
                    <a:ea typeface="Times New Roman" panose="02020603050405020304" pitchFamily="18" charset="0"/>
                    <a:cs typeface="Times New Roman" panose="02020603050405020304" pitchFamily="18" charset="0"/>
                  </a:rPr>
                  <a:t> balloons to make the duck float. The duck weighs </a:t>
                </a:r>
                <a14:m>
                  <m:oMath xmlns:m="http://schemas.openxmlformats.org/officeDocument/2006/math">
                    <m:r>
                      <a:rPr lang="en-US" sz="2200" i="1" dirty="0">
                        <a:latin typeface="Cambria Math" panose="02040503050406030204" pitchFamily="18" charset="0"/>
                        <a:ea typeface="Times New Roman" panose="02020603050405020304" pitchFamily="18" charset="0"/>
                        <a:cs typeface="Times New Roman" panose="02020603050405020304" pitchFamily="18" charset="0"/>
                      </a:rPr>
                      <m:t>56</m:t>
                    </m:r>
                  </m:oMath>
                </a14:m>
                <a:r>
                  <a:rPr lang="en-US" sz="2200" dirty="0">
                    <a:latin typeface="Verdana" panose="020B0604030504040204" pitchFamily="34" charset="0"/>
                    <a:ea typeface="Times New Roman" panose="02020603050405020304" pitchFamily="18" charset="0"/>
                    <a:cs typeface="Times New Roman" panose="02020603050405020304" pitchFamily="18" charset="0"/>
                  </a:rPr>
                  <a:t> grams. If each balloon lifts the same amount, how many grams would float with 1 balloon?</a:t>
                </a:r>
              </a:p>
            </p:txBody>
          </p:sp>
        </mc:Choice>
        <mc:Fallback xmlns="">
          <p:sp>
            <p:nvSpPr>
              <p:cNvPr id="2" name="Rectangle 1">
                <a:extLst>
                  <a:ext uri="{FF2B5EF4-FFF2-40B4-BE49-F238E27FC236}">
                    <a16:creationId xmlns:a16="http://schemas.microsoft.com/office/drawing/2014/main" id="{2D32FB2E-EC85-7547-997A-F8CC3AB0EE91}"/>
                  </a:ext>
                </a:extLst>
              </p:cNvPr>
              <p:cNvSpPr>
                <a:spLocks noRot="1" noChangeAspect="1" noMove="1" noResize="1" noEditPoints="1" noAdjustHandles="1" noChangeArrowheads="1" noChangeShapeType="1" noTextEdit="1"/>
              </p:cNvSpPr>
              <p:nvPr/>
            </p:nvSpPr>
            <p:spPr>
              <a:xfrm>
                <a:off x="457200" y="639902"/>
                <a:ext cx="7065818" cy="1446550"/>
              </a:xfrm>
              <a:prstGeom prst="rect">
                <a:avLst/>
              </a:prstGeom>
              <a:blipFill>
                <a:blip r:embed="rId4"/>
                <a:stretch>
                  <a:fillRect l="-1077" t="-2609" b="-7826"/>
                </a:stretch>
              </a:blipFill>
            </p:spPr>
            <p:txBody>
              <a:bodyPr/>
              <a:lstStyle/>
              <a:p>
                <a:r>
                  <a:rPr lang="en-US">
                    <a:noFill/>
                  </a:rPr>
                  <a:t> </a:t>
                </a:r>
              </a:p>
            </p:txBody>
          </p:sp>
        </mc:Fallback>
      </mc:AlternateContent>
      <p:sp>
        <p:nvSpPr>
          <p:cNvPr id="9" name="Google Shape;282;g104476d1465_1_17">
            <a:extLst>
              <a:ext uri="{FF2B5EF4-FFF2-40B4-BE49-F238E27FC236}">
                <a16:creationId xmlns:a16="http://schemas.microsoft.com/office/drawing/2014/main" xmlns="" id="{FA85A54A-26B4-2547-91B9-E4095EBEEB48}"/>
              </a:ext>
            </a:extLst>
          </p:cNvPr>
          <p:cNvSpPr txBox="1"/>
          <p:nvPr/>
        </p:nvSpPr>
        <p:spPr>
          <a:xfrm>
            <a:off x="8994150"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273</a:t>
            </a:r>
            <a:endParaRPr i="1" dirty="0">
              <a:latin typeface="Calibri"/>
              <a:ea typeface="Calibri"/>
              <a:cs typeface="Calibri"/>
              <a:sym typeface="Calibri"/>
            </a:endParaRPr>
          </a:p>
        </p:txBody>
      </p:sp>
      <p:pic>
        <p:nvPicPr>
          <p:cNvPr id="7" name="Picture 6" descr="A picture containing vector graphics&#10;&#10;Description automatically generated">
            <a:extLst>
              <a:ext uri="{FF2B5EF4-FFF2-40B4-BE49-F238E27FC236}">
                <a16:creationId xmlns:a16="http://schemas.microsoft.com/office/drawing/2014/main" xmlns="" id="{37F66CCA-C8B7-6348-9DF6-024DF612B090}"/>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7984895" y="357337"/>
            <a:ext cx="2276475" cy="2011680"/>
          </a:xfrm>
          <a:prstGeom prst="rect">
            <a:avLst/>
          </a:prstGeom>
        </p:spPr>
      </p:pic>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xmlns="" id="{09BBD14F-6C1E-014E-94DF-696D9B96559A}"/>
                  </a:ext>
                </a:extLst>
              </p:cNvPr>
              <p:cNvSpPr/>
              <p:nvPr/>
            </p:nvSpPr>
            <p:spPr>
              <a:xfrm>
                <a:off x="457201" y="2455786"/>
                <a:ext cx="9919856" cy="1446550"/>
              </a:xfrm>
              <a:prstGeom prst="rect">
                <a:avLst/>
              </a:prstGeom>
            </p:spPr>
            <p:txBody>
              <a:bodyPr wrap="square">
                <a:spAutoFit/>
              </a:bodyPr>
              <a:lstStyle/>
              <a:p>
                <a:pPr marL="468312" indent="-457200">
                  <a:buFont typeface="+mj-lt"/>
                  <a:buAutoNum type="arabicPeriod" startAt="3"/>
                </a:pPr>
                <a:r>
                  <a:rPr lang="en-US" sz="2200" dirty="0">
                    <a:latin typeface="Verdana" panose="020B0604030504040204" pitchFamily="34" charset="0"/>
                    <a:ea typeface="Times New Roman" panose="02020603050405020304" pitchFamily="18" charset="0"/>
                    <a:cs typeface="Times New Roman" panose="02020603050405020304" pitchFamily="18" charset="0"/>
                  </a:rPr>
                  <a:t>How many balloons will it take to float a toy bear that weighs </a:t>
                </a:r>
                <a14:m>
                  <m:oMath xmlns:m="http://schemas.openxmlformats.org/officeDocument/2006/math">
                    <m:r>
                      <a:rPr lang="en-US" sz="2200" i="1" dirty="0">
                        <a:latin typeface="Cambria Math" panose="02040503050406030204" pitchFamily="18" charset="0"/>
                        <a:ea typeface="Times New Roman" panose="02020603050405020304" pitchFamily="18" charset="0"/>
                        <a:cs typeface="Times New Roman" panose="02020603050405020304" pitchFamily="18" charset="0"/>
                      </a:rPr>
                      <m:t>350</m:t>
                    </m:r>
                  </m:oMath>
                </a14:m>
                <a:r>
                  <a:rPr lang="en-US" sz="2200" dirty="0">
                    <a:latin typeface="Verdana" panose="020B0604030504040204" pitchFamily="34" charset="0"/>
                    <a:ea typeface="Times New Roman" panose="02020603050405020304" pitchFamily="18" charset="0"/>
                    <a:cs typeface="Times New Roman" panose="02020603050405020304" pitchFamily="18" charset="0"/>
                  </a:rPr>
                  <a:t> grams? </a:t>
                </a:r>
              </a:p>
              <a:p>
                <a:pPr marL="11112"/>
                <a:endParaRPr lang="en-US" sz="2200" dirty="0">
                  <a:latin typeface="Verdana" panose="020B0604030504040204" pitchFamily="34" charset="0"/>
                  <a:ea typeface="Times New Roman" panose="02020603050405020304" pitchFamily="18" charset="0"/>
                  <a:cs typeface="Times New Roman" panose="02020603050405020304" pitchFamily="18" charset="0"/>
                </a:endParaRPr>
              </a:p>
              <a:p>
                <a:pPr marL="855663" indent="-428625">
                  <a:buFont typeface="+mj-lt"/>
                  <a:buAutoNum type="alphaLcPeriod"/>
                </a:pPr>
                <a:r>
                  <a:rPr lang="en-US" sz="2200" dirty="0">
                    <a:latin typeface="Verdana" panose="020B0604030504040204" pitchFamily="34" charset="0"/>
                    <a:ea typeface="Times New Roman" panose="02020603050405020304" pitchFamily="18" charset="0"/>
                    <a:cs typeface="Times New Roman" panose="02020603050405020304" pitchFamily="18" charset="0"/>
                  </a:rPr>
                  <a:t>Write your prediction in the table. </a:t>
                </a:r>
              </a:p>
            </p:txBody>
          </p:sp>
        </mc:Choice>
        <mc:Fallback xmlns="">
          <p:sp>
            <p:nvSpPr>
              <p:cNvPr id="8" name="Rectangle 7">
                <a:extLst>
                  <a:ext uri="{FF2B5EF4-FFF2-40B4-BE49-F238E27FC236}">
                    <a16:creationId xmlns:a16="http://schemas.microsoft.com/office/drawing/2014/main" id="{09BBD14F-6C1E-014E-94DF-696D9B96559A}"/>
                  </a:ext>
                </a:extLst>
              </p:cNvPr>
              <p:cNvSpPr>
                <a:spLocks noRot="1" noChangeAspect="1" noMove="1" noResize="1" noEditPoints="1" noAdjustHandles="1" noChangeArrowheads="1" noChangeShapeType="1" noTextEdit="1"/>
              </p:cNvSpPr>
              <p:nvPr/>
            </p:nvSpPr>
            <p:spPr>
              <a:xfrm>
                <a:off x="457201" y="2455786"/>
                <a:ext cx="9919856" cy="1446550"/>
              </a:xfrm>
              <a:prstGeom prst="rect">
                <a:avLst/>
              </a:prstGeom>
              <a:blipFill>
                <a:blip r:embed="rId6"/>
                <a:stretch>
                  <a:fillRect l="-768" t="-2609" b="-78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xmlns="" id="{787572C9-9782-6547-879F-6706176C50A8}"/>
                  </a:ext>
                </a:extLst>
              </p:cNvPr>
              <p:cNvGraphicFramePr>
                <a:graphicFrameLocks noGrp="1"/>
              </p:cNvGraphicFramePr>
              <p:nvPr>
                <p:extLst>
                  <p:ext uri="{D42A27DB-BD31-4B8C-83A1-F6EECF244321}">
                    <p14:modId xmlns:p14="http://schemas.microsoft.com/office/powerpoint/2010/main" val="615296287"/>
                  </p:ext>
                </p:extLst>
              </p:nvPr>
            </p:nvGraphicFramePr>
            <p:xfrm>
              <a:off x="2069195" y="4341446"/>
              <a:ext cx="7496495" cy="1645920"/>
            </p:xfrm>
            <a:graphic>
              <a:graphicData uri="http://schemas.openxmlformats.org/drawingml/2006/table">
                <a:tbl>
                  <a:tblPr firstRow="1" firstCol="1" bandRow="1">
                    <a:tableStyleId>{A91F0D33-8C57-4600-99A7-42BC86742BE1}</a:tableStyleId>
                  </a:tblPr>
                  <a:tblGrid>
                    <a:gridCol w="2498305">
                      <a:extLst>
                        <a:ext uri="{9D8B030D-6E8A-4147-A177-3AD203B41FA5}">
                          <a16:colId xmlns:a16="http://schemas.microsoft.com/office/drawing/2014/main" xmlns="" val="1401036545"/>
                        </a:ext>
                      </a:extLst>
                    </a:gridCol>
                    <a:gridCol w="2499095">
                      <a:extLst>
                        <a:ext uri="{9D8B030D-6E8A-4147-A177-3AD203B41FA5}">
                          <a16:colId xmlns:a16="http://schemas.microsoft.com/office/drawing/2014/main" xmlns="" val="3212130893"/>
                        </a:ext>
                      </a:extLst>
                    </a:gridCol>
                    <a:gridCol w="2499095">
                      <a:extLst>
                        <a:ext uri="{9D8B030D-6E8A-4147-A177-3AD203B41FA5}">
                          <a16:colId xmlns:a16="http://schemas.microsoft.com/office/drawing/2014/main" xmlns="" val="3806681055"/>
                        </a:ext>
                      </a:extLst>
                    </a:gridCol>
                  </a:tblGrid>
                  <a:tr h="365760">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Object</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Weight (grams)</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Number of Balloons</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xmlns="" val="1468899344"/>
                      </a:ext>
                    </a:extLst>
                  </a:tr>
                  <a:tr h="365760">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Sandbag</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a:rPr>
                                  <m:t>14</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370335171"/>
                      </a:ext>
                    </a:extLst>
                  </a:tr>
                  <a:tr h="365760">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Duck</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a:rPr>
                                  <m:t>56</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a:rPr>
                                  <m:t>4</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388857314"/>
                      </a:ext>
                    </a:extLst>
                  </a:tr>
                  <a:tr h="365760">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Bear</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a:rPr>
                                  <m:t>350</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280213887"/>
                      </a:ext>
                    </a:extLst>
                  </a:tr>
                </a:tbl>
              </a:graphicData>
            </a:graphic>
          </p:graphicFrame>
        </mc:Choice>
        <mc:Fallback xmlns="">
          <p:graphicFrame>
            <p:nvGraphicFramePr>
              <p:cNvPr id="3" name="Table 2">
                <a:extLst>
                  <a:ext uri="{FF2B5EF4-FFF2-40B4-BE49-F238E27FC236}">
                    <a16:creationId xmlns:a16="http://schemas.microsoft.com/office/drawing/2014/main" id="{787572C9-9782-6547-879F-6706176C50A8}"/>
                  </a:ext>
                </a:extLst>
              </p:cNvPr>
              <p:cNvGraphicFramePr>
                <a:graphicFrameLocks noGrp="1"/>
              </p:cNvGraphicFramePr>
              <p:nvPr>
                <p:extLst>
                  <p:ext uri="{D42A27DB-BD31-4B8C-83A1-F6EECF244321}">
                    <p14:modId xmlns:p14="http://schemas.microsoft.com/office/powerpoint/2010/main" val="615296287"/>
                  </p:ext>
                </p:extLst>
              </p:nvPr>
            </p:nvGraphicFramePr>
            <p:xfrm>
              <a:off x="2069195" y="4341446"/>
              <a:ext cx="7496495" cy="1645920"/>
            </p:xfrm>
            <a:graphic>
              <a:graphicData uri="http://schemas.openxmlformats.org/drawingml/2006/table">
                <a:tbl>
                  <a:tblPr firstRow="1" firstCol="1" bandRow="1">
                    <a:tableStyleId>{A91F0D33-8C57-4600-99A7-42BC86742BE1}</a:tableStyleId>
                  </a:tblPr>
                  <a:tblGrid>
                    <a:gridCol w="2498305">
                      <a:extLst>
                        <a:ext uri="{9D8B030D-6E8A-4147-A177-3AD203B41FA5}">
                          <a16:colId xmlns:a16="http://schemas.microsoft.com/office/drawing/2014/main" val="1401036545"/>
                        </a:ext>
                      </a:extLst>
                    </a:gridCol>
                    <a:gridCol w="2499095">
                      <a:extLst>
                        <a:ext uri="{9D8B030D-6E8A-4147-A177-3AD203B41FA5}">
                          <a16:colId xmlns:a16="http://schemas.microsoft.com/office/drawing/2014/main" val="3212130893"/>
                        </a:ext>
                      </a:extLst>
                    </a:gridCol>
                    <a:gridCol w="2499095">
                      <a:extLst>
                        <a:ext uri="{9D8B030D-6E8A-4147-A177-3AD203B41FA5}">
                          <a16:colId xmlns:a16="http://schemas.microsoft.com/office/drawing/2014/main" val="3806681055"/>
                        </a:ext>
                      </a:extLst>
                    </a:gridCol>
                  </a:tblGrid>
                  <a:tr h="548640">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Object</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Weight (grams)</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Number of Balloons</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1468899344"/>
                      </a:ext>
                    </a:extLst>
                  </a:tr>
                  <a:tr h="365760">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Sandbag</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99495" t="-168966" r="-100000" b="-227586"/>
                          </a:stretch>
                        </a:blipFill>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70335171"/>
                      </a:ext>
                    </a:extLst>
                  </a:tr>
                  <a:tr h="365760">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Duck</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99495" t="-268966" r="-100000" b="-127586"/>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200508" t="-268966" r="-508" b="-127586"/>
                          </a:stretch>
                        </a:blipFill>
                      </a:tcPr>
                    </a:tc>
                    <a:extLst>
                      <a:ext uri="{0D108BD9-81ED-4DB2-BD59-A6C34878D82A}">
                        <a16:rowId xmlns:a16="http://schemas.microsoft.com/office/drawing/2014/main" val="1388857314"/>
                      </a:ext>
                    </a:extLst>
                  </a:tr>
                  <a:tr h="365760">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Bear</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99495" t="-368966" r="-100000" b="-27586"/>
                          </a:stretch>
                        </a:blipFill>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80213887"/>
                      </a:ext>
                    </a:extLst>
                  </a:tr>
                </a:tbl>
              </a:graphicData>
            </a:graphic>
          </p:graphicFrame>
        </mc:Fallback>
      </mc:AlternateContent>
    </p:spTree>
    <p:extLst>
      <p:ext uri="{BB962C8B-B14F-4D97-AF65-F5344CB8AC3E}">
        <p14:creationId xmlns:p14="http://schemas.microsoft.com/office/powerpoint/2010/main" val="1071966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99772" y="6200599"/>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xmlns="" id="{70349866-9A2F-9642-8136-D99DA46E15A8}"/>
              </a:ext>
            </a:extLst>
          </p:cNvPr>
          <p:cNvSpPr/>
          <p:nvPr/>
        </p:nvSpPr>
        <p:spPr>
          <a:xfrm>
            <a:off x="903273" y="690925"/>
            <a:ext cx="8469630" cy="461665"/>
          </a:xfrm>
          <a:prstGeom prst="rect">
            <a:avLst/>
          </a:prstGeom>
        </p:spPr>
        <p:txBody>
          <a:bodyPr wrap="square">
            <a:spAutoFit/>
          </a:bodyPr>
          <a:lstStyle/>
          <a:p>
            <a:pPr marL="457200" indent="-457200">
              <a:buFont typeface="+mj-lt"/>
              <a:buAutoNum type="alphaL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Explain the reasoning for your prediction. </a:t>
            </a:r>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p:txBody>
      </p:sp>
      <p:sp>
        <p:nvSpPr>
          <p:cNvPr id="7" name="Google Shape;282;g104476d1465_1_17">
            <a:extLst>
              <a:ext uri="{FF2B5EF4-FFF2-40B4-BE49-F238E27FC236}">
                <a16:creationId xmlns:a16="http://schemas.microsoft.com/office/drawing/2014/main" xmlns="" id="{A34F9F60-8804-674C-94FA-55DB31DBB9AB}"/>
              </a:ext>
            </a:extLst>
          </p:cNvPr>
          <p:cNvSpPr txBox="1"/>
          <p:nvPr/>
        </p:nvSpPr>
        <p:spPr>
          <a:xfrm>
            <a:off x="896577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273</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6" name="Text Box 9">
                <a:extLst>
                  <a:ext uri="{FF2B5EF4-FFF2-40B4-BE49-F238E27FC236}">
                    <a16:creationId xmlns:a16="http://schemas.microsoft.com/office/drawing/2014/main" xmlns="" id="{C278FA28-73D8-4948-A582-4CF6FCF9FF7C}"/>
                  </a:ext>
                </a:extLst>
              </p:cNvPr>
              <p:cNvSpPr txBox="1"/>
              <p:nvPr/>
            </p:nvSpPr>
            <p:spPr>
              <a:xfrm>
                <a:off x="9710506" y="2305364"/>
                <a:ext cx="1034448" cy="1129144"/>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1000"/>
                  </a:spcAft>
                </a:pPr>
                <a:r>
                  <a:rPr lang="en-US" sz="1800" dirty="0">
                    <a:latin typeface="Verdana" panose="020B0604030504040204" pitchFamily="34" charset="0"/>
                    <a:ea typeface="Times New Roman" panose="02020603050405020304" pitchFamily="18" charset="0"/>
                    <a:cs typeface="Times New Roman" panose="02020603050405020304" pitchFamily="18" charset="0"/>
                  </a:rPr>
                  <a:t>Bear</a:t>
                </a:r>
                <a:endParaRPr lang="x-none" sz="1600" dirty="0">
                  <a:latin typeface="Cambria" panose="02040503050406030204" pitchFamily="18" charset="0"/>
                  <a:ea typeface="Times New Roman" panose="02020603050405020304" pitchFamily="18" charset="0"/>
                  <a:cs typeface="Times New Roman" panose="02020603050405020304" pitchFamily="18" charset="0"/>
                </a:endParaRPr>
              </a:p>
              <a:p>
                <a:pPr algn="ctr">
                  <a:spcAft>
                    <a:spcPts val="1000"/>
                  </a:spcAft>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350 </m:t>
                      </m:r>
                      <m:r>
                        <a:rPr lang="en-US" sz="2000" i="1">
                          <a:latin typeface="Cambria Math" panose="02040503050406030204" pitchFamily="18" charset="0"/>
                          <a:ea typeface="Times New Roman" panose="02020603050405020304" pitchFamily="18" charset="0"/>
                          <a:cs typeface="Times New Roman" panose="02020603050405020304" pitchFamily="18" charset="0"/>
                        </a:rPr>
                        <m:t>𝑔</m:t>
                      </m:r>
                    </m:oMath>
                  </m:oMathPara>
                </a14:m>
                <a:endParaRPr lang="x-none" sz="16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6" name="Text Box 9">
                <a:extLst>
                  <a:ext uri="{FF2B5EF4-FFF2-40B4-BE49-F238E27FC236}">
                    <a16:creationId xmlns:a16="http://schemas.microsoft.com/office/drawing/2014/main" id="{C278FA28-73D8-4948-A582-4CF6FCF9FF7C}"/>
                  </a:ext>
                </a:extLst>
              </p:cNvPr>
              <p:cNvSpPr txBox="1">
                <a:spLocks noRot="1" noChangeAspect="1" noMove="1" noResize="1" noEditPoints="1" noAdjustHandles="1" noChangeArrowheads="1" noChangeShapeType="1" noTextEdit="1"/>
              </p:cNvSpPr>
              <p:nvPr/>
            </p:nvSpPr>
            <p:spPr>
              <a:xfrm>
                <a:off x="9710506" y="2305364"/>
                <a:ext cx="1034448" cy="1129144"/>
              </a:xfrm>
              <a:prstGeom prst="rect">
                <a:avLst/>
              </a:prstGeom>
              <a:blipFill>
                <a:blip r:embed="rId4"/>
                <a:stretch>
                  <a:fillRect t="-2222"/>
                </a:stretch>
              </a:blipFill>
              <a:ln w="6350">
                <a:noFill/>
              </a:ln>
            </p:spPr>
            <p:txBody>
              <a:bodyPr/>
              <a:lstStyle/>
              <a:p>
                <a:r>
                  <a:rPr lang="en-US">
                    <a:noFill/>
                  </a:rPr>
                  <a:t> </a:t>
                </a:r>
              </a:p>
            </p:txBody>
          </p:sp>
        </mc:Fallback>
      </mc:AlternateContent>
      <p:pic>
        <p:nvPicPr>
          <p:cNvPr id="8" name="Picture 7">
            <a:extLst>
              <a:ext uri="{FF2B5EF4-FFF2-40B4-BE49-F238E27FC236}">
                <a16:creationId xmlns:a16="http://schemas.microsoft.com/office/drawing/2014/main" xmlns="" id="{941FE2B8-0C33-5A46-A241-DA5496D55F09}"/>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8165237" y="1152590"/>
            <a:ext cx="1887739" cy="3167161"/>
          </a:xfrm>
          <a:prstGeom prst="rect">
            <a:avLst/>
          </a:prstGeom>
        </p:spPr>
      </p:pic>
    </p:spTree>
    <p:extLst>
      <p:ext uri="{BB962C8B-B14F-4D97-AF65-F5344CB8AC3E}">
        <p14:creationId xmlns:p14="http://schemas.microsoft.com/office/powerpoint/2010/main" val="35710728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4" name="Rectangle 3">
            <a:extLst>
              <a:ext uri="{FF2B5EF4-FFF2-40B4-BE49-F238E27FC236}">
                <a16:creationId xmlns:a16="http://schemas.microsoft.com/office/drawing/2014/main" xmlns="" id="{28853ABC-DADE-924D-B06F-31B56BCC7722}"/>
              </a:ext>
            </a:extLst>
          </p:cNvPr>
          <p:cNvSpPr/>
          <p:nvPr/>
        </p:nvSpPr>
        <p:spPr>
          <a:xfrm>
            <a:off x="630195" y="302090"/>
            <a:ext cx="10836875" cy="707886"/>
          </a:xfrm>
          <a:prstGeom prst="rect">
            <a:avLst/>
          </a:prstGeom>
        </p:spPr>
        <p:txBody>
          <a:bodyPr wrap="square">
            <a:spAutoFit/>
          </a:bodyPr>
          <a:lstStyle/>
          <a:p>
            <a:pPr marL="457200" indent="-457200">
              <a:buFont typeface="+mj-lt"/>
              <a:buAutoNum type="arabicPeriod" startAt="4"/>
            </a:pPr>
            <a:r>
              <a:rPr lang="en-US" sz="2000" dirty="0">
                <a:latin typeface="Verdana" panose="020B0604030504040204" pitchFamily="34" charset="0"/>
                <a:ea typeface="Verdana" panose="020B0604030504040204" pitchFamily="34" charset="0"/>
                <a:cs typeface="Verdana" panose="020B0604030504040204" pitchFamily="34" charset="0"/>
              </a:rPr>
              <a:t>Complete the table for the number of balloons needed to float each object based on its weight.</a:t>
            </a:r>
          </a:p>
        </p:txBody>
      </p:sp>
      <p:sp>
        <p:nvSpPr>
          <p:cNvPr id="18" name="Google Shape;282;g104476d1465_1_17">
            <a:extLst>
              <a:ext uri="{FF2B5EF4-FFF2-40B4-BE49-F238E27FC236}">
                <a16:creationId xmlns:a16="http://schemas.microsoft.com/office/drawing/2014/main" xmlns="" id="{E025FC87-8EB8-3F4A-835E-2236FC029C15}"/>
              </a:ext>
            </a:extLst>
          </p:cNvPr>
          <p:cNvSpPr txBox="1"/>
          <p:nvPr/>
        </p:nvSpPr>
        <p:spPr>
          <a:xfrm>
            <a:off x="8994150" y="649899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274</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xmlns="" id="{F2A3F50C-39E5-DA47-9CC0-5599DA2FD671}"/>
                  </a:ext>
                </a:extLst>
              </p:cNvPr>
              <p:cNvGraphicFramePr>
                <a:graphicFrameLocks noGrp="1"/>
              </p:cNvGraphicFramePr>
              <p:nvPr>
                <p:extLst>
                  <p:ext uri="{D42A27DB-BD31-4B8C-83A1-F6EECF244321}">
                    <p14:modId xmlns:p14="http://schemas.microsoft.com/office/powerpoint/2010/main" val="4100417733"/>
                  </p:ext>
                </p:extLst>
              </p:nvPr>
            </p:nvGraphicFramePr>
            <p:xfrm>
              <a:off x="2736273" y="1538363"/>
              <a:ext cx="6719454" cy="4316730"/>
            </p:xfrm>
            <a:graphic>
              <a:graphicData uri="http://schemas.openxmlformats.org/drawingml/2006/table">
                <a:tbl>
                  <a:tblPr firstRow="1" firstCol="1" bandRow="1">
                    <a:tableStyleId>{A91F0D33-8C57-4600-99A7-42BC86742BE1}</a:tableStyleId>
                  </a:tblPr>
                  <a:tblGrid>
                    <a:gridCol w="2239346">
                      <a:extLst>
                        <a:ext uri="{9D8B030D-6E8A-4147-A177-3AD203B41FA5}">
                          <a16:colId xmlns:a16="http://schemas.microsoft.com/office/drawing/2014/main" xmlns="" val="3105988098"/>
                        </a:ext>
                      </a:extLst>
                    </a:gridCol>
                    <a:gridCol w="2240054">
                      <a:extLst>
                        <a:ext uri="{9D8B030D-6E8A-4147-A177-3AD203B41FA5}">
                          <a16:colId xmlns:a16="http://schemas.microsoft.com/office/drawing/2014/main" xmlns="" val="1734301111"/>
                        </a:ext>
                      </a:extLst>
                    </a:gridCol>
                    <a:gridCol w="2240054">
                      <a:extLst>
                        <a:ext uri="{9D8B030D-6E8A-4147-A177-3AD203B41FA5}">
                          <a16:colId xmlns:a16="http://schemas.microsoft.com/office/drawing/2014/main" xmlns="" val="335284077"/>
                        </a:ext>
                      </a:extLst>
                    </a:gridCol>
                  </a:tblGrid>
                  <a:tr h="365760">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Object</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Weight (grams)</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Number of Balloons</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xmlns="" val="2743414779"/>
                      </a:ext>
                    </a:extLst>
                  </a:tr>
                  <a:tr h="628015">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Sandbag</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a:rPr>
                                  <m:t>14</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267436615"/>
                      </a:ext>
                    </a:extLst>
                  </a:tr>
                  <a:tr h="628015">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Duck</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a:rPr>
                                  <m:t>56</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a:rPr>
                                  <m:t>4</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998431017"/>
                      </a:ext>
                    </a:extLst>
                  </a:tr>
                  <a:tr h="628015">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Bear</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a:rPr>
                                  <m:t>350</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918338718"/>
                      </a:ext>
                    </a:extLst>
                  </a:tr>
                  <a:tr h="628015">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Toy Truck</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a:rPr>
                                  <m:t>98</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600213231"/>
                      </a:ext>
                    </a:extLst>
                  </a:tr>
                  <a:tr h="628015">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Toy Car</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a:rPr>
                                  <m:t>112</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209235371"/>
                      </a:ext>
                    </a:extLst>
                  </a:tr>
                  <a:tr h="628015">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Tennis Ball</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a:rPr>
                                  <m:t>70</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6248890"/>
                      </a:ext>
                    </a:extLst>
                  </a:tr>
                </a:tbl>
              </a:graphicData>
            </a:graphic>
          </p:graphicFrame>
        </mc:Choice>
        <mc:Fallback xmlns="">
          <p:graphicFrame>
            <p:nvGraphicFramePr>
              <p:cNvPr id="2" name="Table 1">
                <a:extLst>
                  <a:ext uri="{FF2B5EF4-FFF2-40B4-BE49-F238E27FC236}">
                    <a16:creationId xmlns:a16="http://schemas.microsoft.com/office/drawing/2014/main" id="{F2A3F50C-39E5-DA47-9CC0-5599DA2FD671}"/>
                  </a:ext>
                </a:extLst>
              </p:cNvPr>
              <p:cNvGraphicFramePr>
                <a:graphicFrameLocks noGrp="1"/>
              </p:cNvGraphicFramePr>
              <p:nvPr>
                <p:extLst>
                  <p:ext uri="{D42A27DB-BD31-4B8C-83A1-F6EECF244321}">
                    <p14:modId xmlns:p14="http://schemas.microsoft.com/office/powerpoint/2010/main" val="4100417733"/>
                  </p:ext>
                </p:extLst>
              </p:nvPr>
            </p:nvGraphicFramePr>
            <p:xfrm>
              <a:off x="2736273" y="1538363"/>
              <a:ext cx="6719454" cy="4316730"/>
            </p:xfrm>
            <a:graphic>
              <a:graphicData uri="http://schemas.openxmlformats.org/drawingml/2006/table">
                <a:tbl>
                  <a:tblPr firstRow="1" firstCol="1" bandRow="1">
                    <a:tableStyleId>{A91F0D33-8C57-4600-99A7-42BC86742BE1}</a:tableStyleId>
                  </a:tblPr>
                  <a:tblGrid>
                    <a:gridCol w="2239346">
                      <a:extLst>
                        <a:ext uri="{9D8B030D-6E8A-4147-A177-3AD203B41FA5}">
                          <a16:colId xmlns:a16="http://schemas.microsoft.com/office/drawing/2014/main" val="3105988098"/>
                        </a:ext>
                      </a:extLst>
                    </a:gridCol>
                    <a:gridCol w="2240054">
                      <a:extLst>
                        <a:ext uri="{9D8B030D-6E8A-4147-A177-3AD203B41FA5}">
                          <a16:colId xmlns:a16="http://schemas.microsoft.com/office/drawing/2014/main" val="1734301111"/>
                        </a:ext>
                      </a:extLst>
                    </a:gridCol>
                    <a:gridCol w="2240054">
                      <a:extLst>
                        <a:ext uri="{9D8B030D-6E8A-4147-A177-3AD203B41FA5}">
                          <a16:colId xmlns:a16="http://schemas.microsoft.com/office/drawing/2014/main" val="335284077"/>
                        </a:ext>
                      </a:extLst>
                    </a:gridCol>
                  </a:tblGrid>
                  <a:tr h="548640">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Object</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Weight (grams)</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Number of Balloons</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2743414779"/>
                      </a:ext>
                    </a:extLst>
                  </a:tr>
                  <a:tr h="628015">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Sandbag</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1136" t="-98000" r="-101136" b="-498000"/>
                          </a:stretch>
                        </a:blipFill>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67436615"/>
                      </a:ext>
                    </a:extLst>
                  </a:tr>
                  <a:tr h="628015">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Duck</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1136" t="-198000" r="-101136" b="-398000"/>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0000" t="-198000" r="-565" b="-398000"/>
                          </a:stretch>
                        </a:blipFill>
                      </a:tcPr>
                    </a:tc>
                    <a:extLst>
                      <a:ext uri="{0D108BD9-81ED-4DB2-BD59-A6C34878D82A}">
                        <a16:rowId xmlns:a16="http://schemas.microsoft.com/office/drawing/2014/main" val="2998431017"/>
                      </a:ext>
                    </a:extLst>
                  </a:tr>
                  <a:tr h="628015">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Bear</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1136" t="-304082" r="-101136" b="-306122"/>
                          </a:stretch>
                        </a:blipFill>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18338718"/>
                      </a:ext>
                    </a:extLst>
                  </a:tr>
                  <a:tr h="628015">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Toy Truck</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1136" t="-396000" r="-101136" b="-200000"/>
                          </a:stretch>
                        </a:blipFill>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00213231"/>
                      </a:ext>
                    </a:extLst>
                  </a:tr>
                  <a:tr h="628015">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Toy Car</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1136" t="-506122" r="-101136" b="-104082"/>
                          </a:stretch>
                        </a:blipFill>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09235371"/>
                      </a:ext>
                    </a:extLst>
                  </a:tr>
                  <a:tr h="628015">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Tennis Ball</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1136" t="-594000" r="-101136" b="-2000"/>
                          </a:stretch>
                        </a:blipFill>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6248890"/>
                      </a:ext>
                    </a:extLst>
                  </a:tr>
                </a:tbl>
              </a:graphicData>
            </a:graphic>
          </p:graphicFrame>
        </mc:Fallback>
      </mc:AlternateContent>
    </p:spTree>
    <p:extLst>
      <p:ext uri="{BB962C8B-B14F-4D97-AF65-F5344CB8AC3E}">
        <p14:creationId xmlns:p14="http://schemas.microsoft.com/office/powerpoint/2010/main" val="11858024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92902" y="6129037"/>
            <a:ext cx="563850" cy="657276"/>
          </a:xfrm>
          <a:prstGeom prst="rect">
            <a:avLst/>
          </a:prstGeom>
          <a:noFill/>
          <a:ln>
            <a:noFill/>
          </a:ln>
          <a:effectLst>
            <a:outerShdw blurRad="57150" dist="19050" dir="5400000" algn="bl" rotWithShape="0">
              <a:srgbClr val="000000">
                <a:alpha val="50000"/>
              </a:srgbClr>
            </a:outerShdw>
          </a:effectLst>
        </p:spPr>
      </p:pic>
      <p:sp>
        <p:nvSpPr>
          <p:cNvPr id="4" name="Rectangle 3">
            <a:extLst>
              <a:ext uri="{FF2B5EF4-FFF2-40B4-BE49-F238E27FC236}">
                <a16:creationId xmlns:a16="http://schemas.microsoft.com/office/drawing/2014/main" xmlns="" id="{28853ABC-DADE-924D-B06F-31B56BCC7722}"/>
              </a:ext>
            </a:extLst>
          </p:cNvPr>
          <p:cNvSpPr/>
          <p:nvPr/>
        </p:nvSpPr>
        <p:spPr>
          <a:xfrm>
            <a:off x="631642" y="559866"/>
            <a:ext cx="9576861" cy="400200"/>
          </a:xfrm>
          <a:prstGeom prst="rect">
            <a:avLst/>
          </a:prstGeom>
        </p:spPr>
        <p:txBody>
          <a:bodyPr wrap="square">
            <a:spAutoFit/>
          </a:bodyPr>
          <a:lstStyle/>
          <a:p>
            <a:pPr marL="457200" indent="-457200">
              <a:buFont typeface="+mj-lt"/>
              <a:buAutoNum type="arabicPeriod" startAt="5"/>
            </a:pPr>
            <a:r>
              <a:rPr lang="en-US" sz="2000" dirty="0">
                <a:latin typeface="Verdana" panose="020B0604030504040204" pitchFamily="34" charset="0"/>
                <a:ea typeface="Verdana" panose="020B0604030504040204" pitchFamily="34" charset="0"/>
                <a:cs typeface="Verdana" panose="020B0604030504040204" pitchFamily="34" charset="0"/>
              </a:rPr>
              <a:t>Draw the balloons for each object that would make it float.</a:t>
            </a:r>
          </a:p>
        </p:txBody>
      </p:sp>
      <p:sp>
        <p:nvSpPr>
          <p:cNvPr id="18" name="Google Shape;282;g104476d1465_1_17">
            <a:extLst>
              <a:ext uri="{FF2B5EF4-FFF2-40B4-BE49-F238E27FC236}">
                <a16:creationId xmlns:a16="http://schemas.microsoft.com/office/drawing/2014/main" xmlns="" id="{E025FC87-8EB8-3F4A-835E-2236FC029C15}"/>
              </a:ext>
            </a:extLst>
          </p:cNvPr>
          <p:cNvSpPr txBox="1"/>
          <p:nvPr/>
        </p:nvSpPr>
        <p:spPr>
          <a:xfrm>
            <a:off x="8958902" y="64659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274</a:t>
            </a:r>
            <a:endParaRPr i="1" dirty="0">
              <a:latin typeface="Calibri"/>
              <a:ea typeface="Calibri"/>
              <a:cs typeface="Calibri"/>
              <a:sym typeface="Calibri"/>
            </a:endParaRPr>
          </a:p>
        </p:txBody>
      </p:sp>
      <p:pic>
        <p:nvPicPr>
          <p:cNvPr id="7" name="Picture 6">
            <a:extLst>
              <a:ext uri="{FF2B5EF4-FFF2-40B4-BE49-F238E27FC236}">
                <a16:creationId xmlns:a16="http://schemas.microsoft.com/office/drawing/2014/main" xmlns="" id="{4AF686ED-79A3-7E40-BC35-2EABFC98E17C}"/>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2423398" y="2260782"/>
            <a:ext cx="7368413" cy="2896177"/>
          </a:xfrm>
          <a:prstGeom prst="rect">
            <a:avLst/>
          </a:prstGeom>
        </p:spPr>
      </p:pic>
      <mc:AlternateContent xmlns:mc="http://schemas.openxmlformats.org/markup-compatibility/2006" xmlns:a14="http://schemas.microsoft.com/office/drawing/2010/main">
        <mc:Choice Requires="a14">
          <p:sp>
            <p:nvSpPr>
              <p:cNvPr id="8" name="Text Box 37">
                <a:extLst>
                  <a:ext uri="{FF2B5EF4-FFF2-40B4-BE49-F238E27FC236}">
                    <a16:creationId xmlns:a16="http://schemas.microsoft.com/office/drawing/2014/main" xmlns="" id="{DE281137-2A94-FB4E-BD26-B4B8EB92E07F}"/>
                  </a:ext>
                </a:extLst>
              </p:cNvPr>
              <p:cNvSpPr txBox="1"/>
              <p:nvPr/>
            </p:nvSpPr>
            <p:spPr>
              <a:xfrm>
                <a:off x="3219220" y="3830095"/>
                <a:ext cx="1085850" cy="72898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1000"/>
                  </a:spcAft>
                </a:pPr>
                <a:r>
                  <a:rPr lang="en-US" dirty="0">
                    <a:latin typeface="Verdana" panose="020B0604030504040204" pitchFamily="34" charset="0"/>
                    <a:ea typeface="Times New Roman" panose="02020603050405020304" pitchFamily="18" charset="0"/>
                    <a:cs typeface="Times New Roman" panose="02020603050405020304" pitchFamily="18" charset="0"/>
                  </a:rPr>
                  <a:t>Toy Truck</a:t>
                </a:r>
                <a:endParaRPr lang="x-none" sz="1200" dirty="0">
                  <a:latin typeface="Cambria" panose="02040503050406030204" pitchFamily="18" charset="0"/>
                  <a:ea typeface="Times New Roman" panose="02020603050405020304" pitchFamily="18" charset="0"/>
                  <a:cs typeface="Times New Roman" panose="02020603050405020304" pitchFamily="18" charset="0"/>
                </a:endParaRPr>
              </a:p>
              <a:p>
                <a:pPr algn="ctr">
                  <a:spcAft>
                    <a:spcPts val="1000"/>
                  </a:spcAft>
                </a:pPr>
                <a14:m>
                  <m:oMathPara xmlns:m="http://schemas.openxmlformats.org/officeDocument/2006/math">
                    <m:oMathParaPr>
                      <m:jc m:val="centerGroup"/>
                    </m:oMathParaPr>
                    <m:oMath xmlns:m="http://schemas.openxmlformats.org/officeDocument/2006/math">
                      <m:r>
                        <a:rPr lang="en-US" sz="1600" i="1">
                          <a:latin typeface="Cambria Math" panose="02040503050406030204" pitchFamily="18" charset="0"/>
                          <a:ea typeface="Times New Roman" panose="02020603050405020304" pitchFamily="18" charset="0"/>
                          <a:cs typeface="Times New Roman" panose="02020603050405020304" pitchFamily="18" charset="0"/>
                        </a:rPr>
                        <m:t>98 </m:t>
                      </m:r>
                      <m:r>
                        <a:rPr lang="en-US" sz="1600" i="1">
                          <a:latin typeface="Cambria Math" panose="02040503050406030204" pitchFamily="18" charset="0"/>
                          <a:ea typeface="Times New Roman" panose="02020603050405020304" pitchFamily="18" charset="0"/>
                          <a:cs typeface="Times New Roman" panose="02020603050405020304" pitchFamily="18" charset="0"/>
                        </a:rPr>
                        <m:t>𝑔</m:t>
                      </m:r>
                    </m:oMath>
                  </m:oMathPara>
                </a14:m>
                <a:endParaRPr lang="x-none" sz="12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8" name="Text Box 37">
                <a:extLst>
                  <a:ext uri="{FF2B5EF4-FFF2-40B4-BE49-F238E27FC236}">
                    <a16:creationId xmlns:a16="http://schemas.microsoft.com/office/drawing/2014/main" id="{DE281137-2A94-FB4E-BD26-B4B8EB92E07F}"/>
                  </a:ext>
                </a:extLst>
              </p:cNvPr>
              <p:cNvSpPr txBox="1">
                <a:spLocks noRot="1" noChangeAspect="1" noMove="1" noResize="1" noEditPoints="1" noAdjustHandles="1" noChangeArrowheads="1" noChangeShapeType="1" noTextEdit="1"/>
              </p:cNvSpPr>
              <p:nvPr/>
            </p:nvSpPr>
            <p:spPr>
              <a:xfrm>
                <a:off x="3219220" y="3830095"/>
                <a:ext cx="1085850" cy="728980"/>
              </a:xfrm>
              <a:prstGeom prst="rect">
                <a:avLst/>
              </a:prstGeom>
              <a:blipFill>
                <a:blip r:embed="rId5"/>
                <a:stretch>
                  <a:fillRect l="-1163" t="-1695" r="-1163"/>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 Box 38">
                <a:extLst>
                  <a:ext uri="{FF2B5EF4-FFF2-40B4-BE49-F238E27FC236}">
                    <a16:creationId xmlns:a16="http://schemas.microsoft.com/office/drawing/2014/main" xmlns="" id="{A1F1CD6E-446E-A942-864C-3D60E61D0DB5}"/>
                  </a:ext>
                </a:extLst>
              </p:cNvPr>
              <p:cNvSpPr txBox="1"/>
              <p:nvPr/>
            </p:nvSpPr>
            <p:spPr>
              <a:xfrm>
                <a:off x="5583730" y="3854861"/>
                <a:ext cx="1047750" cy="70421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1000"/>
                  </a:spcAft>
                </a:pPr>
                <a:r>
                  <a:rPr lang="en-US" dirty="0">
                    <a:latin typeface="Verdana" panose="020B0604030504040204" pitchFamily="34" charset="0"/>
                    <a:ea typeface="Times New Roman" panose="02020603050405020304" pitchFamily="18" charset="0"/>
                    <a:cs typeface="Times New Roman" panose="02020603050405020304" pitchFamily="18" charset="0"/>
                  </a:rPr>
                  <a:t>Toy Car</a:t>
                </a:r>
                <a:endParaRPr lang="x-none" sz="1200" dirty="0">
                  <a:latin typeface="Cambria" panose="02040503050406030204" pitchFamily="18" charset="0"/>
                  <a:ea typeface="Times New Roman" panose="02020603050405020304" pitchFamily="18" charset="0"/>
                  <a:cs typeface="Times New Roman" panose="02020603050405020304" pitchFamily="18" charset="0"/>
                </a:endParaRPr>
              </a:p>
              <a:p>
                <a:pPr algn="ctr">
                  <a:spcAft>
                    <a:spcPts val="1000"/>
                  </a:spcAft>
                </a:pPr>
                <a14:m>
                  <m:oMathPara xmlns:m="http://schemas.openxmlformats.org/officeDocument/2006/math">
                    <m:oMathParaPr>
                      <m:jc m:val="centerGroup"/>
                    </m:oMathParaPr>
                    <m:oMath xmlns:m="http://schemas.openxmlformats.org/officeDocument/2006/math">
                      <m:r>
                        <a:rPr lang="en-US" sz="1600" i="1">
                          <a:latin typeface="Cambria Math" panose="02040503050406030204" pitchFamily="18" charset="0"/>
                          <a:ea typeface="Times New Roman" panose="02020603050405020304" pitchFamily="18" charset="0"/>
                          <a:cs typeface="Times New Roman" panose="02020603050405020304" pitchFamily="18" charset="0"/>
                        </a:rPr>
                        <m:t>112 </m:t>
                      </m:r>
                      <m:r>
                        <a:rPr lang="en-US" sz="1600" i="1">
                          <a:latin typeface="Cambria Math" panose="02040503050406030204" pitchFamily="18" charset="0"/>
                          <a:ea typeface="Times New Roman" panose="02020603050405020304" pitchFamily="18" charset="0"/>
                          <a:cs typeface="Times New Roman" panose="02020603050405020304" pitchFamily="18" charset="0"/>
                        </a:rPr>
                        <m:t>𝑔</m:t>
                      </m:r>
                    </m:oMath>
                  </m:oMathPara>
                </a14:m>
                <a:endParaRPr lang="x-none" sz="12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9" name="Text Box 38">
                <a:extLst>
                  <a:ext uri="{FF2B5EF4-FFF2-40B4-BE49-F238E27FC236}">
                    <a16:creationId xmlns:a16="http://schemas.microsoft.com/office/drawing/2014/main" id="{A1F1CD6E-446E-A942-864C-3D60E61D0DB5}"/>
                  </a:ext>
                </a:extLst>
              </p:cNvPr>
              <p:cNvSpPr txBox="1">
                <a:spLocks noRot="1" noChangeAspect="1" noMove="1" noResize="1" noEditPoints="1" noAdjustHandles="1" noChangeArrowheads="1" noChangeShapeType="1" noTextEdit="1"/>
              </p:cNvSpPr>
              <p:nvPr/>
            </p:nvSpPr>
            <p:spPr>
              <a:xfrm>
                <a:off x="5583730" y="3854861"/>
                <a:ext cx="1047750" cy="704215"/>
              </a:xfrm>
              <a:prstGeom prst="rect">
                <a:avLst/>
              </a:prstGeom>
              <a:blipFill>
                <a:blip r:embed="rId6"/>
                <a:stretch>
                  <a:fillRect t="-1754" b="-1754"/>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 Box 42">
                <a:extLst>
                  <a:ext uri="{FF2B5EF4-FFF2-40B4-BE49-F238E27FC236}">
                    <a16:creationId xmlns:a16="http://schemas.microsoft.com/office/drawing/2014/main" xmlns="" id="{4F69F49D-FCED-7C46-82F5-1E038995B73B}"/>
                  </a:ext>
                </a:extLst>
              </p:cNvPr>
              <p:cNvSpPr txBox="1"/>
              <p:nvPr/>
            </p:nvSpPr>
            <p:spPr>
              <a:xfrm>
                <a:off x="7994305" y="3725320"/>
                <a:ext cx="1047750" cy="85090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r>
                  <a:rPr lang="en-US" dirty="0">
                    <a:latin typeface="Verdana" panose="020B0604030504040204" pitchFamily="34" charset="0"/>
                    <a:ea typeface="Times New Roman" panose="02020603050405020304" pitchFamily="18" charset="0"/>
                    <a:cs typeface="Times New Roman" panose="02020603050405020304" pitchFamily="18" charset="0"/>
                  </a:rPr>
                  <a:t>Tennis Ball</a:t>
                </a:r>
                <a:endParaRPr lang="x-none" sz="1200" dirty="0">
                  <a:latin typeface="Cambria" panose="02040503050406030204" pitchFamily="18" charset="0"/>
                  <a:ea typeface="Times New Roman" panose="02020603050405020304" pitchFamily="18" charset="0"/>
                  <a:cs typeface="Times New Roman" panose="02020603050405020304" pitchFamily="18" charset="0"/>
                </a:endParaRPr>
              </a:p>
              <a:p>
                <a:pPr algn="ctr">
                  <a:spcAft>
                    <a:spcPts val="1000"/>
                  </a:spcAft>
                </a:pPr>
                <a14:m>
                  <m:oMathPara xmlns:m="http://schemas.openxmlformats.org/officeDocument/2006/math">
                    <m:oMathParaPr>
                      <m:jc m:val="centerGroup"/>
                    </m:oMathParaPr>
                    <m:oMath xmlns:m="http://schemas.openxmlformats.org/officeDocument/2006/math">
                      <m:r>
                        <a:rPr lang="en-US" sz="1600" i="1">
                          <a:latin typeface="Cambria Math" panose="02040503050406030204" pitchFamily="18" charset="0"/>
                          <a:ea typeface="Times New Roman" panose="02020603050405020304" pitchFamily="18" charset="0"/>
                          <a:cs typeface="Times New Roman" panose="02020603050405020304" pitchFamily="18" charset="0"/>
                        </a:rPr>
                        <m:t>70 </m:t>
                      </m:r>
                      <m:r>
                        <a:rPr lang="en-US" sz="1600" i="1">
                          <a:latin typeface="Cambria Math" panose="02040503050406030204" pitchFamily="18" charset="0"/>
                          <a:ea typeface="Times New Roman" panose="02020603050405020304" pitchFamily="18" charset="0"/>
                          <a:cs typeface="Times New Roman" panose="02020603050405020304" pitchFamily="18" charset="0"/>
                        </a:rPr>
                        <m:t>𝑔</m:t>
                      </m:r>
                    </m:oMath>
                  </m:oMathPara>
                </a14:m>
                <a:endParaRPr lang="x-none" sz="12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0" name="Text Box 42">
                <a:extLst>
                  <a:ext uri="{FF2B5EF4-FFF2-40B4-BE49-F238E27FC236}">
                    <a16:creationId xmlns:a16="http://schemas.microsoft.com/office/drawing/2014/main" id="{4F69F49D-FCED-7C46-82F5-1E038995B73B}"/>
                  </a:ext>
                </a:extLst>
              </p:cNvPr>
              <p:cNvSpPr txBox="1">
                <a:spLocks noRot="1" noChangeAspect="1" noMove="1" noResize="1" noEditPoints="1" noAdjustHandles="1" noChangeArrowheads="1" noChangeShapeType="1" noTextEdit="1"/>
              </p:cNvSpPr>
              <p:nvPr/>
            </p:nvSpPr>
            <p:spPr>
              <a:xfrm>
                <a:off x="7994305" y="3725320"/>
                <a:ext cx="1047750" cy="850900"/>
              </a:xfrm>
              <a:prstGeom prst="rect">
                <a:avLst/>
              </a:prstGeom>
              <a:blipFill>
                <a:blip r:embed="rId7"/>
                <a:stretch>
                  <a:fillRect t="-1471"/>
                </a:stretch>
              </a:blipFill>
              <a:ln w="6350">
                <a:noFill/>
              </a:ln>
            </p:spPr>
            <p:txBody>
              <a:bodyPr/>
              <a:lstStyle/>
              <a:p>
                <a:r>
                  <a:rPr lang="en-US">
                    <a:noFill/>
                  </a:rPr>
                  <a:t> </a:t>
                </a:r>
              </a:p>
            </p:txBody>
          </p:sp>
        </mc:Fallback>
      </mc:AlternateContent>
    </p:spTree>
    <p:extLst>
      <p:ext uri="{BB962C8B-B14F-4D97-AF65-F5344CB8AC3E}">
        <p14:creationId xmlns:p14="http://schemas.microsoft.com/office/powerpoint/2010/main" val="27876257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63025" y="2444869"/>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pic>
        <p:nvPicPr>
          <p:cNvPr id="9218" name="Picture 2" descr="Icon&#10;&#10;Description automatically generated">
            <a:extLst>
              <a:ext uri="{FF2B5EF4-FFF2-40B4-BE49-F238E27FC236}">
                <a16:creationId xmlns:a16="http://schemas.microsoft.com/office/drawing/2014/main" xmlns="" id="{B02E8C6A-53AD-AA4E-A4ED-406F3B0E370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446903" y="2531647"/>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a:extLst>
              <a:ext uri="{FF2B5EF4-FFF2-40B4-BE49-F238E27FC236}">
                <a16:creationId xmlns:a16="http://schemas.microsoft.com/office/drawing/2014/main" xmlns="" id="{E5B015B1-FBD0-8E43-9A2E-5A1474505758}"/>
              </a:ext>
            </a:extLst>
          </p:cNvPr>
          <p:cNvSpPr txBox="1"/>
          <p:nvPr/>
        </p:nvSpPr>
        <p:spPr>
          <a:xfrm>
            <a:off x="8994150" y="64659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274</a:t>
            </a:r>
            <a:endParaRPr i="1" dirty="0">
              <a:latin typeface="Calibri"/>
              <a:ea typeface="Calibri"/>
              <a:cs typeface="Calibri"/>
              <a:sym typeface="Calibri"/>
            </a:endParaRPr>
          </a:p>
        </p:txBody>
      </p:sp>
    </p:spTree>
    <p:extLst>
      <p:ext uri="{BB962C8B-B14F-4D97-AF65-F5344CB8AC3E}">
        <p14:creationId xmlns:p14="http://schemas.microsoft.com/office/powerpoint/2010/main" val="16930146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194500" y="-86497"/>
            <a:ext cx="9698735"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4B5D1"/>
                </a:solidFill>
                <a:latin typeface="Verdana"/>
                <a:ea typeface="Verdana"/>
                <a:cs typeface="Verdana"/>
                <a:sym typeface="Verdana"/>
              </a:rPr>
              <a:t>6.4.3 Guided Practice: Exploring Equivalent Ratios Using Tables</a:t>
            </a:r>
          </a:p>
        </p:txBody>
      </p:sp>
      <p:pic>
        <p:nvPicPr>
          <p:cNvPr id="8" name="Picture 2" descr="Icon&#10;&#10;Description automatically generated">
            <a:extLst>
              <a:ext uri="{FF2B5EF4-FFF2-40B4-BE49-F238E27FC236}">
                <a16:creationId xmlns:a16="http://schemas.microsoft.com/office/drawing/2014/main" xmlns="" id="{B3C42596-1BDF-794D-A82A-7C54635CB81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36658" y="32515"/>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684678E3-B391-614C-B449-94320C557524}"/>
                  </a:ext>
                </a:extLst>
              </p:cNvPr>
              <p:cNvSpPr/>
              <p:nvPr/>
            </p:nvSpPr>
            <p:spPr>
              <a:xfrm>
                <a:off x="706374" y="1454515"/>
                <a:ext cx="11020187" cy="2082750"/>
              </a:xfrm>
              <a:prstGeom prst="rect">
                <a:avLst/>
              </a:prstGeom>
            </p:spPr>
            <p:txBody>
              <a:bodyPr wrap="square">
                <a:spAutoFit/>
              </a:bodyPr>
              <a:lstStyle/>
              <a:p>
                <a:pPr lvl="0"/>
                <a:r>
                  <a:rPr lang="en-US" sz="2000" dirty="0">
                    <a:latin typeface="Verdana" panose="020B0604030504040204" pitchFamily="34" charset="0"/>
                    <a:ea typeface="Times New Roman" panose="02020603050405020304" pitchFamily="18" charset="0"/>
                    <a:cs typeface="Times New Roman" panose="02020603050405020304" pitchFamily="18" charset="0"/>
                  </a:rPr>
                  <a:t>We have looked at the number of balloons needed to lift an object of a certain weight.</a:t>
                </a:r>
              </a:p>
              <a:p>
                <a:pPr lvl="0"/>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lvl="0"/>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342900" indent="-342900">
                  <a:buFont typeface="+mj-lt"/>
                  <a:buAutoNum type="arabi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Use the relationship between the number of balloons,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𝐵</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and the weight of the object in grams, g, to write the unit rate of </a:t>
                </a:r>
                <a14:m>
                  <m:oMath xmlns:m="http://schemas.openxmlformats.org/officeDocument/2006/math">
                    <m:f>
                      <m:fPr>
                        <m:ctrlPr>
                          <a:rPr lang="en-US" sz="2000" i="1">
                            <a:latin typeface="Cambria Math"/>
                            <a:cs typeface="Times New Roman" panose="02020603050405020304" pitchFamily="18" charset="0"/>
                          </a:rPr>
                        </m:ctrlPr>
                      </m:fPr>
                      <m:num>
                        <m:r>
                          <m:rPr>
                            <m:sty m:val="p"/>
                          </m:rPr>
                          <a:rPr lang="es-ES" sz="2000">
                            <a:latin typeface="Cambria Math" panose="02040503050406030204" pitchFamily="18" charset="0"/>
                            <a:cs typeface="Times New Roman" panose="02020603050405020304" pitchFamily="18" charset="0"/>
                          </a:rPr>
                          <m:t>weight</m:t>
                        </m:r>
                        <m:r>
                          <a:rPr lang="es-ES" sz="2000">
                            <a:latin typeface="Cambria Math" panose="02040503050406030204" pitchFamily="18" charset="0"/>
                            <a:cs typeface="Times New Roman" panose="02020603050405020304" pitchFamily="18" charset="0"/>
                          </a:rPr>
                          <m:t> </m:t>
                        </m:r>
                        <m:r>
                          <m:rPr>
                            <m:sty m:val="p"/>
                          </m:rPr>
                          <a:rPr lang="es-ES" sz="2000">
                            <a:latin typeface="Cambria Math" panose="02040503050406030204" pitchFamily="18" charset="0"/>
                            <a:cs typeface="Times New Roman" panose="02020603050405020304" pitchFamily="18" charset="0"/>
                          </a:rPr>
                          <m:t>in</m:t>
                        </m:r>
                        <m:r>
                          <a:rPr lang="es-ES" sz="2000">
                            <a:latin typeface="Cambria Math" panose="02040503050406030204" pitchFamily="18" charset="0"/>
                            <a:cs typeface="Times New Roman" panose="02020603050405020304" pitchFamily="18" charset="0"/>
                          </a:rPr>
                          <m:t> </m:t>
                        </m:r>
                        <m:r>
                          <m:rPr>
                            <m:sty m:val="p"/>
                          </m:rPr>
                          <a:rPr lang="es-ES" sz="2000">
                            <a:latin typeface="Cambria Math" panose="02040503050406030204" pitchFamily="18" charset="0"/>
                            <a:cs typeface="Times New Roman" panose="02020603050405020304" pitchFamily="18" charset="0"/>
                          </a:rPr>
                          <m:t>grams</m:t>
                        </m:r>
                      </m:num>
                      <m:den>
                        <m:r>
                          <m:rPr>
                            <m:sty m:val="p"/>
                          </m:rPr>
                          <a:rPr lang="es-ES" sz="2000">
                            <a:latin typeface="Cambria Math" panose="02040503050406030204" pitchFamily="18" charset="0"/>
                            <a:cs typeface="Times New Roman" panose="02020603050405020304" pitchFamily="18" charset="0"/>
                          </a:rPr>
                          <m:t>number</m:t>
                        </m:r>
                        <m:r>
                          <a:rPr lang="es-ES" sz="2000">
                            <a:latin typeface="Cambria Math" panose="02040503050406030204" pitchFamily="18" charset="0"/>
                            <a:cs typeface="Times New Roman" panose="02020603050405020304" pitchFamily="18" charset="0"/>
                          </a:rPr>
                          <m:t> </m:t>
                        </m:r>
                        <m:r>
                          <m:rPr>
                            <m:sty m:val="p"/>
                          </m:rPr>
                          <a:rPr lang="es-ES" sz="2000">
                            <a:latin typeface="Cambria Math" panose="02040503050406030204" pitchFamily="18" charset="0"/>
                            <a:cs typeface="Times New Roman" panose="02020603050405020304" pitchFamily="18" charset="0"/>
                          </a:rPr>
                          <m:t>of</m:t>
                        </m:r>
                        <m:r>
                          <a:rPr lang="es-ES" sz="2000">
                            <a:latin typeface="Cambria Math" panose="02040503050406030204" pitchFamily="18" charset="0"/>
                            <a:cs typeface="Times New Roman" panose="02020603050405020304" pitchFamily="18" charset="0"/>
                          </a:rPr>
                          <m:t> </m:t>
                        </m:r>
                        <m:r>
                          <m:rPr>
                            <m:sty m:val="p"/>
                          </m:rPr>
                          <a:rPr lang="es-ES" sz="2000">
                            <a:latin typeface="Cambria Math" panose="02040503050406030204" pitchFamily="18" charset="0"/>
                            <a:cs typeface="Times New Roman" panose="02020603050405020304" pitchFamily="18" charset="0"/>
                          </a:rPr>
                          <m:t>balloons</m:t>
                        </m:r>
                      </m:den>
                    </m:f>
                  </m:oMath>
                </a14:m>
                <a:r>
                  <a:rPr lang="en-US" sz="2000" dirty="0">
                    <a:latin typeface="Cambria" panose="02040503050406030204" pitchFamily="18" charset="0"/>
                    <a:ea typeface="Times New Roman" panose="02020603050405020304" pitchFamily="18" charset="0"/>
                    <a:cs typeface="Times New Roman" panose="02020603050405020304" pitchFamily="18" charset="0"/>
                  </a:rPr>
                  <a:t>.</a:t>
                </a:r>
              </a:p>
            </p:txBody>
          </p:sp>
        </mc:Choice>
        <mc:Fallback xmlns="">
          <p:sp>
            <p:nvSpPr>
              <p:cNvPr id="2" name="Rectangle 1">
                <a:extLst>
                  <a:ext uri="{FF2B5EF4-FFF2-40B4-BE49-F238E27FC236}">
                    <a16:creationId xmlns:a16="http://schemas.microsoft.com/office/drawing/2014/main" id="{684678E3-B391-614C-B449-94320C557524}"/>
                  </a:ext>
                </a:extLst>
              </p:cNvPr>
              <p:cNvSpPr>
                <a:spLocks noRot="1" noChangeAspect="1" noMove="1" noResize="1" noEditPoints="1" noAdjustHandles="1" noChangeArrowheads="1" noChangeShapeType="1" noTextEdit="1"/>
              </p:cNvSpPr>
              <p:nvPr/>
            </p:nvSpPr>
            <p:spPr>
              <a:xfrm>
                <a:off x="706374" y="1454515"/>
                <a:ext cx="11020187" cy="2082750"/>
              </a:xfrm>
              <a:prstGeom prst="rect">
                <a:avLst/>
              </a:prstGeom>
              <a:blipFill>
                <a:blip r:embed="rId5"/>
                <a:stretch>
                  <a:fillRect l="-575" t="-1818" b="-3636"/>
                </a:stretch>
              </a:blipFill>
            </p:spPr>
            <p:txBody>
              <a:bodyPr/>
              <a:lstStyle/>
              <a:p>
                <a:r>
                  <a:rPr lang="en-US">
                    <a:noFill/>
                  </a:rPr>
                  <a:t> </a:t>
                </a:r>
              </a:p>
            </p:txBody>
          </p:sp>
        </mc:Fallback>
      </mc:AlternateContent>
      <p:sp>
        <p:nvSpPr>
          <p:cNvPr id="11" name="Google Shape;282;g104476d1465_1_17">
            <a:extLst>
              <a:ext uri="{FF2B5EF4-FFF2-40B4-BE49-F238E27FC236}">
                <a16:creationId xmlns:a16="http://schemas.microsoft.com/office/drawing/2014/main" xmlns="" id="{DC0A2C9F-B1E2-2341-BED9-0F18CDA0FBF6}"/>
              </a:ext>
            </a:extLst>
          </p:cNvPr>
          <p:cNvSpPr txBox="1"/>
          <p:nvPr/>
        </p:nvSpPr>
        <p:spPr>
          <a:xfrm>
            <a:off x="8994150" y="651281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274</a:t>
            </a:r>
            <a:endParaRPr i="1" dirty="0">
              <a:latin typeface="Calibri"/>
              <a:ea typeface="Calibri"/>
              <a:cs typeface="Calibri"/>
              <a:sym typeface="Calibri"/>
            </a:endParaRPr>
          </a:p>
        </p:txBody>
      </p:sp>
    </p:spTree>
    <p:extLst>
      <p:ext uri="{BB962C8B-B14F-4D97-AF65-F5344CB8AC3E}">
        <p14:creationId xmlns:p14="http://schemas.microsoft.com/office/powerpoint/2010/main" val="7455233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8089" y="6208824"/>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xmlns="" id="{684678E3-B391-614C-B449-94320C557524}"/>
              </a:ext>
            </a:extLst>
          </p:cNvPr>
          <p:cNvSpPr/>
          <p:nvPr/>
        </p:nvSpPr>
        <p:spPr>
          <a:xfrm>
            <a:off x="1279972" y="256011"/>
            <a:ext cx="8877281" cy="400110"/>
          </a:xfrm>
          <a:prstGeom prst="rect">
            <a:avLst/>
          </a:prstGeom>
        </p:spPr>
        <p:txBody>
          <a:bodyPr wrap="square">
            <a:spAutoFit/>
          </a:bodyPr>
          <a:lstStyle/>
          <a:p>
            <a:pPr marL="457200" indent="-4572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Complete the table to show the unit weight lifted by a balloon.</a:t>
            </a:r>
          </a:p>
        </p:txBody>
      </p:sp>
      <p:sp>
        <p:nvSpPr>
          <p:cNvPr id="11" name="Google Shape;282;g104476d1465_1_17">
            <a:extLst>
              <a:ext uri="{FF2B5EF4-FFF2-40B4-BE49-F238E27FC236}">
                <a16:creationId xmlns:a16="http://schemas.microsoft.com/office/drawing/2014/main" xmlns="" id="{DC0A2C9F-B1E2-2341-BED9-0F18CDA0FBF6}"/>
              </a:ext>
            </a:extLst>
          </p:cNvPr>
          <p:cNvSpPr txBox="1"/>
          <p:nvPr/>
        </p:nvSpPr>
        <p:spPr>
          <a:xfrm>
            <a:off x="8974089" y="650101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274</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xmlns="" id="{A4117DCA-3CAC-C449-B18B-5D361936058A}"/>
                  </a:ext>
                </a:extLst>
              </p:cNvPr>
              <p:cNvGraphicFramePr>
                <a:graphicFrameLocks noGrp="1"/>
              </p:cNvGraphicFramePr>
              <p:nvPr>
                <p:extLst>
                  <p:ext uri="{D42A27DB-BD31-4B8C-83A1-F6EECF244321}">
                    <p14:modId xmlns:p14="http://schemas.microsoft.com/office/powerpoint/2010/main" val="3958861208"/>
                  </p:ext>
                </p:extLst>
              </p:nvPr>
            </p:nvGraphicFramePr>
            <p:xfrm>
              <a:off x="2313975" y="990791"/>
              <a:ext cx="7564049" cy="5394994"/>
            </p:xfrm>
            <a:graphic>
              <a:graphicData uri="http://schemas.openxmlformats.org/drawingml/2006/table">
                <a:tbl>
                  <a:tblPr firstRow="1" firstCol="1" bandRow="1">
                    <a:tableStyleId>{A91F0D33-8C57-4600-99A7-42BC86742BE1}</a:tableStyleId>
                  </a:tblPr>
                  <a:tblGrid>
                    <a:gridCol w="1684031">
                      <a:extLst>
                        <a:ext uri="{9D8B030D-6E8A-4147-A177-3AD203B41FA5}">
                          <a16:colId xmlns:a16="http://schemas.microsoft.com/office/drawing/2014/main" xmlns="" val="3680673634"/>
                        </a:ext>
                      </a:extLst>
                    </a:gridCol>
                    <a:gridCol w="1407017">
                      <a:extLst>
                        <a:ext uri="{9D8B030D-6E8A-4147-A177-3AD203B41FA5}">
                          <a16:colId xmlns:a16="http://schemas.microsoft.com/office/drawing/2014/main" xmlns="" val="3079208725"/>
                        </a:ext>
                      </a:extLst>
                    </a:gridCol>
                    <a:gridCol w="1503898">
                      <a:extLst>
                        <a:ext uri="{9D8B030D-6E8A-4147-A177-3AD203B41FA5}">
                          <a16:colId xmlns:a16="http://schemas.microsoft.com/office/drawing/2014/main" xmlns="" val="3846900354"/>
                        </a:ext>
                      </a:extLst>
                    </a:gridCol>
                    <a:gridCol w="2969103">
                      <a:extLst>
                        <a:ext uri="{9D8B030D-6E8A-4147-A177-3AD203B41FA5}">
                          <a16:colId xmlns:a16="http://schemas.microsoft.com/office/drawing/2014/main" xmlns="" val="205006571"/>
                        </a:ext>
                      </a:extLst>
                    </a:gridCol>
                  </a:tblGrid>
                  <a:tr h="467246">
                    <a:tc>
                      <a:txBody>
                        <a:bodyPr/>
                        <a:lstStyle/>
                        <a:p>
                          <a:pPr marL="0" marR="0" algn="ctr">
                            <a:spcBef>
                              <a:spcPts val="0"/>
                            </a:spcBef>
                            <a:spcAft>
                              <a:spcPts val="0"/>
                            </a:spcAft>
                          </a:pPr>
                          <a:r>
                            <a:rPr lang="en-US" sz="1200" b="1" dirty="0">
                              <a:effectLst/>
                              <a:latin typeface="Verdana" panose="020B0604030504040204" pitchFamily="34" charset="0"/>
                              <a:ea typeface="Verdana" panose="020B0604030504040204" pitchFamily="34" charset="0"/>
                              <a:cs typeface="Verdana" panose="020B0604030504040204" pitchFamily="34" charset="0"/>
                            </a:rPr>
                            <a:t>Object</a:t>
                          </a:r>
                          <a:endParaRPr lang="x-none" sz="1050" b="1" dirty="0">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200" b="1" dirty="0">
                              <a:effectLst/>
                              <a:latin typeface="Verdana" panose="020B0604030504040204" pitchFamily="34" charset="0"/>
                              <a:ea typeface="Verdana" panose="020B0604030504040204" pitchFamily="34" charset="0"/>
                              <a:cs typeface="Verdana" panose="020B0604030504040204" pitchFamily="34" charset="0"/>
                            </a:rPr>
                            <a:t>Weight (grams)</a:t>
                          </a:r>
                          <a:endParaRPr lang="x-none" sz="1050" b="1" dirty="0">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200" b="1" dirty="0">
                              <a:effectLst/>
                              <a:latin typeface="Verdana" panose="020B0604030504040204" pitchFamily="34" charset="0"/>
                              <a:ea typeface="Verdana" panose="020B0604030504040204" pitchFamily="34" charset="0"/>
                              <a:cs typeface="Verdana" panose="020B0604030504040204" pitchFamily="34" charset="0"/>
                            </a:rPr>
                            <a:t>Number of Balloons</a:t>
                          </a:r>
                          <a:endParaRPr lang="x-none" sz="1050" b="1" dirty="0">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200" b="1" dirty="0">
                              <a:effectLst/>
                              <a:latin typeface="Verdana" panose="020B0604030504040204" pitchFamily="34" charset="0"/>
                              <a:ea typeface="Verdana" panose="020B0604030504040204" pitchFamily="34" charset="0"/>
                              <a:cs typeface="Verdana" panose="020B0604030504040204" pitchFamily="34" charset="0"/>
                            </a:rPr>
                            <a:t>Unit Rate</a:t>
                          </a:r>
                          <a:endParaRPr lang="x-none" sz="1050" b="1"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200" b="1" dirty="0">
                              <a:effectLst/>
                              <a:latin typeface="Verdana" panose="020B0604030504040204" pitchFamily="34" charset="0"/>
                              <a:ea typeface="Verdana" panose="020B0604030504040204" pitchFamily="34" charset="0"/>
                              <a:cs typeface="Verdana" panose="020B0604030504040204" pitchFamily="34" charset="0"/>
                            </a:rPr>
                            <a:t>(grams per balloon, </a:t>
                          </a:r>
                          <a14:m>
                            <m:oMath xmlns:m="http://schemas.openxmlformats.org/officeDocument/2006/math">
                              <m:f>
                                <m:fPr>
                                  <m:ctrlPr>
                                    <a:rPr lang="x-none" sz="1200" b="1" i="1">
                                      <a:effectLst/>
                                      <a:latin typeface="Cambria Math"/>
                                    </a:rPr>
                                  </m:ctrlPr>
                                </m:fPr>
                                <m:num>
                                  <m:r>
                                    <a:rPr lang="en-US" sz="1200" b="1" smtClean="0">
                                      <a:effectLst/>
                                      <a:latin typeface="Cambria Math" panose="02040503050406030204" pitchFamily="18" charset="0"/>
                                    </a:rPr>
                                    <m:t>𝐠</m:t>
                                  </m:r>
                                </m:num>
                                <m:den>
                                  <m:r>
                                    <a:rPr lang="en-US" sz="1200" b="1" i="1" smtClean="0">
                                      <a:effectLst/>
                                      <a:latin typeface="Cambria Math" panose="02040503050406030204" pitchFamily="18" charset="0"/>
                                    </a:rPr>
                                    <m:t>𝐁</m:t>
                                  </m:r>
                                </m:den>
                              </m:f>
                            </m:oMath>
                          </a14:m>
                          <a:r>
                            <a:rPr lang="en-US" sz="1200" b="1" dirty="0">
                              <a:effectLst/>
                              <a:latin typeface="Verdana" panose="020B0604030504040204" pitchFamily="34" charset="0"/>
                              <a:ea typeface="Verdana" panose="020B0604030504040204" pitchFamily="34" charset="0"/>
                              <a:cs typeface="Verdana" panose="020B0604030504040204" pitchFamily="34" charset="0"/>
                            </a:rPr>
                            <a:t>)</a:t>
                          </a:r>
                          <a:endParaRPr lang="x-none" sz="1050" b="1" dirty="0">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xmlns="" val="3041037374"/>
                      </a:ext>
                    </a:extLst>
                  </a:tr>
                  <a:tr h="642330">
                    <a:tc>
                      <a:txBody>
                        <a:bodyPr/>
                        <a:lstStyle/>
                        <a:p>
                          <a:pPr marL="0" marR="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Sandbag</a:t>
                          </a:r>
                          <a:endParaRPr lang="x-none" sz="900">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a:rPr>
                                  <m:t>14</m:t>
                                </m:r>
                              </m:oMath>
                            </m:oMathPara>
                          </a14:m>
                          <a:endParaRPr lang="x-none" sz="900">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a:rPr>
                                  <m:t>1</m:t>
                                </m:r>
                              </m:oMath>
                            </m:oMathPara>
                          </a14:m>
                          <a:endParaRPr lang="x-none" sz="900">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600"/>
                            </a:spcBef>
                            <a:spcAft>
                              <a:spcPts val="0"/>
                            </a:spcAft>
                          </a:pPr>
                          <a14:m>
                            <m:oMathPara xmlns:m="http://schemas.openxmlformats.org/officeDocument/2006/math">
                              <m:oMathParaPr>
                                <m:jc m:val="centerGroup"/>
                              </m:oMathParaPr>
                              <m:oMath xmlns:m="http://schemas.openxmlformats.org/officeDocument/2006/math">
                                <m:f>
                                  <m:fPr>
                                    <m:ctrlPr>
                                      <a:rPr lang="x-none" sz="1400" i="1">
                                        <a:effectLst/>
                                        <a:latin typeface="Cambria Math"/>
                                      </a:rPr>
                                    </m:ctrlPr>
                                  </m:fPr>
                                  <m:num>
                                    <m:r>
                                      <m:rPr>
                                        <m:sty m:val="p"/>
                                      </m:rPr>
                                      <a:rPr lang="en-US" sz="1400">
                                        <a:effectLst/>
                                        <a:latin typeface="Cambria Math"/>
                                      </a:rPr>
                                      <m:t>g</m:t>
                                    </m:r>
                                  </m:num>
                                  <m:den>
                                    <m:r>
                                      <a:rPr lang="en-US" sz="1400">
                                        <a:effectLst/>
                                        <a:latin typeface="Cambria Math"/>
                                      </a:rPr>
                                      <m:t>𝐵</m:t>
                                    </m:r>
                                  </m:den>
                                </m:f>
                                <m:r>
                                  <a:rPr lang="en-US" sz="1400">
                                    <a:effectLst/>
                                    <a:latin typeface="Cambria Math"/>
                                  </a:rPr>
                                  <m:t> =</m:t>
                                </m:r>
                              </m:oMath>
                            </m:oMathPara>
                          </a14:m>
                          <a:endParaRPr lang="x-none" sz="900">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194425017"/>
                      </a:ext>
                    </a:extLst>
                  </a:tr>
                  <a:tr h="875115">
                    <a:tc>
                      <a:txBody>
                        <a:bodyPr/>
                        <a:lstStyle/>
                        <a:p>
                          <a:pPr marL="0" marR="0" algn="ct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Duck</a:t>
                          </a:r>
                          <a:endParaRPr lang="x-none" sz="900" dirty="0">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a:rPr>
                                  <m:t>56</m:t>
                                </m:r>
                              </m:oMath>
                            </m:oMathPara>
                          </a14:m>
                          <a:endParaRPr lang="x-none" sz="900">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a:rPr>
                                  <m:t>4</m:t>
                                </m:r>
                              </m:oMath>
                            </m:oMathPara>
                          </a14:m>
                          <a:endParaRPr lang="x-none" sz="900">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600"/>
                            </a:spcBef>
                            <a:spcAft>
                              <a:spcPts val="0"/>
                            </a:spcAft>
                          </a:pPr>
                          <a:endParaRPr lang="en-US" sz="140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280228088"/>
                      </a:ext>
                    </a:extLst>
                  </a:tr>
                  <a:tr h="845127">
                    <a:tc>
                      <a:txBody>
                        <a:bodyPr/>
                        <a:lstStyle/>
                        <a:p>
                          <a:pPr marL="0" marR="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Bear</a:t>
                          </a:r>
                          <a:endParaRPr lang="x-none" sz="900">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a:rPr>
                                  <m:t>350</m:t>
                                </m:r>
                              </m:oMath>
                            </m:oMathPara>
                          </a14:m>
                          <a:endParaRPr lang="x-none" sz="900">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a:rPr>
                                  <m:t>25</m:t>
                                </m:r>
                              </m:oMath>
                            </m:oMathPara>
                          </a14:m>
                          <a:endParaRPr lang="x-none" sz="900">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600"/>
                            </a:spcBef>
                            <a:spcAft>
                              <a:spcPts val="0"/>
                            </a:spcAft>
                          </a:pPr>
                          <a:endParaRPr lang="en-US" sz="140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427860180"/>
                      </a:ext>
                    </a:extLst>
                  </a:tr>
                  <a:tr h="888776">
                    <a:tc>
                      <a:txBody>
                        <a:bodyPr/>
                        <a:lstStyle/>
                        <a:p>
                          <a:pPr marL="0" marR="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Toy Truck</a:t>
                          </a:r>
                          <a:endParaRPr lang="x-none" sz="900">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a:rPr>
                                  <m:t>98</m:t>
                                </m:r>
                              </m:oMath>
                            </m:oMathPara>
                          </a14:m>
                          <a:endParaRPr lang="x-none" sz="900">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a:rPr>
                                  <m:t>7</m:t>
                                </m:r>
                              </m:oMath>
                            </m:oMathPara>
                          </a14:m>
                          <a:endParaRPr lang="x-none" sz="900">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600"/>
                            </a:spcBef>
                            <a:spcAft>
                              <a:spcPts val="0"/>
                            </a:spcAft>
                          </a:pPr>
                          <a:endParaRPr lang="en-US" sz="140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670283407"/>
                      </a:ext>
                    </a:extLst>
                  </a:tr>
                  <a:tr h="845127">
                    <a:tc>
                      <a:txBody>
                        <a:bodyPr/>
                        <a:lstStyle/>
                        <a:p>
                          <a:pPr marL="0" marR="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Toy Car</a:t>
                          </a:r>
                          <a:endParaRPr lang="x-none" sz="900">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a:rPr>
                                  <m:t>112</m:t>
                                </m:r>
                              </m:oMath>
                            </m:oMathPara>
                          </a14:m>
                          <a:endParaRPr lang="x-none" sz="900">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a:rPr>
                                  <m:t>8</m:t>
                                </m:r>
                              </m:oMath>
                            </m:oMathPara>
                          </a14:m>
                          <a:endParaRPr lang="x-none" sz="900">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600"/>
                            </a:spcBef>
                            <a:spcAft>
                              <a:spcPts val="0"/>
                            </a:spcAft>
                          </a:pPr>
                          <a:endParaRPr lang="en-US" sz="140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129534078"/>
                      </a:ext>
                    </a:extLst>
                  </a:tr>
                  <a:tr h="831273">
                    <a:tc>
                      <a:txBody>
                        <a:bodyPr/>
                        <a:lstStyle/>
                        <a:p>
                          <a:pPr marL="0" marR="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Tennis Ball</a:t>
                          </a:r>
                          <a:endParaRPr lang="x-none" sz="900">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a:rPr>
                                  <m:t>70</m:t>
                                </m:r>
                              </m:oMath>
                            </m:oMathPara>
                          </a14:m>
                          <a:endParaRPr lang="x-none" sz="900">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a:rPr>
                                  <m:t>5</m:t>
                                </m:r>
                              </m:oMath>
                            </m:oMathPara>
                          </a14:m>
                          <a:endParaRPr lang="x-none" sz="900">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600"/>
                            </a:spcBef>
                            <a:spcAft>
                              <a:spcPts val="0"/>
                            </a:spcAft>
                          </a:pPr>
                          <a:endParaRPr lang="en-US" sz="140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414672536"/>
                      </a:ext>
                    </a:extLst>
                  </a:tr>
                </a:tbl>
              </a:graphicData>
            </a:graphic>
          </p:graphicFrame>
        </mc:Choice>
        <mc:Fallback xmlns="">
          <p:graphicFrame>
            <p:nvGraphicFramePr>
              <p:cNvPr id="3" name="Table 2">
                <a:extLst>
                  <a:ext uri="{FF2B5EF4-FFF2-40B4-BE49-F238E27FC236}">
                    <a16:creationId xmlns:a16="http://schemas.microsoft.com/office/drawing/2014/main" id="{A4117DCA-3CAC-C449-B18B-5D361936058A}"/>
                  </a:ext>
                </a:extLst>
              </p:cNvPr>
              <p:cNvGraphicFramePr>
                <a:graphicFrameLocks noGrp="1"/>
              </p:cNvGraphicFramePr>
              <p:nvPr>
                <p:extLst>
                  <p:ext uri="{D42A27DB-BD31-4B8C-83A1-F6EECF244321}">
                    <p14:modId xmlns:p14="http://schemas.microsoft.com/office/powerpoint/2010/main" val="3958861208"/>
                  </p:ext>
                </p:extLst>
              </p:nvPr>
            </p:nvGraphicFramePr>
            <p:xfrm>
              <a:off x="2313975" y="990791"/>
              <a:ext cx="7564049" cy="5394994"/>
            </p:xfrm>
            <a:graphic>
              <a:graphicData uri="http://schemas.openxmlformats.org/drawingml/2006/table">
                <a:tbl>
                  <a:tblPr firstRow="1" firstCol="1" bandRow="1">
                    <a:tableStyleId>{A91F0D33-8C57-4600-99A7-42BC86742BE1}</a:tableStyleId>
                  </a:tblPr>
                  <a:tblGrid>
                    <a:gridCol w="1684031">
                      <a:extLst>
                        <a:ext uri="{9D8B030D-6E8A-4147-A177-3AD203B41FA5}">
                          <a16:colId xmlns:a16="http://schemas.microsoft.com/office/drawing/2014/main" val="3680673634"/>
                        </a:ext>
                      </a:extLst>
                    </a:gridCol>
                    <a:gridCol w="1407017">
                      <a:extLst>
                        <a:ext uri="{9D8B030D-6E8A-4147-A177-3AD203B41FA5}">
                          <a16:colId xmlns:a16="http://schemas.microsoft.com/office/drawing/2014/main" val="3079208725"/>
                        </a:ext>
                      </a:extLst>
                    </a:gridCol>
                    <a:gridCol w="1503898">
                      <a:extLst>
                        <a:ext uri="{9D8B030D-6E8A-4147-A177-3AD203B41FA5}">
                          <a16:colId xmlns:a16="http://schemas.microsoft.com/office/drawing/2014/main" val="3846900354"/>
                        </a:ext>
                      </a:extLst>
                    </a:gridCol>
                    <a:gridCol w="2969103">
                      <a:extLst>
                        <a:ext uri="{9D8B030D-6E8A-4147-A177-3AD203B41FA5}">
                          <a16:colId xmlns:a16="http://schemas.microsoft.com/office/drawing/2014/main" val="205006571"/>
                        </a:ext>
                      </a:extLst>
                    </a:gridCol>
                  </a:tblGrid>
                  <a:tr h="467246">
                    <a:tc>
                      <a:txBody>
                        <a:bodyPr/>
                        <a:lstStyle/>
                        <a:p>
                          <a:pPr marL="0" marR="0" algn="ctr">
                            <a:spcBef>
                              <a:spcPts val="0"/>
                            </a:spcBef>
                            <a:spcAft>
                              <a:spcPts val="0"/>
                            </a:spcAft>
                          </a:pPr>
                          <a:r>
                            <a:rPr lang="en-US" sz="1200" b="1" dirty="0">
                              <a:effectLst/>
                              <a:latin typeface="Verdana" panose="020B0604030504040204" pitchFamily="34" charset="0"/>
                              <a:ea typeface="Verdana" panose="020B0604030504040204" pitchFamily="34" charset="0"/>
                              <a:cs typeface="Verdana" panose="020B0604030504040204" pitchFamily="34" charset="0"/>
                            </a:rPr>
                            <a:t>Object</a:t>
                          </a:r>
                          <a:endParaRPr lang="x-none" sz="1050" b="1" dirty="0">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200" b="1" dirty="0">
                              <a:effectLst/>
                              <a:latin typeface="Verdana" panose="020B0604030504040204" pitchFamily="34" charset="0"/>
                              <a:ea typeface="Verdana" panose="020B0604030504040204" pitchFamily="34" charset="0"/>
                              <a:cs typeface="Verdana" panose="020B0604030504040204" pitchFamily="34" charset="0"/>
                            </a:rPr>
                            <a:t>Weight (grams)</a:t>
                          </a:r>
                          <a:endParaRPr lang="x-none" sz="1050" b="1" dirty="0">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200" b="1" dirty="0">
                              <a:effectLst/>
                              <a:latin typeface="Verdana" panose="020B0604030504040204" pitchFamily="34" charset="0"/>
                              <a:ea typeface="Verdana" panose="020B0604030504040204" pitchFamily="34" charset="0"/>
                              <a:cs typeface="Verdana" panose="020B0604030504040204" pitchFamily="34" charset="0"/>
                            </a:rPr>
                            <a:t>Number of Balloons</a:t>
                          </a:r>
                          <a:endParaRPr lang="x-none" sz="1050" b="1" dirty="0">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55128" t="-8108" r="-855" b="-1054054"/>
                          </a:stretch>
                        </a:blipFill>
                      </a:tcPr>
                    </a:tc>
                    <a:extLst>
                      <a:ext uri="{0D108BD9-81ED-4DB2-BD59-A6C34878D82A}">
                        <a16:rowId xmlns:a16="http://schemas.microsoft.com/office/drawing/2014/main" val="3041037374"/>
                      </a:ext>
                    </a:extLst>
                  </a:tr>
                  <a:tr h="642330">
                    <a:tc>
                      <a:txBody>
                        <a:bodyPr/>
                        <a:lstStyle/>
                        <a:p>
                          <a:pPr marL="0" marR="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Sandbag</a:t>
                          </a:r>
                          <a:endParaRPr lang="x-none" sz="900">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20721" t="-80000" r="-318919" b="-680000"/>
                          </a:stretch>
                        </a:blipFill>
                      </a:tcPr>
                    </a:tc>
                    <a:tc>
                      <a:txBody>
                        <a:bodyPr/>
                        <a:lstStyle/>
                        <a:p>
                          <a:endParaRPr lang="en-US"/>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7627" t="-80000" r="-200000" b="-680000"/>
                          </a:stretch>
                        </a:blipFill>
                      </a:tcPr>
                    </a:tc>
                    <a:tc>
                      <a:txBody>
                        <a:bodyPr/>
                        <a:lstStyle/>
                        <a:p>
                          <a:endParaRPr lang="en-US"/>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55128" t="-80000" r="-855" b="-680000"/>
                          </a:stretch>
                        </a:blipFill>
                      </a:tcPr>
                    </a:tc>
                    <a:extLst>
                      <a:ext uri="{0D108BD9-81ED-4DB2-BD59-A6C34878D82A}">
                        <a16:rowId xmlns:a16="http://schemas.microsoft.com/office/drawing/2014/main" val="4194425017"/>
                      </a:ext>
                    </a:extLst>
                  </a:tr>
                  <a:tr h="875115">
                    <a:tc>
                      <a:txBody>
                        <a:bodyPr/>
                        <a:lstStyle/>
                        <a:p>
                          <a:pPr marL="0" marR="0" algn="ct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Duck</a:t>
                          </a:r>
                          <a:endParaRPr lang="x-none" sz="900" dirty="0">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20721" t="-130435" r="-318919" b="-392754"/>
                          </a:stretch>
                        </a:blipFill>
                      </a:tcPr>
                    </a:tc>
                    <a:tc>
                      <a:txBody>
                        <a:bodyPr/>
                        <a:lstStyle/>
                        <a:p>
                          <a:endParaRPr lang="en-US"/>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7627" t="-130435" r="-200000" b="-392754"/>
                          </a:stretch>
                        </a:blipFill>
                      </a:tcPr>
                    </a:tc>
                    <a:tc>
                      <a:txBody>
                        <a:bodyPr/>
                        <a:lstStyle/>
                        <a:p>
                          <a:pPr marL="0" marR="0" algn="ctr">
                            <a:lnSpc>
                              <a:spcPct val="115000"/>
                            </a:lnSpc>
                            <a:spcBef>
                              <a:spcPts val="600"/>
                            </a:spcBef>
                            <a:spcAft>
                              <a:spcPts val="0"/>
                            </a:spcAft>
                          </a:pPr>
                          <a:endParaRPr lang="en-US" sz="140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80228088"/>
                      </a:ext>
                    </a:extLst>
                  </a:tr>
                  <a:tr h="845127">
                    <a:tc>
                      <a:txBody>
                        <a:bodyPr/>
                        <a:lstStyle/>
                        <a:p>
                          <a:pPr marL="0" marR="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Bear</a:t>
                          </a:r>
                          <a:endParaRPr lang="x-none" sz="900">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20721" t="-237313" r="-318919" b="-304478"/>
                          </a:stretch>
                        </a:blipFill>
                      </a:tcPr>
                    </a:tc>
                    <a:tc>
                      <a:txBody>
                        <a:bodyPr/>
                        <a:lstStyle/>
                        <a:p>
                          <a:endParaRPr lang="en-US"/>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7627" t="-237313" r="-200000" b="-304478"/>
                          </a:stretch>
                        </a:blipFill>
                      </a:tcPr>
                    </a:tc>
                    <a:tc>
                      <a:txBody>
                        <a:bodyPr/>
                        <a:lstStyle/>
                        <a:p>
                          <a:pPr marL="0" marR="0" algn="ctr">
                            <a:lnSpc>
                              <a:spcPct val="115000"/>
                            </a:lnSpc>
                            <a:spcBef>
                              <a:spcPts val="600"/>
                            </a:spcBef>
                            <a:spcAft>
                              <a:spcPts val="0"/>
                            </a:spcAft>
                          </a:pPr>
                          <a:endParaRPr lang="en-US" sz="140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7860180"/>
                      </a:ext>
                    </a:extLst>
                  </a:tr>
                  <a:tr h="888776">
                    <a:tc>
                      <a:txBody>
                        <a:bodyPr/>
                        <a:lstStyle/>
                        <a:p>
                          <a:pPr marL="0" marR="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Toy Truck</a:t>
                          </a:r>
                          <a:endParaRPr lang="x-none" sz="900">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20721" t="-322857" r="-318919" b="-191429"/>
                          </a:stretch>
                        </a:blipFill>
                      </a:tcPr>
                    </a:tc>
                    <a:tc>
                      <a:txBody>
                        <a:bodyPr/>
                        <a:lstStyle/>
                        <a:p>
                          <a:endParaRPr lang="en-US"/>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7627" t="-322857" r="-200000" b="-191429"/>
                          </a:stretch>
                        </a:blipFill>
                      </a:tcPr>
                    </a:tc>
                    <a:tc>
                      <a:txBody>
                        <a:bodyPr/>
                        <a:lstStyle/>
                        <a:p>
                          <a:pPr marL="0" marR="0" algn="ctr">
                            <a:lnSpc>
                              <a:spcPct val="115000"/>
                            </a:lnSpc>
                            <a:spcBef>
                              <a:spcPts val="600"/>
                            </a:spcBef>
                            <a:spcAft>
                              <a:spcPts val="0"/>
                            </a:spcAft>
                          </a:pPr>
                          <a:endParaRPr lang="en-US" sz="140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70283407"/>
                      </a:ext>
                    </a:extLst>
                  </a:tr>
                  <a:tr h="845127">
                    <a:tc>
                      <a:txBody>
                        <a:bodyPr/>
                        <a:lstStyle/>
                        <a:p>
                          <a:pPr marL="0" marR="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Toy Car</a:t>
                          </a:r>
                          <a:endParaRPr lang="x-none" sz="900">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20721" t="-441791" r="-318919" b="-100000"/>
                          </a:stretch>
                        </a:blipFill>
                      </a:tcPr>
                    </a:tc>
                    <a:tc>
                      <a:txBody>
                        <a:bodyPr/>
                        <a:lstStyle/>
                        <a:p>
                          <a:endParaRPr lang="en-US"/>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7627" t="-441791" r="-200000" b="-100000"/>
                          </a:stretch>
                        </a:blipFill>
                      </a:tcPr>
                    </a:tc>
                    <a:tc>
                      <a:txBody>
                        <a:bodyPr/>
                        <a:lstStyle/>
                        <a:p>
                          <a:pPr marL="0" marR="0" algn="ctr">
                            <a:lnSpc>
                              <a:spcPct val="115000"/>
                            </a:lnSpc>
                            <a:spcBef>
                              <a:spcPts val="600"/>
                            </a:spcBef>
                            <a:spcAft>
                              <a:spcPts val="0"/>
                            </a:spcAft>
                          </a:pPr>
                          <a:endParaRPr lang="en-US" sz="140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29534078"/>
                      </a:ext>
                    </a:extLst>
                  </a:tr>
                  <a:tr h="831273">
                    <a:tc>
                      <a:txBody>
                        <a:bodyPr/>
                        <a:lstStyle/>
                        <a:p>
                          <a:pPr marL="0" marR="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Tennis Ball</a:t>
                          </a:r>
                          <a:endParaRPr lang="x-none" sz="900">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20721" t="-558462" r="-318919" b="-3077"/>
                          </a:stretch>
                        </a:blipFill>
                      </a:tcPr>
                    </a:tc>
                    <a:tc>
                      <a:txBody>
                        <a:bodyPr/>
                        <a:lstStyle/>
                        <a:p>
                          <a:endParaRPr lang="en-US"/>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7627" t="-558462" r="-200000" b="-3077"/>
                          </a:stretch>
                        </a:blipFill>
                      </a:tcPr>
                    </a:tc>
                    <a:tc>
                      <a:txBody>
                        <a:bodyPr/>
                        <a:lstStyle/>
                        <a:p>
                          <a:pPr marL="0" marR="0" algn="ctr">
                            <a:lnSpc>
                              <a:spcPct val="115000"/>
                            </a:lnSpc>
                            <a:spcBef>
                              <a:spcPts val="600"/>
                            </a:spcBef>
                            <a:spcAft>
                              <a:spcPts val="0"/>
                            </a:spcAft>
                          </a:pPr>
                          <a:endParaRPr lang="en-US" sz="140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0146" marR="40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4672536"/>
                      </a:ext>
                    </a:extLst>
                  </a:tr>
                </a:tbl>
              </a:graphicData>
            </a:graphic>
          </p:graphicFrame>
        </mc:Fallback>
      </mc:AlternateContent>
      <p:sp>
        <p:nvSpPr>
          <p:cNvPr id="15" name="Rectangle 14">
            <a:extLst>
              <a:ext uri="{FF2B5EF4-FFF2-40B4-BE49-F238E27FC236}">
                <a16:creationId xmlns:a16="http://schemas.microsoft.com/office/drawing/2014/main" xmlns="" id="{9A642870-8298-4E47-B5D9-9DE77D559234}"/>
              </a:ext>
            </a:extLst>
          </p:cNvPr>
          <p:cNvSpPr>
            <a:spLocks noChangeAspect="1"/>
          </p:cNvSpPr>
          <p:nvPr/>
        </p:nvSpPr>
        <p:spPr>
          <a:xfrm>
            <a:off x="8644739" y="1571829"/>
            <a:ext cx="457200" cy="457200"/>
          </a:xfrm>
          <a:prstGeom prst="rect">
            <a:avLst/>
          </a:prstGeom>
          <a:noFill/>
          <a:ln>
            <a:solidFill>
              <a:schemeClr val="tx1"/>
            </a:solidFill>
            <a:prstDash val="dash"/>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pic>
        <p:nvPicPr>
          <p:cNvPr id="19" name="Picture 18" descr="Shape, square&#10;&#10;Description automatically generated">
            <a:extLst>
              <a:ext uri="{FF2B5EF4-FFF2-40B4-BE49-F238E27FC236}">
                <a16:creationId xmlns:a16="http://schemas.microsoft.com/office/drawing/2014/main" xmlns="" id="{B163C7E7-DD30-854A-A17A-4794353EE19B}"/>
              </a:ext>
            </a:extLst>
          </p:cNvPr>
          <p:cNvPicPr>
            <a:picLocks noChangeAspect="1"/>
          </p:cNvPicPr>
          <p:nvPr/>
        </p:nvPicPr>
        <p:blipFill rotWithShape="1">
          <a:blip r:embed="rId5"/>
          <a:srcRect t="5881" b="6936"/>
          <a:stretch/>
        </p:blipFill>
        <p:spPr bwMode="auto">
          <a:xfrm>
            <a:off x="7991285" y="2151429"/>
            <a:ext cx="1110653" cy="736244"/>
          </a:xfrm>
          <a:prstGeom prst="rect">
            <a:avLst/>
          </a:prstGeom>
          <a:ln>
            <a:noFill/>
          </a:ln>
          <a:extLst>
            <a:ext uri="{53640926-AAD7-44D8-BBD7-CCE9431645EC}">
              <a14:shadowObscured xmlns:a14="http://schemas.microsoft.com/office/drawing/2010/main"/>
            </a:ext>
          </a:extLst>
        </p:spPr>
      </p:pic>
      <p:pic>
        <p:nvPicPr>
          <p:cNvPr id="20" name="Picture 19" descr="Shape, square&#10;&#10;Description automatically generated">
            <a:extLst>
              <a:ext uri="{FF2B5EF4-FFF2-40B4-BE49-F238E27FC236}">
                <a16:creationId xmlns:a16="http://schemas.microsoft.com/office/drawing/2014/main" xmlns="" id="{56529C8F-CC86-B245-8CBE-775453B189E8}"/>
              </a:ext>
            </a:extLst>
          </p:cNvPr>
          <p:cNvPicPr>
            <a:picLocks noChangeAspect="1"/>
          </p:cNvPicPr>
          <p:nvPr/>
        </p:nvPicPr>
        <p:blipFill rotWithShape="1">
          <a:blip r:embed="rId5"/>
          <a:srcRect t="5881" b="6936"/>
          <a:stretch/>
        </p:blipFill>
        <p:spPr bwMode="auto">
          <a:xfrm>
            <a:off x="7991284" y="3041841"/>
            <a:ext cx="1110653" cy="736244"/>
          </a:xfrm>
          <a:prstGeom prst="rect">
            <a:avLst/>
          </a:prstGeom>
          <a:ln>
            <a:noFill/>
          </a:ln>
          <a:extLst>
            <a:ext uri="{53640926-AAD7-44D8-BBD7-CCE9431645EC}">
              <a14:shadowObscured xmlns:a14="http://schemas.microsoft.com/office/drawing/2010/main"/>
            </a:ext>
          </a:extLst>
        </p:spPr>
      </p:pic>
      <p:pic>
        <p:nvPicPr>
          <p:cNvPr id="21" name="Picture 20" descr="Shape, square&#10;&#10;Description automatically generated">
            <a:extLst>
              <a:ext uri="{FF2B5EF4-FFF2-40B4-BE49-F238E27FC236}">
                <a16:creationId xmlns:a16="http://schemas.microsoft.com/office/drawing/2014/main" xmlns="" id="{53DF1370-D830-A942-91F5-C6777184FAEE}"/>
              </a:ext>
            </a:extLst>
          </p:cNvPr>
          <p:cNvPicPr>
            <a:picLocks noChangeAspect="1"/>
          </p:cNvPicPr>
          <p:nvPr/>
        </p:nvPicPr>
        <p:blipFill rotWithShape="1">
          <a:blip r:embed="rId5"/>
          <a:srcRect t="5881" b="6936"/>
          <a:stretch/>
        </p:blipFill>
        <p:spPr bwMode="auto">
          <a:xfrm>
            <a:off x="7991284" y="3927235"/>
            <a:ext cx="1110653" cy="736244"/>
          </a:xfrm>
          <a:prstGeom prst="rect">
            <a:avLst/>
          </a:prstGeom>
          <a:ln>
            <a:noFill/>
          </a:ln>
          <a:extLst>
            <a:ext uri="{53640926-AAD7-44D8-BBD7-CCE9431645EC}">
              <a14:shadowObscured xmlns:a14="http://schemas.microsoft.com/office/drawing/2010/main"/>
            </a:ext>
          </a:extLst>
        </p:spPr>
      </p:pic>
      <p:pic>
        <p:nvPicPr>
          <p:cNvPr id="22" name="Picture 21" descr="Shape, square&#10;&#10;Description automatically generated">
            <a:extLst>
              <a:ext uri="{FF2B5EF4-FFF2-40B4-BE49-F238E27FC236}">
                <a16:creationId xmlns:a16="http://schemas.microsoft.com/office/drawing/2014/main" xmlns="" id="{D5985264-D838-9641-9635-B0508BD3166A}"/>
              </a:ext>
            </a:extLst>
          </p:cNvPr>
          <p:cNvPicPr>
            <a:picLocks noChangeAspect="1"/>
          </p:cNvPicPr>
          <p:nvPr/>
        </p:nvPicPr>
        <p:blipFill rotWithShape="1">
          <a:blip r:embed="rId5"/>
          <a:srcRect t="5881" b="6936"/>
          <a:stretch/>
        </p:blipFill>
        <p:spPr bwMode="auto">
          <a:xfrm>
            <a:off x="7991284" y="4769962"/>
            <a:ext cx="1110653" cy="736244"/>
          </a:xfrm>
          <a:prstGeom prst="rect">
            <a:avLst/>
          </a:prstGeom>
          <a:ln>
            <a:noFill/>
          </a:ln>
          <a:extLst>
            <a:ext uri="{53640926-AAD7-44D8-BBD7-CCE9431645EC}">
              <a14:shadowObscured xmlns:a14="http://schemas.microsoft.com/office/drawing/2010/main"/>
            </a:ext>
          </a:extLst>
        </p:spPr>
      </p:pic>
      <p:pic>
        <p:nvPicPr>
          <p:cNvPr id="23" name="Picture 22" descr="Shape, square&#10;&#10;Description automatically generated">
            <a:extLst>
              <a:ext uri="{FF2B5EF4-FFF2-40B4-BE49-F238E27FC236}">
                <a16:creationId xmlns:a16="http://schemas.microsoft.com/office/drawing/2014/main" xmlns="" id="{36A2C408-CF1C-2A41-B189-CAA3C47389B8}"/>
              </a:ext>
            </a:extLst>
          </p:cNvPr>
          <p:cNvPicPr>
            <a:picLocks noChangeAspect="1"/>
          </p:cNvPicPr>
          <p:nvPr/>
        </p:nvPicPr>
        <p:blipFill rotWithShape="1">
          <a:blip r:embed="rId5"/>
          <a:srcRect t="5881" b="6936"/>
          <a:stretch/>
        </p:blipFill>
        <p:spPr bwMode="auto">
          <a:xfrm>
            <a:off x="7991284" y="5612689"/>
            <a:ext cx="1110653" cy="736244"/>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2092363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9569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684678E3-B391-614C-B449-94320C557524}"/>
                  </a:ext>
                </a:extLst>
              </p:cNvPr>
              <p:cNvSpPr/>
              <p:nvPr/>
            </p:nvSpPr>
            <p:spPr>
              <a:xfrm>
                <a:off x="877330" y="271849"/>
                <a:ext cx="9996616" cy="1938992"/>
              </a:xfrm>
              <a:prstGeom prst="rect">
                <a:avLst/>
              </a:prstGeom>
            </p:spPr>
            <p:txBody>
              <a:bodyPr wrap="square">
                <a:spAutoFit/>
              </a:bodyPr>
              <a:lstStyle/>
              <a:p>
                <a:pPr marL="457200" indent="46038">
                  <a:buFont typeface="+mj-lt"/>
                  <a:buAutoNum type="alphaL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 What do you notice after completing the table?</a:t>
                </a:r>
              </a:p>
              <a:p>
                <a:pPr marL="457200" indent="46038">
                  <a:buFont typeface="+mj-lt"/>
                  <a:buAutoNum type="alphaL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6038">
                  <a:buFont typeface="+mj-lt"/>
                  <a:buAutoNum type="alphaL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lvl="0"/>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A diagram of an average adult whose weight is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80,010</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grams (g) is shown. </a:t>
                </a:r>
              </a:p>
            </p:txBody>
          </p:sp>
        </mc:Choice>
        <mc:Fallback xmlns="">
          <p:sp>
            <p:nvSpPr>
              <p:cNvPr id="2" name="Rectangle 1">
                <a:extLst>
                  <a:ext uri="{FF2B5EF4-FFF2-40B4-BE49-F238E27FC236}">
                    <a16:creationId xmlns:a16="http://schemas.microsoft.com/office/drawing/2014/main" id="{684678E3-B391-614C-B449-94320C557524}"/>
                  </a:ext>
                </a:extLst>
              </p:cNvPr>
              <p:cNvSpPr>
                <a:spLocks noRot="1" noChangeAspect="1" noMove="1" noResize="1" noEditPoints="1" noAdjustHandles="1" noChangeArrowheads="1" noChangeShapeType="1" noTextEdit="1"/>
              </p:cNvSpPr>
              <p:nvPr/>
            </p:nvSpPr>
            <p:spPr>
              <a:xfrm>
                <a:off x="877330" y="271849"/>
                <a:ext cx="9996616" cy="1938992"/>
              </a:xfrm>
              <a:prstGeom prst="rect">
                <a:avLst/>
              </a:prstGeom>
              <a:blipFill>
                <a:blip r:embed="rId4"/>
                <a:stretch>
                  <a:fillRect l="-761" t="-1948" b="-4545"/>
                </a:stretch>
              </a:blipFill>
            </p:spPr>
            <p:txBody>
              <a:bodyPr/>
              <a:lstStyle/>
              <a:p>
                <a:r>
                  <a:rPr lang="en-US">
                    <a:noFill/>
                  </a:rPr>
                  <a:t> </a:t>
                </a:r>
              </a:p>
            </p:txBody>
          </p:sp>
        </mc:Fallback>
      </mc:AlternateContent>
      <p:sp>
        <p:nvSpPr>
          <p:cNvPr id="11" name="Google Shape;282;g104476d1465_1_17">
            <a:extLst>
              <a:ext uri="{FF2B5EF4-FFF2-40B4-BE49-F238E27FC236}">
                <a16:creationId xmlns:a16="http://schemas.microsoft.com/office/drawing/2014/main" xmlns="" id="{DC0A2C9F-B1E2-2341-BED9-0F18CDA0FBF6}"/>
              </a:ext>
            </a:extLst>
          </p:cNvPr>
          <p:cNvSpPr txBox="1"/>
          <p:nvPr/>
        </p:nvSpPr>
        <p:spPr>
          <a:xfrm>
            <a:off x="8994150" y="650718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275</a:t>
            </a:r>
            <a:endParaRPr i="1" dirty="0">
              <a:latin typeface="Calibri"/>
              <a:ea typeface="Calibri"/>
              <a:cs typeface="Calibri"/>
              <a:sym typeface="Calibri"/>
            </a:endParaRPr>
          </a:p>
        </p:txBody>
      </p:sp>
      <p:sp>
        <p:nvSpPr>
          <p:cNvPr id="13" name="Rectangle 12">
            <a:extLst>
              <a:ext uri="{FF2B5EF4-FFF2-40B4-BE49-F238E27FC236}">
                <a16:creationId xmlns:a16="http://schemas.microsoft.com/office/drawing/2014/main" xmlns="" id="{F3F098C3-E3C7-2043-836D-4522AC130A03}"/>
              </a:ext>
            </a:extLst>
          </p:cNvPr>
          <p:cNvSpPr/>
          <p:nvPr/>
        </p:nvSpPr>
        <p:spPr>
          <a:xfrm>
            <a:off x="877330" y="2580315"/>
            <a:ext cx="6933172" cy="1323439"/>
          </a:xfrm>
          <a:prstGeom prst="rect">
            <a:avLst/>
          </a:prstGeom>
        </p:spPr>
        <p:txBody>
          <a:bodyPr wrap="square">
            <a:spAutoFit/>
          </a:bodyPr>
          <a:lstStyle/>
          <a:p>
            <a:pPr marL="914400" indent="-4572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Discuss with your partner how to use the information from the previous table to determine how many balloons it would take to float the person. </a:t>
            </a:r>
          </a:p>
        </p:txBody>
      </p:sp>
      <p:pic>
        <p:nvPicPr>
          <p:cNvPr id="14" name="Picture 13" descr="A small figurine on a black background&#10;&#10;Description automatically generated with medium confidence">
            <a:extLst>
              <a:ext uri="{FF2B5EF4-FFF2-40B4-BE49-F238E27FC236}">
                <a16:creationId xmlns:a16="http://schemas.microsoft.com/office/drawing/2014/main" xmlns="" id="{197B5B83-239A-6440-B7E2-C540191D52A1}"/>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l="14471" r="16066"/>
          <a:stretch/>
        </p:blipFill>
        <p:spPr bwMode="auto">
          <a:xfrm flipH="1">
            <a:off x="8631750" y="2093238"/>
            <a:ext cx="1903730" cy="2614930"/>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16" name="Text Box 16">
                <a:extLst>
                  <a:ext uri="{FF2B5EF4-FFF2-40B4-BE49-F238E27FC236}">
                    <a16:creationId xmlns:a16="http://schemas.microsoft.com/office/drawing/2014/main" xmlns="" id="{41F81553-139D-AE42-B65A-AB5100F0D4AB}"/>
                  </a:ext>
                </a:extLst>
              </p:cNvPr>
              <p:cNvSpPr txBox="1">
                <a:spLocks noChangeArrowheads="1"/>
              </p:cNvSpPr>
              <p:nvPr/>
            </p:nvSpPr>
            <p:spPr bwMode="auto">
              <a:xfrm>
                <a:off x="8747761" y="3400703"/>
                <a:ext cx="1657350" cy="771525"/>
              </a:xfrm>
              <a:prstGeom prst="rect">
                <a:avLst/>
              </a:prstGeom>
              <a:noFill/>
              <a:ln w="9525">
                <a:noFill/>
                <a:miter lim="800000"/>
                <a:headEnd/>
                <a:tailEnd/>
              </a:ln>
            </p:spPr>
            <p:txBody>
              <a:bodyPr rot="0" vert="horz" wrap="square" lIns="91440" tIns="45720" rIns="91440" bIns="45720" anchor="t" anchorCtr="0">
                <a:noAutofit/>
              </a:bodyPr>
              <a:lstStyle/>
              <a:p>
                <a:pPr algn="ctr">
                  <a:spcAft>
                    <a:spcPts val="1000"/>
                  </a:spcAft>
                </a:pPr>
                <a:r>
                  <a:rPr lang="en-US" dirty="0">
                    <a:latin typeface="Verdana" panose="020B0604030504040204" pitchFamily="34" charset="0"/>
                    <a:ea typeface="Times New Roman" panose="02020603050405020304" pitchFamily="18" charset="0"/>
                    <a:cs typeface="Times New Roman" panose="02020603050405020304" pitchFamily="18" charset="0"/>
                  </a:rPr>
                  <a:t>Average Adult</a:t>
                </a:r>
                <a:endParaRPr lang="x-none" sz="1200">
                  <a:latin typeface="Cambria" panose="02040503050406030204" pitchFamily="18" charset="0"/>
                  <a:ea typeface="Times New Roman" panose="02020603050405020304" pitchFamily="18" charset="0"/>
                  <a:cs typeface="Times New Roman" panose="02020603050405020304" pitchFamily="18" charset="0"/>
                </a:endParaRPr>
              </a:p>
              <a:p>
                <a:pPr algn="ctr">
                  <a:spcAft>
                    <a:spcPts val="1000"/>
                  </a:spcAft>
                </a:pPr>
                <a14:m>
                  <m:oMathPara xmlns:m="http://schemas.openxmlformats.org/officeDocument/2006/math">
                    <m:oMathParaPr>
                      <m:jc m:val="centerGroup"/>
                    </m:oMathParaPr>
                    <m:oMath xmlns:m="http://schemas.openxmlformats.org/officeDocument/2006/math">
                      <m:r>
                        <a:rPr lang="en-US" sz="1600" i="1">
                          <a:latin typeface="Cambria Math" panose="02040503050406030204" pitchFamily="18" charset="0"/>
                          <a:ea typeface="Times New Roman" panose="02020603050405020304" pitchFamily="18" charset="0"/>
                          <a:cs typeface="Times New Roman" panose="02020603050405020304" pitchFamily="18" charset="0"/>
                        </a:rPr>
                        <m:t>80,010 </m:t>
                      </m:r>
                      <m:r>
                        <m:rPr>
                          <m:sty m:val="p"/>
                        </m:rPr>
                        <a:rPr lang="en-US" sz="1600">
                          <a:latin typeface="Cambria Math" panose="02040503050406030204" pitchFamily="18" charset="0"/>
                          <a:ea typeface="Times New Roman" panose="02020603050405020304" pitchFamily="18" charset="0"/>
                          <a:cs typeface="Times New Roman" panose="02020603050405020304" pitchFamily="18" charset="0"/>
                        </a:rPr>
                        <m:t>g</m:t>
                      </m:r>
                    </m:oMath>
                  </m:oMathPara>
                </a14:m>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6" name="Text Box 16">
                <a:extLst>
                  <a:ext uri="{FF2B5EF4-FFF2-40B4-BE49-F238E27FC236}">
                    <a16:creationId xmlns:a16="http://schemas.microsoft.com/office/drawing/2014/main" id="{41F81553-139D-AE42-B65A-AB5100F0D4AB}"/>
                  </a:ext>
                </a:extLst>
              </p:cNvPr>
              <p:cNvSpPr txBox="1">
                <a:spLocks noRot="1" noChangeAspect="1" noMove="1" noResize="1" noEditPoints="1" noAdjustHandles="1" noChangeArrowheads="1" noChangeShapeType="1" noTextEdit="1"/>
              </p:cNvSpPr>
              <p:nvPr/>
            </p:nvSpPr>
            <p:spPr bwMode="auto">
              <a:xfrm>
                <a:off x="8747761" y="3400703"/>
                <a:ext cx="1657350" cy="771525"/>
              </a:xfrm>
              <a:prstGeom prst="rect">
                <a:avLst/>
              </a:prstGeom>
              <a:blipFill>
                <a:blip r:embed="rId6"/>
                <a:stretch>
                  <a:fillRect t="-1613"/>
                </a:stretch>
              </a:blipFill>
              <a:ln w="9525">
                <a:noFill/>
                <a:miter lim="800000"/>
                <a:headEnd/>
                <a:tailEnd/>
              </a:ln>
            </p:spPr>
            <p:txBody>
              <a:bodyPr/>
              <a:lstStyle/>
              <a:p>
                <a:r>
                  <a:rPr lang="en-US">
                    <a:noFill/>
                  </a:rPr>
                  <a:t> </a:t>
                </a:r>
              </a:p>
            </p:txBody>
          </p:sp>
        </mc:Fallback>
      </mc:AlternateContent>
      <p:sp>
        <p:nvSpPr>
          <p:cNvPr id="17" name="Rectangle 16">
            <a:extLst>
              <a:ext uri="{FF2B5EF4-FFF2-40B4-BE49-F238E27FC236}">
                <a16:creationId xmlns:a16="http://schemas.microsoft.com/office/drawing/2014/main" xmlns="" id="{832CBBB4-F6D6-B548-AF9B-84E6B3D3EA1D}"/>
              </a:ext>
            </a:extLst>
          </p:cNvPr>
          <p:cNvSpPr/>
          <p:nvPr/>
        </p:nvSpPr>
        <p:spPr>
          <a:xfrm>
            <a:off x="877330" y="4574591"/>
            <a:ext cx="8505553" cy="1323439"/>
          </a:xfrm>
          <a:prstGeom prst="rect">
            <a:avLst/>
          </a:prstGeom>
        </p:spPr>
        <p:txBody>
          <a:bodyPr wrap="square">
            <a:spAutoFit/>
          </a:bodyPr>
          <a:lstStyle/>
          <a:p>
            <a:pPr marL="457200" indent="46038">
              <a:buFont typeface="+mj-lt"/>
              <a:buAutoNum type="alphaL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 Complete the statement.</a:t>
            </a:r>
          </a:p>
          <a:p>
            <a:pPr marL="457200"/>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715963" indent="130175"/>
            <a:r>
              <a:rPr lang="en-US" sz="2000" dirty="0">
                <a:latin typeface="Verdana" panose="020B0604030504040204" pitchFamily="34" charset="0"/>
                <a:ea typeface="Times New Roman" panose="02020603050405020304" pitchFamily="18" charset="0"/>
                <a:cs typeface="Times New Roman" panose="02020603050405020304" pitchFamily="18" charset="0"/>
              </a:rPr>
              <a:t>It would take _________ balloons to float the person. </a:t>
            </a:r>
          </a:p>
        </p:txBody>
      </p:sp>
    </p:spTree>
    <p:extLst>
      <p:ext uri="{BB962C8B-B14F-4D97-AF65-F5344CB8AC3E}">
        <p14:creationId xmlns:p14="http://schemas.microsoft.com/office/powerpoint/2010/main" val="35912764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53568" y="6163528"/>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xmlns="" id="{684678E3-B391-614C-B449-94320C557524}"/>
              </a:ext>
            </a:extLst>
          </p:cNvPr>
          <p:cNvSpPr/>
          <p:nvPr/>
        </p:nvSpPr>
        <p:spPr>
          <a:xfrm>
            <a:off x="605481" y="420130"/>
            <a:ext cx="10948087" cy="3046988"/>
          </a:xfrm>
          <a:prstGeom prst="rect">
            <a:avLst/>
          </a:prstGeom>
        </p:spPr>
        <p:txBody>
          <a:bodyPr wrap="square">
            <a:spAutoFit/>
          </a:bodyPr>
          <a:lstStyle/>
          <a:p>
            <a:pPr marL="473075" indent="-457200">
              <a:buFont typeface="+mj-lt"/>
              <a:buAutoNum type="arabi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Weather balloons would be better to use in this situation. Unlike regular balloons, weather balloons are designed to lift heavier objects.</a:t>
            </a:r>
          </a:p>
          <a:p>
            <a:pPr marL="457200"/>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503238"/>
            <a:r>
              <a:rPr lang="en-US" sz="2400" dirty="0">
                <a:latin typeface="Verdana" panose="020B0604030504040204" pitchFamily="34" charset="0"/>
                <a:ea typeface="Times New Roman" panose="02020603050405020304" pitchFamily="18" charset="0"/>
                <a:cs typeface="Times New Roman" panose="02020603050405020304" pitchFamily="18" charset="0"/>
              </a:rPr>
              <a:t>The partially completed table shows the weight in pounds (</a:t>
            </a:r>
            <a:r>
              <a:rPr lang="en-US" sz="2400" dirty="0" err="1">
                <a:latin typeface="Verdana" panose="020B0604030504040204" pitchFamily="34" charset="0"/>
                <a:ea typeface="Times New Roman" panose="02020603050405020304" pitchFamily="18" charset="0"/>
                <a:cs typeface="Times New Roman" panose="02020603050405020304" pitchFamily="18" charset="0"/>
              </a:rPr>
              <a:t>lbs</a:t>
            </a:r>
            <a:r>
              <a:rPr lang="en-US" sz="2400" dirty="0">
                <a:latin typeface="Verdana" panose="020B0604030504040204" pitchFamily="34" charset="0"/>
                <a:ea typeface="Times New Roman" panose="02020603050405020304" pitchFamily="18" charset="0"/>
                <a:cs typeface="Times New Roman" panose="02020603050405020304" pitchFamily="18" charset="0"/>
              </a:rPr>
              <a:t>) of four objects and the number of weather balloons needed to float each object. </a:t>
            </a:r>
          </a:p>
        </p:txBody>
      </p:sp>
      <p:sp>
        <p:nvSpPr>
          <p:cNvPr id="11" name="Google Shape;282;g104476d1465_1_17">
            <a:extLst>
              <a:ext uri="{FF2B5EF4-FFF2-40B4-BE49-F238E27FC236}">
                <a16:creationId xmlns:a16="http://schemas.microsoft.com/office/drawing/2014/main" xmlns="" id="{DC0A2C9F-B1E2-2341-BED9-0F18CDA0FBF6}"/>
              </a:ext>
            </a:extLst>
          </p:cNvPr>
          <p:cNvSpPr txBox="1"/>
          <p:nvPr/>
        </p:nvSpPr>
        <p:spPr>
          <a:xfrm>
            <a:off x="8919568" y="649216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275</a:t>
            </a:r>
            <a:endParaRPr i="1" dirty="0">
              <a:latin typeface="Calibri"/>
              <a:ea typeface="Calibri"/>
              <a:cs typeface="Calibri"/>
              <a:sym typeface="Calibri"/>
            </a:endParaRPr>
          </a:p>
        </p:txBody>
      </p:sp>
    </p:spTree>
    <p:extLst>
      <p:ext uri="{BB962C8B-B14F-4D97-AF65-F5344CB8AC3E}">
        <p14:creationId xmlns:p14="http://schemas.microsoft.com/office/powerpoint/2010/main" val="26821580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98926"/>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xmlns="" id="{684678E3-B391-614C-B449-94320C557524}"/>
              </a:ext>
            </a:extLst>
          </p:cNvPr>
          <p:cNvSpPr/>
          <p:nvPr/>
        </p:nvSpPr>
        <p:spPr>
          <a:xfrm>
            <a:off x="1200256" y="478278"/>
            <a:ext cx="9416570" cy="830997"/>
          </a:xfrm>
          <a:prstGeom prst="rect">
            <a:avLst/>
          </a:prstGeom>
        </p:spPr>
        <p:txBody>
          <a:bodyPr wrap="square">
            <a:spAutoFit/>
          </a:bodyPr>
          <a:lstStyle/>
          <a:p>
            <a:pPr marL="473075" indent="-457200">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Complete the table with the weight, the number of weather balloons, and unit rate for each object.</a:t>
            </a:r>
          </a:p>
        </p:txBody>
      </p:sp>
      <p:sp>
        <p:nvSpPr>
          <p:cNvPr id="11" name="Google Shape;282;g104476d1465_1_17">
            <a:extLst>
              <a:ext uri="{FF2B5EF4-FFF2-40B4-BE49-F238E27FC236}">
                <a16:creationId xmlns:a16="http://schemas.microsoft.com/office/drawing/2014/main" xmlns="" id="{DC0A2C9F-B1E2-2341-BED9-0F18CDA0FBF6}"/>
              </a:ext>
            </a:extLst>
          </p:cNvPr>
          <p:cNvSpPr txBox="1"/>
          <p:nvPr/>
        </p:nvSpPr>
        <p:spPr>
          <a:xfrm>
            <a:off x="8994150" y="651033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275</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xmlns="" id="{EA22D100-CA53-AC42-AF17-588DFD8E0E48}"/>
                  </a:ext>
                </a:extLst>
              </p:cNvPr>
              <p:cNvGraphicFramePr>
                <a:graphicFrameLocks noGrp="1"/>
              </p:cNvGraphicFramePr>
              <p:nvPr>
                <p:extLst>
                  <p:ext uri="{D42A27DB-BD31-4B8C-83A1-F6EECF244321}">
                    <p14:modId xmlns:p14="http://schemas.microsoft.com/office/powerpoint/2010/main" val="4277961863"/>
                  </p:ext>
                </p:extLst>
              </p:nvPr>
            </p:nvGraphicFramePr>
            <p:xfrm>
              <a:off x="2422071" y="1779413"/>
              <a:ext cx="7630905" cy="4608325"/>
            </p:xfrm>
            <a:graphic>
              <a:graphicData uri="http://schemas.openxmlformats.org/drawingml/2006/table">
                <a:tbl>
                  <a:tblPr firstRow="1" firstCol="1" bandRow="1">
                    <a:tableStyleId>{A91F0D33-8C57-4600-99A7-42BC86742BE1}</a:tableStyleId>
                  </a:tblPr>
                  <a:tblGrid>
                    <a:gridCol w="1771125">
                      <a:extLst>
                        <a:ext uri="{9D8B030D-6E8A-4147-A177-3AD203B41FA5}">
                          <a16:colId xmlns:a16="http://schemas.microsoft.com/office/drawing/2014/main" xmlns="" val="835816812"/>
                        </a:ext>
                      </a:extLst>
                    </a:gridCol>
                    <a:gridCol w="1400831">
                      <a:extLst>
                        <a:ext uri="{9D8B030D-6E8A-4147-A177-3AD203B41FA5}">
                          <a16:colId xmlns:a16="http://schemas.microsoft.com/office/drawing/2014/main" xmlns="" val="647904669"/>
                        </a:ext>
                      </a:extLst>
                    </a:gridCol>
                    <a:gridCol w="1613766">
                      <a:extLst>
                        <a:ext uri="{9D8B030D-6E8A-4147-A177-3AD203B41FA5}">
                          <a16:colId xmlns:a16="http://schemas.microsoft.com/office/drawing/2014/main" xmlns="" val="324434936"/>
                        </a:ext>
                      </a:extLst>
                    </a:gridCol>
                    <a:gridCol w="2845183">
                      <a:extLst>
                        <a:ext uri="{9D8B030D-6E8A-4147-A177-3AD203B41FA5}">
                          <a16:colId xmlns:a16="http://schemas.microsoft.com/office/drawing/2014/main" xmlns="" val="4023180156"/>
                        </a:ext>
                      </a:extLst>
                    </a:gridCol>
                  </a:tblGrid>
                  <a:tr h="527271">
                    <a:tc>
                      <a:txBody>
                        <a:bodyPr/>
                        <a:lstStyle/>
                        <a:p>
                          <a:pPr marL="96520" marR="0" indent="-9652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Object</a:t>
                          </a:r>
                          <a:endParaRPr lang="x-none" sz="1100" b="1" dirty="0">
                            <a:effectLst/>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96520" marR="0" indent="-9652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Weight (</a:t>
                          </a:r>
                          <a:r>
                            <a:rPr lang="en-US" sz="1400" b="1" dirty="0" err="1">
                              <a:effectLst/>
                              <a:latin typeface="Verdana" panose="020B0604030504040204" pitchFamily="34" charset="0"/>
                              <a:ea typeface="Verdana" panose="020B0604030504040204" pitchFamily="34" charset="0"/>
                              <a:cs typeface="Verdana" panose="020B0604030504040204" pitchFamily="34" charset="0"/>
                            </a:rPr>
                            <a:t>lbs</a:t>
                          </a:r>
                          <a:r>
                            <a:rPr lang="en-US" sz="1400" b="1" dirty="0">
                              <a:effectLst/>
                              <a:latin typeface="Verdana" panose="020B0604030504040204" pitchFamily="34" charset="0"/>
                              <a:ea typeface="Verdana" panose="020B0604030504040204" pitchFamily="34" charset="0"/>
                              <a:cs typeface="Verdana" panose="020B0604030504040204" pitchFamily="34" charset="0"/>
                            </a:rPr>
                            <a:t>)</a:t>
                          </a:r>
                          <a:endParaRPr lang="x-none" sz="1100" b="1" dirty="0">
                            <a:effectLst/>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96520" marR="0" indent="-9652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Number of Weather Balloons</a:t>
                          </a:r>
                          <a:endParaRPr lang="x-none" sz="1100" b="1" dirty="0">
                            <a:effectLst/>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96520" marR="0" indent="-9652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Unit Rate</a:t>
                          </a:r>
                          <a:endParaRPr lang="x-none" sz="1100" b="1" dirty="0">
                            <a:effectLst/>
                            <a:latin typeface="Verdana" panose="020B0604030504040204" pitchFamily="34" charset="0"/>
                            <a:ea typeface="Verdana" panose="020B0604030504040204" pitchFamily="34" charset="0"/>
                            <a:cs typeface="Verdana" panose="020B0604030504040204" pitchFamily="34" charset="0"/>
                          </a:endParaRPr>
                        </a:p>
                        <a:p>
                          <a:pPr marL="96520" marR="0" indent="-9652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a:t>
                          </a:r>
                          <a:r>
                            <a:rPr lang="en-US" sz="1400" b="1" dirty="0" err="1">
                              <a:effectLst/>
                              <a:latin typeface="Verdana" panose="020B0604030504040204" pitchFamily="34" charset="0"/>
                              <a:ea typeface="Verdana" panose="020B0604030504040204" pitchFamily="34" charset="0"/>
                              <a:cs typeface="Verdana" panose="020B0604030504040204" pitchFamily="34" charset="0"/>
                            </a:rPr>
                            <a:t>lbs</a:t>
                          </a:r>
                          <a:r>
                            <a:rPr lang="en-US" sz="1400" b="1" dirty="0">
                              <a:effectLst/>
                              <a:latin typeface="Verdana" panose="020B0604030504040204" pitchFamily="34" charset="0"/>
                              <a:ea typeface="Verdana" panose="020B0604030504040204" pitchFamily="34" charset="0"/>
                              <a:cs typeface="Verdana" panose="020B0604030504040204" pitchFamily="34" charset="0"/>
                            </a:rPr>
                            <a:t> per balloon)</a:t>
                          </a:r>
                          <a:endParaRPr lang="x-none" sz="1100" b="1" dirty="0">
                            <a:effectLst/>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xmlns="" val="2473310466"/>
                      </a:ext>
                    </a:extLst>
                  </a:tr>
                  <a:tr h="925688">
                    <a:tc>
                      <a:txBody>
                        <a:bodyPr/>
                        <a:lstStyle/>
                        <a:p>
                          <a:pPr marL="96520" marR="0" indent="-9652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Table</a:t>
                          </a:r>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96520" marR="0" indent="-96520" algn="ctr">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a:rPr>
                                  <m:t>34</m:t>
                                </m:r>
                              </m:oMath>
                            </m:oMathPara>
                          </a14:m>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96520" marR="0" indent="-96520" algn="ctr">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a:rPr>
                                  <m:t>4</m:t>
                                </m:r>
                              </m:oMath>
                            </m:oMathPara>
                          </a14:m>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x-none" sz="1200">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25102883"/>
                      </a:ext>
                    </a:extLst>
                  </a:tr>
                  <a:tr h="1031966">
                    <a:tc>
                      <a:txBody>
                        <a:bodyPr/>
                        <a:lstStyle/>
                        <a:p>
                          <a:pPr marL="96520" marR="0" indent="-9652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Flowerpot</a:t>
                          </a:r>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96520" marR="0" indent="-9652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96520" marR="0" indent="-96520" algn="ctr">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a:rPr>
                                  <m:t>2</m:t>
                                </m:r>
                              </m:oMath>
                            </m:oMathPara>
                          </a14:m>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x-none" sz="1200" dirty="0">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482918026"/>
                      </a:ext>
                    </a:extLst>
                  </a:tr>
                  <a:tr h="979714">
                    <a:tc>
                      <a:txBody>
                        <a:bodyPr/>
                        <a:lstStyle/>
                        <a:p>
                          <a:pPr marL="96520" marR="0" indent="-9652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Bookshelf</a:t>
                          </a:r>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96520" marR="0" indent="-9652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96520" marR="0" indent="-96520" algn="ctr">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a:rPr>
                                  <m:t>6</m:t>
                                </m:r>
                              </m:oMath>
                            </m:oMathPara>
                          </a14:m>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x-none" sz="1200" dirty="0">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666615196"/>
                      </a:ext>
                    </a:extLst>
                  </a:tr>
                  <a:tr h="1030877">
                    <a:tc>
                      <a:txBody>
                        <a:bodyPr/>
                        <a:lstStyle/>
                        <a:p>
                          <a:pPr marL="96520" marR="0" indent="-9652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Armchair</a:t>
                          </a:r>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96520" marR="0" indent="-96520" algn="ctr">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a:rPr>
                                  <m:t>93.5</m:t>
                                </m:r>
                              </m:oMath>
                            </m:oMathPara>
                          </a14:m>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96520" marR="0" indent="-96520" algn="ct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x-none" sz="1100" dirty="0">
                            <a:effectLst/>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x-none" sz="1200" dirty="0">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17122500"/>
                      </a:ext>
                    </a:extLst>
                  </a:tr>
                </a:tbl>
              </a:graphicData>
            </a:graphic>
          </p:graphicFrame>
        </mc:Choice>
        <mc:Fallback xmlns="">
          <p:graphicFrame>
            <p:nvGraphicFramePr>
              <p:cNvPr id="3" name="Table 2">
                <a:extLst>
                  <a:ext uri="{FF2B5EF4-FFF2-40B4-BE49-F238E27FC236}">
                    <a16:creationId xmlns:a16="http://schemas.microsoft.com/office/drawing/2014/main" id="{EA22D100-CA53-AC42-AF17-588DFD8E0E48}"/>
                  </a:ext>
                </a:extLst>
              </p:cNvPr>
              <p:cNvGraphicFramePr>
                <a:graphicFrameLocks noGrp="1"/>
              </p:cNvGraphicFramePr>
              <p:nvPr>
                <p:extLst>
                  <p:ext uri="{D42A27DB-BD31-4B8C-83A1-F6EECF244321}">
                    <p14:modId xmlns:p14="http://schemas.microsoft.com/office/powerpoint/2010/main" val="4277961863"/>
                  </p:ext>
                </p:extLst>
              </p:nvPr>
            </p:nvGraphicFramePr>
            <p:xfrm>
              <a:off x="2422071" y="1779413"/>
              <a:ext cx="7630905" cy="4608325"/>
            </p:xfrm>
            <a:graphic>
              <a:graphicData uri="http://schemas.openxmlformats.org/drawingml/2006/table">
                <a:tbl>
                  <a:tblPr firstRow="1" firstCol="1" bandRow="1">
                    <a:tableStyleId>{A91F0D33-8C57-4600-99A7-42BC86742BE1}</a:tableStyleId>
                  </a:tblPr>
                  <a:tblGrid>
                    <a:gridCol w="1771125">
                      <a:extLst>
                        <a:ext uri="{9D8B030D-6E8A-4147-A177-3AD203B41FA5}">
                          <a16:colId xmlns:a16="http://schemas.microsoft.com/office/drawing/2014/main" val="835816812"/>
                        </a:ext>
                      </a:extLst>
                    </a:gridCol>
                    <a:gridCol w="1400831">
                      <a:extLst>
                        <a:ext uri="{9D8B030D-6E8A-4147-A177-3AD203B41FA5}">
                          <a16:colId xmlns:a16="http://schemas.microsoft.com/office/drawing/2014/main" val="647904669"/>
                        </a:ext>
                      </a:extLst>
                    </a:gridCol>
                    <a:gridCol w="1613766">
                      <a:extLst>
                        <a:ext uri="{9D8B030D-6E8A-4147-A177-3AD203B41FA5}">
                          <a16:colId xmlns:a16="http://schemas.microsoft.com/office/drawing/2014/main" val="324434936"/>
                        </a:ext>
                      </a:extLst>
                    </a:gridCol>
                    <a:gridCol w="2845183">
                      <a:extLst>
                        <a:ext uri="{9D8B030D-6E8A-4147-A177-3AD203B41FA5}">
                          <a16:colId xmlns:a16="http://schemas.microsoft.com/office/drawing/2014/main" val="4023180156"/>
                        </a:ext>
                      </a:extLst>
                    </a:gridCol>
                  </a:tblGrid>
                  <a:tr h="640080">
                    <a:tc>
                      <a:txBody>
                        <a:bodyPr/>
                        <a:lstStyle/>
                        <a:p>
                          <a:pPr marL="96520" marR="0" indent="-9652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Object</a:t>
                          </a:r>
                          <a:endParaRPr lang="x-none" sz="1100" b="1" dirty="0">
                            <a:effectLst/>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96520" marR="0" indent="-9652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Weight (</a:t>
                          </a:r>
                          <a:r>
                            <a:rPr lang="en-US" sz="1400" b="1" dirty="0" err="1">
                              <a:effectLst/>
                              <a:latin typeface="Verdana" panose="020B0604030504040204" pitchFamily="34" charset="0"/>
                              <a:ea typeface="Verdana" panose="020B0604030504040204" pitchFamily="34" charset="0"/>
                              <a:cs typeface="Verdana" panose="020B0604030504040204" pitchFamily="34" charset="0"/>
                            </a:rPr>
                            <a:t>lbs</a:t>
                          </a:r>
                          <a:r>
                            <a:rPr lang="en-US" sz="1400" b="1" dirty="0">
                              <a:effectLst/>
                              <a:latin typeface="Verdana" panose="020B0604030504040204" pitchFamily="34" charset="0"/>
                              <a:ea typeface="Verdana" panose="020B0604030504040204" pitchFamily="34" charset="0"/>
                              <a:cs typeface="Verdana" panose="020B0604030504040204" pitchFamily="34" charset="0"/>
                            </a:rPr>
                            <a:t>)</a:t>
                          </a:r>
                          <a:endParaRPr lang="x-none" sz="1100" b="1" dirty="0">
                            <a:effectLst/>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96520" marR="0" indent="-9652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Number of Weather Balloons</a:t>
                          </a:r>
                          <a:endParaRPr lang="x-none" sz="1100" b="1" dirty="0">
                            <a:effectLst/>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96520" marR="0" indent="-9652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Unit Rate</a:t>
                          </a:r>
                          <a:endParaRPr lang="x-none" sz="1100" b="1" dirty="0">
                            <a:effectLst/>
                            <a:latin typeface="Verdana" panose="020B0604030504040204" pitchFamily="34" charset="0"/>
                            <a:ea typeface="Verdana" panose="020B0604030504040204" pitchFamily="34" charset="0"/>
                            <a:cs typeface="Verdana" panose="020B0604030504040204" pitchFamily="34" charset="0"/>
                          </a:endParaRPr>
                        </a:p>
                        <a:p>
                          <a:pPr marL="96520" marR="0" indent="-9652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a:t>
                          </a:r>
                          <a:r>
                            <a:rPr lang="en-US" sz="1400" b="1" dirty="0" err="1">
                              <a:effectLst/>
                              <a:latin typeface="Verdana" panose="020B0604030504040204" pitchFamily="34" charset="0"/>
                              <a:ea typeface="Verdana" panose="020B0604030504040204" pitchFamily="34" charset="0"/>
                              <a:cs typeface="Verdana" panose="020B0604030504040204" pitchFamily="34" charset="0"/>
                            </a:rPr>
                            <a:t>lbs</a:t>
                          </a:r>
                          <a:r>
                            <a:rPr lang="en-US" sz="1400" b="1" dirty="0">
                              <a:effectLst/>
                              <a:latin typeface="Verdana" panose="020B0604030504040204" pitchFamily="34" charset="0"/>
                              <a:ea typeface="Verdana" panose="020B0604030504040204" pitchFamily="34" charset="0"/>
                              <a:cs typeface="Verdana" panose="020B0604030504040204" pitchFamily="34" charset="0"/>
                            </a:rPr>
                            <a:t> per balloon)</a:t>
                          </a:r>
                          <a:endParaRPr lang="x-none" sz="1100" b="1" dirty="0">
                            <a:effectLst/>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2473310466"/>
                      </a:ext>
                    </a:extLst>
                  </a:tr>
                  <a:tr h="925688">
                    <a:tc>
                      <a:txBody>
                        <a:bodyPr/>
                        <a:lstStyle/>
                        <a:p>
                          <a:pPr marL="96520" marR="0" indent="-9652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Table</a:t>
                          </a:r>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27273" t="-75342" r="-320909" b="-331507"/>
                          </a:stretch>
                        </a:blipFill>
                      </a:tcPr>
                    </a:tc>
                    <a:tc>
                      <a:txBody>
                        <a:bodyPr/>
                        <a:lstStyle/>
                        <a:p>
                          <a:endParaRPr lang="en-US"/>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95313" t="-75342" r="-175781" b="-331507"/>
                          </a:stretch>
                        </a:blipFill>
                      </a:tcPr>
                    </a:tc>
                    <a:tc>
                      <a:txBody>
                        <a:bodyPr/>
                        <a:lstStyle/>
                        <a:p>
                          <a:endParaRPr lang="x-none" sz="1200">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5102883"/>
                      </a:ext>
                    </a:extLst>
                  </a:tr>
                  <a:tr h="1031966">
                    <a:tc>
                      <a:txBody>
                        <a:bodyPr/>
                        <a:lstStyle/>
                        <a:p>
                          <a:pPr marL="96520" marR="0" indent="-9652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Flowerpot</a:t>
                          </a:r>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96520" marR="0" indent="-9652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95313" t="-156098" r="-175781" b="-195122"/>
                          </a:stretch>
                        </a:blipFill>
                      </a:tcPr>
                    </a:tc>
                    <a:tc>
                      <a:txBody>
                        <a:bodyPr/>
                        <a:lstStyle/>
                        <a:p>
                          <a:endParaRPr lang="x-none" sz="1200" dirty="0">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82918026"/>
                      </a:ext>
                    </a:extLst>
                  </a:tr>
                  <a:tr h="979714">
                    <a:tc>
                      <a:txBody>
                        <a:bodyPr/>
                        <a:lstStyle/>
                        <a:p>
                          <a:pPr marL="96520" marR="0" indent="-9652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Bookshelf</a:t>
                          </a:r>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96520" marR="0" indent="-9652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95313" t="-272727" r="-175781" b="-107792"/>
                          </a:stretch>
                        </a:blipFill>
                      </a:tcPr>
                    </a:tc>
                    <a:tc>
                      <a:txBody>
                        <a:bodyPr/>
                        <a:lstStyle/>
                        <a:p>
                          <a:endParaRPr lang="x-none" sz="1200" dirty="0">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6615196"/>
                      </a:ext>
                    </a:extLst>
                  </a:tr>
                  <a:tr h="1030877">
                    <a:tc>
                      <a:txBody>
                        <a:bodyPr/>
                        <a:lstStyle/>
                        <a:p>
                          <a:pPr marL="96520" marR="0" indent="-9652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Armchair</a:t>
                          </a:r>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27273" t="-354321" r="-320909" b="-2469"/>
                          </a:stretch>
                        </a:blipFill>
                      </a:tcPr>
                    </a:tc>
                    <a:tc>
                      <a:txBody>
                        <a:bodyPr/>
                        <a:lstStyle/>
                        <a:p>
                          <a:pPr marL="96520" marR="0" indent="-96520" algn="ct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x-none" sz="1100" dirty="0">
                            <a:effectLst/>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x-none" sz="1200" dirty="0">
                            <a:latin typeface="Verdana" panose="020B0604030504040204" pitchFamily="34" charset="0"/>
                            <a:ea typeface="Verdana" panose="020B0604030504040204" pitchFamily="34" charset="0"/>
                            <a:cs typeface="Verdana" panose="020B0604030504040204" pitchFamily="34" charset="0"/>
                          </a:endParaRPr>
                        </a:p>
                      </a:txBody>
                      <a:tcPr marL="23691" marR="236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7122500"/>
                      </a:ext>
                    </a:extLst>
                  </a:tr>
                </a:tbl>
              </a:graphicData>
            </a:graphic>
          </p:graphicFrame>
        </mc:Fallback>
      </mc:AlternateContent>
      <p:pic>
        <p:nvPicPr>
          <p:cNvPr id="12" name="Picture 11" descr="Shape, square&#10;&#10;Description automatically generated">
            <a:extLst>
              <a:ext uri="{FF2B5EF4-FFF2-40B4-BE49-F238E27FC236}">
                <a16:creationId xmlns:a16="http://schemas.microsoft.com/office/drawing/2014/main" xmlns="" id="{3D79AD80-90D7-1E48-9C2C-C85C72DE4725}"/>
              </a:ext>
            </a:extLst>
          </p:cNvPr>
          <p:cNvPicPr>
            <a:picLocks noChangeAspect="1"/>
          </p:cNvPicPr>
          <p:nvPr/>
        </p:nvPicPr>
        <p:blipFill>
          <a:blip r:embed="rId5"/>
          <a:stretch>
            <a:fillRect/>
          </a:stretch>
        </p:blipFill>
        <p:spPr>
          <a:xfrm>
            <a:off x="8148198" y="2513104"/>
            <a:ext cx="978386" cy="743934"/>
          </a:xfrm>
          <a:prstGeom prst="rect">
            <a:avLst/>
          </a:prstGeom>
        </p:spPr>
      </p:pic>
      <p:pic>
        <p:nvPicPr>
          <p:cNvPr id="13" name="Picture 12" descr="Shape, square&#10;&#10;Description automatically generated">
            <a:extLst>
              <a:ext uri="{FF2B5EF4-FFF2-40B4-BE49-F238E27FC236}">
                <a16:creationId xmlns:a16="http://schemas.microsoft.com/office/drawing/2014/main" xmlns="" id="{87551EE6-1F67-414F-9CFA-2FE830137FC1}"/>
              </a:ext>
            </a:extLst>
          </p:cNvPr>
          <p:cNvPicPr>
            <a:picLocks noChangeAspect="1"/>
          </p:cNvPicPr>
          <p:nvPr/>
        </p:nvPicPr>
        <p:blipFill>
          <a:blip r:embed="rId5"/>
          <a:stretch>
            <a:fillRect/>
          </a:stretch>
        </p:blipFill>
        <p:spPr>
          <a:xfrm>
            <a:off x="8148198" y="3492818"/>
            <a:ext cx="978386" cy="743934"/>
          </a:xfrm>
          <a:prstGeom prst="rect">
            <a:avLst/>
          </a:prstGeom>
        </p:spPr>
      </p:pic>
      <p:pic>
        <p:nvPicPr>
          <p:cNvPr id="14" name="Picture 13" descr="Shape, square&#10;&#10;Description automatically generated">
            <a:extLst>
              <a:ext uri="{FF2B5EF4-FFF2-40B4-BE49-F238E27FC236}">
                <a16:creationId xmlns:a16="http://schemas.microsoft.com/office/drawing/2014/main" xmlns="" id="{3E78F65B-AB97-D64D-986D-F0E545C0FE94}"/>
              </a:ext>
            </a:extLst>
          </p:cNvPr>
          <p:cNvPicPr>
            <a:picLocks noChangeAspect="1"/>
          </p:cNvPicPr>
          <p:nvPr/>
        </p:nvPicPr>
        <p:blipFill>
          <a:blip r:embed="rId5"/>
          <a:stretch>
            <a:fillRect/>
          </a:stretch>
        </p:blipFill>
        <p:spPr>
          <a:xfrm>
            <a:off x="8148198" y="4498658"/>
            <a:ext cx="978386" cy="743934"/>
          </a:xfrm>
          <a:prstGeom prst="rect">
            <a:avLst/>
          </a:prstGeom>
        </p:spPr>
      </p:pic>
      <p:pic>
        <p:nvPicPr>
          <p:cNvPr id="15" name="Picture 14" descr="Shape, square&#10;&#10;Description automatically generated">
            <a:extLst>
              <a:ext uri="{FF2B5EF4-FFF2-40B4-BE49-F238E27FC236}">
                <a16:creationId xmlns:a16="http://schemas.microsoft.com/office/drawing/2014/main" xmlns="" id="{E5082A16-8999-E745-8F85-9428AA885D1F}"/>
              </a:ext>
            </a:extLst>
          </p:cNvPr>
          <p:cNvPicPr>
            <a:picLocks noChangeAspect="1"/>
          </p:cNvPicPr>
          <p:nvPr/>
        </p:nvPicPr>
        <p:blipFill>
          <a:blip r:embed="rId5"/>
          <a:stretch>
            <a:fillRect/>
          </a:stretch>
        </p:blipFill>
        <p:spPr>
          <a:xfrm>
            <a:off x="8148198" y="5504498"/>
            <a:ext cx="978386" cy="743934"/>
          </a:xfrm>
          <a:prstGeom prst="rect">
            <a:avLst/>
          </a:prstGeom>
        </p:spPr>
      </p:pic>
    </p:spTree>
    <p:extLst>
      <p:ext uri="{BB962C8B-B14F-4D97-AF65-F5344CB8AC3E}">
        <p14:creationId xmlns:p14="http://schemas.microsoft.com/office/powerpoint/2010/main" val="12262028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5" name="Picture 24" descr="Diagram&#10;&#10;Description automatically generated with medium confidence">
            <a:extLst>
              <a:ext uri="{FF2B5EF4-FFF2-40B4-BE49-F238E27FC236}">
                <a16:creationId xmlns:a16="http://schemas.microsoft.com/office/drawing/2014/main" xmlns="" id="{6E9E855F-2387-3A4F-94D6-097BA9DA3A0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737337" y="2083435"/>
            <a:ext cx="6745271" cy="2989590"/>
          </a:xfrm>
          <a:prstGeom prst="rect">
            <a:avLst/>
          </a:prstGeom>
        </p:spPr>
      </p:pic>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xmlns="" id="{684678E3-B391-614C-B449-94320C557524}"/>
              </a:ext>
            </a:extLst>
          </p:cNvPr>
          <p:cNvSpPr/>
          <p:nvPr/>
        </p:nvSpPr>
        <p:spPr>
          <a:xfrm>
            <a:off x="1270202" y="498150"/>
            <a:ext cx="9183614" cy="1200329"/>
          </a:xfrm>
          <a:prstGeom prst="rect">
            <a:avLst/>
          </a:prstGeom>
        </p:spPr>
        <p:txBody>
          <a:bodyPr wrap="square">
            <a:spAutoFit/>
          </a:bodyPr>
          <a:lstStyle/>
          <a:p>
            <a:pPr marL="473075" indent="-457200">
              <a:buFont typeface="+mj-lt"/>
              <a:buAutoNum type="alphaL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Draw the weather balloons needed to make the chair float and write the weight of each object determined from the table. </a:t>
            </a:r>
          </a:p>
        </p:txBody>
      </p:sp>
      <p:sp>
        <p:nvSpPr>
          <p:cNvPr id="11" name="Google Shape;282;g104476d1465_1_17">
            <a:extLst>
              <a:ext uri="{FF2B5EF4-FFF2-40B4-BE49-F238E27FC236}">
                <a16:creationId xmlns:a16="http://schemas.microsoft.com/office/drawing/2014/main" xmlns="" id="{DC0A2C9F-B1E2-2341-BED9-0F18CDA0FBF6}"/>
              </a:ext>
            </a:extLst>
          </p:cNvPr>
          <p:cNvSpPr txBox="1"/>
          <p:nvPr/>
        </p:nvSpPr>
        <p:spPr>
          <a:xfrm>
            <a:off x="8994150" y="646369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276</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1" name="Text Box 217">
                <a:extLst>
                  <a:ext uri="{FF2B5EF4-FFF2-40B4-BE49-F238E27FC236}">
                    <a16:creationId xmlns:a16="http://schemas.microsoft.com/office/drawing/2014/main" xmlns="" id="{5FA1CB76-F5EF-0948-A842-CDEB518F07AA}"/>
                  </a:ext>
                </a:extLst>
              </p:cNvPr>
              <p:cNvSpPr txBox="1">
                <a:spLocks noChangeArrowheads="1"/>
              </p:cNvSpPr>
              <p:nvPr/>
            </p:nvSpPr>
            <p:spPr bwMode="auto">
              <a:xfrm>
                <a:off x="2890433" y="4283710"/>
                <a:ext cx="1057910" cy="741680"/>
              </a:xfrm>
              <a:prstGeom prst="rect">
                <a:avLst/>
              </a:prstGeom>
              <a:noFill/>
              <a:ln w="9525">
                <a:noFill/>
                <a:miter lim="800000"/>
                <a:headEnd/>
                <a:tailEnd/>
              </a:ln>
            </p:spPr>
            <p:txBody>
              <a:bodyPr rot="0" vert="horz" wrap="square" lIns="91440" tIns="45720" rIns="91440" bIns="45720" anchor="t" anchorCtr="0">
                <a:noAutofit/>
              </a:bodyPr>
              <a:lstStyle/>
              <a:p>
                <a:pPr algn="ctr">
                  <a:spcAft>
                    <a:spcPts val="1000"/>
                  </a:spcAft>
                </a:pPr>
                <a:r>
                  <a:rPr lang="en-US" dirty="0">
                    <a:latin typeface="Verdana" panose="020B0604030504040204" pitchFamily="34" charset="0"/>
                    <a:ea typeface="Times New Roman" panose="02020603050405020304" pitchFamily="18" charset="0"/>
                    <a:cs typeface="Times New Roman" panose="02020603050405020304" pitchFamily="18" charset="0"/>
                  </a:rPr>
                  <a:t>Table</a:t>
                </a:r>
                <a:endParaRPr lang="x-none" sz="1200" dirty="0">
                  <a:latin typeface="Cambria" panose="02040503050406030204" pitchFamily="18" charset="0"/>
                  <a:ea typeface="Times New Roman" panose="02020603050405020304" pitchFamily="18" charset="0"/>
                  <a:cs typeface="Times New Roman" panose="02020603050405020304" pitchFamily="18" charset="0"/>
                </a:endParaRPr>
              </a:p>
              <a:p>
                <a:pPr algn="ctr">
                  <a:spcAft>
                    <a:spcPts val="1000"/>
                  </a:spcAft>
                </a:pPr>
                <a14:m>
                  <m:oMath xmlns:m="http://schemas.openxmlformats.org/officeDocument/2006/math">
                    <m:r>
                      <a:rPr lang="en-US" sz="1600" i="1">
                        <a:latin typeface="Cambria Math" panose="02040503050406030204" pitchFamily="18" charset="0"/>
                        <a:ea typeface="Times New Roman" panose="02020603050405020304" pitchFamily="18" charset="0"/>
                        <a:cs typeface="Times New Roman" panose="02020603050405020304" pitchFamily="18" charset="0"/>
                      </a:rPr>
                      <m:t>34</m:t>
                    </m:r>
                  </m:oMath>
                </a14:m>
                <a:r>
                  <a:rPr lang="en-US" sz="1200" dirty="0">
                    <a:latin typeface="Verdana" panose="020B0604030504040204" pitchFamily="34" charset="0"/>
                    <a:ea typeface="Times New Roman" panose="02020603050405020304" pitchFamily="18" charset="0"/>
                    <a:cs typeface="Times New Roman" panose="02020603050405020304" pitchFamily="18" charset="0"/>
                  </a:rPr>
                  <a:t> </a:t>
                </a:r>
                <a:r>
                  <a:rPr lang="en-US" dirty="0">
                    <a:latin typeface="Verdana" panose="020B0604030504040204" pitchFamily="34" charset="0"/>
                    <a:ea typeface="Times New Roman" panose="02020603050405020304" pitchFamily="18" charset="0"/>
                    <a:cs typeface="Times New Roman" panose="02020603050405020304" pitchFamily="18" charset="0"/>
                  </a:rPr>
                  <a:t>lbs.</a:t>
                </a:r>
                <a:endParaRPr lang="x-none" sz="12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21" name="Text Box 217">
                <a:extLst>
                  <a:ext uri="{FF2B5EF4-FFF2-40B4-BE49-F238E27FC236}">
                    <a16:creationId xmlns:a16="http://schemas.microsoft.com/office/drawing/2014/main" id="{5FA1CB76-F5EF-0948-A842-CDEB518F07AA}"/>
                  </a:ext>
                </a:extLst>
              </p:cNvPr>
              <p:cNvSpPr txBox="1">
                <a:spLocks noRot="1" noChangeAspect="1" noMove="1" noResize="1" noEditPoints="1" noAdjustHandles="1" noChangeArrowheads="1" noChangeShapeType="1" noTextEdit="1"/>
              </p:cNvSpPr>
              <p:nvPr/>
            </p:nvSpPr>
            <p:spPr bwMode="auto">
              <a:xfrm>
                <a:off x="2890433" y="4283710"/>
                <a:ext cx="1057910" cy="741680"/>
              </a:xfrm>
              <a:prstGeom prst="rect">
                <a:avLst/>
              </a:prstGeom>
              <a:blipFill>
                <a:blip r:embed="rId5"/>
                <a:stretch>
                  <a:fillRect t="-1695"/>
                </a:stretch>
              </a:blipFill>
              <a:ln w="9525">
                <a:noFill/>
                <a:miter lim="800000"/>
                <a:headEnd/>
                <a:tailEnd/>
              </a:ln>
            </p:spPr>
            <p:txBody>
              <a:bodyPr/>
              <a:lstStyle/>
              <a:p>
                <a:r>
                  <a:rPr lang="en-US">
                    <a:noFill/>
                  </a:rPr>
                  <a:t> </a:t>
                </a:r>
              </a:p>
            </p:txBody>
          </p:sp>
        </mc:Fallback>
      </mc:AlternateContent>
      <p:sp>
        <p:nvSpPr>
          <p:cNvPr id="22" name="Text Box 19">
            <a:extLst>
              <a:ext uri="{FF2B5EF4-FFF2-40B4-BE49-F238E27FC236}">
                <a16:creationId xmlns:a16="http://schemas.microsoft.com/office/drawing/2014/main" xmlns="" id="{C162D10F-A758-4043-9790-0997621597CF}"/>
              </a:ext>
            </a:extLst>
          </p:cNvPr>
          <p:cNvSpPr txBox="1">
            <a:spLocks noChangeArrowheads="1"/>
          </p:cNvSpPr>
          <p:nvPr/>
        </p:nvSpPr>
        <p:spPr bwMode="auto">
          <a:xfrm>
            <a:off x="4654403" y="4306888"/>
            <a:ext cx="1228725" cy="695325"/>
          </a:xfrm>
          <a:prstGeom prst="rect">
            <a:avLst/>
          </a:prstGeom>
          <a:noFill/>
          <a:ln w="9525">
            <a:noFill/>
            <a:miter lim="800000"/>
            <a:headEnd/>
            <a:tailEnd/>
          </a:ln>
        </p:spPr>
        <p:txBody>
          <a:bodyPr rot="0" vert="horz" wrap="square" lIns="91440" tIns="45720" rIns="91440" bIns="45720" anchor="t" anchorCtr="0">
            <a:noAutofit/>
          </a:bodyPr>
          <a:lstStyle/>
          <a:p>
            <a:pPr algn="ctr">
              <a:spcAft>
                <a:spcPts val="1000"/>
              </a:spcAft>
            </a:pPr>
            <a:r>
              <a:rPr lang="en-US" dirty="0">
                <a:latin typeface="Verdana" panose="020B0604030504040204" pitchFamily="34" charset="0"/>
                <a:ea typeface="Times New Roman" panose="02020603050405020304" pitchFamily="18" charset="0"/>
                <a:cs typeface="Times New Roman" panose="02020603050405020304" pitchFamily="18" charset="0"/>
              </a:rPr>
              <a:t>Flowerpot</a:t>
            </a:r>
            <a:endParaRPr lang="x-none" sz="1200" dirty="0">
              <a:latin typeface="Cambria" panose="02040503050406030204" pitchFamily="18" charset="0"/>
              <a:ea typeface="Times New Roman" panose="02020603050405020304" pitchFamily="18" charset="0"/>
              <a:cs typeface="Times New Roman" panose="02020603050405020304" pitchFamily="18" charset="0"/>
            </a:endParaRPr>
          </a:p>
          <a:p>
            <a:pPr algn="ctr">
              <a:spcAft>
                <a:spcPts val="1000"/>
              </a:spcAft>
            </a:pPr>
            <a:r>
              <a:rPr lang="en-US" dirty="0">
                <a:latin typeface="Verdana" panose="020B0604030504040204" pitchFamily="34" charset="0"/>
                <a:ea typeface="Times New Roman" panose="02020603050405020304" pitchFamily="18" charset="0"/>
                <a:cs typeface="Times New Roman" panose="02020603050405020304" pitchFamily="18" charset="0"/>
              </a:rPr>
              <a:t>_____ lbs.</a:t>
            </a:r>
            <a:endParaRPr lang="x-none" sz="1200" dirty="0">
              <a:latin typeface="Cambria" panose="02040503050406030204" pitchFamily="18" charset="0"/>
              <a:ea typeface="Times New Roman" panose="02020603050405020304" pitchFamily="18" charset="0"/>
              <a:cs typeface="Times New Roman" panose="02020603050405020304" pitchFamily="18" charset="0"/>
            </a:endParaRPr>
          </a:p>
        </p:txBody>
      </p:sp>
      <p:sp>
        <p:nvSpPr>
          <p:cNvPr id="23" name="Text Box 18">
            <a:extLst>
              <a:ext uri="{FF2B5EF4-FFF2-40B4-BE49-F238E27FC236}">
                <a16:creationId xmlns:a16="http://schemas.microsoft.com/office/drawing/2014/main" xmlns="" id="{61DBA3B7-74DD-F949-AD49-4426FCDC592D}"/>
              </a:ext>
            </a:extLst>
          </p:cNvPr>
          <p:cNvSpPr txBox="1">
            <a:spLocks noChangeArrowheads="1"/>
          </p:cNvSpPr>
          <p:nvPr/>
        </p:nvSpPr>
        <p:spPr bwMode="auto">
          <a:xfrm>
            <a:off x="6377942" y="4306887"/>
            <a:ext cx="1304925" cy="666750"/>
          </a:xfrm>
          <a:prstGeom prst="rect">
            <a:avLst/>
          </a:prstGeom>
          <a:noFill/>
          <a:ln w="9525">
            <a:noFill/>
            <a:miter lim="800000"/>
            <a:headEnd/>
            <a:tailEnd/>
          </a:ln>
        </p:spPr>
        <p:txBody>
          <a:bodyPr rot="0" vert="horz" wrap="square" lIns="91440" tIns="45720" rIns="91440" bIns="45720" anchor="t" anchorCtr="0">
            <a:noAutofit/>
          </a:bodyPr>
          <a:lstStyle/>
          <a:p>
            <a:pPr algn="ctr">
              <a:spcAft>
                <a:spcPts val="1000"/>
              </a:spcAft>
            </a:pPr>
            <a:r>
              <a:rPr lang="en-US" dirty="0">
                <a:latin typeface="Verdana" panose="020B0604030504040204" pitchFamily="34" charset="0"/>
                <a:ea typeface="Times New Roman" panose="02020603050405020304" pitchFamily="18" charset="0"/>
                <a:cs typeface="Times New Roman" panose="02020603050405020304" pitchFamily="18" charset="0"/>
              </a:rPr>
              <a:t>Bookshelf</a:t>
            </a:r>
            <a:endParaRPr lang="x-none" sz="1200" dirty="0">
              <a:latin typeface="Cambria" panose="02040503050406030204" pitchFamily="18" charset="0"/>
              <a:ea typeface="Times New Roman" panose="02020603050405020304" pitchFamily="18" charset="0"/>
              <a:cs typeface="Times New Roman" panose="02020603050405020304" pitchFamily="18" charset="0"/>
            </a:endParaRPr>
          </a:p>
          <a:p>
            <a:pPr algn="ctr">
              <a:spcAft>
                <a:spcPts val="1000"/>
              </a:spcAft>
            </a:pPr>
            <a:r>
              <a:rPr lang="en-US" dirty="0">
                <a:latin typeface="Verdana" panose="020B0604030504040204" pitchFamily="34" charset="0"/>
                <a:ea typeface="Times New Roman" panose="02020603050405020304" pitchFamily="18" charset="0"/>
                <a:cs typeface="Times New Roman" panose="02020603050405020304" pitchFamily="18" charset="0"/>
              </a:rPr>
              <a:t>_____ lbs.</a:t>
            </a:r>
            <a:endParaRPr lang="x-none" sz="1200" dirty="0">
              <a:latin typeface="Cambria" panose="02040503050406030204" pitchFamily="18" charset="0"/>
              <a:ea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4" name="Text Box 17">
                <a:extLst>
                  <a:ext uri="{FF2B5EF4-FFF2-40B4-BE49-F238E27FC236}">
                    <a16:creationId xmlns:a16="http://schemas.microsoft.com/office/drawing/2014/main" xmlns="" id="{419573B7-8872-5045-B111-5F1AE3774179}"/>
                  </a:ext>
                </a:extLst>
              </p:cNvPr>
              <p:cNvSpPr txBox="1">
                <a:spLocks noChangeArrowheads="1"/>
              </p:cNvSpPr>
              <p:nvPr/>
            </p:nvSpPr>
            <p:spPr bwMode="auto">
              <a:xfrm>
                <a:off x="8296124" y="4278313"/>
                <a:ext cx="1057910" cy="695325"/>
              </a:xfrm>
              <a:prstGeom prst="rect">
                <a:avLst/>
              </a:prstGeom>
              <a:noFill/>
              <a:ln w="9525">
                <a:noFill/>
                <a:miter lim="800000"/>
                <a:headEnd/>
                <a:tailEnd/>
              </a:ln>
            </p:spPr>
            <p:txBody>
              <a:bodyPr rot="0" vert="horz" wrap="square" lIns="91440" tIns="45720" rIns="91440" bIns="45720" anchor="t" anchorCtr="0">
                <a:noAutofit/>
              </a:bodyPr>
              <a:lstStyle/>
              <a:p>
                <a:pPr algn="ctr">
                  <a:spcAft>
                    <a:spcPts val="1000"/>
                  </a:spcAft>
                </a:pPr>
                <a:r>
                  <a:rPr lang="en-US" dirty="0">
                    <a:latin typeface="Verdana" panose="020B0604030504040204" pitchFamily="34" charset="0"/>
                    <a:ea typeface="Times New Roman" panose="02020603050405020304" pitchFamily="18" charset="0"/>
                    <a:cs typeface="Times New Roman" panose="02020603050405020304" pitchFamily="18" charset="0"/>
                  </a:rPr>
                  <a:t>Chair</a:t>
                </a:r>
                <a:endParaRPr lang="x-none" sz="1200" dirty="0">
                  <a:latin typeface="Cambria" panose="02040503050406030204" pitchFamily="18" charset="0"/>
                  <a:ea typeface="Times New Roman" panose="02020603050405020304" pitchFamily="18" charset="0"/>
                  <a:cs typeface="Times New Roman" panose="02020603050405020304" pitchFamily="18" charset="0"/>
                </a:endParaRPr>
              </a:p>
              <a:p>
                <a:pPr algn="ctr">
                  <a:spcAft>
                    <a:spcPts val="1000"/>
                  </a:spcAft>
                </a:pPr>
                <a14:m>
                  <m:oMath xmlns:m="http://schemas.openxmlformats.org/officeDocument/2006/math">
                    <m:r>
                      <a:rPr lang="en-US" sz="1600" i="1">
                        <a:latin typeface="Cambria Math" panose="02040503050406030204" pitchFamily="18" charset="0"/>
                        <a:ea typeface="Times New Roman" panose="02020603050405020304" pitchFamily="18" charset="0"/>
                        <a:cs typeface="Times New Roman" panose="02020603050405020304" pitchFamily="18" charset="0"/>
                      </a:rPr>
                      <m:t>93.5</m:t>
                    </m:r>
                  </m:oMath>
                </a14:m>
                <a:r>
                  <a:rPr lang="en-US" sz="1200" dirty="0">
                    <a:latin typeface="Verdana" panose="020B0604030504040204" pitchFamily="34" charset="0"/>
                    <a:ea typeface="Times New Roman" panose="02020603050405020304" pitchFamily="18" charset="0"/>
                    <a:cs typeface="Times New Roman" panose="02020603050405020304" pitchFamily="18" charset="0"/>
                  </a:rPr>
                  <a:t> </a:t>
                </a:r>
                <a:r>
                  <a:rPr lang="en-US" dirty="0">
                    <a:latin typeface="Verdana" panose="020B0604030504040204" pitchFamily="34" charset="0"/>
                    <a:ea typeface="Times New Roman" panose="02020603050405020304" pitchFamily="18" charset="0"/>
                    <a:cs typeface="Times New Roman" panose="02020603050405020304" pitchFamily="18" charset="0"/>
                  </a:rPr>
                  <a:t>lbs.</a:t>
                </a:r>
                <a:endParaRPr lang="x-none" sz="12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24" name="Text Box 17">
                <a:extLst>
                  <a:ext uri="{FF2B5EF4-FFF2-40B4-BE49-F238E27FC236}">
                    <a16:creationId xmlns:a16="http://schemas.microsoft.com/office/drawing/2014/main" id="{419573B7-8872-5045-B111-5F1AE3774179}"/>
                  </a:ext>
                </a:extLst>
              </p:cNvPr>
              <p:cNvSpPr txBox="1">
                <a:spLocks noRot="1" noChangeAspect="1" noMove="1" noResize="1" noEditPoints="1" noAdjustHandles="1" noChangeArrowheads="1" noChangeShapeType="1" noTextEdit="1"/>
              </p:cNvSpPr>
              <p:nvPr/>
            </p:nvSpPr>
            <p:spPr bwMode="auto">
              <a:xfrm>
                <a:off x="8296124" y="4278313"/>
                <a:ext cx="1057910" cy="695325"/>
              </a:xfrm>
              <a:prstGeom prst="rect">
                <a:avLst/>
              </a:prstGeom>
              <a:blipFill>
                <a:blip r:embed="rId6"/>
                <a:stretch>
                  <a:fillRect b="-5357"/>
                </a:stretch>
              </a:blipFill>
              <a:ln w="9525">
                <a:noFill/>
                <a:miter lim="800000"/>
                <a:headEnd/>
                <a:tailEnd/>
              </a:ln>
            </p:spPr>
            <p:txBody>
              <a:bodyPr/>
              <a:lstStyle/>
              <a:p>
                <a:r>
                  <a:rPr lang="en-US">
                    <a:noFill/>
                  </a:rPr>
                  <a:t> </a:t>
                </a:r>
              </a:p>
            </p:txBody>
          </p:sp>
        </mc:Fallback>
      </mc:AlternateContent>
    </p:spTree>
    <p:extLst>
      <p:ext uri="{BB962C8B-B14F-4D97-AF65-F5344CB8AC3E}">
        <p14:creationId xmlns:p14="http://schemas.microsoft.com/office/powerpoint/2010/main" val="17727165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18" name="Picture 17" descr="Shape, square&#10;&#10;Description automatically generated">
            <a:extLst>
              <a:ext uri="{FF2B5EF4-FFF2-40B4-BE49-F238E27FC236}">
                <a16:creationId xmlns:a16="http://schemas.microsoft.com/office/drawing/2014/main" xmlns="" id="{A38207F0-55A6-374D-ABA3-4B430D474B07}"/>
              </a:ext>
            </a:extLst>
          </p:cNvPr>
          <p:cNvPicPr>
            <a:picLocks noChangeAspect="1"/>
          </p:cNvPicPr>
          <p:nvPr/>
        </p:nvPicPr>
        <p:blipFill>
          <a:blip r:embed="rId3"/>
          <a:stretch>
            <a:fillRect/>
          </a:stretch>
        </p:blipFill>
        <p:spPr>
          <a:xfrm>
            <a:off x="7691703" y="5225163"/>
            <a:ext cx="1327388" cy="1009304"/>
          </a:xfrm>
          <a:prstGeom prst="rect">
            <a:avLst/>
          </a:prstGeom>
        </p:spPr>
      </p:pic>
      <p:sp>
        <p:nvSpPr>
          <p:cNvPr id="278" name="Google Shape;278;g104476d1465_1_17"/>
          <p:cNvSpPr/>
          <p:nvPr/>
        </p:nvSpPr>
        <p:spPr>
          <a:xfrm>
            <a:off x="24348" y="6988"/>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03802" y="6129037"/>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xmlns="" id="{684678E3-B391-614C-B449-94320C557524}"/>
              </a:ext>
            </a:extLst>
          </p:cNvPr>
          <p:cNvSpPr/>
          <p:nvPr/>
        </p:nvSpPr>
        <p:spPr>
          <a:xfrm>
            <a:off x="626812" y="226368"/>
            <a:ext cx="8505553" cy="461665"/>
          </a:xfrm>
          <a:prstGeom prst="rect">
            <a:avLst/>
          </a:prstGeom>
        </p:spPr>
        <p:txBody>
          <a:bodyPr wrap="square">
            <a:spAutoFit/>
          </a:bodyPr>
          <a:lstStyle/>
          <a:p>
            <a:pPr marL="473075" indent="-457200">
              <a:buFont typeface="+mj-lt"/>
              <a:buAutoNum type="arabicPeriod" startAt="4"/>
            </a:pPr>
            <a:r>
              <a:rPr lang="en-US" sz="2400" dirty="0">
                <a:latin typeface="Verdana" panose="020B0604030504040204" pitchFamily="34" charset="0"/>
                <a:ea typeface="Times New Roman" panose="02020603050405020304" pitchFamily="18" charset="0"/>
                <a:cs typeface="Times New Roman" panose="02020603050405020304" pitchFamily="18" charset="0"/>
              </a:rPr>
              <a:t>Consider the figure shown.</a:t>
            </a:r>
          </a:p>
        </p:txBody>
      </p:sp>
      <p:sp>
        <p:nvSpPr>
          <p:cNvPr id="11" name="Google Shape;282;g104476d1465_1_17">
            <a:extLst>
              <a:ext uri="{FF2B5EF4-FFF2-40B4-BE49-F238E27FC236}">
                <a16:creationId xmlns:a16="http://schemas.microsoft.com/office/drawing/2014/main" xmlns="" id="{DC0A2C9F-B1E2-2341-BED9-0F18CDA0FBF6}"/>
              </a:ext>
            </a:extLst>
          </p:cNvPr>
          <p:cNvSpPr txBox="1"/>
          <p:nvPr/>
        </p:nvSpPr>
        <p:spPr>
          <a:xfrm>
            <a:off x="8969802" y="645276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276</a:t>
            </a:r>
            <a:endParaRPr i="1" dirty="0">
              <a:latin typeface="Calibri"/>
              <a:ea typeface="Calibri"/>
              <a:cs typeface="Calibri"/>
              <a:sym typeface="Calibri"/>
            </a:endParaRPr>
          </a:p>
        </p:txBody>
      </p:sp>
      <p:pic>
        <p:nvPicPr>
          <p:cNvPr id="12" name="Picture 11">
            <a:extLst>
              <a:ext uri="{FF2B5EF4-FFF2-40B4-BE49-F238E27FC236}">
                <a16:creationId xmlns:a16="http://schemas.microsoft.com/office/drawing/2014/main" xmlns="" id="{D409C88F-7ED8-B34E-920C-2AC212C3B596}"/>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l="20006" t="11486" r="21106" b="16197"/>
          <a:stretch/>
        </p:blipFill>
        <p:spPr bwMode="auto">
          <a:xfrm>
            <a:off x="5230006" y="913371"/>
            <a:ext cx="1731988" cy="2029143"/>
          </a:xfrm>
          <a:prstGeom prst="rect">
            <a:avLst/>
          </a:prstGeom>
          <a:ln>
            <a:noFill/>
          </a:ln>
          <a:extLst>
            <a:ext uri="{53640926-AAD7-44D8-BBD7-CCE9431645EC}">
              <a14:shadowObscured xmlns:a14="http://schemas.microsoft.com/office/drawing/2010/main"/>
            </a:ext>
          </a:extLst>
        </p:spPr>
      </p:pic>
      <p:sp>
        <p:nvSpPr>
          <p:cNvPr id="3" name="Rectangle 2">
            <a:extLst>
              <a:ext uri="{FF2B5EF4-FFF2-40B4-BE49-F238E27FC236}">
                <a16:creationId xmlns:a16="http://schemas.microsoft.com/office/drawing/2014/main" xmlns="" id="{A8765D90-BF39-EE4D-ABE4-3A9D062DD3ED}"/>
              </a:ext>
            </a:extLst>
          </p:cNvPr>
          <p:cNvSpPr>
            <a:spLocks noChangeArrowheads="1"/>
          </p:cNvSpPr>
          <p:nvPr/>
        </p:nvSpPr>
        <p:spPr bwMode="auto">
          <a:xfrm>
            <a:off x="1524001" y="74712"/>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x-none"/>
          </a:p>
        </p:txBody>
      </p:sp>
      <p:sp>
        <p:nvSpPr>
          <p:cNvPr id="4" name="Text Box 20">
            <a:extLst>
              <a:ext uri="{FF2B5EF4-FFF2-40B4-BE49-F238E27FC236}">
                <a16:creationId xmlns:a16="http://schemas.microsoft.com/office/drawing/2014/main" xmlns="" id="{5DA4CEED-3EE3-7242-954B-904181B7EC89}"/>
              </a:ext>
            </a:extLst>
          </p:cNvPr>
          <p:cNvSpPr txBox="1">
            <a:spLocks noChangeArrowheads="1"/>
          </p:cNvSpPr>
          <p:nvPr/>
        </p:nvSpPr>
        <p:spPr bwMode="auto">
          <a:xfrm>
            <a:off x="5381625" y="2035151"/>
            <a:ext cx="1428750"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eaLnBrk="0" fontAlgn="base" hangingPunct="0">
              <a:spcBef>
                <a:spcPct val="0"/>
              </a:spcBef>
              <a:spcAft>
                <a:spcPct val="0"/>
              </a:spcAft>
              <a:buClrTx/>
            </a:pPr>
            <a:r>
              <a:rPr lang="en-US" altLang="x-none" sz="18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Person</a:t>
            </a:r>
            <a:endParaRPr lang="en-US" altLang="x-none" sz="1000" dirty="0">
              <a:solidFill>
                <a:schemeClr val="tx1"/>
              </a:solidFill>
            </a:endParaRPr>
          </a:p>
          <a:p>
            <a:pPr algn="ctr" eaLnBrk="0" fontAlgn="base" hangingPunct="0">
              <a:spcBef>
                <a:spcPct val="0"/>
              </a:spcBef>
              <a:spcAft>
                <a:spcPct val="0"/>
              </a:spcAft>
              <a:buClrTx/>
            </a:pPr>
            <a:r>
              <a:rPr lang="en-US" altLang="x-none"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a:t>204</a:t>
            </a:r>
            <a:r>
              <a:rPr lang="en-US" altLang="x-none" sz="16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a:t>
            </a:r>
            <a:r>
              <a:rPr lang="en-US" altLang="x-none" sz="18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lbs.</a:t>
            </a:r>
            <a:endParaRPr lang="en-US" altLang="x-none" sz="2400" dirty="0">
              <a:solidFill>
                <a:schemeClr val="tx1"/>
              </a:solidFill>
              <a:latin typeface="Arial" panose="020B0604020202020204" pitchFamily="34" charset="0"/>
            </a:endParaRPr>
          </a:p>
        </p:txBody>
      </p:sp>
      <p:sp>
        <p:nvSpPr>
          <p:cNvPr id="5" name="Rectangle 3">
            <a:extLst>
              <a:ext uri="{FF2B5EF4-FFF2-40B4-BE49-F238E27FC236}">
                <a16:creationId xmlns:a16="http://schemas.microsoft.com/office/drawing/2014/main" xmlns="" id="{E78FBCE4-DC97-2949-A0AF-9A51123A4EE0}"/>
              </a:ext>
            </a:extLst>
          </p:cNvPr>
          <p:cNvSpPr>
            <a:spLocks noChangeArrowheads="1"/>
          </p:cNvSpPr>
          <p:nvPr/>
        </p:nvSpPr>
        <p:spPr bwMode="auto">
          <a:xfrm>
            <a:off x="1524001" y="3033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x-none"/>
          </a:p>
        </p:txBody>
      </p:sp>
      <p:sp>
        <p:nvSpPr>
          <p:cNvPr id="15" name="Rectangle 14">
            <a:extLst>
              <a:ext uri="{FF2B5EF4-FFF2-40B4-BE49-F238E27FC236}">
                <a16:creationId xmlns:a16="http://schemas.microsoft.com/office/drawing/2014/main" xmlns="" id="{9CA1DE78-2B5D-6641-BF1D-9C65973FE000}"/>
              </a:ext>
            </a:extLst>
          </p:cNvPr>
          <p:cNvSpPr/>
          <p:nvPr/>
        </p:nvSpPr>
        <p:spPr>
          <a:xfrm>
            <a:off x="713309" y="3167853"/>
            <a:ext cx="10803188" cy="838593"/>
          </a:xfrm>
          <a:prstGeom prst="rect">
            <a:avLst/>
          </a:prstGeom>
        </p:spPr>
        <p:txBody>
          <a:bodyPr wrap="square">
            <a:spAutoFit/>
          </a:bodyPr>
          <a:lstStyle/>
          <a:p>
            <a:pPr marL="15875"/>
            <a:r>
              <a:rPr lang="en-US" sz="2400" dirty="0">
                <a:latin typeface="Verdana" panose="020B0604030504040204" pitchFamily="34" charset="0"/>
                <a:ea typeface="Times New Roman" panose="02020603050405020304" pitchFamily="18" charset="0"/>
                <a:cs typeface="Times New Roman" panose="02020603050405020304" pitchFamily="18" charset="0"/>
              </a:rPr>
              <a:t>How many weather balloons would it take to float the person? Write your answer in the table.</a:t>
            </a:r>
          </a:p>
        </p:txBody>
      </p:sp>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xmlns="" id="{BB4D44C6-805D-9447-9397-C5246A07FBCC}"/>
                  </a:ext>
                </a:extLst>
              </p:cNvPr>
              <p:cNvGraphicFramePr>
                <a:graphicFrameLocks noGrp="1"/>
              </p:cNvGraphicFramePr>
              <p:nvPr>
                <p:extLst>
                  <p:ext uri="{D42A27DB-BD31-4B8C-83A1-F6EECF244321}">
                    <p14:modId xmlns:p14="http://schemas.microsoft.com/office/powerpoint/2010/main" val="1306022188"/>
                  </p:ext>
                </p:extLst>
              </p:nvPr>
            </p:nvGraphicFramePr>
            <p:xfrm>
              <a:off x="2562467" y="4234153"/>
              <a:ext cx="7179733" cy="1995815"/>
            </p:xfrm>
            <a:graphic>
              <a:graphicData uri="http://schemas.openxmlformats.org/drawingml/2006/table">
                <a:tbl>
                  <a:tblPr firstRow="1" firstCol="1" bandRow="1">
                    <a:tableStyleId>{A91F0D33-8C57-4600-99A7-42BC86742BE1}</a:tableStyleId>
                  </a:tblPr>
                  <a:tblGrid>
                    <a:gridCol w="1675037">
                      <a:extLst>
                        <a:ext uri="{9D8B030D-6E8A-4147-A177-3AD203B41FA5}">
                          <a16:colId xmlns:a16="http://schemas.microsoft.com/office/drawing/2014/main" xmlns="" val="3287992577"/>
                        </a:ext>
                      </a:extLst>
                    </a:gridCol>
                    <a:gridCol w="1324403">
                      <a:extLst>
                        <a:ext uri="{9D8B030D-6E8A-4147-A177-3AD203B41FA5}">
                          <a16:colId xmlns:a16="http://schemas.microsoft.com/office/drawing/2014/main" xmlns="" val="669986069"/>
                        </a:ext>
                      </a:extLst>
                    </a:gridCol>
                    <a:gridCol w="1525765">
                      <a:extLst>
                        <a:ext uri="{9D8B030D-6E8A-4147-A177-3AD203B41FA5}">
                          <a16:colId xmlns:a16="http://schemas.microsoft.com/office/drawing/2014/main" xmlns="" val="3411489095"/>
                        </a:ext>
                      </a:extLst>
                    </a:gridCol>
                    <a:gridCol w="2654528">
                      <a:extLst>
                        <a:ext uri="{9D8B030D-6E8A-4147-A177-3AD203B41FA5}">
                          <a16:colId xmlns:a16="http://schemas.microsoft.com/office/drawing/2014/main" xmlns="" val="318388523"/>
                        </a:ext>
                      </a:extLst>
                    </a:gridCol>
                  </a:tblGrid>
                  <a:tr h="986159">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Object</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2244" marR="622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Weight (</a:t>
                          </a:r>
                          <a:r>
                            <a:rPr lang="en-US" sz="1800" b="1" dirty="0" err="1">
                              <a:effectLst/>
                              <a:latin typeface="Verdana" panose="020B0604030504040204" pitchFamily="34" charset="0"/>
                              <a:ea typeface="Verdana" panose="020B0604030504040204" pitchFamily="34" charset="0"/>
                              <a:cs typeface="Verdana" panose="020B0604030504040204" pitchFamily="34" charset="0"/>
                            </a:rPr>
                            <a:t>lbs</a:t>
                          </a:r>
                          <a:r>
                            <a:rPr lang="en-US" sz="1800" b="1" dirty="0">
                              <a:effectLst/>
                              <a:latin typeface="Verdana" panose="020B0604030504040204" pitchFamily="34" charset="0"/>
                              <a:ea typeface="Verdana" panose="020B0604030504040204" pitchFamily="34" charset="0"/>
                              <a:cs typeface="Verdana" panose="020B0604030504040204" pitchFamily="34" charset="0"/>
                            </a:rPr>
                            <a:t>)</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2244" marR="622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Number of Weather Balloons</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2244" marR="622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Unit Rate</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a:t>
                          </a:r>
                          <a:r>
                            <a:rPr lang="en-US" sz="1800" b="1" dirty="0" err="1">
                              <a:effectLst/>
                              <a:latin typeface="Verdana" panose="020B0604030504040204" pitchFamily="34" charset="0"/>
                              <a:ea typeface="Verdana" panose="020B0604030504040204" pitchFamily="34" charset="0"/>
                              <a:cs typeface="Verdana" panose="020B0604030504040204" pitchFamily="34" charset="0"/>
                            </a:rPr>
                            <a:t>lbs</a:t>
                          </a:r>
                          <a:r>
                            <a:rPr lang="en-US" sz="1800" b="1" dirty="0">
                              <a:effectLst/>
                              <a:latin typeface="Verdana" panose="020B0604030504040204" pitchFamily="34" charset="0"/>
                              <a:ea typeface="Verdana" panose="020B0604030504040204" pitchFamily="34" charset="0"/>
                              <a:cs typeface="Verdana" panose="020B0604030504040204" pitchFamily="34" charset="0"/>
                            </a:rPr>
                            <a:t> per balloon)</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2244" marR="622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xmlns="" val="2070844974"/>
                      </a:ext>
                    </a:extLst>
                  </a:tr>
                  <a:tr h="1009656">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Person</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2244" marR="622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a:rPr>
                                  <m:t>204</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2244" marR="622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2244" marR="622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x-none" sz="1400" dirty="0">
                            <a:latin typeface="Verdana" panose="020B0604030504040204" pitchFamily="34" charset="0"/>
                            <a:ea typeface="Verdana" panose="020B0604030504040204" pitchFamily="34" charset="0"/>
                            <a:cs typeface="Verdana" panose="020B0604030504040204" pitchFamily="34" charset="0"/>
                          </a:endParaRPr>
                        </a:p>
                      </a:txBody>
                      <a:tcPr marL="62244" marR="622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081550933"/>
                      </a:ext>
                    </a:extLst>
                  </a:tr>
                </a:tbl>
              </a:graphicData>
            </a:graphic>
          </p:graphicFrame>
        </mc:Choice>
        <mc:Fallback xmlns="">
          <p:graphicFrame>
            <p:nvGraphicFramePr>
              <p:cNvPr id="6" name="Table 5">
                <a:extLst>
                  <a:ext uri="{FF2B5EF4-FFF2-40B4-BE49-F238E27FC236}">
                    <a16:creationId xmlns:a16="http://schemas.microsoft.com/office/drawing/2014/main" id="{BB4D44C6-805D-9447-9397-C5246A07FBCC}"/>
                  </a:ext>
                </a:extLst>
              </p:cNvPr>
              <p:cNvGraphicFramePr>
                <a:graphicFrameLocks noGrp="1"/>
              </p:cNvGraphicFramePr>
              <p:nvPr>
                <p:extLst>
                  <p:ext uri="{D42A27DB-BD31-4B8C-83A1-F6EECF244321}">
                    <p14:modId xmlns:p14="http://schemas.microsoft.com/office/powerpoint/2010/main" val="1306022188"/>
                  </p:ext>
                </p:extLst>
              </p:nvPr>
            </p:nvGraphicFramePr>
            <p:xfrm>
              <a:off x="2562467" y="4234153"/>
              <a:ext cx="7179733" cy="1995815"/>
            </p:xfrm>
            <a:graphic>
              <a:graphicData uri="http://schemas.openxmlformats.org/drawingml/2006/table">
                <a:tbl>
                  <a:tblPr firstRow="1" firstCol="1" bandRow="1">
                    <a:tableStyleId>{A91F0D33-8C57-4600-99A7-42BC86742BE1}</a:tableStyleId>
                  </a:tblPr>
                  <a:tblGrid>
                    <a:gridCol w="1675037">
                      <a:extLst>
                        <a:ext uri="{9D8B030D-6E8A-4147-A177-3AD203B41FA5}">
                          <a16:colId xmlns:a16="http://schemas.microsoft.com/office/drawing/2014/main" val="3287992577"/>
                        </a:ext>
                      </a:extLst>
                    </a:gridCol>
                    <a:gridCol w="1324403">
                      <a:extLst>
                        <a:ext uri="{9D8B030D-6E8A-4147-A177-3AD203B41FA5}">
                          <a16:colId xmlns:a16="http://schemas.microsoft.com/office/drawing/2014/main" val="669986069"/>
                        </a:ext>
                      </a:extLst>
                    </a:gridCol>
                    <a:gridCol w="1525765">
                      <a:extLst>
                        <a:ext uri="{9D8B030D-6E8A-4147-A177-3AD203B41FA5}">
                          <a16:colId xmlns:a16="http://schemas.microsoft.com/office/drawing/2014/main" val="3411489095"/>
                        </a:ext>
                      </a:extLst>
                    </a:gridCol>
                    <a:gridCol w="2654528">
                      <a:extLst>
                        <a:ext uri="{9D8B030D-6E8A-4147-A177-3AD203B41FA5}">
                          <a16:colId xmlns:a16="http://schemas.microsoft.com/office/drawing/2014/main" val="318388523"/>
                        </a:ext>
                      </a:extLst>
                    </a:gridCol>
                  </a:tblGrid>
                  <a:tr h="986159">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Object</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2244" marR="622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Weight (</a:t>
                          </a:r>
                          <a:r>
                            <a:rPr lang="en-US" sz="1800" b="1" dirty="0" err="1">
                              <a:effectLst/>
                              <a:latin typeface="Verdana" panose="020B0604030504040204" pitchFamily="34" charset="0"/>
                              <a:ea typeface="Verdana" panose="020B0604030504040204" pitchFamily="34" charset="0"/>
                              <a:cs typeface="Verdana" panose="020B0604030504040204" pitchFamily="34" charset="0"/>
                            </a:rPr>
                            <a:t>lbs</a:t>
                          </a:r>
                          <a:r>
                            <a:rPr lang="en-US" sz="1800" b="1" dirty="0">
                              <a:effectLst/>
                              <a:latin typeface="Verdana" panose="020B0604030504040204" pitchFamily="34" charset="0"/>
                              <a:ea typeface="Verdana" panose="020B0604030504040204" pitchFamily="34" charset="0"/>
                              <a:cs typeface="Verdana" panose="020B0604030504040204" pitchFamily="34" charset="0"/>
                            </a:rPr>
                            <a:t>)</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2244" marR="622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Number of Weather Balloons</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2244" marR="622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Unit Rate</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a:t>
                          </a:r>
                          <a:r>
                            <a:rPr lang="en-US" sz="1800" b="1" dirty="0" err="1">
                              <a:effectLst/>
                              <a:latin typeface="Verdana" panose="020B0604030504040204" pitchFamily="34" charset="0"/>
                              <a:ea typeface="Verdana" panose="020B0604030504040204" pitchFamily="34" charset="0"/>
                              <a:cs typeface="Verdana" panose="020B0604030504040204" pitchFamily="34" charset="0"/>
                            </a:rPr>
                            <a:t>lbs</a:t>
                          </a:r>
                          <a:r>
                            <a:rPr lang="en-US" sz="1800" b="1" dirty="0">
                              <a:effectLst/>
                              <a:latin typeface="Verdana" panose="020B0604030504040204" pitchFamily="34" charset="0"/>
                              <a:ea typeface="Verdana" panose="020B0604030504040204" pitchFamily="34" charset="0"/>
                              <a:cs typeface="Verdana" panose="020B0604030504040204" pitchFamily="34" charset="0"/>
                            </a:rPr>
                            <a:t> per balloon)</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2244" marR="622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2070844974"/>
                      </a:ext>
                    </a:extLst>
                  </a:tr>
                  <a:tr h="1009656">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Person</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2244" marR="622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2244" marR="622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25714" t="-98750" r="-315238" b="-2500"/>
                          </a:stretch>
                        </a:blipFill>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2244" marR="622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x-none" sz="1400" dirty="0">
                            <a:latin typeface="Verdana" panose="020B0604030504040204" pitchFamily="34" charset="0"/>
                            <a:ea typeface="Verdana" panose="020B0604030504040204" pitchFamily="34" charset="0"/>
                            <a:cs typeface="Verdana" panose="020B0604030504040204" pitchFamily="34" charset="0"/>
                          </a:endParaRPr>
                        </a:p>
                      </a:txBody>
                      <a:tcPr marL="62244" marR="622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1550933"/>
                      </a:ext>
                    </a:extLst>
                  </a:tr>
                </a:tbl>
              </a:graphicData>
            </a:graphic>
          </p:graphicFrame>
        </mc:Fallback>
      </mc:AlternateContent>
    </p:spTree>
    <p:extLst>
      <p:ext uri="{BB962C8B-B14F-4D97-AF65-F5344CB8AC3E}">
        <p14:creationId xmlns:p14="http://schemas.microsoft.com/office/powerpoint/2010/main" val="6883136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900"/>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dirty="0"/>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4109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624506"/>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xmlns="" id="{DE95225C-59B5-E847-AFA2-B83DCFFA10D8}"/>
              </a:ext>
            </a:extLst>
          </p:cNvPr>
          <p:cNvPicPr preferRelativeResize="0"/>
          <p:nvPr/>
        </p:nvPicPr>
        <p:blipFill rotWithShape="1">
          <a:blip r:embed="rId4">
            <a:alphaModFix/>
          </a:blip>
          <a:srcRect/>
          <a:stretch/>
        </p:blipFill>
        <p:spPr>
          <a:xfrm>
            <a:off x="4429333" y="2779100"/>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xmlns="" id="{ABBAE5D4-A013-554B-AF18-FD3C50BA4B04}"/>
              </a:ext>
            </a:extLst>
          </p:cNvPr>
          <p:cNvSpPr txBox="1"/>
          <p:nvPr/>
        </p:nvSpPr>
        <p:spPr>
          <a:xfrm>
            <a:off x="8994150" y="6474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276</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3749" y="472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78280" y="6200599"/>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xmlns="" id="{68C03D65-F0BF-3F41-B52A-024F47388982}"/>
              </a:ext>
            </a:extLst>
          </p:cNvPr>
          <p:cNvSpPr txBox="1">
            <a:spLocks/>
          </p:cNvSpPr>
          <p:nvPr/>
        </p:nvSpPr>
        <p:spPr>
          <a:xfrm>
            <a:off x="1405981" y="-185441"/>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3F2A67"/>
                </a:solidFill>
                <a:latin typeface="Verdana"/>
                <a:ea typeface="Verdana"/>
                <a:cs typeface="Verdana"/>
                <a:sym typeface="Verdana"/>
              </a:rPr>
              <a:t>6.4.4 Wrap-Up: Cool Down</a:t>
            </a:r>
          </a:p>
        </p:txBody>
      </p:sp>
      <p:pic>
        <p:nvPicPr>
          <p:cNvPr id="9" name="Google Shape;458;g103996e1364_0_463">
            <a:extLst>
              <a:ext uri="{FF2B5EF4-FFF2-40B4-BE49-F238E27FC236}">
                <a16:creationId xmlns:a16="http://schemas.microsoft.com/office/drawing/2014/main" xmlns="" id="{EEA44D6C-2366-AC41-B1B5-EDDC34786A66}"/>
              </a:ext>
            </a:extLst>
          </p:cNvPr>
          <p:cNvPicPr preferRelativeResize="0"/>
          <p:nvPr/>
        </p:nvPicPr>
        <p:blipFill rotWithShape="1">
          <a:blip r:embed="rId4">
            <a:alphaModFix/>
          </a:blip>
          <a:srcRect/>
          <a:stretch/>
        </p:blipFill>
        <p:spPr>
          <a:xfrm>
            <a:off x="444274" y="103759"/>
            <a:ext cx="747300" cy="747300"/>
          </a:xfrm>
          <a:prstGeom prst="rect">
            <a:avLst/>
          </a:prstGeom>
          <a:noFill/>
          <a:ln>
            <a:noFill/>
          </a:ln>
          <a:effectLst>
            <a:outerShdw blurRad="50800" dist="38100" dir="2700000" algn="tl" rotWithShape="0">
              <a:prstClr val="black">
                <a:alpha val="40000"/>
              </a:prstClr>
            </a:outerShdw>
          </a:effectLst>
        </p:spPr>
      </p:pic>
      <p:sp>
        <p:nvSpPr>
          <p:cNvPr id="2" name="Rectangle 1">
            <a:extLst>
              <a:ext uri="{FF2B5EF4-FFF2-40B4-BE49-F238E27FC236}">
                <a16:creationId xmlns:a16="http://schemas.microsoft.com/office/drawing/2014/main" xmlns="" id="{50A85065-1747-6C4E-8BA4-9C1ED8A185A6}"/>
              </a:ext>
            </a:extLst>
          </p:cNvPr>
          <p:cNvSpPr/>
          <p:nvPr/>
        </p:nvSpPr>
        <p:spPr>
          <a:xfrm>
            <a:off x="444273" y="1072528"/>
            <a:ext cx="11134007" cy="1323439"/>
          </a:xfrm>
          <a:prstGeom prst="rect">
            <a:avLst/>
          </a:prstGeom>
        </p:spPr>
        <p:txBody>
          <a:bodyPr wrap="square">
            <a:spAutoFit/>
          </a:bodyPr>
          <a:lstStyle/>
          <a:p>
            <a:pPr marL="342900" indent="-3429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Your friend wants to know how to calculate the number of balloons she would need to float. </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r>
              <a:rPr lang="en-US" sz="2000" dirty="0">
                <a:latin typeface="Verdana" panose="020B0604030504040204" pitchFamily="34" charset="0"/>
                <a:ea typeface="Verdana" panose="020B0604030504040204" pitchFamily="34" charset="0"/>
                <a:cs typeface="Verdana" panose="020B0604030504040204" pitchFamily="34" charset="0"/>
              </a:rPr>
              <a:t>   Answer the questions in the space provided in the table.</a:t>
            </a:r>
          </a:p>
        </p:txBody>
      </p:sp>
      <p:sp>
        <p:nvSpPr>
          <p:cNvPr id="11" name="Google Shape;282;g104476d1465_1_17">
            <a:extLst>
              <a:ext uri="{FF2B5EF4-FFF2-40B4-BE49-F238E27FC236}">
                <a16:creationId xmlns:a16="http://schemas.microsoft.com/office/drawing/2014/main" xmlns="" id="{D20425D2-BFDA-974E-9037-009E6465CCF0}"/>
              </a:ext>
            </a:extLst>
          </p:cNvPr>
          <p:cNvSpPr txBox="1"/>
          <p:nvPr/>
        </p:nvSpPr>
        <p:spPr>
          <a:xfrm>
            <a:off x="8944280" y="6465501"/>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276</a:t>
            </a:r>
            <a:endParaRPr i="1" dirty="0">
              <a:latin typeface="Calibri"/>
              <a:ea typeface="Calibri"/>
              <a:cs typeface="Calibri"/>
              <a:sym typeface="Calibri"/>
            </a:endParaRPr>
          </a:p>
        </p:txBody>
      </p:sp>
      <p:graphicFrame>
        <p:nvGraphicFramePr>
          <p:cNvPr id="3" name="Table 2">
            <a:extLst>
              <a:ext uri="{FF2B5EF4-FFF2-40B4-BE49-F238E27FC236}">
                <a16:creationId xmlns:a16="http://schemas.microsoft.com/office/drawing/2014/main" xmlns="" id="{73F2008E-9D21-754E-9CEE-5BF41FF728F0}"/>
              </a:ext>
            </a:extLst>
          </p:cNvPr>
          <p:cNvGraphicFramePr>
            <a:graphicFrameLocks noGrp="1"/>
          </p:cNvGraphicFramePr>
          <p:nvPr>
            <p:extLst>
              <p:ext uri="{D42A27DB-BD31-4B8C-83A1-F6EECF244321}">
                <p14:modId xmlns:p14="http://schemas.microsoft.com/office/powerpoint/2010/main" val="3473725882"/>
              </p:ext>
            </p:extLst>
          </p:nvPr>
        </p:nvGraphicFramePr>
        <p:xfrm>
          <a:off x="2602001" y="2660868"/>
          <a:ext cx="7374883" cy="3539732"/>
        </p:xfrm>
        <a:graphic>
          <a:graphicData uri="http://schemas.openxmlformats.org/drawingml/2006/table">
            <a:tbl>
              <a:tblPr firstRow="1" firstCol="1" bandRow="1">
                <a:tableStyleId>{A91F0D33-8C57-4600-99A7-42BC86742BE1}</a:tableStyleId>
              </a:tblPr>
              <a:tblGrid>
                <a:gridCol w="2981179">
                  <a:extLst>
                    <a:ext uri="{9D8B030D-6E8A-4147-A177-3AD203B41FA5}">
                      <a16:colId xmlns:a16="http://schemas.microsoft.com/office/drawing/2014/main" xmlns="" val="299159570"/>
                    </a:ext>
                  </a:extLst>
                </a:gridCol>
                <a:gridCol w="4393704">
                  <a:extLst>
                    <a:ext uri="{9D8B030D-6E8A-4147-A177-3AD203B41FA5}">
                      <a16:colId xmlns:a16="http://schemas.microsoft.com/office/drawing/2014/main" xmlns="" val="2281362970"/>
                    </a:ext>
                  </a:extLst>
                </a:gridCol>
              </a:tblGrid>
              <a:tr h="1225108">
                <a:tc>
                  <a:txBody>
                    <a:bodyPr/>
                    <a:lstStyle/>
                    <a:p>
                      <a:pPr marL="0" marR="0">
                        <a:spcBef>
                          <a:spcPts val="0"/>
                        </a:spcBef>
                        <a:spcAft>
                          <a:spcPts val="0"/>
                        </a:spcAft>
                      </a:pPr>
                      <a:r>
                        <a:rPr lang="en-US" sz="1600">
                          <a:effectLst/>
                          <a:latin typeface="Verdana" panose="020B0604030504040204" pitchFamily="34" charset="0"/>
                          <a:ea typeface="Verdana" panose="020B0604030504040204" pitchFamily="34" charset="0"/>
                          <a:cs typeface="Verdana" panose="020B0604030504040204" pitchFamily="34" charset="0"/>
                        </a:rPr>
                        <a:t>What information do you need to know?</a:t>
                      </a:r>
                      <a:endParaRPr lang="x-none" sz="1000">
                        <a:effectLst/>
                        <a:latin typeface="Verdana" panose="020B0604030504040204" pitchFamily="34" charset="0"/>
                        <a:ea typeface="Verdana" panose="020B0604030504040204" pitchFamily="34" charset="0"/>
                        <a:cs typeface="Verdana" panose="020B0604030504040204" pitchFamily="34" charset="0"/>
                      </a:endParaRPr>
                    </a:p>
                  </a:txBody>
                  <a:tcPr marL="42159" marR="421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600">
                          <a:effectLst/>
                          <a:latin typeface="Verdana" panose="020B0604030504040204" pitchFamily="34" charset="0"/>
                          <a:ea typeface="Verdana" panose="020B0604030504040204" pitchFamily="34" charset="0"/>
                          <a:cs typeface="Verdana" panose="020B0604030504040204" pitchFamily="34" charset="0"/>
                        </a:rPr>
                        <a:t> </a:t>
                      </a:r>
                      <a:endParaRPr lang="x-none" sz="1000">
                        <a:effectLst/>
                        <a:latin typeface="Verdana" panose="020B0604030504040204" pitchFamily="34" charset="0"/>
                        <a:ea typeface="Verdana" panose="020B0604030504040204" pitchFamily="34" charset="0"/>
                        <a:cs typeface="Verdana" panose="020B0604030504040204" pitchFamily="34" charset="0"/>
                      </a:endParaRPr>
                    </a:p>
                  </a:txBody>
                  <a:tcPr marL="42159" marR="421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686315870"/>
                  </a:ext>
                </a:extLst>
              </a:tr>
              <a:tr h="2314624">
                <a:tc>
                  <a:txBody>
                    <a:bodyPr/>
                    <a:lstStyle/>
                    <a:p>
                      <a:pPr marL="0" marR="0">
                        <a:spcBef>
                          <a:spcPts val="0"/>
                        </a:spcBef>
                        <a:spcAft>
                          <a:spcPts val="0"/>
                        </a:spcAft>
                      </a:pPr>
                      <a:r>
                        <a:rPr lang="en-US" sz="1600">
                          <a:effectLst/>
                          <a:latin typeface="Verdana" panose="020B0604030504040204" pitchFamily="34" charset="0"/>
                          <a:ea typeface="Verdana" panose="020B0604030504040204" pitchFamily="34" charset="0"/>
                          <a:cs typeface="Verdana" panose="020B0604030504040204" pitchFamily="34" charset="0"/>
                        </a:rPr>
                        <a:t>What instructions would you give her about how to calculate the number of balloons she would need to float?</a:t>
                      </a:r>
                      <a:endParaRPr lang="x-none" sz="1000">
                        <a:effectLst/>
                        <a:latin typeface="Verdana" panose="020B0604030504040204" pitchFamily="34" charset="0"/>
                        <a:ea typeface="Verdana" panose="020B0604030504040204" pitchFamily="34" charset="0"/>
                        <a:cs typeface="Verdana" panose="020B0604030504040204" pitchFamily="34" charset="0"/>
                      </a:endParaRPr>
                    </a:p>
                  </a:txBody>
                  <a:tcPr marL="42159" marR="421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600" dirty="0">
                          <a:effectLst/>
                          <a:latin typeface="Verdana" panose="020B0604030504040204" pitchFamily="34" charset="0"/>
                          <a:ea typeface="Verdana" panose="020B0604030504040204" pitchFamily="34" charset="0"/>
                          <a:cs typeface="Verdana" panose="020B0604030504040204" pitchFamily="34" charset="0"/>
                        </a:rPr>
                        <a:t> </a:t>
                      </a:r>
                      <a:endParaRPr lang="x-none" sz="1000" dirty="0">
                        <a:effectLst/>
                        <a:latin typeface="Verdana" panose="020B0604030504040204" pitchFamily="34" charset="0"/>
                        <a:ea typeface="Verdana" panose="020B0604030504040204" pitchFamily="34" charset="0"/>
                        <a:cs typeface="Verdana" panose="020B0604030504040204" pitchFamily="34" charset="0"/>
                      </a:endParaRPr>
                    </a:p>
                  </a:txBody>
                  <a:tcPr marL="42159" marR="421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691444693"/>
                  </a:ext>
                </a:extLst>
              </a:tr>
            </a:tbl>
          </a:graphicData>
        </a:graphic>
      </p:graphicFrame>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1690</TotalTime>
  <Words>935</Words>
  <Application>Microsoft Office PowerPoint</Application>
  <PresentationFormat>Custom</PresentationFormat>
  <Paragraphs>239</Paragraphs>
  <Slides>23</Slides>
  <Notes>23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23</vt:i4>
      </vt:variant>
    </vt:vector>
  </HeadingPairs>
  <TitlesOfParts>
    <vt:vector size="33" baseType="lpstr">
      <vt:lpstr>Arial</vt:lpstr>
      <vt:lpstr>Calibri</vt:lpstr>
      <vt:lpstr>Times New Roman</vt:lpstr>
      <vt:lpstr>Century Gothic</vt:lpstr>
      <vt:lpstr>Wingdings</vt:lpstr>
      <vt:lpstr>Cambria Math</vt:lpstr>
      <vt:lpstr>Cambria</vt:lpstr>
      <vt:lpstr>Arial Black</vt:lpstr>
      <vt:lpstr>Verdana</vt:lpstr>
      <vt:lpstr>1_Office Theme</vt:lpstr>
      <vt:lpstr>6th Grade Math  Unit 6, Lesson 4  Exploring Tables of Equivalent Ratios  Volume 1, pg. 272  </vt:lpstr>
      <vt:lpstr>Benchmarks</vt:lpstr>
      <vt:lpstr>PowerPoint Presentation</vt:lpstr>
      <vt:lpstr>PowerPoint Presentation</vt:lpstr>
      <vt:lpstr>Warm-Up</vt:lpstr>
      <vt:lpstr>PowerPoint Presentation</vt:lpstr>
      <vt:lpstr>Exploration</vt:lpstr>
      <vt:lpstr>PowerPoint Presentation</vt:lpstr>
      <vt:lpstr>PowerPoint Presentation</vt:lpstr>
      <vt:lpstr>PowerPoint Presentation</vt:lpstr>
      <vt:lpstr>PowerPoint Presentation</vt:lpstr>
      <vt:lpstr>PowerPoint Presentation</vt:lpstr>
      <vt:lpstr>PowerPoint Presentation</vt:lpstr>
      <vt:lpstr>Guided Practice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John Patrick</cp:lastModifiedBy>
  <cp:revision>21</cp:revision>
  <dcterms:created xsi:type="dcterms:W3CDTF">2015-03-17T18:51:18Z</dcterms:created>
  <dcterms:modified xsi:type="dcterms:W3CDTF">2022-06-05T03:11:52Z</dcterms:modified>
</cp:coreProperties>
</file>