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289" r:id="rId8"/>
    <p:sldId id="290" r:id="rId9"/>
    <p:sldId id="336" r:id="rId10"/>
    <p:sldId id="337" r:id="rId11"/>
    <p:sldId id="347" r:id="rId12"/>
    <p:sldId id="348" r:id="rId13"/>
    <p:sldId id="349" r:id="rId14"/>
    <p:sldId id="350" r:id="rId15"/>
    <p:sldId id="323" r:id="rId16"/>
    <p:sldId id="324" r:id="rId17"/>
    <p:sldId id="346" r:id="rId18"/>
    <p:sldId id="311" r:id="rId19"/>
    <p:sldId id="312" r:id="rId20"/>
    <p:sldId id="333" r:id="rId21"/>
    <p:sldId id="345" r:id="rId22"/>
    <p:sldId id="302" r:id="rId23"/>
    <p:sldId id="303" r:id="rId24"/>
    <p:sldId id="340" r:id="rId25"/>
    <p:sldId id="306" r:id="rId26"/>
    <p:sldId id="307" r:id="rId27"/>
  </p:sldIdLst>
  <p:sldSz cx="12192000" cy="6858000"/>
  <p:notesSz cx="6858000" cy="9144000"/>
  <p:embeddedFontLst>
    <p:embeddedFont>
      <p:font typeface="Arial Black" panose="020B0A04020102020204" pitchFamily="34" charset="0"/>
      <p:bold r:id="rId29"/>
    </p:embeddedFont>
    <p:embeddedFont>
      <p:font typeface="Calibri" panose="020F0502020204030204" pitchFamily="34"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C46"/>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57"/>
    <p:restoredTop sz="94718"/>
  </p:normalViewPr>
  <p:slideViewPr>
    <p:cSldViewPr snapToGrid="0">
      <p:cViewPr varScale="1">
        <p:scale>
          <a:sx n="81" d="100"/>
          <a:sy n="81" d="100"/>
        </p:scale>
        <p:origin x="69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20767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810836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07313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47514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6005938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94008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390262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3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11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Converting Units Using Ratios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307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1632" y="178294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202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49" y="6400800"/>
            <a:ext cx="40771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91919"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653143" y="1600200"/>
            <a:ext cx="9557657"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MA.6.AR.3.5</a:t>
            </a:r>
          </a:p>
          <a:p>
            <a:pPr marL="463550" indent="0">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ratios, rates, and unit rates, including comparisons, mixtures, ratios of lengths and conversions within the same measurement system.</a:t>
            </a:r>
          </a:p>
          <a:p>
            <a:pPr indent="0">
              <a:buNone/>
            </a:pP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505007" y="20901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9004"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52307" y="129667"/>
            <a:ext cx="112118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7314750" y="6442165"/>
            <a:ext cx="4164254" cy="41571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45029" y="1596390"/>
            <a:ext cx="916577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0886"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24661"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660030" y="2436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7314750" y="6487885"/>
            <a:ext cx="41207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99457" y="1547093"/>
            <a:ext cx="930220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ratios to convert units within the same measurement system.</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87292"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7314749" y="6411686"/>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095006"/>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7" y="0"/>
            <a:ext cx="1208681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6.11.1 Warm-Up: Furniture Designer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68293" y="16482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794657" y="1386025"/>
            <a:ext cx="8598725" cy="5016758"/>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Jared </a:t>
            </a:r>
            <a:r>
              <a:rPr lang="en-US" sz="2000" dirty="0" err="1">
                <a:latin typeface="Verdana" panose="020B0604030504040204" pitchFamily="34" charset="0"/>
                <a:ea typeface="Times New Roman" panose="02020603050405020304" pitchFamily="18" charset="0"/>
                <a:cs typeface="Times New Roman" panose="02020603050405020304" pitchFamily="18" charset="0"/>
              </a:rPr>
              <a:t>Rusten</a:t>
            </a:r>
            <a:r>
              <a:rPr lang="en-US" sz="2000" dirty="0">
                <a:latin typeface="Verdana" panose="020B0604030504040204" pitchFamily="34" charset="0"/>
                <a:ea typeface="Times New Roman" panose="02020603050405020304" pitchFamily="18" charset="0"/>
                <a:cs typeface="Times New Roman" panose="02020603050405020304" pitchFamily="18" charset="0"/>
              </a:rPr>
              <a:t> is a woodworker who creates modern furniture in San Francisco.</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Jared usually starts designing furniture by sketching his ideas before he makes a scaled drawing using measurements to build the actual piece of furniture. What do you think a scale drawing is?</a:t>
            </a:r>
          </a:p>
          <a:p>
            <a:pPr marL="914400" indent="-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Jared said, “I never thought that I’d be using math as much as I do now.” What are some of the ways he uses math as a furniture designer and maker?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sp>
        <p:nvSpPr>
          <p:cNvPr id="9" name="Google Shape;282;g104476d1465_1_17">
            <a:extLst>
              <a:ext uri="{FF2B5EF4-FFF2-40B4-BE49-F238E27FC236}">
                <a16:creationId xmlns:a16="http://schemas.microsoft.com/office/drawing/2014/main" id="{D28F85A9-92EF-3646-A629-D71AC3FDE345}"/>
              </a:ext>
            </a:extLst>
          </p:cNvPr>
          <p:cNvSpPr txBox="1"/>
          <p:nvPr/>
        </p:nvSpPr>
        <p:spPr>
          <a:xfrm>
            <a:off x="7314749" y="6466113"/>
            <a:ext cx="407170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307</a:t>
            </a:r>
            <a:endParaRPr i="1" dirty="0">
              <a:latin typeface="Calibri"/>
              <a:ea typeface="Calibri"/>
              <a:cs typeface="Calibri"/>
              <a:sym typeface="Calibri"/>
            </a:endParaRPr>
          </a:p>
        </p:txBody>
      </p:sp>
      <p:pic>
        <p:nvPicPr>
          <p:cNvPr id="5" name="Picture 4">
            <a:extLst>
              <a:ext uri="{FF2B5EF4-FFF2-40B4-BE49-F238E27FC236}">
                <a16:creationId xmlns:a16="http://schemas.microsoft.com/office/drawing/2014/main" id="{2F15AA41-7F19-5CAE-1F55-FC83FFC5963F}"/>
              </a:ext>
            </a:extLst>
          </p:cNvPr>
          <p:cNvPicPr>
            <a:picLocks noChangeAspect="1"/>
          </p:cNvPicPr>
          <p:nvPr/>
        </p:nvPicPr>
        <p:blipFill>
          <a:blip r:embed="rId5"/>
          <a:stretch>
            <a:fillRect/>
          </a:stretch>
        </p:blipFill>
        <p:spPr>
          <a:xfrm>
            <a:off x="9758362" y="1386025"/>
            <a:ext cx="1819275" cy="183832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7314750" y="6466113"/>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8408"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13564" y="-85979"/>
            <a:ext cx="108586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6.11.2 Guided Instruction: Converting Units of Measure Using Ratio Relationships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466264" y="99514"/>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B2BE9AFC-D858-8947-AE27-3738478587E3}"/>
              </a:ext>
            </a:extLst>
          </p:cNvPr>
          <p:cNvSpPr/>
          <p:nvPr/>
        </p:nvSpPr>
        <p:spPr>
          <a:xfrm>
            <a:off x="1213564" y="1331161"/>
            <a:ext cx="9325586" cy="193899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Many different units are used to measure lengths, weight, capacity (volume), and time.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are some units of measure that are used to take each type of measurement?</a:t>
            </a:r>
          </a:p>
        </p:txBody>
      </p:sp>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74408"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308</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8F5B8037-8BF7-444B-863F-CA3B4A5159B9}"/>
              </a:ext>
            </a:extLst>
          </p:cNvPr>
          <p:cNvGraphicFramePr>
            <a:graphicFrameLocks noGrp="1"/>
          </p:cNvGraphicFramePr>
          <p:nvPr>
            <p:extLst>
              <p:ext uri="{D42A27DB-BD31-4B8C-83A1-F6EECF244321}">
                <p14:modId xmlns:p14="http://schemas.microsoft.com/office/powerpoint/2010/main" val="122441418"/>
              </p:ext>
            </p:extLst>
          </p:nvPr>
        </p:nvGraphicFramePr>
        <p:xfrm>
          <a:off x="2667000" y="3732729"/>
          <a:ext cx="6858000" cy="2103120"/>
        </p:xfrm>
        <a:graphic>
          <a:graphicData uri="http://schemas.openxmlformats.org/drawingml/2006/table">
            <a:tbl>
              <a:tblPr firstRow="1" firstCol="1" bandRow="1">
                <a:tableStyleId>{A91F0D33-8C57-4600-99A7-42BC86742BE1}</a:tableStyleId>
              </a:tblPr>
              <a:tblGrid>
                <a:gridCol w="1734820">
                  <a:extLst>
                    <a:ext uri="{9D8B030D-6E8A-4147-A177-3AD203B41FA5}">
                      <a16:colId xmlns:a16="http://schemas.microsoft.com/office/drawing/2014/main" val="916939022"/>
                    </a:ext>
                  </a:extLst>
                </a:gridCol>
                <a:gridCol w="1734820">
                  <a:extLst>
                    <a:ext uri="{9D8B030D-6E8A-4147-A177-3AD203B41FA5}">
                      <a16:colId xmlns:a16="http://schemas.microsoft.com/office/drawing/2014/main" val="1051117689"/>
                    </a:ext>
                  </a:extLst>
                </a:gridCol>
                <a:gridCol w="1735455">
                  <a:extLst>
                    <a:ext uri="{9D8B030D-6E8A-4147-A177-3AD203B41FA5}">
                      <a16:colId xmlns:a16="http://schemas.microsoft.com/office/drawing/2014/main" val="4267277780"/>
                    </a:ext>
                  </a:extLst>
                </a:gridCol>
                <a:gridCol w="1652905">
                  <a:extLst>
                    <a:ext uri="{9D8B030D-6E8A-4147-A177-3AD203B41FA5}">
                      <a16:colId xmlns:a16="http://schemas.microsoft.com/office/drawing/2014/main" val="393067850"/>
                    </a:ext>
                  </a:extLst>
                </a:gridCol>
              </a:tblGrid>
              <a:tr h="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Length</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Weight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Capacity</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Time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951088494"/>
                  </a:ext>
                </a:extLst>
              </a:tr>
              <a:tr h="182880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6514923"/>
                  </a:ext>
                </a:extLst>
              </a:tr>
            </a:tbl>
          </a:graphicData>
        </a:graphic>
      </p:graphicFrame>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2E7CAFC-319F-CE4F-8B26-ED2749A56CDA}"/>
              </a:ext>
            </a:extLst>
          </p:cNvPr>
          <p:cNvSpPr/>
          <p:nvPr/>
        </p:nvSpPr>
        <p:spPr>
          <a:xfrm>
            <a:off x="831273" y="241675"/>
            <a:ext cx="9665277" cy="163121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United States uses the customary system of measurement. The table shows the unit conversions for units within this system.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Label each row using the words </a:t>
            </a:r>
            <a:r>
              <a:rPr lang="en-US" sz="2000" b="1" dirty="0">
                <a:latin typeface="Verdana" panose="020B0604030504040204" pitchFamily="34" charset="0"/>
                <a:ea typeface="Times New Roman" panose="02020603050405020304" pitchFamily="18" charset="0"/>
                <a:cs typeface="Times New Roman" panose="02020603050405020304" pitchFamily="18" charset="0"/>
              </a:rPr>
              <a:t>Length, Weight,</a:t>
            </a:r>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r>
              <a:rPr lang="en-US" sz="2000" b="1" dirty="0">
                <a:latin typeface="Verdana" panose="020B0604030504040204" pitchFamily="34" charset="0"/>
                <a:ea typeface="Times New Roman" panose="02020603050405020304" pitchFamily="18" charset="0"/>
                <a:cs typeface="Times New Roman" panose="02020603050405020304" pitchFamily="18" charset="0"/>
              </a:rPr>
              <a:t>Capacity</a:t>
            </a:r>
            <a:r>
              <a:rPr lang="en-US" sz="2000" dirty="0">
                <a:latin typeface="Verdana" panose="020B0604030504040204" pitchFamily="34" charset="0"/>
                <a:ea typeface="Times New Roman" panose="02020603050405020304" pitchFamily="18" charset="0"/>
                <a:cs typeface="Times New Roman" panose="02020603050405020304" pitchFamily="18" charset="0"/>
              </a:rPr>
              <a:t> to indicate what each set of units measures.</a:t>
            </a:r>
          </a:p>
        </p:txBody>
      </p:sp>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7314749" y="6413432"/>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8ED3FE37-B924-2B43-A73C-2919F14DF90E}"/>
                  </a:ext>
                </a:extLst>
              </p:cNvPr>
              <p:cNvGraphicFramePr>
                <a:graphicFrameLocks noGrp="1"/>
              </p:cNvGraphicFramePr>
              <p:nvPr>
                <p:extLst>
                  <p:ext uri="{D42A27DB-BD31-4B8C-83A1-F6EECF244321}">
                    <p14:modId xmlns:p14="http://schemas.microsoft.com/office/powerpoint/2010/main" val="2837508529"/>
                  </p:ext>
                </p:extLst>
              </p:nvPr>
            </p:nvGraphicFramePr>
            <p:xfrm>
              <a:off x="2237451" y="2107582"/>
              <a:ext cx="6852920" cy="4021455"/>
            </p:xfrm>
            <a:graphic>
              <a:graphicData uri="http://schemas.openxmlformats.org/drawingml/2006/table">
                <a:tbl>
                  <a:tblPr firstRow="1" firstCol="1" bandRow="1">
                    <a:tableStyleId>{A91F0D33-8C57-4600-99A7-42BC86742BE1}</a:tableStyleId>
                  </a:tblPr>
                  <a:tblGrid>
                    <a:gridCol w="2830830">
                      <a:extLst>
                        <a:ext uri="{9D8B030D-6E8A-4147-A177-3AD203B41FA5}">
                          <a16:colId xmlns:a16="http://schemas.microsoft.com/office/drawing/2014/main" val="1275389725"/>
                        </a:ext>
                      </a:extLst>
                    </a:gridCol>
                    <a:gridCol w="4022090">
                      <a:extLst>
                        <a:ext uri="{9D8B030D-6E8A-4147-A177-3AD203B41FA5}">
                          <a16:colId xmlns:a16="http://schemas.microsoft.com/office/drawing/2014/main" val="2590356443"/>
                        </a:ext>
                      </a:extLst>
                    </a:gridCol>
                  </a:tblGrid>
                  <a:tr h="51244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Conversions in the Customary System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31633717"/>
                      </a:ext>
                    </a:extLst>
                  </a:tr>
                  <a:tr h="1313815">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foot</m:t>
                                </m:r>
                                <m:r>
                                  <a:rPr lang="en-US" sz="1800">
                                    <a:effectLst/>
                                    <a:latin typeface="Cambria Math"/>
                                  </a:rPr>
                                  <m:t> (</m:t>
                                </m:r>
                                <m:r>
                                  <m:rPr>
                                    <m:sty m:val="p"/>
                                  </m:rPr>
                                  <a:rPr lang="en-US" sz="1800">
                                    <a:effectLst/>
                                    <a:latin typeface="Cambria Math"/>
                                  </a:rPr>
                                  <m:t>ft</m:t>
                                </m:r>
                                <m:r>
                                  <a:rPr lang="en-US" sz="1800">
                                    <a:effectLst/>
                                    <a:latin typeface="Cambria Math"/>
                                  </a:rPr>
                                  <m:t>)= 12 </m:t>
                                </m:r>
                                <m:r>
                                  <m:rPr>
                                    <m:sty m:val="p"/>
                                  </m:rPr>
                                  <a:rPr lang="en-US" sz="1800">
                                    <a:effectLst/>
                                    <a:latin typeface="Cambria Math"/>
                                  </a:rPr>
                                  <m:t>inches</m:t>
                                </m:r>
                                <m:r>
                                  <a:rPr lang="en-US" sz="1800">
                                    <a:effectLst/>
                                    <a:latin typeface="Cambria Math"/>
                                  </a:rPr>
                                  <m:t> (</m:t>
                                </m:r>
                                <m:r>
                                  <m:rPr>
                                    <m:sty m:val="p"/>
                                  </m:rPr>
                                  <a:rPr lang="en-US" sz="1800">
                                    <a:effectLst/>
                                    <a:latin typeface="Cambria Math"/>
                                  </a:rPr>
                                  <m:t>in</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yard</m:t>
                                </m:r>
                                <m:r>
                                  <a:rPr lang="en-US" sz="1800">
                                    <a:effectLst/>
                                    <a:latin typeface="Cambria Math"/>
                                  </a:rPr>
                                  <m:t> (</m:t>
                                </m:r>
                                <m:r>
                                  <m:rPr>
                                    <m:sty m:val="p"/>
                                  </m:rPr>
                                  <a:rPr lang="en-US" sz="1800">
                                    <a:effectLst/>
                                    <a:latin typeface="Cambria Math"/>
                                  </a:rPr>
                                  <m:t>yd</m:t>
                                </m:r>
                                <m:r>
                                  <a:rPr lang="en-US" sz="1800">
                                    <a:effectLst/>
                                    <a:latin typeface="Cambria Math"/>
                                  </a:rPr>
                                  <m:t>)= 3 </m:t>
                                </m:r>
                                <m:r>
                                  <m:rPr>
                                    <m:sty m:val="p"/>
                                  </m:rPr>
                                  <a:rPr lang="en-US" sz="1800">
                                    <a:effectLst/>
                                    <a:latin typeface="Cambria Math"/>
                                  </a:rPr>
                                  <m:t>feet</m:t>
                                </m:r>
                                <m:r>
                                  <a:rPr lang="en-US" sz="1800">
                                    <a:effectLst/>
                                    <a:latin typeface="Cambria Math"/>
                                  </a:rPr>
                                  <m:t> (</m:t>
                                </m:r>
                                <m:r>
                                  <m:rPr>
                                    <m:sty m:val="p"/>
                                  </m:rPr>
                                  <a:rPr lang="en-US" sz="1800">
                                    <a:effectLst/>
                                    <a:latin typeface="Cambria Math"/>
                                  </a:rPr>
                                  <m:t>ft</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mile</m:t>
                                </m:r>
                                <m:r>
                                  <a:rPr lang="en-US" sz="1800">
                                    <a:effectLst/>
                                    <a:latin typeface="Cambria Math"/>
                                  </a:rPr>
                                  <m:t> (</m:t>
                                </m:r>
                                <m:r>
                                  <m:rPr>
                                    <m:sty m:val="p"/>
                                  </m:rPr>
                                  <a:rPr lang="en-US" sz="1800">
                                    <a:effectLst/>
                                    <a:latin typeface="Cambria Math"/>
                                  </a:rPr>
                                  <m:t>mi</m:t>
                                </m:r>
                                <m:r>
                                  <a:rPr lang="en-US" sz="1800">
                                    <a:effectLst/>
                                    <a:latin typeface="Cambria Math"/>
                                  </a:rPr>
                                  <m:t>) = 5,280 </m:t>
                                </m:r>
                                <m:r>
                                  <m:rPr>
                                    <m:sty m:val="p"/>
                                  </m:rPr>
                                  <a:rPr lang="en-US" sz="1800">
                                    <a:effectLst/>
                                    <a:latin typeface="Cambria Math"/>
                                  </a:rPr>
                                  <m:t>feet</m:t>
                                </m:r>
                                <m:r>
                                  <a:rPr lang="en-US" sz="1800">
                                    <a:effectLst/>
                                    <a:latin typeface="Cambria Math"/>
                                  </a:rPr>
                                  <m:t> (</m:t>
                                </m:r>
                                <m:r>
                                  <m:rPr>
                                    <m:sty m:val="p"/>
                                  </m:rPr>
                                  <a:rPr lang="en-US" sz="1800">
                                    <a:effectLst/>
                                    <a:latin typeface="Cambria Math"/>
                                  </a:rPr>
                                  <m:t>ft</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mile</m:t>
                                </m:r>
                                <m:r>
                                  <a:rPr lang="en-US" sz="1800">
                                    <a:effectLst/>
                                    <a:latin typeface="Cambria Math"/>
                                  </a:rPr>
                                  <m:t> (</m:t>
                                </m:r>
                                <m:r>
                                  <m:rPr>
                                    <m:sty m:val="p"/>
                                  </m:rPr>
                                  <a:rPr lang="en-US" sz="1800">
                                    <a:effectLst/>
                                    <a:latin typeface="Cambria Math"/>
                                  </a:rPr>
                                  <m:t>mi</m:t>
                                </m:r>
                                <m:r>
                                  <a:rPr lang="en-US" sz="1800">
                                    <a:effectLst/>
                                    <a:latin typeface="Cambria Math"/>
                                  </a:rPr>
                                  <m:t>) = 1,760 </m:t>
                                </m:r>
                                <m:r>
                                  <m:rPr>
                                    <m:sty m:val="p"/>
                                  </m:rPr>
                                  <a:rPr lang="en-US" sz="1800">
                                    <a:effectLst/>
                                    <a:latin typeface="Cambria Math"/>
                                  </a:rPr>
                                  <m:t>yards</m:t>
                                </m:r>
                                <m:r>
                                  <a:rPr lang="en-US" sz="1800">
                                    <a:effectLst/>
                                    <a:latin typeface="Cambria Math"/>
                                  </a:rPr>
                                  <m:t> (</m:t>
                                </m:r>
                                <m:r>
                                  <m:rPr>
                                    <m:sty m:val="p"/>
                                  </m:rPr>
                                  <a:rPr lang="en-US" sz="1800">
                                    <a:effectLst/>
                                    <a:latin typeface="Cambria Math"/>
                                  </a:rPr>
                                  <m:t>yd</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2291887"/>
                      </a:ext>
                    </a:extLst>
                  </a:tr>
                  <a:tr h="12509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cup</m:t>
                                </m:r>
                                <m:r>
                                  <a:rPr lang="en-US" sz="1800">
                                    <a:effectLst/>
                                    <a:latin typeface="Cambria Math"/>
                                  </a:rPr>
                                  <m:t> (</m:t>
                                </m:r>
                                <m:r>
                                  <m:rPr>
                                    <m:sty m:val="p"/>
                                  </m:rPr>
                                  <a:rPr lang="en-US" sz="1800">
                                    <a:effectLst/>
                                    <a:latin typeface="Cambria Math"/>
                                  </a:rPr>
                                  <m:t>c</m:t>
                                </m:r>
                                <m:r>
                                  <a:rPr lang="en-US" sz="1800">
                                    <a:effectLst/>
                                    <a:latin typeface="Cambria Math"/>
                                  </a:rPr>
                                  <m:t>)= 8 </m:t>
                                </m:r>
                                <m:r>
                                  <m:rPr>
                                    <m:sty m:val="p"/>
                                  </m:rPr>
                                  <a:rPr lang="en-US" sz="1800">
                                    <a:effectLst/>
                                    <a:latin typeface="Cambria Math"/>
                                  </a:rPr>
                                  <m:t>fluid</m:t>
                                </m:r>
                                <m:r>
                                  <a:rPr lang="en-US" sz="1800">
                                    <a:effectLst/>
                                    <a:latin typeface="Cambria Math"/>
                                  </a:rPr>
                                  <m:t> </m:t>
                                </m:r>
                                <m:r>
                                  <m:rPr>
                                    <m:sty m:val="p"/>
                                  </m:rPr>
                                  <a:rPr lang="en-US" sz="1800">
                                    <a:effectLst/>
                                    <a:latin typeface="Cambria Math"/>
                                  </a:rPr>
                                  <m:t>ounces</m:t>
                                </m:r>
                                <m:r>
                                  <a:rPr lang="en-US" sz="1800">
                                    <a:effectLst/>
                                    <a:latin typeface="Cambria Math"/>
                                  </a:rPr>
                                  <m:t> (</m:t>
                                </m:r>
                                <m:r>
                                  <m:rPr>
                                    <m:sty m:val="p"/>
                                  </m:rPr>
                                  <a:rPr lang="en-US" sz="1800">
                                    <a:effectLst/>
                                    <a:latin typeface="Cambria Math"/>
                                  </a:rPr>
                                  <m:t>fl</m:t>
                                </m:r>
                                <m:r>
                                  <a:rPr lang="en-US" sz="1800">
                                    <a:effectLst/>
                                    <a:latin typeface="Cambria Math"/>
                                  </a:rPr>
                                  <m:t> </m:t>
                                </m:r>
                                <m:r>
                                  <m:rPr>
                                    <m:sty m:val="p"/>
                                  </m:rPr>
                                  <a:rPr lang="en-US" sz="1800">
                                    <a:effectLst/>
                                    <a:latin typeface="Cambria Math"/>
                                  </a:rPr>
                                  <m:t>oz</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pint</m:t>
                                </m:r>
                                <m:r>
                                  <a:rPr lang="en-US" sz="1800">
                                    <a:effectLst/>
                                    <a:latin typeface="Cambria Math"/>
                                  </a:rPr>
                                  <m:t> (</m:t>
                                </m:r>
                                <m:r>
                                  <m:rPr>
                                    <m:sty m:val="p"/>
                                  </m:rPr>
                                  <a:rPr lang="en-US" sz="1800">
                                    <a:effectLst/>
                                    <a:latin typeface="Cambria Math"/>
                                  </a:rPr>
                                  <m:t>pt</m:t>
                                </m:r>
                                <m:r>
                                  <a:rPr lang="en-US" sz="1800">
                                    <a:effectLst/>
                                    <a:latin typeface="Cambria Math"/>
                                  </a:rPr>
                                  <m:t>)= 2 </m:t>
                                </m:r>
                                <m:r>
                                  <m:rPr>
                                    <m:sty m:val="p"/>
                                  </m:rPr>
                                  <a:rPr lang="en-US" sz="1800">
                                    <a:effectLst/>
                                    <a:latin typeface="Cambria Math"/>
                                  </a:rPr>
                                  <m:t>cups</m:t>
                                </m:r>
                                <m:r>
                                  <a:rPr lang="en-US" sz="1800">
                                    <a:effectLst/>
                                    <a:latin typeface="Cambria Math"/>
                                  </a:rPr>
                                  <m:t> (</m:t>
                                </m:r>
                                <m:r>
                                  <m:rPr>
                                    <m:sty m:val="p"/>
                                  </m:rPr>
                                  <a:rPr lang="en-US" sz="1800">
                                    <a:effectLst/>
                                    <a:latin typeface="Cambria Math"/>
                                  </a:rPr>
                                  <m:t>c</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quart</m:t>
                                </m:r>
                                <m:r>
                                  <a:rPr lang="en-US" sz="1800">
                                    <a:effectLst/>
                                    <a:latin typeface="Cambria Math"/>
                                  </a:rPr>
                                  <m:t> (</m:t>
                                </m:r>
                                <m:r>
                                  <m:rPr>
                                    <m:sty m:val="p"/>
                                  </m:rPr>
                                  <a:rPr lang="en-US" sz="1800">
                                    <a:effectLst/>
                                    <a:latin typeface="Cambria Math"/>
                                  </a:rPr>
                                  <m:t>qt</m:t>
                                </m:r>
                                <m:r>
                                  <a:rPr lang="en-US" sz="1800">
                                    <a:effectLst/>
                                    <a:latin typeface="Cambria Math"/>
                                  </a:rPr>
                                  <m:t>)= 2 </m:t>
                                </m:r>
                                <m:r>
                                  <m:rPr>
                                    <m:sty m:val="p"/>
                                  </m:rPr>
                                  <a:rPr lang="en-US" sz="1800">
                                    <a:effectLst/>
                                    <a:latin typeface="Cambria Math"/>
                                  </a:rPr>
                                  <m:t>pints</m:t>
                                </m:r>
                                <m:r>
                                  <a:rPr lang="en-US" sz="1800">
                                    <a:effectLst/>
                                    <a:latin typeface="Cambria Math"/>
                                  </a:rPr>
                                  <m:t> (</m:t>
                                </m:r>
                                <m:r>
                                  <m:rPr>
                                    <m:sty m:val="p"/>
                                  </m:rPr>
                                  <a:rPr lang="en-US" sz="1800">
                                    <a:effectLst/>
                                    <a:latin typeface="Cambria Math"/>
                                  </a:rPr>
                                  <m:t>pt</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gallon</m:t>
                                </m:r>
                                <m:r>
                                  <a:rPr lang="en-US" sz="1800">
                                    <a:effectLst/>
                                    <a:latin typeface="Cambria Math"/>
                                  </a:rPr>
                                  <m:t> (</m:t>
                                </m:r>
                                <m:r>
                                  <m:rPr>
                                    <m:sty m:val="p"/>
                                  </m:rPr>
                                  <a:rPr lang="en-US" sz="1800">
                                    <a:effectLst/>
                                    <a:latin typeface="Cambria Math"/>
                                  </a:rPr>
                                  <m:t>gal</m:t>
                                </m:r>
                                <m:r>
                                  <a:rPr lang="en-US" sz="1800">
                                    <a:effectLst/>
                                    <a:latin typeface="Cambria Math"/>
                                  </a:rPr>
                                  <m:t>.)= 4 </m:t>
                                </m:r>
                                <m:r>
                                  <m:rPr>
                                    <m:sty m:val="p"/>
                                  </m:rPr>
                                  <a:rPr lang="en-US" sz="1800">
                                    <a:effectLst/>
                                    <a:latin typeface="Cambria Math"/>
                                  </a:rPr>
                                  <m:t>quarts</m:t>
                                </m:r>
                                <m:r>
                                  <a:rPr lang="en-US" sz="1800">
                                    <a:effectLst/>
                                    <a:latin typeface="Cambria Math"/>
                                  </a:rPr>
                                  <m:t> (</m:t>
                                </m:r>
                                <m:r>
                                  <m:rPr>
                                    <m:sty m:val="p"/>
                                  </m:rPr>
                                  <a:rPr lang="en-US" sz="1800">
                                    <a:effectLst/>
                                    <a:latin typeface="Cambria Math"/>
                                  </a:rPr>
                                  <m:t>qt</m:t>
                                </m:r>
                                <m:r>
                                  <a:rPr lang="en-US" sz="1800">
                                    <a:effectLst/>
                                    <a:latin typeface="Cambria Math"/>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357318"/>
                      </a:ext>
                    </a:extLst>
                  </a:tr>
                  <a:tr h="9080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pound</m:t>
                                </m:r>
                                <m:r>
                                  <a:rPr lang="en-US" sz="1800">
                                    <a:effectLst/>
                                    <a:latin typeface="Cambria Math"/>
                                  </a:rPr>
                                  <m:t> (</m:t>
                                </m:r>
                                <m:r>
                                  <m:rPr>
                                    <m:sty m:val="p"/>
                                  </m:rPr>
                                  <a:rPr lang="en-US" sz="1800">
                                    <a:effectLst/>
                                    <a:latin typeface="Cambria Math"/>
                                  </a:rPr>
                                  <m:t>lb</m:t>
                                </m:r>
                                <m:r>
                                  <a:rPr lang="en-US" sz="1800">
                                    <a:effectLst/>
                                    <a:latin typeface="Cambria Math"/>
                                  </a:rPr>
                                  <m:t>)= 16 </m:t>
                                </m:r>
                                <m:r>
                                  <m:rPr>
                                    <m:sty m:val="p"/>
                                  </m:rPr>
                                  <a:rPr lang="en-US" sz="1800">
                                    <a:effectLst/>
                                    <a:latin typeface="Cambria Math"/>
                                  </a:rPr>
                                  <m:t>ounces</m:t>
                                </m:r>
                                <m:r>
                                  <a:rPr lang="en-US" sz="1800">
                                    <a:effectLst/>
                                    <a:latin typeface="Cambria Math"/>
                                  </a:rPr>
                                  <m:t> (</m:t>
                                </m:r>
                                <m:r>
                                  <m:rPr>
                                    <m:sty m:val="p"/>
                                  </m:rPr>
                                  <a:rPr lang="en-US" sz="1800">
                                    <a:effectLst/>
                                    <a:latin typeface="Cambria Math"/>
                                  </a:rPr>
                                  <m:t>oz</m:t>
                                </m:r>
                                <m:r>
                                  <a:rPr lang="en-US" sz="1800">
                                    <a:effectLst/>
                                    <a:latin typeface="Cambria Math"/>
                                  </a:rPr>
                                  <m:t>)</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1 </m:t>
                                </m:r>
                                <m:r>
                                  <m:rPr>
                                    <m:sty m:val="p"/>
                                  </m:rPr>
                                  <a:rPr lang="en-US" sz="1800">
                                    <a:effectLst/>
                                    <a:latin typeface="Cambria Math"/>
                                  </a:rPr>
                                  <m:t>ton</m:t>
                                </m:r>
                                <m:r>
                                  <a:rPr lang="en-US" sz="1800">
                                    <a:effectLst/>
                                    <a:latin typeface="Cambria Math"/>
                                  </a:rPr>
                                  <m:t> (</m:t>
                                </m:r>
                                <m:r>
                                  <m:rPr>
                                    <m:sty m:val="p"/>
                                  </m:rPr>
                                  <a:rPr lang="en-US" sz="1800">
                                    <a:effectLst/>
                                    <a:latin typeface="Cambria Math"/>
                                  </a:rPr>
                                  <m:t>t</m:t>
                                </m:r>
                                <m:r>
                                  <a:rPr lang="en-US" sz="1800">
                                    <a:effectLst/>
                                    <a:latin typeface="Cambria Math"/>
                                  </a:rPr>
                                  <m:t>)= 2,000 </m:t>
                                </m:r>
                                <m:r>
                                  <m:rPr>
                                    <m:sty m:val="p"/>
                                  </m:rPr>
                                  <a:rPr lang="en-US" sz="1800">
                                    <a:effectLst/>
                                    <a:latin typeface="Cambria Math"/>
                                  </a:rPr>
                                  <m:t>pounds</m:t>
                                </m:r>
                                <m:r>
                                  <a:rPr lang="en-US" sz="1800">
                                    <a:effectLst/>
                                    <a:latin typeface="Cambria Math"/>
                                  </a:rPr>
                                  <m:t> (</m:t>
                                </m:r>
                                <m:r>
                                  <m:rPr>
                                    <m:sty m:val="p"/>
                                  </m:rPr>
                                  <a:rPr lang="en-US" sz="1800">
                                    <a:effectLst/>
                                    <a:latin typeface="Cambria Math"/>
                                  </a:rPr>
                                  <m:t>lb</m:t>
                                </m:r>
                                <m:r>
                                  <a:rPr lang="en-US" sz="1800">
                                    <a:effectLst/>
                                    <a:latin typeface="Cambria Math"/>
                                  </a:rPr>
                                  <m:t>)</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9436977"/>
                      </a:ext>
                    </a:extLst>
                  </a:tr>
                </a:tbl>
              </a:graphicData>
            </a:graphic>
          </p:graphicFrame>
        </mc:Choice>
        <mc:Fallback>
          <p:graphicFrame>
            <p:nvGraphicFramePr>
              <p:cNvPr id="3" name="Table 2">
                <a:extLst>
                  <a:ext uri="{FF2B5EF4-FFF2-40B4-BE49-F238E27FC236}">
                    <a16:creationId xmlns:a16="http://schemas.microsoft.com/office/drawing/2014/main" id="{8ED3FE37-B924-2B43-A73C-2919F14DF90E}"/>
                  </a:ext>
                </a:extLst>
              </p:cNvPr>
              <p:cNvGraphicFramePr>
                <a:graphicFrameLocks noGrp="1"/>
              </p:cNvGraphicFramePr>
              <p:nvPr>
                <p:extLst>
                  <p:ext uri="{D42A27DB-BD31-4B8C-83A1-F6EECF244321}">
                    <p14:modId xmlns:p14="http://schemas.microsoft.com/office/powerpoint/2010/main" val="2837508529"/>
                  </p:ext>
                </p:extLst>
              </p:nvPr>
            </p:nvGraphicFramePr>
            <p:xfrm>
              <a:off x="2237451" y="2107582"/>
              <a:ext cx="6852920" cy="4021455"/>
            </p:xfrm>
            <a:graphic>
              <a:graphicData uri="http://schemas.openxmlformats.org/drawingml/2006/table">
                <a:tbl>
                  <a:tblPr firstRow="1" firstCol="1" bandRow="1">
                    <a:tableStyleId>{A91F0D33-8C57-4600-99A7-42BC86742BE1}</a:tableStyleId>
                  </a:tblPr>
                  <a:tblGrid>
                    <a:gridCol w="2830830">
                      <a:extLst>
                        <a:ext uri="{9D8B030D-6E8A-4147-A177-3AD203B41FA5}">
                          <a16:colId xmlns:a16="http://schemas.microsoft.com/office/drawing/2014/main" val="1275389725"/>
                        </a:ext>
                      </a:extLst>
                    </a:gridCol>
                    <a:gridCol w="4022090">
                      <a:extLst>
                        <a:ext uri="{9D8B030D-6E8A-4147-A177-3AD203B41FA5}">
                          <a16:colId xmlns:a16="http://schemas.microsoft.com/office/drawing/2014/main" val="2590356443"/>
                        </a:ext>
                      </a:extLst>
                    </a:gridCol>
                  </a:tblGrid>
                  <a:tr h="54864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Unit Conversions in the Customary System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31633717"/>
                      </a:ext>
                    </a:extLst>
                  </a:tr>
                  <a:tr h="1313815">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758" t="-47222" r="-303" b="-165278"/>
                          </a:stretch>
                        </a:blipFill>
                      </a:tcPr>
                    </a:tc>
                    <a:extLst>
                      <a:ext uri="{0D108BD9-81ED-4DB2-BD59-A6C34878D82A}">
                        <a16:rowId xmlns:a16="http://schemas.microsoft.com/office/drawing/2014/main" val="2572291887"/>
                      </a:ext>
                    </a:extLst>
                  </a:tr>
                  <a:tr h="12509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758" t="-154369" r="-303" b="-73301"/>
                          </a:stretch>
                        </a:blipFill>
                      </a:tcPr>
                    </a:tc>
                    <a:extLst>
                      <a:ext uri="{0D108BD9-81ED-4DB2-BD59-A6C34878D82A}">
                        <a16:rowId xmlns:a16="http://schemas.microsoft.com/office/drawing/2014/main" val="381357318"/>
                      </a:ext>
                    </a:extLst>
                  </a:tr>
                  <a:tr h="90805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758" t="-351678" r="-303" b="-1342"/>
                          </a:stretch>
                        </a:blipFill>
                      </a:tcPr>
                    </a:tc>
                    <a:extLst>
                      <a:ext uri="{0D108BD9-81ED-4DB2-BD59-A6C34878D82A}">
                        <a16:rowId xmlns:a16="http://schemas.microsoft.com/office/drawing/2014/main" val="2249436977"/>
                      </a:ext>
                    </a:extLst>
                  </a:tr>
                </a:tbl>
              </a:graphicData>
            </a:graphic>
          </p:graphicFrame>
        </mc:Fallback>
      </mc:AlternateContent>
    </p:spTree>
    <p:extLst>
      <p:ext uri="{BB962C8B-B14F-4D97-AF65-F5344CB8AC3E}">
        <p14:creationId xmlns:p14="http://schemas.microsoft.com/office/powerpoint/2010/main" val="161775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529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881743" y="469910"/>
                <a:ext cx="9637667" cy="1631216"/>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Each conversion rate represents a ratio. Double number line diagrams can be used to convert units.</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Use the double number line diagram shown to find how many feet (ft) are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yards (yd).</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881743" y="469910"/>
                <a:ext cx="9637667" cy="1631216"/>
              </a:xfrm>
              <a:prstGeom prst="rect">
                <a:avLst/>
              </a:prstGeom>
              <a:blipFill>
                <a:blip r:embed="rId4"/>
                <a:stretch>
                  <a:fillRect l="-696" t="-1866" r="-1328" b="-5597"/>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7314749" y="6457763"/>
            <a:ext cx="4153369" cy="400111"/>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308</a:t>
            </a:r>
            <a:endParaRPr i="1" dirty="0">
              <a:latin typeface="Calibri"/>
              <a:ea typeface="Calibri"/>
              <a:cs typeface="Calibri"/>
              <a:sym typeface="Calibri"/>
            </a:endParaRPr>
          </a:p>
        </p:txBody>
      </p:sp>
      <p:pic>
        <p:nvPicPr>
          <p:cNvPr id="7" name="Picture 6" descr="A picture containing object, antenna, sky&#10;&#10;Description automatically generated">
            <a:extLst>
              <a:ext uri="{FF2B5EF4-FFF2-40B4-BE49-F238E27FC236}">
                <a16:creationId xmlns:a16="http://schemas.microsoft.com/office/drawing/2014/main" id="{26BD6E4A-2902-0B40-8221-96898F5D7AA9}"/>
              </a:ext>
            </a:extLst>
          </p:cNvPr>
          <p:cNvPicPr>
            <a:picLocks noChangeAspect="1"/>
          </p:cNvPicPr>
          <p:nvPr/>
        </p:nvPicPr>
        <p:blipFill>
          <a:blip r:embed="rId5"/>
          <a:stretch>
            <a:fillRect/>
          </a:stretch>
        </p:blipFill>
        <p:spPr>
          <a:xfrm>
            <a:off x="2920365" y="2474278"/>
            <a:ext cx="6351270" cy="1909445"/>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1899F09-E17A-9E40-B17D-370C7930E87F}"/>
                  </a:ext>
                </a:extLst>
              </p:cNvPr>
              <p:cNvSpPr/>
              <p:nvPr/>
            </p:nvSpPr>
            <p:spPr>
              <a:xfrm>
                <a:off x="1969770" y="4864930"/>
                <a:ext cx="8549640" cy="400110"/>
              </a:xfrm>
              <a:prstGeom prst="rect">
                <a:avLst/>
              </a:prstGeom>
            </p:spPr>
            <p:txBody>
              <a:bodyPr wrap="square">
                <a:spAutoFit/>
              </a:bodyPr>
              <a:lstStyle/>
              <a:p>
                <a:pPr marL="14288" indent="-14288" algn="ctr"/>
                <a:r>
                  <a:rPr lang="en-US" sz="2000" dirty="0">
                    <a:latin typeface="Verdana" panose="020B0604030504040204" pitchFamily="34" charset="0"/>
                    <a:ea typeface="Verdana" panose="020B0604030504040204" pitchFamily="34" charset="0"/>
                    <a:cs typeface="Verdana" panose="020B0604030504040204" pitchFamily="34" charset="0"/>
                  </a:rPr>
                  <a:t>There are ____ feet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yards.</a:t>
                </a:r>
              </a:p>
            </p:txBody>
          </p:sp>
        </mc:Choice>
        <mc:Fallback xmlns="">
          <p:sp>
            <p:nvSpPr>
              <p:cNvPr id="9" name="Rectangle 8">
                <a:extLst>
                  <a:ext uri="{FF2B5EF4-FFF2-40B4-BE49-F238E27FC236}">
                    <a16:creationId xmlns:a16="http://schemas.microsoft.com/office/drawing/2014/main" id="{91899F09-E17A-9E40-B17D-370C7930E87F}"/>
                  </a:ext>
                </a:extLst>
              </p:cNvPr>
              <p:cNvSpPr>
                <a:spLocks noRot="1" noChangeAspect="1" noMove="1" noResize="1" noEditPoints="1" noAdjustHandles="1" noChangeArrowheads="1" noChangeShapeType="1" noTextEdit="1"/>
              </p:cNvSpPr>
              <p:nvPr/>
            </p:nvSpPr>
            <p:spPr>
              <a:xfrm>
                <a:off x="1969770" y="4864930"/>
                <a:ext cx="8549640" cy="400110"/>
              </a:xfrm>
              <a:prstGeom prst="rect">
                <a:avLst/>
              </a:prstGeom>
              <a:blipFill>
                <a:blip r:embed="rId6"/>
                <a:stretch>
                  <a:fillRect t="-7576" b="-25758"/>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90E83CA-4ACF-5994-4E34-EB1B83F932B6}"/>
              </a:ext>
            </a:extLst>
          </p:cNvPr>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06837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620486" y="469910"/>
                <a:ext cx="9898924" cy="1631216"/>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Tables can also be used to convert units of measure.</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The average weight of an African forest elephant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6,000</m:t>
                    </m:r>
                  </m:oMath>
                </a14:m>
                <a:r>
                  <a:rPr lang="en-US" sz="2000" dirty="0">
                    <a:latin typeface="Verdana" panose="020B0604030504040204" pitchFamily="34" charset="0"/>
                    <a:ea typeface="Verdana" panose="020B0604030504040204" pitchFamily="34" charset="0"/>
                    <a:cs typeface="Verdana" panose="020B0604030504040204" pitchFamily="34" charset="0"/>
                  </a:rPr>
                  <a:t> pounds. Use the unit conversion and the table to determine how many tons the average African forest elephant weighs.</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620486" y="469910"/>
                <a:ext cx="9898924" cy="1631216"/>
              </a:xfrm>
              <a:prstGeom prst="rect">
                <a:avLst/>
              </a:prstGeom>
              <a:blipFill>
                <a:blip r:embed="rId4"/>
                <a:stretch>
                  <a:fillRect l="-677" t="-1866" b="-5597"/>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887766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C521784-74B5-D449-9996-7553E73BA86C}"/>
                  </a:ext>
                </a:extLst>
              </p:cNvPr>
              <p:cNvGraphicFramePr>
                <a:graphicFrameLocks noGrp="1"/>
              </p:cNvGraphicFramePr>
              <p:nvPr>
                <p:extLst>
                  <p:ext uri="{D42A27DB-BD31-4B8C-83A1-F6EECF244321}">
                    <p14:modId xmlns:p14="http://schemas.microsoft.com/office/powerpoint/2010/main" val="1939523070"/>
                  </p:ext>
                </p:extLst>
              </p:nvPr>
            </p:nvGraphicFramePr>
            <p:xfrm>
              <a:off x="4079558" y="2534004"/>
              <a:ext cx="4032885" cy="1341755"/>
            </p:xfrm>
            <a:graphic>
              <a:graphicData uri="http://schemas.openxmlformats.org/drawingml/2006/table">
                <a:tbl>
                  <a:tblPr firstRow="1" firstCol="1" bandRow="1">
                    <a:tableStyleId>{A91F0D33-8C57-4600-99A7-42BC86742BE1}</a:tableStyleId>
                  </a:tblPr>
                  <a:tblGrid>
                    <a:gridCol w="1986915">
                      <a:extLst>
                        <a:ext uri="{9D8B030D-6E8A-4147-A177-3AD203B41FA5}">
                          <a16:colId xmlns:a16="http://schemas.microsoft.com/office/drawing/2014/main" val="371326755"/>
                        </a:ext>
                      </a:extLst>
                    </a:gridCol>
                    <a:gridCol w="2045970">
                      <a:extLst>
                        <a:ext uri="{9D8B030D-6E8A-4147-A177-3AD203B41FA5}">
                          <a16:colId xmlns:a16="http://schemas.microsoft.com/office/drawing/2014/main" val="3778872954"/>
                        </a:ext>
                      </a:extLst>
                    </a:gridCol>
                  </a:tblGrid>
                  <a:tr h="3194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Pounds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63677541"/>
                      </a:ext>
                    </a:extLst>
                  </a:tr>
                  <a:tr h="4933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2,000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1</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1593153"/>
                      </a:ext>
                    </a:extLst>
                  </a:tr>
                  <a:tr h="52895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778915"/>
                      </a:ext>
                    </a:extLst>
                  </a:tr>
                </a:tbl>
              </a:graphicData>
            </a:graphic>
          </p:graphicFrame>
        </mc:Choice>
        <mc:Fallback xmlns="">
          <p:graphicFrame>
            <p:nvGraphicFramePr>
              <p:cNvPr id="2" name="Table 1">
                <a:extLst>
                  <a:ext uri="{FF2B5EF4-FFF2-40B4-BE49-F238E27FC236}">
                    <a16:creationId xmlns:a16="http://schemas.microsoft.com/office/drawing/2014/main" id="{1C521784-74B5-D449-9996-7553E73BA86C}"/>
                  </a:ext>
                </a:extLst>
              </p:cNvPr>
              <p:cNvGraphicFramePr>
                <a:graphicFrameLocks noGrp="1"/>
              </p:cNvGraphicFramePr>
              <p:nvPr>
                <p:extLst>
                  <p:ext uri="{D42A27DB-BD31-4B8C-83A1-F6EECF244321}">
                    <p14:modId xmlns:p14="http://schemas.microsoft.com/office/powerpoint/2010/main" val="1939523070"/>
                  </p:ext>
                </p:extLst>
              </p:nvPr>
            </p:nvGraphicFramePr>
            <p:xfrm>
              <a:off x="4079558" y="2534004"/>
              <a:ext cx="4032885" cy="1341755"/>
            </p:xfrm>
            <a:graphic>
              <a:graphicData uri="http://schemas.openxmlformats.org/drawingml/2006/table">
                <a:tbl>
                  <a:tblPr firstRow="1" firstCol="1" bandRow="1">
                    <a:tableStyleId>{A91F0D33-8C57-4600-99A7-42BC86742BE1}</a:tableStyleId>
                  </a:tblPr>
                  <a:tblGrid>
                    <a:gridCol w="1986915">
                      <a:extLst>
                        <a:ext uri="{9D8B030D-6E8A-4147-A177-3AD203B41FA5}">
                          <a16:colId xmlns:a16="http://schemas.microsoft.com/office/drawing/2014/main" val="371326755"/>
                        </a:ext>
                      </a:extLst>
                    </a:gridCol>
                    <a:gridCol w="2045970">
                      <a:extLst>
                        <a:ext uri="{9D8B030D-6E8A-4147-A177-3AD203B41FA5}">
                          <a16:colId xmlns:a16="http://schemas.microsoft.com/office/drawing/2014/main" val="3778872954"/>
                        </a:ext>
                      </a:extLst>
                    </a:gridCol>
                  </a:tblGrid>
                  <a:tr h="3194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Pounds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Tons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663677541"/>
                      </a:ext>
                    </a:extLst>
                  </a:tr>
                  <a:tr h="49339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7" t="-76543" r="-103681" b="-10987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321" t="-76543" r="-595" b="-109877"/>
                          </a:stretch>
                        </a:blipFill>
                      </a:tcPr>
                    </a:tc>
                    <a:extLst>
                      <a:ext uri="{0D108BD9-81ED-4DB2-BD59-A6C34878D82A}">
                        <a16:rowId xmlns:a16="http://schemas.microsoft.com/office/drawing/2014/main" val="711593153"/>
                      </a:ext>
                    </a:extLst>
                  </a:tr>
                  <a:tr h="528955">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778915"/>
                      </a:ext>
                    </a:extLst>
                  </a:tr>
                </a:tbl>
              </a:graphicData>
            </a:graphic>
          </p:graphicFrame>
        </mc:Fallback>
      </mc:AlternateContent>
      <p:sp>
        <p:nvSpPr>
          <p:cNvPr id="10" name="Rectangle 9">
            <a:extLst>
              <a:ext uri="{FF2B5EF4-FFF2-40B4-BE49-F238E27FC236}">
                <a16:creationId xmlns:a16="http://schemas.microsoft.com/office/drawing/2014/main" id="{AD3B778C-F12C-B049-8BA2-A2B37B338ACD}"/>
              </a:ext>
            </a:extLst>
          </p:cNvPr>
          <p:cNvSpPr/>
          <p:nvPr/>
        </p:nvSpPr>
        <p:spPr>
          <a:xfrm>
            <a:off x="1366996" y="4385003"/>
            <a:ext cx="9249829" cy="1323439"/>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Notice that each conversion rate is a unit rate.</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Unit rates can be used as factors to convert from one unit to another. </a:t>
            </a:r>
          </a:p>
        </p:txBody>
      </p:sp>
    </p:spTree>
    <p:extLst>
      <p:ext uri="{BB962C8B-B14F-4D97-AF65-F5344CB8AC3E}">
        <p14:creationId xmlns:p14="http://schemas.microsoft.com/office/powerpoint/2010/main" val="928999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522514" y="469911"/>
                <a:ext cx="9996896" cy="5206618"/>
              </a:xfrm>
              <a:prstGeom prst="rect">
                <a:avLst/>
              </a:prstGeom>
            </p:spPr>
            <p:txBody>
              <a:bodyPr wrap="square">
                <a:spAutoFit/>
              </a:bodyPr>
              <a:lstStyle/>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For example, the factor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4 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quarts</m:t>
                        </m:r>
                      </m:num>
                      <m:den>
                        <m:r>
                          <a:rPr lang="es-ES" sz="2000" dirty="0">
                            <a:latin typeface="Cambria Math" panose="02040503050406030204" pitchFamily="18" charset="0"/>
                            <a:ea typeface="Verdana" panose="020B0604030504040204" pitchFamily="34" charset="0"/>
                            <a:cs typeface="Verdana" panose="020B0604030504040204" pitchFamily="34" charset="0"/>
                          </a:rPr>
                          <m:t>1 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gallon</m:t>
                        </m:r>
                      </m:den>
                    </m:f>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because the numerator and denominator are equivalent values.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Multiplying by factors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will result in equivalent values.</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000" dirty="0" err="1">
                    <a:latin typeface="Verdana" panose="020B0604030504040204" pitchFamily="34" charset="0"/>
                    <a:ea typeface="Verdana" panose="020B0604030504040204" pitchFamily="34" charset="0"/>
                    <a:cs typeface="Verdana" panose="020B0604030504040204" pitchFamily="34" charset="0"/>
                  </a:rPr>
                  <a:t>Kaluba</a:t>
                </a:r>
                <a:r>
                  <a:rPr lang="en-US" sz="2000" dirty="0">
                    <a:latin typeface="Verdana" panose="020B0604030504040204" pitchFamily="34" charset="0"/>
                    <a:ea typeface="Verdana" panose="020B0604030504040204" pitchFamily="34" charset="0"/>
                    <a:cs typeface="Verdana" panose="020B0604030504040204" pitchFamily="34" charset="0"/>
                  </a:rPr>
                  <a:t> determined how many quarts are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gallons of milk using this strategy. His work is shown.</a:t>
                </a: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lgn="ct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2 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m:t>
                          </m:r>
                          <m:r>
                            <a:rPr lang="es-ES" sz="2000" dirty="0">
                              <a:latin typeface="Cambria Math" panose="02040503050406030204" pitchFamily="18" charset="0"/>
                              <a:ea typeface="Verdana" panose="020B0604030504040204" pitchFamily="34" charset="0"/>
                              <a:cs typeface="Verdana" panose="020B0604030504040204" pitchFamily="34" charset="0"/>
                            </a:rPr>
                            <m:t>.</m:t>
                          </m:r>
                        </m:num>
                        <m:den>
                          <m:r>
                            <a:rPr lang="es-ES" sz="2000" dirty="0">
                              <a:latin typeface="Cambria Math" panose="02040503050406030204" pitchFamily="18" charset="0"/>
                              <a:ea typeface="Verdana" panose="020B0604030504040204" pitchFamily="34" charset="0"/>
                              <a:cs typeface="Verdana" panose="020B0604030504040204" pitchFamily="34" charset="0"/>
                            </a:rPr>
                            <m:t>1</m:t>
                          </m:r>
                        </m:den>
                      </m:f>
                      <m:r>
                        <a:rPr lang="en-US" sz="2000" i="1" dirty="0">
                          <a:latin typeface="Cambria Math" panose="02040503050406030204" pitchFamily="18" charset="0"/>
                          <a:ea typeface="Verdana" panose="020B0604030504040204" pitchFamily="34" charset="0"/>
                          <a:cs typeface="Verdana" panose="020B0604030504040204" pitchFamily="34" charset="0"/>
                        </a:rPr>
                        <m:t> × </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4 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qt</m:t>
                          </m:r>
                        </m:num>
                        <m:den>
                          <m:r>
                            <a:rPr lang="es-ES" sz="2000" dirty="0">
                              <a:latin typeface="Cambria Math" panose="02040503050406030204" pitchFamily="18" charset="0"/>
                              <a:ea typeface="Verdana" panose="020B0604030504040204" pitchFamily="34" charset="0"/>
                              <a:cs typeface="Verdana" panose="020B0604030504040204" pitchFamily="34" charset="0"/>
                            </a:rPr>
                            <m:t>1 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m:t>
                          </m:r>
                          <m:r>
                            <a:rPr lang="es-ES" sz="2000" dirty="0">
                              <a:latin typeface="Cambria Math" panose="02040503050406030204" pitchFamily="18" charset="0"/>
                              <a:ea typeface="Verdana" panose="020B0604030504040204" pitchFamily="34" charset="0"/>
                              <a:cs typeface="Verdana" panose="020B0604030504040204" pitchFamily="34" charset="0"/>
                            </a:rPr>
                            <m:t>.</m:t>
                          </m:r>
                        </m:den>
                      </m:f>
                      <m:r>
                        <a:rPr lang="en-US" sz="2000" i="1" dirty="0">
                          <a:latin typeface="Cambria Math" panose="02040503050406030204" pitchFamily="18" charset="0"/>
                          <a:ea typeface="Verdana" panose="020B0604030504040204" pitchFamily="34" charset="0"/>
                          <a:cs typeface="Verdana" panose="020B0604030504040204" pitchFamily="34" charset="0"/>
                        </a:rPr>
                        <m:t> = 8 </m:t>
                      </m:r>
                      <m:r>
                        <m:rPr>
                          <m:sty m:val="p"/>
                        </m:rPr>
                        <a:rPr lang="en-US" sz="2000" dirty="0">
                          <a:latin typeface="Cambria Math" panose="02040503050406030204" pitchFamily="18" charset="0"/>
                          <a:ea typeface="Verdana" panose="020B0604030504040204" pitchFamily="34" charset="0"/>
                          <a:cs typeface="Verdana" panose="020B0604030504040204" pitchFamily="34" charset="0"/>
                        </a:rPr>
                        <m:t>qt</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lgn="ctr"/>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r>
                  <a:rPr lang="en-US" sz="2000" dirty="0" err="1">
                    <a:latin typeface="Verdana" panose="020B0604030504040204" pitchFamily="34" charset="0"/>
                    <a:ea typeface="Verdana" panose="020B0604030504040204" pitchFamily="34" charset="0"/>
                    <a:cs typeface="Verdana" panose="020B0604030504040204" pitchFamily="34" charset="0"/>
                  </a:rPr>
                  <a:t>Kaluba</a:t>
                </a:r>
                <a:r>
                  <a:rPr lang="en-US" sz="2000" dirty="0">
                    <a:latin typeface="Verdana" panose="020B0604030504040204" pitchFamily="34" charset="0"/>
                    <a:ea typeface="Verdana" panose="020B0604030504040204" pitchFamily="34" charset="0"/>
                    <a:cs typeface="Verdana" panose="020B0604030504040204" pitchFamily="34" charset="0"/>
                  </a:rPr>
                  <a:t> explained, “In my calculation, the unit ‘gallons’ is in the numerator and the denominator. This means I can eliminate this unit because it becomes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similar to when equivalent values are in the numerator and denominator. The result of the conversion is then the number of quarts.”</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522514" y="469911"/>
                <a:ext cx="9996896" cy="5206618"/>
              </a:xfrm>
              <a:prstGeom prst="rect">
                <a:avLst/>
              </a:prstGeom>
              <a:blipFill>
                <a:blip r:embed="rId4"/>
                <a:stretch>
                  <a:fillRect l="-671" r="-427" b="-1171"/>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7314749" y="6388089"/>
            <a:ext cx="398462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309</a:t>
            </a:r>
            <a:endParaRPr i="1" dirty="0">
              <a:latin typeface="Calibri"/>
              <a:ea typeface="Calibri"/>
              <a:cs typeface="Calibri"/>
              <a:sym typeface="Calibri"/>
            </a:endParaRPr>
          </a:p>
        </p:txBody>
      </p:sp>
    </p:spTree>
    <p:extLst>
      <p:ext uri="{BB962C8B-B14F-4D97-AF65-F5344CB8AC3E}">
        <p14:creationId xmlns:p14="http://schemas.microsoft.com/office/powerpoint/2010/main" val="3000237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13392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ECD6B6F-929B-8F47-BFEE-44ED1D0E863F}"/>
                  </a:ext>
                </a:extLst>
              </p:cNvPr>
              <p:cNvSpPr/>
              <p:nvPr/>
            </p:nvSpPr>
            <p:spPr>
              <a:xfrm>
                <a:off x="718457" y="469910"/>
                <a:ext cx="9800953" cy="2289922"/>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Complete the calculation to find how many fluid ounces (</a:t>
                </a:r>
                <a:r>
                  <a:rPr lang="en-US" sz="2000" dirty="0" err="1">
                    <a:latin typeface="Verdana" panose="020B0604030504040204" pitchFamily="34" charset="0"/>
                    <a:ea typeface="Verdana" panose="020B0604030504040204" pitchFamily="34" charset="0"/>
                    <a:cs typeface="Verdana" panose="020B0604030504040204" pitchFamily="34" charset="0"/>
                  </a:rPr>
                  <a:t>fl</a:t>
                </a:r>
                <a:r>
                  <a:rPr lang="en-US" sz="2000" dirty="0">
                    <a:latin typeface="Verdana" panose="020B0604030504040204" pitchFamily="34" charset="0"/>
                    <a:ea typeface="Verdana" panose="020B0604030504040204" pitchFamily="34" charset="0"/>
                    <a:cs typeface="Verdana" panose="020B0604030504040204" pitchFamily="34" charset="0"/>
                  </a:rPr>
                  <a:t> oz) are in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pints (</a:t>
                </a:r>
                <a:r>
                  <a:rPr lang="en-US" sz="2000" dirty="0" err="1">
                    <a:latin typeface="Verdana" panose="020B0604030504040204" pitchFamily="34" charset="0"/>
                    <a:ea typeface="Verdana" panose="020B0604030504040204" pitchFamily="34" charset="0"/>
                    <a:cs typeface="Verdana" panose="020B0604030504040204" pitchFamily="34" charset="0"/>
                  </a:rPr>
                  <a:t>pt</a:t>
                </a:r>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r>
                  <a:rPr lang="en-US" sz="2000" dirty="0">
                    <a:latin typeface="Verdana" panose="020B0604030504040204" pitchFamily="34" charset="0"/>
                    <a:ea typeface="Verdana" panose="020B0604030504040204" pitchFamily="34" charset="0"/>
                    <a:cs typeface="Verdana" panose="020B0604030504040204" pitchFamily="34" charset="0"/>
                  </a:rPr>
                  <a:t> </a:t>
                </a:r>
              </a:p>
              <a:p>
                <a:pPr marL="14288" indent="-14288" algn="ct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2 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pt</m:t>
                          </m:r>
                        </m:num>
                        <m:den>
                          <m:r>
                            <a:rPr lang="es-ES" sz="2000" dirty="0">
                              <a:latin typeface="Cambria Math" panose="02040503050406030204" pitchFamily="18" charset="0"/>
                              <a:ea typeface="Verdana" panose="020B0604030504040204" pitchFamily="34" charset="0"/>
                              <a:cs typeface="Verdana" panose="020B0604030504040204" pitchFamily="34" charset="0"/>
                            </a:rPr>
                            <m:t>1</m:t>
                          </m:r>
                        </m:den>
                      </m:f>
                      <m:r>
                        <a:rPr lang="en-US" sz="2000" i="1" dirty="0">
                          <a:latin typeface="Cambria Math" panose="02040503050406030204" pitchFamily="18" charset="0"/>
                          <a:ea typeface="Verdana" panose="020B0604030504040204" pitchFamily="34" charset="0"/>
                          <a:cs typeface="Verdana" panose="020B0604030504040204" pitchFamily="34" charset="0"/>
                        </a:rPr>
                        <m:t> × </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den>
                          <m:r>
                            <a:rPr lang="es-ES" sz="2000" dirty="0">
                              <a:latin typeface="Cambria Math" panose="02040503050406030204" pitchFamily="18" charset="0"/>
                              <a:ea typeface="Verdana" panose="020B0604030504040204" pitchFamily="34" charset="0"/>
                              <a:cs typeface="Verdana" panose="020B0604030504040204" pitchFamily="34" charset="0"/>
                            </a:rPr>
                            <m:t>1 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gal</m:t>
                          </m:r>
                          <m:r>
                            <a:rPr lang="es-ES" sz="2000" dirty="0">
                              <a:latin typeface="Cambria Math" panose="02040503050406030204" pitchFamily="18" charset="0"/>
                              <a:ea typeface="Verdana" panose="020B0604030504040204" pitchFamily="34" charset="0"/>
                              <a:cs typeface="Verdana" panose="020B0604030504040204" pitchFamily="34" charset="0"/>
                            </a:rPr>
                            <m:t>.</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fl</m:t>
                          </m:r>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oz</m:t>
                          </m:r>
                        </m:num>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fl</m:t>
                      </m:r>
                      <m:r>
                        <a:rPr lang="es-ES" sz="2000" dirty="0">
                          <a:latin typeface="Cambria Math" panose="02040503050406030204" pitchFamily="18" charset="0"/>
                          <a:ea typeface="Verdana" panose="020B0604030504040204" pitchFamily="34" charset="0"/>
                          <a:cs typeface="Verdana" panose="020B0604030504040204" pitchFamily="34" charset="0"/>
                        </a:rPr>
                        <m:t> </m:t>
                      </m:r>
                      <m:r>
                        <m:rPr>
                          <m:sty m:val="p"/>
                        </m:rPr>
                        <a:rPr lang="es-ES" sz="2000" dirty="0">
                          <a:latin typeface="Cambria Math" panose="02040503050406030204" pitchFamily="18" charset="0"/>
                          <a:ea typeface="Verdana" panose="020B0604030504040204" pitchFamily="34" charset="0"/>
                          <a:cs typeface="Verdana" panose="020B0604030504040204" pitchFamily="34" charset="0"/>
                        </a:rPr>
                        <m:t>oz</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14288" indent="-14288" algn="ct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718457" y="469910"/>
                <a:ext cx="9800953" cy="2289922"/>
              </a:xfrm>
              <a:prstGeom prst="rect">
                <a:avLst/>
              </a:prstGeom>
              <a:blipFill>
                <a:blip r:embed="rId4"/>
                <a:stretch>
                  <a:fillRect l="-684" t="-1862"/>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7314750" y="6388090"/>
            <a:ext cx="41098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309</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id="{EC76D8BA-AB06-1042-857F-BB2CA4ECAAD5}"/>
              </a:ext>
            </a:extLst>
          </p:cNvPr>
          <p:cNvGrpSpPr/>
          <p:nvPr/>
        </p:nvGrpSpPr>
        <p:grpSpPr>
          <a:xfrm>
            <a:off x="2765742" y="3136189"/>
            <a:ext cx="6629400" cy="1099185"/>
            <a:chOff x="-204281" y="-48686"/>
            <a:chExt cx="6629400" cy="1099729"/>
          </a:xfrm>
        </p:grpSpPr>
        <p:sp>
          <p:nvSpPr>
            <p:cNvPr id="11" name="Rounded Rectangle 10">
              <a:extLst>
                <a:ext uri="{FF2B5EF4-FFF2-40B4-BE49-F238E27FC236}">
                  <a16:creationId xmlns:a16="http://schemas.microsoft.com/office/drawing/2014/main" id="{26DA893A-54FC-1D4B-9F45-61EA451233C8}"/>
                </a:ext>
              </a:extLst>
            </p:cNvPr>
            <p:cNvSpPr/>
            <p:nvPr/>
          </p:nvSpPr>
          <p:spPr>
            <a:xfrm>
              <a:off x="-204281" y="-48686"/>
              <a:ext cx="6629400" cy="109972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units of measure used in the United States are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customary units</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x-none" sz="1200" dirty="0">
                <a:latin typeface="Times New Roman" panose="02020603050405020304" pitchFamily="18" charset="0"/>
                <a:ea typeface="Times New Roman" panose="02020603050405020304" pitchFamily="18" charset="0"/>
              </a:endParaRPr>
            </a:p>
          </p:txBody>
        </p:sp>
        <p:pic>
          <p:nvPicPr>
            <p:cNvPr id="12" name="Shape 7" descr="Icon&#10;&#10;Description automatically generated">
              <a:extLst>
                <a:ext uri="{FF2B5EF4-FFF2-40B4-BE49-F238E27FC236}">
                  <a16:creationId xmlns:a16="http://schemas.microsoft.com/office/drawing/2014/main" id="{68338BE3-F08C-F04A-B515-B203E225FA38}"/>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9728" y="185248"/>
              <a:ext cx="539750" cy="539115"/>
            </a:xfrm>
            <a:prstGeom prst="rect">
              <a:avLst/>
            </a:prstGeom>
            <a:noFill/>
            <a:ln>
              <a:noFill/>
            </a:ln>
            <a:effectLst>
              <a:outerShdw blurRad="50800" dist="38100" dir="2700000" algn="tl" rotWithShape="0">
                <a:prstClr val="black">
                  <a:alpha val="40000"/>
                </a:prstClr>
              </a:outerShdw>
            </a:effectLst>
          </p:spPr>
        </p:pic>
      </p:grpSp>
      <p:grpSp>
        <p:nvGrpSpPr>
          <p:cNvPr id="7" name="Group 6">
            <a:extLst>
              <a:ext uri="{FF2B5EF4-FFF2-40B4-BE49-F238E27FC236}">
                <a16:creationId xmlns:a16="http://schemas.microsoft.com/office/drawing/2014/main" id="{5A909C49-C369-084E-8D70-65D98612CC17}"/>
              </a:ext>
            </a:extLst>
          </p:cNvPr>
          <p:cNvGrpSpPr/>
          <p:nvPr/>
        </p:nvGrpSpPr>
        <p:grpSpPr>
          <a:xfrm>
            <a:off x="2796857" y="4725594"/>
            <a:ext cx="6629400" cy="1355725"/>
            <a:chOff x="-204281" y="-48686"/>
            <a:chExt cx="6629400" cy="1356675"/>
          </a:xfrm>
        </p:grpSpPr>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0010CF63-27CB-874F-B941-DC12F2ECC482}"/>
                    </a:ext>
                  </a:extLst>
                </p:cNvPr>
                <p:cNvSpPr/>
                <p:nvPr/>
              </p:nvSpPr>
              <p:spPr>
                <a:xfrm>
                  <a:off x="-204281" y="-48686"/>
                  <a:ext cx="6629400" cy="135667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The units of measure used in most of the world are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metric units</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Like the decimal system, the metric system uses the base </a:t>
                  </a:r>
                  <a14:m>
                    <m:oMath xmlns:m="http://schemas.openxmlformats.org/officeDocument/2006/math">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10</m:t>
                      </m:r>
                    </m:oMath>
                  </a14:m>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x-none" sz="1200" dirty="0">
                    <a:latin typeface="Times New Roman" panose="02020603050405020304" pitchFamily="18" charset="0"/>
                    <a:ea typeface="Times New Roman" panose="02020603050405020304" pitchFamily="18" charset="0"/>
                  </a:endParaRPr>
                </a:p>
              </p:txBody>
            </p:sp>
          </mc:Choice>
          <mc:Fallback xmlns="">
            <p:sp>
              <p:nvSpPr>
                <p:cNvPr id="9" name="Rounded Rectangle 8">
                  <a:extLst>
                    <a:ext uri="{FF2B5EF4-FFF2-40B4-BE49-F238E27FC236}">
                      <a16:creationId xmlns:a16="http://schemas.microsoft.com/office/drawing/2014/main" id="{0010CF63-27CB-874F-B941-DC12F2ECC482}"/>
                    </a:ext>
                  </a:extLst>
                </p:cNvPr>
                <p:cNvSpPr>
                  <a:spLocks noRot="1" noChangeAspect="1" noMove="1" noResize="1" noEditPoints="1" noAdjustHandles="1" noChangeArrowheads="1" noChangeShapeType="1" noTextEdit="1"/>
                </p:cNvSpPr>
                <p:nvPr/>
              </p:nvSpPr>
              <p:spPr>
                <a:xfrm>
                  <a:off x="-204281" y="-48686"/>
                  <a:ext cx="6629400" cy="1356675"/>
                </a:xfrm>
                <a:prstGeom prst="roundRect">
                  <a:avLst>
                    <a:gd name="adj" fmla="val 16667"/>
                  </a:avLst>
                </a:prstGeom>
                <a:blipFill>
                  <a:blip r:embed="rId6"/>
                  <a:stretch>
                    <a:fillRect/>
                  </a:stretch>
                </a:blipFill>
                <a:ln>
                  <a:noFill/>
                </a:ln>
                <a:effectLst>
                  <a:outerShdw blurRad="50800" dist="38100" dir="2700000" algn="tl" rotWithShape="0">
                    <a:prstClr val="black">
                      <a:alpha val="40000"/>
                    </a:prstClr>
                  </a:outerShdw>
                </a:effectLst>
              </p:spPr>
              <p:txBody>
                <a:bodyPr/>
                <a:lstStyle/>
                <a:p>
                  <a:r>
                    <a:rPr lang="en-CO">
                      <a:noFill/>
                    </a:rPr>
                    <a:t> </a:t>
                  </a:r>
                </a:p>
              </p:txBody>
            </p:sp>
          </mc:Fallback>
        </mc:AlternateContent>
        <p:pic>
          <p:nvPicPr>
            <p:cNvPr id="10" name="Shape 7" descr="Icon&#10;&#10;Description automatically generated">
              <a:extLst>
                <a:ext uri="{FF2B5EF4-FFF2-40B4-BE49-F238E27FC236}">
                  <a16:creationId xmlns:a16="http://schemas.microsoft.com/office/drawing/2014/main" id="{50C3F2ED-6716-7740-8DA1-3EEA278E07E7}"/>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9728" y="185248"/>
              <a:ext cx="539750" cy="539115"/>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44451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325"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6625"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id="{CECD6B6F-929B-8F47-BFEE-44ED1D0E863F}"/>
              </a:ext>
            </a:extLst>
          </p:cNvPr>
          <p:cNvSpPr/>
          <p:nvPr/>
        </p:nvSpPr>
        <p:spPr>
          <a:xfrm>
            <a:off x="674914" y="469910"/>
            <a:ext cx="9844496" cy="707886"/>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tables below show additional unit conversion rates for other units of measure.</a:t>
            </a:r>
          </a:p>
        </p:txBody>
      </p:sp>
      <p:sp>
        <p:nvSpPr>
          <p:cNvPr id="17" name="Google Shape;282;g104476d1465_1_17">
            <a:extLst>
              <a:ext uri="{FF2B5EF4-FFF2-40B4-BE49-F238E27FC236}">
                <a16:creationId xmlns:a16="http://schemas.microsoft.com/office/drawing/2014/main" id="{7FE8CD52-CF69-634B-9F05-4A24C91B9247}"/>
              </a:ext>
            </a:extLst>
          </p:cNvPr>
          <p:cNvSpPr txBox="1"/>
          <p:nvPr/>
        </p:nvSpPr>
        <p:spPr>
          <a:xfrm>
            <a:off x="8718289" y="643835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9961F32-580A-524B-93EF-45870AC5782C}"/>
                  </a:ext>
                </a:extLst>
              </p:cNvPr>
              <p:cNvGraphicFramePr>
                <a:graphicFrameLocks noGrp="1"/>
              </p:cNvGraphicFramePr>
              <p:nvPr>
                <p:extLst>
                  <p:ext uri="{D42A27DB-BD31-4B8C-83A1-F6EECF244321}">
                    <p14:modId xmlns:p14="http://schemas.microsoft.com/office/powerpoint/2010/main" val="429638146"/>
                  </p:ext>
                </p:extLst>
              </p:nvPr>
            </p:nvGraphicFramePr>
            <p:xfrm>
              <a:off x="2667000" y="1422539"/>
              <a:ext cx="6858000" cy="2941320"/>
            </p:xfrm>
            <a:graphic>
              <a:graphicData uri="http://schemas.openxmlformats.org/drawingml/2006/table">
                <a:tbl>
                  <a:tblPr firstRow="1" firstCol="1" bandRow="1">
                    <a:tableStyleId>{A91F0D33-8C57-4600-99A7-42BC86742BE1}</a:tableStyleId>
                  </a:tblPr>
                  <a:tblGrid>
                    <a:gridCol w="2625725">
                      <a:extLst>
                        <a:ext uri="{9D8B030D-6E8A-4147-A177-3AD203B41FA5}">
                          <a16:colId xmlns:a16="http://schemas.microsoft.com/office/drawing/2014/main" val="2193619970"/>
                        </a:ext>
                      </a:extLst>
                    </a:gridCol>
                    <a:gridCol w="4232275">
                      <a:extLst>
                        <a:ext uri="{9D8B030D-6E8A-4147-A177-3AD203B41FA5}">
                          <a16:colId xmlns:a16="http://schemas.microsoft.com/office/drawing/2014/main" val="1601222869"/>
                        </a:ext>
                      </a:extLst>
                    </a:gridCol>
                  </a:tblGrid>
                  <a:tr h="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Conversions in the </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Metric System</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36587084"/>
                      </a:ext>
                    </a:extLst>
                  </a:tr>
                  <a:tr h="11430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Length</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1 </m:t>
                                </m:r>
                                <m:r>
                                  <m:rPr>
                                    <m:sty m:val="p"/>
                                  </m:rPr>
                                  <a:rPr lang="en-US" sz="1400">
                                    <a:effectLst/>
                                    <a:latin typeface="Cambria Math"/>
                                  </a:rPr>
                                  <m:t>meter</m:t>
                                </m:r>
                                <m:r>
                                  <a:rPr lang="en-US" sz="1400">
                                    <a:effectLst/>
                                    <a:latin typeface="Cambria Math"/>
                                  </a:rPr>
                                  <m:t> (</m:t>
                                </m:r>
                                <m:r>
                                  <m:rPr>
                                    <m:sty m:val="p"/>
                                  </m:rPr>
                                  <a:rPr lang="en-US" sz="1400">
                                    <a:effectLst/>
                                    <a:latin typeface="Cambria Math"/>
                                  </a:rPr>
                                  <m:t>m</m:t>
                                </m:r>
                                <m:r>
                                  <a:rPr lang="en-US" sz="1400">
                                    <a:effectLst/>
                                    <a:latin typeface="Cambria Math"/>
                                  </a:rPr>
                                  <m:t>) = 100 </m:t>
                                </m:r>
                                <m:r>
                                  <m:rPr>
                                    <m:sty m:val="p"/>
                                  </m:rPr>
                                  <a:rPr lang="en-US" sz="1400">
                                    <a:effectLst/>
                                    <a:latin typeface="Cambria Math"/>
                                  </a:rPr>
                                  <m:t>centimeters</m:t>
                                </m:r>
                                <m:r>
                                  <a:rPr lang="en-US" sz="1400">
                                    <a:effectLst/>
                                    <a:latin typeface="Cambria Math"/>
                                  </a:rPr>
                                  <m:t> (</m:t>
                                </m:r>
                                <m:r>
                                  <m:rPr>
                                    <m:sty m:val="p"/>
                                  </m:rPr>
                                  <a:rPr lang="en-US" sz="1400">
                                    <a:effectLst/>
                                    <a:latin typeface="Cambria Math"/>
                                  </a:rPr>
                                  <m:t>cm</m:t>
                                </m:r>
                                <m:r>
                                  <a:rPr lang="en-US" sz="1400">
                                    <a:effectLst/>
                                    <a:latin typeface="Cambria Math"/>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1 </m:t>
                                </m:r>
                                <m:r>
                                  <m:rPr>
                                    <m:sty m:val="p"/>
                                  </m:rPr>
                                  <a:rPr lang="en-US" sz="1400">
                                    <a:effectLst/>
                                    <a:latin typeface="Cambria Math"/>
                                  </a:rPr>
                                  <m:t>meter</m:t>
                                </m:r>
                                <m:r>
                                  <a:rPr lang="en-US" sz="1400">
                                    <a:effectLst/>
                                    <a:latin typeface="Cambria Math"/>
                                  </a:rPr>
                                  <m:t> (</m:t>
                                </m:r>
                                <m:r>
                                  <m:rPr>
                                    <m:sty m:val="p"/>
                                  </m:rPr>
                                  <a:rPr lang="en-US" sz="1400">
                                    <a:effectLst/>
                                    <a:latin typeface="Cambria Math"/>
                                  </a:rPr>
                                  <m:t>m</m:t>
                                </m:r>
                                <m:r>
                                  <a:rPr lang="en-US" sz="1400">
                                    <a:effectLst/>
                                    <a:latin typeface="Cambria Math"/>
                                  </a:rPr>
                                  <m:t>) = 1000 </m:t>
                                </m:r>
                                <m:r>
                                  <m:rPr>
                                    <m:sty m:val="p"/>
                                  </m:rPr>
                                  <a:rPr lang="en-US" sz="1400">
                                    <a:effectLst/>
                                    <a:latin typeface="Cambria Math"/>
                                  </a:rPr>
                                  <m:t>millimeters</m:t>
                                </m:r>
                                <m:r>
                                  <a:rPr lang="en-US" sz="1400">
                                    <a:effectLst/>
                                    <a:latin typeface="Cambria Math"/>
                                  </a:rPr>
                                  <m:t> (</m:t>
                                </m:r>
                                <m:r>
                                  <m:rPr>
                                    <m:sty m:val="p"/>
                                  </m:rPr>
                                  <a:rPr lang="en-US" sz="1400">
                                    <a:effectLst/>
                                    <a:latin typeface="Cambria Math"/>
                                  </a:rPr>
                                  <m:t>mm</m:t>
                                </m:r>
                                <m:r>
                                  <a:rPr lang="en-US" sz="1400">
                                    <a:effectLst/>
                                    <a:latin typeface="Cambria Math"/>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1 </m:t>
                                </m:r>
                                <m:r>
                                  <m:rPr>
                                    <m:sty m:val="p"/>
                                  </m:rPr>
                                  <a:rPr lang="en-US" sz="1400">
                                    <a:effectLst/>
                                    <a:latin typeface="Cambria Math"/>
                                  </a:rPr>
                                  <m:t>kilometer</m:t>
                                </m:r>
                                <m:r>
                                  <a:rPr lang="en-US" sz="1400">
                                    <a:effectLst/>
                                    <a:latin typeface="Cambria Math"/>
                                  </a:rPr>
                                  <m:t> (</m:t>
                                </m:r>
                                <m:r>
                                  <m:rPr>
                                    <m:sty m:val="p"/>
                                  </m:rPr>
                                  <a:rPr lang="en-US" sz="1400">
                                    <a:effectLst/>
                                    <a:latin typeface="Cambria Math"/>
                                  </a:rPr>
                                  <m:t>km</m:t>
                                </m:r>
                                <m:r>
                                  <a:rPr lang="en-US" sz="1400">
                                    <a:effectLst/>
                                    <a:latin typeface="Cambria Math"/>
                                  </a:rPr>
                                  <m:t>) = 1000 </m:t>
                                </m:r>
                                <m:r>
                                  <m:rPr>
                                    <m:sty m:val="p"/>
                                  </m:rPr>
                                  <a:rPr lang="en-US" sz="1400">
                                    <a:effectLst/>
                                    <a:latin typeface="Cambria Math"/>
                                  </a:rPr>
                                  <m:t>meters</m:t>
                                </m:r>
                                <m:r>
                                  <a:rPr lang="en-US" sz="1400">
                                    <a:effectLst/>
                                    <a:latin typeface="Cambria Math"/>
                                  </a:rPr>
                                  <m:t> (</m:t>
                                </m:r>
                                <m:r>
                                  <m:rPr>
                                    <m:sty m:val="p"/>
                                  </m:rPr>
                                  <a:rPr lang="en-US" sz="1400">
                                    <a:effectLst/>
                                    <a:latin typeface="Cambria Math"/>
                                  </a:rPr>
                                  <m:t>m</m:t>
                                </m:r>
                                <m:r>
                                  <a:rPr lang="en-US" sz="1400">
                                    <a:effectLst/>
                                    <a:latin typeface="Cambria Math"/>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296947"/>
                      </a:ext>
                    </a:extLst>
                  </a:tr>
                  <a:tr h="4572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Capacity</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1 </m:t>
                                </m:r>
                                <m:r>
                                  <m:rPr>
                                    <m:sty m:val="p"/>
                                  </m:rPr>
                                  <a:rPr lang="en-US" sz="1400">
                                    <a:effectLst/>
                                    <a:latin typeface="Cambria Math"/>
                                  </a:rPr>
                                  <m:t>liter</m:t>
                                </m:r>
                                <m:r>
                                  <a:rPr lang="en-US" sz="1400">
                                    <a:effectLst/>
                                    <a:latin typeface="Cambria Math"/>
                                  </a:rPr>
                                  <m:t> (</m:t>
                                </m:r>
                                <m:r>
                                  <m:rPr>
                                    <m:sty m:val="p"/>
                                  </m:rPr>
                                  <a:rPr lang="en-US" sz="1400">
                                    <a:effectLst/>
                                    <a:latin typeface="Cambria Math"/>
                                  </a:rPr>
                                  <m:t>L</m:t>
                                </m:r>
                                <m:r>
                                  <a:rPr lang="en-US" sz="1400">
                                    <a:effectLst/>
                                    <a:latin typeface="Cambria Math"/>
                                  </a:rPr>
                                  <m:t>)= 1000 </m:t>
                                </m:r>
                                <m:r>
                                  <m:rPr>
                                    <m:sty m:val="p"/>
                                  </m:rPr>
                                  <a:rPr lang="en-US" sz="1400">
                                    <a:effectLst/>
                                    <a:latin typeface="Cambria Math"/>
                                  </a:rPr>
                                  <m:t>milliliters</m:t>
                                </m:r>
                                <m:r>
                                  <a:rPr lang="en-US" sz="1400">
                                    <a:effectLst/>
                                    <a:latin typeface="Cambria Math"/>
                                  </a:rPr>
                                  <m:t> (</m:t>
                                </m:r>
                                <m:r>
                                  <m:rPr>
                                    <m:sty m:val="p"/>
                                  </m:rPr>
                                  <a:rPr lang="en-US" sz="1400">
                                    <a:effectLst/>
                                    <a:latin typeface="Cambria Math"/>
                                  </a:rPr>
                                  <m:t>mL</m:t>
                                </m:r>
                                <m:r>
                                  <a:rPr lang="en-US" sz="1400">
                                    <a:effectLst/>
                                    <a:latin typeface="Cambria Math"/>
                                  </a:rPr>
                                  <m:t>)</m:t>
                                </m:r>
                              </m:oMath>
                            </m:oMathPara>
                          </a14:m>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521549"/>
                      </a:ext>
                    </a:extLst>
                  </a:tr>
                  <a:tr h="9144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or Mass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1 </m:t>
                                </m:r>
                                <m:r>
                                  <m:rPr>
                                    <m:sty m:val="p"/>
                                  </m:rPr>
                                  <a:rPr lang="en-US" sz="1400">
                                    <a:effectLst/>
                                    <a:latin typeface="Cambria Math"/>
                                  </a:rPr>
                                  <m:t>gram</m:t>
                                </m:r>
                                <m:r>
                                  <a:rPr lang="en-US" sz="1400">
                                    <a:effectLst/>
                                    <a:latin typeface="Cambria Math"/>
                                  </a:rPr>
                                  <m:t> (</m:t>
                                </m:r>
                                <m:r>
                                  <m:rPr>
                                    <m:sty m:val="p"/>
                                  </m:rPr>
                                  <a:rPr lang="en-US" sz="1400">
                                    <a:effectLst/>
                                    <a:latin typeface="Cambria Math"/>
                                  </a:rPr>
                                  <m:t>g</m:t>
                                </m:r>
                                <m:r>
                                  <a:rPr lang="en-US" sz="1400">
                                    <a:effectLst/>
                                    <a:latin typeface="Cambria Math"/>
                                  </a:rPr>
                                  <m:t>) = 1000 </m:t>
                                </m:r>
                                <m:r>
                                  <m:rPr>
                                    <m:sty m:val="p"/>
                                  </m:rPr>
                                  <a:rPr lang="en-US" sz="1400">
                                    <a:effectLst/>
                                    <a:latin typeface="Cambria Math"/>
                                  </a:rPr>
                                  <m:t>milligrams</m:t>
                                </m:r>
                                <m:r>
                                  <a:rPr lang="en-US" sz="1400">
                                    <a:effectLst/>
                                    <a:latin typeface="Cambria Math"/>
                                  </a:rPr>
                                  <m:t> (</m:t>
                                </m:r>
                                <m:r>
                                  <m:rPr>
                                    <m:sty m:val="p"/>
                                  </m:rPr>
                                  <a:rPr lang="en-US" sz="1400">
                                    <a:effectLst/>
                                    <a:latin typeface="Cambria Math"/>
                                  </a:rPr>
                                  <m:t>mg</m:t>
                                </m:r>
                                <m:r>
                                  <a:rPr lang="en-US" sz="1400">
                                    <a:effectLst/>
                                    <a:latin typeface="Cambria Math"/>
                                  </a:rPr>
                                  <m:t>)</m:t>
                                </m:r>
                              </m:oMath>
                            </m:oMathPara>
                          </a14:m>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a:rPr>
                                  <m:t>1 </m:t>
                                </m:r>
                                <m:r>
                                  <m:rPr>
                                    <m:sty m:val="p"/>
                                  </m:rPr>
                                  <a:rPr lang="en-US" sz="1400">
                                    <a:effectLst/>
                                    <a:latin typeface="Cambria Math"/>
                                  </a:rPr>
                                  <m:t>kilogram</m:t>
                                </m:r>
                                <m:r>
                                  <a:rPr lang="en-US" sz="1400">
                                    <a:effectLst/>
                                    <a:latin typeface="Cambria Math"/>
                                  </a:rPr>
                                  <m:t> (</m:t>
                                </m:r>
                                <m:r>
                                  <m:rPr>
                                    <m:sty m:val="p"/>
                                  </m:rPr>
                                  <a:rPr lang="en-US" sz="1400">
                                    <a:effectLst/>
                                    <a:latin typeface="Cambria Math"/>
                                  </a:rPr>
                                  <m:t>kg</m:t>
                                </m:r>
                                <m:r>
                                  <a:rPr lang="en-US" sz="1400">
                                    <a:effectLst/>
                                    <a:latin typeface="Cambria Math"/>
                                  </a:rPr>
                                  <m:t>) = 1000 </m:t>
                                </m:r>
                                <m:r>
                                  <m:rPr>
                                    <m:sty m:val="p"/>
                                  </m:rPr>
                                  <a:rPr lang="en-US" sz="1400">
                                    <a:effectLst/>
                                    <a:latin typeface="Cambria Math"/>
                                  </a:rPr>
                                  <m:t>grams</m:t>
                                </m:r>
                                <m:r>
                                  <a:rPr lang="en-US" sz="1400">
                                    <a:effectLst/>
                                    <a:latin typeface="Cambria Math"/>
                                  </a:rPr>
                                  <m:t> (</m:t>
                                </m:r>
                                <m:r>
                                  <m:rPr>
                                    <m:sty m:val="p"/>
                                  </m:rPr>
                                  <a:rPr lang="en-US" sz="1400">
                                    <a:effectLst/>
                                    <a:latin typeface="Cambria Math"/>
                                  </a:rPr>
                                  <m:t>g</m:t>
                                </m:r>
                                <m:r>
                                  <a:rPr lang="en-US" sz="1400">
                                    <a:effectLst/>
                                    <a:latin typeface="Cambria Math"/>
                                  </a:rPr>
                                  <m:t>)</m:t>
                                </m:r>
                              </m:oMath>
                            </m:oMathPara>
                          </a14:m>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81473"/>
                      </a:ext>
                    </a:extLst>
                  </a:tr>
                </a:tbl>
              </a:graphicData>
            </a:graphic>
          </p:graphicFrame>
        </mc:Choice>
        <mc:Fallback xmlns="">
          <p:graphicFrame>
            <p:nvGraphicFramePr>
              <p:cNvPr id="2" name="Table 1">
                <a:extLst>
                  <a:ext uri="{FF2B5EF4-FFF2-40B4-BE49-F238E27FC236}">
                    <a16:creationId xmlns:a16="http://schemas.microsoft.com/office/drawing/2014/main" id="{69961F32-580A-524B-93EF-45870AC5782C}"/>
                  </a:ext>
                </a:extLst>
              </p:cNvPr>
              <p:cNvGraphicFramePr>
                <a:graphicFrameLocks noGrp="1"/>
              </p:cNvGraphicFramePr>
              <p:nvPr>
                <p:extLst>
                  <p:ext uri="{D42A27DB-BD31-4B8C-83A1-F6EECF244321}">
                    <p14:modId xmlns:p14="http://schemas.microsoft.com/office/powerpoint/2010/main" val="429638146"/>
                  </p:ext>
                </p:extLst>
              </p:nvPr>
            </p:nvGraphicFramePr>
            <p:xfrm>
              <a:off x="2667000" y="1422539"/>
              <a:ext cx="6858000" cy="2941320"/>
            </p:xfrm>
            <a:graphic>
              <a:graphicData uri="http://schemas.openxmlformats.org/drawingml/2006/table">
                <a:tbl>
                  <a:tblPr firstRow="1" firstCol="1" bandRow="1">
                    <a:tableStyleId>{A91F0D33-8C57-4600-99A7-42BC86742BE1}</a:tableStyleId>
                  </a:tblPr>
                  <a:tblGrid>
                    <a:gridCol w="2625725">
                      <a:extLst>
                        <a:ext uri="{9D8B030D-6E8A-4147-A177-3AD203B41FA5}">
                          <a16:colId xmlns:a16="http://schemas.microsoft.com/office/drawing/2014/main" val="2193619970"/>
                        </a:ext>
                      </a:extLst>
                    </a:gridCol>
                    <a:gridCol w="4232275">
                      <a:extLst>
                        <a:ext uri="{9D8B030D-6E8A-4147-A177-3AD203B41FA5}">
                          <a16:colId xmlns:a16="http://schemas.microsoft.com/office/drawing/2014/main" val="1601222869"/>
                        </a:ext>
                      </a:extLst>
                    </a:gridCol>
                  </a:tblGrid>
                  <a:tr h="42672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Type of Measurement</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Unit Conversions in the </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Metric System</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736587084"/>
                      </a:ext>
                    </a:extLst>
                  </a:tr>
                  <a:tr h="11430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Length</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158" t="-42021" r="-288" b="-120745"/>
                          </a:stretch>
                        </a:blipFill>
                      </a:tcPr>
                    </a:tc>
                    <a:extLst>
                      <a:ext uri="{0D108BD9-81ED-4DB2-BD59-A6C34878D82A}">
                        <a16:rowId xmlns:a16="http://schemas.microsoft.com/office/drawing/2014/main" val="1222296947"/>
                      </a:ext>
                    </a:extLst>
                  </a:tr>
                  <a:tr h="4572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Capacity</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158" t="-356000" r="-288" b="-202667"/>
                          </a:stretch>
                        </a:blipFill>
                      </a:tcPr>
                    </a:tc>
                    <a:extLst>
                      <a:ext uri="{0D108BD9-81ED-4DB2-BD59-A6C34878D82A}">
                        <a16:rowId xmlns:a16="http://schemas.microsoft.com/office/drawing/2014/main" val="4037521549"/>
                      </a:ext>
                    </a:extLst>
                  </a:tr>
                  <a:tr h="914400">
                    <a:tc>
                      <a:txBody>
                        <a:bodyPr/>
                        <a:lstStyle/>
                        <a:p>
                          <a:pPr marL="0" marR="0" algn="ctr">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Weight or Mass</a:t>
                          </a:r>
                          <a:endParaRPr lang="x-none" sz="105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158" t="-228000" r="-288" b="-1333"/>
                          </a:stretch>
                        </a:blipFill>
                      </a:tcPr>
                    </a:tc>
                    <a:extLst>
                      <a:ext uri="{0D108BD9-81ED-4DB2-BD59-A6C34878D82A}">
                        <a16:rowId xmlns:a16="http://schemas.microsoft.com/office/drawing/2014/main" val="14348147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FECCD96-D8A0-8A42-B0C4-028F377863E9}"/>
                  </a:ext>
                </a:extLst>
              </p:cNvPr>
              <p:cNvGraphicFramePr>
                <a:graphicFrameLocks noGrp="1"/>
              </p:cNvGraphicFramePr>
              <p:nvPr>
                <p:extLst>
                  <p:ext uri="{D42A27DB-BD31-4B8C-83A1-F6EECF244321}">
                    <p14:modId xmlns:p14="http://schemas.microsoft.com/office/powerpoint/2010/main" val="3427010584"/>
                  </p:ext>
                </p:extLst>
              </p:nvPr>
            </p:nvGraphicFramePr>
            <p:xfrm>
              <a:off x="2667000" y="4572000"/>
              <a:ext cx="6858000" cy="1887794"/>
            </p:xfrm>
            <a:graphic>
              <a:graphicData uri="http://schemas.openxmlformats.org/drawingml/2006/table">
                <a:tbl>
                  <a:tblPr firstRow="1" firstCol="1" bandRow="1">
                    <a:tableStyleId>{A91F0D33-8C57-4600-99A7-42BC86742BE1}</a:tableStyleId>
                  </a:tblPr>
                  <a:tblGrid>
                    <a:gridCol w="6858000">
                      <a:extLst>
                        <a:ext uri="{9D8B030D-6E8A-4147-A177-3AD203B41FA5}">
                          <a16:colId xmlns:a16="http://schemas.microsoft.com/office/drawing/2014/main" val="3505445419"/>
                        </a:ext>
                      </a:extLst>
                    </a:gridCol>
                  </a:tblGrid>
                  <a:tr h="339213">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Time Conversions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14017466"/>
                      </a:ext>
                    </a:extLst>
                  </a:tr>
                  <a:tr h="154858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a:rPr>
                                  <m:t>1 </m:t>
                                </m:r>
                                <m:r>
                                  <m:rPr>
                                    <m:sty m:val="p"/>
                                  </m:rPr>
                                  <a:rPr lang="en-US" sz="1600">
                                    <a:effectLst/>
                                    <a:latin typeface="Cambria Math"/>
                                  </a:rPr>
                                  <m:t>minute</m:t>
                                </m:r>
                                <m:r>
                                  <a:rPr lang="en-US" sz="1600">
                                    <a:effectLst/>
                                    <a:latin typeface="Cambria Math"/>
                                  </a:rPr>
                                  <m:t> (</m:t>
                                </m:r>
                                <m:r>
                                  <m:rPr>
                                    <m:sty m:val="p"/>
                                  </m:rPr>
                                  <a:rPr lang="en-US" sz="1600">
                                    <a:effectLst/>
                                    <a:latin typeface="Cambria Math"/>
                                  </a:rPr>
                                  <m:t>min</m:t>
                                </m:r>
                                <m:r>
                                  <a:rPr lang="en-US" sz="1600">
                                    <a:effectLst/>
                                    <a:latin typeface="Cambria Math"/>
                                  </a:rPr>
                                  <m:t>) = 60 </m:t>
                                </m:r>
                                <m:r>
                                  <m:rPr>
                                    <m:sty m:val="p"/>
                                  </m:rPr>
                                  <a:rPr lang="en-US" sz="1600">
                                    <a:effectLst/>
                                    <a:latin typeface="Cambria Math"/>
                                  </a:rPr>
                                  <m:t>seconds</m:t>
                                </m:r>
                                <m:r>
                                  <a:rPr lang="en-US" sz="1600">
                                    <a:effectLst/>
                                    <a:latin typeface="Cambria Math"/>
                                  </a:rPr>
                                  <m:t> (</m:t>
                                </m:r>
                                <m:r>
                                  <m:rPr>
                                    <m:sty m:val="p"/>
                                  </m:rPr>
                                  <a:rPr lang="en-US" sz="1600">
                                    <a:effectLst/>
                                    <a:latin typeface="Cambria Math"/>
                                  </a:rPr>
                                  <m:t>s</m:t>
                                </m:r>
                                <m:r>
                                  <a:rPr lang="en-US" sz="1600">
                                    <a:effectLst/>
                                    <a:latin typeface="Cambria Math"/>
                                  </a:rPr>
                                  <m:t>)</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a:rPr>
                                  <m:t>1 </m:t>
                                </m:r>
                                <m:r>
                                  <m:rPr>
                                    <m:sty m:val="p"/>
                                  </m:rPr>
                                  <a:rPr lang="en-US" sz="1600">
                                    <a:effectLst/>
                                    <a:latin typeface="Cambria Math"/>
                                  </a:rPr>
                                  <m:t>hour</m:t>
                                </m:r>
                                <m:r>
                                  <a:rPr lang="en-US" sz="1600">
                                    <a:effectLst/>
                                    <a:latin typeface="Cambria Math"/>
                                  </a:rPr>
                                  <m:t> (</m:t>
                                </m:r>
                                <m:r>
                                  <m:rPr>
                                    <m:sty m:val="p"/>
                                  </m:rPr>
                                  <a:rPr lang="en-US" sz="1600">
                                    <a:effectLst/>
                                    <a:latin typeface="Cambria Math"/>
                                  </a:rPr>
                                  <m:t>h</m:t>
                                </m:r>
                                <m:r>
                                  <a:rPr lang="en-US" sz="1600">
                                    <a:effectLst/>
                                    <a:latin typeface="Cambria Math"/>
                                  </a:rPr>
                                  <m:t>) = 60 </m:t>
                                </m:r>
                                <m:r>
                                  <m:rPr>
                                    <m:sty m:val="p"/>
                                  </m:rPr>
                                  <a:rPr lang="en-US" sz="1600">
                                    <a:effectLst/>
                                    <a:latin typeface="Cambria Math"/>
                                  </a:rPr>
                                  <m:t>minutes</m:t>
                                </m:r>
                                <m:r>
                                  <a:rPr lang="en-US" sz="1600">
                                    <a:effectLst/>
                                    <a:latin typeface="Cambria Math"/>
                                  </a:rPr>
                                  <m:t> (</m:t>
                                </m:r>
                                <m:r>
                                  <m:rPr>
                                    <m:sty m:val="p"/>
                                  </m:rPr>
                                  <a:rPr lang="en-US" sz="1600">
                                    <a:effectLst/>
                                    <a:latin typeface="Cambria Math"/>
                                  </a:rPr>
                                  <m:t>min</m:t>
                                </m:r>
                                <m:r>
                                  <a:rPr lang="en-US" sz="1600">
                                    <a:effectLst/>
                                    <a:latin typeface="Cambria Math"/>
                                  </a:rPr>
                                  <m:t>)</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a:rPr>
                                  <m:t>1 </m:t>
                                </m:r>
                                <m:r>
                                  <m:rPr>
                                    <m:sty m:val="p"/>
                                  </m:rPr>
                                  <a:rPr lang="en-US" sz="1600">
                                    <a:effectLst/>
                                    <a:latin typeface="Cambria Math"/>
                                  </a:rPr>
                                  <m:t>day</m:t>
                                </m:r>
                                <m:r>
                                  <a:rPr lang="en-US" sz="1600">
                                    <a:effectLst/>
                                    <a:latin typeface="Cambria Math"/>
                                  </a:rPr>
                                  <m:t> = 24 </m:t>
                                </m:r>
                                <m:r>
                                  <m:rPr>
                                    <m:sty m:val="p"/>
                                  </m:rPr>
                                  <a:rPr lang="en-US" sz="1600">
                                    <a:effectLst/>
                                    <a:latin typeface="Cambria Math"/>
                                  </a:rPr>
                                  <m:t>hours</m:t>
                                </m:r>
                                <m:r>
                                  <a:rPr lang="en-US" sz="1600">
                                    <a:effectLst/>
                                    <a:latin typeface="Cambria Math"/>
                                  </a:rPr>
                                  <m:t> (</m:t>
                                </m:r>
                                <m:r>
                                  <m:rPr>
                                    <m:sty m:val="p"/>
                                  </m:rPr>
                                  <a:rPr lang="en-US" sz="1600">
                                    <a:effectLst/>
                                    <a:latin typeface="Cambria Math"/>
                                  </a:rPr>
                                  <m:t>h</m:t>
                                </m:r>
                                <m:r>
                                  <a:rPr lang="en-US" sz="1600">
                                    <a:effectLst/>
                                    <a:latin typeface="Cambria Math"/>
                                  </a:rPr>
                                  <m:t>)</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a:rPr>
                                  <m:t>1 </m:t>
                                </m:r>
                                <m:r>
                                  <m:rPr>
                                    <m:sty m:val="p"/>
                                  </m:rPr>
                                  <a:rPr lang="en-US" sz="1600">
                                    <a:effectLst/>
                                    <a:latin typeface="Cambria Math"/>
                                  </a:rPr>
                                  <m:t>year</m:t>
                                </m:r>
                                <m:r>
                                  <a:rPr lang="en-US" sz="1600">
                                    <a:effectLst/>
                                    <a:latin typeface="Cambria Math"/>
                                  </a:rPr>
                                  <m:t> = 365 </m:t>
                                </m:r>
                                <m:r>
                                  <m:rPr>
                                    <m:sty m:val="p"/>
                                  </m:rPr>
                                  <a:rPr lang="en-US" sz="1600">
                                    <a:effectLst/>
                                    <a:latin typeface="Cambria Math"/>
                                  </a:rPr>
                                  <m:t>days</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a:rPr>
                                  <m:t>1 </m:t>
                                </m:r>
                                <m:r>
                                  <m:rPr>
                                    <m:sty m:val="p"/>
                                  </m:rPr>
                                  <a:rPr lang="en-US" sz="1600">
                                    <a:effectLst/>
                                    <a:latin typeface="Cambria Math"/>
                                  </a:rPr>
                                  <m:t>year</m:t>
                                </m:r>
                                <m:r>
                                  <a:rPr lang="en-US" sz="1600">
                                    <a:effectLst/>
                                    <a:latin typeface="Cambria Math"/>
                                  </a:rPr>
                                  <m:t> = 52 </m:t>
                                </m:r>
                                <m:r>
                                  <m:rPr>
                                    <m:sty m:val="p"/>
                                  </m:rPr>
                                  <a:rPr lang="en-US" sz="1600">
                                    <a:effectLst/>
                                    <a:latin typeface="Cambria Math"/>
                                  </a:rPr>
                                  <m:t>weeks</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a:rPr>
                                  <m:t>1 </m:t>
                                </m:r>
                                <m:r>
                                  <m:rPr>
                                    <m:sty m:val="p"/>
                                  </m:rPr>
                                  <a:rPr lang="en-US" sz="1600">
                                    <a:effectLst/>
                                    <a:latin typeface="Cambria Math"/>
                                  </a:rPr>
                                  <m:t>week</m:t>
                                </m:r>
                                <m:r>
                                  <a:rPr lang="en-US" sz="1600">
                                    <a:effectLst/>
                                    <a:latin typeface="Cambria Math"/>
                                  </a:rPr>
                                  <m:t> = 7 </m:t>
                                </m:r>
                                <m:r>
                                  <m:rPr>
                                    <m:sty m:val="p"/>
                                  </m:rPr>
                                  <a:rPr lang="en-US" sz="1600">
                                    <a:effectLst/>
                                    <a:latin typeface="Cambria Math"/>
                                  </a:rPr>
                                  <m:t>days</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4279218"/>
                      </a:ext>
                    </a:extLst>
                  </a:tr>
                </a:tbl>
              </a:graphicData>
            </a:graphic>
          </p:graphicFrame>
        </mc:Choice>
        <mc:Fallback xmlns="">
          <p:graphicFrame>
            <p:nvGraphicFramePr>
              <p:cNvPr id="3" name="Table 2">
                <a:extLst>
                  <a:ext uri="{FF2B5EF4-FFF2-40B4-BE49-F238E27FC236}">
                    <a16:creationId xmlns:a16="http://schemas.microsoft.com/office/drawing/2014/main" id="{EFECCD96-D8A0-8A42-B0C4-028F377863E9}"/>
                  </a:ext>
                </a:extLst>
              </p:cNvPr>
              <p:cNvGraphicFramePr>
                <a:graphicFrameLocks noGrp="1"/>
              </p:cNvGraphicFramePr>
              <p:nvPr>
                <p:extLst>
                  <p:ext uri="{D42A27DB-BD31-4B8C-83A1-F6EECF244321}">
                    <p14:modId xmlns:p14="http://schemas.microsoft.com/office/powerpoint/2010/main" val="3427010584"/>
                  </p:ext>
                </p:extLst>
              </p:nvPr>
            </p:nvGraphicFramePr>
            <p:xfrm>
              <a:off x="2667000" y="4572000"/>
              <a:ext cx="6858000" cy="1887794"/>
            </p:xfrm>
            <a:graphic>
              <a:graphicData uri="http://schemas.openxmlformats.org/drawingml/2006/table">
                <a:tbl>
                  <a:tblPr firstRow="1" firstCol="1" bandRow="1">
                    <a:tableStyleId>{A91F0D33-8C57-4600-99A7-42BC86742BE1}</a:tableStyleId>
                  </a:tblPr>
                  <a:tblGrid>
                    <a:gridCol w="6858000">
                      <a:extLst>
                        <a:ext uri="{9D8B030D-6E8A-4147-A177-3AD203B41FA5}">
                          <a16:colId xmlns:a16="http://schemas.microsoft.com/office/drawing/2014/main" val="3505445419"/>
                        </a:ext>
                      </a:extLst>
                    </a:gridCol>
                  </a:tblGrid>
                  <a:tr h="339213">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Time Conversions</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14017466"/>
                      </a:ext>
                    </a:extLst>
                  </a:tr>
                  <a:tr h="154858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9" t="-23228" r="-178" b="-3150"/>
                          </a:stretch>
                        </a:blipFill>
                      </a:tcPr>
                    </a:tc>
                    <a:extLst>
                      <a:ext uri="{0D108BD9-81ED-4DB2-BD59-A6C34878D82A}">
                        <a16:rowId xmlns:a16="http://schemas.microsoft.com/office/drawing/2014/main" val="924279218"/>
                      </a:ext>
                    </a:extLst>
                  </a:tr>
                </a:tbl>
              </a:graphicData>
            </a:graphic>
          </p:graphicFrame>
        </mc:Fallback>
      </mc:AlternateContent>
    </p:spTree>
    <p:extLst>
      <p:ext uri="{BB962C8B-B14F-4D97-AF65-F5344CB8AC3E}">
        <p14:creationId xmlns:p14="http://schemas.microsoft.com/office/powerpoint/2010/main" val="2841686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E5B015B1-FBD0-8E43-9A2E-5A1474505758}"/>
              </a:ext>
            </a:extLst>
          </p:cNvPr>
          <p:cNvSpPr txBox="1"/>
          <p:nvPr/>
        </p:nvSpPr>
        <p:spPr>
          <a:xfrm>
            <a:off x="7314749" y="6433457"/>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7"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84073" y="-37211"/>
            <a:ext cx="110079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rtl="0">
              <a:spcBef>
                <a:spcPts val="0"/>
              </a:spcBef>
              <a:spcAft>
                <a:spcPts val="0"/>
              </a:spcAft>
            </a:pPr>
            <a:r>
              <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rPr>
              <a:t>6.11.3 Guided Practice: </a:t>
            </a:r>
            <a:r>
              <a:rPr lang="en-US" sz="3200" b="1" i="0" u="none" strike="noStrike" dirty="0">
                <a:solidFill>
                  <a:srgbClr val="54B5D1"/>
                </a:solidFill>
                <a:effectLst/>
                <a:latin typeface="Verdana" panose="020B0604030504040204" pitchFamily="34" charset="0"/>
                <a:ea typeface="Verdana" panose="020B0604030504040204" pitchFamily="34" charset="0"/>
                <a:cs typeface="Verdana" panose="020B0604030504040204" pitchFamily="34" charset="0"/>
              </a:rPr>
              <a:t>Converting Units of Measure Using Unit Rates</a:t>
            </a:r>
            <a:endParaRPr lang="en-US" sz="3200" b="0" dirty="0">
              <a:effectLst/>
              <a:latin typeface="Verdana" panose="020B0604030504040204" pitchFamily="34" charset="0"/>
              <a:ea typeface="Verdana" panose="020B0604030504040204" pitchFamily="34" charset="0"/>
              <a:cs typeface="Verdana" panose="020B0604030504040204" pitchFamily="34" charset="0"/>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4265" y="11792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684678E3-B391-614C-B449-94320C557524}"/>
                  </a:ext>
                </a:extLst>
              </p:cNvPr>
              <p:cNvSpPr/>
              <p:nvPr/>
            </p:nvSpPr>
            <p:spPr>
              <a:xfrm>
                <a:off x="831273" y="1454515"/>
                <a:ext cx="9573837" cy="3477875"/>
              </a:xfrm>
              <a:prstGeom prst="rect">
                <a:avLst/>
              </a:prstGeom>
            </p:spPr>
            <p:txBody>
              <a:bodyPr wrap="square">
                <a:spAutoFit/>
              </a:bodyPr>
              <a:lstStyle/>
              <a:p>
                <a:pPr marL="463550" indent="-46355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conversion rates to find each value. Show your work.</a:t>
                </a:r>
              </a:p>
              <a:p>
                <a:pPr marL="914400" lvl="0" indent="-45720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2.62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km = ____ m</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 = ____ yd</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week = ____ hours</a:t>
                </a:r>
              </a:p>
            </p:txBody>
          </p:sp>
        </mc:Choice>
        <mc:Fallback>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831273" y="1454515"/>
                <a:ext cx="9573837" cy="3477875"/>
              </a:xfrm>
              <a:prstGeom prst="rect">
                <a:avLst/>
              </a:prstGeom>
              <a:blipFill>
                <a:blip r:embed="rId5"/>
                <a:stretch>
                  <a:fillRect l="-700" t="-1228" b="-2281"/>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DC0A2C9F-B1E2-2341-BED9-0F18CDA0FBF6}"/>
              </a:ext>
            </a:extLst>
          </p:cNvPr>
          <p:cNvSpPr txBox="1"/>
          <p:nvPr/>
        </p:nvSpPr>
        <p:spPr>
          <a:xfrm>
            <a:off x="7314749" y="6433457"/>
            <a:ext cx="41315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2205" y="613673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684678E3-B391-614C-B449-94320C557524}"/>
                  </a:ext>
                </a:extLst>
              </p:cNvPr>
              <p:cNvSpPr/>
              <p:nvPr/>
            </p:nvSpPr>
            <p:spPr>
              <a:xfrm>
                <a:off x="587829" y="392632"/>
                <a:ext cx="9817281" cy="4093428"/>
              </a:xfrm>
              <a:prstGeom prst="rect">
                <a:avLst/>
              </a:prstGeom>
            </p:spPr>
            <p:txBody>
              <a:bodyPr wrap="square">
                <a:spAutoFit/>
              </a:bodyPr>
              <a:lstStyle/>
              <a:p>
                <a:pPr marL="463550" indent="-46355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Adrian weighed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pounds (</a:t>
                </a:r>
                <a:r>
                  <a:rPr lang="en-US" sz="2000" dirty="0" err="1">
                    <a:latin typeface="Verdana" panose="020B0604030504040204" pitchFamily="34" charset="0"/>
                    <a:ea typeface="Times New Roman" panose="02020603050405020304" pitchFamily="18" charset="0"/>
                    <a:cs typeface="Times New Roman" panose="02020603050405020304" pitchFamily="18" charset="0"/>
                  </a:rPr>
                  <a:t>lb</a:t>
                </a:r>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ounces (oz) when he was born. How many ounces did Adrian weigh when he was born?</a:t>
                </a:r>
              </a:p>
              <a:p>
                <a:pPr marL="463550" indent="-46355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indent="-46355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indent="-46355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indent="-46355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indent="-46355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indent="-46355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indent="-46355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indent="-46355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Ibuprofen is a medicine sometimes used for pain relief, such as for a headache. For adults, it is not safe to take more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3200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milligrams (mg) of ibuprofen each day. How many grams of ibuprofen is safe for adults to take in one day?</a:t>
                </a:r>
              </a:p>
            </p:txBody>
          </p:sp>
        </mc:Choice>
        <mc:Fallback>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587829" y="392632"/>
                <a:ext cx="9817281" cy="4093428"/>
              </a:xfrm>
              <a:prstGeom prst="rect">
                <a:avLst/>
              </a:prstGeom>
              <a:blipFill>
                <a:blip r:embed="rId4"/>
                <a:stretch>
                  <a:fillRect l="-683" t="-893" b="-1637"/>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DC0A2C9F-B1E2-2341-BED9-0F18CDA0FBF6}"/>
              </a:ext>
            </a:extLst>
          </p:cNvPr>
          <p:cNvSpPr txBox="1"/>
          <p:nvPr/>
        </p:nvSpPr>
        <p:spPr>
          <a:xfrm>
            <a:off x="8893179" y="64653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spTree>
    <p:extLst>
      <p:ext uri="{BB962C8B-B14F-4D97-AF65-F5344CB8AC3E}">
        <p14:creationId xmlns:p14="http://schemas.microsoft.com/office/powerpoint/2010/main" val="2115005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4255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7314750" y="6498771"/>
            <a:ext cx="41098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pic>
        <p:nvPicPr>
          <p:cNvPr id="8" name="Picture 7">
            <a:extLst>
              <a:ext uri="{FF2B5EF4-FFF2-40B4-BE49-F238E27FC236}">
                <a16:creationId xmlns:a16="http://schemas.microsoft.com/office/drawing/2014/main" id="{6A1C346C-BBD5-D14E-8E34-38F260833DB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594374" y="2820568"/>
            <a:ext cx="1192804" cy="119280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1439" y="60325"/>
            <a:ext cx="941486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6.11.4 Collaboration: Error Analysis</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B05AB5A2-AF35-B14C-AE54-D2A0628C823C}"/>
                  </a:ext>
                </a:extLst>
              </p:cNvPr>
              <p:cNvSpPr/>
              <p:nvPr/>
            </p:nvSpPr>
            <p:spPr>
              <a:xfrm>
                <a:off x="978819" y="1521194"/>
                <a:ext cx="10603581" cy="4056110"/>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Valerie makes sure she drinks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(c) of water each day. She wondered how many gallons of water this is, so she used conversion rates to find out. Her work is shown.</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a14:m>
                  <m:oMathPara xmlns:m="http://schemas.openxmlformats.org/officeDocument/2006/math">
                    <m:oMathParaPr>
                      <m:jc m:val="centerGroup"/>
                    </m:oMathParaPr>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80 </m:t>
                          </m:r>
                          <m:r>
                            <m:rPr>
                              <m:sty m:val="p"/>
                            </m:rPr>
                            <a:rPr lang="es-ES" sz="2000" dirty="0">
                              <a:latin typeface="Cambria Math" panose="02040503050406030204" pitchFamily="18" charset="0"/>
                              <a:cs typeface="Times New Roman" panose="02020603050405020304" pitchFamily="18" charset="0"/>
                            </a:rPr>
                            <m:t>c</m:t>
                          </m:r>
                        </m:num>
                        <m:den>
                          <m:r>
                            <a:rPr lang="es-ES" sz="2000" i="1" dirty="0">
                              <a:latin typeface="Cambria Math" panose="02040503050406030204" pitchFamily="18" charset="0"/>
                              <a:cs typeface="Times New Roman" panose="02020603050405020304" pitchFamily="18" charset="0"/>
                            </a:rPr>
                            <m:t>1</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2</m:t>
                          </m:r>
                        </m:num>
                        <m:den>
                          <m:r>
                            <a:rPr lang="es-ES" sz="2000" i="1" dirty="0">
                              <a:latin typeface="Cambria Math" panose="02040503050406030204" pitchFamily="18" charset="0"/>
                              <a:cs typeface="Times New Roman" panose="02020603050405020304" pitchFamily="18" charset="0"/>
                            </a:rPr>
                            <m:t>1</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2</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m:t>
                          </m:r>
                        </m:num>
                        <m:den>
                          <m:r>
                            <a:rPr lang="es-ES" sz="2000" i="1" dirty="0">
                              <a:latin typeface="Cambria Math" panose="02040503050406030204" pitchFamily="18" charset="0"/>
                              <a:cs typeface="Times New Roman" panose="02020603050405020304" pitchFamily="18" charset="0"/>
                            </a:rPr>
                            <m:t>4</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160</m:t>
                          </m:r>
                        </m:num>
                        <m:den>
                          <m:r>
                            <a:rPr lang="es-ES" sz="2000" i="1" dirty="0">
                              <a:latin typeface="Cambria Math" panose="02040503050406030204" pitchFamily="18" charset="0"/>
                              <a:cs typeface="Times New Roman" panose="02020603050405020304" pitchFamily="18" charset="0"/>
                            </a:rPr>
                            <m:t>8</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=20 </m:t>
                      </m:r>
                      <m:r>
                        <m:rPr>
                          <m:sty m:val="p"/>
                        </m:rPr>
                        <a:rPr lang="en-US" sz="2000" dirty="0">
                          <a:latin typeface="Cambria Math" panose="02040503050406030204" pitchFamily="18" charset="0"/>
                          <a:ea typeface="Times New Roman" panose="02020603050405020304" pitchFamily="18" charset="0"/>
                          <a:cs typeface="Times New Roman" panose="02020603050405020304" pitchFamily="18" charset="0"/>
                        </a:rPr>
                        <m:t>gal</m:t>
                      </m:r>
                      <m:r>
                        <a:rPr lang="en-US" sz="2000" dirty="0">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Valerie knew her answer didn’t make sense because there is no way she drinks 20 gallons of water each day. She is not sure where she went wrong.</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Valerie’s work with your partner. Then, work together to find the correct number of gallons she drinks each day.</a:t>
                </a:r>
              </a:p>
            </p:txBody>
          </p:sp>
        </mc:Choice>
        <mc:Fallback>
          <p:sp>
            <p:nvSpPr>
              <p:cNvPr id="2" name="Rectangle 1">
                <a:extLst>
                  <a:ext uri="{FF2B5EF4-FFF2-40B4-BE49-F238E27FC236}">
                    <a16:creationId xmlns:a16="http://schemas.microsoft.com/office/drawing/2014/main" id="{B05AB5A2-AF35-B14C-AE54-D2A0628C823C}"/>
                  </a:ext>
                </a:extLst>
              </p:cNvPr>
              <p:cNvSpPr>
                <a:spLocks noRot="1" noChangeAspect="1" noMove="1" noResize="1" noEditPoints="1" noAdjustHandles="1" noChangeArrowheads="1" noChangeShapeType="1" noTextEdit="1"/>
              </p:cNvSpPr>
              <p:nvPr/>
            </p:nvSpPr>
            <p:spPr>
              <a:xfrm>
                <a:off x="978819" y="1521194"/>
                <a:ext cx="10603581" cy="4056110"/>
              </a:xfrm>
              <a:prstGeom prst="rect">
                <a:avLst/>
              </a:prstGeom>
              <a:blipFill>
                <a:blip r:embed="rId4"/>
                <a:stretch>
                  <a:fillRect l="-633" t="-1053" b="-1805"/>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85268C17-F7CB-D243-B65D-166A4DD9987F}"/>
              </a:ext>
            </a:extLst>
          </p:cNvPr>
          <p:cNvSpPr txBox="1"/>
          <p:nvPr/>
        </p:nvSpPr>
        <p:spPr>
          <a:xfrm>
            <a:off x="7314750" y="6422571"/>
            <a:ext cx="403905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310</a:t>
            </a:r>
            <a:endParaRPr i="1" dirty="0">
              <a:latin typeface="Calibri"/>
              <a:ea typeface="Calibri"/>
              <a:cs typeface="Calibri"/>
              <a:sym typeface="Calibri"/>
            </a:endParaRPr>
          </a:p>
        </p:txBody>
      </p:sp>
      <p:pic>
        <p:nvPicPr>
          <p:cNvPr id="9" name="Picture 8">
            <a:extLst>
              <a:ext uri="{FF2B5EF4-FFF2-40B4-BE49-F238E27FC236}">
                <a16:creationId xmlns:a16="http://schemas.microsoft.com/office/drawing/2014/main" id="{5EF03C00-1C0F-4A42-8C53-666103C617F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29185" y="347048"/>
            <a:ext cx="752254" cy="75225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35248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96EBC228-FF81-F24F-AEB8-9068AF825BE0}"/>
              </a:ext>
            </a:extLst>
          </p:cNvPr>
          <p:cNvSpPr/>
          <p:nvPr/>
        </p:nvSpPr>
        <p:spPr>
          <a:xfrm>
            <a:off x="500743" y="263235"/>
            <a:ext cx="9990353" cy="1015663"/>
          </a:xfrm>
          <a:prstGeom prst="rect">
            <a:avLst/>
          </a:prstGeom>
        </p:spPr>
        <p:txBody>
          <a:bodyPr wrap="square">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Help Valerie understand and learn from her mistakes. Write a brief note to Valerie explaining what her mistakes were and how she can learn from them. Include strategies that may be helpful.</a:t>
            </a:r>
          </a:p>
        </p:txBody>
      </p:sp>
      <p:sp>
        <p:nvSpPr>
          <p:cNvPr id="9" name="Google Shape;282;g104476d1465_1_17">
            <a:extLst>
              <a:ext uri="{FF2B5EF4-FFF2-40B4-BE49-F238E27FC236}">
                <a16:creationId xmlns:a16="http://schemas.microsoft.com/office/drawing/2014/main" id="{E3DC8F22-04D2-D04F-BA67-53D9B7F3B29F}"/>
              </a:ext>
            </a:extLst>
          </p:cNvPr>
          <p:cNvSpPr txBox="1"/>
          <p:nvPr/>
        </p:nvSpPr>
        <p:spPr>
          <a:xfrm>
            <a:off x="7314750" y="6487885"/>
            <a:ext cx="40989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
        <p:nvSpPr>
          <p:cNvPr id="7" name="Rounded Rectangle 6">
            <a:extLst>
              <a:ext uri="{FF2B5EF4-FFF2-40B4-BE49-F238E27FC236}">
                <a16:creationId xmlns:a16="http://schemas.microsoft.com/office/drawing/2014/main" id="{01AA1F38-1007-E542-9676-F31680BB495C}"/>
              </a:ext>
            </a:extLst>
          </p:cNvPr>
          <p:cNvSpPr/>
          <p:nvPr/>
        </p:nvSpPr>
        <p:spPr>
          <a:xfrm>
            <a:off x="6487406" y="1799261"/>
            <a:ext cx="3388588" cy="4445827"/>
          </a:xfrm>
          <a:prstGeom prst="roundRect">
            <a:avLst>
              <a:gd name="adj" fmla="val 16667"/>
            </a:avLst>
          </a:prstGeom>
          <a:noFill/>
          <a:ln w="38100" cap="flat" cmpd="sng">
            <a:solidFill>
              <a:schemeClr val="tx1"/>
            </a:solidFill>
            <a:prstDash val="solid"/>
            <a:round/>
            <a:headEnd type="none" w="sm" len="sm"/>
            <a:tailEnd type="none" w="sm" len="sm"/>
          </a:ln>
          <a:effectLst/>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sp>
        <p:nvSpPr>
          <p:cNvPr id="8" name="Rounded Rectangle 7">
            <a:extLst>
              <a:ext uri="{FF2B5EF4-FFF2-40B4-BE49-F238E27FC236}">
                <a16:creationId xmlns:a16="http://schemas.microsoft.com/office/drawing/2014/main" id="{D3506D83-3BC2-4F42-9B40-28337E319024}"/>
              </a:ext>
            </a:extLst>
          </p:cNvPr>
          <p:cNvSpPr/>
          <p:nvPr/>
        </p:nvSpPr>
        <p:spPr>
          <a:xfrm>
            <a:off x="3618018" y="2505550"/>
            <a:ext cx="1769114" cy="2779089"/>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pPr>
            <a:r>
              <a:rPr lang="en-US" sz="1600" b="1" dirty="0">
                <a:solidFill>
                  <a:srgbClr val="DB2B2A"/>
                </a:solidFill>
                <a:latin typeface="Verdana" panose="020B0604030504040204" pitchFamily="34" charset="0"/>
                <a:ea typeface="Verdana" panose="020B0604030504040204" pitchFamily="34" charset="0"/>
                <a:cs typeface="Verdana" panose="020B0604030504040204" pitchFamily="34" charset="0"/>
              </a:rPr>
              <a:t>M</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eans</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F25756"/>
                </a:solidFill>
                <a:latin typeface="Verdana" panose="020B0604030504040204" pitchFamily="34" charset="0"/>
                <a:ea typeface="Times New Roman" panose="02020603050405020304" pitchFamily="18" charset="0"/>
              </a:rPr>
              <a:t>I</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tart</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o </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cquire</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nowledge</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xperience </a:t>
            </a:r>
            <a:endParaRPr lang="x-none" sz="1100" dirty="0">
              <a:latin typeface="Times New Roman" panose="02020603050405020304" pitchFamily="18" charset="0"/>
              <a:ea typeface="Times New Roman" panose="02020603050405020304" pitchFamily="18" charset="0"/>
            </a:endParaRPr>
          </a:p>
          <a:p>
            <a:pPr>
              <a:lnSpc>
                <a:spcPct val="115000"/>
              </a:lnSpc>
            </a:pPr>
            <a:r>
              <a:rPr lang="en-US" sz="16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1600" b="1" dirty="0">
                <a:solidFill>
                  <a:srgbClr val="000000"/>
                </a:solidFill>
                <a:latin typeface="Verdana" panose="020B0604030504040204" pitchFamily="34" charset="0"/>
                <a:ea typeface="Verdana" panose="020B0604030504040204" pitchFamily="34" charset="0"/>
                <a:cs typeface="Verdana" panose="020B0604030504040204" pitchFamily="34" charset="0"/>
              </a:rPr>
              <a:t>kills</a:t>
            </a:r>
            <a:r>
              <a:rPr lang="en-US" sz="1100" dirty="0">
                <a:latin typeface="Times New Roman" panose="02020603050405020304" pitchFamily="18" charset="0"/>
                <a:ea typeface="Times New Roman" panose="02020603050405020304" pitchFamily="18" charset="0"/>
              </a:rPr>
              <a:t> </a:t>
            </a:r>
            <a:endParaRPr lang="x-none" sz="11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5251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2D32FB2E-EC85-7547-997A-F8CC3AB0EE91}"/>
              </a:ext>
            </a:extLst>
          </p:cNvPr>
          <p:cNvSpPr/>
          <p:nvPr/>
        </p:nvSpPr>
        <p:spPr>
          <a:xfrm>
            <a:off x="855023" y="1178748"/>
            <a:ext cx="9561517" cy="830997"/>
          </a:xfrm>
          <a:prstGeom prst="rect">
            <a:avLst/>
          </a:prstGeom>
        </p:spPr>
        <p:txBody>
          <a:bodyPr wrap="square">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Read your partner’s note to Valerie and offer suggestions on ways to improve their note.</a:t>
            </a:r>
          </a:p>
        </p:txBody>
      </p:sp>
      <p:sp>
        <p:nvSpPr>
          <p:cNvPr id="9" name="Google Shape;282;g104476d1465_1_17">
            <a:extLst>
              <a:ext uri="{FF2B5EF4-FFF2-40B4-BE49-F238E27FC236}">
                <a16:creationId xmlns:a16="http://schemas.microsoft.com/office/drawing/2014/main" id="{FA85A54A-26B4-2547-91B9-E4095EBEEB48}"/>
              </a:ext>
            </a:extLst>
          </p:cNvPr>
          <p:cNvSpPr txBox="1"/>
          <p:nvPr/>
        </p:nvSpPr>
        <p:spPr>
          <a:xfrm>
            <a:off x="7314750" y="6509657"/>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extLst>
      <p:ext uri="{BB962C8B-B14F-4D97-AF65-F5344CB8AC3E}">
        <p14:creationId xmlns:p14="http://schemas.microsoft.com/office/powerpoint/2010/main" val="107196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51DCB9D4-64AC-E448-A076-AB6B662D6AE3}"/>
              </a:ext>
            </a:extLst>
          </p:cNvPr>
          <p:cNvSpPr txBox="1"/>
          <p:nvPr/>
        </p:nvSpPr>
        <p:spPr>
          <a:xfrm>
            <a:off x="7314750" y="6498771"/>
            <a:ext cx="40989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35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37490" y="6148617"/>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46222"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6.11.5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498922" y="603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A66A031F-2EC8-DF4C-B3F5-E7AC5B8F3239}"/>
                  </a:ext>
                </a:extLst>
              </p:cNvPr>
              <p:cNvSpPr/>
              <p:nvPr/>
            </p:nvSpPr>
            <p:spPr>
              <a:xfrm>
                <a:off x="1001486" y="1126599"/>
                <a:ext cx="9392194" cy="3785652"/>
              </a:xfrm>
              <a:prstGeom prst="rect">
                <a:avLst/>
              </a:prstGeom>
            </p:spPr>
            <p:txBody>
              <a:bodyPr wrap="square">
                <a:spAutoFit/>
              </a:bodyPr>
              <a:lstStyle/>
              <a:p>
                <a:pPr marL="468313" indent="-457200">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conversion rates to find each value. Show your work.</a:t>
                </a:r>
              </a:p>
              <a:p>
                <a:pPr marL="468313" indent="-457200">
                  <a:buSzPts val="18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07988" indent="-396875">
                  <a:buSzPts val="1800"/>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buSzPts val="18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11,200</m:t>
                    </m:r>
                  </m:oMath>
                </a14:m>
                <a:r>
                  <a:rPr lang="en-US" sz="2000" dirty="0">
                    <a:latin typeface="Verdana" panose="020B0604030504040204" pitchFamily="34" charset="0"/>
                    <a:ea typeface="Verdana" panose="020B0604030504040204" pitchFamily="34" charset="0"/>
                    <a:cs typeface="Verdana" panose="020B0604030504040204" pitchFamily="34" charset="0"/>
                  </a:rPr>
                  <a:t> milliliters = ____ liters</a:t>
                </a:r>
              </a:p>
              <a:p>
                <a:pPr marL="91440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SzPts val="18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3.5</m:t>
                    </m:r>
                  </m:oMath>
                </a14:m>
                <a:r>
                  <a:rPr lang="en-US" sz="2000" dirty="0">
                    <a:latin typeface="Verdana" panose="020B0604030504040204" pitchFamily="34" charset="0"/>
                    <a:ea typeface="Verdana" panose="020B0604030504040204" pitchFamily="34" charset="0"/>
                    <a:cs typeface="Verdana" panose="020B0604030504040204" pitchFamily="34" charset="0"/>
                  </a:rPr>
                  <a:t> gallons = ____ cups</a:t>
                </a:r>
              </a:p>
              <a:p>
                <a:pPr marL="91440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SzPts val="18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SzPts val="18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days = ____ minutes</a:t>
                </a:r>
              </a:p>
            </p:txBody>
          </p:sp>
        </mc:Choice>
        <mc:Fallback>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1001486" y="1126599"/>
                <a:ext cx="9392194" cy="3785652"/>
              </a:xfrm>
              <a:prstGeom prst="rect">
                <a:avLst/>
              </a:prstGeom>
              <a:blipFill>
                <a:blip r:embed="rId5"/>
                <a:stretch>
                  <a:fillRect l="-389" t="-966" b="-1932"/>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7314750" y="6466113"/>
            <a:ext cx="40227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AF1552-9966-3643-BA84-BB4BC68EDBB5}"/>
                  </a:ext>
                </a:extLst>
              </p:cNvPr>
              <p:cNvSpPr/>
              <p:nvPr/>
            </p:nvSpPr>
            <p:spPr>
              <a:xfrm>
                <a:off x="642257" y="962724"/>
                <a:ext cx="10159626" cy="4401205"/>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Malik plays football for Jones High School in Orlando, Florida. Last Friday, he ran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yards for a touchdown on a kickoff return. How many feet did Malik run on the kickoff return?</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SzPts val="18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About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727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pints of milk are distributed each day from the cafeteria at Fort King Middle School in Marion County, Florida. How many gallons of milk are distributed at Fort King Middle School each day?</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642257" y="962724"/>
                <a:ext cx="10159626" cy="4401205"/>
              </a:xfrm>
              <a:prstGeom prst="rect">
                <a:avLst/>
              </a:prstGeom>
              <a:blipFill>
                <a:blip r:embed="rId4"/>
                <a:stretch>
                  <a:fillRect l="-480" t="-831" r="-720"/>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729893" y="642121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311</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ABBAE5D4-A013-554B-AF18-FD3C50BA4B04}"/>
              </a:ext>
            </a:extLst>
          </p:cNvPr>
          <p:cNvSpPr txBox="1"/>
          <p:nvPr/>
        </p:nvSpPr>
        <p:spPr>
          <a:xfrm>
            <a:off x="8784322" y="644923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950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22736" y="-185441"/>
            <a:ext cx="93985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6.11.6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75436" y="103759"/>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849086" y="1140260"/>
            <a:ext cx="10363200" cy="707886"/>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emoji scale to indicate your level of confidence with using ratios to convert units within the same measurement system.</a:t>
            </a:r>
          </a:p>
        </p:txBody>
      </p:sp>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7314749" y="6457765"/>
            <a:ext cx="4153369" cy="40011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312</a:t>
            </a:r>
            <a:endParaRPr i="1" dirty="0">
              <a:latin typeface="Calibri"/>
              <a:ea typeface="Calibri"/>
              <a:cs typeface="Calibri"/>
              <a:sym typeface="Calibri"/>
            </a:endParaRPr>
          </a:p>
        </p:txBody>
      </p:sp>
      <p:pic>
        <p:nvPicPr>
          <p:cNvPr id="10" name="Picture 9" descr="A picture containing clipart&#10;&#10;Description automatically generated">
            <a:extLst>
              <a:ext uri="{FF2B5EF4-FFF2-40B4-BE49-F238E27FC236}">
                <a16:creationId xmlns:a16="http://schemas.microsoft.com/office/drawing/2014/main" id="{505E8A01-5737-7944-AA01-9D7FC0DBB48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85790" y="2540034"/>
            <a:ext cx="6373906" cy="1561536"/>
          </a:xfrm>
          <a:prstGeom prst="rect">
            <a:avLst/>
          </a:prstGeom>
        </p:spPr>
      </p:pic>
      <p:sp>
        <p:nvSpPr>
          <p:cNvPr id="12" name="Rectangle 11">
            <a:extLst>
              <a:ext uri="{FF2B5EF4-FFF2-40B4-BE49-F238E27FC236}">
                <a16:creationId xmlns:a16="http://schemas.microsoft.com/office/drawing/2014/main" id="{3E01663F-DCE0-634A-88F7-9466CBB7653F}"/>
              </a:ext>
            </a:extLst>
          </p:cNvPr>
          <p:cNvSpPr/>
          <p:nvPr/>
        </p:nvSpPr>
        <p:spPr>
          <a:xfrm>
            <a:off x="1100716" y="4809800"/>
            <a:ext cx="8422610" cy="400110"/>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why you indicated the confidence level above.</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1334</TotalTime>
  <Words>1509</Words>
  <Application>Microsoft Office PowerPoint</Application>
  <PresentationFormat>Widescreen</PresentationFormat>
  <Paragraphs>228</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Century Gothic</vt:lpstr>
      <vt:lpstr>Wingdings</vt:lpstr>
      <vt:lpstr>Cambria Math</vt:lpstr>
      <vt:lpstr>Arial Black</vt:lpstr>
      <vt:lpstr>Verdana</vt:lpstr>
      <vt:lpstr>Times New Roman</vt:lpstr>
      <vt:lpstr>Arial</vt:lpstr>
      <vt:lpstr>Calibri</vt:lpstr>
      <vt:lpstr>1_Office Theme</vt:lpstr>
      <vt:lpstr>6th Grade Math  Unit 6, Lesson 11  Converting Units Using Ratios  Volume 1, pg. 307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22</cp:revision>
  <dcterms:created xsi:type="dcterms:W3CDTF">2015-03-17T18:51:18Z</dcterms:created>
  <dcterms:modified xsi:type="dcterms:W3CDTF">2022-07-08T16:15:19Z</dcterms:modified>
</cp:coreProperties>
</file>