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5" r:id="rId11"/>
    <p:sldId id="344" r:id="rId12"/>
    <p:sldId id="343" r:id="rId13"/>
    <p:sldId id="289" r:id="rId14"/>
    <p:sldId id="290" r:id="rId15"/>
    <p:sldId id="336" r:id="rId16"/>
    <p:sldId id="323" r:id="rId17"/>
    <p:sldId id="324" r:id="rId18"/>
    <p:sldId id="346" r:id="rId19"/>
    <p:sldId id="347" r:id="rId20"/>
    <p:sldId id="348" r:id="rId21"/>
    <p:sldId id="349" r:id="rId22"/>
    <p:sldId id="350" r:id="rId23"/>
    <p:sldId id="306" r:id="rId24"/>
    <p:sldId id="307" r:id="rId25"/>
  </p:sldIdLst>
  <p:sldSz cx="12192000" cy="6858000"/>
  <p:notesSz cx="6858000" cy="9144000"/>
  <p:embeddedFontLst>
    <p:embeddedFont>
      <p:font typeface="Cutive" charset="0"/>
      <p:regular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Arial Black" pitchFamily="34" charset="0"/>
      <p:bold r:id="rId41"/>
    </p:embeddedFont>
    <p:embeddedFont>
      <p:font typeface="Verdana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90"/>
    <p:restoredTop sz="94691"/>
  </p:normalViewPr>
  <p:slideViewPr>
    <p:cSldViewPr snapToGrid="0">
      <p:cViewPr varScale="1">
        <p:scale>
          <a:sx n="78" d="100"/>
          <a:sy n="78" d="100"/>
        </p:scale>
        <p:origin x="-499" y="-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48432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608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764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3634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009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7982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2161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://commons.wikimedia.org/wiki/File:Group_of_young_people_texting_on_mobile_phones._(10699648676).jp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ommons.wikimedia.org/wiki/File:Group_of_young_people_texting_on_mobile_phones._(10699648676).jpg" TargetMode="External"/><Relationship Id="rId5" Type="http://schemas.microsoft.com/office/2007/relationships/hdphoto" Target="../media/hdphoto2.wdp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12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Ratios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312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96650" y="-12020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75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47707" y="64182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70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20130" y="1403208"/>
            <a:ext cx="11343502" cy="4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MA.6.AR.3.5</a:t>
            </a:r>
          </a:p>
          <a:p>
            <a:pPr marL="4635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ratios, rates, and unit rates, including comparisons, mixtures, ratios of lengths and conversions within the same measurement system.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50" y="1296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58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4" y="-8225"/>
            <a:ext cx="9846925" cy="1206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21847" y="638611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81913" y="1692876"/>
            <a:ext cx="11355859" cy="376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725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89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67515" y="-129978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64" y="306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76896" y="653681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63213" y="1398813"/>
            <a:ext cx="10519651" cy="20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solve problems involving ratios, rates, and unit rates.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9548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092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1858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6.12.1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59" y="18389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xmlns="" id="{079F083F-A67E-0047-8E64-5125815AF3D8}"/>
                  </a:ext>
                </a:extLst>
              </p:cNvPr>
              <p:cNvSpPr/>
              <p:nvPr/>
            </p:nvSpPr>
            <p:spPr>
              <a:xfrm>
                <a:off x="289152" y="1458011"/>
                <a:ext cx="11613695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Mai has to fill and seal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of homemade trail mix to sell at the upcoming farmer’s market. She filled and sealed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minutes.</a:t>
                </a: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Mai wonders, “If I keep working at this rate, will I be able to get all of these done in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hour?”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whether Mai will be able to get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filled in less than 1 hour working at this rate.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52" y="1458011"/>
                <a:ext cx="11613695" cy="3046988"/>
              </a:xfrm>
              <a:prstGeom prst="rect">
                <a:avLst/>
              </a:prstGeom>
              <a:blipFill>
                <a:blip r:embed="rId5"/>
                <a:stretch>
                  <a:fillRect l="-764" t="-1660" b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D28F85A9-92EF-3646-A629-D71AC3FDE345}"/>
              </a:ext>
            </a:extLst>
          </p:cNvPr>
          <p:cNvSpPr txBox="1"/>
          <p:nvPr/>
        </p:nvSpPr>
        <p:spPr>
          <a:xfrm>
            <a:off x="8986922" y="643783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6426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xmlns="" id="{1272CEEC-7D2E-6641-AEED-FCA44983F96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68125" y="-11690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6.12.2 Activity: Station 1: Is It a Deal?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05AB5A2-AF35-B14C-AE54-D2A0628C823C}"/>
              </a:ext>
            </a:extLst>
          </p:cNvPr>
          <p:cNvSpPr/>
          <p:nvPr/>
        </p:nvSpPr>
        <p:spPr>
          <a:xfrm>
            <a:off x="409887" y="1396313"/>
            <a:ext cx="114278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teacher will give you a set of cards showing different offers.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card A and work with your partner to decide whether the offer on card A is a good deal. Explain or show your reasoning in the space provided.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5268C17-F7CB-D243-B65D-166A4DD9987F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xmlns="" id="{81821846-3AE4-3649-9F00-D69BB3BFA9D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886" y="160170"/>
            <a:ext cx="771553" cy="77155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113" y="61889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6EBC228-FF81-F24F-AEB8-9068AF825BE0}"/>
              </a:ext>
            </a:extLst>
          </p:cNvPr>
          <p:cNvSpPr/>
          <p:nvPr/>
        </p:nvSpPr>
        <p:spPr>
          <a:xfrm>
            <a:off x="584886" y="493540"/>
            <a:ext cx="110222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1025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Next, split cards B–E so you and your partner each have two cards.</a:t>
            </a:r>
          </a:p>
          <a:p>
            <a:pPr marL="1238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581025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Decide individually if your two cards are good deals. Explain your reasoning for your two cards in the table.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3DC8F22-04D2-D04F-BA67-53D9B7F3B29F}"/>
              </a:ext>
            </a:extLst>
          </p:cNvPr>
          <p:cNvSpPr txBox="1"/>
          <p:nvPr/>
        </p:nvSpPr>
        <p:spPr>
          <a:xfrm>
            <a:off x="8988220" y="64460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6FC69903-AA40-8E45-B77C-98A2553AF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08554"/>
              </p:ext>
            </p:extLst>
          </p:nvPr>
        </p:nvGraphicFramePr>
        <p:xfrm>
          <a:off x="2573868" y="2224870"/>
          <a:ext cx="7290217" cy="413959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44155">
                  <a:extLst>
                    <a:ext uri="{9D8B030D-6E8A-4147-A177-3AD203B41FA5}">
                      <a16:colId xmlns:a16="http://schemas.microsoft.com/office/drawing/2014/main" xmlns="" val="1642527901"/>
                    </a:ext>
                  </a:extLst>
                </a:gridCol>
                <a:gridCol w="1844155">
                  <a:extLst>
                    <a:ext uri="{9D8B030D-6E8A-4147-A177-3AD203B41FA5}">
                      <a16:colId xmlns:a16="http://schemas.microsoft.com/office/drawing/2014/main" xmlns="" val="2051027406"/>
                    </a:ext>
                  </a:extLst>
                </a:gridCol>
                <a:gridCol w="1844830">
                  <a:extLst>
                    <a:ext uri="{9D8B030D-6E8A-4147-A177-3AD203B41FA5}">
                      <a16:colId xmlns:a16="http://schemas.microsoft.com/office/drawing/2014/main" xmlns="" val="2005381241"/>
                    </a:ext>
                  </a:extLst>
                </a:gridCol>
                <a:gridCol w="1757077">
                  <a:extLst>
                    <a:ext uri="{9D8B030D-6E8A-4147-A177-3AD203B41FA5}">
                      <a16:colId xmlns:a16="http://schemas.microsoft.com/office/drawing/2014/main" xmlns="" val="2465214175"/>
                    </a:ext>
                  </a:extLst>
                </a:gridCol>
              </a:tblGrid>
              <a:tr h="251657"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the new deal a good deal?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9527900"/>
                  </a:ext>
                </a:extLst>
              </a:tr>
              <a:tr h="2516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B</a:t>
                      </a:r>
                      <a:endParaRPr lang="x-none" sz="11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C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D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E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01793794"/>
                  </a:ext>
                </a:extLst>
              </a:tr>
              <a:tr h="35909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53308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63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32FB2E-EC85-7547-997A-F8CC3AB0EE91}"/>
              </a:ext>
            </a:extLst>
          </p:cNvPr>
          <p:cNvSpPr/>
          <p:nvPr/>
        </p:nvSpPr>
        <p:spPr>
          <a:xfrm>
            <a:off x="506627" y="617839"/>
            <a:ext cx="1139293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of your cards, explain to your partner if you think it is a good deal and why. </a:t>
            </a: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Listen to your partner’s explanations for their cards. If you disagree, explain your thinking. Write your partner’s explanation for their cards in the table above, after resolving any differences.</a:t>
            </a: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Revise any decisions about your cards based on the feedback from your partner.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FA85A54A-26B4-2547-91B9-E4095EBEEB48}"/>
              </a:ext>
            </a:extLst>
          </p:cNvPr>
          <p:cNvSpPr txBox="1"/>
          <p:nvPr/>
        </p:nvSpPr>
        <p:spPr>
          <a:xfrm>
            <a:off x="898363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3988" y="620060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0349866-9A2F-9642-8136-D99DA46E15A8}"/>
              </a:ext>
            </a:extLst>
          </p:cNvPr>
          <p:cNvSpPr/>
          <p:nvPr/>
        </p:nvSpPr>
        <p:spPr>
          <a:xfrm>
            <a:off x="642551" y="444843"/>
            <a:ext cx="114052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and your partner are in agreement about cards B–E, place all the cards you think are a good deal in one stack, and all the cards you think are a bad deal in another stack.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Another potential deal is shown.</a:t>
            </a: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A34F9F60-8804-674C-94FA-55DB31DBB9AB}"/>
              </a:ext>
            </a:extLst>
          </p:cNvPr>
          <p:cNvSpPr txBox="1"/>
          <p:nvPr/>
        </p:nvSpPr>
        <p:spPr>
          <a:xfrm>
            <a:off x="884998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xmlns="" id="{3F4AD4E9-1D7E-0842-82BF-4558A74A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095" y="3177366"/>
            <a:ext cx="3813810" cy="30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881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584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28853ABC-DADE-924D-B06F-31B56BCC7722}"/>
                  </a:ext>
                </a:extLst>
              </p:cNvPr>
              <p:cNvSpPr/>
              <p:nvPr/>
            </p:nvSpPr>
            <p:spPr>
              <a:xfrm>
                <a:off x="605481" y="432486"/>
                <a:ext cx="11232291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price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packs of fruit snacks at the same unit price as the original?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Any price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$____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packs of fruit snacks would be considered a good deal because the cost per pack would be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$____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81" y="432486"/>
                <a:ext cx="11232291" cy="4893647"/>
              </a:xfrm>
              <a:prstGeom prst="rect">
                <a:avLst/>
              </a:prstGeom>
              <a:blipFill>
                <a:blip r:embed="rId4"/>
                <a:stretch>
                  <a:fillRect l="-790" t="-1036" b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xmlns="" id="{E025FC87-8EB8-3F4A-835E-2236FC029C15}"/>
              </a:ext>
            </a:extLst>
          </p:cNvPr>
          <p:cNvSpPr txBox="1"/>
          <p:nvPr/>
        </p:nvSpPr>
        <p:spPr>
          <a:xfrm>
            <a:off x="8921847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580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2343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57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AE80E75D-78AE-A94E-86B4-91D469B7BFAD}"/>
              </a:ext>
            </a:extLst>
          </p:cNvPr>
          <p:cNvSpPr txBox="1"/>
          <p:nvPr/>
        </p:nvSpPr>
        <p:spPr>
          <a:xfrm>
            <a:off x="8994150" y="647391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xmlns="" id="{27E3ADF6-E2E0-184C-850A-44E1E280F2D3}"/>
              </a:ext>
            </a:extLst>
          </p:cNvPr>
          <p:cNvSpPr txBox="1">
            <a:spLocks/>
          </p:cNvSpPr>
          <p:nvPr/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xmlns="" id="{17B1370C-D4E0-6948-995D-AF1B036AB93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B2BE9AFC-D858-8947-AE27-3738478587E3}"/>
                  </a:ext>
                </a:extLst>
              </p:cNvPr>
              <p:cNvSpPr/>
              <p:nvPr/>
            </p:nvSpPr>
            <p:spPr>
              <a:xfrm>
                <a:off x="543697" y="1643449"/>
                <a:ext cx="11195222" cy="36205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Diego is trying to follow a recipe, but he cannot find any measuring cups. He only has a tablespoon.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 the cookbook, it says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equals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could Diego use the tablespoon to measure out these ingredients?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almonds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97" y="1643449"/>
                <a:ext cx="11195222" cy="3620529"/>
              </a:xfrm>
              <a:prstGeom prst="rect">
                <a:avLst/>
              </a:prstGeom>
              <a:blipFill>
                <a:blip r:embed="rId4"/>
                <a:stretch>
                  <a:fillRect l="-793" t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A0B3F56A-90D4-0546-BD18-061853EE942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886ABA4E-78D5-F34B-AB91-7B93EB6D347B}"/>
              </a:ext>
            </a:extLst>
          </p:cNvPr>
          <p:cNvSpPr txBox="1">
            <a:spLocks/>
          </p:cNvSpPr>
          <p:nvPr/>
        </p:nvSpPr>
        <p:spPr>
          <a:xfrm>
            <a:off x="1185944" y="-8225"/>
            <a:ext cx="10206985" cy="133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6.12.3 Activity: Station 2: Cooking with a Tablespoon</a:t>
            </a:r>
          </a:p>
        </p:txBody>
      </p:sp>
      <p:pic>
        <p:nvPicPr>
          <p:cNvPr id="11" name="image1.png">
            <a:extLst>
              <a:ext uri="{FF2B5EF4-FFF2-40B4-BE49-F238E27FC236}">
                <a16:creationId xmlns:a16="http://schemas.microsoft.com/office/drawing/2014/main" xmlns="" id="{CC83EDBD-FFE1-2E47-BBE6-19FA0E24EF6B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796" y="160170"/>
            <a:ext cx="771553" cy="77155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49" y="617097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22E7CAFC-319F-CE4F-8B26-ED2749A56CDA}"/>
                  </a:ext>
                </a:extLst>
              </p:cNvPr>
              <p:cNvSpPr/>
              <p:nvPr/>
            </p:nvSpPr>
            <p:spPr>
              <a:xfrm>
                <a:off x="444842" y="432486"/>
                <a:ext cx="11747157" cy="58866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oatmeal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flour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Diego also adds the following ingredients. How many cups of each did he use?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 of sugar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 of cocoa powder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42" y="432486"/>
                <a:ext cx="11747157" cy="5886611"/>
              </a:xfrm>
              <a:prstGeom prst="rect">
                <a:avLst/>
              </a:prstGeom>
              <a:blipFill>
                <a:blip r:embed="rId4"/>
                <a:stretch>
                  <a:fillRect l="-6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00881218-B66A-864E-9C8C-BFF0BA43B327}"/>
              </a:ext>
            </a:extLst>
          </p:cNvPr>
          <p:cNvSpPr txBox="1"/>
          <p:nvPr/>
        </p:nvSpPr>
        <p:spPr>
          <a:xfrm>
            <a:off x="8994149" y="64996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07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5B015B1-FBD0-8E43-9A2E-5A1474505758}"/>
              </a:ext>
            </a:extLst>
          </p:cNvPr>
          <p:cNvSpPr txBox="1"/>
          <p:nvPr/>
        </p:nvSpPr>
        <p:spPr>
          <a:xfrm>
            <a:off x="8994150" y="65093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xmlns="" id="{31FD16D6-D048-B743-9998-BFB93E7A4267}"/>
              </a:ext>
            </a:extLst>
          </p:cNvPr>
          <p:cNvSpPr txBox="1">
            <a:spLocks/>
          </p:cNvSpPr>
          <p:nvPr/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xmlns="" id="{C3415E05-588A-174D-9AA1-70592F46CB5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7095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741405" y="1281050"/>
            <a:ext cx="108986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Jonah was with his friend Erin after school and he needed to text his mom. Erin watched Jonah text and commented on how slow he was. </a:t>
            </a:r>
          </a:p>
          <a:p>
            <a:pPr lvl="0"/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49213"/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decided to have a text race to determine who was faster. The image below shows what each person texted in the race.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24;g103996e1364_0_25">
            <a:extLst>
              <a:ext uri="{FF2B5EF4-FFF2-40B4-BE49-F238E27FC236}">
                <a16:creationId xmlns:a16="http://schemas.microsoft.com/office/drawing/2014/main" xmlns="" id="{28C3CFAE-FBF0-734A-BEFE-9BA511BF3BC0}"/>
              </a:ext>
            </a:extLst>
          </p:cNvPr>
          <p:cNvSpPr txBox="1">
            <a:spLocks/>
          </p:cNvSpPr>
          <p:nvPr/>
        </p:nvSpPr>
        <p:spPr>
          <a:xfrm>
            <a:off x="1373392" y="-216749"/>
            <a:ext cx="9243434" cy="1304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6.12.4 Activity: Station 3: Turbo Texting</a:t>
            </a: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xmlns="" id="{8D9D00E6-431E-7343-932D-5C9A0B0FC2A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" y="60325"/>
            <a:ext cx="771553" cy="771553"/>
          </a:xfrm>
          <a:prstGeom prst="rect">
            <a:avLst/>
          </a:prstGeom>
          <a:ln/>
        </p:spPr>
      </p:pic>
      <p:pic>
        <p:nvPicPr>
          <p:cNvPr id="12" name="Picture 11" descr="File:Group of young people texting on mobile phones ...">
            <a:extLst>
              <a:ext uri="{FF2B5EF4-FFF2-40B4-BE49-F238E27FC236}">
                <a16:creationId xmlns:a16="http://schemas.microsoft.com/office/drawing/2014/main" xmlns="" id="{91A25444-C02F-1E48-9905-74812D6F6FF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rcRect l="50143"/>
          <a:stretch/>
        </p:blipFill>
        <p:spPr bwMode="auto">
          <a:xfrm>
            <a:off x="5028571" y="3653587"/>
            <a:ext cx="1966445" cy="28040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xmlns="" id="{B7E4E5A0-78A8-AA49-9F24-6EAE1CB4800E}"/>
              </a:ext>
            </a:extLst>
          </p:cNvPr>
          <p:cNvSpPr/>
          <p:nvPr/>
        </p:nvSpPr>
        <p:spPr>
          <a:xfrm>
            <a:off x="2468875" y="3204415"/>
            <a:ext cx="2753360" cy="787773"/>
          </a:xfrm>
          <a:prstGeom prst="wedgeRoundRectCallout">
            <a:avLst>
              <a:gd name="adj1" fmla="val 46640"/>
              <a:gd name="adj2" fmla="val 85199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the fastest texter!!! You are so slow! You will never beat me!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xmlns="" id="{9D7FF166-17CC-C54D-BD1B-2B815C67FC35}"/>
              </a:ext>
            </a:extLst>
          </p:cNvPr>
          <p:cNvSpPr/>
          <p:nvPr/>
        </p:nvSpPr>
        <p:spPr>
          <a:xfrm>
            <a:off x="6671315" y="4281387"/>
            <a:ext cx="3060700" cy="863600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so? You’re about to lose this! It’s on!!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840259" y="766120"/>
            <a:ext cx="95648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any initial observations with your partner. 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7811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506627" y="432487"/>
            <a:ext cx="113558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Erin was able to send her text slightly faster than Jonah. Explain if you think this means she is the faster texter.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the relationship you notice between the number of characters in a text versus how long it might take to type it.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additional information would be helpful to determine who is the faster texter?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856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630195" y="376833"/>
            <a:ext cx="11034583" cy="845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image below gives additional information about each person’s text.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391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File:Group of young people texting on mobile phones ...">
            <a:extLst>
              <a:ext uri="{FF2B5EF4-FFF2-40B4-BE49-F238E27FC236}">
                <a16:creationId xmlns:a16="http://schemas.microsoft.com/office/drawing/2014/main" xmlns="" id="{132F871B-DF46-1C49-BB9C-F2D502254F0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rcRect l="50143"/>
          <a:stretch/>
        </p:blipFill>
        <p:spPr bwMode="auto">
          <a:xfrm>
            <a:off x="4779000" y="2146519"/>
            <a:ext cx="2634000" cy="37560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xmlns="" id="{057F83C5-02D7-784C-B4C2-C072D04A4D5D}"/>
              </a:ext>
            </a:extLst>
          </p:cNvPr>
          <p:cNvSpPr/>
          <p:nvPr/>
        </p:nvSpPr>
        <p:spPr>
          <a:xfrm>
            <a:off x="2371705" y="1423835"/>
            <a:ext cx="2634001" cy="1055201"/>
          </a:xfrm>
          <a:prstGeom prst="wedgeRoundRectCallout">
            <a:avLst>
              <a:gd name="adj1" fmla="val 46640"/>
              <a:gd name="adj2" fmla="val 85199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the fastest texter!!! You are so slow! You will never beat me!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xmlns="" id="{3353F475-3524-FA45-A072-084E634336CA}"/>
              </a:ext>
            </a:extLst>
          </p:cNvPr>
          <p:cNvSpPr/>
          <p:nvPr/>
        </p:nvSpPr>
        <p:spPr>
          <a:xfrm>
            <a:off x="6807200" y="4024521"/>
            <a:ext cx="2867602" cy="830997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so? You’re about to lose this! It’s on!!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xmlns="" id="{5447E8BB-3F29-8340-B9D6-960F2276EC8E}"/>
              </a:ext>
            </a:extLst>
          </p:cNvPr>
          <p:cNvSpPr txBox="1"/>
          <p:nvPr/>
        </p:nvSpPr>
        <p:spPr>
          <a:xfrm>
            <a:off x="5121277" y="1673746"/>
            <a:ext cx="2065020" cy="63690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67 characters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7.4 seconds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xmlns="" id="{14C67FD6-3ACE-1942-8758-25CE075D9E87}"/>
              </a:ext>
            </a:extLst>
          </p:cNvPr>
          <p:cNvSpPr txBox="1"/>
          <p:nvPr/>
        </p:nvSpPr>
        <p:spPr>
          <a:xfrm>
            <a:off x="7599240" y="4998951"/>
            <a:ext cx="2065020" cy="63690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46 characters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6.5 seconds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42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6288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564246" y="555032"/>
            <a:ext cx="11121081" cy="54516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or small group to determine who is the faster texter, using your preferred strategy. Show your work.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Jonah and Erin decided to send one last text to see who could send it out faster. The image shows the text they each sent.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154 characters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8941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xmlns="" id="{1B628FE0-14A0-C743-A959-08B6F3449798}"/>
              </a:ext>
            </a:extLst>
          </p:cNvPr>
          <p:cNvSpPr/>
          <p:nvPr/>
        </p:nvSpPr>
        <p:spPr>
          <a:xfrm>
            <a:off x="2713566" y="3280841"/>
            <a:ext cx="3411220" cy="1900555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So let’s settle this once and for all. I am a way faster texter and there is nothing you can do about it. I am the GOAT and you’ll never catch me! I won!!</a:t>
            </a:r>
            <a:endParaRPr lang="x-none" sz="900" i="1" dirty="0">
              <a:latin typeface="Cambria Math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xmlns="" id="{D75A3D71-5014-AE4B-AFB5-961F4C8C946E}"/>
              </a:ext>
            </a:extLst>
          </p:cNvPr>
          <p:cNvSpPr/>
          <p:nvPr/>
        </p:nvSpPr>
        <p:spPr>
          <a:xfrm>
            <a:off x="6276260" y="3280841"/>
            <a:ext cx="3359150" cy="1899920"/>
          </a:xfrm>
          <a:prstGeom prst="wedgeRoundRectCallout">
            <a:avLst>
              <a:gd name="adj1" fmla="val 48326"/>
              <a:gd name="adj2" fmla="val 77835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So let’s settle this once and for all. I am a way faster texter and there is nothing you can do about it. I am the GOAT and you’ll never catch me! I won!!</a:t>
            </a:r>
            <a:endParaRPr lang="x-none" sz="900" i="1" dirty="0">
              <a:latin typeface="Cambria Math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0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84678E3-B391-614C-B449-94320C557524}"/>
              </a:ext>
            </a:extLst>
          </p:cNvPr>
          <p:cNvSpPr/>
          <p:nvPr/>
        </p:nvSpPr>
        <p:spPr>
          <a:xfrm>
            <a:off x="753762" y="432485"/>
            <a:ext cx="111705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both people sent the message above at the same rate as before, predict about how many seconds it took each person to text the message to the nearest tenth of a second. Show your work.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C0A2C9F-B1E2-2341-BED9-0F18CDA0FBF6}"/>
              </a:ext>
            </a:extLst>
          </p:cNvPr>
          <p:cNvSpPr txBox="1"/>
          <p:nvPr/>
        </p:nvSpPr>
        <p:spPr>
          <a:xfrm>
            <a:off x="8994150" y="64996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3D3BF626-155B-9D4C-A452-8DE3CA049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08067"/>
              </p:ext>
            </p:extLst>
          </p:nvPr>
        </p:nvGraphicFramePr>
        <p:xfrm>
          <a:off x="3810000" y="2485760"/>
          <a:ext cx="4572000" cy="1371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03817382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7369164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Person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Predicted Time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086055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Jonah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684318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Erin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70587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775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BBAE5D4-A013-554B-AF18-FD3C50BA4B0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881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26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54969" y="-19586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6.12.5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375" y="1037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20425D2-BFDA-974E-9037-009E6465CCF0}"/>
              </a:ext>
            </a:extLst>
          </p:cNvPr>
          <p:cNvSpPr txBox="1"/>
          <p:nvPr/>
        </p:nvSpPr>
        <p:spPr>
          <a:xfrm>
            <a:off x="898426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063DFEE-4230-964C-8033-52B2E95C5FB1}"/>
              </a:ext>
            </a:extLst>
          </p:cNvPr>
          <p:cNvSpPr/>
          <p:nvPr/>
        </p:nvSpPr>
        <p:spPr>
          <a:xfrm>
            <a:off x="630195" y="1200344"/>
            <a:ext cx="100378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learning period based on today’s lesson.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xmlns="" id="{A8B4F769-8500-E04F-B761-449A48CB1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085735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question I would like to have answered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xmlns="" id="{7ADEE2C5-903B-EF45-AFF3-36E49182C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mistake I learned from today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xmlns="" id="{6814EE01-5551-C14D-8E12-3366AF089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27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not sure about … YET!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xmlns="" id="{65BA8C2E-F167-544D-B9BA-FD03648EF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4769300"/>
            <a:ext cx="501926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confident I know is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925</Words>
  <Application>Microsoft Office PowerPoint</Application>
  <PresentationFormat>Custom</PresentationFormat>
  <Paragraphs>182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Cutive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Verdana</vt:lpstr>
      <vt:lpstr>1_Office Theme</vt:lpstr>
      <vt:lpstr>6th Grade Math  Unit 6, Lesson 12  Solving Problems Involving Ratios  Volume 1, pg. 312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21</cp:revision>
  <dcterms:created xsi:type="dcterms:W3CDTF">2015-03-17T18:51:18Z</dcterms:created>
  <dcterms:modified xsi:type="dcterms:W3CDTF">2022-06-05T03:30:15Z</dcterms:modified>
</cp:coreProperties>
</file>