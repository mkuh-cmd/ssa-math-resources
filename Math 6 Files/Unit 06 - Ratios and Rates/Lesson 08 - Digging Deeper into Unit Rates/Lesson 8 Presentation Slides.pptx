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46" r:id="rId8"/>
    <p:sldId id="289" r:id="rId9"/>
    <p:sldId id="290" r:id="rId10"/>
    <p:sldId id="336" r:id="rId11"/>
    <p:sldId id="337" r:id="rId12"/>
    <p:sldId id="347" r:id="rId13"/>
    <p:sldId id="348" r:id="rId14"/>
    <p:sldId id="323" r:id="rId15"/>
    <p:sldId id="324" r:id="rId16"/>
    <p:sldId id="349" r:id="rId17"/>
    <p:sldId id="350" r:id="rId18"/>
    <p:sldId id="351" r:id="rId19"/>
    <p:sldId id="311" r:id="rId20"/>
    <p:sldId id="312" r:id="rId21"/>
    <p:sldId id="352" r:id="rId22"/>
    <p:sldId id="353" r:id="rId23"/>
    <p:sldId id="344" r:id="rId24"/>
    <p:sldId id="345" r:id="rId25"/>
    <p:sldId id="306" r:id="rId26"/>
    <p:sldId id="307" r:id="rId27"/>
  </p:sldIdLst>
  <p:sldSz cx="12192000" cy="6858000"/>
  <p:notesSz cx="6858000" cy="9144000"/>
  <p:embeddedFontLst>
    <p:embeddedFont>
      <p:font typeface="Arial Black" panose="020B0A04020102020204" pitchFamily="34" charset="0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Century Gothic" panose="020B0502020202020204" pitchFamily="34" charset="0"/>
      <p:regular r:id="rId35"/>
      <p:bold r:id="rId36"/>
      <p:italic r:id="rId37"/>
      <p:boldItalic r:id="rId38"/>
    </p:embeddedFont>
    <p:embeddedFont>
      <p:font typeface="Verdana" panose="020B060403050404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B7D4"/>
    <a:srgbClr val="276C46"/>
    <a:srgbClr val="C9DF6F"/>
    <a:srgbClr val="417DBF"/>
    <a:srgbClr val="3F2A67"/>
    <a:srgbClr val="E24E5F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3"/>
    <p:restoredTop sz="94718"/>
  </p:normalViewPr>
  <p:slideViewPr>
    <p:cSldViewPr snapToGrid="0">
      <p:cViewPr varScale="1">
        <p:scale>
          <a:sx n="81" d="100"/>
          <a:sy n="81" d="100"/>
        </p:scale>
        <p:origin x="60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464817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0656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792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69145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99566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00924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78831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94439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94226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74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84191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0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Digging Deeper into Unit Rates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292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-87293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375" y="1782947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8514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6457" y="-58414"/>
            <a:ext cx="88672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157" y="23078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7314749" y="6455229"/>
            <a:ext cx="4077169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19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881743" y="1175658"/>
            <a:ext cx="102038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MA.6.AR.3.2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real-world context, determine a rate for a ratio of quantities with different units. Calculate and interpret the corresponding unit rate.</a:t>
            </a:r>
          </a:p>
          <a:p>
            <a:pPr indent="0">
              <a:buNone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MA.6.AR.3.5</a:t>
            </a:r>
          </a:p>
          <a:p>
            <a:pPr marL="46355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ratios, rates, and unit rates, including comparisons, mixtures, ratios of lengths and conversions within the same measurement system.</a:t>
            </a: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sym typeface="Century Gothic"/>
            </a:endParaRPr>
          </a:p>
          <a:p>
            <a:pPr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465" y="14929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8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08765" y="-57102"/>
            <a:ext cx="118008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7314749" y="6400800"/>
            <a:ext cx="407170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317168" y="1433105"/>
            <a:ext cx="764184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97631" y="-11085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331" y="17834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7314749" y="6466113"/>
            <a:ext cx="424587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23288" y="1504045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determine a unit rate when given different ratios. 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interpret unit rates in real-world contexts.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use unit rates to solve problems.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7314750" y="6498771"/>
            <a:ext cx="417514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35278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2548" y="614861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02678" y="-124372"/>
            <a:ext cx="942880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6.8.1 Warm-Up: Ticket Booth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378" y="1648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9F083F-A67E-0047-8E64-5125815AF3D8}"/>
              </a:ext>
            </a:extLst>
          </p:cNvPr>
          <p:cNvSpPr/>
          <p:nvPr/>
        </p:nvSpPr>
        <p:spPr>
          <a:xfrm>
            <a:off x="674915" y="1191148"/>
            <a:ext cx="96599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a local fall festival, the following prices are shown at the ticket booth.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D28F85A9-92EF-3646-A629-D71AC3FDE345}"/>
              </a:ext>
            </a:extLst>
          </p:cNvPr>
          <p:cNvSpPr txBox="1"/>
          <p:nvPr/>
        </p:nvSpPr>
        <p:spPr>
          <a:xfrm>
            <a:off x="7314750" y="6433457"/>
            <a:ext cx="4207798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25C81-4018-4249-A54A-3B9B7E8ABB3D}"/>
              </a:ext>
            </a:extLst>
          </p:cNvPr>
          <p:cNvSpPr/>
          <p:nvPr/>
        </p:nvSpPr>
        <p:spPr>
          <a:xfrm>
            <a:off x="2012327" y="2428276"/>
            <a:ext cx="379680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performing any calculations, explain which option you think would be the best.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4F2C20F-E4E9-C945-8426-40631A1B3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5596577"/>
                  </p:ext>
                </p:extLst>
              </p:nvPr>
            </p:nvGraphicFramePr>
            <p:xfrm>
              <a:off x="6322502" y="2428276"/>
              <a:ext cx="3730475" cy="237040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80025">
                      <a:extLst>
                        <a:ext uri="{9D8B030D-6E8A-4147-A177-3AD203B41FA5}">
                          <a16:colId xmlns:a16="http://schemas.microsoft.com/office/drawing/2014/main" val="120997661"/>
                        </a:ext>
                      </a:extLst>
                    </a:gridCol>
                    <a:gridCol w="1150450">
                      <a:extLst>
                        <a:ext uri="{9D8B030D-6E8A-4147-A177-3AD203B41FA5}">
                          <a16:colId xmlns:a16="http://schemas.microsoft.com/office/drawing/2014/main" val="2844231856"/>
                        </a:ext>
                      </a:extLst>
                    </a:gridCol>
                  </a:tblGrid>
                  <a:tr h="395068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Ticket Prices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5852647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Ticket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$0.50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58357785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12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Tickets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$5.00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48561318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25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Tickets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$10.00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0611450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50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Tickets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$25.00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39113130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120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Tickets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$50.00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17806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4F2C20F-E4E9-C945-8426-40631A1B3E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5596577"/>
                  </p:ext>
                </p:extLst>
              </p:nvPr>
            </p:nvGraphicFramePr>
            <p:xfrm>
              <a:off x="6322502" y="2428276"/>
              <a:ext cx="3730475" cy="237040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80025">
                      <a:extLst>
                        <a:ext uri="{9D8B030D-6E8A-4147-A177-3AD203B41FA5}">
                          <a16:colId xmlns:a16="http://schemas.microsoft.com/office/drawing/2014/main" val="120997661"/>
                        </a:ext>
                      </a:extLst>
                    </a:gridCol>
                    <a:gridCol w="1150450">
                      <a:extLst>
                        <a:ext uri="{9D8B030D-6E8A-4147-A177-3AD203B41FA5}">
                          <a16:colId xmlns:a16="http://schemas.microsoft.com/office/drawing/2014/main" val="2844231856"/>
                        </a:ext>
                      </a:extLst>
                    </a:gridCol>
                  </a:tblGrid>
                  <a:tr h="395068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Ticket Prices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5852647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6" t="-104615" r="-45047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4868" t="-104615" r="-1058" b="-4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8357785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6" t="-204615" r="-45047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4868" t="-204615" r="-1058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8561318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6" t="-304615" r="-4504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4868" t="-304615" r="-1058" b="-2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0611450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6" t="-404615" r="-45047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4868" t="-404615" r="-1058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9113130"/>
                      </a:ext>
                    </a:extLst>
                  </a:tr>
                  <a:tr h="3950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6" t="-504615" r="-4504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4868" t="-504615" r="-1058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78066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319" y="613785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9F083F-A67E-0047-8E64-5125815AF3D8}"/>
              </a:ext>
            </a:extLst>
          </p:cNvPr>
          <p:cNvSpPr/>
          <p:nvPr/>
        </p:nvSpPr>
        <p:spPr>
          <a:xfrm>
            <a:off x="566057" y="366395"/>
            <a:ext cx="976884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Determine a pair of ratios, </a:t>
            </a:r>
            <a:r>
              <a:rPr lang="en-US" sz="2400" dirty="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tickets:price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that appear to be equivalent. Write them in the space below.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46088" indent="-34925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it is not possible to determine a pair of equivalent ratios from the sign, select one ratio and write another one that is equivalent.</a:t>
            </a:r>
          </a:p>
          <a:p>
            <a:pPr marL="446088" indent="-34925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46088" indent="-34925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___ ticket(s) : $______</a:t>
            </a:r>
          </a:p>
          <a:p>
            <a:pPr marL="446088" indent="-34925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___ ticket(s) : $______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what factor can both values in the first ratio be multiplied to find the second ratio?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D28F85A9-92EF-3646-A629-D71AC3FDE345}"/>
              </a:ext>
            </a:extLst>
          </p:cNvPr>
          <p:cNvSpPr txBox="1"/>
          <p:nvPr/>
        </p:nvSpPr>
        <p:spPr>
          <a:xfrm>
            <a:off x="7314749" y="6491605"/>
            <a:ext cx="42295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8714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5400" y="-405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E80E75D-78AE-A94E-86B4-91D469B7BFAD}"/>
              </a:ext>
            </a:extLst>
          </p:cNvPr>
          <p:cNvSpPr txBox="1"/>
          <p:nvPr/>
        </p:nvSpPr>
        <p:spPr>
          <a:xfrm>
            <a:off x="7314749" y="6422571"/>
            <a:ext cx="419691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26975" y="-85979"/>
            <a:ext cx="1093439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6.8.2 Guided Instruction: Interpreting Unit Rate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9675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BE9AFC-D858-8947-AE27-3738478587E3}"/>
              </a:ext>
            </a:extLst>
          </p:cNvPr>
          <p:cNvSpPr/>
          <p:nvPr/>
        </p:nvSpPr>
        <p:spPr>
          <a:xfrm>
            <a:off x="892629" y="1331161"/>
            <a:ext cx="964652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 rate 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a ratio comparing a number of units of a quantity to ___ unit of another quantity. 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Several rates are listed. Circle those that represent a unit rate.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0B3F56A-90D4-0546-BD18-061853EE9422}"/>
              </a:ext>
            </a:extLst>
          </p:cNvPr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18C8768-2245-9148-9811-AAE919BDF4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8499822"/>
                  </p:ext>
                </p:extLst>
              </p:nvPr>
            </p:nvGraphicFramePr>
            <p:xfrm>
              <a:off x="2778050" y="4102062"/>
              <a:ext cx="6940550" cy="170706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0275">
                      <a:extLst>
                        <a:ext uri="{9D8B030D-6E8A-4147-A177-3AD203B41FA5}">
                          <a16:colId xmlns:a16="http://schemas.microsoft.com/office/drawing/2014/main" val="2834906014"/>
                        </a:ext>
                      </a:extLst>
                    </a:gridCol>
                    <a:gridCol w="3470275">
                      <a:extLst>
                        <a:ext uri="{9D8B030D-6E8A-4147-A177-3AD203B41FA5}">
                          <a16:colId xmlns:a16="http://schemas.microsoft.com/office/drawing/2014/main" val="1881990017"/>
                        </a:ext>
                      </a:extLst>
                    </a:gridCol>
                  </a:tblGrid>
                  <a:tr h="5690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earning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$42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for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hours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35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miles per gallon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3411603"/>
                      </a:ext>
                    </a:extLst>
                  </a:tr>
                  <a:tr h="5690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75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miles per hour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2.5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miles in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24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minutes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15683474"/>
                      </a:ext>
                    </a:extLst>
                  </a:tr>
                  <a:tr h="5690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each banana costs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$0.29</m:t>
                              </m:r>
                            </m:oMath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12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inches for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foot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124543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18C8768-2245-9148-9811-AAE919BDF4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8499822"/>
                  </p:ext>
                </p:extLst>
              </p:nvPr>
            </p:nvGraphicFramePr>
            <p:xfrm>
              <a:off x="2778050" y="4102062"/>
              <a:ext cx="6940550" cy="170706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0275">
                      <a:extLst>
                        <a:ext uri="{9D8B030D-6E8A-4147-A177-3AD203B41FA5}">
                          <a16:colId xmlns:a16="http://schemas.microsoft.com/office/drawing/2014/main" val="2834906014"/>
                        </a:ext>
                      </a:extLst>
                    </a:gridCol>
                    <a:gridCol w="3470275">
                      <a:extLst>
                        <a:ext uri="{9D8B030D-6E8A-4147-A177-3AD203B41FA5}">
                          <a16:colId xmlns:a16="http://schemas.microsoft.com/office/drawing/2014/main" val="1881990017"/>
                        </a:ext>
                      </a:extLst>
                    </a:gridCol>
                  </a:tblGrid>
                  <a:tr h="5690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100000" b="-1989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b="-1989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411603"/>
                      </a:ext>
                    </a:extLst>
                  </a:tr>
                  <a:tr h="5690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01075" r="-100000" b="-101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01075" b="-101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5683474"/>
                      </a:ext>
                    </a:extLst>
                  </a:tr>
                  <a:tr h="5690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98936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989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24543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136" y="-1187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522514" y="241676"/>
                <a:ext cx="9974036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Tia was hiking on the Florida National Scenic Trail. She hiked a total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hours. The tape diagram models the distance and time she hiked.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14" y="241676"/>
                <a:ext cx="9974036" cy="1015663"/>
              </a:xfrm>
              <a:prstGeom prst="rect">
                <a:avLst/>
              </a:prstGeom>
              <a:blipFill>
                <a:blip r:embed="rId4"/>
                <a:stretch>
                  <a:fillRect l="-672" t="-4217" r="-978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1BEFF465-A5AC-4A43-8947-87EA64985643}"/>
              </a:ext>
            </a:extLst>
          </p:cNvPr>
          <p:cNvSpPr/>
          <p:nvPr/>
        </p:nvSpPr>
        <p:spPr>
          <a:xfrm>
            <a:off x="1763486" y="3212225"/>
            <a:ext cx="864733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Notice that each tape diagram is the same size because it represents quantities in the same situation.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Fill in each box of the tape diagram to show the value it represents.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0881218-B66A-864E-9C8C-BFF0BA43B327}"/>
              </a:ext>
            </a:extLst>
          </p:cNvPr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24FB357-376A-0544-AD10-040071E7BD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2652023"/>
                  </p:ext>
                </p:extLst>
              </p:nvPr>
            </p:nvGraphicFramePr>
            <p:xfrm>
              <a:off x="2625725" y="1527663"/>
              <a:ext cx="6940550" cy="103592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82975">
                      <a:extLst>
                        <a:ext uri="{9D8B030D-6E8A-4147-A177-3AD203B41FA5}">
                          <a16:colId xmlns:a16="http://schemas.microsoft.com/office/drawing/2014/main" val="2536226388"/>
                        </a:ext>
                      </a:extLst>
                    </a:gridCol>
                    <a:gridCol w="1728470">
                      <a:extLst>
                        <a:ext uri="{9D8B030D-6E8A-4147-A177-3AD203B41FA5}">
                          <a16:colId xmlns:a16="http://schemas.microsoft.com/office/drawing/2014/main" val="2551055131"/>
                        </a:ext>
                      </a:extLst>
                    </a:gridCol>
                    <a:gridCol w="1729105">
                      <a:extLst>
                        <a:ext uri="{9D8B030D-6E8A-4147-A177-3AD203B41FA5}">
                          <a16:colId xmlns:a16="http://schemas.microsoft.com/office/drawing/2014/main" val="2034071266"/>
                        </a:ext>
                      </a:extLst>
                    </a:gridCol>
                  </a:tblGrid>
                  <a:tr h="423284">
                    <a:tc>
                      <a:txBody>
                        <a:bodyPr/>
                        <a:lstStyle/>
                        <a:p>
                          <a:pPr marL="72771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Tia hiked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4.5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miles.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4957409"/>
                      </a:ext>
                    </a:extLst>
                  </a:tr>
                  <a:tr h="164932">
                    <a:tc>
                      <a:txBody>
                        <a:bodyPr/>
                        <a:lstStyle/>
                        <a:p>
                          <a:pPr marL="72771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87283324"/>
                      </a:ext>
                    </a:extLst>
                  </a:tr>
                  <a:tr h="423284">
                    <a:tc>
                      <a:txBody>
                        <a:bodyPr/>
                        <a:lstStyle/>
                        <a:p>
                          <a:pPr marL="72771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Tia hiked for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hours.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4310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24FB357-376A-0544-AD10-040071E7BD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2652023"/>
                  </p:ext>
                </p:extLst>
              </p:nvPr>
            </p:nvGraphicFramePr>
            <p:xfrm>
              <a:off x="2625725" y="1527663"/>
              <a:ext cx="6940550" cy="103592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82975">
                      <a:extLst>
                        <a:ext uri="{9D8B030D-6E8A-4147-A177-3AD203B41FA5}">
                          <a16:colId xmlns:a16="http://schemas.microsoft.com/office/drawing/2014/main" val="2536226388"/>
                        </a:ext>
                      </a:extLst>
                    </a:gridCol>
                    <a:gridCol w="1728470">
                      <a:extLst>
                        <a:ext uri="{9D8B030D-6E8A-4147-A177-3AD203B41FA5}">
                          <a16:colId xmlns:a16="http://schemas.microsoft.com/office/drawing/2014/main" val="2551055131"/>
                        </a:ext>
                      </a:extLst>
                    </a:gridCol>
                    <a:gridCol w="1729105">
                      <a:extLst>
                        <a:ext uri="{9D8B030D-6E8A-4147-A177-3AD203B41FA5}">
                          <a16:colId xmlns:a16="http://schemas.microsoft.com/office/drawing/2014/main" val="2034071266"/>
                        </a:ext>
                      </a:extLst>
                    </a:gridCol>
                  </a:tblGrid>
                  <a:tr h="423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4286" r="-100350" b="-16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4957409"/>
                      </a:ext>
                    </a:extLst>
                  </a:tr>
                  <a:tr h="189357">
                    <a:tc>
                      <a:txBody>
                        <a:bodyPr/>
                        <a:lstStyle/>
                        <a:p>
                          <a:pPr marL="72771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87283324"/>
                      </a:ext>
                    </a:extLst>
                  </a:tr>
                  <a:tr h="423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48571" r="-100350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4310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CD6B6F-929B-8F47-BFEE-44ED1D0E863F}"/>
                  </a:ext>
                </a:extLst>
              </p:cNvPr>
              <p:cNvSpPr/>
              <p:nvPr/>
            </p:nvSpPr>
            <p:spPr>
              <a:xfrm>
                <a:off x="1249952" y="1460511"/>
                <a:ext cx="9692096" cy="3477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Tia’s unit rate in miles per hour?</a:t>
                </a:r>
              </a:p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50838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50838" indent="-3508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tape diagram that represents the time it would take Tia to hike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 on the trail at this pace.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CD6B6F-929B-8F47-BFEE-44ED1D0E8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52" y="1460511"/>
                <a:ext cx="9692096" cy="3477875"/>
              </a:xfrm>
              <a:prstGeom prst="rect">
                <a:avLst/>
              </a:prstGeom>
              <a:blipFill>
                <a:blip r:embed="rId4"/>
                <a:stretch>
                  <a:fillRect l="-692" t="-1228" b="-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id="{7FE8CD52-CF69-634B-9F05-4A24C91B9247}"/>
              </a:ext>
            </a:extLst>
          </p:cNvPr>
          <p:cNvSpPr txBox="1"/>
          <p:nvPr/>
        </p:nvSpPr>
        <p:spPr>
          <a:xfrm>
            <a:off x="7314749" y="6466113"/>
            <a:ext cx="41533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CD6B6F-929B-8F47-BFEE-44ED1D0E863F}"/>
                  </a:ext>
                </a:extLst>
              </p:cNvPr>
              <p:cNvSpPr/>
              <p:nvPr/>
            </p:nvSpPr>
            <p:spPr>
              <a:xfrm>
                <a:off x="1012371" y="469910"/>
                <a:ext cx="9507039" cy="1478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Carter bikes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hours around the city.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fill in each box of the tape diagram to show the value it represents. Be sure to include units.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CD6B6F-929B-8F47-BFEE-44ED1D0E8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371" y="469910"/>
                <a:ext cx="9507039" cy="1478162"/>
              </a:xfrm>
              <a:prstGeom prst="rect">
                <a:avLst/>
              </a:prstGeom>
              <a:blipFill>
                <a:blip r:embed="rId4"/>
                <a:stretch>
                  <a:fillRect l="-705" b="-4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id="{7FE8CD52-CF69-634B-9F05-4A24C91B9247}"/>
              </a:ext>
            </a:extLst>
          </p:cNvPr>
          <p:cNvSpPr txBox="1"/>
          <p:nvPr/>
        </p:nvSpPr>
        <p:spPr>
          <a:xfrm>
            <a:off x="7314750" y="6457675"/>
            <a:ext cx="417514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FAF0C5-15C4-CA49-B50F-2939AA9B4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568438"/>
              </p:ext>
            </p:extLst>
          </p:nvPr>
        </p:nvGraphicFramePr>
        <p:xfrm>
          <a:off x="2625724" y="2354143"/>
          <a:ext cx="7075120" cy="1297936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414608">
                  <a:extLst>
                    <a:ext uri="{9D8B030D-6E8A-4147-A177-3AD203B41FA5}">
                      <a16:colId xmlns:a16="http://schemas.microsoft.com/office/drawing/2014/main" val="2551055131"/>
                    </a:ext>
                  </a:extLst>
                </a:gridCol>
                <a:gridCol w="1415128">
                  <a:extLst>
                    <a:ext uri="{9D8B030D-6E8A-4147-A177-3AD203B41FA5}">
                      <a16:colId xmlns:a16="http://schemas.microsoft.com/office/drawing/2014/main" val="2034071266"/>
                    </a:ext>
                  </a:extLst>
                </a:gridCol>
                <a:gridCol w="1415128">
                  <a:extLst>
                    <a:ext uri="{9D8B030D-6E8A-4147-A177-3AD203B41FA5}">
                      <a16:colId xmlns:a16="http://schemas.microsoft.com/office/drawing/2014/main" val="3808625946"/>
                    </a:ext>
                  </a:extLst>
                </a:gridCol>
                <a:gridCol w="1415128">
                  <a:extLst>
                    <a:ext uri="{9D8B030D-6E8A-4147-A177-3AD203B41FA5}">
                      <a16:colId xmlns:a16="http://schemas.microsoft.com/office/drawing/2014/main" val="3746183667"/>
                    </a:ext>
                  </a:extLst>
                </a:gridCol>
                <a:gridCol w="1415128">
                  <a:extLst>
                    <a:ext uri="{9D8B030D-6E8A-4147-A177-3AD203B41FA5}">
                      <a16:colId xmlns:a16="http://schemas.microsoft.com/office/drawing/2014/main" val="1192462446"/>
                    </a:ext>
                  </a:extLst>
                </a:gridCol>
              </a:tblGrid>
              <a:tr h="423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957409"/>
                  </a:ext>
                </a:extLst>
              </a:tr>
              <a:tr h="4513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7283324"/>
                  </a:ext>
                </a:extLst>
              </a:tr>
              <a:tr h="423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3107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00E3362-D4D9-BB4F-96B4-6BC07682D951}"/>
              </a:ext>
            </a:extLst>
          </p:cNvPr>
          <p:cNvSpPr/>
          <p:nvPr/>
        </p:nvSpPr>
        <p:spPr>
          <a:xfrm>
            <a:off x="1143000" y="4057081"/>
            <a:ext cx="9376410" cy="400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Interpret the unit rate for Carter’s bike ride. Include units.</a:t>
            </a:r>
          </a:p>
        </p:txBody>
      </p:sp>
    </p:spTree>
    <p:extLst>
      <p:ext uri="{BB962C8B-B14F-4D97-AF65-F5344CB8AC3E}">
        <p14:creationId xmlns:p14="http://schemas.microsoft.com/office/powerpoint/2010/main" val="4109509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CD6B6F-929B-8F47-BFEE-44ED1D0E863F}"/>
              </a:ext>
            </a:extLst>
          </p:cNvPr>
          <p:cNvSpPr/>
          <p:nvPr/>
        </p:nvSpPr>
        <p:spPr>
          <a:xfrm>
            <a:off x="762000" y="469910"/>
            <a:ext cx="97574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which person is moving slower, Tia or Carter. Include the unit rates in your explanation.</a:t>
            </a:r>
          </a:p>
        </p:txBody>
      </p:sp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id="{7FE8CD52-CF69-634B-9F05-4A24C91B9247}"/>
              </a:ext>
            </a:extLst>
          </p:cNvPr>
          <p:cNvSpPr txBox="1"/>
          <p:nvPr/>
        </p:nvSpPr>
        <p:spPr>
          <a:xfrm>
            <a:off x="7314750" y="6487885"/>
            <a:ext cx="41098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96BAC8-FE52-1D4C-A3D2-468246859E02}"/>
              </a:ext>
            </a:extLst>
          </p:cNvPr>
          <p:cNvSpPr/>
          <p:nvPr/>
        </p:nvSpPr>
        <p:spPr>
          <a:xfrm>
            <a:off x="1371600" y="2394858"/>
            <a:ext cx="9147810" cy="2453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each scenario, the unit rate in                           can be determined by                      the number of               traveled by the number of                traveled.  </a:t>
            </a:r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1FCD653A-37CB-134B-8E85-4D2CDFD782F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1804" y="3009076"/>
            <a:ext cx="2153930" cy="707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3F2CDB-4330-6D43-B5E6-995DD7E2C81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8178" y="3717421"/>
            <a:ext cx="1697795" cy="711366"/>
          </a:xfrm>
          <a:prstGeom prst="rect">
            <a:avLst/>
          </a:prstGeom>
        </p:spPr>
      </p:pic>
      <p:pic>
        <p:nvPicPr>
          <p:cNvPr id="11" name="Picture 10" descr="A picture containing shape&#10;&#10;Description automatically generated">
            <a:extLst>
              <a:ext uri="{FF2B5EF4-FFF2-40B4-BE49-F238E27FC236}">
                <a16:creationId xmlns:a16="http://schemas.microsoft.com/office/drawing/2014/main" id="{09BDE7F1-C4FF-1749-BA0F-BE22EE7B6F9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2551" y="3739493"/>
            <a:ext cx="1141052" cy="711367"/>
          </a:xfrm>
          <a:prstGeom prst="rect">
            <a:avLst/>
          </a:prstGeom>
        </p:spPr>
      </p:pic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39CEF825-2B58-F34A-ADD5-BD007683D3A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1932" y="4420878"/>
            <a:ext cx="1141052" cy="711367"/>
          </a:xfrm>
          <a:prstGeom prst="rect">
            <a:avLst/>
          </a:prstGeom>
        </p:spPr>
      </p:pic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8DE9F949-04CA-1DDF-4B82-811B202EA058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7974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E5B015B1-FBD0-8E43-9A2E-5A1474505758}"/>
              </a:ext>
            </a:extLst>
          </p:cNvPr>
          <p:cNvSpPr txBox="1"/>
          <p:nvPr/>
        </p:nvSpPr>
        <p:spPr>
          <a:xfrm>
            <a:off x="7314750" y="6476999"/>
            <a:ext cx="417514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091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8968" y="-37211"/>
            <a:ext cx="1064387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6.8.3 Guided Practice: Using Unit Rates to Solve Problems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9160" y="13970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4678E3-B391-614C-B449-94320C557524}"/>
              </a:ext>
            </a:extLst>
          </p:cNvPr>
          <p:cNvSpPr/>
          <p:nvPr/>
        </p:nvSpPr>
        <p:spPr>
          <a:xfrm>
            <a:off x="849086" y="1288489"/>
            <a:ext cx="948581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 rates would be helpful in considering the ticket booth from the Warm-Up. Miguel set up the table shown to consider the costs per ticket for each advertised price.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complete the table. Then, answer the questions that follow.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C0A2C9F-B1E2-2341-BED9-0F18CDA0FBF6}"/>
              </a:ext>
            </a:extLst>
          </p:cNvPr>
          <p:cNvSpPr txBox="1"/>
          <p:nvPr/>
        </p:nvSpPr>
        <p:spPr>
          <a:xfrm>
            <a:off x="7314749" y="6455229"/>
            <a:ext cx="4196165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6E69B28-08A3-E743-BD48-D024CA03EF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1247247"/>
                  </p:ext>
                </p:extLst>
              </p:nvPr>
            </p:nvGraphicFramePr>
            <p:xfrm>
              <a:off x="2895600" y="3577095"/>
              <a:ext cx="6400800" cy="23774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133600">
                      <a:extLst>
                        <a:ext uri="{9D8B030D-6E8A-4147-A177-3AD203B41FA5}">
                          <a16:colId xmlns:a16="http://schemas.microsoft.com/office/drawing/2014/main" val="2205867757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2732852851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6257343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Cost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Tickets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Cost per Ticket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658687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$0.50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$0.50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869679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$5.00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486813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$10.00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826208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$25.00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9973913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$50.00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120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91559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6E69B28-08A3-E743-BD48-D024CA03EF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1247247"/>
                  </p:ext>
                </p:extLst>
              </p:nvPr>
            </p:nvGraphicFramePr>
            <p:xfrm>
              <a:off x="2895600" y="3577095"/>
              <a:ext cx="6400800" cy="23774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133600">
                      <a:extLst>
                        <a:ext uri="{9D8B030D-6E8A-4147-A177-3AD203B41FA5}">
                          <a16:colId xmlns:a16="http://schemas.microsoft.com/office/drawing/2014/main" val="2205867757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2732852851"/>
                        </a:ext>
                      </a:extLst>
                    </a:gridCol>
                    <a:gridCol w="2133600">
                      <a:extLst>
                        <a:ext uri="{9D8B030D-6E8A-4147-A177-3AD203B41FA5}">
                          <a16:colId xmlns:a16="http://schemas.microsoft.com/office/drawing/2014/main" val="6257343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 Cost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Tickets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Cost per Ticket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658687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71" t="-170000" r="-200857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71" t="-170000" r="-100857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571" t="-170000" r="-857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69679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71" t="-265574" r="-200857" b="-2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71" t="-265574" r="-100857" b="-2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486813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71" t="-371667" r="-200857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71" t="-371667" r="-100857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826208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71" t="-471667" r="-200857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71" t="-471667" r="-100857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9973913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71" t="-571667" r="-20085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71" t="-571667" r="-10085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91559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4678E3-B391-614C-B449-94320C557524}"/>
              </a:ext>
            </a:extLst>
          </p:cNvPr>
          <p:cNvSpPr/>
          <p:nvPr/>
        </p:nvSpPr>
        <p:spPr>
          <a:xfrm>
            <a:off x="751114" y="303751"/>
            <a:ext cx="958378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the unit rates, explain which ticket option(s) is(are) the best deal.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the unit rates, explain which ticket options are the same deal.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your answer to the previous question to the equivalent ratios you determined in the Warm-Up. Make any revisions to your previous thinking, as necessary.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discuss recommendations for how the high school should change its prices for carnival tickets.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C0A2C9F-B1E2-2341-BED9-0F18CDA0FBF6}"/>
              </a:ext>
            </a:extLst>
          </p:cNvPr>
          <p:cNvSpPr txBox="1"/>
          <p:nvPr/>
        </p:nvSpPr>
        <p:spPr>
          <a:xfrm>
            <a:off x="7314749" y="6476999"/>
            <a:ext cx="419691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1058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4678E3-B391-614C-B449-94320C557524}"/>
              </a:ext>
            </a:extLst>
          </p:cNvPr>
          <p:cNvSpPr/>
          <p:nvPr/>
        </p:nvSpPr>
        <p:spPr>
          <a:xfrm>
            <a:off x="522514" y="303751"/>
            <a:ext cx="98123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Holly, Frank, and Ella work part-time for Shoes-R-Us. The table shows how much money each person earns during a work week.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C0A2C9F-B1E2-2341-BED9-0F18CDA0FBF6}"/>
              </a:ext>
            </a:extLst>
          </p:cNvPr>
          <p:cNvSpPr txBox="1"/>
          <p:nvPr/>
        </p:nvSpPr>
        <p:spPr>
          <a:xfrm>
            <a:off x="7314750" y="6476999"/>
            <a:ext cx="41098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5EA5FA2-56C0-1648-9E60-08A426457B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8934207"/>
                  </p:ext>
                </p:extLst>
              </p:nvPr>
            </p:nvGraphicFramePr>
            <p:xfrm>
              <a:off x="2895600" y="1578134"/>
              <a:ext cx="6400800" cy="16459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13255">
                      <a:extLst>
                        <a:ext uri="{9D8B030D-6E8A-4147-A177-3AD203B41FA5}">
                          <a16:colId xmlns:a16="http://schemas.microsoft.com/office/drawing/2014/main" val="2316305447"/>
                        </a:ext>
                      </a:extLst>
                    </a:gridCol>
                    <a:gridCol w="2313305">
                      <a:extLst>
                        <a:ext uri="{9D8B030D-6E8A-4147-A177-3AD203B41FA5}">
                          <a16:colId xmlns:a16="http://schemas.microsoft.com/office/drawing/2014/main" val="3071645710"/>
                        </a:ext>
                      </a:extLst>
                    </a:gridCol>
                    <a:gridCol w="2174240">
                      <a:extLst>
                        <a:ext uri="{9D8B030D-6E8A-4147-A177-3AD203B41FA5}">
                          <a16:colId xmlns:a16="http://schemas.microsoft.com/office/drawing/2014/main" val="228890985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Employee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Weekly Pay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Hours Worked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39837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Holly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$165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94873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Frank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$162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8877134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Ella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$170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20179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5EA5FA2-56C0-1648-9E60-08A426457B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8934207"/>
                  </p:ext>
                </p:extLst>
              </p:nvPr>
            </p:nvGraphicFramePr>
            <p:xfrm>
              <a:off x="2895600" y="1578134"/>
              <a:ext cx="6400800" cy="16459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13255">
                      <a:extLst>
                        <a:ext uri="{9D8B030D-6E8A-4147-A177-3AD203B41FA5}">
                          <a16:colId xmlns:a16="http://schemas.microsoft.com/office/drawing/2014/main" val="2316305447"/>
                        </a:ext>
                      </a:extLst>
                    </a:gridCol>
                    <a:gridCol w="2313305">
                      <a:extLst>
                        <a:ext uri="{9D8B030D-6E8A-4147-A177-3AD203B41FA5}">
                          <a16:colId xmlns:a16="http://schemas.microsoft.com/office/drawing/2014/main" val="3071645710"/>
                        </a:ext>
                      </a:extLst>
                    </a:gridCol>
                    <a:gridCol w="2174240">
                      <a:extLst>
                        <a:ext uri="{9D8B030D-6E8A-4147-A177-3AD203B41FA5}">
                          <a16:colId xmlns:a16="http://schemas.microsoft.com/office/drawing/2014/main" val="2288909855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Employee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Weekly Pay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Hours Worked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39837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Holly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377" t="-167213" r="-94987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4678" t="-167213" r="-840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4873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Frank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377" t="-271667" r="-9498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4678" t="-271667" r="-840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877134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Ella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377" t="-371667" r="-94987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4678" t="-371667" r="-840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20179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A5AD4419-7AD6-A747-B733-671DCCEA040A}"/>
              </a:ext>
            </a:extLst>
          </p:cNvPr>
          <p:cNvSpPr/>
          <p:nvPr/>
        </p:nvSpPr>
        <p:spPr>
          <a:xfrm>
            <a:off x="1284514" y="3539320"/>
            <a:ext cx="905038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answer the following questions using the information in the table.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and interpret the hourly rate Holly earns.</a:t>
            </a:r>
          </a:p>
        </p:txBody>
      </p:sp>
    </p:spTree>
    <p:extLst>
      <p:ext uri="{BB962C8B-B14F-4D97-AF65-F5344CB8AC3E}">
        <p14:creationId xmlns:p14="http://schemas.microsoft.com/office/powerpoint/2010/main" val="3812115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0286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84678E3-B391-614C-B449-94320C557524}"/>
                  </a:ext>
                </a:extLst>
              </p:cNvPr>
              <p:cNvSpPr/>
              <p:nvPr/>
            </p:nvSpPr>
            <p:spPr>
              <a:xfrm>
                <a:off x="1012371" y="303750"/>
                <a:ext cx="9322530" cy="3477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employee earns the higher hourly rate, Ella or Frank?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Frank works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hours next week, how much should he expect to earn?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84678E3-B391-614C-B449-94320C557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371" y="303750"/>
                <a:ext cx="9322530" cy="3477875"/>
              </a:xfrm>
              <a:prstGeom prst="rect">
                <a:avLst/>
              </a:prstGeom>
              <a:blipFill>
                <a:blip r:embed="rId4"/>
                <a:stretch>
                  <a:fillRect l="-719" t="-1228" b="-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C0A2C9F-B1E2-2341-BED9-0F18CDA0FBF6}"/>
              </a:ext>
            </a:extLst>
          </p:cNvPr>
          <p:cNvSpPr txBox="1"/>
          <p:nvPr/>
        </p:nvSpPr>
        <p:spPr>
          <a:xfrm>
            <a:off x="7314749" y="6476999"/>
            <a:ext cx="41533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6390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7314749" y="6487885"/>
            <a:ext cx="41533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4.png">
            <a:extLst>
              <a:ext uri="{FF2B5EF4-FFF2-40B4-BE49-F238E27FC236}">
                <a16:creationId xmlns:a16="http://schemas.microsoft.com/office/drawing/2014/main" id="{AE4EF799-9382-984E-A2E3-D60FA0E0CBC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630950" y="2814305"/>
            <a:ext cx="1174516" cy="117451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06465" y="-212220"/>
            <a:ext cx="1101056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6.8.4 Collaboration: Using and Interpreting Unit Rates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/>
              <p:nvPr/>
            </p:nvSpPr>
            <p:spPr>
              <a:xfrm>
                <a:off x="843148" y="1113480"/>
                <a:ext cx="10323417" cy="41537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Work with your partner to interpret the unit rates for each situation.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Tyler paid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large candy bars.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Tyler interprets the unit rate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$3</m:t>
                        </m:r>
                      </m:num>
                      <m:den>
                        <m:r>
                          <a:rPr lang="es-ES" sz="22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s-ES" sz="22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bar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914400">
                  <a:tabLst>
                    <a:tab pos="344488" algn="l"/>
                  </a:tabLst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His friend Ben interprets the unit rate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2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s-ES" sz="22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bar</m:t>
                        </m:r>
                      </m:num>
                      <m:den>
                        <m:r>
                          <a:rPr lang="es-ES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$3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Which person interpreted the unit rate correctly?</a:t>
                </a:r>
              </a:p>
              <a:p>
                <a:pPr marL="914400" indent="-457200"/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 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Based on the unit rate, how many candy bars can Tyler purchase for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$45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1113480"/>
                <a:ext cx="10323417" cy="4153701"/>
              </a:xfrm>
              <a:prstGeom prst="rect">
                <a:avLst/>
              </a:prstGeom>
              <a:blipFill>
                <a:blip r:embed="rId4"/>
                <a:stretch>
                  <a:fillRect l="-767" t="-881" r="-1299" b="-2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85268C17-F7CB-D243-B65D-166A4DD9987F}"/>
              </a:ext>
            </a:extLst>
          </p:cNvPr>
          <p:cNvSpPr txBox="1"/>
          <p:nvPr/>
        </p:nvSpPr>
        <p:spPr>
          <a:xfrm>
            <a:off x="7314749" y="6466113"/>
            <a:ext cx="413159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4.png">
            <a:extLst>
              <a:ext uri="{FF2B5EF4-FFF2-40B4-BE49-F238E27FC236}">
                <a16:creationId xmlns:a16="http://schemas.microsoft.com/office/drawing/2014/main" id="{A64D9E54-3A2A-E941-9066-8D3BA23AF420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0828" y="60325"/>
            <a:ext cx="780611" cy="78061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4" y="61441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/>
              <p:nvPr/>
            </p:nvSpPr>
            <p:spPr>
              <a:xfrm>
                <a:off x="620487" y="356071"/>
                <a:ext cx="9735940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Aaliyah’s family drinks a total of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gallons of milk every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weeks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gallons of apple juice every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weeks.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lvl="4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beverage does Aaliyah’s family drink more of in one week? </a:t>
                </a: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4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many weeks does it take the family to consume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gallon of milk?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7" y="356071"/>
                <a:ext cx="9735940" cy="4154984"/>
              </a:xfrm>
              <a:prstGeom prst="rect">
                <a:avLst/>
              </a:prstGeom>
              <a:blipFill>
                <a:blip r:embed="rId4"/>
                <a:stretch>
                  <a:fillRect l="-877" t="-1173" r="-1753" b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85268C17-F7CB-D243-B65D-166A4DD9987F}"/>
              </a:ext>
            </a:extLst>
          </p:cNvPr>
          <p:cNvSpPr txBox="1"/>
          <p:nvPr/>
        </p:nvSpPr>
        <p:spPr>
          <a:xfrm>
            <a:off x="7314750" y="6501929"/>
            <a:ext cx="416425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9476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103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/>
              <p:nvPr/>
            </p:nvSpPr>
            <p:spPr>
              <a:xfrm>
                <a:off x="915056" y="889471"/>
                <a:ext cx="10465978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Carlos buys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bottles of spring water for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$3.60 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jars of pasta sauce for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$9.69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does each item, a bottle of spring water and a jar of pasta sauce, cost per unit?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would be Carlos’ total cost if he purchased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bottles of spring water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jars of pasta sauce at their unit prices? 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56" y="889471"/>
                <a:ext cx="10465978" cy="4154984"/>
              </a:xfrm>
              <a:prstGeom prst="rect">
                <a:avLst/>
              </a:prstGeom>
              <a:blipFill>
                <a:blip r:embed="rId4"/>
                <a:stretch>
                  <a:fillRect l="-757" t="-1173" b="-1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85268C17-F7CB-D243-B65D-166A4DD9987F}"/>
              </a:ext>
            </a:extLst>
          </p:cNvPr>
          <p:cNvSpPr txBox="1"/>
          <p:nvPr/>
        </p:nvSpPr>
        <p:spPr>
          <a:xfrm>
            <a:off x="7314750" y="6501929"/>
            <a:ext cx="406628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30C4BE0-7B91-6C6D-4E9A-43CF6C61558B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8063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108858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5461" y="613925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459339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7314749" y="6455229"/>
            <a:ext cx="4120711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13.png" descr="Icon&#10;&#10;Description automatically generated">
            <a:extLst>
              <a:ext uri="{FF2B5EF4-FFF2-40B4-BE49-F238E27FC236}">
                <a16:creationId xmlns:a16="http://schemas.microsoft.com/office/drawing/2014/main" id="{12527496-84C5-5640-8307-EE80BFD874B4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630951" y="2814306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9762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3257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09320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74811" y="60325"/>
            <a:ext cx="1189893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6.8.5 Bring It Together: Interpreting Unit Rates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AB5A2-AF35-B14C-AE54-D2A0628C823C}"/>
              </a:ext>
            </a:extLst>
          </p:cNvPr>
          <p:cNvSpPr/>
          <p:nvPr/>
        </p:nvSpPr>
        <p:spPr>
          <a:xfrm>
            <a:off x="892629" y="1521193"/>
            <a:ext cx="950105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write three statements to summarize your learning about unit rates from today’s lesson.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85268C17-F7CB-D243-B65D-166A4DD9987F}"/>
              </a:ext>
            </a:extLst>
          </p:cNvPr>
          <p:cNvSpPr txBox="1"/>
          <p:nvPr/>
        </p:nvSpPr>
        <p:spPr>
          <a:xfrm>
            <a:off x="7314750" y="6466113"/>
            <a:ext cx="41098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3.png" descr="Icon&#10;&#10;Description automatically generated">
            <a:extLst>
              <a:ext uri="{FF2B5EF4-FFF2-40B4-BE49-F238E27FC236}">
                <a16:creationId xmlns:a16="http://schemas.microsoft.com/office/drawing/2014/main" id="{98CAC696-6934-9448-BCC5-67D6AD92EBE1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2557" y="243135"/>
            <a:ext cx="752254" cy="75225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54715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7797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BBAE5D4-A013-554B-AF18-FD3C50BA4B04}"/>
              </a:ext>
            </a:extLst>
          </p:cNvPr>
          <p:cNvSpPr txBox="1"/>
          <p:nvPr/>
        </p:nvSpPr>
        <p:spPr>
          <a:xfrm>
            <a:off x="7314749" y="6433457"/>
            <a:ext cx="416425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8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0881" y="-82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6.8.6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568" y="22361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A85065-1747-6C4E-8BA4-9C1ED8A185A6}"/>
                  </a:ext>
                </a:extLst>
              </p:cNvPr>
              <p:cNvSpPr/>
              <p:nvPr/>
            </p:nvSpPr>
            <p:spPr>
              <a:xfrm>
                <a:off x="936171" y="1393501"/>
                <a:ext cx="9526089" cy="4093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cheesecake recipe says, “Mix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ounces (oz) of cream cheese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oz of sugar.”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How many ounces of cream cheese are needed per ounce of sugar?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ounces of sugar are used for each ounce of cream cheese?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Max plans to make more than one cheesecake. How much cream cheese will she need to mix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oz of sugar?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A85065-1747-6C4E-8BA4-9C1ED8A185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1393501"/>
                <a:ext cx="9526089" cy="4093428"/>
              </a:xfrm>
              <a:prstGeom prst="rect">
                <a:avLst/>
              </a:prstGeom>
              <a:blipFill>
                <a:blip r:embed="rId5"/>
                <a:stretch>
                  <a:fillRect l="-704" t="-894" r="-192" b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D20425D2-BFDA-974E-9037-009E6465CCF0}"/>
              </a:ext>
            </a:extLst>
          </p:cNvPr>
          <p:cNvSpPr txBox="1"/>
          <p:nvPr/>
        </p:nvSpPr>
        <p:spPr>
          <a:xfrm>
            <a:off x="7314750" y="6444343"/>
            <a:ext cx="4131598" cy="41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6414944-BCBB-2D5C-15CD-237D38FA55D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1353</TotalTime>
  <Words>1353</Words>
  <Application>Microsoft Office PowerPoint</Application>
  <PresentationFormat>Widescreen</PresentationFormat>
  <Paragraphs>250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Century Gothic</vt:lpstr>
      <vt:lpstr>Wingdings</vt:lpstr>
      <vt:lpstr>Cambria Math</vt:lpstr>
      <vt:lpstr>Arial Black</vt:lpstr>
      <vt:lpstr>Verdana</vt:lpstr>
      <vt:lpstr>Arial</vt:lpstr>
      <vt:lpstr>Calibri</vt:lpstr>
      <vt:lpstr>1_Office Theme</vt:lpstr>
      <vt:lpstr>6th Grade Math  Unit 6, Lesson 8  Digging Deeper into Unit Rates  Volume 1, pg. 292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21</cp:revision>
  <dcterms:created xsi:type="dcterms:W3CDTF">2015-03-17T18:51:18Z</dcterms:created>
  <dcterms:modified xsi:type="dcterms:W3CDTF">2022-07-08T14:29:17Z</dcterms:modified>
</cp:coreProperties>
</file>