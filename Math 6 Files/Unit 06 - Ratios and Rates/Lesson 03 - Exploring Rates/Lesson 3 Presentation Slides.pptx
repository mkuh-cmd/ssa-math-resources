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5" r:id="rId11"/>
    <p:sldId id="344" r:id="rId12"/>
    <p:sldId id="289" r:id="rId13"/>
    <p:sldId id="290" r:id="rId14"/>
    <p:sldId id="336" r:id="rId15"/>
    <p:sldId id="337" r:id="rId16"/>
    <p:sldId id="323" r:id="rId17"/>
    <p:sldId id="324" r:id="rId18"/>
    <p:sldId id="346" r:id="rId19"/>
    <p:sldId id="302" r:id="rId20"/>
    <p:sldId id="303" r:id="rId21"/>
    <p:sldId id="340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982"/>
    <a:srgbClr val="FFE3DE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94"/>
  </p:normalViewPr>
  <p:slideViewPr>
    <p:cSldViewPr snapToGrid="0">
      <p:cViewPr varScale="1">
        <p:scale>
          <a:sx n="104" d="100"/>
          <a:sy n="104" d="100"/>
        </p:scale>
        <p:origin x="66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3010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549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https://lh6.googleusercontent.com/oObS7Kbzu-sJf3gQex-s9DH_ImD6_UoZQBKOzf7GXWPRGecYVkmRUzk8cInlVNiZMXsM095LQ4PQyNFwLwGw231xaBxT2HGAT0Ax0vNRfR7wZcUoWRotrp8mvpAD-xh_g4eNxiiB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Rates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267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0200"/>
            <a:ext cx="91629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 rate for a ratio of quantities with different units. Calculate and interpret the corresponding unit rate.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25199" y="1695579"/>
            <a:ext cx="10057807" cy="3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56575" y="1547093"/>
            <a:ext cx="93450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ratios and rates to describe relationships between quantities. 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ratio as a unit rate.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130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41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31345" y="60325"/>
            <a:ext cx="886079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04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1031346" y="1526898"/>
                <a:ext cx="1012930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Would you rather share the small bag of chips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friend or the large bag of chips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friends? Explain your reasoning using mathematics.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46" y="1526898"/>
                <a:ext cx="10129307" cy="1200329"/>
              </a:xfrm>
              <a:prstGeom prst="rect">
                <a:avLst/>
              </a:prstGeom>
              <a:blipFill>
                <a:blip r:embed="rId5"/>
                <a:stretch>
                  <a:fillRect l="-1003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28F85A9-92EF-3646-A629-D71AC3FDE345}"/>
              </a:ext>
            </a:extLst>
          </p:cNvPr>
          <p:cNvSpPr txBox="1"/>
          <p:nvPr/>
        </p:nvSpPr>
        <p:spPr>
          <a:xfrm>
            <a:off x="887519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C273F04E-A3EC-1543-833E-02FBA8B7BC36}"/>
                  </a:ext>
                </a:extLst>
              </p:cNvPr>
              <p:cNvSpPr txBox="1"/>
              <p:nvPr/>
            </p:nvSpPr>
            <p:spPr>
              <a:xfrm>
                <a:off x="5781598" y="3690824"/>
                <a:ext cx="1477645" cy="34163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C273F04E-A3EC-1543-833E-02FBA8B7B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598" y="3690824"/>
                <a:ext cx="1477645" cy="341630"/>
              </a:xfrm>
              <a:prstGeom prst="rect">
                <a:avLst/>
              </a:prstGeom>
              <a:blipFill>
                <a:blip r:embed="rId6"/>
                <a:stretch>
                  <a:fillRect t="-14286" b="-28571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C637960D-65F0-B94E-80B8-1824663E8407}"/>
                  </a:ext>
                </a:extLst>
              </p:cNvPr>
              <p:cNvSpPr txBox="1"/>
              <p:nvPr/>
            </p:nvSpPr>
            <p:spPr>
              <a:xfrm>
                <a:off x="7786293" y="2858339"/>
                <a:ext cx="1477645" cy="34163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C637960D-65F0-B94E-80B8-1824663E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293" y="2858339"/>
                <a:ext cx="1477645" cy="341630"/>
              </a:xfrm>
              <a:prstGeom prst="rect">
                <a:avLst/>
              </a:prstGeom>
              <a:blipFill>
                <a:blip r:embed="rId7"/>
                <a:stretch>
                  <a:fillRect t="-17857" b="-28571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D1961A1-1190-C44D-8BFB-8C1A64A1D6F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22" r="-585"/>
          <a:stretch/>
        </p:blipFill>
        <p:spPr bwMode="auto">
          <a:xfrm rot="424604">
            <a:off x="7327823" y="3391105"/>
            <a:ext cx="2470785" cy="30232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C7216E-1C59-1D48-92C6-75C2ADB70E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07" b="4007"/>
          <a:stretch>
            <a:fillRect/>
          </a:stretch>
        </p:blipFill>
        <p:spPr bwMode="auto">
          <a:xfrm rot="343297">
            <a:off x="5616497" y="4118180"/>
            <a:ext cx="1902460" cy="21710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98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415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73FA3-D8F9-814B-BB40-500B21B2F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951" y="2814306"/>
            <a:ext cx="1156227" cy="1156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9800" y="68550"/>
            <a:ext cx="107918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6.3.2 Collaboration: Expressing Ratios in Different 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1048607" y="1244687"/>
                <a:ext cx="10033593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Ratios are often expressed in the real world as an amount of “something per something.” For example, in setting the world record, Joey Chestnut 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hot dogs per minute.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each of the following scenarios with your partner and work together to answer the questions.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recipe for marinara sauce requires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ounces (oz) of whole peeled tomatoes. The recipe yields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servings of marinara sauce.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846138" indent="-3952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ratio of tomatoes to sauce?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607" y="1244687"/>
                <a:ext cx="10033593" cy="4524315"/>
              </a:xfrm>
              <a:prstGeom prst="rect">
                <a:avLst/>
              </a:prstGeom>
              <a:blipFill>
                <a:blip r:embed="rId4"/>
                <a:stretch>
                  <a:fillRect l="-1011" t="-838" r="-1770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AC679-C92F-654C-BE46-108D8DDC92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374" y="316676"/>
            <a:ext cx="758233" cy="75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CCC182-7DD9-DC4B-BFD8-B80E5ECEE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791927"/>
              </p:ext>
            </p:extLst>
          </p:nvPr>
        </p:nvGraphicFramePr>
        <p:xfrm>
          <a:off x="4337190" y="1903891"/>
          <a:ext cx="5017770" cy="5022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26745">
                  <a:extLst>
                    <a:ext uri="{9D8B030D-6E8A-4147-A177-3AD203B41FA5}">
                      <a16:colId xmlns:a16="http://schemas.microsoft.com/office/drawing/2014/main" val="62804962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01424742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53484780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91507041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794731374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7898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69677318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670468661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7628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EBC228-FF81-F24F-AEB8-9068AF825BE0}"/>
              </a:ext>
            </a:extLst>
          </p:cNvPr>
          <p:cNvSpPr/>
          <p:nvPr/>
        </p:nvSpPr>
        <p:spPr>
          <a:xfrm>
            <a:off x="1019503" y="190102"/>
            <a:ext cx="1014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102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tape diagram to represent the ratio of tomatoes to sauce.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E27E0-2718-1640-ADB3-4847EA195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736723"/>
                  </p:ext>
                </p:extLst>
              </p:nvPr>
            </p:nvGraphicFramePr>
            <p:xfrm>
              <a:off x="2837040" y="1146651"/>
              <a:ext cx="6517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02385">
                      <a:extLst>
                        <a:ext uri="{9D8B030D-6E8A-4147-A177-3AD203B41FA5}">
                          <a16:colId xmlns:a16="http://schemas.microsoft.com/office/drawing/2014/main" val="3270596438"/>
                        </a:ext>
                      </a:extLst>
                    </a:gridCol>
                    <a:gridCol w="197766">
                      <a:extLst>
                        <a:ext uri="{9D8B030D-6E8A-4147-A177-3AD203B41FA5}">
                          <a16:colId xmlns:a16="http://schemas.microsoft.com/office/drawing/2014/main" val="150920522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179747684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372408068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255833325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405486069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2384995988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14168613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76304880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690858919"/>
                        </a:ext>
                      </a:extLst>
                    </a:gridCol>
                  </a:tblGrid>
                  <a:tr h="381635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(ounces)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15706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034663"/>
                      </a:ext>
                    </a:extLst>
                  </a:tr>
                  <a:tr h="473075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Sauce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(servings)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18865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E27E0-2718-1640-ADB3-4847EA195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736723"/>
                  </p:ext>
                </p:extLst>
              </p:nvPr>
            </p:nvGraphicFramePr>
            <p:xfrm>
              <a:off x="2837040" y="1146651"/>
              <a:ext cx="6517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02385">
                      <a:extLst>
                        <a:ext uri="{9D8B030D-6E8A-4147-A177-3AD203B41FA5}">
                          <a16:colId xmlns:a16="http://schemas.microsoft.com/office/drawing/2014/main" val="3270596438"/>
                        </a:ext>
                      </a:extLst>
                    </a:gridCol>
                    <a:gridCol w="197766">
                      <a:extLst>
                        <a:ext uri="{9D8B030D-6E8A-4147-A177-3AD203B41FA5}">
                          <a16:colId xmlns:a16="http://schemas.microsoft.com/office/drawing/2014/main" val="150920522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179747684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372408068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255833325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405486069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2384995988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14168613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76304880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69085891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(ounces)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157061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03466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Sauce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(servings)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6000" t="-145455" r="-692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42857" t="-145455" r="-6061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4000" t="-145455" r="-494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44898" t="-145455" r="-404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32000" t="-145455" r="-296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46939" t="-145455" r="-20204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30000" t="-145455" r="-98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48980" t="-145455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86552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840B10-6307-CF45-9F44-8A0FDD0ED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644425"/>
              </p:ext>
            </p:extLst>
          </p:nvPr>
        </p:nvGraphicFramePr>
        <p:xfrm>
          <a:off x="4337190" y="1189516"/>
          <a:ext cx="5017770" cy="5022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26745">
                  <a:extLst>
                    <a:ext uri="{9D8B030D-6E8A-4147-A177-3AD203B41FA5}">
                      <a16:colId xmlns:a16="http://schemas.microsoft.com/office/drawing/2014/main" val="62804962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01424742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53484780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91507041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794731374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7898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69677318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670468661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762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083648-1FCD-B242-B1F5-D33C829004C9}"/>
                  </a:ext>
                </a:extLst>
              </p:cNvPr>
              <p:cNvSpPr/>
              <p:nvPr/>
            </p:nvSpPr>
            <p:spPr>
              <a:xfrm>
                <a:off x="1019503" y="2904727"/>
                <a:ext cx="1014248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8102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ounces of whole peeled tomatoes are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serving of marinara sauce?</a:t>
                </a: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ratio.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083648-1FCD-B242-B1F5-D33C82900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03" y="2904727"/>
                <a:ext cx="10142483" cy="1938992"/>
              </a:xfrm>
              <a:prstGeom prst="rect">
                <a:avLst/>
              </a:prstGeom>
              <a:blipFill>
                <a:blip r:embed="rId5"/>
                <a:stretch>
                  <a:fillRect t="-1299" r="-125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88A88-8A56-4940-B249-C7C20644397B}"/>
                  </a:ext>
                </a:extLst>
              </p:cNvPr>
              <p:cNvSpPr txBox="1"/>
              <p:nvPr/>
            </p:nvSpPr>
            <p:spPr>
              <a:xfrm>
                <a:off x="3777852" y="5221622"/>
                <a:ext cx="4636294" cy="73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__________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oz</m:t>
                          </m:r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tomatoes</m:t>
                          </m:r>
                        </m:num>
                        <m:den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serving</m:t>
                          </m:r>
                        </m:den>
                      </m:f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88A88-8A56-4940-B249-C7C206443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852" y="5221622"/>
                <a:ext cx="4636294" cy="731419"/>
              </a:xfrm>
              <a:prstGeom prst="rect">
                <a:avLst/>
              </a:prstGeom>
              <a:blipFill>
                <a:blip r:embed="rId6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D32FB2E-EC85-7547-997A-F8CC3AB0EE91}"/>
                  </a:ext>
                </a:extLst>
              </p:cNvPr>
              <p:cNvSpPr/>
              <p:nvPr/>
            </p:nvSpPr>
            <p:spPr>
              <a:xfrm>
                <a:off x="872359" y="357337"/>
                <a:ext cx="10651565" cy="3723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2012, there were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982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farms in Hardee County, Florida. The total amount of farmland was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273,978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acres.  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68313" indent="-174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Write the ratio of acres : farms.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39687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68313" indent="-174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Complete the statement.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41275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total amount of farmland in Hardee County is split up among all the farms, so to determine the average number of acres for 1 farm,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D32FB2E-EC85-7547-997A-F8CC3AB0E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9" y="357337"/>
                <a:ext cx="10651565" cy="3723392"/>
              </a:xfrm>
              <a:prstGeom prst="rect">
                <a:avLst/>
              </a:prstGeom>
              <a:blipFill>
                <a:blip r:embed="rId4"/>
                <a:stretch>
                  <a:fillRect l="-476" t="-1020" r="-952" b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A85A54A-26B4-2547-91B9-E4095EBEEB4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40AE3303-9D80-5248-A52A-57C5432AD99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141" y="4151698"/>
            <a:ext cx="2634000" cy="20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349866-9A2F-9642-8136-D99DA46E15A8}"/>
              </a:ext>
            </a:extLst>
          </p:cNvPr>
          <p:cNvSpPr/>
          <p:nvPr/>
        </p:nvSpPr>
        <p:spPr>
          <a:xfrm>
            <a:off x="934543" y="939500"/>
            <a:ext cx="84696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ratio.</a:t>
            </a: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34F9F60-8804-674C-94FA-55DB31DBB9AB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9C5F21-0D29-9747-B0AB-13320348CD9C}"/>
                  </a:ext>
                </a:extLst>
              </p:cNvPr>
              <p:cNvSpPr txBox="1"/>
              <p:nvPr/>
            </p:nvSpPr>
            <p:spPr>
              <a:xfrm>
                <a:off x="3711754" y="1794779"/>
                <a:ext cx="4636294" cy="619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__________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acres</m:t>
                          </m:r>
                        </m:num>
                        <m:den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farm</m:t>
                          </m:r>
                        </m:den>
                      </m:f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9C5F21-0D29-9747-B0AB-13320348C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754" y="1794779"/>
                <a:ext cx="4636294" cy="619465"/>
              </a:xfrm>
              <a:prstGeom prst="rect">
                <a:avLst/>
              </a:prstGeom>
              <a:blipFill>
                <a:blip r:embed="rId4"/>
                <a:stretch>
                  <a:fillRect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FE47BFD-3101-0443-81E9-B071C26BECEE}"/>
              </a:ext>
            </a:extLst>
          </p:cNvPr>
          <p:cNvSpPr/>
          <p:nvPr/>
        </p:nvSpPr>
        <p:spPr>
          <a:xfrm>
            <a:off x="934543" y="2954809"/>
            <a:ext cx="1069360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whether you think this number of acres per 1 farm means that every farm in Hardee County was that size in 2012. Then, write a brief summary of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90043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551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85979"/>
            <a:ext cx="110342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6.3.3 Guided Instruction: Understanding Rates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1052648" y="1197812"/>
            <a:ext cx="10438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of the ratios discussed so far in this lesson are also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5728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F25CF3-4B39-9544-86A6-190F7DA294E2}"/>
              </a:ext>
            </a:extLst>
          </p:cNvPr>
          <p:cNvGrpSpPr/>
          <p:nvPr/>
        </p:nvGrpSpPr>
        <p:grpSpPr>
          <a:xfrm>
            <a:off x="2331225" y="2303055"/>
            <a:ext cx="7834200" cy="1652676"/>
            <a:chOff x="1581225" y="2673352"/>
            <a:chExt cx="7834200" cy="162433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8B7F52-034D-084F-8CCF-24E5003EE67C}"/>
                </a:ext>
              </a:extLst>
            </p:cNvPr>
            <p:cNvGrpSpPr/>
            <p:nvPr/>
          </p:nvGrpSpPr>
          <p:grpSpPr>
            <a:xfrm>
              <a:off x="1581225" y="2673352"/>
              <a:ext cx="7834200" cy="1624336"/>
              <a:chOff x="1581225" y="2784664"/>
              <a:chExt cx="7834200" cy="162433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86BCF3-C5BA-6747-988E-A6C6E1118F24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0AE1286-2DF4-AC4F-8EFC-B16DB62E9079}"/>
                  </a:ext>
                </a:extLst>
              </p:cNvPr>
              <p:cNvGrpSpPr/>
              <p:nvPr/>
            </p:nvGrpSpPr>
            <p:grpSpPr>
              <a:xfrm>
                <a:off x="1581225" y="2784664"/>
                <a:ext cx="7834200" cy="1401736"/>
                <a:chOff x="1581225" y="2784664"/>
                <a:chExt cx="7834200" cy="140173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0C1426A-BF86-464F-9B18-A2184562C053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4AC232C-B437-EB4C-8964-D2E9BCEA0E21}"/>
                    </a:ext>
                  </a:extLst>
                </p:cNvPr>
                <p:cNvGrpSpPr/>
                <p:nvPr/>
              </p:nvGrpSpPr>
              <p:grpSpPr>
                <a:xfrm>
                  <a:off x="1581225" y="2784664"/>
                  <a:ext cx="7834200" cy="1401736"/>
                  <a:chOff x="-450075" y="-588936"/>
                  <a:chExt cx="7834200" cy="1401736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427F6F0-DF88-AD4F-8BC1-66B832B9F66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Rounded Rectangle 16">
                    <a:extLst>
                      <a:ext uri="{FF2B5EF4-FFF2-40B4-BE49-F238E27FC236}">
                        <a16:creationId xmlns:a16="http://schemas.microsoft.com/office/drawing/2014/main" id="{99A378DF-2B29-6349-BAC7-9CFF31AC2388}"/>
                      </a:ext>
                    </a:extLst>
                  </p:cNvPr>
                  <p:cNvSpPr/>
                  <p:nvPr/>
                </p:nvSpPr>
                <p:spPr>
                  <a:xfrm>
                    <a:off x="-450075" y="-588936"/>
                    <a:ext cx="7834200" cy="812329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628650"/>
                    <a:endPara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endParaRPr>
                  </a:p>
                  <a:p>
                    <a:pPr marL="628650"/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A </a:t>
                    </a:r>
                    <a:r>
                      <a:rPr lang="en-US" sz="18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rate</a:t>
                    </a:r>
                    <a:r>
                      <a:rPr lang="en-US" sz="18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 </a:t>
                    </a: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is a ratio that compares two quantities of different units.</a:t>
                    </a:r>
                    <a:endParaRPr lang="x-none" sz="12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685800" indent="685800"/>
                    <a:r>
                      <a:rPr lang="en-US" sz="12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18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F048E506-346B-EA40-9631-98E23A6AD695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5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-316725" y="-457308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8DA7FFA-8764-654C-A594-884828682F96}"/>
                  </a:ext>
                </a:extLst>
              </p:cNvPr>
              <p:cNvSpPr/>
              <p:nvPr/>
            </p:nvSpPr>
            <p:spPr>
              <a:xfrm>
                <a:off x="1052648" y="3426661"/>
                <a:ext cx="10438640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ratio is a comparison of two numbers, so all rates can also be expressed using ratios. Rates are often used to express how long it takes to do something.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a familiar scenario involving a rate.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5032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minutes.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8DA7FFA-8764-654C-A594-884828682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48" y="3426661"/>
                <a:ext cx="10438640" cy="3046988"/>
              </a:xfrm>
              <a:prstGeom prst="rect">
                <a:avLst/>
              </a:prstGeom>
              <a:blipFill>
                <a:blip r:embed="rId6"/>
                <a:stretch>
                  <a:fillRect l="-973" t="-1660" r="-122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872359" y="241675"/>
            <a:ext cx="1065156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 tape diagram for the ratio that represents Tyler’s run.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ratios. Then, complete each statement to interpret the ratios.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3525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E981D2-9FAC-B24F-B8A0-604DDAA38711}"/>
                  </a:ext>
                </a:extLst>
              </p:cNvPr>
              <p:cNvSpPr txBox="1"/>
              <p:nvPr/>
            </p:nvSpPr>
            <p:spPr>
              <a:xfrm>
                <a:off x="872359" y="3443406"/>
                <a:ext cx="2081212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miles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minute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E981D2-9FAC-B24F-B8A0-604DDAA38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9" y="3443406"/>
                <a:ext cx="2081212" cy="618374"/>
              </a:xfrm>
              <a:prstGeom prst="rect">
                <a:avLst/>
              </a:prstGeom>
              <a:blipFill>
                <a:blip r:embed="rId4"/>
                <a:stretch>
                  <a:fillRect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0FA22C-8C38-224C-8FEE-74D80F757506}"/>
                  </a:ext>
                </a:extLst>
              </p:cNvPr>
              <p:cNvSpPr txBox="1"/>
              <p:nvPr/>
            </p:nvSpPr>
            <p:spPr>
              <a:xfrm>
                <a:off x="4036759" y="3452768"/>
                <a:ext cx="2271712" cy="609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minutes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mile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0FA22C-8C38-224C-8FEE-74D80F757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59" y="3452768"/>
                <a:ext cx="2271712" cy="609013"/>
              </a:xfrm>
              <a:prstGeom prst="rect">
                <a:avLst/>
              </a:prstGeom>
              <a:blipFill>
                <a:blip r:embed="rId5"/>
                <a:stretch>
                  <a:fillRect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999E099-AF6C-644C-AC0D-C7CDD40EB528}"/>
                  </a:ext>
                </a:extLst>
              </p:cNvPr>
              <p:cNvSpPr/>
              <p:nvPr/>
            </p:nvSpPr>
            <p:spPr>
              <a:xfrm>
                <a:off x="872359" y="4711788"/>
                <a:ext cx="79629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runs ______ miles 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runs ______ minutes 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999E099-AF6C-644C-AC0D-C7CDD40EB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9" y="4711788"/>
                <a:ext cx="7962900" cy="1015663"/>
              </a:xfrm>
              <a:prstGeom prst="rect">
                <a:avLst/>
              </a:prstGeom>
              <a:blipFill>
                <a:blip r:embed="rId6"/>
                <a:stretch>
                  <a:fillRect l="-796" t="-3704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850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CD6B6F-929B-8F47-BFEE-44ED1D0E863F}"/>
              </a:ext>
            </a:extLst>
          </p:cNvPr>
          <p:cNvSpPr/>
          <p:nvPr/>
        </p:nvSpPr>
        <p:spPr>
          <a:xfrm>
            <a:off x="872359" y="336561"/>
            <a:ext cx="1065156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to use one of the rates to determine how many miles Tyler runs in an hour. Then, complete the statement.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Tyler runs ______ miles per hour.</a:t>
            </a:r>
          </a:p>
          <a:p>
            <a:pPr marL="44767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of the rates used to describe Tyler’s run is a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 rate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7FE8CD52-CF69-634B-9F05-4A24C91B9247}"/>
              </a:ext>
            </a:extLst>
          </p:cNvPr>
          <p:cNvSpPr txBox="1"/>
          <p:nvPr/>
        </p:nvSpPr>
        <p:spPr>
          <a:xfrm>
            <a:off x="8889924" y="647558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C0B6F6-9C2C-5149-95BD-E38001796F8C}"/>
              </a:ext>
            </a:extLst>
          </p:cNvPr>
          <p:cNvGrpSpPr/>
          <p:nvPr/>
        </p:nvGrpSpPr>
        <p:grpSpPr>
          <a:xfrm>
            <a:off x="2304560" y="5146502"/>
            <a:ext cx="7787162" cy="1072005"/>
            <a:chOff x="1917139" y="3244701"/>
            <a:chExt cx="7787162" cy="105298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A437278-D0AD-0846-9389-8256001738BD}"/>
                </a:ext>
              </a:extLst>
            </p:cNvPr>
            <p:cNvGrpSpPr/>
            <p:nvPr/>
          </p:nvGrpSpPr>
          <p:grpSpPr>
            <a:xfrm>
              <a:off x="1917139" y="3244701"/>
              <a:ext cx="7787162" cy="1052987"/>
              <a:chOff x="1917139" y="3356013"/>
              <a:chExt cx="7787162" cy="105298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DF6A97-6865-8A40-ABD2-6B3815A8729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9DD727B-669E-584A-B0BC-5816D37B0CF5}"/>
                  </a:ext>
                </a:extLst>
              </p:cNvPr>
              <p:cNvGrpSpPr/>
              <p:nvPr/>
            </p:nvGrpSpPr>
            <p:grpSpPr>
              <a:xfrm>
                <a:off x="1917139" y="3356013"/>
                <a:ext cx="7787162" cy="830387"/>
                <a:chOff x="1917139" y="3356013"/>
                <a:chExt cx="7787162" cy="830387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DBEF835-1F12-AC42-9922-D7469E53F25D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E934BE2-A82F-DD4B-9CAA-F260C8F4B74F}"/>
                    </a:ext>
                  </a:extLst>
                </p:cNvPr>
                <p:cNvGrpSpPr/>
                <p:nvPr/>
              </p:nvGrpSpPr>
              <p:grpSpPr>
                <a:xfrm>
                  <a:off x="1917139" y="3356013"/>
                  <a:ext cx="7787162" cy="830387"/>
                  <a:chOff x="-114161" y="-17587"/>
                  <a:chExt cx="7787162" cy="830387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2008A5A8-A65B-154D-8C0F-812FCAC4A55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Rounded Rectangle 14">
                        <a:extLst>
                          <a:ext uri="{FF2B5EF4-FFF2-40B4-BE49-F238E27FC236}">
                            <a16:creationId xmlns:a16="http://schemas.microsoft.com/office/drawing/2014/main" id="{522E0526-251C-564A-9E2B-D87A7DA5D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14161" y="-17587"/>
                        <a:ext cx="7787162" cy="8128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E2EED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t" anchorCtr="0">
                        <a:noAutofit/>
                      </a:bodyPr>
                      <a:lstStyle/>
                      <a:p>
                        <a:pPr marL="685800" algn="just"/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A </a:t>
                        </a:r>
                        <a:r>
                          <a:rPr lang="en-US" sz="1800" b="1" i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unit rate</a:t>
                        </a:r>
                        <a:r>
                          <a:rPr lang="en-US" sz="1800" b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 </a:t>
                        </a:r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is a ratio comparing a number of units of one quantity to </a:t>
                        </a:r>
                        <a14:m>
                          <m:oMath xmlns:m="http://schemas.openxmlformats.org/officeDocument/2006/math">
                            <m:r>
                              <a:rPr lang="en-US" sz="18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oMath>
                        </a14:m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 unit of a second quantity.</a:t>
                        </a:r>
                        <a:endParaRPr lang="x-none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Rounded Rectangle 14">
                        <a:extLst>
                          <a:ext uri="{FF2B5EF4-FFF2-40B4-BE49-F238E27FC236}">
                            <a16:creationId xmlns:a16="http://schemas.microsoft.com/office/drawing/2014/main" id="{522E0526-251C-564A-9E2B-D87A7DA5DDC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114161" y="-17587"/>
                        <a:ext cx="7787162" cy="8128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/>
                      <a:lstStyle/>
                      <a:p>
                        <a:r>
                          <a:rPr lang="en-CO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18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CC62BD77-6CAC-FF47-82E3-4D7C06F13185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5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43295" y="83295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5B015B1-FBD0-8E43-9A2E-5A147450575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5057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09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7707" y="-37211"/>
            <a:ext cx="108063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6.3.4 Guided Practice: Using Ratios and Rates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899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831272" y="1454516"/>
            <a:ext cx="99396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nutritional label for raspberry ice cream is shown. </a:t>
            </a:r>
            <a:endParaRPr lang="en-US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887486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D5AF0-F239-E019-1E47-1B27B6A7F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319" y="2145163"/>
            <a:ext cx="4047244" cy="431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924910" y="720471"/>
            <a:ext cx="1034217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calories to servings?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total carbohydrates in the container to the number of calories in the container?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added sugars to the number of servings?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unit rate to express the number of added sugars per serving.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ABA90E-0C11-3049-AC00-DCC51240F733}"/>
                  </a:ext>
                </a:extLst>
              </p:cNvPr>
              <p:cNvSpPr txBox="1"/>
              <p:nvPr/>
            </p:nvSpPr>
            <p:spPr>
              <a:xfrm>
                <a:off x="3775364" y="4746357"/>
                <a:ext cx="4641272" cy="615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grams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serving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ABA90E-0C11-3049-AC00-DCC51240F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64" y="4746357"/>
                <a:ext cx="4641272" cy="615297"/>
              </a:xfrm>
              <a:prstGeom prst="rect">
                <a:avLst/>
              </a:prstGeom>
              <a:blipFill>
                <a:blip r:embed="rId4"/>
                <a:stretch>
                  <a:fillRect t="-6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33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1DCB9D4-64AC-E448-A076-AB6B662D6AE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49924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6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1049924" y="1320144"/>
                <a:ext cx="1047399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Tracy McGrady is a former NBA basketball player from Bartow, Florida. He played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938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games in the NBA, scoring a total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18,381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points. Complete the ratio to express the number of points he scored per game as a unit rate. Round the number of points to the nearest tenth.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24" y="1320144"/>
                <a:ext cx="10473999" cy="1323439"/>
              </a:xfrm>
              <a:prstGeom prst="rect">
                <a:avLst/>
              </a:prstGeom>
              <a:blipFill>
                <a:blip r:embed="rId5"/>
                <a:stretch>
                  <a:fillRect l="-363" t="-2857" r="-1090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60AE2B-63CC-E64B-844E-61E5B3795F21}"/>
                  </a:ext>
                </a:extLst>
              </p:cNvPr>
              <p:cNvSpPr txBox="1"/>
              <p:nvPr/>
            </p:nvSpPr>
            <p:spPr>
              <a:xfrm>
                <a:off x="3719946" y="3156103"/>
                <a:ext cx="4641272" cy="846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________</m:t>
                          </m:r>
                          <m:r>
                            <a:rPr lang="x-none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points</m:t>
                          </m:r>
                        </m:num>
                        <m:den>
                          <m:r>
                            <a:rPr lang="x-none" sz="24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game</m:t>
                          </m:r>
                        </m:den>
                      </m:f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60AE2B-63CC-E64B-844E-61E5B3795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946" y="3156103"/>
                <a:ext cx="4641272" cy="846001"/>
              </a:xfrm>
              <a:prstGeom prst="rect">
                <a:avLst/>
              </a:prstGeom>
              <a:blipFill>
                <a:blip r:embed="rId6"/>
                <a:stretch>
                  <a:fillRect t="-2941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809297" y="857823"/>
                <a:ext cx="5771613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ruby-throated hummingbird is the most common hummingbird found in Florida. This bird can flap its wings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1,590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seconds. Complete the ratio to express how fast the ruby-throated hummingbird flaps its wings per second.</a:t>
                </a: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___ wing flaps : 1 second</a:t>
                </a: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97" y="857823"/>
                <a:ext cx="5771613" cy="3477875"/>
              </a:xfrm>
              <a:prstGeom prst="rect">
                <a:avLst/>
              </a:prstGeom>
              <a:blipFill>
                <a:blip r:embed="rId4"/>
                <a:stretch>
                  <a:fillRect l="-877" t="-1091" r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8F427F-D444-9E4F-8D5E-23FC8020ED8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063567" y="857824"/>
            <a:ext cx="2221230" cy="3334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43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5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5443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993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1135443" y="1140259"/>
            <a:ext cx="99211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stoplight reflection to share how you are feeling about the concepts learned in today’s lesson.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892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149850-1F4C-DA4B-9D62-13D44BA4D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249114"/>
              </p:ext>
            </p:extLst>
          </p:nvPr>
        </p:nvGraphicFramePr>
        <p:xfrm>
          <a:off x="5249215" y="2394194"/>
          <a:ext cx="4644708" cy="318325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644708">
                  <a:extLst>
                    <a:ext uri="{9D8B030D-6E8A-4147-A177-3AD203B41FA5}">
                      <a16:colId xmlns:a16="http://schemas.microsoft.com/office/drawing/2014/main" val="116890132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still feel stuck about how to …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427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starting to get the hang of …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6071505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feel confident and ready to go with …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53831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7003896-1C01-8B4D-9B5A-F6C5DCE9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471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E45F61-E6E9-2147-BAB6-692DD95D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219" y="1915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/>
          </a:p>
        </p:txBody>
      </p:sp>
      <p:pic>
        <p:nvPicPr>
          <p:cNvPr id="1027" name="Picture 27">
            <a:extLst>
              <a:ext uri="{FF2B5EF4-FFF2-40B4-BE49-F238E27FC236}">
                <a16:creationId xmlns:a16="http://schemas.microsoft.com/office/drawing/2014/main" id="{B0D4D054-69E3-F245-A2A4-E225982E7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8218" y="2298177"/>
            <a:ext cx="162560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1045</Words>
  <Application>Microsoft Office PowerPoint</Application>
  <PresentationFormat>Widescreen</PresentationFormat>
  <Paragraphs>208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Verdana</vt:lpstr>
      <vt:lpstr>Arial</vt:lpstr>
      <vt:lpstr>Arial Black</vt:lpstr>
      <vt:lpstr>Cambria Math</vt:lpstr>
      <vt:lpstr>Cambria</vt:lpstr>
      <vt:lpstr>Times New Roman</vt:lpstr>
      <vt:lpstr>Wingdings</vt:lpstr>
      <vt:lpstr>Calibri</vt:lpstr>
      <vt:lpstr>Century Gothic</vt:lpstr>
      <vt:lpstr>1_Office Theme</vt:lpstr>
      <vt:lpstr>6th Grade Math  Unit 6, Lesson 3  Exploring Rates  Volume 1, pg. 267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23</cp:revision>
  <dcterms:created xsi:type="dcterms:W3CDTF">2015-03-17T18:51:18Z</dcterms:created>
  <dcterms:modified xsi:type="dcterms:W3CDTF">2023-01-19T17:40:57Z</dcterms:modified>
</cp:coreProperties>
</file>