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85" r:id="rId4"/>
    <p:sldId id="286" r:id="rId5"/>
    <p:sldId id="261" r:id="rId6"/>
    <p:sldId id="287" r:id="rId7"/>
    <p:sldId id="323" r:id="rId8"/>
    <p:sldId id="324" r:id="rId9"/>
    <p:sldId id="346" r:id="rId10"/>
    <p:sldId id="347" r:id="rId11"/>
    <p:sldId id="311" r:id="rId12"/>
    <p:sldId id="312" r:id="rId13"/>
    <p:sldId id="333" r:id="rId14"/>
    <p:sldId id="345" r:id="rId15"/>
    <p:sldId id="344" r:id="rId16"/>
    <p:sldId id="343" r:id="rId17"/>
    <p:sldId id="348" r:id="rId18"/>
    <p:sldId id="349" r:id="rId19"/>
    <p:sldId id="302" r:id="rId20"/>
    <p:sldId id="303" r:id="rId21"/>
    <p:sldId id="340" r:id="rId22"/>
    <p:sldId id="306" r:id="rId23"/>
    <p:sldId id="307" r:id="rId24"/>
  </p:sldIdLst>
  <p:sldSz cx="12192000" cy="6858000"/>
  <p:notesSz cx="6858000" cy="9144000"/>
  <p:embeddedFontLst>
    <p:embeddedFont>
      <p:font typeface="Calibri" pitchFamily="34" charset="0"/>
      <p:regular r:id="rId26"/>
      <p:bold r:id="rId27"/>
      <p:italic r:id="rId28"/>
      <p:boldItalic r:id="rId29"/>
    </p:embeddedFont>
    <p:embeddedFont>
      <p:font typeface="Century Gothic" pitchFamily="34" charset="0"/>
      <p:regular r:id="rId30"/>
      <p:bold r:id="rId31"/>
      <p:italic r:id="rId32"/>
      <p:boldItalic r:id="rId33"/>
    </p:embeddedFont>
    <p:embeddedFont>
      <p:font typeface="Cambria Math" pitchFamily="18" charset="0"/>
      <p:regular r:id="rId34"/>
    </p:embeddedFont>
    <p:embeddedFont>
      <p:font typeface="Cambria" pitchFamily="18" charset="0"/>
      <p:regular r:id="rId35"/>
      <p:bold r:id="rId36"/>
      <p:italic r:id="rId37"/>
      <p:boldItalic r:id="rId38"/>
    </p:embeddedFont>
    <p:embeddedFont>
      <p:font typeface="Arial Black" pitchFamily="34" charset="0"/>
      <p:bold r:id="rId39"/>
    </p:embeddedFont>
    <p:embeddedFont>
      <p:font typeface="Verdana" pitchFamily="34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B7D4"/>
    <a:srgbClr val="FDAEB0"/>
    <a:srgbClr val="276C46"/>
    <a:srgbClr val="C9DF6F"/>
    <a:srgbClr val="417DBF"/>
    <a:srgbClr val="3F2A67"/>
    <a:srgbClr val="E24E5F"/>
    <a:srgbClr val="54B5D1"/>
    <a:srgbClr val="33BEA6"/>
    <a:srgbClr val="2DA4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95"/>
    <p:restoredTop sz="94694"/>
  </p:normalViewPr>
  <p:slideViewPr>
    <p:cSldViewPr snapToGrid="0">
      <p:cViewPr varScale="1">
        <p:scale>
          <a:sx n="80" d="100"/>
          <a:sy n="80" d="100"/>
        </p:scale>
        <p:origin x="-547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2" Type="http://schemas.openxmlformats.org/officeDocument/2006/relationships/font" Target="fonts/font17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41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font" Target="fonts/font15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font" Target="fonts/font18.fntdata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0360954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938950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047526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19672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390262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677145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346084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10242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91630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02826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5" Type="http://schemas.openxmlformats.org/officeDocument/2006/relationships/image" Target="../media/image140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.png"/><Relationship Id="rId5" Type="http://schemas.openxmlformats.org/officeDocument/2006/relationships/image" Target="../media/image200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6, Lesson 10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Applying Ratios to Solve Problems Involving Percentages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302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xmlns="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/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xmlns="" id="{A3BF60F1-A9D6-B043-9905-FB1D55DD5BC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503" y="1782947"/>
            <a:ext cx="2973100" cy="34657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46657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263193" y="-6930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893" y="2199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7314750" y="6422571"/>
            <a:ext cx="417514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9890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xmlns="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762000" y="1326150"/>
            <a:ext cx="10145486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MA.6.AR.3.4</a:t>
            </a:r>
          </a:p>
          <a:p>
            <a:pPr indent="0">
              <a:buNone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ratio relationships to solve mathematical and real-world problems involving percentages using the relationship between two quantities. 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579" y="2199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9005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xmlns="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97879" y="0"/>
            <a:ext cx="1124449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xmlns="" id="{E701C7D4-7BD4-5F4C-ACEB-5781D00837A2}"/>
              </a:ext>
            </a:extLst>
          </p:cNvPr>
          <p:cNvSpPr txBox="1"/>
          <p:nvPr/>
        </p:nvSpPr>
        <p:spPr>
          <a:xfrm>
            <a:off x="8893800" y="6455483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xmlns="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97879" y="1596390"/>
            <a:ext cx="9012921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 Demonstrate understanding by representing problems in multiple ways.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Apply mathematics to real-world contexts.</a:t>
            </a: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2254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xmlns="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513775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xmlns="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4587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xmlns="" id="{3ECD2D46-55D5-C547-91DD-0801CE9D6AD7}"/>
              </a:ext>
            </a:extLst>
          </p:cNvPr>
          <p:cNvSpPr txBox="1"/>
          <p:nvPr/>
        </p:nvSpPr>
        <p:spPr>
          <a:xfrm>
            <a:off x="7314749" y="6487885"/>
            <a:ext cx="420779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xmlns="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513775" y="1721264"/>
            <a:ext cx="8229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Wingdings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 can apply ratio relationships to solve problems involving percentages.</a:t>
            </a: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00776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B595484E-1C62-AC4F-B448-37E60F77A8C0}"/>
              </a:ext>
            </a:extLst>
          </p:cNvPr>
          <p:cNvSpPr txBox="1"/>
          <p:nvPr/>
        </p:nvSpPr>
        <p:spPr>
          <a:xfrm>
            <a:off x="7314750" y="6466113"/>
            <a:ext cx="4186026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18868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3691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25015" y="60325"/>
            <a:ext cx="1104318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6.10.1 Warm-Up: Percentages on the Number Line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xmlns="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7715" y="7592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079F083F-A67E-0047-8E64-5125815AF3D8}"/>
              </a:ext>
            </a:extLst>
          </p:cNvPr>
          <p:cNvSpPr/>
          <p:nvPr/>
        </p:nvSpPr>
        <p:spPr>
          <a:xfrm>
            <a:off x="1225015" y="1353841"/>
            <a:ext cx="832257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Place a digit in each blue box to create an accurate number line. Use only digits 0 to 9, at most one time each. The number line is not drawn to scale.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xmlns="" id="{D28F85A9-92EF-3646-A629-D71AC3FDE345}"/>
              </a:ext>
            </a:extLst>
          </p:cNvPr>
          <p:cNvSpPr txBox="1"/>
          <p:nvPr/>
        </p:nvSpPr>
        <p:spPr>
          <a:xfrm>
            <a:off x="7314749" y="6423357"/>
            <a:ext cx="4098941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xmlns="" id="{972DFC20-922C-F446-B0B2-26F10933BF89}"/>
              </a:ext>
            </a:extLst>
          </p:cNvPr>
          <p:cNvGrpSpPr/>
          <p:nvPr/>
        </p:nvGrpSpPr>
        <p:grpSpPr>
          <a:xfrm>
            <a:off x="2805748" y="3487000"/>
            <a:ext cx="6580505" cy="1588770"/>
            <a:chOff x="0" y="0"/>
            <a:chExt cx="6580608" cy="1588958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xmlns="" id="{69229FF7-FB01-C74D-BF4E-24CBD8BA0016}"/>
                </a:ext>
              </a:extLst>
            </p:cNvPr>
            <p:cNvGrpSpPr/>
            <p:nvPr/>
          </p:nvGrpSpPr>
          <p:grpSpPr>
            <a:xfrm>
              <a:off x="0" y="0"/>
              <a:ext cx="5892384" cy="1588958"/>
              <a:chOff x="0" y="0"/>
              <a:chExt cx="5892384" cy="1588958"/>
            </a:xfrm>
          </p:grpSpPr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xmlns="" id="{952C10E5-80DB-C848-84EF-1904B3920A09}"/>
                  </a:ext>
                </a:extLst>
              </p:cNvPr>
              <p:cNvGrpSpPr/>
              <p:nvPr/>
            </p:nvGrpSpPr>
            <p:grpSpPr>
              <a:xfrm>
                <a:off x="170721" y="475105"/>
                <a:ext cx="5721663" cy="494665"/>
                <a:chOff x="0" y="0"/>
                <a:chExt cx="5721663" cy="494665"/>
              </a:xfrm>
            </p:grpSpPr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xmlns="" id="{0C5C3317-F5A7-B749-9A93-1D555B98CF7C}"/>
                    </a:ext>
                  </a:extLst>
                </p:cNvPr>
                <p:cNvCxnSpPr/>
                <p:nvPr/>
              </p:nvCxnSpPr>
              <p:spPr>
                <a:xfrm>
                  <a:off x="0" y="192582"/>
                  <a:ext cx="5711252" cy="0"/>
                </a:xfrm>
                <a:prstGeom prst="line">
                  <a:avLst/>
                </a:prstGeom>
                <a:effectLst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xmlns="" id="{27C02763-F6EB-AD40-9ECB-518CE5BFBDCF}"/>
                    </a:ext>
                  </a:extLst>
                </p:cNvPr>
                <p:cNvCxnSpPr/>
                <p:nvPr/>
              </p:nvCxnSpPr>
              <p:spPr>
                <a:xfrm>
                  <a:off x="10410" y="0"/>
                  <a:ext cx="0" cy="494665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xmlns="" id="{00D610A2-899D-424B-8553-1B448008167D}"/>
                    </a:ext>
                  </a:extLst>
                </p:cNvPr>
                <p:cNvCxnSpPr/>
                <p:nvPr/>
              </p:nvCxnSpPr>
              <p:spPr>
                <a:xfrm>
                  <a:off x="1539407" y="0"/>
                  <a:ext cx="0" cy="494665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xmlns="" id="{AA0BE98D-3DFA-8D44-AB25-BB031A38505A}"/>
                    </a:ext>
                  </a:extLst>
                </p:cNvPr>
                <p:cNvCxnSpPr/>
                <p:nvPr/>
              </p:nvCxnSpPr>
              <p:spPr>
                <a:xfrm>
                  <a:off x="5721663" y="0"/>
                  <a:ext cx="0" cy="494665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3" name="Text Box 10">
                <a:extLst>
                  <a:ext uri="{FF2B5EF4-FFF2-40B4-BE49-F238E27FC236}">
                    <a16:creationId xmlns:a16="http://schemas.microsoft.com/office/drawing/2014/main" xmlns="" id="{1BE88E0A-7AE0-0E4B-9A4F-BC8D1EE75999}"/>
                  </a:ext>
                </a:extLst>
              </p:cNvPr>
              <p:cNvSpPr txBox="1"/>
              <p:nvPr/>
            </p:nvSpPr>
            <p:spPr>
              <a:xfrm>
                <a:off x="0" y="0"/>
                <a:ext cx="479425" cy="343379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80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lang="x-none" sz="120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" name="Text Box 14">
                <a:extLst>
                  <a:ext uri="{FF2B5EF4-FFF2-40B4-BE49-F238E27FC236}">
                    <a16:creationId xmlns:a16="http://schemas.microsoft.com/office/drawing/2014/main" xmlns="" id="{BB7F4A54-953D-6D4B-95C2-930AAEEEBE0B}"/>
                  </a:ext>
                </a:extLst>
              </p:cNvPr>
              <p:cNvSpPr txBox="1"/>
              <p:nvPr/>
            </p:nvSpPr>
            <p:spPr>
              <a:xfrm>
                <a:off x="0" y="1064302"/>
                <a:ext cx="659567" cy="524656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80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0%</a:t>
                </a:r>
                <a:endParaRPr lang="x-none" sz="120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0" name="Text Box 15">
              <a:extLst>
                <a:ext uri="{FF2B5EF4-FFF2-40B4-BE49-F238E27FC236}">
                  <a16:creationId xmlns:a16="http://schemas.microsoft.com/office/drawing/2014/main" xmlns="" id="{67EA687C-5E75-F642-95B1-7F87531EF304}"/>
                </a:ext>
              </a:extLst>
            </p:cNvPr>
            <p:cNvSpPr txBox="1"/>
            <p:nvPr/>
          </p:nvSpPr>
          <p:spPr>
            <a:xfrm>
              <a:off x="5531370" y="1064302"/>
              <a:ext cx="1049238" cy="434569"/>
            </a:xfrm>
            <a:prstGeom prst="rect">
              <a:avLst/>
            </a:prstGeom>
            <a:solidFill>
              <a:schemeClr val="lt1"/>
            </a:solidFill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en-US" sz="180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100%</a:t>
              </a:r>
              <a:endParaRPr lang="x-none" sz="120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Text Box 24">
              <a:extLst>
                <a:ext uri="{FF2B5EF4-FFF2-40B4-BE49-F238E27FC236}">
                  <a16:creationId xmlns:a16="http://schemas.microsoft.com/office/drawing/2014/main" xmlns="" id="{ACF7F258-7526-7541-93CC-95AE3E3F93F6}"/>
                </a:ext>
              </a:extLst>
            </p:cNvPr>
            <p:cNvSpPr txBox="1"/>
            <p:nvPr/>
          </p:nvSpPr>
          <p:spPr>
            <a:xfrm>
              <a:off x="2217712" y="1175185"/>
              <a:ext cx="467615" cy="323686"/>
            </a:xfrm>
            <a:prstGeom prst="rect">
              <a:avLst/>
            </a:prstGeom>
            <a:solidFill>
              <a:schemeClr val="lt1"/>
            </a:solidFill>
            <a:ln w="6350">
              <a:noFill/>
              <a:prstDash val="dash"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50000"/>
                </a:lnSpc>
                <a:spcAft>
                  <a:spcPts val="1000"/>
                </a:spcAft>
              </a:pPr>
              <a:r>
                <a:rPr lang="en-US" sz="160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%</a:t>
              </a:r>
              <a:endParaRPr lang="x-none" sz="120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F8A2B67D-EE38-964E-A3D8-D00AF9587076}"/>
              </a:ext>
            </a:extLst>
          </p:cNvPr>
          <p:cNvSpPr/>
          <p:nvPr/>
        </p:nvSpPr>
        <p:spPr>
          <a:xfrm>
            <a:off x="4008437" y="3475570"/>
            <a:ext cx="457200" cy="4572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Aft>
                <a:spcPts val="1000"/>
              </a:spcAft>
            </a:pPr>
            <a:r>
              <a:rPr lang="en-US" sz="120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x-none" sz="120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xmlns="" id="{6F63072C-E96F-C145-A684-3878E9514302}"/>
              </a:ext>
            </a:extLst>
          </p:cNvPr>
          <p:cNvSpPr/>
          <p:nvPr/>
        </p:nvSpPr>
        <p:spPr>
          <a:xfrm>
            <a:off x="4565332" y="3473665"/>
            <a:ext cx="457200" cy="4572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Aft>
                <a:spcPts val="1000"/>
              </a:spcAft>
            </a:pPr>
            <a:r>
              <a:rPr lang="en-US" sz="120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x-none" sz="120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xmlns="" id="{8CCFBA16-AF44-1D4D-970D-363186515EF5}"/>
              </a:ext>
            </a:extLst>
          </p:cNvPr>
          <p:cNvSpPr/>
          <p:nvPr/>
        </p:nvSpPr>
        <p:spPr>
          <a:xfrm>
            <a:off x="4009072" y="4530940"/>
            <a:ext cx="457200" cy="4572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Aft>
                <a:spcPts val="1000"/>
              </a:spcAft>
            </a:pPr>
            <a:r>
              <a:rPr lang="en-US" sz="120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x-none" sz="120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C5097300-49D2-A843-85C8-FE4CAE9E4FB9}"/>
              </a:ext>
            </a:extLst>
          </p:cNvPr>
          <p:cNvSpPr/>
          <p:nvPr/>
        </p:nvSpPr>
        <p:spPr>
          <a:xfrm>
            <a:off x="4565967" y="4529035"/>
            <a:ext cx="457200" cy="4572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Aft>
                <a:spcPts val="1000"/>
              </a:spcAft>
            </a:pPr>
            <a:r>
              <a:rPr lang="en-US" sz="120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x-none" sz="120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F4C1C7E7-7DE4-A94E-A047-BA963C279D8C}"/>
              </a:ext>
            </a:extLst>
          </p:cNvPr>
          <p:cNvSpPr/>
          <p:nvPr/>
        </p:nvSpPr>
        <p:spPr>
          <a:xfrm>
            <a:off x="8141017" y="3455885"/>
            <a:ext cx="457200" cy="4572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Aft>
                <a:spcPts val="1000"/>
              </a:spcAft>
            </a:pPr>
            <a:r>
              <a:rPr lang="en-US" sz="120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x-none" sz="120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xmlns="" id="{EB70610A-0570-AD46-AD45-20F99C6217BF}"/>
              </a:ext>
            </a:extLst>
          </p:cNvPr>
          <p:cNvSpPr/>
          <p:nvPr/>
        </p:nvSpPr>
        <p:spPr>
          <a:xfrm>
            <a:off x="8697912" y="3453980"/>
            <a:ext cx="457200" cy="4572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Aft>
                <a:spcPts val="1000"/>
              </a:spcAft>
            </a:pPr>
            <a:r>
              <a:rPr lang="en-US" sz="120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x-none" sz="120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9004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E5B015B1-FBD0-8E43-9A2E-5A1474505758}"/>
              </a:ext>
            </a:extLst>
          </p:cNvPr>
          <p:cNvSpPr txBox="1"/>
          <p:nvPr/>
        </p:nvSpPr>
        <p:spPr>
          <a:xfrm>
            <a:off x="7314750" y="6466113"/>
            <a:ext cx="4164254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8119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84073" y="-37211"/>
            <a:ext cx="12379527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4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6.10.2 Guided Practice: Applying Ratio Relationships to Solve Percentage Problems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34265" y="25073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="" id="{684678E3-B391-614C-B449-94320C557524}"/>
                  </a:ext>
                </a:extLst>
              </p:cNvPr>
              <p:cNvSpPr/>
              <p:nvPr/>
            </p:nvSpPr>
            <p:spPr>
              <a:xfrm>
                <a:off x="1184073" y="1454515"/>
                <a:ext cx="9221037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There is a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10%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off sale on laptop computers. Ryan saved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$35 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off of the original laptop price during the sale. Use the ratio table to determine the original price of the laptop.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684678E3-B391-614C-B449-94320C5575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4073" y="1454515"/>
                <a:ext cx="9221037" cy="1569660"/>
              </a:xfrm>
              <a:prstGeom prst="rect">
                <a:avLst/>
              </a:prstGeom>
              <a:blipFill>
                <a:blip r:embed="rId5"/>
                <a:stretch>
                  <a:fillRect l="-991" t="-3502" r="-1586" b="-8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xmlns="" id="{DC0A2C9F-B1E2-2341-BED9-0F18CDA0FBF6}"/>
              </a:ext>
            </a:extLst>
          </p:cNvPr>
          <p:cNvSpPr txBox="1"/>
          <p:nvPr/>
        </p:nvSpPr>
        <p:spPr>
          <a:xfrm>
            <a:off x="7314749" y="6487885"/>
            <a:ext cx="4153369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xmlns="" id="{62A9C647-044E-184D-9AB4-8A3BF0BDAF5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20813925"/>
                  </p:ext>
                </p:extLst>
              </p:nvPr>
            </p:nvGraphicFramePr>
            <p:xfrm>
              <a:off x="4262462" y="3065601"/>
              <a:ext cx="5431247" cy="2474162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676005">
                      <a:extLst>
                        <a:ext uri="{9D8B030D-6E8A-4147-A177-3AD203B41FA5}">
                          <a16:colId xmlns:a16="http://schemas.microsoft.com/office/drawing/2014/main" xmlns="" val="1644631984"/>
                        </a:ext>
                      </a:extLst>
                    </a:gridCol>
                    <a:gridCol w="2755242">
                      <a:extLst>
                        <a:ext uri="{9D8B030D-6E8A-4147-A177-3AD203B41FA5}">
                          <a16:colId xmlns:a16="http://schemas.microsoft.com/office/drawing/2014/main" xmlns="" val="3819271254"/>
                        </a:ext>
                      </a:extLst>
                    </a:gridCol>
                  </a:tblGrid>
                  <a:tr h="92781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Dollar Amount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Percentage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569663402"/>
                      </a:ext>
                    </a:extLst>
                  </a:tr>
                  <a:tr h="77317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800" i="1" dirty="0" smtClean="0">
                                  <a:effectLst/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10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441150533"/>
                      </a:ext>
                    </a:extLst>
                  </a:tr>
                  <a:tr h="77317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800" i="1" dirty="0" smtClean="0">
                                  <a:effectLst/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100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220153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62A9C647-044E-184D-9AB4-8A3BF0BDAF5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20813925"/>
                  </p:ext>
                </p:extLst>
              </p:nvPr>
            </p:nvGraphicFramePr>
            <p:xfrm>
              <a:off x="4262462" y="3065601"/>
              <a:ext cx="5431247" cy="2474162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676005">
                      <a:extLst>
                        <a:ext uri="{9D8B030D-6E8A-4147-A177-3AD203B41FA5}">
                          <a16:colId xmlns:a16="http://schemas.microsoft.com/office/drawing/2014/main" val="1644631984"/>
                        </a:ext>
                      </a:extLst>
                    </a:gridCol>
                    <a:gridCol w="2755242">
                      <a:extLst>
                        <a:ext uri="{9D8B030D-6E8A-4147-A177-3AD203B41FA5}">
                          <a16:colId xmlns:a16="http://schemas.microsoft.com/office/drawing/2014/main" val="3819271254"/>
                        </a:ext>
                      </a:extLst>
                    </a:gridCol>
                  </a:tblGrid>
                  <a:tr h="92781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Dollar Amount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Percentage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9663402"/>
                      </a:ext>
                    </a:extLst>
                  </a:tr>
                  <a:tr h="77317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97130" t="-121260" r="-442" b="-1015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1150533"/>
                      </a:ext>
                    </a:extLst>
                  </a:tr>
                  <a:tr h="77317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97130" t="-221260" r="-442" b="-15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01538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4319" y="619634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="" id="{684678E3-B391-614C-B449-94320C557524}"/>
                  </a:ext>
                </a:extLst>
              </p:cNvPr>
              <p:cNvSpPr/>
              <p:nvPr/>
            </p:nvSpPr>
            <p:spPr>
              <a:xfrm>
                <a:off x="664029" y="553969"/>
                <a:ext cx="9670872" cy="26776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Lily was running in her first 10K race in Islamorada, Florida. She asked her sister to cheer for her when she was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75%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of the way finished with the race so that it would motivate her to finish strong. The race is approximately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6.2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miles long. Use the number line diagram to determine how many miles Lily will have run when she is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75%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finished with the race.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684678E3-B391-614C-B449-94320C5575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029" y="553969"/>
                <a:ext cx="9670872" cy="2677656"/>
              </a:xfrm>
              <a:prstGeom prst="rect">
                <a:avLst/>
              </a:prstGeom>
              <a:blipFill>
                <a:blip r:embed="rId4"/>
                <a:stretch>
                  <a:fillRect l="-1009" t="-1822" r="-1324" b="-4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xmlns="" id="{DC0A2C9F-B1E2-2341-BED9-0F18CDA0FBF6}"/>
              </a:ext>
            </a:extLst>
          </p:cNvPr>
          <p:cNvSpPr txBox="1"/>
          <p:nvPr/>
        </p:nvSpPr>
        <p:spPr>
          <a:xfrm>
            <a:off x="7314749" y="6487885"/>
            <a:ext cx="4229569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Picture 9" descr="Shape, rectangle&#10;&#10;Description automatically generated">
            <a:extLst>
              <a:ext uri="{FF2B5EF4-FFF2-40B4-BE49-F238E27FC236}">
                <a16:creationId xmlns:a16="http://schemas.microsoft.com/office/drawing/2014/main" xmlns="" id="{49A03884-665A-0440-845B-438F1361B7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6959" y="4158343"/>
            <a:ext cx="5791039" cy="1704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903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35771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7233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="" id="{684678E3-B391-614C-B449-94320C557524}"/>
                  </a:ext>
                </a:extLst>
              </p:cNvPr>
              <p:cNvSpPr/>
              <p:nvPr/>
            </p:nvSpPr>
            <p:spPr>
              <a:xfrm>
                <a:off x="990600" y="553969"/>
                <a:ext cx="9344301" cy="1938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During the first part of his hike along the Myakka Hiking Trail in Florida State Park, Andre drank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1.5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liters of water. If this is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40%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of the water he brought on the hike, use the tape diagrams to determine how much water he brought.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684678E3-B391-614C-B449-94320C5575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553969"/>
                <a:ext cx="9344301" cy="1938992"/>
              </a:xfrm>
              <a:prstGeom prst="rect">
                <a:avLst/>
              </a:prstGeom>
              <a:blipFill>
                <a:blip r:embed="rId4"/>
                <a:stretch>
                  <a:fillRect l="-1044" t="-2516" r="-1697" b="-6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xmlns="" id="{DC0A2C9F-B1E2-2341-BED9-0F18CDA0FBF6}"/>
              </a:ext>
            </a:extLst>
          </p:cNvPr>
          <p:cNvSpPr txBox="1"/>
          <p:nvPr/>
        </p:nvSpPr>
        <p:spPr>
          <a:xfrm>
            <a:off x="7314749" y="6455229"/>
            <a:ext cx="4142483" cy="402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xmlns="" id="{08B3FB2F-B3B6-684D-B46D-5C1EA59EB0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3974768"/>
              </p:ext>
            </p:extLst>
          </p:nvPr>
        </p:nvGraphicFramePr>
        <p:xfrm>
          <a:off x="2534202" y="2792987"/>
          <a:ext cx="7341234" cy="1035925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xmlns="" val="2536226388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2551055131"/>
                    </a:ext>
                  </a:extLst>
                </a:gridCol>
                <a:gridCol w="746760">
                  <a:extLst>
                    <a:ext uri="{9D8B030D-6E8A-4147-A177-3AD203B41FA5}">
                      <a16:colId xmlns:a16="http://schemas.microsoft.com/office/drawing/2014/main" xmlns="" val="2034071266"/>
                    </a:ext>
                  </a:extLst>
                </a:gridCol>
                <a:gridCol w="746760">
                  <a:extLst>
                    <a:ext uri="{9D8B030D-6E8A-4147-A177-3AD203B41FA5}">
                      <a16:colId xmlns:a16="http://schemas.microsoft.com/office/drawing/2014/main" xmlns="" val="2211273914"/>
                    </a:ext>
                  </a:extLst>
                </a:gridCol>
                <a:gridCol w="746760">
                  <a:extLst>
                    <a:ext uri="{9D8B030D-6E8A-4147-A177-3AD203B41FA5}">
                      <a16:colId xmlns:a16="http://schemas.microsoft.com/office/drawing/2014/main" xmlns="" val="397194361"/>
                    </a:ext>
                  </a:extLst>
                </a:gridCol>
                <a:gridCol w="711834">
                  <a:extLst>
                    <a:ext uri="{9D8B030D-6E8A-4147-A177-3AD203B41FA5}">
                      <a16:colId xmlns:a16="http://schemas.microsoft.com/office/drawing/2014/main" xmlns="" val="3570021579"/>
                    </a:ext>
                  </a:extLst>
                </a:gridCol>
              </a:tblGrid>
              <a:tr h="423284">
                <a:tc>
                  <a:txBody>
                    <a:bodyPr/>
                    <a:lstStyle/>
                    <a:p>
                      <a:pPr marL="72771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water (liters)</a:t>
                      </a: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314957409"/>
                  </a:ext>
                </a:extLst>
              </a:tr>
              <a:tr h="164932">
                <a:tc>
                  <a:txBody>
                    <a:bodyPr/>
                    <a:lstStyle/>
                    <a:p>
                      <a:pPr marL="72771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3187283324"/>
                  </a:ext>
                </a:extLst>
              </a:tr>
              <a:tr h="423284">
                <a:tc>
                  <a:txBody>
                    <a:bodyPr/>
                    <a:lstStyle/>
                    <a:p>
                      <a:pPr marL="72771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percentage</a:t>
                      </a: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AE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AE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AE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AE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AE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04431074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16DCD6B5-41D8-BE48-84B8-BE0BFE802180}"/>
              </a:ext>
            </a:extLst>
          </p:cNvPr>
          <p:cNvSpPr/>
          <p:nvPr/>
        </p:nvSpPr>
        <p:spPr>
          <a:xfrm>
            <a:off x="2074737" y="4405533"/>
            <a:ext cx="826016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90538"/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Andre brought _____ liters of water with him on the hike.</a:t>
            </a:r>
          </a:p>
        </p:txBody>
      </p:sp>
    </p:spTree>
    <p:extLst>
      <p:ext uri="{BB962C8B-B14F-4D97-AF65-F5344CB8AC3E}">
        <p14:creationId xmlns:p14="http://schemas.microsoft.com/office/powerpoint/2010/main" val="11203456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631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22547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B595484E-1C62-AC4F-B448-37E60F77A8C0}"/>
              </a:ext>
            </a:extLst>
          </p:cNvPr>
          <p:cNvSpPr txBox="1"/>
          <p:nvPr/>
        </p:nvSpPr>
        <p:spPr>
          <a:xfrm>
            <a:off x="7314749" y="6466113"/>
            <a:ext cx="420779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29543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7233" y="6153731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88719" y="60325"/>
            <a:ext cx="1122985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6.10.3 Exploration: Using Tables and Unit Rates with Percentages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65061" y="188708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="" id="{B05AB5A2-AF35-B14C-AE54-D2A0628C823C}"/>
                  </a:ext>
                </a:extLst>
              </p:cNvPr>
              <p:cNvSpPr/>
              <p:nvPr/>
            </p:nvSpPr>
            <p:spPr>
              <a:xfrm>
                <a:off x="1023257" y="1521193"/>
                <a:ext cx="9370423" cy="1938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 restaurant has a sign by the front door that says, “Maximum Occupancy: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75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people.”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Damian completed the first two rows of a ratio table representing this situation. His work is shown.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B05AB5A2-AF35-B14C-AE54-D2A0628C82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257" y="1521193"/>
                <a:ext cx="9370423" cy="1938992"/>
              </a:xfrm>
              <a:prstGeom prst="rect">
                <a:avLst/>
              </a:prstGeom>
              <a:blipFill>
                <a:blip r:embed="rId5"/>
                <a:stretch>
                  <a:fillRect l="-1041" t="-2516" b="-6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xmlns="" id="{85268C17-F7CB-D243-B65D-166A4DD9987F}"/>
              </a:ext>
            </a:extLst>
          </p:cNvPr>
          <p:cNvSpPr txBox="1"/>
          <p:nvPr/>
        </p:nvSpPr>
        <p:spPr>
          <a:xfrm>
            <a:off x="7314749" y="6455229"/>
            <a:ext cx="4142483" cy="402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8" descr="Table&#10;&#10;Description automatically generated">
            <a:extLst>
              <a:ext uri="{FF2B5EF4-FFF2-40B4-BE49-F238E27FC236}">
                <a16:creationId xmlns:a16="http://schemas.microsoft.com/office/drawing/2014/main" xmlns="" id="{C21AB8FE-4D73-CA41-8D3B-4DE37991DD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3228" y="3749622"/>
            <a:ext cx="6946900" cy="2161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8119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xmlns="" id="{96EBC228-FF81-F24F-AEB8-9068AF825BE0}"/>
                  </a:ext>
                </a:extLst>
              </p:cNvPr>
              <p:cNvSpPr/>
              <p:nvPr/>
            </p:nvSpPr>
            <p:spPr>
              <a:xfrm>
                <a:off x="664029" y="319123"/>
                <a:ext cx="9827067" cy="561070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333375"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Work with your partner to complete the statements to describe Damian’s work.</a:t>
                </a:r>
              </a:p>
              <a:p>
                <a:pPr marL="123825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12700"/>
                <a:r>
                  <a:rPr lang="en-US" sz="2000" dirty="0">
                    <a:solidFill>
                      <a:srgbClr val="26B7D4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First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Damian interpreted the restaurant sign to mean that _____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%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equal to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75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people. </a:t>
                </a:r>
              </a:p>
              <a:p>
                <a:pPr marL="127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12700">
                  <a:lnSpc>
                    <a:spcPct val="200000"/>
                  </a:lnSpc>
                </a:pP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Next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he 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multiplied both values in the ratio by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s-ES" sz="20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</m:t>
                        </m:r>
                      </m:num>
                      <m:den>
                        <m:r>
                          <a:rPr lang="es-ES" sz="20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75</m:t>
                        </m:r>
                      </m:den>
                    </m:f>
                  </m:oMath>
                </a14:m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to find the unit rate of the                                                   in the restaurant. He multiplied this factor by both values to find an equivalent ratio.</a:t>
                </a:r>
              </a:p>
              <a:p>
                <a:pPr marL="127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127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He </a:t>
                </a:r>
                <a:r>
                  <a:rPr lang="en-US" sz="2000" dirty="0">
                    <a:solidFill>
                      <a:srgbClr val="FFC00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then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rewrote the result,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dirty="0">
                            <a:solidFill>
                              <a:srgbClr val="FFC000"/>
                            </a:solidFill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s-ES" sz="2000" i="1" dirty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100</m:t>
                        </m:r>
                      </m:num>
                      <m:den>
                        <m:r>
                          <a:rPr lang="es-ES" sz="2000" i="1" dirty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75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as an equivalent fraction,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dirty="0">
                            <a:solidFill>
                              <a:srgbClr val="FFC000"/>
                            </a:solidFill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s-ES" sz="2000" i="1" dirty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4</m:t>
                        </m:r>
                      </m:num>
                      <m:den>
                        <m:r>
                          <a:rPr lang="es-ES" sz="2000" i="1" dirty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by dividing both the numerator and denominator by ____.</a:t>
                </a:r>
              </a:p>
              <a:p>
                <a:pPr marL="12700">
                  <a:lnSpc>
                    <a:spcPct val="200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96EBC228-FF81-F24F-AEB8-9068AF825B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029" y="319123"/>
                <a:ext cx="9827067" cy="5610703"/>
              </a:xfrm>
              <a:prstGeom prst="rect">
                <a:avLst/>
              </a:prstGeom>
              <a:blipFill>
                <a:blip r:embed="rId4"/>
                <a:stretch>
                  <a:fillRect l="-558" t="-651" r="-46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xmlns="" id="{E3DC8F22-04D2-D04F-BA67-53D9B7F3B29F}"/>
              </a:ext>
            </a:extLst>
          </p:cNvPr>
          <p:cNvSpPr txBox="1"/>
          <p:nvPr/>
        </p:nvSpPr>
        <p:spPr>
          <a:xfrm>
            <a:off x="7314749" y="6444343"/>
            <a:ext cx="4153369" cy="413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 descr="A picture containing shape&#10;&#10;Description automatically generated">
            <a:extLst>
              <a:ext uri="{FF2B5EF4-FFF2-40B4-BE49-F238E27FC236}">
                <a16:creationId xmlns:a16="http://schemas.microsoft.com/office/drawing/2014/main" xmlns="" id="{C2D24420-170B-0740-AEAC-B9C5332B9D8B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91345" y="3063468"/>
            <a:ext cx="4170218" cy="722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515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6348" y="6046488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2D32FB2E-EC85-7547-997A-F8CC3AB0EE91}"/>
              </a:ext>
            </a:extLst>
          </p:cNvPr>
          <p:cNvSpPr/>
          <p:nvPr/>
        </p:nvSpPr>
        <p:spPr>
          <a:xfrm>
            <a:off x="620486" y="357337"/>
            <a:ext cx="979605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your partner, complete the table to find additional equivalent ratios. Use arrows and multiplication to show how you determine the values in each row.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xmlns="" id="{FA85A54A-26B4-2547-91B9-E4095EBEEB48}"/>
              </a:ext>
            </a:extLst>
          </p:cNvPr>
          <p:cNvSpPr txBox="1"/>
          <p:nvPr/>
        </p:nvSpPr>
        <p:spPr>
          <a:xfrm>
            <a:off x="7314750" y="6422571"/>
            <a:ext cx="4131598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="" id="{433A35B2-CDC1-8045-9379-B41F98AF4F3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85814935"/>
                  </p:ext>
                </p:extLst>
              </p:nvPr>
            </p:nvGraphicFramePr>
            <p:xfrm>
              <a:off x="4180840" y="2286101"/>
              <a:ext cx="3830320" cy="329184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887220">
                      <a:extLst>
                        <a:ext uri="{9D8B030D-6E8A-4147-A177-3AD203B41FA5}">
                          <a16:colId xmlns:a16="http://schemas.microsoft.com/office/drawing/2014/main" xmlns="" val="404992375"/>
                        </a:ext>
                      </a:extLst>
                    </a:gridCol>
                    <a:gridCol w="1943100">
                      <a:extLst>
                        <a:ext uri="{9D8B030D-6E8A-4147-A177-3AD203B41FA5}">
                          <a16:colId xmlns:a16="http://schemas.microsoft.com/office/drawing/2014/main" xmlns="" val="746391652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Number of People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Percentage of Occupancy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31236783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smtClean="0">
                                    <a:solidFill>
                                      <a:srgbClr val="26B7D4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75</m:t>
                                </m:r>
                              </m:oMath>
                            </m:oMathPara>
                          </a14:m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91240297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x-none" sz="1800" i="1" smtClean="0">
                                      <a:solidFill>
                                        <a:srgbClr val="FFC000"/>
                                      </a:solidFill>
                                      <a:effectLst/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>
                                      <a:solidFill>
                                        <a:srgbClr val="FFC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lang="en-US" sz="1800">
                                      <a:solidFill>
                                        <a:srgbClr val="FFC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73973775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69366471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51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63286626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15954159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40</m:t>
                                </m:r>
                              </m:oMath>
                            </m:oMathPara>
                          </a14:m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70587842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433A35B2-CDC1-8045-9379-B41F98AF4F3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85814935"/>
                  </p:ext>
                </p:extLst>
              </p:nvPr>
            </p:nvGraphicFramePr>
            <p:xfrm>
              <a:off x="4180840" y="2286101"/>
              <a:ext cx="3830320" cy="329184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887220">
                      <a:extLst>
                        <a:ext uri="{9D8B030D-6E8A-4147-A177-3AD203B41FA5}">
                          <a16:colId xmlns:a16="http://schemas.microsoft.com/office/drawing/2014/main" val="404992375"/>
                        </a:ext>
                      </a:extLst>
                    </a:gridCol>
                    <a:gridCol w="1943100">
                      <a:extLst>
                        <a:ext uri="{9D8B030D-6E8A-4147-A177-3AD203B41FA5}">
                          <a16:colId xmlns:a16="http://schemas.microsoft.com/office/drawing/2014/main" val="746391652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Number of People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Percentage of Occupancy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236783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23" t="-137333" r="-103871" b="-5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7188" t="-137333" r="-625" b="-50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1240297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23" t="-237333" r="-103871" b="-4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7188" t="-237333" r="-625" b="-40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973775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23" t="-332895" r="-103871" b="-2986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366471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23" t="-438667" r="-103871" b="-20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3286626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7188" t="-538667" r="-625" b="-102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5954159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7188" t="-638667" r="-625" b="-2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587842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71966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8119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="" id="{70349866-9A2F-9642-8136-D99DA46E15A8}"/>
                  </a:ext>
                </a:extLst>
              </p:cNvPr>
              <p:cNvSpPr/>
              <p:nvPr/>
            </p:nvSpPr>
            <p:spPr>
              <a:xfrm>
                <a:off x="598714" y="812427"/>
                <a:ext cx="9794966" cy="37856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Complete the statements to interpret the ratios.</a:t>
                </a:r>
              </a:p>
              <a:p>
                <a:pPr marL="407988" indent="-407988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407988" indent="-407988"/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2700" indent="-12700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When there are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9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people in the restaurant, it is ____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%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full.</a:t>
                </a:r>
              </a:p>
              <a:p>
                <a:pPr marL="407988" indent="-407988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12700" indent="-12700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restaurant is at ____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%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capacity when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51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people are inside.</a:t>
                </a:r>
              </a:p>
              <a:p>
                <a:pPr marL="407988" indent="-407988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12700" indent="-12700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restaurant is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40%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full when ____ people are there.</a:t>
                </a:r>
              </a:p>
              <a:p>
                <a:pPr marL="407988" indent="-407988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70349866-9A2F-9642-8136-D99DA46E15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714" y="812427"/>
                <a:ext cx="9794966" cy="3785652"/>
              </a:xfrm>
              <a:prstGeom prst="rect">
                <a:avLst/>
              </a:prstGeom>
              <a:blipFill>
                <a:blip r:embed="rId4"/>
                <a:stretch>
                  <a:fillRect l="-933" t="-12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A34F9F60-8804-674C-94FA-55DB31DBB9AB}"/>
              </a:ext>
            </a:extLst>
          </p:cNvPr>
          <p:cNvSpPr txBox="1"/>
          <p:nvPr/>
        </p:nvSpPr>
        <p:spPr>
          <a:xfrm>
            <a:off x="7314749" y="6455229"/>
            <a:ext cx="4153369" cy="402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710728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50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xmlns="" id="{28853ABC-DADE-924D-B06F-31B56BCC7722}"/>
                  </a:ext>
                </a:extLst>
              </p:cNvPr>
              <p:cNvSpPr/>
              <p:nvPr/>
            </p:nvSpPr>
            <p:spPr>
              <a:xfrm>
                <a:off x="685800" y="1831213"/>
                <a:ext cx="11353800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Christian wondered if it is possible for the restaurant to ever be at exactly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1%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capacity. Discuss his thinking with your partner. Then, write a brief summary of your discussion. 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8853ABC-DADE-924D-B06F-31B56BCC77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1831213"/>
                <a:ext cx="11353800" cy="1200329"/>
              </a:xfrm>
              <a:prstGeom prst="rect">
                <a:avLst/>
              </a:prstGeom>
              <a:blipFill>
                <a:blip r:embed="rId4"/>
                <a:stretch>
                  <a:fillRect l="-859" t="-4061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Google Shape;282;g104476d1465_1_17">
            <a:extLst>
              <a:ext uri="{FF2B5EF4-FFF2-40B4-BE49-F238E27FC236}">
                <a16:creationId xmlns:a16="http://schemas.microsoft.com/office/drawing/2014/main" xmlns="" id="{E025FC87-8EB8-3F4A-835E-2236FC029C15}"/>
              </a:ext>
            </a:extLst>
          </p:cNvPr>
          <p:cNvSpPr txBox="1"/>
          <p:nvPr/>
        </p:nvSpPr>
        <p:spPr>
          <a:xfrm>
            <a:off x="7314750" y="6466113"/>
            <a:ext cx="4161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858024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00776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xmlns="" id="{28853ABC-DADE-924D-B06F-31B56BCC7722}"/>
                  </a:ext>
                </a:extLst>
              </p:cNvPr>
              <p:cNvSpPr/>
              <p:nvPr/>
            </p:nvSpPr>
            <p:spPr>
              <a:xfrm>
                <a:off x="576943" y="238929"/>
                <a:ext cx="9744693" cy="25545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Last Sunday,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1,575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people visited an amusement park.</a:t>
                </a:r>
              </a:p>
              <a:p>
                <a:pPr marL="763588" indent="-1778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56%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of the visitors were adults</a:t>
                </a:r>
              </a:p>
              <a:p>
                <a:pPr marL="763588" indent="-1778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16%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of the visitors were teenagers</a:t>
                </a:r>
              </a:p>
              <a:p>
                <a:pPr marL="763588" indent="-1778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28%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of the visitors were children under the age of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12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5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Work with your partner to use the equivalent ratio table below to determine the number of adults, teenagers, and children who visited the park last Sunday. Show your work.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8853ABC-DADE-924D-B06F-31B56BCC77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943" y="238929"/>
                <a:ext cx="9744693" cy="2554545"/>
              </a:xfrm>
              <a:prstGeom prst="rect">
                <a:avLst/>
              </a:prstGeom>
              <a:blipFill>
                <a:blip r:embed="rId4"/>
                <a:stretch>
                  <a:fillRect l="-688" t="-1193" b="-33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Google Shape;282;g104476d1465_1_17">
            <a:extLst>
              <a:ext uri="{FF2B5EF4-FFF2-40B4-BE49-F238E27FC236}">
                <a16:creationId xmlns:a16="http://schemas.microsoft.com/office/drawing/2014/main" xmlns="" id="{E025FC87-8EB8-3F4A-835E-2236FC029C15}"/>
              </a:ext>
            </a:extLst>
          </p:cNvPr>
          <p:cNvSpPr txBox="1"/>
          <p:nvPr/>
        </p:nvSpPr>
        <p:spPr>
          <a:xfrm>
            <a:off x="7314750" y="6422571"/>
            <a:ext cx="4186026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xmlns="" id="{75FE6EEF-171C-F14A-93C3-9AFA3C051F5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94800645"/>
                  </p:ext>
                </p:extLst>
              </p:nvPr>
            </p:nvGraphicFramePr>
            <p:xfrm>
              <a:off x="4180840" y="3013433"/>
              <a:ext cx="3830320" cy="329184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887220">
                      <a:extLst>
                        <a:ext uri="{9D8B030D-6E8A-4147-A177-3AD203B41FA5}">
                          <a16:colId xmlns:a16="http://schemas.microsoft.com/office/drawing/2014/main" xmlns="" val="404992375"/>
                        </a:ext>
                      </a:extLst>
                    </a:gridCol>
                    <a:gridCol w="1943100">
                      <a:extLst>
                        <a:ext uri="{9D8B030D-6E8A-4147-A177-3AD203B41FA5}">
                          <a16:colId xmlns:a16="http://schemas.microsoft.com/office/drawing/2014/main" xmlns="" val="746391652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Number of Visitors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Percentage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31236783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91240297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73973775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69366471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63286626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15954159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70587842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75FE6EEF-171C-F14A-93C3-9AFA3C051F5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94800645"/>
                  </p:ext>
                </p:extLst>
              </p:nvPr>
            </p:nvGraphicFramePr>
            <p:xfrm>
              <a:off x="4180840" y="3013433"/>
              <a:ext cx="3830320" cy="329184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887220">
                      <a:extLst>
                        <a:ext uri="{9D8B030D-6E8A-4147-A177-3AD203B41FA5}">
                          <a16:colId xmlns:a16="http://schemas.microsoft.com/office/drawing/2014/main" val="404992375"/>
                        </a:ext>
                      </a:extLst>
                    </a:gridCol>
                    <a:gridCol w="1943100">
                      <a:extLst>
                        <a:ext uri="{9D8B030D-6E8A-4147-A177-3AD203B41FA5}">
                          <a16:colId xmlns:a16="http://schemas.microsoft.com/office/drawing/2014/main" val="746391652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Number of Visitors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Percentage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236783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97188" t="-137333" r="-625" b="-50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1240297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3973775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366471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3286626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5954159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0587842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41438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00776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xmlns="" id="{28853ABC-DADE-924D-B06F-31B56BCC7722}"/>
                  </a:ext>
                </a:extLst>
              </p:cNvPr>
              <p:cNvSpPr/>
              <p:nvPr/>
            </p:nvSpPr>
            <p:spPr>
              <a:xfrm>
                <a:off x="1208315" y="1723342"/>
                <a:ext cx="9592293" cy="1938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6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statements.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Last Sunday, _____ adults, _____ teenagers, and _____ children under the age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visited the amusement park.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8853ABC-DADE-924D-B06F-31B56BCC77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8315" y="1723342"/>
                <a:ext cx="9592293" cy="1938992"/>
              </a:xfrm>
              <a:prstGeom prst="rect">
                <a:avLst/>
              </a:prstGeom>
              <a:blipFill>
                <a:blip r:embed="rId4"/>
                <a:stretch>
                  <a:fillRect l="-953" t="-2516" b="-59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Google Shape;282;g104476d1465_1_17">
            <a:extLst>
              <a:ext uri="{FF2B5EF4-FFF2-40B4-BE49-F238E27FC236}">
                <a16:creationId xmlns:a16="http://schemas.microsoft.com/office/drawing/2014/main" xmlns="" id="{E025FC87-8EB8-3F4A-835E-2236FC029C15}"/>
              </a:ext>
            </a:extLst>
          </p:cNvPr>
          <p:cNvSpPr txBox="1"/>
          <p:nvPr/>
        </p:nvSpPr>
        <p:spPr>
          <a:xfrm>
            <a:off x="7314750" y="6455229"/>
            <a:ext cx="4186026" cy="402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002476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22548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xmlns="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51DCB9D4-64AC-E448-A076-AB6B662D6AE3}"/>
              </a:ext>
            </a:extLst>
          </p:cNvPr>
          <p:cNvSpPr txBox="1"/>
          <p:nvPr/>
        </p:nvSpPr>
        <p:spPr>
          <a:xfrm>
            <a:off x="7314750" y="6466113"/>
            <a:ext cx="4207798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28873" y="61218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xmlns="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351305" y="235423"/>
            <a:ext cx="9265521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6.10.4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xmlns="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4225" y="1800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="" id="{A66A031F-2EC8-DF4C-B3F5-E7AC5B8F3239}"/>
                  </a:ext>
                </a:extLst>
              </p:cNvPr>
              <p:cNvSpPr/>
              <p:nvPr/>
            </p:nvSpPr>
            <p:spPr>
              <a:xfrm>
                <a:off x="729343" y="1126600"/>
                <a:ext cx="9664337" cy="13234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68312" indent="-457200">
                  <a:buSzPts val="1800"/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At a hardware store, a tool set costs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$80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Using a coupon, Denise is able to pay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$12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less than the original price. </a:t>
                </a:r>
              </a:p>
              <a:p>
                <a:pPr marL="407988" indent="-396875">
                  <a:buSzPts val="1800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68313" indent="-457200">
                  <a:buSzPts val="1800"/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table.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A66A031F-2EC8-DF4C-B3F5-E7AC5B8F32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343" y="1126600"/>
                <a:ext cx="9664337" cy="1323439"/>
              </a:xfrm>
              <a:prstGeom prst="rect">
                <a:avLst/>
              </a:prstGeom>
              <a:blipFill>
                <a:blip r:embed="rId5"/>
                <a:stretch>
                  <a:fillRect l="-442" t="-2765" b="-7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xmlns="" id="{38A626CB-082C-DB4E-B059-328DCC8AD138}"/>
              </a:ext>
            </a:extLst>
          </p:cNvPr>
          <p:cNvSpPr txBox="1"/>
          <p:nvPr/>
        </p:nvSpPr>
        <p:spPr>
          <a:xfrm>
            <a:off x="7314750" y="6379029"/>
            <a:ext cx="3951964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xmlns="" id="{740F8DF4-DAFE-3C44-BB04-4F4007106D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3015439"/>
              </p:ext>
            </p:extLst>
          </p:nvPr>
        </p:nvGraphicFramePr>
        <p:xfrm>
          <a:off x="4180840" y="2569338"/>
          <a:ext cx="3830320" cy="2377440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1887220">
                  <a:extLst>
                    <a:ext uri="{9D8B030D-6E8A-4147-A177-3AD203B41FA5}">
                      <a16:colId xmlns:a16="http://schemas.microsoft.com/office/drawing/2014/main" xmlns="" val="1644631984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xmlns="" val="38192712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Dollar Amount</a:t>
                      </a:r>
                      <a:endParaRPr lang="x-none" sz="12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Percentage</a:t>
                      </a:r>
                      <a:endParaRPr lang="x-none" sz="12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696634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44115053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2201538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65135069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7586122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xmlns="" id="{F0FB6951-DC6C-B64A-B1D2-B5E332432FFE}"/>
                  </a:ext>
                </a:extLst>
              </p:cNvPr>
              <p:cNvSpPr/>
              <p:nvPr/>
            </p:nvSpPr>
            <p:spPr>
              <a:xfrm>
                <a:off x="849086" y="5282962"/>
                <a:ext cx="9544594" cy="4001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68312" indent="-457200">
                  <a:buSzPts val="1800"/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coupon gives Denise _____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%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off of the original price.</a:t>
                </a: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0FB6951-DC6C-B64A-B1D2-B5E332432F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086" y="5282962"/>
                <a:ext cx="9544594" cy="400199"/>
              </a:xfrm>
              <a:prstGeom prst="rect">
                <a:avLst/>
              </a:prstGeom>
              <a:blipFill>
                <a:blip r:embed="rId6"/>
                <a:stretch>
                  <a:fillRect l="-383"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24886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93947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="" id="{D9AF1552-9966-3643-BA84-BB4BC68EDBB5}"/>
                  </a:ext>
                </a:extLst>
              </p:cNvPr>
              <p:cNvSpPr/>
              <p:nvPr/>
            </p:nvSpPr>
            <p:spPr>
              <a:xfrm>
                <a:off x="979714" y="331351"/>
                <a:ext cx="9637112" cy="16312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SzPts val="1800"/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 bathtub can hold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80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gallons of water. Isaiah fills it up to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65%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capacity to take a bath. </a:t>
                </a:r>
              </a:p>
              <a:p>
                <a:pPr marL="350838" indent="-350838">
                  <a:buSzPts val="1800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457200" indent="-457200">
                  <a:buSzPts val="1800"/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Complete the table to determine how many gallons of water Isaiah had in the bathtub.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D9AF1552-9966-3643-BA84-BB4BC68EDB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714" y="331351"/>
                <a:ext cx="9637112" cy="1631216"/>
              </a:xfrm>
              <a:prstGeom prst="rect">
                <a:avLst/>
              </a:prstGeom>
              <a:blipFill>
                <a:blip r:embed="rId4"/>
                <a:stretch>
                  <a:fillRect l="-569" t="-1866" b="-5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xmlns="" id="{FCAEDDBD-15FD-B945-9FDE-50793A71AA14}"/>
              </a:ext>
            </a:extLst>
          </p:cNvPr>
          <p:cNvSpPr txBox="1"/>
          <p:nvPr/>
        </p:nvSpPr>
        <p:spPr>
          <a:xfrm>
            <a:off x="8555721" y="645289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xmlns="" id="{4D3A5E52-3109-7440-8586-B0B2CC8DE8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5037397"/>
              </p:ext>
            </p:extLst>
          </p:nvPr>
        </p:nvGraphicFramePr>
        <p:xfrm>
          <a:off x="4180840" y="2098283"/>
          <a:ext cx="3830320" cy="2377440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1887220">
                  <a:extLst>
                    <a:ext uri="{9D8B030D-6E8A-4147-A177-3AD203B41FA5}">
                      <a16:colId xmlns:a16="http://schemas.microsoft.com/office/drawing/2014/main" xmlns="" val="1644631984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xmlns="" val="38192712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Number of Gallons</a:t>
                      </a:r>
                      <a:endParaRPr lang="x-none" sz="12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Percentage of Capacity</a:t>
                      </a:r>
                      <a:endParaRPr lang="x-none" sz="12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696634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44115053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2201538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65135069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7586122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xmlns="" id="{E95AD379-9FA1-E44A-87A4-A89717D9F3CA}"/>
                  </a:ext>
                </a:extLst>
              </p:cNvPr>
              <p:cNvSpPr/>
              <p:nvPr/>
            </p:nvSpPr>
            <p:spPr>
              <a:xfrm>
                <a:off x="1415143" y="4792514"/>
                <a:ext cx="9201683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SzPts val="1800"/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Isaiah filled the tub with _____ gallons of water to be at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65%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capacity. </a:t>
                </a: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95AD379-9FA1-E44A-87A4-A89717D9F3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5143" y="4792514"/>
                <a:ext cx="9201683" cy="707886"/>
              </a:xfrm>
              <a:prstGeom prst="rect">
                <a:avLst/>
              </a:prstGeom>
              <a:blipFill>
                <a:blip r:embed="rId5"/>
                <a:stretch>
                  <a:fillRect l="-530" t="-4310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4357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-77970" y="-8225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7234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xmlns="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ABBAE5D4-A013-554B-AF18-FD3C50BA4B04}"/>
              </a:ext>
            </a:extLst>
          </p:cNvPr>
          <p:cNvSpPr txBox="1"/>
          <p:nvPr/>
        </p:nvSpPr>
        <p:spPr>
          <a:xfrm>
            <a:off x="7314750" y="6455229"/>
            <a:ext cx="4142484" cy="402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9064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953" y="612916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xmlns="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246222" y="-185441"/>
            <a:ext cx="937507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6.10.5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xmlns="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8922" y="10375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="" id="{50A85065-1747-6C4E-8BA4-9C1ED8A185A6}"/>
                  </a:ext>
                </a:extLst>
              </p:cNvPr>
              <p:cNvSpPr/>
              <p:nvPr/>
            </p:nvSpPr>
            <p:spPr>
              <a:xfrm>
                <a:off x="1246222" y="1393501"/>
                <a:ext cx="9216038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large school bus can hold a maximum of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72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children. This morning, Malachi’s school bus only had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54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students on board. What percentage of Malachi’s school bus is full?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50A85065-1747-6C4E-8BA4-9C1ED8A185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6222" y="1393501"/>
                <a:ext cx="9216038" cy="1015663"/>
              </a:xfrm>
              <a:prstGeom prst="rect">
                <a:avLst/>
              </a:prstGeom>
              <a:blipFill>
                <a:blip r:embed="rId5"/>
                <a:stretch>
                  <a:fillRect l="-728" t="-4217" r="-992" b="-10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xmlns="" id="{D20425D2-BFDA-974E-9037-009E6465CCF0}"/>
              </a:ext>
            </a:extLst>
          </p:cNvPr>
          <p:cNvSpPr txBox="1"/>
          <p:nvPr/>
        </p:nvSpPr>
        <p:spPr>
          <a:xfrm>
            <a:off x="88387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xmlns="" id="{F4FB72FF-A4A6-4C40-A4E2-B5BBB37838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7871616"/>
              </p:ext>
            </p:extLst>
          </p:nvPr>
        </p:nvGraphicFramePr>
        <p:xfrm>
          <a:off x="4180840" y="2811331"/>
          <a:ext cx="3830320" cy="2377440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1887220">
                  <a:extLst>
                    <a:ext uri="{9D8B030D-6E8A-4147-A177-3AD203B41FA5}">
                      <a16:colId xmlns:a16="http://schemas.microsoft.com/office/drawing/2014/main" xmlns="" val="1644631984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xmlns="" val="38192712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Number of Students</a:t>
                      </a:r>
                      <a:endParaRPr lang="x-none" sz="12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Percentage of Capacity</a:t>
                      </a:r>
                      <a:endParaRPr lang="x-none" sz="12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696634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44115053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2201538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65135069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758612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1314</TotalTime>
  <Words>878</Words>
  <Application>Microsoft Office PowerPoint</Application>
  <PresentationFormat>Custom</PresentationFormat>
  <Paragraphs>181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3" baseType="lpstr">
      <vt:lpstr>Arial</vt:lpstr>
      <vt:lpstr>Calibri</vt:lpstr>
      <vt:lpstr>Times New Roman</vt:lpstr>
      <vt:lpstr>Century Gothic</vt:lpstr>
      <vt:lpstr>Wingdings</vt:lpstr>
      <vt:lpstr>Cambria Math</vt:lpstr>
      <vt:lpstr>Cambria</vt:lpstr>
      <vt:lpstr>Arial Black</vt:lpstr>
      <vt:lpstr>Verdana</vt:lpstr>
      <vt:lpstr>1_Office Theme</vt:lpstr>
      <vt:lpstr>6th Grade Math  Unit 6, Lesson 10  Applying Ratios to Solve Problems Involving Percentages  Volume 1, pg. 302  </vt:lpstr>
      <vt:lpstr>Benchmark</vt:lpstr>
      <vt:lpstr>PowerPoint Presentation</vt:lpstr>
      <vt:lpstr>PowerPoint Presentation</vt:lpstr>
      <vt:lpstr>Warm-Up</vt:lpstr>
      <vt:lpstr>PowerPoint Presentation</vt:lpstr>
      <vt:lpstr>Guided Practice</vt:lpstr>
      <vt:lpstr>PowerPoint Presentation</vt:lpstr>
      <vt:lpstr>PowerPoint Presentation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John Patrick</cp:lastModifiedBy>
  <cp:revision>22</cp:revision>
  <dcterms:created xsi:type="dcterms:W3CDTF">2015-03-17T18:51:18Z</dcterms:created>
  <dcterms:modified xsi:type="dcterms:W3CDTF">2022-06-05T03:24:53Z</dcterms:modified>
</cp:coreProperties>
</file>